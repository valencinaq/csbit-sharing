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2" r:id="rId2"/>
  </p:sldMasterIdLst>
  <p:notesMasterIdLst>
    <p:notesMasterId r:id="rId152"/>
  </p:notesMasterIdLst>
  <p:handoutMasterIdLst>
    <p:handoutMasterId r:id="rId153"/>
  </p:handoutMasterIdLst>
  <p:sldIdLst>
    <p:sldId id="1065" r:id="rId3"/>
    <p:sldId id="940" r:id="rId4"/>
    <p:sldId id="1063" r:id="rId5"/>
    <p:sldId id="1064" r:id="rId6"/>
    <p:sldId id="1225" r:id="rId7"/>
    <p:sldId id="941" r:id="rId8"/>
    <p:sldId id="1066" r:id="rId9"/>
    <p:sldId id="1067" r:id="rId10"/>
    <p:sldId id="1068" r:id="rId11"/>
    <p:sldId id="1070" r:id="rId12"/>
    <p:sldId id="1071" r:id="rId13"/>
    <p:sldId id="1074" r:id="rId14"/>
    <p:sldId id="1077" r:id="rId15"/>
    <p:sldId id="1099" r:id="rId16"/>
    <p:sldId id="1078" r:id="rId17"/>
    <p:sldId id="1079" r:id="rId18"/>
    <p:sldId id="1080" r:id="rId19"/>
    <p:sldId id="1084" r:id="rId20"/>
    <p:sldId id="1085" r:id="rId21"/>
    <p:sldId id="1086" r:id="rId22"/>
    <p:sldId id="1087" r:id="rId23"/>
    <p:sldId id="1100" r:id="rId24"/>
    <p:sldId id="1096" r:id="rId25"/>
    <p:sldId id="1097" r:id="rId26"/>
    <p:sldId id="1098" r:id="rId27"/>
    <p:sldId id="1101" r:id="rId28"/>
    <p:sldId id="1102" r:id="rId29"/>
    <p:sldId id="1103" r:id="rId30"/>
    <p:sldId id="1104" r:id="rId31"/>
    <p:sldId id="1105" r:id="rId32"/>
    <p:sldId id="1110" r:id="rId33"/>
    <p:sldId id="1246" r:id="rId34"/>
    <p:sldId id="1247" r:id="rId35"/>
    <p:sldId id="1114" r:id="rId36"/>
    <p:sldId id="1115" r:id="rId37"/>
    <p:sldId id="1116" r:id="rId38"/>
    <p:sldId id="962" r:id="rId39"/>
    <p:sldId id="1206" r:id="rId40"/>
    <p:sldId id="1119" r:id="rId41"/>
    <p:sldId id="1120" r:id="rId42"/>
    <p:sldId id="1121" r:id="rId43"/>
    <p:sldId id="1122" r:id="rId44"/>
    <p:sldId id="1124" r:id="rId45"/>
    <p:sldId id="1125" r:id="rId46"/>
    <p:sldId id="1126" r:id="rId47"/>
    <p:sldId id="1127" r:id="rId48"/>
    <p:sldId id="1128" r:id="rId49"/>
    <p:sldId id="1129" r:id="rId50"/>
    <p:sldId id="1130" r:id="rId51"/>
    <p:sldId id="1131" r:id="rId52"/>
    <p:sldId id="1132" r:id="rId53"/>
    <p:sldId id="1133" r:id="rId54"/>
    <p:sldId id="1134" r:id="rId55"/>
    <p:sldId id="1135" r:id="rId56"/>
    <p:sldId id="1138" r:id="rId57"/>
    <p:sldId id="1139" r:id="rId58"/>
    <p:sldId id="1140" r:id="rId59"/>
    <p:sldId id="1141" r:id="rId60"/>
    <p:sldId id="1142" r:id="rId61"/>
    <p:sldId id="1143" r:id="rId62"/>
    <p:sldId id="1144" r:id="rId63"/>
    <p:sldId id="1145" r:id="rId64"/>
    <p:sldId id="1148" r:id="rId65"/>
    <p:sldId id="1207" r:id="rId66"/>
    <p:sldId id="1150" r:id="rId67"/>
    <p:sldId id="1151" r:id="rId68"/>
    <p:sldId id="1152" r:id="rId69"/>
    <p:sldId id="1153" r:id="rId70"/>
    <p:sldId id="1154" r:id="rId71"/>
    <p:sldId id="1155" r:id="rId72"/>
    <p:sldId id="1159" r:id="rId73"/>
    <p:sldId id="1160" r:id="rId74"/>
    <p:sldId id="1161" r:id="rId75"/>
    <p:sldId id="1162" r:id="rId76"/>
    <p:sldId id="1163" r:id="rId77"/>
    <p:sldId id="1164" r:id="rId78"/>
    <p:sldId id="1165" r:id="rId79"/>
    <p:sldId id="1166" r:id="rId80"/>
    <p:sldId id="1167" r:id="rId81"/>
    <p:sldId id="1168" r:id="rId82"/>
    <p:sldId id="1169" r:id="rId83"/>
    <p:sldId id="1170" r:id="rId84"/>
    <p:sldId id="1171" r:id="rId85"/>
    <p:sldId id="1172" r:id="rId86"/>
    <p:sldId id="1173" r:id="rId87"/>
    <p:sldId id="1174" r:id="rId88"/>
    <p:sldId id="1175" r:id="rId89"/>
    <p:sldId id="1212" r:id="rId90"/>
    <p:sldId id="1208" r:id="rId91"/>
    <p:sldId id="1177" r:id="rId92"/>
    <p:sldId id="1178" r:id="rId93"/>
    <p:sldId id="1179" r:id="rId94"/>
    <p:sldId id="1181" r:id="rId95"/>
    <p:sldId id="1182" r:id="rId96"/>
    <p:sldId id="1183" r:id="rId97"/>
    <p:sldId id="1184" r:id="rId98"/>
    <p:sldId id="1202" r:id="rId99"/>
    <p:sldId id="1209" r:id="rId100"/>
    <p:sldId id="1186" r:id="rId101"/>
    <p:sldId id="1187" r:id="rId102"/>
    <p:sldId id="1188" r:id="rId103"/>
    <p:sldId id="1189" r:id="rId104"/>
    <p:sldId id="1190" r:id="rId105"/>
    <p:sldId id="1191" r:id="rId106"/>
    <p:sldId id="1192" r:id="rId107"/>
    <p:sldId id="1193" r:id="rId108"/>
    <p:sldId id="1194" r:id="rId109"/>
    <p:sldId id="1203" r:id="rId110"/>
    <p:sldId id="1210" r:id="rId111"/>
    <p:sldId id="1196" r:id="rId112"/>
    <p:sldId id="1197" r:id="rId113"/>
    <p:sldId id="1198" r:id="rId114"/>
    <p:sldId id="1199" r:id="rId115"/>
    <p:sldId id="1200" r:id="rId116"/>
    <p:sldId id="1201" r:id="rId117"/>
    <p:sldId id="1205" r:id="rId118"/>
    <p:sldId id="1213" r:id="rId119"/>
    <p:sldId id="1214" r:id="rId120"/>
    <p:sldId id="1215" r:id="rId121"/>
    <p:sldId id="1216" r:id="rId122"/>
    <p:sldId id="1217" r:id="rId123"/>
    <p:sldId id="1218" r:id="rId124"/>
    <p:sldId id="1219" r:id="rId125"/>
    <p:sldId id="1220" r:id="rId126"/>
    <p:sldId id="1221" r:id="rId127"/>
    <p:sldId id="1222" r:id="rId128"/>
    <p:sldId id="1223" r:id="rId129"/>
    <p:sldId id="1224" r:id="rId130"/>
    <p:sldId id="1069" r:id="rId131"/>
    <p:sldId id="1083" r:id="rId132"/>
    <p:sldId id="1081" r:id="rId133"/>
    <p:sldId id="1088" r:id="rId134"/>
    <p:sldId id="1226" r:id="rId135"/>
    <p:sldId id="1227" r:id="rId136"/>
    <p:sldId id="1228" r:id="rId137"/>
    <p:sldId id="1229" r:id="rId138"/>
    <p:sldId id="1230" r:id="rId139"/>
    <p:sldId id="1231" r:id="rId140"/>
    <p:sldId id="1232" r:id="rId141"/>
    <p:sldId id="1233" r:id="rId142"/>
    <p:sldId id="1234" r:id="rId143"/>
    <p:sldId id="1235" r:id="rId144"/>
    <p:sldId id="1236" r:id="rId145"/>
    <p:sldId id="1237" r:id="rId146"/>
    <p:sldId id="1242" r:id="rId147"/>
    <p:sldId id="1243" r:id="rId148"/>
    <p:sldId id="1244" r:id="rId149"/>
    <p:sldId id="1245" r:id="rId150"/>
    <p:sldId id="276" r:id="rId151"/>
  </p:sldIdLst>
  <p:sldSz cx="9144000" cy="6858000" type="screen4x3"/>
  <p:notesSz cx="7102475" cy="89916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9B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42" autoAdjust="0"/>
    <p:restoredTop sz="85690" autoAdjust="0"/>
  </p:normalViewPr>
  <p:slideViewPr>
    <p:cSldViewPr>
      <p:cViewPr varScale="1">
        <p:scale>
          <a:sx n="133" d="100"/>
          <a:sy n="133" d="100"/>
        </p:scale>
        <p:origin x="1926"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38" Type="http://schemas.openxmlformats.org/officeDocument/2006/relationships/slide" Target="slides/slide136.xml"/><Relationship Id="rId154" Type="http://schemas.openxmlformats.org/officeDocument/2006/relationships/presProps" Target="presProps.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slide" Target="slides/slide142.xml"/><Relationship Id="rId149" Type="http://schemas.openxmlformats.org/officeDocument/2006/relationships/slide" Target="slides/slide14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slide" Target="slides/slide148.xml"/><Relationship Id="rId155" Type="http://schemas.openxmlformats.org/officeDocument/2006/relationships/viewProps" Target="viewProps.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32" Type="http://schemas.openxmlformats.org/officeDocument/2006/relationships/slide" Target="slides/slide130.xml"/><Relationship Id="rId140" Type="http://schemas.openxmlformats.org/officeDocument/2006/relationships/slide" Target="slides/slide138.xml"/><Relationship Id="rId145" Type="http://schemas.openxmlformats.org/officeDocument/2006/relationships/slide" Target="slides/slide143.xml"/><Relationship Id="rId153"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slide" Target="slides/slide128.xml"/><Relationship Id="rId135" Type="http://schemas.openxmlformats.org/officeDocument/2006/relationships/slide" Target="slides/slide133.xml"/><Relationship Id="rId143" Type="http://schemas.openxmlformats.org/officeDocument/2006/relationships/slide" Target="slides/slide141.xml"/><Relationship Id="rId148" Type="http://schemas.openxmlformats.org/officeDocument/2006/relationships/slide" Target="slides/slide146.xml"/><Relationship Id="rId151" Type="http://schemas.openxmlformats.org/officeDocument/2006/relationships/slide" Target="slides/slide149.xml"/><Relationship Id="rId156"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380DCD4-A918-4D2D-B876-C4338126C3AB}" type="doc">
      <dgm:prSet loTypeId="urn:microsoft.com/office/officeart/2005/8/layout/cycle2" loCatId="cycle" qsTypeId="urn:microsoft.com/office/officeart/2005/8/quickstyle/3d1#1" qsCatId="3D" csTypeId="urn:microsoft.com/office/officeart/2005/8/colors/colorful1#1" csCatId="colorful" phldr="1"/>
      <dgm:spPr/>
      <dgm:t>
        <a:bodyPr/>
        <a:lstStyle/>
        <a:p>
          <a:endParaRPr lang="zh-CN" altLang="en-US"/>
        </a:p>
      </dgm:t>
    </dgm:pt>
    <dgm:pt modelId="{223E35C4-AAA8-468B-B639-AB93AECDF717}">
      <dgm:prSet phldrT="[文本]"/>
      <dgm:spPr>
        <a:solidFill>
          <a:srgbClr val="FFCC99"/>
        </a:solidFill>
      </dgm:spPr>
      <dgm:t>
        <a:bodyPr/>
        <a:lstStyle/>
        <a:p>
          <a:r>
            <a:rPr lang="zh-CN" altLang="en-US" dirty="0"/>
            <a:t>　</a:t>
          </a:r>
        </a:p>
      </dgm:t>
    </dgm:pt>
    <dgm:pt modelId="{A94B6B83-B0F3-4E2C-801C-791D33F8850B}" type="parTrans" cxnId="{30FF8361-413B-41FE-A6D6-5627BBED6AA4}">
      <dgm:prSet/>
      <dgm:spPr/>
      <dgm:t>
        <a:bodyPr/>
        <a:lstStyle/>
        <a:p>
          <a:endParaRPr lang="zh-CN" altLang="en-US"/>
        </a:p>
      </dgm:t>
    </dgm:pt>
    <dgm:pt modelId="{03DEBEF0-53BD-4CDE-858E-3ED78C7C2B3D}" type="sibTrans" cxnId="{30FF8361-413B-41FE-A6D6-5627BBED6AA4}">
      <dgm:prSet/>
      <dgm:spPr>
        <a:solidFill>
          <a:srgbClr val="7030A0"/>
        </a:solidFill>
      </dgm:spPr>
      <dgm:t>
        <a:bodyPr/>
        <a:lstStyle/>
        <a:p>
          <a:endParaRPr lang="zh-CN" altLang="en-US"/>
        </a:p>
      </dgm:t>
    </dgm:pt>
    <dgm:pt modelId="{3F252103-E8E0-4F53-9626-B69586FC69E2}">
      <dgm:prSet phldrT="[文本]"/>
      <dgm:spPr>
        <a:solidFill>
          <a:schemeClr val="accent2">
            <a:lumMod val="40000"/>
            <a:lumOff val="60000"/>
          </a:schemeClr>
        </a:solidFill>
      </dgm:spPr>
      <dgm:t>
        <a:bodyPr/>
        <a:lstStyle/>
        <a:p>
          <a:r>
            <a:rPr lang="zh-CN" altLang="en-US" dirty="0"/>
            <a:t>　</a:t>
          </a:r>
        </a:p>
      </dgm:t>
    </dgm:pt>
    <dgm:pt modelId="{555583F4-499D-4074-BEB5-F50DAF0CF18F}" type="parTrans" cxnId="{61AA5A2E-EAB7-4B7A-AB44-075950511AAA}">
      <dgm:prSet/>
      <dgm:spPr/>
      <dgm:t>
        <a:bodyPr/>
        <a:lstStyle/>
        <a:p>
          <a:endParaRPr lang="zh-CN" altLang="en-US"/>
        </a:p>
      </dgm:t>
    </dgm:pt>
    <dgm:pt modelId="{74DCF200-75A2-49ED-B24F-C233B22EB423}" type="sibTrans" cxnId="{61AA5A2E-EAB7-4B7A-AB44-075950511AAA}">
      <dgm:prSet/>
      <dgm:spPr>
        <a:solidFill>
          <a:srgbClr val="0070C0"/>
        </a:solidFill>
      </dgm:spPr>
      <dgm:t>
        <a:bodyPr/>
        <a:lstStyle/>
        <a:p>
          <a:endParaRPr lang="zh-CN" altLang="en-US"/>
        </a:p>
      </dgm:t>
    </dgm:pt>
    <dgm:pt modelId="{DBBE98DB-E029-4768-832B-227A0D851F1B}">
      <dgm:prSet phldrT="[文本]"/>
      <dgm:spPr>
        <a:solidFill>
          <a:srgbClr val="CCFF66"/>
        </a:solidFill>
      </dgm:spPr>
      <dgm:t>
        <a:bodyPr/>
        <a:lstStyle/>
        <a:p>
          <a:r>
            <a:rPr lang="zh-CN" altLang="en-US" dirty="0"/>
            <a:t>　</a:t>
          </a:r>
        </a:p>
      </dgm:t>
    </dgm:pt>
    <dgm:pt modelId="{8A9CD055-04EC-4302-860A-FCF24D75E8FD}" type="parTrans" cxnId="{1015DDF0-5DCB-4BD0-8280-82A8332EA526}">
      <dgm:prSet/>
      <dgm:spPr/>
      <dgm:t>
        <a:bodyPr/>
        <a:lstStyle/>
        <a:p>
          <a:endParaRPr lang="zh-CN" altLang="en-US"/>
        </a:p>
      </dgm:t>
    </dgm:pt>
    <dgm:pt modelId="{B8690752-CBB8-4B08-9E25-6C9D8DB6EC62}" type="sibTrans" cxnId="{1015DDF0-5DCB-4BD0-8280-82A8332EA526}">
      <dgm:prSet/>
      <dgm:spPr>
        <a:solidFill>
          <a:srgbClr val="00B050"/>
        </a:solidFill>
      </dgm:spPr>
      <dgm:t>
        <a:bodyPr/>
        <a:lstStyle/>
        <a:p>
          <a:endParaRPr lang="zh-CN" altLang="en-US"/>
        </a:p>
      </dgm:t>
    </dgm:pt>
    <dgm:pt modelId="{C6F3F1AD-4CD6-43DF-BD96-FCFF31A2486E}">
      <dgm:prSet phldrT="[文本]" custT="1"/>
      <dgm:spPr>
        <a:solidFill>
          <a:srgbClr val="00FFFF"/>
        </a:solidFill>
      </dgm:spPr>
      <dgm:t>
        <a:bodyPr/>
        <a:lstStyle/>
        <a:p>
          <a:endParaRPr lang="zh-CN" altLang="en-US" sz="2400" dirty="0">
            <a:latin typeface="幼圆" pitchFamily="49" charset="-122"/>
            <a:ea typeface="幼圆" pitchFamily="49" charset="-122"/>
          </a:endParaRPr>
        </a:p>
      </dgm:t>
    </dgm:pt>
    <dgm:pt modelId="{0CE77ACC-7FD3-4294-9198-57A4EEA3813A}" type="parTrans" cxnId="{D3955A2C-071D-4587-B0D6-E3219B3929BA}">
      <dgm:prSet/>
      <dgm:spPr/>
      <dgm:t>
        <a:bodyPr/>
        <a:lstStyle/>
        <a:p>
          <a:endParaRPr lang="zh-CN" altLang="en-US"/>
        </a:p>
      </dgm:t>
    </dgm:pt>
    <dgm:pt modelId="{3A5B5747-CEE5-40EE-B1C5-49AF8AD10F14}" type="sibTrans" cxnId="{D3955A2C-071D-4587-B0D6-E3219B3929BA}">
      <dgm:prSet/>
      <dgm:spPr/>
      <dgm:t>
        <a:bodyPr/>
        <a:lstStyle/>
        <a:p>
          <a:endParaRPr lang="zh-CN" altLang="en-US"/>
        </a:p>
      </dgm:t>
    </dgm:pt>
    <dgm:pt modelId="{E9B14202-66BF-4AA5-BA78-FE0B006E2B78}">
      <dgm:prSet phldrT="[文本]"/>
      <dgm:spPr>
        <a:solidFill>
          <a:srgbClr val="FF99FF"/>
        </a:solidFill>
      </dgm:spPr>
      <dgm:t>
        <a:bodyPr/>
        <a:lstStyle/>
        <a:p>
          <a:endParaRPr lang="zh-CN" altLang="en-US" dirty="0"/>
        </a:p>
      </dgm:t>
    </dgm:pt>
    <dgm:pt modelId="{DEAF01C1-571D-4A8B-8B6B-A7C29210DAF8}" type="parTrans" cxnId="{FA2EE318-D164-40CB-8AFF-872CB287ECBA}">
      <dgm:prSet/>
      <dgm:spPr/>
      <dgm:t>
        <a:bodyPr/>
        <a:lstStyle/>
        <a:p>
          <a:endParaRPr lang="zh-CN" altLang="en-US"/>
        </a:p>
      </dgm:t>
    </dgm:pt>
    <dgm:pt modelId="{015ED8EB-1653-44AC-84AB-B2428AF95EF1}" type="sibTrans" cxnId="{FA2EE318-D164-40CB-8AFF-872CB287ECBA}">
      <dgm:prSet/>
      <dgm:spPr/>
      <dgm:t>
        <a:bodyPr/>
        <a:lstStyle/>
        <a:p>
          <a:endParaRPr lang="zh-CN" altLang="en-US"/>
        </a:p>
      </dgm:t>
    </dgm:pt>
    <dgm:pt modelId="{7D0AFEB1-245F-40CB-B3B4-912CBEADAD03}" type="pres">
      <dgm:prSet presAssocID="{A380DCD4-A918-4D2D-B876-C4338126C3AB}" presName="cycle" presStyleCnt="0">
        <dgm:presLayoutVars>
          <dgm:dir/>
          <dgm:resizeHandles val="exact"/>
        </dgm:presLayoutVars>
      </dgm:prSet>
      <dgm:spPr/>
    </dgm:pt>
    <dgm:pt modelId="{721276AB-3A1B-4479-AC16-C6581F442A28}" type="pres">
      <dgm:prSet presAssocID="{223E35C4-AAA8-468B-B639-AB93AECDF717}" presName="node" presStyleLbl="node1" presStyleIdx="0" presStyleCnt="5" custScaleX="101119" custScaleY="100165" custRadScaleRad="104426">
        <dgm:presLayoutVars>
          <dgm:bulletEnabled val="1"/>
        </dgm:presLayoutVars>
      </dgm:prSet>
      <dgm:spPr/>
    </dgm:pt>
    <dgm:pt modelId="{1D79732E-4033-4A20-83E6-9D5AF0413A55}" type="pres">
      <dgm:prSet presAssocID="{03DEBEF0-53BD-4CDE-858E-3ED78C7C2B3D}" presName="sibTrans" presStyleLbl="sibTrans2D1" presStyleIdx="0" presStyleCnt="5"/>
      <dgm:spPr/>
    </dgm:pt>
    <dgm:pt modelId="{E8432C50-11F0-4998-B687-BF1AA378AA6E}" type="pres">
      <dgm:prSet presAssocID="{03DEBEF0-53BD-4CDE-858E-3ED78C7C2B3D}" presName="connectorText" presStyleLbl="sibTrans2D1" presStyleIdx="0" presStyleCnt="5"/>
      <dgm:spPr/>
    </dgm:pt>
    <dgm:pt modelId="{EEB086D7-A3F3-460D-956D-CA36E4EB9EB7}" type="pres">
      <dgm:prSet presAssocID="{3F252103-E8E0-4F53-9626-B69586FC69E2}" presName="node" presStyleLbl="node1" presStyleIdx="1" presStyleCnt="5">
        <dgm:presLayoutVars>
          <dgm:bulletEnabled val="1"/>
        </dgm:presLayoutVars>
      </dgm:prSet>
      <dgm:spPr/>
    </dgm:pt>
    <dgm:pt modelId="{D7DEDB4B-774A-4CF0-933A-B9625B97D42D}" type="pres">
      <dgm:prSet presAssocID="{74DCF200-75A2-49ED-B24F-C233B22EB423}" presName="sibTrans" presStyleLbl="sibTrans2D1" presStyleIdx="1" presStyleCnt="5"/>
      <dgm:spPr/>
    </dgm:pt>
    <dgm:pt modelId="{215FF837-DE46-4CBB-B07F-AABD1C369A12}" type="pres">
      <dgm:prSet presAssocID="{74DCF200-75A2-49ED-B24F-C233B22EB423}" presName="connectorText" presStyleLbl="sibTrans2D1" presStyleIdx="1" presStyleCnt="5"/>
      <dgm:spPr/>
    </dgm:pt>
    <dgm:pt modelId="{ABD88235-F009-4345-9434-1E6938C8252C}" type="pres">
      <dgm:prSet presAssocID="{DBBE98DB-E029-4768-832B-227A0D851F1B}" presName="node" presStyleLbl="node1" presStyleIdx="2" presStyleCnt="5" custRadScaleRad="101889" custRadScaleInc="-6884">
        <dgm:presLayoutVars>
          <dgm:bulletEnabled val="1"/>
        </dgm:presLayoutVars>
      </dgm:prSet>
      <dgm:spPr/>
    </dgm:pt>
    <dgm:pt modelId="{C61E9C6A-8C70-4414-AE40-0A7CD5029534}" type="pres">
      <dgm:prSet presAssocID="{B8690752-CBB8-4B08-9E25-6C9D8DB6EC62}" presName="sibTrans" presStyleLbl="sibTrans2D1" presStyleIdx="2" presStyleCnt="5"/>
      <dgm:spPr/>
    </dgm:pt>
    <dgm:pt modelId="{A6B2B363-C91B-4CE9-8811-B7B0FC297CD3}" type="pres">
      <dgm:prSet presAssocID="{B8690752-CBB8-4B08-9E25-6C9D8DB6EC62}" presName="connectorText" presStyleLbl="sibTrans2D1" presStyleIdx="2" presStyleCnt="5"/>
      <dgm:spPr/>
    </dgm:pt>
    <dgm:pt modelId="{A6711B5A-B657-4EAF-9D60-35512FB10A68}" type="pres">
      <dgm:prSet presAssocID="{C6F3F1AD-4CD6-43DF-BD96-FCFF31A2486E}" presName="node" presStyleLbl="node1" presStyleIdx="3" presStyleCnt="5" custScaleX="98835" custScaleY="98834" custRadScaleRad="94785" custRadScaleInc="4974">
        <dgm:presLayoutVars>
          <dgm:bulletEnabled val="1"/>
        </dgm:presLayoutVars>
      </dgm:prSet>
      <dgm:spPr/>
    </dgm:pt>
    <dgm:pt modelId="{33CB78F8-B287-4702-BB42-1591229EB00D}" type="pres">
      <dgm:prSet presAssocID="{3A5B5747-CEE5-40EE-B1C5-49AF8AD10F14}" presName="sibTrans" presStyleLbl="sibTrans2D1" presStyleIdx="3" presStyleCnt="5"/>
      <dgm:spPr/>
    </dgm:pt>
    <dgm:pt modelId="{5C90E89F-3B86-41E4-916A-516095C3A020}" type="pres">
      <dgm:prSet presAssocID="{3A5B5747-CEE5-40EE-B1C5-49AF8AD10F14}" presName="connectorText" presStyleLbl="sibTrans2D1" presStyleIdx="3" presStyleCnt="5"/>
      <dgm:spPr/>
    </dgm:pt>
    <dgm:pt modelId="{81E22F49-86DE-4A2C-886C-9C48C6DB10A2}" type="pres">
      <dgm:prSet presAssocID="{E9B14202-66BF-4AA5-BA78-FE0B006E2B78}" presName="node" presStyleLbl="node1" presStyleIdx="4" presStyleCnt="5" custScaleX="98562" custScaleY="97080">
        <dgm:presLayoutVars>
          <dgm:bulletEnabled val="1"/>
        </dgm:presLayoutVars>
      </dgm:prSet>
      <dgm:spPr/>
    </dgm:pt>
    <dgm:pt modelId="{21C181E8-382F-4762-8BB3-087EBD81F178}" type="pres">
      <dgm:prSet presAssocID="{015ED8EB-1653-44AC-84AB-B2428AF95EF1}" presName="sibTrans" presStyleLbl="sibTrans2D1" presStyleIdx="4" presStyleCnt="5"/>
      <dgm:spPr/>
    </dgm:pt>
    <dgm:pt modelId="{4FCDFB93-2469-4BCF-A709-CED3B746FE9A}" type="pres">
      <dgm:prSet presAssocID="{015ED8EB-1653-44AC-84AB-B2428AF95EF1}" presName="connectorText" presStyleLbl="sibTrans2D1" presStyleIdx="4" presStyleCnt="5"/>
      <dgm:spPr/>
    </dgm:pt>
  </dgm:ptLst>
  <dgm:cxnLst>
    <dgm:cxn modelId="{5D264E11-9A7D-4BFD-A326-2B595E2617F3}" type="presOf" srcId="{C6F3F1AD-4CD6-43DF-BD96-FCFF31A2486E}" destId="{A6711B5A-B657-4EAF-9D60-35512FB10A68}" srcOrd="0" destOrd="0" presId="urn:microsoft.com/office/officeart/2005/8/layout/cycle2"/>
    <dgm:cxn modelId="{57E98514-C284-411F-883D-940EA17DCD4E}" type="presOf" srcId="{015ED8EB-1653-44AC-84AB-B2428AF95EF1}" destId="{21C181E8-382F-4762-8BB3-087EBD81F178}" srcOrd="0" destOrd="0" presId="urn:microsoft.com/office/officeart/2005/8/layout/cycle2"/>
    <dgm:cxn modelId="{FA2EE318-D164-40CB-8AFF-872CB287ECBA}" srcId="{A380DCD4-A918-4D2D-B876-C4338126C3AB}" destId="{E9B14202-66BF-4AA5-BA78-FE0B006E2B78}" srcOrd="4" destOrd="0" parTransId="{DEAF01C1-571D-4A8B-8B6B-A7C29210DAF8}" sibTransId="{015ED8EB-1653-44AC-84AB-B2428AF95EF1}"/>
    <dgm:cxn modelId="{9BA44F22-0583-4869-B03A-5D23E70B95CA}" type="presOf" srcId="{03DEBEF0-53BD-4CDE-858E-3ED78C7C2B3D}" destId="{E8432C50-11F0-4998-B687-BF1AA378AA6E}" srcOrd="1" destOrd="0" presId="urn:microsoft.com/office/officeart/2005/8/layout/cycle2"/>
    <dgm:cxn modelId="{8479DC24-28CB-435A-BC22-BF23079F765C}" type="presOf" srcId="{74DCF200-75A2-49ED-B24F-C233B22EB423}" destId="{D7DEDB4B-774A-4CF0-933A-B9625B97D42D}" srcOrd="0" destOrd="0" presId="urn:microsoft.com/office/officeart/2005/8/layout/cycle2"/>
    <dgm:cxn modelId="{D3955A2C-071D-4587-B0D6-E3219B3929BA}" srcId="{A380DCD4-A918-4D2D-B876-C4338126C3AB}" destId="{C6F3F1AD-4CD6-43DF-BD96-FCFF31A2486E}" srcOrd="3" destOrd="0" parTransId="{0CE77ACC-7FD3-4294-9198-57A4EEA3813A}" sibTransId="{3A5B5747-CEE5-40EE-B1C5-49AF8AD10F14}"/>
    <dgm:cxn modelId="{61AA5A2E-EAB7-4B7A-AB44-075950511AAA}" srcId="{A380DCD4-A918-4D2D-B876-C4338126C3AB}" destId="{3F252103-E8E0-4F53-9626-B69586FC69E2}" srcOrd="1" destOrd="0" parTransId="{555583F4-499D-4074-BEB5-F50DAF0CF18F}" sibTransId="{74DCF200-75A2-49ED-B24F-C233B22EB423}"/>
    <dgm:cxn modelId="{8BCF8F31-AA6D-4688-9A9B-A18E0DB613AF}" type="presOf" srcId="{B8690752-CBB8-4B08-9E25-6C9D8DB6EC62}" destId="{A6B2B363-C91B-4CE9-8811-B7B0FC297CD3}" srcOrd="1" destOrd="0" presId="urn:microsoft.com/office/officeart/2005/8/layout/cycle2"/>
    <dgm:cxn modelId="{24765937-B0FF-41E6-9A72-DAC89842895B}" type="presOf" srcId="{3F252103-E8E0-4F53-9626-B69586FC69E2}" destId="{EEB086D7-A3F3-460D-956D-CA36E4EB9EB7}" srcOrd="0" destOrd="0" presId="urn:microsoft.com/office/officeart/2005/8/layout/cycle2"/>
    <dgm:cxn modelId="{A8337D5F-E796-445C-8AB1-6A0037C69117}" type="presOf" srcId="{74DCF200-75A2-49ED-B24F-C233B22EB423}" destId="{215FF837-DE46-4CBB-B07F-AABD1C369A12}" srcOrd="1" destOrd="0" presId="urn:microsoft.com/office/officeart/2005/8/layout/cycle2"/>
    <dgm:cxn modelId="{30FF8361-413B-41FE-A6D6-5627BBED6AA4}" srcId="{A380DCD4-A918-4D2D-B876-C4338126C3AB}" destId="{223E35C4-AAA8-468B-B639-AB93AECDF717}" srcOrd="0" destOrd="0" parTransId="{A94B6B83-B0F3-4E2C-801C-791D33F8850B}" sibTransId="{03DEBEF0-53BD-4CDE-858E-3ED78C7C2B3D}"/>
    <dgm:cxn modelId="{228A9A66-2487-4921-B386-8D9B636DC1BB}" type="presOf" srcId="{223E35C4-AAA8-468B-B639-AB93AECDF717}" destId="{721276AB-3A1B-4479-AC16-C6581F442A28}" srcOrd="0" destOrd="0" presId="urn:microsoft.com/office/officeart/2005/8/layout/cycle2"/>
    <dgm:cxn modelId="{0D672E67-9557-41BA-85F5-B4D2458F09C2}" type="presOf" srcId="{B8690752-CBB8-4B08-9E25-6C9D8DB6EC62}" destId="{C61E9C6A-8C70-4414-AE40-0A7CD5029534}" srcOrd="0" destOrd="0" presId="urn:microsoft.com/office/officeart/2005/8/layout/cycle2"/>
    <dgm:cxn modelId="{2A2A2A54-ABBA-4423-95DC-BD0FBFFD78AC}" type="presOf" srcId="{3A5B5747-CEE5-40EE-B1C5-49AF8AD10F14}" destId="{33CB78F8-B287-4702-BB42-1591229EB00D}" srcOrd="0" destOrd="0" presId="urn:microsoft.com/office/officeart/2005/8/layout/cycle2"/>
    <dgm:cxn modelId="{F7FDF279-9096-4DC2-9DA6-19DEAA4341D3}" type="presOf" srcId="{03DEBEF0-53BD-4CDE-858E-3ED78C7C2B3D}" destId="{1D79732E-4033-4A20-83E6-9D5AF0413A55}" srcOrd="0" destOrd="0" presId="urn:microsoft.com/office/officeart/2005/8/layout/cycle2"/>
    <dgm:cxn modelId="{42290F8A-F37F-4DE2-AAED-A9B585F4EAA0}" type="presOf" srcId="{A380DCD4-A918-4D2D-B876-C4338126C3AB}" destId="{7D0AFEB1-245F-40CB-B3B4-912CBEADAD03}" srcOrd="0" destOrd="0" presId="urn:microsoft.com/office/officeart/2005/8/layout/cycle2"/>
    <dgm:cxn modelId="{49771CA8-A7AD-4F38-B64B-ADBD013C610A}" type="presOf" srcId="{E9B14202-66BF-4AA5-BA78-FE0B006E2B78}" destId="{81E22F49-86DE-4A2C-886C-9C48C6DB10A2}" srcOrd="0" destOrd="0" presId="urn:microsoft.com/office/officeart/2005/8/layout/cycle2"/>
    <dgm:cxn modelId="{0252F9C0-A087-4EF3-9D51-1B92566C8ED6}" type="presOf" srcId="{015ED8EB-1653-44AC-84AB-B2428AF95EF1}" destId="{4FCDFB93-2469-4BCF-A709-CED3B746FE9A}" srcOrd="1" destOrd="0" presId="urn:microsoft.com/office/officeart/2005/8/layout/cycle2"/>
    <dgm:cxn modelId="{F697ADEC-DA85-4F94-A52D-1165F7258147}" type="presOf" srcId="{DBBE98DB-E029-4768-832B-227A0D851F1B}" destId="{ABD88235-F009-4345-9434-1E6938C8252C}" srcOrd="0" destOrd="0" presId="urn:microsoft.com/office/officeart/2005/8/layout/cycle2"/>
    <dgm:cxn modelId="{1015DDF0-5DCB-4BD0-8280-82A8332EA526}" srcId="{A380DCD4-A918-4D2D-B876-C4338126C3AB}" destId="{DBBE98DB-E029-4768-832B-227A0D851F1B}" srcOrd="2" destOrd="0" parTransId="{8A9CD055-04EC-4302-860A-FCF24D75E8FD}" sibTransId="{B8690752-CBB8-4B08-9E25-6C9D8DB6EC62}"/>
    <dgm:cxn modelId="{2F1D80FE-99C2-439D-A7CA-D2F1F74AA519}" type="presOf" srcId="{3A5B5747-CEE5-40EE-B1C5-49AF8AD10F14}" destId="{5C90E89F-3B86-41E4-916A-516095C3A020}" srcOrd="1" destOrd="0" presId="urn:microsoft.com/office/officeart/2005/8/layout/cycle2"/>
    <dgm:cxn modelId="{D80B2048-EAC5-4466-8EED-F3D42A2C482E}" type="presParOf" srcId="{7D0AFEB1-245F-40CB-B3B4-912CBEADAD03}" destId="{721276AB-3A1B-4479-AC16-C6581F442A28}" srcOrd="0" destOrd="0" presId="urn:microsoft.com/office/officeart/2005/8/layout/cycle2"/>
    <dgm:cxn modelId="{EA801DCB-48D9-4D72-BEAD-4F7910899ECB}" type="presParOf" srcId="{7D0AFEB1-245F-40CB-B3B4-912CBEADAD03}" destId="{1D79732E-4033-4A20-83E6-9D5AF0413A55}" srcOrd="1" destOrd="0" presId="urn:microsoft.com/office/officeart/2005/8/layout/cycle2"/>
    <dgm:cxn modelId="{C9867C4C-EE22-4E65-ACBE-ED10D3C5DBD3}" type="presParOf" srcId="{1D79732E-4033-4A20-83E6-9D5AF0413A55}" destId="{E8432C50-11F0-4998-B687-BF1AA378AA6E}" srcOrd="0" destOrd="0" presId="urn:microsoft.com/office/officeart/2005/8/layout/cycle2"/>
    <dgm:cxn modelId="{83CDEEBE-B3A0-4DA2-859B-67166EC3FE0A}" type="presParOf" srcId="{7D0AFEB1-245F-40CB-B3B4-912CBEADAD03}" destId="{EEB086D7-A3F3-460D-956D-CA36E4EB9EB7}" srcOrd="2" destOrd="0" presId="urn:microsoft.com/office/officeart/2005/8/layout/cycle2"/>
    <dgm:cxn modelId="{3044C425-495C-440C-AF79-6ECEF242A2A3}" type="presParOf" srcId="{7D0AFEB1-245F-40CB-B3B4-912CBEADAD03}" destId="{D7DEDB4B-774A-4CF0-933A-B9625B97D42D}" srcOrd="3" destOrd="0" presId="urn:microsoft.com/office/officeart/2005/8/layout/cycle2"/>
    <dgm:cxn modelId="{D13180AB-AEAE-48F3-A1BE-299248AEDDE4}" type="presParOf" srcId="{D7DEDB4B-774A-4CF0-933A-B9625B97D42D}" destId="{215FF837-DE46-4CBB-B07F-AABD1C369A12}" srcOrd="0" destOrd="0" presId="urn:microsoft.com/office/officeart/2005/8/layout/cycle2"/>
    <dgm:cxn modelId="{2E3D19D6-EB3B-4FF0-89E7-947FED953A44}" type="presParOf" srcId="{7D0AFEB1-245F-40CB-B3B4-912CBEADAD03}" destId="{ABD88235-F009-4345-9434-1E6938C8252C}" srcOrd="4" destOrd="0" presId="urn:microsoft.com/office/officeart/2005/8/layout/cycle2"/>
    <dgm:cxn modelId="{6D9C5FF9-86F7-45AE-85E4-7D39501E3421}" type="presParOf" srcId="{7D0AFEB1-245F-40CB-B3B4-912CBEADAD03}" destId="{C61E9C6A-8C70-4414-AE40-0A7CD5029534}" srcOrd="5" destOrd="0" presId="urn:microsoft.com/office/officeart/2005/8/layout/cycle2"/>
    <dgm:cxn modelId="{79CBDE24-D39D-45DB-AC90-5F268B1D8D71}" type="presParOf" srcId="{C61E9C6A-8C70-4414-AE40-0A7CD5029534}" destId="{A6B2B363-C91B-4CE9-8811-B7B0FC297CD3}" srcOrd="0" destOrd="0" presId="urn:microsoft.com/office/officeart/2005/8/layout/cycle2"/>
    <dgm:cxn modelId="{AD35F1D5-A33F-49DC-BEB0-859C0403AC92}" type="presParOf" srcId="{7D0AFEB1-245F-40CB-B3B4-912CBEADAD03}" destId="{A6711B5A-B657-4EAF-9D60-35512FB10A68}" srcOrd="6" destOrd="0" presId="urn:microsoft.com/office/officeart/2005/8/layout/cycle2"/>
    <dgm:cxn modelId="{4B9D803F-2BCB-4A7F-9083-2F29463938ED}" type="presParOf" srcId="{7D0AFEB1-245F-40CB-B3B4-912CBEADAD03}" destId="{33CB78F8-B287-4702-BB42-1591229EB00D}" srcOrd="7" destOrd="0" presId="urn:microsoft.com/office/officeart/2005/8/layout/cycle2"/>
    <dgm:cxn modelId="{D61D51E7-CA50-4299-9AA5-A540B4367F58}" type="presParOf" srcId="{33CB78F8-B287-4702-BB42-1591229EB00D}" destId="{5C90E89F-3B86-41E4-916A-516095C3A020}" srcOrd="0" destOrd="0" presId="urn:microsoft.com/office/officeart/2005/8/layout/cycle2"/>
    <dgm:cxn modelId="{EDD385BB-6CAB-45DF-A67E-22FB8040A5AC}" type="presParOf" srcId="{7D0AFEB1-245F-40CB-B3B4-912CBEADAD03}" destId="{81E22F49-86DE-4A2C-886C-9C48C6DB10A2}" srcOrd="8" destOrd="0" presId="urn:microsoft.com/office/officeart/2005/8/layout/cycle2"/>
    <dgm:cxn modelId="{7DFBBB48-AF05-47CD-80A3-FF2A87BD11F1}" type="presParOf" srcId="{7D0AFEB1-245F-40CB-B3B4-912CBEADAD03}" destId="{21C181E8-382F-4762-8BB3-087EBD81F178}" srcOrd="9" destOrd="0" presId="urn:microsoft.com/office/officeart/2005/8/layout/cycle2"/>
    <dgm:cxn modelId="{B09E2D91-2180-48D9-92F6-78E68288F1A6}" type="presParOf" srcId="{21C181E8-382F-4762-8BB3-087EBD81F178}" destId="{4FCDFB93-2469-4BCF-A709-CED3B746FE9A}"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1276AB-3A1B-4479-AC16-C6581F442A28}">
      <dsp:nvSpPr>
        <dsp:cNvPr id="0" name=""/>
        <dsp:cNvSpPr/>
      </dsp:nvSpPr>
      <dsp:spPr>
        <a:xfrm>
          <a:off x="2067723" y="0"/>
          <a:ext cx="1203331" cy="1191979"/>
        </a:xfrm>
        <a:prstGeom prst="ellipse">
          <a:avLst/>
        </a:prstGeom>
        <a:solidFill>
          <a:srgbClr val="FFCC99"/>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6990" tIns="46990" rIns="46990" bIns="46990" numCol="1" spcCol="1270" anchor="ctr" anchorCtr="0">
          <a:noAutofit/>
        </a:bodyPr>
        <a:lstStyle/>
        <a:p>
          <a:pPr marL="0" lvl="0" indent="0" algn="ctr" defTabSz="1644650">
            <a:lnSpc>
              <a:spcPct val="90000"/>
            </a:lnSpc>
            <a:spcBef>
              <a:spcPct val="0"/>
            </a:spcBef>
            <a:spcAft>
              <a:spcPct val="35000"/>
            </a:spcAft>
            <a:buNone/>
          </a:pPr>
          <a:r>
            <a:rPr lang="zh-CN" altLang="en-US" sz="3700" kern="1200" dirty="0"/>
            <a:t>　</a:t>
          </a:r>
        </a:p>
      </dsp:txBody>
      <dsp:txXfrm>
        <a:off x="2243947" y="174561"/>
        <a:ext cx="850883" cy="842857"/>
      </dsp:txXfrm>
    </dsp:sp>
    <dsp:sp modelId="{1D79732E-4033-4A20-83E6-9D5AF0413A55}">
      <dsp:nvSpPr>
        <dsp:cNvPr id="0" name=""/>
        <dsp:cNvSpPr/>
      </dsp:nvSpPr>
      <dsp:spPr>
        <a:xfrm rot="2160404">
          <a:off x="3229713" y="916116"/>
          <a:ext cx="313028" cy="401630"/>
        </a:xfrm>
        <a:prstGeom prst="rightArrow">
          <a:avLst>
            <a:gd name="adj1" fmla="val 60000"/>
            <a:gd name="adj2" fmla="val 50000"/>
          </a:avLst>
        </a:prstGeom>
        <a:solidFill>
          <a:srgbClr val="7030A0"/>
        </a:soli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CN" altLang="en-US" sz="1700" kern="1200"/>
        </a:p>
      </dsp:txBody>
      <dsp:txXfrm>
        <a:off x="3238684" y="968839"/>
        <a:ext cx="219120" cy="240978"/>
      </dsp:txXfrm>
    </dsp:sp>
    <dsp:sp modelId="{EEB086D7-A3F3-460D-956D-CA36E4EB9EB7}">
      <dsp:nvSpPr>
        <dsp:cNvPr id="0" name=""/>
        <dsp:cNvSpPr/>
      </dsp:nvSpPr>
      <dsp:spPr>
        <a:xfrm>
          <a:off x="3518607" y="1050533"/>
          <a:ext cx="1190015" cy="1190015"/>
        </a:xfrm>
        <a:prstGeom prst="ellipse">
          <a:avLst/>
        </a:prstGeom>
        <a:solidFill>
          <a:schemeClr val="accent2">
            <a:lumMod val="40000"/>
            <a:lumOff val="60000"/>
          </a:schemeClr>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6990" tIns="46990" rIns="46990" bIns="46990" numCol="1" spcCol="1270" anchor="ctr" anchorCtr="0">
          <a:noAutofit/>
        </a:bodyPr>
        <a:lstStyle/>
        <a:p>
          <a:pPr marL="0" lvl="0" indent="0" algn="ctr" defTabSz="1644650">
            <a:lnSpc>
              <a:spcPct val="90000"/>
            </a:lnSpc>
            <a:spcBef>
              <a:spcPct val="0"/>
            </a:spcBef>
            <a:spcAft>
              <a:spcPct val="35000"/>
            </a:spcAft>
            <a:buNone/>
          </a:pPr>
          <a:r>
            <a:rPr lang="zh-CN" altLang="en-US" sz="3700" kern="1200" dirty="0"/>
            <a:t>　</a:t>
          </a:r>
        </a:p>
      </dsp:txBody>
      <dsp:txXfrm>
        <a:off x="3692881" y="1224807"/>
        <a:ext cx="841467" cy="841467"/>
      </dsp:txXfrm>
    </dsp:sp>
    <dsp:sp modelId="{D7DEDB4B-774A-4CF0-933A-B9625B97D42D}">
      <dsp:nvSpPr>
        <dsp:cNvPr id="0" name=""/>
        <dsp:cNvSpPr/>
      </dsp:nvSpPr>
      <dsp:spPr>
        <a:xfrm rot="6359308">
          <a:off x="3727267" y="2276928"/>
          <a:ext cx="295797" cy="401630"/>
        </a:xfrm>
        <a:prstGeom prst="rightArrow">
          <a:avLst>
            <a:gd name="adj1" fmla="val 60000"/>
            <a:gd name="adj2" fmla="val 50000"/>
          </a:avLst>
        </a:prstGeom>
        <a:solidFill>
          <a:srgbClr val="0070C0"/>
        </a:soli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CN" altLang="en-US" sz="1700" kern="1200"/>
        </a:p>
      </dsp:txBody>
      <dsp:txXfrm rot="10800000">
        <a:off x="3783858" y="2314601"/>
        <a:ext cx="207058" cy="240978"/>
      </dsp:txXfrm>
    </dsp:sp>
    <dsp:sp modelId="{ABD88235-F009-4345-9434-1E6938C8252C}">
      <dsp:nvSpPr>
        <dsp:cNvPr id="0" name=""/>
        <dsp:cNvSpPr/>
      </dsp:nvSpPr>
      <dsp:spPr>
        <a:xfrm>
          <a:off x="3037097" y="2731034"/>
          <a:ext cx="1190015" cy="1190015"/>
        </a:xfrm>
        <a:prstGeom prst="ellipse">
          <a:avLst/>
        </a:prstGeom>
        <a:solidFill>
          <a:srgbClr val="CCFF66"/>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6990" tIns="46990" rIns="46990" bIns="46990" numCol="1" spcCol="1270" anchor="ctr" anchorCtr="0">
          <a:noAutofit/>
        </a:bodyPr>
        <a:lstStyle/>
        <a:p>
          <a:pPr marL="0" lvl="0" indent="0" algn="ctr" defTabSz="1644650">
            <a:lnSpc>
              <a:spcPct val="90000"/>
            </a:lnSpc>
            <a:spcBef>
              <a:spcPct val="0"/>
            </a:spcBef>
            <a:spcAft>
              <a:spcPct val="35000"/>
            </a:spcAft>
            <a:buNone/>
          </a:pPr>
          <a:r>
            <a:rPr lang="zh-CN" altLang="en-US" sz="3700" kern="1200" dirty="0"/>
            <a:t>　</a:t>
          </a:r>
        </a:p>
      </dsp:txBody>
      <dsp:txXfrm>
        <a:off x="3211371" y="2905308"/>
        <a:ext cx="841467" cy="841467"/>
      </dsp:txXfrm>
    </dsp:sp>
    <dsp:sp modelId="{C61E9C6A-8C70-4414-AE40-0A7CD5029534}">
      <dsp:nvSpPr>
        <dsp:cNvPr id="0" name=""/>
        <dsp:cNvSpPr/>
      </dsp:nvSpPr>
      <dsp:spPr>
        <a:xfrm rot="10937429">
          <a:off x="2540494" y="3088594"/>
          <a:ext cx="351450" cy="401630"/>
        </a:xfrm>
        <a:prstGeom prst="rightArrow">
          <a:avLst>
            <a:gd name="adj1" fmla="val 60000"/>
            <a:gd name="adj2" fmla="val 50000"/>
          </a:avLst>
        </a:prstGeom>
        <a:solidFill>
          <a:srgbClr val="00B050"/>
        </a:soli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CN" altLang="en-US" sz="1700" kern="1200"/>
        </a:p>
      </dsp:txBody>
      <dsp:txXfrm rot="10800000">
        <a:off x="2645887" y="3171027"/>
        <a:ext cx="246015" cy="240978"/>
      </dsp:txXfrm>
    </dsp:sp>
    <dsp:sp modelId="{A6711B5A-B657-4EAF-9D60-35512FB10A68}">
      <dsp:nvSpPr>
        <dsp:cNvPr id="0" name=""/>
        <dsp:cNvSpPr/>
      </dsp:nvSpPr>
      <dsp:spPr>
        <a:xfrm>
          <a:off x="1199306" y="2664187"/>
          <a:ext cx="1176152" cy="1176140"/>
        </a:xfrm>
        <a:prstGeom prst="ellipse">
          <a:avLst/>
        </a:prstGeom>
        <a:solidFill>
          <a:srgbClr val="00FFFF"/>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zh-CN" altLang="en-US" sz="2400" kern="1200" dirty="0">
            <a:latin typeface="幼圆" pitchFamily="49" charset="-122"/>
            <a:ea typeface="幼圆" pitchFamily="49" charset="-122"/>
          </a:endParaRPr>
        </a:p>
      </dsp:txBody>
      <dsp:txXfrm>
        <a:off x="1371549" y="2836429"/>
        <a:ext cx="831666" cy="831656"/>
      </dsp:txXfrm>
    </dsp:sp>
    <dsp:sp modelId="{33CB78F8-B287-4702-BB42-1591229EB00D}">
      <dsp:nvSpPr>
        <dsp:cNvPr id="0" name=""/>
        <dsp:cNvSpPr/>
      </dsp:nvSpPr>
      <dsp:spPr>
        <a:xfrm rot="15042847">
          <a:off x="1365425" y="2251186"/>
          <a:ext cx="283865" cy="401630"/>
        </a:xfrm>
        <a:prstGeom prst="rightArrow">
          <a:avLst>
            <a:gd name="adj1" fmla="val 60000"/>
            <a:gd name="adj2" fmla="val 5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CN" altLang="en-US" sz="1700" kern="1200"/>
        </a:p>
      </dsp:txBody>
      <dsp:txXfrm rot="10800000">
        <a:off x="1422068" y="2371702"/>
        <a:ext cx="198706" cy="240978"/>
      </dsp:txXfrm>
    </dsp:sp>
    <dsp:sp modelId="{81E22F49-86DE-4A2C-886C-9C48C6DB10A2}">
      <dsp:nvSpPr>
        <dsp:cNvPr id="0" name=""/>
        <dsp:cNvSpPr/>
      </dsp:nvSpPr>
      <dsp:spPr>
        <a:xfrm>
          <a:off x="638710" y="1067907"/>
          <a:ext cx="1172903" cy="1155267"/>
        </a:xfrm>
        <a:prstGeom prst="ellipse">
          <a:avLst/>
        </a:prstGeom>
        <a:solidFill>
          <a:srgbClr val="FF99FF"/>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6990" tIns="46990" rIns="46990" bIns="46990" numCol="1" spcCol="1270" anchor="ctr" anchorCtr="0">
          <a:noAutofit/>
        </a:bodyPr>
        <a:lstStyle/>
        <a:p>
          <a:pPr marL="0" lvl="0" indent="0" algn="ctr" defTabSz="1644650">
            <a:lnSpc>
              <a:spcPct val="90000"/>
            </a:lnSpc>
            <a:spcBef>
              <a:spcPct val="0"/>
            </a:spcBef>
            <a:spcAft>
              <a:spcPct val="35000"/>
            </a:spcAft>
            <a:buNone/>
          </a:pPr>
          <a:endParaRPr lang="zh-CN" altLang="en-US" sz="3700" kern="1200" dirty="0"/>
        </a:p>
      </dsp:txBody>
      <dsp:txXfrm>
        <a:off x="810478" y="1237092"/>
        <a:ext cx="829367" cy="816897"/>
      </dsp:txXfrm>
    </dsp:sp>
    <dsp:sp modelId="{21C181E8-382F-4762-8BB3-087EBD81F178}">
      <dsp:nvSpPr>
        <dsp:cNvPr id="0" name=""/>
        <dsp:cNvSpPr/>
      </dsp:nvSpPr>
      <dsp:spPr>
        <a:xfrm rot="19439596">
          <a:off x="1773762" y="930060"/>
          <a:ext cx="319203" cy="401630"/>
        </a:xfrm>
        <a:prstGeom prst="rightArrow">
          <a:avLst>
            <a:gd name="adj1" fmla="val 60000"/>
            <a:gd name="adj2" fmla="val 5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CN" altLang="en-US" sz="1700" kern="1200"/>
        </a:p>
      </dsp:txBody>
      <dsp:txXfrm>
        <a:off x="1782910" y="1038534"/>
        <a:ext cx="223442" cy="240978"/>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5234" name="Rectangle 2"/>
          <p:cNvSpPr>
            <a:spLocks noGrp="1" noChangeArrowheads="1"/>
          </p:cNvSpPr>
          <p:nvPr>
            <p:ph type="hdr" sz="quarter"/>
          </p:nvPr>
        </p:nvSpPr>
        <p:spPr bwMode="auto">
          <a:xfrm>
            <a:off x="0" y="0"/>
            <a:ext cx="3078163" cy="4492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95235" name="Rectangle 3"/>
          <p:cNvSpPr>
            <a:spLocks noGrp="1" noChangeArrowheads="1"/>
          </p:cNvSpPr>
          <p:nvPr>
            <p:ph type="dt" sz="quarter" idx="1"/>
          </p:nvPr>
        </p:nvSpPr>
        <p:spPr bwMode="auto">
          <a:xfrm>
            <a:off x="4022725" y="0"/>
            <a:ext cx="3078163" cy="4492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95236" name="Rectangle 4"/>
          <p:cNvSpPr>
            <a:spLocks noGrp="1" noChangeArrowheads="1"/>
          </p:cNvSpPr>
          <p:nvPr>
            <p:ph type="ftr" sz="quarter" idx="2"/>
          </p:nvPr>
        </p:nvSpPr>
        <p:spPr bwMode="auto">
          <a:xfrm>
            <a:off x="0" y="8540750"/>
            <a:ext cx="3078163" cy="4492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95237" name="Rectangle 5"/>
          <p:cNvSpPr>
            <a:spLocks noGrp="1" noChangeArrowheads="1"/>
          </p:cNvSpPr>
          <p:nvPr>
            <p:ph type="sldNum" sz="quarter" idx="3"/>
          </p:nvPr>
        </p:nvSpPr>
        <p:spPr bwMode="auto">
          <a:xfrm>
            <a:off x="4022725" y="8540750"/>
            <a:ext cx="3078163" cy="4492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1A799F65-197A-4424-A39C-0A6C4D0C6B7C}" type="slidenum">
              <a:rPr lang="en-US" altLang="zh-CN"/>
              <a:pPr/>
              <a:t>‹#›</a:t>
            </a:fld>
            <a:endParaRPr lang="en-US" altLang="zh-CN"/>
          </a:p>
        </p:txBody>
      </p:sp>
    </p:spTree>
    <p:extLst>
      <p:ext uri="{BB962C8B-B14F-4D97-AF65-F5344CB8AC3E}">
        <p14:creationId xmlns:p14="http://schemas.microsoft.com/office/powerpoint/2010/main" val="42181104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449263"/>
          </a:xfrm>
          <a:prstGeom prst="rect">
            <a:avLst/>
          </a:prstGeom>
        </p:spPr>
        <p:txBody>
          <a:bodyPr vert="horz" lIns="91440" tIns="45720" rIns="91440" bIns="45720" rtlCol="0"/>
          <a:lstStyle>
            <a:lvl1pPr algn="l">
              <a:defRPr sz="1200"/>
            </a:lvl1pPr>
          </a:lstStyle>
          <a:p>
            <a:endParaRPr lang="fr-FR"/>
          </a:p>
        </p:txBody>
      </p:sp>
      <p:sp>
        <p:nvSpPr>
          <p:cNvPr id="3" name="日期占位符 2"/>
          <p:cNvSpPr>
            <a:spLocks noGrp="1"/>
          </p:cNvSpPr>
          <p:nvPr>
            <p:ph type="dt" idx="1"/>
          </p:nvPr>
        </p:nvSpPr>
        <p:spPr>
          <a:xfrm>
            <a:off x="4022725" y="0"/>
            <a:ext cx="3078163" cy="449263"/>
          </a:xfrm>
          <a:prstGeom prst="rect">
            <a:avLst/>
          </a:prstGeom>
        </p:spPr>
        <p:txBody>
          <a:bodyPr vert="horz" lIns="91440" tIns="45720" rIns="91440" bIns="45720" rtlCol="0"/>
          <a:lstStyle>
            <a:lvl1pPr algn="r">
              <a:defRPr sz="1200"/>
            </a:lvl1pPr>
          </a:lstStyle>
          <a:p>
            <a:fld id="{B2D2260B-FAED-4F90-90EC-A1537C53C4C9}" type="datetimeFigureOut">
              <a:rPr lang="fr-FR" smtClean="0"/>
              <a:pPr/>
              <a:t>23/12/2021</a:t>
            </a:fld>
            <a:endParaRPr lang="fr-FR"/>
          </a:p>
        </p:txBody>
      </p:sp>
      <p:sp>
        <p:nvSpPr>
          <p:cNvPr id="4" name="幻灯片图像占位符 3"/>
          <p:cNvSpPr>
            <a:spLocks noGrp="1" noRot="1" noChangeAspect="1"/>
          </p:cNvSpPr>
          <p:nvPr>
            <p:ph type="sldImg" idx="2"/>
          </p:nvPr>
        </p:nvSpPr>
        <p:spPr>
          <a:xfrm>
            <a:off x="1303338" y="674688"/>
            <a:ext cx="4495800" cy="3371850"/>
          </a:xfrm>
          <a:prstGeom prst="rect">
            <a:avLst/>
          </a:prstGeom>
          <a:noFill/>
          <a:ln w="12700">
            <a:solidFill>
              <a:prstClr val="black"/>
            </a:solidFill>
          </a:ln>
        </p:spPr>
        <p:txBody>
          <a:bodyPr vert="horz" lIns="91440" tIns="45720" rIns="91440" bIns="45720" rtlCol="0" anchor="ctr"/>
          <a:lstStyle/>
          <a:p>
            <a:endParaRPr lang="fr-FR"/>
          </a:p>
        </p:txBody>
      </p:sp>
      <p:sp>
        <p:nvSpPr>
          <p:cNvPr id="5" name="备注占位符 4"/>
          <p:cNvSpPr>
            <a:spLocks noGrp="1"/>
          </p:cNvSpPr>
          <p:nvPr>
            <p:ph type="body" sz="quarter" idx="3"/>
          </p:nvPr>
        </p:nvSpPr>
        <p:spPr>
          <a:xfrm>
            <a:off x="709613" y="4270375"/>
            <a:ext cx="5683250" cy="40465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fr-FR"/>
          </a:p>
        </p:txBody>
      </p:sp>
      <p:sp>
        <p:nvSpPr>
          <p:cNvPr id="6" name="页脚占位符 5"/>
          <p:cNvSpPr>
            <a:spLocks noGrp="1"/>
          </p:cNvSpPr>
          <p:nvPr>
            <p:ph type="ftr" sz="quarter" idx="4"/>
          </p:nvPr>
        </p:nvSpPr>
        <p:spPr>
          <a:xfrm>
            <a:off x="0" y="8540750"/>
            <a:ext cx="3078163" cy="449263"/>
          </a:xfrm>
          <a:prstGeom prst="rect">
            <a:avLst/>
          </a:prstGeom>
        </p:spPr>
        <p:txBody>
          <a:bodyPr vert="horz" lIns="91440" tIns="45720" rIns="91440" bIns="45720" rtlCol="0" anchor="b"/>
          <a:lstStyle>
            <a:lvl1pPr algn="l">
              <a:defRPr sz="1200"/>
            </a:lvl1pPr>
          </a:lstStyle>
          <a:p>
            <a:endParaRPr lang="fr-FR"/>
          </a:p>
        </p:txBody>
      </p:sp>
      <p:sp>
        <p:nvSpPr>
          <p:cNvPr id="7" name="灯片编号占位符 6"/>
          <p:cNvSpPr>
            <a:spLocks noGrp="1"/>
          </p:cNvSpPr>
          <p:nvPr>
            <p:ph type="sldNum" sz="quarter" idx="5"/>
          </p:nvPr>
        </p:nvSpPr>
        <p:spPr>
          <a:xfrm>
            <a:off x="4022725" y="8540750"/>
            <a:ext cx="3078163" cy="449263"/>
          </a:xfrm>
          <a:prstGeom prst="rect">
            <a:avLst/>
          </a:prstGeom>
        </p:spPr>
        <p:txBody>
          <a:bodyPr vert="horz" lIns="91440" tIns="45720" rIns="91440" bIns="45720" rtlCol="0" anchor="b"/>
          <a:lstStyle>
            <a:lvl1pPr algn="r">
              <a:defRPr sz="1200"/>
            </a:lvl1pPr>
          </a:lstStyle>
          <a:p>
            <a:fld id="{9A583BB5-D82B-438E-920C-AB33931E1BEE}" type="slidenum">
              <a:rPr lang="fr-FR" smtClean="0"/>
              <a:pPr/>
              <a:t>‹#›</a:t>
            </a:fld>
            <a:endParaRPr lang="fr-FR"/>
          </a:p>
        </p:txBody>
      </p:sp>
    </p:spTree>
    <p:extLst>
      <p:ext uri="{BB962C8B-B14F-4D97-AF65-F5344CB8AC3E}">
        <p14:creationId xmlns:p14="http://schemas.microsoft.com/office/powerpoint/2010/main" val="2219318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A583BB5-D82B-438E-920C-AB33931E1BEE}" type="slidenum">
              <a:rPr lang="fr-FR" smtClean="0"/>
              <a:pPr/>
              <a:t>2</a:t>
            </a:fld>
            <a:endParaRPr lang="fr-FR"/>
          </a:p>
        </p:txBody>
      </p:sp>
    </p:spTree>
    <p:extLst>
      <p:ext uri="{BB962C8B-B14F-4D97-AF65-F5344CB8AC3E}">
        <p14:creationId xmlns:p14="http://schemas.microsoft.com/office/powerpoint/2010/main" val="948459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p:cNvSpPr>
            <a:spLocks noGrp="1" noRot="1" noChangeAspect="1" noTextEdit="1"/>
          </p:cNvSpPr>
          <p:nvPr>
            <p:ph type="sldImg"/>
          </p:nvPr>
        </p:nvSpPr>
        <p:spPr>
          <a:ln/>
        </p:spPr>
      </p:sp>
      <p:sp>
        <p:nvSpPr>
          <p:cNvPr id="184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itchFamily="34" charset="0"/>
              </a:rPr>
              <a:t>如</a:t>
            </a:r>
            <a:r>
              <a:rPr lang="en-US" altLang="zh-CN">
                <a:latin typeface="Arial" pitchFamily="34" charset="0"/>
              </a:rPr>
              <a:t>R12</a:t>
            </a:r>
            <a:r>
              <a:rPr lang="zh-CN" altLang="en-US">
                <a:latin typeface="Arial" pitchFamily="34" charset="0"/>
              </a:rPr>
              <a:t>，小数点后两位的权值 </a:t>
            </a:r>
            <a:r>
              <a:rPr lang="en-US" altLang="zh-CN">
                <a:latin typeface="Arial" pitchFamily="34" charset="0"/>
              </a:rPr>
              <a:t>12</a:t>
            </a:r>
            <a:r>
              <a:rPr lang="zh-CN" altLang="en-US">
                <a:latin typeface="Arial" pitchFamily="34" charset="0"/>
              </a:rPr>
              <a:t>的</a:t>
            </a:r>
            <a:r>
              <a:rPr lang="en-US" altLang="zh-CN">
                <a:latin typeface="Arial" pitchFamily="34" charset="0"/>
              </a:rPr>
              <a:t>-2</a:t>
            </a:r>
            <a:r>
              <a:rPr lang="zh-CN" altLang="en-US">
                <a:latin typeface="Arial" pitchFamily="34" charset="0"/>
              </a:rPr>
              <a:t>次方</a:t>
            </a:r>
          </a:p>
        </p:txBody>
      </p:sp>
      <p:sp>
        <p:nvSpPr>
          <p:cNvPr id="184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ea typeface="宋体" pitchFamily="2" charset="-122"/>
              </a:defRPr>
            </a:lvl1pPr>
            <a:lvl2pPr marL="742950" indent="-285750">
              <a:defRPr sz="1200">
                <a:solidFill>
                  <a:schemeClr val="tx1"/>
                </a:solidFill>
                <a:latin typeface="Arial" pitchFamily="34" charset="0"/>
                <a:ea typeface="宋体" pitchFamily="2" charset="-122"/>
              </a:defRPr>
            </a:lvl2pPr>
            <a:lvl3pPr marL="1143000" indent="-228600">
              <a:defRPr sz="1200">
                <a:solidFill>
                  <a:schemeClr val="tx1"/>
                </a:solidFill>
                <a:latin typeface="Arial" pitchFamily="34" charset="0"/>
                <a:ea typeface="宋体" pitchFamily="2" charset="-122"/>
              </a:defRPr>
            </a:lvl3pPr>
            <a:lvl4pPr marL="1600200" indent="-228600">
              <a:defRPr sz="1200">
                <a:solidFill>
                  <a:schemeClr val="tx1"/>
                </a:solidFill>
                <a:latin typeface="Arial" pitchFamily="34" charset="0"/>
                <a:ea typeface="宋体" pitchFamily="2" charset="-122"/>
              </a:defRPr>
            </a:lvl4pPr>
            <a:lvl5pPr marL="2057400" indent="-228600">
              <a:defRPr sz="1200">
                <a:solidFill>
                  <a:schemeClr val="tx1"/>
                </a:solidFill>
                <a:latin typeface="Arial"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itchFamily="34" charset="0"/>
                <a:ea typeface="宋体" pitchFamily="2" charset="-122"/>
              </a:defRPr>
            </a:lvl9pPr>
          </a:lstStyle>
          <a:p>
            <a:fld id="{C1DC515F-ECEB-45EC-8152-285F98E50D63}" type="slidenum">
              <a:rPr lang="en-US" altLang="zh-CN"/>
              <a:pPr/>
              <a:t>9</a:t>
            </a:fld>
            <a:endParaRPr lang="en-US" altLang="zh-CN"/>
          </a:p>
        </p:txBody>
      </p:sp>
    </p:spTree>
    <p:extLst>
      <p:ext uri="{BB962C8B-B14F-4D97-AF65-F5344CB8AC3E}">
        <p14:creationId xmlns:p14="http://schemas.microsoft.com/office/powerpoint/2010/main" val="16070350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a:ln/>
        </p:spPr>
      </p:sp>
      <p:sp>
        <p:nvSpPr>
          <p:cNvPr id="215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itchFamily="34" charset="0"/>
              </a:rPr>
              <a:t>-2</a:t>
            </a:r>
            <a:r>
              <a:rPr lang="zh-CN" altLang="en-US">
                <a:latin typeface="Arial" pitchFamily="34" charset="0"/>
              </a:rPr>
              <a:t>的</a:t>
            </a:r>
            <a:r>
              <a:rPr lang="en-US" altLang="zh-CN">
                <a:latin typeface="Arial" pitchFamily="34" charset="0"/>
              </a:rPr>
              <a:t>n-1-1~2</a:t>
            </a:r>
            <a:r>
              <a:rPr lang="zh-CN" altLang="en-US">
                <a:latin typeface="Arial" pitchFamily="34" charset="0"/>
              </a:rPr>
              <a:t>的</a:t>
            </a:r>
            <a:r>
              <a:rPr lang="en-US" altLang="zh-CN">
                <a:latin typeface="Arial" pitchFamily="34" charset="0"/>
              </a:rPr>
              <a:t>n-1-1</a:t>
            </a:r>
          </a:p>
          <a:p>
            <a:r>
              <a:rPr lang="en-US" altLang="zh-CN">
                <a:latin typeface="Arial" pitchFamily="34" charset="0"/>
              </a:rPr>
              <a:t>0</a:t>
            </a:r>
            <a:r>
              <a:rPr lang="zh-CN" altLang="en-US">
                <a:latin typeface="Arial" pitchFamily="34" charset="0"/>
              </a:rPr>
              <a:t>的补码唯一</a:t>
            </a:r>
          </a:p>
          <a:p>
            <a:endParaRPr lang="zh-CN" altLang="en-US">
              <a:latin typeface="Arial" pitchFamily="34" charset="0"/>
            </a:endParaRPr>
          </a:p>
        </p:txBody>
      </p:sp>
      <p:sp>
        <p:nvSpPr>
          <p:cNvPr id="215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ea typeface="宋体" pitchFamily="2" charset="-122"/>
              </a:defRPr>
            </a:lvl1pPr>
            <a:lvl2pPr marL="742950" indent="-285750">
              <a:defRPr sz="1200">
                <a:solidFill>
                  <a:schemeClr val="tx1"/>
                </a:solidFill>
                <a:latin typeface="Arial" pitchFamily="34" charset="0"/>
                <a:ea typeface="宋体" pitchFamily="2" charset="-122"/>
              </a:defRPr>
            </a:lvl2pPr>
            <a:lvl3pPr marL="1143000" indent="-228600">
              <a:defRPr sz="1200">
                <a:solidFill>
                  <a:schemeClr val="tx1"/>
                </a:solidFill>
                <a:latin typeface="Arial" pitchFamily="34" charset="0"/>
                <a:ea typeface="宋体" pitchFamily="2" charset="-122"/>
              </a:defRPr>
            </a:lvl3pPr>
            <a:lvl4pPr marL="1600200" indent="-228600">
              <a:defRPr sz="1200">
                <a:solidFill>
                  <a:schemeClr val="tx1"/>
                </a:solidFill>
                <a:latin typeface="Arial" pitchFamily="34" charset="0"/>
                <a:ea typeface="宋体" pitchFamily="2" charset="-122"/>
              </a:defRPr>
            </a:lvl4pPr>
            <a:lvl5pPr marL="2057400" indent="-228600">
              <a:defRPr sz="1200">
                <a:solidFill>
                  <a:schemeClr val="tx1"/>
                </a:solidFill>
                <a:latin typeface="Arial"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itchFamily="34" charset="0"/>
                <a:ea typeface="宋体" pitchFamily="2" charset="-122"/>
              </a:defRPr>
            </a:lvl9pPr>
          </a:lstStyle>
          <a:p>
            <a:fld id="{3853FDB9-114F-48D8-8577-9A19D8C2E1DE}" type="slidenum">
              <a:rPr lang="en-US" altLang="zh-CN"/>
              <a:pPr/>
              <a:t>10</a:t>
            </a:fld>
            <a:endParaRPr lang="en-US" altLang="zh-CN"/>
          </a:p>
        </p:txBody>
      </p:sp>
    </p:spTree>
    <p:extLst>
      <p:ext uri="{BB962C8B-B14F-4D97-AF65-F5344CB8AC3E}">
        <p14:creationId xmlns:p14="http://schemas.microsoft.com/office/powerpoint/2010/main" val="1190452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a:ln/>
        </p:spPr>
      </p:sp>
      <p:sp>
        <p:nvSpPr>
          <p:cNvPr id="235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itchFamily="34" charset="0"/>
            </a:endParaRPr>
          </a:p>
        </p:txBody>
      </p:sp>
      <p:sp>
        <p:nvSpPr>
          <p:cNvPr id="235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ea typeface="宋体" pitchFamily="2" charset="-122"/>
              </a:defRPr>
            </a:lvl1pPr>
            <a:lvl2pPr marL="742950" indent="-285750">
              <a:defRPr sz="1200">
                <a:solidFill>
                  <a:schemeClr val="tx1"/>
                </a:solidFill>
                <a:latin typeface="Arial" pitchFamily="34" charset="0"/>
                <a:ea typeface="宋体" pitchFamily="2" charset="-122"/>
              </a:defRPr>
            </a:lvl2pPr>
            <a:lvl3pPr marL="1143000" indent="-228600">
              <a:defRPr sz="1200">
                <a:solidFill>
                  <a:schemeClr val="tx1"/>
                </a:solidFill>
                <a:latin typeface="Arial" pitchFamily="34" charset="0"/>
                <a:ea typeface="宋体" pitchFamily="2" charset="-122"/>
              </a:defRPr>
            </a:lvl3pPr>
            <a:lvl4pPr marL="1600200" indent="-228600">
              <a:defRPr sz="1200">
                <a:solidFill>
                  <a:schemeClr val="tx1"/>
                </a:solidFill>
                <a:latin typeface="Arial" pitchFamily="34" charset="0"/>
                <a:ea typeface="宋体" pitchFamily="2" charset="-122"/>
              </a:defRPr>
            </a:lvl4pPr>
            <a:lvl5pPr marL="2057400" indent="-228600">
              <a:defRPr sz="1200">
                <a:solidFill>
                  <a:schemeClr val="tx1"/>
                </a:solidFill>
                <a:latin typeface="Arial"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itchFamily="34" charset="0"/>
                <a:ea typeface="宋体" pitchFamily="2" charset="-122"/>
              </a:defRPr>
            </a:lvl9pPr>
          </a:lstStyle>
          <a:p>
            <a:fld id="{508D3EF1-EC12-4ECA-9980-2325A1550AB5}" type="slidenum">
              <a:rPr lang="en-US" altLang="zh-CN"/>
              <a:pPr/>
              <a:t>11</a:t>
            </a:fld>
            <a:endParaRPr lang="en-US" altLang="zh-CN"/>
          </a:p>
        </p:txBody>
      </p:sp>
    </p:spTree>
    <p:extLst>
      <p:ext uri="{BB962C8B-B14F-4D97-AF65-F5344CB8AC3E}">
        <p14:creationId xmlns:p14="http://schemas.microsoft.com/office/powerpoint/2010/main" val="1423436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ln/>
        </p:spPr>
      </p:sp>
      <p:sp>
        <p:nvSpPr>
          <p:cNvPr id="389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itchFamily="34" charset="0"/>
              </a:rPr>
              <a:t>性能参数 实际一台计算机性能参数都指什么</a:t>
            </a:r>
            <a:endParaRPr lang="fr-FR" altLang="zh-CN">
              <a:latin typeface="Arial" pitchFamily="34" charset="0"/>
            </a:endParaRPr>
          </a:p>
        </p:txBody>
      </p:sp>
      <p:sp>
        <p:nvSpPr>
          <p:cNvPr id="389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ea typeface="宋体" pitchFamily="2" charset="-122"/>
              </a:defRPr>
            </a:lvl1pPr>
            <a:lvl2pPr marL="742950" indent="-285750">
              <a:defRPr sz="1200">
                <a:solidFill>
                  <a:schemeClr val="tx1"/>
                </a:solidFill>
                <a:latin typeface="Arial" pitchFamily="34" charset="0"/>
                <a:ea typeface="宋体" pitchFamily="2" charset="-122"/>
              </a:defRPr>
            </a:lvl2pPr>
            <a:lvl3pPr marL="1143000" indent="-228600">
              <a:defRPr sz="1200">
                <a:solidFill>
                  <a:schemeClr val="tx1"/>
                </a:solidFill>
                <a:latin typeface="Arial" pitchFamily="34" charset="0"/>
                <a:ea typeface="宋体" pitchFamily="2" charset="-122"/>
              </a:defRPr>
            </a:lvl3pPr>
            <a:lvl4pPr marL="1600200" indent="-228600">
              <a:defRPr sz="1200">
                <a:solidFill>
                  <a:schemeClr val="tx1"/>
                </a:solidFill>
                <a:latin typeface="Arial" pitchFamily="34" charset="0"/>
                <a:ea typeface="宋体" pitchFamily="2" charset="-122"/>
              </a:defRPr>
            </a:lvl4pPr>
            <a:lvl5pPr marL="2057400" indent="-228600">
              <a:defRPr sz="1200">
                <a:solidFill>
                  <a:schemeClr val="tx1"/>
                </a:solidFill>
                <a:latin typeface="Arial"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itchFamily="34" charset="0"/>
                <a:ea typeface="宋体" pitchFamily="2" charset="-122"/>
              </a:defRPr>
            </a:lvl9pPr>
          </a:lstStyle>
          <a:p>
            <a:fld id="{E8EE4996-23C1-4D6C-8BF4-94E154D6C1CD}" type="slidenum">
              <a:rPr lang="en-US" altLang="zh-CN"/>
              <a:pPr/>
              <a:t>15</a:t>
            </a:fld>
            <a:endParaRPr lang="en-US" altLang="zh-CN"/>
          </a:p>
        </p:txBody>
      </p:sp>
    </p:spTree>
    <p:extLst>
      <p:ext uri="{BB962C8B-B14F-4D97-AF65-F5344CB8AC3E}">
        <p14:creationId xmlns:p14="http://schemas.microsoft.com/office/powerpoint/2010/main" val="16421902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a:ln/>
        </p:spPr>
      </p:sp>
      <p:sp>
        <p:nvSpPr>
          <p:cNvPr id="706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1">
                <a:latin typeface="华文楷体" pitchFamily="2" charset="-122"/>
                <a:ea typeface="华文楷体" pitchFamily="2" charset="-122"/>
              </a:rPr>
              <a:t>用户在编写的程序中使用“系统调用”就可以获得操作系统的底层服务，使用或访问系统管理的各种软硬件资源。</a:t>
            </a:r>
          </a:p>
          <a:p>
            <a:pPr eaLnBrk="1" hangingPunct="1"/>
            <a:r>
              <a:rPr lang="zh-CN" altLang="en-US" b="1">
                <a:latin typeface="华文楷体" pitchFamily="2" charset="-122"/>
                <a:ea typeface="华文楷体" pitchFamily="2" charset="-122"/>
              </a:rPr>
              <a:t>系统调用又称为广义指令，是由操作系统在机器指令基础上实现、能完成特定功能的过程或子程序。</a:t>
            </a:r>
            <a:r>
              <a:rPr lang="zh-CN" altLang="en-US" b="1">
                <a:solidFill>
                  <a:srgbClr val="0000FF"/>
                </a:solidFill>
                <a:latin typeface="华文楷体" pitchFamily="2" charset="-122"/>
                <a:ea typeface="华文楷体" pitchFamily="2" charset="-122"/>
              </a:rPr>
              <a:t>它是用户程序或其他系统程序获得操作系统服务的唯一途径</a:t>
            </a:r>
            <a:r>
              <a:rPr lang="zh-CN" altLang="en-US" b="1">
                <a:latin typeface="华文楷体" pitchFamily="2" charset="-122"/>
                <a:ea typeface="华文楷体" pitchFamily="2" charset="-122"/>
              </a:rPr>
              <a:t>。</a:t>
            </a:r>
          </a:p>
          <a:p>
            <a:r>
              <a:rPr lang="zh-CN" altLang="en-US">
                <a:latin typeface="Arial" pitchFamily="34" charset="0"/>
              </a:rPr>
              <a:t>比如获取系统的时间</a:t>
            </a:r>
          </a:p>
        </p:txBody>
      </p:sp>
      <p:sp>
        <p:nvSpPr>
          <p:cNvPr id="706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ea typeface="宋体" pitchFamily="2" charset="-122"/>
              </a:defRPr>
            </a:lvl1pPr>
            <a:lvl2pPr marL="742950" indent="-285750">
              <a:defRPr sz="1200">
                <a:solidFill>
                  <a:schemeClr val="tx1"/>
                </a:solidFill>
                <a:latin typeface="Arial" pitchFamily="34" charset="0"/>
                <a:ea typeface="宋体" pitchFamily="2" charset="-122"/>
              </a:defRPr>
            </a:lvl2pPr>
            <a:lvl3pPr marL="1143000" indent="-228600">
              <a:defRPr sz="1200">
                <a:solidFill>
                  <a:schemeClr val="tx1"/>
                </a:solidFill>
                <a:latin typeface="Arial" pitchFamily="34" charset="0"/>
                <a:ea typeface="宋体" pitchFamily="2" charset="-122"/>
              </a:defRPr>
            </a:lvl3pPr>
            <a:lvl4pPr marL="1600200" indent="-228600">
              <a:defRPr sz="1200">
                <a:solidFill>
                  <a:schemeClr val="tx1"/>
                </a:solidFill>
                <a:latin typeface="Arial" pitchFamily="34" charset="0"/>
                <a:ea typeface="宋体" pitchFamily="2" charset="-122"/>
              </a:defRPr>
            </a:lvl4pPr>
            <a:lvl5pPr marL="2057400" indent="-228600">
              <a:defRPr sz="1200">
                <a:solidFill>
                  <a:schemeClr val="tx1"/>
                </a:solidFill>
                <a:latin typeface="Arial"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itchFamily="34" charset="0"/>
                <a:ea typeface="宋体" pitchFamily="2" charset="-122"/>
              </a:defRPr>
            </a:lvl9pPr>
          </a:lstStyle>
          <a:p>
            <a:fld id="{0D7D219A-3189-499B-95ED-5BACA5E6AD85}" type="slidenum">
              <a:rPr lang="en-US" altLang="zh-CN"/>
              <a:pPr/>
              <a:t>20</a:t>
            </a:fld>
            <a:endParaRPr lang="en-US" altLang="zh-CN"/>
          </a:p>
        </p:txBody>
      </p:sp>
    </p:spTree>
    <p:extLst>
      <p:ext uri="{BB962C8B-B14F-4D97-AF65-F5344CB8AC3E}">
        <p14:creationId xmlns:p14="http://schemas.microsoft.com/office/powerpoint/2010/main" val="447213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ea typeface="宋体" pitchFamily="2" charset="-122"/>
              </a:defRPr>
            </a:lvl1pPr>
            <a:lvl2pPr marL="742950" indent="-285750">
              <a:defRPr sz="1200">
                <a:solidFill>
                  <a:schemeClr val="tx1"/>
                </a:solidFill>
                <a:latin typeface="Arial" pitchFamily="34" charset="0"/>
                <a:ea typeface="宋体" pitchFamily="2" charset="-122"/>
              </a:defRPr>
            </a:lvl2pPr>
            <a:lvl3pPr marL="1143000" indent="-228600">
              <a:defRPr sz="1200">
                <a:solidFill>
                  <a:schemeClr val="tx1"/>
                </a:solidFill>
                <a:latin typeface="Arial" pitchFamily="34" charset="0"/>
                <a:ea typeface="宋体" pitchFamily="2" charset="-122"/>
              </a:defRPr>
            </a:lvl3pPr>
            <a:lvl4pPr marL="1600200" indent="-228600">
              <a:defRPr sz="1200">
                <a:solidFill>
                  <a:schemeClr val="tx1"/>
                </a:solidFill>
                <a:latin typeface="Arial" pitchFamily="34" charset="0"/>
                <a:ea typeface="宋体" pitchFamily="2" charset="-122"/>
              </a:defRPr>
            </a:lvl4pPr>
            <a:lvl5pPr marL="2057400" indent="-228600">
              <a:defRPr sz="1200">
                <a:solidFill>
                  <a:schemeClr val="tx1"/>
                </a:solidFill>
                <a:latin typeface="Arial"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itchFamily="34" charset="0"/>
                <a:ea typeface="宋体" pitchFamily="2" charset="-122"/>
              </a:defRPr>
            </a:lvl9pPr>
          </a:lstStyle>
          <a:p>
            <a:fld id="{B314138D-55D0-42F7-A998-7A0215DB4C00}" type="slidenum">
              <a:rPr lang="en-US" altLang="zh-CN"/>
              <a:pPr/>
              <a:t>23</a:t>
            </a:fld>
            <a:endParaRPr lang="en-US" altLang="zh-CN"/>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itchFamily="34" charset="0"/>
            </a:endParaRPr>
          </a:p>
        </p:txBody>
      </p:sp>
    </p:spTree>
    <p:extLst>
      <p:ext uri="{BB962C8B-B14F-4D97-AF65-F5344CB8AC3E}">
        <p14:creationId xmlns:p14="http://schemas.microsoft.com/office/powerpoint/2010/main" val="24957736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a:ln/>
        </p:spPr>
      </p:sp>
      <p:sp>
        <p:nvSpPr>
          <p:cNvPr id="1044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itchFamily="34" charset="0"/>
              </a:rPr>
              <a:t>概念等价</a:t>
            </a:r>
            <a:endParaRPr lang="fr-FR" altLang="zh-CN">
              <a:latin typeface="Arial" pitchFamily="34" charset="0"/>
            </a:endParaRPr>
          </a:p>
        </p:txBody>
      </p:sp>
      <p:sp>
        <p:nvSpPr>
          <p:cNvPr id="1044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ea typeface="宋体" pitchFamily="2" charset="-122"/>
              </a:defRPr>
            </a:lvl1pPr>
            <a:lvl2pPr marL="742950" indent="-285750">
              <a:defRPr sz="1200">
                <a:solidFill>
                  <a:schemeClr val="tx1"/>
                </a:solidFill>
                <a:latin typeface="Arial" pitchFamily="34" charset="0"/>
                <a:ea typeface="宋体" pitchFamily="2" charset="-122"/>
              </a:defRPr>
            </a:lvl2pPr>
            <a:lvl3pPr marL="1143000" indent="-228600">
              <a:defRPr sz="1200">
                <a:solidFill>
                  <a:schemeClr val="tx1"/>
                </a:solidFill>
                <a:latin typeface="Arial" pitchFamily="34" charset="0"/>
                <a:ea typeface="宋体" pitchFamily="2" charset="-122"/>
              </a:defRPr>
            </a:lvl3pPr>
            <a:lvl4pPr marL="1600200" indent="-228600">
              <a:defRPr sz="1200">
                <a:solidFill>
                  <a:schemeClr val="tx1"/>
                </a:solidFill>
                <a:latin typeface="Arial" pitchFamily="34" charset="0"/>
                <a:ea typeface="宋体" pitchFamily="2" charset="-122"/>
              </a:defRPr>
            </a:lvl4pPr>
            <a:lvl5pPr marL="2057400" indent="-228600">
              <a:defRPr sz="1200">
                <a:solidFill>
                  <a:schemeClr val="tx1"/>
                </a:solidFill>
                <a:latin typeface="Arial"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itchFamily="34" charset="0"/>
                <a:ea typeface="宋体" pitchFamily="2" charset="-122"/>
              </a:defRPr>
            </a:lvl9pPr>
          </a:lstStyle>
          <a:p>
            <a:fld id="{D85D5A96-E452-47EE-BE11-AA0CBA2637B7}" type="slidenum">
              <a:rPr lang="en-US" altLang="zh-CN"/>
              <a:pPr/>
              <a:t>25</a:t>
            </a:fld>
            <a:endParaRPr lang="en-US" altLang="zh-CN"/>
          </a:p>
        </p:txBody>
      </p:sp>
    </p:spTree>
    <p:extLst>
      <p:ext uri="{BB962C8B-B14F-4D97-AF65-F5344CB8AC3E}">
        <p14:creationId xmlns:p14="http://schemas.microsoft.com/office/powerpoint/2010/main" val="34520330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TextEdit="1"/>
          </p:cNvSpPr>
          <p:nvPr>
            <p:ph type="sldImg"/>
          </p:nvPr>
        </p:nvSpPr>
        <p:spPr>
          <a:ln/>
        </p:spPr>
      </p:sp>
      <p:sp>
        <p:nvSpPr>
          <p:cNvPr id="81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itchFamily="34" charset="0"/>
              </a:rPr>
              <a:t>e</a:t>
            </a:r>
            <a:r>
              <a:rPr lang="zh-CN" altLang="en-US">
                <a:latin typeface="Arial" pitchFamily="34" charset="0"/>
              </a:rPr>
              <a:t>前必须有数字，</a:t>
            </a:r>
            <a:r>
              <a:rPr lang="en-US" altLang="zh-CN">
                <a:latin typeface="Arial" pitchFamily="34" charset="0"/>
              </a:rPr>
              <a:t>e</a:t>
            </a:r>
            <a:r>
              <a:rPr lang="zh-CN" altLang="en-US">
                <a:latin typeface="Arial" pitchFamily="34" charset="0"/>
              </a:rPr>
              <a:t>后必须是整数</a:t>
            </a:r>
          </a:p>
        </p:txBody>
      </p:sp>
      <p:sp>
        <p:nvSpPr>
          <p:cNvPr id="81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42950" indent="-285750">
              <a:defRPr sz="1200">
                <a:solidFill>
                  <a:schemeClr val="tx1"/>
                </a:solidFill>
                <a:latin typeface="Arial" pitchFamily="34" charset="0"/>
              </a:defRPr>
            </a:lvl2pPr>
            <a:lvl3pPr marL="1143000" indent="-228600">
              <a:defRPr sz="1200">
                <a:solidFill>
                  <a:schemeClr val="tx1"/>
                </a:solidFill>
                <a:latin typeface="Arial" pitchFamily="34" charset="0"/>
              </a:defRPr>
            </a:lvl3pPr>
            <a:lvl4pPr marL="1600200" indent="-228600">
              <a:defRPr sz="1200">
                <a:solidFill>
                  <a:schemeClr val="tx1"/>
                </a:solidFill>
                <a:latin typeface="Arial" pitchFamily="34" charset="0"/>
              </a:defRPr>
            </a:lvl4pPr>
            <a:lvl5pPr marL="2057400" indent="-228600">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fld id="{7BC03927-A5DE-45FD-B364-59C3613A8868}" type="slidenum">
              <a:rPr lang="zh-CN" altLang="en-US"/>
              <a:pPr/>
              <a:t>28</a:t>
            </a:fld>
            <a:endParaRPr lang="en-US" altLang="zh-CN"/>
          </a:p>
        </p:txBody>
      </p:sp>
    </p:spTree>
    <p:extLst>
      <p:ext uri="{BB962C8B-B14F-4D97-AF65-F5344CB8AC3E}">
        <p14:creationId xmlns:p14="http://schemas.microsoft.com/office/powerpoint/2010/main" val="33461213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a:ln/>
        </p:spPr>
      </p:sp>
      <p:sp>
        <p:nvSpPr>
          <p:cNvPr id="102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itchFamily="34" charset="0"/>
              </a:rPr>
              <a:t>“</a:t>
            </a:r>
            <a:r>
              <a:rPr lang="en-US" altLang="zh-CN">
                <a:latin typeface="Arial" pitchFamily="34" charset="0"/>
              </a:rPr>
              <a:t>A</a:t>
            </a:r>
            <a:r>
              <a:rPr lang="zh-CN" altLang="en-US">
                <a:latin typeface="Arial" pitchFamily="34" charset="0"/>
              </a:rPr>
              <a:t>”</a:t>
            </a:r>
          </a:p>
        </p:txBody>
      </p:sp>
      <p:sp>
        <p:nvSpPr>
          <p:cNvPr id="102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42950" indent="-285750">
              <a:defRPr sz="1200">
                <a:solidFill>
                  <a:schemeClr val="tx1"/>
                </a:solidFill>
                <a:latin typeface="Arial" pitchFamily="34" charset="0"/>
              </a:defRPr>
            </a:lvl2pPr>
            <a:lvl3pPr marL="1143000" indent="-228600">
              <a:defRPr sz="1200">
                <a:solidFill>
                  <a:schemeClr val="tx1"/>
                </a:solidFill>
                <a:latin typeface="Arial" pitchFamily="34" charset="0"/>
              </a:defRPr>
            </a:lvl3pPr>
            <a:lvl4pPr marL="1600200" indent="-228600">
              <a:defRPr sz="1200">
                <a:solidFill>
                  <a:schemeClr val="tx1"/>
                </a:solidFill>
                <a:latin typeface="Arial" pitchFamily="34" charset="0"/>
              </a:defRPr>
            </a:lvl4pPr>
            <a:lvl5pPr marL="2057400" indent="-228600">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fld id="{4F0EDFC0-3A6D-4313-9896-99D23EFE8AF0}" type="slidenum">
              <a:rPr lang="zh-CN" altLang="en-US"/>
              <a:pPr/>
              <a:t>29</a:t>
            </a:fld>
            <a:endParaRPr lang="en-US" altLang="zh-CN"/>
          </a:p>
        </p:txBody>
      </p:sp>
    </p:spTree>
    <p:extLst>
      <p:ext uri="{BB962C8B-B14F-4D97-AF65-F5344CB8AC3E}">
        <p14:creationId xmlns:p14="http://schemas.microsoft.com/office/powerpoint/2010/main" val="21129595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p:cNvSpPr>
            <a:spLocks noGrp="1" noRot="1" noChangeAspect="1" noTextEdit="1"/>
          </p:cNvSpPr>
          <p:nvPr>
            <p:ph type="sldImg"/>
          </p:nvPr>
        </p:nvSpPr>
        <p:spPr>
          <a:ln/>
        </p:spPr>
      </p:sp>
      <p:sp>
        <p:nvSpPr>
          <p:cNvPr id="184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itchFamily="34" charset="0"/>
              </a:rPr>
              <a:t>i++</a:t>
            </a:r>
            <a:r>
              <a:rPr lang="zh-CN" altLang="en-US">
                <a:latin typeface="Arial" pitchFamily="34" charset="0"/>
              </a:rPr>
              <a:t>和</a:t>
            </a:r>
            <a:r>
              <a:rPr lang="en-US" altLang="zh-CN">
                <a:latin typeface="Arial" pitchFamily="34" charset="0"/>
              </a:rPr>
              <a:t>++i</a:t>
            </a:r>
          </a:p>
          <a:p>
            <a:r>
              <a:rPr lang="en-US" altLang="zh-CN">
                <a:latin typeface="Arial" pitchFamily="34" charset="0"/>
              </a:rPr>
              <a:t>(a++)+b </a:t>
            </a:r>
            <a:r>
              <a:rPr lang="zh-CN" altLang="en-US">
                <a:latin typeface="Arial" pitchFamily="34" charset="0"/>
              </a:rPr>
              <a:t>和</a:t>
            </a:r>
            <a:r>
              <a:rPr lang="en-US" altLang="zh-CN">
                <a:latin typeface="Arial" pitchFamily="34" charset="0"/>
              </a:rPr>
              <a:t>a+++b</a:t>
            </a:r>
            <a:r>
              <a:rPr lang="zh-CN" altLang="en-US">
                <a:latin typeface="Arial" pitchFamily="34" charset="0"/>
              </a:rPr>
              <a:t>俩个表达式概念是一样的，是一个意思</a:t>
            </a:r>
            <a:endParaRPr lang="en-US" altLang="zh-CN">
              <a:latin typeface="Arial" pitchFamily="34" charset="0"/>
            </a:endParaRPr>
          </a:p>
          <a:p>
            <a:r>
              <a:rPr lang="zh-CN" altLang="en-US">
                <a:latin typeface="Arial" pitchFamily="34" charset="0"/>
              </a:rPr>
              <a:t>条件运算符高于赋值运算</a:t>
            </a:r>
          </a:p>
        </p:txBody>
      </p:sp>
      <p:sp>
        <p:nvSpPr>
          <p:cNvPr id="184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42950" indent="-285750">
              <a:defRPr sz="1200">
                <a:solidFill>
                  <a:schemeClr val="tx1"/>
                </a:solidFill>
                <a:latin typeface="Arial" pitchFamily="34" charset="0"/>
              </a:defRPr>
            </a:lvl2pPr>
            <a:lvl3pPr marL="1143000" indent="-228600">
              <a:defRPr sz="1200">
                <a:solidFill>
                  <a:schemeClr val="tx1"/>
                </a:solidFill>
                <a:latin typeface="Arial" pitchFamily="34" charset="0"/>
              </a:defRPr>
            </a:lvl3pPr>
            <a:lvl4pPr marL="1600200" indent="-228600">
              <a:defRPr sz="1200">
                <a:solidFill>
                  <a:schemeClr val="tx1"/>
                </a:solidFill>
                <a:latin typeface="Arial" pitchFamily="34" charset="0"/>
              </a:defRPr>
            </a:lvl4pPr>
            <a:lvl5pPr marL="2057400" indent="-228600">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fld id="{30BF3AD2-4DB4-435F-B7B3-4D43AE801964}" type="slidenum">
              <a:rPr lang="zh-CN" altLang="en-US"/>
              <a:pPr/>
              <a:t>32</a:t>
            </a:fld>
            <a:endParaRPr lang="en-US" altLang="zh-CN"/>
          </a:p>
        </p:txBody>
      </p:sp>
    </p:spTree>
    <p:extLst>
      <p:ext uri="{BB962C8B-B14F-4D97-AF65-F5344CB8AC3E}">
        <p14:creationId xmlns:p14="http://schemas.microsoft.com/office/powerpoint/2010/main" val="15786629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a:ln/>
        </p:spPr>
      </p:sp>
      <p:sp>
        <p:nvSpPr>
          <p:cNvPr id="215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itchFamily="34" charset="0"/>
              </a:rPr>
              <a:t>k=i++;k=2</a:t>
            </a:r>
          </a:p>
          <a:p>
            <a:endParaRPr lang="zh-CN" altLang="en-US">
              <a:latin typeface="Arial" pitchFamily="34" charset="0"/>
            </a:endParaRPr>
          </a:p>
        </p:txBody>
      </p:sp>
      <p:sp>
        <p:nvSpPr>
          <p:cNvPr id="215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42950" indent="-285750">
              <a:defRPr sz="1200">
                <a:solidFill>
                  <a:schemeClr val="tx1"/>
                </a:solidFill>
                <a:latin typeface="Arial" pitchFamily="34" charset="0"/>
              </a:defRPr>
            </a:lvl2pPr>
            <a:lvl3pPr marL="1143000" indent="-228600">
              <a:defRPr sz="1200">
                <a:solidFill>
                  <a:schemeClr val="tx1"/>
                </a:solidFill>
                <a:latin typeface="Arial" pitchFamily="34" charset="0"/>
              </a:defRPr>
            </a:lvl3pPr>
            <a:lvl4pPr marL="1600200" indent="-228600">
              <a:defRPr sz="1200">
                <a:solidFill>
                  <a:schemeClr val="tx1"/>
                </a:solidFill>
                <a:latin typeface="Arial" pitchFamily="34" charset="0"/>
              </a:defRPr>
            </a:lvl4pPr>
            <a:lvl5pPr marL="2057400" indent="-228600">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fld id="{638C0E9E-CA52-4DE2-93F5-1EF1BD60E4BC}" type="slidenum">
              <a:rPr lang="zh-CN" altLang="en-US"/>
              <a:pPr/>
              <a:t>33</a:t>
            </a:fld>
            <a:endParaRPr lang="en-US" altLang="zh-CN"/>
          </a:p>
        </p:txBody>
      </p:sp>
    </p:spTree>
    <p:extLst>
      <p:ext uri="{BB962C8B-B14F-4D97-AF65-F5344CB8AC3E}">
        <p14:creationId xmlns:p14="http://schemas.microsoft.com/office/powerpoint/2010/main" val="39061830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a:ln/>
        </p:spPr>
      </p:sp>
      <p:sp>
        <p:nvSpPr>
          <p:cNvPr id="471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itchFamily="34" charset="0"/>
            </a:endParaRPr>
          </a:p>
        </p:txBody>
      </p:sp>
      <p:sp>
        <p:nvSpPr>
          <p:cNvPr id="471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42950" indent="-285750">
              <a:defRPr sz="1200">
                <a:solidFill>
                  <a:schemeClr val="tx1"/>
                </a:solidFill>
                <a:latin typeface="Arial" pitchFamily="34" charset="0"/>
              </a:defRPr>
            </a:lvl2pPr>
            <a:lvl3pPr marL="1143000" indent="-228600">
              <a:defRPr sz="1200">
                <a:solidFill>
                  <a:schemeClr val="tx1"/>
                </a:solidFill>
                <a:latin typeface="Arial" pitchFamily="34" charset="0"/>
              </a:defRPr>
            </a:lvl3pPr>
            <a:lvl4pPr marL="1600200" indent="-228600">
              <a:defRPr sz="1200">
                <a:solidFill>
                  <a:schemeClr val="tx1"/>
                </a:solidFill>
                <a:latin typeface="Arial" pitchFamily="34" charset="0"/>
              </a:defRPr>
            </a:lvl4pPr>
            <a:lvl5pPr marL="2057400" indent="-228600">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fld id="{D1162F0A-C366-4A0F-9DB3-81B9A5D1F299}" type="slidenum">
              <a:rPr lang="zh-CN" altLang="en-US"/>
              <a:pPr/>
              <a:t>45</a:t>
            </a:fld>
            <a:endParaRPr lang="en-US" altLang="zh-CN"/>
          </a:p>
        </p:txBody>
      </p:sp>
    </p:spTree>
    <p:extLst>
      <p:ext uri="{BB962C8B-B14F-4D97-AF65-F5344CB8AC3E}">
        <p14:creationId xmlns:p14="http://schemas.microsoft.com/office/powerpoint/2010/main" val="20243167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a:ln/>
        </p:spPr>
      </p:sp>
      <p:sp>
        <p:nvSpPr>
          <p:cNvPr id="491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itchFamily="34" charset="0"/>
              </a:rPr>
              <a:t>演示例子</a:t>
            </a:r>
          </a:p>
        </p:txBody>
      </p:sp>
      <p:sp>
        <p:nvSpPr>
          <p:cNvPr id="491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42950" indent="-285750">
              <a:defRPr sz="1200">
                <a:solidFill>
                  <a:schemeClr val="tx1"/>
                </a:solidFill>
                <a:latin typeface="Arial" pitchFamily="34" charset="0"/>
              </a:defRPr>
            </a:lvl2pPr>
            <a:lvl3pPr marL="1143000" indent="-228600">
              <a:defRPr sz="1200">
                <a:solidFill>
                  <a:schemeClr val="tx1"/>
                </a:solidFill>
                <a:latin typeface="Arial" pitchFamily="34" charset="0"/>
              </a:defRPr>
            </a:lvl3pPr>
            <a:lvl4pPr marL="1600200" indent="-228600">
              <a:defRPr sz="1200">
                <a:solidFill>
                  <a:schemeClr val="tx1"/>
                </a:solidFill>
                <a:latin typeface="Arial" pitchFamily="34" charset="0"/>
              </a:defRPr>
            </a:lvl4pPr>
            <a:lvl5pPr marL="2057400" indent="-228600">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fld id="{9B84872D-4D34-4118-AF3C-A686DDFD6425}" type="slidenum">
              <a:rPr lang="zh-CN" altLang="en-US"/>
              <a:pPr/>
              <a:t>46</a:t>
            </a:fld>
            <a:endParaRPr lang="en-US" altLang="zh-CN"/>
          </a:p>
        </p:txBody>
      </p:sp>
    </p:spTree>
    <p:extLst>
      <p:ext uri="{BB962C8B-B14F-4D97-AF65-F5344CB8AC3E}">
        <p14:creationId xmlns:p14="http://schemas.microsoft.com/office/powerpoint/2010/main" val="30579040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a:ln/>
        </p:spPr>
      </p:sp>
      <p:sp>
        <p:nvSpPr>
          <p:cNvPr id="532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a:solidFill>
                  <a:srgbClr val="CC0000"/>
                </a:solidFill>
                <a:latin typeface="微软雅黑" pitchFamily="34" charset="-122"/>
                <a:ea typeface="微软雅黑" pitchFamily="34" charset="-122"/>
              </a:rPr>
              <a:t>(</a:t>
            </a:r>
            <a:r>
              <a:rPr lang="zh-CN" altLang="en-US" b="1">
                <a:solidFill>
                  <a:srgbClr val="CC0000"/>
                </a:solidFill>
                <a:latin typeface="微软雅黑" pitchFamily="34" charset="-122"/>
                <a:ea typeface="微软雅黑" pitchFamily="34" charset="-122"/>
              </a:rPr>
              <a:t>注：有的</a:t>
            </a:r>
            <a:r>
              <a:rPr lang="en-US" altLang="zh-CN" b="1">
                <a:solidFill>
                  <a:srgbClr val="CC0000"/>
                </a:solidFill>
                <a:latin typeface="微软雅黑" pitchFamily="34" charset="-122"/>
                <a:ea typeface="微软雅黑" pitchFamily="34" charset="-122"/>
              </a:rPr>
              <a:t>C</a:t>
            </a:r>
            <a:r>
              <a:rPr lang="zh-CN" altLang="en-US" b="1">
                <a:solidFill>
                  <a:srgbClr val="CC0000"/>
                </a:solidFill>
                <a:latin typeface="微软雅黑" pitchFamily="34" charset="-122"/>
                <a:ea typeface="微软雅黑" pitchFamily="34" charset="-122"/>
              </a:rPr>
              <a:t>系统的输出格式与此略有不同</a:t>
            </a:r>
            <a:r>
              <a:rPr lang="en-US" altLang="zh-CN" b="1">
                <a:solidFill>
                  <a:srgbClr val="CC0000"/>
                </a:solidFill>
                <a:latin typeface="微软雅黑" pitchFamily="34" charset="-122"/>
                <a:ea typeface="微软雅黑" pitchFamily="34" charset="-122"/>
              </a:rPr>
              <a:t>) </a:t>
            </a:r>
          </a:p>
          <a:p>
            <a:endParaRPr lang="zh-CN" altLang="en-US">
              <a:latin typeface="Arial" pitchFamily="34" charset="0"/>
            </a:endParaRPr>
          </a:p>
        </p:txBody>
      </p:sp>
      <p:sp>
        <p:nvSpPr>
          <p:cNvPr id="532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defRPr>
            </a:lvl1pPr>
            <a:lvl2pPr marL="742950" indent="-285750">
              <a:defRPr sz="1200">
                <a:solidFill>
                  <a:schemeClr val="tx1"/>
                </a:solidFill>
                <a:latin typeface="Arial" pitchFamily="34" charset="0"/>
              </a:defRPr>
            </a:lvl2pPr>
            <a:lvl3pPr marL="1143000" indent="-228600">
              <a:defRPr sz="1200">
                <a:solidFill>
                  <a:schemeClr val="tx1"/>
                </a:solidFill>
                <a:latin typeface="Arial" pitchFamily="34" charset="0"/>
              </a:defRPr>
            </a:lvl3pPr>
            <a:lvl4pPr marL="1600200" indent="-228600">
              <a:defRPr sz="1200">
                <a:solidFill>
                  <a:schemeClr val="tx1"/>
                </a:solidFill>
                <a:latin typeface="Arial" pitchFamily="34" charset="0"/>
              </a:defRPr>
            </a:lvl4pPr>
            <a:lvl5pPr marL="2057400" indent="-228600">
              <a:defRPr sz="1200">
                <a:solidFill>
                  <a:schemeClr val="tx1"/>
                </a:solidFill>
                <a:latin typeface="Arial" pitchFamily="34" charset="0"/>
              </a:defRPr>
            </a:lvl5pPr>
            <a:lvl6pPr marL="2514600" indent="-228600" eaLnBrk="0" fontAlgn="base" hangingPunct="0">
              <a:spcBef>
                <a:spcPct val="30000"/>
              </a:spcBef>
              <a:spcAft>
                <a:spcPct val="0"/>
              </a:spcAft>
              <a:defRPr sz="1200">
                <a:solidFill>
                  <a:schemeClr val="tx1"/>
                </a:solidFill>
                <a:latin typeface="Arial" pitchFamily="34" charset="0"/>
              </a:defRPr>
            </a:lvl6pPr>
            <a:lvl7pPr marL="2971800" indent="-228600" eaLnBrk="0" fontAlgn="base" hangingPunct="0">
              <a:spcBef>
                <a:spcPct val="30000"/>
              </a:spcBef>
              <a:spcAft>
                <a:spcPct val="0"/>
              </a:spcAft>
              <a:defRPr sz="1200">
                <a:solidFill>
                  <a:schemeClr val="tx1"/>
                </a:solidFill>
                <a:latin typeface="Arial" pitchFamily="34" charset="0"/>
              </a:defRPr>
            </a:lvl7pPr>
            <a:lvl8pPr marL="3429000" indent="-228600" eaLnBrk="0" fontAlgn="base" hangingPunct="0">
              <a:spcBef>
                <a:spcPct val="30000"/>
              </a:spcBef>
              <a:spcAft>
                <a:spcPct val="0"/>
              </a:spcAft>
              <a:defRPr sz="1200">
                <a:solidFill>
                  <a:schemeClr val="tx1"/>
                </a:solidFill>
                <a:latin typeface="Arial" pitchFamily="34" charset="0"/>
              </a:defRPr>
            </a:lvl8pPr>
            <a:lvl9pPr marL="3886200" indent="-228600" eaLnBrk="0" fontAlgn="base" hangingPunct="0">
              <a:spcBef>
                <a:spcPct val="30000"/>
              </a:spcBef>
              <a:spcAft>
                <a:spcPct val="0"/>
              </a:spcAft>
              <a:defRPr sz="1200">
                <a:solidFill>
                  <a:schemeClr val="tx1"/>
                </a:solidFill>
                <a:latin typeface="Arial" pitchFamily="34" charset="0"/>
              </a:defRPr>
            </a:lvl9pPr>
          </a:lstStyle>
          <a:p>
            <a:fld id="{9017ABE0-7FBD-483F-83E4-41CCE2E425B6}" type="slidenum">
              <a:rPr lang="zh-CN" altLang="en-US"/>
              <a:pPr/>
              <a:t>49</a:t>
            </a:fld>
            <a:endParaRPr lang="en-US" altLang="zh-CN"/>
          </a:p>
        </p:txBody>
      </p:sp>
    </p:spTree>
    <p:extLst>
      <p:ext uri="{BB962C8B-B14F-4D97-AF65-F5344CB8AC3E}">
        <p14:creationId xmlns:p14="http://schemas.microsoft.com/office/powerpoint/2010/main" val="41340789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a:ln/>
        </p:spPr>
      </p:sp>
      <p:sp>
        <p:nvSpPr>
          <p:cNvPr id="645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itchFamily="34" charset="0"/>
              </a:rPr>
              <a:t>没有</a:t>
            </a:r>
            <a:r>
              <a:rPr lang="en-US" altLang="zh-CN">
                <a:latin typeface="Arial" pitchFamily="34" charset="0"/>
              </a:rPr>
              <a:t>break</a:t>
            </a:r>
            <a:r>
              <a:rPr lang="zh-CN" altLang="en-US">
                <a:latin typeface="Arial" pitchFamily="34" charset="0"/>
              </a:rPr>
              <a:t>，要执行到底</a:t>
            </a:r>
          </a:p>
        </p:txBody>
      </p:sp>
      <p:sp>
        <p:nvSpPr>
          <p:cNvPr id="645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fld id="{BB9A2148-237E-4EAA-8ECE-B77BCF5A2F88}" type="slidenum">
              <a:rPr lang="zh-CN" altLang="en-US" sz="1200"/>
              <a:pPr/>
              <a:t>57</a:t>
            </a:fld>
            <a:endParaRPr lang="en-US" altLang="zh-CN" sz="1200"/>
          </a:p>
        </p:txBody>
      </p:sp>
    </p:spTree>
    <p:extLst>
      <p:ext uri="{BB962C8B-B14F-4D97-AF65-F5344CB8AC3E}">
        <p14:creationId xmlns:p14="http://schemas.microsoft.com/office/powerpoint/2010/main" val="19958059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a:ln/>
        </p:spPr>
      </p:sp>
      <p:sp>
        <p:nvSpPr>
          <p:cNvPr id="829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itchFamily="34" charset="0"/>
              </a:rPr>
              <a:t>放视频</a:t>
            </a:r>
          </a:p>
        </p:txBody>
      </p:sp>
      <p:sp>
        <p:nvSpPr>
          <p:cNvPr id="829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fld id="{034DF4E7-3D10-48CE-8BD8-E040FD2A7FCB}" type="slidenum">
              <a:rPr lang="zh-CN" altLang="en-US" sz="1200"/>
              <a:pPr/>
              <a:t>70</a:t>
            </a:fld>
            <a:endParaRPr lang="en-US" altLang="zh-CN" sz="1200"/>
          </a:p>
        </p:txBody>
      </p:sp>
    </p:spTree>
    <p:extLst>
      <p:ext uri="{BB962C8B-B14F-4D97-AF65-F5344CB8AC3E}">
        <p14:creationId xmlns:p14="http://schemas.microsoft.com/office/powerpoint/2010/main" val="32921980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a:ln/>
        </p:spPr>
      </p:sp>
      <p:sp>
        <p:nvSpPr>
          <p:cNvPr id="921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itchFamily="34" charset="0"/>
              </a:rPr>
              <a:t>无字符串变量 用字符型数组</a:t>
            </a:r>
            <a:endParaRPr lang="en-US" altLang="zh-CN">
              <a:latin typeface="Arial" pitchFamily="34" charset="0"/>
            </a:endParaRPr>
          </a:p>
          <a:p>
            <a:r>
              <a:rPr lang="en-US" altLang="zh-CN">
                <a:latin typeface="Arial" pitchFamily="34" charset="0"/>
              </a:rPr>
              <a:t>‘\0’</a:t>
            </a:r>
            <a:r>
              <a:rPr lang="zh-CN" altLang="en-US">
                <a:latin typeface="Arial" pitchFamily="34" charset="0"/>
              </a:rPr>
              <a:t>在</a:t>
            </a:r>
            <a:r>
              <a:rPr lang="en-US" altLang="zh-CN">
                <a:latin typeface="Arial" pitchFamily="34" charset="0"/>
              </a:rPr>
              <a:t>Asc</a:t>
            </a:r>
            <a:r>
              <a:rPr lang="zh-CN" altLang="en-US">
                <a:latin typeface="Arial" pitchFamily="34" charset="0"/>
              </a:rPr>
              <a:t>码编码是</a:t>
            </a:r>
            <a:r>
              <a:rPr lang="en-US" altLang="zh-CN">
                <a:latin typeface="Arial" pitchFamily="34" charset="0"/>
              </a:rPr>
              <a:t>0</a:t>
            </a:r>
          </a:p>
        </p:txBody>
      </p:sp>
      <p:sp>
        <p:nvSpPr>
          <p:cNvPr id="921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fld id="{A3AF2687-E2B6-4A34-A597-4B5EB5C721F5}" type="slidenum">
              <a:rPr lang="zh-CN" altLang="en-US" sz="1200"/>
              <a:pPr/>
              <a:t>73</a:t>
            </a:fld>
            <a:endParaRPr lang="en-US" altLang="zh-CN" sz="1200"/>
          </a:p>
        </p:txBody>
      </p:sp>
    </p:spTree>
    <p:extLst>
      <p:ext uri="{BB962C8B-B14F-4D97-AF65-F5344CB8AC3E}">
        <p14:creationId xmlns:p14="http://schemas.microsoft.com/office/powerpoint/2010/main" val="36280709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a:ln/>
        </p:spPr>
      </p:sp>
      <p:sp>
        <p:nvSpPr>
          <p:cNvPr id="1013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itchFamily="34" charset="0"/>
              </a:rPr>
              <a:t>Strlen</a:t>
            </a:r>
            <a:r>
              <a:rPr lang="zh-CN" altLang="en-US">
                <a:latin typeface="Arial" pitchFamily="34" charset="0"/>
              </a:rPr>
              <a:t>长度值不包含</a:t>
            </a:r>
            <a:r>
              <a:rPr lang="en-US" altLang="zh-CN">
                <a:latin typeface="Arial" pitchFamily="34" charset="0"/>
              </a:rPr>
              <a:t>\0</a:t>
            </a:r>
            <a:r>
              <a:rPr lang="zh-CN" altLang="en-US">
                <a:latin typeface="Arial" pitchFamily="34" charset="0"/>
              </a:rPr>
              <a:t>，遇到</a:t>
            </a:r>
            <a:r>
              <a:rPr lang="en-US" altLang="zh-CN">
                <a:latin typeface="Arial" pitchFamily="34" charset="0"/>
              </a:rPr>
              <a:t>\0</a:t>
            </a:r>
            <a:r>
              <a:rPr lang="zh-CN" altLang="en-US">
                <a:latin typeface="Arial" pitchFamily="34" charset="0"/>
              </a:rPr>
              <a:t>为止</a:t>
            </a:r>
            <a:endParaRPr lang="en-US" altLang="zh-CN">
              <a:latin typeface="Arial" pitchFamily="34" charset="0"/>
            </a:endParaRPr>
          </a:p>
          <a:p>
            <a:r>
              <a:rPr lang="zh-CN" altLang="en-US">
                <a:latin typeface="Arial" pitchFamily="34" charset="0"/>
              </a:rPr>
              <a:t>数组位置从</a:t>
            </a:r>
            <a:r>
              <a:rPr lang="en-US" altLang="zh-CN">
                <a:latin typeface="Arial" pitchFamily="34" charset="0"/>
              </a:rPr>
              <a:t>0</a:t>
            </a:r>
            <a:r>
              <a:rPr lang="zh-CN" altLang="en-US">
                <a:latin typeface="Arial" pitchFamily="34" charset="0"/>
              </a:rPr>
              <a:t>开始，所以</a:t>
            </a:r>
            <a:r>
              <a:rPr kumimoji="1" lang="en-US" altLang="zh-CN" b="1">
                <a:solidFill>
                  <a:schemeClr val="tx2"/>
                </a:solidFill>
                <a:latin typeface="幼圆" pitchFamily="49" charset="-122"/>
                <a:ea typeface="幼圆" pitchFamily="49" charset="-122"/>
              </a:rPr>
              <a:t>p= strlen(a) -1</a:t>
            </a:r>
            <a:endParaRPr lang="zh-CN" altLang="en-US">
              <a:latin typeface="Arial" pitchFamily="34" charset="0"/>
            </a:endParaRPr>
          </a:p>
        </p:txBody>
      </p:sp>
      <p:sp>
        <p:nvSpPr>
          <p:cNvPr id="1013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fld id="{FE3FE481-0D4F-4B6B-A581-24CE9B8EC263}" type="slidenum">
              <a:rPr lang="zh-CN" altLang="en-US" sz="1200"/>
              <a:pPr/>
              <a:t>81</a:t>
            </a:fld>
            <a:endParaRPr lang="en-US" altLang="zh-CN" sz="1200"/>
          </a:p>
        </p:txBody>
      </p:sp>
    </p:spTree>
    <p:extLst>
      <p:ext uri="{BB962C8B-B14F-4D97-AF65-F5344CB8AC3E}">
        <p14:creationId xmlns:p14="http://schemas.microsoft.com/office/powerpoint/2010/main" val="1450408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a:ln/>
        </p:spPr>
      </p:sp>
      <p:sp>
        <p:nvSpPr>
          <p:cNvPr id="1034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itchFamily="34" charset="0"/>
              </a:rPr>
              <a:t>P</a:t>
            </a:r>
            <a:r>
              <a:rPr lang="zh-CN" altLang="en-US">
                <a:latin typeface="Arial" pitchFamily="34" charset="0"/>
              </a:rPr>
              <a:t>是首地址</a:t>
            </a:r>
          </a:p>
        </p:txBody>
      </p:sp>
      <p:sp>
        <p:nvSpPr>
          <p:cNvPr id="1034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fld id="{1D009B5B-239A-470D-A697-AF165C9BB091}" type="slidenum">
              <a:rPr lang="zh-CN" altLang="en-US" sz="1200"/>
              <a:pPr/>
              <a:t>82</a:t>
            </a:fld>
            <a:endParaRPr lang="en-US" altLang="zh-CN" sz="1200"/>
          </a:p>
        </p:txBody>
      </p:sp>
    </p:spTree>
    <p:extLst>
      <p:ext uri="{BB962C8B-B14F-4D97-AF65-F5344CB8AC3E}">
        <p14:creationId xmlns:p14="http://schemas.microsoft.com/office/powerpoint/2010/main" val="19938480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a:ln/>
        </p:spPr>
      </p:sp>
      <p:sp>
        <p:nvSpPr>
          <p:cNvPr id="1054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itchFamily="34" charset="0"/>
              </a:rPr>
              <a:t>上机调试</a:t>
            </a:r>
          </a:p>
        </p:txBody>
      </p:sp>
      <p:sp>
        <p:nvSpPr>
          <p:cNvPr id="1054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fld id="{9373C1C8-57F6-4D11-9082-1A76A6F9DE4E}" type="slidenum">
              <a:rPr lang="zh-CN" altLang="en-US" sz="1200"/>
              <a:pPr/>
              <a:t>83</a:t>
            </a:fld>
            <a:endParaRPr lang="en-US" altLang="zh-CN" sz="1200"/>
          </a:p>
        </p:txBody>
      </p:sp>
    </p:spTree>
    <p:extLst>
      <p:ext uri="{BB962C8B-B14F-4D97-AF65-F5344CB8AC3E}">
        <p14:creationId xmlns:p14="http://schemas.microsoft.com/office/powerpoint/2010/main" val="10995707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a:ln/>
        </p:spPr>
      </p:sp>
      <p:sp>
        <p:nvSpPr>
          <p:cNvPr id="1105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itchFamily="34" charset="0"/>
              </a:rPr>
              <a:t>需要加边界判断</a:t>
            </a:r>
          </a:p>
        </p:txBody>
      </p:sp>
      <p:sp>
        <p:nvSpPr>
          <p:cNvPr id="1105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fld id="{C2994EE9-4794-4EFD-95DF-561F0993DBEE}" type="slidenum">
              <a:rPr lang="zh-CN" altLang="en-US" sz="1200"/>
              <a:pPr/>
              <a:t>87</a:t>
            </a:fld>
            <a:endParaRPr lang="en-US" altLang="zh-CN" sz="1200"/>
          </a:p>
        </p:txBody>
      </p:sp>
    </p:spTree>
    <p:extLst>
      <p:ext uri="{BB962C8B-B14F-4D97-AF65-F5344CB8AC3E}">
        <p14:creationId xmlns:p14="http://schemas.microsoft.com/office/powerpoint/2010/main" val="9094534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idx="4294967295"/>
          </p:nvPr>
        </p:nvSpPr>
        <p:spPr>
          <a:ln>
            <a:miter lim="800000"/>
          </a:ln>
        </p:spPr>
      </p:sp>
      <p:sp>
        <p:nvSpPr>
          <p:cNvPr id="12291" name="备注占位符 2"/>
          <p:cNvSpPr>
            <a:spLocks noGrp="1" noChangeArrowheads="1"/>
          </p:cNvSpPr>
          <p:nvPr>
            <p:ph type="body" idx="4294967295"/>
          </p:nvPr>
        </p:nvSpPr>
        <p:spPr/>
        <p:txBody>
          <a:bodyPr>
            <a:prstTxWarp prst="textNoShape">
              <a:avLst/>
            </a:prstTxWarp>
          </a:bodyPr>
          <a:lstStyle/>
          <a:p>
            <a:pPr eaLnBrk="1" hangingPunct="1"/>
            <a:endParaRPr lang="zh-CN" altLang="en-US"/>
          </a:p>
        </p:txBody>
      </p:sp>
      <p:sp>
        <p:nvSpPr>
          <p:cNvPr id="4" name="灯片编号占位符 3"/>
          <p:cNvSpPr>
            <a:spLocks noGrp="1"/>
          </p:cNvSpPr>
          <p:nvPr>
            <p:ph type="sldNum" sz="quarter" idx="5"/>
          </p:nvPr>
        </p:nvSpPr>
        <p:spPr/>
        <p:txBody>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fld id="{CCC56C29-735D-4DEB-9996-22BA852A1FFE}" type="slidenum">
              <a:rPr altLang="en-US">
                <a:sym typeface="+mn-ea"/>
              </a:rPr>
              <a:pPr/>
              <a:t>97</a:t>
            </a:fld>
            <a:endParaRPr lang="zh-CN" altLang="en-US">
              <a:sym typeface="+mn-ea"/>
            </a:endParaRPr>
          </a:p>
        </p:txBody>
      </p:sp>
    </p:spTree>
    <p:extLst>
      <p:ext uri="{BB962C8B-B14F-4D97-AF65-F5344CB8AC3E}">
        <p14:creationId xmlns:p14="http://schemas.microsoft.com/office/powerpoint/2010/main" val="32654553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TextEdit="1"/>
          </p:cNvSpPr>
          <p:nvPr>
            <p:ph type="sldImg"/>
          </p:nvPr>
        </p:nvSpPr>
        <p:spPr>
          <a:ln/>
        </p:spPr>
      </p:sp>
      <p:sp>
        <p:nvSpPr>
          <p:cNvPr id="1239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itchFamily="34" charset="0"/>
              </a:rPr>
              <a:t>数组名即为首地址</a:t>
            </a:r>
          </a:p>
        </p:txBody>
      </p:sp>
      <p:sp>
        <p:nvSpPr>
          <p:cNvPr id="1239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fld id="{4C07A5FB-7CAC-49AD-8027-F0A57F31686D}" type="slidenum">
              <a:rPr lang="zh-CN" altLang="en-US" sz="1200"/>
              <a:pPr/>
              <a:t>100</a:t>
            </a:fld>
            <a:endParaRPr lang="en-US" altLang="zh-CN" sz="1200"/>
          </a:p>
        </p:txBody>
      </p:sp>
    </p:spTree>
    <p:extLst>
      <p:ext uri="{BB962C8B-B14F-4D97-AF65-F5344CB8AC3E}">
        <p14:creationId xmlns:p14="http://schemas.microsoft.com/office/powerpoint/2010/main" val="27520369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TextEdit="1"/>
          </p:cNvSpPr>
          <p:nvPr>
            <p:ph type="sldImg"/>
          </p:nvPr>
        </p:nvSpPr>
        <p:spPr>
          <a:ln/>
        </p:spPr>
      </p:sp>
      <p:sp>
        <p:nvSpPr>
          <p:cNvPr id="1259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itchFamily="34" charset="0"/>
              </a:rPr>
              <a:t>() []</a:t>
            </a:r>
            <a:r>
              <a:rPr lang="zh-CN" altLang="en-US">
                <a:latin typeface="Arial" pitchFamily="34" charset="0"/>
              </a:rPr>
              <a:t>优先级一样 左结合</a:t>
            </a:r>
          </a:p>
        </p:txBody>
      </p:sp>
      <p:sp>
        <p:nvSpPr>
          <p:cNvPr id="1259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fld id="{A6AFA26A-AE91-44E0-B614-7623A05A5D0C}" type="slidenum">
              <a:rPr lang="zh-CN" altLang="en-US" sz="1200"/>
              <a:pPr/>
              <a:t>101</a:t>
            </a:fld>
            <a:endParaRPr lang="en-US" altLang="zh-CN" sz="1200"/>
          </a:p>
        </p:txBody>
      </p:sp>
    </p:spTree>
    <p:extLst>
      <p:ext uri="{BB962C8B-B14F-4D97-AF65-F5344CB8AC3E}">
        <p14:creationId xmlns:p14="http://schemas.microsoft.com/office/powerpoint/2010/main" val="3969874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TextEdit="1"/>
          </p:cNvSpPr>
          <p:nvPr>
            <p:ph type="sldImg"/>
          </p:nvPr>
        </p:nvSpPr>
        <p:spPr>
          <a:ln/>
        </p:spPr>
      </p:sp>
      <p:sp>
        <p:nvSpPr>
          <p:cNvPr id="1320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itchFamily="34" charset="0"/>
              </a:rPr>
              <a:t>返回值是</a:t>
            </a:r>
            <a:r>
              <a:rPr lang="en-US" altLang="zh-CN">
                <a:latin typeface="Arial" pitchFamily="34" charset="0"/>
              </a:rPr>
              <a:t>int</a:t>
            </a:r>
            <a:r>
              <a:rPr lang="zh-CN" altLang="en-US">
                <a:latin typeface="Arial" pitchFamily="34" charset="0"/>
              </a:rPr>
              <a:t>的函数</a:t>
            </a:r>
          </a:p>
        </p:txBody>
      </p:sp>
      <p:sp>
        <p:nvSpPr>
          <p:cNvPr id="1321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fld id="{6803A5B0-4674-49CC-80E7-985120DCEAB9}" type="slidenum">
              <a:rPr lang="zh-CN" altLang="en-US" sz="1200"/>
              <a:pPr/>
              <a:t>106</a:t>
            </a:fld>
            <a:endParaRPr lang="en-US" altLang="zh-CN" sz="1200"/>
          </a:p>
        </p:txBody>
      </p:sp>
    </p:spTree>
    <p:extLst>
      <p:ext uri="{BB962C8B-B14F-4D97-AF65-F5344CB8AC3E}">
        <p14:creationId xmlns:p14="http://schemas.microsoft.com/office/powerpoint/2010/main" val="19965915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幻灯片图像占位符 1"/>
          <p:cNvSpPr>
            <a:spLocks noGrp="1" noRot="1" noChangeAspect="1" noTextEdit="1"/>
          </p:cNvSpPr>
          <p:nvPr>
            <p:ph type="sldImg"/>
          </p:nvPr>
        </p:nvSpPr>
        <p:spPr>
          <a:ln/>
        </p:spPr>
      </p:sp>
      <p:sp>
        <p:nvSpPr>
          <p:cNvPr id="1955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itchFamily="34" charset="0"/>
            </a:endParaRPr>
          </a:p>
        </p:txBody>
      </p:sp>
      <p:sp>
        <p:nvSpPr>
          <p:cNvPr id="1955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fld id="{A4D12F86-936C-4DA4-8649-980A80BD06BB}" type="slidenum">
              <a:rPr lang="zh-CN" altLang="en-US" sz="1200"/>
              <a:pPr/>
              <a:t>127</a:t>
            </a:fld>
            <a:endParaRPr lang="en-US" altLang="zh-CN" sz="1200"/>
          </a:p>
        </p:txBody>
      </p:sp>
    </p:spTree>
    <p:extLst>
      <p:ext uri="{BB962C8B-B14F-4D97-AF65-F5344CB8AC3E}">
        <p14:creationId xmlns:p14="http://schemas.microsoft.com/office/powerpoint/2010/main" val="39801918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TextEdit="1"/>
          </p:cNvSpPr>
          <p:nvPr>
            <p:ph type="sldImg"/>
          </p:nvPr>
        </p:nvSpPr>
        <p:spPr>
          <a:ln/>
        </p:spPr>
      </p:sp>
      <p:sp>
        <p:nvSpPr>
          <p:cNvPr id="614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itchFamily="34" charset="0"/>
              </a:rPr>
              <a:t>32/8</a:t>
            </a:r>
          </a:p>
          <a:p>
            <a:r>
              <a:rPr lang="en-US" altLang="zh-CN">
                <a:latin typeface="Arial" pitchFamily="34" charset="0"/>
              </a:rPr>
              <a:t>4</a:t>
            </a:r>
            <a:r>
              <a:rPr lang="zh-CN" altLang="en-US">
                <a:latin typeface="Arial" pitchFamily="34" charset="0"/>
              </a:rPr>
              <a:t>*</a:t>
            </a:r>
            <a:r>
              <a:rPr lang="en-US" altLang="zh-CN">
                <a:latin typeface="Arial" pitchFamily="34" charset="0"/>
              </a:rPr>
              <a:t>10^-6/2*10^-7</a:t>
            </a:r>
            <a:endParaRPr lang="zh-CN" altLang="en-US">
              <a:latin typeface="Arial" pitchFamily="34" charset="0"/>
            </a:endParaRPr>
          </a:p>
        </p:txBody>
      </p:sp>
      <p:sp>
        <p:nvSpPr>
          <p:cNvPr id="614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200">
                <a:solidFill>
                  <a:schemeClr val="tx1"/>
                </a:solidFill>
                <a:latin typeface="Arial" pitchFamily="34" charset="0"/>
                <a:ea typeface="宋体" pitchFamily="2" charset="-122"/>
              </a:defRPr>
            </a:lvl1pPr>
            <a:lvl2pPr marL="742950" indent="-285750">
              <a:defRPr sz="1200">
                <a:solidFill>
                  <a:schemeClr val="tx1"/>
                </a:solidFill>
                <a:latin typeface="Arial" pitchFamily="34" charset="0"/>
                <a:ea typeface="宋体" pitchFamily="2" charset="-122"/>
              </a:defRPr>
            </a:lvl2pPr>
            <a:lvl3pPr marL="1143000" indent="-228600">
              <a:defRPr sz="1200">
                <a:solidFill>
                  <a:schemeClr val="tx1"/>
                </a:solidFill>
                <a:latin typeface="Arial" pitchFamily="34" charset="0"/>
                <a:ea typeface="宋体" pitchFamily="2" charset="-122"/>
              </a:defRPr>
            </a:lvl3pPr>
            <a:lvl4pPr marL="1600200" indent="-228600">
              <a:defRPr sz="1200">
                <a:solidFill>
                  <a:schemeClr val="tx1"/>
                </a:solidFill>
                <a:latin typeface="Arial" pitchFamily="34" charset="0"/>
                <a:ea typeface="宋体" pitchFamily="2" charset="-122"/>
              </a:defRPr>
            </a:lvl4pPr>
            <a:lvl5pPr marL="2057400" indent="-228600">
              <a:defRPr sz="1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200">
                <a:solidFill>
                  <a:schemeClr val="tx1"/>
                </a:solidFill>
                <a:latin typeface="Arial" pitchFamily="34" charset="0"/>
                <a:ea typeface="宋体" pitchFamily="2" charset="-122"/>
              </a:defRPr>
            </a:lvl9pPr>
          </a:lstStyle>
          <a:p>
            <a:fld id="{22396AB8-F86E-4C3E-A4D4-872FDF6F6B03}" type="slidenum">
              <a:rPr lang="zh-CN" altLang="en-US"/>
              <a:pPr/>
              <a:t>131</a:t>
            </a:fld>
            <a:endParaRPr lang="en-US" altLang="zh-CN"/>
          </a:p>
        </p:txBody>
      </p:sp>
    </p:spTree>
    <p:extLst>
      <p:ext uri="{BB962C8B-B14F-4D97-AF65-F5344CB8AC3E}">
        <p14:creationId xmlns:p14="http://schemas.microsoft.com/office/powerpoint/2010/main" val="32010993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幻灯片图像占位符 1"/>
          <p:cNvSpPr>
            <a:spLocks noGrp="1" noRot="1" noChangeAspect="1" noTextEdit="1"/>
          </p:cNvSpPr>
          <p:nvPr>
            <p:ph type="sldImg"/>
          </p:nvPr>
        </p:nvSpPr>
        <p:spPr>
          <a:ln/>
        </p:spPr>
      </p:sp>
      <p:sp>
        <p:nvSpPr>
          <p:cNvPr id="1587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itchFamily="34" charset="0"/>
            </a:endParaRPr>
          </a:p>
        </p:txBody>
      </p:sp>
      <p:sp>
        <p:nvSpPr>
          <p:cNvPr id="1587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fld id="{DA92B7CB-0BB6-427E-BAF7-412FB20C86D1}" type="slidenum">
              <a:rPr lang="zh-CN" altLang="en-US" sz="1200"/>
              <a:pPr/>
              <a:t>134</a:t>
            </a:fld>
            <a:endParaRPr lang="en-US" altLang="zh-CN" sz="1200"/>
          </a:p>
        </p:txBody>
      </p:sp>
    </p:spTree>
    <p:extLst>
      <p:ext uri="{BB962C8B-B14F-4D97-AF65-F5344CB8AC3E}">
        <p14:creationId xmlns:p14="http://schemas.microsoft.com/office/powerpoint/2010/main" val="19814812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幻灯片图像占位符 1"/>
          <p:cNvSpPr>
            <a:spLocks noGrp="1" noRot="1" noChangeAspect="1" noTextEdit="1"/>
          </p:cNvSpPr>
          <p:nvPr>
            <p:ph type="sldImg"/>
          </p:nvPr>
        </p:nvSpPr>
        <p:spPr>
          <a:ln/>
        </p:spPr>
      </p:sp>
      <p:sp>
        <p:nvSpPr>
          <p:cNvPr id="1617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itchFamily="34" charset="0"/>
              </a:rPr>
              <a:t>2</a:t>
            </a:r>
            <a:r>
              <a:rPr lang="zh-CN" altLang="en-US">
                <a:latin typeface="Arial" pitchFamily="34" charset="0"/>
              </a:rPr>
              <a:t>的</a:t>
            </a:r>
            <a:r>
              <a:rPr lang="en-US" altLang="zh-CN">
                <a:latin typeface="Arial" pitchFamily="34" charset="0"/>
              </a:rPr>
              <a:t>n</a:t>
            </a:r>
            <a:r>
              <a:rPr lang="zh-CN" altLang="en-US">
                <a:latin typeface="Arial" pitchFamily="34" charset="0"/>
              </a:rPr>
              <a:t>次方</a:t>
            </a:r>
            <a:r>
              <a:rPr lang="en-US" altLang="zh-CN">
                <a:latin typeface="Arial" pitchFamily="34" charset="0"/>
              </a:rPr>
              <a:t>-1</a:t>
            </a:r>
            <a:endParaRPr lang="zh-CN" altLang="en-US">
              <a:latin typeface="Arial" pitchFamily="34" charset="0"/>
            </a:endParaRPr>
          </a:p>
        </p:txBody>
      </p:sp>
      <p:sp>
        <p:nvSpPr>
          <p:cNvPr id="1617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fld id="{AD40D066-F9D6-488B-BFAB-A634015795F5}" type="slidenum">
              <a:rPr lang="zh-CN" altLang="en-US" sz="1200"/>
              <a:pPr/>
              <a:t>136</a:t>
            </a:fld>
            <a:endParaRPr lang="en-US" altLang="zh-CN" sz="1200"/>
          </a:p>
        </p:txBody>
      </p:sp>
    </p:spTree>
    <p:extLst>
      <p:ext uri="{BB962C8B-B14F-4D97-AF65-F5344CB8AC3E}">
        <p14:creationId xmlns:p14="http://schemas.microsoft.com/office/powerpoint/2010/main" val="4993678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Rot="1" noChangeAspect="1" noChangeArrowheads="1" noTextEdit="1"/>
          </p:cNvSpPr>
          <p:nvPr>
            <p:ph type="sldImg"/>
          </p:nvPr>
        </p:nvSpPr>
        <p:spPr>
          <a:xfrm>
            <a:off x="1266825" y="655638"/>
            <a:ext cx="4568825" cy="3427412"/>
          </a:xfrm>
          <a:ln/>
        </p:spPr>
      </p:sp>
      <p:sp>
        <p:nvSpPr>
          <p:cNvPr id="167939" name="Rectangle 3"/>
          <p:cNvSpPr>
            <a:spLocks noGrp="1" noChangeArrowheads="1"/>
          </p:cNvSpPr>
          <p:nvPr>
            <p:ph type="body" idx="1"/>
          </p:nvPr>
        </p:nvSpPr>
        <p:spPr>
          <a:xfrm>
            <a:off x="937132" y="4300671"/>
            <a:ext cx="5228211" cy="401031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itchFamily="34" charset="0"/>
            </a:endParaRPr>
          </a:p>
        </p:txBody>
      </p:sp>
    </p:spTree>
    <p:extLst>
      <p:ext uri="{BB962C8B-B14F-4D97-AF65-F5344CB8AC3E}">
        <p14:creationId xmlns:p14="http://schemas.microsoft.com/office/powerpoint/2010/main" val="25095940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Rot="1" noChangeAspect="1" noChangeArrowheads="1" noTextEdit="1"/>
          </p:cNvSpPr>
          <p:nvPr>
            <p:ph type="sldImg"/>
          </p:nvPr>
        </p:nvSpPr>
        <p:spPr>
          <a:xfrm>
            <a:off x="1266825" y="655638"/>
            <a:ext cx="4568825" cy="3427412"/>
          </a:xfrm>
          <a:ln/>
        </p:spPr>
      </p:sp>
      <p:sp>
        <p:nvSpPr>
          <p:cNvPr id="171011" name="Rectangle 3"/>
          <p:cNvSpPr>
            <a:spLocks noGrp="1" noChangeArrowheads="1"/>
          </p:cNvSpPr>
          <p:nvPr>
            <p:ph type="body" idx="1"/>
          </p:nvPr>
        </p:nvSpPr>
        <p:spPr>
          <a:xfrm>
            <a:off x="937132" y="4300671"/>
            <a:ext cx="5228211" cy="401031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itchFamily="34" charset="0"/>
              </a:rPr>
              <a:t>j&lt;28 </a:t>
            </a:r>
            <a:r>
              <a:rPr lang="zh-CN" altLang="en-US">
                <a:latin typeface="Arial" pitchFamily="34" charset="0"/>
              </a:rPr>
              <a:t>异或</a:t>
            </a:r>
          </a:p>
        </p:txBody>
      </p:sp>
    </p:spTree>
    <p:extLst>
      <p:ext uri="{BB962C8B-B14F-4D97-AF65-F5344CB8AC3E}">
        <p14:creationId xmlns:p14="http://schemas.microsoft.com/office/powerpoint/2010/main" val="42643113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Rot="1" noChangeAspect="1" noChangeArrowheads="1" noTextEdit="1"/>
          </p:cNvSpPr>
          <p:nvPr>
            <p:ph type="sldImg"/>
          </p:nvPr>
        </p:nvSpPr>
        <p:spPr>
          <a:xfrm>
            <a:off x="1266825" y="655638"/>
            <a:ext cx="4568825" cy="3427412"/>
          </a:xfrm>
          <a:ln/>
        </p:spPr>
      </p:sp>
      <p:sp>
        <p:nvSpPr>
          <p:cNvPr id="182275" name="Rectangle 3"/>
          <p:cNvSpPr>
            <a:spLocks noGrp="1" noChangeArrowheads="1"/>
          </p:cNvSpPr>
          <p:nvPr>
            <p:ph type="body" idx="1"/>
          </p:nvPr>
        </p:nvSpPr>
        <p:spPr>
          <a:xfrm>
            <a:off x="937132" y="4300671"/>
            <a:ext cx="5228211" cy="401031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itchFamily="34" charset="0"/>
            </a:endParaRPr>
          </a:p>
        </p:txBody>
      </p:sp>
    </p:spTree>
    <p:extLst>
      <p:ext uri="{BB962C8B-B14F-4D97-AF65-F5344CB8AC3E}">
        <p14:creationId xmlns:p14="http://schemas.microsoft.com/office/powerpoint/2010/main" val="20403458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A583BB5-D82B-438E-920C-AB33931E1BEE}" type="slidenum">
              <a:rPr lang="fr-FR" smtClean="0"/>
              <a:pPr/>
              <a:t>149</a:t>
            </a:fld>
            <a:endParaRPr lang="fr-FR"/>
          </a:p>
        </p:txBody>
      </p:sp>
    </p:spTree>
    <p:extLst>
      <p:ext uri="{BB962C8B-B14F-4D97-AF65-F5344CB8AC3E}">
        <p14:creationId xmlns:p14="http://schemas.microsoft.com/office/powerpoint/2010/main" val="25223615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bwMode="gray">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89" name="Rectangle 17"/>
          <p:cNvSpPr>
            <a:spLocks noChangeArrowheads="1"/>
          </p:cNvSpPr>
          <p:nvPr/>
        </p:nvSpPr>
        <p:spPr bwMode="gray">
          <a:xfrm>
            <a:off x="0" y="2971800"/>
            <a:ext cx="9144000" cy="914400"/>
          </a:xfrm>
          <a:prstGeom prst="rect">
            <a:avLst/>
          </a:prstGeom>
          <a:gradFill rotWithShape="1">
            <a:gsLst>
              <a:gs pos="0">
                <a:schemeClr val="accent1">
                  <a:gamma/>
                  <a:tint val="12549"/>
                  <a:invGamma/>
                  <a:alpha val="0"/>
                </a:schemeClr>
              </a:gs>
              <a:gs pos="100000">
                <a:schemeClr val="accent1"/>
              </a:gs>
            </a:gsLst>
            <a:lin ang="0" scaled="1"/>
          </a:gradFill>
          <a:ln w="9525">
            <a:noFill/>
            <a:miter lim="800000"/>
            <a:headEnd/>
            <a:tailEnd/>
          </a:ln>
          <a:effectLst/>
        </p:spPr>
        <p:txBody>
          <a:bodyPr wrap="none" anchor="ctr"/>
          <a:lstStyle/>
          <a:p>
            <a:endParaRPr lang="fr-FR"/>
          </a:p>
        </p:txBody>
      </p:sp>
      <p:sp>
        <p:nvSpPr>
          <p:cNvPr id="3075" name="Rectangle 3"/>
          <p:cNvSpPr>
            <a:spLocks noGrp="1" noChangeArrowheads="1"/>
          </p:cNvSpPr>
          <p:nvPr>
            <p:ph type="subTitle" idx="1"/>
          </p:nvPr>
        </p:nvSpPr>
        <p:spPr bwMode="black">
          <a:xfrm>
            <a:off x="1905000" y="5410200"/>
            <a:ext cx="5181600" cy="533400"/>
          </a:xfrm>
        </p:spPr>
        <p:txBody>
          <a:bodyPr/>
          <a:lstStyle>
            <a:lvl1pPr marL="0" indent="0" algn="ctr">
              <a:buFont typeface="Wingdings" pitchFamily="2" charset="2"/>
              <a:buNone/>
              <a:defRPr sz="1600"/>
            </a:lvl1pPr>
          </a:lstStyle>
          <a:p>
            <a:r>
              <a:rPr lang="en-US" altLang="zh-CN"/>
              <a:t>Click to edit Master subtitle style</a:t>
            </a:r>
          </a:p>
        </p:txBody>
      </p:sp>
      <p:sp>
        <p:nvSpPr>
          <p:cNvPr id="3076" name="Rectangle 4"/>
          <p:cNvSpPr>
            <a:spLocks noGrp="1" noChangeArrowheads="1"/>
          </p:cNvSpPr>
          <p:nvPr>
            <p:ph type="dt" sz="half" idx="2"/>
          </p:nvPr>
        </p:nvSpPr>
        <p:spPr>
          <a:xfrm>
            <a:off x="3810000" y="6477000"/>
            <a:ext cx="2133600" cy="244475"/>
          </a:xfrm>
        </p:spPr>
        <p:txBody>
          <a:bodyPr/>
          <a:lstStyle>
            <a:lvl1pPr algn="ctr">
              <a:defRPr sz="1200">
                <a:solidFill>
                  <a:schemeClr val="bg1"/>
                </a:solidFill>
                <a:latin typeface="Arial" charset="0"/>
              </a:defRPr>
            </a:lvl1pPr>
          </a:lstStyle>
          <a:p>
            <a:endParaRPr lang="en-US" altLang="zh-CN"/>
          </a:p>
        </p:txBody>
      </p:sp>
      <p:sp>
        <p:nvSpPr>
          <p:cNvPr id="3077" name="Rectangle 5"/>
          <p:cNvSpPr>
            <a:spLocks noGrp="1" noChangeArrowheads="1"/>
          </p:cNvSpPr>
          <p:nvPr>
            <p:ph type="ftr" sz="quarter" idx="3"/>
          </p:nvPr>
        </p:nvSpPr>
        <p:spPr>
          <a:xfrm>
            <a:off x="228600" y="6477000"/>
            <a:ext cx="2895600" cy="244475"/>
          </a:xfrm>
          <a:prstGeom prst="rect">
            <a:avLst/>
          </a:prstGeom>
        </p:spPr>
        <p:txBody>
          <a:bodyPr/>
          <a:lstStyle>
            <a:lvl1pPr algn="ctr">
              <a:defRPr sz="1200">
                <a:latin typeface="Arial" charset="0"/>
              </a:defRPr>
            </a:lvl1pPr>
          </a:lstStyle>
          <a:p>
            <a:endParaRPr lang="en-US" altLang="zh-CN"/>
          </a:p>
        </p:txBody>
      </p:sp>
      <p:sp>
        <p:nvSpPr>
          <p:cNvPr id="3078" name="Rectangle 6"/>
          <p:cNvSpPr>
            <a:spLocks noGrp="1" noChangeArrowheads="1"/>
          </p:cNvSpPr>
          <p:nvPr>
            <p:ph type="sldNum" sz="quarter" idx="4"/>
          </p:nvPr>
        </p:nvSpPr>
        <p:spPr>
          <a:xfrm>
            <a:off x="6553200" y="6477000"/>
            <a:ext cx="2133600" cy="244475"/>
          </a:xfrm>
        </p:spPr>
        <p:txBody>
          <a:bodyPr/>
          <a:lstStyle>
            <a:lvl1pPr>
              <a:defRPr sz="1200" b="0">
                <a:solidFill>
                  <a:schemeClr val="bg1"/>
                </a:solidFill>
                <a:latin typeface="Arial" charset="0"/>
              </a:defRPr>
            </a:lvl1pPr>
          </a:lstStyle>
          <a:p>
            <a:fld id="{A13EA61D-7FC6-4D91-89D6-C13CF0A40B50}" type="slidenum">
              <a:rPr lang="en-US" altLang="zh-CN"/>
              <a:pPr/>
              <a:t>‹#›</a:t>
            </a:fld>
            <a:endParaRPr lang="en-US" altLang="zh-CN"/>
          </a:p>
        </p:txBody>
      </p:sp>
      <p:sp>
        <p:nvSpPr>
          <p:cNvPr id="3090" name="Rectangle 18"/>
          <p:cNvSpPr>
            <a:spLocks noChangeArrowheads="1"/>
          </p:cNvSpPr>
          <p:nvPr/>
        </p:nvSpPr>
        <p:spPr bwMode="gray">
          <a:xfrm>
            <a:off x="0" y="2895600"/>
            <a:ext cx="8229600" cy="914400"/>
          </a:xfrm>
          <a:prstGeom prst="rect">
            <a:avLst/>
          </a:prstGeom>
          <a:gradFill rotWithShape="1">
            <a:gsLst>
              <a:gs pos="0">
                <a:schemeClr val="tx2"/>
              </a:gs>
              <a:gs pos="100000">
                <a:schemeClr val="tx2">
                  <a:gamma/>
                  <a:shade val="46275"/>
                  <a:invGamma/>
                  <a:alpha val="0"/>
                </a:schemeClr>
              </a:gs>
            </a:gsLst>
            <a:lin ang="0" scaled="1"/>
          </a:gradFill>
          <a:ln w="9525">
            <a:noFill/>
            <a:miter lim="800000"/>
            <a:headEnd/>
            <a:tailEnd/>
          </a:ln>
          <a:effectLst/>
        </p:spPr>
        <p:txBody>
          <a:bodyPr wrap="none" anchor="ctr"/>
          <a:lstStyle/>
          <a:p>
            <a:endParaRPr lang="fr-FR"/>
          </a:p>
        </p:txBody>
      </p:sp>
      <p:sp>
        <p:nvSpPr>
          <p:cNvPr id="3074" name="Rectangle 2"/>
          <p:cNvSpPr>
            <a:spLocks noGrp="1" noChangeArrowheads="1"/>
          </p:cNvSpPr>
          <p:nvPr>
            <p:ph type="ctrTitle"/>
          </p:nvPr>
        </p:nvSpPr>
        <p:spPr>
          <a:xfrm>
            <a:off x="685800" y="3048000"/>
            <a:ext cx="7924800" cy="685800"/>
          </a:xfrm>
        </p:spPr>
        <p:txBody>
          <a:bodyPr/>
          <a:lstStyle>
            <a:lvl1pPr>
              <a:defRPr/>
            </a:lvl1pPr>
          </a:lstStyle>
          <a:p>
            <a:r>
              <a:rPr lang="en-US" altLang="zh-CN" dirty="0"/>
              <a:t>Click to edit Master title style</a:t>
            </a:r>
          </a:p>
        </p:txBody>
      </p:sp>
      <p:pic>
        <p:nvPicPr>
          <p:cNvPr id="10" name="Picture 5" descr="C:\Users\Administrator.QVG2H9RDI7BL5I8\Desktop\bit logo.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877" y="150423"/>
            <a:ext cx="1514923" cy="150593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fr-F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fr-FR"/>
          </a:p>
        </p:txBody>
      </p:sp>
      <p:sp>
        <p:nvSpPr>
          <p:cNvPr id="4" name="日期占位符 3"/>
          <p:cNvSpPr>
            <a:spLocks noGrp="1"/>
          </p:cNvSpPr>
          <p:nvPr>
            <p:ph type="dt" sz="half" idx="10"/>
          </p:nvPr>
        </p:nvSpPr>
        <p:spPr/>
        <p:txBody>
          <a:bodyPr/>
          <a:lstStyle>
            <a:lvl1pPr>
              <a:defRPr/>
            </a:lvl1pPr>
          </a:lstStyle>
          <a:p>
            <a:r>
              <a:rPr lang="en-US" altLang="zh-CN"/>
              <a:t>www.themegallery.com</a:t>
            </a:r>
          </a:p>
        </p:txBody>
      </p:sp>
      <p:sp>
        <p:nvSpPr>
          <p:cNvPr id="6" name="灯片编号占位符 5"/>
          <p:cNvSpPr>
            <a:spLocks noGrp="1"/>
          </p:cNvSpPr>
          <p:nvPr>
            <p:ph type="sldNum" sz="quarter" idx="12"/>
          </p:nvPr>
        </p:nvSpPr>
        <p:spPr/>
        <p:txBody>
          <a:bodyPr/>
          <a:lstStyle>
            <a:lvl1pPr>
              <a:defRPr/>
            </a:lvl1pPr>
          </a:lstStyle>
          <a:p>
            <a:fld id="{14FC20C2-25E4-4EA6-9567-74068DEA53C9}" type="slidenum">
              <a:rPr lang="en-US" altLang="zh-CN"/>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fr-F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r>
              <a:rPr lang="en-US" altLang="zh-CN"/>
              <a:t>www.themegallery.com</a:t>
            </a:r>
          </a:p>
        </p:txBody>
      </p:sp>
      <p:sp>
        <p:nvSpPr>
          <p:cNvPr id="5" name="页脚占位符 4"/>
          <p:cNvSpPr>
            <a:spLocks noGrp="1"/>
          </p:cNvSpPr>
          <p:nvPr>
            <p:ph type="ftr" sz="quarter" idx="11"/>
          </p:nvPr>
        </p:nvSpPr>
        <p:spPr>
          <a:xfrm>
            <a:off x="5791200" y="6530975"/>
            <a:ext cx="2895600" cy="276225"/>
          </a:xfrm>
          <a:prstGeom prst="rect">
            <a:avLst/>
          </a:prstGeom>
        </p:spPr>
        <p:txBody>
          <a:bodyPr/>
          <a:lstStyle>
            <a:lvl1pPr>
              <a:defRPr/>
            </a:lvl1pPr>
          </a:lstStyle>
          <a:p>
            <a:r>
              <a:rPr lang="en-US" altLang="zh-CN"/>
              <a:t>Company Logo</a:t>
            </a:r>
          </a:p>
        </p:txBody>
      </p:sp>
      <p:sp>
        <p:nvSpPr>
          <p:cNvPr id="6" name="灯片编号占位符 5"/>
          <p:cNvSpPr>
            <a:spLocks noGrp="1"/>
          </p:cNvSpPr>
          <p:nvPr>
            <p:ph type="sldNum" sz="quarter" idx="12"/>
          </p:nvPr>
        </p:nvSpPr>
        <p:spPr/>
        <p:txBody>
          <a:bodyPr/>
          <a:lstStyle>
            <a:lvl1pPr>
              <a:defRPr/>
            </a:lvl1pPr>
          </a:lstStyle>
          <a:p>
            <a:fld id="{6FE795B2-DECD-4145-9BAC-54FA52A6F518}" type="slidenum">
              <a:rPr lang="en-US" altLang="zh-CN"/>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fr-FR"/>
          </a:p>
        </p:txBody>
      </p:sp>
      <p:sp>
        <p:nvSpPr>
          <p:cNvPr id="3" name="内容占位符 2"/>
          <p:cNvSpPr>
            <a:spLocks noGrp="1"/>
          </p:cNvSpPr>
          <p:nvPr>
            <p:ph sz="half" idx="1"/>
          </p:nvPr>
        </p:nvSpPr>
        <p:spPr>
          <a:xfrm>
            <a:off x="457200" y="1338263"/>
            <a:ext cx="4038600" cy="5092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fr-FR"/>
          </a:p>
        </p:txBody>
      </p:sp>
      <p:sp>
        <p:nvSpPr>
          <p:cNvPr id="4" name="内容占位符 3"/>
          <p:cNvSpPr>
            <a:spLocks noGrp="1"/>
          </p:cNvSpPr>
          <p:nvPr>
            <p:ph sz="half" idx="2"/>
          </p:nvPr>
        </p:nvSpPr>
        <p:spPr>
          <a:xfrm>
            <a:off x="4648200" y="1338263"/>
            <a:ext cx="4038600" cy="5092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fr-FR"/>
          </a:p>
        </p:txBody>
      </p:sp>
      <p:sp>
        <p:nvSpPr>
          <p:cNvPr id="5" name="日期占位符 4"/>
          <p:cNvSpPr>
            <a:spLocks noGrp="1"/>
          </p:cNvSpPr>
          <p:nvPr>
            <p:ph type="dt" sz="half" idx="10"/>
          </p:nvPr>
        </p:nvSpPr>
        <p:spPr/>
        <p:txBody>
          <a:bodyPr/>
          <a:lstStyle>
            <a:lvl1pPr>
              <a:defRPr/>
            </a:lvl1pPr>
          </a:lstStyle>
          <a:p>
            <a:r>
              <a:rPr lang="en-US" altLang="zh-CN"/>
              <a:t>www.themegallery.com</a:t>
            </a:r>
          </a:p>
        </p:txBody>
      </p:sp>
      <p:sp>
        <p:nvSpPr>
          <p:cNvPr id="6" name="页脚占位符 5"/>
          <p:cNvSpPr>
            <a:spLocks noGrp="1"/>
          </p:cNvSpPr>
          <p:nvPr>
            <p:ph type="ftr" sz="quarter" idx="11"/>
          </p:nvPr>
        </p:nvSpPr>
        <p:spPr>
          <a:xfrm>
            <a:off x="5791200" y="6530975"/>
            <a:ext cx="2895600" cy="276225"/>
          </a:xfrm>
          <a:prstGeom prst="rect">
            <a:avLst/>
          </a:prstGeom>
        </p:spPr>
        <p:txBody>
          <a:bodyPr/>
          <a:lstStyle>
            <a:lvl1pPr>
              <a:defRPr/>
            </a:lvl1pPr>
          </a:lstStyle>
          <a:p>
            <a:r>
              <a:rPr lang="en-US" altLang="zh-CN"/>
              <a:t>Company Logo</a:t>
            </a:r>
          </a:p>
        </p:txBody>
      </p:sp>
      <p:sp>
        <p:nvSpPr>
          <p:cNvPr id="7" name="灯片编号占位符 6"/>
          <p:cNvSpPr>
            <a:spLocks noGrp="1"/>
          </p:cNvSpPr>
          <p:nvPr>
            <p:ph type="sldNum" sz="quarter" idx="12"/>
          </p:nvPr>
        </p:nvSpPr>
        <p:spPr/>
        <p:txBody>
          <a:bodyPr/>
          <a:lstStyle>
            <a:lvl1pPr>
              <a:defRPr/>
            </a:lvl1pPr>
          </a:lstStyle>
          <a:p>
            <a:fld id="{4C7EEC90-E357-49C8-B62F-315ACDA4C892}" type="slidenum">
              <a:rPr lang="en-US" altLang="zh-CN"/>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fr-F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fr-F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fr-FR"/>
          </a:p>
        </p:txBody>
      </p:sp>
      <p:sp>
        <p:nvSpPr>
          <p:cNvPr id="7" name="日期占位符 6"/>
          <p:cNvSpPr>
            <a:spLocks noGrp="1"/>
          </p:cNvSpPr>
          <p:nvPr>
            <p:ph type="dt" sz="half" idx="10"/>
          </p:nvPr>
        </p:nvSpPr>
        <p:spPr/>
        <p:txBody>
          <a:bodyPr/>
          <a:lstStyle>
            <a:lvl1pPr>
              <a:defRPr/>
            </a:lvl1pPr>
          </a:lstStyle>
          <a:p>
            <a:r>
              <a:rPr lang="en-US" altLang="zh-CN"/>
              <a:t>www.themegallery.com</a:t>
            </a:r>
          </a:p>
        </p:txBody>
      </p:sp>
      <p:sp>
        <p:nvSpPr>
          <p:cNvPr id="8" name="页脚占位符 7"/>
          <p:cNvSpPr>
            <a:spLocks noGrp="1"/>
          </p:cNvSpPr>
          <p:nvPr>
            <p:ph type="ftr" sz="quarter" idx="11"/>
          </p:nvPr>
        </p:nvSpPr>
        <p:spPr>
          <a:xfrm>
            <a:off x="5791200" y="6530975"/>
            <a:ext cx="2895600" cy="276225"/>
          </a:xfrm>
          <a:prstGeom prst="rect">
            <a:avLst/>
          </a:prstGeom>
        </p:spPr>
        <p:txBody>
          <a:bodyPr/>
          <a:lstStyle>
            <a:lvl1pPr>
              <a:defRPr/>
            </a:lvl1pPr>
          </a:lstStyle>
          <a:p>
            <a:r>
              <a:rPr lang="en-US" altLang="zh-CN"/>
              <a:t>Company Logo</a:t>
            </a:r>
          </a:p>
        </p:txBody>
      </p:sp>
      <p:sp>
        <p:nvSpPr>
          <p:cNvPr id="9" name="灯片编号占位符 8"/>
          <p:cNvSpPr>
            <a:spLocks noGrp="1"/>
          </p:cNvSpPr>
          <p:nvPr>
            <p:ph type="sldNum" sz="quarter" idx="12"/>
          </p:nvPr>
        </p:nvSpPr>
        <p:spPr/>
        <p:txBody>
          <a:bodyPr/>
          <a:lstStyle>
            <a:lvl1pPr>
              <a:defRPr/>
            </a:lvl1pPr>
          </a:lstStyle>
          <a:p>
            <a:fld id="{9B124D71-01E2-4B9C-9984-706327E5EEC7}" type="slidenum">
              <a:rPr lang="en-US" altLang="zh-CN"/>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fr-FR"/>
          </a:p>
        </p:txBody>
      </p:sp>
      <p:sp>
        <p:nvSpPr>
          <p:cNvPr id="3" name="日期占位符 2"/>
          <p:cNvSpPr>
            <a:spLocks noGrp="1"/>
          </p:cNvSpPr>
          <p:nvPr>
            <p:ph type="dt" sz="half" idx="10"/>
          </p:nvPr>
        </p:nvSpPr>
        <p:spPr/>
        <p:txBody>
          <a:bodyPr/>
          <a:lstStyle>
            <a:lvl1pPr>
              <a:defRPr/>
            </a:lvl1pPr>
          </a:lstStyle>
          <a:p>
            <a:r>
              <a:rPr lang="en-US" altLang="zh-CN"/>
              <a:t>www.themegallery.com</a:t>
            </a:r>
          </a:p>
        </p:txBody>
      </p:sp>
      <p:sp>
        <p:nvSpPr>
          <p:cNvPr id="4" name="页脚占位符 3"/>
          <p:cNvSpPr>
            <a:spLocks noGrp="1"/>
          </p:cNvSpPr>
          <p:nvPr>
            <p:ph type="ftr" sz="quarter" idx="11"/>
          </p:nvPr>
        </p:nvSpPr>
        <p:spPr>
          <a:xfrm>
            <a:off x="5791200" y="6530975"/>
            <a:ext cx="2895600" cy="276225"/>
          </a:xfrm>
          <a:prstGeom prst="rect">
            <a:avLst/>
          </a:prstGeom>
        </p:spPr>
        <p:txBody>
          <a:bodyPr/>
          <a:lstStyle>
            <a:lvl1pPr>
              <a:defRPr/>
            </a:lvl1pPr>
          </a:lstStyle>
          <a:p>
            <a:r>
              <a:rPr lang="en-US" altLang="zh-CN"/>
              <a:t>Company Logo</a:t>
            </a:r>
          </a:p>
        </p:txBody>
      </p:sp>
      <p:sp>
        <p:nvSpPr>
          <p:cNvPr id="5" name="灯片编号占位符 4"/>
          <p:cNvSpPr>
            <a:spLocks noGrp="1"/>
          </p:cNvSpPr>
          <p:nvPr>
            <p:ph type="sldNum" sz="quarter" idx="12"/>
          </p:nvPr>
        </p:nvSpPr>
        <p:spPr/>
        <p:txBody>
          <a:bodyPr/>
          <a:lstStyle>
            <a:lvl1pPr>
              <a:defRPr/>
            </a:lvl1pPr>
          </a:lstStyle>
          <a:p>
            <a:fld id="{A081EBFD-5437-43BA-B2C1-4CE2956A8390}" type="slidenum">
              <a:rPr lang="en-US" altLang="zh-CN"/>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r>
              <a:rPr lang="en-US" altLang="zh-CN"/>
              <a:t>www.themegallery.com</a:t>
            </a:r>
          </a:p>
        </p:txBody>
      </p:sp>
      <p:sp>
        <p:nvSpPr>
          <p:cNvPr id="3" name="页脚占位符 2"/>
          <p:cNvSpPr>
            <a:spLocks noGrp="1"/>
          </p:cNvSpPr>
          <p:nvPr>
            <p:ph type="ftr" sz="quarter" idx="11"/>
          </p:nvPr>
        </p:nvSpPr>
        <p:spPr>
          <a:xfrm>
            <a:off x="5791200" y="6530975"/>
            <a:ext cx="2895600" cy="276225"/>
          </a:xfrm>
          <a:prstGeom prst="rect">
            <a:avLst/>
          </a:prstGeom>
        </p:spPr>
        <p:txBody>
          <a:bodyPr/>
          <a:lstStyle>
            <a:lvl1pPr>
              <a:defRPr/>
            </a:lvl1pPr>
          </a:lstStyle>
          <a:p>
            <a:r>
              <a:rPr lang="en-US" altLang="zh-CN"/>
              <a:t>Company Logo</a:t>
            </a:r>
          </a:p>
        </p:txBody>
      </p:sp>
      <p:sp>
        <p:nvSpPr>
          <p:cNvPr id="4" name="灯片编号占位符 3"/>
          <p:cNvSpPr>
            <a:spLocks noGrp="1"/>
          </p:cNvSpPr>
          <p:nvPr>
            <p:ph type="sldNum" sz="quarter" idx="12"/>
          </p:nvPr>
        </p:nvSpPr>
        <p:spPr/>
        <p:txBody>
          <a:bodyPr/>
          <a:lstStyle>
            <a:lvl1pPr>
              <a:defRPr/>
            </a:lvl1pPr>
          </a:lstStyle>
          <a:p>
            <a:fld id="{91002998-74CD-4C99-991C-29D4E2671284}" type="slidenum">
              <a:rPr lang="en-US" altLang="zh-CN"/>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fr-F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fr-F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r>
              <a:rPr lang="en-US" altLang="zh-CN"/>
              <a:t>www.themegallery.com</a:t>
            </a:r>
          </a:p>
        </p:txBody>
      </p:sp>
      <p:sp>
        <p:nvSpPr>
          <p:cNvPr id="6" name="页脚占位符 5"/>
          <p:cNvSpPr>
            <a:spLocks noGrp="1"/>
          </p:cNvSpPr>
          <p:nvPr>
            <p:ph type="ftr" sz="quarter" idx="11"/>
          </p:nvPr>
        </p:nvSpPr>
        <p:spPr>
          <a:xfrm>
            <a:off x="5791200" y="6530975"/>
            <a:ext cx="2895600" cy="276225"/>
          </a:xfrm>
          <a:prstGeom prst="rect">
            <a:avLst/>
          </a:prstGeom>
        </p:spPr>
        <p:txBody>
          <a:bodyPr/>
          <a:lstStyle>
            <a:lvl1pPr>
              <a:defRPr/>
            </a:lvl1pPr>
          </a:lstStyle>
          <a:p>
            <a:r>
              <a:rPr lang="en-US" altLang="zh-CN"/>
              <a:t>Company Logo</a:t>
            </a:r>
          </a:p>
        </p:txBody>
      </p:sp>
      <p:sp>
        <p:nvSpPr>
          <p:cNvPr id="7" name="灯片编号占位符 6"/>
          <p:cNvSpPr>
            <a:spLocks noGrp="1"/>
          </p:cNvSpPr>
          <p:nvPr>
            <p:ph type="sldNum" sz="quarter" idx="12"/>
          </p:nvPr>
        </p:nvSpPr>
        <p:spPr/>
        <p:txBody>
          <a:bodyPr/>
          <a:lstStyle>
            <a:lvl1pPr>
              <a:defRPr/>
            </a:lvl1pPr>
          </a:lstStyle>
          <a:p>
            <a:fld id="{6B5585CF-93E3-40DB-A74F-6BC7D4A1B6F7}" type="slidenum">
              <a:rPr lang="en-US" altLang="zh-CN"/>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fr-F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r>
              <a:rPr lang="en-US" altLang="zh-CN"/>
              <a:t>www.themegallery.com</a:t>
            </a:r>
          </a:p>
        </p:txBody>
      </p:sp>
      <p:sp>
        <p:nvSpPr>
          <p:cNvPr id="6" name="页脚占位符 5"/>
          <p:cNvSpPr>
            <a:spLocks noGrp="1"/>
          </p:cNvSpPr>
          <p:nvPr>
            <p:ph type="ftr" sz="quarter" idx="11"/>
          </p:nvPr>
        </p:nvSpPr>
        <p:spPr>
          <a:xfrm>
            <a:off x="5791200" y="6530975"/>
            <a:ext cx="2895600" cy="276225"/>
          </a:xfrm>
          <a:prstGeom prst="rect">
            <a:avLst/>
          </a:prstGeom>
        </p:spPr>
        <p:txBody>
          <a:bodyPr/>
          <a:lstStyle>
            <a:lvl1pPr>
              <a:defRPr/>
            </a:lvl1pPr>
          </a:lstStyle>
          <a:p>
            <a:r>
              <a:rPr lang="en-US" altLang="zh-CN"/>
              <a:t>Company Logo</a:t>
            </a:r>
          </a:p>
        </p:txBody>
      </p:sp>
      <p:sp>
        <p:nvSpPr>
          <p:cNvPr id="7" name="灯片编号占位符 6"/>
          <p:cNvSpPr>
            <a:spLocks noGrp="1"/>
          </p:cNvSpPr>
          <p:nvPr>
            <p:ph type="sldNum" sz="quarter" idx="12"/>
          </p:nvPr>
        </p:nvSpPr>
        <p:spPr/>
        <p:txBody>
          <a:bodyPr/>
          <a:lstStyle>
            <a:lvl1pPr>
              <a:defRPr/>
            </a:lvl1pPr>
          </a:lstStyle>
          <a:p>
            <a:fld id="{79B20A35-B3F1-449D-9273-0D73DF1FB86F}" type="slidenum">
              <a:rPr lang="en-US" altLang="zh-CN"/>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fr-F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fr-FR"/>
          </a:p>
        </p:txBody>
      </p:sp>
      <p:sp>
        <p:nvSpPr>
          <p:cNvPr id="4" name="日期占位符 3"/>
          <p:cNvSpPr>
            <a:spLocks noGrp="1"/>
          </p:cNvSpPr>
          <p:nvPr>
            <p:ph type="dt" sz="half" idx="10"/>
          </p:nvPr>
        </p:nvSpPr>
        <p:spPr/>
        <p:txBody>
          <a:bodyPr/>
          <a:lstStyle>
            <a:lvl1pPr>
              <a:defRPr/>
            </a:lvl1pPr>
          </a:lstStyle>
          <a:p>
            <a:r>
              <a:rPr lang="en-US" altLang="zh-CN"/>
              <a:t>www.themegallery.com</a:t>
            </a:r>
          </a:p>
        </p:txBody>
      </p:sp>
      <p:sp>
        <p:nvSpPr>
          <p:cNvPr id="5" name="页脚占位符 4"/>
          <p:cNvSpPr>
            <a:spLocks noGrp="1"/>
          </p:cNvSpPr>
          <p:nvPr>
            <p:ph type="ftr" sz="quarter" idx="11"/>
          </p:nvPr>
        </p:nvSpPr>
        <p:spPr>
          <a:xfrm>
            <a:off x="5791200" y="6530975"/>
            <a:ext cx="2895600" cy="276225"/>
          </a:xfrm>
          <a:prstGeom prst="rect">
            <a:avLst/>
          </a:prstGeom>
        </p:spPr>
        <p:txBody>
          <a:bodyPr/>
          <a:lstStyle>
            <a:lvl1pPr>
              <a:defRPr/>
            </a:lvl1pPr>
          </a:lstStyle>
          <a:p>
            <a:r>
              <a:rPr lang="en-US" altLang="zh-CN"/>
              <a:t>Company Logo</a:t>
            </a:r>
          </a:p>
        </p:txBody>
      </p:sp>
      <p:sp>
        <p:nvSpPr>
          <p:cNvPr id="6" name="灯片编号占位符 5"/>
          <p:cNvSpPr>
            <a:spLocks noGrp="1"/>
          </p:cNvSpPr>
          <p:nvPr>
            <p:ph type="sldNum" sz="quarter" idx="12"/>
          </p:nvPr>
        </p:nvSpPr>
        <p:spPr/>
        <p:txBody>
          <a:bodyPr/>
          <a:lstStyle>
            <a:lvl1pPr>
              <a:defRPr/>
            </a:lvl1pPr>
          </a:lstStyle>
          <a:p>
            <a:fld id="{747A0383-D569-4A7A-BD5F-6FB21D2D9511}" type="slidenum">
              <a:rPr lang="en-US" altLang="zh-CN"/>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47688"/>
            <a:ext cx="2057400" cy="5883275"/>
          </a:xfrm>
        </p:spPr>
        <p:txBody>
          <a:bodyPr vert="eaVert"/>
          <a:lstStyle/>
          <a:p>
            <a:r>
              <a:rPr lang="zh-CN" altLang="en-US"/>
              <a:t>单击此处编辑母版标题样式</a:t>
            </a:r>
            <a:endParaRPr lang="fr-FR"/>
          </a:p>
        </p:txBody>
      </p:sp>
      <p:sp>
        <p:nvSpPr>
          <p:cNvPr id="3" name="竖排文字占位符 2"/>
          <p:cNvSpPr>
            <a:spLocks noGrp="1"/>
          </p:cNvSpPr>
          <p:nvPr>
            <p:ph type="body" orient="vert" idx="1"/>
          </p:nvPr>
        </p:nvSpPr>
        <p:spPr>
          <a:xfrm>
            <a:off x="457200" y="547688"/>
            <a:ext cx="6019800" cy="58832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fr-FR"/>
          </a:p>
        </p:txBody>
      </p:sp>
      <p:sp>
        <p:nvSpPr>
          <p:cNvPr id="4" name="日期占位符 3"/>
          <p:cNvSpPr>
            <a:spLocks noGrp="1"/>
          </p:cNvSpPr>
          <p:nvPr>
            <p:ph type="dt" sz="half" idx="10"/>
          </p:nvPr>
        </p:nvSpPr>
        <p:spPr/>
        <p:txBody>
          <a:bodyPr/>
          <a:lstStyle>
            <a:lvl1pPr>
              <a:defRPr/>
            </a:lvl1pPr>
          </a:lstStyle>
          <a:p>
            <a:r>
              <a:rPr lang="en-US" altLang="zh-CN"/>
              <a:t>www.themegallery.com</a:t>
            </a:r>
          </a:p>
        </p:txBody>
      </p:sp>
      <p:sp>
        <p:nvSpPr>
          <p:cNvPr id="5" name="页脚占位符 4"/>
          <p:cNvSpPr>
            <a:spLocks noGrp="1"/>
          </p:cNvSpPr>
          <p:nvPr>
            <p:ph type="ftr" sz="quarter" idx="11"/>
          </p:nvPr>
        </p:nvSpPr>
        <p:spPr>
          <a:xfrm>
            <a:off x="5791200" y="6530975"/>
            <a:ext cx="2895600" cy="276225"/>
          </a:xfrm>
          <a:prstGeom prst="rect">
            <a:avLst/>
          </a:prstGeom>
        </p:spPr>
        <p:txBody>
          <a:bodyPr/>
          <a:lstStyle>
            <a:lvl1pPr>
              <a:defRPr/>
            </a:lvl1pPr>
          </a:lstStyle>
          <a:p>
            <a:r>
              <a:rPr lang="en-US" altLang="zh-CN"/>
              <a:t>Company Logo</a:t>
            </a:r>
          </a:p>
        </p:txBody>
      </p:sp>
      <p:sp>
        <p:nvSpPr>
          <p:cNvPr id="6" name="灯片编号占位符 5"/>
          <p:cNvSpPr>
            <a:spLocks noGrp="1"/>
          </p:cNvSpPr>
          <p:nvPr>
            <p:ph type="sldNum" sz="quarter" idx="12"/>
          </p:nvPr>
        </p:nvSpPr>
        <p:spPr/>
        <p:txBody>
          <a:bodyPr/>
          <a:lstStyle>
            <a:lvl1pPr>
              <a:defRPr/>
            </a:lvl1pPr>
          </a:lstStyle>
          <a:p>
            <a:fld id="{3D5E4BB9-B6A3-4930-BBEB-7D1D81367E16}" type="slidenum">
              <a:rPr lang="en-US" altLang="zh-CN"/>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38200" y="547688"/>
            <a:ext cx="7391400" cy="563562"/>
          </a:xfrm>
        </p:spPr>
        <p:txBody>
          <a:bodyPr/>
          <a:lstStyle/>
          <a:p>
            <a:r>
              <a:rPr lang="zh-CN" altLang="en-US"/>
              <a:t>单击此处编辑母版标题样式</a:t>
            </a:r>
            <a:endParaRPr lang="fr-FR"/>
          </a:p>
        </p:txBody>
      </p:sp>
      <p:sp>
        <p:nvSpPr>
          <p:cNvPr id="3" name="表格占位符 2"/>
          <p:cNvSpPr>
            <a:spLocks noGrp="1"/>
          </p:cNvSpPr>
          <p:nvPr>
            <p:ph type="tbl" idx="1"/>
          </p:nvPr>
        </p:nvSpPr>
        <p:spPr>
          <a:xfrm>
            <a:off x="457200" y="1338263"/>
            <a:ext cx="8229600" cy="5092700"/>
          </a:xfrm>
        </p:spPr>
        <p:txBody>
          <a:bodyPr/>
          <a:lstStyle/>
          <a:p>
            <a:endParaRPr lang="fr-FR"/>
          </a:p>
        </p:txBody>
      </p:sp>
      <p:sp>
        <p:nvSpPr>
          <p:cNvPr id="4" name="日期占位符 3"/>
          <p:cNvSpPr>
            <a:spLocks noGrp="1"/>
          </p:cNvSpPr>
          <p:nvPr>
            <p:ph type="dt" sz="half" idx="10"/>
          </p:nvPr>
        </p:nvSpPr>
        <p:spPr>
          <a:xfrm>
            <a:off x="6781800" y="269875"/>
            <a:ext cx="2133600" cy="246063"/>
          </a:xfrm>
        </p:spPr>
        <p:txBody>
          <a:bodyPr/>
          <a:lstStyle>
            <a:lvl1pPr>
              <a:defRPr/>
            </a:lvl1pPr>
          </a:lstStyle>
          <a:p>
            <a:r>
              <a:rPr lang="en-US" altLang="zh-CN"/>
              <a:t>www.themegallery.com</a:t>
            </a:r>
          </a:p>
        </p:txBody>
      </p:sp>
      <p:sp>
        <p:nvSpPr>
          <p:cNvPr id="5" name="页脚占位符 4"/>
          <p:cNvSpPr>
            <a:spLocks noGrp="1"/>
          </p:cNvSpPr>
          <p:nvPr>
            <p:ph type="ftr" sz="quarter" idx="11"/>
          </p:nvPr>
        </p:nvSpPr>
        <p:spPr>
          <a:xfrm>
            <a:off x="5791200" y="6530975"/>
            <a:ext cx="2895600" cy="276225"/>
          </a:xfrm>
          <a:prstGeom prst="rect">
            <a:avLst/>
          </a:prstGeom>
        </p:spPr>
        <p:txBody>
          <a:bodyPr/>
          <a:lstStyle>
            <a:lvl1pPr>
              <a:defRPr/>
            </a:lvl1pPr>
          </a:lstStyle>
          <a:p>
            <a:r>
              <a:rPr lang="en-US" altLang="zh-CN"/>
              <a:t>Company Logo</a:t>
            </a:r>
          </a:p>
        </p:txBody>
      </p:sp>
      <p:sp>
        <p:nvSpPr>
          <p:cNvPr id="6" name="灯片编号占位符 5"/>
          <p:cNvSpPr>
            <a:spLocks noGrp="1"/>
          </p:cNvSpPr>
          <p:nvPr>
            <p:ph type="sldNum" sz="quarter" idx="12"/>
          </p:nvPr>
        </p:nvSpPr>
        <p:spPr>
          <a:xfrm>
            <a:off x="3505200" y="6553200"/>
            <a:ext cx="2133600" cy="254000"/>
          </a:xfrm>
        </p:spPr>
        <p:txBody>
          <a:bodyPr/>
          <a:lstStyle>
            <a:lvl1pPr>
              <a:defRPr/>
            </a:lvl1pPr>
          </a:lstStyle>
          <a:p>
            <a:fld id="{D7AD07A2-985C-4AA9-AAF5-77B93D929E77}" type="slidenum">
              <a:rPr lang="en-US" altLang="zh-CN"/>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836712"/>
            <a:ext cx="8676456" cy="5760640"/>
          </a:xfrm>
        </p:spPr>
        <p:txBody>
          <a:bodyPr/>
          <a:lstStyle>
            <a:lvl3pPr>
              <a:defRPr sz="2800"/>
            </a:lvl3pPr>
          </a:lstStyle>
          <a:p>
            <a:pPr lvl="0"/>
            <a:r>
              <a:rPr lang="zh-CN" altLang="en-US"/>
              <a:t>单击此处编辑母版文本样式</a:t>
            </a:r>
          </a:p>
          <a:p>
            <a:pPr lvl="1"/>
            <a:r>
              <a:rPr lang="zh-CN" altLang="en-US"/>
              <a:t>第二级</a:t>
            </a:r>
          </a:p>
          <a:p>
            <a:pPr lvl="2"/>
            <a:r>
              <a:rPr lang="zh-CN" altLang="en-US"/>
              <a:t>第三级</a:t>
            </a:r>
          </a:p>
        </p:txBody>
      </p:sp>
      <p:sp>
        <p:nvSpPr>
          <p:cNvPr id="4" name="Slide Number Placeholder 5"/>
          <p:cNvSpPr>
            <a:spLocks noGrp="1"/>
          </p:cNvSpPr>
          <p:nvPr>
            <p:ph type="sldNum" sz="quarter" idx="10"/>
          </p:nvPr>
        </p:nvSpPr>
        <p:spPr/>
        <p:txBody>
          <a:bodyPr/>
          <a:lstStyle>
            <a:lvl1pPr>
              <a:defRPr/>
            </a:lvl1pPr>
          </a:lstStyle>
          <a:p>
            <a:pPr>
              <a:defRPr/>
            </a:pPr>
            <a:fld id="{A573F1F3-D9ED-456A-A1B3-DE1B07105719}" type="slidenum">
              <a:rPr lang="zh-CN" altLang="en-US"/>
              <a:pPr>
                <a:defRPr/>
              </a:pPr>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8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836712"/>
            <a:ext cx="8676456" cy="5760640"/>
          </a:xfrm>
        </p:spPr>
        <p:txBody>
          <a:bodyPr/>
          <a:lstStyle>
            <a:lvl3pPr>
              <a:defRPr sz="2800"/>
            </a:lvl3pPr>
          </a:lstStyle>
          <a:p>
            <a:pPr lvl="0"/>
            <a:r>
              <a:rPr lang="zh-CN" altLang="en-US"/>
              <a:t>单击此处编辑母版文本样式</a:t>
            </a:r>
          </a:p>
          <a:p>
            <a:pPr lvl="1"/>
            <a:r>
              <a:rPr lang="zh-CN" altLang="en-US"/>
              <a:t>第二级</a:t>
            </a:r>
          </a:p>
          <a:p>
            <a:pPr lvl="2"/>
            <a:r>
              <a:rPr lang="zh-CN" altLang="en-US"/>
              <a:t>第三级</a:t>
            </a:r>
          </a:p>
        </p:txBody>
      </p:sp>
      <p:sp>
        <p:nvSpPr>
          <p:cNvPr id="4" name="Slide Number Placeholder 5"/>
          <p:cNvSpPr>
            <a:spLocks noGrp="1"/>
          </p:cNvSpPr>
          <p:nvPr>
            <p:ph type="sldNum" sz="quarter" idx="10"/>
          </p:nvPr>
        </p:nvSpPr>
        <p:spPr/>
        <p:txBody>
          <a:bodyPr/>
          <a:lstStyle>
            <a:lvl1pPr>
              <a:defRPr/>
            </a:lvl1pPr>
          </a:lstStyle>
          <a:p>
            <a:pPr>
              <a:defRPr/>
            </a:pPr>
            <a:fld id="{A573F1F3-D9ED-456A-A1B3-DE1B07105719}" type="slidenum">
              <a:rPr lang="zh-CN" altLang="en-US"/>
              <a:pPr>
                <a:defRPr/>
              </a:pPr>
              <a:t>‹#›</a:t>
            </a:fld>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文本占位符 2"/>
          <p:cNvSpPr>
            <a:spLocks noGrp="1"/>
          </p:cNvSpPr>
          <p:nvPr>
            <p:ph type="body" sz="half" idx="1"/>
          </p:nvPr>
        </p:nvSpPr>
        <p:spPr>
          <a:xfrm>
            <a:off x="250825" y="692150"/>
            <a:ext cx="8648700" cy="26384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250825" y="3482975"/>
            <a:ext cx="8648700" cy="26384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0"/>
          </p:nvPr>
        </p:nvSpPr>
        <p:spPr>
          <a:xfrm>
            <a:off x="6737350" y="6526213"/>
            <a:ext cx="2406650" cy="331787"/>
          </a:xfrm>
        </p:spPr>
        <p:txBody>
          <a:bodyPr/>
          <a:lstStyle>
            <a:lvl1pPr fontAlgn="auto">
              <a:spcBef>
                <a:spcPts val="0"/>
              </a:spcBef>
              <a:spcAft>
                <a:spcPts val="0"/>
              </a:spcAft>
              <a:defRPr>
                <a:latin typeface="+mn-lt"/>
                <a:ea typeface="+mn-ea"/>
              </a:defRPr>
            </a:lvl1pPr>
          </a:lstStyle>
          <a:p>
            <a:pPr>
              <a:defRPr/>
            </a:pPr>
            <a:r>
              <a:rPr altLang="en-US"/>
              <a:t>共 </a:t>
            </a:r>
            <a:r>
              <a:rPr lang="en-US" altLang="zh-CN"/>
              <a:t>91 </a:t>
            </a:r>
            <a:r>
              <a:rPr altLang="en-US"/>
              <a:t>页   第 </a:t>
            </a:r>
            <a:fld id="{37E87343-D28E-45A6-8636-BD10872AAC35}" type="slidenum">
              <a:rPr altLang="en-US" b="1"/>
              <a:pPr>
                <a:defRPr/>
              </a:pPr>
              <a:t>‹#›</a:t>
            </a:fld>
            <a:r>
              <a:rPr lang="en-US" altLang="zh-CN" b="1"/>
              <a:t> </a:t>
            </a:r>
            <a:r>
              <a:rPr altLang="en-US"/>
              <a:t>页</a:t>
            </a:r>
          </a:p>
        </p:txBody>
      </p:sp>
    </p:spTree>
    <p:extLst>
      <p:ext uri="{BB962C8B-B14F-4D97-AF65-F5344CB8AC3E}">
        <p14:creationId xmlns:p14="http://schemas.microsoft.com/office/powerpoint/2010/main" val="3582778460"/>
      </p:ext>
    </p:extLst>
  </p:cSld>
  <p:clrMapOvr>
    <a:masterClrMapping/>
  </p:clrMapOvr>
  <p:transition>
    <p:pull dir="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OverTx">
  <p:cSld name="标题和内容在文本之上">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8229600" cy="21859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3938588"/>
            <a:ext cx="8229600" cy="21875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a:xfrm>
            <a:off x="457200" y="6245225"/>
            <a:ext cx="2133600" cy="476250"/>
          </a:xfrm>
        </p:spPr>
        <p:txBody>
          <a:bodyPr/>
          <a:lstStyle>
            <a:lvl1pPr>
              <a:defRPr/>
            </a:lvl1pPr>
          </a:lstStyle>
          <a:p>
            <a:pPr>
              <a:defRPr/>
            </a:pPr>
            <a:endParaRPr lang="en-US" altLang="zh-CN"/>
          </a:p>
        </p:txBody>
      </p:sp>
      <p:sp>
        <p:nvSpPr>
          <p:cNvPr id="6" name="页脚占位符 5"/>
          <p:cNvSpPr>
            <a:spLocks noGrp="1"/>
          </p:cNvSpPr>
          <p:nvPr>
            <p:ph type="ftr" sz="quarter" idx="11"/>
          </p:nvPr>
        </p:nvSpPr>
        <p:spPr>
          <a:xfrm>
            <a:off x="3124200" y="6245225"/>
            <a:ext cx="2895600" cy="476250"/>
          </a:xfrm>
          <a:prstGeom prst="rect">
            <a:avLst/>
          </a:prstGeom>
        </p:spPr>
        <p:txBody>
          <a:bodyPr/>
          <a:lstStyle>
            <a:lvl1pPr eaLnBrk="1" hangingPunct="1">
              <a:defRPr/>
            </a:lvl1pPr>
          </a:lstStyle>
          <a:p>
            <a:pPr>
              <a:defRPr/>
            </a:pPr>
            <a:endParaRPr lang="en-US" altLang="zh-CN"/>
          </a:p>
        </p:txBody>
      </p:sp>
      <p:sp>
        <p:nvSpPr>
          <p:cNvPr id="7" name="灯片编号占位符 6"/>
          <p:cNvSpPr>
            <a:spLocks noGrp="1"/>
          </p:cNvSpPr>
          <p:nvPr>
            <p:ph type="sldNum" sz="quarter" idx="12"/>
          </p:nvPr>
        </p:nvSpPr>
        <p:spPr>
          <a:xfrm>
            <a:off x="6553200" y="6245225"/>
            <a:ext cx="2133600" cy="476250"/>
          </a:xfrm>
        </p:spPr>
        <p:txBody>
          <a:bodyPr/>
          <a:lstStyle>
            <a:lvl1pPr>
              <a:defRPr/>
            </a:lvl1pPr>
          </a:lstStyle>
          <a:p>
            <a:fld id="{ACA12671-DF99-4B9E-AB0D-7241CA3E2DED}" type="slidenum">
              <a:rPr lang="en-US" altLang="zh-CN"/>
              <a:pPr/>
              <a:t>‹#›</a:t>
            </a:fld>
            <a:endParaRPr lang="en-US" altLang="zh-CN"/>
          </a:p>
        </p:txBody>
      </p:sp>
    </p:spTree>
    <p:extLst>
      <p:ext uri="{BB962C8B-B14F-4D97-AF65-F5344CB8AC3E}">
        <p14:creationId xmlns:p14="http://schemas.microsoft.com/office/powerpoint/2010/main" val="25553568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12750"/>
            <a:ext cx="8305800" cy="5911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1"/>
          </p:nvPr>
        </p:nvSpPr>
        <p:spPr>
          <a:ln/>
        </p:spPr>
        <p:txBody>
          <a:bodyPr/>
          <a:lstStyle>
            <a:lvl1pPr>
              <a:defRPr/>
            </a:lvl1pPr>
          </a:lstStyle>
          <a:p>
            <a:fld id="{0A2D0F0D-016B-4BE0-85F6-E9A4C8CE4363}" type="slidenum">
              <a:rPr lang="zh-CN" altLang="en-US"/>
              <a:pPr/>
              <a:t>‹#›</a:t>
            </a:fld>
            <a:endParaRPr lang="en-US" altLang="zh-CN"/>
          </a:p>
        </p:txBody>
      </p:sp>
    </p:spTree>
    <p:extLst>
      <p:ext uri="{BB962C8B-B14F-4D97-AF65-F5344CB8AC3E}">
        <p14:creationId xmlns:p14="http://schemas.microsoft.com/office/powerpoint/2010/main" val="15300066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fr-F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fr-FR"/>
          </a:p>
        </p:txBody>
      </p:sp>
      <p:sp>
        <p:nvSpPr>
          <p:cNvPr id="4" name="日期占位符 3"/>
          <p:cNvSpPr>
            <a:spLocks noGrp="1"/>
          </p:cNvSpPr>
          <p:nvPr>
            <p:ph type="dt" sz="half" idx="10"/>
          </p:nvPr>
        </p:nvSpPr>
        <p:spPr/>
        <p:txBody>
          <a:bodyPr/>
          <a:lstStyle/>
          <a:p>
            <a:fld id="{15B161DD-BA8D-4CF1-A32A-BD361E7CFD60}" type="datetimeFigureOut">
              <a:rPr lang="fr-FR" smtClean="0"/>
              <a:pPr/>
              <a:t>23/12/2021</a:t>
            </a:fld>
            <a:endParaRPr lang="fr-FR"/>
          </a:p>
        </p:txBody>
      </p:sp>
      <p:sp>
        <p:nvSpPr>
          <p:cNvPr id="5" name="页脚占位符 4"/>
          <p:cNvSpPr>
            <a:spLocks noGrp="1"/>
          </p:cNvSpPr>
          <p:nvPr>
            <p:ph type="ftr" sz="quarter" idx="11"/>
          </p:nvPr>
        </p:nvSpPr>
        <p:spPr/>
        <p:txBody>
          <a:bodyPr/>
          <a:lstStyle/>
          <a:p>
            <a:endParaRPr lang="fr-FR"/>
          </a:p>
        </p:txBody>
      </p:sp>
      <p:sp>
        <p:nvSpPr>
          <p:cNvPr id="6" name="灯片编号占位符 5"/>
          <p:cNvSpPr>
            <a:spLocks noGrp="1"/>
          </p:cNvSpPr>
          <p:nvPr>
            <p:ph type="sldNum" sz="quarter" idx="12"/>
          </p:nvPr>
        </p:nvSpPr>
        <p:spPr/>
        <p:txBody>
          <a:bodyPr/>
          <a:lstStyle/>
          <a:p>
            <a:fld id="{362C6404-59AD-4655-B840-92140AAB81C6}" type="slidenum">
              <a:rPr lang="fr-FR" smtClean="0"/>
              <a:pPr/>
              <a:t>‹#›</a:t>
            </a:fld>
            <a:endParaRPr lang="fr-F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fr-F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fr-FR"/>
          </a:p>
        </p:txBody>
      </p:sp>
      <p:sp>
        <p:nvSpPr>
          <p:cNvPr id="4" name="日期占位符 3"/>
          <p:cNvSpPr>
            <a:spLocks noGrp="1"/>
          </p:cNvSpPr>
          <p:nvPr>
            <p:ph type="dt" sz="half" idx="10"/>
          </p:nvPr>
        </p:nvSpPr>
        <p:spPr/>
        <p:txBody>
          <a:bodyPr/>
          <a:lstStyle/>
          <a:p>
            <a:fld id="{15B161DD-BA8D-4CF1-A32A-BD361E7CFD60}" type="datetimeFigureOut">
              <a:rPr lang="fr-FR" smtClean="0"/>
              <a:pPr/>
              <a:t>23/12/2021</a:t>
            </a:fld>
            <a:endParaRPr lang="fr-FR"/>
          </a:p>
        </p:txBody>
      </p:sp>
      <p:sp>
        <p:nvSpPr>
          <p:cNvPr id="5" name="页脚占位符 4"/>
          <p:cNvSpPr>
            <a:spLocks noGrp="1"/>
          </p:cNvSpPr>
          <p:nvPr>
            <p:ph type="ftr" sz="quarter" idx="11"/>
          </p:nvPr>
        </p:nvSpPr>
        <p:spPr/>
        <p:txBody>
          <a:bodyPr/>
          <a:lstStyle/>
          <a:p>
            <a:endParaRPr lang="fr-FR"/>
          </a:p>
        </p:txBody>
      </p:sp>
      <p:sp>
        <p:nvSpPr>
          <p:cNvPr id="6" name="灯片编号占位符 5"/>
          <p:cNvSpPr>
            <a:spLocks noGrp="1"/>
          </p:cNvSpPr>
          <p:nvPr>
            <p:ph type="sldNum" sz="quarter" idx="12"/>
          </p:nvPr>
        </p:nvSpPr>
        <p:spPr/>
        <p:txBody>
          <a:bodyPr/>
          <a:lstStyle/>
          <a:p>
            <a:fld id="{362C6404-59AD-4655-B840-92140AAB81C6}" type="slidenum">
              <a:rPr lang="fr-FR" smtClean="0"/>
              <a:pPr/>
              <a:t>‹#›</a:t>
            </a:fld>
            <a:endParaRPr lang="fr-F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fr-F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15B161DD-BA8D-4CF1-A32A-BD361E7CFD60}" type="datetimeFigureOut">
              <a:rPr lang="fr-FR" smtClean="0"/>
              <a:pPr/>
              <a:t>23/12/2021</a:t>
            </a:fld>
            <a:endParaRPr lang="fr-FR"/>
          </a:p>
        </p:txBody>
      </p:sp>
      <p:sp>
        <p:nvSpPr>
          <p:cNvPr id="5" name="页脚占位符 4"/>
          <p:cNvSpPr>
            <a:spLocks noGrp="1"/>
          </p:cNvSpPr>
          <p:nvPr>
            <p:ph type="ftr" sz="quarter" idx="11"/>
          </p:nvPr>
        </p:nvSpPr>
        <p:spPr/>
        <p:txBody>
          <a:bodyPr/>
          <a:lstStyle/>
          <a:p>
            <a:endParaRPr lang="fr-FR"/>
          </a:p>
        </p:txBody>
      </p:sp>
      <p:sp>
        <p:nvSpPr>
          <p:cNvPr id="6" name="灯片编号占位符 5"/>
          <p:cNvSpPr>
            <a:spLocks noGrp="1"/>
          </p:cNvSpPr>
          <p:nvPr>
            <p:ph type="sldNum" sz="quarter" idx="12"/>
          </p:nvPr>
        </p:nvSpPr>
        <p:spPr/>
        <p:txBody>
          <a:bodyPr/>
          <a:lstStyle/>
          <a:p>
            <a:fld id="{362C6404-59AD-4655-B840-92140AAB81C6}" type="slidenum">
              <a:rPr lang="fr-FR" smtClean="0"/>
              <a:pPr/>
              <a:t>‹#›</a:t>
            </a:fld>
            <a:endParaRPr lang="fr-F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fr-F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fr-F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fr-FR"/>
          </a:p>
        </p:txBody>
      </p:sp>
      <p:sp>
        <p:nvSpPr>
          <p:cNvPr id="5" name="日期占位符 4"/>
          <p:cNvSpPr>
            <a:spLocks noGrp="1"/>
          </p:cNvSpPr>
          <p:nvPr>
            <p:ph type="dt" sz="half" idx="10"/>
          </p:nvPr>
        </p:nvSpPr>
        <p:spPr/>
        <p:txBody>
          <a:bodyPr/>
          <a:lstStyle/>
          <a:p>
            <a:fld id="{15B161DD-BA8D-4CF1-A32A-BD361E7CFD60}" type="datetimeFigureOut">
              <a:rPr lang="fr-FR" smtClean="0"/>
              <a:pPr/>
              <a:t>23/12/2021</a:t>
            </a:fld>
            <a:endParaRPr lang="fr-FR"/>
          </a:p>
        </p:txBody>
      </p:sp>
      <p:sp>
        <p:nvSpPr>
          <p:cNvPr id="6" name="页脚占位符 5"/>
          <p:cNvSpPr>
            <a:spLocks noGrp="1"/>
          </p:cNvSpPr>
          <p:nvPr>
            <p:ph type="ftr" sz="quarter" idx="11"/>
          </p:nvPr>
        </p:nvSpPr>
        <p:spPr/>
        <p:txBody>
          <a:bodyPr/>
          <a:lstStyle/>
          <a:p>
            <a:endParaRPr lang="fr-FR"/>
          </a:p>
        </p:txBody>
      </p:sp>
      <p:sp>
        <p:nvSpPr>
          <p:cNvPr id="7" name="灯片编号占位符 6"/>
          <p:cNvSpPr>
            <a:spLocks noGrp="1"/>
          </p:cNvSpPr>
          <p:nvPr>
            <p:ph type="sldNum" sz="quarter" idx="12"/>
          </p:nvPr>
        </p:nvSpPr>
        <p:spPr/>
        <p:txBody>
          <a:bodyPr/>
          <a:lstStyle/>
          <a:p>
            <a:fld id="{362C6404-59AD-4655-B840-92140AAB81C6}" type="slidenum">
              <a:rPr lang="fr-FR" smtClean="0"/>
              <a:pPr/>
              <a:t>‹#›</a:t>
            </a:fld>
            <a:endParaRPr lang="fr-F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fr-F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fr-F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fr-FR"/>
          </a:p>
        </p:txBody>
      </p:sp>
      <p:sp>
        <p:nvSpPr>
          <p:cNvPr id="7" name="日期占位符 6"/>
          <p:cNvSpPr>
            <a:spLocks noGrp="1"/>
          </p:cNvSpPr>
          <p:nvPr>
            <p:ph type="dt" sz="half" idx="10"/>
          </p:nvPr>
        </p:nvSpPr>
        <p:spPr/>
        <p:txBody>
          <a:bodyPr/>
          <a:lstStyle/>
          <a:p>
            <a:fld id="{15B161DD-BA8D-4CF1-A32A-BD361E7CFD60}" type="datetimeFigureOut">
              <a:rPr lang="fr-FR" smtClean="0"/>
              <a:pPr/>
              <a:t>23/12/2021</a:t>
            </a:fld>
            <a:endParaRPr lang="fr-FR"/>
          </a:p>
        </p:txBody>
      </p:sp>
      <p:sp>
        <p:nvSpPr>
          <p:cNvPr id="8" name="页脚占位符 7"/>
          <p:cNvSpPr>
            <a:spLocks noGrp="1"/>
          </p:cNvSpPr>
          <p:nvPr>
            <p:ph type="ftr" sz="quarter" idx="11"/>
          </p:nvPr>
        </p:nvSpPr>
        <p:spPr/>
        <p:txBody>
          <a:bodyPr/>
          <a:lstStyle/>
          <a:p>
            <a:endParaRPr lang="fr-FR"/>
          </a:p>
        </p:txBody>
      </p:sp>
      <p:sp>
        <p:nvSpPr>
          <p:cNvPr id="9" name="灯片编号占位符 8"/>
          <p:cNvSpPr>
            <a:spLocks noGrp="1"/>
          </p:cNvSpPr>
          <p:nvPr>
            <p:ph type="sldNum" sz="quarter" idx="12"/>
          </p:nvPr>
        </p:nvSpPr>
        <p:spPr/>
        <p:txBody>
          <a:bodyPr/>
          <a:lstStyle/>
          <a:p>
            <a:fld id="{362C6404-59AD-4655-B840-92140AAB81C6}" type="slidenum">
              <a:rPr lang="fr-FR" smtClean="0"/>
              <a:pPr/>
              <a:t>‹#›</a:t>
            </a:fld>
            <a:endParaRPr lang="fr-F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fr-FR"/>
          </a:p>
        </p:txBody>
      </p:sp>
      <p:sp>
        <p:nvSpPr>
          <p:cNvPr id="3" name="日期占位符 2"/>
          <p:cNvSpPr>
            <a:spLocks noGrp="1"/>
          </p:cNvSpPr>
          <p:nvPr>
            <p:ph type="dt" sz="half" idx="10"/>
          </p:nvPr>
        </p:nvSpPr>
        <p:spPr/>
        <p:txBody>
          <a:bodyPr/>
          <a:lstStyle/>
          <a:p>
            <a:fld id="{15B161DD-BA8D-4CF1-A32A-BD361E7CFD60}" type="datetimeFigureOut">
              <a:rPr lang="fr-FR" smtClean="0"/>
              <a:pPr/>
              <a:t>23/12/2021</a:t>
            </a:fld>
            <a:endParaRPr lang="fr-FR"/>
          </a:p>
        </p:txBody>
      </p:sp>
      <p:sp>
        <p:nvSpPr>
          <p:cNvPr id="4" name="页脚占位符 3"/>
          <p:cNvSpPr>
            <a:spLocks noGrp="1"/>
          </p:cNvSpPr>
          <p:nvPr>
            <p:ph type="ftr" sz="quarter" idx="11"/>
          </p:nvPr>
        </p:nvSpPr>
        <p:spPr/>
        <p:txBody>
          <a:bodyPr/>
          <a:lstStyle/>
          <a:p>
            <a:endParaRPr lang="fr-FR"/>
          </a:p>
        </p:txBody>
      </p:sp>
      <p:sp>
        <p:nvSpPr>
          <p:cNvPr id="5" name="灯片编号占位符 4"/>
          <p:cNvSpPr>
            <a:spLocks noGrp="1"/>
          </p:cNvSpPr>
          <p:nvPr>
            <p:ph type="sldNum" sz="quarter" idx="12"/>
          </p:nvPr>
        </p:nvSpPr>
        <p:spPr/>
        <p:txBody>
          <a:bodyPr/>
          <a:lstStyle/>
          <a:p>
            <a:fld id="{362C6404-59AD-4655-B840-92140AAB81C6}" type="slidenum">
              <a:rPr lang="fr-FR" smtClean="0"/>
              <a:pPr/>
              <a:t>‹#›</a:t>
            </a:fld>
            <a:endParaRPr lang="fr-F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5B161DD-BA8D-4CF1-A32A-BD361E7CFD60}" type="datetimeFigureOut">
              <a:rPr lang="fr-FR" smtClean="0"/>
              <a:pPr/>
              <a:t>23/12/2021</a:t>
            </a:fld>
            <a:endParaRPr lang="fr-FR"/>
          </a:p>
        </p:txBody>
      </p:sp>
      <p:sp>
        <p:nvSpPr>
          <p:cNvPr id="3" name="页脚占位符 2"/>
          <p:cNvSpPr>
            <a:spLocks noGrp="1"/>
          </p:cNvSpPr>
          <p:nvPr>
            <p:ph type="ftr" sz="quarter" idx="11"/>
          </p:nvPr>
        </p:nvSpPr>
        <p:spPr/>
        <p:txBody>
          <a:bodyPr/>
          <a:lstStyle/>
          <a:p>
            <a:endParaRPr lang="fr-FR"/>
          </a:p>
        </p:txBody>
      </p:sp>
      <p:sp>
        <p:nvSpPr>
          <p:cNvPr id="4" name="灯片编号占位符 3"/>
          <p:cNvSpPr>
            <a:spLocks noGrp="1"/>
          </p:cNvSpPr>
          <p:nvPr>
            <p:ph type="sldNum" sz="quarter" idx="12"/>
          </p:nvPr>
        </p:nvSpPr>
        <p:spPr/>
        <p:txBody>
          <a:bodyPr/>
          <a:lstStyle/>
          <a:p>
            <a:fld id="{362C6404-59AD-4655-B840-92140AAB81C6}" type="slidenum">
              <a:rPr lang="fr-FR" smtClean="0"/>
              <a:pPr/>
              <a:t>‹#›</a:t>
            </a:fld>
            <a:endParaRPr lang="fr-F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fr-F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fr-F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5B161DD-BA8D-4CF1-A32A-BD361E7CFD60}" type="datetimeFigureOut">
              <a:rPr lang="fr-FR" smtClean="0"/>
              <a:pPr/>
              <a:t>23/12/2021</a:t>
            </a:fld>
            <a:endParaRPr lang="fr-FR"/>
          </a:p>
        </p:txBody>
      </p:sp>
      <p:sp>
        <p:nvSpPr>
          <p:cNvPr id="6" name="页脚占位符 5"/>
          <p:cNvSpPr>
            <a:spLocks noGrp="1"/>
          </p:cNvSpPr>
          <p:nvPr>
            <p:ph type="ftr" sz="quarter" idx="11"/>
          </p:nvPr>
        </p:nvSpPr>
        <p:spPr/>
        <p:txBody>
          <a:bodyPr/>
          <a:lstStyle/>
          <a:p>
            <a:endParaRPr lang="fr-FR"/>
          </a:p>
        </p:txBody>
      </p:sp>
      <p:sp>
        <p:nvSpPr>
          <p:cNvPr id="7" name="灯片编号占位符 6"/>
          <p:cNvSpPr>
            <a:spLocks noGrp="1"/>
          </p:cNvSpPr>
          <p:nvPr>
            <p:ph type="sldNum" sz="quarter" idx="12"/>
          </p:nvPr>
        </p:nvSpPr>
        <p:spPr/>
        <p:txBody>
          <a:bodyPr/>
          <a:lstStyle/>
          <a:p>
            <a:fld id="{362C6404-59AD-4655-B840-92140AAB81C6}" type="slidenum">
              <a:rPr lang="fr-FR" smtClean="0"/>
              <a:pPr/>
              <a:t>‹#›</a:t>
            </a:fld>
            <a:endParaRPr lang="fr-F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fr-F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5B161DD-BA8D-4CF1-A32A-BD361E7CFD60}" type="datetimeFigureOut">
              <a:rPr lang="fr-FR" smtClean="0"/>
              <a:pPr/>
              <a:t>23/12/2021</a:t>
            </a:fld>
            <a:endParaRPr lang="fr-FR"/>
          </a:p>
        </p:txBody>
      </p:sp>
      <p:sp>
        <p:nvSpPr>
          <p:cNvPr id="6" name="页脚占位符 5"/>
          <p:cNvSpPr>
            <a:spLocks noGrp="1"/>
          </p:cNvSpPr>
          <p:nvPr>
            <p:ph type="ftr" sz="quarter" idx="11"/>
          </p:nvPr>
        </p:nvSpPr>
        <p:spPr/>
        <p:txBody>
          <a:bodyPr/>
          <a:lstStyle/>
          <a:p>
            <a:endParaRPr lang="fr-FR"/>
          </a:p>
        </p:txBody>
      </p:sp>
      <p:sp>
        <p:nvSpPr>
          <p:cNvPr id="7" name="灯片编号占位符 6"/>
          <p:cNvSpPr>
            <a:spLocks noGrp="1"/>
          </p:cNvSpPr>
          <p:nvPr>
            <p:ph type="sldNum" sz="quarter" idx="12"/>
          </p:nvPr>
        </p:nvSpPr>
        <p:spPr/>
        <p:txBody>
          <a:bodyPr/>
          <a:lstStyle/>
          <a:p>
            <a:fld id="{362C6404-59AD-4655-B840-92140AAB81C6}" type="slidenum">
              <a:rPr lang="fr-FR" smtClean="0"/>
              <a:pPr/>
              <a:t>‹#›</a:t>
            </a:fld>
            <a:endParaRPr lang="fr-F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fr-F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fr-FR"/>
          </a:p>
        </p:txBody>
      </p:sp>
      <p:sp>
        <p:nvSpPr>
          <p:cNvPr id="4" name="日期占位符 3"/>
          <p:cNvSpPr>
            <a:spLocks noGrp="1"/>
          </p:cNvSpPr>
          <p:nvPr>
            <p:ph type="dt" sz="half" idx="10"/>
          </p:nvPr>
        </p:nvSpPr>
        <p:spPr/>
        <p:txBody>
          <a:bodyPr/>
          <a:lstStyle/>
          <a:p>
            <a:fld id="{15B161DD-BA8D-4CF1-A32A-BD361E7CFD60}" type="datetimeFigureOut">
              <a:rPr lang="fr-FR" smtClean="0"/>
              <a:pPr/>
              <a:t>23/12/2021</a:t>
            </a:fld>
            <a:endParaRPr lang="fr-FR"/>
          </a:p>
        </p:txBody>
      </p:sp>
      <p:sp>
        <p:nvSpPr>
          <p:cNvPr id="5" name="页脚占位符 4"/>
          <p:cNvSpPr>
            <a:spLocks noGrp="1"/>
          </p:cNvSpPr>
          <p:nvPr>
            <p:ph type="ftr" sz="quarter" idx="11"/>
          </p:nvPr>
        </p:nvSpPr>
        <p:spPr/>
        <p:txBody>
          <a:bodyPr/>
          <a:lstStyle/>
          <a:p>
            <a:endParaRPr lang="fr-FR"/>
          </a:p>
        </p:txBody>
      </p:sp>
      <p:sp>
        <p:nvSpPr>
          <p:cNvPr id="6" name="灯片编号占位符 5"/>
          <p:cNvSpPr>
            <a:spLocks noGrp="1"/>
          </p:cNvSpPr>
          <p:nvPr>
            <p:ph type="sldNum" sz="quarter" idx="12"/>
          </p:nvPr>
        </p:nvSpPr>
        <p:spPr/>
        <p:txBody>
          <a:bodyPr/>
          <a:lstStyle/>
          <a:p>
            <a:fld id="{362C6404-59AD-4655-B840-92140AAB81C6}" type="slidenum">
              <a:rPr lang="fr-FR" smtClean="0"/>
              <a:pPr/>
              <a:t>‹#›</a:t>
            </a:fld>
            <a:endParaRPr lang="fr-F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fr-F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fr-FR"/>
          </a:p>
        </p:txBody>
      </p:sp>
      <p:sp>
        <p:nvSpPr>
          <p:cNvPr id="4" name="日期占位符 3"/>
          <p:cNvSpPr>
            <a:spLocks noGrp="1"/>
          </p:cNvSpPr>
          <p:nvPr>
            <p:ph type="dt" sz="half" idx="10"/>
          </p:nvPr>
        </p:nvSpPr>
        <p:spPr/>
        <p:txBody>
          <a:bodyPr/>
          <a:lstStyle/>
          <a:p>
            <a:fld id="{15B161DD-BA8D-4CF1-A32A-BD361E7CFD60}" type="datetimeFigureOut">
              <a:rPr lang="fr-FR" smtClean="0"/>
              <a:pPr/>
              <a:t>23/12/2021</a:t>
            </a:fld>
            <a:endParaRPr lang="fr-FR"/>
          </a:p>
        </p:txBody>
      </p:sp>
      <p:sp>
        <p:nvSpPr>
          <p:cNvPr id="5" name="页脚占位符 4"/>
          <p:cNvSpPr>
            <a:spLocks noGrp="1"/>
          </p:cNvSpPr>
          <p:nvPr>
            <p:ph type="ftr" sz="quarter" idx="11"/>
          </p:nvPr>
        </p:nvSpPr>
        <p:spPr/>
        <p:txBody>
          <a:bodyPr/>
          <a:lstStyle/>
          <a:p>
            <a:endParaRPr lang="fr-FR"/>
          </a:p>
        </p:txBody>
      </p:sp>
      <p:sp>
        <p:nvSpPr>
          <p:cNvPr id="6" name="灯片编号占位符 5"/>
          <p:cNvSpPr>
            <a:spLocks noGrp="1"/>
          </p:cNvSpPr>
          <p:nvPr>
            <p:ph type="sldNum" sz="quarter" idx="12"/>
          </p:nvPr>
        </p:nvSpPr>
        <p:spPr/>
        <p:txBody>
          <a:bodyPr/>
          <a:lstStyle/>
          <a:p>
            <a:fld id="{362C6404-59AD-4655-B840-92140AAB81C6}" type="slidenum">
              <a:rPr lang="fr-FR" smtClean="0"/>
              <a:pPr/>
              <a:t>‹#›</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p:nvSpPr>
        <p:spPr bwMode="gray">
          <a:xfrm>
            <a:off x="0" y="533400"/>
            <a:ext cx="9144000" cy="685800"/>
          </a:xfrm>
          <a:prstGeom prst="rect">
            <a:avLst/>
          </a:prstGeom>
          <a:gradFill rotWithShape="1">
            <a:gsLst>
              <a:gs pos="0">
                <a:schemeClr val="accent1">
                  <a:gamma/>
                  <a:tint val="12549"/>
                  <a:invGamma/>
                  <a:alpha val="0"/>
                </a:schemeClr>
              </a:gs>
              <a:gs pos="100000">
                <a:schemeClr val="accent1"/>
              </a:gs>
            </a:gsLst>
            <a:lin ang="0" scaled="1"/>
          </a:gradFill>
          <a:ln w="9525">
            <a:noFill/>
            <a:miter lim="800000"/>
            <a:headEnd/>
            <a:tailEnd/>
          </a:ln>
          <a:effectLst/>
        </p:spPr>
        <p:txBody>
          <a:bodyPr wrap="none" anchor="ctr"/>
          <a:lstStyle/>
          <a:p>
            <a:endParaRPr lang="fr-FR"/>
          </a:p>
        </p:txBody>
      </p:sp>
      <p:sp>
        <p:nvSpPr>
          <p:cNvPr id="1040" name="Rectangle 16"/>
          <p:cNvSpPr>
            <a:spLocks noChangeArrowheads="1"/>
          </p:cNvSpPr>
          <p:nvPr/>
        </p:nvSpPr>
        <p:spPr bwMode="gray">
          <a:xfrm>
            <a:off x="0" y="457200"/>
            <a:ext cx="8229600" cy="685800"/>
          </a:xfrm>
          <a:prstGeom prst="rect">
            <a:avLst/>
          </a:prstGeom>
          <a:gradFill rotWithShape="1">
            <a:gsLst>
              <a:gs pos="0">
                <a:schemeClr val="tx2"/>
              </a:gs>
              <a:gs pos="100000">
                <a:schemeClr val="tx2">
                  <a:gamma/>
                  <a:shade val="46275"/>
                  <a:invGamma/>
                  <a:alpha val="0"/>
                </a:schemeClr>
              </a:gs>
            </a:gsLst>
            <a:lin ang="0" scaled="1"/>
          </a:gradFill>
          <a:ln w="9525">
            <a:noFill/>
            <a:miter lim="800000"/>
            <a:headEnd/>
            <a:tailEnd/>
          </a:ln>
          <a:effectLst/>
        </p:spPr>
        <p:txBody>
          <a:bodyPr wrap="none" anchor="ctr"/>
          <a:lstStyle/>
          <a:p>
            <a:endParaRPr lang="fr-FR"/>
          </a:p>
        </p:txBody>
      </p:sp>
      <p:sp>
        <p:nvSpPr>
          <p:cNvPr id="1027" name="Rectangle 3"/>
          <p:cNvSpPr>
            <a:spLocks noGrp="1" noChangeArrowheads="1"/>
          </p:cNvSpPr>
          <p:nvPr>
            <p:ph type="body" idx="1"/>
          </p:nvPr>
        </p:nvSpPr>
        <p:spPr bwMode="auto">
          <a:xfrm>
            <a:off x="457200" y="1338263"/>
            <a:ext cx="8229600" cy="5092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p:cNvSpPr>
            <a:spLocks noGrp="1" noChangeArrowheads="1"/>
          </p:cNvSpPr>
          <p:nvPr>
            <p:ph type="dt" sz="half" idx="2"/>
          </p:nvPr>
        </p:nvSpPr>
        <p:spPr bwMode="auto">
          <a:xfrm>
            <a:off x="6781800" y="269875"/>
            <a:ext cx="2133600" cy="2460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atin typeface="+mn-lt"/>
                <a:ea typeface="宋体" charset="-122"/>
              </a:defRPr>
            </a:lvl1pPr>
          </a:lstStyle>
          <a:p>
            <a:r>
              <a:rPr lang="en-US" altLang="zh-CN"/>
              <a:t>www.themegallery.com</a:t>
            </a:r>
          </a:p>
        </p:txBody>
      </p:sp>
      <p:sp>
        <p:nvSpPr>
          <p:cNvPr id="1030" name="Rectangle 6"/>
          <p:cNvSpPr>
            <a:spLocks noGrp="1" noChangeArrowheads="1"/>
          </p:cNvSpPr>
          <p:nvPr>
            <p:ph type="sldNum" sz="quarter" idx="4"/>
          </p:nvPr>
        </p:nvSpPr>
        <p:spPr bwMode="auto">
          <a:xfrm>
            <a:off x="3505200" y="6553200"/>
            <a:ext cx="2133600" cy="254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b="1">
                <a:latin typeface="+mn-lt"/>
                <a:ea typeface="宋体" charset="-122"/>
              </a:defRPr>
            </a:lvl1pPr>
          </a:lstStyle>
          <a:p>
            <a:fld id="{785A39B9-DE86-4EE4-BB5B-701380FDD315}" type="slidenum">
              <a:rPr lang="en-US" altLang="zh-CN"/>
              <a:pPr/>
              <a:t>‹#›</a:t>
            </a:fld>
            <a:endParaRPr lang="en-US" altLang="zh-CN"/>
          </a:p>
        </p:txBody>
      </p:sp>
      <p:sp>
        <p:nvSpPr>
          <p:cNvPr id="1026" name="Rectangle 2"/>
          <p:cNvSpPr>
            <a:spLocks noGrp="1" noChangeArrowheads="1"/>
          </p:cNvSpPr>
          <p:nvPr>
            <p:ph type="title"/>
          </p:nvPr>
        </p:nvSpPr>
        <p:spPr bwMode="white">
          <a:xfrm>
            <a:off x="838200" y="547688"/>
            <a:ext cx="7391400" cy="56356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ltLang="zh-CN"/>
              <a:t>Click to edit Master title style</a:t>
            </a:r>
          </a:p>
        </p:txBody>
      </p:sp>
      <p:pic>
        <p:nvPicPr>
          <p:cNvPr id="9" name="Picture 4" descr="学院院徽"/>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6705600" y="6450462"/>
            <a:ext cx="2057400" cy="385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4" r:id="rId13"/>
    <p:sldLayoutId id="2147483678" r:id="rId14"/>
    <p:sldLayoutId id="2147483699" r:id="rId15"/>
    <p:sldLayoutId id="2147483701" r:id="rId16"/>
    <p:sldLayoutId id="2147483702" r:id="rId17"/>
  </p:sldLayoutIdLst>
  <p:hf sldNum="0" hdr="0"/>
  <p:txStyles>
    <p:titleStyle>
      <a:lvl1pPr algn="ctr" rtl="0" fontAlgn="base">
        <a:spcBef>
          <a:spcPct val="0"/>
        </a:spcBef>
        <a:spcAft>
          <a:spcPct val="0"/>
        </a:spcAft>
        <a:defRPr sz="3200" b="1">
          <a:solidFill>
            <a:schemeClr val="bg1"/>
          </a:solidFill>
          <a:latin typeface="+mj-lt"/>
          <a:ea typeface="+mj-ea"/>
          <a:cs typeface="+mj-cs"/>
        </a:defRPr>
      </a:lvl1pPr>
      <a:lvl2pPr algn="ctr" rtl="0" fontAlgn="base">
        <a:spcBef>
          <a:spcPct val="0"/>
        </a:spcBef>
        <a:spcAft>
          <a:spcPct val="0"/>
        </a:spcAft>
        <a:defRPr sz="3200" b="1">
          <a:solidFill>
            <a:schemeClr val="bg1"/>
          </a:solidFill>
          <a:latin typeface="Verdana" pitchFamily="34" charset="0"/>
        </a:defRPr>
      </a:lvl2pPr>
      <a:lvl3pPr algn="ctr" rtl="0" fontAlgn="base">
        <a:spcBef>
          <a:spcPct val="0"/>
        </a:spcBef>
        <a:spcAft>
          <a:spcPct val="0"/>
        </a:spcAft>
        <a:defRPr sz="3200" b="1">
          <a:solidFill>
            <a:schemeClr val="bg1"/>
          </a:solidFill>
          <a:latin typeface="Verdana" pitchFamily="34" charset="0"/>
        </a:defRPr>
      </a:lvl3pPr>
      <a:lvl4pPr algn="ctr" rtl="0" fontAlgn="base">
        <a:spcBef>
          <a:spcPct val="0"/>
        </a:spcBef>
        <a:spcAft>
          <a:spcPct val="0"/>
        </a:spcAft>
        <a:defRPr sz="3200" b="1">
          <a:solidFill>
            <a:schemeClr val="bg1"/>
          </a:solidFill>
          <a:latin typeface="Verdana" pitchFamily="34" charset="0"/>
        </a:defRPr>
      </a:lvl4pPr>
      <a:lvl5pPr algn="ctr" rtl="0" fontAlgn="base">
        <a:spcBef>
          <a:spcPct val="0"/>
        </a:spcBef>
        <a:spcAft>
          <a:spcPct val="0"/>
        </a:spcAft>
        <a:defRPr sz="3200" b="1">
          <a:solidFill>
            <a:schemeClr val="bg1"/>
          </a:solidFill>
          <a:latin typeface="Verdana" pitchFamily="34" charset="0"/>
        </a:defRPr>
      </a:lvl5pPr>
      <a:lvl6pPr marL="457200" algn="ctr" rtl="0" fontAlgn="base">
        <a:spcBef>
          <a:spcPct val="0"/>
        </a:spcBef>
        <a:spcAft>
          <a:spcPct val="0"/>
        </a:spcAft>
        <a:defRPr sz="3200" b="1">
          <a:solidFill>
            <a:schemeClr val="bg1"/>
          </a:solidFill>
          <a:latin typeface="Verdana" pitchFamily="34" charset="0"/>
        </a:defRPr>
      </a:lvl6pPr>
      <a:lvl7pPr marL="914400" algn="ctr" rtl="0" fontAlgn="base">
        <a:spcBef>
          <a:spcPct val="0"/>
        </a:spcBef>
        <a:spcAft>
          <a:spcPct val="0"/>
        </a:spcAft>
        <a:defRPr sz="3200" b="1">
          <a:solidFill>
            <a:schemeClr val="bg1"/>
          </a:solidFill>
          <a:latin typeface="Verdana" pitchFamily="34" charset="0"/>
        </a:defRPr>
      </a:lvl7pPr>
      <a:lvl8pPr marL="1371600" algn="ctr" rtl="0" fontAlgn="base">
        <a:spcBef>
          <a:spcPct val="0"/>
        </a:spcBef>
        <a:spcAft>
          <a:spcPct val="0"/>
        </a:spcAft>
        <a:defRPr sz="3200" b="1">
          <a:solidFill>
            <a:schemeClr val="bg1"/>
          </a:solidFill>
          <a:latin typeface="Verdana" pitchFamily="34" charset="0"/>
        </a:defRPr>
      </a:lvl8pPr>
      <a:lvl9pPr marL="1828800" algn="ctr" rtl="0" fontAlgn="base">
        <a:spcBef>
          <a:spcPct val="0"/>
        </a:spcBef>
        <a:spcAft>
          <a:spcPct val="0"/>
        </a:spcAft>
        <a:defRPr sz="3200" b="1">
          <a:solidFill>
            <a:schemeClr val="bg1"/>
          </a:solidFill>
          <a:latin typeface="Verdana" pitchFamily="34" charset="0"/>
        </a:defRPr>
      </a:lvl9pPr>
    </p:titleStyle>
    <p:bodyStyle>
      <a:lvl1pPr marL="342900" indent="-342900" algn="l" rtl="0" fontAlgn="base">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fontAlgn="base">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fontAlgn="base">
        <a:spcBef>
          <a:spcPct val="20000"/>
        </a:spcBef>
        <a:spcAft>
          <a:spcPct val="0"/>
        </a:spcAft>
        <a:buClr>
          <a:schemeClr val="tx1"/>
        </a:buClr>
        <a:buChar char="•"/>
        <a:defRPr sz="2400">
          <a:solidFill>
            <a:schemeClr val="tx1"/>
          </a:solidFill>
          <a:latin typeface="Arial" charset="0"/>
        </a:defRPr>
      </a:lvl3pPr>
      <a:lvl4pPr marL="1600200" indent="-228600" algn="l" rtl="0" fontAlgn="base">
        <a:spcBef>
          <a:spcPct val="20000"/>
        </a:spcBef>
        <a:spcAft>
          <a:spcPct val="0"/>
        </a:spcAft>
        <a:buChar char="–"/>
        <a:defRPr sz="2000">
          <a:solidFill>
            <a:schemeClr val="tx1"/>
          </a:solidFill>
          <a:latin typeface="Arial" charset="0"/>
        </a:defRPr>
      </a:lvl4pPr>
      <a:lvl5pPr marL="2057400" indent="-228600" algn="l" rtl="0" fontAlgn="base">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fr-F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fr-F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B161DD-BA8D-4CF1-A32A-BD361E7CFD60}" type="datetimeFigureOut">
              <a:rPr lang="fr-FR" smtClean="0"/>
              <a:pPr/>
              <a:t>23/12/2021</a:t>
            </a:fld>
            <a:endParaRPr lang="fr-F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2C6404-59AD-4655-B840-92140AAB81C6}" type="slidenum">
              <a:rPr lang="fr-FR" smtClean="0"/>
              <a:pPr/>
              <a:t>‹#›</a:t>
            </a:fld>
            <a:endParaRPr lang="fr-FR"/>
          </a:p>
        </p:txBody>
      </p:sp>
    </p:spTree>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slide" Target="slide2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74.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15.xml"/></Relationships>
</file>

<file path=ppt/slides/_rels/slide75.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15.xml"/></Relationships>
</file>

<file path=ppt/slides/_rels/slide7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5.xml"/></Relationships>
</file>

<file path=ppt/slides/_rels/slide79.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15.xml"/></Relationships>
</file>

<file path=ppt/slides/_rels/slide8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5.xml"/></Relationships>
</file>

<file path=ppt/slides/_rels/slide8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8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83.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84.x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slideLayout" Target="../slideLayouts/slideLayout15.xml"/></Relationships>
</file>

<file path=ppt/slides/_rels/slide8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5.xml"/></Relationships>
</file>

<file path=ppt/slides/_rels/slide8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5.xml"/></Relationships>
</file>

<file path=ppt/slides/_rels/slide91.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1.bin"/><Relationship Id="rId1" Type="http://schemas.openxmlformats.org/officeDocument/2006/relationships/slideLayout" Target="../slideLayouts/slideLayout1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3.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15.xml"/></Relationships>
</file>

<file path=ppt/slides/_rels/slide94.x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slideLayout" Target="../slideLayouts/slideLayout15.xml"/></Relationships>
</file>

<file path=ppt/slides/_rels/slide95.x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slideLayout" Target="../slideLayouts/slideLayout1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slideLayout" Target="../slideLayouts/slideLayout15.xml"/></Relationships>
</file>

<file path=ppt/slides/_rels/slide100.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101.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4.x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slideLayout" Target="../slideLayouts/slideLayout1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2.x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slideLayout" Target="../slideLayouts/slideLayout15.xml"/></Relationships>
</file>

<file path=ppt/slides/_rels/slide113.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2.bin"/><Relationship Id="rId1" Type="http://schemas.openxmlformats.org/officeDocument/2006/relationships/slideLayout" Target="../slideLayouts/slideLayout15.xml"/></Relationships>
</file>

<file path=ppt/slides/_rels/slide114.x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slideLayout" Target="../slideLayouts/slideLayout1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3.bin"/><Relationship Id="rId1" Type="http://schemas.openxmlformats.org/officeDocument/2006/relationships/slideLayout" Target="../slideLayouts/slideLayout7.xml"/><Relationship Id="rId5" Type="http://schemas.openxmlformats.org/officeDocument/2006/relationships/image" Target="../media/image41.wmf"/><Relationship Id="rId4" Type="http://schemas.openxmlformats.org/officeDocument/2006/relationships/oleObject" Target="../embeddings/oleObject4.bin"/></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oleObject" Target="../embeddings/oleObject5.bin"/><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6.bin"/><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135.x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slideLayout" Target="../slideLayouts/slideLayout15.xml"/></Relationships>
</file>

<file path=ppt/slides/_rels/slide136.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5.xml"/></Relationships>
</file>

<file path=ppt/slides/_rels/slide140.xml.rels><?xml version="1.0" encoding="UTF-8" standalone="yes"?>
<Relationships xmlns="http://schemas.openxmlformats.org/package/2006/relationships"><Relationship Id="rId2" Type="http://schemas.openxmlformats.org/officeDocument/2006/relationships/image" Target="../media/image50.wmf"/><Relationship Id="rId1" Type="http://schemas.openxmlformats.org/officeDocument/2006/relationships/slideLayout" Target="../slideLayouts/slideLayout15.xml"/></Relationships>
</file>

<file path=ppt/slides/_rels/slide14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31.xml"/><Relationship Id="rId1" Type="http://schemas.openxmlformats.org/officeDocument/2006/relationships/slideLayout" Target="../slideLayouts/slideLayout15.xml"/><Relationship Id="rId4" Type="http://schemas.openxmlformats.org/officeDocument/2006/relationships/image" Target="../media/image51.emf"/></Relationships>
</file>

<file path=ppt/slides/_rels/slide142.xml.rels><?xml version="1.0" encoding="UTF-8" standalone="yes"?>
<Relationships xmlns="http://schemas.openxmlformats.org/package/2006/relationships"><Relationship Id="rId2" Type="http://schemas.openxmlformats.org/officeDocument/2006/relationships/image" Target="../media/image52.gif"/><Relationship Id="rId1" Type="http://schemas.openxmlformats.org/officeDocument/2006/relationships/slideLayout" Target="../slideLayouts/slideLayout15.xml"/></Relationships>
</file>

<file path=ppt/slides/_rels/slide14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147.x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slideLayout" Target="../slideLayouts/slideLayout15.xml"/></Relationships>
</file>

<file path=ppt/slides/_rels/slide148.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oleObject" Target="../embeddings/oleObject8.bin"/><Relationship Id="rId1" Type="http://schemas.openxmlformats.org/officeDocument/2006/relationships/slideLayout" Target="../slideLayouts/slideLayout15.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228600" y="2667000"/>
            <a:ext cx="8458200" cy="1447800"/>
          </a:xfrm>
        </p:spPr>
        <p:txBody>
          <a:bodyPr/>
          <a:lstStyle/>
          <a:p>
            <a:pPr eaLnBrk="1" hangingPunct="1">
              <a:defRPr/>
            </a:pPr>
            <a:r>
              <a:rPr lang="zh-CN" altLang="en-US" sz="6000" dirty="0">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rPr>
              <a:t>计算机科学与程序设计</a:t>
            </a:r>
            <a:endParaRPr lang="en-US" altLang="zh-CN" sz="6000" dirty="0">
              <a:effectLst>
                <a:outerShdw blurRad="38100" dist="38100" dir="2700000" algn="tl">
                  <a:srgbClr val="000000">
                    <a:alpha val="43137"/>
                  </a:srgbClr>
                </a:outerShdw>
              </a:effectLst>
              <a:latin typeface="微软雅黑" pitchFamily="34" charset="-122"/>
              <a:ea typeface="微软雅黑" pitchFamily="34" charset="-122"/>
              <a:cs typeface="Times New Roman" pitchFamily="18" charset="0"/>
            </a:endParaRPr>
          </a:p>
        </p:txBody>
      </p:sp>
      <p:pic>
        <p:nvPicPr>
          <p:cNvPr id="17411" name="Picture 4" descr="t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3563" y="320675"/>
            <a:ext cx="5176837" cy="1208088"/>
          </a:xfrm>
          <a:prstGeom prst="rect">
            <a:avLst/>
          </a:prstGeom>
          <a:solidFill>
            <a:schemeClr val="bg1">
              <a:alpha val="56862"/>
            </a:schemeClr>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4689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en-US" dirty="0">
                <a:latin typeface="隶书" pitchFamily="49" charset="-122"/>
                <a:ea typeface="隶书" pitchFamily="49" charset="-122"/>
              </a:rPr>
              <a:t>关于考试</a:t>
            </a:r>
          </a:p>
        </p:txBody>
      </p:sp>
      <p:sp>
        <p:nvSpPr>
          <p:cNvPr id="9219" name="内容占位符 2"/>
          <p:cNvSpPr>
            <a:spLocks noGrp="1"/>
          </p:cNvSpPr>
          <p:nvPr>
            <p:ph idx="1"/>
          </p:nvPr>
        </p:nvSpPr>
        <p:spPr>
          <a:xfrm>
            <a:off x="0" y="1341438"/>
            <a:ext cx="9144000" cy="4525962"/>
          </a:xfrm>
        </p:spPr>
        <p:txBody>
          <a:bodyPr/>
          <a:lstStyle/>
          <a:p>
            <a:r>
              <a:rPr lang="zh-CN" altLang="en-US" dirty="0"/>
              <a:t>时间：</a:t>
            </a:r>
            <a:r>
              <a:rPr lang="en-US" altLang="zh-CN" dirty="0">
                <a:solidFill>
                  <a:srgbClr val="FF0000"/>
                </a:solidFill>
              </a:rPr>
              <a:t>2022</a:t>
            </a:r>
            <a:r>
              <a:rPr lang="zh-CN" altLang="en-US" dirty="0">
                <a:solidFill>
                  <a:srgbClr val="FF0000"/>
                </a:solidFill>
              </a:rPr>
              <a:t>年</a:t>
            </a:r>
            <a:r>
              <a:rPr lang="en-US" altLang="zh-CN" dirty="0">
                <a:solidFill>
                  <a:srgbClr val="FF0000"/>
                </a:solidFill>
              </a:rPr>
              <a:t>1</a:t>
            </a:r>
            <a:r>
              <a:rPr lang="zh-CN" altLang="en-US" dirty="0">
                <a:solidFill>
                  <a:srgbClr val="FF0000"/>
                </a:solidFill>
              </a:rPr>
              <a:t>月</a:t>
            </a:r>
            <a:r>
              <a:rPr lang="en-US" altLang="zh-CN" dirty="0">
                <a:solidFill>
                  <a:srgbClr val="FF0000"/>
                </a:solidFill>
              </a:rPr>
              <a:t>11</a:t>
            </a:r>
            <a:r>
              <a:rPr lang="zh-CN" altLang="en-US" dirty="0">
                <a:solidFill>
                  <a:srgbClr val="FF0000"/>
                </a:solidFill>
              </a:rPr>
              <a:t>日上午</a:t>
            </a:r>
            <a:r>
              <a:rPr lang="en-US" altLang="zh-CN" dirty="0">
                <a:solidFill>
                  <a:srgbClr val="FF0000"/>
                </a:solidFill>
              </a:rPr>
              <a:t>9:55-11:55(</a:t>
            </a:r>
            <a:r>
              <a:rPr lang="zh-CN" altLang="en-US" dirty="0">
                <a:solidFill>
                  <a:srgbClr val="FF0000"/>
                </a:solidFill>
              </a:rPr>
              <a:t>二十一周</a:t>
            </a:r>
            <a:r>
              <a:rPr lang="en-US" altLang="zh-CN" dirty="0">
                <a:solidFill>
                  <a:srgbClr val="FF0000"/>
                </a:solidFill>
              </a:rPr>
              <a:t>)</a:t>
            </a:r>
          </a:p>
          <a:p>
            <a:r>
              <a:rPr lang="zh-CN" altLang="en-US" b="1" dirty="0"/>
              <a:t>地点：良乡文三楼机房（机考）</a:t>
            </a:r>
            <a:endParaRPr lang="en-US" altLang="zh-CN" b="1" dirty="0"/>
          </a:p>
          <a:p>
            <a:r>
              <a:rPr lang="zh-CN" altLang="en-US" dirty="0">
                <a:solidFill>
                  <a:srgbClr val="FF0000"/>
                </a:solidFill>
              </a:rPr>
              <a:t>往届</a:t>
            </a:r>
            <a:r>
              <a:rPr lang="zh-CN" altLang="en-US" b="1" dirty="0"/>
              <a:t>题型：</a:t>
            </a:r>
            <a:endParaRPr lang="en-US" altLang="zh-CN" b="1" dirty="0"/>
          </a:p>
          <a:p>
            <a:pPr>
              <a:buNone/>
            </a:pPr>
            <a:r>
              <a:rPr lang="zh-CN" altLang="en-US" b="1" dirty="0"/>
              <a:t>   </a:t>
            </a:r>
            <a:r>
              <a:rPr lang="en-US" altLang="zh-CN" b="1" dirty="0"/>
              <a:t>30</a:t>
            </a:r>
            <a:r>
              <a:rPr lang="zh-CN" altLang="en-US" dirty="0"/>
              <a:t>道</a:t>
            </a:r>
            <a:r>
              <a:rPr lang="zh-CN" altLang="en-US" b="1" dirty="0"/>
              <a:t>选择题（</a:t>
            </a:r>
            <a:r>
              <a:rPr lang="en-US" altLang="zh-CN" b="1" dirty="0"/>
              <a:t>30</a:t>
            </a:r>
            <a:r>
              <a:rPr lang="zh-CN" altLang="en-US" b="1" dirty="0"/>
              <a:t>分）；</a:t>
            </a:r>
            <a:endParaRPr lang="en-US" altLang="zh-CN" b="1" dirty="0"/>
          </a:p>
          <a:p>
            <a:pPr>
              <a:buNone/>
            </a:pPr>
            <a:r>
              <a:rPr lang="zh-CN" altLang="en-US" b="1" dirty="0"/>
              <a:t>   编程题（</a:t>
            </a:r>
            <a:r>
              <a:rPr lang="en-US" altLang="zh-CN" b="1" dirty="0"/>
              <a:t>3</a:t>
            </a:r>
            <a:r>
              <a:rPr lang="zh-CN" altLang="en-US" b="1" dirty="0"/>
              <a:t>道）</a:t>
            </a:r>
            <a:r>
              <a:rPr lang="en-US" altLang="zh-CN" b="1" dirty="0"/>
              <a:t>(</a:t>
            </a:r>
            <a:r>
              <a:rPr lang="zh-CN" altLang="en-US" b="1" dirty="0"/>
              <a:t>打印图形</a:t>
            </a:r>
            <a:r>
              <a:rPr lang="zh-CN" altLang="en-US" dirty="0"/>
              <a:t>、数值类题目、字符串操作</a:t>
            </a:r>
            <a:r>
              <a:rPr lang="en-US" altLang="zh-CN" b="1" dirty="0"/>
              <a:t>)</a:t>
            </a:r>
            <a:r>
              <a:rPr lang="zh-CN" altLang="en-US" b="1" dirty="0"/>
              <a:t>（</a:t>
            </a:r>
            <a:r>
              <a:rPr lang="en-US" altLang="zh-CN" b="1" dirty="0"/>
              <a:t>30</a:t>
            </a:r>
            <a:r>
              <a:rPr lang="zh-CN" altLang="en-US" b="1" dirty="0"/>
              <a:t>分）</a:t>
            </a:r>
            <a:endParaRPr lang="en-US" altLang="zh-CN" b="1" dirty="0"/>
          </a:p>
          <a:p>
            <a:r>
              <a:rPr lang="en-US" altLang="zh-CN" b="1" dirty="0"/>
              <a:t>AB</a:t>
            </a:r>
            <a:r>
              <a:rPr lang="zh-CN" altLang="en-US" b="1" dirty="0"/>
              <a:t>卷</a:t>
            </a:r>
            <a:endParaRPr lang="en-US" altLang="zh-CN" b="1" dirty="0"/>
          </a:p>
          <a:p>
            <a:r>
              <a:rPr lang="zh-CN" altLang="en-US" b="1" dirty="0"/>
              <a:t>编程题可以多次提交，</a:t>
            </a:r>
            <a:r>
              <a:rPr lang="zh-CN" altLang="en-US" dirty="0">
                <a:solidFill>
                  <a:srgbClr val="FF0000"/>
                </a:solidFill>
              </a:rPr>
              <a:t>以最后一次提交的程序为准。</a:t>
            </a:r>
            <a:r>
              <a:rPr lang="zh-CN" altLang="en-US" b="1" dirty="0"/>
              <a:t>选择题要注意</a:t>
            </a:r>
            <a:r>
              <a:rPr lang="zh-CN" altLang="en-US" b="1" dirty="0">
                <a:solidFill>
                  <a:srgbClr val="FF0000"/>
                </a:solidFill>
              </a:rPr>
              <a:t>“确认提交”</a:t>
            </a:r>
            <a:endParaRPr lang="en-US" altLang="zh-CN" b="1" dirty="0">
              <a:solidFill>
                <a:srgbClr val="FF0000"/>
              </a:solidFill>
            </a:endParaRPr>
          </a:p>
          <a:p>
            <a:r>
              <a:rPr lang="zh-CN" altLang="en-US" b="1" dirty="0"/>
              <a:t>考试时不可以上网、不可以用手机、不可以安装软件</a:t>
            </a:r>
            <a:endParaRPr lang="en-US" altLang="zh-CN" b="1" dirty="0"/>
          </a:p>
          <a:p>
            <a:r>
              <a:rPr lang="zh-CN" altLang="en-US" b="1" dirty="0"/>
              <a:t>需要掌握的</a:t>
            </a:r>
            <a:r>
              <a:rPr lang="en-US" altLang="zh-CN" b="1" dirty="0"/>
              <a:t>IDE</a:t>
            </a:r>
            <a:r>
              <a:rPr lang="zh-CN" altLang="en-US" b="1" dirty="0"/>
              <a:t>（</a:t>
            </a:r>
            <a:r>
              <a:rPr lang="en-US" altLang="zh-CN" b="1" dirty="0"/>
              <a:t>VC6.0</a:t>
            </a:r>
            <a:r>
              <a:rPr lang="zh-CN" altLang="en-US" b="1" dirty="0"/>
              <a:t>，</a:t>
            </a:r>
            <a:r>
              <a:rPr lang="en-US" altLang="zh-CN" b="1" dirty="0"/>
              <a:t>DEV</a:t>
            </a:r>
            <a:r>
              <a:rPr lang="zh-CN" altLang="en-US" b="1" dirty="0"/>
              <a:t> </a:t>
            </a:r>
            <a:r>
              <a:rPr lang="en-US" altLang="zh-CN" b="1" dirty="0"/>
              <a:t>C++</a:t>
            </a:r>
            <a:r>
              <a:rPr lang="zh-CN" altLang="en-US" b="1" dirty="0"/>
              <a:t>）</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en-US" dirty="0">
                <a:latin typeface="隶书" pitchFamily="49" charset="-122"/>
                <a:ea typeface="隶书" pitchFamily="49" charset="-122"/>
              </a:rPr>
              <a:t>关于考试</a:t>
            </a:r>
          </a:p>
        </p:txBody>
      </p:sp>
      <p:sp>
        <p:nvSpPr>
          <p:cNvPr id="9219" name="内容占位符 2"/>
          <p:cNvSpPr>
            <a:spLocks noGrp="1"/>
          </p:cNvSpPr>
          <p:nvPr>
            <p:ph idx="1"/>
          </p:nvPr>
        </p:nvSpPr>
        <p:spPr>
          <a:xfrm>
            <a:off x="0" y="1219200"/>
            <a:ext cx="9144000" cy="4525962"/>
          </a:xfrm>
        </p:spPr>
        <p:txBody>
          <a:bodyPr/>
          <a:lstStyle/>
          <a:p>
            <a:r>
              <a:rPr lang="zh-CN" altLang="zh-CN" dirty="0"/>
              <a:t>（</a:t>
            </a:r>
            <a:r>
              <a:rPr lang="en-US" altLang="zh-CN" dirty="0"/>
              <a:t>1</a:t>
            </a:r>
            <a:r>
              <a:rPr lang="zh-CN" altLang="zh-CN" dirty="0"/>
              <a:t>）按照指定时间提前</a:t>
            </a:r>
            <a:r>
              <a:rPr lang="en-US" altLang="zh-CN" dirty="0"/>
              <a:t>30</a:t>
            </a:r>
            <a:r>
              <a:rPr lang="zh-CN" altLang="zh-CN" dirty="0"/>
              <a:t>分钟到图书馆四层；</a:t>
            </a:r>
          </a:p>
          <a:p>
            <a:r>
              <a:rPr lang="zh-CN" altLang="zh-CN" dirty="0"/>
              <a:t>（</a:t>
            </a:r>
            <a:r>
              <a:rPr lang="en-US" altLang="zh-CN" dirty="0"/>
              <a:t>2</a:t>
            </a:r>
            <a:r>
              <a:rPr lang="zh-CN" altLang="zh-CN" dirty="0"/>
              <a:t>）在</a:t>
            </a:r>
            <a:r>
              <a:rPr lang="zh-CN" altLang="en-US" dirty="0"/>
              <a:t>机房走廊</a:t>
            </a:r>
            <a:r>
              <a:rPr lang="zh-CN" altLang="zh-CN" dirty="0"/>
              <a:t>大厅查看公布出来的机房及座位号；</a:t>
            </a:r>
          </a:p>
          <a:p>
            <a:r>
              <a:rPr lang="zh-CN" altLang="zh-CN" dirty="0"/>
              <a:t>（</a:t>
            </a:r>
            <a:r>
              <a:rPr lang="en-US" altLang="zh-CN" dirty="0"/>
              <a:t>3</a:t>
            </a:r>
            <a:r>
              <a:rPr lang="zh-CN" altLang="zh-CN" dirty="0"/>
              <a:t>）提前</a:t>
            </a:r>
            <a:r>
              <a:rPr lang="en-US" altLang="zh-CN" dirty="0"/>
              <a:t>10</a:t>
            </a:r>
            <a:r>
              <a:rPr lang="zh-CN" altLang="zh-CN" dirty="0"/>
              <a:t>分钟进入考场，检查机器</a:t>
            </a:r>
            <a:r>
              <a:rPr lang="zh-CN" altLang="en-US" dirty="0"/>
              <a:t>及环境</a:t>
            </a:r>
            <a:r>
              <a:rPr lang="zh-CN" altLang="zh-CN" dirty="0"/>
              <a:t>；</a:t>
            </a:r>
          </a:p>
          <a:p>
            <a:r>
              <a:rPr lang="zh-CN" altLang="zh-CN" dirty="0"/>
              <a:t>（</a:t>
            </a:r>
            <a:r>
              <a:rPr lang="en-US" altLang="zh-CN" dirty="0"/>
              <a:t>4</a:t>
            </a:r>
            <a:r>
              <a:rPr lang="zh-CN" altLang="zh-CN" dirty="0"/>
              <a:t>）携带</a:t>
            </a:r>
            <a:r>
              <a:rPr lang="zh-CN" altLang="zh-CN" dirty="0">
                <a:solidFill>
                  <a:srgbClr val="FF0000"/>
                </a:solidFill>
              </a:rPr>
              <a:t>本人身份证或学生证及一卡通</a:t>
            </a:r>
            <a:r>
              <a:rPr lang="zh-CN" altLang="zh-CN" dirty="0"/>
              <a:t>，至少有一个证件照片是清晰可辩的；</a:t>
            </a:r>
          </a:p>
          <a:p>
            <a:r>
              <a:rPr lang="zh-CN" altLang="zh-CN" dirty="0"/>
              <a:t>（</a:t>
            </a:r>
            <a:r>
              <a:rPr lang="en-US" altLang="zh-CN" dirty="0"/>
              <a:t>5</a:t>
            </a:r>
            <a:r>
              <a:rPr lang="zh-CN" altLang="zh-CN" dirty="0"/>
              <a:t>）考试期间不准携带任何纸张，草稿纸统一发放、统一回收；</a:t>
            </a:r>
          </a:p>
          <a:p>
            <a:r>
              <a:rPr lang="zh-CN" altLang="zh-CN" dirty="0"/>
              <a:t>（</a:t>
            </a:r>
            <a:r>
              <a:rPr lang="en-US" altLang="zh-CN" dirty="0"/>
              <a:t>6</a:t>
            </a:r>
            <a:r>
              <a:rPr lang="zh-CN" altLang="zh-CN" dirty="0"/>
              <a:t>）考试期间不准携带电子设备，桌面上只能有笔和证件；</a:t>
            </a:r>
          </a:p>
          <a:p>
            <a:r>
              <a:rPr lang="zh-CN" altLang="zh-CN" dirty="0"/>
              <a:t>（</a:t>
            </a:r>
            <a:r>
              <a:rPr lang="en-US" altLang="zh-CN" dirty="0"/>
              <a:t>7</a:t>
            </a:r>
            <a:r>
              <a:rPr lang="zh-CN" altLang="zh-CN" dirty="0"/>
              <a:t>）书包等，保存在机房空地上，不能放在电脑桌旁；</a:t>
            </a:r>
            <a:endParaRPr lang="en-US" altLang="zh-CN" dirty="0"/>
          </a:p>
          <a:p>
            <a:r>
              <a:rPr lang="zh-CN" altLang="en-US" dirty="0"/>
              <a:t>（</a:t>
            </a:r>
            <a:r>
              <a:rPr lang="en-US" altLang="zh-CN" dirty="0"/>
              <a:t>8</a:t>
            </a:r>
            <a:r>
              <a:rPr lang="zh-CN" altLang="en-US" dirty="0"/>
              <a:t>）考试放松心态，不要紧张</a:t>
            </a:r>
            <a:endParaRPr lang="zh-CN" altLang="zh-CN" dirty="0"/>
          </a:p>
        </p:txBody>
      </p:sp>
    </p:spTree>
    <p:extLst>
      <p:ext uri="{BB962C8B-B14F-4D97-AF65-F5344CB8AC3E}">
        <p14:creationId xmlns:p14="http://schemas.microsoft.com/office/powerpoint/2010/main" val="2068499608"/>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en-US" dirty="0">
                <a:latin typeface="隶书" pitchFamily="49" charset="-122"/>
                <a:ea typeface="隶书" pitchFamily="49" charset="-122"/>
              </a:rPr>
              <a:t>关于答疑</a:t>
            </a:r>
          </a:p>
        </p:txBody>
      </p:sp>
      <p:sp>
        <p:nvSpPr>
          <p:cNvPr id="9219" name="内容占位符 2"/>
          <p:cNvSpPr>
            <a:spLocks noGrp="1"/>
          </p:cNvSpPr>
          <p:nvPr>
            <p:ph idx="1"/>
          </p:nvPr>
        </p:nvSpPr>
        <p:spPr>
          <a:xfrm>
            <a:off x="0" y="1570038"/>
            <a:ext cx="9144000" cy="3078162"/>
          </a:xfrm>
        </p:spPr>
        <p:txBody>
          <a:bodyPr/>
          <a:lstStyle/>
          <a:p>
            <a:r>
              <a:rPr lang="zh-CN" altLang="en-US" dirty="0"/>
              <a:t>答疑时间：第十九周课上</a:t>
            </a:r>
            <a:endParaRPr lang="en-US" altLang="zh-CN" b="1" dirty="0"/>
          </a:p>
          <a:p>
            <a:r>
              <a:rPr lang="zh-CN" altLang="en-US" dirty="0"/>
              <a:t>答疑</a:t>
            </a:r>
            <a:r>
              <a:rPr lang="zh-CN" altLang="en-US"/>
              <a:t>地点：教室和机房</a:t>
            </a:r>
            <a:endParaRPr lang="zh-CN" altLang="en-US" b="1" dirty="0"/>
          </a:p>
        </p:txBody>
      </p:sp>
    </p:spTree>
    <p:extLst>
      <p:ext uri="{BB962C8B-B14F-4D97-AF65-F5344CB8AC3E}">
        <p14:creationId xmlns:p14="http://schemas.microsoft.com/office/powerpoint/2010/main" val="3973134415"/>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7636" name="组合 72"/>
          <p:cNvGrpSpPr>
            <a:grpSpLocks noChangeAspect="1"/>
          </p:cNvGrpSpPr>
          <p:nvPr/>
        </p:nvGrpSpPr>
        <p:grpSpPr bwMode="auto">
          <a:xfrm>
            <a:off x="2041525" y="2232025"/>
            <a:ext cx="4921250" cy="1611313"/>
            <a:chOff x="1787526" y="1846262"/>
            <a:chExt cx="8616030" cy="2819400"/>
          </a:xfrm>
        </p:grpSpPr>
        <p:sp>
          <p:nvSpPr>
            <p:cNvPr id="54282" name="AutoShape 51"/>
            <p:cNvSpPr>
              <a:spLocks noChangeAspect="1" noChangeArrowheads="1" noTextEdit="1"/>
            </p:cNvSpPr>
            <p:nvPr/>
          </p:nvSpPr>
          <p:spPr bwMode="auto">
            <a:xfrm>
              <a:off x="3154973" y="2951800"/>
              <a:ext cx="6175748" cy="488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283" name="Freeform 53"/>
            <p:cNvSpPr>
              <a:spLocks noEditPoints="1" noChangeArrowheads="1"/>
            </p:cNvSpPr>
            <p:nvPr/>
          </p:nvSpPr>
          <p:spPr bwMode="auto">
            <a:xfrm>
              <a:off x="3157754" y="2951800"/>
              <a:ext cx="480829" cy="488881"/>
            </a:xfrm>
            <a:custGeom>
              <a:avLst/>
              <a:gdLst>
                <a:gd name="T0" fmla="*/ 525847784 w 220"/>
                <a:gd name="T1" fmla="*/ 0 h 220"/>
                <a:gd name="T2" fmla="*/ 1051697755 w 220"/>
                <a:gd name="T3" fmla="*/ 539825412 h 220"/>
                <a:gd name="T4" fmla="*/ 525847784 w 220"/>
                <a:gd name="T5" fmla="*/ 1079648608 h 220"/>
                <a:gd name="T6" fmla="*/ 0 w 220"/>
                <a:gd name="T7" fmla="*/ 539825412 h 220"/>
                <a:gd name="T8" fmla="*/ 525847784 w 220"/>
                <a:gd name="T9" fmla="*/ 0 h 220"/>
                <a:gd name="T10" fmla="*/ 946528636 w 220"/>
                <a:gd name="T11" fmla="*/ 539825412 h 220"/>
                <a:gd name="T12" fmla="*/ 525847784 w 220"/>
                <a:gd name="T13" fmla="*/ 103057337 h 220"/>
                <a:gd name="T14" fmla="*/ 100389600 w 220"/>
                <a:gd name="T15" fmla="*/ 539825412 h 220"/>
                <a:gd name="T16" fmla="*/ 525847784 w 220"/>
                <a:gd name="T17" fmla="*/ 976591271 h 220"/>
                <a:gd name="T18" fmla="*/ 946528636 w 220"/>
                <a:gd name="T19" fmla="*/ 539825412 h 2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220">
                  <a:moveTo>
                    <a:pt x="110" y="0"/>
                  </a:moveTo>
                  <a:cubicBezTo>
                    <a:pt x="170" y="0"/>
                    <a:pt x="220" y="49"/>
                    <a:pt x="220" y="110"/>
                  </a:cubicBezTo>
                  <a:cubicBezTo>
                    <a:pt x="220" y="171"/>
                    <a:pt x="170" y="220"/>
                    <a:pt x="110" y="220"/>
                  </a:cubicBezTo>
                  <a:cubicBezTo>
                    <a:pt x="49" y="220"/>
                    <a:pt x="0" y="171"/>
                    <a:pt x="0" y="110"/>
                  </a:cubicBezTo>
                  <a:cubicBezTo>
                    <a:pt x="0" y="49"/>
                    <a:pt x="49" y="0"/>
                    <a:pt x="110" y="0"/>
                  </a:cubicBezTo>
                  <a:close/>
                  <a:moveTo>
                    <a:pt x="198" y="110"/>
                  </a:moveTo>
                  <a:cubicBezTo>
                    <a:pt x="198" y="61"/>
                    <a:pt x="159" y="21"/>
                    <a:pt x="110" y="21"/>
                  </a:cubicBezTo>
                  <a:cubicBezTo>
                    <a:pt x="61" y="21"/>
                    <a:pt x="21" y="61"/>
                    <a:pt x="21" y="110"/>
                  </a:cubicBezTo>
                  <a:cubicBezTo>
                    <a:pt x="21" y="159"/>
                    <a:pt x="61" y="199"/>
                    <a:pt x="110" y="199"/>
                  </a:cubicBezTo>
                  <a:cubicBezTo>
                    <a:pt x="159" y="199"/>
                    <a:pt x="198" y="159"/>
                    <a:pt x="198" y="110"/>
                  </a:cubicBezTo>
                  <a:close/>
                </a:path>
              </a:pathLst>
            </a:custGeom>
            <a:solidFill>
              <a:srgbClr val="72717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284" name="Freeform 54"/>
            <p:cNvSpPr>
              <a:spLocks noChangeArrowheads="1"/>
            </p:cNvSpPr>
            <p:nvPr/>
          </p:nvSpPr>
          <p:spPr bwMode="auto">
            <a:xfrm>
              <a:off x="3321735" y="3062909"/>
              <a:ext cx="125072" cy="261107"/>
            </a:xfrm>
            <a:custGeom>
              <a:avLst/>
              <a:gdLst>
                <a:gd name="T0" fmla="*/ 275937203 w 57"/>
                <a:gd name="T1" fmla="*/ 0 h 118"/>
                <a:gd name="T2" fmla="*/ 275937203 w 57"/>
                <a:gd name="T3" fmla="*/ 574429180 h 118"/>
                <a:gd name="T4" fmla="*/ 140389952 w 57"/>
                <a:gd name="T5" fmla="*/ 574429180 h 118"/>
                <a:gd name="T6" fmla="*/ 140389952 w 57"/>
                <a:gd name="T7" fmla="*/ 199589931 h 118"/>
                <a:gd name="T8" fmla="*/ 72614127 w 57"/>
                <a:gd name="T9" fmla="*/ 248271155 h 118"/>
                <a:gd name="T10" fmla="*/ 0 w 57"/>
                <a:gd name="T11" fmla="*/ 282346247 h 118"/>
                <a:gd name="T12" fmla="*/ 0 w 57"/>
                <a:gd name="T13" fmla="*/ 150908706 h 118"/>
                <a:gd name="T14" fmla="*/ 164594661 w 57"/>
                <a:gd name="T15" fmla="*/ 0 h 118"/>
                <a:gd name="T16" fmla="*/ 275937203 w 57"/>
                <a:gd name="T17" fmla="*/ 0 h 1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 h="118">
                  <a:moveTo>
                    <a:pt x="57" y="0"/>
                  </a:moveTo>
                  <a:cubicBezTo>
                    <a:pt x="57" y="118"/>
                    <a:pt x="57" y="118"/>
                    <a:pt x="57" y="118"/>
                  </a:cubicBezTo>
                  <a:cubicBezTo>
                    <a:pt x="29" y="118"/>
                    <a:pt x="29" y="118"/>
                    <a:pt x="29" y="118"/>
                  </a:cubicBezTo>
                  <a:cubicBezTo>
                    <a:pt x="29" y="41"/>
                    <a:pt x="29" y="41"/>
                    <a:pt x="29" y="41"/>
                  </a:cubicBezTo>
                  <a:cubicBezTo>
                    <a:pt x="24" y="45"/>
                    <a:pt x="20" y="48"/>
                    <a:pt x="15" y="51"/>
                  </a:cubicBezTo>
                  <a:cubicBezTo>
                    <a:pt x="11" y="53"/>
                    <a:pt x="6" y="56"/>
                    <a:pt x="0" y="58"/>
                  </a:cubicBezTo>
                  <a:cubicBezTo>
                    <a:pt x="0" y="31"/>
                    <a:pt x="0" y="31"/>
                    <a:pt x="0" y="31"/>
                  </a:cubicBezTo>
                  <a:cubicBezTo>
                    <a:pt x="9" y="28"/>
                    <a:pt x="31" y="8"/>
                    <a:pt x="34" y="0"/>
                  </a:cubicBezTo>
                  <a:lnTo>
                    <a:pt x="57" y="0"/>
                  </a:lnTo>
                  <a:close/>
                </a:path>
              </a:pathLst>
            </a:custGeom>
            <a:solidFill>
              <a:srgbClr val="72717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285" name="Freeform 55"/>
            <p:cNvSpPr>
              <a:spLocks noEditPoints="1" noChangeArrowheads="1"/>
            </p:cNvSpPr>
            <p:nvPr/>
          </p:nvSpPr>
          <p:spPr bwMode="auto">
            <a:xfrm>
              <a:off x="4583567" y="2951800"/>
              <a:ext cx="480831" cy="488881"/>
            </a:xfrm>
            <a:custGeom>
              <a:avLst/>
              <a:gdLst>
                <a:gd name="T0" fmla="*/ 525847784 w 220"/>
                <a:gd name="T1" fmla="*/ 0 h 220"/>
                <a:gd name="T2" fmla="*/ 1051697755 w 220"/>
                <a:gd name="T3" fmla="*/ 539825412 h 220"/>
                <a:gd name="T4" fmla="*/ 525847784 w 220"/>
                <a:gd name="T5" fmla="*/ 1079648608 h 220"/>
                <a:gd name="T6" fmla="*/ 0 w 220"/>
                <a:gd name="T7" fmla="*/ 539825412 h 220"/>
                <a:gd name="T8" fmla="*/ 525847784 w 220"/>
                <a:gd name="T9" fmla="*/ 0 h 220"/>
                <a:gd name="T10" fmla="*/ 946528636 w 220"/>
                <a:gd name="T11" fmla="*/ 539825412 h 220"/>
                <a:gd name="T12" fmla="*/ 525847784 w 220"/>
                <a:gd name="T13" fmla="*/ 103057337 h 220"/>
                <a:gd name="T14" fmla="*/ 100389600 w 220"/>
                <a:gd name="T15" fmla="*/ 539825412 h 220"/>
                <a:gd name="T16" fmla="*/ 525847784 w 220"/>
                <a:gd name="T17" fmla="*/ 976591271 h 220"/>
                <a:gd name="T18" fmla="*/ 946528636 w 220"/>
                <a:gd name="T19" fmla="*/ 539825412 h 2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220">
                  <a:moveTo>
                    <a:pt x="110" y="0"/>
                  </a:moveTo>
                  <a:cubicBezTo>
                    <a:pt x="170" y="0"/>
                    <a:pt x="220" y="49"/>
                    <a:pt x="220" y="110"/>
                  </a:cubicBezTo>
                  <a:cubicBezTo>
                    <a:pt x="220" y="171"/>
                    <a:pt x="170" y="220"/>
                    <a:pt x="110" y="220"/>
                  </a:cubicBezTo>
                  <a:cubicBezTo>
                    <a:pt x="49" y="220"/>
                    <a:pt x="0" y="171"/>
                    <a:pt x="0" y="110"/>
                  </a:cubicBezTo>
                  <a:cubicBezTo>
                    <a:pt x="0" y="49"/>
                    <a:pt x="49" y="0"/>
                    <a:pt x="110" y="0"/>
                  </a:cubicBezTo>
                  <a:close/>
                  <a:moveTo>
                    <a:pt x="198" y="110"/>
                  </a:moveTo>
                  <a:cubicBezTo>
                    <a:pt x="198" y="61"/>
                    <a:pt x="159" y="21"/>
                    <a:pt x="110" y="21"/>
                  </a:cubicBezTo>
                  <a:cubicBezTo>
                    <a:pt x="60" y="21"/>
                    <a:pt x="21" y="61"/>
                    <a:pt x="21" y="110"/>
                  </a:cubicBezTo>
                  <a:cubicBezTo>
                    <a:pt x="21" y="159"/>
                    <a:pt x="60" y="199"/>
                    <a:pt x="110" y="199"/>
                  </a:cubicBezTo>
                  <a:cubicBezTo>
                    <a:pt x="159" y="199"/>
                    <a:pt x="198" y="159"/>
                    <a:pt x="198" y="110"/>
                  </a:cubicBezTo>
                  <a:close/>
                </a:path>
              </a:pathLst>
            </a:custGeom>
            <a:solidFill>
              <a:srgbClr val="72717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286" name="Freeform 56"/>
            <p:cNvSpPr>
              <a:spLocks noChangeArrowheads="1"/>
            </p:cNvSpPr>
            <p:nvPr/>
          </p:nvSpPr>
          <p:spPr bwMode="auto">
            <a:xfrm>
              <a:off x="4733652" y="3257350"/>
              <a:ext cx="180660" cy="58333"/>
            </a:xfrm>
            <a:custGeom>
              <a:avLst/>
              <a:gdLst>
                <a:gd name="T0" fmla="*/ 394601815 w 83"/>
                <a:gd name="T1" fmla="*/ 0 h 26"/>
                <a:gd name="T2" fmla="*/ 394601815 w 83"/>
                <a:gd name="T3" fmla="*/ 132698179 h 26"/>
                <a:gd name="T4" fmla="*/ 0 w 83"/>
                <a:gd name="T5" fmla="*/ 132698179 h 26"/>
                <a:gd name="T6" fmla="*/ 38033095 w 83"/>
                <a:gd name="T7" fmla="*/ 0 h 26"/>
                <a:gd name="T8" fmla="*/ 190169838 w 83"/>
                <a:gd name="T9" fmla="*/ 0 h 26"/>
                <a:gd name="T10" fmla="*/ 232958433 w 83"/>
                <a:gd name="T11" fmla="*/ 0 h 26"/>
                <a:gd name="T12" fmla="*/ 394601815 w 83"/>
                <a:gd name="T13" fmla="*/ 0 h 2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3" h="26">
                  <a:moveTo>
                    <a:pt x="83" y="0"/>
                  </a:moveTo>
                  <a:cubicBezTo>
                    <a:pt x="83" y="26"/>
                    <a:pt x="83" y="26"/>
                    <a:pt x="83" y="26"/>
                  </a:cubicBezTo>
                  <a:cubicBezTo>
                    <a:pt x="0" y="26"/>
                    <a:pt x="0" y="26"/>
                    <a:pt x="0" y="26"/>
                  </a:cubicBezTo>
                  <a:cubicBezTo>
                    <a:pt x="1" y="17"/>
                    <a:pt x="4" y="8"/>
                    <a:pt x="8" y="0"/>
                  </a:cubicBezTo>
                  <a:cubicBezTo>
                    <a:pt x="40" y="0"/>
                    <a:pt x="40" y="0"/>
                    <a:pt x="40" y="0"/>
                  </a:cubicBezTo>
                  <a:cubicBezTo>
                    <a:pt x="49" y="0"/>
                    <a:pt x="49" y="0"/>
                    <a:pt x="49" y="0"/>
                  </a:cubicBezTo>
                  <a:lnTo>
                    <a:pt x="83" y="0"/>
                  </a:lnTo>
                  <a:close/>
                </a:path>
              </a:pathLst>
            </a:custGeom>
            <a:solidFill>
              <a:srgbClr val="72717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287" name="Freeform 57"/>
            <p:cNvSpPr>
              <a:spLocks noChangeArrowheads="1"/>
            </p:cNvSpPr>
            <p:nvPr/>
          </p:nvSpPr>
          <p:spPr bwMode="auto">
            <a:xfrm>
              <a:off x="4739211" y="3054577"/>
              <a:ext cx="175101" cy="188886"/>
            </a:xfrm>
            <a:custGeom>
              <a:avLst/>
              <a:gdLst>
                <a:gd name="T0" fmla="*/ 362115497 w 80"/>
                <a:gd name="T1" fmla="*/ 79032309 h 85"/>
                <a:gd name="T2" fmla="*/ 381173633 w 80"/>
                <a:gd name="T3" fmla="*/ 167943657 h 85"/>
                <a:gd name="T4" fmla="*/ 357350417 w 80"/>
                <a:gd name="T5" fmla="*/ 266734043 h 85"/>
                <a:gd name="T6" fmla="*/ 266822634 w 80"/>
                <a:gd name="T7" fmla="*/ 370465061 h 85"/>
                <a:gd name="T8" fmla="*/ 214411123 w 80"/>
                <a:gd name="T9" fmla="*/ 419860254 h 85"/>
                <a:gd name="T10" fmla="*/ 209646044 w 80"/>
                <a:gd name="T11" fmla="*/ 419860254 h 85"/>
                <a:gd name="T12" fmla="*/ 52411511 w 80"/>
                <a:gd name="T13" fmla="*/ 419860254 h 85"/>
                <a:gd name="T14" fmla="*/ 161999613 w 80"/>
                <a:gd name="T15" fmla="*/ 301311790 h 85"/>
                <a:gd name="T16" fmla="*/ 233469259 w 80"/>
                <a:gd name="T17" fmla="*/ 222279481 h 85"/>
                <a:gd name="T18" fmla="*/ 252527395 w 80"/>
                <a:gd name="T19" fmla="*/ 172884288 h 85"/>
                <a:gd name="T20" fmla="*/ 233469259 w 80"/>
                <a:gd name="T21" fmla="*/ 128427502 h 85"/>
                <a:gd name="T22" fmla="*/ 195350805 w 80"/>
                <a:gd name="T23" fmla="*/ 108669425 h 85"/>
                <a:gd name="T24" fmla="*/ 152469453 w 80"/>
                <a:gd name="T25" fmla="*/ 128427502 h 85"/>
                <a:gd name="T26" fmla="*/ 133411317 w 80"/>
                <a:gd name="T27" fmla="*/ 197580773 h 85"/>
                <a:gd name="T28" fmla="*/ 0 w 80"/>
                <a:gd name="T29" fmla="*/ 182763326 h 85"/>
                <a:gd name="T30" fmla="*/ 28588295 w 80"/>
                <a:gd name="T31" fmla="*/ 79032309 h 85"/>
                <a:gd name="T32" fmla="*/ 85764886 w 80"/>
                <a:gd name="T33" fmla="*/ 19758077 h 85"/>
                <a:gd name="T34" fmla="*/ 190587908 w 80"/>
                <a:gd name="T35" fmla="*/ 0 h 85"/>
                <a:gd name="T36" fmla="*/ 300173827 w 80"/>
                <a:gd name="T37" fmla="*/ 19758077 h 85"/>
                <a:gd name="T38" fmla="*/ 362115497 w 80"/>
                <a:gd name="T39" fmla="*/ 79032309 h 8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0" h="85">
                  <a:moveTo>
                    <a:pt x="76" y="16"/>
                  </a:moveTo>
                  <a:cubicBezTo>
                    <a:pt x="79" y="21"/>
                    <a:pt x="80" y="27"/>
                    <a:pt x="80" y="34"/>
                  </a:cubicBezTo>
                  <a:cubicBezTo>
                    <a:pt x="80" y="41"/>
                    <a:pt x="79" y="48"/>
                    <a:pt x="75" y="54"/>
                  </a:cubicBezTo>
                  <a:cubicBezTo>
                    <a:pt x="72" y="61"/>
                    <a:pt x="65" y="68"/>
                    <a:pt x="56" y="75"/>
                  </a:cubicBezTo>
                  <a:cubicBezTo>
                    <a:pt x="50" y="80"/>
                    <a:pt x="46" y="83"/>
                    <a:pt x="45" y="85"/>
                  </a:cubicBezTo>
                  <a:cubicBezTo>
                    <a:pt x="44" y="85"/>
                    <a:pt x="44" y="85"/>
                    <a:pt x="44" y="85"/>
                  </a:cubicBezTo>
                  <a:cubicBezTo>
                    <a:pt x="11" y="85"/>
                    <a:pt x="11" y="85"/>
                    <a:pt x="11" y="85"/>
                  </a:cubicBezTo>
                  <a:cubicBezTo>
                    <a:pt x="16" y="78"/>
                    <a:pt x="24" y="70"/>
                    <a:pt x="34" y="61"/>
                  </a:cubicBezTo>
                  <a:cubicBezTo>
                    <a:pt x="42" y="54"/>
                    <a:pt x="47" y="49"/>
                    <a:pt x="49" y="45"/>
                  </a:cubicBezTo>
                  <a:cubicBezTo>
                    <a:pt x="52" y="42"/>
                    <a:pt x="53" y="38"/>
                    <a:pt x="53" y="35"/>
                  </a:cubicBezTo>
                  <a:cubicBezTo>
                    <a:pt x="53" y="31"/>
                    <a:pt x="52" y="28"/>
                    <a:pt x="49" y="26"/>
                  </a:cubicBezTo>
                  <a:cubicBezTo>
                    <a:pt x="47" y="23"/>
                    <a:pt x="44" y="22"/>
                    <a:pt x="41" y="22"/>
                  </a:cubicBezTo>
                  <a:cubicBezTo>
                    <a:pt x="37" y="22"/>
                    <a:pt x="35" y="23"/>
                    <a:pt x="32" y="26"/>
                  </a:cubicBezTo>
                  <a:cubicBezTo>
                    <a:pt x="30" y="29"/>
                    <a:pt x="29" y="33"/>
                    <a:pt x="28" y="40"/>
                  </a:cubicBezTo>
                  <a:cubicBezTo>
                    <a:pt x="0" y="37"/>
                    <a:pt x="0" y="37"/>
                    <a:pt x="0" y="37"/>
                  </a:cubicBezTo>
                  <a:cubicBezTo>
                    <a:pt x="1" y="28"/>
                    <a:pt x="3" y="21"/>
                    <a:pt x="6" y="16"/>
                  </a:cubicBezTo>
                  <a:cubicBezTo>
                    <a:pt x="9" y="11"/>
                    <a:pt x="13" y="7"/>
                    <a:pt x="18" y="4"/>
                  </a:cubicBezTo>
                  <a:cubicBezTo>
                    <a:pt x="24" y="1"/>
                    <a:pt x="31" y="0"/>
                    <a:pt x="40" y="0"/>
                  </a:cubicBezTo>
                  <a:cubicBezTo>
                    <a:pt x="50" y="0"/>
                    <a:pt x="58" y="1"/>
                    <a:pt x="63" y="4"/>
                  </a:cubicBezTo>
                  <a:cubicBezTo>
                    <a:pt x="68" y="7"/>
                    <a:pt x="73" y="11"/>
                    <a:pt x="76" y="16"/>
                  </a:cubicBezTo>
                  <a:close/>
                </a:path>
              </a:pathLst>
            </a:custGeom>
            <a:solidFill>
              <a:srgbClr val="72717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288" name="Freeform 58"/>
            <p:cNvSpPr>
              <a:spLocks noEditPoints="1" noChangeArrowheads="1"/>
            </p:cNvSpPr>
            <p:nvPr/>
          </p:nvSpPr>
          <p:spPr bwMode="auto">
            <a:xfrm>
              <a:off x="5998264" y="2949023"/>
              <a:ext cx="478051" cy="486102"/>
            </a:xfrm>
            <a:custGeom>
              <a:avLst/>
              <a:gdLst>
                <a:gd name="T0" fmla="*/ 522384749 w 220"/>
                <a:gd name="T1" fmla="*/ 0 h 220"/>
                <a:gd name="T2" fmla="*/ 1044769498 w 220"/>
                <a:gd name="T3" fmla="*/ 536314369 h 220"/>
                <a:gd name="T4" fmla="*/ 522384749 w 220"/>
                <a:gd name="T5" fmla="*/ 1072628737 h 220"/>
                <a:gd name="T6" fmla="*/ 0 w 220"/>
                <a:gd name="T7" fmla="*/ 536314369 h 220"/>
                <a:gd name="T8" fmla="*/ 522384749 w 220"/>
                <a:gd name="T9" fmla="*/ 0 h 220"/>
                <a:gd name="T10" fmla="*/ 945042352 w 220"/>
                <a:gd name="T11" fmla="*/ 536314369 h 220"/>
                <a:gd name="T12" fmla="*/ 522384749 w 220"/>
                <a:gd name="T13" fmla="*/ 102388332 h 220"/>
                <a:gd name="T14" fmla="*/ 99727146 w 220"/>
                <a:gd name="T15" fmla="*/ 536314369 h 220"/>
                <a:gd name="T16" fmla="*/ 522384749 w 220"/>
                <a:gd name="T17" fmla="*/ 970240405 h 220"/>
                <a:gd name="T18" fmla="*/ 945042352 w 220"/>
                <a:gd name="T19" fmla="*/ 536314369 h 2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220">
                  <a:moveTo>
                    <a:pt x="110" y="0"/>
                  </a:moveTo>
                  <a:cubicBezTo>
                    <a:pt x="171" y="0"/>
                    <a:pt x="220" y="50"/>
                    <a:pt x="220" y="110"/>
                  </a:cubicBezTo>
                  <a:cubicBezTo>
                    <a:pt x="220" y="171"/>
                    <a:pt x="171" y="220"/>
                    <a:pt x="110" y="220"/>
                  </a:cubicBezTo>
                  <a:cubicBezTo>
                    <a:pt x="49" y="220"/>
                    <a:pt x="0" y="171"/>
                    <a:pt x="0" y="110"/>
                  </a:cubicBezTo>
                  <a:cubicBezTo>
                    <a:pt x="0" y="50"/>
                    <a:pt x="49" y="0"/>
                    <a:pt x="110" y="0"/>
                  </a:cubicBezTo>
                  <a:close/>
                  <a:moveTo>
                    <a:pt x="199" y="110"/>
                  </a:moveTo>
                  <a:cubicBezTo>
                    <a:pt x="199" y="61"/>
                    <a:pt x="159" y="21"/>
                    <a:pt x="110" y="21"/>
                  </a:cubicBezTo>
                  <a:cubicBezTo>
                    <a:pt x="61" y="21"/>
                    <a:pt x="21" y="61"/>
                    <a:pt x="21" y="110"/>
                  </a:cubicBezTo>
                  <a:cubicBezTo>
                    <a:pt x="21" y="159"/>
                    <a:pt x="61" y="199"/>
                    <a:pt x="110" y="199"/>
                  </a:cubicBezTo>
                  <a:cubicBezTo>
                    <a:pt x="159" y="199"/>
                    <a:pt x="199" y="159"/>
                    <a:pt x="199" y="110"/>
                  </a:cubicBezTo>
                  <a:close/>
                </a:path>
              </a:pathLst>
            </a:custGeom>
            <a:solidFill>
              <a:srgbClr val="72717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289" name="Freeform 59"/>
            <p:cNvSpPr>
              <a:spLocks noChangeArrowheads="1"/>
            </p:cNvSpPr>
            <p:nvPr/>
          </p:nvSpPr>
          <p:spPr bwMode="auto">
            <a:xfrm>
              <a:off x="6153909" y="3060132"/>
              <a:ext cx="180658" cy="263884"/>
            </a:xfrm>
            <a:custGeom>
              <a:avLst/>
              <a:gdLst>
                <a:gd name="T0" fmla="*/ 378082087 w 82"/>
                <a:gd name="T1" fmla="*/ 331901593 h 120"/>
                <a:gd name="T2" fmla="*/ 392439690 w 82"/>
                <a:gd name="T3" fmla="*/ 400234468 h 120"/>
                <a:gd name="T4" fmla="*/ 373295490 w 82"/>
                <a:gd name="T5" fmla="*/ 492970996 h 120"/>
                <a:gd name="T6" fmla="*/ 306294072 w 82"/>
                <a:gd name="T7" fmla="*/ 561303871 h 120"/>
                <a:gd name="T8" fmla="*/ 201006442 w 82"/>
                <a:gd name="T9" fmla="*/ 585707523 h 120"/>
                <a:gd name="T10" fmla="*/ 95716624 w 82"/>
                <a:gd name="T11" fmla="*/ 571064448 h 120"/>
                <a:gd name="T12" fmla="*/ 38286212 w 82"/>
                <a:gd name="T13" fmla="*/ 517374647 h 120"/>
                <a:gd name="T14" fmla="*/ 0 w 82"/>
                <a:gd name="T15" fmla="*/ 429518408 h 120"/>
                <a:gd name="T16" fmla="*/ 129218427 w 82"/>
                <a:gd name="T17" fmla="*/ 434398697 h 120"/>
                <a:gd name="T18" fmla="*/ 157933633 w 82"/>
                <a:gd name="T19" fmla="*/ 473447633 h 120"/>
                <a:gd name="T20" fmla="*/ 196219845 w 82"/>
                <a:gd name="T21" fmla="*/ 492970996 h 120"/>
                <a:gd name="T22" fmla="*/ 244079251 w 82"/>
                <a:gd name="T23" fmla="*/ 468565135 h 120"/>
                <a:gd name="T24" fmla="*/ 258436854 w 82"/>
                <a:gd name="T25" fmla="*/ 405114757 h 120"/>
                <a:gd name="T26" fmla="*/ 244079251 w 82"/>
                <a:gd name="T27" fmla="*/ 346544667 h 120"/>
                <a:gd name="T28" fmla="*/ 196219845 w 82"/>
                <a:gd name="T29" fmla="*/ 322138806 h 120"/>
                <a:gd name="T30" fmla="*/ 124431830 w 82"/>
                <a:gd name="T31" fmla="*/ 317258518 h 120"/>
                <a:gd name="T32" fmla="*/ 129218427 w 82"/>
                <a:gd name="T33" fmla="*/ 219639493 h 120"/>
                <a:gd name="T34" fmla="*/ 177075645 w 82"/>
                <a:gd name="T35" fmla="*/ 224521990 h 120"/>
                <a:gd name="T36" fmla="*/ 220148454 w 82"/>
                <a:gd name="T37" fmla="*/ 204998627 h 120"/>
                <a:gd name="T38" fmla="*/ 239292654 w 82"/>
                <a:gd name="T39" fmla="*/ 156189115 h 120"/>
                <a:gd name="T40" fmla="*/ 224935051 w 82"/>
                <a:gd name="T41" fmla="*/ 117142388 h 120"/>
                <a:gd name="T42" fmla="*/ 191433248 w 82"/>
                <a:gd name="T43" fmla="*/ 97619025 h 120"/>
                <a:gd name="T44" fmla="*/ 153147036 w 82"/>
                <a:gd name="T45" fmla="*/ 117142388 h 120"/>
                <a:gd name="T46" fmla="*/ 129218427 w 82"/>
                <a:gd name="T47" fmla="*/ 146426328 h 120"/>
                <a:gd name="T48" fmla="*/ 4786597 w 82"/>
                <a:gd name="T49" fmla="*/ 146426328 h 120"/>
                <a:gd name="T50" fmla="*/ 67001418 w 82"/>
                <a:gd name="T51" fmla="*/ 39046726 h 120"/>
                <a:gd name="T52" fmla="*/ 191433248 w 82"/>
                <a:gd name="T53" fmla="*/ 0 h 120"/>
                <a:gd name="T54" fmla="*/ 325438272 w 82"/>
                <a:gd name="T55" fmla="*/ 43927015 h 120"/>
                <a:gd name="T56" fmla="*/ 368511080 w 82"/>
                <a:gd name="T57" fmla="*/ 146426328 h 120"/>
                <a:gd name="T58" fmla="*/ 354153478 w 82"/>
                <a:gd name="T59" fmla="*/ 214759204 h 120"/>
                <a:gd name="T60" fmla="*/ 301507475 w 82"/>
                <a:gd name="T61" fmla="*/ 263568717 h 120"/>
                <a:gd name="T62" fmla="*/ 344580284 w 82"/>
                <a:gd name="T63" fmla="*/ 283092080 h 120"/>
                <a:gd name="T64" fmla="*/ 378082087 w 82"/>
                <a:gd name="T65" fmla="*/ 331901593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2" h="120">
                  <a:moveTo>
                    <a:pt x="79" y="68"/>
                  </a:moveTo>
                  <a:cubicBezTo>
                    <a:pt x="81" y="72"/>
                    <a:pt x="82" y="76"/>
                    <a:pt x="82" y="82"/>
                  </a:cubicBezTo>
                  <a:cubicBezTo>
                    <a:pt x="82" y="88"/>
                    <a:pt x="81" y="95"/>
                    <a:pt x="78" y="101"/>
                  </a:cubicBezTo>
                  <a:cubicBezTo>
                    <a:pt x="75" y="107"/>
                    <a:pt x="70" y="112"/>
                    <a:pt x="64" y="115"/>
                  </a:cubicBezTo>
                  <a:cubicBezTo>
                    <a:pt x="59" y="119"/>
                    <a:pt x="51" y="120"/>
                    <a:pt x="42" y="120"/>
                  </a:cubicBezTo>
                  <a:cubicBezTo>
                    <a:pt x="33" y="120"/>
                    <a:pt x="26" y="119"/>
                    <a:pt x="20" y="117"/>
                  </a:cubicBezTo>
                  <a:cubicBezTo>
                    <a:pt x="15" y="114"/>
                    <a:pt x="11" y="110"/>
                    <a:pt x="8" y="106"/>
                  </a:cubicBezTo>
                  <a:cubicBezTo>
                    <a:pt x="4" y="101"/>
                    <a:pt x="2" y="95"/>
                    <a:pt x="0" y="88"/>
                  </a:cubicBezTo>
                  <a:cubicBezTo>
                    <a:pt x="27" y="89"/>
                    <a:pt x="27" y="89"/>
                    <a:pt x="27" y="89"/>
                  </a:cubicBezTo>
                  <a:cubicBezTo>
                    <a:pt x="27" y="89"/>
                    <a:pt x="30" y="94"/>
                    <a:pt x="33" y="97"/>
                  </a:cubicBezTo>
                  <a:cubicBezTo>
                    <a:pt x="35" y="99"/>
                    <a:pt x="38" y="101"/>
                    <a:pt x="41" y="101"/>
                  </a:cubicBezTo>
                  <a:cubicBezTo>
                    <a:pt x="45" y="101"/>
                    <a:pt x="48" y="99"/>
                    <a:pt x="51" y="96"/>
                  </a:cubicBezTo>
                  <a:cubicBezTo>
                    <a:pt x="53" y="93"/>
                    <a:pt x="54" y="89"/>
                    <a:pt x="54" y="83"/>
                  </a:cubicBezTo>
                  <a:cubicBezTo>
                    <a:pt x="54" y="78"/>
                    <a:pt x="53" y="74"/>
                    <a:pt x="51" y="71"/>
                  </a:cubicBezTo>
                  <a:cubicBezTo>
                    <a:pt x="48" y="68"/>
                    <a:pt x="45" y="66"/>
                    <a:pt x="41" y="66"/>
                  </a:cubicBezTo>
                  <a:cubicBezTo>
                    <a:pt x="39" y="66"/>
                    <a:pt x="26" y="65"/>
                    <a:pt x="26" y="65"/>
                  </a:cubicBezTo>
                  <a:cubicBezTo>
                    <a:pt x="27" y="45"/>
                    <a:pt x="27" y="45"/>
                    <a:pt x="27" y="45"/>
                  </a:cubicBezTo>
                  <a:cubicBezTo>
                    <a:pt x="27" y="45"/>
                    <a:pt x="36" y="46"/>
                    <a:pt x="37" y="46"/>
                  </a:cubicBezTo>
                  <a:cubicBezTo>
                    <a:pt x="41" y="46"/>
                    <a:pt x="44" y="44"/>
                    <a:pt x="46" y="42"/>
                  </a:cubicBezTo>
                  <a:cubicBezTo>
                    <a:pt x="49" y="39"/>
                    <a:pt x="50" y="36"/>
                    <a:pt x="50" y="32"/>
                  </a:cubicBezTo>
                  <a:cubicBezTo>
                    <a:pt x="50" y="28"/>
                    <a:pt x="49" y="26"/>
                    <a:pt x="47" y="24"/>
                  </a:cubicBezTo>
                  <a:cubicBezTo>
                    <a:pt x="45" y="21"/>
                    <a:pt x="43" y="20"/>
                    <a:pt x="40" y="20"/>
                  </a:cubicBezTo>
                  <a:cubicBezTo>
                    <a:pt x="36" y="20"/>
                    <a:pt x="34" y="21"/>
                    <a:pt x="32" y="24"/>
                  </a:cubicBezTo>
                  <a:cubicBezTo>
                    <a:pt x="30" y="26"/>
                    <a:pt x="27" y="30"/>
                    <a:pt x="27" y="30"/>
                  </a:cubicBezTo>
                  <a:cubicBezTo>
                    <a:pt x="1" y="30"/>
                    <a:pt x="1" y="30"/>
                    <a:pt x="1" y="30"/>
                  </a:cubicBezTo>
                  <a:cubicBezTo>
                    <a:pt x="3" y="21"/>
                    <a:pt x="8" y="13"/>
                    <a:pt x="14" y="8"/>
                  </a:cubicBezTo>
                  <a:cubicBezTo>
                    <a:pt x="20" y="3"/>
                    <a:pt x="29" y="0"/>
                    <a:pt x="40" y="0"/>
                  </a:cubicBezTo>
                  <a:cubicBezTo>
                    <a:pt x="53" y="0"/>
                    <a:pt x="63" y="3"/>
                    <a:pt x="68" y="9"/>
                  </a:cubicBezTo>
                  <a:cubicBezTo>
                    <a:pt x="74" y="14"/>
                    <a:pt x="77" y="22"/>
                    <a:pt x="77" y="30"/>
                  </a:cubicBezTo>
                  <a:cubicBezTo>
                    <a:pt x="77" y="35"/>
                    <a:pt x="76" y="40"/>
                    <a:pt x="74" y="44"/>
                  </a:cubicBezTo>
                  <a:cubicBezTo>
                    <a:pt x="71" y="48"/>
                    <a:pt x="68" y="51"/>
                    <a:pt x="63" y="54"/>
                  </a:cubicBezTo>
                  <a:cubicBezTo>
                    <a:pt x="67" y="56"/>
                    <a:pt x="70" y="57"/>
                    <a:pt x="72" y="58"/>
                  </a:cubicBezTo>
                  <a:cubicBezTo>
                    <a:pt x="75" y="61"/>
                    <a:pt x="78" y="64"/>
                    <a:pt x="79" y="68"/>
                  </a:cubicBezTo>
                  <a:close/>
                </a:path>
              </a:pathLst>
            </a:custGeom>
            <a:solidFill>
              <a:srgbClr val="72717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290" name="Freeform 60"/>
            <p:cNvSpPr>
              <a:spLocks noEditPoints="1" noChangeArrowheads="1"/>
            </p:cNvSpPr>
            <p:nvPr/>
          </p:nvSpPr>
          <p:spPr bwMode="auto">
            <a:xfrm>
              <a:off x="7424077" y="2954578"/>
              <a:ext cx="478051" cy="486102"/>
            </a:xfrm>
            <a:custGeom>
              <a:avLst/>
              <a:gdLst>
                <a:gd name="T0" fmla="*/ 523679901 w 219"/>
                <a:gd name="T1" fmla="*/ 0 h 220"/>
                <a:gd name="T2" fmla="*/ 1042598878 w 219"/>
                <a:gd name="T3" fmla="*/ 536314369 h 220"/>
                <a:gd name="T4" fmla="*/ 523679901 w 219"/>
                <a:gd name="T5" fmla="*/ 1072628737 h 220"/>
                <a:gd name="T6" fmla="*/ 0 w 219"/>
                <a:gd name="T7" fmla="*/ 536314369 h 220"/>
                <a:gd name="T8" fmla="*/ 523679901 w 219"/>
                <a:gd name="T9" fmla="*/ 0 h 220"/>
                <a:gd name="T10" fmla="*/ 942623822 w 219"/>
                <a:gd name="T11" fmla="*/ 536314369 h 220"/>
                <a:gd name="T12" fmla="*/ 523679901 w 219"/>
                <a:gd name="T13" fmla="*/ 102388332 h 220"/>
                <a:gd name="T14" fmla="*/ 99975056 w 219"/>
                <a:gd name="T15" fmla="*/ 536314369 h 220"/>
                <a:gd name="T16" fmla="*/ 523679901 w 219"/>
                <a:gd name="T17" fmla="*/ 970240405 h 220"/>
                <a:gd name="T18" fmla="*/ 942623822 w 219"/>
                <a:gd name="T19" fmla="*/ 536314369 h 2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9" h="220">
                  <a:moveTo>
                    <a:pt x="110" y="0"/>
                  </a:moveTo>
                  <a:cubicBezTo>
                    <a:pt x="170" y="0"/>
                    <a:pt x="219" y="49"/>
                    <a:pt x="219" y="110"/>
                  </a:cubicBezTo>
                  <a:cubicBezTo>
                    <a:pt x="219" y="170"/>
                    <a:pt x="170" y="220"/>
                    <a:pt x="110" y="220"/>
                  </a:cubicBezTo>
                  <a:cubicBezTo>
                    <a:pt x="49" y="220"/>
                    <a:pt x="0" y="170"/>
                    <a:pt x="0" y="110"/>
                  </a:cubicBezTo>
                  <a:cubicBezTo>
                    <a:pt x="0" y="49"/>
                    <a:pt x="49" y="0"/>
                    <a:pt x="110" y="0"/>
                  </a:cubicBezTo>
                  <a:close/>
                  <a:moveTo>
                    <a:pt x="198" y="110"/>
                  </a:moveTo>
                  <a:cubicBezTo>
                    <a:pt x="198" y="61"/>
                    <a:pt x="159" y="21"/>
                    <a:pt x="110" y="21"/>
                  </a:cubicBezTo>
                  <a:cubicBezTo>
                    <a:pt x="60" y="21"/>
                    <a:pt x="21" y="61"/>
                    <a:pt x="21" y="110"/>
                  </a:cubicBezTo>
                  <a:cubicBezTo>
                    <a:pt x="21" y="159"/>
                    <a:pt x="60" y="199"/>
                    <a:pt x="110" y="199"/>
                  </a:cubicBezTo>
                  <a:cubicBezTo>
                    <a:pt x="159" y="199"/>
                    <a:pt x="198" y="159"/>
                    <a:pt x="198" y="110"/>
                  </a:cubicBezTo>
                  <a:close/>
                </a:path>
              </a:pathLst>
            </a:custGeom>
            <a:solidFill>
              <a:srgbClr val="72717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291" name="Freeform 61"/>
            <p:cNvSpPr>
              <a:spLocks noChangeArrowheads="1"/>
            </p:cNvSpPr>
            <p:nvPr/>
          </p:nvSpPr>
          <p:spPr bwMode="auto">
            <a:xfrm>
              <a:off x="7549150" y="3060132"/>
              <a:ext cx="188997" cy="258328"/>
            </a:xfrm>
            <a:custGeom>
              <a:avLst/>
              <a:gdLst>
                <a:gd name="T0" fmla="*/ 302418750 w 120"/>
                <a:gd name="T1" fmla="*/ 252018180 h 164"/>
                <a:gd name="T2" fmla="*/ 302418750 w 120"/>
                <a:gd name="T3" fmla="*/ 340223194 h 164"/>
                <a:gd name="T4" fmla="*/ 259576888 w 120"/>
                <a:gd name="T5" fmla="*/ 340223194 h 164"/>
                <a:gd name="T6" fmla="*/ 259576888 w 120"/>
                <a:gd name="T7" fmla="*/ 413308800 h 164"/>
                <a:gd name="T8" fmla="*/ 173891575 w 120"/>
                <a:gd name="T9" fmla="*/ 413308800 h 164"/>
                <a:gd name="T10" fmla="*/ 173891575 w 120"/>
                <a:gd name="T11" fmla="*/ 390626513 h 164"/>
                <a:gd name="T12" fmla="*/ 173891575 w 120"/>
                <a:gd name="T13" fmla="*/ 340223194 h 164"/>
                <a:gd name="T14" fmla="*/ 173891575 w 120"/>
                <a:gd name="T15" fmla="*/ 252018180 h 164"/>
                <a:gd name="T16" fmla="*/ 173891575 w 120"/>
                <a:gd name="T17" fmla="*/ 206655194 h 164"/>
                <a:gd name="T18" fmla="*/ 173891575 w 120"/>
                <a:gd name="T19" fmla="*/ 123488924 h 164"/>
                <a:gd name="T20" fmla="*/ 83165950 w 120"/>
                <a:gd name="T21" fmla="*/ 252018180 h 164"/>
                <a:gd name="T22" fmla="*/ 148690013 w 120"/>
                <a:gd name="T23" fmla="*/ 252018180 h 164"/>
                <a:gd name="T24" fmla="*/ 148690013 w 120"/>
                <a:gd name="T25" fmla="*/ 340223194 h 164"/>
                <a:gd name="T26" fmla="*/ 0 w 120"/>
                <a:gd name="T27" fmla="*/ 340223194 h 164"/>
                <a:gd name="T28" fmla="*/ 0 w 120"/>
                <a:gd name="T29" fmla="*/ 246977849 h 164"/>
                <a:gd name="T30" fmla="*/ 173891575 w 120"/>
                <a:gd name="T31" fmla="*/ 0 h 164"/>
                <a:gd name="T32" fmla="*/ 259576888 w 120"/>
                <a:gd name="T33" fmla="*/ 0 h 164"/>
                <a:gd name="T34" fmla="*/ 259576888 w 120"/>
                <a:gd name="T35" fmla="*/ 252018180 h 164"/>
                <a:gd name="T36" fmla="*/ 302418750 w 120"/>
                <a:gd name="T37" fmla="*/ 252018180 h 16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20" h="164">
                  <a:moveTo>
                    <a:pt x="120" y="100"/>
                  </a:moveTo>
                  <a:lnTo>
                    <a:pt x="120" y="135"/>
                  </a:lnTo>
                  <a:lnTo>
                    <a:pt x="103" y="135"/>
                  </a:lnTo>
                  <a:lnTo>
                    <a:pt x="103" y="164"/>
                  </a:lnTo>
                  <a:lnTo>
                    <a:pt x="69" y="164"/>
                  </a:lnTo>
                  <a:lnTo>
                    <a:pt x="69" y="155"/>
                  </a:lnTo>
                  <a:lnTo>
                    <a:pt x="69" y="135"/>
                  </a:lnTo>
                  <a:lnTo>
                    <a:pt x="69" y="100"/>
                  </a:lnTo>
                  <a:lnTo>
                    <a:pt x="69" y="82"/>
                  </a:lnTo>
                  <a:lnTo>
                    <a:pt x="69" y="49"/>
                  </a:lnTo>
                  <a:lnTo>
                    <a:pt x="33" y="100"/>
                  </a:lnTo>
                  <a:lnTo>
                    <a:pt x="59" y="100"/>
                  </a:lnTo>
                  <a:lnTo>
                    <a:pt x="59" y="135"/>
                  </a:lnTo>
                  <a:lnTo>
                    <a:pt x="0" y="135"/>
                  </a:lnTo>
                  <a:lnTo>
                    <a:pt x="0" y="98"/>
                  </a:lnTo>
                  <a:lnTo>
                    <a:pt x="69" y="0"/>
                  </a:lnTo>
                  <a:lnTo>
                    <a:pt x="103" y="0"/>
                  </a:lnTo>
                  <a:lnTo>
                    <a:pt x="103" y="100"/>
                  </a:lnTo>
                  <a:lnTo>
                    <a:pt x="120" y="100"/>
                  </a:lnTo>
                  <a:close/>
                </a:path>
              </a:pathLst>
            </a:custGeom>
            <a:solidFill>
              <a:srgbClr val="72717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292" name="Freeform 62"/>
            <p:cNvSpPr>
              <a:spLocks noEditPoints="1" noChangeArrowheads="1"/>
            </p:cNvSpPr>
            <p:nvPr/>
          </p:nvSpPr>
          <p:spPr bwMode="auto">
            <a:xfrm>
              <a:off x="8835994" y="2954578"/>
              <a:ext cx="480831" cy="486102"/>
            </a:xfrm>
            <a:custGeom>
              <a:avLst/>
              <a:gdLst>
                <a:gd name="T0" fmla="*/ 525847784 w 220"/>
                <a:gd name="T1" fmla="*/ 0 h 220"/>
                <a:gd name="T2" fmla="*/ 1051697755 w 220"/>
                <a:gd name="T3" fmla="*/ 536314369 h 220"/>
                <a:gd name="T4" fmla="*/ 525847784 w 220"/>
                <a:gd name="T5" fmla="*/ 1072628737 h 220"/>
                <a:gd name="T6" fmla="*/ 0 w 220"/>
                <a:gd name="T7" fmla="*/ 536314369 h 220"/>
                <a:gd name="T8" fmla="*/ 525847784 w 220"/>
                <a:gd name="T9" fmla="*/ 0 h 220"/>
                <a:gd name="T10" fmla="*/ 951308156 w 220"/>
                <a:gd name="T11" fmla="*/ 536314369 h 220"/>
                <a:gd name="T12" fmla="*/ 525847784 w 220"/>
                <a:gd name="T13" fmla="*/ 102388332 h 220"/>
                <a:gd name="T14" fmla="*/ 100389600 w 220"/>
                <a:gd name="T15" fmla="*/ 536314369 h 220"/>
                <a:gd name="T16" fmla="*/ 525847784 w 220"/>
                <a:gd name="T17" fmla="*/ 970240405 h 220"/>
                <a:gd name="T18" fmla="*/ 951308156 w 220"/>
                <a:gd name="T19" fmla="*/ 536314369 h 2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220">
                  <a:moveTo>
                    <a:pt x="110" y="0"/>
                  </a:moveTo>
                  <a:cubicBezTo>
                    <a:pt x="171" y="0"/>
                    <a:pt x="220" y="49"/>
                    <a:pt x="220" y="110"/>
                  </a:cubicBezTo>
                  <a:cubicBezTo>
                    <a:pt x="220" y="171"/>
                    <a:pt x="171" y="220"/>
                    <a:pt x="110" y="220"/>
                  </a:cubicBezTo>
                  <a:cubicBezTo>
                    <a:pt x="49" y="220"/>
                    <a:pt x="0" y="171"/>
                    <a:pt x="0" y="110"/>
                  </a:cubicBezTo>
                  <a:cubicBezTo>
                    <a:pt x="0" y="49"/>
                    <a:pt x="49" y="0"/>
                    <a:pt x="110" y="0"/>
                  </a:cubicBezTo>
                  <a:close/>
                  <a:moveTo>
                    <a:pt x="199" y="110"/>
                  </a:moveTo>
                  <a:cubicBezTo>
                    <a:pt x="199" y="61"/>
                    <a:pt x="159" y="21"/>
                    <a:pt x="110" y="21"/>
                  </a:cubicBezTo>
                  <a:cubicBezTo>
                    <a:pt x="61" y="21"/>
                    <a:pt x="21" y="61"/>
                    <a:pt x="21" y="110"/>
                  </a:cubicBezTo>
                  <a:cubicBezTo>
                    <a:pt x="21" y="159"/>
                    <a:pt x="61" y="199"/>
                    <a:pt x="110" y="199"/>
                  </a:cubicBezTo>
                  <a:cubicBezTo>
                    <a:pt x="159" y="199"/>
                    <a:pt x="199" y="159"/>
                    <a:pt x="199" y="110"/>
                  </a:cubicBezTo>
                  <a:close/>
                </a:path>
              </a:pathLst>
            </a:custGeom>
            <a:solidFill>
              <a:srgbClr val="72717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293" name="Freeform 63"/>
            <p:cNvSpPr>
              <a:spLocks noChangeArrowheads="1"/>
            </p:cNvSpPr>
            <p:nvPr/>
          </p:nvSpPr>
          <p:spPr bwMode="auto">
            <a:xfrm>
              <a:off x="8983302" y="3140686"/>
              <a:ext cx="208451" cy="186109"/>
            </a:xfrm>
            <a:custGeom>
              <a:avLst/>
              <a:gdLst>
                <a:gd name="T0" fmla="*/ 404996848 w 96"/>
                <a:gd name="T1" fmla="*/ 78228866 h 84"/>
                <a:gd name="T2" fmla="*/ 457408359 w 96"/>
                <a:gd name="T3" fmla="*/ 205348837 h 84"/>
                <a:gd name="T4" fmla="*/ 428820064 w 96"/>
                <a:gd name="T5" fmla="*/ 308024361 h 84"/>
                <a:gd name="T6" fmla="*/ 352585338 w 96"/>
                <a:gd name="T7" fmla="*/ 386251016 h 84"/>
                <a:gd name="T8" fmla="*/ 233469259 w 96"/>
                <a:gd name="T9" fmla="*/ 410697674 h 84"/>
                <a:gd name="T10" fmla="*/ 138176397 w 96"/>
                <a:gd name="T11" fmla="*/ 400919895 h 84"/>
                <a:gd name="T12" fmla="*/ 71469647 w 96"/>
                <a:gd name="T13" fmla="*/ 371584347 h 84"/>
                <a:gd name="T14" fmla="*/ 28588295 w 96"/>
                <a:gd name="T15" fmla="*/ 322691030 h 84"/>
                <a:gd name="T16" fmla="*/ 0 w 96"/>
                <a:gd name="T17" fmla="*/ 254242154 h 84"/>
                <a:gd name="T18" fmla="*/ 152469453 w 96"/>
                <a:gd name="T19" fmla="*/ 259131044 h 84"/>
                <a:gd name="T20" fmla="*/ 181057748 w 96"/>
                <a:gd name="T21" fmla="*/ 298244371 h 84"/>
                <a:gd name="T22" fmla="*/ 228704180 w 96"/>
                <a:gd name="T23" fmla="*/ 317802140 h 84"/>
                <a:gd name="T24" fmla="*/ 281115691 w 96"/>
                <a:gd name="T25" fmla="*/ 293355482 h 84"/>
                <a:gd name="T26" fmla="*/ 304938906 w 96"/>
                <a:gd name="T27" fmla="*/ 220017717 h 84"/>
                <a:gd name="T28" fmla="*/ 281115691 w 96"/>
                <a:gd name="T29" fmla="*/ 146677741 h 84"/>
                <a:gd name="T30" fmla="*/ 228704180 w 96"/>
                <a:gd name="T31" fmla="*/ 122231082 h 84"/>
                <a:gd name="T32" fmla="*/ 185822828 w 96"/>
                <a:gd name="T33" fmla="*/ 132008861 h 84"/>
                <a:gd name="T34" fmla="*/ 152469453 w 96"/>
                <a:gd name="T35" fmla="*/ 141788851 h 84"/>
                <a:gd name="T36" fmla="*/ 19058136 w 96"/>
                <a:gd name="T37" fmla="*/ 141788851 h 84"/>
                <a:gd name="T38" fmla="*/ 42881352 w 96"/>
                <a:gd name="T39" fmla="*/ 0 h 84"/>
                <a:gd name="T40" fmla="*/ 181057748 w 96"/>
                <a:gd name="T41" fmla="*/ 0 h 84"/>
                <a:gd name="T42" fmla="*/ 171527589 w 96"/>
                <a:gd name="T43" fmla="*/ 48893317 h 84"/>
                <a:gd name="T44" fmla="*/ 223939100 w 96"/>
                <a:gd name="T45" fmla="*/ 29335548 h 84"/>
                <a:gd name="T46" fmla="*/ 271585531 w 96"/>
                <a:gd name="T47" fmla="*/ 24446659 h 84"/>
                <a:gd name="T48" fmla="*/ 404996848 w 96"/>
                <a:gd name="T49" fmla="*/ 78228866 h 8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96" h="84">
                  <a:moveTo>
                    <a:pt x="85" y="16"/>
                  </a:moveTo>
                  <a:cubicBezTo>
                    <a:pt x="92" y="22"/>
                    <a:pt x="96" y="31"/>
                    <a:pt x="96" y="42"/>
                  </a:cubicBezTo>
                  <a:cubicBezTo>
                    <a:pt x="96" y="49"/>
                    <a:pt x="94" y="56"/>
                    <a:pt x="90" y="63"/>
                  </a:cubicBezTo>
                  <a:cubicBezTo>
                    <a:pt x="86" y="70"/>
                    <a:pt x="81" y="75"/>
                    <a:pt x="74" y="79"/>
                  </a:cubicBezTo>
                  <a:cubicBezTo>
                    <a:pt x="68" y="82"/>
                    <a:pt x="59" y="84"/>
                    <a:pt x="49" y="84"/>
                  </a:cubicBezTo>
                  <a:cubicBezTo>
                    <a:pt x="41" y="84"/>
                    <a:pt x="34" y="84"/>
                    <a:pt x="29" y="82"/>
                  </a:cubicBezTo>
                  <a:cubicBezTo>
                    <a:pt x="24" y="81"/>
                    <a:pt x="19" y="78"/>
                    <a:pt x="15" y="76"/>
                  </a:cubicBezTo>
                  <a:cubicBezTo>
                    <a:pt x="11" y="73"/>
                    <a:pt x="8" y="70"/>
                    <a:pt x="6" y="66"/>
                  </a:cubicBezTo>
                  <a:cubicBezTo>
                    <a:pt x="4" y="62"/>
                    <a:pt x="2" y="58"/>
                    <a:pt x="0" y="52"/>
                  </a:cubicBezTo>
                  <a:cubicBezTo>
                    <a:pt x="32" y="53"/>
                    <a:pt x="32" y="53"/>
                    <a:pt x="32" y="53"/>
                  </a:cubicBezTo>
                  <a:cubicBezTo>
                    <a:pt x="32" y="53"/>
                    <a:pt x="35" y="58"/>
                    <a:pt x="38" y="61"/>
                  </a:cubicBezTo>
                  <a:cubicBezTo>
                    <a:pt x="41" y="63"/>
                    <a:pt x="44" y="65"/>
                    <a:pt x="48" y="65"/>
                  </a:cubicBezTo>
                  <a:cubicBezTo>
                    <a:pt x="53" y="65"/>
                    <a:pt x="56" y="63"/>
                    <a:pt x="59" y="60"/>
                  </a:cubicBezTo>
                  <a:cubicBezTo>
                    <a:pt x="62" y="56"/>
                    <a:pt x="64" y="51"/>
                    <a:pt x="64" y="45"/>
                  </a:cubicBezTo>
                  <a:cubicBezTo>
                    <a:pt x="64" y="38"/>
                    <a:pt x="62" y="33"/>
                    <a:pt x="59" y="30"/>
                  </a:cubicBezTo>
                  <a:cubicBezTo>
                    <a:pt x="56" y="26"/>
                    <a:pt x="52" y="25"/>
                    <a:pt x="48" y="25"/>
                  </a:cubicBezTo>
                  <a:cubicBezTo>
                    <a:pt x="44" y="25"/>
                    <a:pt x="41" y="26"/>
                    <a:pt x="39" y="27"/>
                  </a:cubicBezTo>
                  <a:cubicBezTo>
                    <a:pt x="36" y="28"/>
                    <a:pt x="32" y="29"/>
                    <a:pt x="32" y="29"/>
                  </a:cubicBezTo>
                  <a:cubicBezTo>
                    <a:pt x="4" y="29"/>
                    <a:pt x="4" y="29"/>
                    <a:pt x="4" y="29"/>
                  </a:cubicBezTo>
                  <a:cubicBezTo>
                    <a:pt x="9" y="0"/>
                    <a:pt x="9" y="0"/>
                    <a:pt x="9" y="0"/>
                  </a:cubicBezTo>
                  <a:cubicBezTo>
                    <a:pt x="38" y="0"/>
                    <a:pt x="38" y="0"/>
                    <a:pt x="38" y="0"/>
                  </a:cubicBezTo>
                  <a:cubicBezTo>
                    <a:pt x="36" y="10"/>
                    <a:pt x="36" y="10"/>
                    <a:pt x="36" y="10"/>
                  </a:cubicBezTo>
                  <a:cubicBezTo>
                    <a:pt x="40" y="8"/>
                    <a:pt x="43" y="7"/>
                    <a:pt x="47" y="6"/>
                  </a:cubicBezTo>
                  <a:cubicBezTo>
                    <a:pt x="50" y="6"/>
                    <a:pt x="54" y="5"/>
                    <a:pt x="57" y="5"/>
                  </a:cubicBezTo>
                  <a:cubicBezTo>
                    <a:pt x="68" y="5"/>
                    <a:pt x="78" y="9"/>
                    <a:pt x="85" y="16"/>
                  </a:cubicBezTo>
                  <a:close/>
                </a:path>
              </a:pathLst>
            </a:custGeom>
            <a:solidFill>
              <a:srgbClr val="72717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294" name="Freeform 64"/>
            <p:cNvSpPr>
              <a:spLocks noChangeArrowheads="1"/>
            </p:cNvSpPr>
            <p:nvPr/>
          </p:nvSpPr>
          <p:spPr bwMode="auto">
            <a:xfrm>
              <a:off x="9005537" y="3068465"/>
              <a:ext cx="172321" cy="58333"/>
            </a:xfrm>
            <a:custGeom>
              <a:avLst/>
              <a:gdLst>
                <a:gd name="T0" fmla="*/ 277217188 w 110"/>
                <a:gd name="T1" fmla="*/ 0 h 36"/>
                <a:gd name="T2" fmla="*/ 277217188 w 110"/>
                <a:gd name="T3" fmla="*/ 90725625 h 36"/>
                <a:gd name="T4" fmla="*/ 191531875 w 110"/>
                <a:gd name="T5" fmla="*/ 90725625 h 36"/>
                <a:gd name="T6" fmla="*/ 100806250 w 110"/>
                <a:gd name="T7" fmla="*/ 90725625 h 36"/>
                <a:gd name="T8" fmla="*/ 0 w 110"/>
                <a:gd name="T9" fmla="*/ 90725625 h 36"/>
                <a:gd name="T10" fmla="*/ 15120938 w 110"/>
                <a:gd name="T11" fmla="*/ 0 h 36"/>
                <a:gd name="T12" fmla="*/ 277217188 w 110"/>
                <a:gd name="T13" fmla="*/ 0 h 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0" h="36">
                  <a:moveTo>
                    <a:pt x="110" y="0"/>
                  </a:moveTo>
                  <a:lnTo>
                    <a:pt x="110" y="36"/>
                  </a:lnTo>
                  <a:lnTo>
                    <a:pt x="76" y="36"/>
                  </a:lnTo>
                  <a:lnTo>
                    <a:pt x="40" y="36"/>
                  </a:lnTo>
                  <a:lnTo>
                    <a:pt x="0" y="36"/>
                  </a:lnTo>
                  <a:lnTo>
                    <a:pt x="6" y="0"/>
                  </a:lnTo>
                  <a:lnTo>
                    <a:pt x="110" y="0"/>
                  </a:lnTo>
                  <a:close/>
                </a:path>
              </a:pathLst>
            </a:custGeom>
            <a:solidFill>
              <a:srgbClr val="72717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18" name="Oval 46"/>
            <p:cNvSpPr>
              <a:spLocks noChangeArrowheads="1"/>
            </p:cNvSpPr>
            <p:nvPr/>
          </p:nvSpPr>
          <p:spPr bwMode="auto">
            <a:xfrm>
              <a:off x="4019551" y="4424363"/>
              <a:ext cx="1344613" cy="236537"/>
            </a:xfrm>
            <a:prstGeom prst="ellipse">
              <a:avLst/>
            </a:prstGeom>
            <a:gradFill flip="none" rotWithShape="1">
              <a:gsLst>
                <a:gs pos="100000">
                  <a:schemeClr val="bg1">
                    <a:alpha val="80000"/>
                  </a:schemeClr>
                </a:gs>
                <a:gs pos="0">
                  <a:srgbClr val="A5A6A6">
                    <a:alpha val="80000"/>
                  </a:srgbClr>
                </a:gs>
              </a:gsLst>
              <a:path path="circle">
                <a:fillToRect l="50000" t="50000" r="50000" b="50000"/>
              </a:path>
              <a:tileRect/>
            </a:gradFill>
            <a:ln>
              <a:noFill/>
            </a:ln>
            <a:effectLst>
              <a:softEdge rad="63500"/>
            </a:effectLst>
          </p:spPr>
          <p:txBody>
            <a:bodyPr/>
            <a:lstStyle/>
            <a:p>
              <a:pPr eaLnBrk="1" fontAlgn="auto" hangingPunct="1">
                <a:buFont typeface="Arial" panose="020B0604020202020204" pitchFamily="34" charset="0"/>
                <a:buNone/>
                <a:defRPr/>
              </a:pPr>
              <a:endParaRPr lang="zh-CN" altLang="en-US" sz="1350" noProof="1">
                <a:solidFill>
                  <a:prstClr val="black"/>
                </a:solidFill>
                <a:latin typeface="Calibri" panose="020F0502020204030204" pitchFamily="34" charset="0"/>
              </a:endParaRPr>
            </a:p>
          </p:txBody>
        </p:sp>
        <p:sp>
          <p:nvSpPr>
            <p:cNvPr id="19" name="Oval 47"/>
            <p:cNvSpPr>
              <a:spLocks noChangeArrowheads="1"/>
            </p:cNvSpPr>
            <p:nvPr/>
          </p:nvSpPr>
          <p:spPr bwMode="auto">
            <a:xfrm>
              <a:off x="5438776" y="4424363"/>
              <a:ext cx="1343025" cy="236537"/>
            </a:xfrm>
            <a:prstGeom prst="ellipse">
              <a:avLst/>
            </a:prstGeom>
            <a:gradFill flip="none" rotWithShape="1">
              <a:gsLst>
                <a:gs pos="100000">
                  <a:schemeClr val="bg1">
                    <a:alpha val="80000"/>
                  </a:schemeClr>
                </a:gs>
                <a:gs pos="0">
                  <a:srgbClr val="A5A6A6">
                    <a:alpha val="80000"/>
                  </a:srgbClr>
                </a:gs>
              </a:gsLst>
              <a:path path="circle">
                <a:fillToRect l="50000" t="50000" r="50000" b="50000"/>
              </a:path>
              <a:tileRect/>
            </a:gradFill>
            <a:ln>
              <a:noFill/>
            </a:ln>
            <a:effectLst>
              <a:softEdge rad="63500"/>
            </a:effectLst>
          </p:spPr>
          <p:txBody>
            <a:bodyPr/>
            <a:lstStyle/>
            <a:p>
              <a:pPr eaLnBrk="1" fontAlgn="auto" hangingPunct="1">
                <a:buFont typeface="Arial" panose="020B0604020202020204" pitchFamily="34" charset="0"/>
                <a:buNone/>
                <a:defRPr/>
              </a:pPr>
              <a:endParaRPr lang="zh-CN" altLang="en-US" sz="1350" noProof="1">
                <a:solidFill>
                  <a:prstClr val="black"/>
                </a:solidFill>
                <a:latin typeface="Calibri" panose="020F0502020204030204" pitchFamily="34" charset="0"/>
              </a:endParaRPr>
            </a:p>
          </p:txBody>
        </p:sp>
        <p:sp>
          <p:nvSpPr>
            <p:cNvPr id="20" name="Oval 48"/>
            <p:cNvSpPr>
              <a:spLocks noChangeArrowheads="1"/>
            </p:cNvSpPr>
            <p:nvPr/>
          </p:nvSpPr>
          <p:spPr bwMode="auto">
            <a:xfrm>
              <a:off x="6832601" y="4429125"/>
              <a:ext cx="1344613" cy="236537"/>
            </a:xfrm>
            <a:prstGeom prst="ellipse">
              <a:avLst/>
            </a:prstGeom>
            <a:gradFill flip="none" rotWithShape="1">
              <a:gsLst>
                <a:gs pos="100000">
                  <a:schemeClr val="bg1">
                    <a:alpha val="80000"/>
                  </a:schemeClr>
                </a:gs>
                <a:gs pos="0">
                  <a:srgbClr val="A5A6A6">
                    <a:alpha val="80000"/>
                  </a:srgbClr>
                </a:gs>
              </a:gsLst>
              <a:path path="circle">
                <a:fillToRect l="50000" t="50000" r="50000" b="50000"/>
              </a:path>
              <a:tileRect/>
            </a:gradFill>
            <a:ln>
              <a:noFill/>
            </a:ln>
            <a:effectLst>
              <a:softEdge rad="63500"/>
            </a:effectLst>
          </p:spPr>
          <p:txBody>
            <a:bodyPr/>
            <a:lstStyle/>
            <a:p>
              <a:pPr eaLnBrk="1" fontAlgn="auto" hangingPunct="1">
                <a:buFont typeface="Arial" panose="020B0604020202020204" pitchFamily="34" charset="0"/>
                <a:buNone/>
                <a:defRPr/>
              </a:pPr>
              <a:endParaRPr lang="zh-CN" altLang="en-US" sz="1350" noProof="1">
                <a:solidFill>
                  <a:prstClr val="black"/>
                </a:solidFill>
                <a:latin typeface="Calibri" panose="020F0502020204030204" pitchFamily="34" charset="0"/>
              </a:endParaRPr>
            </a:p>
          </p:txBody>
        </p:sp>
        <p:sp>
          <p:nvSpPr>
            <p:cNvPr id="21" name="Oval 49"/>
            <p:cNvSpPr>
              <a:spLocks noChangeArrowheads="1"/>
            </p:cNvSpPr>
            <p:nvPr/>
          </p:nvSpPr>
          <p:spPr bwMode="auto">
            <a:xfrm>
              <a:off x="8266113" y="4424363"/>
              <a:ext cx="1344613" cy="236537"/>
            </a:xfrm>
            <a:prstGeom prst="ellipse">
              <a:avLst/>
            </a:prstGeom>
            <a:gradFill flip="none" rotWithShape="1">
              <a:gsLst>
                <a:gs pos="100000">
                  <a:schemeClr val="bg1">
                    <a:alpha val="80000"/>
                  </a:schemeClr>
                </a:gs>
                <a:gs pos="0">
                  <a:srgbClr val="A5A6A6">
                    <a:alpha val="80000"/>
                  </a:srgbClr>
                </a:gs>
              </a:gsLst>
              <a:path path="circle">
                <a:fillToRect l="50000" t="50000" r="50000" b="50000"/>
              </a:path>
              <a:tileRect/>
            </a:gradFill>
            <a:ln>
              <a:noFill/>
            </a:ln>
            <a:effectLst>
              <a:softEdge rad="63500"/>
            </a:effectLst>
          </p:spPr>
          <p:txBody>
            <a:bodyPr/>
            <a:lstStyle/>
            <a:p>
              <a:pPr eaLnBrk="1" fontAlgn="auto" hangingPunct="1">
                <a:buFont typeface="Arial" panose="020B0604020202020204" pitchFamily="34" charset="0"/>
                <a:buNone/>
                <a:defRPr/>
              </a:pPr>
              <a:endParaRPr lang="zh-CN" altLang="en-US" sz="1350" noProof="1">
                <a:solidFill>
                  <a:prstClr val="black"/>
                </a:solidFill>
                <a:latin typeface="Calibri" panose="020F0502020204030204" pitchFamily="34" charset="0"/>
              </a:endParaRPr>
            </a:p>
          </p:txBody>
        </p:sp>
        <p:sp>
          <p:nvSpPr>
            <p:cNvPr id="22" name="Oval 45"/>
            <p:cNvSpPr>
              <a:spLocks noChangeArrowheads="1"/>
            </p:cNvSpPr>
            <p:nvPr/>
          </p:nvSpPr>
          <p:spPr bwMode="auto">
            <a:xfrm>
              <a:off x="2606676" y="4429125"/>
              <a:ext cx="1341438" cy="236537"/>
            </a:xfrm>
            <a:prstGeom prst="ellipse">
              <a:avLst/>
            </a:prstGeom>
            <a:gradFill flip="none" rotWithShape="1">
              <a:gsLst>
                <a:gs pos="100000">
                  <a:schemeClr val="bg1">
                    <a:alpha val="80000"/>
                  </a:schemeClr>
                </a:gs>
                <a:gs pos="0">
                  <a:srgbClr val="A5A6A6">
                    <a:alpha val="80000"/>
                  </a:srgbClr>
                </a:gs>
              </a:gsLst>
              <a:path path="circle">
                <a:fillToRect l="50000" t="50000" r="50000" b="50000"/>
              </a:path>
              <a:tileRect/>
            </a:gradFill>
            <a:ln>
              <a:noFill/>
            </a:ln>
            <a:effectLst>
              <a:softEdge rad="63500"/>
            </a:effectLst>
          </p:spPr>
          <p:txBody>
            <a:bodyPr/>
            <a:lstStyle/>
            <a:p>
              <a:pPr eaLnBrk="1" fontAlgn="auto" hangingPunct="1">
                <a:buFont typeface="Arial" panose="020B0604020202020204" pitchFamily="34" charset="0"/>
                <a:buNone/>
                <a:defRPr/>
              </a:pPr>
              <a:endParaRPr lang="zh-CN" altLang="en-US" sz="1350" noProof="1">
                <a:solidFill>
                  <a:prstClr val="black"/>
                </a:solidFill>
                <a:latin typeface="Calibri" panose="020F0502020204030204" pitchFamily="34" charset="0"/>
              </a:endParaRPr>
            </a:p>
          </p:txBody>
        </p:sp>
        <p:sp>
          <p:nvSpPr>
            <p:cNvPr id="54310" name="Freeform 24"/>
            <p:cNvSpPr>
              <a:spLocks noChangeArrowheads="1"/>
            </p:cNvSpPr>
            <p:nvPr/>
          </p:nvSpPr>
          <p:spPr bwMode="auto">
            <a:xfrm>
              <a:off x="8243991" y="1846262"/>
              <a:ext cx="817133" cy="1144426"/>
            </a:xfrm>
            <a:custGeom>
              <a:avLst/>
              <a:gdLst>
                <a:gd name="T0" fmla="*/ 168851263 w 514"/>
                <a:gd name="T1" fmla="*/ 1131551444 h 721"/>
                <a:gd name="T2" fmla="*/ 851812813 w 514"/>
                <a:gd name="T3" fmla="*/ 1817034244 h 721"/>
                <a:gd name="T4" fmla="*/ 0 w 514"/>
                <a:gd name="T5" fmla="*/ 962700108 h 721"/>
                <a:gd name="T6" fmla="*/ 7561263 w 514"/>
                <a:gd name="T7" fmla="*/ 955140430 h 721"/>
                <a:gd name="T8" fmla="*/ 947578750 w 514"/>
                <a:gd name="T9" fmla="*/ 0 h 721"/>
                <a:gd name="T10" fmla="*/ 1295360313 w 514"/>
                <a:gd name="T11" fmla="*/ 0 h 721"/>
                <a:gd name="T12" fmla="*/ 168851263 w 514"/>
                <a:gd name="T13" fmla="*/ 1131551444 h 7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14" h="721">
                  <a:moveTo>
                    <a:pt x="67" y="449"/>
                  </a:moveTo>
                  <a:lnTo>
                    <a:pt x="338" y="721"/>
                  </a:lnTo>
                  <a:lnTo>
                    <a:pt x="0" y="382"/>
                  </a:lnTo>
                  <a:lnTo>
                    <a:pt x="3" y="379"/>
                  </a:lnTo>
                  <a:lnTo>
                    <a:pt x="376" y="0"/>
                  </a:lnTo>
                  <a:lnTo>
                    <a:pt x="514" y="0"/>
                  </a:lnTo>
                  <a:lnTo>
                    <a:pt x="67" y="449"/>
                  </a:lnTo>
                  <a:close/>
                </a:path>
              </a:pathLst>
            </a:custGeom>
            <a:gradFill rotWithShape="1">
              <a:gsLst>
                <a:gs pos="0">
                  <a:srgbClr val="CC4023"/>
                </a:gs>
                <a:gs pos="72000">
                  <a:srgbClr val="6A3906"/>
                </a:gs>
                <a:gs pos="100000">
                  <a:srgbClr val="00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11" name="Freeform 25"/>
            <p:cNvSpPr>
              <a:spLocks noChangeArrowheads="1"/>
            </p:cNvSpPr>
            <p:nvPr/>
          </p:nvSpPr>
          <p:spPr bwMode="auto">
            <a:xfrm>
              <a:off x="8235652" y="3396237"/>
              <a:ext cx="814355" cy="1141649"/>
            </a:xfrm>
            <a:custGeom>
              <a:avLst/>
              <a:gdLst>
                <a:gd name="T0" fmla="*/ 851812813 w 514"/>
                <a:gd name="T1" fmla="*/ 0 h 719"/>
                <a:gd name="T2" fmla="*/ 168851263 w 514"/>
                <a:gd name="T3" fmla="*/ 682963437 h 719"/>
                <a:gd name="T4" fmla="*/ 1295360313 w 514"/>
                <a:gd name="T5" fmla="*/ 1811993931 h 719"/>
                <a:gd name="T6" fmla="*/ 960180325 w 514"/>
                <a:gd name="T7" fmla="*/ 1811993931 h 719"/>
                <a:gd name="T8" fmla="*/ 7561263 w 514"/>
                <a:gd name="T9" fmla="*/ 861893815 h 719"/>
                <a:gd name="T10" fmla="*/ 0 w 514"/>
                <a:gd name="T11" fmla="*/ 854334137 h 719"/>
                <a:gd name="T12" fmla="*/ 851812813 w 514"/>
                <a:gd name="T13" fmla="*/ 0 h 71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14" h="719">
                  <a:moveTo>
                    <a:pt x="338" y="0"/>
                  </a:moveTo>
                  <a:lnTo>
                    <a:pt x="67" y="271"/>
                  </a:lnTo>
                  <a:lnTo>
                    <a:pt x="514" y="719"/>
                  </a:lnTo>
                  <a:lnTo>
                    <a:pt x="381" y="719"/>
                  </a:lnTo>
                  <a:lnTo>
                    <a:pt x="3" y="342"/>
                  </a:lnTo>
                  <a:lnTo>
                    <a:pt x="0" y="339"/>
                  </a:lnTo>
                  <a:lnTo>
                    <a:pt x="338" y="0"/>
                  </a:lnTo>
                  <a:close/>
                </a:path>
              </a:pathLst>
            </a:custGeom>
            <a:gradFill rotWithShape="1">
              <a:gsLst>
                <a:gs pos="0">
                  <a:srgbClr val="CC4023"/>
                </a:gs>
                <a:gs pos="72000">
                  <a:srgbClr val="6A3906"/>
                </a:gs>
                <a:gs pos="100000">
                  <a:srgbClr val="00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12" name="Freeform 26"/>
            <p:cNvSpPr>
              <a:spLocks noChangeArrowheads="1"/>
            </p:cNvSpPr>
            <p:nvPr/>
          </p:nvSpPr>
          <p:spPr bwMode="auto">
            <a:xfrm>
              <a:off x="6820956" y="3826787"/>
              <a:ext cx="819912" cy="711100"/>
            </a:xfrm>
            <a:custGeom>
              <a:avLst/>
              <a:gdLst>
                <a:gd name="T0" fmla="*/ 178931997 w 517"/>
                <a:gd name="T1" fmla="*/ 0 h 448"/>
                <a:gd name="T2" fmla="*/ 1302922369 w 517"/>
                <a:gd name="T3" fmla="*/ 1121470325 h 448"/>
                <a:gd name="T4" fmla="*/ 1295361102 w 517"/>
                <a:gd name="T5" fmla="*/ 1129030000 h 448"/>
                <a:gd name="T6" fmla="*/ 947579327 w 517"/>
                <a:gd name="T7" fmla="*/ 1129030000 h 448"/>
                <a:gd name="T8" fmla="*/ 0 w 517"/>
                <a:gd name="T9" fmla="*/ 183972200 h 448"/>
                <a:gd name="T10" fmla="*/ 178931997 w 517"/>
                <a:gd name="T11" fmla="*/ 0 h 4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17" h="448">
                  <a:moveTo>
                    <a:pt x="71" y="0"/>
                  </a:moveTo>
                  <a:lnTo>
                    <a:pt x="517" y="445"/>
                  </a:lnTo>
                  <a:lnTo>
                    <a:pt x="514" y="448"/>
                  </a:lnTo>
                  <a:lnTo>
                    <a:pt x="376" y="448"/>
                  </a:lnTo>
                  <a:lnTo>
                    <a:pt x="0" y="73"/>
                  </a:lnTo>
                  <a:lnTo>
                    <a:pt x="71" y="0"/>
                  </a:lnTo>
                  <a:close/>
                </a:path>
              </a:pathLst>
            </a:custGeom>
            <a:gradFill rotWithShape="1">
              <a:gsLst>
                <a:gs pos="0">
                  <a:srgbClr val="F9B705"/>
                </a:gs>
                <a:gs pos="36000">
                  <a:srgbClr val="F39800"/>
                </a:gs>
                <a:gs pos="100000">
                  <a:srgbClr val="9259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13" name="Freeform 27"/>
            <p:cNvSpPr>
              <a:spLocks noChangeArrowheads="1"/>
            </p:cNvSpPr>
            <p:nvPr/>
          </p:nvSpPr>
          <p:spPr bwMode="auto">
            <a:xfrm>
              <a:off x="6820956" y="1846262"/>
              <a:ext cx="828251" cy="724989"/>
            </a:xfrm>
            <a:custGeom>
              <a:avLst/>
              <a:gdLst>
                <a:gd name="T0" fmla="*/ 1333339747 w 517"/>
                <a:gd name="T1" fmla="*/ 7867217 h 448"/>
                <a:gd name="T2" fmla="*/ 183109125 w 517"/>
                <a:gd name="T3" fmla="*/ 1174911623 h 448"/>
                <a:gd name="T4" fmla="*/ 0 w 517"/>
                <a:gd name="T5" fmla="*/ 986087090 h 448"/>
                <a:gd name="T6" fmla="*/ 959385759 w 517"/>
                <a:gd name="T7" fmla="*/ 0 h 448"/>
                <a:gd name="T8" fmla="*/ 1325602402 w 517"/>
                <a:gd name="T9" fmla="*/ 0 h 448"/>
                <a:gd name="T10" fmla="*/ 1333339747 w 517"/>
                <a:gd name="T11" fmla="*/ 7867217 h 4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17" h="448">
                  <a:moveTo>
                    <a:pt x="517" y="3"/>
                  </a:moveTo>
                  <a:lnTo>
                    <a:pt x="71" y="448"/>
                  </a:lnTo>
                  <a:lnTo>
                    <a:pt x="0" y="376"/>
                  </a:lnTo>
                  <a:lnTo>
                    <a:pt x="372" y="0"/>
                  </a:lnTo>
                  <a:lnTo>
                    <a:pt x="514" y="0"/>
                  </a:lnTo>
                  <a:lnTo>
                    <a:pt x="517" y="3"/>
                  </a:lnTo>
                  <a:close/>
                </a:path>
              </a:pathLst>
            </a:custGeom>
            <a:gradFill rotWithShape="1">
              <a:gsLst>
                <a:gs pos="0">
                  <a:srgbClr val="F9B705"/>
                </a:gs>
                <a:gs pos="36000">
                  <a:srgbClr val="F39800"/>
                </a:gs>
                <a:gs pos="100000">
                  <a:srgbClr val="9259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14" name="Freeform 28"/>
            <p:cNvSpPr>
              <a:spLocks noChangeArrowheads="1"/>
            </p:cNvSpPr>
            <p:nvPr/>
          </p:nvSpPr>
          <p:spPr bwMode="auto">
            <a:xfrm>
              <a:off x="5400700" y="3826787"/>
              <a:ext cx="819913" cy="711100"/>
            </a:xfrm>
            <a:custGeom>
              <a:avLst/>
              <a:gdLst>
                <a:gd name="T0" fmla="*/ 1302922369 w 517"/>
                <a:gd name="T1" fmla="*/ 1126510638 h 448"/>
                <a:gd name="T2" fmla="*/ 1300401417 w 517"/>
                <a:gd name="T3" fmla="*/ 1129030000 h 448"/>
                <a:gd name="T4" fmla="*/ 952619643 w 517"/>
                <a:gd name="T5" fmla="*/ 1129030000 h 448"/>
                <a:gd name="T6" fmla="*/ 0 w 517"/>
                <a:gd name="T7" fmla="*/ 178931888 h 448"/>
                <a:gd name="T8" fmla="*/ 181451361 w 517"/>
                <a:gd name="T9" fmla="*/ 0 h 448"/>
                <a:gd name="T10" fmla="*/ 1302922369 w 517"/>
                <a:gd name="T11" fmla="*/ 1126510638 h 4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17" h="448">
                  <a:moveTo>
                    <a:pt x="517" y="447"/>
                  </a:moveTo>
                  <a:lnTo>
                    <a:pt x="516" y="448"/>
                  </a:lnTo>
                  <a:lnTo>
                    <a:pt x="378" y="448"/>
                  </a:lnTo>
                  <a:lnTo>
                    <a:pt x="0" y="71"/>
                  </a:lnTo>
                  <a:lnTo>
                    <a:pt x="72" y="0"/>
                  </a:lnTo>
                  <a:lnTo>
                    <a:pt x="517" y="447"/>
                  </a:lnTo>
                  <a:close/>
                </a:path>
              </a:pathLst>
            </a:custGeom>
            <a:gradFill rotWithShape="1">
              <a:gsLst>
                <a:gs pos="0">
                  <a:srgbClr val="28A7E1"/>
                </a:gs>
                <a:gs pos="62000">
                  <a:srgbClr val="0D6FB8"/>
                </a:gs>
                <a:gs pos="100000">
                  <a:srgbClr val="00356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15" name="Freeform 29"/>
            <p:cNvSpPr>
              <a:spLocks noChangeArrowheads="1"/>
            </p:cNvSpPr>
            <p:nvPr/>
          </p:nvSpPr>
          <p:spPr bwMode="auto">
            <a:xfrm>
              <a:off x="5409039" y="1846262"/>
              <a:ext cx="822692" cy="713878"/>
            </a:xfrm>
            <a:custGeom>
              <a:avLst/>
              <a:gdLst>
                <a:gd name="T0" fmla="*/ 181451361 w 517"/>
                <a:gd name="T1" fmla="*/ 1131551744 h 449"/>
                <a:gd name="T2" fmla="*/ 181451361 w 517"/>
                <a:gd name="T3" fmla="*/ 1131551744 h 449"/>
                <a:gd name="T4" fmla="*/ 0 w 517"/>
                <a:gd name="T5" fmla="*/ 952619731 h 449"/>
                <a:gd name="T6" fmla="*/ 942539012 w 517"/>
                <a:gd name="T7" fmla="*/ 0 h 449"/>
                <a:gd name="T8" fmla="*/ 1300401417 w 517"/>
                <a:gd name="T9" fmla="*/ 0 h 449"/>
                <a:gd name="T10" fmla="*/ 1302922369 w 517"/>
                <a:gd name="T11" fmla="*/ 7561268 h 449"/>
                <a:gd name="T12" fmla="*/ 181451361 w 517"/>
                <a:gd name="T13" fmla="*/ 1131551744 h 44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17" h="449">
                  <a:moveTo>
                    <a:pt x="72" y="449"/>
                  </a:moveTo>
                  <a:lnTo>
                    <a:pt x="72" y="449"/>
                  </a:lnTo>
                  <a:lnTo>
                    <a:pt x="0" y="378"/>
                  </a:lnTo>
                  <a:lnTo>
                    <a:pt x="374" y="0"/>
                  </a:lnTo>
                  <a:lnTo>
                    <a:pt x="516" y="0"/>
                  </a:lnTo>
                  <a:lnTo>
                    <a:pt x="517" y="3"/>
                  </a:lnTo>
                  <a:lnTo>
                    <a:pt x="72" y="449"/>
                  </a:lnTo>
                  <a:close/>
                </a:path>
              </a:pathLst>
            </a:custGeom>
            <a:gradFill rotWithShape="1">
              <a:gsLst>
                <a:gs pos="0">
                  <a:srgbClr val="28A7E1"/>
                </a:gs>
                <a:gs pos="62000">
                  <a:srgbClr val="0D6FB8"/>
                </a:gs>
                <a:gs pos="100000">
                  <a:srgbClr val="00356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16" name="Freeform 30"/>
            <p:cNvSpPr>
              <a:spLocks noChangeArrowheads="1"/>
            </p:cNvSpPr>
            <p:nvPr/>
          </p:nvSpPr>
          <p:spPr bwMode="auto">
            <a:xfrm>
              <a:off x="3994341" y="1846262"/>
              <a:ext cx="819913" cy="711100"/>
            </a:xfrm>
            <a:custGeom>
              <a:avLst/>
              <a:gdLst>
                <a:gd name="T0" fmla="*/ 1302922369 w 517"/>
                <a:gd name="T1" fmla="*/ 0 h 448"/>
                <a:gd name="T2" fmla="*/ 176411045 w 517"/>
                <a:gd name="T3" fmla="*/ 1129030000 h 448"/>
                <a:gd name="T4" fmla="*/ 0 w 517"/>
                <a:gd name="T5" fmla="*/ 955140013 h 448"/>
                <a:gd name="T6" fmla="*/ 945059963 w 517"/>
                <a:gd name="T7" fmla="*/ 0 h 448"/>
                <a:gd name="T8" fmla="*/ 1302922369 w 517"/>
                <a:gd name="T9" fmla="*/ 0 h 4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7" h="448">
                  <a:moveTo>
                    <a:pt x="517" y="0"/>
                  </a:moveTo>
                  <a:lnTo>
                    <a:pt x="70" y="448"/>
                  </a:lnTo>
                  <a:lnTo>
                    <a:pt x="0" y="379"/>
                  </a:lnTo>
                  <a:lnTo>
                    <a:pt x="375" y="0"/>
                  </a:lnTo>
                  <a:lnTo>
                    <a:pt x="517" y="0"/>
                  </a:lnTo>
                  <a:close/>
                </a:path>
              </a:pathLst>
            </a:custGeom>
            <a:gradFill rotWithShape="1">
              <a:gsLst>
                <a:gs pos="0">
                  <a:srgbClr val="ED7015"/>
                </a:gs>
                <a:gs pos="52000">
                  <a:srgbClr val="E83428"/>
                </a:gs>
                <a:gs pos="100000">
                  <a:srgbClr val="6D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17" name="Freeform 31"/>
            <p:cNvSpPr>
              <a:spLocks noChangeArrowheads="1"/>
            </p:cNvSpPr>
            <p:nvPr/>
          </p:nvSpPr>
          <p:spPr bwMode="auto">
            <a:xfrm>
              <a:off x="3994341" y="3837898"/>
              <a:ext cx="819913" cy="708321"/>
            </a:xfrm>
            <a:custGeom>
              <a:avLst/>
              <a:gdLst>
                <a:gd name="T0" fmla="*/ 1302922369 w 517"/>
                <a:gd name="T1" fmla="*/ 1123989688 h 446"/>
                <a:gd name="T2" fmla="*/ 952619643 w 517"/>
                <a:gd name="T3" fmla="*/ 1123989688 h 446"/>
                <a:gd name="T4" fmla="*/ 0 w 517"/>
                <a:gd name="T5" fmla="*/ 173891575 h 446"/>
                <a:gd name="T6" fmla="*/ 176411045 w 517"/>
                <a:gd name="T7" fmla="*/ 0 h 446"/>
                <a:gd name="T8" fmla="*/ 1302922369 w 517"/>
                <a:gd name="T9" fmla="*/ 1123989688 h 4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7" h="446">
                  <a:moveTo>
                    <a:pt x="517" y="446"/>
                  </a:moveTo>
                  <a:lnTo>
                    <a:pt x="378" y="446"/>
                  </a:lnTo>
                  <a:lnTo>
                    <a:pt x="0" y="69"/>
                  </a:lnTo>
                  <a:lnTo>
                    <a:pt x="70" y="0"/>
                  </a:lnTo>
                  <a:lnTo>
                    <a:pt x="517" y="446"/>
                  </a:lnTo>
                  <a:close/>
                </a:path>
              </a:pathLst>
            </a:custGeom>
            <a:gradFill rotWithShape="1">
              <a:gsLst>
                <a:gs pos="0">
                  <a:srgbClr val="ED7015"/>
                </a:gs>
                <a:gs pos="52000">
                  <a:srgbClr val="E83428"/>
                </a:gs>
                <a:gs pos="100000">
                  <a:srgbClr val="6D0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18" name="Freeform 32"/>
            <p:cNvSpPr>
              <a:spLocks noChangeArrowheads="1"/>
            </p:cNvSpPr>
            <p:nvPr/>
          </p:nvSpPr>
          <p:spPr bwMode="auto">
            <a:xfrm>
              <a:off x="1787526" y="1846262"/>
              <a:ext cx="1609253" cy="1349978"/>
            </a:xfrm>
            <a:custGeom>
              <a:avLst/>
              <a:gdLst>
                <a:gd name="T0" fmla="*/ 2147483646 w 1013"/>
                <a:gd name="T1" fmla="*/ 0 h 851"/>
                <a:gd name="T2" fmla="*/ 415826704 w 1013"/>
                <a:gd name="T3" fmla="*/ 2144654556 h 851"/>
                <a:gd name="T4" fmla="*/ 0 w 1013"/>
                <a:gd name="T5" fmla="*/ 2144654556 h 851"/>
                <a:gd name="T6" fmla="*/ 2147483646 w 1013"/>
                <a:gd name="T7" fmla="*/ 0 h 851"/>
                <a:gd name="T8" fmla="*/ 2147483646 w 1013"/>
                <a:gd name="T9" fmla="*/ 0 h 8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3" h="851">
                  <a:moveTo>
                    <a:pt x="1013" y="0"/>
                  </a:moveTo>
                  <a:lnTo>
                    <a:pt x="165" y="851"/>
                  </a:lnTo>
                  <a:lnTo>
                    <a:pt x="0" y="851"/>
                  </a:lnTo>
                  <a:lnTo>
                    <a:pt x="853" y="0"/>
                  </a:lnTo>
                  <a:lnTo>
                    <a:pt x="1013" y="0"/>
                  </a:lnTo>
                  <a:close/>
                </a:path>
              </a:pathLst>
            </a:custGeom>
            <a:gradFill rotWithShape="1">
              <a:gsLst>
                <a:gs pos="0">
                  <a:srgbClr val="90C31F"/>
                </a:gs>
                <a:gs pos="53999">
                  <a:srgbClr val="23AC38"/>
                </a:gs>
                <a:gs pos="100000">
                  <a:srgbClr val="00560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19" name="Freeform 33"/>
            <p:cNvSpPr>
              <a:spLocks noChangeArrowheads="1"/>
            </p:cNvSpPr>
            <p:nvPr/>
          </p:nvSpPr>
          <p:spPr bwMode="auto">
            <a:xfrm>
              <a:off x="1787526" y="3196240"/>
              <a:ext cx="1609253" cy="1349978"/>
            </a:xfrm>
            <a:custGeom>
              <a:avLst/>
              <a:gdLst>
                <a:gd name="T0" fmla="*/ 415826704 w 1013"/>
                <a:gd name="T1" fmla="*/ 0 h 850"/>
                <a:gd name="T2" fmla="*/ 2147483646 w 1013"/>
                <a:gd name="T3" fmla="*/ 2142132813 h 850"/>
                <a:gd name="T4" fmla="*/ 2147483646 w 1013"/>
                <a:gd name="T5" fmla="*/ 2142132813 h 850"/>
                <a:gd name="T6" fmla="*/ 0 w 1013"/>
                <a:gd name="T7" fmla="*/ 0 h 850"/>
                <a:gd name="T8" fmla="*/ 415826704 w 1013"/>
                <a:gd name="T9" fmla="*/ 0 h 8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13" h="850">
                  <a:moveTo>
                    <a:pt x="165" y="0"/>
                  </a:moveTo>
                  <a:lnTo>
                    <a:pt x="1013" y="850"/>
                  </a:lnTo>
                  <a:lnTo>
                    <a:pt x="870" y="850"/>
                  </a:lnTo>
                  <a:lnTo>
                    <a:pt x="0" y="0"/>
                  </a:lnTo>
                  <a:lnTo>
                    <a:pt x="165" y="0"/>
                  </a:lnTo>
                  <a:close/>
                </a:path>
              </a:pathLst>
            </a:custGeom>
            <a:gradFill rotWithShape="1">
              <a:gsLst>
                <a:gs pos="0">
                  <a:srgbClr val="90C31F"/>
                </a:gs>
                <a:gs pos="53999">
                  <a:srgbClr val="23AC38"/>
                </a:gs>
                <a:gs pos="100000">
                  <a:srgbClr val="00560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20" name="Freeform 37"/>
            <p:cNvSpPr>
              <a:spLocks noChangeArrowheads="1"/>
            </p:cNvSpPr>
            <p:nvPr/>
          </p:nvSpPr>
          <p:spPr bwMode="auto">
            <a:xfrm>
              <a:off x="8346826" y="1846262"/>
              <a:ext cx="2056730" cy="2699957"/>
            </a:xfrm>
            <a:custGeom>
              <a:avLst/>
              <a:gdLst>
                <a:gd name="T0" fmla="*/ 1126510638 w 1296"/>
                <a:gd name="T1" fmla="*/ 1368445891 h 1701"/>
                <a:gd name="T2" fmla="*/ 682963138 w 1296"/>
                <a:gd name="T3" fmla="*/ 1817033786 h 1701"/>
                <a:gd name="T4" fmla="*/ 0 w 1296"/>
                <a:gd name="T5" fmla="*/ 1131551160 h 1701"/>
                <a:gd name="T6" fmla="*/ 1126510638 w 1296"/>
                <a:gd name="T7" fmla="*/ 0 h 1701"/>
                <a:gd name="T8" fmla="*/ 2147483646 w 1296"/>
                <a:gd name="T9" fmla="*/ 2144654160 h 1701"/>
                <a:gd name="T10" fmla="*/ 1126510638 w 1296"/>
                <a:gd name="T11" fmla="*/ 2147483646 h 1701"/>
                <a:gd name="T12" fmla="*/ 0 w 1296"/>
                <a:gd name="T13" fmla="*/ 2147483646 h 1701"/>
                <a:gd name="T14" fmla="*/ 682963138 w 1296"/>
                <a:gd name="T15" fmla="*/ 2147483646 h 1701"/>
                <a:gd name="T16" fmla="*/ 1126510638 w 1296"/>
                <a:gd name="T17" fmla="*/ 2147483646 h 1701"/>
                <a:gd name="T18" fmla="*/ 1900197813 w 1296"/>
                <a:gd name="T19" fmla="*/ 2144654160 h 1701"/>
                <a:gd name="T20" fmla="*/ 1126510638 w 1296"/>
                <a:gd name="T21" fmla="*/ 1368445891 h 170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96" h="1701">
                  <a:moveTo>
                    <a:pt x="447" y="543"/>
                  </a:moveTo>
                  <a:lnTo>
                    <a:pt x="271" y="721"/>
                  </a:lnTo>
                  <a:lnTo>
                    <a:pt x="0" y="449"/>
                  </a:lnTo>
                  <a:lnTo>
                    <a:pt x="447" y="0"/>
                  </a:lnTo>
                  <a:lnTo>
                    <a:pt x="1296" y="851"/>
                  </a:lnTo>
                  <a:lnTo>
                    <a:pt x="447" y="1701"/>
                  </a:lnTo>
                  <a:lnTo>
                    <a:pt x="0" y="1253"/>
                  </a:lnTo>
                  <a:lnTo>
                    <a:pt x="271" y="982"/>
                  </a:lnTo>
                  <a:lnTo>
                    <a:pt x="447" y="1160"/>
                  </a:lnTo>
                  <a:lnTo>
                    <a:pt x="754" y="851"/>
                  </a:lnTo>
                  <a:lnTo>
                    <a:pt x="447" y="543"/>
                  </a:lnTo>
                  <a:close/>
                </a:path>
              </a:pathLst>
            </a:custGeom>
            <a:gradFill rotWithShape="1">
              <a:gsLst>
                <a:gs pos="0">
                  <a:srgbClr val="CA4023"/>
                </a:gs>
                <a:gs pos="60001">
                  <a:srgbClr val="6A3906"/>
                </a:gs>
                <a:gs pos="100000">
                  <a:srgbClr val="41210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21" name="Freeform 38"/>
            <p:cNvSpPr>
              <a:spLocks noChangeArrowheads="1"/>
            </p:cNvSpPr>
            <p:nvPr/>
          </p:nvSpPr>
          <p:spPr bwMode="auto">
            <a:xfrm>
              <a:off x="6926572" y="1846262"/>
              <a:ext cx="2056730" cy="2699957"/>
            </a:xfrm>
            <a:custGeom>
              <a:avLst/>
              <a:gdLst>
                <a:gd name="T0" fmla="*/ 1126510638 w 1296"/>
                <a:gd name="T1" fmla="*/ 1368445891 h 1701"/>
                <a:gd name="T2" fmla="*/ 682963138 w 1296"/>
                <a:gd name="T3" fmla="*/ 1811993473 h 1701"/>
                <a:gd name="T4" fmla="*/ 0 w 1296"/>
                <a:gd name="T5" fmla="*/ 1129030209 h 1701"/>
                <a:gd name="T6" fmla="*/ 1121470325 w 1296"/>
                <a:gd name="T7" fmla="*/ 7561264 h 1701"/>
                <a:gd name="T8" fmla="*/ 1126510638 w 1296"/>
                <a:gd name="T9" fmla="*/ 0 h 1701"/>
                <a:gd name="T10" fmla="*/ 2084170013 w 1296"/>
                <a:gd name="T11" fmla="*/ 962699866 h 1701"/>
                <a:gd name="T12" fmla="*/ 2147483646 w 1296"/>
                <a:gd name="T13" fmla="*/ 1817033786 h 1701"/>
                <a:gd name="T14" fmla="*/ 2147483646 w 1296"/>
                <a:gd name="T15" fmla="*/ 2144654160 h 1701"/>
                <a:gd name="T16" fmla="*/ 2147483646 w 1296"/>
                <a:gd name="T17" fmla="*/ 2147483646 h 1701"/>
                <a:gd name="T18" fmla="*/ 2084170013 w 1296"/>
                <a:gd name="T19" fmla="*/ 2147483646 h 1701"/>
                <a:gd name="T20" fmla="*/ 1126510638 w 1296"/>
                <a:gd name="T21" fmla="*/ 2147483646 h 1701"/>
                <a:gd name="T22" fmla="*/ 1121470325 w 1296"/>
                <a:gd name="T23" fmla="*/ 2147483646 h 1701"/>
                <a:gd name="T24" fmla="*/ 0 w 1296"/>
                <a:gd name="T25" fmla="*/ 2147483646 h 1701"/>
                <a:gd name="T26" fmla="*/ 682963138 w 1296"/>
                <a:gd name="T27" fmla="*/ 2147483646 h 1701"/>
                <a:gd name="T28" fmla="*/ 1126510638 w 1296"/>
                <a:gd name="T29" fmla="*/ 2147483646 h 1701"/>
                <a:gd name="T30" fmla="*/ 1902718763 w 1296"/>
                <a:gd name="T31" fmla="*/ 2144654160 h 1701"/>
                <a:gd name="T32" fmla="*/ 1126510638 w 1296"/>
                <a:gd name="T33" fmla="*/ 1368445891 h 170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296" h="1701">
                  <a:moveTo>
                    <a:pt x="447" y="543"/>
                  </a:moveTo>
                  <a:lnTo>
                    <a:pt x="271" y="719"/>
                  </a:lnTo>
                  <a:lnTo>
                    <a:pt x="0" y="448"/>
                  </a:lnTo>
                  <a:lnTo>
                    <a:pt x="445" y="3"/>
                  </a:lnTo>
                  <a:lnTo>
                    <a:pt x="447" y="0"/>
                  </a:lnTo>
                  <a:lnTo>
                    <a:pt x="827" y="382"/>
                  </a:lnTo>
                  <a:lnTo>
                    <a:pt x="1166" y="721"/>
                  </a:lnTo>
                  <a:lnTo>
                    <a:pt x="1296" y="851"/>
                  </a:lnTo>
                  <a:lnTo>
                    <a:pt x="1166" y="982"/>
                  </a:lnTo>
                  <a:lnTo>
                    <a:pt x="827" y="1321"/>
                  </a:lnTo>
                  <a:lnTo>
                    <a:pt x="447" y="1701"/>
                  </a:lnTo>
                  <a:lnTo>
                    <a:pt x="445" y="1698"/>
                  </a:lnTo>
                  <a:lnTo>
                    <a:pt x="0" y="1253"/>
                  </a:lnTo>
                  <a:lnTo>
                    <a:pt x="271" y="984"/>
                  </a:lnTo>
                  <a:lnTo>
                    <a:pt x="447" y="1160"/>
                  </a:lnTo>
                  <a:lnTo>
                    <a:pt x="755" y="851"/>
                  </a:lnTo>
                  <a:lnTo>
                    <a:pt x="447" y="543"/>
                  </a:lnTo>
                  <a:close/>
                </a:path>
              </a:pathLst>
            </a:custGeom>
            <a:gradFill rotWithShape="1">
              <a:gsLst>
                <a:gs pos="0">
                  <a:srgbClr val="E1E109"/>
                </a:gs>
                <a:gs pos="100000">
                  <a:srgbClr val="F398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22" name="Freeform 39"/>
            <p:cNvSpPr>
              <a:spLocks noChangeArrowheads="1"/>
            </p:cNvSpPr>
            <p:nvPr/>
          </p:nvSpPr>
          <p:spPr bwMode="auto">
            <a:xfrm>
              <a:off x="5520213" y="1846262"/>
              <a:ext cx="2056730" cy="2699957"/>
            </a:xfrm>
            <a:custGeom>
              <a:avLst/>
              <a:gdLst>
                <a:gd name="T0" fmla="*/ 2147483646 w 1296"/>
                <a:gd name="T1" fmla="*/ 2147483646 h 1701"/>
                <a:gd name="T2" fmla="*/ 2147483646 w 1296"/>
                <a:gd name="T3" fmla="*/ 2147483646 h 1701"/>
                <a:gd name="T4" fmla="*/ 2147483646 w 1296"/>
                <a:gd name="T5" fmla="*/ 2147483646 h 1701"/>
                <a:gd name="T6" fmla="*/ 2071568438 w 1296"/>
                <a:gd name="T7" fmla="*/ 2147483646 h 1701"/>
                <a:gd name="T8" fmla="*/ 1129030000 w 1296"/>
                <a:gd name="T9" fmla="*/ 2147483646 h 1701"/>
                <a:gd name="T10" fmla="*/ 1121470325 w 1296"/>
                <a:gd name="T11" fmla="*/ 2147483646 h 1701"/>
                <a:gd name="T12" fmla="*/ 0 w 1296"/>
                <a:gd name="T13" fmla="*/ 2147483646 h 1701"/>
                <a:gd name="T14" fmla="*/ 680442188 w 1296"/>
                <a:gd name="T15" fmla="*/ 2147483646 h 1701"/>
                <a:gd name="T16" fmla="*/ 1129030000 w 1296"/>
                <a:gd name="T17" fmla="*/ 2147483646 h 1701"/>
                <a:gd name="T18" fmla="*/ 1905238125 w 1296"/>
                <a:gd name="T19" fmla="*/ 2144654160 h 1701"/>
                <a:gd name="T20" fmla="*/ 1129030000 w 1296"/>
                <a:gd name="T21" fmla="*/ 1368445891 h 1701"/>
                <a:gd name="T22" fmla="*/ 680442188 w 1296"/>
                <a:gd name="T23" fmla="*/ 1817033786 h 1701"/>
                <a:gd name="T24" fmla="*/ 0 w 1296"/>
                <a:gd name="T25" fmla="*/ 1131551160 h 1701"/>
                <a:gd name="T26" fmla="*/ 1121470325 w 1296"/>
                <a:gd name="T27" fmla="*/ 7561264 h 1701"/>
                <a:gd name="T28" fmla="*/ 1129030000 w 1296"/>
                <a:gd name="T29" fmla="*/ 0 h 1701"/>
                <a:gd name="T30" fmla="*/ 2071568438 w 1296"/>
                <a:gd name="T31" fmla="*/ 947578925 h 1701"/>
                <a:gd name="T32" fmla="*/ 2147483646 w 1296"/>
                <a:gd name="T33" fmla="*/ 1129030209 h 1701"/>
                <a:gd name="T34" fmla="*/ 2147483646 w 1296"/>
                <a:gd name="T35" fmla="*/ 1131551160 h 1701"/>
                <a:gd name="T36" fmla="*/ 2147483646 w 1296"/>
                <a:gd name="T37" fmla="*/ 1817033786 h 1701"/>
                <a:gd name="T38" fmla="*/ 2147483646 w 1296"/>
                <a:gd name="T39" fmla="*/ 1811993473 h 1701"/>
                <a:gd name="T40" fmla="*/ 2147483646 w 1296"/>
                <a:gd name="T41" fmla="*/ 2144654160 h 1701"/>
                <a:gd name="T42" fmla="*/ 2147483646 w 1296"/>
                <a:gd name="T43" fmla="*/ 2147483646 h 170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96" h="1701">
                  <a:moveTo>
                    <a:pt x="1164" y="984"/>
                  </a:moveTo>
                  <a:lnTo>
                    <a:pt x="1164" y="982"/>
                  </a:lnTo>
                  <a:lnTo>
                    <a:pt x="893" y="1253"/>
                  </a:lnTo>
                  <a:lnTo>
                    <a:pt x="822" y="1326"/>
                  </a:lnTo>
                  <a:lnTo>
                    <a:pt x="448" y="1701"/>
                  </a:lnTo>
                  <a:lnTo>
                    <a:pt x="445" y="1700"/>
                  </a:lnTo>
                  <a:lnTo>
                    <a:pt x="0" y="1253"/>
                  </a:lnTo>
                  <a:lnTo>
                    <a:pt x="270" y="982"/>
                  </a:lnTo>
                  <a:lnTo>
                    <a:pt x="448" y="1160"/>
                  </a:lnTo>
                  <a:lnTo>
                    <a:pt x="756" y="851"/>
                  </a:lnTo>
                  <a:lnTo>
                    <a:pt x="448" y="543"/>
                  </a:lnTo>
                  <a:lnTo>
                    <a:pt x="270" y="721"/>
                  </a:lnTo>
                  <a:lnTo>
                    <a:pt x="0" y="449"/>
                  </a:lnTo>
                  <a:lnTo>
                    <a:pt x="445" y="3"/>
                  </a:lnTo>
                  <a:lnTo>
                    <a:pt x="448" y="0"/>
                  </a:lnTo>
                  <a:lnTo>
                    <a:pt x="822" y="376"/>
                  </a:lnTo>
                  <a:lnTo>
                    <a:pt x="893" y="448"/>
                  </a:lnTo>
                  <a:lnTo>
                    <a:pt x="893" y="449"/>
                  </a:lnTo>
                  <a:lnTo>
                    <a:pt x="1164" y="721"/>
                  </a:lnTo>
                  <a:lnTo>
                    <a:pt x="1164" y="719"/>
                  </a:lnTo>
                  <a:lnTo>
                    <a:pt x="1296" y="851"/>
                  </a:lnTo>
                  <a:lnTo>
                    <a:pt x="1164" y="984"/>
                  </a:lnTo>
                  <a:close/>
                </a:path>
              </a:pathLst>
            </a:custGeom>
            <a:gradFill rotWithShape="1">
              <a:gsLst>
                <a:gs pos="0">
                  <a:srgbClr val="C8E1F5"/>
                </a:gs>
                <a:gs pos="57001">
                  <a:srgbClr val="28A7E1"/>
                </a:gs>
                <a:gs pos="92999">
                  <a:srgbClr val="0D6FB8"/>
                </a:gs>
                <a:gs pos="100000">
                  <a:srgbClr val="0D6FB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23" name="Freeform 40"/>
            <p:cNvSpPr>
              <a:spLocks noChangeArrowheads="1"/>
            </p:cNvSpPr>
            <p:nvPr/>
          </p:nvSpPr>
          <p:spPr bwMode="auto">
            <a:xfrm>
              <a:off x="4099957" y="1846262"/>
              <a:ext cx="2056730" cy="2699957"/>
            </a:xfrm>
            <a:custGeom>
              <a:avLst/>
              <a:gdLst>
                <a:gd name="T0" fmla="*/ 2071568941 w 1295"/>
                <a:gd name="T1" fmla="*/ 952619239 h 1701"/>
                <a:gd name="T2" fmla="*/ 2147483646 w 1295"/>
                <a:gd name="T3" fmla="*/ 1131551160 h 1701"/>
                <a:gd name="T4" fmla="*/ 2147483646 w 1295"/>
                <a:gd name="T5" fmla="*/ 2144654160 h 1701"/>
                <a:gd name="T6" fmla="*/ 2147483646 w 1295"/>
                <a:gd name="T7" fmla="*/ 2147483646 h 1701"/>
                <a:gd name="T8" fmla="*/ 2071568941 w 1295"/>
                <a:gd name="T9" fmla="*/ 2147483646 h 1701"/>
                <a:gd name="T10" fmla="*/ 1126510911 w 1295"/>
                <a:gd name="T11" fmla="*/ 2147483646 h 1701"/>
                <a:gd name="T12" fmla="*/ 0 w 1295"/>
                <a:gd name="T13" fmla="*/ 2147483646 h 1701"/>
                <a:gd name="T14" fmla="*/ 682963304 w 1295"/>
                <a:gd name="T15" fmla="*/ 2147483646 h 1701"/>
                <a:gd name="T16" fmla="*/ 1126510911 w 1295"/>
                <a:gd name="T17" fmla="*/ 2147483646 h 1701"/>
                <a:gd name="T18" fmla="*/ 1902719225 w 1295"/>
                <a:gd name="T19" fmla="*/ 2144654160 h 1701"/>
                <a:gd name="T20" fmla="*/ 1126510911 w 1295"/>
                <a:gd name="T21" fmla="*/ 1368445891 h 1701"/>
                <a:gd name="T22" fmla="*/ 682963304 w 1295"/>
                <a:gd name="T23" fmla="*/ 1811993473 h 1701"/>
                <a:gd name="T24" fmla="*/ 0 w 1295"/>
                <a:gd name="T25" fmla="*/ 1129030209 h 1701"/>
                <a:gd name="T26" fmla="*/ 1126510911 w 1295"/>
                <a:gd name="T27" fmla="*/ 0 h 1701"/>
                <a:gd name="T28" fmla="*/ 2071568941 w 1295"/>
                <a:gd name="T29" fmla="*/ 952619239 h 170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295" h="1701">
                  <a:moveTo>
                    <a:pt x="822" y="378"/>
                  </a:moveTo>
                  <a:lnTo>
                    <a:pt x="894" y="449"/>
                  </a:lnTo>
                  <a:lnTo>
                    <a:pt x="1295" y="851"/>
                  </a:lnTo>
                  <a:lnTo>
                    <a:pt x="894" y="1253"/>
                  </a:lnTo>
                  <a:lnTo>
                    <a:pt x="822" y="1324"/>
                  </a:lnTo>
                  <a:lnTo>
                    <a:pt x="447" y="1701"/>
                  </a:lnTo>
                  <a:lnTo>
                    <a:pt x="0" y="1255"/>
                  </a:lnTo>
                  <a:lnTo>
                    <a:pt x="271" y="984"/>
                  </a:lnTo>
                  <a:lnTo>
                    <a:pt x="447" y="1160"/>
                  </a:lnTo>
                  <a:lnTo>
                    <a:pt x="755" y="851"/>
                  </a:lnTo>
                  <a:lnTo>
                    <a:pt x="447" y="543"/>
                  </a:lnTo>
                  <a:lnTo>
                    <a:pt x="271" y="719"/>
                  </a:lnTo>
                  <a:lnTo>
                    <a:pt x="0" y="448"/>
                  </a:lnTo>
                  <a:lnTo>
                    <a:pt x="447" y="0"/>
                  </a:lnTo>
                  <a:lnTo>
                    <a:pt x="822" y="378"/>
                  </a:lnTo>
                  <a:close/>
                </a:path>
              </a:pathLst>
            </a:custGeom>
            <a:gradFill rotWithShape="1">
              <a:gsLst>
                <a:gs pos="0">
                  <a:srgbClr val="F8B62B"/>
                </a:gs>
                <a:gs pos="17000">
                  <a:srgbClr val="F39800"/>
                </a:gs>
                <a:gs pos="56000">
                  <a:srgbClr val="E83428"/>
                </a:gs>
                <a:gs pos="100000">
                  <a:srgbClr val="BF000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24" name="Freeform 41"/>
            <p:cNvSpPr>
              <a:spLocks noEditPoints="1" noChangeArrowheads="1"/>
            </p:cNvSpPr>
            <p:nvPr/>
          </p:nvSpPr>
          <p:spPr bwMode="auto">
            <a:xfrm>
              <a:off x="2046008" y="1846262"/>
              <a:ext cx="2693203" cy="2699957"/>
            </a:xfrm>
            <a:custGeom>
              <a:avLst/>
              <a:gdLst>
                <a:gd name="T0" fmla="*/ 2147483646 w 1698"/>
                <a:gd name="T1" fmla="*/ 2144654160 h 1701"/>
                <a:gd name="T2" fmla="*/ 2147483646 w 1698"/>
                <a:gd name="T3" fmla="*/ 2147483646 h 1701"/>
                <a:gd name="T4" fmla="*/ 2147483646 w 1698"/>
                <a:gd name="T5" fmla="*/ 2147483646 h 1701"/>
                <a:gd name="T6" fmla="*/ 2147483646 w 1698"/>
                <a:gd name="T7" fmla="*/ 2147483646 h 1701"/>
                <a:gd name="T8" fmla="*/ 2147483646 w 1698"/>
                <a:gd name="T9" fmla="*/ 2147483646 h 1701"/>
                <a:gd name="T10" fmla="*/ 2147483646 w 1698"/>
                <a:gd name="T11" fmla="*/ 2147483646 h 1701"/>
                <a:gd name="T12" fmla="*/ 2137092500 w 1698"/>
                <a:gd name="T13" fmla="*/ 2147483646 h 1701"/>
                <a:gd name="T14" fmla="*/ 0 w 1698"/>
                <a:gd name="T15" fmla="*/ 2144654160 h 1701"/>
                <a:gd name="T16" fmla="*/ 2137092500 w 1698"/>
                <a:gd name="T17" fmla="*/ 0 h 1701"/>
                <a:gd name="T18" fmla="*/ 2147483646 w 1698"/>
                <a:gd name="T19" fmla="*/ 955140189 h 1701"/>
                <a:gd name="T20" fmla="*/ 2147483646 w 1698"/>
                <a:gd name="T21" fmla="*/ 1129030209 h 1701"/>
                <a:gd name="T22" fmla="*/ 2147483646 w 1698"/>
                <a:gd name="T23" fmla="*/ 1131551160 h 1701"/>
                <a:gd name="T24" fmla="*/ 2147483646 w 1698"/>
                <a:gd name="T25" fmla="*/ 1817033786 h 1701"/>
                <a:gd name="T26" fmla="*/ 2147483646 w 1698"/>
                <a:gd name="T27" fmla="*/ 1811993473 h 1701"/>
                <a:gd name="T28" fmla="*/ 2147483646 w 1698"/>
                <a:gd name="T29" fmla="*/ 2144654160 h 1701"/>
                <a:gd name="T30" fmla="*/ 2137092500 w 1698"/>
                <a:gd name="T31" fmla="*/ 2147483646 h 1701"/>
                <a:gd name="T32" fmla="*/ 2147483646 w 1698"/>
                <a:gd name="T33" fmla="*/ 2144654160 h 1701"/>
                <a:gd name="T34" fmla="*/ 2137092500 w 1698"/>
                <a:gd name="T35" fmla="*/ 1368445891 h 1701"/>
                <a:gd name="T36" fmla="*/ 1363405325 w 1698"/>
                <a:gd name="T37" fmla="*/ 2144654160 h 1701"/>
                <a:gd name="T38" fmla="*/ 2137092500 w 1698"/>
                <a:gd name="T39" fmla="*/ 2147483646 h 17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698" h="1701">
                  <a:moveTo>
                    <a:pt x="1698" y="851"/>
                  </a:moveTo>
                  <a:lnTo>
                    <a:pt x="1566" y="984"/>
                  </a:lnTo>
                  <a:lnTo>
                    <a:pt x="1565" y="982"/>
                  </a:lnTo>
                  <a:lnTo>
                    <a:pt x="1294" y="1253"/>
                  </a:lnTo>
                  <a:lnTo>
                    <a:pt x="1295" y="1255"/>
                  </a:lnTo>
                  <a:lnTo>
                    <a:pt x="1225" y="1324"/>
                  </a:lnTo>
                  <a:lnTo>
                    <a:pt x="848" y="1701"/>
                  </a:lnTo>
                  <a:lnTo>
                    <a:pt x="0" y="851"/>
                  </a:lnTo>
                  <a:lnTo>
                    <a:pt x="848" y="0"/>
                  </a:lnTo>
                  <a:lnTo>
                    <a:pt x="1225" y="379"/>
                  </a:lnTo>
                  <a:lnTo>
                    <a:pt x="1295" y="448"/>
                  </a:lnTo>
                  <a:lnTo>
                    <a:pt x="1294" y="449"/>
                  </a:lnTo>
                  <a:lnTo>
                    <a:pt x="1565" y="721"/>
                  </a:lnTo>
                  <a:lnTo>
                    <a:pt x="1566" y="719"/>
                  </a:lnTo>
                  <a:lnTo>
                    <a:pt x="1698" y="851"/>
                  </a:lnTo>
                  <a:close/>
                  <a:moveTo>
                    <a:pt x="848" y="1160"/>
                  </a:moveTo>
                  <a:lnTo>
                    <a:pt x="1156" y="851"/>
                  </a:lnTo>
                  <a:lnTo>
                    <a:pt x="848" y="543"/>
                  </a:lnTo>
                  <a:lnTo>
                    <a:pt x="541" y="851"/>
                  </a:lnTo>
                  <a:lnTo>
                    <a:pt x="848" y="1160"/>
                  </a:lnTo>
                  <a:close/>
                </a:path>
              </a:pathLst>
            </a:custGeom>
            <a:gradFill rotWithShape="1">
              <a:gsLst>
                <a:gs pos="0">
                  <a:srgbClr val="D9E900"/>
                </a:gs>
                <a:gs pos="75000">
                  <a:srgbClr val="91C41E"/>
                </a:gs>
                <a:gs pos="100000">
                  <a:srgbClr val="2BAD37"/>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grpSp>
          <p:nvGrpSpPr>
            <p:cNvPr id="197685" name="Group 4"/>
            <p:cNvGrpSpPr>
              <a:grpSpLocks noChangeAspect="1"/>
            </p:cNvGrpSpPr>
            <p:nvPr/>
          </p:nvGrpSpPr>
          <p:grpSpPr bwMode="auto">
            <a:xfrm>
              <a:off x="4095550" y="2448565"/>
              <a:ext cx="4790604" cy="1477511"/>
              <a:chOff x="1528" y="749"/>
              <a:chExt cx="5191" cy="1601"/>
            </a:xfrm>
          </p:grpSpPr>
          <p:sp>
            <p:nvSpPr>
              <p:cNvPr id="54326" name="AutoShape 3"/>
              <p:cNvSpPr>
                <a:spLocks noChangeAspect="1" noChangeArrowheads="1" noTextEdit="1"/>
              </p:cNvSpPr>
              <p:nvPr/>
            </p:nvSpPr>
            <p:spPr bwMode="auto">
              <a:xfrm>
                <a:off x="1530" y="750"/>
                <a:ext cx="5186" cy="1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27" name="Freeform 5"/>
              <p:cNvSpPr>
                <a:spLocks noChangeArrowheads="1"/>
              </p:cNvSpPr>
              <p:nvPr/>
            </p:nvSpPr>
            <p:spPr bwMode="auto">
              <a:xfrm>
                <a:off x="6141" y="753"/>
                <a:ext cx="578" cy="578"/>
              </a:xfrm>
              <a:custGeom>
                <a:avLst/>
                <a:gdLst>
                  <a:gd name="T0" fmla="*/ 111 w 577"/>
                  <a:gd name="T1" fmla="*/ 0 h 579"/>
                  <a:gd name="T2" fmla="*/ 0 w 577"/>
                  <a:gd name="T3" fmla="*/ 112 h 579"/>
                  <a:gd name="T4" fmla="*/ 466 w 577"/>
                  <a:gd name="T5" fmla="*/ 579 h 579"/>
                  <a:gd name="T6" fmla="*/ 577 w 577"/>
                  <a:gd name="T7" fmla="*/ 468 h 579"/>
                  <a:gd name="T8" fmla="*/ 111 w 577"/>
                  <a:gd name="T9" fmla="*/ 0 h 5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7" h="579">
                    <a:moveTo>
                      <a:pt x="111" y="0"/>
                    </a:moveTo>
                    <a:lnTo>
                      <a:pt x="0" y="112"/>
                    </a:lnTo>
                    <a:lnTo>
                      <a:pt x="466" y="579"/>
                    </a:lnTo>
                    <a:lnTo>
                      <a:pt x="577" y="468"/>
                    </a:lnTo>
                    <a:lnTo>
                      <a:pt x="111" y="0"/>
                    </a:lnTo>
                    <a:close/>
                  </a:path>
                </a:pathLst>
              </a:custGeom>
              <a:gradFill rotWithShape="1">
                <a:gsLst>
                  <a:gs pos="0">
                    <a:srgbClr val="000000">
                      <a:alpha val="20000"/>
                    </a:srgbClr>
                  </a:gs>
                  <a:gs pos="100000">
                    <a:srgbClr val="7A2F16">
                      <a:alpha val="29999"/>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28" name="Freeform 6"/>
              <p:cNvSpPr>
                <a:spLocks noChangeArrowheads="1"/>
              </p:cNvSpPr>
              <p:nvPr/>
            </p:nvSpPr>
            <p:spPr bwMode="auto">
              <a:xfrm>
                <a:off x="6141" y="753"/>
                <a:ext cx="578" cy="578"/>
              </a:xfrm>
              <a:custGeom>
                <a:avLst/>
                <a:gdLst>
                  <a:gd name="T0" fmla="*/ 111 w 577"/>
                  <a:gd name="T1" fmla="*/ 0 h 579"/>
                  <a:gd name="T2" fmla="*/ 0 w 577"/>
                  <a:gd name="T3" fmla="*/ 112 h 579"/>
                  <a:gd name="T4" fmla="*/ 466 w 577"/>
                  <a:gd name="T5" fmla="*/ 579 h 579"/>
                  <a:gd name="T6" fmla="*/ 577 w 577"/>
                  <a:gd name="T7" fmla="*/ 468 h 579"/>
                  <a:gd name="T8" fmla="*/ 111 w 577"/>
                  <a:gd name="T9" fmla="*/ 0 h 5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7" h="579">
                    <a:moveTo>
                      <a:pt x="111" y="0"/>
                    </a:moveTo>
                    <a:lnTo>
                      <a:pt x="0" y="112"/>
                    </a:lnTo>
                    <a:lnTo>
                      <a:pt x="466" y="579"/>
                    </a:lnTo>
                    <a:lnTo>
                      <a:pt x="577" y="468"/>
                    </a:lnTo>
                    <a:lnTo>
                      <a:pt x="11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29" name="Freeform 7"/>
              <p:cNvSpPr>
                <a:spLocks noChangeArrowheads="1"/>
              </p:cNvSpPr>
              <p:nvPr/>
            </p:nvSpPr>
            <p:spPr bwMode="auto">
              <a:xfrm>
                <a:off x="6141" y="1782"/>
                <a:ext cx="578" cy="566"/>
              </a:xfrm>
              <a:custGeom>
                <a:avLst/>
                <a:gdLst>
                  <a:gd name="T0" fmla="*/ 466 w 577"/>
                  <a:gd name="T1" fmla="*/ 0 h 567"/>
                  <a:gd name="T2" fmla="*/ 0 w 577"/>
                  <a:gd name="T3" fmla="*/ 467 h 567"/>
                  <a:gd name="T4" fmla="*/ 100 w 577"/>
                  <a:gd name="T5" fmla="*/ 567 h 567"/>
                  <a:gd name="T6" fmla="*/ 111 w 577"/>
                  <a:gd name="T7" fmla="*/ 555 h 567"/>
                  <a:gd name="T8" fmla="*/ 577 w 577"/>
                  <a:gd name="T9" fmla="*/ 109 h 567"/>
                  <a:gd name="T10" fmla="*/ 466 w 577"/>
                  <a:gd name="T11" fmla="*/ 0 h 56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7" h="567">
                    <a:moveTo>
                      <a:pt x="466" y="0"/>
                    </a:moveTo>
                    <a:lnTo>
                      <a:pt x="0" y="467"/>
                    </a:lnTo>
                    <a:lnTo>
                      <a:pt x="100" y="567"/>
                    </a:lnTo>
                    <a:lnTo>
                      <a:pt x="111" y="555"/>
                    </a:lnTo>
                    <a:lnTo>
                      <a:pt x="577" y="109"/>
                    </a:lnTo>
                    <a:lnTo>
                      <a:pt x="466" y="0"/>
                    </a:lnTo>
                    <a:close/>
                  </a:path>
                </a:pathLst>
              </a:custGeom>
              <a:gradFill rotWithShape="1">
                <a:gsLst>
                  <a:gs pos="0">
                    <a:srgbClr val="000000">
                      <a:alpha val="20000"/>
                    </a:srgbClr>
                  </a:gs>
                  <a:gs pos="100000">
                    <a:srgbClr val="7A2F16">
                      <a:alpha val="29999"/>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30" name="Freeform 8"/>
              <p:cNvSpPr>
                <a:spLocks noChangeArrowheads="1"/>
              </p:cNvSpPr>
              <p:nvPr/>
            </p:nvSpPr>
            <p:spPr bwMode="auto">
              <a:xfrm>
                <a:off x="6141" y="1782"/>
                <a:ext cx="578" cy="566"/>
              </a:xfrm>
              <a:custGeom>
                <a:avLst/>
                <a:gdLst>
                  <a:gd name="T0" fmla="*/ 466 w 577"/>
                  <a:gd name="T1" fmla="*/ 0 h 567"/>
                  <a:gd name="T2" fmla="*/ 0 w 577"/>
                  <a:gd name="T3" fmla="*/ 467 h 567"/>
                  <a:gd name="T4" fmla="*/ 100 w 577"/>
                  <a:gd name="T5" fmla="*/ 567 h 567"/>
                  <a:gd name="T6" fmla="*/ 111 w 577"/>
                  <a:gd name="T7" fmla="*/ 555 h 567"/>
                  <a:gd name="T8" fmla="*/ 577 w 577"/>
                  <a:gd name="T9" fmla="*/ 109 h 567"/>
                  <a:gd name="T10" fmla="*/ 466 w 577"/>
                  <a:gd name="T11" fmla="*/ 0 h 56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7" h="567">
                    <a:moveTo>
                      <a:pt x="466" y="0"/>
                    </a:moveTo>
                    <a:lnTo>
                      <a:pt x="0" y="467"/>
                    </a:lnTo>
                    <a:lnTo>
                      <a:pt x="100" y="567"/>
                    </a:lnTo>
                    <a:lnTo>
                      <a:pt x="111" y="555"/>
                    </a:lnTo>
                    <a:lnTo>
                      <a:pt x="577" y="109"/>
                    </a:lnTo>
                    <a:lnTo>
                      <a:pt x="46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31" name="Freeform 9"/>
              <p:cNvSpPr>
                <a:spLocks noChangeArrowheads="1"/>
              </p:cNvSpPr>
              <p:nvPr/>
            </p:nvSpPr>
            <p:spPr bwMode="auto">
              <a:xfrm>
                <a:off x="4605" y="753"/>
                <a:ext cx="572" cy="575"/>
              </a:xfrm>
              <a:custGeom>
                <a:avLst/>
                <a:gdLst>
                  <a:gd name="T0" fmla="*/ 109 w 572"/>
                  <a:gd name="T1" fmla="*/ 0 h 577"/>
                  <a:gd name="T2" fmla="*/ 0 w 572"/>
                  <a:gd name="T3" fmla="*/ 110 h 577"/>
                  <a:gd name="T4" fmla="*/ 466 w 572"/>
                  <a:gd name="T5" fmla="*/ 577 h 577"/>
                  <a:gd name="T6" fmla="*/ 572 w 572"/>
                  <a:gd name="T7" fmla="*/ 468 h 577"/>
                  <a:gd name="T8" fmla="*/ 109 w 572"/>
                  <a:gd name="T9" fmla="*/ 0 h 5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2" h="577">
                    <a:moveTo>
                      <a:pt x="109" y="0"/>
                    </a:moveTo>
                    <a:lnTo>
                      <a:pt x="0" y="110"/>
                    </a:lnTo>
                    <a:lnTo>
                      <a:pt x="466" y="577"/>
                    </a:lnTo>
                    <a:lnTo>
                      <a:pt x="572" y="468"/>
                    </a:lnTo>
                    <a:lnTo>
                      <a:pt x="109" y="0"/>
                    </a:lnTo>
                    <a:close/>
                  </a:path>
                </a:pathLst>
              </a:custGeom>
              <a:gradFill rotWithShape="1">
                <a:gsLst>
                  <a:gs pos="0">
                    <a:srgbClr val="F39800">
                      <a:alpha val="20000"/>
                    </a:srgbClr>
                  </a:gs>
                  <a:gs pos="100000">
                    <a:srgbClr val="925900">
                      <a:alpha val="2000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32" name="Freeform 10"/>
              <p:cNvSpPr>
                <a:spLocks noChangeArrowheads="1"/>
              </p:cNvSpPr>
              <p:nvPr/>
            </p:nvSpPr>
            <p:spPr bwMode="auto">
              <a:xfrm>
                <a:off x="4605" y="753"/>
                <a:ext cx="572" cy="575"/>
              </a:xfrm>
              <a:custGeom>
                <a:avLst/>
                <a:gdLst>
                  <a:gd name="T0" fmla="*/ 109 w 572"/>
                  <a:gd name="T1" fmla="*/ 0 h 577"/>
                  <a:gd name="T2" fmla="*/ 0 w 572"/>
                  <a:gd name="T3" fmla="*/ 110 h 577"/>
                  <a:gd name="T4" fmla="*/ 466 w 572"/>
                  <a:gd name="T5" fmla="*/ 577 h 577"/>
                  <a:gd name="T6" fmla="*/ 572 w 572"/>
                  <a:gd name="T7" fmla="*/ 468 h 577"/>
                  <a:gd name="T8" fmla="*/ 109 w 572"/>
                  <a:gd name="T9" fmla="*/ 0 h 5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2" h="577">
                    <a:moveTo>
                      <a:pt x="109" y="0"/>
                    </a:moveTo>
                    <a:lnTo>
                      <a:pt x="0" y="110"/>
                    </a:lnTo>
                    <a:lnTo>
                      <a:pt x="466" y="577"/>
                    </a:lnTo>
                    <a:lnTo>
                      <a:pt x="572" y="468"/>
                    </a:lnTo>
                    <a:lnTo>
                      <a:pt x="10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33" name="Freeform 11"/>
              <p:cNvSpPr>
                <a:spLocks noChangeArrowheads="1"/>
              </p:cNvSpPr>
              <p:nvPr/>
            </p:nvSpPr>
            <p:spPr bwMode="auto">
              <a:xfrm>
                <a:off x="4605" y="1785"/>
                <a:ext cx="551" cy="551"/>
              </a:xfrm>
              <a:custGeom>
                <a:avLst/>
                <a:gdLst>
                  <a:gd name="T0" fmla="*/ 466 w 551"/>
                  <a:gd name="T1" fmla="*/ 0 h 553"/>
                  <a:gd name="T2" fmla="*/ 0 w 551"/>
                  <a:gd name="T3" fmla="*/ 465 h 553"/>
                  <a:gd name="T4" fmla="*/ 87 w 551"/>
                  <a:gd name="T5" fmla="*/ 553 h 553"/>
                  <a:gd name="T6" fmla="*/ 551 w 551"/>
                  <a:gd name="T7" fmla="*/ 86 h 553"/>
                  <a:gd name="T8" fmla="*/ 466 w 551"/>
                  <a:gd name="T9" fmla="*/ 0 h 5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1" h="553">
                    <a:moveTo>
                      <a:pt x="466" y="0"/>
                    </a:moveTo>
                    <a:lnTo>
                      <a:pt x="0" y="465"/>
                    </a:lnTo>
                    <a:lnTo>
                      <a:pt x="87" y="553"/>
                    </a:lnTo>
                    <a:lnTo>
                      <a:pt x="551" y="86"/>
                    </a:lnTo>
                    <a:lnTo>
                      <a:pt x="466" y="0"/>
                    </a:lnTo>
                    <a:close/>
                  </a:path>
                </a:pathLst>
              </a:custGeom>
              <a:gradFill rotWithShape="1">
                <a:gsLst>
                  <a:gs pos="0">
                    <a:srgbClr val="F39800">
                      <a:alpha val="20000"/>
                    </a:srgbClr>
                  </a:gs>
                  <a:gs pos="100000">
                    <a:srgbClr val="925900">
                      <a:alpha val="2000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34" name="Freeform 12"/>
              <p:cNvSpPr>
                <a:spLocks noChangeArrowheads="1"/>
              </p:cNvSpPr>
              <p:nvPr/>
            </p:nvSpPr>
            <p:spPr bwMode="auto">
              <a:xfrm>
                <a:off x="4605" y="1785"/>
                <a:ext cx="551" cy="551"/>
              </a:xfrm>
              <a:custGeom>
                <a:avLst/>
                <a:gdLst>
                  <a:gd name="T0" fmla="*/ 466 w 551"/>
                  <a:gd name="T1" fmla="*/ 0 h 553"/>
                  <a:gd name="T2" fmla="*/ 0 w 551"/>
                  <a:gd name="T3" fmla="*/ 465 h 553"/>
                  <a:gd name="T4" fmla="*/ 87 w 551"/>
                  <a:gd name="T5" fmla="*/ 553 h 553"/>
                  <a:gd name="T6" fmla="*/ 551 w 551"/>
                  <a:gd name="T7" fmla="*/ 86 h 553"/>
                  <a:gd name="T8" fmla="*/ 466 w 551"/>
                  <a:gd name="T9" fmla="*/ 0 h 5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1" h="553">
                    <a:moveTo>
                      <a:pt x="466" y="0"/>
                    </a:moveTo>
                    <a:lnTo>
                      <a:pt x="0" y="465"/>
                    </a:lnTo>
                    <a:lnTo>
                      <a:pt x="87" y="553"/>
                    </a:lnTo>
                    <a:lnTo>
                      <a:pt x="551" y="86"/>
                    </a:lnTo>
                    <a:lnTo>
                      <a:pt x="46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35" name="Freeform 13"/>
              <p:cNvSpPr>
                <a:spLocks noChangeArrowheads="1"/>
              </p:cNvSpPr>
              <p:nvPr/>
            </p:nvSpPr>
            <p:spPr bwMode="auto">
              <a:xfrm>
                <a:off x="3066" y="753"/>
                <a:ext cx="575" cy="578"/>
              </a:xfrm>
              <a:custGeom>
                <a:avLst/>
                <a:gdLst>
                  <a:gd name="T0" fmla="*/ 109 w 575"/>
                  <a:gd name="T1" fmla="*/ 0 h 579"/>
                  <a:gd name="T2" fmla="*/ 0 w 575"/>
                  <a:gd name="T3" fmla="*/ 112 h 579"/>
                  <a:gd name="T4" fmla="*/ 464 w 575"/>
                  <a:gd name="T5" fmla="*/ 579 h 579"/>
                  <a:gd name="T6" fmla="*/ 575 w 575"/>
                  <a:gd name="T7" fmla="*/ 468 h 579"/>
                  <a:gd name="T8" fmla="*/ 109 w 575"/>
                  <a:gd name="T9" fmla="*/ 0 h 5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5" h="579">
                    <a:moveTo>
                      <a:pt x="109" y="0"/>
                    </a:moveTo>
                    <a:lnTo>
                      <a:pt x="0" y="112"/>
                    </a:lnTo>
                    <a:lnTo>
                      <a:pt x="464" y="579"/>
                    </a:lnTo>
                    <a:lnTo>
                      <a:pt x="575" y="468"/>
                    </a:lnTo>
                    <a:lnTo>
                      <a:pt x="109" y="0"/>
                    </a:lnTo>
                    <a:close/>
                  </a:path>
                </a:pathLst>
              </a:custGeom>
              <a:gradFill rotWithShape="1">
                <a:gsLst>
                  <a:gs pos="0">
                    <a:srgbClr val="0D6FB8">
                      <a:alpha val="20000"/>
                    </a:srgbClr>
                  </a:gs>
                  <a:gs pos="100000">
                    <a:srgbClr val="000B2C">
                      <a:alpha val="2000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36" name="Freeform 14"/>
              <p:cNvSpPr>
                <a:spLocks noChangeArrowheads="1"/>
              </p:cNvSpPr>
              <p:nvPr/>
            </p:nvSpPr>
            <p:spPr bwMode="auto">
              <a:xfrm>
                <a:off x="3066" y="753"/>
                <a:ext cx="575" cy="578"/>
              </a:xfrm>
              <a:custGeom>
                <a:avLst/>
                <a:gdLst>
                  <a:gd name="T0" fmla="*/ 109 w 575"/>
                  <a:gd name="T1" fmla="*/ 0 h 579"/>
                  <a:gd name="T2" fmla="*/ 0 w 575"/>
                  <a:gd name="T3" fmla="*/ 112 h 579"/>
                  <a:gd name="T4" fmla="*/ 464 w 575"/>
                  <a:gd name="T5" fmla="*/ 579 h 579"/>
                  <a:gd name="T6" fmla="*/ 575 w 575"/>
                  <a:gd name="T7" fmla="*/ 468 h 579"/>
                  <a:gd name="T8" fmla="*/ 109 w 575"/>
                  <a:gd name="T9" fmla="*/ 0 h 5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5" h="579">
                    <a:moveTo>
                      <a:pt x="109" y="0"/>
                    </a:moveTo>
                    <a:lnTo>
                      <a:pt x="0" y="112"/>
                    </a:lnTo>
                    <a:lnTo>
                      <a:pt x="464" y="579"/>
                    </a:lnTo>
                    <a:lnTo>
                      <a:pt x="575" y="468"/>
                    </a:lnTo>
                    <a:lnTo>
                      <a:pt x="10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37" name="Freeform 15"/>
              <p:cNvSpPr>
                <a:spLocks noChangeArrowheads="1"/>
              </p:cNvSpPr>
              <p:nvPr/>
            </p:nvSpPr>
            <p:spPr bwMode="auto">
              <a:xfrm>
                <a:off x="3066" y="1782"/>
                <a:ext cx="554" cy="554"/>
              </a:xfrm>
              <a:custGeom>
                <a:avLst/>
                <a:gdLst>
                  <a:gd name="T0" fmla="*/ 464 w 554"/>
                  <a:gd name="T1" fmla="*/ 0 h 555"/>
                  <a:gd name="T2" fmla="*/ 0 w 554"/>
                  <a:gd name="T3" fmla="*/ 467 h 555"/>
                  <a:gd name="T4" fmla="*/ 88 w 554"/>
                  <a:gd name="T5" fmla="*/ 555 h 555"/>
                  <a:gd name="T6" fmla="*/ 554 w 554"/>
                  <a:gd name="T7" fmla="*/ 88 h 555"/>
                  <a:gd name="T8" fmla="*/ 464 w 554"/>
                  <a:gd name="T9" fmla="*/ 0 h 5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4" h="555">
                    <a:moveTo>
                      <a:pt x="464" y="0"/>
                    </a:moveTo>
                    <a:lnTo>
                      <a:pt x="0" y="467"/>
                    </a:lnTo>
                    <a:lnTo>
                      <a:pt x="88" y="555"/>
                    </a:lnTo>
                    <a:lnTo>
                      <a:pt x="554" y="88"/>
                    </a:lnTo>
                    <a:lnTo>
                      <a:pt x="464" y="0"/>
                    </a:lnTo>
                    <a:close/>
                  </a:path>
                </a:pathLst>
              </a:custGeom>
              <a:gradFill rotWithShape="1">
                <a:gsLst>
                  <a:gs pos="0">
                    <a:srgbClr val="0D6FB8">
                      <a:alpha val="20000"/>
                    </a:srgbClr>
                  </a:gs>
                  <a:gs pos="100000">
                    <a:srgbClr val="000B2C">
                      <a:alpha val="2000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38" name="Freeform 16"/>
              <p:cNvSpPr>
                <a:spLocks noChangeArrowheads="1"/>
              </p:cNvSpPr>
              <p:nvPr/>
            </p:nvSpPr>
            <p:spPr bwMode="auto">
              <a:xfrm>
                <a:off x="3066" y="1782"/>
                <a:ext cx="554" cy="554"/>
              </a:xfrm>
              <a:custGeom>
                <a:avLst/>
                <a:gdLst>
                  <a:gd name="T0" fmla="*/ 464 w 554"/>
                  <a:gd name="T1" fmla="*/ 0 h 555"/>
                  <a:gd name="T2" fmla="*/ 0 w 554"/>
                  <a:gd name="T3" fmla="*/ 467 h 555"/>
                  <a:gd name="T4" fmla="*/ 88 w 554"/>
                  <a:gd name="T5" fmla="*/ 555 h 555"/>
                  <a:gd name="T6" fmla="*/ 554 w 554"/>
                  <a:gd name="T7" fmla="*/ 88 h 555"/>
                  <a:gd name="T8" fmla="*/ 464 w 554"/>
                  <a:gd name="T9" fmla="*/ 0 h 5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4" h="555">
                    <a:moveTo>
                      <a:pt x="464" y="0"/>
                    </a:moveTo>
                    <a:lnTo>
                      <a:pt x="0" y="467"/>
                    </a:lnTo>
                    <a:lnTo>
                      <a:pt x="88" y="555"/>
                    </a:lnTo>
                    <a:lnTo>
                      <a:pt x="554" y="88"/>
                    </a:lnTo>
                    <a:lnTo>
                      <a:pt x="46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39" name="Freeform 17"/>
              <p:cNvSpPr>
                <a:spLocks noChangeArrowheads="1"/>
              </p:cNvSpPr>
              <p:nvPr/>
            </p:nvSpPr>
            <p:spPr bwMode="auto">
              <a:xfrm>
                <a:off x="1527" y="753"/>
                <a:ext cx="575" cy="575"/>
              </a:xfrm>
              <a:custGeom>
                <a:avLst/>
                <a:gdLst>
                  <a:gd name="T0" fmla="*/ 108 w 574"/>
                  <a:gd name="T1" fmla="*/ 0 h 577"/>
                  <a:gd name="T2" fmla="*/ 0 w 574"/>
                  <a:gd name="T3" fmla="*/ 110 h 577"/>
                  <a:gd name="T4" fmla="*/ 466 w 574"/>
                  <a:gd name="T5" fmla="*/ 577 h 577"/>
                  <a:gd name="T6" fmla="*/ 574 w 574"/>
                  <a:gd name="T7" fmla="*/ 468 h 577"/>
                  <a:gd name="T8" fmla="*/ 108 w 574"/>
                  <a:gd name="T9" fmla="*/ 0 h 5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4" h="577">
                    <a:moveTo>
                      <a:pt x="108" y="0"/>
                    </a:moveTo>
                    <a:lnTo>
                      <a:pt x="0" y="110"/>
                    </a:lnTo>
                    <a:lnTo>
                      <a:pt x="466" y="577"/>
                    </a:lnTo>
                    <a:lnTo>
                      <a:pt x="574" y="468"/>
                    </a:lnTo>
                    <a:lnTo>
                      <a:pt x="108" y="0"/>
                    </a:lnTo>
                    <a:close/>
                  </a:path>
                </a:pathLst>
              </a:custGeom>
              <a:gradFill rotWithShape="1">
                <a:gsLst>
                  <a:gs pos="0">
                    <a:srgbClr val="FD3428">
                      <a:alpha val="20000"/>
                    </a:srgbClr>
                  </a:gs>
                  <a:gs pos="100000">
                    <a:srgbClr val="6D0000">
                      <a:alpha val="2000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40" name="Freeform 18"/>
              <p:cNvSpPr>
                <a:spLocks noChangeArrowheads="1"/>
              </p:cNvSpPr>
              <p:nvPr/>
            </p:nvSpPr>
            <p:spPr bwMode="auto">
              <a:xfrm>
                <a:off x="1527" y="753"/>
                <a:ext cx="575" cy="575"/>
              </a:xfrm>
              <a:custGeom>
                <a:avLst/>
                <a:gdLst>
                  <a:gd name="T0" fmla="*/ 108 w 574"/>
                  <a:gd name="T1" fmla="*/ 0 h 577"/>
                  <a:gd name="T2" fmla="*/ 0 w 574"/>
                  <a:gd name="T3" fmla="*/ 110 h 577"/>
                  <a:gd name="T4" fmla="*/ 466 w 574"/>
                  <a:gd name="T5" fmla="*/ 577 h 577"/>
                  <a:gd name="T6" fmla="*/ 574 w 574"/>
                  <a:gd name="T7" fmla="*/ 468 h 577"/>
                  <a:gd name="T8" fmla="*/ 108 w 574"/>
                  <a:gd name="T9" fmla="*/ 0 h 5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74" h="577">
                    <a:moveTo>
                      <a:pt x="108" y="0"/>
                    </a:moveTo>
                    <a:lnTo>
                      <a:pt x="0" y="110"/>
                    </a:lnTo>
                    <a:lnTo>
                      <a:pt x="466" y="577"/>
                    </a:lnTo>
                    <a:lnTo>
                      <a:pt x="574" y="468"/>
                    </a:lnTo>
                    <a:lnTo>
                      <a:pt x="10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41" name="Freeform 19"/>
              <p:cNvSpPr>
                <a:spLocks noChangeArrowheads="1"/>
              </p:cNvSpPr>
              <p:nvPr/>
            </p:nvSpPr>
            <p:spPr bwMode="auto">
              <a:xfrm>
                <a:off x="1527" y="1785"/>
                <a:ext cx="554" cy="551"/>
              </a:xfrm>
              <a:custGeom>
                <a:avLst/>
                <a:gdLst>
                  <a:gd name="T0" fmla="*/ 466 w 553"/>
                  <a:gd name="T1" fmla="*/ 0 h 553"/>
                  <a:gd name="T2" fmla="*/ 0 w 553"/>
                  <a:gd name="T3" fmla="*/ 467 h 553"/>
                  <a:gd name="T4" fmla="*/ 87 w 553"/>
                  <a:gd name="T5" fmla="*/ 553 h 553"/>
                  <a:gd name="T6" fmla="*/ 553 w 553"/>
                  <a:gd name="T7" fmla="*/ 86 h 553"/>
                  <a:gd name="T8" fmla="*/ 466 w 553"/>
                  <a:gd name="T9" fmla="*/ 0 h 5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3" h="553">
                    <a:moveTo>
                      <a:pt x="466" y="0"/>
                    </a:moveTo>
                    <a:lnTo>
                      <a:pt x="0" y="467"/>
                    </a:lnTo>
                    <a:lnTo>
                      <a:pt x="87" y="553"/>
                    </a:lnTo>
                    <a:lnTo>
                      <a:pt x="553" y="86"/>
                    </a:lnTo>
                    <a:lnTo>
                      <a:pt x="466" y="0"/>
                    </a:lnTo>
                    <a:close/>
                  </a:path>
                </a:pathLst>
              </a:custGeom>
              <a:gradFill rotWithShape="1">
                <a:gsLst>
                  <a:gs pos="0">
                    <a:srgbClr val="FD3428">
                      <a:alpha val="20000"/>
                    </a:srgbClr>
                  </a:gs>
                  <a:gs pos="100000">
                    <a:srgbClr val="6D0000">
                      <a:alpha val="20000"/>
                    </a:srgb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sp>
            <p:nvSpPr>
              <p:cNvPr id="54342" name="Freeform 20"/>
              <p:cNvSpPr>
                <a:spLocks noChangeArrowheads="1"/>
              </p:cNvSpPr>
              <p:nvPr/>
            </p:nvSpPr>
            <p:spPr bwMode="auto">
              <a:xfrm>
                <a:off x="1527" y="1785"/>
                <a:ext cx="554" cy="551"/>
              </a:xfrm>
              <a:custGeom>
                <a:avLst/>
                <a:gdLst>
                  <a:gd name="T0" fmla="*/ 466 w 553"/>
                  <a:gd name="T1" fmla="*/ 0 h 553"/>
                  <a:gd name="T2" fmla="*/ 0 w 553"/>
                  <a:gd name="T3" fmla="*/ 467 h 553"/>
                  <a:gd name="T4" fmla="*/ 87 w 553"/>
                  <a:gd name="T5" fmla="*/ 553 h 553"/>
                  <a:gd name="T6" fmla="*/ 553 w 553"/>
                  <a:gd name="T7" fmla="*/ 86 h 553"/>
                  <a:gd name="T8" fmla="*/ 466 w 553"/>
                  <a:gd name="T9" fmla="*/ 0 h 5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3" h="553">
                    <a:moveTo>
                      <a:pt x="466" y="0"/>
                    </a:moveTo>
                    <a:lnTo>
                      <a:pt x="0" y="467"/>
                    </a:lnTo>
                    <a:lnTo>
                      <a:pt x="87" y="553"/>
                    </a:lnTo>
                    <a:lnTo>
                      <a:pt x="553" y="86"/>
                    </a:lnTo>
                    <a:lnTo>
                      <a:pt x="46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sz="1350">
                  <a:solidFill>
                    <a:prstClr val="black"/>
                  </a:solidFill>
                  <a:latin typeface="Calibri" panose="020F0502020204030204" pitchFamily="34" charset="0"/>
                </a:endParaRPr>
              </a:p>
            </p:txBody>
          </p:sp>
        </p:grpSp>
      </p:grpSp>
      <p:sp>
        <p:nvSpPr>
          <p:cNvPr id="197637" name="文本框 7"/>
          <p:cNvSpPr txBox="1">
            <a:spLocks noChangeArrowheads="1"/>
          </p:cNvSpPr>
          <p:nvPr/>
        </p:nvSpPr>
        <p:spPr bwMode="auto">
          <a:xfrm>
            <a:off x="3314700" y="1555750"/>
            <a:ext cx="22082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buFont typeface="Arial" pitchFamily="34" charset="0"/>
              <a:buNone/>
            </a:pPr>
            <a:r>
              <a:rPr lang="zh-CN" altLang="en-US" sz="2400" b="1">
                <a:solidFill>
                  <a:srgbClr val="C91F18"/>
                </a:solidFill>
                <a:latin typeface="幼圆" pitchFamily="49" charset="-122"/>
                <a:ea typeface="幼圆" pitchFamily="49" charset="-122"/>
                <a:sym typeface="宋体" pitchFamily="2" charset="-122"/>
              </a:rPr>
              <a:t>考试复习建议</a:t>
            </a:r>
            <a:endParaRPr lang="en-US" altLang="zh-CN" sz="2400" b="1">
              <a:solidFill>
                <a:srgbClr val="C91F18"/>
              </a:solidFill>
              <a:latin typeface="幼圆" pitchFamily="49" charset="-122"/>
              <a:ea typeface="幼圆" pitchFamily="49" charset="-122"/>
              <a:sym typeface="宋体" pitchFamily="2" charset="-122"/>
            </a:endParaRPr>
          </a:p>
          <a:p>
            <a:pPr eaLnBrk="1" hangingPunct="1">
              <a:buFont typeface="Arial" pitchFamily="34" charset="0"/>
              <a:buNone/>
            </a:pPr>
            <a:r>
              <a:rPr lang="en-US" altLang="zh-CN" sz="2400" b="1">
                <a:solidFill>
                  <a:srgbClr val="C91F18"/>
                </a:solidFill>
                <a:latin typeface="幼圆" pitchFamily="49" charset="-122"/>
                <a:ea typeface="幼圆" pitchFamily="49" charset="-122"/>
                <a:sym typeface="宋体" pitchFamily="2" charset="-122"/>
              </a:rPr>
              <a:t> </a:t>
            </a:r>
            <a:endParaRPr lang="zh-CN" altLang="en-US" sz="2400" b="1">
              <a:solidFill>
                <a:srgbClr val="C91F18"/>
              </a:solidFill>
              <a:latin typeface="幼圆" pitchFamily="49" charset="-122"/>
              <a:ea typeface="幼圆" pitchFamily="49" charset="-122"/>
              <a:sym typeface="宋体" pitchFamily="2" charset="-122"/>
            </a:endParaRPr>
          </a:p>
        </p:txBody>
      </p:sp>
      <p:sp>
        <p:nvSpPr>
          <p:cNvPr id="62" name="文本框 7"/>
          <p:cNvSpPr txBox="1">
            <a:spLocks noChangeArrowheads="1"/>
          </p:cNvSpPr>
          <p:nvPr/>
        </p:nvSpPr>
        <p:spPr bwMode="auto">
          <a:xfrm>
            <a:off x="75950" y="1363043"/>
            <a:ext cx="2659062"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buFont typeface="Arial" panose="020B0604020202020204" pitchFamily="34" charset="0"/>
              <a:buNone/>
              <a:defRPr/>
            </a:pPr>
            <a:r>
              <a:rPr lang="zh-CN" altLang="en-US" sz="1500" b="1" dirty="0">
                <a:solidFill>
                  <a:srgbClr val="C00000"/>
                </a:solidFill>
                <a:latin typeface="幼圆" pitchFamily="49" charset="-122"/>
                <a:ea typeface="幼圆" pitchFamily="49" charset="-122"/>
                <a:sym typeface="宋体" pitchFamily="2" charset="-122"/>
              </a:rPr>
              <a:t>基础知识部分</a:t>
            </a:r>
            <a:endParaRPr lang="en-US" altLang="zh-CN" sz="1500" b="1" dirty="0">
              <a:solidFill>
                <a:srgbClr val="C00000"/>
              </a:solidFill>
              <a:latin typeface="幼圆" pitchFamily="49" charset="-122"/>
              <a:ea typeface="幼圆" pitchFamily="49" charset="-122"/>
              <a:sym typeface="宋体" pitchFamily="2" charset="-122"/>
            </a:endParaRPr>
          </a:p>
          <a:p>
            <a:pPr marL="257175" indent="-257175" eaLnBrk="1" hangingPunct="1">
              <a:buFont typeface="Arial" charset="0"/>
              <a:buChar char="•"/>
              <a:defRPr/>
            </a:pPr>
            <a:r>
              <a:rPr lang="zh-CN" altLang="en-US" sz="1500" b="1" dirty="0">
                <a:solidFill>
                  <a:srgbClr val="4472C4">
                    <a:lumMod val="50000"/>
                  </a:srgbClr>
                </a:solidFill>
                <a:latin typeface="幼圆" pitchFamily="49" charset="-122"/>
                <a:ea typeface="幼圆" pitchFamily="49" charset="-122"/>
                <a:sym typeface="宋体" pitchFamily="2" charset="-122"/>
              </a:rPr>
              <a:t>大学计算机（面广，简单）</a:t>
            </a:r>
            <a:endParaRPr lang="en-US" altLang="zh-CN" sz="1500" b="1" dirty="0">
              <a:solidFill>
                <a:srgbClr val="4472C4">
                  <a:lumMod val="50000"/>
                </a:srgbClr>
              </a:solidFill>
              <a:latin typeface="幼圆" pitchFamily="49" charset="-122"/>
              <a:ea typeface="幼圆" pitchFamily="49" charset="-122"/>
              <a:sym typeface="宋体" pitchFamily="2" charset="-122"/>
            </a:endParaRPr>
          </a:p>
          <a:p>
            <a:pPr marL="257175" indent="-257175" eaLnBrk="1" hangingPunct="1">
              <a:buFont typeface="Arial" charset="0"/>
              <a:buChar char="•"/>
              <a:defRPr/>
            </a:pPr>
            <a:r>
              <a:rPr lang="en-US" altLang="zh-CN" sz="1500" b="1" dirty="0">
                <a:solidFill>
                  <a:srgbClr val="4472C4">
                    <a:lumMod val="50000"/>
                  </a:srgbClr>
                </a:solidFill>
                <a:latin typeface="幼圆" pitchFamily="49" charset="-122"/>
                <a:ea typeface="幼圆" pitchFamily="49" charset="-122"/>
                <a:sym typeface="宋体" pitchFamily="2" charset="-122"/>
              </a:rPr>
              <a:t>C</a:t>
            </a:r>
            <a:r>
              <a:rPr lang="zh-CN" altLang="en-US" sz="1500" b="1" dirty="0">
                <a:solidFill>
                  <a:srgbClr val="4472C4">
                    <a:lumMod val="50000"/>
                  </a:srgbClr>
                </a:solidFill>
                <a:latin typeface="幼圆" pitchFamily="49" charset="-122"/>
                <a:ea typeface="幼圆" pitchFamily="49" charset="-122"/>
                <a:sym typeface="宋体" pitchFamily="2" charset="-122"/>
              </a:rPr>
              <a:t>前几章基础知识仍渗透在后续内容中。</a:t>
            </a:r>
          </a:p>
          <a:p>
            <a:pPr marL="257175" indent="-257175" eaLnBrk="1" hangingPunct="1">
              <a:buFont typeface="Arial" charset="0"/>
              <a:buChar char="•"/>
              <a:defRPr/>
            </a:pPr>
            <a:r>
              <a:rPr lang="zh-CN" altLang="en-US" sz="1500" b="1" dirty="0">
                <a:solidFill>
                  <a:srgbClr val="4472C4">
                    <a:lumMod val="50000"/>
                  </a:srgbClr>
                </a:solidFill>
                <a:latin typeface="幼圆" pitchFamily="49" charset="-122"/>
                <a:ea typeface="幼圆" pitchFamily="49" charset="-122"/>
                <a:sym typeface="宋体" pitchFamily="2" charset="-122"/>
              </a:rPr>
              <a:t>将做过的看几遍，能用“</a:t>
            </a:r>
            <a:r>
              <a:rPr lang="zh-CN" altLang="en-US" sz="1500" b="1" dirty="0">
                <a:solidFill>
                  <a:srgbClr val="C00000"/>
                </a:solidFill>
                <a:latin typeface="幼圆" pitchFamily="49" charset="-122"/>
                <a:ea typeface="幼圆" pitchFamily="49" charset="-122"/>
                <a:sym typeface="宋体" pitchFamily="2" charset="-122"/>
              </a:rPr>
              <a:t>学术</a:t>
            </a:r>
            <a:r>
              <a:rPr lang="zh-CN" altLang="en-US" sz="1500" b="1" dirty="0">
                <a:solidFill>
                  <a:srgbClr val="4472C4">
                    <a:lumMod val="50000"/>
                  </a:srgbClr>
                </a:solidFill>
                <a:latin typeface="幼圆" pitchFamily="49" charset="-122"/>
                <a:ea typeface="幼圆" pitchFamily="49" charset="-122"/>
                <a:sym typeface="宋体" pitchFamily="2" charset="-122"/>
              </a:rPr>
              <a:t>”的语言解释答案</a:t>
            </a:r>
            <a:r>
              <a:rPr lang="en-US" altLang="zh-CN" sz="1500" b="1" dirty="0">
                <a:solidFill>
                  <a:srgbClr val="4472C4">
                    <a:lumMod val="50000"/>
                  </a:srgbClr>
                </a:solidFill>
                <a:latin typeface="幼圆" pitchFamily="49" charset="-122"/>
                <a:ea typeface="幼圆" pitchFamily="49" charset="-122"/>
                <a:sym typeface="宋体" pitchFamily="2" charset="-122"/>
              </a:rPr>
              <a:t> </a:t>
            </a:r>
            <a:endParaRPr lang="zh-CN" altLang="en-US" sz="1500" b="1" dirty="0">
              <a:solidFill>
                <a:srgbClr val="4472C4">
                  <a:lumMod val="50000"/>
                </a:srgbClr>
              </a:solidFill>
              <a:latin typeface="幼圆" pitchFamily="49" charset="-122"/>
              <a:ea typeface="幼圆" pitchFamily="49" charset="-122"/>
              <a:sym typeface="宋体" pitchFamily="2" charset="-122"/>
            </a:endParaRPr>
          </a:p>
        </p:txBody>
      </p:sp>
      <p:sp>
        <p:nvSpPr>
          <p:cNvPr id="63" name="文本框 7"/>
          <p:cNvSpPr txBox="1">
            <a:spLocks noChangeArrowheads="1"/>
          </p:cNvSpPr>
          <p:nvPr/>
        </p:nvSpPr>
        <p:spPr bwMode="auto">
          <a:xfrm>
            <a:off x="100013" y="3379788"/>
            <a:ext cx="2398712"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Arial" panose="020B0604020202020204" pitchFamily="34" charset="0"/>
              <a:buNone/>
              <a:defRPr/>
            </a:pPr>
            <a:r>
              <a:rPr lang="zh-CN" altLang="en-US" sz="1800" b="1" dirty="0">
                <a:solidFill>
                  <a:srgbClr val="C00000"/>
                </a:solidFill>
                <a:latin typeface="幼圆" pitchFamily="49" charset="-122"/>
                <a:ea typeface="幼圆" pitchFamily="49" charset="-122"/>
                <a:sym typeface="宋体" pitchFamily="2" charset="-122"/>
              </a:rPr>
              <a:t>将做过的题目分类</a:t>
            </a:r>
            <a:r>
              <a:rPr lang="zh-CN" altLang="en-US" sz="1800" b="1" dirty="0">
                <a:solidFill>
                  <a:srgbClr val="4472C4">
                    <a:lumMod val="50000"/>
                  </a:srgbClr>
                </a:solidFill>
                <a:latin typeface="幼圆" pitchFamily="49" charset="-122"/>
                <a:ea typeface="幼圆" pitchFamily="49" charset="-122"/>
                <a:sym typeface="宋体" pitchFamily="2" charset="-122"/>
              </a:rPr>
              <a:t> </a:t>
            </a:r>
            <a:endParaRPr lang="en-US" altLang="zh-CN" sz="1800" b="1" dirty="0">
              <a:solidFill>
                <a:srgbClr val="4472C4">
                  <a:lumMod val="50000"/>
                </a:srgbClr>
              </a:solidFill>
              <a:latin typeface="幼圆" pitchFamily="49" charset="-122"/>
              <a:ea typeface="幼圆" pitchFamily="49" charset="-122"/>
              <a:sym typeface="宋体" pitchFamily="2" charset="-122"/>
            </a:endParaRPr>
          </a:p>
          <a:p>
            <a:pPr marL="257175" indent="-257175" eaLnBrk="1" hangingPunct="1">
              <a:buFont typeface="Arial" panose="020B0604020202020204" pitchFamily="34" charset="0"/>
              <a:buChar char="•"/>
              <a:defRPr/>
            </a:pPr>
            <a:r>
              <a:rPr lang="zh-CN" altLang="en-US" sz="1800" b="1" dirty="0">
                <a:solidFill>
                  <a:srgbClr val="4472C4">
                    <a:lumMod val="50000"/>
                  </a:srgbClr>
                </a:solidFill>
                <a:latin typeface="幼圆" pitchFamily="49" charset="-122"/>
                <a:ea typeface="幼圆" pitchFamily="49" charset="-122"/>
                <a:sym typeface="宋体" pitchFamily="2" charset="-122"/>
              </a:rPr>
              <a:t>数制、硬件、软件；</a:t>
            </a:r>
            <a:endParaRPr lang="en-US" altLang="zh-CN" sz="1800" b="1" dirty="0">
              <a:solidFill>
                <a:srgbClr val="4472C4">
                  <a:lumMod val="50000"/>
                </a:srgbClr>
              </a:solidFill>
              <a:latin typeface="幼圆" pitchFamily="49" charset="-122"/>
              <a:ea typeface="幼圆" pitchFamily="49" charset="-122"/>
              <a:sym typeface="宋体" pitchFamily="2" charset="-122"/>
            </a:endParaRPr>
          </a:p>
          <a:p>
            <a:pPr marL="257175" indent="-257175" eaLnBrk="1" hangingPunct="1">
              <a:buFont typeface="Arial" panose="020B0604020202020204" pitchFamily="34" charset="0"/>
              <a:buChar char="•"/>
              <a:defRPr/>
            </a:pPr>
            <a:r>
              <a:rPr lang="zh-CN" altLang="en-US" b="1" dirty="0">
                <a:solidFill>
                  <a:srgbClr val="4472C4">
                    <a:lumMod val="50000"/>
                  </a:srgbClr>
                </a:solidFill>
                <a:latin typeface="幼圆" pitchFamily="49" charset="-122"/>
                <a:ea typeface="幼圆" pitchFamily="49" charset="-122"/>
                <a:sym typeface="宋体" pitchFamily="2" charset="-122"/>
              </a:rPr>
              <a:t>指针与字符串类的</a:t>
            </a:r>
            <a:endParaRPr lang="en-US" altLang="zh-CN" sz="1800" b="1" dirty="0">
              <a:solidFill>
                <a:srgbClr val="4472C4">
                  <a:lumMod val="50000"/>
                </a:srgbClr>
              </a:solidFill>
              <a:latin typeface="幼圆" pitchFamily="49" charset="-122"/>
              <a:ea typeface="幼圆" pitchFamily="49" charset="-122"/>
              <a:sym typeface="宋体" pitchFamily="2" charset="-122"/>
            </a:endParaRPr>
          </a:p>
          <a:p>
            <a:pPr marL="257175" indent="-257175" eaLnBrk="1" hangingPunct="1">
              <a:buFont typeface="Arial" panose="020B0604020202020204" pitchFamily="34" charset="0"/>
              <a:buChar char="•"/>
              <a:defRPr/>
            </a:pPr>
            <a:r>
              <a:rPr lang="zh-CN" altLang="en-US" sz="1800" b="1" dirty="0">
                <a:solidFill>
                  <a:srgbClr val="4472C4">
                    <a:lumMod val="50000"/>
                  </a:srgbClr>
                </a:solidFill>
                <a:latin typeface="幼圆" pitchFamily="49" charset="-122"/>
                <a:ea typeface="幼圆" pitchFamily="49" charset="-122"/>
                <a:sym typeface="宋体" pitchFamily="2" charset="-122"/>
              </a:rPr>
              <a:t>指针与数组类的；</a:t>
            </a:r>
            <a:endParaRPr lang="en-US" altLang="zh-CN" sz="1800" b="1" dirty="0">
              <a:solidFill>
                <a:srgbClr val="4472C4">
                  <a:lumMod val="50000"/>
                </a:srgbClr>
              </a:solidFill>
              <a:latin typeface="幼圆" pitchFamily="49" charset="-122"/>
              <a:ea typeface="幼圆" pitchFamily="49" charset="-122"/>
              <a:sym typeface="宋体" pitchFamily="2" charset="-122"/>
            </a:endParaRPr>
          </a:p>
          <a:p>
            <a:pPr marL="257175" indent="-257175" eaLnBrk="1" hangingPunct="1">
              <a:buFont typeface="Arial" panose="020B0604020202020204" pitchFamily="34" charset="0"/>
              <a:buChar char="•"/>
              <a:defRPr/>
            </a:pPr>
            <a:r>
              <a:rPr lang="zh-CN" altLang="en-US" sz="1800" b="1" dirty="0">
                <a:solidFill>
                  <a:srgbClr val="4472C4">
                    <a:lumMod val="50000"/>
                  </a:srgbClr>
                </a:solidFill>
                <a:latin typeface="幼圆" pitchFamily="49" charset="-122"/>
                <a:ea typeface="幼圆" pitchFamily="49" charset="-122"/>
                <a:sym typeface="宋体" pitchFamily="2" charset="-122"/>
              </a:rPr>
              <a:t>函数的概念类题目；</a:t>
            </a:r>
            <a:endParaRPr lang="en-US" altLang="zh-CN" sz="1800" b="1" dirty="0">
              <a:solidFill>
                <a:srgbClr val="4472C4">
                  <a:lumMod val="50000"/>
                </a:srgbClr>
              </a:solidFill>
              <a:latin typeface="幼圆" pitchFamily="49" charset="-122"/>
              <a:ea typeface="幼圆" pitchFamily="49" charset="-122"/>
              <a:sym typeface="宋体" pitchFamily="2" charset="-122"/>
            </a:endParaRPr>
          </a:p>
          <a:p>
            <a:pPr marL="257175" indent="-257175" eaLnBrk="1" hangingPunct="1">
              <a:buFont typeface="Arial" panose="020B0604020202020204" pitchFamily="34" charset="0"/>
              <a:buChar char="•"/>
              <a:defRPr/>
            </a:pPr>
            <a:r>
              <a:rPr lang="zh-CN" altLang="en-US" sz="1800" b="1" dirty="0">
                <a:solidFill>
                  <a:srgbClr val="4472C4">
                    <a:lumMod val="50000"/>
                  </a:srgbClr>
                </a:solidFill>
                <a:latin typeface="幼圆" pitchFamily="49" charset="-122"/>
                <a:ea typeface="幼圆" pitchFamily="49" charset="-122"/>
                <a:sym typeface="宋体" pitchFamily="2" charset="-122"/>
              </a:rPr>
              <a:t>变量存储特性类；</a:t>
            </a:r>
            <a:endParaRPr lang="en-US" altLang="zh-CN" sz="1800" b="1" dirty="0">
              <a:solidFill>
                <a:srgbClr val="4472C4">
                  <a:lumMod val="50000"/>
                </a:srgbClr>
              </a:solidFill>
              <a:latin typeface="幼圆" pitchFamily="49" charset="-122"/>
              <a:ea typeface="幼圆" pitchFamily="49" charset="-122"/>
              <a:sym typeface="宋体" pitchFamily="2" charset="-122"/>
            </a:endParaRPr>
          </a:p>
          <a:p>
            <a:pPr marL="257175" indent="-257175" eaLnBrk="1" hangingPunct="1">
              <a:buFont typeface="Arial" panose="020B0604020202020204" pitchFamily="34" charset="0"/>
              <a:buChar char="•"/>
              <a:defRPr/>
            </a:pPr>
            <a:r>
              <a:rPr lang="zh-CN" altLang="en-US" sz="1800" b="1" dirty="0">
                <a:solidFill>
                  <a:srgbClr val="4472C4">
                    <a:lumMod val="50000"/>
                  </a:srgbClr>
                </a:solidFill>
                <a:latin typeface="幼圆" pitchFamily="49" charset="-122"/>
                <a:ea typeface="幼圆" pitchFamily="49" charset="-122"/>
                <a:sym typeface="宋体" pitchFamily="2" charset="-122"/>
              </a:rPr>
              <a:t>编译预处理有关的；</a:t>
            </a:r>
            <a:endParaRPr lang="en-US" altLang="zh-CN" sz="1800" b="1" dirty="0">
              <a:solidFill>
                <a:srgbClr val="4472C4">
                  <a:lumMod val="50000"/>
                </a:srgbClr>
              </a:solidFill>
              <a:latin typeface="幼圆" pitchFamily="49" charset="-122"/>
              <a:ea typeface="幼圆" pitchFamily="49" charset="-122"/>
              <a:sym typeface="宋体" pitchFamily="2" charset="-122"/>
            </a:endParaRPr>
          </a:p>
          <a:p>
            <a:pPr marL="257175" indent="-257175" eaLnBrk="1" hangingPunct="1">
              <a:buFont typeface="Arial" panose="020B0604020202020204" pitchFamily="34" charset="0"/>
              <a:buChar char="•"/>
              <a:defRPr/>
            </a:pPr>
            <a:r>
              <a:rPr lang="zh-CN" altLang="en-US" sz="1800" b="1" dirty="0">
                <a:solidFill>
                  <a:srgbClr val="4472C4">
                    <a:lumMod val="50000"/>
                  </a:srgbClr>
                </a:solidFill>
                <a:latin typeface="幼圆" pitchFamily="49" charset="-122"/>
                <a:ea typeface="幼圆" pitchFamily="49" charset="-122"/>
                <a:sym typeface="宋体" pitchFamily="2" charset="-122"/>
              </a:rPr>
              <a:t>二维数组的各种地址表达式或元素值</a:t>
            </a:r>
            <a:endParaRPr lang="en-US" altLang="zh-CN" sz="1800" b="1" dirty="0">
              <a:solidFill>
                <a:srgbClr val="4472C4">
                  <a:lumMod val="50000"/>
                </a:srgbClr>
              </a:solidFill>
              <a:latin typeface="幼圆" pitchFamily="49" charset="-122"/>
              <a:ea typeface="幼圆" pitchFamily="49" charset="-122"/>
              <a:sym typeface="宋体" pitchFamily="2" charset="-122"/>
            </a:endParaRPr>
          </a:p>
          <a:p>
            <a:pPr marL="257175" indent="-257175" eaLnBrk="1" hangingPunct="1">
              <a:buFont typeface="Arial" panose="020B0604020202020204" pitchFamily="34" charset="0"/>
              <a:buChar char="•"/>
              <a:defRPr/>
            </a:pPr>
            <a:endParaRPr lang="zh-CN" altLang="en-US" sz="1800" b="1" dirty="0">
              <a:solidFill>
                <a:srgbClr val="4472C4">
                  <a:lumMod val="50000"/>
                </a:srgbClr>
              </a:solidFill>
              <a:latin typeface="幼圆" pitchFamily="49" charset="-122"/>
              <a:ea typeface="幼圆" pitchFamily="49" charset="-122"/>
              <a:sym typeface="宋体" pitchFamily="2" charset="-122"/>
            </a:endParaRPr>
          </a:p>
        </p:txBody>
      </p:sp>
      <p:sp>
        <p:nvSpPr>
          <p:cNvPr id="64" name="文本框 7"/>
          <p:cNvSpPr txBox="1">
            <a:spLocks noChangeArrowheads="1"/>
          </p:cNvSpPr>
          <p:nvPr/>
        </p:nvSpPr>
        <p:spPr bwMode="auto">
          <a:xfrm>
            <a:off x="6711950" y="1728788"/>
            <a:ext cx="2481263" cy="424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Arial" panose="020B0604020202020204" pitchFamily="34" charset="0"/>
              <a:buNone/>
              <a:defRPr/>
            </a:pPr>
            <a:r>
              <a:rPr lang="zh-CN" altLang="en-US" sz="1800" b="1" dirty="0">
                <a:solidFill>
                  <a:srgbClr val="C00000"/>
                </a:solidFill>
                <a:latin typeface="幼圆" pitchFamily="49" charset="-122"/>
                <a:ea typeface="幼圆" pitchFamily="49" charset="-122"/>
                <a:sym typeface="宋体" pitchFamily="2" charset="-122"/>
              </a:rPr>
              <a:t>编程题部分</a:t>
            </a:r>
            <a:endParaRPr lang="en-US" altLang="zh-CN" sz="1800" b="1" dirty="0">
              <a:solidFill>
                <a:srgbClr val="C00000"/>
              </a:solidFill>
              <a:latin typeface="幼圆" pitchFamily="49" charset="-122"/>
              <a:ea typeface="幼圆" pitchFamily="49" charset="-122"/>
              <a:sym typeface="宋体" pitchFamily="2" charset="-122"/>
            </a:endParaRPr>
          </a:p>
          <a:p>
            <a:pPr eaLnBrk="1" hangingPunct="1">
              <a:buFont typeface="Arial" panose="020B0604020202020204" pitchFamily="34" charset="0"/>
              <a:buNone/>
              <a:defRPr/>
            </a:pPr>
            <a:r>
              <a:rPr lang="zh-CN" altLang="en-US" sz="1800" b="1" dirty="0">
                <a:solidFill>
                  <a:srgbClr val="4472C4">
                    <a:lumMod val="50000"/>
                  </a:srgbClr>
                </a:solidFill>
                <a:latin typeface="幼圆" pitchFamily="49" charset="-122"/>
                <a:ea typeface="幼圆" pitchFamily="49" charset="-122"/>
                <a:sym typeface="宋体" pitchFamily="2" charset="-122"/>
              </a:rPr>
              <a:t>总结自己常错的：</a:t>
            </a:r>
            <a:endParaRPr lang="en-US" altLang="zh-CN" sz="1800" b="1" dirty="0">
              <a:solidFill>
                <a:srgbClr val="4472C4">
                  <a:lumMod val="50000"/>
                </a:srgbClr>
              </a:solidFill>
              <a:latin typeface="幼圆" pitchFamily="49" charset="-122"/>
              <a:ea typeface="幼圆" pitchFamily="49" charset="-122"/>
              <a:sym typeface="宋体" pitchFamily="2" charset="-122"/>
            </a:endParaRPr>
          </a:p>
          <a:p>
            <a:pPr marL="257175" indent="-257175" eaLnBrk="1" hangingPunct="1">
              <a:buFont typeface="Arial" panose="020B0604020202020204" pitchFamily="34" charset="0"/>
              <a:buChar char="•"/>
              <a:defRPr/>
            </a:pPr>
            <a:r>
              <a:rPr lang="en-US" altLang="zh-CN" sz="1800" b="1" dirty="0" err="1">
                <a:solidFill>
                  <a:srgbClr val="4472C4">
                    <a:lumMod val="50000"/>
                  </a:srgbClr>
                </a:solidFill>
                <a:latin typeface="幼圆" pitchFamily="49" charset="-122"/>
                <a:ea typeface="幼圆" pitchFamily="49" charset="-122"/>
                <a:sym typeface="宋体" pitchFamily="2" charset="-122"/>
              </a:rPr>
              <a:t>scanf</a:t>
            </a:r>
            <a:r>
              <a:rPr lang="zh-CN" altLang="en-US" sz="1800" b="1" dirty="0">
                <a:solidFill>
                  <a:srgbClr val="4472C4">
                    <a:lumMod val="50000"/>
                  </a:srgbClr>
                </a:solidFill>
                <a:latin typeface="幼圆" pitchFamily="49" charset="-122"/>
                <a:ea typeface="幼圆" pitchFamily="49" charset="-122"/>
                <a:sym typeface="宋体" pitchFamily="2" charset="-122"/>
              </a:rPr>
              <a:t>缺少</a:t>
            </a:r>
            <a:r>
              <a:rPr lang="en-US" altLang="zh-CN" sz="1800" b="1" dirty="0">
                <a:solidFill>
                  <a:srgbClr val="4472C4">
                    <a:lumMod val="50000"/>
                  </a:srgbClr>
                </a:solidFill>
                <a:latin typeface="幼圆" pitchFamily="49" charset="-122"/>
                <a:ea typeface="幼圆" pitchFamily="49" charset="-122"/>
                <a:sym typeface="宋体" pitchFamily="2" charset="-122"/>
              </a:rPr>
              <a:t>&amp;</a:t>
            </a:r>
          </a:p>
          <a:p>
            <a:pPr marL="257175" indent="-257175" eaLnBrk="1" hangingPunct="1">
              <a:buFont typeface="Arial" panose="020B0604020202020204" pitchFamily="34" charset="0"/>
              <a:buChar char="•"/>
              <a:defRPr/>
            </a:pPr>
            <a:r>
              <a:rPr lang="zh-CN" altLang="en-US" sz="1800" b="1" dirty="0">
                <a:solidFill>
                  <a:srgbClr val="4472C4">
                    <a:lumMod val="50000"/>
                  </a:srgbClr>
                </a:solidFill>
                <a:latin typeface="幼圆" pitchFamily="49" charset="-122"/>
                <a:ea typeface="幼圆" pitchFamily="49" charset="-122"/>
                <a:sym typeface="宋体" pitchFamily="2" charset="-122"/>
              </a:rPr>
              <a:t>循环结构，选择结构缺少 </a:t>
            </a:r>
            <a:r>
              <a:rPr lang="en-US" altLang="zh-CN" sz="1800" b="1" dirty="0">
                <a:solidFill>
                  <a:srgbClr val="4472C4">
                    <a:lumMod val="50000"/>
                  </a:srgbClr>
                </a:solidFill>
                <a:latin typeface="幼圆" pitchFamily="49" charset="-122"/>
                <a:ea typeface="幼圆" pitchFamily="49" charset="-122"/>
                <a:sym typeface="宋体" pitchFamily="2" charset="-122"/>
              </a:rPr>
              <a:t>{  }</a:t>
            </a:r>
          </a:p>
          <a:p>
            <a:pPr marL="257175" indent="-257175" eaLnBrk="1" hangingPunct="1">
              <a:buFont typeface="Arial" panose="020B0604020202020204" pitchFamily="34" charset="0"/>
              <a:buChar char="•"/>
              <a:defRPr/>
            </a:pPr>
            <a:r>
              <a:rPr lang="zh-CN" altLang="en-US" sz="1800" b="1" dirty="0">
                <a:solidFill>
                  <a:srgbClr val="4472C4">
                    <a:lumMod val="50000"/>
                  </a:srgbClr>
                </a:solidFill>
                <a:latin typeface="幼圆" pitchFamily="49" charset="-122"/>
                <a:ea typeface="幼圆" pitchFamily="49" charset="-122"/>
                <a:sym typeface="宋体" pitchFamily="2" charset="-122"/>
              </a:rPr>
              <a:t>循环边界表达不准，所以循环次数不对</a:t>
            </a:r>
            <a:endParaRPr lang="en-US" altLang="zh-CN" sz="1800" b="1" dirty="0">
              <a:solidFill>
                <a:srgbClr val="4472C4">
                  <a:lumMod val="50000"/>
                </a:srgbClr>
              </a:solidFill>
              <a:latin typeface="幼圆" pitchFamily="49" charset="-122"/>
              <a:ea typeface="幼圆" pitchFamily="49" charset="-122"/>
              <a:sym typeface="宋体" pitchFamily="2" charset="-122"/>
            </a:endParaRPr>
          </a:p>
          <a:p>
            <a:pPr marL="257175" indent="-257175" eaLnBrk="1" hangingPunct="1">
              <a:buFont typeface="Arial" panose="020B0604020202020204" pitchFamily="34" charset="0"/>
              <a:buChar char="•"/>
              <a:defRPr/>
            </a:pPr>
            <a:r>
              <a:rPr lang="zh-CN" altLang="en-US" sz="1800" b="1" dirty="0">
                <a:solidFill>
                  <a:srgbClr val="4472C4">
                    <a:lumMod val="50000"/>
                  </a:srgbClr>
                </a:solidFill>
                <a:latin typeface="幼圆" pitchFamily="49" charset="-122"/>
                <a:ea typeface="幼圆" pitchFamily="49" charset="-122"/>
                <a:sym typeface="宋体" pitchFamily="2" charset="-122"/>
              </a:rPr>
              <a:t>数组下标越界</a:t>
            </a:r>
            <a:endParaRPr lang="en-US" altLang="zh-CN" sz="1800" b="1" dirty="0">
              <a:solidFill>
                <a:srgbClr val="4472C4">
                  <a:lumMod val="50000"/>
                </a:srgbClr>
              </a:solidFill>
              <a:latin typeface="幼圆" pitchFamily="49" charset="-122"/>
              <a:ea typeface="幼圆" pitchFamily="49" charset="-122"/>
              <a:sym typeface="宋体" pitchFamily="2" charset="-122"/>
            </a:endParaRPr>
          </a:p>
          <a:p>
            <a:pPr marL="257175" indent="-257175" eaLnBrk="1" hangingPunct="1">
              <a:buFont typeface="Arial" panose="020B0604020202020204" pitchFamily="34" charset="0"/>
              <a:buChar char="•"/>
              <a:defRPr/>
            </a:pPr>
            <a:r>
              <a:rPr lang="zh-CN" altLang="en-US" sz="1800" b="1" dirty="0">
                <a:solidFill>
                  <a:srgbClr val="4472C4">
                    <a:lumMod val="50000"/>
                  </a:srgbClr>
                </a:solidFill>
                <a:latin typeface="幼圆" pitchFamily="49" charset="-122"/>
                <a:ea typeface="幼圆" pitchFamily="49" charset="-122"/>
                <a:sym typeface="宋体" pitchFamily="2" charset="-122"/>
              </a:rPr>
              <a:t>变量没初始化就使用了</a:t>
            </a:r>
            <a:endParaRPr lang="en-US" altLang="zh-CN" sz="1800" b="1" dirty="0">
              <a:solidFill>
                <a:srgbClr val="4472C4">
                  <a:lumMod val="50000"/>
                </a:srgbClr>
              </a:solidFill>
              <a:latin typeface="幼圆" pitchFamily="49" charset="-122"/>
              <a:ea typeface="幼圆" pitchFamily="49" charset="-122"/>
              <a:sym typeface="宋体" pitchFamily="2" charset="-122"/>
            </a:endParaRPr>
          </a:p>
          <a:p>
            <a:pPr marL="257175" indent="-257175" eaLnBrk="1" hangingPunct="1">
              <a:buFont typeface="Arial" panose="020B0604020202020204" pitchFamily="34" charset="0"/>
              <a:buChar char="•"/>
              <a:defRPr/>
            </a:pPr>
            <a:r>
              <a:rPr lang="zh-CN" altLang="en-US" sz="1800" b="1" dirty="0">
                <a:solidFill>
                  <a:srgbClr val="4472C4">
                    <a:lumMod val="50000"/>
                  </a:srgbClr>
                </a:solidFill>
                <a:latin typeface="幼圆" pitchFamily="49" charset="-122"/>
                <a:ea typeface="幼圆" pitchFamily="49" charset="-122"/>
                <a:sym typeface="宋体" pitchFamily="2" charset="-122"/>
              </a:rPr>
              <a:t>输入输出格式与题目用例给的不一致</a:t>
            </a:r>
            <a:endParaRPr lang="en-US" altLang="zh-CN" sz="1800" b="1" dirty="0">
              <a:solidFill>
                <a:srgbClr val="4472C4">
                  <a:lumMod val="50000"/>
                </a:srgbClr>
              </a:solidFill>
              <a:latin typeface="幼圆" pitchFamily="49" charset="-122"/>
              <a:ea typeface="幼圆" pitchFamily="49" charset="-122"/>
              <a:sym typeface="宋体" pitchFamily="2" charset="-122"/>
            </a:endParaRPr>
          </a:p>
          <a:p>
            <a:pPr marL="257175" indent="-257175" eaLnBrk="1" hangingPunct="1">
              <a:buFont typeface="Arial" panose="020B0604020202020204" pitchFamily="34" charset="0"/>
              <a:buChar char="•"/>
              <a:defRPr/>
            </a:pPr>
            <a:r>
              <a:rPr lang="zh-CN" altLang="en-US" sz="1800" b="1" dirty="0">
                <a:solidFill>
                  <a:srgbClr val="4472C4">
                    <a:lumMod val="50000"/>
                  </a:srgbClr>
                </a:solidFill>
                <a:latin typeface="幼圆" pitchFamily="49" charset="-122"/>
                <a:ea typeface="幼圆" pitchFamily="49" charset="-122"/>
                <a:sym typeface="宋体" pitchFamily="2" charset="-122"/>
              </a:rPr>
              <a:t>缺少最后的字符串结束标记</a:t>
            </a:r>
            <a:endParaRPr lang="en-US" altLang="zh-CN" sz="1800" b="1" dirty="0">
              <a:solidFill>
                <a:srgbClr val="4472C4">
                  <a:lumMod val="50000"/>
                </a:srgbClr>
              </a:solidFill>
              <a:latin typeface="幼圆" pitchFamily="49" charset="-122"/>
              <a:ea typeface="幼圆" pitchFamily="49" charset="-122"/>
              <a:sym typeface="宋体" pitchFamily="2" charset="-122"/>
            </a:endParaRPr>
          </a:p>
          <a:p>
            <a:pPr marL="257175" indent="-257175" eaLnBrk="1" hangingPunct="1">
              <a:buFont typeface="Arial" panose="020B0604020202020204" pitchFamily="34" charset="0"/>
              <a:buChar char="•"/>
              <a:defRPr/>
            </a:pPr>
            <a:endParaRPr lang="zh-CN" altLang="en-US" sz="1800" b="1" dirty="0">
              <a:solidFill>
                <a:srgbClr val="4472C4">
                  <a:lumMod val="50000"/>
                </a:srgbClr>
              </a:solidFill>
              <a:latin typeface="幼圆" pitchFamily="49" charset="-122"/>
              <a:ea typeface="幼圆" pitchFamily="49" charset="-122"/>
              <a:sym typeface="宋体" pitchFamily="2" charset="-122"/>
            </a:endParaRPr>
          </a:p>
        </p:txBody>
      </p:sp>
      <p:sp>
        <p:nvSpPr>
          <p:cNvPr id="197641" name="文本框 7"/>
          <p:cNvSpPr txBox="1">
            <a:spLocks noChangeArrowheads="1"/>
          </p:cNvSpPr>
          <p:nvPr/>
        </p:nvSpPr>
        <p:spPr bwMode="auto">
          <a:xfrm>
            <a:off x="3943350" y="4546600"/>
            <a:ext cx="22082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buFont typeface="Arial" pitchFamily="34" charset="0"/>
              <a:buNone/>
            </a:pPr>
            <a:r>
              <a:rPr lang="zh-CN" altLang="en-US" sz="2400" b="1">
                <a:solidFill>
                  <a:srgbClr val="C91F18"/>
                </a:solidFill>
                <a:latin typeface="幼圆" pitchFamily="49" charset="-122"/>
                <a:ea typeface="幼圆" pitchFamily="49" charset="-122"/>
                <a:sym typeface="宋体" pitchFamily="2" charset="-122"/>
              </a:rPr>
              <a:t>仔细看题</a:t>
            </a:r>
            <a:r>
              <a:rPr lang="en-US" altLang="zh-CN" sz="2400" b="1">
                <a:solidFill>
                  <a:srgbClr val="C91F18"/>
                </a:solidFill>
                <a:latin typeface="幼圆" pitchFamily="49" charset="-122"/>
                <a:ea typeface="幼圆" pitchFamily="49" charset="-122"/>
                <a:sym typeface="宋体" pitchFamily="2" charset="-122"/>
              </a:rPr>
              <a:t> </a:t>
            </a:r>
            <a:endParaRPr lang="zh-CN" altLang="en-US" sz="2400" b="1">
              <a:solidFill>
                <a:srgbClr val="C91F18"/>
              </a:solidFill>
              <a:latin typeface="幼圆" pitchFamily="49" charset="-122"/>
              <a:ea typeface="幼圆" pitchFamily="49" charset="-122"/>
              <a:sym typeface="宋体" pitchFamily="2" charset="-122"/>
            </a:endParaRPr>
          </a:p>
        </p:txBody>
      </p:sp>
      <p:sp>
        <p:nvSpPr>
          <p:cNvPr id="61" name="标题 1"/>
          <p:cNvSpPr txBox="1">
            <a:spLocks/>
          </p:cNvSpPr>
          <p:nvPr/>
        </p:nvSpPr>
        <p:spPr>
          <a:xfrm>
            <a:off x="838200" y="547688"/>
            <a:ext cx="7391400" cy="563562"/>
          </a:xfrm>
          <a:prstGeom prst="rect">
            <a:avLst/>
          </a:prstGeom>
        </p:spPr>
        <p:txBody>
          <a:bodyPr/>
          <a:lstStyle>
            <a:lvl1pPr algn="ctr" rtl="0" fontAlgn="base">
              <a:spcBef>
                <a:spcPct val="0"/>
              </a:spcBef>
              <a:spcAft>
                <a:spcPct val="0"/>
              </a:spcAft>
              <a:defRPr sz="3200" b="1">
                <a:solidFill>
                  <a:schemeClr val="bg1"/>
                </a:solidFill>
                <a:latin typeface="+mj-lt"/>
                <a:ea typeface="+mj-ea"/>
                <a:cs typeface="+mj-cs"/>
              </a:defRPr>
            </a:lvl1pPr>
            <a:lvl2pPr algn="ctr" rtl="0" fontAlgn="base">
              <a:spcBef>
                <a:spcPct val="0"/>
              </a:spcBef>
              <a:spcAft>
                <a:spcPct val="0"/>
              </a:spcAft>
              <a:defRPr sz="3200" b="1">
                <a:solidFill>
                  <a:schemeClr val="bg1"/>
                </a:solidFill>
                <a:latin typeface="Verdana" pitchFamily="34" charset="0"/>
              </a:defRPr>
            </a:lvl2pPr>
            <a:lvl3pPr algn="ctr" rtl="0" fontAlgn="base">
              <a:spcBef>
                <a:spcPct val="0"/>
              </a:spcBef>
              <a:spcAft>
                <a:spcPct val="0"/>
              </a:spcAft>
              <a:defRPr sz="3200" b="1">
                <a:solidFill>
                  <a:schemeClr val="bg1"/>
                </a:solidFill>
                <a:latin typeface="Verdana" pitchFamily="34" charset="0"/>
              </a:defRPr>
            </a:lvl3pPr>
            <a:lvl4pPr algn="ctr" rtl="0" fontAlgn="base">
              <a:spcBef>
                <a:spcPct val="0"/>
              </a:spcBef>
              <a:spcAft>
                <a:spcPct val="0"/>
              </a:spcAft>
              <a:defRPr sz="3200" b="1">
                <a:solidFill>
                  <a:schemeClr val="bg1"/>
                </a:solidFill>
                <a:latin typeface="Verdana" pitchFamily="34" charset="0"/>
              </a:defRPr>
            </a:lvl4pPr>
            <a:lvl5pPr algn="ctr" rtl="0" fontAlgn="base">
              <a:spcBef>
                <a:spcPct val="0"/>
              </a:spcBef>
              <a:spcAft>
                <a:spcPct val="0"/>
              </a:spcAft>
              <a:defRPr sz="3200" b="1">
                <a:solidFill>
                  <a:schemeClr val="bg1"/>
                </a:solidFill>
                <a:latin typeface="Verdana" pitchFamily="34" charset="0"/>
              </a:defRPr>
            </a:lvl5pPr>
            <a:lvl6pPr marL="457200" algn="ctr" rtl="0" fontAlgn="base">
              <a:spcBef>
                <a:spcPct val="0"/>
              </a:spcBef>
              <a:spcAft>
                <a:spcPct val="0"/>
              </a:spcAft>
              <a:defRPr sz="3200" b="1">
                <a:solidFill>
                  <a:schemeClr val="bg1"/>
                </a:solidFill>
                <a:latin typeface="Verdana" pitchFamily="34" charset="0"/>
              </a:defRPr>
            </a:lvl6pPr>
            <a:lvl7pPr marL="914400" algn="ctr" rtl="0" fontAlgn="base">
              <a:spcBef>
                <a:spcPct val="0"/>
              </a:spcBef>
              <a:spcAft>
                <a:spcPct val="0"/>
              </a:spcAft>
              <a:defRPr sz="3200" b="1">
                <a:solidFill>
                  <a:schemeClr val="bg1"/>
                </a:solidFill>
                <a:latin typeface="Verdana" pitchFamily="34" charset="0"/>
              </a:defRPr>
            </a:lvl7pPr>
            <a:lvl8pPr marL="1371600" algn="ctr" rtl="0" fontAlgn="base">
              <a:spcBef>
                <a:spcPct val="0"/>
              </a:spcBef>
              <a:spcAft>
                <a:spcPct val="0"/>
              </a:spcAft>
              <a:defRPr sz="3200" b="1">
                <a:solidFill>
                  <a:schemeClr val="bg1"/>
                </a:solidFill>
                <a:latin typeface="Verdana" pitchFamily="34" charset="0"/>
              </a:defRPr>
            </a:lvl8pPr>
            <a:lvl9pPr marL="1828800" algn="ctr" rtl="0" fontAlgn="base">
              <a:spcBef>
                <a:spcPct val="0"/>
              </a:spcBef>
              <a:spcAft>
                <a:spcPct val="0"/>
              </a:spcAft>
              <a:defRPr sz="3200" b="1">
                <a:solidFill>
                  <a:schemeClr val="bg1"/>
                </a:solidFill>
                <a:latin typeface="Verdana" pitchFamily="34" charset="0"/>
              </a:defRPr>
            </a:lvl9pPr>
          </a:lstStyle>
          <a:p>
            <a:r>
              <a:rPr lang="zh-CN" altLang="en-US" dirty="0">
                <a:latin typeface="隶书" pitchFamily="49" charset="-122"/>
                <a:ea typeface="隶书" pitchFamily="49" charset="-122"/>
              </a:rPr>
              <a:t>关于复习</a:t>
            </a:r>
          </a:p>
        </p:txBody>
      </p:sp>
    </p:spTree>
    <p:extLst>
      <p:ext uri="{BB962C8B-B14F-4D97-AF65-F5344CB8AC3E}">
        <p14:creationId xmlns:p14="http://schemas.microsoft.com/office/powerpoint/2010/main" val="32124349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circle(in)">
                                      <p:cBhvr>
                                        <p:cTn id="7" dur="2000"/>
                                        <p:tgtEl>
                                          <p:spTgt spid="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4"/>
                                        </p:tgtEl>
                                        <p:attrNameLst>
                                          <p:attrName>style.visibility</p:attrName>
                                        </p:attrNameLst>
                                      </p:cBhvr>
                                      <p:to>
                                        <p:strVal val="visible"/>
                                      </p:to>
                                    </p:set>
                                    <p:anim calcmode="lin" valueType="num">
                                      <p:cBhvr additive="base">
                                        <p:cTn id="12" dur="500" fill="hold"/>
                                        <p:tgtEl>
                                          <p:spTgt spid="64"/>
                                        </p:tgtEl>
                                        <p:attrNameLst>
                                          <p:attrName>ppt_x</p:attrName>
                                        </p:attrNameLst>
                                      </p:cBhvr>
                                      <p:tavLst>
                                        <p:tav tm="0">
                                          <p:val>
                                            <p:strVal val="#ppt_x"/>
                                          </p:val>
                                        </p:tav>
                                        <p:tav tm="100000">
                                          <p:val>
                                            <p:strVal val="#ppt_x"/>
                                          </p:val>
                                        </p:tav>
                                      </p:tavLst>
                                    </p:anim>
                                    <p:anim calcmode="lin" valueType="num">
                                      <p:cBhvr additive="base">
                                        <p:cTn id="13"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270"/>
          <p:cNvGraphicFramePr>
            <a:graphicFrameLocks/>
          </p:cNvGraphicFramePr>
          <p:nvPr>
            <p:extLst>
              <p:ext uri="{D42A27DB-BD31-4B8C-83A1-F6EECF244321}">
                <p14:modId xmlns:p14="http://schemas.microsoft.com/office/powerpoint/2010/main" val="2040137408"/>
              </p:ext>
            </p:extLst>
          </p:nvPr>
        </p:nvGraphicFramePr>
        <p:xfrm>
          <a:off x="457200" y="1371600"/>
          <a:ext cx="7210425" cy="5211612"/>
        </p:xfrm>
        <a:graphic>
          <a:graphicData uri="http://schemas.openxmlformats.org/drawingml/2006/table">
            <a:tbl>
              <a:tblPr/>
              <a:tblGrid>
                <a:gridCol w="349250">
                  <a:extLst>
                    <a:ext uri="{9D8B030D-6E8A-4147-A177-3AD203B41FA5}">
                      <a16:colId xmlns:a16="http://schemas.microsoft.com/office/drawing/2014/main" val="20000"/>
                    </a:ext>
                  </a:extLst>
                </a:gridCol>
                <a:gridCol w="6861175">
                  <a:extLst>
                    <a:ext uri="{9D8B030D-6E8A-4147-A177-3AD203B41FA5}">
                      <a16:colId xmlns:a16="http://schemas.microsoft.com/office/drawing/2014/main" val="20001"/>
                    </a:ext>
                  </a:extLst>
                </a:gridCol>
              </a:tblGrid>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1</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rgbClr val="FF0000"/>
                          </a:solidFill>
                          <a:effectLst/>
                          <a:latin typeface="Arial" charset="0"/>
                          <a:ea typeface="宋体" pitchFamily="2" charset="-122"/>
                        </a:rPr>
                        <a:t>计算机概述及数字化基础</a:t>
                      </a:r>
                      <a:endParaRPr kumimoji="0" lang="en-US" altLang="zh-CN" sz="2800" b="1" i="0" u="none" strike="noStrike" cap="none" normalizeH="0" baseline="0" dirty="0">
                        <a:ln>
                          <a:noFill/>
                        </a:ln>
                        <a:solidFill>
                          <a:srgbClr val="FF0000"/>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2</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计算机三大平台</a:t>
                      </a:r>
                      <a:r>
                        <a:rPr kumimoji="0" lang="en-US" altLang="zh-CN" sz="2800" b="1" i="0" u="none" strike="noStrike" cap="none" normalizeH="0" baseline="0" dirty="0">
                          <a:ln>
                            <a:noFill/>
                          </a:ln>
                          <a:solidFill>
                            <a:schemeClr val="tx1"/>
                          </a:solidFill>
                          <a:effectLst/>
                          <a:latin typeface="Arial" charset="0"/>
                          <a:ea typeface="宋体" pitchFamily="2" charset="-122"/>
                        </a:rPr>
                        <a:t>——</a:t>
                      </a:r>
                      <a:r>
                        <a:rPr kumimoji="0" lang="zh-CN" altLang="en-US" sz="2800" b="1" i="0" u="none" strike="noStrike" cap="none" normalizeH="0" baseline="0" dirty="0">
                          <a:ln>
                            <a:noFill/>
                          </a:ln>
                          <a:solidFill>
                            <a:schemeClr val="tx1"/>
                          </a:solidFill>
                          <a:effectLst/>
                          <a:latin typeface="Arial" charset="0"/>
                          <a:ea typeface="宋体" pitchFamily="2" charset="-122"/>
                        </a:rPr>
                        <a:t>硬件、软件、</a:t>
                      </a:r>
                      <a:r>
                        <a:rPr kumimoji="0" lang="zh-CN" altLang="en-US" sz="2800" b="1" i="0" u="none" strike="sngStrike" cap="none" normalizeH="0" baseline="0" dirty="0">
                          <a:ln>
                            <a:noFill/>
                          </a:ln>
                          <a:solidFill>
                            <a:schemeClr val="tx1"/>
                          </a:solidFill>
                          <a:effectLst/>
                          <a:latin typeface="Arial" charset="0"/>
                          <a:ea typeface="宋体" pitchFamily="2" charset="-122"/>
                        </a:rPr>
                        <a:t>网络</a:t>
                      </a:r>
                      <a:endParaRPr kumimoji="0" lang="en-US" altLang="zh-CN" sz="2800" b="1" i="0" u="none" strike="sng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3</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数据处理及数据库</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9482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4</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数据类型，运算符，表达式</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5</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流程控制</a:t>
                      </a:r>
                      <a:r>
                        <a:rPr kumimoji="0" lang="en-US" altLang="zh-CN" sz="2800" b="1" i="0" u="none" strike="noStrike" cap="none" normalizeH="0" baseline="0" dirty="0">
                          <a:ln>
                            <a:noFill/>
                          </a:ln>
                          <a:solidFill>
                            <a:schemeClr val="tx1"/>
                          </a:solidFill>
                          <a:effectLst/>
                          <a:latin typeface="Arial" charset="0"/>
                          <a:ea typeface="宋体" pitchFamily="2" charset="-122"/>
                        </a:rPr>
                        <a:t>——</a:t>
                      </a:r>
                      <a:r>
                        <a:rPr kumimoji="0" lang="zh-CN" altLang="en-US" sz="2800" b="1" i="0" u="none" strike="noStrike" cap="none" normalizeH="0" baseline="0" dirty="0">
                          <a:ln>
                            <a:noFill/>
                          </a:ln>
                          <a:solidFill>
                            <a:schemeClr val="tx1"/>
                          </a:solidFill>
                          <a:effectLst/>
                          <a:latin typeface="Arial" charset="0"/>
                          <a:ea typeface="宋体" pitchFamily="2" charset="-122"/>
                        </a:rPr>
                        <a:t>顺序、选择、循环</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4"/>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6</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数组</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5"/>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7</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函数</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8</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med" len="med"/>
                      <a:tailEnd type="none" w="med" len="med"/>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指针</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med" len="med"/>
                      <a:tailEnd type="none" w="med" len="med"/>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7"/>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9</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结构</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sp>
        <p:nvSpPr>
          <p:cNvPr id="3" name="标题 1"/>
          <p:cNvSpPr>
            <a:spLocks noGrp="1"/>
          </p:cNvSpPr>
          <p:nvPr>
            <p:ph type="title"/>
          </p:nvPr>
        </p:nvSpPr>
        <p:spPr>
          <a:xfrm>
            <a:off x="838200" y="547688"/>
            <a:ext cx="7391400" cy="563562"/>
          </a:xfrm>
        </p:spPr>
        <p:txBody>
          <a:bodyPr/>
          <a:lstStyle/>
          <a:p>
            <a:r>
              <a:rPr lang="zh-CN" altLang="en-US" dirty="0">
                <a:latin typeface="隶书" pitchFamily="49" charset="-122"/>
                <a:ea typeface="隶书" pitchFamily="49" charset="-122"/>
              </a:rPr>
              <a:t>复习内容</a:t>
            </a: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p:cNvSpPr>
            <a:spLocks noChangeArrowheads="1"/>
          </p:cNvSpPr>
          <p:nvPr/>
        </p:nvSpPr>
        <p:spPr bwMode="auto">
          <a:xfrm>
            <a:off x="452438" y="1655763"/>
            <a:ext cx="8534400" cy="2827337"/>
          </a:xfrm>
          <a:prstGeom prst="rightArrow">
            <a:avLst>
              <a:gd name="adj1" fmla="val 46843"/>
              <a:gd name="adj2" fmla="val 79304"/>
            </a:avLst>
          </a:prstGeom>
          <a:solidFill>
            <a:schemeClr val="tx2">
              <a:lumMod val="20000"/>
              <a:lumOff val="80000"/>
            </a:schemeClr>
          </a:solidFill>
          <a:ln w="12700">
            <a:solidFill>
              <a:schemeClr val="tx1"/>
            </a:solidFill>
            <a:miter lim="800000"/>
            <a:headEnd type="none" w="sm" len="sm"/>
            <a:tailEnd type="none" w="sm" len="sm"/>
          </a:ln>
          <a:effectLst/>
        </p:spPr>
        <p:txBody>
          <a:bodyPr wrap="none" anchor="ctr"/>
          <a:lstStyle/>
          <a:p>
            <a:pPr algn="ctr">
              <a:defRPr/>
            </a:pPr>
            <a:endParaRPr lang="zh-TW" altLang="en-US" sz="2400" b="1">
              <a:ea typeface="PMingLiU" pitchFamily="18" charset="-120"/>
            </a:endParaRPr>
          </a:p>
        </p:txBody>
      </p:sp>
      <p:sp>
        <p:nvSpPr>
          <p:cNvPr id="3" name="Text Box 4"/>
          <p:cNvSpPr txBox="1">
            <a:spLocks noChangeArrowheads="1"/>
          </p:cNvSpPr>
          <p:nvPr/>
        </p:nvSpPr>
        <p:spPr bwMode="auto">
          <a:xfrm>
            <a:off x="398463" y="2514600"/>
            <a:ext cx="14605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pitchFamily="34" charset="0"/>
                <a:ea typeface="黑体" pitchFamily="49" charset="-122"/>
              </a:defRPr>
            </a:lvl1pPr>
            <a:lvl2pPr>
              <a:defRPr sz="2800">
                <a:solidFill>
                  <a:srgbClr val="000066"/>
                </a:solidFill>
                <a:latin typeface="Arial" pitchFamily="34" charset="0"/>
                <a:ea typeface="黑体" pitchFamily="49" charset="-122"/>
              </a:defRPr>
            </a:lvl2pPr>
            <a:lvl3pPr>
              <a:defRPr sz="2400">
                <a:solidFill>
                  <a:schemeClr val="tx1"/>
                </a:solidFill>
                <a:latin typeface="Arial" pitchFamily="34" charset="0"/>
                <a:ea typeface="黑体" pitchFamily="49" charset="-122"/>
              </a:defRPr>
            </a:lvl3pPr>
            <a:lvl4pPr>
              <a:defRPr sz="2000">
                <a:solidFill>
                  <a:schemeClr val="tx1"/>
                </a:solidFill>
                <a:latin typeface="Arial" pitchFamily="34" charset="0"/>
                <a:ea typeface="黑体" pitchFamily="49" charset="-122"/>
              </a:defRPr>
            </a:lvl4pPr>
            <a:lvl5pPr>
              <a:defRPr sz="2000">
                <a:solidFill>
                  <a:schemeClr val="tx1"/>
                </a:solidFill>
                <a:latin typeface="Arial" pitchFamily="34" charset="0"/>
                <a:ea typeface="黑体" pitchFamily="49" charset="-122"/>
              </a:defRPr>
            </a:lvl5pPr>
            <a:lvl6pPr eaLnBrk="0" hangingPunct="0">
              <a:defRPr sz="2000">
                <a:solidFill>
                  <a:schemeClr val="tx1"/>
                </a:solidFill>
                <a:latin typeface="Arial" pitchFamily="34" charset="0"/>
                <a:ea typeface="黑体" pitchFamily="49" charset="-122"/>
              </a:defRPr>
            </a:lvl6pPr>
            <a:lvl7pPr eaLnBrk="0" hangingPunct="0">
              <a:defRPr sz="2000">
                <a:solidFill>
                  <a:schemeClr val="tx1"/>
                </a:solidFill>
                <a:latin typeface="Arial" pitchFamily="34" charset="0"/>
                <a:ea typeface="黑体" pitchFamily="49" charset="-122"/>
              </a:defRPr>
            </a:lvl7pPr>
            <a:lvl8pPr eaLnBrk="0" hangingPunct="0">
              <a:defRPr sz="2000">
                <a:solidFill>
                  <a:schemeClr val="tx1"/>
                </a:solidFill>
                <a:latin typeface="Arial" pitchFamily="34" charset="0"/>
                <a:ea typeface="黑体" pitchFamily="49" charset="-122"/>
              </a:defRPr>
            </a:lvl8pPr>
            <a:lvl9pPr eaLnBrk="0" hangingPunct="0">
              <a:defRPr sz="2000">
                <a:solidFill>
                  <a:schemeClr val="tx1"/>
                </a:solidFill>
                <a:latin typeface="Arial" pitchFamily="34" charset="0"/>
                <a:ea typeface="黑体" pitchFamily="49" charset="-122"/>
              </a:defRPr>
            </a:lvl9pPr>
          </a:lstStyle>
          <a:p>
            <a:pPr algn="ctr">
              <a:spcBef>
                <a:spcPct val="50000"/>
              </a:spcBef>
            </a:pPr>
            <a:r>
              <a:rPr lang="zh-CN" altLang="zh-CN" sz="1200" b="1">
                <a:latin typeface="Futura Bk"/>
                <a:ea typeface="宋体" pitchFamily="2" charset="-122"/>
              </a:rPr>
              <a:t>帕斯卡发明</a:t>
            </a:r>
            <a:r>
              <a:rPr lang="zh-CN" altLang="en-US" sz="1200" b="1">
                <a:latin typeface="Futura Bk"/>
                <a:ea typeface="宋体" pitchFamily="2" charset="-122"/>
              </a:rPr>
              <a:t>人类有史以来第一台机械计算机</a:t>
            </a:r>
            <a:endParaRPr lang="zh-TW" altLang="en-US" sz="1200" b="1">
              <a:latin typeface="Futura Bk"/>
              <a:ea typeface="宋体" pitchFamily="2" charset="-122"/>
            </a:endParaRPr>
          </a:p>
        </p:txBody>
      </p:sp>
      <p:sp>
        <p:nvSpPr>
          <p:cNvPr id="4" name="Text Box 5"/>
          <p:cNvSpPr txBox="1">
            <a:spLocks noChangeArrowheads="1"/>
          </p:cNvSpPr>
          <p:nvPr/>
        </p:nvSpPr>
        <p:spPr bwMode="auto">
          <a:xfrm>
            <a:off x="1728788" y="2511425"/>
            <a:ext cx="16065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pitchFamily="34" charset="0"/>
                <a:ea typeface="黑体" pitchFamily="49" charset="-122"/>
              </a:defRPr>
            </a:lvl1pPr>
            <a:lvl2pPr>
              <a:defRPr sz="2800">
                <a:solidFill>
                  <a:srgbClr val="000066"/>
                </a:solidFill>
                <a:latin typeface="Arial" pitchFamily="34" charset="0"/>
                <a:ea typeface="黑体" pitchFamily="49" charset="-122"/>
              </a:defRPr>
            </a:lvl2pPr>
            <a:lvl3pPr>
              <a:defRPr sz="2400">
                <a:solidFill>
                  <a:schemeClr val="tx1"/>
                </a:solidFill>
                <a:latin typeface="Arial" pitchFamily="34" charset="0"/>
                <a:ea typeface="黑体" pitchFamily="49" charset="-122"/>
              </a:defRPr>
            </a:lvl3pPr>
            <a:lvl4pPr>
              <a:defRPr sz="2000">
                <a:solidFill>
                  <a:schemeClr val="tx1"/>
                </a:solidFill>
                <a:latin typeface="Arial" pitchFamily="34" charset="0"/>
                <a:ea typeface="黑体" pitchFamily="49" charset="-122"/>
              </a:defRPr>
            </a:lvl4pPr>
            <a:lvl5pPr>
              <a:defRPr sz="2000">
                <a:solidFill>
                  <a:schemeClr val="tx1"/>
                </a:solidFill>
                <a:latin typeface="Arial" pitchFamily="34" charset="0"/>
                <a:ea typeface="黑体" pitchFamily="49" charset="-122"/>
              </a:defRPr>
            </a:lvl5pPr>
            <a:lvl6pPr eaLnBrk="0" hangingPunct="0">
              <a:defRPr sz="2000">
                <a:solidFill>
                  <a:schemeClr val="tx1"/>
                </a:solidFill>
                <a:latin typeface="Arial" pitchFamily="34" charset="0"/>
                <a:ea typeface="黑体" pitchFamily="49" charset="-122"/>
              </a:defRPr>
            </a:lvl6pPr>
            <a:lvl7pPr eaLnBrk="0" hangingPunct="0">
              <a:defRPr sz="2000">
                <a:solidFill>
                  <a:schemeClr val="tx1"/>
                </a:solidFill>
                <a:latin typeface="Arial" pitchFamily="34" charset="0"/>
                <a:ea typeface="黑体" pitchFamily="49" charset="-122"/>
              </a:defRPr>
            </a:lvl7pPr>
            <a:lvl8pPr eaLnBrk="0" hangingPunct="0">
              <a:defRPr sz="2000">
                <a:solidFill>
                  <a:schemeClr val="tx1"/>
                </a:solidFill>
                <a:latin typeface="Arial" pitchFamily="34" charset="0"/>
                <a:ea typeface="黑体" pitchFamily="49" charset="-122"/>
              </a:defRPr>
            </a:lvl8pPr>
            <a:lvl9pPr eaLnBrk="0" hangingPunct="0">
              <a:defRPr sz="2000">
                <a:solidFill>
                  <a:schemeClr val="tx1"/>
                </a:solidFill>
                <a:latin typeface="Arial" pitchFamily="34" charset="0"/>
                <a:ea typeface="黑体" pitchFamily="49" charset="-122"/>
              </a:defRPr>
            </a:lvl9pPr>
          </a:lstStyle>
          <a:p>
            <a:pPr algn="ctr">
              <a:spcBef>
                <a:spcPct val="50000"/>
              </a:spcBef>
            </a:pPr>
            <a:r>
              <a:rPr lang="zh-CN" altLang="zh-CN" sz="1200" b="1">
                <a:latin typeface="Futura Bk"/>
                <a:ea typeface="宋体" pitchFamily="2" charset="-122"/>
              </a:rPr>
              <a:t>莱布尼茨改进了帕斯卡的计算机使之能够进行连续运算</a:t>
            </a:r>
            <a:endParaRPr lang="zh-TW" altLang="en-US" sz="1200" b="1">
              <a:latin typeface="Futura Bk"/>
              <a:ea typeface="宋体" pitchFamily="2" charset="-122"/>
            </a:endParaRPr>
          </a:p>
        </p:txBody>
      </p:sp>
      <p:sp>
        <p:nvSpPr>
          <p:cNvPr id="5" name="Text Box 6"/>
          <p:cNvSpPr txBox="1">
            <a:spLocks noChangeArrowheads="1"/>
          </p:cNvSpPr>
          <p:nvPr/>
        </p:nvSpPr>
        <p:spPr bwMode="auto">
          <a:xfrm>
            <a:off x="3352800" y="2532063"/>
            <a:ext cx="171767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pitchFamily="34" charset="0"/>
                <a:ea typeface="黑体" pitchFamily="49" charset="-122"/>
              </a:defRPr>
            </a:lvl1pPr>
            <a:lvl2pPr>
              <a:defRPr sz="2800">
                <a:solidFill>
                  <a:srgbClr val="000066"/>
                </a:solidFill>
                <a:latin typeface="Arial" pitchFamily="34" charset="0"/>
                <a:ea typeface="黑体" pitchFamily="49" charset="-122"/>
              </a:defRPr>
            </a:lvl2pPr>
            <a:lvl3pPr>
              <a:defRPr sz="2400">
                <a:solidFill>
                  <a:schemeClr val="tx1"/>
                </a:solidFill>
                <a:latin typeface="Arial" pitchFamily="34" charset="0"/>
                <a:ea typeface="黑体" pitchFamily="49" charset="-122"/>
              </a:defRPr>
            </a:lvl3pPr>
            <a:lvl4pPr>
              <a:defRPr sz="2000">
                <a:solidFill>
                  <a:schemeClr val="tx1"/>
                </a:solidFill>
                <a:latin typeface="Arial" pitchFamily="34" charset="0"/>
                <a:ea typeface="黑体" pitchFamily="49" charset="-122"/>
              </a:defRPr>
            </a:lvl4pPr>
            <a:lvl5pPr>
              <a:defRPr sz="2000">
                <a:solidFill>
                  <a:schemeClr val="tx1"/>
                </a:solidFill>
                <a:latin typeface="Arial" pitchFamily="34" charset="0"/>
                <a:ea typeface="黑体" pitchFamily="49" charset="-122"/>
              </a:defRPr>
            </a:lvl5pPr>
            <a:lvl6pPr eaLnBrk="0" hangingPunct="0">
              <a:defRPr sz="2000">
                <a:solidFill>
                  <a:schemeClr val="tx1"/>
                </a:solidFill>
                <a:latin typeface="Arial" pitchFamily="34" charset="0"/>
                <a:ea typeface="黑体" pitchFamily="49" charset="-122"/>
              </a:defRPr>
            </a:lvl6pPr>
            <a:lvl7pPr eaLnBrk="0" hangingPunct="0">
              <a:defRPr sz="2000">
                <a:solidFill>
                  <a:schemeClr val="tx1"/>
                </a:solidFill>
                <a:latin typeface="Arial" pitchFamily="34" charset="0"/>
                <a:ea typeface="黑体" pitchFamily="49" charset="-122"/>
              </a:defRPr>
            </a:lvl7pPr>
            <a:lvl8pPr eaLnBrk="0" hangingPunct="0">
              <a:defRPr sz="2000">
                <a:solidFill>
                  <a:schemeClr val="tx1"/>
                </a:solidFill>
                <a:latin typeface="Arial" pitchFamily="34" charset="0"/>
                <a:ea typeface="黑体" pitchFamily="49" charset="-122"/>
              </a:defRPr>
            </a:lvl8pPr>
            <a:lvl9pPr eaLnBrk="0" hangingPunct="0">
              <a:defRPr sz="2000">
                <a:solidFill>
                  <a:schemeClr val="tx1"/>
                </a:solidFill>
                <a:latin typeface="Arial" pitchFamily="34" charset="0"/>
                <a:ea typeface="黑体" pitchFamily="49" charset="-122"/>
              </a:defRPr>
            </a:lvl9pPr>
          </a:lstStyle>
          <a:p>
            <a:pPr algn="ctr" eaLnBrk="1" hangingPunct="1"/>
            <a:r>
              <a:rPr lang="zh-CN" altLang="en-US" sz="1200" b="1">
                <a:latin typeface="Futura Bk"/>
                <a:ea typeface="宋体" pitchFamily="2" charset="-122"/>
              </a:rPr>
              <a:t>宾西法尼亚大学教授莫契利和埃克特研制成功</a:t>
            </a:r>
            <a:r>
              <a:rPr lang="en-US" altLang="zh-CN" sz="1200" b="1">
                <a:latin typeface="Futura Bk"/>
                <a:ea typeface="宋体" pitchFamily="2" charset="-122"/>
              </a:rPr>
              <a:t>ENIAC</a:t>
            </a:r>
            <a:r>
              <a:rPr lang="zh-CN" altLang="en-US" sz="1200" b="1">
                <a:latin typeface="Futura Bk"/>
                <a:ea typeface="宋体" pitchFamily="2" charset="-122"/>
              </a:rPr>
              <a:t>。</a:t>
            </a:r>
            <a:endParaRPr lang="zh-TW" altLang="en-US" sz="1200" b="1">
              <a:latin typeface="Futura Bk"/>
              <a:ea typeface="宋体" pitchFamily="2" charset="-122"/>
            </a:endParaRPr>
          </a:p>
        </p:txBody>
      </p:sp>
      <p:sp>
        <p:nvSpPr>
          <p:cNvPr id="6" name="Text Box 7"/>
          <p:cNvSpPr txBox="1">
            <a:spLocks noChangeArrowheads="1"/>
          </p:cNvSpPr>
          <p:nvPr/>
        </p:nvSpPr>
        <p:spPr bwMode="auto">
          <a:xfrm>
            <a:off x="6665913" y="2746375"/>
            <a:ext cx="23082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pitchFamily="34" charset="0"/>
                <a:ea typeface="黑体" pitchFamily="49" charset="-122"/>
              </a:defRPr>
            </a:lvl1pPr>
            <a:lvl2pPr>
              <a:defRPr sz="2800">
                <a:solidFill>
                  <a:srgbClr val="000066"/>
                </a:solidFill>
                <a:latin typeface="Arial" pitchFamily="34" charset="0"/>
                <a:ea typeface="黑体" pitchFamily="49" charset="-122"/>
              </a:defRPr>
            </a:lvl2pPr>
            <a:lvl3pPr>
              <a:defRPr sz="2400">
                <a:solidFill>
                  <a:schemeClr val="tx1"/>
                </a:solidFill>
                <a:latin typeface="Arial" pitchFamily="34" charset="0"/>
                <a:ea typeface="黑体" pitchFamily="49" charset="-122"/>
              </a:defRPr>
            </a:lvl3pPr>
            <a:lvl4pPr>
              <a:defRPr sz="2000">
                <a:solidFill>
                  <a:schemeClr val="tx1"/>
                </a:solidFill>
                <a:latin typeface="Arial" pitchFamily="34" charset="0"/>
                <a:ea typeface="黑体" pitchFamily="49" charset="-122"/>
              </a:defRPr>
            </a:lvl4pPr>
            <a:lvl5pPr>
              <a:defRPr sz="2000">
                <a:solidFill>
                  <a:schemeClr val="tx1"/>
                </a:solidFill>
                <a:latin typeface="Arial" pitchFamily="34" charset="0"/>
                <a:ea typeface="黑体" pitchFamily="49" charset="-122"/>
              </a:defRPr>
            </a:lvl5pPr>
            <a:lvl6pPr eaLnBrk="0" hangingPunct="0">
              <a:defRPr sz="2000">
                <a:solidFill>
                  <a:schemeClr val="tx1"/>
                </a:solidFill>
                <a:latin typeface="Arial" pitchFamily="34" charset="0"/>
                <a:ea typeface="黑体" pitchFamily="49" charset="-122"/>
              </a:defRPr>
            </a:lvl6pPr>
            <a:lvl7pPr eaLnBrk="0" hangingPunct="0">
              <a:defRPr sz="2000">
                <a:solidFill>
                  <a:schemeClr val="tx1"/>
                </a:solidFill>
                <a:latin typeface="Arial" pitchFamily="34" charset="0"/>
                <a:ea typeface="黑体" pitchFamily="49" charset="-122"/>
              </a:defRPr>
            </a:lvl7pPr>
            <a:lvl8pPr eaLnBrk="0" hangingPunct="0">
              <a:defRPr sz="2000">
                <a:solidFill>
                  <a:schemeClr val="tx1"/>
                </a:solidFill>
                <a:latin typeface="Arial" pitchFamily="34" charset="0"/>
                <a:ea typeface="黑体" pitchFamily="49" charset="-122"/>
              </a:defRPr>
            </a:lvl8pPr>
            <a:lvl9pPr eaLnBrk="0" hangingPunct="0">
              <a:defRPr sz="2000">
                <a:solidFill>
                  <a:schemeClr val="tx1"/>
                </a:solidFill>
                <a:latin typeface="Arial" pitchFamily="34" charset="0"/>
                <a:ea typeface="黑体" pitchFamily="49" charset="-122"/>
              </a:defRPr>
            </a:lvl9pPr>
          </a:lstStyle>
          <a:p>
            <a:pPr algn="ctr">
              <a:spcBef>
                <a:spcPct val="50000"/>
              </a:spcBef>
            </a:pPr>
            <a:r>
              <a:rPr lang="zh-CN" altLang="en-US" sz="1600" b="1">
                <a:solidFill>
                  <a:srgbClr val="C00000"/>
                </a:solidFill>
                <a:latin typeface="Futura Bk"/>
                <a:ea typeface="宋体" pitchFamily="2" charset="-122"/>
              </a:rPr>
              <a:t>冯</a:t>
            </a:r>
            <a:r>
              <a:rPr lang="en-US" altLang="zh-CN" sz="1600" b="1">
                <a:solidFill>
                  <a:srgbClr val="C00000"/>
                </a:solidFill>
                <a:latin typeface="Futura Bk"/>
                <a:ea typeface="宋体" pitchFamily="2" charset="-122"/>
              </a:rPr>
              <a:t>.</a:t>
            </a:r>
            <a:r>
              <a:rPr lang="zh-CN" altLang="en-US" sz="1600" b="1">
                <a:solidFill>
                  <a:srgbClr val="C00000"/>
                </a:solidFill>
                <a:latin typeface="Futura Bk"/>
                <a:ea typeface="宋体" pitchFamily="2" charset="-122"/>
              </a:rPr>
              <a:t>诺伊曼结构</a:t>
            </a:r>
            <a:endParaRPr lang="zh-TW" altLang="en-US" sz="1600" b="1">
              <a:solidFill>
                <a:srgbClr val="C00000"/>
              </a:solidFill>
              <a:ea typeface="PMingLiU"/>
              <a:cs typeface="PMingLiU"/>
            </a:endParaRPr>
          </a:p>
        </p:txBody>
      </p:sp>
      <p:sp>
        <p:nvSpPr>
          <p:cNvPr id="7" name="Line 8"/>
          <p:cNvSpPr>
            <a:spLocks noChangeShapeType="1"/>
          </p:cNvSpPr>
          <p:nvPr/>
        </p:nvSpPr>
        <p:spPr bwMode="auto">
          <a:xfrm>
            <a:off x="1739900" y="1639888"/>
            <a:ext cx="1588" cy="4646612"/>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Text Box 9"/>
          <p:cNvSpPr txBox="1">
            <a:spLocks noChangeArrowheads="1"/>
          </p:cNvSpPr>
          <p:nvPr/>
        </p:nvSpPr>
        <p:spPr bwMode="auto">
          <a:xfrm>
            <a:off x="493713" y="1690688"/>
            <a:ext cx="1255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pitchFamily="34" charset="0"/>
                <a:ea typeface="黑体" pitchFamily="49" charset="-122"/>
              </a:defRPr>
            </a:lvl1pPr>
            <a:lvl2pPr>
              <a:defRPr sz="2800">
                <a:solidFill>
                  <a:srgbClr val="000066"/>
                </a:solidFill>
                <a:latin typeface="Arial" pitchFamily="34" charset="0"/>
                <a:ea typeface="黑体" pitchFamily="49" charset="-122"/>
              </a:defRPr>
            </a:lvl2pPr>
            <a:lvl3pPr>
              <a:defRPr sz="2400">
                <a:solidFill>
                  <a:schemeClr val="tx1"/>
                </a:solidFill>
                <a:latin typeface="Arial" pitchFamily="34" charset="0"/>
                <a:ea typeface="黑体" pitchFamily="49" charset="-122"/>
              </a:defRPr>
            </a:lvl3pPr>
            <a:lvl4pPr>
              <a:defRPr sz="2000">
                <a:solidFill>
                  <a:schemeClr val="tx1"/>
                </a:solidFill>
                <a:latin typeface="Arial" pitchFamily="34" charset="0"/>
                <a:ea typeface="黑体" pitchFamily="49" charset="-122"/>
              </a:defRPr>
            </a:lvl4pPr>
            <a:lvl5pPr>
              <a:defRPr sz="2000">
                <a:solidFill>
                  <a:schemeClr val="tx1"/>
                </a:solidFill>
                <a:latin typeface="Arial" pitchFamily="34" charset="0"/>
                <a:ea typeface="黑体" pitchFamily="49" charset="-122"/>
              </a:defRPr>
            </a:lvl5pPr>
            <a:lvl6pPr eaLnBrk="0" hangingPunct="0">
              <a:defRPr sz="2000">
                <a:solidFill>
                  <a:schemeClr val="tx1"/>
                </a:solidFill>
                <a:latin typeface="Arial" pitchFamily="34" charset="0"/>
                <a:ea typeface="黑体" pitchFamily="49" charset="-122"/>
              </a:defRPr>
            </a:lvl6pPr>
            <a:lvl7pPr eaLnBrk="0" hangingPunct="0">
              <a:defRPr sz="2000">
                <a:solidFill>
                  <a:schemeClr val="tx1"/>
                </a:solidFill>
                <a:latin typeface="Arial" pitchFamily="34" charset="0"/>
                <a:ea typeface="黑体" pitchFamily="49" charset="-122"/>
              </a:defRPr>
            </a:lvl7pPr>
            <a:lvl8pPr eaLnBrk="0" hangingPunct="0">
              <a:defRPr sz="2000">
                <a:solidFill>
                  <a:schemeClr val="tx1"/>
                </a:solidFill>
                <a:latin typeface="Arial" pitchFamily="34" charset="0"/>
                <a:ea typeface="黑体" pitchFamily="49" charset="-122"/>
              </a:defRPr>
            </a:lvl8pPr>
            <a:lvl9pPr eaLnBrk="0" hangingPunct="0">
              <a:defRPr sz="2000">
                <a:solidFill>
                  <a:schemeClr val="tx1"/>
                </a:solidFill>
                <a:latin typeface="Arial" pitchFamily="34" charset="0"/>
                <a:ea typeface="黑体" pitchFamily="49" charset="-122"/>
              </a:defRPr>
            </a:lvl9pPr>
          </a:lstStyle>
          <a:p>
            <a:pPr algn="ctr">
              <a:spcBef>
                <a:spcPct val="50000"/>
              </a:spcBef>
            </a:pPr>
            <a:r>
              <a:rPr lang="en-US" altLang="zh-CN" sz="2400" b="1">
                <a:solidFill>
                  <a:srgbClr val="C00000"/>
                </a:solidFill>
                <a:ea typeface="宋体" pitchFamily="2" charset="-122"/>
              </a:rPr>
              <a:t>1642</a:t>
            </a:r>
            <a:endParaRPr lang="en-US" altLang="zh-CN" sz="2400" b="1">
              <a:solidFill>
                <a:srgbClr val="C00000"/>
              </a:solidFill>
              <a:ea typeface="PMingLiU"/>
              <a:cs typeface="PMingLiU"/>
            </a:endParaRPr>
          </a:p>
        </p:txBody>
      </p:sp>
      <p:sp>
        <p:nvSpPr>
          <p:cNvPr id="9" name="Line 10"/>
          <p:cNvSpPr>
            <a:spLocks noChangeShapeType="1"/>
          </p:cNvSpPr>
          <p:nvPr/>
        </p:nvSpPr>
        <p:spPr bwMode="auto">
          <a:xfrm>
            <a:off x="3367088" y="1724025"/>
            <a:ext cx="0" cy="4587875"/>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Text Box 11"/>
          <p:cNvSpPr txBox="1">
            <a:spLocks noChangeArrowheads="1"/>
          </p:cNvSpPr>
          <p:nvPr/>
        </p:nvSpPr>
        <p:spPr bwMode="auto">
          <a:xfrm>
            <a:off x="2078038" y="1671638"/>
            <a:ext cx="1255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pitchFamily="34" charset="0"/>
                <a:ea typeface="黑体" pitchFamily="49" charset="-122"/>
              </a:defRPr>
            </a:lvl1pPr>
            <a:lvl2pPr>
              <a:defRPr sz="2800">
                <a:solidFill>
                  <a:srgbClr val="000066"/>
                </a:solidFill>
                <a:latin typeface="Arial" pitchFamily="34" charset="0"/>
                <a:ea typeface="黑体" pitchFamily="49" charset="-122"/>
              </a:defRPr>
            </a:lvl2pPr>
            <a:lvl3pPr>
              <a:defRPr sz="2400">
                <a:solidFill>
                  <a:schemeClr val="tx1"/>
                </a:solidFill>
                <a:latin typeface="Arial" pitchFamily="34" charset="0"/>
                <a:ea typeface="黑体" pitchFamily="49" charset="-122"/>
              </a:defRPr>
            </a:lvl3pPr>
            <a:lvl4pPr>
              <a:defRPr sz="2000">
                <a:solidFill>
                  <a:schemeClr val="tx1"/>
                </a:solidFill>
                <a:latin typeface="Arial" pitchFamily="34" charset="0"/>
                <a:ea typeface="黑体" pitchFamily="49" charset="-122"/>
              </a:defRPr>
            </a:lvl4pPr>
            <a:lvl5pPr>
              <a:defRPr sz="2000">
                <a:solidFill>
                  <a:schemeClr val="tx1"/>
                </a:solidFill>
                <a:latin typeface="Arial" pitchFamily="34" charset="0"/>
                <a:ea typeface="黑体" pitchFamily="49" charset="-122"/>
              </a:defRPr>
            </a:lvl5pPr>
            <a:lvl6pPr eaLnBrk="0" hangingPunct="0">
              <a:defRPr sz="2000">
                <a:solidFill>
                  <a:schemeClr val="tx1"/>
                </a:solidFill>
                <a:latin typeface="Arial" pitchFamily="34" charset="0"/>
                <a:ea typeface="黑体" pitchFamily="49" charset="-122"/>
              </a:defRPr>
            </a:lvl6pPr>
            <a:lvl7pPr eaLnBrk="0" hangingPunct="0">
              <a:defRPr sz="2000">
                <a:solidFill>
                  <a:schemeClr val="tx1"/>
                </a:solidFill>
                <a:latin typeface="Arial" pitchFamily="34" charset="0"/>
                <a:ea typeface="黑体" pitchFamily="49" charset="-122"/>
              </a:defRPr>
            </a:lvl7pPr>
            <a:lvl8pPr eaLnBrk="0" hangingPunct="0">
              <a:defRPr sz="2000">
                <a:solidFill>
                  <a:schemeClr val="tx1"/>
                </a:solidFill>
                <a:latin typeface="Arial" pitchFamily="34" charset="0"/>
                <a:ea typeface="黑体" pitchFamily="49" charset="-122"/>
              </a:defRPr>
            </a:lvl8pPr>
            <a:lvl9pPr eaLnBrk="0" hangingPunct="0">
              <a:defRPr sz="2000">
                <a:solidFill>
                  <a:schemeClr val="tx1"/>
                </a:solidFill>
                <a:latin typeface="Arial" pitchFamily="34" charset="0"/>
                <a:ea typeface="黑体" pitchFamily="49" charset="-122"/>
              </a:defRPr>
            </a:lvl9pPr>
          </a:lstStyle>
          <a:p>
            <a:pPr algn="ctr">
              <a:spcBef>
                <a:spcPct val="50000"/>
              </a:spcBef>
            </a:pPr>
            <a:r>
              <a:rPr lang="en-US" altLang="zh-CN" sz="2400" b="1">
                <a:solidFill>
                  <a:srgbClr val="C00000"/>
                </a:solidFill>
                <a:ea typeface="宋体" pitchFamily="2" charset="-122"/>
              </a:rPr>
              <a:t>1674</a:t>
            </a:r>
            <a:endParaRPr lang="en-US" altLang="zh-CN" sz="2400" b="1">
              <a:solidFill>
                <a:srgbClr val="C00000"/>
              </a:solidFill>
              <a:ea typeface="PMingLiU"/>
              <a:cs typeface="PMingLiU"/>
            </a:endParaRPr>
          </a:p>
        </p:txBody>
      </p:sp>
      <p:sp>
        <p:nvSpPr>
          <p:cNvPr id="11" name="Text Box 12"/>
          <p:cNvSpPr txBox="1">
            <a:spLocks noChangeArrowheads="1"/>
          </p:cNvSpPr>
          <p:nvPr/>
        </p:nvSpPr>
        <p:spPr bwMode="auto">
          <a:xfrm>
            <a:off x="3625850" y="1670050"/>
            <a:ext cx="93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pitchFamily="34" charset="0"/>
                <a:ea typeface="黑体" pitchFamily="49" charset="-122"/>
              </a:defRPr>
            </a:lvl1pPr>
            <a:lvl2pPr>
              <a:defRPr sz="2800">
                <a:solidFill>
                  <a:srgbClr val="000066"/>
                </a:solidFill>
                <a:latin typeface="Arial" pitchFamily="34" charset="0"/>
                <a:ea typeface="黑体" pitchFamily="49" charset="-122"/>
              </a:defRPr>
            </a:lvl2pPr>
            <a:lvl3pPr>
              <a:defRPr sz="2400">
                <a:solidFill>
                  <a:schemeClr val="tx1"/>
                </a:solidFill>
                <a:latin typeface="Arial" pitchFamily="34" charset="0"/>
                <a:ea typeface="黑体" pitchFamily="49" charset="-122"/>
              </a:defRPr>
            </a:lvl3pPr>
            <a:lvl4pPr>
              <a:defRPr sz="2000">
                <a:solidFill>
                  <a:schemeClr val="tx1"/>
                </a:solidFill>
                <a:latin typeface="Arial" pitchFamily="34" charset="0"/>
                <a:ea typeface="黑体" pitchFamily="49" charset="-122"/>
              </a:defRPr>
            </a:lvl4pPr>
            <a:lvl5pPr>
              <a:defRPr sz="2000">
                <a:solidFill>
                  <a:schemeClr val="tx1"/>
                </a:solidFill>
                <a:latin typeface="Arial" pitchFamily="34" charset="0"/>
                <a:ea typeface="黑体" pitchFamily="49" charset="-122"/>
              </a:defRPr>
            </a:lvl5pPr>
            <a:lvl6pPr eaLnBrk="0" hangingPunct="0">
              <a:defRPr sz="2000">
                <a:solidFill>
                  <a:schemeClr val="tx1"/>
                </a:solidFill>
                <a:latin typeface="Arial" pitchFamily="34" charset="0"/>
                <a:ea typeface="黑体" pitchFamily="49" charset="-122"/>
              </a:defRPr>
            </a:lvl6pPr>
            <a:lvl7pPr eaLnBrk="0" hangingPunct="0">
              <a:defRPr sz="2000">
                <a:solidFill>
                  <a:schemeClr val="tx1"/>
                </a:solidFill>
                <a:latin typeface="Arial" pitchFamily="34" charset="0"/>
                <a:ea typeface="黑体" pitchFamily="49" charset="-122"/>
              </a:defRPr>
            </a:lvl7pPr>
            <a:lvl8pPr eaLnBrk="0" hangingPunct="0">
              <a:defRPr sz="2000">
                <a:solidFill>
                  <a:schemeClr val="tx1"/>
                </a:solidFill>
                <a:latin typeface="Arial" pitchFamily="34" charset="0"/>
                <a:ea typeface="黑体" pitchFamily="49" charset="-122"/>
              </a:defRPr>
            </a:lvl8pPr>
            <a:lvl9pPr eaLnBrk="0" hangingPunct="0">
              <a:defRPr sz="2000">
                <a:solidFill>
                  <a:schemeClr val="tx1"/>
                </a:solidFill>
                <a:latin typeface="Arial" pitchFamily="34" charset="0"/>
                <a:ea typeface="黑体" pitchFamily="49" charset="-122"/>
              </a:defRPr>
            </a:lvl9pPr>
          </a:lstStyle>
          <a:p>
            <a:pPr algn="ctr">
              <a:spcBef>
                <a:spcPct val="50000"/>
              </a:spcBef>
            </a:pPr>
            <a:r>
              <a:rPr lang="en-US" altLang="zh-CN" sz="2400" b="1">
                <a:solidFill>
                  <a:srgbClr val="C00000"/>
                </a:solidFill>
                <a:ea typeface="宋体" pitchFamily="2" charset="-122"/>
              </a:rPr>
              <a:t>1946</a:t>
            </a:r>
            <a:endParaRPr lang="en-US" altLang="zh-CN" sz="2400" b="1">
              <a:solidFill>
                <a:srgbClr val="C00000"/>
              </a:solidFill>
              <a:ea typeface="PMingLiU"/>
              <a:cs typeface="PMingLiU"/>
            </a:endParaRPr>
          </a:p>
        </p:txBody>
      </p:sp>
      <p:sp>
        <p:nvSpPr>
          <p:cNvPr id="12" name="Line 13"/>
          <p:cNvSpPr>
            <a:spLocks noChangeShapeType="1"/>
          </p:cNvSpPr>
          <p:nvPr/>
        </p:nvSpPr>
        <p:spPr bwMode="auto">
          <a:xfrm flipH="1">
            <a:off x="4926013" y="1695450"/>
            <a:ext cx="11112" cy="461168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Text Box 14"/>
          <p:cNvSpPr txBox="1">
            <a:spLocks noChangeArrowheads="1"/>
          </p:cNvSpPr>
          <p:nvPr/>
        </p:nvSpPr>
        <p:spPr bwMode="auto">
          <a:xfrm>
            <a:off x="7324725" y="1690688"/>
            <a:ext cx="1811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pitchFamily="34" charset="0"/>
                <a:ea typeface="黑体" pitchFamily="49" charset="-122"/>
              </a:defRPr>
            </a:lvl1pPr>
            <a:lvl2pPr>
              <a:defRPr sz="2800">
                <a:solidFill>
                  <a:srgbClr val="000066"/>
                </a:solidFill>
                <a:latin typeface="Arial" pitchFamily="34" charset="0"/>
                <a:ea typeface="黑体" pitchFamily="49" charset="-122"/>
              </a:defRPr>
            </a:lvl2pPr>
            <a:lvl3pPr>
              <a:defRPr sz="2400">
                <a:solidFill>
                  <a:schemeClr val="tx1"/>
                </a:solidFill>
                <a:latin typeface="Arial" pitchFamily="34" charset="0"/>
                <a:ea typeface="黑体" pitchFamily="49" charset="-122"/>
              </a:defRPr>
            </a:lvl3pPr>
            <a:lvl4pPr>
              <a:defRPr sz="2000">
                <a:solidFill>
                  <a:schemeClr val="tx1"/>
                </a:solidFill>
                <a:latin typeface="Arial" pitchFamily="34" charset="0"/>
                <a:ea typeface="黑体" pitchFamily="49" charset="-122"/>
              </a:defRPr>
            </a:lvl4pPr>
            <a:lvl5pPr>
              <a:defRPr sz="2000">
                <a:solidFill>
                  <a:schemeClr val="tx1"/>
                </a:solidFill>
                <a:latin typeface="Arial" pitchFamily="34" charset="0"/>
                <a:ea typeface="黑体" pitchFamily="49" charset="-122"/>
              </a:defRPr>
            </a:lvl5pPr>
            <a:lvl6pPr eaLnBrk="0" hangingPunct="0">
              <a:defRPr sz="2000">
                <a:solidFill>
                  <a:schemeClr val="tx1"/>
                </a:solidFill>
                <a:latin typeface="Arial" pitchFamily="34" charset="0"/>
                <a:ea typeface="黑体" pitchFamily="49" charset="-122"/>
              </a:defRPr>
            </a:lvl6pPr>
            <a:lvl7pPr eaLnBrk="0" hangingPunct="0">
              <a:defRPr sz="2000">
                <a:solidFill>
                  <a:schemeClr val="tx1"/>
                </a:solidFill>
                <a:latin typeface="Arial" pitchFamily="34" charset="0"/>
                <a:ea typeface="黑体" pitchFamily="49" charset="-122"/>
              </a:defRPr>
            </a:lvl7pPr>
            <a:lvl8pPr eaLnBrk="0" hangingPunct="0">
              <a:defRPr sz="2000">
                <a:solidFill>
                  <a:schemeClr val="tx1"/>
                </a:solidFill>
                <a:latin typeface="Arial" pitchFamily="34" charset="0"/>
                <a:ea typeface="黑体" pitchFamily="49" charset="-122"/>
              </a:defRPr>
            </a:lvl8pPr>
            <a:lvl9pPr eaLnBrk="0" hangingPunct="0">
              <a:defRPr sz="2000">
                <a:solidFill>
                  <a:schemeClr val="tx1"/>
                </a:solidFill>
                <a:latin typeface="Arial" pitchFamily="34" charset="0"/>
                <a:ea typeface="黑体" pitchFamily="49" charset="-122"/>
              </a:defRPr>
            </a:lvl9pPr>
          </a:lstStyle>
          <a:p>
            <a:pPr algn="ctr">
              <a:spcBef>
                <a:spcPct val="50000"/>
              </a:spcBef>
            </a:pPr>
            <a:r>
              <a:rPr lang="en-US" altLang="zh-CN" sz="2400" b="1">
                <a:solidFill>
                  <a:srgbClr val="C00000"/>
                </a:solidFill>
                <a:ea typeface="PMingLiU"/>
                <a:cs typeface="PMingLiU"/>
              </a:rPr>
              <a:t>1945</a:t>
            </a:r>
            <a:r>
              <a:rPr lang="en-US" altLang="zh-TW" sz="2400" b="1">
                <a:solidFill>
                  <a:srgbClr val="C00000"/>
                </a:solidFill>
                <a:ea typeface="PMingLiU"/>
                <a:cs typeface="PMingLiU"/>
              </a:rPr>
              <a:t>-201</a:t>
            </a:r>
            <a:r>
              <a:rPr lang="en-US" altLang="zh-CN" sz="2400" b="1">
                <a:solidFill>
                  <a:srgbClr val="C00000"/>
                </a:solidFill>
                <a:ea typeface="PMingLiU"/>
                <a:cs typeface="PMingLiU"/>
              </a:rPr>
              <a:t>1</a:t>
            </a:r>
            <a:endParaRPr lang="en-US" altLang="zh-TW" sz="2400" b="1">
              <a:solidFill>
                <a:srgbClr val="C00000"/>
              </a:solidFill>
              <a:ea typeface="PMingLiU"/>
              <a:cs typeface="PMingLiU"/>
            </a:endParaRPr>
          </a:p>
        </p:txBody>
      </p:sp>
      <p:sp>
        <p:nvSpPr>
          <p:cNvPr id="14" name="Text Box 15"/>
          <p:cNvSpPr txBox="1">
            <a:spLocks noChangeArrowheads="1"/>
          </p:cNvSpPr>
          <p:nvPr/>
        </p:nvSpPr>
        <p:spPr bwMode="auto">
          <a:xfrm>
            <a:off x="76200" y="3886200"/>
            <a:ext cx="1703388"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114300" indent="-114300">
              <a:defRPr sz="3200">
                <a:solidFill>
                  <a:schemeClr val="tx1"/>
                </a:solidFill>
                <a:latin typeface="Arial" pitchFamily="34" charset="0"/>
                <a:ea typeface="黑体" pitchFamily="49" charset="-122"/>
              </a:defRPr>
            </a:lvl1pPr>
            <a:lvl2pPr>
              <a:defRPr sz="2800">
                <a:solidFill>
                  <a:srgbClr val="000066"/>
                </a:solidFill>
                <a:latin typeface="Arial" pitchFamily="34" charset="0"/>
                <a:ea typeface="黑体" pitchFamily="49" charset="-122"/>
              </a:defRPr>
            </a:lvl2pPr>
            <a:lvl3pPr>
              <a:defRPr sz="2400">
                <a:solidFill>
                  <a:schemeClr val="tx1"/>
                </a:solidFill>
                <a:latin typeface="Arial" pitchFamily="34" charset="0"/>
                <a:ea typeface="黑体" pitchFamily="49" charset="-122"/>
              </a:defRPr>
            </a:lvl3pPr>
            <a:lvl4pPr>
              <a:defRPr sz="2000">
                <a:solidFill>
                  <a:schemeClr val="tx1"/>
                </a:solidFill>
                <a:latin typeface="Arial" pitchFamily="34" charset="0"/>
                <a:ea typeface="黑体" pitchFamily="49" charset="-122"/>
              </a:defRPr>
            </a:lvl4pPr>
            <a:lvl5pPr>
              <a:defRPr sz="2000">
                <a:solidFill>
                  <a:schemeClr val="tx1"/>
                </a:solidFill>
                <a:latin typeface="Arial" pitchFamily="34" charset="0"/>
                <a:ea typeface="黑体" pitchFamily="49" charset="-122"/>
              </a:defRPr>
            </a:lvl5pPr>
            <a:lvl6pPr eaLnBrk="0" hangingPunct="0">
              <a:defRPr sz="2000">
                <a:solidFill>
                  <a:schemeClr val="tx1"/>
                </a:solidFill>
                <a:latin typeface="Arial" pitchFamily="34" charset="0"/>
                <a:ea typeface="黑体" pitchFamily="49" charset="-122"/>
              </a:defRPr>
            </a:lvl6pPr>
            <a:lvl7pPr eaLnBrk="0" hangingPunct="0">
              <a:defRPr sz="2000">
                <a:solidFill>
                  <a:schemeClr val="tx1"/>
                </a:solidFill>
                <a:latin typeface="Arial" pitchFamily="34" charset="0"/>
                <a:ea typeface="黑体" pitchFamily="49" charset="-122"/>
              </a:defRPr>
            </a:lvl7pPr>
            <a:lvl8pPr eaLnBrk="0" hangingPunct="0">
              <a:defRPr sz="2000">
                <a:solidFill>
                  <a:schemeClr val="tx1"/>
                </a:solidFill>
                <a:latin typeface="Arial" pitchFamily="34" charset="0"/>
                <a:ea typeface="黑体" pitchFamily="49" charset="-122"/>
              </a:defRPr>
            </a:lvl8pPr>
            <a:lvl9pPr eaLnBrk="0" hangingPunct="0">
              <a:defRPr sz="2000">
                <a:solidFill>
                  <a:schemeClr val="tx1"/>
                </a:solidFill>
                <a:latin typeface="Arial" pitchFamily="34" charset="0"/>
                <a:ea typeface="黑体" pitchFamily="49" charset="-122"/>
              </a:defRPr>
            </a:lvl9pPr>
          </a:lstStyle>
          <a:p>
            <a:pPr algn="ctr">
              <a:spcBef>
                <a:spcPct val="50000"/>
              </a:spcBef>
              <a:buFontTx/>
              <a:buChar char="•"/>
            </a:pPr>
            <a:r>
              <a:rPr lang="zh-CN" altLang="en-US" sz="1600" b="1" dirty="0">
                <a:latin typeface="Futura Bk"/>
                <a:ea typeface="宋体" pitchFamily="2" charset="-122"/>
              </a:rPr>
              <a:t>数制是十进制</a:t>
            </a:r>
            <a:endParaRPr lang="zh-TW" altLang="en-US" sz="1600" b="1" dirty="0">
              <a:ea typeface="宋体" pitchFamily="2" charset="-122"/>
            </a:endParaRPr>
          </a:p>
          <a:p>
            <a:pPr algn="ctr">
              <a:spcBef>
                <a:spcPct val="50000"/>
              </a:spcBef>
              <a:buFontTx/>
              <a:buChar char="•"/>
            </a:pPr>
            <a:r>
              <a:rPr lang="zh-CN" altLang="en-US" sz="1600" b="1" dirty="0">
                <a:latin typeface="Futura Bk"/>
                <a:ea typeface="宋体" pitchFamily="2" charset="-122"/>
              </a:rPr>
              <a:t>利用齿轮的不同位置表示不同的数值</a:t>
            </a:r>
            <a:endParaRPr lang="zh-TW" altLang="en-US" sz="1600" b="1" dirty="0">
              <a:ea typeface="宋体" pitchFamily="2" charset="-122"/>
            </a:endParaRPr>
          </a:p>
          <a:p>
            <a:pPr algn="ctr">
              <a:spcBef>
                <a:spcPct val="50000"/>
              </a:spcBef>
              <a:buFontTx/>
              <a:buChar char="•"/>
            </a:pPr>
            <a:r>
              <a:rPr lang="zh-CN" altLang="en-US" sz="1600" b="1" dirty="0">
                <a:latin typeface="Futura Bk"/>
                <a:ea typeface="宋体" pitchFamily="2" charset="-122"/>
              </a:rPr>
              <a:t>每一个齿轮有十格，小齿轮转一圈大齿轮走一格</a:t>
            </a:r>
            <a:r>
              <a:rPr lang="en-US" altLang="zh-CN" sz="1600" b="1" dirty="0">
                <a:latin typeface="Futura Bk"/>
                <a:ea typeface="宋体" pitchFamily="2" charset="-122"/>
              </a:rPr>
              <a:t>--</a:t>
            </a:r>
            <a:r>
              <a:rPr lang="zh-CN" altLang="en-US" sz="1600" b="1" dirty="0">
                <a:latin typeface="Futura Bk"/>
                <a:ea typeface="宋体" pitchFamily="2" charset="-122"/>
              </a:rPr>
              <a:t>实现十位十进制数</a:t>
            </a:r>
            <a:endParaRPr lang="zh-TW" altLang="en-US" sz="1600" b="1" dirty="0">
              <a:ea typeface="宋体" pitchFamily="2" charset="-122"/>
            </a:endParaRPr>
          </a:p>
        </p:txBody>
      </p:sp>
      <p:sp>
        <p:nvSpPr>
          <p:cNvPr id="15" name="Text Box 16"/>
          <p:cNvSpPr txBox="1">
            <a:spLocks noChangeArrowheads="1"/>
          </p:cNvSpPr>
          <p:nvPr/>
        </p:nvSpPr>
        <p:spPr bwMode="auto">
          <a:xfrm>
            <a:off x="1743075" y="3978275"/>
            <a:ext cx="1598613" cy="178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171450" indent="-171450">
              <a:defRPr sz="3200">
                <a:solidFill>
                  <a:schemeClr val="tx1"/>
                </a:solidFill>
                <a:latin typeface="Arial" pitchFamily="34" charset="0"/>
                <a:ea typeface="黑体" pitchFamily="49" charset="-122"/>
              </a:defRPr>
            </a:lvl1pPr>
            <a:lvl2pPr>
              <a:defRPr sz="2800">
                <a:solidFill>
                  <a:srgbClr val="000066"/>
                </a:solidFill>
                <a:latin typeface="Arial" pitchFamily="34" charset="0"/>
                <a:ea typeface="黑体" pitchFamily="49" charset="-122"/>
              </a:defRPr>
            </a:lvl2pPr>
            <a:lvl3pPr>
              <a:defRPr sz="2400">
                <a:solidFill>
                  <a:schemeClr val="tx1"/>
                </a:solidFill>
                <a:latin typeface="Arial" pitchFamily="34" charset="0"/>
                <a:ea typeface="黑体" pitchFamily="49" charset="-122"/>
              </a:defRPr>
            </a:lvl3pPr>
            <a:lvl4pPr>
              <a:defRPr sz="2000">
                <a:solidFill>
                  <a:schemeClr val="tx1"/>
                </a:solidFill>
                <a:latin typeface="Arial" pitchFamily="34" charset="0"/>
                <a:ea typeface="黑体" pitchFamily="49" charset="-122"/>
              </a:defRPr>
            </a:lvl4pPr>
            <a:lvl5pPr>
              <a:defRPr sz="2000">
                <a:solidFill>
                  <a:schemeClr val="tx1"/>
                </a:solidFill>
                <a:latin typeface="Arial" pitchFamily="34" charset="0"/>
                <a:ea typeface="黑体" pitchFamily="49" charset="-122"/>
              </a:defRPr>
            </a:lvl5pPr>
            <a:lvl6pPr eaLnBrk="0" hangingPunct="0">
              <a:defRPr sz="2000">
                <a:solidFill>
                  <a:schemeClr val="tx1"/>
                </a:solidFill>
                <a:latin typeface="Arial" pitchFamily="34" charset="0"/>
                <a:ea typeface="黑体" pitchFamily="49" charset="-122"/>
              </a:defRPr>
            </a:lvl6pPr>
            <a:lvl7pPr eaLnBrk="0" hangingPunct="0">
              <a:defRPr sz="2000">
                <a:solidFill>
                  <a:schemeClr val="tx1"/>
                </a:solidFill>
                <a:latin typeface="Arial" pitchFamily="34" charset="0"/>
                <a:ea typeface="黑体" pitchFamily="49" charset="-122"/>
              </a:defRPr>
            </a:lvl7pPr>
            <a:lvl8pPr eaLnBrk="0" hangingPunct="0">
              <a:defRPr sz="2000">
                <a:solidFill>
                  <a:schemeClr val="tx1"/>
                </a:solidFill>
                <a:latin typeface="Arial" pitchFamily="34" charset="0"/>
                <a:ea typeface="黑体" pitchFamily="49" charset="-122"/>
              </a:defRPr>
            </a:lvl8pPr>
            <a:lvl9pPr eaLnBrk="0" hangingPunct="0">
              <a:defRPr sz="2000">
                <a:solidFill>
                  <a:schemeClr val="tx1"/>
                </a:solidFill>
                <a:latin typeface="Arial" pitchFamily="34" charset="0"/>
                <a:ea typeface="黑体" pitchFamily="49" charset="-122"/>
              </a:defRPr>
            </a:lvl9pPr>
          </a:lstStyle>
          <a:p>
            <a:pPr algn="ctr">
              <a:lnSpc>
                <a:spcPct val="90000"/>
              </a:lnSpc>
              <a:spcBef>
                <a:spcPct val="30000"/>
              </a:spcBef>
              <a:buFontTx/>
              <a:buChar char="•"/>
            </a:pPr>
            <a:r>
              <a:rPr lang="zh-CN" altLang="en-US" sz="1600" b="1">
                <a:latin typeface="Futura Bk"/>
                <a:ea typeface="宋体" pitchFamily="2" charset="-122"/>
              </a:rPr>
              <a:t>数制是十进制</a:t>
            </a:r>
          </a:p>
          <a:p>
            <a:pPr algn="ctr">
              <a:lnSpc>
                <a:spcPct val="90000"/>
              </a:lnSpc>
              <a:spcBef>
                <a:spcPct val="30000"/>
              </a:spcBef>
              <a:buFontTx/>
              <a:buChar char="•"/>
            </a:pPr>
            <a:r>
              <a:rPr lang="zh-CN" altLang="en-US" sz="1600" b="1">
                <a:ea typeface="宋体" pitchFamily="2" charset="-122"/>
              </a:rPr>
              <a:t>首次</a:t>
            </a:r>
            <a:r>
              <a:rPr lang="zh-CN" altLang="zh-CN" sz="1600" b="1">
                <a:latin typeface="Futura Bk"/>
                <a:ea typeface="宋体" pitchFamily="2" charset="-122"/>
              </a:rPr>
              <a:t>提出了</a:t>
            </a:r>
            <a:r>
              <a:rPr lang="en-US" altLang="zh-CN" sz="1600" b="1">
                <a:latin typeface="Times New Roman" pitchFamily="18" charset="0"/>
                <a:ea typeface="宋体" pitchFamily="2" charset="-122"/>
              </a:rPr>
              <a:t>“</a:t>
            </a:r>
            <a:r>
              <a:rPr lang="zh-CN" altLang="zh-CN" sz="1600" b="1">
                <a:latin typeface="Futura Bk"/>
                <a:ea typeface="宋体" pitchFamily="2" charset="-122"/>
              </a:rPr>
              <a:t>二进制</a:t>
            </a:r>
            <a:r>
              <a:rPr lang="en-US" altLang="zh-CN" sz="1600" b="1">
                <a:latin typeface="Times New Roman" pitchFamily="18" charset="0"/>
                <a:ea typeface="宋体" pitchFamily="2" charset="-122"/>
              </a:rPr>
              <a:t>”</a:t>
            </a:r>
            <a:r>
              <a:rPr lang="zh-CN" altLang="zh-CN" sz="1600" b="1">
                <a:latin typeface="Futura Bk"/>
                <a:ea typeface="宋体" pitchFamily="2" charset="-122"/>
              </a:rPr>
              <a:t>数的概念</a:t>
            </a:r>
            <a:endParaRPr lang="zh-TW" altLang="en-US" sz="1600" b="1">
              <a:ea typeface="宋体" pitchFamily="2" charset="-122"/>
            </a:endParaRPr>
          </a:p>
          <a:p>
            <a:pPr algn="ctr">
              <a:lnSpc>
                <a:spcPct val="90000"/>
              </a:lnSpc>
              <a:spcBef>
                <a:spcPct val="30000"/>
              </a:spcBef>
              <a:buFontTx/>
              <a:buChar char="•"/>
            </a:pPr>
            <a:r>
              <a:rPr lang="zh-CN" altLang="en-US" sz="1600" b="1">
                <a:latin typeface="Times New Roman" pitchFamily="18" charset="0"/>
                <a:ea typeface="宋体" pitchFamily="2" charset="-122"/>
              </a:rPr>
              <a:t>“</a:t>
            </a:r>
            <a:r>
              <a:rPr lang="zh-CN" altLang="en-US" sz="1600" b="1">
                <a:latin typeface="Futura Bk"/>
                <a:ea typeface="宋体" pitchFamily="2" charset="-122"/>
              </a:rPr>
              <a:t>步进轮</a:t>
            </a:r>
            <a:r>
              <a:rPr lang="zh-CN" altLang="en-US" sz="1600" b="1">
                <a:latin typeface="Times New Roman" pitchFamily="18" charset="0"/>
                <a:ea typeface="宋体" pitchFamily="2" charset="-122"/>
              </a:rPr>
              <a:t>”</a:t>
            </a:r>
            <a:r>
              <a:rPr lang="zh-CN" altLang="en-US" sz="1600" b="1">
                <a:latin typeface="Futura Bk"/>
                <a:ea typeface="宋体" pitchFamily="2" charset="-122"/>
              </a:rPr>
              <a:t>的装置能够连续重复地做加法</a:t>
            </a:r>
            <a:endParaRPr lang="zh-TW" altLang="en-US" sz="1600" b="1">
              <a:ea typeface="宋体" pitchFamily="2" charset="-122"/>
            </a:endParaRPr>
          </a:p>
        </p:txBody>
      </p:sp>
      <p:sp>
        <p:nvSpPr>
          <p:cNvPr id="16" name="Text Box 17"/>
          <p:cNvSpPr txBox="1">
            <a:spLocks noChangeArrowheads="1"/>
          </p:cNvSpPr>
          <p:nvPr/>
        </p:nvSpPr>
        <p:spPr bwMode="auto">
          <a:xfrm>
            <a:off x="3302000" y="3922713"/>
            <a:ext cx="1770063"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171450" indent="-171450">
              <a:defRPr sz="3200">
                <a:solidFill>
                  <a:schemeClr val="tx1"/>
                </a:solidFill>
                <a:latin typeface="Arial" pitchFamily="34" charset="0"/>
                <a:ea typeface="黑体" pitchFamily="49" charset="-122"/>
              </a:defRPr>
            </a:lvl1pPr>
            <a:lvl2pPr>
              <a:defRPr sz="2800">
                <a:solidFill>
                  <a:srgbClr val="000066"/>
                </a:solidFill>
                <a:latin typeface="Arial" pitchFamily="34" charset="0"/>
                <a:ea typeface="黑体" pitchFamily="49" charset="-122"/>
              </a:defRPr>
            </a:lvl2pPr>
            <a:lvl3pPr>
              <a:defRPr sz="2400">
                <a:solidFill>
                  <a:schemeClr val="tx1"/>
                </a:solidFill>
                <a:latin typeface="Arial" pitchFamily="34" charset="0"/>
                <a:ea typeface="黑体" pitchFamily="49" charset="-122"/>
              </a:defRPr>
            </a:lvl3pPr>
            <a:lvl4pPr>
              <a:defRPr sz="2000">
                <a:solidFill>
                  <a:schemeClr val="tx1"/>
                </a:solidFill>
                <a:latin typeface="Arial" pitchFamily="34" charset="0"/>
                <a:ea typeface="黑体" pitchFamily="49" charset="-122"/>
              </a:defRPr>
            </a:lvl4pPr>
            <a:lvl5pPr>
              <a:defRPr sz="2000">
                <a:solidFill>
                  <a:schemeClr val="tx1"/>
                </a:solidFill>
                <a:latin typeface="Arial" pitchFamily="34" charset="0"/>
                <a:ea typeface="黑体" pitchFamily="49" charset="-122"/>
              </a:defRPr>
            </a:lvl5pPr>
            <a:lvl6pPr eaLnBrk="0" hangingPunct="0">
              <a:defRPr sz="2000">
                <a:solidFill>
                  <a:schemeClr val="tx1"/>
                </a:solidFill>
                <a:latin typeface="Arial" pitchFamily="34" charset="0"/>
                <a:ea typeface="黑体" pitchFamily="49" charset="-122"/>
              </a:defRPr>
            </a:lvl6pPr>
            <a:lvl7pPr eaLnBrk="0" hangingPunct="0">
              <a:defRPr sz="2000">
                <a:solidFill>
                  <a:schemeClr val="tx1"/>
                </a:solidFill>
                <a:latin typeface="Arial" pitchFamily="34" charset="0"/>
                <a:ea typeface="黑体" pitchFamily="49" charset="-122"/>
              </a:defRPr>
            </a:lvl7pPr>
            <a:lvl8pPr eaLnBrk="0" hangingPunct="0">
              <a:defRPr sz="2000">
                <a:solidFill>
                  <a:schemeClr val="tx1"/>
                </a:solidFill>
                <a:latin typeface="Arial" pitchFamily="34" charset="0"/>
                <a:ea typeface="黑体" pitchFamily="49" charset="-122"/>
              </a:defRPr>
            </a:lvl8pPr>
            <a:lvl9pPr eaLnBrk="0" hangingPunct="0">
              <a:defRPr sz="2000">
                <a:solidFill>
                  <a:schemeClr val="tx1"/>
                </a:solidFill>
                <a:latin typeface="Arial" pitchFamily="34" charset="0"/>
                <a:ea typeface="黑体" pitchFamily="49" charset="-122"/>
              </a:defRPr>
            </a:lvl9pPr>
          </a:lstStyle>
          <a:p>
            <a:pPr algn="ctr">
              <a:lnSpc>
                <a:spcPct val="90000"/>
              </a:lnSpc>
              <a:spcBef>
                <a:spcPct val="30000"/>
              </a:spcBef>
              <a:buFontTx/>
              <a:buChar char="•"/>
            </a:pPr>
            <a:r>
              <a:rPr lang="zh-CN" altLang="en-US" sz="1600" b="1">
                <a:latin typeface="Futura Bk"/>
                <a:ea typeface="宋体" pitchFamily="2" charset="-122"/>
              </a:rPr>
              <a:t>数制是十进制</a:t>
            </a:r>
            <a:endParaRPr lang="zh-TW" altLang="en-US" sz="1600" b="1">
              <a:ea typeface="宋体" pitchFamily="2" charset="-122"/>
            </a:endParaRPr>
          </a:p>
          <a:p>
            <a:pPr algn="ctr">
              <a:lnSpc>
                <a:spcPct val="90000"/>
              </a:lnSpc>
              <a:spcBef>
                <a:spcPct val="30000"/>
              </a:spcBef>
              <a:buFontTx/>
              <a:buChar char="•"/>
            </a:pPr>
            <a:r>
              <a:rPr lang="zh-CN" altLang="en-US" sz="1600" b="1">
                <a:latin typeface="Futura Bk"/>
                <a:ea typeface="宋体" pitchFamily="2" charset="-122"/>
              </a:rPr>
              <a:t>以电子管为元器件</a:t>
            </a:r>
            <a:endParaRPr lang="zh-TW" altLang="en-US" sz="1600" b="1">
              <a:ea typeface="宋体" pitchFamily="2" charset="-122"/>
            </a:endParaRPr>
          </a:p>
          <a:p>
            <a:pPr algn="ctr">
              <a:lnSpc>
                <a:spcPct val="90000"/>
              </a:lnSpc>
              <a:spcBef>
                <a:spcPct val="30000"/>
              </a:spcBef>
              <a:buFontTx/>
              <a:buChar char="•"/>
            </a:pPr>
            <a:r>
              <a:rPr lang="zh-CN" altLang="en-US" sz="1600" b="1">
                <a:latin typeface="Futura Bk"/>
                <a:ea typeface="宋体" pitchFamily="2" charset="-122"/>
              </a:rPr>
              <a:t>运算速度达到每秒钟</a:t>
            </a:r>
            <a:r>
              <a:rPr lang="en-US" altLang="zh-CN" sz="1600" b="1">
                <a:latin typeface="Futura Bk"/>
                <a:ea typeface="宋体" pitchFamily="2" charset="-122"/>
              </a:rPr>
              <a:t>5000</a:t>
            </a:r>
            <a:r>
              <a:rPr lang="zh-CN" altLang="en-US" sz="1600" b="1">
                <a:latin typeface="Futura Bk"/>
                <a:ea typeface="宋体" pitchFamily="2" charset="-122"/>
              </a:rPr>
              <a:t>次加法</a:t>
            </a:r>
            <a:endParaRPr lang="zh-TW" altLang="en-US" sz="1600" b="1">
              <a:ea typeface="宋体" pitchFamily="2" charset="-122"/>
            </a:endParaRPr>
          </a:p>
          <a:p>
            <a:pPr algn="ctr">
              <a:lnSpc>
                <a:spcPct val="90000"/>
              </a:lnSpc>
              <a:spcBef>
                <a:spcPct val="30000"/>
              </a:spcBef>
              <a:buFontTx/>
              <a:buChar char="•"/>
            </a:pPr>
            <a:r>
              <a:rPr lang="en-US" altLang="zh-CN" sz="1600" b="1">
                <a:latin typeface="Futura Bk"/>
                <a:ea typeface="宋体" pitchFamily="2" charset="-122"/>
              </a:rPr>
              <a:t>170</a:t>
            </a:r>
            <a:r>
              <a:rPr lang="zh-CN" altLang="en-US" sz="1600" b="1">
                <a:latin typeface="Futura Bk"/>
                <a:ea typeface="宋体" pitchFamily="2" charset="-122"/>
              </a:rPr>
              <a:t>平方米、</a:t>
            </a:r>
            <a:r>
              <a:rPr lang="en-US" altLang="zh-CN" sz="1600" b="1">
                <a:latin typeface="Futura Bk"/>
                <a:ea typeface="宋体" pitchFamily="2" charset="-122"/>
              </a:rPr>
              <a:t>30</a:t>
            </a:r>
            <a:r>
              <a:rPr lang="zh-CN" altLang="en-US" sz="1600" b="1">
                <a:latin typeface="Futura Bk"/>
                <a:ea typeface="宋体" pitchFamily="2" charset="-122"/>
              </a:rPr>
              <a:t>吨</a:t>
            </a:r>
            <a:endParaRPr lang="zh-TW" altLang="zh-TW" sz="1600" b="1">
              <a:ea typeface="宋体" pitchFamily="2" charset="-122"/>
            </a:endParaRPr>
          </a:p>
        </p:txBody>
      </p:sp>
      <p:sp>
        <p:nvSpPr>
          <p:cNvPr id="17" name="Text Box 18"/>
          <p:cNvSpPr txBox="1">
            <a:spLocks noChangeArrowheads="1"/>
          </p:cNvSpPr>
          <p:nvPr/>
        </p:nvSpPr>
        <p:spPr bwMode="auto">
          <a:xfrm>
            <a:off x="6697663" y="4105275"/>
            <a:ext cx="2201862"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171450" indent="-171450">
              <a:defRPr sz="3200">
                <a:solidFill>
                  <a:schemeClr val="tx1"/>
                </a:solidFill>
                <a:latin typeface="Arial" pitchFamily="34" charset="0"/>
                <a:ea typeface="黑体" pitchFamily="49" charset="-122"/>
              </a:defRPr>
            </a:lvl1pPr>
            <a:lvl2pPr>
              <a:defRPr sz="2800">
                <a:solidFill>
                  <a:srgbClr val="000066"/>
                </a:solidFill>
                <a:latin typeface="Arial" pitchFamily="34" charset="0"/>
                <a:ea typeface="黑体" pitchFamily="49" charset="-122"/>
              </a:defRPr>
            </a:lvl2pPr>
            <a:lvl3pPr>
              <a:defRPr sz="2400">
                <a:solidFill>
                  <a:schemeClr val="tx1"/>
                </a:solidFill>
                <a:latin typeface="Arial" pitchFamily="34" charset="0"/>
                <a:ea typeface="黑体" pitchFamily="49" charset="-122"/>
              </a:defRPr>
            </a:lvl3pPr>
            <a:lvl4pPr>
              <a:defRPr sz="2000">
                <a:solidFill>
                  <a:schemeClr val="tx1"/>
                </a:solidFill>
                <a:latin typeface="Arial" pitchFamily="34" charset="0"/>
                <a:ea typeface="黑体" pitchFamily="49" charset="-122"/>
              </a:defRPr>
            </a:lvl4pPr>
            <a:lvl5pPr>
              <a:defRPr sz="2000">
                <a:solidFill>
                  <a:schemeClr val="tx1"/>
                </a:solidFill>
                <a:latin typeface="Arial" pitchFamily="34" charset="0"/>
                <a:ea typeface="黑体" pitchFamily="49" charset="-122"/>
              </a:defRPr>
            </a:lvl5pPr>
            <a:lvl6pPr eaLnBrk="0" hangingPunct="0">
              <a:defRPr sz="2000">
                <a:solidFill>
                  <a:schemeClr val="tx1"/>
                </a:solidFill>
                <a:latin typeface="Arial" pitchFamily="34" charset="0"/>
                <a:ea typeface="黑体" pitchFamily="49" charset="-122"/>
              </a:defRPr>
            </a:lvl6pPr>
            <a:lvl7pPr eaLnBrk="0" hangingPunct="0">
              <a:defRPr sz="2000">
                <a:solidFill>
                  <a:schemeClr val="tx1"/>
                </a:solidFill>
                <a:latin typeface="Arial" pitchFamily="34" charset="0"/>
                <a:ea typeface="黑体" pitchFamily="49" charset="-122"/>
              </a:defRPr>
            </a:lvl7pPr>
            <a:lvl8pPr eaLnBrk="0" hangingPunct="0">
              <a:defRPr sz="2000">
                <a:solidFill>
                  <a:schemeClr val="tx1"/>
                </a:solidFill>
                <a:latin typeface="Arial" pitchFamily="34" charset="0"/>
                <a:ea typeface="黑体" pitchFamily="49" charset="-122"/>
              </a:defRPr>
            </a:lvl8pPr>
            <a:lvl9pPr eaLnBrk="0" hangingPunct="0">
              <a:defRPr sz="2000">
                <a:solidFill>
                  <a:schemeClr val="tx1"/>
                </a:solidFill>
                <a:latin typeface="Arial" pitchFamily="34" charset="0"/>
                <a:ea typeface="黑体" pitchFamily="49" charset="-122"/>
              </a:defRPr>
            </a:lvl9pPr>
          </a:lstStyle>
          <a:p>
            <a:pPr algn="ctr">
              <a:lnSpc>
                <a:spcPct val="90000"/>
              </a:lnSpc>
              <a:spcBef>
                <a:spcPct val="30000"/>
              </a:spcBef>
              <a:buFontTx/>
              <a:buChar char="•"/>
            </a:pPr>
            <a:r>
              <a:rPr lang="zh-CN" altLang="en-US" sz="1600" b="1">
                <a:latin typeface="Futura Bk"/>
                <a:ea typeface="宋体" pitchFamily="2" charset="-122"/>
              </a:rPr>
              <a:t>计算机硬件由五个基本部分组成。</a:t>
            </a:r>
          </a:p>
          <a:p>
            <a:pPr algn="ctr">
              <a:lnSpc>
                <a:spcPct val="90000"/>
              </a:lnSpc>
              <a:spcBef>
                <a:spcPct val="30000"/>
              </a:spcBef>
              <a:buFontTx/>
              <a:buChar char="•"/>
            </a:pPr>
            <a:r>
              <a:rPr lang="zh-CN" altLang="en-US" sz="1600" b="1">
                <a:solidFill>
                  <a:schemeClr val="hlink"/>
                </a:solidFill>
                <a:latin typeface="Futura Bk"/>
                <a:ea typeface="宋体" pitchFamily="2" charset="-122"/>
              </a:rPr>
              <a:t>采用二进制</a:t>
            </a:r>
            <a:endParaRPr lang="zh-TW" altLang="en-US" sz="1600" b="1">
              <a:solidFill>
                <a:schemeClr val="hlink"/>
              </a:solidFill>
              <a:ea typeface="宋体" pitchFamily="2" charset="-122"/>
            </a:endParaRPr>
          </a:p>
          <a:p>
            <a:pPr algn="ctr">
              <a:lnSpc>
                <a:spcPct val="90000"/>
              </a:lnSpc>
              <a:spcBef>
                <a:spcPct val="30000"/>
              </a:spcBef>
              <a:buFontTx/>
              <a:buChar char="•"/>
            </a:pPr>
            <a:r>
              <a:rPr lang="zh-CN" altLang="en-US" sz="1600" b="1">
                <a:latin typeface="Futura Bk"/>
                <a:ea typeface="宋体" pitchFamily="2" charset="-122"/>
              </a:rPr>
              <a:t>存储程序的思想，即程序和数据一样，存放在存储器中</a:t>
            </a:r>
            <a:r>
              <a:rPr lang="zh-TW" altLang="en-US" sz="1600" b="1">
                <a:ea typeface="PMingLiU"/>
                <a:cs typeface="PMingLiU"/>
              </a:rPr>
              <a:t> </a:t>
            </a:r>
            <a:endParaRPr lang="zh-TW" altLang="en-US" sz="1600" b="1">
              <a:ea typeface="宋体" pitchFamily="2" charset="-122"/>
            </a:endParaRPr>
          </a:p>
        </p:txBody>
      </p:sp>
      <p:sp>
        <p:nvSpPr>
          <p:cNvPr id="18" name="Line 20"/>
          <p:cNvSpPr>
            <a:spLocks noChangeShapeType="1"/>
          </p:cNvSpPr>
          <p:nvPr/>
        </p:nvSpPr>
        <p:spPr bwMode="auto">
          <a:xfrm flipH="1">
            <a:off x="6678613" y="1719263"/>
            <a:ext cx="11112" cy="4611687"/>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Text Box 21"/>
          <p:cNvSpPr txBox="1">
            <a:spLocks noChangeArrowheads="1"/>
          </p:cNvSpPr>
          <p:nvPr/>
        </p:nvSpPr>
        <p:spPr bwMode="auto">
          <a:xfrm>
            <a:off x="5221288" y="1679575"/>
            <a:ext cx="93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pitchFamily="34" charset="0"/>
                <a:ea typeface="黑体" pitchFamily="49" charset="-122"/>
              </a:defRPr>
            </a:lvl1pPr>
            <a:lvl2pPr>
              <a:defRPr sz="2800">
                <a:solidFill>
                  <a:srgbClr val="000066"/>
                </a:solidFill>
                <a:latin typeface="Arial" pitchFamily="34" charset="0"/>
                <a:ea typeface="黑体" pitchFamily="49" charset="-122"/>
              </a:defRPr>
            </a:lvl2pPr>
            <a:lvl3pPr>
              <a:defRPr sz="2400">
                <a:solidFill>
                  <a:schemeClr val="tx1"/>
                </a:solidFill>
                <a:latin typeface="Arial" pitchFamily="34" charset="0"/>
                <a:ea typeface="黑体" pitchFamily="49" charset="-122"/>
              </a:defRPr>
            </a:lvl3pPr>
            <a:lvl4pPr>
              <a:defRPr sz="2000">
                <a:solidFill>
                  <a:schemeClr val="tx1"/>
                </a:solidFill>
                <a:latin typeface="Arial" pitchFamily="34" charset="0"/>
                <a:ea typeface="黑体" pitchFamily="49" charset="-122"/>
              </a:defRPr>
            </a:lvl4pPr>
            <a:lvl5pPr>
              <a:defRPr sz="2000">
                <a:solidFill>
                  <a:schemeClr val="tx1"/>
                </a:solidFill>
                <a:latin typeface="Arial" pitchFamily="34" charset="0"/>
                <a:ea typeface="黑体" pitchFamily="49" charset="-122"/>
              </a:defRPr>
            </a:lvl5pPr>
            <a:lvl6pPr eaLnBrk="0" hangingPunct="0">
              <a:defRPr sz="2000">
                <a:solidFill>
                  <a:schemeClr val="tx1"/>
                </a:solidFill>
                <a:latin typeface="Arial" pitchFamily="34" charset="0"/>
                <a:ea typeface="黑体" pitchFamily="49" charset="-122"/>
              </a:defRPr>
            </a:lvl6pPr>
            <a:lvl7pPr eaLnBrk="0" hangingPunct="0">
              <a:defRPr sz="2000">
                <a:solidFill>
                  <a:schemeClr val="tx1"/>
                </a:solidFill>
                <a:latin typeface="Arial" pitchFamily="34" charset="0"/>
                <a:ea typeface="黑体" pitchFamily="49" charset="-122"/>
              </a:defRPr>
            </a:lvl7pPr>
            <a:lvl8pPr eaLnBrk="0" hangingPunct="0">
              <a:defRPr sz="2000">
                <a:solidFill>
                  <a:schemeClr val="tx1"/>
                </a:solidFill>
                <a:latin typeface="Arial" pitchFamily="34" charset="0"/>
                <a:ea typeface="黑体" pitchFamily="49" charset="-122"/>
              </a:defRPr>
            </a:lvl8pPr>
            <a:lvl9pPr eaLnBrk="0" hangingPunct="0">
              <a:defRPr sz="2000">
                <a:solidFill>
                  <a:schemeClr val="tx1"/>
                </a:solidFill>
                <a:latin typeface="Arial" pitchFamily="34" charset="0"/>
                <a:ea typeface="黑体" pitchFamily="49" charset="-122"/>
              </a:defRPr>
            </a:lvl9pPr>
          </a:lstStyle>
          <a:p>
            <a:pPr algn="ctr">
              <a:spcBef>
                <a:spcPct val="50000"/>
              </a:spcBef>
            </a:pPr>
            <a:r>
              <a:rPr lang="en-US" altLang="zh-CN" sz="2400" b="1">
                <a:solidFill>
                  <a:srgbClr val="C00000"/>
                </a:solidFill>
                <a:ea typeface="宋体" pitchFamily="2" charset="-122"/>
              </a:rPr>
              <a:t>1950</a:t>
            </a:r>
            <a:endParaRPr lang="en-US" altLang="zh-CN" sz="2400" b="1">
              <a:solidFill>
                <a:srgbClr val="C00000"/>
              </a:solidFill>
              <a:ea typeface="PMingLiU"/>
              <a:cs typeface="PMingLiU"/>
            </a:endParaRPr>
          </a:p>
        </p:txBody>
      </p:sp>
      <p:sp>
        <p:nvSpPr>
          <p:cNvPr id="20" name="Text Box 22"/>
          <p:cNvSpPr txBox="1">
            <a:spLocks noChangeArrowheads="1"/>
          </p:cNvSpPr>
          <p:nvPr/>
        </p:nvSpPr>
        <p:spPr bwMode="auto">
          <a:xfrm>
            <a:off x="4848225" y="2513013"/>
            <a:ext cx="19494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3200">
                <a:solidFill>
                  <a:schemeClr val="tx1"/>
                </a:solidFill>
                <a:latin typeface="Arial" pitchFamily="34" charset="0"/>
                <a:ea typeface="黑体" pitchFamily="49" charset="-122"/>
              </a:defRPr>
            </a:lvl1pPr>
            <a:lvl2pPr>
              <a:defRPr sz="2800">
                <a:solidFill>
                  <a:srgbClr val="000066"/>
                </a:solidFill>
                <a:latin typeface="Arial" pitchFamily="34" charset="0"/>
                <a:ea typeface="黑体" pitchFamily="49" charset="-122"/>
              </a:defRPr>
            </a:lvl2pPr>
            <a:lvl3pPr>
              <a:defRPr sz="2400">
                <a:solidFill>
                  <a:schemeClr val="tx1"/>
                </a:solidFill>
                <a:latin typeface="Arial" pitchFamily="34" charset="0"/>
                <a:ea typeface="黑体" pitchFamily="49" charset="-122"/>
              </a:defRPr>
            </a:lvl3pPr>
            <a:lvl4pPr>
              <a:defRPr sz="2000">
                <a:solidFill>
                  <a:schemeClr val="tx1"/>
                </a:solidFill>
                <a:latin typeface="Arial" pitchFamily="34" charset="0"/>
                <a:ea typeface="黑体" pitchFamily="49" charset="-122"/>
              </a:defRPr>
            </a:lvl4pPr>
            <a:lvl5pPr>
              <a:defRPr sz="2000">
                <a:solidFill>
                  <a:schemeClr val="tx1"/>
                </a:solidFill>
                <a:latin typeface="Arial" pitchFamily="34" charset="0"/>
                <a:ea typeface="黑体" pitchFamily="49" charset="-122"/>
              </a:defRPr>
            </a:lvl5pPr>
            <a:lvl6pPr eaLnBrk="0" hangingPunct="0">
              <a:defRPr sz="2000">
                <a:solidFill>
                  <a:schemeClr val="tx1"/>
                </a:solidFill>
                <a:latin typeface="Arial" pitchFamily="34" charset="0"/>
                <a:ea typeface="黑体" pitchFamily="49" charset="-122"/>
              </a:defRPr>
            </a:lvl6pPr>
            <a:lvl7pPr eaLnBrk="0" hangingPunct="0">
              <a:defRPr sz="2000">
                <a:solidFill>
                  <a:schemeClr val="tx1"/>
                </a:solidFill>
                <a:latin typeface="Arial" pitchFamily="34" charset="0"/>
                <a:ea typeface="黑体" pitchFamily="49" charset="-122"/>
              </a:defRPr>
            </a:lvl7pPr>
            <a:lvl8pPr eaLnBrk="0" hangingPunct="0">
              <a:defRPr sz="2000">
                <a:solidFill>
                  <a:schemeClr val="tx1"/>
                </a:solidFill>
                <a:latin typeface="Arial" pitchFamily="34" charset="0"/>
                <a:ea typeface="黑体" pitchFamily="49" charset="-122"/>
              </a:defRPr>
            </a:lvl8pPr>
            <a:lvl9pPr eaLnBrk="0" hangingPunct="0">
              <a:defRPr sz="2000">
                <a:solidFill>
                  <a:schemeClr val="tx1"/>
                </a:solidFill>
                <a:latin typeface="Arial" pitchFamily="34" charset="0"/>
                <a:ea typeface="黑体" pitchFamily="49" charset="-122"/>
              </a:defRPr>
            </a:lvl9pPr>
          </a:lstStyle>
          <a:p>
            <a:pPr algn="ctr" eaLnBrk="1" hangingPunct="1"/>
            <a:r>
              <a:rPr lang="zh-CN" altLang="en-US" sz="1200" b="1">
                <a:latin typeface="Futura Bk"/>
                <a:ea typeface="宋体" pitchFamily="2" charset="-122"/>
              </a:rPr>
              <a:t>研制成</a:t>
            </a:r>
            <a:r>
              <a:rPr lang="en-US" altLang="zh-CN" sz="1200" b="1">
                <a:latin typeface="Futura Bk"/>
                <a:ea typeface="宋体" pitchFamily="2" charset="-122"/>
              </a:rPr>
              <a:t>EDVAC</a:t>
            </a:r>
            <a:endParaRPr lang="zh-CN" altLang="en-US" sz="1200" b="1">
              <a:latin typeface="Futura Bk"/>
              <a:ea typeface="宋体" pitchFamily="2" charset="-122"/>
            </a:endParaRPr>
          </a:p>
          <a:p>
            <a:pPr algn="ctr" eaLnBrk="1" hangingPunct="1"/>
            <a:r>
              <a:rPr lang="en-US" altLang="zh-CN" sz="1200" b="1">
                <a:latin typeface="Futura Bk"/>
                <a:ea typeface="宋体" pitchFamily="2" charset="-122"/>
              </a:rPr>
              <a:t>ENIAC</a:t>
            </a:r>
            <a:r>
              <a:rPr lang="en-US" altLang="zh-TW" sz="1200" b="1">
                <a:latin typeface="Futura Bk"/>
                <a:ea typeface="宋体" pitchFamily="2" charset="-122"/>
              </a:rPr>
              <a:t>和EDVAC的建造者均為</a:t>
            </a:r>
            <a:r>
              <a:rPr lang="zh-CN" altLang="en-US" sz="1200" b="1">
                <a:latin typeface="Futura Bk"/>
                <a:ea typeface="宋体" pitchFamily="2" charset="-122"/>
              </a:rPr>
              <a:t>莫契利和埃克特</a:t>
            </a:r>
            <a:endParaRPr lang="zh-TW" altLang="en-US" sz="1200" b="1">
              <a:latin typeface="Futura Bk"/>
              <a:ea typeface="宋体" pitchFamily="2" charset="-122"/>
            </a:endParaRPr>
          </a:p>
        </p:txBody>
      </p:sp>
      <p:sp>
        <p:nvSpPr>
          <p:cNvPr id="21" name="Text Box 24"/>
          <p:cNvSpPr txBox="1">
            <a:spLocks noChangeArrowheads="1"/>
          </p:cNvSpPr>
          <p:nvPr/>
        </p:nvSpPr>
        <p:spPr bwMode="auto">
          <a:xfrm>
            <a:off x="4868863" y="3917950"/>
            <a:ext cx="1770062" cy="288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171450" indent="-171450">
              <a:defRPr sz="3200">
                <a:solidFill>
                  <a:schemeClr val="tx1"/>
                </a:solidFill>
                <a:latin typeface="Arial" pitchFamily="34" charset="0"/>
                <a:ea typeface="黑体" pitchFamily="49" charset="-122"/>
              </a:defRPr>
            </a:lvl1pPr>
            <a:lvl2pPr>
              <a:defRPr sz="2800">
                <a:solidFill>
                  <a:srgbClr val="000066"/>
                </a:solidFill>
                <a:latin typeface="Arial" pitchFamily="34" charset="0"/>
                <a:ea typeface="黑体" pitchFamily="49" charset="-122"/>
              </a:defRPr>
            </a:lvl2pPr>
            <a:lvl3pPr>
              <a:defRPr sz="2400">
                <a:solidFill>
                  <a:schemeClr val="tx1"/>
                </a:solidFill>
                <a:latin typeface="Arial" pitchFamily="34" charset="0"/>
                <a:ea typeface="黑体" pitchFamily="49" charset="-122"/>
              </a:defRPr>
            </a:lvl3pPr>
            <a:lvl4pPr>
              <a:defRPr sz="2000">
                <a:solidFill>
                  <a:schemeClr val="tx1"/>
                </a:solidFill>
                <a:latin typeface="Arial" pitchFamily="34" charset="0"/>
                <a:ea typeface="黑体" pitchFamily="49" charset="-122"/>
              </a:defRPr>
            </a:lvl4pPr>
            <a:lvl5pPr>
              <a:defRPr sz="2000">
                <a:solidFill>
                  <a:schemeClr val="tx1"/>
                </a:solidFill>
                <a:latin typeface="Arial" pitchFamily="34" charset="0"/>
                <a:ea typeface="黑体" pitchFamily="49" charset="-122"/>
              </a:defRPr>
            </a:lvl5pPr>
            <a:lvl6pPr eaLnBrk="0" hangingPunct="0">
              <a:defRPr sz="2000">
                <a:solidFill>
                  <a:schemeClr val="tx1"/>
                </a:solidFill>
                <a:latin typeface="Arial" pitchFamily="34" charset="0"/>
                <a:ea typeface="黑体" pitchFamily="49" charset="-122"/>
              </a:defRPr>
            </a:lvl6pPr>
            <a:lvl7pPr eaLnBrk="0" hangingPunct="0">
              <a:defRPr sz="2000">
                <a:solidFill>
                  <a:schemeClr val="tx1"/>
                </a:solidFill>
                <a:latin typeface="Arial" pitchFamily="34" charset="0"/>
                <a:ea typeface="黑体" pitchFamily="49" charset="-122"/>
              </a:defRPr>
            </a:lvl7pPr>
            <a:lvl8pPr eaLnBrk="0" hangingPunct="0">
              <a:defRPr sz="2000">
                <a:solidFill>
                  <a:schemeClr val="tx1"/>
                </a:solidFill>
                <a:latin typeface="Arial" pitchFamily="34" charset="0"/>
                <a:ea typeface="黑体" pitchFamily="49" charset="-122"/>
              </a:defRPr>
            </a:lvl8pPr>
            <a:lvl9pPr eaLnBrk="0" hangingPunct="0">
              <a:defRPr sz="2000">
                <a:solidFill>
                  <a:schemeClr val="tx1"/>
                </a:solidFill>
                <a:latin typeface="Arial" pitchFamily="34" charset="0"/>
                <a:ea typeface="黑体" pitchFamily="49" charset="-122"/>
              </a:defRPr>
            </a:lvl9pPr>
          </a:lstStyle>
          <a:p>
            <a:pPr algn="ctr">
              <a:lnSpc>
                <a:spcPct val="90000"/>
              </a:lnSpc>
              <a:spcBef>
                <a:spcPct val="30000"/>
              </a:spcBef>
              <a:buFontTx/>
              <a:buChar char="•"/>
            </a:pPr>
            <a:r>
              <a:rPr lang="zh-CN" altLang="en-US" sz="1600" b="1">
                <a:latin typeface="Futura Bk"/>
                <a:ea typeface="宋体" pitchFamily="2" charset="-122"/>
              </a:rPr>
              <a:t>数制是二进制</a:t>
            </a:r>
            <a:endParaRPr lang="zh-TW" altLang="en-US" sz="1600" b="1">
              <a:ea typeface="宋体" pitchFamily="2" charset="-122"/>
            </a:endParaRPr>
          </a:p>
          <a:p>
            <a:pPr algn="ctr">
              <a:lnSpc>
                <a:spcPct val="90000"/>
              </a:lnSpc>
              <a:spcBef>
                <a:spcPct val="30000"/>
              </a:spcBef>
              <a:buFontTx/>
              <a:buChar char="•"/>
            </a:pPr>
            <a:r>
              <a:rPr lang="zh-CN" altLang="en-US" sz="1600" b="1">
                <a:latin typeface="Futura Bk"/>
                <a:ea typeface="宋体" pitchFamily="2" charset="-122"/>
              </a:rPr>
              <a:t>以电子管为元器件</a:t>
            </a:r>
            <a:endParaRPr lang="zh-TW" altLang="en-US" sz="1600" b="1">
              <a:ea typeface="宋体" pitchFamily="2" charset="-122"/>
            </a:endParaRPr>
          </a:p>
          <a:p>
            <a:pPr algn="ctr">
              <a:lnSpc>
                <a:spcPct val="90000"/>
              </a:lnSpc>
              <a:spcBef>
                <a:spcPct val="30000"/>
              </a:spcBef>
              <a:buFontTx/>
              <a:buChar char="•"/>
            </a:pPr>
            <a:r>
              <a:rPr lang="zh-CN" altLang="en-US" sz="1600" b="1">
                <a:latin typeface="Times New Roman" pitchFamily="18" charset="0"/>
                <a:ea typeface="宋体" pitchFamily="2" charset="-122"/>
              </a:rPr>
              <a:t>“</a:t>
            </a:r>
            <a:r>
              <a:rPr lang="zh-CN" altLang="en-US" sz="1600" b="1">
                <a:latin typeface="Futura Bk"/>
                <a:ea typeface="宋体" pitchFamily="2" charset="-122"/>
              </a:rPr>
              <a:t>存储程序</a:t>
            </a:r>
            <a:r>
              <a:rPr lang="zh-CN" altLang="en-US" sz="1600" b="1">
                <a:latin typeface="Times New Roman" pitchFamily="18" charset="0"/>
                <a:ea typeface="宋体" pitchFamily="2" charset="-122"/>
              </a:rPr>
              <a:t>”</a:t>
            </a:r>
            <a:r>
              <a:rPr lang="zh-CN" altLang="en-US" sz="1600" b="1">
                <a:latin typeface="Futura Bk"/>
                <a:ea typeface="宋体" pitchFamily="2" charset="-122"/>
              </a:rPr>
              <a:t>结构</a:t>
            </a:r>
          </a:p>
          <a:p>
            <a:pPr algn="ctr">
              <a:lnSpc>
                <a:spcPct val="90000"/>
              </a:lnSpc>
              <a:spcBef>
                <a:spcPct val="30000"/>
              </a:spcBef>
              <a:buFontTx/>
              <a:buChar char="•"/>
            </a:pPr>
            <a:r>
              <a:rPr lang="en-US" altLang="zh-CN" sz="1600" b="1">
                <a:latin typeface="Futura Bk"/>
                <a:ea typeface="宋体" pitchFamily="2" charset="-122"/>
              </a:rPr>
              <a:t>1</a:t>
            </a:r>
            <a:r>
              <a:rPr lang="zh-CN" altLang="en-US" sz="1600" b="1">
                <a:latin typeface="Futura Bk"/>
                <a:ea typeface="宋体" pitchFamily="2" charset="-122"/>
              </a:rPr>
              <a:t>次加法</a:t>
            </a:r>
            <a:r>
              <a:rPr lang="en-US" altLang="zh-CN" sz="1600" b="1">
                <a:latin typeface="Futura Bk"/>
                <a:ea typeface="宋体" pitchFamily="2" charset="-122"/>
              </a:rPr>
              <a:t>/864</a:t>
            </a:r>
            <a:r>
              <a:rPr lang="zh-CN" altLang="en-US" sz="1600" b="1">
                <a:latin typeface="Futura Bk"/>
                <a:ea typeface="宋体" pitchFamily="2" charset="-122"/>
              </a:rPr>
              <a:t>微秒</a:t>
            </a:r>
            <a:endParaRPr lang="zh-TW" altLang="en-US" sz="1600" b="1">
              <a:ea typeface="宋体" pitchFamily="2" charset="-122"/>
            </a:endParaRPr>
          </a:p>
          <a:p>
            <a:pPr algn="ctr">
              <a:lnSpc>
                <a:spcPct val="90000"/>
              </a:lnSpc>
              <a:spcBef>
                <a:spcPct val="30000"/>
              </a:spcBef>
              <a:buFontTx/>
              <a:buChar char="•"/>
            </a:pPr>
            <a:r>
              <a:rPr lang="zh-CN" altLang="zh-CN" sz="1600" b="1">
                <a:ea typeface="宋体" pitchFamily="2" charset="-122"/>
              </a:rPr>
              <a:t>可靠、可生产</a:t>
            </a:r>
            <a:endParaRPr lang="zh-CN" altLang="en-US" sz="1600" b="1">
              <a:ea typeface="宋体" pitchFamily="2" charset="-122"/>
            </a:endParaRPr>
          </a:p>
          <a:p>
            <a:pPr algn="ctr">
              <a:lnSpc>
                <a:spcPct val="90000"/>
              </a:lnSpc>
              <a:spcBef>
                <a:spcPct val="30000"/>
              </a:spcBef>
              <a:buFontTx/>
              <a:buChar char="•"/>
            </a:pPr>
            <a:r>
              <a:rPr lang="zh-CN" altLang="en-US" sz="1600" b="1">
                <a:latin typeface="Futura Bk"/>
                <a:ea typeface="宋体" pitchFamily="2" charset="-122"/>
              </a:rPr>
              <a:t>著名报告</a:t>
            </a:r>
            <a:r>
              <a:rPr lang="zh-CN" altLang="en-US" sz="1600" b="1">
                <a:latin typeface="Times New Roman" pitchFamily="18" charset="0"/>
                <a:ea typeface="宋体" pitchFamily="2" charset="-122"/>
              </a:rPr>
              <a:t>“</a:t>
            </a:r>
            <a:r>
              <a:rPr lang="zh-CN" altLang="en-US" sz="1600" b="1">
                <a:latin typeface="Futura Bk"/>
                <a:ea typeface="宋体" pitchFamily="2" charset="-122"/>
              </a:rPr>
              <a:t>关于</a:t>
            </a:r>
            <a:r>
              <a:rPr lang="en-US" altLang="zh-TW" sz="1600" b="1">
                <a:latin typeface="Futura Bk"/>
                <a:ea typeface="宋体" pitchFamily="2" charset="-122"/>
              </a:rPr>
              <a:t>EDVAC</a:t>
            </a:r>
            <a:r>
              <a:rPr lang="en-US" altLang="zh-CN" sz="1600" b="1">
                <a:latin typeface="Futura Bk"/>
                <a:ea typeface="宋体" pitchFamily="2" charset="-122"/>
              </a:rPr>
              <a:t>的</a:t>
            </a:r>
            <a:r>
              <a:rPr lang="zh-CN" altLang="en-US" sz="1600" b="1">
                <a:latin typeface="Futura Bk"/>
                <a:ea typeface="宋体" pitchFamily="2" charset="-122"/>
              </a:rPr>
              <a:t>报告草案</a:t>
            </a:r>
            <a:r>
              <a:rPr lang="zh-CN" altLang="en-US" sz="1600" b="1">
                <a:latin typeface="Times New Roman" pitchFamily="18" charset="0"/>
                <a:ea typeface="宋体" pitchFamily="2" charset="-122"/>
              </a:rPr>
              <a:t>”</a:t>
            </a:r>
            <a:endParaRPr lang="zh-CN" altLang="zh-TW" sz="1600" b="1">
              <a:latin typeface="Futura Bk"/>
              <a:ea typeface="宋体" pitchFamily="2" charset="-122"/>
            </a:endParaRPr>
          </a:p>
        </p:txBody>
      </p:sp>
      <p:sp>
        <p:nvSpPr>
          <p:cNvPr id="15382" name="Text Box 25"/>
          <p:cNvSpPr txBox="1">
            <a:spLocks noChangeArrowheads="1"/>
          </p:cNvSpPr>
          <p:nvPr/>
        </p:nvSpPr>
        <p:spPr bwMode="auto">
          <a:xfrm>
            <a:off x="373063" y="1219200"/>
            <a:ext cx="6527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Arial" pitchFamily="34" charset="0"/>
                <a:ea typeface="黑体" pitchFamily="49" charset="-122"/>
              </a:defRPr>
            </a:lvl1pPr>
            <a:lvl2pPr>
              <a:defRPr sz="2800">
                <a:solidFill>
                  <a:srgbClr val="000066"/>
                </a:solidFill>
                <a:latin typeface="Arial" pitchFamily="34" charset="0"/>
                <a:ea typeface="黑体" pitchFamily="49" charset="-122"/>
              </a:defRPr>
            </a:lvl2pPr>
            <a:lvl3pPr>
              <a:defRPr sz="2400">
                <a:solidFill>
                  <a:schemeClr val="tx1"/>
                </a:solidFill>
                <a:latin typeface="Arial" pitchFamily="34" charset="0"/>
                <a:ea typeface="黑体" pitchFamily="49" charset="-122"/>
              </a:defRPr>
            </a:lvl3pPr>
            <a:lvl4pPr>
              <a:defRPr sz="2000">
                <a:solidFill>
                  <a:schemeClr val="tx1"/>
                </a:solidFill>
                <a:latin typeface="Arial" pitchFamily="34" charset="0"/>
                <a:ea typeface="黑体" pitchFamily="49" charset="-122"/>
              </a:defRPr>
            </a:lvl4pPr>
            <a:lvl5pPr>
              <a:defRPr sz="2000">
                <a:solidFill>
                  <a:schemeClr val="tx1"/>
                </a:solidFill>
                <a:latin typeface="Arial" pitchFamily="34" charset="0"/>
                <a:ea typeface="黑体" pitchFamily="49" charset="-122"/>
              </a:defRPr>
            </a:lvl5pPr>
            <a:lvl6pPr eaLnBrk="0" hangingPunct="0">
              <a:defRPr sz="2000">
                <a:solidFill>
                  <a:schemeClr val="tx1"/>
                </a:solidFill>
                <a:latin typeface="Arial" pitchFamily="34" charset="0"/>
                <a:ea typeface="黑体" pitchFamily="49" charset="-122"/>
              </a:defRPr>
            </a:lvl6pPr>
            <a:lvl7pPr eaLnBrk="0" hangingPunct="0">
              <a:defRPr sz="2000">
                <a:solidFill>
                  <a:schemeClr val="tx1"/>
                </a:solidFill>
                <a:latin typeface="Arial" pitchFamily="34" charset="0"/>
                <a:ea typeface="黑体" pitchFamily="49" charset="-122"/>
              </a:defRPr>
            </a:lvl7pPr>
            <a:lvl8pPr eaLnBrk="0" hangingPunct="0">
              <a:defRPr sz="2000">
                <a:solidFill>
                  <a:schemeClr val="tx1"/>
                </a:solidFill>
                <a:latin typeface="Arial" pitchFamily="34" charset="0"/>
                <a:ea typeface="黑体" pitchFamily="49" charset="-122"/>
              </a:defRPr>
            </a:lvl8pPr>
            <a:lvl9pPr eaLnBrk="0" hangingPunct="0">
              <a:defRPr sz="2000">
                <a:solidFill>
                  <a:schemeClr val="tx1"/>
                </a:solidFill>
                <a:latin typeface="Arial" pitchFamily="34" charset="0"/>
                <a:ea typeface="黑体" pitchFamily="49" charset="-122"/>
              </a:defRPr>
            </a:lvl9pPr>
          </a:lstStyle>
          <a:p>
            <a:pPr algn="ctr" eaLnBrk="1" hangingPunct="1"/>
            <a:r>
              <a:rPr lang="zh-CN" altLang="en-US" sz="2400" b="1" dirty="0">
                <a:solidFill>
                  <a:srgbClr val="002060"/>
                </a:solidFill>
                <a:latin typeface="仿宋_GB2312"/>
                <a:ea typeface="仿宋_GB2312"/>
                <a:cs typeface="仿宋_GB2312"/>
              </a:rPr>
              <a:t>在早期设计的计算装置中</a:t>
            </a:r>
            <a:r>
              <a:rPr lang="en-US" altLang="zh-CN" sz="2400" b="1" dirty="0">
                <a:solidFill>
                  <a:srgbClr val="002060"/>
                </a:solidFill>
                <a:latin typeface="仿宋_GB2312"/>
                <a:ea typeface="仿宋_GB2312"/>
                <a:cs typeface="仿宋_GB2312"/>
              </a:rPr>
              <a:t>,</a:t>
            </a:r>
            <a:r>
              <a:rPr lang="zh-CN" altLang="en-US" sz="2400" b="1" dirty="0">
                <a:solidFill>
                  <a:srgbClr val="002060"/>
                </a:solidFill>
                <a:latin typeface="仿宋_GB2312"/>
                <a:ea typeface="仿宋_GB2312"/>
                <a:cs typeface="仿宋_GB2312"/>
              </a:rPr>
              <a:t>使用的并不是二进制</a:t>
            </a:r>
          </a:p>
        </p:txBody>
      </p:sp>
      <p:sp>
        <p:nvSpPr>
          <p:cNvPr id="24" name="标题 1"/>
          <p:cNvSpPr txBox="1">
            <a:spLocks/>
          </p:cNvSpPr>
          <p:nvPr/>
        </p:nvSpPr>
        <p:spPr bwMode="auto">
          <a:xfrm>
            <a:off x="10886" y="457200"/>
            <a:ext cx="590550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rtl="0" eaLnBrk="0" fontAlgn="base" hangingPunct="0">
              <a:spcBef>
                <a:spcPct val="0"/>
              </a:spcBef>
              <a:spcAft>
                <a:spcPct val="0"/>
              </a:spcAft>
              <a:defRPr sz="3600" b="1">
                <a:solidFill>
                  <a:srgbClr val="CC3300"/>
                </a:solidFill>
                <a:latin typeface="+mj-lt"/>
                <a:ea typeface="+mj-ea"/>
                <a:cs typeface="+mj-cs"/>
              </a:defRPr>
            </a:lvl1pPr>
            <a:lvl2pPr algn="r" rtl="0" eaLnBrk="0" fontAlgn="base" hangingPunct="0">
              <a:spcBef>
                <a:spcPct val="0"/>
              </a:spcBef>
              <a:spcAft>
                <a:spcPct val="0"/>
              </a:spcAft>
              <a:defRPr sz="3600" b="1">
                <a:solidFill>
                  <a:srgbClr val="CC3300"/>
                </a:solidFill>
                <a:latin typeface="Arial" charset="0"/>
                <a:ea typeface="黑体" pitchFamily="2" charset="-122"/>
              </a:defRPr>
            </a:lvl2pPr>
            <a:lvl3pPr algn="r" rtl="0" eaLnBrk="0" fontAlgn="base" hangingPunct="0">
              <a:spcBef>
                <a:spcPct val="0"/>
              </a:spcBef>
              <a:spcAft>
                <a:spcPct val="0"/>
              </a:spcAft>
              <a:defRPr sz="3600" b="1">
                <a:solidFill>
                  <a:srgbClr val="CC3300"/>
                </a:solidFill>
                <a:latin typeface="Arial" charset="0"/>
                <a:ea typeface="黑体" pitchFamily="2" charset="-122"/>
              </a:defRPr>
            </a:lvl3pPr>
            <a:lvl4pPr algn="r" rtl="0" eaLnBrk="0" fontAlgn="base" hangingPunct="0">
              <a:spcBef>
                <a:spcPct val="0"/>
              </a:spcBef>
              <a:spcAft>
                <a:spcPct val="0"/>
              </a:spcAft>
              <a:defRPr sz="3600" b="1">
                <a:solidFill>
                  <a:srgbClr val="CC3300"/>
                </a:solidFill>
                <a:latin typeface="Arial" charset="0"/>
                <a:ea typeface="黑体" pitchFamily="2" charset="-122"/>
              </a:defRPr>
            </a:lvl4pPr>
            <a:lvl5pPr algn="r" rtl="0" eaLnBrk="0" fontAlgn="base" hangingPunct="0">
              <a:spcBef>
                <a:spcPct val="0"/>
              </a:spcBef>
              <a:spcAft>
                <a:spcPct val="0"/>
              </a:spcAft>
              <a:defRPr sz="3600" b="1">
                <a:solidFill>
                  <a:srgbClr val="CC3300"/>
                </a:solidFill>
                <a:latin typeface="Arial" charset="0"/>
                <a:ea typeface="黑体" pitchFamily="2" charset="-122"/>
              </a:defRPr>
            </a:lvl5pPr>
            <a:lvl6pPr marL="457200" algn="r" rtl="0" fontAlgn="base">
              <a:spcBef>
                <a:spcPct val="0"/>
              </a:spcBef>
              <a:spcAft>
                <a:spcPct val="0"/>
              </a:spcAft>
              <a:defRPr sz="3600" b="1">
                <a:solidFill>
                  <a:srgbClr val="CC3300"/>
                </a:solidFill>
                <a:latin typeface="Arial" charset="0"/>
                <a:ea typeface="黑体" pitchFamily="2" charset="-122"/>
              </a:defRPr>
            </a:lvl6pPr>
            <a:lvl7pPr marL="914400" algn="r" rtl="0" fontAlgn="base">
              <a:spcBef>
                <a:spcPct val="0"/>
              </a:spcBef>
              <a:spcAft>
                <a:spcPct val="0"/>
              </a:spcAft>
              <a:defRPr sz="3600" b="1">
                <a:solidFill>
                  <a:srgbClr val="CC3300"/>
                </a:solidFill>
                <a:latin typeface="Arial" charset="0"/>
                <a:ea typeface="黑体" pitchFamily="2" charset="-122"/>
              </a:defRPr>
            </a:lvl7pPr>
            <a:lvl8pPr marL="1371600" algn="r" rtl="0" fontAlgn="base">
              <a:spcBef>
                <a:spcPct val="0"/>
              </a:spcBef>
              <a:spcAft>
                <a:spcPct val="0"/>
              </a:spcAft>
              <a:defRPr sz="3600" b="1">
                <a:solidFill>
                  <a:srgbClr val="CC3300"/>
                </a:solidFill>
                <a:latin typeface="Arial" charset="0"/>
                <a:ea typeface="黑体" pitchFamily="2" charset="-122"/>
              </a:defRPr>
            </a:lvl8pPr>
            <a:lvl9pPr marL="1828800" algn="r" rtl="0" fontAlgn="base">
              <a:spcBef>
                <a:spcPct val="0"/>
              </a:spcBef>
              <a:spcAft>
                <a:spcPct val="0"/>
              </a:spcAft>
              <a:defRPr sz="3600" b="1">
                <a:solidFill>
                  <a:srgbClr val="CC3300"/>
                </a:solidFill>
                <a:latin typeface="Arial" charset="0"/>
                <a:ea typeface="黑体" pitchFamily="2" charset="-122"/>
              </a:defRPr>
            </a:lvl9pPr>
          </a:lstStyle>
          <a:p>
            <a:pPr algn="l">
              <a:defRPr/>
            </a:pPr>
            <a:r>
              <a:rPr lang="zh-CN" altLang="en-US" sz="2800" kern="0" dirty="0">
                <a:solidFill>
                  <a:schemeClr val="bg1"/>
                </a:solidFill>
                <a:latin typeface="华文新魏" panose="02010800040101010101" pitchFamily="2" charset="-122"/>
                <a:ea typeface="华文新魏" panose="02010800040101010101" pitchFamily="2" charset="-122"/>
              </a:rPr>
              <a:t>数制和信息编码</a:t>
            </a:r>
          </a:p>
        </p:txBody>
      </p:sp>
    </p:spTree>
    <p:extLst>
      <p:ext uri="{BB962C8B-B14F-4D97-AF65-F5344CB8AC3E}">
        <p14:creationId xmlns:p14="http://schemas.microsoft.com/office/powerpoint/2010/main" val="8359857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55" presetClass="entr" presetSubtype="0"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ppt_w</p:attrName>
                                        </p:attrNameLst>
                                      </p:cBhvr>
                                      <p:tavLst>
                                        <p:tav tm="0">
                                          <p:val>
                                            <p:strVal val="#ppt_w*0.70"/>
                                          </p:val>
                                        </p:tav>
                                        <p:tav tm="100000">
                                          <p:val>
                                            <p:strVal val="#ppt_w"/>
                                          </p:val>
                                        </p:tav>
                                      </p:tavLst>
                                    </p:anim>
                                    <p:anim calcmode="lin" valueType="num">
                                      <p:cBhvr>
                                        <p:cTn id="13" dur="1000" fill="hold"/>
                                        <p:tgtEl>
                                          <p:spTgt spid="8"/>
                                        </p:tgtEl>
                                        <p:attrNameLst>
                                          <p:attrName>ppt_h</p:attrName>
                                        </p:attrNameLst>
                                      </p:cBhvr>
                                      <p:tavLst>
                                        <p:tav tm="0">
                                          <p:val>
                                            <p:strVal val="#ppt_h"/>
                                          </p:val>
                                        </p:tav>
                                        <p:tav tm="100000">
                                          <p:val>
                                            <p:strVal val="#ppt_h"/>
                                          </p:val>
                                        </p:tav>
                                      </p:tavLst>
                                    </p:anim>
                                    <p:animEffect transition="in" filter="fade">
                                      <p:cBhvr>
                                        <p:cTn id="14" dur="1000"/>
                                        <p:tgtEl>
                                          <p:spTgt spid="8"/>
                                        </p:tgtEl>
                                      </p:cBhvr>
                                    </p:animEffect>
                                  </p:childTnLst>
                                </p:cTn>
                              </p:par>
                            </p:childTnLst>
                          </p:cTn>
                        </p:par>
                        <p:par>
                          <p:cTn id="15" fill="hold" nodeType="afterGroup">
                            <p:stCondLst>
                              <p:cond delay="1500"/>
                            </p:stCondLst>
                            <p:childTnLst>
                              <p:par>
                                <p:cTn id="16" presetID="55" presetClass="entr" presetSubtype="0"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1000" fill="hold"/>
                                        <p:tgtEl>
                                          <p:spTgt spid="3"/>
                                        </p:tgtEl>
                                        <p:attrNameLst>
                                          <p:attrName>ppt_w</p:attrName>
                                        </p:attrNameLst>
                                      </p:cBhvr>
                                      <p:tavLst>
                                        <p:tav tm="0">
                                          <p:val>
                                            <p:strVal val="#ppt_w*0.70"/>
                                          </p:val>
                                        </p:tav>
                                        <p:tav tm="100000">
                                          <p:val>
                                            <p:strVal val="#ppt_w"/>
                                          </p:val>
                                        </p:tav>
                                      </p:tavLst>
                                    </p:anim>
                                    <p:anim calcmode="lin" valueType="num">
                                      <p:cBhvr>
                                        <p:cTn id="19" dur="1000" fill="hold"/>
                                        <p:tgtEl>
                                          <p:spTgt spid="3"/>
                                        </p:tgtEl>
                                        <p:attrNameLst>
                                          <p:attrName>ppt_h</p:attrName>
                                        </p:attrNameLst>
                                      </p:cBhvr>
                                      <p:tavLst>
                                        <p:tav tm="0">
                                          <p:val>
                                            <p:strVal val="#ppt_h"/>
                                          </p:val>
                                        </p:tav>
                                        <p:tav tm="100000">
                                          <p:val>
                                            <p:strVal val="#ppt_h"/>
                                          </p:val>
                                        </p:tav>
                                      </p:tavLst>
                                    </p:anim>
                                    <p:animEffect transition="in" filter="fade">
                                      <p:cBhvr>
                                        <p:cTn id="20" dur="1000"/>
                                        <p:tgtEl>
                                          <p:spTgt spid="3"/>
                                        </p:tgtEl>
                                      </p:cBhvr>
                                    </p:animEffect>
                                  </p:childTnLst>
                                </p:cTn>
                              </p:par>
                            </p:childTnLst>
                          </p:cTn>
                        </p:par>
                        <p:par>
                          <p:cTn id="21" fill="hold" nodeType="afterGroup">
                            <p:stCondLst>
                              <p:cond delay="2500"/>
                            </p:stCondLst>
                            <p:childTnLst>
                              <p:par>
                                <p:cTn id="22" presetID="27" presetClass="entr" presetSubtype="0" fill="hold" grpId="0" nodeType="afterEffect">
                                  <p:stCondLst>
                                    <p:cond delay="0"/>
                                  </p:stCondLst>
                                  <p:iterate type="lt">
                                    <p:tmPct val="50000"/>
                                  </p:iterate>
                                  <p:childTnLst>
                                    <p:set>
                                      <p:cBhvr>
                                        <p:cTn id="23" dur="1" fill="hold">
                                          <p:stCondLst>
                                            <p:cond delay="0"/>
                                          </p:stCondLst>
                                        </p:cTn>
                                        <p:tgtEl>
                                          <p:spTgt spid="14"/>
                                        </p:tgtEl>
                                        <p:attrNameLst>
                                          <p:attrName>style.visibility</p:attrName>
                                        </p:attrNameLst>
                                      </p:cBhvr>
                                      <p:to>
                                        <p:strVal val="visible"/>
                                      </p:to>
                                    </p:set>
                                    <p:anim calcmode="discrete" valueType="clr">
                                      <p:cBhvr override="childStyle">
                                        <p:cTn id="24" dur="80"/>
                                        <p:tgtEl>
                                          <p:spTgt spid="14"/>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14"/>
                                        </p:tgtEl>
                                        <p:attrNameLst>
                                          <p:attrName>fillcolor</p:attrName>
                                        </p:attrNameLst>
                                      </p:cBhvr>
                                      <p:tavLst>
                                        <p:tav tm="0">
                                          <p:val>
                                            <p:clrVal>
                                              <a:schemeClr val="accent2"/>
                                            </p:clrVal>
                                          </p:val>
                                        </p:tav>
                                        <p:tav tm="50000">
                                          <p:val>
                                            <p:clrVal>
                                              <a:schemeClr val="hlink"/>
                                            </p:clrVal>
                                          </p:val>
                                        </p:tav>
                                      </p:tavLst>
                                    </p:anim>
                                    <p:set>
                                      <p:cBhvr>
                                        <p:cTn id="26" dur="80"/>
                                        <p:tgtEl>
                                          <p:spTgt spid="14"/>
                                        </p:tgtEl>
                                        <p:attrNameLst>
                                          <p:attrName>fill.type</p:attrName>
                                        </p:attrNameLst>
                                      </p:cBhvr>
                                      <p:to>
                                        <p:strVal val="solid"/>
                                      </p:to>
                                    </p:set>
                                  </p:childTnLst>
                                </p:cTn>
                              </p:par>
                            </p:childTnLst>
                          </p:cTn>
                        </p:par>
                        <p:par>
                          <p:cTn id="27" fill="hold" nodeType="afterGroup">
                            <p:stCondLst>
                              <p:cond delay="4660"/>
                            </p:stCondLst>
                            <p:childTnLst>
                              <p:par>
                                <p:cTn id="28" presetID="9" presetClass="entr" presetSubtype="0" fill="hold" grpId="0"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dissolve">
                                      <p:cBhvr>
                                        <p:cTn id="30" dur="500"/>
                                        <p:tgtEl>
                                          <p:spTgt spid="7"/>
                                        </p:tgtEl>
                                      </p:cBhvr>
                                    </p:animEffect>
                                  </p:childTnLst>
                                </p:cTn>
                              </p:par>
                            </p:childTnLst>
                          </p:cTn>
                        </p:par>
                        <p:par>
                          <p:cTn id="31" fill="hold" nodeType="afterGroup">
                            <p:stCondLst>
                              <p:cond delay="5160"/>
                            </p:stCondLst>
                            <p:childTnLst>
                              <p:par>
                                <p:cTn id="32" presetID="55"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p:cTn id="34" dur="1000" fill="hold"/>
                                        <p:tgtEl>
                                          <p:spTgt spid="10"/>
                                        </p:tgtEl>
                                        <p:attrNameLst>
                                          <p:attrName>ppt_w</p:attrName>
                                        </p:attrNameLst>
                                      </p:cBhvr>
                                      <p:tavLst>
                                        <p:tav tm="0">
                                          <p:val>
                                            <p:strVal val="#ppt_w*0.70"/>
                                          </p:val>
                                        </p:tav>
                                        <p:tav tm="100000">
                                          <p:val>
                                            <p:strVal val="#ppt_w"/>
                                          </p:val>
                                        </p:tav>
                                      </p:tavLst>
                                    </p:anim>
                                    <p:anim calcmode="lin" valueType="num">
                                      <p:cBhvr>
                                        <p:cTn id="35" dur="1000" fill="hold"/>
                                        <p:tgtEl>
                                          <p:spTgt spid="10"/>
                                        </p:tgtEl>
                                        <p:attrNameLst>
                                          <p:attrName>ppt_h</p:attrName>
                                        </p:attrNameLst>
                                      </p:cBhvr>
                                      <p:tavLst>
                                        <p:tav tm="0">
                                          <p:val>
                                            <p:strVal val="#ppt_h"/>
                                          </p:val>
                                        </p:tav>
                                        <p:tav tm="100000">
                                          <p:val>
                                            <p:strVal val="#ppt_h"/>
                                          </p:val>
                                        </p:tav>
                                      </p:tavLst>
                                    </p:anim>
                                    <p:animEffect transition="in" filter="fade">
                                      <p:cBhvr>
                                        <p:cTn id="36" dur="1000"/>
                                        <p:tgtEl>
                                          <p:spTgt spid="10"/>
                                        </p:tgtEl>
                                      </p:cBhvr>
                                    </p:animEffect>
                                  </p:childTnLst>
                                </p:cTn>
                              </p:par>
                            </p:childTnLst>
                          </p:cTn>
                        </p:par>
                        <p:par>
                          <p:cTn id="37" fill="hold" nodeType="afterGroup">
                            <p:stCondLst>
                              <p:cond delay="6160"/>
                            </p:stCondLst>
                            <p:childTnLst>
                              <p:par>
                                <p:cTn id="38" presetID="55" presetClass="entr" presetSubtype="0" fill="hold" grpId="0" nodeType="afterEffect">
                                  <p:stCondLst>
                                    <p:cond delay="0"/>
                                  </p:stCondLst>
                                  <p:childTnLst>
                                    <p:set>
                                      <p:cBhvr>
                                        <p:cTn id="39" dur="1" fill="hold">
                                          <p:stCondLst>
                                            <p:cond delay="0"/>
                                          </p:stCondLst>
                                        </p:cTn>
                                        <p:tgtEl>
                                          <p:spTgt spid="4"/>
                                        </p:tgtEl>
                                        <p:attrNameLst>
                                          <p:attrName>style.visibility</p:attrName>
                                        </p:attrNameLst>
                                      </p:cBhvr>
                                      <p:to>
                                        <p:strVal val="visible"/>
                                      </p:to>
                                    </p:set>
                                    <p:anim calcmode="lin" valueType="num">
                                      <p:cBhvr>
                                        <p:cTn id="40" dur="1000" fill="hold"/>
                                        <p:tgtEl>
                                          <p:spTgt spid="4"/>
                                        </p:tgtEl>
                                        <p:attrNameLst>
                                          <p:attrName>ppt_w</p:attrName>
                                        </p:attrNameLst>
                                      </p:cBhvr>
                                      <p:tavLst>
                                        <p:tav tm="0">
                                          <p:val>
                                            <p:strVal val="#ppt_w*0.70"/>
                                          </p:val>
                                        </p:tav>
                                        <p:tav tm="100000">
                                          <p:val>
                                            <p:strVal val="#ppt_w"/>
                                          </p:val>
                                        </p:tav>
                                      </p:tavLst>
                                    </p:anim>
                                    <p:anim calcmode="lin" valueType="num">
                                      <p:cBhvr>
                                        <p:cTn id="41" dur="1000" fill="hold"/>
                                        <p:tgtEl>
                                          <p:spTgt spid="4"/>
                                        </p:tgtEl>
                                        <p:attrNameLst>
                                          <p:attrName>ppt_h</p:attrName>
                                        </p:attrNameLst>
                                      </p:cBhvr>
                                      <p:tavLst>
                                        <p:tav tm="0">
                                          <p:val>
                                            <p:strVal val="#ppt_h"/>
                                          </p:val>
                                        </p:tav>
                                        <p:tav tm="100000">
                                          <p:val>
                                            <p:strVal val="#ppt_h"/>
                                          </p:val>
                                        </p:tav>
                                      </p:tavLst>
                                    </p:anim>
                                    <p:animEffect transition="in" filter="fade">
                                      <p:cBhvr>
                                        <p:cTn id="42" dur="1000"/>
                                        <p:tgtEl>
                                          <p:spTgt spid="4"/>
                                        </p:tgtEl>
                                      </p:cBhvr>
                                    </p:animEffect>
                                  </p:childTnLst>
                                </p:cTn>
                              </p:par>
                            </p:childTnLst>
                          </p:cTn>
                        </p:par>
                        <p:par>
                          <p:cTn id="43" fill="hold" nodeType="afterGroup">
                            <p:stCondLst>
                              <p:cond delay="7160"/>
                            </p:stCondLst>
                            <p:childTnLst>
                              <p:par>
                                <p:cTn id="44" presetID="27" presetClass="entr" presetSubtype="0" fill="hold" grpId="0" nodeType="afterEffect">
                                  <p:stCondLst>
                                    <p:cond delay="0"/>
                                  </p:stCondLst>
                                  <p:iterate type="lt">
                                    <p:tmPct val="50000"/>
                                  </p:iterate>
                                  <p:childTnLst>
                                    <p:set>
                                      <p:cBhvr>
                                        <p:cTn id="45" dur="1" fill="hold">
                                          <p:stCondLst>
                                            <p:cond delay="0"/>
                                          </p:stCondLst>
                                        </p:cTn>
                                        <p:tgtEl>
                                          <p:spTgt spid="15"/>
                                        </p:tgtEl>
                                        <p:attrNameLst>
                                          <p:attrName>style.visibility</p:attrName>
                                        </p:attrNameLst>
                                      </p:cBhvr>
                                      <p:to>
                                        <p:strVal val="visible"/>
                                      </p:to>
                                    </p:set>
                                    <p:anim calcmode="discrete" valueType="clr">
                                      <p:cBhvr override="childStyle">
                                        <p:cTn id="46" dur="80"/>
                                        <p:tgtEl>
                                          <p:spTgt spid="15"/>
                                        </p:tgtEl>
                                        <p:attrNameLst>
                                          <p:attrName>style.color</p:attrName>
                                        </p:attrNameLst>
                                      </p:cBhvr>
                                      <p:tavLst>
                                        <p:tav tm="0">
                                          <p:val>
                                            <p:clrVal>
                                              <a:schemeClr val="accent2"/>
                                            </p:clrVal>
                                          </p:val>
                                        </p:tav>
                                        <p:tav tm="50000">
                                          <p:val>
                                            <p:clrVal>
                                              <a:schemeClr val="hlink"/>
                                            </p:clrVal>
                                          </p:val>
                                        </p:tav>
                                      </p:tavLst>
                                    </p:anim>
                                    <p:anim calcmode="discrete" valueType="clr">
                                      <p:cBhvr>
                                        <p:cTn id="47" dur="80"/>
                                        <p:tgtEl>
                                          <p:spTgt spid="15"/>
                                        </p:tgtEl>
                                        <p:attrNameLst>
                                          <p:attrName>fillcolor</p:attrName>
                                        </p:attrNameLst>
                                      </p:cBhvr>
                                      <p:tavLst>
                                        <p:tav tm="0">
                                          <p:val>
                                            <p:clrVal>
                                              <a:schemeClr val="accent2"/>
                                            </p:clrVal>
                                          </p:val>
                                        </p:tav>
                                        <p:tav tm="50000">
                                          <p:val>
                                            <p:clrVal>
                                              <a:schemeClr val="hlink"/>
                                            </p:clrVal>
                                          </p:val>
                                        </p:tav>
                                      </p:tavLst>
                                    </p:anim>
                                    <p:set>
                                      <p:cBhvr>
                                        <p:cTn id="48" dur="80"/>
                                        <p:tgtEl>
                                          <p:spTgt spid="15"/>
                                        </p:tgtEl>
                                        <p:attrNameLst>
                                          <p:attrName>fill.type</p:attrName>
                                        </p:attrNameLst>
                                      </p:cBhvr>
                                      <p:to>
                                        <p:strVal val="solid"/>
                                      </p:to>
                                    </p:set>
                                  </p:childTnLst>
                                </p:cTn>
                              </p:par>
                            </p:childTnLst>
                          </p:cTn>
                        </p:par>
                        <p:par>
                          <p:cTn id="49" fill="hold" nodeType="afterGroup">
                            <p:stCondLst>
                              <p:cond delay="8720"/>
                            </p:stCondLst>
                            <p:childTnLst>
                              <p:par>
                                <p:cTn id="50" presetID="9" presetClass="entr" presetSubtype="0" fill="hold" grpId="0" nodeType="after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dissolve">
                                      <p:cBhvr>
                                        <p:cTn id="52" dur="500"/>
                                        <p:tgtEl>
                                          <p:spTgt spid="9"/>
                                        </p:tgtEl>
                                      </p:cBhvr>
                                    </p:animEffect>
                                  </p:childTnLst>
                                </p:cTn>
                              </p:par>
                            </p:childTnLst>
                          </p:cTn>
                        </p:par>
                        <p:par>
                          <p:cTn id="53" fill="hold" nodeType="afterGroup">
                            <p:stCondLst>
                              <p:cond delay="9220"/>
                            </p:stCondLst>
                            <p:childTnLst>
                              <p:par>
                                <p:cTn id="54" presetID="55" presetClass="entr" presetSubtype="0" fill="hold" grpId="0" nodeType="afterEffect">
                                  <p:stCondLst>
                                    <p:cond delay="0"/>
                                  </p:stCondLst>
                                  <p:childTnLst>
                                    <p:set>
                                      <p:cBhvr>
                                        <p:cTn id="55" dur="1" fill="hold">
                                          <p:stCondLst>
                                            <p:cond delay="0"/>
                                          </p:stCondLst>
                                        </p:cTn>
                                        <p:tgtEl>
                                          <p:spTgt spid="11"/>
                                        </p:tgtEl>
                                        <p:attrNameLst>
                                          <p:attrName>style.visibility</p:attrName>
                                        </p:attrNameLst>
                                      </p:cBhvr>
                                      <p:to>
                                        <p:strVal val="visible"/>
                                      </p:to>
                                    </p:set>
                                    <p:anim calcmode="lin" valueType="num">
                                      <p:cBhvr>
                                        <p:cTn id="56" dur="1000" fill="hold"/>
                                        <p:tgtEl>
                                          <p:spTgt spid="11"/>
                                        </p:tgtEl>
                                        <p:attrNameLst>
                                          <p:attrName>ppt_w</p:attrName>
                                        </p:attrNameLst>
                                      </p:cBhvr>
                                      <p:tavLst>
                                        <p:tav tm="0">
                                          <p:val>
                                            <p:strVal val="#ppt_w*0.70"/>
                                          </p:val>
                                        </p:tav>
                                        <p:tav tm="100000">
                                          <p:val>
                                            <p:strVal val="#ppt_w"/>
                                          </p:val>
                                        </p:tav>
                                      </p:tavLst>
                                    </p:anim>
                                    <p:anim calcmode="lin" valueType="num">
                                      <p:cBhvr>
                                        <p:cTn id="57" dur="1000" fill="hold"/>
                                        <p:tgtEl>
                                          <p:spTgt spid="11"/>
                                        </p:tgtEl>
                                        <p:attrNameLst>
                                          <p:attrName>ppt_h</p:attrName>
                                        </p:attrNameLst>
                                      </p:cBhvr>
                                      <p:tavLst>
                                        <p:tav tm="0">
                                          <p:val>
                                            <p:strVal val="#ppt_h"/>
                                          </p:val>
                                        </p:tav>
                                        <p:tav tm="100000">
                                          <p:val>
                                            <p:strVal val="#ppt_h"/>
                                          </p:val>
                                        </p:tav>
                                      </p:tavLst>
                                    </p:anim>
                                    <p:animEffect transition="in" filter="fade">
                                      <p:cBhvr>
                                        <p:cTn id="58" dur="1000"/>
                                        <p:tgtEl>
                                          <p:spTgt spid="11"/>
                                        </p:tgtEl>
                                      </p:cBhvr>
                                    </p:animEffect>
                                  </p:childTnLst>
                                </p:cTn>
                              </p:par>
                            </p:childTnLst>
                          </p:cTn>
                        </p:par>
                        <p:par>
                          <p:cTn id="59" fill="hold" nodeType="afterGroup">
                            <p:stCondLst>
                              <p:cond delay="10220"/>
                            </p:stCondLst>
                            <p:childTnLst>
                              <p:par>
                                <p:cTn id="60" presetID="55" presetClass="entr" presetSubtype="0" fill="hold" grpId="0" nodeType="afterEffect">
                                  <p:stCondLst>
                                    <p:cond delay="0"/>
                                  </p:stCondLst>
                                  <p:childTnLst>
                                    <p:set>
                                      <p:cBhvr>
                                        <p:cTn id="61" dur="1" fill="hold">
                                          <p:stCondLst>
                                            <p:cond delay="0"/>
                                          </p:stCondLst>
                                        </p:cTn>
                                        <p:tgtEl>
                                          <p:spTgt spid="5"/>
                                        </p:tgtEl>
                                        <p:attrNameLst>
                                          <p:attrName>style.visibility</p:attrName>
                                        </p:attrNameLst>
                                      </p:cBhvr>
                                      <p:to>
                                        <p:strVal val="visible"/>
                                      </p:to>
                                    </p:set>
                                    <p:anim calcmode="lin" valueType="num">
                                      <p:cBhvr>
                                        <p:cTn id="62" dur="1000" fill="hold"/>
                                        <p:tgtEl>
                                          <p:spTgt spid="5"/>
                                        </p:tgtEl>
                                        <p:attrNameLst>
                                          <p:attrName>ppt_w</p:attrName>
                                        </p:attrNameLst>
                                      </p:cBhvr>
                                      <p:tavLst>
                                        <p:tav tm="0">
                                          <p:val>
                                            <p:strVal val="#ppt_w*0.70"/>
                                          </p:val>
                                        </p:tav>
                                        <p:tav tm="100000">
                                          <p:val>
                                            <p:strVal val="#ppt_w"/>
                                          </p:val>
                                        </p:tav>
                                      </p:tavLst>
                                    </p:anim>
                                    <p:anim calcmode="lin" valueType="num">
                                      <p:cBhvr>
                                        <p:cTn id="63" dur="1000" fill="hold"/>
                                        <p:tgtEl>
                                          <p:spTgt spid="5"/>
                                        </p:tgtEl>
                                        <p:attrNameLst>
                                          <p:attrName>ppt_h</p:attrName>
                                        </p:attrNameLst>
                                      </p:cBhvr>
                                      <p:tavLst>
                                        <p:tav tm="0">
                                          <p:val>
                                            <p:strVal val="#ppt_h"/>
                                          </p:val>
                                        </p:tav>
                                        <p:tav tm="100000">
                                          <p:val>
                                            <p:strVal val="#ppt_h"/>
                                          </p:val>
                                        </p:tav>
                                      </p:tavLst>
                                    </p:anim>
                                    <p:animEffect transition="in" filter="fade">
                                      <p:cBhvr>
                                        <p:cTn id="64" dur="1000"/>
                                        <p:tgtEl>
                                          <p:spTgt spid="5"/>
                                        </p:tgtEl>
                                      </p:cBhvr>
                                    </p:animEffect>
                                  </p:childTnLst>
                                </p:cTn>
                              </p:par>
                            </p:childTnLst>
                          </p:cTn>
                        </p:par>
                        <p:par>
                          <p:cTn id="65" fill="hold" nodeType="afterGroup">
                            <p:stCondLst>
                              <p:cond delay="11220"/>
                            </p:stCondLst>
                            <p:childTnLst>
                              <p:par>
                                <p:cTn id="66" presetID="27" presetClass="entr" presetSubtype="0" fill="hold" grpId="0" nodeType="afterEffect">
                                  <p:stCondLst>
                                    <p:cond delay="0"/>
                                  </p:stCondLst>
                                  <p:iterate type="lt">
                                    <p:tmPct val="50000"/>
                                  </p:iterate>
                                  <p:childTnLst>
                                    <p:set>
                                      <p:cBhvr>
                                        <p:cTn id="67" dur="1" fill="hold">
                                          <p:stCondLst>
                                            <p:cond delay="0"/>
                                          </p:stCondLst>
                                        </p:cTn>
                                        <p:tgtEl>
                                          <p:spTgt spid="16"/>
                                        </p:tgtEl>
                                        <p:attrNameLst>
                                          <p:attrName>style.visibility</p:attrName>
                                        </p:attrNameLst>
                                      </p:cBhvr>
                                      <p:to>
                                        <p:strVal val="visible"/>
                                      </p:to>
                                    </p:set>
                                    <p:anim calcmode="discrete" valueType="clr">
                                      <p:cBhvr override="childStyle">
                                        <p:cTn id="68" dur="80"/>
                                        <p:tgtEl>
                                          <p:spTgt spid="16"/>
                                        </p:tgtEl>
                                        <p:attrNameLst>
                                          <p:attrName>style.color</p:attrName>
                                        </p:attrNameLst>
                                      </p:cBhvr>
                                      <p:tavLst>
                                        <p:tav tm="0">
                                          <p:val>
                                            <p:clrVal>
                                              <a:schemeClr val="accent2"/>
                                            </p:clrVal>
                                          </p:val>
                                        </p:tav>
                                        <p:tav tm="50000">
                                          <p:val>
                                            <p:clrVal>
                                              <a:schemeClr val="hlink"/>
                                            </p:clrVal>
                                          </p:val>
                                        </p:tav>
                                      </p:tavLst>
                                    </p:anim>
                                    <p:anim calcmode="discrete" valueType="clr">
                                      <p:cBhvr>
                                        <p:cTn id="69" dur="80"/>
                                        <p:tgtEl>
                                          <p:spTgt spid="16"/>
                                        </p:tgtEl>
                                        <p:attrNameLst>
                                          <p:attrName>fillcolor</p:attrName>
                                        </p:attrNameLst>
                                      </p:cBhvr>
                                      <p:tavLst>
                                        <p:tav tm="0">
                                          <p:val>
                                            <p:clrVal>
                                              <a:schemeClr val="accent2"/>
                                            </p:clrVal>
                                          </p:val>
                                        </p:tav>
                                        <p:tav tm="50000">
                                          <p:val>
                                            <p:clrVal>
                                              <a:schemeClr val="hlink"/>
                                            </p:clrVal>
                                          </p:val>
                                        </p:tav>
                                      </p:tavLst>
                                    </p:anim>
                                    <p:set>
                                      <p:cBhvr>
                                        <p:cTn id="70" dur="80"/>
                                        <p:tgtEl>
                                          <p:spTgt spid="16"/>
                                        </p:tgtEl>
                                        <p:attrNameLst>
                                          <p:attrName>fill.type</p:attrName>
                                        </p:attrNameLst>
                                      </p:cBhvr>
                                      <p:to>
                                        <p:strVal val="solid"/>
                                      </p:to>
                                    </p:set>
                                  </p:childTnLst>
                                </p:cTn>
                              </p:par>
                            </p:childTnLst>
                          </p:cTn>
                        </p:par>
                        <p:par>
                          <p:cTn id="71" fill="hold" nodeType="afterGroup">
                            <p:stCondLst>
                              <p:cond delay="12860"/>
                            </p:stCondLst>
                            <p:childTnLst>
                              <p:par>
                                <p:cTn id="72" presetID="55" presetClass="entr" presetSubtype="0" fill="hold" grpId="0" nodeType="afterEffect">
                                  <p:stCondLst>
                                    <p:cond delay="0"/>
                                  </p:stCondLst>
                                  <p:childTnLst>
                                    <p:set>
                                      <p:cBhvr>
                                        <p:cTn id="73" dur="1" fill="hold">
                                          <p:stCondLst>
                                            <p:cond delay="0"/>
                                          </p:stCondLst>
                                        </p:cTn>
                                        <p:tgtEl>
                                          <p:spTgt spid="12"/>
                                        </p:tgtEl>
                                        <p:attrNameLst>
                                          <p:attrName>style.visibility</p:attrName>
                                        </p:attrNameLst>
                                      </p:cBhvr>
                                      <p:to>
                                        <p:strVal val="visible"/>
                                      </p:to>
                                    </p:set>
                                    <p:anim calcmode="lin" valueType="num">
                                      <p:cBhvr>
                                        <p:cTn id="74" dur="1000" fill="hold"/>
                                        <p:tgtEl>
                                          <p:spTgt spid="12"/>
                                        </p:tgtEl>
                                        <p:attrNameLst>
                                          <p:attrName>ppt_w</p:attrName>
                                        </p:attrNameLst>
                                      </p:cBhvr>
                                      <p:tavLst>
                                        <p:tav tm="0">
                                          <p:val>
                                            <p:strVal val="#ppt_w*0.70"/>
                                          </p:val>
                                        </p:tav>
                                        <p:tav tm="100000">
                                          <p:val>
                                            <p:strVal val="#ppt_w"/>
                                          </p:val>
                                        </p:tav>
                                      </p:tavLst>
                                    </p:anim>
                                    <p:anim calcmode="lin" valueType="num">
                                      <p:cBhvr>
                                        <p:cTn id="75" dur="1000" fill="hold"/>
                                        <p:tgtEl>
                                          <p:spTgt spid="12"/>
                                        </p:tgtEl>
                                        <p:attrNameLst>
                                          <p:attrName>ppt_h</p:attrName>
                                        </p:attrNameLst>
                                      </p:cBhvr>
                                      <p:tavLst>
                                        <p:tav tm="0">
                                          <p:val>
                                            <p:strVal val="#ppt_h"/>
                                          </p:val>
                                        </p:tav>
                                        <p:tav tm="100000">
                                          <p:val>
                                            <p:strVal val="#ppt_h"/>
                                          </p:val>
                                        </p:tav>
                                      </p:tavLst>
                                    </p:anim>
                                    <p:animEffect transition="in" filter="fade">
                                      <p:cBhvr>
                                        <p:cTn id="76" dur="1000"/>
                                        <p:tgtEl>
                                          <p:spTgt spid="12"/>
                                        </p:tgtEl>
                                      </p:cBhvr>
                                    </p:animEffect>
                                  </p:childTnLst>
                                </p:cTn>
                              </p:par>
                            </p:childTnLst>
                          </p:cTn>
                        </p:par>
                        <p:par>
                          <p:cTn id="77" fill="hold" nodeType="afterGroup">
                            <p:stCondLst>
                              <p:cond delay="13860"/>
                            </p:stCondLst>
                            <p:childTnLst>
                              <p:par>
                                <p:cTn id="78" presetID="55" presetClass="entr" presetSubtype="0" fill="hold" grpId="0" nodeType="afterEffect">
                                  <p:stCondLst>
                                    <p:cond delay="0"/>
                                  </p:stCondLst>
                                  <p:childTnLst>
                                    <p:set>
                                      <p:cBhvr>
                                        <p:cTn id="79" dur="1" fill="hold">
                                          <p:stCondLst>
                                            <p:cond delay="0"/>
                                          </p:stCondLst>
                                        </p:cTn>
                                        <p:tgtEl>
                                          <p:spTgt spid="19"/>
                                        </p:tgtEl>
                                        <p:attrNameLst>
                                          <p:attrName>style.visibility</p:attrName>
                                        </p:attrNameLst>
                                      </p:cBhvr>
                                      <p:to>
                                        <p:strVal val="visible"/>
                                      </p:to>
                                    </p:set>
                                    <p:anim calcmode="lin" valueType="num">
                                      <p:cBhvr>
                                        <p:cTn id="80" dur="1000" fill="hold"/>
                                        <p:tgtEl>
                                          <p:spTgt spid="19"/>
                                        </p:tgtEl>
                                        <p:attrNameLst>
                                          <p:attrName>ppt_w</p:attrName>
                                        </p:attrNameLst>
                                      </p:cBhvr>
                                      <p:tavLst>
                                        <p:tav tm="0">
                                          <p:val>
                                            <p:strVal val="#ppt_w*0.70"/>
                                          </p:val>
                                        </p:tav>
                                        <p:tav tm="100000">
                                          <p:val>
                                            <p:strVal val="#ppt_w"/>
                                          </p:val>
                                        </p:tav>
                                      </p:tavLst>
                                    </p:anim>
                                    <p:anim calcmode="lin" valueType="num">
                                      <p:cBhvr>
                                        <p:cTn id="81" dur="1000" fill="hold"/>
                                        <p:tgtEl>
                                          <p:spTgt spid="19"/>
                                        </p:tgtEl>
                                        <p:attrNameLst>
                                          <p:attrName>ppt_h</p:attrName>
                                        </p:attrNameLst>
                                      </p:cBhvr>
                                      <p:tavLst>
                                        <p:tav tm="0">
                                          <p:val>
                                            <p:strVal val="#ppt_h"/>
                                          </p:val>
                                        </p:tav>
                                        <p:tav tm="100000">
                                          <p:val>
                                            <p:strVal val="#ppt_h"/>
                                          </p:val>
                                        </p:tav>
                                      </p:tavLst>
                                    </p:anim>
                                    <p:animEffect transition="in" filter="fade">
                                      <p:cBhvr>
                                        <p:cTn id="82" dur="1000"/>
                                        <p:tgtEl>
                                          <p:spTgt spid="19"/>
                                        </p:tgtEl>
                                      </p:cBhvr>
                                    </p:animEffect>
                                  </p:childTnLst>
                                </p:cTn>
                              </p:par>
                            </p:childTnLst>
                          </p:cTn>
                        </p:par>
                        <p:par>
                          <p:cTn id="83" fill="hold" nodeType="afterGroup">
                            <p:stCondLst>
                              <p:cond delay="14860"/>
                            </p:stCondLst>
                            <p:childTnLst>
                              <p:par>
                                <p:cTn id="84" presetID="55" presetClass="entr" presetSubtype="0" fill="hold" grpId="0" nodeType="afterEffect">
                                  <p:stCondLst>
                                    <p:cond delay="0"/>
                                  </p:stCondLst>
                                  <p:childTnLst>
                                    <p:set>
                                      <p:cBhvr>
                                        <p:cTn id="85" dur="1" fill="hold">
                                          <p:stCondLst>
                                            <p:cond delay="0"/>
                                          </p:stCondLst>
                                        </p:cTn>
                                        <p:tgtEl>
                                          <p:spTgt spid="20"/>
                                        </p:tgtEl>
                                        <p:attrNameLst>
                                          <p:attrName>style.visibility</p:attrName>
                                        </p:attrNameLst>
                                      </p:cBhvr>
                                      <p:to>
                                        <p:strVal val="visible"/>
                                      </p:to>
                                    </p:set>
                                    <p:anim calcmode="lin" valueType="num">
                                      <p:cBhvr>
                                        <p:cTn id="86" dur="1000" fill="hold"/>
                                        <p:tgtEl>
                                          <p:spTgt spid="20"/>
                                        </p:tgtEl>
                                        <p:attrNameLst>
                                          <p:attrName>ppt_w</p:attrName>
                                        </p:attrNameLst>
                                      </p:cBhvr>
                                      <p:tavLst>
                                        <p:tav tm="0">
                                          <p:val>
                                            <p:strVal val="#ppt_w*0.70"/>
                                          </p:val>
                                        </p:tav>
                                        <p:tav tm="100000">
                                          <p:val>
                                            <p:strVal val="#ppt_w"/>
                                          </p:val>
                                        </p:tav>
                                      </p:tavLst>
                                    </p:anim>
                                    <p:anim calcmode="lin" valueType="num">
                                      <p:cBhvr>
                                        <p:cTn id="87" dur="1000" fill="hold"/>
                                        <p:tgtEl>
                                          <p:spTgt spid="20"/>
                                        </p:tgtEl>
                                        <p:attrNameLst>
                                          <p:attrName>ppt_h</p:attrName>
                                        </p:attrNameLst>
                                      </p:cBhvr>
                                      <p:tavLst>
                                        <p:tav tm="0">
                                          <p:val>
                                            <p:strVal val="#ppt_h"/>
                                          </p:val>
                                        </p:tav>
                                        <p:tav tm="100000">
                                          <p:val>
                                            <p:strVal val="#ppt_h"/>
                                          </p:val>
                                        </p:tav>
                                      </p:tavLst>
                                    </p:anim>
                                    <p:animEffect transition="in" filter="fade">
                                      <p:cBhvr>
                                        <p:cTn id="88" dur="1000"/>
                                        <p:tgtEl>
                                          <p:spTgt spid="20"/>
                                        </p:tgtEl>
                                      </p:cBhvr>
                                    </p:animEffect>
                                  </p:childTnLst>
                                </p:cTn>
                              </p:par>
                            </p:childTnLst>
                          </p:cTn>
                        </p:par>
                        <p:par>
                          <p:cTn id="89" fill="hold" nodeType="afterGroup">
                            <p:stCondLst>
                              <p:cond delay="15860"/>
                            </p:stCondLst>
                            <p:childTnLst>
                              <p:par>
                                <p:cTn id="90" presetID="27" presetClass="entr" presetSubtype="0" fill="hold" grpId="0" nodeType="afterEffect">
                                  <p:stCondLst>
                                    <p:cond delay="0"/>
                                  </p:stCondLst>
                                  <p:iterate type="lt">
                                    <p:tmPct val="50000"/>
                                  </p:iterate>
                                  <p:childTnLst>
                                    <p:set>
                                      <p:cBhvr>
                                        <p:cTn id="91" dur="1" fill="hold">
                                          <p:stCondLst>
                                            <p:cond delay="0"/>
                                          </p:stCondLst>
                                        </p:cTn>
                                        <p:tgtEl>
                                          <p:spTgt spid="21"/>
                                        </p:tgtEl>
                                        <p:attrNameLst>
                                          <p:attrName>style.visibility</p:attrName>
                                        </p:attrNameLst>
                                      </p:cBhvr>
                                      <p:to>
                                        <p:strVal val="visible"/>
                                      </p:to>
                                    </p:set>
                                    <p:anim calcmode="discrete" valueType="clr">
                                      <p:cBhvr override="childStyle">
                                        <p:cTn id="92" dur="80"/>
                                        <p:tgtEl>
                                          <p:spTgt spid="21"/>
                                        </p:tgtEl>
                                        <p:attrNameLst>
                                          <p:attrName>style.color</p:attrName>
                                        </p:attrNameLst>
                                      </p:cBhvr>
                                      <p:tavLst>
                                        <p:tav tm="0">
                                          <p:val>
                                            <p:clrVal>
                                              <a:schemeClr val="accent2"/>
                                            </p:clrVal>
                                          </p:val>
                                        </p:tav>
                                        <p:tav tm="50000">
                                          <p:val>
                                            <p:clrVal>
                                              <a:schemeClr val="hlink"/>
                                            </p:clrVal>
                                          </p:val>
                                        </p:tav>
                                      </p:tavLst>
                                    </p:anim>
                                    <p:anim calcmode="discrete" valueType="clr">
                                      <p:cBhvr>
                                        <p:cTn id="93" dur="80"/>
                                        <p:tgtEl>
                                          <p:spTgt spid="21"/>
                                        </p:tgtEl>
                                        <p:attrNameLst>
                                          <p:attrName>fillcolor</p:attrName>
                                        </p:attrNameLst>
                                      </p:cBhvr>
                                      <p:tavLst>
                                        <p:tav tm="0">
                                          <p:val>
                                            <p:clrVal>
                                              <a:schemeClr val="accent2"/>
                                            </p:clrVal>
                                          </p:val>
                                        </p:tav>
                                        <p:tav tm="50000">
                                          <p:val>
                                            <p:clrVal>
                                              <a:schemeClr val="hlink"/>
                                            </p:clrVal>
                                          </p:val>
                                        </p:tav>
                                      </p:tavLst>
                                    </p:anim>
                                    <p:set>
                                      <p:cBhvr>
                                        <p:cTn id="94" dur="80"/>
                                        <p:tgtEl>
                                          <p:spTgt spid="21"/>
                                        </p:tgtEl>
                                        <p:attrNameLst>
                                          <p:attrName>fill.type</p:attrName>
                                        </p:attrNameLst>
                                      </p:cBhvr>
                                      <p:to>
                                        <p:strVal val="solid"/>
                                      </p:to>
                                    </p:set>
                                  </p:childTnLst>
                                </p:cTn>
                              </p:par>
                            </p:childTnLst>
                          </p:cTn>
                        </p:par>
                        <p:par>
                          <p:cTn id="95" fill="hold" nodeType="afterGroup">
                            <p:stCondLst>
                              <p:cond delay="18140"/>
                            </p:stCondLst>
                            <p:childTnLst>
                              <p:par>
                                <p:cTn id="96" presetID="55" presetClass="entr" presetSubtype="0" fill="hold" grpId="0" nodeType="afterEffect">
                                  <p:stCondLst>
                                    <p:cond delay="0"/>
                                  </p:stCondLst>
                                  <p:childTnLst>
                                    <p:set>
                                      <p:cBhvr>
                                        <p:cTn id="97" dur="1" fill="hold">
                                          <p:stCondLst>
                                            <p:cond delay="0"/>
                                          </p:stCondLst>
                                        </p:cTn>
                                        <p:tgtEl>
                                          <p:spTgt spid="18"/>
                                        </p:tgtEl>
                                        <p:attrNameLst>
                                          <p:attrName>style.visibility</p:attrName>
                                        </p:attrNameLst>
                                      </p:cBhvr>
                                      <p:to>
                                        <p:strVal val="visible"/>
                                      </p:to>
                                    </p:set>
                                    <p:anim calcmode="lin" valueType="num">
                                      <p:cBhvr>
                                        <p:cTn id="98" dur="1000" fill="hold"/>
                                        <p:tgtEl>
                                          <p:spTgt spid="18"/>
                                        </p:tgtEl>
                                        <p:attrNameLst>
                                          <p:attrName>ppt_w</p:attrName>
                                        </p:attrNameLst>
                                      </p:cBhvr>
                                      <p:tavLst>
                                        <p:tav tm="0">
                                          <p:val>
                                            <p:strVal val="#ppt_w*0.70"/>
                                          </p:val>
                                        </p:tav>
                                        <p:tav tm="100000">
                                          <p:val>
                                            <p:strVal val="#ppt_w"/>
                                          </p:val>
                                        </p:tav>
                                      </p:tavLst>
                                    </p:anim>
                                    <p:anim calcmode="lin" valueType="num">
                                      <p:cBhvr>
                                        <p:cTn id="99" dur="1000" fill="hold"/>
                                        <p:tgtEl>
                                          <p:spTgt spid="18"/>
                                        </p:tgtEl>
                                        <p:attrNameLst>
                                          <p:attrName>ppt_h</p:attrName>
                                        </p:attrNameLst>
                                      </p:cBhvr>
                                      <p:tavLst>
                                        <p:tav tm="0">
                                          <p:val>
                                            <p:strVal val="#ppt_h"/>
                                          </p:val>
                                        </p:tav>
                                        <p:tav tm="100000">
                                          <p:val>
                                            <p:strVal val="#ppt_h"/>
                                          </p:val>
                                        </p:tav>
                                      </p:tavLst>
                                    </p:anim>
                                    <p:animEffect transition="in" filter="fade">
                                      <p:cBhvr>
                                        <p:cTn id="100" dur="1000"/>
                                        <p:tgtEl>
                                          <p:spTgt spid="18"/>
                                        </p:tgtEl>
                                      </p:cBhvr>
                                    </p:animEffect>
                                  </p:childTnLst>
                                </p:cTn>
                              </p:par>
                            </p:childTnLst>
                          </p:cTn>
                        </p:par>
                        <p:par>
                          <p:cTn id="101" fill="hold" nodeType="afterGroup">
                            <p:stCondLst>
                              <p:cond delay="19140"/>
                            </p:stCondLst>
                            <p:childTnLst>
                              <p:par>
                                <p:cTn id="102" presetID="55" presetClass="entr" presetSubtype="0" fill="hold" grpId="0" nodeType="afterEffect">
                                  <p:stCondLst>
                                    <p:cond delay="0"/>
                                  </p:stCondLst>
                                  <p:childTnLst>
                                    <p:set>
                                      <p:cBhvr>
                                        <p:cTn id="103" dur="1" fill="hold">
                                          <p:stCondLst>
                                            <p:cond delay="0"/>
                                          </p:stCondLst>
                                        </p:cTn>
                                        <p:tgtEl>
                                          <p:spTgt spid="13"/>
                                        </p:tgtEl>
                                        <p:attrNameLst>
                                          <p:attrName>style.visibility</p:attrName>
                                        </p:attrNameLst>
                                      </p:cBhvr>
                                      <p:to>
                                        <p:strVal val="visible"/>
                                      </p:to>
                                    </p:set>
                                    <p:anim calcmode="lin" valueType="num">
                                      <p:cBhvr>
                                        <p:cTn id="104" dur="1000" fill="hold"/>
                                        <p:tgtEl>
                                          <p:spTgt spid="13"/>
                                        </p:tgtEl>
                                        <p:attrNameLst>
                                          <p:attrName>ppt_w</p:attrName>
                                        </p:attrNameLst>
                                      </p:cBhvr>
                                      <p:tavLst>
                                        <p:tav tm="0">
                                          <p:val>
                                            <p:strVal val="#ppt_w*0.70"/>
                                          </p:val>
                                        </p:tav>
                                        <p:tav tm="100000">
                                          <p:val>
                                            <p:strVal val="#ppt_w"/>
                                          </p:val>
                                        </p:tav>
                                      </p:tavLst>
                                    </p:anim>
                                    <p:anim calcmode="lin" valueType="num">
                                      <p:cBhvr>
                                        <p:cTn id="105" dur="1000" fill="hold"/>
                                        <p:tgtEl>
                                          <p:spTgt spid="13"/>
                                        </p:tgtEl>
                                        <p:attrNameLst>
                                          <p:attrName>ppt_h</p:attrName>
                                        </p:attrNameLst>
                                      </p:cBhvr>
                                      <p:tavLst>
                                        <p:tav tm="0">
                                          <p:val>
                                            <p:strVal val="#ppt_h"/>
                                          </p:val>
                                        </p:tav>
                                        <p:tav tm="100000">
                                          <p:val>
                                            <p:strVal val="#ppt_h"/>
                                          </p:val>
                                        </p:tav>
                                      </p:tavLst>
                                    </p:anim>
                                    <p:animEffect transition="in" filter="fade">
                                      <p:cBhvr>
                                        <p:cTn id="106" dur="1000"/>
                                        <p:tgtEl>
                                          <p:spTgt spid="13"/>
                                        </p:tgtEl>
                                      </p:cBhvr>
                                    </p:animEffect>
                                  </p:childTnLst>
                                </p:cTn>
                              </p:par>
                            </p:childTnLst>
                          </p:cTn>
                        </p:par>
                        <p:par>
                          <p:cTn id="107" fill="hold" nodeType="afterGroup">
                            <p:stCondLst>
                              <p:cond delay="20140"/>
                            </p:stCondLst>
                            <p:childTnLst>
                              <p:par>
                                <p:cTn id="108" presetID="55" presetClass="entr" presetSubtype="0" fill="hold" grpId="0" nodeType="afterEffect">
                                  <p:stCondLst>
                                    <p:cond delay="0"/>
                                  </p:stCondLst>
                                  <p:childTnLst>
                                    <p:set>
                                      <p:cBhvr>
                                        <p:cTn id="109" dur="1" fill="hold">
                                          <p:stCondLst>
                                            <p:cond delay="0"/>
                                          </p:stCondLst>
                                        </p:cTn>
                                        <p:tgtEl>
                                          <p:spTgt spid="6"/>
                                        </p:tgtEl>
                                        <p:attrNameLst>
                                          <p:attrName>style.visibility</p:attrName>
                                        </p:attrNameLst>
                                      </p:cBhvr>
                                      <p:to>
                                        <p:strVal val="visible"/>
                                      </p:to>
                                    </p:set>
                                    <p:anim calcmode="lin" valueType="num">
                                      <p:cBhvr>
                                        <p:cTn id="110" dur="1000" fill="hold"/>
                                        <p:tgtEl>
                                          <p:spTgt spid="6"/>
                                        </p:tgtEl>
                                        <p:attrNameLst>
                                          <p:attrName>ppt_w</p:attrName>
                                        </p:attrNameLst>
                                      </p:cBhvr>
                                      <p:tavLst>
                                        <p:tav tm="0">
                                          <p:val>
                                            <p:strVal val="#ppt_w*0.70"/>
                                          </p:val>
                                        </p:tav>
                                        <p:tav tm="100000">
                                          <p:val>
                                            <p:strVal val="#ppt_w"/>
                                          </p:val>
                                        </p:tav>
                                      </p:tavLst>
                                    </p:anim>
                                    <p:anim calcmode="lin" valueType="num">
                                      <p:cBhvr>
                                        <p:cTn id="111" dur="1000" fill="hold"/>
                                        <p:tgtEl>
                                          <p:spTgt spid="6"/>
                                        </p:tgtEl>
                                        <p:attrNameLst>
                                          <p:attrName>ppt_h</p:attrName>
                                        </p:attrNameLst>
                                      </p:cBhvr>
                                      <p:tavLst>
                                        <p:tav tm="0">
                                          <p:val>
                                            <p:strVal val="#ppt_h"/>
                                          </p:val>
                                        </p:tav>
                                        <p:tav tm="100000">
                                          <p:val>
                                            <p:strVal val="#ppt_h"/>
                                          </p:val>
                                        </p:tav>
                                      </p:tavLst>
                                    </p:anim>
                                    <p:animEffect transition="in" filter="fade">
                                      <p:cBhvr>
                                        <p:cTn id="112" dur="1000"/>
                                        <p:tgtEl>
                                          <p:spTgt spid="6"/>
                                        </p:tgtEl>
                                      </p:cBhvr>
                                    </p:animEffect>
                                  </p:childTnLst>
                                </p:cTn>
                              </p:par>
                            </p:childTnLst>
                          </p:cTn>
                        </p:par>
                        <p:par>
                          <p:cTn id="113" fill="hold" nodeType="afterGroup">
                            <p:stCondLst>
                              <p:cond delay="21140"/>
                            </p:stCondLst>
                            <p:childTnLst>
                              <p:par>
                                <p:cTn id="114" presetID="27" presetClass="entr" presetSubtype="0" fill="hold" grpId="0" nodeType="afterEffect">
                                  <p:stCondLst>
                                    <p:cond delay="0"/>
                                  </p:stCondLst>
                                  <p:iterate type="lt">
                                    <p:tmPct val="50000"/>
                                  </p:iterate>
                                  <p:childTnLst>
                                    <p:set>
                                      <p:cBhvr>
                                        <p:cTn id="115" dur="1" fill="hold">
                                          <p:stCondLst>
                                            <p:cond delay="0"/>
                                          </p:stCondLst>
                                        </p:cTn>
                                        <p:tgtEl>
                                          <p:spTgt spid="17"/>
                                        </p:tgtEl>
                                        <p:attrNameLst>
                                          <p:attrName>style.visibility</p:attrName>
                                        </p:attrNameLst>
                                      </p:cBhvr>
                                      <p:to>
                                        <p:strVal val="visible"/>
                                      </p:to>
                                    </p:set>
                                    <p:anim calcmode="discrete" valueType="clr">
                                      <p:cBhvr override="childStyle">
                                        <p:cTn id="116" dur="80"/>
                                        <p:tgtEl>
                                          <p:spTgt spid="17"/>
                                        </p:tgtEl>
                                        <p:attrNameLst>
                                          <p:attrName>style.color</p:attrName>
                                        </p:attrNameLst>
                                      </p:cBhvr>
                                      <p:tavLst>
                                        <p:tav tm="0">
                                          <p:val>
                                            <p:clrVal>
                                              <a:schemeClr val="accent2"/>
                                            </p:clrVal>
                                          </p:val>
                                        </p:tav>
                                        <p:tav tm="50000">
                                          <p:val>
                                            <p:clrVal>
                                              <a:schemeClr val="hlink"/>
                                            </p:clrVal>
                                          </p:val>
                                        </p:tav>
                                      </p:tavLst>
                                    </p:anim>
                                    <p:anim calcmode="discrete" valueType="clr">
                                      <p:cBhvr>
                                        <p:cTn id="117" dur="80"/>
                                        <p:tgtEl>
                                          <p:spTgt spid="17"/>
                                        </p:tgtEl>
                                        <p:attrNameLst>
                                          <p:attrName>fillcolor</p:attrName>
                                        </p:attrNameLst>
                                      </p:cBhvr>
                                      <p:tavLst>
                                        <p:tav tm="0">
                                          <p:val>
                                            <p:clrVal>
                                              <a:schemeClr val="accent2"/>
                                            </p:clrVal>
                                          </p:val>
                                        </p:tav>
                                        <p:tav tm="50000">
                                          <p:val>
                                            <p:clrVal>
                                              <a:schemeClr val="hlink"/>
                                            </p:clrVal>
                                          </p:val>
                                        </p:tav>
                                      </p:tavLst>
                                    </p:anim>
                                    <p:set>
                                      <p:cBhvr>
                                        <p:cTn id="118" dur="80"/>
                                        <p:tgtEl>
                                          <p:spTgt spid="1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5" grpId="0"/>
      <p:bldP spid="6" grpId="0"/>
      <p:bldP spid="7" grpId="0" animBg="1"/>
      <p:bldP spid="8" grpId="0"/>
      <p:bldP spid="9" grpId="0" animBg="1"/>
      <p:bldP spid="10" grpId="0"/>
      <p:bldP spid="11" grpId="0"/>
      <p:bldP spid="12" grpId="0" animBg="1"/>
      <p:bldP spid="13" grpId="0"/>
      <p:bldP spid="14" grpId="0"/>
      <p:bldP spid="15" grpId="0"/>
      <p:bldP spid="16" grpId="0"/>
      <p:bldP spid="17" grpId="0"/>
      <p:bldP spid="18" grpId="0" animBg="1"/>
      <p:bldP spid="19" grpId="0"/>
      <p:bldP spid="20" grpId="0"/>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3" name="Rectangle 5"/>
          <p:cNvSpPr>
            <a:spLocks noChangeArrowheads="1"/>
          </p:cNvSpPr>
          <p:nvPr/>
        </p:nvSpPr>
        <p:spPr bwMode="auto">
          <a:xfrm>
            <a:off x="0" y="1143000"/>
            <a:ext cx="29083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en-US" altLang="zh-CN" sz="2800" b="1">
                <a:solidFill>
                  <a:srgbClr val="CC3300"/>
                </a:solidFill>
                <a:latin typeface="微软雅黑" pitchFamily="34" charset="-122"/>
                <a:ea typeface="微软雅黑" pitchFamily="34" charset="-122"/>
              </a:rPr>
              <a:t>  </a:t>
            </a:r>
            <a:r>
              <a:rPr lang="zh-CN" altLang="en-US" sz="2800" b="1">
                <a:solidFill>
                  <a:srgbClr val="CC3300"/>
                </a:solidFill>
                <a:latin typeface="微软雅黑" pitchFamily="34" charset="-122"/>
                <a:ea typeface="微软雅黑" pitchFamily="34" charset="-122"/>
              </a:rPr>
              <a:t>二进制与计算机</a:t>
            </a:r>
          </a:p>
        </p:txBody>
      </p:sp>
      <p:sp>
        <p:nvSpPr>
          <p:cNvPr id="16387" name="Freeform 6"/>
          <p:cNvSpPr>
            <a:spLocks noEditPoints="1"/>
          </p:cNvSpPr>
          <p:nvPr/>
        </p:nvSpPr>
        <p:spPr bwMode="gray">
          <a:xfrm>
            <a:off x="914400" y="2362200"/>
            <a:ext cx="5943600" cy="4038600"/>
          </a:xfrm>
          <a:custGeom>
            <a:avLst/>
            <a:gdLst>
              <a:gd name="T0" fmla="*/ 2301564 w 2820"/>
              <a:gd name="T1" fmla="*/ 69344 h 2912"/>
              <a:gd name="T2" fmla="*/ 1732496 w 2820"/>
              <a:gd name="T3" fmla="*/ 232996 h 2912"/>
              <a:gd name="T4" fmla="*/ 1251950 w 2820"/>
              <a:gd name="T5" fmla="*/ 416065 h 2912"/>
              <a:gd name="T6" fmla="*/ 855710 w 2820"/>
              <a:gd name="T7" fmla="*/ 618549 h 2912"/>
              <a:gd name="T8" fmla="*/ 535346 w 2820"/>
              <a:gd name="T9" fmla="*/ 837677 h 2912"/>
              <a:gd name="T10" fmla="*/ 295072 w 2820"/>
              <a:gd name="T11" fmla="*/ 1070673 h 2912"/>
              <a:gd name="T12" fmla="*/ 126460 w 2820"/>
              <a:gd name="T13" fmla="*/ 1309216 h 2912"/>
              <a:gd name="T14" fmla="*/ 29507 w 2820"/>
              <a:gd name="T15" fmla="*/ 1556081 h 2912"/>
              <a:gd name="T16" fmla="*/ 0 w 2820"/>
              <a:gd name="T17" fmla="*/ 1802946 h 2912"/>
              <a:gd name="T18" fmla="*/ 37938 w 2820"/>
              <a:gd name="T19" fmla="*/ 2047038 h 2912"/>
              <a:gd name="T20" fmla="*/ 134890 w 2820"/>
              <a:gd name="T21" fmla="*/ 2288355 h 2912"/>
              <a:gd name="T22" fmla="*/ 290857 w 2820"/>
              <a:gd name="T23" fmla="*/ 2521351 h 2912"/>
              <a:gd name="T24" fmla="*/ 501623 w 2820"/>
              <a:gd name="T25" fmla="*/ 2743252 h 2912"/>
              <a:gd name="T26" fmla="*/ 767188 w 2820"/>
              <a:gd name="T27" fmla="*/ 2948511 h 2912"/>
              <a:gd name="T28" fmla="*/ 1079122 w 2820"/>
              <a:gd name="T29" fmla="*/ 3137127 h 2912"/>
              <a:gd name="T30" fmla="*/ 1441639 w 2820"/>
              <a:gd name="T31" fmla="*/ 3303553 h 2912"/>
              <a:gd name="T32" fmla="*/ 1842094 w 2820"/>
              <a:gd name="T33" fmla="*/ 3445015 h 2912"/>
              <a:gd name="T34" fmla="*/ 2288918 w 2820"/>
              <a:gd name="T35" fmla="*/ 3555965 h 2912"/>
              <a:gd name="T36" fmla="*/ 2769465 w 2820"/>
              <a:gd name="T37" fmla="*/ 3636404 h 2912"/>
              <a:gd name="T38" fmla="*/ 3283734 w 2820"/>
              <a:gd name="T39" fmla="*/ 3680784 h 2912"/>
              <a:gd name="T40" fmla="*/ 3831725 w 2820"/>
              <a:gd name="T41" fmla="*/ 3686332 h 2912"/>
              <a:gd name="T42" fmla="*/ 4405009 w 2820"/>
              <a:gd name="T43" fmla="*/ 3650273 h 2912"/>
              <a:gd name="T44" fmla="*/ 5003584 w 2820"/>
              <a:gd name="T45" fmla="*/ 3569834 h 2912"/>
              <a:gd name="T46" fmla="*/ 5361886 w 2820"/>
              <a:gd name="T47" fmla="*/ 4038600 h 2912"/>
              <a:gd name="T48" fmla="*/ 3937108 w 2820"/>
              <a:gd name="T49" fmla="*/ 2152441 h 2912"/>
              <a:gd name="T50" fmla="*/ 4122582 w 2820"/>
              <a:gd name="T51" fmla="*/ 2654492 h 2912"/>
              <a:gd name="T52" fmla="*/ 3768495 w 2820"/>
              <a:gd name="T53" fmla="*/ 2685003 h 2912"/>
              <a:gd name="T54" fmla="*/ 3405978 w 2820"/>
              <a:gd name="T55" fmla="*/ 2682230 h 2912"/>
              <a:gd name="T56" fmla="*/ 3039245 w 2820"/>
              <a:gd name="T57" fmla="*/ 2651718 h 2912"/>
              <a:gd name="T58" fmla="*/ 2680943 w 2820"/>
              <a:gd name="T59" fmla="*/ 2596243 h 2912"/>
              <a:gd name="T60" fmla="*/ 2335287 w 2820"/>
              <a:gd name="T61" fmla="*/ 2513030 h 2912"/>
              <a:gd name="T62" fmla="*/ 2006492 w 2820"/>
              <a:gd name="T63" fmla="*/ 2407627 h 2912"/>
              <a:gd name="T64" fmla="*/ 1707204 w 2820"/>
              <a:gd name="T65" fmla="*/ 2282808 h 2912"/>
              <a:gd name="T66" fmla="*/ 1441639 w 2820"/>
              <a:gd name="T67" fmla="*/ 2138572 h 2912"/>
              <a:gd name="T68" fmla="*/ 1218227 w 2820"/>
              <a:gd name="T69" fmla="*/ 1980467 h 2912"/>
              <a:gd name="T70" fmla="*/ 1041184 w 2820"/>
              <a:gd name="T71" fmla="*/ 1808494 h 2912"/>
              <a:gd name="T72" fmla="*/ 923155 w 2820"/>
              <a:gd name="T73" fmla="*/ 1622652 h 2912"/>
              <a:gd name="T74" fmla="*/ 864140 w 2820"/>
              <a:gd name="T75" fmla="*/ 1431262 h 2912"/>
              <a:gd name="T76" fmla="*/ 876786 w 2820"/>
              <a:gd name="T77" fmla="*/ 1231551 h 2912"/>
              <a:gd name="T78" fmla="*/ 969523 w 2820"/>
              <a:gd name="T79" fmla="*/ 1029066 h 2912"/>
              <a:gd name="T80" fmla="*/ 1146567 w 2820"/>
              <a:gd name="T81" fmla="*/ 821034 h 2912"/>
              <a:gd name="T82" fmla="*/ 1412132 w 2820"/>
              <a:gd name="T83" fmla="*/ 615776 h 2912"/>
              <a:gd name="T84" fmla="*/ 1778865 w 2820"/>
              <a:gd name="T85" fmla="*/ 413291 h 2912"/>
              <a:gd name="T86" fmla="*/ 2255196 w 2820"/>
              <a:gd name="T87" fmla="*/ 213580 h 2912"/>
              <a:gd name="T88" fmla="*/ 2841125 w 2820"/>
              <a:gd name="T89" fmla="*/ 22190 h 2912"/>
              <a:gd name="T90" fmla="*/ 2621929 w 2820"/>
              <a:gd name="T91" fmla="*/ 0 h 2912"/>
              <a:gd name="T92" fmla="*/ 5943600 w 2820"/>
              <a:gd name="T93" fmla="*/ 2682230 h 2912"/>
              <a:gd name="T94" fmla="*/ 5943600 w 2820"/>
              <a:gd name="T95" fmla="*/ 2682230 h 291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820" h="2912">
                <a:moveTo>
                  <a:pt x="1244" y="0"/>
                </a:moveTo>
                <a:lnTo>
                  <a:pt x="1092" y="50"/>
                </a:lnTo>
                <a:lnTo>
                  <a:pt x="952" y="106"/>
                </a:lnTo>
                <a:lnTo>
                  <a:pt x="822" y="168"/>
                </a:lnTo>
                <a:lnTo>
                  <a:pt x="704" y="232"/>
                </a:lnTo>
                <a:lnTo>
                  <a:pt x="594" y="300"/>
                </a:lnTo>
                <a:lnTo>
                  <a:pt x="494" y="372"/>
                </a:lnTo>
                <a:lnTo>
                  <a:pt x="406" y="446"/>
                </a:lnTo>
                <a:lnTo>
                  <a:pt x="324" y="524"/>
                </a:lnTo>
                <a:lnTo>
                  <a:pt x="254" y="604"/>
                </a:lnTo>
                <a:lnTo>
                  <a:pt x="192" y="686"/>
                </a:lnTo>
                <a:lnTo>
                  <a:pt x="140" y="772"/>
                </a:lnTo>
                <a:lnTo>
                  <a:pt x="96" y="856"/>
                </a:lnTo>
                <a:lnTo>
                  <a:pt x="60" y="944"/>
                </a:lnTo>
                <a:lnTo>
                  <a:pt x="32" y="1032"/>
                </a:lnTo>
                <a:lnTo>
                  <a:pt x="14" y="1122"/>
                </a:lnTo>
                <a:lnTo>
                  <a:pt x="2" y="1210"/>
                </a:lnTo>
                <a:lnTo>
                  <a:pt x="0" y="1300"/>
                </a:lnTo>
                <a:lnTo>
                  <a:pt x="4" y="1388"/>
                </a:lnTo>
                <a:lnTo>
                  <a:pt x="18" y="1476"/>
                </a:lnTo>
                <a:lnTo>
                  <a:pt x="36" y="1564"/>
                </a:lnTo>
                <a:lnTo>
                  <a:pt x="64" y="1650"/>
                </a:lnTo>
                <a:lnTo>
                  <a:pt x="96" y="1736"/>
                </a:lnTo>
                <a:lnTo>
                  <a:pt x="138" y="1818"/>
                </a:lnTo>
                <a:lnTo>
                  <a:pt x="184" y="1900"/>
                </a:lnTo>
                <a:lnTo>
                  <a:pt x="238" y="1978"/>
                </a:lnTo>
                <a:lnTo>
                  <a:pt x="298" y="2054"/>
                </a:lnTo>
                <a:lnTo>
                  <a:pt x="364" y="2126"/>
                </a:lnTo>
                <a:lnTo>
                  <a:pt x="434" y="2196"/>
                </a:lnTo>
                <a:lnTo>
                  <a:pt x="512" y="2262"/>
                </a:lnTo>
                <a:lnTo>
                  <a:pt x="596" y="2324"/>
                </a:lnTo>
                <a:lnTo>
                  <a:pt x="684" y="2382"/>
                </a:lnTo>
                <a:lnTo>
                  <a:pt x="776" y="2436"/>
                </a:lnTo>
                <a:lnTo>
                  <a:pt x="874" y="2484"/>
                </a:lnTo>
                <a:lnTo>
                  <a:pt x="978" y="2526"/>
                </a:lnTo>
                <a:lnTo>
                  <a:pt x="1086" y="2564"/>
                </a:lnTo>
                <a:lnTo>
                  <a:pt x="1198" y="2596"/>
                </a:lnTo>
                <a:lnTo>
                  <a:pt x="1314" y="2622"/>
                </a:lnTo>
                <a:lnTo>
                  <a:pt x="1434" y="2642"/>
                </a:lnTo>
                <a:lnTo>
                  <a:pt x="1558" y="2654"/>
                </a:lnTo>
                <a:lnTo>
                  <a:pt x="1686" y="2660"/>
                </a:lnTo>
                <a:lnTo>
                  <a:pt x="1818" y="2658"/>
                </a:lnTo>
                <a:lnTo>
                  <a:pt x="1952" y="2650"/>
                </a:lnTo>
                <a:lnTo>
                  <a:pt x="2090" y="2632"/>
                </a:lnTo>
                <a:lnTo>
                  <a:pt x="2230" y="2608"/>
                </a:lnTo>
                <a:lnTo>
                  <a:pt x="2374" y="2574"/>
                </a:lnTo>
                <a:lnTo>
                  <a:pt x="2542" y="2912"/>
                </a:lnTo>
                <a:lnTo>
                  <a:pt x="2544" y="2912"/>
                </a:lnTo>
                <a:lnTo>
                  <a:pt x="2820" y="1934"/>
                </a:lnTo>
                <a:lnTo>
                  <a:pt x="1868" y="1552"/>
                </a:lnTo>
                <a:lnTo>
                  <a:pt x="2036" y="1894"/>
                </a:lnTo>
                <a:lnTo>
                  <a:pt x="1956" y="1914"/>
                </a:lnTo>
                <a:lnTo>
                  <a:pt x="1872" y="1928"/>
                </a:lnTo>
                <a:lnTo>
                  <a:pt x="1788" y="1936"/>
                </a:lnTo>
                <a:lnTo>
                  <a:pt x="1702" y="1938"/>
                </a:lnTo>
                <a:lnTo>
                  <a:pt x="1616" y="1934"/>
                </a:lnTo>
                <a:lnTo>
                  <a:pt x="1528" y="1926"/>
                </a:lnTo>
                <a:lnTo>
                  <a:pt x="1442" y="1912"/>
                </a:lnTo>
                <a:lnTo>
                  <a:pt x="1356" y="1894"/>
                </a:lnTo>
                <a:lnTo>
                  <a:pt x="1272" y="1872"/>
                </a:lnTo>
                <a:lnTo>
                  <a:pt x="1188" y="1844"/>
                </a:lnTo>
                <a:lnTo>
                  <a:pt x="1108" y="1812"/>
                </a:lnTo>
                <a:lnTo>
                  <a:pt x="1028" y="1776"/>
                </a:lnTo>
                <a:lnTo>
                  <a:pt x="952" y="1736"/>
                </a:lnTo>
                <a:lnTo>
                  <a:pt x="880" y="1692"/>
                </a:lnTo>
                <a:lnTo>
                  <a:pt x="810" y="1646"/>
                </a:lnTo>
                <a:lnTo>
                  <a:pt x="744" y="1596"/>
                </a:lnTo>
                <a:lnTo>
                  <a:pt x="684" y="1542"/>
                </a:lnTo>
                <a:lnTo>
                  <a:pt x="628" y="1486"/>
                </a:lnTo>
                <a:lnTo>
                  <a:pt x="578" y="1428"/>
                </a:lnTo>
                <a:lnTo>
                  <a:pt x="532" y="1366"/>
                </a:lnTo>
                <a:lnTo>
                  <a:pt x="494" y="1304"/>
                </a:lnTo>
                <a:lnTo>
                  <a:pt x="462" y="1238"/>
                </a:lnTo>
                <a:lnTo>
                  <a:pt x="438" y="1170"/>
                </a:lnTo>
                <a:lnTo>
                  <a:pt x="420" y="1102"/>
                </a:lnTo>
                <a:lnTo>
                  <a:pt x="410" y="1032"/>
                </a:lnTo>
                <a:lnTo>
                  <a:pt x="410" y="960"/>
                </a:lnTo>
                <a:lnTo>
                  <a:pt x="416" y="888"/>
                </a:lnTo>
                <a:lnTo>
                  <a:pt x="434" y="816"/>
                </a:lnTo>
                <a:lnTo>
                  <a:pt x="460" y="742"/>
                </a:lnTo>
                <a:lnTo>
                  <a:pt x="496" y="668"/>
                </a:lnTo>
                <a:lnTo>
                  <a:pt x="544" y="592"/>
                </a:lnTo>
                <a:lnTo>
                  <a:pt x="602" y="518"/>
                </a:lnTo>
                <a:lnTo>
                  <a:pt x="670" y="444"/>
                </a:lnTo>
                <a:lnTo>
                  <a:pt x="752" y="370"/>
                </a:lnTo>
                <a:lnTo>
                  <a:pt x="844" y="298"/>
                </a:lnTo>
                <a:lnTo>
                  <a:pt x="950" y="226"/>
                </a:lnTo>
                <a:lnTo>
                  <a:pt x="1070" y="154"/>
                </a:lnTo>
                <a:lnTo>
                  <a:pt x="1202" y="84"/>
                </a:lnTo>
                <a:lnTo>
                  <a:pt x="1348" y="16"/>
                </a:lnTo>
                <a:lnTo>
                  <a:pt x="1244" y="0"/>
                </a:lnTo>
                <a:close/>
                <a:moveTo>
                  <a:pt x="2820" y="1934"/>
                </a:moveTo>
                <a:lnTo>
                  <a:pt x="2820" y="1934"/>
                </a:lnTo>
                <a:close/>
              </a:path>
            </a:pathLst>
          </a:custGeom>
          <a:gradFill rotWithShape="1">
            <a:gsLst>
              <a:gs pos="0">
                <a:schemeClr val="bg1"/>
              </a:gs>
              <a:gs pos="100000">
                <a:schemeClr val="folHlink"/>
              </a:gs>
            </a:gsLst>
            <a:lin ang="2700000" scaled="1"/>
          </a:gradFill>
          <a:ln>
            <a:noFill/>
          </a:ln>
          <a:effectLst>
            <a:outerShdw dist="206741" dir="8249373" algn="ctr" rotWithShape="0">
              <a:srgbClr val="C1D1D3">
                <a:alpha val="50000"/>
              </a:srgbClr>
            </a:outerShdw>
          </a:effectLst>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16388" name="Oval 7"/>
          <p:cNvSpPr>
            <a:spLocks noChangeArrowheads="1"/>
          </p:cNvSpPr>
          <p:nvPr/>
        </p:nvSpPr>
        <p:spPr bwMode="gray">
          <a:xfrm rot="-723406">
            <a:off x="1371600" y="5562600"/>
            <a:ext cx="1362075" cy="609600"/>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1" hangingPunct="1"/>
            <a:endParaRPr lang="zh-CN" altLang="en-US">
              <a:latin typeface="微软雅黑" pitchFamily="34" charset="-122"/>
              <a:ea typeface="微软雅黑" pitchFamily="34" charset="-122"/>
            </a:endParaRPr>
          </a:p>
        </p:txBody>
      </p:sp>
      <p:sp>
        <p:nvSpPr>
          <p:cNvPr id="16389" name="Oval 8"/>
          <p:cNvSpPr>
            <a:spLocks noChangeArrowheads="1"/>
          </p:cNvSpPr>
          <p:nvPr/>
        </p:nvSpPr>
        <p:spPr bwMode="gray">
          <a:xfrm>
            <a:off x="1676400" y="5181600"/>
            <a:ext cx="1066800" cy="990600"/>
          </a:xfrm>
          <a:prstGeom prst="ellipse">
            <a:avLst/>
          </a:prstGeom>
          <a:gradFill rotWithShape="1">
            <a:gsLst>
              <a:gs pos="0">
                <a:schemeClr val="bg1"/>
              </a:gs>
              <a:gs pos="100000">
                <a:srgbClr val="FFFF66"/>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pPr algn="ctr" eaLnBrk="1" hangingPunct="1"/>
            <a:endParaRPr lang="zh-CN" altLang="en-US">
              <a:latin typeface="微软雅黑" pitchFamily="34" charset="-122"/>
              <a:ea typeface="微软雅黑" pitchFamily="34" charset="-122"/>
            </a:endParaRPr>
          </a:p>
        </p:txBody>
      </p:sp>
      <p:sp>
        <p:nvSpPr>
          <p:cNvPr id="16390" name="Oval 9"/>
          <p:cNvSpPr>
            <a:spLocks noChangeArrowheads="1"/>
          </p:cNvSpPr>
          <p:nvPr/>
        </p:nvSpPr>
        <p:spPr bwMode="gray">
          <a:xfrm rot="-772996">
            <a:off x="0" y="4267200"/>
            <a:ext cx="1133475" cy="609600"/>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1" hangingPunct="1"/>
            <a:endParaRPr lang="zh-CN" altLang="en-US">
              <a:latin typeface="微软雅黑" pitchFamily="34" charset="-122"/>
              <a:ea typeface="微软雅黑" pitchFamily="34" charset="-122"/>
            </a:endParaRPr>
          </a:p>
        </p:txBody>
      </p:sp>
      <p:sp>
        <p:nvSpPr>
          <p:cNvPr id="16391" name="Oval 10"/>
          <p:cNvSpPr>
            <a:spLocks noChangeArrowheads="1"/>
          </p:cNvSpPr>
          <p:nvPr/>
        </p:nvSpPr>
        <p:spPr bwMode="gray">
          <a:xfrm>
            <a:off x="228600" y="3886200"/>
            <a:ext cx="1066800" cy="914400"/>
          </a:xfrm>
          <a:prstGeom prst="ellipse">
            <a:avLst/>
          </a:prstGeom>
          <a:gradFill rotWithShape="1">
            <a:gsLst>
              <a:gs pos="0">
                <a:schemeClr val="bg1"/>
              </a:gs>
              <a:gs pos="100000">
                <a:srgbClr val="66FFFF"/>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pPr algn="ctr" eaLnBrk="1" hangingPunct="1"/>
            <a:endParaRPr lang="zh-CN" altLang="en-US">
              <a:latin typeface="微软雅黑" pitchFamily="34" charset="-122"/>
              <a:ea typeface="微软雅黑" pitchFamily="34" charset="-122"/>
            </a:endParaRPr>
          </a:p>
        </p:txBody>
      </p:sp>
      <p:sp>
        <p:nvSpPr>
          <p:cNvPr id="16392" name="Oval 11"/>
          <p:cNvSpPr>
            <a:spLocks noChangeArrowheads="1"/>
          </p:cNvSpPr>
          <p:nvPr/>
        </p:nvSpPr>
        <p:spPr bwMode="gray">
          <a:xfrm>
            <a:off x="685800" y="3276600"/>
            <a:ext cx="914400" cy="533400"/>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1" hangingPunct="1"/>
            <a:endParaRPr lang="zh-CN" altLang="en-US">
              <a:latin typeface="微软雅黑" pitchFamily="34" charset="-122"/>
              <a:ea typeface="微软雅黑" pitchFamily="34" charset="-122"/>
            </a:endParaRPr>
          </a:p>
        </p:txBody>
      </p:sp>
      <p:sp>
        <p:nvSpPr>
          <p:cNvPr id="16393" name="Oval 12"/>
          <p:cNvSpPr>
            <a:spLocks noChangeArrowheads="1"/>
          </p:cNvSpPr>
          <p:nvPr/>
        </p:nvSpPr>
        <p:spPr bwMode="gray">
          <a:xfrm>
            <a:off x="838200" y="2895600"/>
            <a:ext cx="1023938" cy="838200"/>
          </a:xfrm>
          <a:prstGeom prst="ellipse">
            <a:avLst/>
          </a:prstGeom>
          <a:gradFill rotWithShape="1">
            <a:gsLst>
              <a:gs pos="0">
                <a:schemeClr val="bg1"/>
              </a:gs>
              <a:gs pos="100000">
                <a:srgbClr val="FF9933"/>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pPr algn="ctr" eaLnBrk="1" hangingPunct="1"/>
            <a:endParaRPr lang="zh-CN" altLang="en-US">
              <a:latin typeface="微软雅黑" pitchFamily="34" charset="-122"/>
              <a:ea typeface="微软雅黑" pitchFamily="34" charset="-122"/>
            </a:endParaRPr>
          </a:p>
        </p:txBody>
      </p:sp>
      <p:sp>
        <p:nvSpPr>
          <p:cNvPr id="16394" name="Oval 13"/>
          <p:cNvSpPr>
            <a:spLocks noChangeArrowheads="1"/>
          </p:cNvSpPr>
          <p:nvPr/>
        </p:nvSpPr>
        <p:spPr bwMode="gray">
          <a:xfrm>
            <a:off x="1981200" y="2667000"/>
            <a:ext cx="685800" cy="228600"/>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eaLnBrk="1" hangingPunct="1"/>
            <a:endParaRPr lang="zh-CN" altLang="en-US">
              <a:latin typeface="微软雅黑" pitchFamily="34" charset="-122"/>
              <a:ea typeface="微软雅黑" pitchFamily="34" charset="-122"/>
            </a:endParaRPr>
          </a:p>
        </p:txBody>
      </p:sp>
      <p:sp>
        <p:nvSpPr>
          <p:cNvPr id="16395" name="Oval 14"/>
          <p:cNvSpPr>
            <a:spLocks noChangeArrowheads="1"/>
          </p:cNvSpPr>
          <p:nvPr/>
        </p:nvSpPr>
        <p:spPr bwMode="gray">
          <a:xfrm>
            <a:off x="2209800" y="2286000"/>
            <a:ext cx="665163" cy="666750"/>
          </a:xfrm>
          <a:prstGeom prst="ellipse">
            <a:avLst/>
          </a:prstGeom>
          <a:gradFill rotWithShape="1">
            <a:gsLst>
              <a:gs pos="0">
                <a:schemeClr val="bg1"/>
              </a:gs>
              <a:gs pos="100000">
                <a:srgbClr val="99FF66"/>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p>
            <a:pPr algn="ctr" eaLnBrk="1" hangingPunct="1"/>
            <a:endParaRPr lang="zh-CN" altLang="en-US">
              <a:latin typeface="微软雅黑" pitchFamily="34" charset="-122"/>
              <a:ea typeface="微软雅黑" pitchFamily="34" charset="-122"/>
            </a:endParaRPr>
          </a:p>
        </p:txBody>
      </p:sp>
      <p:sp>
        <p:nvSpPr>
          <p:cNvPr id="334863" name="Text Box 15"/>
          <p:cNvSpPr txBox="1">
            <a:spLocks noChangeArrowheads="1"/>
          </p:cNvSpPr>
          <p:nvPr/>
        </p:nvSpPr>
        <p:spPr bwMode="auto">
          <a:xfrm>
            <a:off x="2484438" y="1844675"/>
            <a:ext cx="56388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黑体" pitchFamily="49" charset="-122"/>
              </a:defRPr>
            </a:lvl1pPr>
            <a:lvl2pPr>
              <a:defRPr sz="2800">
                <a:solidFill>
                  <a:srgbClr val="000066"/>
                </a:solidFill>
                <a:latin typeface="Arial" pitchFamily="34" charset="0"/>
                <a:ea typeface="黑体" pitchFamily="49" charset="-122"/>
              </a:defRPr>
            </a:lvl2pPr>
            <a:lvl3pPr>
              <a:defRPr sz="2400">
                <a:solidFill>
                  <a:schemeClr val="tx1"/>
                </a:solidFill>
                <a:latin typeface="Arial" pitchFamily="34" charset="0"/>
                <a:ea typeface="黑体" pitchFamily="49" charset="-122"/>
              </a:defRPr>
            </a:lvl3pPr>
            <a:lvl4pPr>
              <a:defRPr sz="2000">
                <a:solidFill>
                  <a:schemeClr val="tx1"/>
                </a:solidFill>
                <a:latin typeface="Arial" pitchFamily="34" charset="0"/>
                <a:ea typeface="黑体" pitchFamily="49" charset="-122"/>
              </a:defRPr>
            </a:lvl4pPr>
            <a:lvl5pPr>
              <a:defRPr sz="2000">
                <a:solidFill>
                  <a:schemeClr val="tx1"/>
                </a:solidFill>
                <a:latin typeface="Arial" pitchFamily="34" charset="0"/>
                <a:ea typeface="黑体" pitchFamily="49" charset="-122"/>
              </a:defRPr>
            </a:lvl5pPr>
            <a:lvl6pPr eaLnBrk="0" hangingPunct="0">
              <a:defRPr sz="2000">
                <a:solidFill>
                  <a:schemeClr val="tx1"/>
                </a:solidFill>
                <a:latin typeface="Arial" pitchFamily="34" charset="0"/>
                <a:ea typeface="黑体" pitchFamily="49" charset="-122"/>
              </a:defRPr>
            </a:lvl6pPr>
            <a:lvl7pPr eaLnBrk="0" hangingPunct="0">
              <a:defRPr sz="2000">
                <a:solidFill>
                  <a:schemeClr val="tx1"/>
                </a:solidFill>
                <a:latin typeface="Arial" pitchFamily="34" charset="0"/>
                <a:ea typeface="黑体" pitchFamily="49" charset="-122"/>
              </a:defRPr>
            </a:lvl7pPr>
            <a:lvl8pPr eaLnBrk="0" hangingPunct="0">
              <a:defRPr sz="2000">
                <a:solidFill>
                  <a:schemeClr val="tx1"/>
                </a:solidFill>
                <a:latin typeface="Arial" pitchFamily="34" charset="0"/>
                <a:ea typeface="黑体" pitchFamily="49" charset="-122"/>
              </a:defRPr>
            </a:lvl8pPr>
            <a:lvl9pPr eaLnBrk="0" hangingPunct="0">
              <a:defRPr sz="2000">
                <a:solidFill>
                  <a:schemeClr val="tx1"/>
                </a:solidFill>
                <a:latin typeface="Arial" pitchFamily="34" charset="0"/>
                <a:ea typeface="黑体" pitchFamily="49" charset="-122"/>
              </a:defRPr>
            </a:lvl9pPr>
          </a:lstStyle>
          <a:p>
            <a:pPr algn="ctr" eaLnBrk="1" hangingPunct="1"/>
            <a:r>
              <a:rPr lang="zh-CN" altLang="en-US" sz="2400" b="1">
                <a:solidFill>
                  <a:srgbClr val="000066"/>
                </a:solidFill>
                <a:latin typeface="微软雅黑" pitchFamily="34" charset="-122"/>
                <a:ea typeface="微软雅黑" pitchFamily="34" charset="-122"/>
              </a:rPr>
              <a:t>计算机中使用二进值，数据的最小单位是位，</a:t>
            </a:r>
            <a:r>
              <a:rPr lang="en-US" altLang="zh-CN" sz="2400" b="1">
                <a:solidFill>
                  <a:srgbClr val="000066"/>
                </a:solidFill>
                <a:latin typeface="微软雅黑" pitchFamily="34" charset="-122"/>
                <a:ea typeface="微软雅黑" pitchFamily="34" charset="-122"/>
              </a:rPr>
              <a:t>bit</a:t>
            </a:r>
            <a:r>
              <a:rPr lang="zh-CN" altLang="en-US" sz="2400" b="1">
                <a:solidFill>
                  <a:srgbClr val="000066"/>
                </a:solidFill>
                <a:latin typeface="微软雅黑" pitchFamily="34" charset="-122"/>
                <a:ea typeface="微软雅黑" pitchFamily="34" charset="-122"/>
              </a:rPr>
              <a:t>，两个可能的取值</a:t>
            </a:r>
            <a:r>
              <a:rPr lang="en-US" altLang="zh-CN" sz="2400" b="1">
                <a:solidFill>
                  <a:srgbClr val="000066"/>
                </a:solidFill>
                <a:latin typeface="微软雅黑" pitchFamily="34" charset="-122"/>
                <a:ea typeface="微软雅黑" pitchFamily="34" charset="-122"/>
              </a:rPr>
              <a:t>0</a:t>
            </a:r>
            <a:r>
              <a:rPr lang="zh-CN" altLang="en-US" sz="2400" b="1">
                <a:solidFill>
                  <a:srgbClr val="000066"/>
                </a:solidFill>
                <a:latin typeface="微软雅黑" pitchFamily="34" charset="-122"/>
                <a:ea typeface="微软雅黑" pitchFamily="34" charset="-122"/>
              </a:rPr>
              <a:t>和</a:t>
            </a:r>
            <a:r>
              <a:rPr lang="en-US" altLang="zh-CN" sz="2400" b="1">
                <a:solidFill>
                  <a:srgbClr val="000066"/>
                </a:solidFill>
                <a:latin typeface="微软雅黑" pitchFamily="34" charset="-122"/>
                <a:ea typeface="微软雅黑" pitchFamily="34" charset="-122"/>
              </a:rPr>
              <a:t>1</a:t>
            </a:r>
            <a:r>
              <a:rPr lang="zh-CN" altLang="en-US" sz="2400" b="1">
                <a:solidFill>
                  <a:srgbClr val="000066"/>
                </a:solidFill>
                <a:latin typeface="微软雅黑" pitchFamily="34" charset="-122"/>
                <a:ea typeface="微软雅黑" pitchFamily="34" charset="-122"/>
              </a:rPr>
              <a:t>。</a:t>
            </a:r>
            <a:endParaRPr lang="en-US" altLang="en-US" sz="2400" b="1">
              <a:solidFill>
                <a:srgbClr val="000066"/>
              </a:solidFill>
              <a:latin typeface="微软雅黑" pitchFamily="34" charset="-122"/>
              <a:ea typeface="微软雅黑" pitchFamily="34" charset="-122"/>
            </a:endParaRPr>
          </a:p>
        </p:txBody>
      </p:sp>
      <p:sp>
        <p:nvSpPr>
          <p:cNvPr id="334864" name="Rectangle 16"/>
          <p:cNvSpPr>
            <a:spLocks noChangeArrowheads="1"/>
          </p:cNvSpPr>
          <p:nvPr/>
        </p:nvSpPr>
        <p:spPr bwMode="auto">
          <a:xfrm>
            <a:off x="1476375" y="2852738"/>
            <a:ext cx="7056438"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nchor="ctr"/>
          <a:lstStyle/>
          <a:p>
            <a:pPr algn="ctr" eaLnBrk="1" hangingPunct="1"/>
            <a:r>
              <a:rPr lang="zh-CN" altLang="en-US" sz="2400" b="1">
                <a:solidFill>
                  <a:srgbClr val="000066"/>
                </a:solidFill>
                <a:latin typeface="微软雅黑" pitchFamily="34" charset="-122"/>
                <a:ea typeface="微软雅黑" pitchFamily="34" charset="-122"/>
              </a:rPr>
              <a:t>电位</a:t>
            </a:r>
            <a:r>
              <a:rPr lang="zh-CN" altLang="en-US" sz="2400" b="1">
                <a:solidFill>
                  <a:srgbClr val="C00000"/>
                </a:solidFill>
                <a:latin typeface="微软雅黑" pitchFamily="34" charset="-122"/>
                <a:ea typeface="微软雅黑" pitchFamily="34" charset="-122"/>
              </a:rPr>
              <a:t>高</a:t>
            </a:r>
            <a:r>
              <a:rPr lang="zh-CN" altLang="en-US" sz="2400" b="1">
                <a:solidFill>
                  <a:srgbClr val="000066"/>
                </a:solidFill>
                <a:latin typeface="微软雅黑" pitchFamily="34" charset="-122"/>
                <a:ea typeface="微软雅黑" pitchFamily="34" charset="-122"/>
              </a:rPr>
              <a:t>与</a:t>
            </a:r>
            <a:r>
              <a:rPr lang="zh-CN" altLang="en-US" sz="2400" b="1">
                <a:solidFill>
                  <a:srgbClr val="C00000"/>
                </a:solidFill>
                <a:latin typeface="微软雅黑" pitchFamily="34" charset="-122"/>
                <a:ea typeface="微软雅黑" pitchFamily="34" charset="-122"/>
              </a:rPr>
              <a:t>低</a:t>
            </a:r>
            <a:endParaRPr lang="en-US" altLang="zh-CN" sz="2400" b="1">
              <a:solidFill>
                <a:srgbClr val="C00000"/>
              </a:solidFill>
              <a:latin typeface="微软雅黑" pitchFamily="34" charset="-122"/>
              <a:ea typeface="微软雅黑" pitchFamily="34" charset="-122"/>
            </a:endParaRPr>
          </a:p>
          <a:p>
            <a:pPr algn="ctr" eaLnBrk="1" hangingPunct="1"/>
            <a:r>
              <a:rPr lang="zh-CN" altLang="en-US" sz="2400" b="1">
                <a:solidFill>
                  <a:srgbClr val="000066"/>
                </a:solidFill>
                <a:latin typeface="微软雅黑" pitchFamily="34" charset="-122"/>
                <a:ea typeface="微软雅黑" pitchFamily="34" charset="-122"/>
              </a:rPr>
              <a:t>开关</a:t>
            </a:r>
            <a:r>
              <a:rPr lang="zh-CN" altLang="en-US" sz="2400" b="1">
                <a:solidFill>
                  <a:srgbClr val="C00000"/>
                </a:solidFill>
                <a:latin typeface="微软雅黑" pitchFamily="34" charset="-122"/>
                <a:ea typeface="微软雅黑" pitchFamily="34" charset="-122"/>
              </a:rPr>
              <a:t>接通</a:t>
            </a:r>
            <a:r>
              <a:rPr lang="zh-CN" altLang="en-US" sz="2400" b="1">
                <a:solidFill>
                  <a:srgbClr val="000066"/>
                </a:solidFill>
                <a:latin typeface="微软雅黑" pitchFamily="34" charset="-122"/>
                <a:ea typeface="微软雅黑" pitchFamily="34" charset="-122"/>
              </a:rPr>
              <a:t>与</a:t>
            </a:r>
            <a:r>
              <a:rPr lang="zh-CN" altLang="en-US" sz="2400" b="1">
                <a:solidFill>
                  <a:srgbClr val="C00000"/>
                </a:solidFill>
                <a:latin typeface="微软雅黑" pitchFamily="34" charset="-122"/>
                <a:ea typeface="微软雅黑" pitchFamily="34" charset="-122"/>
              </a:rPr>
              <a:t>断开      用</a:t>
            </a:r>
            <a:r>
              <a:rPr lang="en-US" altLang="zh-CN" sz="2400" b="1">
                <a:solidFill>
                  <a:srgbClr val="C00000"/>
                </a:solidFill>
                <a:latin typeface="微软雅黑" pitchFamily="34" charset="-122"/>
                <a:ea typeface="微软雅黑" pitchFamily="34" charset="-122"/>
              </a:rPr>
              <a:t>0</a:t>
            </a:r>
            <a:r>
              <a:rPr lang="zh-CN" altLang="en-US" sz="2400" b="1">
                <a:solidFill>
                  <a:srgbClr val="C00000"/>
                </a:solidFill>
                <a:latin typeface="微软雅黑" pitchFamily="34" charset="-122"/>
                <a:ea typeface="微软雅黑" pitchFamily="34" charset="-122"/>
              </a:rPr>
              <a:t>，</a:t>
            </a:r>
            <a:r>
              <a:rPr lang="en-US" altLang="zh-CN" sz="2400" b="1">
                <a:solidFill>
                  <a:srgbClr val="C00000"/>
                </a:solidFill>
                <a:latin typeface="微软雅黑" pitchFamily="34" charset="-122"/>
                <a:ea typeface="微软雅黑" pitchFamily="34" charset="-122"/>
              </a:rPr>
              <a:t>1</a:t>
            </a:r>
            <a:r>
              <a:rPr lang="zh-CN" altLang="en-US" sz="2400" b="1">
                <a:solidFill>
                  <a:srgbClr val="C00000"/>
                </a:solidFill>
                <a:latin typeface="微软雅黑" pitchFamily="34" charset="-122"/>
                <a:ea typeface="微软雅黑" pitchFamily="34" charset="-122"/>
              </a:rPr>
              <a:t>描述两个稳定的状态</a:t>
            </a:r>
            <a:endParaRPr lang="en-US" altLang="en-US" sz="2400" b="1">
              <a:solidFill>
                <a:srgbClr val="C00000"/>
              </a:solidFill>
              <a:latin typeface="微软雅黑" pitchFamily="34" charset="-122"/>
              <a:ea typeface="微软雅黑" pitchFamily="34" charset="-122"/>
            </a:endParaRPr>
          </a:p>
        </p:txBody>
      </p:sp>
      <p:sp>
        <p:nvSpPr>
          <p:cNvPr id="334865" name="Text Box 17"/>
          <p:cNvSpPr txBox="1">
            <a:spLocks noChangeArrowheads="1"/>
          </p:cNvSpPr>
          <p:nvPr/>
        </p:nvSpPr>
        <p:spPr bwMode="auto">
          <a:xfrm>
            <a:off x="685800" y="4038600"/>
            <a:ext cx="77724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黑体" pitchFamily="49" charset="-122"/>
              </a:defRPr>
            </a:lvl1pPr>
            <a:lvl2pPr marL="292100" indent="342900">
              <a:defRPr sz="2800">
                <a:solidFill>
                  <a:srgbClr val="000066"/>
                </a:solidFill>
                <a:latin typeface="Arial" pitchFamily="34" charset="0"/>
                <a:ea typeface="黑体" pitchFamily="49" charset="-122"/>
              </a:defRPr>
            </a:lvl2pPr>
            <a:lvl3pPr>
              <a:defRPr sz="2400">
                <a:solidFill>
                  <a:schemeClr val="tx1"/>
                </a:solidFill>
                <a:latin typeface="Arial" pitchFamily="34" charset="0"/>
                <a:ea typeface="黑体" pitchFamily="49" charset="-122"/>
              </a:defRPr>
            </a:lvl3pPr>
            <a:lvl4pPr>
              <a:defRPr sz="2000">
                <a:solidFill>
                  <a:schemeClr val="tx1"/>
                </a:solidFill>
                <a:latin typeface="Arial" pitchFamily="34" charset="0"/>
                <a:ea typeface="黑体" pitchFamily="49" charset="-122"/>
              </a:defRPr>
            </a:lvl4pPr>
            <a:lvl5pPr>
              <a:defRPr sz="2000">
                <a:solidFill>
                  <a:schemeClr val="tx1"/>
                </a:solidFill>
                <a:latin typeface="Arial" pitchFamily="34" charset="0"/>
                <a:ea typeface="黑体" pitchFamily="49" charset="-122"/>
              </a:defRPr>
            </a:lvl5pPr>
            <a:lvl6pPr eaLnBrk="0" hangingPunct="0">
              <a:defRPr sz="2000">
                <a:solidFill>
                  <a:schemeClr val="tx1"/>
                </a:solidFill>
                <a:latin typeface="Arial" pitchFamily="34" charset="0"/>
                <a:ea typeface="黑体" pitchFamily="49" charset="-122"/>
              </a:defRPr>
            </a:lvl6pPr>
            <a:lvl7pPr eaLnBrk="0" hangingPunct="0">
              <a:defRPr sz="2000">
                <a:solidFill>
                  <a:schemeClr val="tx1"/>
                </a:solidFill>
                <a:latin typeface="Arial" pitchFamily="34" charset="0"/>
                <a:ea typeface="黑体" pitchFamily="49" charset="-122"/>
              </a:defRPr>
            </a:lvl7pPr>
            <a:lvl8pPr eaLnBrk="0" hangingPunct="0">
              <a:defRPr sz="2000">
                <a:solidFill>
                  <a:schemeClr val="tx1"/>
                </a:solidFill>
                <a:latin typeface="Arial" pitchFamily="34" charset="0"/>
                <a:ea typeface="黑体" pitchFamily="49" charset="-122"/>
              </a:defRPr>
            </a:lvl8pPr>
            <a:lvl9pPr eaLnBrk="0" hangingPunct="0">
              <a:defRPr sz="2000">
                <a:solidFill>
                  <a:schemeClr val="tx1"/>
                </a:solidFill>
                <a:latin typeface="Arial" pitchFamily="34" charset="0"/>
                <a:ea typeface="黑体" pitchFamily="49" charset="-122"/>
              </a:defRPr>
            </a:lvl9pPr>
          </a:lstStyle>
          <a:p>
            <a:pPr algn="ctr" eaLnBrk="1" hangingPunct="1"/>
            <a:r>
              <a:rPr lang="en-US" altLang="en-US" sz="2400" b="1">
                <a:solidFill>
                  <a:srgbClr val="000066"/>
                </a:solidFill>
                <a:latin typeface="微软雅黑" pitchFamily="34" charset="-122"/>
                <a:ea typeface="微软雅黑" pitchFamily="34" charset="-122"/>
              </a:rPr>
              <a:t> </a:t>
            </a:r>
          </a:p>
          <a:p>
            <a:pPr algn="ctr" eaLnBrk="1" hangingPunct="1"/>
            <a:r>
              <a:rPr lang="en-US" altLang="zh-CN" sz="2400" b="1">
                <a:solidFill>
                  <a:srgbClr val="000066"/>
                </a:solidFill>
                <a:latin typeface="微软雅黑" pitchFamily="34" charset="-122"/>
                <a:ea typeface="微软雅黑" pitchFamily="34" charset="-122"/>
              </a:rPr>
              <a:t>       </a:t>
            </a:r>
            <a:r>
              <a:rPr lang="zh-CN" altLang="en-US" sz="2400" b="1">
                <a:solidFill>
                  <a:srgbClr val="000066"/>
                </a:solidFill>
                <a:latin typeface="微软雅黑" pitchFamily="34" charset="-122"/>
                <a:ea typeface="微软雅黑" pitchFamily="34" charset="-122"/>
              </a:rPr>
              <a:t>电子计算机的字长代表了</a:t>
            </a:r>
            <a:r>
              <a:rPr lang="en-US" altLang="zh-CN" sz="2400" b="1">
                <a:solidFill>
                  <a:srgbClr val="000066"/>
                </a:solidFill>
                <a:latin typeface="微软雅黑" pitchFamily="34" charset="-122"/>
                <a:ea typeface="微软雅黑" pitchFamily="34" charset="-122"/>
              </a:rPr>
              <a:t>CPU</a:t>
            </a:r>
            <a:r>
              <a:rPr lang="zh-CN" altLang="en-US" sz="2400" b="1">
                <a:solidFill>
                  <a:srgbClr val="000066"/>
                </a:solidFill>
                <a:latin typeface="微软雅黑" pitchFamily="34" charset="-122"/>
                <a:ea typeface="微软雅黑" pitchFamily="34" charset="-122"/>
              </a:rPr>
              <a:t>一次存储、处理、传递信息的位数。</a:t>
            </a:r>
            <a:r>
              <a:rPr lang="en-US" altLang="en-US" sz="2400" b="1">
                <a:solidFill>
                  <a:srgbClr val="000066"/>
                </a:solidFill>
                <a:latin typeface="微软雅黑" pitchFamily="34" charset="-122"/>
                <a:ea typeface="微软雅黑" pitchFamily="34" charset="-122"/>
              </a:rPr>
              <a:t>  </a:t>
            </a:r>
          </a:p>
          <a:p>
            <a:pPr lvl="1" algn="ctr" eaLnBrk="1" hangingPunct="1">
              <a:buFontTx/>
              <a:buChar char="•"/>
            </a:pPr>
            <a:r>
              <a:rPr lang="en-US" altLang="en-US" sz="2400" b="1">
                <a:solidFill>
                  <a:srgbClr val="A50021"/>
                </a:solidFill>
                <a:latin typeface="微软雅黑" pitchFamily="34" charset="-122"/>
                <a:ea typeface="微软雅黑" pitchFamily="34" charset="-122"/>
              </a:rPr>
              <a:t>32-bit </a:t>
            </a:r>
            <a:r>
              <a:rPr lang="zh-CN" altLang="en-US" sz="2400" b="1">
                <a:solidFill>
                  <a:srgbClr val="A50021"/>
                </a:solidFill>
                <a:latin typeface="微软雅黑" pitchFamily="34" charset="-122"/>
                <a:ea typeface="微软雅黑" pitchFamily="34" charset="-122"/>
              </a:rPr>
              <a:t>计算机</a:t>
            </a:r>
            <a:r>
              <a:rPr lang="en-US" altLang="en-US" sz="2400" b="1">
                <a:solidFill>
                  <a:srgbClr val="A50021"/>
                </a:solidFill>
                <a:latin typeface="微软雅黑" pitchFamily="34" charset="-122"/>
                <a:ea typeface="微软雅黑" pitchFamily="34" charset="-122"/>
              </a:rPr>
              <a:t> </a:t>
            </a:r>
          </a:p>
          <a:p>
            <a:pPr lvl="1" algn="ctr" eaLnBrk="1" hangingPunct="1">
              <a:buFontTx/>
              <a:buChar char="•"/>
            </a:pPr>
            <a:r>
              <a:rPr lang="en-US" altLang="en-US" sz="2400" b="1">
                <a:solidFill>
                  <a:srgbClr val="A50021"/>
                </a:solidFill>
                <a:latin typeface="微软雅黑" pitchFamily="34" charset="-122"/>
                <a:ea typeface="微软雅黑" pitchFamily="34" charset="-122"/>
              </a:rPr>
              <a:t>64-bit </a:t>
            </a:r>
            <a:r>
              <a:rPr lang="zh-CN" altLang="en-US" sz="2400" b="1">
                <a:solidFill>
                  <a:srgbClr val="A50021"/>
                </a:solidFill>
                <a:latin typeface="微软雅黑" pitchFamily="34" charset="-122"/>
                <a:ea typeface="微软雅黑" pitchFamily="34" charset="-122"/>
              </a:rPr>
              <a:t>计算机</a:t>
            </a:r>
            <a:endParaRPr lang="en-US" altLang="en-US" sz="2400" b="1">
              <a:solidFill>
                <a:srgbClr val="A50021"/>
              </a:solidFill>
              <a:latin typeface="微软雅黑" pitchFamily="34" charset="-122"/>
              <a:ea typeface="微软雅黑" pitchFamily="34" charset="-122"/>
            </a:endParaRPr>
          </a:p>
        </p:txBody>
      </p:sp>
      <p:pic>
        <p:nvPicPr>
          <p:cNvPr id="16399" name="Picture 18" descr="bs00269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86600" y="5257800"/>
            <a:ext cx="1722438" cy="133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标题 1"/>
          <p:cNvSpPr txBox="1">
            <a:spLocks/>
          </p:cNvSpPr>
          <p:nvPr/>
        </p:nvSpPr>
        <p:spPr bwMode="auto">
          <a:xfrm>
            <a:off x="10886" y="457200"/>
            <a:ext cx="590550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rtl="0" eaLnBrk="0" fontAlgn="base" hangingPunct="0">
              <a:spcBef>
                <a:spcPct val="0"/>
              </a:spcBef>
              <a:spcAft>
                <a:spcPct val="0"/>
              </a:spcAft>
              <a:defRPr sz="3600" b="1">
                <a:solidFill>
                  <a:srgbClr val="CC3300"/>
                </a:solidFill>
                <a:latin typeface="+mj-lt"/>
                <a:ea typeface="+mj-ea"/>
                <a:cs typeface="+mj-cs"/>
              </a:defRPr>
            </a:lvl1pPr>
            <a:lvl2pPr algn="r" rtl="0" eaLnBrk="0" fontAlgn="base" hangingPunct="0">
              <a:spcBef>
                <a:spcPct val="0"/>
              </a:spcBef>
              <a:spcAft>
                <a:spcPct val="0"/>
              </a:spcAft>
              <a:defRPr sz="3600" b="1">
                <a:solidFill>
                  <a:srgbClr val="CC3300"/>
                </a:solidFill>
                <a:latin typeface="Arial" charset="0"/>
                <a:ea typeface="黑体" pitchFamily="2" charset="-122"/>
              </a:defRPr>
            </a:lvl2pPr>
            <a:lvl3pPr algn="r" rtl="0" eaLnBrk="0" fontAlgn="base" hangingPunct="0">
              <a:spcBef>
                <a:spcPct val="0"/>
              </a:spcBef>
              <a:spcAft>
                <a:spcPct val="0"/>
              </a:spcAft>
              <a:defRPr sz="3600" b="1">
                <a:solidFill>
                  <a:srgbClr val="CC3300"/>
                </a:solidFill>
                <a:latin typeface="Arial" charset="0"/>
                <a:ea typeface="黑体" pitchFamily="2" charset="-122"/>
              </a:defRPr>
            </a:lvl3pPr>
            <a:lvl4pPr algn="r" rtl="0" eaLnBrk="0" fontAlgn="base" hangingPunct="0">
              <a:spcBef>
                <a:spcPct val="0"/>
              </a:spcBef>
              <a:spcAft>
                <a:spcPct val="0"/>
              </a:spcAft>
              <a:defRPr sz="3600" b="1">
                <a:solidFill>
                  <a:srgbClr val="CC3300"/>
                </a:solidFill>
                <a:latin typeface="Arial" charset="0"/>
                <a:ea typeface="黑体" pitchFamily="2" charset="-122"/>
              </a:defRPr>
            </a:lvl4pPr>
            <a:lvl5pPr algn="r" rtl="0" eaLnBrk="0" fontAlgn="base" hangingPunct="0">
              <a:spcBef>
                <a:spcPct val="0"/>
              </a:spcBef>
              <a:spcAft>
                <a:spcPct val="0"/>
              </a:spcAft>
              <a:defRPr sz="3600" b="1">
                <a:solidFill>
                  <a:srgbClr val="CC3300"/>
                </a:solidFill>
                <a:latin typeface="Arial" charset="0"/>
                <a:ea typeface="黑体" pitchFamily="2" charset="-122"/>
              </a:defRPr>
            </a:lvl5pPr>
            <a:lvl6pPr marL="457200" algn="r" rtl="0" fontAlgn="base">
              <a:spcBef>
                <a:spcPct val="0"/>
              </a:spcBef>
              <a:spcAft>
                <a:spcPct val="0"/>
              </a:spcAft>
              <a:defRPr sz="3600" b="1">
                <a:solidFill>
                  <a:srgbClr val="CC3300"/>
                </a:solidFill>
                <a:latin typeface="Arial" charset="0"/>
                <a:ea typeface="黑体" pitchFamily="2" charset="-122"/>
              </a:defRPr>
            </a:lvl6pPr>
            <a:lvl7pPr marL="914400" algn="r" rtl="0" fontAlgn="base">
              <a:spcBef>
                <a:spcPct val="0"/>
              </a:spcBef>
              <a:spcAft>
                <a:spcPct val="0"/>
              </a:spcAft>
              <a:defRPr sz="3600" b="1">
                <a:solidFill>
                  <a:srgbClr val="CC3300"/>
                </a:solidFill>
                <a:latin typeface="Arial" charset="0"/>
                <a:ea typeface="黑体" pitchFamily="2" charset="-122"/>
              </a:defRPr>
            </a:lvl7pPr>
            <a:lvl8pPr marL="1371600" algn="r" rtl="0" fontAlgn="base">
              <a:spcBef>
                <a:spcPct val="0"/>
              </a:spcBef>
              <a:spcAft>
                <a:spcPct val="0"/>
              </a:spcAft>
              <a:defRPr sz="3600" b="1">
                <a:solidFill>
                  <a:srgbClr val="CC3300"/>
                </a:solidFill>
                <a:latin typeface="Arial" charset="0"/>
                <a:ea typeface="黑体" pitchFamily="2" charset="-122"/>
              </a:defRPr>
            </a:lvl8pPr>
            <a:lvl9pPr marL="1828800" algn="r" rtl="0" fontAlgn="base">
              <a:spcBef>
                <a:spcPct val="0"/>
              </a:spcBef>
              <a:spcAft>
                <a:spcPct val="0"/>
              </a:spcAft>
              <a:defRPr sz="3600" b="1">
                <a:solidFill>
                  <a:srgbClr val="CC3300"/>
                </a:solidFill>
                <a:latin typeface="Arial" charset="0"/>
                <a:ea typeface="黑体" pitchFamily="2" charset="-122"/>
              </a:defRPr>
            </a:lvl9pPr>
          </a:lstStyle>
          <a:p>
            <a:pPr algn="l">
              <a:defRPr/>
            </a:pPr>
            <a:r>
              <a:rPr lang="zh-CN" altLang="en-US" sz="2800" kern="0" dirty="0">
                <a:solidFill>
                  <a:schemeClr val="bg1"/>
                </a:solidFill>
                <a:latin typeface="华文新魏" panose="02010800040101010101" pitchFamily="2" charset="-122"/>
                <a:ea typeface="华文新魏" panose="02010800040101010101" pitchFamily="2" charset="-122"/>
              </a:rPr>
              <a:t>数制和信息编码</a:t>
            </a:r>
          </a:p>
        </p:txBody>
      </p:sp>
    </p:spTree>
    <p:extLst>
      <p:ext uri="{BB962C8B-B14F-4D97-AF65-F5344CB8AC3E}">
        <p14:creationId xmlns:p14="http://schemas.microsoft.com/office/powerpoint/2010/main" val="15385135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485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334863"/>
                                        </p:tgtEl>
                                        <p:attrNameLst>
                                          <p:attrName>style.visibility</p:attrName>
                                        </p:attrNameLst>
                                      </p:cBhvr>
                                      <p:to>
                                        <p:strVal val="visible"/>
                                      </p:to>
                                    </p:set>
                                    <p:animEffect transition="in" filter="box(in)">
                                      <p:cBhvr>
                                        <p:cTn id="11" dur="500"/>
                                        <p:tgtEl>
                                          <p:spTgt spid="33486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334864"/>
                                        </p:tgtEl>
                                        <p:attrNameLst>
                                          <p:attrName>style.visibility</p:attrName>
                                        </p:attrNameLst>
                                      </p:cBhvr>
                                      <p:to>
                                        <p:strVal val="visible"/>
                                      </p:to>
                                    </p:set>
                                    <p:animEffect transition="in" filter="box(in)">
                                      <p:cBhvr>
                                        <p:cTn id="16" dur="500"/>
                                        <p:tgtEl>
                                          <p:spTgt spid="33486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8" presetClass="entr" presetSubtype="16" fill="hold" grpId="0" nodeType="clickEffect">
                                  <p:stCondLst>
                                    <p:cond delay="0"/>
                                  </p:stCondLst>
                                  <p:childTnLst>
                                    <p:set>
                                      <p:cBhvr>
                                        <p:cTn id="20" dur="1" fill="hold">
                                          <p:stCondLst>
                                            <p:cond delay="0"/>
                                          </p:stCondLst>
                                        </p:cTn>
                                        <p:tgtEl>
                                          <p:spTgt spid="334865"/>
                                        </p:tgtEl>
                                        <p:attrNameLst>
                                          <p:attrName>style.visibility</p:attrName>
                                        </p:attrNameLst>
                                      </p:cBhvr>
                                      <p:to>
                                        <p:strVal val="visible"/>
                                      </p:to>
                                    </p:set>
                                    <p:animEffect transition="in" filter="diamond(in)">
                                      <p:cBhvr>
                                        <p:cTn id="21" dur="2000"/>
                                        <p:tgtEl>
                                          <p:spTgt spid="3348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53" grpId="0"/>
      <p:bldP spid="334863" grpId="0"/>
      <p:bldP spid="334864" grpId="0"/>
      <p:bldP spid="33486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内容占位符 2"/>
          <p:cNvSpPr>
            <a:spLocks noGrp="1"/>
          </p:cNvSpPr>
          <p:nvPr>
            <p:ph idx="4294967295"/>
          </p:nvPr>
        </p:nvSpPr>
        <p:spPr>
          <a:xfrm>
            <a:off x="304800" y="1371600"/>
            <a:ext cx="8304213" cy="5145088"/>
          </a:xfrm>
        </p:spPr>
        <p:txBody>
          <a:bodyPr/>
          <a:lstStyle/>
          <a:p>
            <a:pPr>
              <a:buFont typeface="Wingdings" pitchFamily="2" charset="2"/>
              <a:buChar char="Ø"/>
            </a:pPr>
            <a:r>
              <a:rPr lang="zh-CN" altLang="en-US" dirty="0"/>
              <a:t>基数：</a:t>
            </a:r>
            <a:r>
              <a:rPr kumimoji="1" lang="zh-CN" altLang="en-US" dirty="0"/>
              <a:t>数制中所含数字符号的个数。</a:t>
            </a:r>
            <a:endParaRPr kumimoji="1" lang="en-US" altLang="zh-CN" dirty="0"/>
          </a:p>
          <a:p>
            <a:pPr>
              <a:buFont typeface="Wingdings" pitchFamily="2" charset="2"/>
              <a:buChar char="Ø"/>
            </a:pPr>
            <a:r>
              <a:rPr kumimoji="1" lang="zh-CN" altLang="en-US" dirty="0"/>
              <a:t>权：数制中每一个固定位置对应的单位值。</a:t>
            </a:r>
          </a:p>
          <a:p>
            <a:pPr>
              <a:buFont typeface="Wingdings" pitchFamily="2" charset="2"/>
              <a:buChar char="Ø"/>
            </a:pPr>
            <a:r>
              <a:rPr kumimoji="1" lang="zh-CN" altLang="en-US" dirty="0"/>
              <a:t>常用数制：二、八、十、十六进制。</a:t>
            </a:r>
            <a:endParaRPr lang="zh-CN" altLang="en-US" dirty="0"/>
          </a:p>
          <a:p>
            <a:pPr>
              <a:buFont typeface="Wingdings" pitchFamily="2" charset="2"/>
              <a:buChar char="Ø"/>
            </a:pPr>
            <a:r>
              <a:rPr lang="zh-CN" altLang="en-US" dirty="0">
                <a:solidFill>
                  <a:srgbClr val="FF0000"/>
                </a:solidFill>
              </a:rPr>
              <a:t>不同数制之间的转换</a:t>
            </a:r>
          </a:p>
          <a:p>
            <a:pPr lvl="1">
              <a:buFont typeface="Wingdings" pitchFamily="2" charset="2"/>
              <a:buChar char="Ø"/>
            </a:pPr>
            <a:r>
              <a:rPr lang="en-US" altLang="zh-CN" sz="3200" dirty="0"/>
              <a:t>R</a:t>
            </a:r>
            <a:r>
              <a:rPr lang="zh-CN" altLang="en-US" sz="3200" dirty="0"/>
              <a:t>进制→十进制：按权展开。</a:t>
            </a:r>
            <a:endParaRPr lang="en-US" altLang="zh-CN" sz="3200" dirty="0"/>
          </a:p>
          <a:p>
            <a:pPr lvl="1">
              <a:buFont typeface="Wingdings" pitchFamily="2" charset="2"/>
              <a:buChar char="Ø"/>
            </a:pPr>
            <a:r>
              <a:rPr lang="zh-CN" altLang="en-US" sz="3200" dirty="0"/>
              <a:t>十进制→</a:t>
            </a:r>
            <a:r>
              <a:rPr lang="en-US" altLang="zh-CN" sz="3200" dirty="0"/>
              <a:t>R</a:t>
            </a:r>
            <a:r>
              <a:rPr lang="zh-CN" altLang="en-US" sz="3200" dirty="0"/>
              <a:t>进制：注意整数与小数转换的区别（除基取余法，乘基取整法）</a:t>
            </a:r>
          </a:p>
          <a:p>
            <a:pPr lvl="1">
              <a:buFont typeface="Wingdings" pitchFamily="2" charset="2"/>
              <a:buChar char="Ø"/>
            </a:pPr>
            <a:r>
              <a:rPr lang="zh-CN" altLang="en-US" sz="3200" dirty="0"/>
              <a:t>二、八、十六进制之间转换：注意自小数点开始分别向左或向右划分（</a:t>
            </a:r>
            <a:r>
              <a:rPr lang="en-US" altLang="zh-CN" sz="3200" dirty="0"/>
              <a:t>3</a:t>
            </a:r>
            <a:r>
              <a:rPr lang="zh-CN" altLang="en-US" sz="3200" dirty="0"/>
              <a:t>位一组或</a:t>
            </a:r>
            <a:r>
              <a:rPr lang="en-US" altLang="zh-CN" sz="3200" dirty="0"/>
              <a:t>4</a:t>
            </a:r>
            <a:r>
              <a:rPr lang="zh-CN" altLang="en-US" sz="3200" dirty="0"/>
              <a:t>位一组）</a:t>
            </a:r>
          </a:p>
        </p:txBody>
      </p:sp>
      <p:sp>
        <p:nvSpPr>
          <p:cNvPr id="4" name="标题 1"/>
          <p:cNvSpPr txBox="1">
            <a:spLocks/>
          </p:cNvSpPr>
          <p:nvPr/>
        </p:nvSpPr>
        <p:spPr bwMode="auto">
          <a:xfrm>
            <a:off x="10886" y="457200"/>
            <a:ext cx="590550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rtl="0" eaLnBrk="0" fontAlgn="base" hangingPunct="0">
              <a:spcBef>
                <a:spcPct val="0"/>
              </a:spcBef>
              <a:spcAft>
                <a:spcPct val="0"/>
              </a:spcAft>
              <a:defRPr sz="3600" b="1">
                <a:solidFill>
                  <a:srgbClr val="CC3300"/>
                </a:solidFill>
                <a:latin typeface="+mj-lt"/>
                <a:ea typeface="+mj-ea"/>
                <a:cs typeface="+mj-cs"/>
              </a:defRPr>
            </a:lvl1pPr>
            <a:lvl2pPr algn="r" rtl="0" eaLnBrk="0" fontAlgn="base" hangingPunct="0">
              <a:spcBef>
                <a:spcPct val="0"/>
              </a:spcBef>
              <a:spcAft>
                <a:spcPct val="0"/>
              </a:spcAft>
              <a:defRPr sz="3600" b="1">
                <a:solidFill>
                  <a:srgbClr val="CC3300"/>
                </a:solidFill>
                <a:latin typeface="Arial" charset="0"/>
                <a:ea typeface="黑体" pitchFamily="2" charset="-122"/>
              </a:defRPr>
            </a:lvl2pPr>
            <a:lvl3pPr algn="r" rtl="0" eaLnBrk="0" fontAlgn="base" hangingPunct="0">
              <a:spcBef>
                <a:spcPct val="0"/>
              </a:spcBef>
              <a:spcAft>
                <a:spcPct val="0"/>
              </a:spcAft>
              <a:defRPr sz="3600" b="1">
                <a:solidFill>
                  <a:srgbClr val="CC3300"/>
                </a:solidFill>
                <a:latin typeface="Arial" charset="0"/>
                <a:ea typeface="黑体" pitchFamily="2" charset="-122"/>
              </a:defRPr>
            </a:lvl3pPr>
            <a:lvl4pPr algn="r" rtl="0" eaLnBrk="0" fontAlgn="base" hangingPunct="0">
              <a:spcBef>
                <a:spcPct val="0"/>
              </a:spcBef>
              <a:spcAft>
                <a:spcPct val="0"/>
              </a:spcAft>
              <a:defRPr sz="3600" b="1">
                <a:solidFill>
                  <a:srgbClr val="CC3300"/>
                </a:solidFill>
                <a:latin typeface="Arial" charset="0"/>
                <a:ea typeface="黑体" pitchFamily="2" charset="-122"/>
              </a:defRPr>
            </a:lvl4pPr>
            <a:lvl5pPr algn="r" rtl="0" eaLnBrk="0" fontAlgn="base" hangingPunct="0">
              <a:spcBef>
                <a:spcPct val="0"/>
              </a:spcBef>
              <a:spcAft>
                <a:spcPct val="0"/>
              </a:spcAft>
              <a:defRPr sz="3600" b="1">
                <a:solidFill>
                  <a:srgbClr val="CC3300"/>
                </a:solidFill>
                <a:latin typeface="Arial" charset="0"/>
                <a:ea typeface="黑体" pitchFamily="2" charset="-122"/>
              </a:defRPr>
            </a:lvl5pPr>
            <a:lvl6pPr marL="457200" algn="r" rtl="0" fontAlgn="base">
              <a:spcBef>
                <a:spcPct val="0"/>
              </a:spcBef>
              <a:spcAft>
                <a:spcPct val="0"/>
              </a:spcAft>
              <a:defRPr sz="3600" b="1">
                <a:solidFill>
                  <a:srgbClr val="CC3300"/>
                </a:solidFill>
                <a:latin typeface="Arial" charset="0"/>
                <a:ea typeface="黑体" pitchFamily="2" charset="-122"/>
              </a:defRPr>
            </a:lvl6pPr>
            <a:lvl7pPr marL="914400" algn="r" rtl="0" fontAlgn="base">
              <a:spcBef>
                <a:spcPct val="0"/>
              </a:spcBef>
              <a:spcAft>
                <a:spcPct val="0"/>
              </a:spcAft>
              <a:defRPr sz="3600" b="1">
                <a:solidFill>
                  <a:srgbClr val="CC3300"/>
                </a:solidFill>
                <a:latin typeface="Arial" charset="0"/>
                <a:ea typeface="黑体" pitchFamily="2" charset="-122"/>
              </a:defRPr>
            </a:lvl7pPr>
            <a:lvl8pPr marL="1371600" algn="r" rtl="0" fontAlgn="base">
              <a:spcBef>
                <a:spcPct val="0"/>
              </a:spcBef>
              <a:spcAft>
                <a:spcPct val="0"/>
              </a:spcAft>
              <a:defRPr sz="3600" b="1">
                <a:solidFill>
                  <a:srgbClr val="CC3300"/>
                </a:solidFill>
                <a:latin typeface="Arial" charset="0"/>
                <a:ea typeface="黑体" pitchFamily="2" charset="-122"/>
              </a:defRPr>
            </a:lvl8pPr>
            <a:lvl9pPr marL="1828800" algn="r" rtl="0" fontAlgn="base">
              <a:spcBef>
                <a:spcPct val="0"/>
              </a:spcBef>
              <a:spcAft>
                <a:spcPct val="0"/>
              </a:spcAft>
              <a:defRPr sz="3600" b="1">
                <a:solidFill>
                  <a:srgbClr val="CC3300"/>
                </a:solidFill>
                <a:latin typeface="Arial" charset="0"/>
                <a:ea typeface="黑体" pitchFamily="2" charset="-122"/>
              </a:defRPr>
            </a:lvl9pPr>
          </a:lstStyle>
          <a:p>
            <a:pPr algn="l">
              <a:defRPr/>
            </a:pPr>
            <a:r>
              <a:rPr lang="zh-CN" altLang="en-US" sz="2800" kern="0" dirty="0">
                <a:solidFill>
                  <a:schemeClr val="bg1"/>
                </a:solidFill>
                <a:latin typeface="华文新魏" panose="02010800040101010101" pitchFamily="2" charset="-122"/>
                <a:ea typeface="华文新魏" panose="02010800040101010101" pitchFamily="2" charset="-122"/>
              </a:rPr>
              <a:t>数制和信息编码</a:t>
            </a:r>
          </a:p>
        </p:txBody>
      </p:sp>
    </p:spTree>
    <p:extLst>
      <p:ext uri="{BB962C8B-B14F-4D97-AF65-F5344CB8AC3E}">
        <p14:creationId xmlns:p14="http://schemas.microsoft.com/office/powerpoint/2010/main" val="848166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内容占位符 2"/>
          <p:cNvSpPr>
            <a:spLocks noGrp="1"/>
          </p:cNvSpPr>
          <p:nvPr>
            <p:ph idx="4294967295"/>
          </p:nvPr>
        </p:nvSpPr>
        <p:spPr/>
        <p:txBody>
          <a:bodyPr/>
          <a:lstStyle/>
          <a:p>
            <a:pPr>
              <a:buFont typeface="Wingdings" pitchFamily="2" charset="2"/>
              <a:buChar char="Ø"/>
            </a:pPr>
            <a:r>
              <a:rPr lang="zh-CN" altLang="en-US"/>
              <a:t>无符号数和带符号数的区别</a:t>
            </a:r>
            <a:r>
              <a:rPr kumimoji="1" lang="zh-CN" altLang="en-US"/>
              <a:t>。</a:t>
            </a:r>
            <a:endParaRPr kumimoji="1" lang="en-US" altLang="zh-CN"/>
          </a:p>
          <a:p>
            <a:pPr lvl="1">
              <a:buFont typeface="Wingdings" pitchFamily="2" charset="2"/>
              <a:buChar char="Ø"/>
            </a:pPr>
            <a:r>
              <a:rPr kumimoji="1" lang="zh-CN" altLang="en-US"/>
              <a:t>无符号数的所有位均用来表示数值。</a:t>
            </a:r>
          </a:p>
          <a:p>
            <a:pPr lvl="1">
              <a:buFont typeface="Wingdings" pitchFamily="2" charset="2"/>
              <a:buChar char="Ø"/>
            </a:pPr>
            <a:r>
              <a:rPr kumimoji="1" lang="zh-CN" altLang="en-US"/>
              <a:t>带符号数最高位为符号位，</a:t>
            </a:r>
            <a:r>
              <a:rPr kumimoji="1" lang="en-US" altLang="zh-CN"/>
              <a:t>0</a:t>
            </a:r>
            <a:r>
              <a:rPr kumimoji="1" lang="zh-CN" altLang="en-US"/>
              <a:t>表示正数，</a:t>
            </a:r>
            <a:r>
              <a:rPr kumimoji="1" lang="en-US" altLang="zh-CN"/>
              <a:t>1</a:t>
            </a:r>
            <a:r>
              <a:rPr kumimoji="1" lang="zh-CN" altLang="en-US"/>
              <a:t>表示负数。</a:t>
            </a:r>
          </a:p>
          <a:p>
            <a:pPr>
              <a:buFont typeface="Wingdings" pitchFamily="2" charset="2"/>
              <a:buChar char="Ø"/>
            </a:pPr>
            <a:r>
              <a:rPr kumimoji="1" lang="zh-CN" altLang="en-US"/>
              <a:t>带符号数：原码、补码。</a:t>
            </a:r>
            <a:endParaRPr lang="zh-CN" altLang="en-US"/>
          </a:p>
          <a:p>
            <a:pPr lvl="1">
              <a:buFont typeface="Wingdings" pitchFamily="2" charset="2"/>
              <a:buChar char="Ø"/>
            </a:pPr>
            <a:r>
              <a:rPr lang="zh-CN" altLang="en-US" sz="3200">
                <a:solidFill>
                  <a:srgbClr val="FF0000"/>
                </a:solidFill>
              </a:rPr>
              <a:t>真值用原码、补码表示：注意正数和负数的区别。</a:t>
            </a:r>
          </a:p>
          <a:p>
            <a:pPr lvl="1">
              <a:buFont typeface="Wingdings" pitchFamily="2" charset="2"/>
              <a:buChar char="Ø"/>
            </a:pPr>
            <a:r>
              <a:rPr lang="zh-CN" altLang="en-US" sz="3200"/>
              <a:t>原码和补码表示范围不同。</a:t>
            </a:r>
          </a:p>
          <a:p>
            <a:pPr lvl="1">
              <a:buFont typeface="Wingdings" pitchFamily="2" charset="2"/>
              <a:buChar char="Ø"/>
            </a:pPr>
            <a:r>
              <a:rPr lang="en-US" altLang="zh-CN" sz="3200"/>
              <a:t>0</a:t>
            </a:r>
            <a:r>
              <a:rPr lang="zh-CN" altLang="en-US" sz="3200"/>
              <a:t>的表示形式。</a:t>
            </a:r>
          </a:p>
        </p:txBody>
      </p:sp>
      <p:sp>
        <p:nvSpPr>
          <p:cNvPr id="4" name="标题 1"/>
          <p:cNvSpPr txBox="1">
            <a:spLocks/>
          </p:cNvSpPr>
          <p:nvPr/>
        </p:nvSpPr>
        <p:spPr bwMode="auto">
          <a:xfrm>
            <a:off x="10886" y="457200"/>
            <a:ext cx="590550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rtl="0" eaLnBrk="0" fontAlgn="base" hangingPunct="0">
              <a:spcBef>
                <a:spcPct val="0"/>
              </a:spcBef>
              <a:spcAft>
                <a:spcPct val="0"/>
              </a:spcAft>
              <a:defRPr sz="3600" b="1">
                <a:solidFill>
                  <a:srgbClr val="CC3300"/>
                </a:solidFill>
                <a:latin typeface="+mj-lt"/>
                <a:ea typeface="+mj-ea"/>
                <a:cs typeface="+mj-cs"/>
              </a:defRPr>
            </a:lvl1pPr>
            <a:lvl2pPr algn="r" rtl="0" eaLnBrk="0" fontAlgn="base" hangingPunct="0">
              <a:spcBef>
                <a:spcPct val="0"/>
              </a:spcBef>
              <a:spcAft>
                <a:spcPct val="0"/>
              </a:spcAft>
              <a:defRPr sz="3600" b="1">
                <a:solidFill>
                  <a:srgbClr val="CC3300"/>
                </a:solidFill>
                <a:latin typeface="Arial" charset="0"/>
                <a:ea typeface="黑体" pitchFamily="2" charset="-122"/>
              </a:defRPr>
            </a:lvl2pPr>
            <a:lvl3pPr algn="r" rtl="0" eaLnBrk="0" fontAlgn="base" hangingPunct="0">
              <a:spcBef>
                <a:spcPct val="0"/>
              </a:spcBef>
              <a:spcAft>
                <a:spcPct val="0"/>
              </a:spcAft>
              <a:defRPr sz="3600" b="1">
                <a:solidFill>
                  <a:srgbClr val="CC3300"/>
                </a:solidFill>
                <a:latin typeface="Arial" charset="0"/>
                <a:ea typeface="黑体" pitchFamily="2" charset="-122"/>
              </a:defRPr>
            </a:lvl3pPr>
            <a:lvl4pPr algn="r" rtl="0" eaLnBrk="0" fontAlgn="base" hangingPunct="0">
              <a:spcBef>
                <a:spcPct val="0"/>
              </a:spcBef>
              <a:spcAft>
                <a:spcPct val="0"/>
              </a:spcAft>
              <a:defRPr sz="3600" b="1">
                <a:solidFill>
                  <a:srgbClr val="CC3300"/>
                </a:solidFill>
                <a:latin typeface="Arial" charset="0"/>
                <a:ea typeface="黑体" pitchFamily="2" charset="-122"/>
              </a:defRPr>
            </a:lvl4pPr>
            <a:lvl5pPr algn="r" rtl="0" eaLnBrk="0" fontAlgn="base" hangingPunct="0">
              <a:spcBef>
                <a:spcPct val="0"/>
              </a:spcBef>
              <a:spcAft>
                <a:spcPct val="0"/>
              </a:spcAft>
              <a:defRPr sz="3600" b="1">
                <a:solidFill>
                  <a:srgbClr val="CC3300"/>
                </a:solidFill>
                <a:latin typeface="Arial" charset="0"/>
                <a:ea typeface="黑体" pitchFamily="2" charset="-122"/>
              </a:defRPr>
            </a:lvl5pPr>
            <a:lvl6pPr marL="457200" algn="r" rtl="0" fontAlgn="base">
              <a:spcBef>
                <a:spcPct val="0"/>
              </a:spcBef>
              <a:spcAft>
                <a:spcPct val="0"/>
              </a:spcAft>
              <a:defRPr sz="3600" b="1">
                <a:solidFill>
                  <a:srgbClr val="CC3300"/>
                </a:solidFill>
                <a:latin typeface="Arial" charset="0"/>
                <a:ea typeface="黑体" pitchFamily="2" charset="-122"/>
              </a:defRPr>
            </a:lvl6pPr>
            <a:lvl7pPr marL="914400" algn="r" rtl="0" fontAlgn="base">
              <a:spcBef>
                <a:spcPct val="0"/>
              </a:spcBef>
              <a:spcAft>
                <a:spcPct val="0"/>
              </a:spcAft>
              <a:defRPr sz="3600" b="1">
                <a:solidFill>
                  <a:srgbClr val="CC3300"/>
                </a:solidFill>
                <a:latin typeface="Arial" charset="0"/>
                <a:ea typeface="黑体" pitchFamily="2" charset="-122"/>
              </a:defRPr>
            </a:lvl7pPr>
            <a:lvl8pPr marL="1371600" algn="r" rtl="0" fontAlgn="base">
              <a:spcBef>
                <a:spcPct val="0"/>
              </a:spcBef>
              <a:spcAft>
                <a:spcPct val="0"/>
              </a:spcAft>
              <a:defRPr sz="3600" b="1">
                <a:solidFill>
                  <a:srgbClr val="CC3300"/>
                </a:solidFill>
                <a:latin typeface="Arial" charset="0"/>
                <a:ea typeface="黑体" pitchFamily="2" charset="-122"/>
              </a:defRPr>
            </a:lvl8pPr>
            <a:lvl9pPr marL="1828800" algn="r" rtl="0" fontAlgn="base">
              <a:spcBef>
                <a:spcPct val="0"/>
              </a:spcBef>
              <a:spcAft>
                <a:spcPct val="0"/>
              </a:spcAft>
              <a:defRPr sz="3600" b="1">
                <a:solidFill>
                  <a:srgbClr val="CC3300"/>
                </a:solidFill>
                <a:latin typeface="Arial" charset="0"/>
                <a:ea typeface="黑体" pitchFamily="2" charset="-122"/>
              </a:defRPr>
            </a:lvl9pPr>
          </a:lstStyle>
          <a:p>
            <a:pPr algn="l">
              <a:defRPr/>
            </a:pPr>
            <a:r>
              <a:rPr lang="zh-CN" altLang="en-US" sz="2800" kern="0" dirty="0">
                <a:solidFill>
                  <a:schemeClr val="bg1"/>
                </a:solidFill>
                <a:latin typeface="华文新魏" panose="02010800040101010101" pitchFamily="2" charset="-122"/>
                <a:ea typeface="华文新魏" panose="02010800040101010101" pitchFamily="2" charset="-122"/>
              </a:rPr>
              <a:t>数制和信息编码</a:t>
            </a:r>
          </a:p>
        </p:txBody>
      </p:sp>
    </p:spTree>
    <p:extLst>
      <p:ext uri="{BB962C8B-B14F-4D97-AF65-F5344CB8AC3E}">
        <p14:creationId xmlns:p14="http://schemas.microsoft.com/office/powerpoint/2010/main" val="1929148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2"/>
          <p:cNvSpPr>
            <a:spLocks noGrp="1"/>
          </p:cNvSpPr>
          <p:nvPr>
            <p:ph idx="4294967295"/>
          </p:nvPr>
        </p:nvSpPr>
        <p:spPr>
          <a:xfrm>
            <a:off x="457200" y="1530350"/>
            <a:ext cx="8147050" cy="5327650"/>
          </a:xfrm>
        </p:spPr>
        <p:txBody>
          <a:bodyPr/>
          <a:lstStyle/>
          <a:p>
            <a:pPr>
              <a:buFont typeface="Wingdings" pitchFamily="2" charset="2"/>
              <a:buNone/>
            </a:pPr>
            <a:r>
              <a:rPr lang="zh-CN" altLang="en-US" sz="2800" dirty="0"/>
              <a:t>无符号数与带符号数（</a:t>
            </a:r>
            <a:r>
              <a:rPr lang="zh-CN" altLang="en-US" sz="2800" dirty="0">
                <a:solidFill>
                  <a:srgbClr val="FF0000"/>
                </a:solidFill>
              </a:rPr>
              <a:t>原码、补码</a:t>
            </a:r>
            <a:r>
              <a:rPr lang="zh-CN" altLang="en-US" sz="2800" dirty="0"/>
              <a:t>、反码）</a:t>
            </a:r>
          </a:p>
          <a:p>
            <a:pPr>
              <a:buFont typeface="Wingdings" pitchFamily="2" charset="2"/>
              <a:buChar char="Ø"/>
            </a:pPr>
            <a:r>
              <a:rPr lang="zh-CN" altLang="en-US" sz="2800" dirty="0"/>
              <a:t>相同位数（如</a:t>
            </a:r>
            <a:r>
              <a:rPr lang="en-US" altLang="zh-CN" sz="2800" dirty="0"/>
              <a:t>8</a:t>
            </a:r>
            <a:r>
              <a:rPr lang="zh-CN" altLang="en-US" sz="2800" dirty="0"/>
              <a:t>位二进制）原码和补码表示范围不同。</a:t>
            </a:r>
          </a:p>
          <a:p>
            <a:pPr lvl="1">
              <a:buFont typeface="Wingdings" pitchFamily="2" charset="2"/>
              <a:buChar char="Ø"/>
            </a:pPr>
            <a:r>
              <a:rPr lang="zh-CN" altLang="en-US" sz="2400" dirty="0"/>
              <a:t>原码表示范围</a:t>
            </a:r>
            <a:r>
              <a:rPr lang="en-US" altLang="zh-CN" sz="2400" dirty="0"/>
              <a:t>-127~127</a:t>
            </a:r>
            <a:r>
              <a:rPr lang="zh-CN" altLang="en-US" sz="2400" dirty="0"/>
              <a:t>，</a:t>
            </a:r>
          </a:p>
          <a:p>
            <a:pPr lvl="1">
              <a:buFont typeface="Wingdings" pitchFamily="2" charset="2"/>
              <a:buChar char="Ø"/>
            </a:pPr>
            <a:r>
              <a:rPr lang="zh-CN" altLang="en-US" sz="2400" dirty="0"/>
              <a:t>补码表示范围</a:t>
            </a:r>
            <a:r>
              <a:rPr lang="en-US" altLang="zh-CN" sz="2400" dirty="0">
                <a:solidFill>
                  <a:srgbClr val="FF0000"/>
                </a:solidFill>
              </a:rPr>
              <a:t>-128</a:t>
            </a:r>
            <a:r>
              <a:rPr lang="en-US" altLang="zh-CN" sz="2400" dirty="0"/>
              <a:t>~127</a:t>
            </a:r>
            <a:r>
              <a:rPr lang="zh-CN" altLang="en-US" sz="2400" dirty="0"/>
              <a:t>。</a:t>
            </a:r>
          </a:p>
          <a:p>
            <a:pPr>
              <a:buFont typeface="Wingdings" pitchFamily="2" charset="2"/>
              <a:buChar char="Ø"/>
            </a:pPr>
            <a:r>
              <a:rPr lang="zh-CN" altLang="en-US" sz="2800" dirty="0"/>
              <a:t>原码有两种</a:t>
            </a:r>
            <a:r>
              <a:rPr lang="en-US" altLang="zh-CN" sz="2800" dirty="0"/>
              <a:t>0</a:t>
            </a:r>
            <a:r>
              <a:rPr lang="zh-CN" altLang="en-US" sz="2800" dirty="0"/>
              <a:t>的表示形式，</a:t>
            </a:r>
            <a:r>
              <a:rPr lang="en-US" altLang="zh-CN" sz="2800" dirty="0"/>
              <a:t>+0</a:t>
            </a:r>
            <a:r>
              <a:rPr lang="zh-CN" altLang="en-US" sz="2800" dirty="0"/>
              <a:t>表示为</a:t>
            </a:r>
            <a:r>
              <a:rPr lang="en-US" altLang="zh-CN" sz="2800" dirty="0"/>
              <a:t>00000000</a:t>
            </a:r>
            <a:r>
              <a:rPr lang="zh-CN" altLang="en-US" sz="2800" dirty="0"/>
              <a:t>，</a:t>
            </a:r>
            <a:r>
              <a:rPr lang="en-US" altLang="zh-CN" sz="2800" dirty="0"/>
              <a:t>-0</a:t>
            </a:r>
            <a:r>
              <a:rPr lang="zh-CN" altLang="en-US" sz="2800" dirty="0"/>
              <a:t>表示为</a:t>
            </a:r>
            <a:r>
              <a:rPr lang="en-US" altLang="zh-CN" sz="2800" dirty="0"/>
              <a:t>10000000</a:t>
            </a:r>
          </a:p>
          <a:p>
            <a:pPr>
              <a:buFont typeface="Wingdings" pitchFamily="2" charset="2"/>
              <a:buChar char="Ø"/>
            </a:pPr>
            <a:r>
              <a:rPr lang="zh-CN" altLang="en-US" sz="2800" dirty="0"/>
              <a:t>补码只有唯一一种</a:t>
            </a:r>
            <a:r>
              <a:rPr lang="en-US" altLang="zh-CN" sz="2800" dirty="0"/>
              <a:t>0</a:t>
            </a:r>
            <a:r>
              <a:rPr lang="zh-CN" altLang="en-US" sz="2800" dirty="0"/>
              <a:t>的表示形式，</a:t>
            </a:r>
            <a:r>
              <a:rPr lang="en-US" altLang="zh-CN" sz="2800" dirty="0"/>
              <a:t>00000000</a:t>
            </a:r>
          </a:p>
          <a:p>
            <a:pPr lvl="1">
              <a:buFont typeface="Wingdings" pitchFamily="2" charset="2"/>
              <a:buChar char="Ø"/>
            </a:pPr>
            <a:r>
              <a:rPr lang="zh-CN" altLang="en-US" sz="2400" dirty="0"/>
              <a:t>如二进制代码</a:t>
            </a:r>
            <a:r>
              <a:rPr lang="en-US" altLang="zh-CN" sz="2400" dirty="0"/>
              <a:t>10000000</a:t>
            </a:r>
            <a:r>
              <a:rPr lang="zh-CN" altLang="en-US" sz="2400" dirty="0"/>
              <a:t>，原码时表示</a:t>
            </a:r>
            <a:r>
              <a:rPr lang="en-US" altLang="zh-CN" sz="2400" dirty="0"/>
              <a:t>-0</a:t>
            </a:r>
            <a:r>
              <a:rPr lang="zh-CN" altLang="en-US" sz="2400" dirty="0"/>
              <a:t>，补码时表示</a:t>
            </a:r>
            <a:r>
              <a:rPr lang="en-US" altLang="zh-CN" sz="2400" dirty="0"/>
              <a:t>-128</a:t>
            </a:r>
            <a:r>
              <a:rPr lang="zh-CN" altLang="en-US" sz="2400" dirty="0"/>
              <a:t>，反码时表示</a:t>
            </a:r>
            <a:r>
              <a:rPr lang="en-US" altLang="zh-CN" sz="2400" dirty="0"/>
              <a:t>-127</a:t>
            </a:r>
            <a:r>
              <a:rPr lang="zh-CN" altLang="en-US" sz="2400" dirty="0"/>
              <a:t>。</a:t>
            </a:r>
          </a:p>
          <a:p>
            <a:pPr>
              <a:buFont typeface="Wingdings" pitchFamily="2" charset="2"/>
              <a:buChar char="Ø"/>
            </a:pPr>
            <a:endParaRPr lang="en-US" altLang="zh-CN" sz="2800" dirty="0"/>
          </a:p>
        </p:txBody>
      </p:sp>
      <p:sp>
        <p:nvSpPr>
          <p:cNvPr id="4" name="标题 1"/>
          <p:cNvSpPr txBox="1">
            <a:spLocks/>
          </p:cNvSpPr>
          <p:nvPr/>
        </p:nvSpPr>
        <p:spPr bwMode="auto">
          <a:xfrm>
            <a:off x="10886" y="457200"/>
            <a:ext cx="590550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rtl="0" eaLnBrk="0" fontAlgn="base" hangingPunct="0">
              <a:spcBef>
                <a:spcPct val="0"/>
              </a:spcBef>
              <a:spcAft>
                <a:spcPct val="0"/>
              </a:spcAft>
              <a:defRPr sz="3600" b="1">
                <a:solidFill>
                  <a:srgbClr val="CC3300"/>
                </a:solidFill>
                <a:latin typeface="+mj-lt"/>
                <a:ea typeface="+mj-ea"/>
                <a:cs typeface="+mj-cs"/>
              </a:defRPr>
            </a:lvl1pPr>
            <a:lvl2pPr algn="r" rtl="0" eaLnBrk="0" fontAlgn="base" hangingPunct="0">
              <a:spcBef>
                <a:spcPct val="0"/>
              </a:spcBef>
              <a:spcAft>
                <a:spcPct val="0"/>
              </a:spcAft>
              <a:defRPr sz="3600" b="1">
                <a:solidFill>
                  <a:srgbClr val="CC3300"/>
                </a:solidFill>
                <a:latin typeface="Arial" charset="0"/>
                <a:ea typeface="黑体" pitchFamily="2" charset="-122"/>
              </a:defRPr>
            </a:lvl2pPr>
            <a:lvl3pPr algn="r" rtl="0" eaLnBrk="0" fontAlgn="base" hangingPunct="0">
              <a:spcBef>
                <a:spcPct val="0"/>
              </a:spcBef>
              <a:spcAft>
                <a:spcPct val="0"/>
              </a:spcAft>
              <a:defRPr sz="3600" b="1">
                <a:solidFill>
                  <a:srgbClr val="CC3300"/>
                </a:solidFill>
                <a:latin typeface="Arial" charset="0"/>
                <a:ea typeface="黑体" pitchFamily="2" charset="-122"/>
              </a:defRPr>
            </a:lvl3pPr>
            <a:lvl4pPr algn="r" rtl="0" eaLnBrk="0" fontAlgn="base" hangingPunct="0">
              <a:spcBef>
                <a:spcPct val="0"/>
              </a:spcBef>
              <a:spcAft>
                <a:spcPct val="0"/>
              </a:spcAft>
              <a:defRPr sz="3600" b="1">
                <a:solidFill>
                  <a:srgbClr val="CC3300"/>
                </a:solidFill>
                <a:latin typeface="Arial" charset="0"/>
                <a:ea typeface="黑体" pitchFamily="2" charset="-122"/>
              </a:defRPr>
            </a:lvl4pPr>
            <a:lvl5pPr algn="r" rtl="0" eaLnBrk="0" fontAlgn="base" hangingPunct="0">
              <a:spcBef>
                <a:spcPct val="0"/>
              </a:spcBef>
              <a:spcAft>
                <a:spcPct val="0"/>
              </a:spcAft>
              <a:defRPr sz="3600" b="1">
                <a:solidFill>
                  <a:srgbClr val="CC3300"/>
                </a:solidFill>
                <a:latin typeface="Arial" charset="0"/>
                <a:ea typeface="黑体" pitchFamily="2" charset="-122"/>
              </a:defRPr>
            </a:lvl5pPr>
            <a:lvl6pPr marL="457200" algn="r" rtl="0" fontAlgn="base">
              <a:spcBef>
                <a:spcPct val="0"/>
              </a:spcBef>
              <a:spcAft>
                <a:spcPct val="0"/>
              </a:spcAft>
              <a:defRPr sz="3600" b="1">
                <a:solidFill>
                  <a:srgbClr val="CC3300"/>
                </a:solidFill>
                <a:latin typeface="Arial" charset="0"/>
                <a:ea typeface="黑体" pitchFamily="2" charset="-122"/>
              </a:defRPr>
            </a:lvl6pPr>
            <a:lvl7pPr marL="914400" algn="r" rtl="0" fontAlgn="base">
              <a:spcBef>
                <a:spcPct val="0"/>
              </a:spcBef>
              <a:spcAft>
                <a:spcPct val="0"/>
              </a:spcAft>
              <a:defRPr sz="3600" b="1">
                <a:solidFill>
                  <a:srgbClr val="CC3300"/>
                </a:solidFill>
                <a:latin typeface="Arial" charset="0"/>
                <a:ea typeface="黑体" pitchFamily="2" charset="-122"/>
              </a:defRPr>
            </a:lvl7pPr>
            <a:lvl8pPr marL="1371600" algn="r" rtl="0" fontAlgn="base">
              <a:spcBef>
                <a:spcPct val="0"/>
              </a:spcBef>
              <a:spcAft>
                <a:spcPct val="0"/>
              </a:spcAft>
              <a:defRPr sz="3600" b="1">
                <a:solidFill>
                  <a:srgbClr val="CC3300"/>
                </a:solidFill>
                <a:latin typeface="Arial" charset="0"/>
                <a:ea typeface="黑体" pitchFamily="2" charset="-122"/>
              </a:defRPr>
            </a:lvl8pPr>
            <a:lvl9pPr marL="1828800" algn="r" rtl="0" fontAlgn="base">
              <a:spcBef>
                <a:spcPct val="0"/>
              </a:spcBef>
              <a:spcAft>
                <a:spcPct val="0"/>
              </a:spcAft>
              <a:defRPr sz="3600" b="1">
                <a:solidFill>
                  <a:srgbClr val="CC3300"/>
                </a:solidFill>
                <a:latin typeface="Arial" charset="0"/>
                <a:ea typeface="黑体" pitchFamily="2" charset="-122"/>
              </a:defRPr>
            </a:lvl9pPr>
          </a:lstStyle>
          <a:p>
            <a:pPr algn="l">
              <a:defRPr/>
            </a:pPr>
            <a:r>
              <a:rPr lang="zh-CN" altLang="en-US" sz="2800" kern="0" dirty="0">
                <a:solidFill>
                  <a:schemeClr val="bg1"/>
                </a:solidFill>
                <a:latin typeface="华文新魏" panose="02010800040101010101" pitchFamily="2" charset="-122"/>
                <a:ea typeface="华文新魏" panose="02010800040101010101" pitchFamily="2" charset="-122"/>
              </a:rPr>
              <a:t>数制和信息编码</a:t>
            </a:r>
          </a:p>
        </p:txBody>
      </p:sp>
    </p:spTree>
    <p:extLst>
      <p:ext uri="{BB962C8B-B14F-4D97-AF65-F5344CB8AC3E}">
        <p14:creationId xmlns:p14="http://schemas.microsoft.com/office/powerpoint/2010/main" val="78474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内容占位符 2"/>
          <p:cNvSpPr>
            <a:spLocks noGrp="1"/>
          </p:cNvSpPr>
          <p:nvPr>
            <p:ph idx="4294967295"/>
          </p:nvPr>
        </p:nvSpPr>
        <p:spPr>
          <a:xfrm>
            <a:off x="321468" y="1558925"/>
            <a:ext cx="8501063" cy="5299075"/>
          </a:xfrm>
        </p:spPr>
        <p:txBody>
          <a:bodyPr/>
          <a:lstStyle/>
          <a:p>
            <a:pPr>
              <a:buFont typeface="Wingdings" pitchFamily="2" charset="2"/>
              <a:buChar char="Ø"/>
              <a:defRPr/>
            </a:pPr>
            <a:r>
              <a:rPr lang="zh-CN" altLang="en-US" dirty="0"/>
              <a:t>在计算机中整型数用定点数表示，实型数用浮点数表示。</a:t>
            </a:r>
            <a:endParaRPr lang="en-US" altLang="zh-CN" dirty="0"/>
          </a:p>
          <a:p>
            <a:pPr>
              <a:buFont typeface="Wingdings" pitchFamily="2" charset="2"/>
              <a:buChar char="Ø"/>
              <a:defRPr/>
            </a:pPr>
            <a:r>
              <a:rPr lang="zh-CN" altLang="en-US" dirty="0">
                <a:latin typeface="Times New Roman" pitchFamily="18" charset="0"/>
              </a:rPr>
              <a:t> 假设定点数和浮点数的</a:t>
            </a:r>
            <a:r>
              <a:rPr lang="zh-CN" altLang="en-US" dirty="0">
                <a:solidFill>
                  <a:srgbClr val="FF0000"/>
                </a:solidFill>
                <a:latin typeface="Times New Roman" pitchFamily="18" charset="0"/>
              </a:rPr>
              <a:t>字长相同。浮点表示法所能表示的数值范围将远大于定点数</a:t>
            </a:r>
            <a:r>
              <a:rPr lang="zh-CN" altLang="en-US" dirty="0">
                <a:latin typeface="Times New Roman" pitchFamily="18" charset="0"/>
              </a:rPr>
              <a:t>。</a:t>
            </a:r>
            <a:endParaRPr lang="en-US" altLang="zh-CN" dirty="0">
              <a:latin typeface="Times New Roman" pitchFamily="18" charset="0"/>
            </a:endParaRPr>
          </a:p>
          <a:p>
            <a:pPr>
              <a:buFont typeface="Wingdings" pitchFamily="2" charset="2"/>
              <a:buChar char="Ø"/>
              <a:defRPr/>
            </a:pPr>
            <a:r>
              <a:rPr lang="en-US" altLang="zh-CN" dirty="0">
                <a:latin typeface="Times New Roman" pitchFamily="18" charset="0"/>
              </a:rPr>
              <a:t> </a:t>
            </a:r>
            <a:r>
              <a:rPr lang="zh-CN" altLang="en-US" dirty="0">
                <a:latin typeface="Times New Roman" pitchFamily="18" charset="0"/>
              </a:rPr>
              <a:t>浮点数阶码为定点整数，尾数为定点小数，阶码的位数确定表示范围，尾数的位数确定精度。</a:t>
            </a:r>
            <a:endParaRPr lang="en-US" altLang="zh-CN" dirty="0">
              <a:latin typeface="Times New Roman" pitchFamily="18" charset="0"/>
            </a:endParaRPr>
          </a:p>
          <a:p>
            <a:pPr lvl="1">
              <a:buFont typeface="Wingdings" pitchFamily="2" charset="2"/>
              <a:buChar char="Ø"/>
              <a:defRPr/>
            </a:pPr>
            <a:r>
              <a:rPr lang="zh-CN" altLang="en-US" sz="2400" dirty="0">
                <a:latin typeface="Times New Roman" pitchFamily="18" charset="0"/>
              </a:rPr>
              <a:t>以字长</a:t>
            </a:r>
            <a:r>
              <a:rPr lang="en-US" altLang="zh-CN" sz="2400" dirty="0">
                <a:latin typeface="Times New Roman" pitchFamily="18" charset="0"/>
              </a:rPr>
              <a:t>16</a:t>
            </a:r>
            <a:r>
              <a:rPr lang="zh-CN" altLang="en-US" sz="2400" dirty="0">
                <a:latin typeface="Times New Roman" pitchFamily="18" charset="0"/>
              </a:rPr>
              <a:t>位为例，定点整数</a:t>
            </a:r>
            <a:r>
              <a:rPr lang="en-US" altLang="zh-CN" sz="2400" dirty="0">
                <a:latin typeface="Times New Roman" pitchFamily="18" charset="0"/>
              </a:rPr>
              <a:t>(</a:t>
            </a:r>
            <a:r>
              <a:rPr lang="zh-CN" altLang="en-US" sz="2400" dirty="0">
                <a:latin typeface="Times New Roman" pitchFamily="18" charset="0"/>
              </a:rPr>
              <a:t>补码</a:t>
            </a:r>
            <a:r>
              <a:rPr lang="en-US" altLang="zh-CN" sz="2400" dirty="0">
                <a:latin typeface="Times New Roman" pitchFamily="18" charset="0"/>
              </a:rPr>
              <a:t>)</a:t>
            </a:r>
            <a:r>
              <a:rPr lang="zh-CN" altLang="en-US" sz="2400" dirty="0">
                <a:latin typeface="Times New Roman" pitchFamily="18" charset="0"/>
              </a:rPr>
              <a:t>为</a:t>
            </a:r>
            <a:r>
              <a:rPr lang="en-US" altLang="zh-CN" sz="2400" dirty="0">
                <a:latin typeface="Times New Roman" pitchFamily="18" charset="0"/>
              </a:rPr>
              <a:t>-32768~32767</a:t>
            </a:r>
            <a:r>
              <a:rPr lang="zh-CN" altLang="en-US" sz="2400" dirty="0">
                <a:latin typeface="Times New Roman" pitchFamily="18" charset="0"/>
              </a:rPr>
              <a:t>，</a:t>
            </a:r>
            <a:br>
              <a:rPr lang="en-US" altLang="zh-CN" sz="2400" dirty="0">
                <a:latin typeface="Times New Roman" pitchFamily="18" charset="0"/>
              </a:rPr>
            </a:br>
            <a:r>
              <a:rPr lang="zh-CN" altLang="en-US" sz="2400" dirty="0">
                <a:latin typeface="Times New Roman" pitchFamily="18" charset="0"/>
              </a:rPr>
              <a:t>即</a:t>
            </a:r>
            <a:r>
              <a:rPr lang="en-US" altLang="zh-CN" sz="2400" dirty="0">
                <a:latin typeface="Times New Roman" pitchFamily="18" charset="0"/>
              </a:rPr>
              <a:t>-2</a:t>
            </a:r>
            <a:r>
              <a:rPr lang="en-US" altLang="zh-CN" sz="2400" baseline="30000" dirty="0">
                <a:latin typeface="Times New Roman" pitchFamily="18" charset="0"/>
              </a:rPr>
              <a:t>15</a:t>
            </a:r>
            <a:r>
              <a:rPr lang="en-US" altLang="zh-CN" sz="2400" dirty="0">
                <a:latin typeface="Times New Roman" pitchFamily="18" charset="0"/>
              </a:rPr>
              <a:t>~2</a:t>
            </a:r>
            <a:r>
              <a:rPr lang="en-US" altLang="zh-CN" sz="2400" baseline="30000" dirty="0">
                <a:latin typeface="Times New Roman" pitchFamily="18" charset="0"/>
              </a:rPr>
              <a:t>15</a:t>
            </a:r>
            <a:r>
              <a:rPr lang="en-US" altLang="zh-CN" sz="2400" dirty="0">
                <a:latin typeface="Times New Roman" pitchFamily="18" charset="0"/>
              </a:rPr>
              <a:t>-1</a:t>
            </a:r>
            <a:r>
              <a:rPr lang="zh-CN" altLang="en-US" sz="2400" dirty="0">
                <a:latin typeface="Times New Roman" pitchFamily="18" charset="0"/>
              </a:rPr>
              <a:t>，浮点数</a:t>
            </a:r>
            <a:r>
              <a:rPr lang="en-US" altLang="zh-CN" sz="2400" dirty="0">
                <a:latin typeface="Times New Roman" pitchFamily="18" charset="0"/>
              </a:rPr>
              <a:t>(</a:t>
            </a:r>
            <a:r>
              <a:rPr lang="zh-CN" altLang="en-US" sz="2400" dirty="0">
                <a:latin typeface="Times New Roman" pitchFamily="18" charset="0"/>
              </a:rPr>
              <a:t>阶码部分</a:t>
            </a:r>
            <a:r>
              <a:rPr lang="en-US" altLang="zh-CN" sz="2400" dirty="0">
                <a:latin typeface="Times New Roman" pitchFamily="18" charset="0"/>
              </a:rPr>
              <a:t>6</a:t>
            </a:r>
            <a:r>
              <a:rPr lang="zh-CN" altLang="en-US" sz="2400" dirty="0">
                <a:latin typeface="Times New Roman" pitchFamily="18" charset="0"/>
              </a:rPr>
              <a:t>位，尾数部分</a:t>
            </a:r>
            <a:r>
              <a:rPr lang="en-US" altLang="zh-CN" sz="2400" dirty="0">
                <a:latin typeface="Times New Roman" pitchFamily="18" charset="0"/>
              </a:rPr>
              <a:t>10</a:t>
            </a:r>
            <a:r>
              <a:rPr lang="zh-CN" altLang="en-US" sz="2400" dirty="0">
                <a:latin typeface="Times New Roman" pitchFamily="18" charset="0"/>
              </a:rPr>
              <a:t>位</a:t>
            </a:r>
            <a:r>
              <a:rPr lang="en-US" altLang="zh-CN" sz="2400" dirty="0">
                <a:latin typeface="Times New Roman" pitchFamily="18" charset="0"/>
              </a:rPr>
              <a:t>)</a:t>
            </a:r>
          </a:p>
          <a:p>
            <a:pPr marL="0" indent="0">
              <a:buFont typeface="Wingdings" pitchFamily="2" charset="2"/>
              <a:buNone/>
              <a:defRPr/>
            </a:pPr>
            <a:r>
              <a:rPr lang="en-US" altLang="zh-CN" sz="2400" dirty="0"/>
              <a:t>                </a:t>
            </a:r>
            <a:r>
              <a:rPr lang="zh-CN" altLang="en-US" sz="2400" dirty="0"/>
              <a:t>最大值</a:t>
            </a:r>
            <a:r>
              <a:rPr lang="en-US" altLang="zh-CN" sz="2400" dirty="0"/>
              <a:t>=</a:t>
            </a:r>
            <a:r>
              <a:rPr lang="en-US" altLang="zh-CN" sz="2400" dirty="0">
                <a:solidFill>
                  <a:srgbClr val="FF0000"/>
                </a:solidFill>
              </a:rPr>
              <a:t>(1-2</a:t>
            </a:r>
            <a:r>
              <a:rPr lang="en-US" altLang="zh-CN" sz="2400" baseline="30000" dirty="0">
                <a:solidFill>
                  <a:srgbClr val="FF0000"/>
                </a:solidFill>
              </a:rPr>
              <a:t>-9</a:t>
            </a:r>
            <a:r>
              <a:rPr lang="en-US" altLang="zh-CN" sz="2400" dirty="0">
                <a:solidFill>
                  <a:srgbClr val="FF0000"/>
                </a:solidFill>
              </a:rPr>
              <a:t>)×</a:t>
            </a:r>
            <a:r>
              <a:rPr lang="en-US" altLang="zh-CN" sz="2400" dirty="0">
                <a:solidFill>
                  <a:srgbClr val="9900CC"/>
                </a:solidFill>
              </a:rPr>
              <a:t>2</a:t>
            </a:r>
            <a:r>
              <a:rPr lang="en-US" altLang="zh-CN" sz="2400" baseline="30000" dirty="0">
                <a:solidFill>
                  <a:srgbClr val="FF0000"/>
                </a:solidFill>
              </a:rPr>
              <a:t>2</a:t>
            </a:r>
            <a:r>
              <a:rPr lang="en-US" altLang="zh-CN" sz="2400" baseline="50000" dirty="0">
                <a:solidFill>
                  <a:srgbClr val="FF0000"/>
                </a:solidFill>
              </a:rPr>
              <a:t>5</a:t>
            </a:r>
            <a:r>
              <a:rPr lang="en-US" altLang="zh-CN" sz="2400" baseline="30000" dirty="0">
                <a:solidFill>
                  <a:srgbClr val="FF0000"/>
                </a:solidFill>
              </a:rPr>
              <a:t>-1</a:t>
            </a:r>
            <a:r>
              <a:rPr lang="en-US" altLang="zh-CN" sz="2400" dirty="0">
                <a:sym typeface="Symbol" pitchFamily="18" charset="2"/>
              </a:rPr>
              <a:t> 2</a:t>
            </a:r>
            <a:r>
              <a:rPr lang="en-US" altLang="zh-CN" sz="2400" baseline="30000" dirty="0">
                <a:sym typeface="Symbol" pitchFamily="18" charset="2"/>
              </a:rPr>
              <a:t>31</a:t>
            </a:r>
          </a:p>
          <a:p>
            <a:pPr>
              <a:buFont typeface="Wingdings" pitchFamily="2" charset="2"/>
              <a:buChar char="Ø"/>
              <a:defRPr/>
            </a:pPr>
            <a:r>
              <a:rPr lang="en-US" altLang="zh-CN" dirty="0">
                <a:latin typeface="Times New Roman" pitchFamily="18" charset="0"/>
              </a:rPr>
              <a:t>ASCII</a:t>
            </a:r>
            <a:r>
              <a:rPr lang="zh-CN" altLang="en-US" dirty="0">
                <a:latin typeface="Times New Roman" pitchFamily="18" charset="0"/>
              </a:rPr>
              <a:t>码和逻辑运算</a:t>
            </a:r>
            <a:endParaRPr lang="en-US" altLang="zh-CN" dirty="0">
              <a:latin typeface="Times New Roman" pitchFamily="18" charset="0"/>
            </a:endParaRPr>
          </a:p>
          <a:p>
            <a:pPr marL="0" indent="0">
              <a:buFont typeface="Wingdings" pitchFamily="2" charset="2"/>
              <a:buNone/>
              <a:defRPr/>
            </a:pPr>
            <a:endParaRPr lang="en-US" altLang="zh-CN" sz="2400" baseline="30000" dirty="0">
              <a:latin typeface="Times New Roman" pitchFamily="18" charset="0"/>
              <a:sym typeface="Symbol" pitchFamily="18" charset="2"/>
            </a:endParaRPr>
          </a:p>
          <a:p>
            <a:pPr marL="0" indent="0">
              <a:buFont typeface="Wingdings" pitchFamily="2" charset="2"/>
              <a:buNone/>
              <a:defRPr/>
            </a:pPr>
            <a:endParaRPr lang="zh-CN" altLang="en-US" sz="2400" baseline="30000" dirty="0">
              <a:latin typeface="Times New Roman" pitchFamily="18" charset="0"/>
            </a:endParaRPr>
          </a:p>
        </p:txBody>
      </p:sp>
      <p:sp>
        <p:nvSpPr>
          <p:cNvPr id="27652"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p>
            <a:pPr algn="ctr" eaLnBrk="1" hangingPunct="1"/>
            <a:endParaRPr lang="zh-CN" altLang="en-US"/>
          </a:p>
        </p:txBody>
      </p:sp>
      <p:sp>
        <p:nvSpPr>
          <p:cNvPr id="6" name="标题 1"/>
          <p:cNvSpPr txBox="1">
            <a:spLocks/>
          </p:cNvSpPr>
          <p:nvPr/>
        </p:nvSpPr>
        <p:spPr bwMode="auto">
          <a:xfrm>
            <a:off x="10886" y="457200"/>
            <a:ext cx="590550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rtl="0" eaLnBrk="0" fontAlgn="base" hangingPunct="0">
              <a:spcBef>
                <a:spcPct val="0"/>
              </a:spcBef>
              <a:spcAft>
                <a:spcPct val="0"/>
              </a:spcAft>
              <a:defRPr sz="3600" b="1">
                <a:solidFill>
                  <a:srgbClr val="CC3300"/>
                </a:solidFill>
                <a:latin typeface="+mj-lt"/>
                <a:ea typeface="+mj-ea"/>
                <a:cs typeface="+mj-cs"/>
              </a:defRPr>
            </a:lvl1pPr>
            <a:lvl2pPr algn="r" rtl="0" eaLnBrk="0" fontAlgn="base" hangingPunct="0">
              <a:spcBef>
                <a:spcPct val="0"/>
              </a:spcBef>
              <a:spcAft>
                <a:spcPct val="0"/>
              </a:spcAft>
              <a:defRPr sz="3600" b="1">
                <a:solidFill>
                  <a:srgbClr val="CC3300"/>
                </a:solidFill>
                <a:latin typeface="Arial" charset="0"/>
                <a:ea typeface="黑体" pitchFamily="2" charset="-122"/>
              </a:defRPr>
            </a:lvl2pPr>
            <a:lvl3pPr algn="r" rtl="0" eaLnBrk="0" fontAlgn="base" hangingPunct="0">
              <a:spcBef>
                <a:spcPct val="0"/>
              </a:spcBef>
              <a:spcAft>
                <a:spcPct val="0"/>
              </a:spcAft>
              <a:defRPr sz="3600" b="1">
                <a:solidFill>
                  <a:srgbClr val="CC3300"/>
                </a:solidFill>
                <a:latin typeface="Arial" charset="0"/>
                <a:ea typeface="黑体" pitchFamily="2" charset="-122"/>
              </a:defRPr>
            </a:lvl3pPr>
            <a:lvl4pPr algn="r" rtl="0" eaLnBrk="0" fontAlgn="base" hangingPunct="0">
              <a:spcBef>
                <a:spcPct val="0"/>
              </a:spcBef>
              <a:spcAft>
                <a:spcPct val="0"/>
              </a:spcAft>
              <a:defRPr sz="3600" b="1">
                <a:solidFill>
                  <a:srgbClr val="CC3300"/>
                </a:solidFill>
                <a:latin typeface="Arial" charset="0"/>
                <a:ea typeface="黑体" pitchFamily="2" charset="-122"/>
              </a:defRPr>
            </a:lvl4pPr>
            <a:lvl5pPr algn="r" rtl="0" eaLnBrk="0" fontAlgn="base" hangingPunct="0">
              <a:spcBef>
                <a:spcPct val="0"/>
              </a:spcBef>
              <a:spcAft>
                <a:spcPct val="0"/>
              </a:spcAft>
              <a:defRPr sz="3600" b="1">
                <a:solidFill>
                  <a:srgbClr val="CC3300"/>
                </a:solidFill>
                <a:latin typeface="Arial" charset="0"/>
                <a:ea typeface="黑体" pitchFamily="2" charset="-122"/>
              </a:defRPr>
            </a:lvl5pPr>
            <a:lvl6pPr marL="457200" algn="r" rtl="0" fontAlgn="base">
              <a:spcBef>
                <a:spcPct val="0"/>
              </a:spcBef>
              <a:spcAft>
                <a:spcPct val="0"/>
              </a:spcAft>
              <a:defRPr sz="3600" b="1">
                <a:solidFill>
                  <a:srgbClr val="CC3300"/>
                </a:solidFill>
                <a:latin typeface="Arial" charset="0"/>
                <a:ea typeface="黑体" pitchFamily="2" charset="-122"/>
              </a:defRPr>
            </a:lvl6pPr>
            <a:lvl7pPr marL="914400" algn="r" rtl="0" fontAlgn="base">
              <a:spcBef>
                <a:spcPct val="0"/>
              </a:spcBef>
              <a:spcAft>
                <a:spcPct val="0"/>
              </a:spcAft>
              <a:defRPr sz="3600" b="1">
                <a:solidFill>
                  <a:srgbClr val="CC3300"/>
                </a:solidFill>
                <a:latin typeface="Arial" charset="0"/>
                <a:ea typeface="黑体" pitchFamily="2" charset="-122"/>
              </a:defRPr>
            </a:lvl7pPr>
            <a:lvl8pPr marL="1371600" algn="r" rtl="0" fontAlgn="base">
              <a:spcBef>
                <a:spcPct val="0"/>
              </a:spcBef>
              <a:spcAft>
                <a:spcPct val="0"/>
              </a:spcAft>
              <a:defRPr sz="3600" b="1">
                <a:solidFill>
                  <a:srgbClr val="CC3300"/>
                </a:solidFill>
                <a:latin typeface="Arial" charset="0"/>
                <a:ea typeface="黑体" pitchFamily="2" charset="-122"/>
              </a:defRPr>
            </a:lvl8pPr>
            <a:lvl9pPr marL="1828800" algn="r" rtl="0" fontAlgn="base">
              <a:spcBef>
                <a:spcPct val="0"/>
              </a:spcBef>
              <a:spcAft>
                <a:spcPct val="0"/>
              </a:spcAft>
              <a:defRPr sz="3600" b="1">
                <a:solidFill>
                  <a:srgbClr val="CC3300"/>
                </a:solidFill>
                <a:latin typeface="Arial" charset="0"/>
                <a:ea typeface="黑体" pitchFamily="2" charset="-122"/>
              </a:defRPr>
            </a:lvl9pPr>
          </a:lstStyle>
          <a:p>
            <a:pPr algn="l">
              <a:defRPr/>
            </a:pPr>
            <a:r>
              <a:rPr lang="zh-CN" altLang="en-US" sz="2800" kern="0" dirty="0">
                <a:solidFill>
                  <a:schemeClr val="bg1"/>
                </a:solidFill>
                <a:latin typeface="华文新魏" panose="02010800040101010101" pitchFamily="2" charset="-122"/>
                <a:ea typeface="华文新魏" panose="02010800040101010101" pitchFamily="2" charset="-122"/>
              </a:rPr>
              <a:t>数制和信息编码</a:t>
            </a:r>
          </a:p>
        </p:txBody>
      </p:sp>
    </p:spTree>
    <p:extLst>
      <p:ext uri="{BB962C8B-B14F-4D97-AF65-F5344CB8AC3E}">
        <p14:creationId xmlns:p14="http://schemas.microsoft.com/office/powerpoint/2010/main" val="15893592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内容占位符 2"/>
          <p:cNvSpPr>
            <a:spLocks noGrp="1"/>
          </p:cNvSpPr>
          <p:nvPr>
            <p:ph idx="4294967295"/>
          </p:nvPr>
        </p:nvSpPr>
        <p:spPr>
          <a:xfrm>
            <a:off x="457200" y="1219200"/>
            <a:ext cx="8229600" cy="5092700"/>
          </a:xfrm>
        </p:spPr>
        <p:txBody>
          <a:bodyPr/>
          <a:lstStyle/>
          <a:p>
            <a:pPr>
              <a:buFont typeface="Wingdings" pitchFamily="2" charset="2"/>
              <a:buChar char="Ø"/>
            </a:pPr>
            <a:r>
              <a:rPr lang="zh-CN" altLang="en-US" sz="3000" dirty="0"/>
              <a:t>汉字编码：输入码、交换码、机内码、字型码</a:t>
            </a:r>
          </a:p>
          <a:p>
            <a:pPr lvl="1">
              <a:buFont typeface="Wingdings" pitchFamily="2" charset="2"/>
              <a:buChar char="Ø"/>
            </a:pPr>
            <a:r>
              <a:rPr lang="zh-CN" altLang="en-US" sz="3200" dirty="0"/>
              <a:t>输入码（外码）：五笔、拼音等</a:t>
            </a:r>
          </a:p>
          <a:p>
            <a:pPr lvl="1">
              <a:buFont typeface="Wingdings" pitchFamily="2" charset="2"/>
              <a:buChar char="Ø"/>
            </a:pPr>
            <a:r>
              <a:rPr lang="zh-CN" altLang="en-US" sz="3200" dirty="0"/>
              <a:t>交换码（国标码）与机内码的转换</a:t>
            </a:r>
          </a:p>
          <a:p>
            <a:pPr lvl="1">
              <a:buFont typeface="Wingdings" pitchFamily="2" charset="2"/>
              <a:buChar char="Ø"/>
            </a:pPr>
            <a:r>
              <a:rPr lang="zh-CN" altLang="en-US" sz="3200" dirty="0"/>
              <a:t>汉字内码和字型码的存储量：注意内码（两字节），字型码与点阵大小有关</a:t>
            </a:r>
            <a:endParaRPr lang="en-US" altLang="zh-CN" sz="3200" dirty="0"/>
          </a:p>
          <a:p>
            <a:pPr lvl="1">
              <a:buFont typeface="Wingdings" pitchFamily="2" charset="2"/>
              <a:buChar char="Ø"/>
            </a:pPr>
            <a:r>
              <a:rPr lang="zh-CN" altLang="en-US" sz="3200" dirty="0"/>
              <a:t>字形码字库</a:t>
            </a:r>
            <a:endParaRPr lang="en-US" altLang="zh-CN" sz="3200" dirty="0"/>
          </a:p>
          <a:p>
            <a:pPr>
              <a:spcBef>
                <a:spcPts val="1800"/>
              </a:spcBef>
              <a:buFont typeface="Wingdings" pitchFamily="2" charset="2"/>
              <a:buChar char="Ø"/>
            </a:pPr>
            <a:r>
              <a:rPr lang="zh-CN" altLang="en-US" sz="3000" dirty="0"/>
              <a:t>机内码</a:t>
            </a:r>
            <a:r>
              <a:rPr lang="en-US" altLang="zh-CN" sz="3000" dirty="0"/>
              <a:t>=</a:t>
            </a:r>
            <a:r>
              <a:rPr lang="zh-CN" altLang="en-US" sz="3000" dirty="0"/>
              <a:t>国标码</a:t>
            </a:r>
            <a:r>
              <a:rPr lang="en-US" altLang="zh-CN" sz="3000" dirty="0"/>
              <a:t>+8080H</a:t>
            </a:r>
            <a:r>
              <a:rPr lang="zh-CN" altLang="en-US" sz="3000" dirty="0"/>
              <a:t>。</a:t>
            </a:r>
          </a:p>
          <a:p>
            <a:pPr>
              <a:buFont typeface="Wingdings" pitchFamily="2" charset="2"/>
              <a:buChar char="Ø"/>
            </a:pPr>
            <a:r>
              <a:rPr lang="zh-CN" altLang="en-US" sz="3000" dirty="0"/>
              <a:t>汉字机内码和交换码（国标码）均为两字节。</a:t>
            </a:r>
          </a:p>
          <a:p>
            <a:pPr>
              <a:buFont typeface="Wingdings" pitchFamily="2" charset="2"/>
              <a:buChar char="Ø"/>
            </a:pPr>
            <a:r>
              <a:rPr lang="zh-CN" altLang="en-US" sz="3000" dirty="0"/>
              <a:t>汉字字型码</a:t>
            </a:r>
            <a:r>
              <a:rPr lang="en-US" altLang="zh-CN" sz="3000" dirty="0"/>
              <a:t>16×16</a:t>
            </a:r>
            <a:r>
              <a:rPr lang="zh-CN" altLang="en-US" sz="3000" dirty="0"/>
              <a:t>点阵，</a:t>
            </a:r>
            <a:r>
              <a:rPr lang="en-US" altLang="zh-CN" sz="3000" dirty="0"/>
              <a:t>24×24</a:t>
            </a:r>
            <a:r>
              <a:rPr lang="zh-CN" altLang="en-US" sz="3000" dirty="0"/>
              <a:t>点阵，</a:t>
            </a:r>
            <a:r>
              <a:rPr lang="en-US" altLang="zh-CN" sz="3000" dirty="0"/>
              <a:t>32×32</a:t>
            </a:r>
            <a:r>
              <a:rPr lang="zh-CN" altLang="en-US" sz="3000" dirty="0"/>
              <a:t>点阵等</a:t>
            </a:r>
          </a:p>
          <a:p>
            <a:pPr>
              <a:buFont typeface="Wingdings" pitchFamily="2" charset="2"/>
              <a:buChar char="Ø"/>
            </a:pPr>
            <a:endParaRPr lang="zh-CN" altLang="en-US" sz="3600" dirty="0"/>
          </a:p>
        </p:txBody>
      </p:sp>
      <p:sp>
        <p:nvSpPr>
          <p:cNvPr id="4" name="标题 1"/>
          <p:cNvSpPr txBox="1">
            <a:spLocks/>
          </p:cNvSpPr>
          <p:nvPr/>
        </p:nvSpPr>
        <p:spPr bwMode="auto">
          <a:xfrm>
            <a:off x="10886" y="457200"/>
            <a:ext cx="590550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rtl="0" eaLnBrk="0" fontAlgn="base" hangingPunct="0">
              <a:spcBef>
                <a:spcPct val="0"/>
              </a:spcBef>
              <a:spcAft>
                <a:spcPct val="0"/>
              </a:spcAft>
              <a:defRPr sz="3600" b="1">
                <a:solidFill>
                  <a:srgbClr val="CC3300"/>
                </a:solidFill>
                <a:latin typeface="+mj-lt"/>
                <a:ea typeface="+mj-ea"/>
                <a:cs typeface="+mj-cs"/>
              </a:defRPr>
            </a:lvl1pPr>
            <a:lvl2pPr algn="r" rtl="0" eaLnBrk="0" fontAlgn="base" hangingPunct="0">
              <a:spcBef>
                <a:spcPct val="0"/>
              </a:spcBef>
              <a:spcAft>
                <a:spcPct val="0"/>
              </a:spcAft>
              <a:defRPr sz="3600" b="1">
                <a:solidFill>
                  <a:srgbClr val="CC3300"/>
                </a:solidFill>
                <a:latin typeface="Arial" charset="0"/>
                <a:ea typeface="黑体" pitchFamily="2" charset="-122"/>
              </a:defRPr>
            </a:lvl2pPr>
            <a:lvl3pPr algn="r" rtl="0" eaLnBrk="0" fontAlgn="base" hangingPunct="0">
              <a:spcBef>
                <a:spcPct val="0"/>
              </a:spcBef>
              <a:spcAft>
                <a:spcPct val="0"/>
              </a:spcAft>
              <a:defRPr sz="3600" b="1">
                <a:solidFill>
                  <a:srgbClr val="CC3300"/>
                </a:solidFill>
                <a:latin typeface="Arial" charset="0"/>
                <a:ea typeface="黑体" pitchFamily="2" charset="-122"/>
              </a:defRPr>
            </a:lvl3pPr>
            <a:lvl4pPr algn="r" rtl="0" eaLnBrk="0" fontAlgn="base" hangingPunct="0">
              <a:spcBef>
                <a:spcPct val="0"/>
              </a:spcBef>
              <a:spcAft>
                <a:spcPct val="0"/>
              </a:spcAft>
              <a:defRPr sz="3600" b="1">
                <a:solidFill>
                  <a:srgbClr val="CC3300"/>
                </a:solidFill>
                <a:latin typeface="Arial" charset="0"/>
                <a:ea typeface="黑体" pitchFamily="2" charset="-122"/>
              </a:defRPr>
            </a:lvl4pPr>
            <a:lvl5pPr algn="r" rtl="0" eaLnBrk="0" fontAlgn="base" hangingPunct="0">
              <a:spcBef>
                <a:spcPct val="0"/>
              </a:spcBef>
              <a:spcAft>
                <a:spcPct val="0"/>
              </a:spcAft>
              <a:defRPr sz="3600" b="1">
                <a:solidFill>
                  <a:srgbClr val="CC3300"/>
                </a:solidFill>
                <a:latin typeface="Arial" charset="0"/>
                <a:ea typeface="黑体" pitchFamily="2" charset="-122"/>
              </a:defRPr>
            </a:lvl5pPr>
            <a:lvl6pPr marL="457200" algn="r" rtl="0" fontAlgn="base">
              <a:spcBef>
                <a:spcPct val="0"/>
              </a:spcBef>
              <a:spcAft>
                <a:spcPct val="0"/>
              </a:spcAft>
              <a:defRPr sz="3600" b="1">
                <a:solidFill>
                  <a:srgbClr val="CC3300"/>
                </a:solidFill>
                <a:latin typeface="Arial" charset="0"/>
                <a:ea typeface="黑体" pitchFamily="2" charset="-122"/>
              </a:defRPr>
            </a:lvl6pPr>
            <a:lvl7pPr marL="914400" algn="r" rtl="0" fontAlgn="base">
              <a:spcBef>
                <a:spcPct val="0"/>
              </a:spcBef>
              <a:spcAft>
                <a:spcPct val="0"/>
              </a:spcAft>
              <a:defRPr sz="3600" b="1">
                <a:solidFill>
                  <a:srgbClr val="CC3300"/>
                </a:solidFill>
                <a:latin typeface="Arial" charset="0"/>
                <a:ea typeface="黑体" pitchFamily="2" charset="-122"/>
              </a:defRPr>
            </a:lvl7pPr>
            <a:lvl8pPr marL="1371600" algn="r" rtl="0" fontAlgn="base">
              <a:spcBef>
                <a:spcPct val="0"/>
              </a:spcBef>
              <a:spcAft>
                <a:spcPct val="0"/>
              </a:spcAft>
              <a:defRPr sz="3600" b="1">
                <a:solidFill>
                  <a:srgbClr val="CC3300"/>
                </a:solidFill>
                <a:latin typeface="Arial" charset="0"/>
                <a:ea typeface="黑体" pitchFamily="2" charset="-122"/>
              </a:defRPr>
            </a:lvl8pPr>
            <a:lvl9pPr marL="1828800" algn="r" rtl="0" fontAlgn="base">
              <a:spcBef>
                <a:spcPct val="0"/>
              </a:spcBef>
              <a:spcAft>
                <a:spcPct val="0"/>
              </a:spcAft>
              <a:defRPr sz="3600" b="1">
                <a:solidFill>
                  <a:srgbClr val="CC3300"/>
                </a:solidFill>
                <a:latin typeface="Arial" charset="0"/>
                <a:ea typeface="黑体" pitchFamily="2" charset="-122"/>
              </a:defRPr>
            </a:lvl9pPr>
          </a:lstStyle>
          <a:p>
            <a:pPr algn="l">
              <a:defRPr/>
            </a:pPr>
            <a:r>
              <a:rPr lang="zh-CN" altLang="en-US" sz="2800" kern="0" dirty="0">
                <a:solidFill>
                  <a:schemeClr val="bg1"/>
                </a:solidFill>
                <a:latin typeface="华文新魏" panose="02010800040101010101" pitchFamily="2" charset="-122"/>
                <a:ea typeface="华文新魏" panose="02010800040101010101" pitchFamily="2" charset="-122"/>
              </a:rPr>
              <a:t>数制和信息编码</a:t>
            </a:r>
          </a:p>
        </p:txBody>
      </p:sp>
    </p:spTree>
    <p:extLst>
      <p:ext uri="{BB962C8B-B14F-4D97-AF65-F5344CB8AC3E}">
        <p14:creationId xmlns:p14="http://schemas.microsoft.com/office/powerpoint/2010/main" val="1817077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270"/>
          <p:cNvGraphicFramePr>
            <a:graphicFrameLocks/>
          </p:cNvGraphicFramePr>
          <p:nvPr>
            <p:extLst>
              <p:ext uri="{D42A27DB-BD31-4B8C-83A1-F6EECF244321}">
                <p14:modId xmlns:p14="http://schemas.microsoft.com/office/powerpoint/2010/main" val="2224814432"/>
              </p:ext>
            </p:extLst>
          </p:nvPr>
        </p:nvGraphicFramePr>
        <p:xfrm>
          <a:off x="457200" y="1371600"/>
          <a:ext cx="7210425" cy="5211612"/>
        </p:xfrm>
        <a:graphic>
          <a:graphicData uri="http://schemas.openxmlformats.org/drawingml/2006/table">
            <a:tbl>
              <a:tblPr/>
              <a:tblGrid>
                <a:gridCol w="349250">
                  <a:extLst>
                    <a:ext uri="{9D8B030D-6E8A-4147-A177-3AD203B41FA5}">
                      <a16:colId xmlns:a16="http://schemas.microsoft.com/office/drawing/2014/main" val="20000"/>
                    </a:ext>
                  </a:extLst>
                </a:gridCol>
                <a:gridCol w="6861175">
                  <a:extLst>
                    <a:ext uri="{9D8B030D-6E8A-4147-A177-3AD203B41FA5}">
                      <a16:colId xmlns:a16="http://schemas.microsoft.com/office/drawing/2014/main" val="20001"/>
                    </a:ext>
                  </a:extLst>
                </a:gridCol>
              </a:tblGrid>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1</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计算机概述及数字化基础</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2</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rgbClr val="FF0000"/>
                          </a:solidFill>
                          <a:effectLst/>
                          <a:latin typeface="Arial" charset="0"/>
                          <a:ea typeface="宋体" pitchFamily="2" charset="-122"/>
                        </a:rPr>
                        <a:t>计算机三大平台</a:t>
                      </a:r>
                      <a:r>
                        <a:rPr kumimoji="0" lang="en-US" altLang="zh-CN" sz="2800" b="1" i="0" u="none" strike="noStrike" cap="none" normalizeH="0" baseline="0" dirty="0">
                          <a:ln>
                            <a:noFill/>
                          </a:ln>
                          <a:solidFill>
                            <a:srgbClr val="FF0000"/>
                          </a:solidFill>
                          <a:effectLst/>
                          <a:latin typeface="Arial" charset="0"/>
                          <a:ea typeface="宋体" pitchFamily="2" charset="-122"/>
                        </a:rPr>
                        <a:t>——</a:t>
                      </a:r>
                      <a:r>
                        <a:rPr kumimoji="0" lang="zh-CN" altLang="en-US" sz="2800" b="1" i="0" u="none" strike="noStrike" cap="none" normalizeH="0" baseline="0" dirty="0">
                          <a:ln>
                            <a:noFill/>
                          </a:ln>
                          <a:solidFill>
                            <a:srgbClr val="FF0000"/>
                          </a:solidFill>
                          <a:effectLst/>
                          <a:latin typeface="Arial" charset="0"/>
                          <a:ea typeface="宋体" pitchFamily="2" charset="-122"/>
                        </a:rPr>
                        <a:t>硬件、软件、</a:t>
                      </a:r>
                      <a:r>
                        <a:rPr kumimoji="0" lang="zh-CN" altLang="en-US" sz="2800" b="1" i="0" u="none" strike="sngStrike" cap="none" normalizeH="0" baseline="0" dirty="0">
                          <a:ln>
                            <a:noFill/>
                          </a:ln>
                          <a:solidFill>
                            <a:srgbClr val="FF0000"/>
                          </a:solidFill>
                          <a:effectLst/>
                          <a:latin typeface="Arial" charset="0"/>
                          <a:ea typeface="宋体" pitchFamily="2" charset="-122"/>
                        </a:rPr>
                        <a:t>网络</a:t>
                      </a:r>
                      <a:endParaRPr kumimoji="0" lang="en-US" altLang="zh-CN" sz="2800" b="1" i="0" u="none" strike="sngStrike" cap="none" normalizeH="0" baseline="0" dirty="0">
                        <a:ln>
                          <a:noFill/>
                        </a:ln>
                        <a:solidFill>
                          <a:srgbClr val="FF0000"/>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3</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数据处理及数据库</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9482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4</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数据类型，运算符，表达式</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5</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流程控制</a:t>
                      </a:r>
                      <a:r>
                        <a:rPr kumimoji="0" lang="en-US" altLang="zh-CN" sz="2800" b="1" i="0" u="none" strike="noStrike" cap="none" normalizeH="0" baseline="0" dirty="0">
                          <a:ln>
                            <a:noFill/>
                          </a:ln>
                          <a:solidFill>
                            <a:schemeClr val="tx1"/>
                          </a:solidFill>
                          <a:effectLst/>
                          <a:latin typeface="Arial" charset="0"/>
                          <a:ea typeface="宋体" pitchFamily="2" charset="-122"/>
                        </a:rPr>
                        <a:t>——</a:t>
                      </a:r>
                      <a:r>
                        <a:rPr kumimoji="0" lang="zh-CN" altLang="en-US" sz="2800" b="1" i="0" u="none" strike="noStrike" cap="none" normalizeH="0" baseline="0" dirty="0">
                          <a:ln>
                            <a:noFill/>
                          </a:ln>
                          <a:solidFill>
                            <a:schemeClr val="tx1"/>
                          </a:solidFill>
                          <a:effectLst/>
                          <a:latin typeface="Arial" charset="0"/>
                          <a:ea typeface="宋体" pitchFamily="2" charset="-122"/>
                        </a:rPr>
                        <a:t>顺序、选择、循环</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4"/>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6</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数组</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5"/>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7</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函数</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8</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med" len="med"/>
                      <a:tailEnd type="none" w="med" len="med"/>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指针</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med" len="med"/>
                      <a:tailEnd type="none" w="med" len="med"/>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7"/>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9</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结构</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sp>
        <p:nvSpPr>
          <p:cNvPr id="3" name="标题 1"/>
          <p:cNvSpPr>
            <a:spLocks noGrp="1"/>
          </p:cNvSpPr>
          <p:nvPr>
            <p:ph type="title"/>
          </p:nvPr>
        </p:nvSpPr>
        <p:spPr>
          <a:xfrm>
            <a:off x="838200" y="547688"/>
            <a:ext cx="7391400" cy="563562"/>
          </a:xfrm>
        </p:spPr>
        <p:txBody>
          <a:bodyPr/>
          <a:lstStyle/>
          <a:p>
            <a:r>
              <a:rPr lang="zh-CN" altLang="en-US" dirty="0">
                <a:latin typeface="隶书" pitchFamily="49" charset="-122"/>
                <a:ea typeface="隶书" pitchFamily="49" charset="-122"/>
              </a:rPr>
              <a:t>复习内容</a:t>
            </a:r>
          </a:p>
        </p:txBody>
      </p:sp>
    </p:spTree>
    <p:extLst>
      <p:ext uri="{BB962C8B-B14F-4D97-AF65-F5344CB8AC3E}">
        <p14:creationId xmlns:p14="http://schemas.microsoft.com/office/powerpoint/2010/main" val="1026060430"/>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内容占位符 2"/>
          <p:cNvSpPr>
            <a:spLocks noGrp="1"/>
          </p:cNvSpPr>
          <p:nvPr>
            <p:ph idx="4294967295"/>
          </p:nvPr>
        </p:nvSpPr>
        <p:spPr>
          <a:xfrm>
            <a:off x="381000" y="1981200"/>
            <a:ext cx="8229600" cy="4505325"/>
          </a:xfrm>
        </p:spPr>
        <p:txBody>
          <a:bodyPr/>
          <a:lstStyle/>
          <a:p>
            <a:pPr>
              <a:buFont typeface="Wingdings" pitchFamily="2" charset="2"/>
              <a:buChar char="Ø"/>
            </a:pPr>
            <a:r>
              <a:rPr lang="zh-CN" altLang="en-US" dirty="0"/>
              <a:t>计算机系统</a:t>
            </a:r>
            <a:r>
              <a:rPr lang="en-US" altLang="zh-CN" dirty="0"/>
              <a:t>=</a:t>
            </a:r>
            <a:r>
              <a:rPr lang="zh-CN" altLang="en-US" dirty="0"/>
              <a:t>硬件系统</a:t>
            </a:r>
            <a:r>
              <a:rPr lang="en-US" altLang="zh-CN" dirty="0"/>
              <a:t>+</a:t>
            </a:r>
            <a:r>
              <a:rPr lang="zh-CN" altLang="en-US" dirty="0"/>
              <a:t>软件系统</a:t>
            </a:r>
          </a:p>
          <a:p>
            <a:pPr>
              <a:buFont typeface="Wingdings" pitchFamily="2" charset="2"/>
              <a:buChar char="Ø"/>
            </a:pPr>
            <a:r>
              <a:rPr lang="zh-CN" altLang="en-US" dirty="0"/>
              <a:t>计算机硬件系统组成</a:t>
            </a:r>
          </a:p>
          <a:p>
            <a:pPr lvl="1">
              <a:buFont typeface="Wingdings" pitchFamily="2" charset="2"/>
              <a:buChar char="Ø"/>
            </a:pPr>
            <a:r>
              <a:rPr lang="zh-CN" altLang="en-US" sz="3200" dirty="0"/>
              <a:t>冯</a:t>
            </a:r>
            <a:r>
              <a:rPr lang="en-US" altLang="zh-CN" sz="3200" dirty="0"/>
              <a:t>·</a:t>
            </a:r>
            <a:r>
              <a:rPr lang="zh-CN" altLang="en-US" sz="3200" dirty="0"/>
              <a:t>诺依曼思想：硬件由五大基本部件组成、采用二进制、</a:t>
            </a:r>
            <a:r>
              <a:rPr lang="zh-CN" altLang="en-US" sz="3200" dirty="0">
                <a:solidFill>
                  <a:srgbClr val="FF0000"/>
                </a:solidFill>
              </a:rPr>
              <a:t>存储程序原理</a:t>
            </a:r>
            <a:r>
              <a:rPr kumimoji="1" lang="zh-CN" altLang="en-US" sz="3200" dirty="0"/>
              <a:t>。</a:t>
            </a:r>
          </a:p>
          <a:p>
            <a:pPr lvl="1">
              <a:buFont typeface="Wingdings" pitchFamily="2" charset="2"/>
              <a:buChar char="Ø"/>
            </a:pPr>
            <a:r>
              <a:rPr kumimoji="1" lang="zh-CN" altLang="en-US" sz="3200" dirty="0"/>
              <a:t>五大部件：输入设备、输出设备、存储器、运算器、控制器</a:t>
            </a:r>
          </a:p>
          <a:p>
            <a:pPr lvl="1">
              <a:buFont typeface="Wingdings" pitchFamily="2" charset="2"/>
              <a:buChar char="Ø"/>
            </a:pPr>
            <a:r>
              <a:rPr kumimoji="1" lang="en-US" altLang="zh-CN" sz="3200" dirty="0">
                <a:solidFill>
                  <a:srgbClr val="FF0000"/>
                </a:solidFill>
              </a:rPr>
              <a:t>CPU=</a:t>
            </a:r>
            <a:r>
              <a:rPr kumimoji="1" lang="zh-CN" altLang="en-US" sz="3200" dirty="0">
                <a:solidFill>
                  <a:srgbClr val="FF0000"/>
                </a:solidFill>
              </a:rPr>
              <a:t>运算器</a:t>
            </a:r>
            <a:r>
              <a:rPr kumimoji="1" lang="en-US" altLang="zh-CN" sz="3200" dirty="0">
                <a:solidFill>
                  <a:srgbClr val="FF0000"/>
                </a:solidFill>
              </a:rPr>
              <a:t>+</a:t>
            </a:r>
            <a:r>
              <a:rPr kumimoji="1" lang="zh-CN" altLang="en-US" sz="3200" dirty="0">
                <a:solidFill>
                  <a:srgbClr val="FF0000"/>
                </a:solidFill>
              </a:rPr>
              <a:t>控制器</a:t>
            </a:r>
            <a:endParaRPr kumimoji="1" lang="en-US" altLang="zh-CN" sz="3200" dirty="0">
              <a:solidFill>
                <a:srgbClr val="FF0000"/>
              </a:solidFill>
            </a:endParaRPr>
          </a:p>
          <a:p>
            <a:pPr lvl="1">
              <a:buFont typeface="Wingdings" pitchFamily="2" charset="2"/>
              <a:buChar char="Ø"/>
            </a:pPr>
            <a:r>
              <a:rPr lang="en-US" altLang="zh-CN" sz="3200" dirty="0"/>
              <a:t>CPU</a:t>
            </a:r>
            <a:r>
              <a:rPr lang="zh-CN" altLang="en-US" sz="3200" dirty="0"/>
              <a:t>、主机、外设等性能参数</a:t>
            </a:r>
            <a:endParaRPr kumimoji="1" lang="en-US" altLang="zh-CN" sz="3200" dirty="0">
              <a:solidFill>
                <a:srgbClr val="FF0000"/>
              </a:solidFill>
            </a:endParaRPr>
          </a:p>
          <a:p>
            <a:pPr lvl="1">
              <a:buFont typeface="Wingdings" pitchFamily="2" charset="2"/>
              <a:buChar char="Ø"/>
            </a:pPr>
            <a:endParaRPr kumimoji="1" lang="zh-CN" altLang="en-US" sz="3200" dirty="0">
              <a:solidFill>
                <a:srgbClr val="FF0000"/>
              </a:solidFill>
            </a:endParaRPr>
          </a:p>
        </p:txBody>
      </p:sp>
      <p:sp>
        <p:nvSpPr>
          <p:cNvPr id="4" name="标题 1"/>
          <p:cNvSpPr txBox="1">
            <a:spLocks/>
          </p:cNvSpPr>
          <p:nvPr/>
        </p:nvSpPr>
        <p:spPr bwMode="auto">
          <a:xfrm>
            <a:off x="10886" y="457200"/>
            <a:ext cx="590550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rtl="0" eaLnBrk="0" fontAlgn="base" hangingPunct="0">
              <a:spcBef>
                <a:spcPct val="0"/>
              </a:spcBef>
              <a:spcAft>
                <a:spcPct val="0"/>
              </a:spcAft>
              <a:defRPr sz="3600" b="1">
                <a:solidFill>
                  <a:srgbClr val="CC3300"/>
                </a:solidFill>
                <a:latin typeface="+mj-lt"/>
                <a:ea typeface="+mj-ea"/>
                <a:cs typeface="+mj-cs"/>
              </a:defRPr>
            </a:lvl1pPr>
            <a:lvl2pPr algn="r" rtl="0" eaLnBrk="0" fontAlgn="base" hangingPunct="0">
              <a:spcBef>
                <a:spcPct val="0"/>
              </a:spcBef>
              <a:spcAft>
                <a:spcPct val="0"/>
              </a:spcAft>
              <a:defRPr sz="3600" b="1">
                <a:solidFill>
                  <a:srgbClr val="CC3300"/>
                </a:solidFill>
                <a:latin typeface="Arial" charset="0"/>
                <a:ea typeface="黑体" pitchFamily="2" charset="-122"/>
              </a:defRPr>
            </a:lvl2pPr>
            <a:lvl3pPr algn="r" rtl="0" eaLnBrk="0" fontAlgn="base" hangingPunct="0">
              <a:spcBef>
                <a:spcPct val="0"/>
              </a:spcBef>
              <a:spcAft>
                <a:spcPct val="0"/>
              </a:spcAft>
              <a:defRPr sz="3600" b="1">
                <a:solidFill>
                  <a:srgbClr val="CC3300"/>
                </a:solidFill>
                <a:latin typeface="Arial" charset="0"/>
                <a:ea typeface="黑体" pitchFamily="2" charset="-122"/>
              </a:defRPr>
            </a:lvl3pPr>
            <a:lvl4pPr algn="r" rtl="0" eaLnBrk="0" fontAlgn="base" hangingPunct="0">
              <a:spcBef>
                <a:spcPct val="0"/>
              </a:spcBef>
              <a:spcAft>
                <a:spcPct val="0"/>
              </a:spcAft>
              <a:defRPr sz="3600" b="1">
                <a:solidFill>
                  <a:srgbClr val="CC3300"/>
                </a:solidFill>
                <a:latin typeface="Arial" charset="0"/>
                <a:ea typeface="黑体" pitchFamily="2" charset="-122"/>
              </a:defRPr>
            </a:lvl4pPr>
            <a:lvl5pPr algn="r" rtl="0" eaLnBrk="0" fontAlgn="base" hangingPunct="0">
              <a:spcBef>
                <a:spcPct val="0"/>
              </a:spcBef>
              <a:spcAft>
                <a:spcPct val="0"/>
              </a:spcAft>
              <a:defRPr sz="3600" b="1">
                <a:solidFill>
                  <a:srgbClr val="CC3300"/>
                </a:solidFill>
                <a:latin typeface="Arial" charset="0"/>
                <a:ea typeface="黑体" pitchFamily="2" charset="-122"/>
              </a:defRPr>
            </a:lvl5pPr>
            <a:lvl6pPr marL="457200" algn="r" rtl="0" fontAlgn="base">
              <a:spcBef>
                <a:spcPct val="0"/>
              </a:spcBef>
              <a:spcAft>
                <a:spcPct val="0"/>
              </a:spcAft>
              <a:defRPr sz="3600" b="1">
                <a:solidFill>
                  <a:srgbClr val="CC3300"/>
                </a:solidFill>
                <a:latin typeface="Arial" charset="0"/>
                <a:ea typeface="黑体" pitchFamily="2" charset="-122"/>
              </a:defRPr>
            </a:lvl6pPr>
            <a:lvl7pPr marL="914400" algn="r" rtl="0" fontAlgn="base">
              <a:spcBef>
                <a:spcPct val="0"/>
              </a:spcBef>
              <a:spcAft>
                <a:spcPct val="0"/>
              </a:spcAft>
              <a:defRPr sz="3600" b="1">
                <a:solidFill>
                  <a:srgbClr val="CC3300"/>
                </a:solidFill>
                <a:latin typeface="Arial" charset="0"/>
                <a:ea typeface="黑体" pitchFamily="2" charset="-122"/>
              </a:defRPr>
            </a:lvl7pPr>
            <a:lvl8pPr marL="1371600" algn="r" rtl="0" fontAlgn="base">
              <a:spcBef>
                <a:spcPct val="0"/>
              </a:spcBef>
              <a:spcAft>
                <a:spcPct val="0"/>
              </a:spcAft>
              <a:defRPr sz="3600" b="1">
                <a:solidFill>
                  <a:srgbClr val="CC3300"/>
                </a:solidFill>
                <a:latin typeface="Arial" charset="0"/>
                <a:ea typeface="黑体" pitchFamily="2" charset="-122"/>
              </a:defRPr>
            </a:lvl8pPr>
            <a:lvl9pPr marL="1828800" algn="r" rtl="0" fontAlgn="base">
              <a:spcBef>
                <a:spcPct val="0"/>
              </a:spcBef>
              <a:spcAft>
                <a:spcPct val="0"/>
              </a:spcAft>
              <a:defRPr sz="3600" b="1">
                <a:solidFill>
                  <a:srgbClr val="CC3300"/>
                </a:solidFill>
                <a:latin typeface="Arial" charset="0"/>
                <a:ea typeface="黑体" pitchFamily="2" charset="-122"/>
              </a:defRPr>
            </a:lvl9pPr>
          </a:lstStyle>
          <a:p>
            <a:pPr algn="l">
              <a:defRPr/>
            </a:pPr>
            <a:r>
              <a:rPr lang="zh-CN" altLang="en-US" sz="2800" kern="0" dirty="0">
                <a:solidFill>
                  <a:schemeClr val="bg1"/>
                </a:solidFill>
                <a:latin typeface="华文新魏" panose="02010800040101010101" pitchFamily="2" charset="-122"/>
                <a:ea typeface="华文新魏" panose="02010800040101010101" pitchFamily="2" charset="-122"/>
              </a:rPr>
              <a:t>计算机硬件系统基础</a:t>
            </a:r>
          </a:p>
        </p:txBody>
      </p:sp>
    </p:spTree>
    <p:extLst>
      <p:ext uri="{BB962C8B-B14F-4D97-AF65-F5344CB8AC3E}">
        <p14:creationId xmlns:p14="http://schemas.microsoft.com/office/powerpoint/2010/main" val="551211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AutoShape 5"/>
          <p:cNvSpPr>
            <a:spLocks noChangeArrowheads="1"/>
          </p:cNvSpPr>
          <p:nvPr/>
        </p:nvSpPr>
        <p:spPr bwMode="auto">
          <a:xfrm>
            <a:off x="3378200" y="1754187"/>
            <a:ext cx="3136900" cy="792163"/>
          </a:xfrm>
          <a:prstGeom prst="can">
            <a:avLst>
              <a:gd name="adj" fmla="val 28333"/>
            </a:avLst>
          </a:prstGeom>
          <a:gradFill rotWithShape="0">
            <a:gsLst>
              <a:gs pos="0">
                <a:srgbClr val="66FFFF"/>
              </a:gs>
              <a:gs pos="100000">
                <a:schemeClr val="bg1"/>
              </a:gs>
            </a:gsLst>
            <a:path path="rect">
              <a:fillToRect l="50000" t="50000" r="50000" b="50000"/>
            </a:path>
          </a:gradFill>
          <a:ln w="9525">
            <a:solidFill>
              <a:srgbClr val="000066"/>
            </a:solidFill>
            <a:round/>
            <a:headEnd/>
            <a:tailEnd/>
          </a:ln>
        </p:spPr>
        <p:txBody>
          <a:bodyPr wrap="none" anchor="ctr"/>
          <a:lstStyle/>
          <a:p>
            <a:pPr algn="ctr" eaLnBrk="1" hangingPunct="1"/>
            <a:r>
              <a:rPr kumimoji="1" lang="zh-CN" altLang="en-US" sz="2800" b="1">
                <a:solidFill>
                  <a:srgbClr val="000066"/>
                </a:solidFill>
                <a:latin typeface="微软雅黑" pitchFamily="34" charset="-122"/>
                <a:ea typeface="微软雅黑" pitchFamily="34" charset="-122"/>
                <a:cs typeface="Times New Roman" pitchFamily="18" charset="0"/>
              </a:rPr>
              <a:t>外存</a:t>
            </a:r>
            <a:endParaRPr kumimoji="1" lang="en-US" altLang="zh-CN" sz="2800" b="1">
              <a:solidFill>
                <a:srgbClr val="000066"/>
              </a:solidFill>
              <a:latin typeface="微软雅黑" pitchFamily="34" charset="-122"/>
              <a:ea typeface="微软雅黑" pitchFamily="34" charset="-122"/>
              <a:cs typeface="Times New Roman" pitchFamily="18" charset="0"/>
            </a:endParaRPr>
          </a:p>
        </p:txBody>
      </p:sp>
      <p:sp>
        <p:nvSpPr>
          <p:cNvPr id="276486" name="AutoShape 6"/>
          <p:cNvSpPr>
            <a:spLocks noChangeArrowheads="1"/>
          </p:cNvSpPr>
          <p:nvPr/>
        </p:nvSpPr>
        <p:spPr bwMode="auto">
          <a:xfrm>
            <a:off x="3454400" y="2978150"/>
            <a:ext cx="3060700" cy="720725"/>
          </a:xfrm>
          <a:prstGeom prst="can">
            <a:avLst>
              <a:gd name="adj" fmla="val 25324"/>
            </a:avLst>
          </a:prstGeom>
          <a:gradFill rotWithShape="0">
            <a:gsLst>
              <a:gs pos="0">
                <a:srgbClr val="FFFF66">
                  <a:gamma/>
                  <a:tint val="23529"/>
                  <a:invGamma/>
                </a:srgbClr>
              </a:gs>
              <a:gs pos="100000">
                <a:srgbClr val="FFFF66"/>
              </a:gs>
            </a:gsLst>
            <a:path path="rect">
              <a:fillToRect l="50000" t="50000" r="50000" b="50000"/>
            </a:path>
          </a:gradFill>
          <a:ln w="9525">
            <a:solidFill>
              <a:schemeClr val="tx1"/>
            </a:solidFill>
            <a:round/>
            <a:headEnd/>
            <a:tailEnd/>
          </a:ln>
          <a:effectLst/>
        </p:spPr>
        <p:txBody>
          <a:bodyPr wrap="none" anchor="ctr"/>
          <a:lstStyle/>
          <a:p>
            <a:pPr algn="ctr" eaLnBrk="1" hangingPunct="1">
              <a:defRPr/>
            </a:pPr>
            <a:r>
              <a:rPr kumimoji="1" lang="zh-CN" altLang="en-US" sz="2400" b="1" dirty="0">
                <a:solidFill>
                  <a:srgbClr val="000066"/>
                </a:solidFill>
                <a:effectLst>
                  <a:outerShdw blurRad="38100" dist="38100" dir="2700000" algn="tl">
                    <a:srgbClr val="000000"/>
                  </a:outerShdw>
                </a:effectLst>
                <a:latin typeface="微软雅黑" pitchFamily="34" charset="-122"/>
                <a:ea typeface="微软雅黑" pitchFamily="34" charset="-122"/>
                <a:cs typeface="Times New Roman" pitchFamily="18" charset="0"/>
              </a:rPr>
              <a:t>内存</a:t>
            </a:r>
            <a:endParaRPr kumimoji="1" lang="en-US" altLang="zh-CN" sz="2400" b="1" dirty="0">
              <a:solidFill>
                <a:srgbClr val="000066"/>
              </a:solidFill>
              <a:effectLst>
                <a:outerShdw blurRad="38100" dist="38100" dir="2700000" algn="tl">
                  <a:srgbClr val="000000"/>
                </a:outerShdw>
              </a:effectLst>
              <a:latin typeface="微软雅黑" pitchFamily="34" charset="-122"/>
              <a:ea typeface="微软雅黑" pitchFamily="34" charset="-122"/>
              <a:cs typeface="Times New Roman" pitchFamily="18" charset="0"/>
            </a:endParaRPr>
          </a:p>
        </p:txBody>
      </p:sp>
      <p:sp>
        <p:nvSpPr>
          <p:cNvPr id="276487" name="AutoShape 7"/>
          <p:cNvSpPr>
            <a:spLocks noChangeArrowheads="1"/>
          </p:cNvSpPr>
          <p:nvPr/>
        </p:nvSpPr>
        <p:spPr bwMode="auto">
          <a:xfrm>
            <a:off x="2987675" y="4275137"/>
            <a:ext cx="3873500" cy="2430463"/>
          </a:xfrm>
          <a:prstGeom prst="roundRect">
            <a:avLst>
              <a:gd name="adj" fmla="val 16667"/>
            </a:avLst>
          </a:prstGeom>
          <a:noFill/>
          <a:ln w="9525">
            <a:solidFill>
              <a:srgbClr val="000000"/>
            </a:solidFill>
            <a:round/>
            <a:headEnd/>
            <a:tailEnd/>
          </a:ln>
        </p:spPr>
        <p:txBody>
          <a:bodyPr wrap="none" anchor="b" anchorCtr="1"/>
          <a:lstStyle/>
          <a:p>
            <a:pPr algn="ctr" eaLnBrk="1" hangingPunct="1">
              <a:defRPr/>
            </a:pPr>
            <a:endParaRPr kumimoji="1" lang="en-US" altLang="zh-CN" sz="3200" b="1" dirty="0">
              <a:solidFill>
                <a:srgbClr val="800000"/>
              </a:solidFill>
              <a:latin typeface="微软雅黑" pitchFamily="34" charset="-122"/>
              <a:ea typeface="微软雅黑" pitchFamily="34" charset="-122"/>
              <a:cs typeface="Times New Roman" pitchFamily="18" charset="0"/>
            </a:endParaRPr>
          </a:p>
          <a:p>
            <a:pPr algn="ctr" eaLnBrk="1" hangingPunct="1">
              <a:defRPr/>
            </a:pPr>
            <a:endParaRPr kumimoji="1" lang="en-US" altLang="zh-CN" sz="3200" b="1" dirty="0">
              <a:solidFill>
                <a:srgbClr val="800000"/>
              </a:solidFill>
              <a:latin typeface="微软雅黑" pitchFamily="34" charset="-122"/>
              <a:ea typeface="微软雅黑" pitchFamily="34" charset="-122"/>
              <a:cs typeface="Times New Roman" pitchFamily="18" charset="0"/>
            </a:endParaRPr>
          </a:p>
          <a:p>
            <a:pPr algn="ctr" eaLnBrk="1" hangingPunct="1">
              <a:defRPr/>
            </a:pPr>
            <a:r>
              <a:rPr kumimoji="1" lang="zh-CN" altLang="en-US" sz="3200" b="1" dirty="0">
                <a:solidFill>
                  <a:schemeClr val="accent2">
                    <a:lumMod val="75000"/>
                  </a:schemeClr>
                </a:solidFill>
                <a:latin typeface="微软雅黑" pitchFamily="34" charset="-122"/>
                <a:ea typeface="微软雅黑" pitchFamily="34" charset="-122"/>
                <a:cs typeface="Times New Roman" pitchFamily="18" charset="0"/>
              </a:rPr>
              <a:t>中央处理单元</a:t>
            </a:r>
            <a:endParaRPr kumimoji="1" lang="en-US" altLang="zh-CN" sz="3200" b="1" dirty="0">
              <a:solidFill>
                <a:schemeClr val="accent2">
                  <a:lumMod val="75000"/>
                </a:schemeClr>
              </a:solidFill>
              <a:latin typeface="微软雅黑" pitchFamily="34" charset="-122"/>
              <a:ea typeface="微软雅黑" pitchFamily="34" charset="-122"/>
              <a:cs typeface="Times New Roman" pitchFamily="18" charset="0"/>
            </a:endParaRPr>
          </a:p>
          <a:p>
            <a:pPr algn="ctr" eaLnBrk="1" hangingPunct="1">
              <a:defRPr/>
            </a:pPr>
            <a:r>
              <a:rPr kumimoji="1" lang="zh-CN" altLang="en-US" sz="3200" b="1" dirty="0">
                <a:solidFill>
                  <a:schemeClr val="accent2">
                    <a:lumMod val="75000"/>
                  </a:schemeClr>
                </a:solidFill>
                <a:latin typeface="微软雅黑" pitchFamily="34" charset="-122"/>
                <a:ea typeface="微软雅黑" pitchFamily="34" charset="-122"/>
                <a:cs typeface="Times New Roman" pitchFamily="18" charset="0"/>
              </a:rPr>
              <a:t>（</a:t>
            </a:r>
            <a:r>
              <a:rPr kumimoji="1" lang="en-US" altLang="zh-CN" sz="3200" b="1" dirty="0">
                <a:solidFill>
                  <a:schemeClr val="accent2">
                    <a:lumMod val="75000"/>
                  </a:schemeClr>
                </a:solidFill>
                <a:latin typeface="微软雅黑" pitchFamily="34" charset="-122"/>
                <a:ea typeface="微软雅黑" pitchFamily="34" charset="-122"/>
                <a:cs typeface="Times New Roman" pitchFamily="18" charset="0"/>
              </a:rPr>
              <a:t>CPU)</a:t>
            </a:r>
          </a:p>
        </p:txBody>
      </p:sp>
      <p:sp>
        <p:nvSpPr>
          <p:cNvPr id="43013" name="Rectangle 8"/>
          <p:cNvSpPr>
            <a:spLocks noChangeArrowheads="1"/>
          </p:cNvSpPr>
          <p:nvPr/>
        </p:nvSpPr>
        <p:spPr bwMode="auto">
          <a:xfrm>
            <a:off x="1476375" y="2833687"/>
            <a:ext cx="1308100" cy="1524000"/>
          </a:xfrm>
          <a:prstGeom prst="rect">
            <a:avLst/>
          </a:prstGeom>
          <a:gradFill rotWithShape="0">
            <a:gsLst>
              <a:gs pos="0">
                <a:schemeClr val="bg1"/>
              </a:gs>
              <a:gs pos="100000">
                <a:srgbClr val="FF99FF"/>
              </a:gs>
            </a:gsLst>
            <a:path path="shape">
              <a:fillToRect l="50000" t="50000" r="50000" b="50000"/>
            </a:path>
          </a:gradFill>
          <a:ln w="9525">
            <a:miter lim="800000"/>
            <a:headEnd/>
            <a:tailEnd/>
          </a:ln>
          <a:scene3d>
            <a:camera prst="legacyObliqueBottomLeft"/>
            <a:lightRig rig="legacyFlat3" dir="t"/>
          </a:scene3d>
          <a:sp3d extrusionH="430200" prstMaterial="legacyMatte">
            <a:bevelT w="13500" h="13500" prst="angle"/>
            <a:bevelB w="13500" h="13500" prst="angle"/>
            <a:extrusionClr>
              <a:srgbClr val="FF99FF"/>
            </a:extrusionClr>
          </a:sp3d>
        </p:spPr>
        <p:txBody>
          <a:bodyPr wrap="none" anchor="ctr">
            <a:flatTx/>
          </a:bodyPr>
          <a:lstStyle/>
          <a:p>
            <a:pPr algn="ctr"/>
            <a:r>
              <a:rPr kumimoji="1" lang="zh-CN" altLang="en-US" sz="3200" b="1">
                <a:solidFill>
                  <a:srgbClr val="000000"/>
                </a:solidFill>
                <a:latin typeface="微软雅黑" pitchFamily="34" charset="-122"/>
                <a:ea typeface="微软雅黑" pitchFamily="34" charset="-122"/>
                <a:cs typeface="Times New Roman" pitchFamily="18" charset="0"/>
              </a:rPr>
              <a:t>输入</a:t>
            </a:r>
            <a:endParaRPr kumimoji="1" lang="en-US" altLang="zh-CN" sz="3200" b="1">
              <a:solidFill>
                <a:srgbClr val="000000"/>
              </a:solidFill>
              <a:latin typeface="微软雅黑" pitchFamily="34" charset="-122"/>
              <a:ea typeface="微软雅黑" pitchFamily="34" charset="-122"/>
              <a:cs typeface="Times New Roman" pitchFamily="18" charset="0"/>
            </a:endParaRPr>
          </a:p>
          <a:p>
            <a:pPr algn="ctr"/>
            <a:r>
              <a:rPr kumimoji="1" lang="zh-CN" altLang="en-US" sz="3200" b="1">
                <a:solidFill>
                  <a:srgbClr val="000000"/>
                </a:solidFill>
                <a:latin typeface="微软雅黑" pitchFamily="34" charset="-122"/>
                <a:ea typeface="微软雅黑" pitchFamily="34" charset="-122"/>
                <a:cs typeface="Times New Roman" pitchFamily="18" charset="0"/>
              </a:rPr>
              <a:t>设备</a:t>
            </a:r>
            <a:endParaRPr kumimoji="1" lang="en-US" altLang="zh-CN" sz="3200" b="1">
              <a:solidFill>
                <a:srgbClr val="000000"/>
              </a:solidFill>
              <a:latin typeface="微软雅黑" pitchFamily="34" charset="-122"/>
              <a:ea typeface="微软雅黑" pitchFamily="34" charset="-122"/>
              <a:cs typeface="Times New Roman" pitchFamily="18" charset="0"/>
            </a:endParaRPr>
          </a:p>
        </p:txBody>
      </p:sp>
      <p:sp>
        <p:nvSpPr>
          <p:cNvPr id="43014" name="Rectangle 9"/>
          <p:cNvSpPr>
            <a:spLocks noChangeArrowheads="1"/>
          </p:cNvSpPr>
          <p:nvPr/>
        </p:nvSpPr>
        <p:spPr bwMode="auto">
          <a:xfrm>
            <a:off x="7416800" y="2855912"/>
            <a:ext cx="1447800" cy="1524000"/>
          </a:xfrm>
          <a:prstGeom prst="rect">
            <a:avLst/>
          </a:prstGeom>
          <a:gradFill rotWithShape="0">
            <a:gsLst>
              <a:gs pos="0">
                <a:srgbClr val="F2FFEB"/>
              </a:gs>
              <a:gs pos="100000">
                <a:srgbClr val="99FF66"/>
              </a:gs>
            </a:gsLst>
            <a:path path="shape">
              <a:fillToRect l="50000" t="50000" r="50000" b="50000"/>
            </a:path>
          </a:gradFill>
          <a:ln w="9525">
            <a:miter lim="800000"/>
            <a:headEnd/>
            <a:tailEnd/>
          </a:ln>
          <a:scene3d>
            <a:camera prst="legacyObliqueTopRight"/>
            <a:lightRig rig="legacyFlat3" dir="b"/>
          </a:scene3d>
          <a:sp3d extrusionH="430200" prstMaterial="legacyMatte">
            <a:bevelT w="13500" h="13500" prst="angle"/>
            <a:bevelB w="13500" h="13500" prst="angle"/>
            <a:extrusionClr>
              <a:srgbClr val="99FF66"/>
            </a:extrusionClr>
          </a:sp3d>
        </p:spPr>
        <p:txBody>
          <a:bodyPr wrap="none" anchor="ctr">
            <a:flatTx/>
          </a:bodyPr>
          <a:lstStyle/>
          <a:p>
            <a:pPr algn="ctr"/>
            <a:r>
              <a:rPr kumimoji="1" lang="zh-CN" altLang="en-US" sz="2800" b="1">
                <a:solidFill>
                  <a:srgbClr val="000000"/>
                </a:solidFill>
                <a:latin typeface="微软雅黑" pitchFamily="34" charset="-122"/>
                <a:ea typeface="微软雅黑" pitchFamily="34" charset="-122"/>
                <a:cs typeface="Times New Roman" pitchFamily="18" charset="0"/>
              </a:rPr>
              <a:t>输出</a:t>
            </a:r>
            <a:endParaRPr kumimoji="1" lang="en-US" altLang="zh-CN" sz="2800" b="1">
              <a:solidFill>
                <a:srgbClr val="000000"/>
              </a:solidFill>
              <a:latin typeface="微软雅黑" pitchFamily="34" charset="-122"/>
              <a:ea typeface="微软雅黑" pitchFamily="34" charset="-122"/>
              <a:cs typeface="Times New Roman" pitchFamily="18" charset="0"/>
            </a:endParaRPr>
          </a:p>
          <a:p>
            <a:pPr algn="ctr"/>
            <a:r>
              <a:rPr kumimoji="1" lang="zh-CN" altLang="en-US" sz="2800" b="1">
                <a:solidFill>
                  <a:srgbClr val="000000"/>
                </a:solidFill>
                <a:latin typeface="微软雅黑" pitchFamily="34" charset="-122"/>
                <a:ea typeface="微软雅黑" pitchFamily="34" charset="-122"/>
                <a:cs typeface="Times New Roman" pitchFamily="18" charset="0"/>
              </a:rPr>
              <a:t>设备</a:t>
            </a:r>
            <a:endParaRPr kumimoji="1" lang="en-US" altLang="zh-CN" sz="2800" b="1">
              <a:solidFill>
                <a:srgbClr val="000000"/>
              </a:solidFill>
              <a:latin typeface="微软雅黑" pitchFamily="34" charset="-122"/>
              <a:ea typeface="微软雅黑" pitchFamily="34" charset="-122"/>
              <a:cs typeface="Times New Roman" pitchFamily="18" charset="0"/>
            </a:endParaRPr>
          </a:p>
        </p:txBody>
      </p:sp>
      <p:sp>
        <p:nvSpPr>
          <p:cNvPr id="43015" name="AutoShape 10"/>
          <p:cNvSpPr>
            <a:spLocks noChangeArrowheads="1"/>
          </p:cNvSpPr>
          <p:nvPr/>
        </p:nvSpPr>
        <p:spPr bwMode="auto">
          <a:xfrm rot="16200000" flipH="1">
            <a:off x="6705600" y="3092450"/>
            <a:ext cx="533400" cy="914400"/>
          </a:xfrm>
          <a:prstGeom prst="downArrow">
            <a:avLst>
              <a:gd name="adj1" fmla="val 50000"/>
              <a:gd name="adj2" fmla="val 70238"/>
            </a:avLst>
          </a:prstGeom>
          <a:gradFill rotWithShape="0">
            <a:gsLst>
              <a:gs pos="0">
                <a:srgbClr val="FFF200"/>
              </a:gs>
              <a:gs pos="45000">
                <a:srgbClr val="FF7A00"/>
              </a:gs>
              <a:gs pos="70000">
                <a:srgbClr val="FF0300"/>
              </a:gs>
              <a:gs pos="100000">
                <a:srgbClr val="4D0808"/>
              </a:gs>
            </a:gsLst>
            <a:lin ang="5400000" scaled="1"/>
          </a:gradFill>
          <a:ln w="9525" algn="ctr">
            <a:solidFill>
              <a:srgbClr val="000066"/>
            </a:solidFill>
            <a:miter lim="800000"/>
            <a:headEnd/>
            <a:tailEnd/>
          </a:ln>
        </p:spPr>
        <p:txBody>
          <a:bodyPr vert="eaVert" wrap="none" anchor="ctr"/>
          <a:lstStyle/>
          <a:p>
            <a:pPr algn="ctr" eaLnBrk="1" hangingPunct="1"/>
            <a:endParaRPr lang="zh-CN" altLang="en-US" b="1">
              <a:latin typeface="微软雅黑" pitchFamily="34" charset="-122"/>
              <a:ea typeface="微软雅黑" pitchFamily="34" charset="-122"/>
            </a:endParaRPr>
          </a:p>
        </p:txBody>
      </p:sp>
      <p:sp>
        <p:nvSpPr>
          <p:cNvPr id="43016" name="AutoShape 11"/>
          <p:cNvSpPr>
            <a:spLocks noChangeArrowheads="1"/>
          </p:cNvSpPr>
          <p:nvPr/>
        </p:nvSpPr>
        <p:spPr bwMode="auto">
          <a:xfrm rot="16200000" flipH="1">
            <a:off x="2806700" y="3198812"/>
            <a:ext cx="533400" cy="762000"/>
          </a:xfrm>
          <a:prstGeom prst="downArrow">
            <a:avLst>
              <a:gd name="adj1" fmla="val 50000"/>
              <a:gd name="adj2" fmla="val 58532"/>
            </a:avLst>
          </a:prstGeom>
          <a:gradFill rotWithShape="0">
            <a:gsLst>
              <a:gs pos="0">
                <a:srgbClr val="FFF200"/>
              </a:gs>
              <a:gs pos="45000">
                <a:srgbClr val="FF7A00"/>
              </a:gs>
              <a:gs pos="70000">
                <a:srgbClr val="FF0300"/>
              </a:gs>
              <a:gs pos="100000">
                <a:srgbClr val="4D0808"/>
              </a:gs>
            </a:gsLst>
            <a:lin ang="5400000" scaled="1"/>
          </a:gradFill>
          <a:ln w="9525" algn="ctr">
            <a:solidFill>
              <a:srgbClr val="000066"/>
            </a:solidFill>
            <a:miter lim="800000"/>
            <a:headEnd/>
            <a:tailEnd/>
          </a:ln>
        </p:spPr>
        <p:txBody>
          <a:bodyPr vert="eaVert" wrap="none" anchor="ctr"/>
          <a:lstStyle/>
          <a:p>
            <a:pPr algn="ctr" eaLnBrk="1" hangingPunct="1"/>
            <a:endParaRPr lang="zh-CN" altLang="en-US" b="1">
              <a:latin typeface="微软雅黑" pitchFamily="34" charset="-122"/>
              <a:ea typeface="微软雅黑" pitchFamily="34" charset="-122"/>
            </a:endParaRPr>
          </a:p>
        </p:txBody>
      </p:sp>
      <p:sp>
        <p:nvSpPr>
          <p:cNvPr id="43017" name="AutoShape 12"/>
          <p:cNvSpPr>
            <a:spLocks noChangeArrowheads="1"/>
          </p:cNvSpPr>
          <p:nvPr/>
        </p:nvSpPr>
        <p:spPr bwMode="auto">
          <a:xfrm>
            <a:off x="3708400" y="2546350"/>
            <a:ext cx="533400" cy="762000"/>
          </a:xfrm>
          <a:prstGeom prst="downArrow">
            <a:avLst>
              <a:gd name="adj1" fmla="val 50000"/>
              <a:gd name="adj2" fmla="val 58532"/>
            </a:avLst>
          </a:prstGeom>
          <a:gradFill rotWithShape="0">
            <a:gsLst>
              <a:gs pos="0">
                <a:srgbClr val="FFF200"/>
              </a:gs>
              <a:gs pos="45000">
                <a:srgbClr val="FF7A00"/>
              </a:gs>
              <a:gs pos="70000">
                <a:srgbClr val="FF0300"/>
              </a:gs>
              <a:gs pos="100000">
                <a:srgbClr val="4D0808"/>
              </a:gs>
            </a:gsLst>
            <a:lin ang="5400000" scaled="1"/>
          </a:gradFill>
          <a:ln w="9525" algn="ctr">
            <a:solidFill>
              <a:srgbClr val="000066"/>
            </a:solidFill>
            <a:miter lim="800000"/>
            <a:headEnd/>
            <a:tailEnd/>
          </a:ln>
        </p:spPr>
        <p:txBody>
          <a:bodyPr vert="eaVert" wrap="none" anchor="ctr"/>
          <a:lstStyle/>
          <a:p>
            <a:pPr algn="ctr" eaLnBrk="1" hangingPunct="1"/>
            <a:endParaRPr lang="zh-CN" altLang="en-US" b="1">
              <a:latin typeface="微软雅黑" pitchFamily="34" charset="-122"/>
              <a:ea typeface="微软雅黑" pitchFamily="34" charset="-122"/>
            </a:endParaRPr>
          </a:p>
        </p:txBody>
      </p:sp>
      <p:sp>
        <p:nvSpPr>
          <p:cNvPr id="43018" name="AutoShape 13"/>
          <p:cNvSpPr>
            <a:spLocks noChangeArrowheads="1"/>
          </p:cNvSpPr>
          <p:nvPr/>
        </p:nvSpPr>
        <p:spPr bwMode="auto">
          <a:xfrm flipV="1">
            <a:off x="5508625" y="2474912"/>
            <a:ext cx="533400" cy="762000"/>
          </a:xfrm>
          <a:prstGeom prst="downArrow">
            <a:avLst>
              <a:gd name="adj1" fmla="val 50000"/>
              <a:gd name="adj2" fmla="val 58532"/>
            </a:avLst>
          </a:prstGeom>
          <a:gradFill rotWithShape="0">
            <a:gsLst>
              <a:gs pos="0">
                <a:srgbClr val="FFF200"/>
              </a:gs>
              <a:gs pos="45000">
                <a:srgbClr val="FF7A00"/>
              </a:gs>
              <a:gs pos="70000">
                <a:srgbClr val="FF0300"/>
              </a:gs>
              <a:gs pos="100000">
                <a:srgbClr val="4D0808"/>
              </a:gs>
            </a:gsLst>
            <a:lin ang="5400000" scaled="1"/>
          </a:gradFill>
          <a:ln w="9525" algn="ctr">
            <a:solidFill>
              <a:srgbClr val="000066"/>
            </a:solidFill>
            <a:miter lim="800000"/>
            <a:headEnd/>
            <a:tailEnd/>
          </a:ln>
        </p:spPr>
        <p:txBody>
          <a:bodyPr vert="eaVert" wrap="none" anchor="ctr"/>
          <a:lstStyle/>
          <a:p>
            <a:pPr algn="ctr" eaLnBrk="1" hangingPunct="1"/>
            <a:endParaRPr lang="zh-CN" altLang="en-US" b="1">
              <a:latin typeface="微软雅黑" pitchFamily="34" charset="-122"/>
              <a:ea typeface="微软雅黑" pitchFamily="34" charset="-122"/>
            </a:endParaRPr>
          </a:p>
        </p:txBody>
      </p:sp>
      <p:cxnSp>
        <p:nvCxnSpPr>
          <p:cNvPr id="43019" name="AutoShape 14"/>
          <p:cNvCxnSpPr>
            <a:cxnSpLocks noChangeShapeType="1"/>
          </p:cNvCxnSpPr>
          <p:nvPr/>
        </p:nvCxnSpPr>
        <p:spPr bwMode="auto">
          <a:xfrm rot="10800000">
            <a:off x="2268538" y="4491037"/>
            <a:ext cx="2879725" cy="574675"/>
          </a:xfrm>
          <a:prstGeom prst="bentConnector3">
            <a:avLst>
              <a:gd name="adj1" fmla="val 97051"/>
            </a:avLst>
          </a:prstGeom>
          <a:noFill/>
          <a:ln w="57150">
            <a:solidFill>
              <a:srgbClr val="000066"/>
            </a:solidFill>
            <a:miter lim="800000"/>
            <a:headEnd/>
            <a:tailEnd type="triangle" w="med" len="med"/>
          </a:ln>
          <a:extLst>
            <a:ext uri="{909E8E84-426E-40DD-AFC4-6F175D3DCCD1}">
              <a14:hiddenFill xmlns:a14="http://schemas.microsoft.com/office/drawing/2010/main">
                <a:noFill/>
              </a14:hiddenFill>
            </a:ext>
          </a:extLst>
        </p:spPr>
      </p:cxnSp>
      <p:cxnSp>
        <p:nvCxnSpPr>
          <p:cNvPr id="43020" name="AutoShape 15"/>
          <p:cNvCxnSpPr>
            <a:cxnSpLocks noChangeShapeType="1"/>
            <a:endCxn id="43014" idx="2"/>
          </p:cNvCxnSpPr>
          <p:nvPr/>
        </p:nvCxnSpPr>
        <p:spPr bwMode="auto">
          <a:xfrm flipV="1">
            <a:off x="6588125" y="4379912"/>
            <a:ext cx="1552575" cy="614363"/>
          </a:xfrm>
          <a:prstGeom prst="bentConnector2">
            <a:avLst/>
          </a:prstGeom>
          <a:noFill/>
          <a:ln w="57150">
            <a:solidFill>
              <a:srgbClr val="000066"/>
            </a:solidFill>
            <a:miter lim="800000"/>
            <a:headEnd/>
            <a:tailEnd type="triangle" w="med" len="med"/>
          </a:ln>
          <a:extLst>
            <a:ext uri="{909E8E84-426E-40DD-AFC4-6F175D3DCCD1}">
              <a14:hiddenFill xmlns:a14="http://schemas.microsoft.com/office/drawing/2010/main">
                <a:noFill/>
              </a14:hiddenFill>
            </a:ext>
          </a:extLst>
        </p:spPr>
      </p:cxnSp>
      <p:sp>
        <p:nvSpPr>
          <p:cNvPr id="43021" name="Line 17"/>
          <p:cNvSpPr>
            <a:spLocks noChangeShapeType="1"/>
          </p:cNvSpPr>
          <p:nvPr/>
        </p:nvSpPr>
        <p:spPr bwMode="auto">
          <a:xfrm flipH="1" flipV="1">
            <a:off x="6011863" y="3698875"/>
            <a:ext cx="0" cy="1008062"/>
          </a:xfrm>
          <a:prstGeom prst="line">
            <a:avLst/>
          </a:prstGeom>
          <a:noFill/>
          <a:ln w="57150">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2" name="Rectangle 18"/>
          <p:cNvSpPr>
            <a:spLocks noChangeArrowheads="1"/>
          </p:cNvSpPr>
          <p:nvPr/>
        </p:nvSpPr>
        <p:spPr bwMode="auto">
          <a:xfrm>
            <a:off x="1258887" y="1193006"/>
            <a:ext cx="1387475"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defTabSz="762000">
              <a:lnSpc>
                <a:spcPct val="125000"/>
              </a:lnSpc>
            </a:pPr>
            <a:r>
              <a:rPr kumimoji="1" lang="en-US" altLang="zh-CN" sz="2400" b="1" dirty="0">
                <a:solidFill>
                  <a:srgbClr val="800000"/>
                </a:solidFill>
                <a:latin typeface="微软雅黑" pitchFamily="34" charset="-122"/>
                <a:ea typeface="微软雅黑" pitchFamily="34" charset="-122"/>
                <a:cs typeface="Times New Roman" pitchFamily="18" charset="0"/>
              </a:rPr>
              <a:t>data</a:t>
            </a:r>
          </a:p>
          <a:p>
            <a:pPr algn="ctr" defTabSz="762000">
              <a:lnSpc>
                <a:spcPct val="125000"/>
              </a:lnSpc>
            </a:pPr>
            <a:r>
              <a:rPr kumimoji="1" lang="en-US" altLang="zh-CN" sz="2400" b="1" dirty="0">
                <a:solidFill>
                  <a:srgbClr val="800000"/>
                </a:solidFill>
                <a:latin typeface="微软雅黑" pitchFamily="34" charset="-122"/>
                <a:ea typeface="微软雅黑" pitchFamily="34" charset="-122"/>
                <a:cs typeface="Times New Roman" pitchFamily="18" charset="0"/>
              </a:rPr>
              <a:t>address</a:t>
            </a:r>
          </a:p>
          <a:p>
            <a:pPr algn="ctr" defTabSz="762000">
              <a:lnSpc>
                <a:spcPct val="125000"/>
              </a:lnSpc>
            </a:pPr>
            <a:r>
              <a:rPr kumimoji="1" lang="en-US" altLang="zh-CN" sz="2400" b="1" dirty="0">
                <a:solidFill>
                  <a:srgbClr val="800000"/>
                </a:solidFill>
                <a:latin typeface="微软雅黑" pitchFamily="34" charset="-122"/>
                <a:ea typeface="微软雅黑" pitchFamily="34" charset="-122"/>
                <a:cs typeface="Times New Roman" pitchFamily="18" charset="0"/>
              </a:rPr>
              <a:t>control</a:t>
            </a:r>
          </a:p>
        </p:txBody>
      </p:sp>
      <p:sp>
        <p:nvSpPr>
          <p:cNvPr id="43023" name="AutoShape 19"/>
          <p:cNvSpPr>
            <a:spLocks noChangeArrowheads="1"/>
          </p:cNvSpPr>
          <p:nvPr/>
        </p:nvSpPr>
        <p:spPr bwMode="auto">
          <a:xfrm rot="16200000" flipH="1">
            <a:off x="585788" y="1131887"/>
            <a:ext cx="381000" cy="762000"/>
          </a:xfrm>
          <a:prstGeom prst="downArrow">
            <a:avLst>
              <a:gd name="adj1" fmla="val 50000"/>
              <a:gd name="adj2" fmla="val 81944"/>
            </a:avLst>
          </a:prstGeom>
          <a:gradFill rotWithShape="0">
            <a:gsLst>
              <a:gs pos="0">
                <a:srgbClr val="FFF200"/>
              </a:gs>
              <a:gs pos="45000">
                <a:srgbClr val="FF7A00"/>
              </a:gs>
              <a:gs pos="70000">
                <a:srgbClr val="FF0300"/>
              </a:gs>
              <a:gs pos="100000">
                <a:srgbClr val="4D0808"/>
              </a:gs>
            </a:gsLst>
            <a:lin ang="5400000" scaled="1"/>
          </a:gradFill>
          <a:ln w="9525" algn="ctr">
            <a:solidFill>
              <a:srgbClr val="000066"/>
            </a:solidFill>
            <a:miter lim="800000"/>
            <a:headEnd/>
            <a:tailEnd/>
          </a:ln>
        </p:spPr>
        <p:txBody>
          <a:bodyPr vert="eaVert" wrap="none" anchor="ctr"/>
          <a:lstStyle/>
          <a:p>
            <a:pPr algn="ctr" eaLnBrk="1" hangingPunct="1"/>
            <a:endParaRPr lang="zh-CN" altLang="en-US" b="1">
              <a:latin typeface="微软雅黑" pitchFamily="34" charset="-122"/>
              <a:ea typeface="微软雅黑" pitchFamily="34" charset="-122"/>
            </a:endParaRPr>
          </a:p>
        </p:txBody>
      </p:sp>
      <p:sp>
        <p:nvSpPr>
          <p:cNvPr id="43024" name="AutoShape 20"/>
          <p:cNvSpPr>
            <a:spLocks noChangeArrowheads="1"/>
          </p:cNvSpPr>
          <p:nvPr/>
        </p:nvSpPr>
        <p:spPr bwMode="auto">
          <a:xfrm rot="16200000" flipH="1">
            <a:off x="623888" y="1550987"/>
            <a:ext cx="304800" cy="762000"/>
          </a:xfrm>
          <a:prstGeom prst="downArrow">
            <a:avLst>
              <a:gd name="adj1" fmla="val 50000"/>
              <a:gd name="adj2" fmla="val 102431"/>
            </a:avLst>
          </a:prstGeom>
          <a:solidFill>
            <a:srgbClr val="66FFFF"/>
          </a:solidFill>
          <a:ln w="9525">
            <a:solidFill>
              <a:srgbClr val="FF0000"/>
            </a:solidFill>
            <a:miter lim="800000"/>
            <a:headEnd/>
            <a:tailEnd/>
          </a:ln>
        </p:spPr>
        <p:txBody>
          <a:bodyPr vert="eaVert" wrap="none" anchor="ctr"/>
          <a:lstStyle/>
          <a:p>
            <a:pPr algn="ctr" eaLnBrk="1" hangingPunct="1"/>
            <a:endParaRPr lang="zh-CN" altLang="en-US" b="1">
              <a:latin typeface="微软雅黑" pitchFamily="34" charset="-122"/>
              <a:ea typeface="微软雅黑" pitchFamily="34" charset="-122"/>
            </a:endParaRPr>
          </a:p>
        </p:txBody>
      </p:sp>
      <p:sp>
        <p:nvSpPr>
          <p:cNvPr id="43025" name="Line 21"/>
          <p:cNvSpPr>
            <a:spLocks noChangeShapeType="1"/>
          </p:cNvSpPr>
          <p:nvPr/>
        </p:nvSpPr>
        <p:spPr bwMode="auto">
          <a:xfrm>
            <a:off x="395288" y="2389187"/>
            <a:ext cx="762000" cy="0"/>
          </a:xfrm>
          <a:prstGeom prst="line">
            <a:avLst/>
          </a:prstGeom>
          <a:noFill/>
          <a:ln w="57150">
            <a:solidFill>
              <a:srgbClr val="00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02" name="AutoShape 22">
            <a:hlinkClick r:id="rId2" action="ppaction://hlinksldjump"/>
          </p:cNvPr>
          <p:cNvSpPr>
            <a:spLocks noChangeArrowheads="1"/>
          </p:cNvSpPr>
          <p:nvPr/>
        </p:nvSpPr>
        <p:spPr bwMode="auto">
          <a:xfrm>
            <a:off x="3451225" y="4756150"/>
            <a:ext cx="1389063" cy="579437"/>
          </a:xfrm>
          <a:prstGeom prst="roundRect">
            <a:avLst>
              <a:gd name="adj" fmla="val 16667"/>
            </a:avLst>
          </a:prstGeom>
          <a:noFill/>
          <a:ln w="57150">
            <a:solidFill>
              <a:srgbClr val="800000"/>
            </a:solidFill>
            <a:round/>
            <a:headEnd/>
            <a:tailEnd/>
          </a:ln>
          <a:effectLst/>
        </p:spPr>
        <p:txBody>
          <a:bodyPr lIns="92075" tIns="46038" rIns="92075" bIns="46038">
            <a:spAutoFit/>
          </a:bodyPr>
          <a:lstStyle/>
          <a:p>
            <a:pPr algn="ctr" defTabSz="762000">
              <a:defRPr/>
            </a:pPr>
            <a:r>
              <a:rPr kumimoji="1" lang="zh-CN" altLang="en-US" sz="2800" b="1" dirty="0">
                <a:solidFill>
                  <a:srgbClr val="000000"/>
                </a:solidFill>
                <a:effectLst>
                  <a:outerShdw blurRad="38100" dist="38100" dir="2700000" algn="tl">
                    <a:srgbClr val="C0C0C0"/>
                  </a:outerShdw>
                </a:effectLst>
                <a:latin typeface="微软雅黑" pitchFamily="34" charset="-122"/>
                <a:ea typeface="微软雅黑" pitchFamily="34" charset="-122"/>
                <a:cs typeface="Times New Roman" pitchFamily="18" charset="0"/>
              </a:rPr>
              <a:t>运算器</a:t>
            </a:r>
            <a:endParaRPr kumimoji="1" lang="en-US" altLang="zh-CN" sz="2800" b="1" dirty="0">
              <a:solidFill>
                <a:srgbClr val="000000"/>
              </a:solidFill>
              <a:effectLst>
                <a:outerShdw blurRad="38100" dist="38100" dir="2700000" algn="tl">
                  <a:srgbClr val="C0C0C0"/>
                </a:outerShdw>
              </a:effectLst>
              <a:latin typeface="微软雅黑" pitchFamily="34" charset="-122"/>
              <a:ea typeface="微软雅黑" pitchFamily="34" charset="-122"/>
              <a:cs typeface="Times New Roman" pitchFamily="18" charset="0"/>
            </a:endParaRPr>
          </a:p>
        </p:txBody>
      </p:sp>
      <p:sp>
        <p:nvSpPr>
          <p:cNvPr id="43027" name="AutoShape 23"/>
          <p:cNvSpPr>
            <a:spLocks noChangeArrowheads="1"/>
          </p:cNvSpPr>
          <p:nvPr/>
        </p:nvSpPr>
        <p:spPr bwMode="auto">
          <a:xfrm>
            <a:off x="3779838" y="3698875"/>
            <a:ext cx="533400" cy="974725"/>
          </a:xfrm>
          <a:prstGeom prst="upDownArrow">
            <a:avLst>
              <a:gd name="adj1" fmla="val 50000"/>
              <a:gd name="adj2" fmla="val 47910"/>
            </a:avLst>
          </a:prstGeom>
          <a:gradFill rotWithShape="0">
            <a:gsLst>
              <a:gs pos="0">
                <a:srgbClr val="FFF200"/>
              </a:gs>
              <a:gs pos="45000">
                <a:srgbClr val="FF7A00"/>
              </a:gs>
              <a:gs pos="70000">
                <a:srgbClr val="FF0300"/>
              </a:gs>
              <a:gs pos="100000">
                <a:srgbClr val="4D0808"/>
              </a:gs>
            </a:gsLst>
            <a:lin ang="5400000" scaled="1"/>
          </a:gradFill>
          <a:ln w="9525" algn="ctr">
            <a:solidFill>
              <a:srgbClr val="000066"/>
            </a:solidFill>
            <a:miter lim="800000"/>
            <a:headEnd/>
            <a:tailEnd/>
          </a:ln>
        </p:spPr>
        <p:txBody>
          <a:bodyPr vert="eaVert" wrap="none" anchor="ctr"/>
          <a:lstStyle/>
          <a:p>
            <a:pPr algn="ctr" eaLnBrk="1" hangingPunct="1"/>
            <a:endParaRPr lang="zh-CN" altLang="en-US" b="1">
              <a:latin typeface="微软雅黑" pitchFamily="34" charset="-122"/>
              <a:ea typeface="微软雅黑" pitchFamily="34" charset="-122"/>
            </a:endParaRPr>
          </a:p>
        </p:txBody>
      </p:sp>
      <p:sp>
        <p:nvSpPr>
          <p:cNvPr id="43028" name="AutoShape 24"/>
          <p:cNvSpPr>
            <a:spLocks noChangeArrowheads="1"/>
          </p:cNvSpPr>
          <p:nvPr/>
        </p:nvSpPr>
        <p:spPr bwMode="auto">
          <a:xfrm>
            <a:off x="5435600" y="3698875"/>
            <a:ext cx="533400" cy="1008062"/>
          </a:xfrm>
          <a:prstGeom prst="downArrow">
            <a:avLst>
              <a:gd name="adj1" fmla="val 50000"/>
              <a:gd name="adj2" fmla="val 42111"/>
            </a:avLst>
          </a:prstGeom>
          <a:solidFill>
            <a:srgbClr val="66FFFF"/>
          </a:solidFill>
          <a:ln w="9525">
            <a:solidFill>
              <a:srgbClr val="FF0000"/>
            </a:solidFill>
            <a:miter lim="800000"/>
            <a:headEnd/>
            <a:tailEnd/>
          </a:ln>
        </p:spPr>
        <p:txBody>
          <a:bodyPr vert="eaVert" wrap="none" anchor="ctr"/>
          <a:lstStyle/>
          <a:p>
            <a:pPr algn="ctr" eaLnBrk="1" hangingPunct="1"/>
            <a:endParaRPr lang="zh-CN" altLang="en-US" b="1">
              <a:latin typeface="微软雅黑" pitchFamily="34" charset="-122"/>
              <a:ea typeface="微软雅黑" pitchFamily="34" charset="-122"/>
            </a:endParaRPr>
          </a:p>
        </p:txBody>
      </p:sp>
      <p:sp>
        <p:nvSpPr>
          <p:cNvPr id="276505" name="AutoShape 25">
            <a:hlinkClick r:id="rId3" action="ppaction://hlinksldjump"/>
          </p:cNvPr>
          <p:cNvSpPr>
            <a:spLocks noChangeArrowheads="1"/>
          </p:cNvSpPr>
          <p:nvPr/>
        </p:nvSpPr>
        <p:spPr bwMode="auto">
          <a:xfrm>
            <a:off x="5203825" y="4756150"/>
            <a:ext cx="1317625" cy="579437"/>
          </a:xfrm>
          <a:prstGeom prst="roundRect">
            <a:avLst>
              <a:gd name="adj" fmla="val 16667"/>
            </a:avLst>
          </a:prstGeom>
          <a:noFill/>
          <a:ln w="57150">
            <a:solidFill>
              <a:srgbClr val="800000"/>
            </a:solidFill>
            <a:round/>
            <a:headEnd/>
            <a:tailEnd/>
          </a:ln>
          <a:effectLst/>
        </p:spPr>
        <p:txBody>
          <a:bodyPr wrap="none" lIns="92075" tIns="46038" rIns="92075" bIns="46038">
            <a:spAutoFit/>
          </a:bodyPr>
          <a:lstStyle/>
          <a:p>
            <a:pPr algn="ctr" defTabSz="762000">
              <a:defRPr/>
            </a:pPr>
            <a:r>
              <a:rPr kumimoji="1" lang="zh-CN" altLang="en-US" sz="2800" b="1" dirty="0">
                <a:solidFill>
                  <a:srgbClr val="000000"/>
                </a:solidFill>
                <a:effectLst>
                  <a:outerShdw blurRad="38100" dist="38100" dir="2700000" algn="tl">
                    <a:srgbClr val="C0C0C0"/>
                  </a:outerShdw>
                </a:effectLst>
                <a:latin typeface="微软雅黑" pitchFamily="34" charset="-122"/>
                <a:ea typeface="微软雅黑" pitchFamily="34" charset="-122"/>
                <a:cs typeface="Times New Roman" pitchFamily="18" charset="0"/>
              </a:rPr>
              <a:t>控制器</a:t>
            </a:r>
            <a:endParaRPr kumimoji="1" lang="en-US" altLang="zh-CN" sz="2800" b="1" dirty="0">
              <a:solidFill>
                <a:srgbClr val="000000"/>
              </a:solidFill>
              <a:effectLst>
                <a:outerShdw blurRad="38100" dist="38100" dir="2700000" algn="tl">
                  <a:srgbClr val="C0C0C0"/>
                </a:outerShdw>
              </a:effectLst>
              <a:latin typeface="微软雅黑" pitchFamily="34" charset="-122"/>
              <a:ea typeface="微软雅黑" pitchFamily="34" charset="-122"/>
              <a:cs typeface="Times New Roman" pitchFamily="18" charset="0"/>
            </a:endParaRPr>
          </a:p>
        </p:txBody>
      </p:sp>
      <p:sp>
        <p:nvSpPr>
          <p:cNvPr id="24" name="标题 1"/>
          <p:cNvSpPr txBox="1">
            <a:spLocks/>
          </p:cNvSpPr>
          <p:nvPr/>
        </p:nvSpPr>
        <p:spPr bwMode="auto">
          <a:xfrm>
            <a:off x="10886" y="457200"/>
            <a:ext cx="590550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rtl="0" eaLnBrk="0" fontAlgn="base" hangingPunct="0">
              <a:spcBef>
                <a:spcPct val="0"/>
              </a:spcBef>
              <a:spcAft>
                <a:spcPct val="0"/>
              </a:spcAft>
              <a:defRPr sz="3600" b="1">
                <a:solidFill>
                  <a:srgbClr val="CC3300"/>
                </a:solidFill>
                <a:latin typeface="+mj-lt"/>
                <a:ea typeface="+mj-ea"/>
                <a:cs typeface="+mj-cs"/>
              </a:defRPr>
            </a:lvl1pPr>
            <a:lvl2pPr algn="r" rtl="0" eaLnBrk="0" fontAlgn="base" hangingPunct="0">
              <a:spcBef>
                <a:spcPct val="0"/>
              </a:spcBef>
              <a:spcAft>
                <a:spcPct val="0"/>
              </a:spcAft>
              <a:defRPr sz="3600" b="1">
                <a:solidFill>
                  <a:srgbClr val="CC3300"/>
                </a:solidFill>
                <a:latin typeface="Arial" charset="0"/>
                <a:ea typeface="黑体" pitchFamily="2" charset="-122"/>
              </a:defRPr>
            </a:lvl2pPr>
            <a:lvl3pPr algn="r" rtl="0" eaLnBrk="0" fontAlgn="base" hangingPunct="0">
              <a:spcBef>
                <a:spcPct val="0"/>
              </a:spcBef>
              <a:spcAft>
                <a:spcPct val="0"/>
              </a:spcAft>
              <a:defRPr sz="3600" b="1">
                <a:solidFill>
                  <a:srgbClr val="CC3300"/>
                </a:solidFill>
                <a:latin typeface="Arial" charset="0"/>
                <a:ea typeface="黑体" pitchFamily="2" charset="-122"/>
              </a:defRPr>
            </a:lvl3pPr>
            <a:lvl4pPr algn="r" rtl="0" eaLnBrk="0" fontAlgn="base" hangingPunct="0">
              <a:spcBef>
                <a:spcPct val="0"/>
              </a:spcBef>
              <a:spcAft>
                <a:spcPct val="0"/>
              </a:spcAft>
              <a:defRPr sz="3600" b="1">
                <a:solidFill>
                  <a:srgbClr val="CC3300"/>
                </a:solidFill>
                <a:latin typeface="Arial" charset="0"/>
                <a:ea typeface="黑体" pitchFamily="2" charset="-122"/>
              </a:defRPr>
            </a:lvl4pPr>
            <a:lvl5pPr algn="r" rtl="0" eaLnBrk="0" fontAlgn="base" hangingPunct="0">
              <a:spcBef>
                <a:spcPct val="0"/>
              </a:spcBef>
              <a:spcAft>
                <a:spcPct val="0"/>
              </a:spcAft>
              <a:defRPr sz="3600" b="1">
                <a:solidFill>
                  <a:srgbClr val="CC3300"/>
                </a:solidFill>
                <a:latin typeface="Arial" charset="0"/>
                <a:ea typeface="黑体" pitchFamily="2" charset="-122"/>
              </a:defRPr>
            </a:lvl5pPr>
            <a:lvl6pPr marL="457200" algn="r" rtl="0" fontAlgn="base">
              <a:spcBef>
                <a:spcPct val="0"/>
              </a:spcBef>
              <a:spcAft>
                <a:spcPct val="0"/>
              </a:spcAft>
              <a:defRPr sz="3600" b="1">
                <a:solidFill>
                  <a:srgbClr val="CC3300"/>
                </a:solidFill>
                <a:latin typeface="Arial" charset="0"/>
                <a:ea typeface="黑体" pitchFamily="2" charset="-122"/>
              </a:defRPr>
            </a:lvl6pPr>
            <a:lvl7pPr marL="914400" algn="r" rtl="0" fontAlgn="base">
              <a:spcBef>
                <a:spcPct val="0"/>
              </a:spcBef>
              <a:spcAft>
                <a:spcPct val="0"/>
              </a:spcAft>
              <a:defRPr sz="3600" b="1">
                <a:solidFill>
                  <a:srgbClr val="CC3300"/>
                </a:solidFill>
                <a:latin typeface="Arial" charset="0"/>
                <a:ea typeface="黑体" pitchFamily="2" charset="-122"/>
              </a:defRPr>
            </a:lvl7pPr>
            <a:lvl8pPr marL="1371600" algn="r" rtl="0" fontAlgn="base">
              <a:spcBef>
                <a:spcPct val="0"/>
              </a:spcBef>
              <a:spcAft>
                <a:spcPct val="0"/>
              </a:spcAft>
              <a:defRPr sz="3600" b="1">
                <a:solidFill>
                  <a:srgbClr val="CC3300"/>
                </a:solidFill>
                <a:latin typeface="Arial" charset="0"/>
                <a:ea typeface="黑体" pitchFamily="2" charset="-122"/>
              </a:defRPr>
            </a:lvl8pPr>
            <a:lvl9pPr marL="1828800" algn="r" rtl="0" fontAlgn="base">
              <a:spcBef>
                <a:spcPct val="0"/>
              </a:spcBef>
              <a:spcAft>
                <a:spcPct val="0"/>
              </a:spcAft>
              <a:defRPr sz="3600" b="1">
                <a:solidFill>
                  <a:srgbClr val="CC3300"/>
                </a:solidFill>
                <a:latin typeface="Arial" charset="0"/>
                <a:ea typeface="黑体" pitchFamily="2" charset="-122"/>
              </a:defRPr>
            </a:lvl9pPr>
          </a:lstStyle>
          <a:p>
            <a:pPr algn="l">
              <a:defRPr/>
            </a:pPr>
            <a:r>
              <a:rPr lang="zh-CN" altLang="en-US" sz="2800" kern="0" dirty="0">
                <a:solidFill>
                  <a:schemeClr val="bg1"/>
                </a:solidFill>
                <a:latin typeface="华文新魏" panose="02010800040101010101" pitchFamily="2" charset="-122"/>
                <a:ea typeface="华文新魏" panose="02010800040101010101" pitchFamily="2" charset="-122"/>
              </a:rPr>
              <a:t>计算机硬件系统基础</a:t>
            </a:r>
          </a:p>
        </p:txBody>
      </p:sp>
    </p:spTree>
    <p:extLst>
      <p:ext uri="{BB962C8B-B14F-4D97-AF65-F5344CB8AC3E}">
        <p14:creationId xmlns:p14="http://schemas.microsoft.com/office/powerpoint/2010/main" val="3396915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5"/>
          <p:cNvSpPr>
            <a:spLocks noChangeArrowheads="1"/>
          </p:cNvSpPr>
          <p:nvPr/>
        </p:nvSpPr>
        <p:spPr bwMode="auto">
          <a:xfrm>
            <a:off x="250824" y="1162844"/>
            <a:ext cx="21193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zh-CN" altLang="en-US" sz="3200" b="1">
                <a:solidFill>
                  <a:srgbClr val="990033"/>
                </a:solidFill>
                <a:latin typeface="微软雅黑" pitchFamily="34" charset="-122"/>
                <a:ea typeface="微软雅黑" pitchFamily="34" charset="-122"/>
                <a:cs typeface="Times New Roman" pitchFamily="18" charset="0"/>
              </a:rPr>
              <a:t>关于内存</a:t>
            </a:r>
          </a:p>
        </p:txBody>
      </p:sp>
      <p:grpSp>
        <p:nvGrpSpPr>
          <p:cNvPr id="47107" name="Group 30"/>
          <p:cNvGrpSpPr>
            <a:grpSpLocks/>
          </p:cNvGrpSpPr>
          <p:nvPr/>
        </p:nvGrpSpPr>
        <p:grpSpPr bwMode="auto">
          <a:xfrm>
            <a:off x="3132138" y="2349500"/>
            <a:ext cx="3024187" cy="2374900"/>
            <a:chOff x="960" y="672"/>
            <a:chExt cx="3840" cy="3361"/>
          </a:xfrm>
        </p:grpSpPr>
        <p:sp>
          <p:nvSpPr>
            <p:cNvPr id="47115" name="Freeform 6"/>
            <p:cNvSpPr>
              <a:spLocks/>
            </p:cNvSpPr>
            <p:nvPr/>
          </p:nvSpPr>
          <p:spPr bwMode="auto">
            <a:xfrm>
              <a:off x="960" y="672"/>
              <a:ext cx="3840" cy="3360"/>
            </a:xfrm>
            <a:custGeom>
              <a:avLst/>
              <a:gdLst>
                <a:gd name="T0" fmla="*/ 5387 w 3120"/>
                <a:gd name="T1" fmla="*/ 2697 h 3114"/>
                <a:gd name="T2" fmla="*/ 6361 w 3120"/>
                <a:gd name="T3" fmla="*/ 3140 h 3114"/>
                <a:gd name="T4" fmla="*/ 5794 w 3120"/>
                <a:gd name="T5" fmla="*/ 4220 h 3114"/>
                <a:gd name="T6" fmla="*/ 3940 w 3120"/>
                <a:gd name="T7" fmla="*/ 4220 h 3114"/>
                <a:gd name="T8" fmla="*/ 3577 w 3120"/>
                <a:gd name="T9" fmla="*/ 3525 h 3114"/>
                <a:gd name="T10" fmla="*/ 3210 w 3120"/>
                <a:gd name="T11" fmla="*/ 4218 h 3114"/>
                <a:gd name="T12" fmla="*/ 1360 w 3120"/>
                <a:gd name="T13" fmla="*/ 4218 h 3114"/>
                <a:gd name="T14" fmla="*/ 789 w 3120"/>
                <a:gd name="T15" fmla="*/ 3137 h 3114"/>
                <a:gd name="T16" fmla="*/ 1759 w 3120"/>
                <a:gd name="T17" fmla="*/ 2697 h 3114"/>
                <a:gd name="T18" fmla="*/ 566 w 3120"/>
                <a:gd name="T19" fmla="*/ 2697 h 3114"/>
                <a:gd name="T20" fmla="*/ 0 w 3120"/>
                <a:gd name="T21" fmla="*/ 1618 h 3114"/>
                <a:gd name="T22" fmla="*/ 1494 w 3120"/>
                <a:gd name="T23" fmla="*/ 940 h 3114"/>
                <a:gd name="T24" fmla="*/ 2448 w 3120"/>
                <a:gd name="T25" fmla="*/ 1374 h 3114"/>
                <a:gd name="T26" fmla="*/ 2086 w 3120"/>
                <a:gd name="T27" fmla="*/ 674 h 3114"/>
                <a:gd name="T28" fmla="*/ 3578 w 3120"/>
                <a:gd name="T29" fmla="*/ 0 h 3114"/>
                <a:gd name="T30" fmla="*/ 5073 w 3120"/>
                <a:gd name="T31" fmla="*/ 674 h 3114"/>
                <a:gd name="T32" fmla="*/ 4705 w 3120"/>
                <a:gd name="T33" fmla="*/ 1371 h 3114"/>
                <a:gd name="T34" fmla="*/ 5665 w 3120"/>
                <a:gd name="T35" fmla="*/ 940 h 3114"/>
                <a:gd name="T36" fmla="*/ 7159 w 3120"/>
                <a:gd name="T37" fmla="*/ 1618 h 3114"/>
                <a:gd name="T38" fmla="*/ 6590 w 3120"/>
                <a:gd name="T39" fmla="*/ 2697 h 3114"/>
                <a:gd name="T40" fmla="*/ 5387 w 3120"/>
                <a:gd name="T41" fmla="*/ 2697 h 311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120"/>
                <a:gd name="T64" fmla="*/ 0 h 3114"/>
                <a:gd name="T65" fmla="*/ 3120 w 3120"/>
                <a:gd name="T66" fmla="*/ 3114 h 311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120" h="3114">
                  <a:moveTo>
                    <a:pt x="2347" y="1990"/>
                  </a:moveTo>
                  <a:lnTo>
                    <a:pt x="2772" y="2317"/>
                  </a:lnTo>
                  <a:lnTo>
                    <a:pt x="2525" y="3114"/>
                  </a:lnTo>
                  <a:lnTo>
                    <a:pt x="1717" y="3114"/>
                  </a:lnTo>
                  <a:lnTo>
                    <a:pt x="1558" y="2601"/>
                  </a:lnTo>
                  <a:lnTo>
                    <a:pt x="1399" y="3112"/>
                  </a:lnTo>
                  <a:lnTo>
                    <a:pt x="593" y="3112"/>
                  </a:lnTo>
                  <a:lnTo>
                    <a:pt x="344" y="2314"/>
                  </a:lnTo>
                  <a:lnTo>
                    <a:pt x="766" y="1990"/>
                  </a:lnTo>
                  <a:lnTo>
                    <a:pt x="247" y="1990"/>
                  </a:lnTo>
                  <a:lnTo>
                    <a:pt x="0" y="1194"/>
                  </a:lnTo>
                  <a:lnTo>
                    <a:pt x="651" y="693"/>
                  </a:lnTo>
                  <a:lnTo>
                    <a:pt x="1067" y="1014"/>
                  </a:lnTo>
                  <a:lnTo>
                    <a:pt x="909" y="498"/>
                  </a:lnTo>
                  <a:lnTo>
                    <a:pt x="1559" y="0"/>
                  </a:lnTo>
                  <a:lnTo>
                    <a:pt x="2211" y="498"/>
                  </a:lnTo>
                  <a:lnTo>
                    <a:pt x="2051" y="1012"/>
                  </a:lnTo>
                  <a:lnTo>
                    <a:pt x="2469" y="693"/>
                  </a:lnTo>
                  <a:lnTo>
                    <a:pt x="3120" y="1194"/>
                  </a:lnTo>
                  <a:lnTo>
                    <a:pt x="2871" y="1990"/>
                  </a:lnTo>
                  <a:lnTo>
                    <a:pt x="2347" y="1990"/>
                  </a:lnTo>
                  <a:close/>
                </a:path>
              </a:pathLst>
            </a:custGeom>
            <a:solidFill>
              <a:srgbClr val="000066">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7116" name="Group 7"/>
            <p:cNvGrpSpPr>
              <a:grpSpLocks/>
            </p:cNvGrpSpPr>
            <p:nvPr/>
          </p:nvGrpSpPr>
          <p:grpSpPr bwMode="auto">
            <a:xfrm>
              <a:off x="2928" y="2736"/>
              <a:ext cx="1345" cy="1248"/>
              <a:chOff x="2835" y="2624"/>
              <a:chExt cx="1345" cy="1248"/>
            </a:xfrm>
          </p:grpSpPr>
          <p:sp>
            <p:nvSpPr>
              <p:cNvPr id="47131" name="Freeform 8"/>
              <p:cNvSpPr>
                <a:spLocks/>
              </p:cNvSpPr>
              <p:nvPr/>
            </p:nvSpPr>
            <p:spPr bwMode="auto">
              <a:xfrm>
                <a:off x="2835" y="2624"/>
                <a:ext cx="1345" cy="1248"/>
              </a:xfrm>
              <a:custGeom>
                <a:avLst/>
                <a:gdLst>
                  <a:gd name="T0" fmla="*/ 2265 w 1053"/>
                  <a:gd name="T1" fmla="*/ 2072 h 1054"/>
                  <a:gd name="T2" fmla="*/ 531 w 1053"/>
                  <a:gd name="T3" fmla="*/ 2072 h 1054"/>
                  <a:gd name="T4" fmla="*/ 0 w 1053"/>
                  <a:gd name="T5" fmla="*/ 793 h 1054"/>
                  <a:gd name="T6" fmla="*/ 1400 w 1053"/>
                  <a:gd name="T7" fmla="*/ 0 h 1054"/>
                  <a:gd name="T8" fmla="*/ 2802 w 1053"/>
                  <a:gd name="T9" fmla="*/ 793 h 1054"/>
                  <a:gd name="T10" fmla="*/ 2265 w 1053"/>
                  <a:gd name="T11" fmla="*/ 2072 h 1054"/>
                  <a:gd name="T12" fmla="*/ 0 60000 65536"/>
                  <a:gd name="T13" fmla="*/ 0 60000 65536"/>
                  <a:gd name="T14" fmla="*/ 0 60000 65536"/>
                  <a:gd name="T15" fmla="*/ 0 60000 65536"/>
                  <a:gd name="T16" fmla="*/ 0 60000 65536"/>
                  <a:gd name="T17" fmla="*/ 0 60000 65536"/>
                  <a:gd name="T18" fmla="*/ 0 w 1053"/>
                  <a:gd name="T19" fmla="*/ 0 h 1054"/>
                  <a:gd name="T20" fmla="*/ 1053 w 1053"/>
                  <a:gd name="T21" fmla="*/ 1054 h 1054"/>
                </a:gdLst>
                <a:ahLst/>
                <a:cxnLst>
                  <a:cxn ang="T12">
                    <a:pos x="T0" y="T1"/>
                  </a:cxn>
                  <a:cxn ang="T13">
                    <a:pos x="T2" y="T3"/>
                  </a:cxn>
                  <a:cxn ang="T14">
                    <a:pos x="T4" y="T5"/>
                  </a:cxn>
                  <a:cxn ang="T15">
                    <a:pos x="T6" y="T7"/>
                  </a:cxn>
                  <a:cxn ang="T16">
                    <a:pos x="T8" y="T9"/>
                  </a:cxn>
                  <a:cxn ang="T17">
                    <a:pos x="T10" y="T11"/>
                  </a:cxn>
                </a:cxnLst>
                <a:rect l="T18" t="T19" r="T20" b="T21"/>
                <a:pathLst>
                  <a:path w="1053" h="1054">
                    <a:moveTo>
                      <a:pt x="851" y="1054"/>
                    </a:moveTo>
                    <a:lnTo>
                      <a:pt x="200" y="1054"/>
                    </a:lnTo>
                    <a:lnTo>
                      <a:pt x="0" y="404"/>
                    </a:lnTo>
                    <a:lnTo>
                      <a:pt x="526" y="0"/>
                    </a:lnTo>
                    <a:lnTo>
                      <a:pt x="1053" y="404"/>
                    </a:lnTo>
                    <a:lnTo>
                      <a:pt x="851" y="1054"/>
                    </a:lnTo>
                    <a:close/>
                  </a:path>
                </a:pathLst>
              </a:custGeom>
              <a:gradFill rotWithShape="0">
                <a:gsLst>
                  <a:gs pos="0">
                    <a:schemeClr val="bg1"/>
                  </a:gs>
                  <a:gs pos="100000">
                    <a:srgbClr val="00FF00"/>
                  </a:gs>
                </a:gsLst>
                <a:path path="rect">
                  <a:fillToRect l="50000" t="50000" r="50000" b="50000"/>
                </a:path>
              </a:gradFill>
              <a:ln w="9525">
                <a:round/>
                <a:headEnd/>
                <a:tailEnd/>
              </a:ln>
              <a:scene3d>
                <a:camera prst="legacyObliqueTopRight"/>
                <a:lightRig rig="legacyFlat3" dir="b"/>
              </a:scene3d>
              <a:sp3d extrusionH="430200" prstMaterial="legacyMatte">
                <a:bevelT w="13500" h="13500" prst="angle"/>
                <a:bevelB w="13500" h="13500" prst="angle"/>
                <a:extrusionClr>
                  <a:srgbClr val="00FF00"/>
                </a:extrusionClr>
              </a:sp3d>
            </p:spPr>
            <p:txBody>
              <a:bodyPr>
                <a:flatTx/>
              </a:bodyPr>
              <a:lstStyle/>
              <a:p>
                <a:endParaRPr lang="zh-CN" altLang="en-US"/>
              </a:p>
            </p:txBody>
          </p:sp>
          <p:sp>
            <p:nvSpPr>
              <p:cNvPr id="22" name="Rectangle 9"/>
              <p:cNvSpPr>
                <a:spLocks noChangeArrowheads="1"/>
              </p:cNvSpPr>
              <p:nvPr/>
            </p:nvSpPr>
            <p:spPr bwMode="auto">
              <a:xfrm>
                <a:off x="3397" y="3150"/>
                <a:ext cx="270" cy="431"/>
              </a:xfrm>
              <a:prstGeom prst="rect">
                <a:avLst/>
              </a:prstGeom>
              <a:noFill/>
              <a:ln w="12700" cap="sq">
                <a:noFill/>
                <a:miter lim="800000"/>
                <a:headEnd type="none" w="sm" len="sm"/>
                <a:tailEnd type="none" w="sm" len="sm"/>
              </a:ln>
              <a:effectLst/>
            </p:spPr>
            <p:txBody>
              <a:bodyPr wrap="none">
                <a:spAutoFit/>
              </a:bodyPr>
              <a:lstStyle/>
              <a:p>
                <a:pPr algn="ctr" eaLnBrk="1" hangingPunct="1">
                  <a:defRPr/>
                </a:pPr>
                <a:r>
                  <a:rPr lang="en-US" altLang="zh-CN" sz="1800" b="1">
                    <a:effectLst>
                      <a:outerShdw blurRad="38100" dist="38100" dir="2700000" algn="tl">
                        <a:srgbClr val="C0C0C0"/>
                      </a:outerShdw>
                    </a:effectLst>
                    <a:latin typeface="微软雅黑" pitchFamily="34" charset="-122"/>
                    <a:ea typeface="微软雅黑" pitchFamily="34" charset="-122"/>
                  </a:rPr>
                  <a:t> </a:t>
                </a:r>
              </a:p>
            </p:txBody>
          </p:sp>
        </p:grpSp>
        <p:grpSp>
          <p:nvGrpSpPr>
            <p:cNvPr id="47117" name="Group 10"/>
            <p:cNvGrpSpPr>
              <a:grpSpLocks/>
            </p:cNvGrpSpPr>
            <p:nvPr/>
          </p:nvGrpSpPr>
          <p:grpSpPr bwMode="auto">
            <a:xfrm>
              <a:off x="1536" y="2784"/>
              <a:ext cx="1344" cy="1249"/>
              <a:chOff x="1492" y="2614"/>
              <a:chExt cx="1344" cy="1249"/>
            </a:xfrm>
          </p:grpSpPr>
          <p:sp>
            <p:nvSpPr>
              <p:cNvPr id="47129" name="Freeform 11"/>
              <p:cNvSpPr>
                <a:spLocks/>
              </p:cNvSpPr>
              <p:nvPr/>
            </p:nvSpPr>
            <p:spPr bwMode="auto">
              <a:xfrm>
                <a:off x="1492" y="2614"/>
                <a:ext cx="1344" cy="1249"/>
              </a:xfrm>
              <a:custGeom>
                <a:avLst/>
                <a:gdLst>
                  <a:gd name="T0" fmla="*/ 539 w 1053"/>
                  <a:gd name="T1" fmla="*/ 2079 h 1054"/>
                  <a:gd name="T2" fmla="*/ 2258 w 1053"/>
                  <a:gd name="T3" fmla="*/ 2079 h 1054"/>
                  <a:gd name="T4" fmla="*/ 2794 w 1053"/>
                  <a:gd name="T5" fmla="*/ 798 h 1054"/>
                  <a:gd name="T6" fmla="*/ 1399 w 1053"/>
                  <a:gd name="T7" fmla="*/ 0 h 1054"/>
                  <a:gd name="T8" fmla="*/ 0 w 1053"/>
                  <a:gd name="T9" fmla="*/ 798 h 1054"/>
                  <a:gd name="T10" fmla="*/ 539 w 1053"/>
                  <a:gd name="T11" fmla="*/ 2079 h 1054"/>
                  <a:gd name="T12" fmla="*/ 0 60000 65536"/>
                  <a:gd name="T13" fmla="*/ 0 60000 65536"/>
                  <a:gd name="T14" fmla="*/ 0 60000 65536"/>
                  <a:gd name="T15" fmla="*/ 0 60000 65536"/>
                  <a:gd name="T16" fmla="*/ 0 60000 65536"/>
                  <a:gd name="T17" fmla="*/ 0 60000 65536"/>
                  <a:gd name="T18" fmla="*/ 0 w 1053"/>
                  <a:gd name="T19" fmla="*/ 0 h 1054"/>
                  <a:gd name="T20" fmla="*/ 1053 w 1053"/>
                  <a:gd name="T21" fmla="*/ 1054 h 1054"/>
                </a:gdLst>
                <a:ahLst/>
                <a:cxnLst>
                  <a:cxn ang="T12">
                    <a:pos x="T0" y="T1"/>
                  </a:cxn>
                  <a:cxn ang="T13">
                    <a:pos x="T2" y="T3"/>
                  </a:cxn>
                  <a:cxn ang="T14">
                    <a:pos x="T4" y="T5"/>
                  </a:cxn>
                  <a:cxn ang="T15">
                    <a:pos x="T6" y="T7"/>
                  </a:cxn>
                  <a:cxn ang="T16">
                    <a:pos x="T8" y="T9"/>
                  </a:cxn>
                  <a:cxn ang="T17">
                    <a:pos x="T10" y="T11"/>
                  </a:cxn>
                </a:cxnLst>
                <a:rect l="T18" t="T19" r="T20" b="T21"/>
                <a:pathLst>
                  <a:path w="1053" h="1054">
                    <a:moveTo>
                      <a:pt x="203" y="1054"/>
                    </a:moveTo>
                    <a:lnTo>
                      <a:pt x="851" y="1054"/>
                    </a:lnTo>
                    <a:lnTo>
                      <a:pt x="1053" y="404"/>
                    </a:lnTo>
                    <a:lnTo>
                      <a:pt x="527" y="0"/>
                    </a:lnTo>
                    <a:lnTo>
                      <a:pt x="0" y="404"/>
                    </a:lnTo>
                    <a:lnTo>
                      <a:pt x="203" y="1054"/>
                    </a:lnTo>
                    <a:close/>
                  </a:path>
                </a:pathLst>
              </a:custGeom>
              <a:gradFill rotWithShape="0">
                <a:gsLst>
                  <a:gs pos="0">
                    <a:schemeClr val="bg1"/>
                  </a:gs>
                  <a:gs pos="100000">
                    <a:srgbClr val="FFCCFF"/>
                  </a:gs>
                </a:gsLst>
                <a:path path="rect">
                  <a:fillToRect l="50000" t="50000" r="50000" b="50000"/>
                </a:path>
              </a:gradFill>
              <a:ln w="9525">
                <a:round/>
                <a:headEnd/>
                <a:tailEnd/>
              </a:ln>
              <a:scene3d>
                <a:camera prst="legacyObliqueTopRight"/>
                <a:lightRig rig="legacyFlat3" dir="b"/>
              </a:scene3d>
              <a:sp3d extrusionH="430200" prstMaterial="legacyMatte">
                <a:bevelT w="13500" h="13500" prst="angle"/>
                <a:bevelB w="13500" h="13500" prst="angle"/>
                <a:extrusionClr>
                  <a:srgbClr val="FFCCFF"/>
                </a:extrusionClr>
              </a:sp3d>
            </p:spPr>
            <p:txBody>
              <a:bodyPr>
                <a:flatTx/>
              </a:bodyPr>
              <a:lstStyle/>
              <a:p>
                <a:endParaRPr lang="zh-CN" altLang="en-US"/>
              </a:p>
            </p:txBody>
          </p:sp>
          <p:sp>
            <p:nvSpPr>
              <p:cNvPr id="20" name="Rectangle 12"/>
              <p:cNvSpPr>
                <a:spLocks noChangeArrowheads="1"/>
              </p:cNvSpPr>
              <p:nvPr/>
            </p:nvSpPr>
            <p:spPr bwMode="auto">
              <a:xfrm>
                <a:off x="1964" y="2942"/>
                <a:ext cx="270" cy="431"/>
              </a:xfrm>
              <a:prstGeom prst="rect">
                <a:avLst/>
              </a:prstGeom>
              <a:noFill/>
              <a:ln w="12700" cap="sq">
                <a:noFill/>
                <a:miter lim="800000"/>
                <a:headEnd type="none" w="sm" len="sm"/>
                <a:tailEnd type="none" w="sm" len="sm"/>
              </a:ln>
              <a:effectLst/>
            </p:spPr>
            <p:txBody>
              <a:bodyPr wrap="none">
                <a:spAutoFit/>
              </a:bodyPr>
              <a:lstStyle/>
              <a:p>
                <a:pPr algn="ctr">
                  <a:defRPr/>
                </a:pPr>
                <a:r>
                  <a:rPr lang="en-US" altLang="zh-CN" sz="1800" b="1">
                    <a:effectLst>
                      <a:outerShdw blurRad="38100" dist="38100" dir="2700000" algn="tl">
                        <a:srgbClr val="C0C0C0"/>
                      </a:outerShdw>
                    </a:effectLst>
                    <a:latin typeface="微软雅黑" pitchFamily="34" charset="-122"/>
                    <a:ea typeface="微软雅黑" pitchFamily="34" charset="-122"/>
                  </a:rPr>
                  <a:t> </a:t>
                </a:r>
                <a:endParaRPr lang="en-US" altLang="zh-CN" sz="2000" b="1">
                  <a:effectLst>
                    <a:outerShdw blurRad="38100" dist="38100" dir="2700000" algn="tl">
                      <a:srgbClr val="C0C0C0"/>
                    </a:outerShdw>
                  </a:effectLst>
                  <a:latin typeface="微软雅黑" pitchFamily="34" charset="-122"/>
                  <a:ea typeface="微软雅黑" pitchFamily="34" charset="-122"/>
                </a:endParaRPr>
              </a:p>
            </p:txBody>
          </p:sp>
        </p:grpSp>
        <p:grpSp>
          <p:nvGrpSpPr>
            <p:cNvPr id="47118" name="Group 13"/>
            <p:cNvGrpSpPr>
              <a:grpSpLocks/>
            </p:cNvGrpSpPr>
            <p:nvPr/>
          </p:nvGrpSpPr>
          <p:grpSpPr bwMode="auto">
            <a:xfrm>
              <a:off x="3408" y="1440"/>
              <a:ext cx="1344" cy="1247"/>
              <a:chOff x="1086" y="1362"/>
              <a:chExt cx="1344" cy="1247"/>
            </a:xfrm>
          </p:grpSpPr>
          <p:sp>
            <p:nvSpPr>
              <p:cNvPr id="47127" name="Freeform 14"/>
              <p:cNvSpPr>
                <a:spLocks/>
              </p:cNvSpPr>
              <p:nvPr/>
            </p:nvSpPr>
            <p:spPr bwMode="auto">
              <a:xfrm>
                <a:off x="1086" y="1362"/>
                <a:ext cx="1344" cy="1247"/>
              </a:xfrm>
              <a:custGeom>
                <a:avLst/>
                <a:gdLst>
                  <a:gd name="T0" fmla="*/ 536 w 1053"/>
                  <a:gd name="T1" fmla="*/ 2071 h 1053"/>
                  <a:gd name="T2" fmla="*/ 2258 w 1053"/>
                  <a:gd name="T3" fmla="*/ 2071 h 1053"/>
                  <a:gd name="T4" fmla="*/ 2794 w 1053"/>
                  <a:gd name="T5" fmla="*/ 793 h 1053"/>
                  <a:gd name="T6" fmla="*/ 1399 w 1053"/>
                  <a:gd name="T7" fmla="*/ 0 h 1053"/>
                  <a:gd name="T8" fmla="*/ 0 w 1053"/>
                  <a:gd name="T9" fmla="*/ 793 h 1053"/>
                  <a:gd name="T10" fmla="*/ 536 w 1053"/>
                  <a:gd name="T11" fmla="*/ 2071 h 1053"/>
                  <a:gd name="T12" fmla="*/ 0 60000 65536"/>
                  <a:gd name="T13" fmla="*/ 0 60000 65536"/>
                  <a:gd name="T14" fmla="*/ 0 60000 65536"/>
                  <a:gd name="T15" fmla="*/ 0 60000 65536"/>
                  <a:gd name="T16" fmla="*/ 0 60000 65536"/>
                  <a:gd name="T17" fmla="*/ 0 60000 65536"/>
                  <a:gd name="T18" fmla="*/ 0 w 1053"/>
                  <a:gd name="T19" fmla="*/ 0 h 1053"/>
                  <a:gd name="T20" fmla="*/ 1053 w 1053"/>
                  <a:gd name="T21" fmla="*/ 1053 h 1053"/>
                </a:gdLst>
                <a:ahLst/>
                <a:cxnLst>
                  <a:cxn ang="T12">
                    <a:pos x="T0" y="T1"/>
                  </a:cxn>
                  <a:cxn ang="T13">
                    <a:pos x="T2" y="T3"/>
                  </a:cxn>
                  <a:cxn ang="T14">
                    <a:pos x="T4" y="T5"/>
                  </a:cxn>
                  <a:cxn ang="T15">
                    <a:pos x="T6" y="T7"/>
                  </a:cxn>
                  <a:cxn ang="T16">
                    <a:pos x="T8" y="T9"/>
                  </a:cxn>
                  <a:cxn ang="T17">
                    <a:pos x="T10" y="T11"/>
                  </a:cxn>
                </a:cxnLst>
                <a:rect l="T18" t="T19" r="T20" b="T21"/>
                <a:pathLst>
                  <a:path w="1053" h="1053">
                    <a:moveTo>
                      <a:pt x="202" y="1053"/>
                    </a:moveTo>
                    <a:lnTo>
                      <a:pt x="851" y="1053"/>
                    </a:lnTo>
                    <a:lnTo>
                      <a:pt x="1053" y="404"/>
                    </a:lnTo>
                    <a:lnTo>
                      <a:pt x="527" y="0"/>
                    </a:lnTo>
                    <a:lnTo>
                      <a:pt x="0" y="404"/>
                    </a:lnTo>
                    <a:lnTo>
                      <a:pt x="202" y="1053"/>
                    </a:lnTo>
                    <a:close/>
                  </a:path>
                </a:pathLst>
              </a:custGeom>
              <a:gradFill rotWithShape="0">
                <a:gsLst>
                  <a:gs pos="0">
                    <a:schemeClr val="bg1"/>
                  </a:gs>
                  <a:gs pos="100000">
                    <a:srgbClr val="FF6600"/>
                  </a:gs>
                </a:gsLst>
                <a:path path="rect">
                  <a:fillToRect l="50000" t="50000" r="50000" b="50000"/>
                </a:path>
              </a:gradFill>
              <a:ln w="9525">
                <a:round/>
                <a:headEnd/>
                <a:tailEnd/>
              </a:ln>
              <a:scene3d>
                <a:camera prst="legacyObliqueTopRight"/>
                <a:lightRig rig="legacyFlat3" dir="b"/>
              </a:scene3d>
              <a:sp3d extrusionH="430200" prstMaterial="legacyMatte">
                <a:bevelT w="13500" h="13500" prst="angle"/>
                <a:bevelB w="13500" h="13500" prst="angle"/>
                <a:extrusionClr>
                  <a:srgbClr val="FF6600"/>
                </a:extrusionClr>
              </a:sp3d>
            </p:spPr>
            <p:txBody>
              <a:bodyPr>
                <a:flatTx/>
              </a:bodyPr>
              <a:lstStyle/>
              <a:p>
                <a:endParaRPr lang="zh-CN" altLang="en-US"/>
              </a:p>
            </p:txBody>
          </p:sp>
          <p:sp>
            <p:nvSpPr>
              <p:cNvPr id="47128" name="Text Box 15"/>
              <p:cNvSpPr txBox="1">
                <a:spLocks noChangeArrowheads="1"/>
              </p:cNvSpPr>
              <p:nvPr/>
            </p:nvSpPr>
            <p:spPr bwMode="auto">
              <a:xfrm>
                <a:off x="1635" y="1791"/>
                <a:ext cx="270" cy="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ap="sq">
                    <a:solidFill>
                      <a:srgbClr val="000000"/>
                    </a:solidFill>
                    <a:miter lim="800000"/>
                    <a:headEnd type="none" w="sm" len="sm"/>
                    <a:tailEnd type="none" w="sm" len="sm"/>
                  </a14:hiddenLine>
                </a:ext>
              </a:extLst>
            </p:spPr>
            <p:txBody>
              <a:bodyPr wrap="none" anchor="ctr">
                <a:spAutoFit/>
              </a:bodyPr>
              <a:lstStyle>
                <a:lvl1pPr>
                  <a:defRPr sz="3200">
                    <a:solidFill>
                      <a:schemeClr val="tx1"/>
                    </a:solidFill>
                    <a:latin typeface="Arial" pitchFamily="34" charset="0"/>
                    <a:ea typeface="黑体" pitchFamily="49" charset="-122"/>
                  </a:defRPr>
                </a:lvl1pPr>
                <a:lvl2pPr>
                  <a:defRPr sz="2800">
                    <a:solidFill>
                      <a:srgbClr val="000066"/>
                    </a:solidFill>
                    <a:latin typeface="Arial" pitchFamily="34" charset="0"/>
                    <a:ea typeface="黑体" pitchFamily="49" charset="-122"/>
                  </a:defRPr>
                </a:lvl2pPr>
                <a:lvl3pPr>
                  <a:defRPr sz="2400">
                    <a:solidFill>
                      <a:schemeClr val="tx1"/>
                    </a:solidFill>
                    <a:latin typeface="Arial" pitchFamily="34" charset="0"/>
                    <a:ea typeface="黑体" pitchFamily="49" charset="-122"/>
                  </a:defRPr>
                </a:lvl3pPr>
                <a:lvl4pPr>
                  <a:defRPr sz="2000">
                    <a:solidFill>
                      <a:schemeClr val="tx1"/>
                    </a:solidFill>
                    <a:latin typeface="Arial" pitchFamily="34" charset="0"/>
                    <a:ea typeface="黑体" pitchFamily="49" charset="-122"/>
                  </a:defRPr>
                </a:lvl4pPr>
                <a:lvl5pPr>
                  <a:defRPr sz="2000">
                    <a:solidFill>
                      <a:schemeClr val="tx1"/>
                    </a:solidFill>
                    <a:latin typeface="Arial" pitchFamily="34" charset="0"/>
                    <a:ea typeface="黑体" pitchFamily="49" charset="-122"/>
                  </a:defRPr>
                </a:lvl5pPr>
                <a:lvl6pPr eaLnBrk="0" hangingPunct="0">
                  <a:defRPr sz="2000">
                    <a:solidFill>
                      <a:schemeClr val="tx1"/>
                    </a:solidFill>
                    <a:latin typeface="Arial" pitchFamily="34" charset="0"/>
                    <a:ea typeface="黑体" pitchFamily="49" charset="-122"/>
                  </a:defRPr>
                </a:lvl6pPr>
                <a:lvl7pPr eaLnBrk="0" hangingPunct="0">
                  <a:defRPr sz="2000">
                    <a:solidFill>
                      <a:schemeClr val="tx1"/>
                    </a:solidFill>
                    <a:latin typeface="Arial" pitchFamily="34" charset="0"/>
                    <a:ea typeface="黑体" pitchFamily="49" charset="-122"/>
                  </a:defRPr>
                </a:lvl7pPr>
                <a:lvl8pPr eaLnBrk="0" hangingPunct="0">
                  <a:defRPr sz="2000">
                    <a:solidFill>
                      <a:schemeClr val="tx1"/>
                    </a:solidFill>
                    <a:latin typeface="Arial" pitchFamily="34" charset="0"/>
                    <a:ea typeface="黑体" pitchFamily="49" charset="-122"/>
                  </a:defRPr>
                </a:lvl8pPr>
                <a:lvl9pPr eaLnBrk="0" hangingPunct="0">
                  <a:defRPr sz="2000">
                    <a:solidFill>
                      <a:schemeClr val="tx1"/>
                    </a:solidFill>
                    <a:latin typeface="Arial" pitchFamily="34" charset="0"/>
                    <a:ea typeface="黑体" pitchFamily="49" charset="-122"/>
                  </a:defRPr>
                </a:lvl9pPr>
              </a:lstStyle>
              <a:p>
                <a:pPr algn="ctr"/>
                <a:r>
                  <a:rPr lang="en-US" altLang="zh-CN" sz="1800" b="1">
                    <a:latin typeface="微软雅黑" pitchFamily="34" charset="-122"/>
                    <a:ea typeface="微软雅黑" pitchFamily="34" charset="-122"/>
                  </a:rPr>
                  <a:t> </a:t>
                </a:r>
                <a:endParaRPr lang="en-US" altLang="zh-CN" sz="2400" b="1">
                  <a:latin typeface="微软雅黑" pitchFamily="34" charset="-122"/>
                  <a:ea typeface="微软雅黑" pitchFamily="34" charset="-122"/>
                </a:endParaRPr>
              </a:p>
            </p:txBody>
          </p:sp>
        </p:grpSp>
        <p:sp>
          <p:nvSpPr>
            <p:cNvPr id="47119" name="Freeform 16"/>
            <p:cNvSpPr>
              <a:spLocks/>
            </p:cNvSpPr>
            <p:nvPr/>
          </p:nvSpPr>
          <p:spPr bwMode="auto">
            <a:xfrm rot="10800000">
              <a:off x="2208" y="2016"/>
              <a:ext cx="1344" cy="1248"/>
            </a:xfrm>
            <a:custGeom>
              <a:avLst/>
              <a:gdLst>
                <a:gd name="T0" fmla="*/ 2259 w 1053"/>
                <a:gd name="T1" fmla="*/ 2078 h 1053"/>
                <a:gd name="T2" fmla="*/ 536 w 1053"/>
                <a:gd name="T3" fmla="*/ 2078 h 1053"/>
                <a:gd name="T4" fmla="*/ 0 w 1053"/>
                <a:gd name="T5" fmla="*/ 796 h 1053"/>
                <a:gd name="T6" fmla="*/ 1395 w 1053"/>
                <a:gd name="T7" fmla="*/ 0 h 1053"/>
                <a:gd name="T8" fmla="*/ 2794 w 1053"/>
                <a:gd name="T9" fmla="*/ 796 h 1053"/>
                <a:gd name="T10" fmla="*/ 2259 w 1053"/>
                <a:gd name="T11" fmla="*/ 2078 h 1053"/>
                <a:gd name="T12" fmla="*/ 0 60000 65536"/>
                <a:gd name="T13" fmla="*/ 0 60000 65536"/>
                <a:gd name="T14" fmla="*/ 0 60000 65536"/>
                <a:gd name="T15" fmla="*/ 0 60000 65536"/>
                <a:gd name="T16" fmla="*/ 0 60000 65536"/>
                <a:gd name="T17" fmla="*/ 0 60000 65536"/>
                <a:gd name="T18" fmla="*/ 0 w 1053"/>
                <a:gd name="T19" fmla="*/ 0 h 1053"/>
                <a:gd name="T20" fmla="*/ 1053 w 1053"/>
                <a:gd name="T21" fmla="*/ 1053 h 1053"/>
              </a:gdLst>
              <a:ahLst/>
              <a:cxnLst>
                <a:cxn ang="T12">
                  <a:pos x="T0" y="T1"/>
                </a:cxn>
                <a:cxn ang="T13">
                  <a:pos x="T2" y="T3"/>
                </a:cxn>
                <a:cxn ang="T14">
                  <a:pos x="T4" y="T5"/>
                </a:cxn>
                <a:cxn ang="T15">
                  <a:pos x="T6" y="T7"/>
                </a:cxn>
                <a:cxn ang="T16">
                  <a:pos x="T8" y="T9"/>
                </a:cxn>
                <a:cxn ang="T17">
                  <a:pos x="T10" y="T11"/>
                </a:cxn>
              </a:cxnLst>
              <a:rect l="T18" t="T19" r="T20" b="T21"/>
              <a:pathLst>
                <a:path w="1053" h="1053">
                  <a:moveTo>
                    <a:pt x="852" y="1053"/>
                  </a:moveTo>
                  <a:lnTo>
                    <a:pt x="202" y="1053"/>
                  </a:lnTo>
                  <a:lnTo>
                    <a:pt x="0" y="403"/>
                  </a:lnTo>
                  <a:lnTo>
                    <a:pt x="526" y="0"/>
                  </a:lnTo>
                  <a:lnTo>
                    <a:pt x="1053" y="403"/>
                  </a:lnTo>
                  <a:lnTo>
                    <a:pt x="852" y="1053"/>
                  </a:lnTo>
                  <a:close/>
                </a:path>
              </a:pathLst>
            </a:custGeom>
            <a:gradFill rotWithShape="1">
              <a:gsLst>
                <a:gs pos="0">
                  <a:srgbClr val="FFFFFF"/>
                </a:gs>
                <a:gs pos="100000">
                  <a:srgbClr val="FFFF00">
                    <a:alpha val="50000"/>
                  </a:srgbClr>
                </a:gs>
              </a:gsLst>
              <a:path path="rect">
                <a:fillToRect l="50000" t="50000" r="50000" b="50000"/>
              </a:path>
            </a:gradFill>
            <a:ln w="9525">
              <a:round/>
              <a:headEnd/>
              <a:tailEnd/>
            </a:ln>
            <a:scene3d>
              <a:camera prst="legacyObliqueTopRight"/>
              <a:lightRig rig="legacyFlat3" dir="b"/>
            </a:scene3d>
            <a:sp3d extrusionH="430200" prstMaterial="legacyMatte">
              <a:bevelT w="13500" h="13500" prst="angle"/>
              <a:bevelB w="13500" h="13500" prst="angle"/>
              <a:extrusionClr>
                <a:srgbClr val="FFFF00"/>
              </a:extrusionClr>
            </a:sp3d>
          </p:spPr>
          <p:txBody>
            <a:bodyPr anchor="ctr">
              <a:flatTx/>
            </a:bodyPr>
            <a:lstStyle/>
            <a:p>
              <a:endParaRPr lang="zh-CN" altLang="en-US"/>
            </a:p>
          </p:txBody>
        </p:sp>
        <p:sp>
          <p:nvSpPr>
            <p:cNvPr id="10" name="Text Box 17"/>
            <p:cNvSpPr txBox="1">
              <a:spLocks noChangeArrowheads="1"/>
            </p:cNvSpPr>
            <p:nvPr/>
          </p:nvSpPr>
          <p:spPr bwMode="auto">
            <a:xfrm>
              <a:off x="2583" y="2397"/>
              <a:ext cx="270" cy="431"/>
            </a:xfrm>
            <a:prstGeom prst="rect">
              <a:avLst/>
            </a:prstGeom>
            <a:noFill/>
            <a:ln w="38100" cap="sq">
              <a:noFill/>
              <a:miter lim="800000"/>
              <a:headEnd type="none" w="sm" len="sm"/>
              <a:tailEnd type="none" w="sm" len="sm"/>
            </a:ln>
            <a:effectLst/>
          </p:spPr>
          <p:txBody>
            <a:bodyPr wrap="none" anchor="ctr">
              <a:spAutoFit/>
            </a:bodyPr>
            <a:lstStyle/>
            <a:p>
              <a:pPr algn="ctr">
                <a:defRPr/>
              </a:pPr>
              <a:r>
                <a:rPr lang="en-US" altLang="zh-CN" sz="1800" b="1" i="1">
                  <a:effectLst>
                    <a:outerShdw blurRad="38100" dist="38100" dir="2700000" algn="tl">
                      <a:srgbClr val="C0C0C0"/>
                    </a:outerShdw>
                  </a:effectLst>
                  <a:latin typeface="微软雅黑" pitchFamily="34" charset="-122"/>
                  <a:ea typeface="微软雅黑" pitchFamily="34" charset="-122"/>
                </a:rPr>
                <a:t> </a:t>
              </a:r>
              <a:endParaRPr lang="en-US" altLang="zh-CN" b="1" i="1">
                <a:effectLst>
                  <a:outerShdw blurRad="38100" dist="38100" dir="2700000" algn="tl">
                    <a:srgbClr val="C0C0C0"/>
                  </a:outerShdw>
                </a:effectLst>
                <a:latin typeface="微软雅黑" pitchFamily="34" charset="-122"/>
                <a:ea typeface="微软雅黑" pitchFamily="34" charset="-122"/>
              </a:endParaRPr>
            </a:p>
          </p:txBody>
        </p:sp>
        <p:grpSp>
          <p:nvGrpSpPr>
            <p:cNvPr id="47121" name="Group 18"/>
            <p:cNvGrpSpPr>
              <a:grpSpLocks/>
            </p:cNvGrpSpPr>
            <p:nvPr/>
          </p:nvGrpSpPr>
          <p:grpSpPr bwMode="auto">
            <a:xfrm>
              <a:off x="2304" y="672"/>
              <a:ext cx="1344" cy="1249"/>
              <a:chOff x="2170" y="600"/>
              <a:chExt cx="1344" cy="1249"/>
            </a:xfrm>
          </p:grpSpPr>
          <p:sp>
            <p:nvSpPr>
              <p:cNvPr id="47125" name="Freeform 19"/>
              <p:cNvSpPr>
                <a:spLocks/>
              </p:cNvSpPr>
              <p:nvPr/>
            </p:nvSpPr>
            <p:spPr bwMode="auto">
              <a:xfrm>
                <a:off x="2170" y="600"/>
                <a:ext cx="1344" cy="1249"/>
              </a:xfrm>
              <a:custGeom>
                <a:avLst/>
                <a:gdLst>
                  <a:gd name="T0" fmla="*/ 2259 w 1053"/>
                  <a:gd name="T1" fmla="*/ 2084 h 1053"/>
                  <a:gd name="T2" fmla="*/ 536 w 1053"/>
                  <a:gd name="T3" fmla="*/ 2084 h 1053"/>
                  <a:gd name="T4" fmla="*/ 0 w 1053"/>
                  <a:gd name="T5" fmla="*/ 798 h 1053"/>
                  <a:gd name="T6" fmla="*/ 1395 w 1053"/>
                  <a:gd name="T7" fmla="*/ 0 h 1053"/>
                  <a:gd name="T8" fmla="*/ 2794 w 1053"/>
                  <a:gd name="T9" fmla="*/ 798 h 1053"/>
                  <a:gd name="T10" fmla="*/ 2259 w 1053"/>
                  <a:gd name="T11" fmla="*/ 2084 h 1053"/>
                  <a:gd name="T12" fmla="*/ 0 60000 65536"/>
                  <a:gd name="T13" fmla="*/ 0 60000 65536"/>
                  <a:gd name="T14" fmla="*/ 0 60000 65536"/>
                  <a:gd name="T15" fmla="*/ 0 60000 65536"/>
                  <a:gd name="T16" fmla="*/ 0 60000 65536"/>
                  <a:gd name="T17" fmla="*/ 0 60000 65536"/>
                  <a:gd name="T18" fmla="*/ 0 w 1053"/>
                  <a:gd name="T19" fmla="*/ 0 h 1053"/>
                  <a:gd name="T20" fmla="*/ 1053 w 1053"/>
                  <a:gd name="T21" fmla="*/ 1053 h 1053"/>
                </a:gdLst>
                <a:ahLst/>
                <a:cxnLst>
                  <a:cxn ang="T12">
                    <a:pos x="T0" y="T1"/>
                  </a:cxn>
                  <a:cxn ang="T13">
                    <a:pos x="T2" y="T3"/>
                  </a:cxn>
                  <a:cxn ang="T14">
                    <a:pos x="T4" y="T5"/>
                  </a:cxn>
                  <a:cxn ang="T15">
                    <a:pos x="T6" y="T7"/>
                  </a:cxn>
                  <a:cxn ang="T16">
                    <a:pos x="T8" y="T9"/>
                  </a:cxn>
                  <a:cxn ang="T17">
                    <a:pos x="T10" y="T11"/>
                  </a:cxn>
                </a:cxnLst>
                <a:rect l="T18" t="T19" r="T20" b="T21"/>
                <a:pathLst>
                  <a:path w="1053" h="1053">
                    <a:moveTo>
                      <a:pt x="852" y="1053"/>
                    </a:moveTo>
                    <a:lnTo>
                      <a:pt x="202" y="1053"/>
                    </a:lnTo>
                    <a:lnTo>
                      <a:pt x="0" y="403"/>
                    </a:lnTo>
                    <a:lnTo>
                      <a:pt x="526" y="0"/>
                    </a:lnTo>
                    <a:lnTo>
                      <a:pt x="1053" y="403"/>
                    </a:lnTo>
                    <a:lnTo>
                      <a:pt x="852" y="1053"/>
                    </a:lnTo>
                    <a:close/>
                  </a:path>
                </a:pathLst>
              </a:custGeom>
              <a:gradFill rotWithShape="1">
                <a:gsLst>
                  <a:gs pos="0">
                    <a:schemeClr val="bg1"/>
                  </a:gs>
                  <a:gs pos="100000">
                    <a:srgbClr val="FF99CC"/>
                  </a:gs>
                </a:gsLst>
                <a:path path="rect">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Rectangle 20"/>
              <p:cNvSpPr>
                <a:spLocks noChangeArrowheads="1"/>
              </p:cNvSpPr>
              <p:nvPr/>
            </p:nvSpPr>
            <p:spPr bwMode="auto">
              <a:xfrm>
                <a:off x="2695" y="1018"/>
                <a:ext cx="270" cy="429"/>
              </a:xfrm>
              <a:prstGeom prst="rect">
                <a:avLst/>
              </a:prstGeom>
              <a:noFill/>
              <a:ln w="12700" cap="sq">
                <a:noFill/>
                <a:miter lim="800000"/>
                <a:headEnd type="none" w="sm" len="sm"/>
                <a:tailEnd type="none" w="sm" len="sm"/>
              </a:ln>
              <a:effectLst/>
            </p:spPr>
            <p:txBody>
              <a:bodyPr wrap="none">
                <a:spAutoFit/>
              </a:bodyPr>
              <a:lstStyle/>
              <a:p>
                <a:pPr algn="ctr">
                  <a:defRPr/>
                </a:pPr>
                <a:r>
                  <a:rPr lang="en-US" altLang="zh-CN" sz="1800" b="1">
                    <a:effectLst>
                      <a:outerShdw blurRad="38100" dist="38100" dir="2700000" algn="tl">
                        <a:srgbClr val="C0C0C0"/>
                      </a:outerShdw>
                    </a:effectLst>
                    <a:latin typeface="微软雅黑" pitchFamily="34" charset="-122"/>
                    <a:ea typeface="微软雅黑" pitchFamily="34" charset="-122"/>
                  </a:rPr>
                  <a:t> </a:t>
                </a:r>
                <a:endParaRPr lang="en-US" altLang="zh-CN" sz="1600" b="1">
                  <a:effectLst>
                    <a:outerShdw blurRad="38100" dist="38100" dir="2700000" algn="tl">
                      <a:srgbClr val="C0C0C0"/>
                    </a:outerShdw>
                  </a:effectLst>
                  <a:latin typeface="微软雅黑" pitchFamily="34" charset="-122"/>
                  <a:ea typeface="微软雅黑" pitchFamily="34" charset="-122"/>
                </a:endParaRPr>
              </a:p>
            </p:txBody>
          </p:sp>
        </p:grpSp>
        <p:grpSp>
          <p:nvGrpSpPr>
            <p:cNvPr id="47122" name="Group 21"/>
            <p:cNvGrpSpPr>
              <a:grpSpLocks/>
            </p:cNvGrpSpPr>
            <p:nvPr/>
          </p:nvGrpSpPr>
          <p:grpSpPr bwMode="auto">
            <a:xfrm>
              <a:off x="1104" y="1536"/>
              <a:ext cx="1347" cy="1247"/>
              <a:chOff x="3255" y="1365"/>
              <a:chExt cx="1347" cy="1247"/>
            </a:xfrm>
          </p:grpSpPr>
          <p:sp>
            <p:nvSpPr>
              <p:cNvPr id="47123" name="Freeform 22"/>
              <p:cNvSpPr>
                <a:spLocks/>
              </p:cNvSpPr>
              <p:nvPr/>
            </p:nvSpPr>
            <p:spPr bwMode="auto">
              <a:xfrm>
                <a:off x="3255" y="1365"/>
                <a:ext cx="1347" cy="1247"/>
              </a:xfrm>
              <a:custGeom>
                <a:avLst/>
                <a:gdLst>
                  <a:gd name="T0" fmla="*/ 2262 w 1055"/>
                  <a:gd name="T1" fmla="*/ 2071 h 1053"/>
                  <a:gd name="T2" fmla="*/ 536 w 1055"/>
                  <a:gd name="T3" fmla="*/ 2071 h 1053"/>
                  <a:gd name="T4" fmla="*/ 0 w 1055"/>
                  <a:gd name="T5" fmla="*/ 793 h 1053"/>
                  <a:gd name="T6" fmla="*/ 1403 w 1055"/>
                  <a:gd name="T7" fmla="*/ 0 h 1053"/>
                  <a:gd name="T8" fmla="*/ 2804 w 1055"/>
                  <a:gd name="T9" fmla="*/ 793 h 1053"/>
                  <a:gd name="T10" fmla="*/ 2262 w 1055"/>
                  <a:gd name="T11" fmla="*/ 2071 h 1053"/>
                  <a:gd name="T12" fmla="*/ 0 60000 65536"/>
                  <a:gd name="T13" fmla="*/ 0 60000 65536"/>
                  <a:gd name="T14" fmla="*/ 0 60000 65536"/>
                  <a:gd name="T15" fmla="*/ 0 60000 65536"/>
                  <a:gd name="T16" fmla="*/ 0 60000 65536"/>
                  <a:gd name="T17" fmla="*/ 0 60000 65536"/>
                  <a:gd name="T18" fmla="*/ 0 w 1055"/>
                  <a:gd name="T19" fmla="*/ 0 h 1053"/>
                  <a:gd name="T20" fmla="*/ 1055 w 1055"/>
                  <a:gd name="T21" fmla="*/ 1053 h 1053"/>
                </a:gdLst>
                <a:ahLst/>
                <a:cxnLst>
                  <a:cxn ang="T12">
                    <a:pos x="T0" y="T1"/>
                  </a:cxn>
                  <a:cxn ang="T13">
                    <a:pos x="T2" y="T3"/>
                  </a:cxn>
                  <a:cxn ang="T14">
                    <a:pos x="T4" y="T5"/>
                  </a:cxn>
                  <a:cxn ang="T15">
                    <a:pos x="T6" y="T7"/>
                  </a:cxn>
                  <a:cxn ang="T16">
                    <a:pos x="T8" y="T9"/>
                  </a:cxn>
                  <a:cxn ang="T17">
                    <a:pos x="T10" y="T11"/>
                  </a:cxn>
                </a:cxnLst>
                <a:rect l="T18" t="T19" r="T20" b="T21"/>
                <a:pathLst>
                  <a:path w="1055" h="1053">
                    <a:moveTo>
                      <a:pt x="851" y="1053"/>
                    </a:moveTo>
                    <a:lnTo>
                      <a:pt x="202" y="1053"/>
                    </a:lnTo>
                    <a:lnTo>
                      <a:pt x="0" y="404"/>
                    </a:lnTo>
                    <a:lnTo>
                      <a:pt x="528" y="0"/>
                    </a:lnTo>
                    <a:lnTo>
                      <a:pt x="1055" y="404"/>
                    </a:lnTo>
                    <a:lnTo>
                      <a:pt x="851" y="1053"/>
                    </a:lnTo>
                    <a:close/>
                  </a:path>
                </a:pathLst>
              </a:custGeom>
              <a:gradFill rotWithShape="1">
                <a:gsLst>
                  <a:gs pos="0">
                    <a:schemeClr val="bg1"/>
                  </a:gs>
                  <a:gs pos="100000">
                    <a:srgbClr val="66FFFF"/>
                  </a:gs>
                </a:gsLst>
                <a:path path="rect">
                  <a:fillToRect l="50000" t="50000" r="50000" b="50000"/>
                </a:path>
              </a:gradFill>
              <a:ln w="9525">
                <a:round/>
                <a:headEnd/>
                <a:tailEnd/>
              </a:ln>
              <a:scene3d>
                <a:camera prst="legacyObliqueTopRight"/>
                <a:lightRig rig="legacyFlat3" dir="b"/>
              </a:scene3d>
              <a:sp3d extrusionH="430200" prstMaterial="legacyMatte">
                <a:bevelT w="13500" h="13500" prst="angle"/>
                <a:bevelB w="13500" h="13500" prst="angle"/>
                <a:extrusionClr>
                  <a:srgbClr val="66FFFF"/>
                </a:extrusionClr>
              </a:sp3d>
            </p:spPr>
            <p:txBody>
              <a:bodyPr>
                <a:flatTx/>
              </a:bodyPr>
              <a:lstStyle/>
              <a:p>
                <a:endParaRPr lang="zh-CN" altLang="en-US"/>
              </a:p>
            </p:txBody>
          </p:sp>
          <p:sp>
            <p:nvSpPr>
              <p:cNvPr id="14" name="Rectangle 23"/>
              <p:cNvSpPr>
                <a:spLocks noChangeArrowheads="1"/>
              </p:cNvSpPr>
              <p:nvPr/>
            </p:nvSpPr>
            <p:spPr bwMode="auto">
              <a:xfrm>
                <a:off x="3782" y="1851"/>
                <a:ext cx="270" cy="429"/>
              </a:xfrm>
              <a:prstGeom prst="rect">
                <a:avLst/>
              </a:prstGeom>
              <a:noFill/>
              <a:ln w="12700" cap="sq">
                <a:noFill/>
                <a:miter lim="800000"/>
                <a:headEnd type="none" w="sm" len="sm"/>
                <a:tailEnd type="none" w="sm" len="sm"/>
              </a:ln>
              <a:effectLst/>
            </p:spPr>
            <p:txBody>
              <a:bodyPr wrap="none">
                <a:spAutoFit/>
              </a:bodyPr>
              <a:lstStyle/>
              <a:p>
                <a:pPr algn="ctr" eaLnBrk="1" hangingPunct="1">
                  <a:defRPr/>
                </a:pPr>
                <a:r>
                  <a:rPr lang="en-US" altLang="zh-CN" sz="1800" b="1">
                    <a:effectLst>
                      <a:outerShdw blurRad="38100" dist="38100" dir="2700000" algn="tl">
                        <a:srgbClr val="C0C0C0"/>
                      </a:outerShdw>
                    </a:effectLst>
                    <a:latin typeface="微软雅黑" pitchFamily="34" charset="-122"/>
                    <a:ea typeface="微软雅黑" pitchFamily="34" charset="-122"/>
                  </a:rPr>
                  <a:t> </a:t>
                </a:r>
                <a:endParaRPr lang="en-US" altLang="zh-CN" sz="2800" b="1">
                  <a:latin typeface="微软雅黑" pitchFamily="34" charset="-122"/>
                  <a:ea typeface="微软雅黑" pitchFamily="34" charset="-122"/>
                </a:endParaRPr>
              </a:p>
            </p:txBody>
          </p:sp>
        </p:grpSp>
      </p:grpSp>
      <p:sp>
        <p:nvSpPr>
          <p:cNvPr id="23" name="Rectangle 31"/>
          <p:cNvSpPr>
            <a:spLocks noChangeArrowheads="1"/>
          </p:cNvSpPr>
          <p:nvPr/>
        </p:nvSpPr>
        <p:spPr bwMode="auto">
          <a:xfrm>
            <a:off x="4140200" y="3716338"/>
            <a:ext cx="1209675" cy="708025"/>
          </a:xfrm>
          <a:prstGeom prst="rect">
            <a:avLst/>
          </a:prstGeom>
          <a:noFill/>
          <a:ln w="9525">
            <a:noFill/>
            <a:miter lim="800000"/>
            <a:headEnd/>
            <a:tailEnd/>
          </a:ln>
        </p:spPr>
        <p:txBody>
          <a:bodyPr wrap="none">
            <a:spAutoFit/>
          </a:bodyPr>
          <a:lstStyle/>
          <a:p>
            <a:pPr algn="ctr" eaLnBrk="1" hangingPunct="1">
              <a:defRPr/>
            </a:pPr>
            <a:r>
              <a:rPr lang="zh-CN" altLang="en-US" sz="4000" b="1" dirty="0">
                <a:solidFill>
                  <a:schemeClr val="accent2">
                    <a:lumMod val="75000"/>
                  </a:schemeClr>
                </a:solidFill>
                <a:latin typeface="微软雅黑" pitchFamily="34" charset="-122"/>
                <a:ea typeface="微软雅黑" pitchFamily="34" charset="-122"/>
              </a:rPr>
              <a:t>内存</a:t>
            </a:r>
          </a:p>
        </p:txBody>
      </p:sp>
      <p:sp>
        <p:nvSpPr>
          <p:cNvPr id="24" name="Rectangle 32"/>
          <p:cNvSpPr>
            <a:spLocks noChangeArrowheads="1"/>
          </p:cNvSpPr>
          <p:nvPr/>
        </p:nvSpPr>
        <p:spPr bwMode="auto">
          <a:xfrm>
            <a:off x="2843213" y="1341438"/>
            <a:ext cx="40322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en-US" altLang="zh-CN" sz="2400" b="1">
                <a:solidFill>
                  <a:srgbClr val="002060"/>
                </a:solidFill>
                <a:latin typeface="微软雅黑" pitchFamily="34" charset="-122"/>
                <a:ea typeface="微软雅黑" pitchFamily="34" charset="-122"/>
              </a:rPr>
              <a:t>(1) </a:t>
            </a:r>
            <a:r>
              <a:rPr lang="zh-CN" altLang="en-US" sz="2400" b="1">
                <a:solidFill>
                  <a:srgbClr val="002060"/>
                </a:solidFill>
                <a:latin typeface="微软雅黑" pitchFamily="34" charset="-122"/>
                <a:ea typeface="微软雅黑" pitchFamily="34" charset="-122"/>
              </a:rPr>
              <a:t>内存存储当前</a:t>
            </a:r>
            <a:r>
              <a:rPr lang="en-US" altLang="zh-CN" sz="2400" b="1">
                <a:solidFill>
                  <a:srgbClr val="002060"/>
                </a:solidFill>
                <a:latin typeface="微软雅黑" pitchFamily="34" charset="-122"/>
                <a:ea typeface="微软雅黑" pitchFamily="34" charset="-122"/>
              </a:rPr>
              <a:t>CPU</a:t>
            </a:r>
            <a:r>
              <a:rPr lang="zh-CN" altLang="en-US" sz="2400" b="1">
                <a:solidFill>
                  <a:srgbClr val="002060"/>
                </a:solidFill>
                <a:latin typeface="微软雅黑" pitchFamily="34" charset="-122"/>
                <a:ea typeface="微软雅黑" pitchFamily="34" charset="-122"/>
              </a:rPr>
              <a:t>正在处理的程序和数据。</a:t>
            </a:r>
          </a:p>
        </p:txBody>
      </p:sp>
      <p:sp>
        <p:nvSpPr>
          <p:cNvPr id="25" name="Rectangle 33"/>
          <p:cNvSpPr>
            <a:spLocks noChangeArrowheads="1"/>
          </p:cNvSpPr>
          <p:nvPr/>
        </p:nvSpPr>
        <p:spPr bwMode="auto">
          <a:xfrm>
            <a:off x="6248400" y="2205038"/>
            <a:ext cx="2895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algn="ctr" eaLnBrk="1" hangingPunct="1"/>
            <a:r>
              <a:rPr lang="en-US" altLang="zh-CN" sz="2400" b="1">
                <a:solidFill>
                  <a:srgbClr val="002060"/>
                </a:solidFill>
                <a:latin typeface="微软雅黑" pitchFamily="34" charset="-122"/>
                <a:ea typeface="微软雅黑" pitchFamily="34" charset="-122"/>
              </a:rPr>
              <a:t>  (2)  </a:t>
            </a:r>
            <a:r>
              <a:rPr lang="zh-CN" altLang="en-US" sz="2400" b="1">
                <a:solidFill>
                  <a:srgbClr val="002060"/>
                </a:solidFill>
                <a:latin typeface="微软雅黑" pitchFamily="34" charset="-122"/>
                <a:ea typeface="微软雅黑" pitchFamily="34" charset="-122"/>
              </a:rPr>
              <a:t>内存有只读存储</a:t>
            </a:r>
            <a:r>
              <a:rPr lang="en-US" altLang="zh-CN" sz="2400" b="1">
                <a:solidFill>
                  <a:srgbClr val="002060"/>
                </a:solidFill>
                <a:latin typeface="微软雅黑" pitchFamily="34" charset="-122"/>
                <a:ea typeface="微软雅黑" pitchFamily="34" charset="-122"/>
              </a:rPr>
              <a:t>ROM</a:t>
            </a:r>
            <a:r>
              <a:rPr lang="zh-CN" altLang="en-US" sz="2400" b="1">
                <a:solidFill>
                  <a:srgbClr val="002060"/>
                </a:solidFill>
                <a:latin typeface="微软雅黑" pitchFamily="34" charset="-122"/>
                <a:ea typeface="微软雅黑" pitchFamily="34" charset="-122"/>
              </a:rPr>
              <a:t>，随机存储</a:t>
            </a:r>
            <a:r>
              <a:rPr lang="en-US" altLang="zh-CN" sz="2400" b="1">
                <a:solidFill>
                  <a:srgbClr val="002060"/>
                </a:solidFill>
                <a:latin typeface="微软雅黑" pitchFamily="34" charset="-122"/>
                <a:ea typeface="微软雅黑" pitchFamily="34" charset="-122"/>
              </a:rPr>
              <a:t>RAM</a:t>
            </a:r>
            <a:r>
              <a:rPr lang="zh-CN" altLang="en-US" sz="2400" b="1">
                <a:solidFill>
                  <a:srgbClr val="002060"/>
                </a:solidFill>
                <a:latin typeface="微软雅黑" pitchFamily="34" charset="-122"/>
                <a:ea typeface="微软雅黑" pitchFamily="34" charset="-122"/>
              </a:rPr>
              <a:t>和</a:t>
            </a:r>
            <a:r>
              <a:rPr lang="en-US" altLang="zh-CN" sz="2400" b="1">
                <a:solidFill>
                  <a:srgbClr val="002060"/>
                </a:solidFill>
                <a:latin typeface="微软雅黑" pitchFamily="34" charset="-122"/>
                <a:ea typeface="微软雅黑" pitchFamily="34" charset="-122"/>
              </a:rPr>
              <a:t>CMOS</a:t>
            </a:r>
            <a:r>
              <a:rPr lang="zh-CN" altLang="en-US" sz="2400" b="1">
                <a:solidFill>
                  <a:srgbClr val="002060"/>
                </a:solidFill>
                <a:latin typeface="微软雅黑" pitchFamily="34" charset="-122"/>
                <a:ea typeface="微软雅黑" pitchFamily="34" charset="-122"/>
              </a:rPr>
              <a:t>等。</a:t>
            </a:r>
            <a:endParaRPr lang="en-US" altLang="zh-CN" sz="2400" b="1">
              <a:solidFill>
                <a:srgbClr val="002060"/>
              </a:solidFill>
              <a:latin typeface="微软雅黑" pitchFamily="34" charset="-122"/>
              <a:ea typeface="微软雅黑" pitchFamily="34" charset="-122"/>
            </a:endParaRPr>
          </a:p>
        </p:txBody>
      </p:sp>
      <p:sp>
        <p:nvSpPr>
          <p:cNvPr id="26" name="Rectangle 34"/>
          <p:cNvSpPr>
            <a:spLocks noChangeArrowheads="1"/>
          </p:cNvSpPr>
          <p:nvPr/>
        </p:nvSpPr>
        <p:spPr bwMode="auto">
          <a:xfrm>
            <a:off x="6227763" y="4005263"/>
            <a:ext cx="2520950"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90000"/>
              </a:lnSpc>
              <a:spcBef>
                <a:spcPct val="30000"/>
              </a:spcBef>
              <a:buClr>
                <a:schemeClr val="tx2"/>
              </a:buClr>
              <a:buSzPct val="50000"/>
              <a:buFont typeface="Wingdings" pitchFamily="2" charset="2"/>
              <a:buNone/>
            </a:pPr>
            <a:r>
              <a:rPr lang="en-US" altLang="zh-CN" sz="2400" b="1">
                <a:solidFill>
                  <a:srgbClr val="002060"/>
                </a:solidFill>
                <a:latin typeface="微软雅黑" pitchFamily="34" charset="-122"/>
                <a:ea typeface="微软雅黑" pitchFamily="34" charset="-122"/>
              </a:rPr>
              <a:t>(3)  RAM</a:t>
            </a:r>
            <a:r>
              <a:rPr lang="zh-CN" altLang="en-US" sz="2400" b="1">
                <a:solidFill>
                  <a:srgbClr val="002060"/>
                </a:solidFill>
                <a:latin typeface="微软雅黑" pitchFamily="34" charset="-122"/>
                <a:ea typeface="微软雅黑" pitchFamily="34" charset="-122"/>
              </a:rPr>
              <a:t>上的数据是临时的。</a:t>
            </a:r>
            <a:endParaRPr lang="en-US" altLang="zh-CN" sz="2400" b="1">
              <a:solidFill>
                <a:srgbClr val="002060"/>
              </a:solidFill>
              <a:latin typeface="微软雅黑" pitchFamily="34" charset="-122"/>
              <a:ea typeface="微软雅黑" pitchFamily="34" charset="-122"/>
            </a:endParaRPr>
          </a:p>
        </p:txBody>
      </p:sp>
      <p:pic>
        <p:nvPicPr>
          <p:cNvPr id="47112" name="Picture 3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180587">
            <a:off x="3090863" y="4865688"/>
            <a:ext cx="1931987"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Rectangle 26"/>
          <p:cNvSpPr>
            <a:spLocks noChangeArrowheads="1"/>
          </p:cNvSpPr>
          <p:nvPr/>
        </p:nvSpPr>
        <p:spPr bwMode="auto">
          <a:xfrm>
            <a:off x="250825" y="2708275"/>
            <a:ext cx="2736850" cy="300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96863" indent="-296863" algn="ctr">
              <a:lnSpc>
                <a:spcPct val="90000"/>
              </a:lnSpc>
              <a:spcBef>
                <a:spcPct val="30000"/>
              </a:spcBef>
              <a:buClr>
                <a:schemeClr val="tx2"/>
              </a:buClr>
              <a:buSzPct val="50000"/>
            </a:pPr>
            <a:r>
              <a:rPr lang="zh-CN" altLang="en-US" sz="2400" b="1" dirty="0">
                <a:solidFill>
                  <a:srgbClr val="002060"/>
                </a:solidFill>
                <a:latin typeface="微软雅黑" pitchFamily="34" charset="-122"/>
                <a:ea typeface="微软雅黑" pitchFamily="34" charset="-122"/>
              </a:rPr>
              <a:t>（</a:t>
            </a:r>
            <a:r>
              <a:rPr lang="en-US" altLang="zh-CN" sz="2400" b="1" dirty="0">
                <a:solidFill>
                  <a:srgbClr val="002060"/>
                </a:solidFill>
                <a:latin typeface="微软雅黑" pitchFamily="34" charset="-122"/>
                <a:ea typeface="微软雅黑" pitchFamily="34" charset="-122"/>
              </a:rPr>
              <a:t>4</a:t>
            </a:r>
            <a:r>
              <a:rPr lang="zh-CN" altLang="en-US" sz="2400" b="1" dirty="0">
                <a:solidFill>
                  <a:srgbClr val="002060"/>
                </a:solidFill>
                <a:latin typeface="微软雅黑" pitchFamily="34" charset="-122"/>
                <a:ea typeface="微软雅黑" pitchFamily="34" charset="-122"/>
              </a:rPr>
              <a:t>）内存以字节为单位编址</a:t>
            </a:r>
            <a:endParaRPr lang="en-US" altLang="zh-CN" sz="2400" b="1" dirty="0">
              <a:solidFill>
                <a:srgbClr val="002060"/>
              </a:solidFill>
              <a:latin typeface="微软雅黑" pitchFamily="34" charset="-122"/>
              <a:ea typeface="微软雅黑" pitchFamily="34" charset="-122"/>
            </a:endParaRPr>
          </a:p>
          <a:p>
            <a:pPr marL="296863" indent="-296863" algn="ctr">
              <a:lnSpc>
                <a:spcPct val="90000"/>
              </a:lnSpc>
              <a:spcBef>
                <a:spcPct val="30000"/>
              </a:spcBef>
              <a:buClr>
                <a:schemeClr val="tx2"/>
              </a:buClr>
              <a:buSzPct val="50000"/>
            </a:pPr>
            <a:r>
              <a:rPr lang="en-US" altLang="zh-CN" sz="2400" b="1" dirty="0">
                <a:solidFill>
                  <a:srgbClr val="990033"/>
                </a:solidFill>
                <a:latin typeface="微软雅黑" pitchFamily="34" charset="-122"/>
                <a:ea typeface="微软雅黑" pitchFamily="34" charset="-122"/>
              </a:rPr>
              <a:t>1</a:t>
            </a:r>
            <a:r>
              <a:rPr lang="zh-CN" altLang="en-US" sz="2400" b="1" dirty="0">
                <a:solidFill>
                  <a:srgbClr val="990033"/>
                </a:solidFill>
                <a:latin typeface="微软雅黑" pitchFamily="34" charset="-122"/>
                <a:ea typeface="微软雅黑" pitchFamily="34" charset="-122"/>
              </a:rPr>
              <a:t>字节</a:t>
            </a:r>
            <a:r>
              <a:rPr lang="en-US" altLang="zh-CN" sz="2400" b="1" dirty="0">
                <a:solidFill>
                  <a:srgbClr val="990033"/>
                </a:solidFill>
                <a:latin typeface="微软雅黑" pitchFamily="34" charset="-122"/>
                <a:ea typeface="微软雅黑" pitchFamily="34" charset="-122"/>
              </a:rPr>
              <a:t>=8</a:t>
            </a:r>
            <a:r>
              <a:rPr lang="zh-CN" altLang="en-US" sz="2400" b="1" dirty="0">
                <a:solidFill>
                  <a:srgbClr val="990033"/>
                </a:solidFill>
                <a:latin typeface="微软雅黑" pitchFamily="34" charset="-122"/>
                <a:ea typeface="微软雅黑" pitchFamily="34" charset="-122"/>
              </a:rPr>
              <a:t>位</a:t>
            </a:r>
            <a:endParaRPr lang="en-US" altLang="zh-CN" sz="2400" b="1" dirty="0">
              <a:solidFill>
                <a:srgbClr val="990033"/>
              </a:solidFill>
              <a:latin typeface="微软雅黑" pitchFamily="34" charset="-122"/>
              <a:ea typeface="微软雅黑" pitchFamily="34" charset="-122"/>
            </a:endParaRPr>
          </a:p>
          <a:p>
            <a:pPr marL="296863" indent="-296863" algn="ctr">
              <a:lnSpc>
                <a:spcPct val="90000"/>
              </a:lnSpc>
              <a:spcBef>
                <a:spcPct val="30000"/>
              </a:spcBef>
              <a:buClr>
                <a:schemeClr val="tx2"/>
              </a:buClr>
              <a:buSzPct val="50000"/>
            </a:pPr>
            <a:r>
              <a:rPr lang="en-US" altLang="zh-CN" sz="2400" b="1" dirty="0">
                <a:solidFill>
                  <a:srgbClr val="990033"/>
                </a:solidFill>
                <a:latin typeface="微软雅黑" pitchFamily="34" charset="-122"/>
                <a:ea typeface="微软雅黑" pitchFamily="34" charset="-122"/>
              </a:rPr>
              <a:t>1024</a:t>
            </a:r>
            <a:r>
              <a:rPr lang="zh-CN" altLang="en-US" sz="2400" b="1" dirty="0">
                <a:solidFill>
                  <a:srgbClr val="990033"/>
                </a:solidFill>
                <a:latin typeface="微软雅黑" pitchFamily="34" charset="-122"/>
                <a:ea typeface="微软雅黑" pitchFamily="34" charset="-122"/>
              </a:rPr>
              <a:t>字节</a:t>
            </a:r>
            <a:r>
              <a:rPr lang="en-US" altLang="zh-CN" sz="2400" b="1" dirty="0">
                <a:solidFill>
                  <a:srgbClr val="990033"/>
                </a:solidFill>
                <a:latin typeface="微软雅黑" pitchFamily="34" charset="-122"/>
                <a:ea typeface="微软雅黑" pitchFamily="34" charset="-122"/>
              </a:rPr>
              <a:t>=1K</a:t>
            </a:r>
          </a:p>
          <a:p>
            <a:pPr marL="296863" indent="-296863" algn="ctr">
              <a:lnSpc>
                <a:spcPct val="90000"/>
              </a:lnSpc>
              <a:spcBef>
                <a:spcPct val="30000"/>
              </a:spcBef>
              <a:buClr>
                <a:schemeClr val="tx2"/>
              </a:buClr>
              <a:buSzPct val="50000"/>
            </a:pPr>
            <a:r>
              <a:rPr lang="en-US" altLang="zh-CN" sz="2400" b="1" dirty="0">
                <a:solidFill>
                  <a:srgbClr val="990033"/>
                </a:solidFill>
                <a:latin typeface="微软雅黑" pitchFamily="34" charset="-122"/>
                <a:ea typeface="微软雅黑" pitchFamily="34" charset="-122"/>
              </a:rPr>
              <a:t>1024K=1M</a:t>
            </a:r>
          </a:p>
          <a:p>
            <a:pPr marL="296863" indent="-296863" algn="ctr">
              <a:lnSpc>
                <a:spcPct val="90000"/>
              </a:lnSpc>
              <a:spcBef>
                <a:spcPct val="30000"/>
              </a:spcBef>
              <a:buClr>
                <a:schemeClr val="tx2"/>
              </a:buClr>
              <a:buSzPct val="50000"/>
            </a:pPr>
            <a:r>
              <a:rPr lang="en-US" altLang="zh-CN" sz="2400" b="1" dirty="0">
                <a:solidFill>
                  <a:srgbClr val="990033"/>
                </a:solidFill>
                <a:latin typeface="微软雅黑" pitchFamily="34" charset="-122"/>
                <a:ea typeface="微软雅黑" pitchFamily="34" charset="-122"/>
              </a:rPr>
              <a:t>1024M=1G</a:t>
            </a:r>
          </a:p>
          <a:p>
            <a:pPr marL="296863" indent="-296863" algn="ctr">
              <a:lnSpc>
                <a:spcPct val="90000"/>
              </a:lnSpc>
              <a:spcBef>
                <a:spcPct val="30000"/>
              </a:spcBef>
              <a:buClr>
                <a:schemeClr val="tx2"/>
              </a:buClr>
              <a:buSzPct val="50000"/>
            </a:pPr>
            <a:r>
              <a:rPr lang="en-US" altLang="zh-CN" sz="2400" b="1" dirty="0">
                <a:solidFill>
                  <a:srgbClr val="990033"/>
                </a:solidFill>
                <a:latin typeface="微软雅黑" pitchFamily="34" charset="-122"/>
                <a:ea typeface="微软雅黑" pitchFamily="34" charset="-122"/>
              </a:rPr>
              <a:t>1024G=1T</a:t>
            </a:r>
          </a:p>
        </p:txBody>
      </p:sp>
      <p:sp>
        <p:nvSpPr>
          <p:cNvPr id="2" name="矩形 1"/>
          <p:cNvSpPr/>
          <p:nvPr/>
        </p:nvSpPr>
        <p:spPr>
          <a:xfrm>
            <a:off x="130692" y="5747657"/>
            <a:ext cx="8534400" cy="830997"/>
          </a:xfrm>
          <a:prstGeom prst="rect">
            <a:avLst/>
          </a:prstGeom>
        </p:spPr>
        <p:txBody>
          <a:bodyPr wrap="square">
            <a:spAutoFit/>
          </a:bodyPr>
          <a:lstStyle/>
          <a:p>
            <a:pPr lvl="1">
              <a:buFont typeface="Wingdings" pitchFamily="2" charset="2"/>
              <a:buChar char="Ø"/>
              <a:defRPr/>
            </a:pPr>
            <a:r>
              <a:rPr kumimoji="1" lang="zh-CN" altLang="en-US" sz="2400" dirty="0">
                <a:solidFill>
                  <a:srgbClr val="FF0000"/>
                </a:solidFill>
              </a:rPr>
              <a:t>地址线的数目</a:t>
            </a:r>
            <a:r>
              <a:rPr kumimoji="1" lang="en-US" altLang="zh-CN" sz="2400" dirty="0">
                <a:solidFill>
                  <a:srgbClr val="FF0000"/>
                </a:solidFill>
              </a:rPr>
              <a:t>K</a:t>
            </a:r>
            <a:r>
              <a:rPr kumimoji="1" lang="zh-CN" altLang="en-US" sz="2400" dirty="0">
                <a:solidFill>
                  <a:srgbClr val="FF0000"/>
                </a:solidFill>
              </a:rPr>
              <a:t>与存储空间</a:t>
            </a:r>
            <a:r>
              <a:rPr kumimoji="1" lang="en-US" altLang="zh-CN" sz="2400" dirty="0">
                <a:solidFill>
                  <a:srgbClr val="FF0000"/>
                </a:solidFill>
              </a:rPr>
              <a:t>N</a:t>
            </a:r>
            <a:r>
              <a:rPr kumimoji="1" lang="zh-CN" altLang="en-US" sz="2400" dirty="0">
                <a:solidFill>
                  <a:srgbClr val="FF0000"/>
                </a:solidFill>
              </a:rPr>
              <a:t>的关系：</a:t>
            </a:r>
            <a:r>
              <a:rPr kumimoji="1" lang="en-US" altLang="zh-CN" sz="2400" dirty="0">
                <a:solidFill>
                  <a:srgbClr val="FF0000"/>
                </a:solidFill>
              </a:rPr>
              <a:t>N=2</a:t>
            </a:r>
            <a:r>
              <a:rPr kumimoji="1" lang="en-US" altLang="zh-CN" sz="2400" baseline="30000" dirty="0">
                <a:solidFill>
                  <a:srgbClr val="FF0000"/>
                </a:solidFill>
              </a:rPr>
              <a:t>K</a:t>
            </a:r>
          </a:p>
          <a:p>
            <a:pPr lvl="1">
              <a:buFont typeface="Wingdings" pitchFamily="2" charset="2"/>
              <a:buChar char="Ø"/>
              <a:defRPr/>
            </a:pPr>
            <a:r>
              <a:rPr lang="zh-CN" altLang="en-US" sz="2400" dirty="0">
                <a:solidFill>
                  <a:srgbClr val="FF0000"/>
                </a:solidFill>
                <a:ea typeface="宋体" pitchFamily="2" charset="-122"/>
              </a:rPr>
              <a:t>存储器的地址线根数</a:t>
            </a:r>
            <a:r>
              <a:rPr lang="en-US" altLang="zh-CN" sz="2400" dirty="0">
                <a:solidFill>
                  <a:srgbClr val="FF0000"/>
                </a:solidFill>
                <a:ea typeface="宋体" pitchFamily="2" charset="-122"/>
              </a:rPr>
              <a:t>(K)</a:t>
            </a:r>
            <a:r>
              <a:rPr lang="zh-CN" altLang="en-US" sz="2400" dirty="0">
                <a:solidFill>
                  <a:srgbClr val="FF0000"/>
                </a:solidFill>
                <a:ea typeface="宋体" pitchFamily="2" charset="-122"/>
              </a:rPr>
              <a:t>决定了它的地址编号范围</a:t>
            </a:r>
            <a:endParaRPr kumimoji="1" lang="en-US" altLang="zh-CN" sz="2400" baseline="30000" dirty="0">
              <a:solidFill>
                <a:srgbClr val="FF0000"/>
              </a:solidFill>
            </a:endParaRPr>
          </a:p>
        </p:txBody>
      </p:sp>
      <p:sp>
        <p:nvSpPr>
          <p:cNvPr id="32" name="标题 1"/>
          <p:cNvSpPr txBox="1">
            <a:spLocks/>
          </p:cNvSpPr>
          <p:nvPr/>
        </p:nvSpPr>
        <p:spPr bwMode="auto">
          <a:xfrm>
            <a:off x="10886" y="457200"/>
            <a:ext cx="590550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rtl="0" eaLnBrk="0" fontAlgn="base" hangingPunct="0">
              <a:spcBef>
                <a:spcPct val="0"/>
              </a:spcBef>
              <a:spcAft>
                <a:spcPct val="0"/>
              </a:spcAft>
              <a:defRPr sz="3600" b="1">
                <a:solidFill>
                  <a:srgbClr val="CC3300"/>
                </a:solidFill>
                <a:latin typeface="+mj-lt"/>
                <a:ea typeface="+mj-ea"/>
                <a:cs typeface="+mj-cs"/>
              </a:defRPr>
            </a:lvl1pPr>
            <a:lvl2pPr algn="r" rtl="0" eaLnBrk="0" fontAlgn="base" hangingPunct="0">
              <a:spcBef>
                <a:spcPct val="0"/>
              </a:spcBef>
              <a:spcAft>
                <a:spcPct val="0"/>
              </a:spcAft>
              <a:defRPr sz="3600" b="1">
                <a:solidFill>
                  <a:srgbClr val="CC3300"/>
                </a:solidFill>
                <a:latin typeface="Arial" charset="0"/>
                <a:ea typeface="黑体" pitchFamily="2" charset="-122"/>
              </a:defRPr>
            </a:lvl2pPr>
            <a:lvl3pPr algn="r" rtl="0" eaLnBrk="0" fontAlgn="base" hangingPunct="0">
              <a:spcBef>
                <a:spcPct val="0"/>
              </a:spcBef>
              <a:spcAft>
                <a:spcPct val="0"/>
              </a:spcAft>
              <a:defRPr sz="3600" b="1">
                <a:solidFill>
                  <a:srgbClr val="CC3300"/>
                </a:solidFill>
                <a:latin typeface="Arial" charset="0"/>
                <a:ea typeface="黑体" pitchFamily="2" charset="-122"/>
              </a:defRPr>
            </a:lvl3pPr>
            <a:lvl4pPr algn="r" rtl="0" eaLnBrk="0" fontAlgn="base" hangingPunct="0">
              <a:spcBef>
                <a:spcPct val="0"/>
              </a:spcBef>
              <a:spcAft>
                <a:spcPct val="0"/>
              </a:spcAft>
              <a:defRPr sz="3600" b="1">
                <a:solidFill>
                  <a:srgbClr val="CC3300"/>
                </a:solidFill>
                <a:latin typeface="Arial" charset="0"/>
                <a:ea typeface="黑体" pitchFamily="2" charset="-122"/>
              </a:defRPr>
            </a:lvl4pPr>
            <a:lvl5pPr algn="r" rtl="0" eaLnBrk="0" fontAlgn="base" hangingPunct="0">
              <a:spcBef>
                <a:spcPct val="0"/>
              </a:spcBef>
              <a:spcAft>
                <a:spcPct val="0"/>
              </a:spcAft>
              <a:defRPr sz="3600" b="1">
                <a:solidFill>
                  <a:srgbClr val="CC3300"/>
                </a:solidFill>
                <a:latin typeface="Arial" charset="0"/>
                <a:ea typeface="黑体" pitchFamily="2" charset="-122"/>
              </a:defRPr>
            </a:lvl5pPr>
            <a:lvl6pPr marL="457200" algn="r" rtl="0" fontAlgn="base">
              <a:spcBef>
                <a:spcPct val="0"/>
              </a:spcBef>
              <a:spcAft>
                <a:spcPct val="0"/>
              </a:spcAft>
              <a:defRPr sz="3600" b="1">
                <a:solidFill>
                  <a:srgbClr val="CC3300"/>
                </a:solidFill>
                <a:latin typeface="Arial" charset="0"/>
                <a:ea typeface="黑体" pitchFamily="2" charset="-122"/>
              </a:defRPr>
            </a:lvl6pPr>
            <a:lvl7pPr marL="914400" algn="r" rtl="0" fontAlgn="base">
              <a:spcBef>
                <a:spcPct val="0"/>
              </a:spcBef>
              <a:spcAft>
                <a:spcPct val="0"/>
              </a:spcAft>
              <a:defRPr sz="3600" b="1">
                <a:solidFill>
                  <a:srgbClr val="CC3300"/>
                </a:solidFill>
                <a:latin typeface="Arial" charset="0"/>
                <a:ea typeface="黑体" pitchFamily="2" charset="-122"/>
              </a:defRPr>
            </a:lvl7pPr>
            <a:lvl8pPr marL="1371600" algn="r" rtl="0" fontAlgn="base">
              <a:spcBef>
                <a:spcPct val="0"/>
              </a:spcBef>
              <a:spcAft>
                <a:spcPct val="0"/>
              </a:spcAft>
              <a:defRPr sz="3600" b="1">
                <a:solidFill>
                  <a:srgbClr val="CC3300"/>
                </a:solidFill>
                <a:latin typeface="Arial" charset="0"/>
                <a:ea typeface="黑体" pitchFamily="2" charset="-122"/>
              </a:defRPr>
            </a:lvl8pPr>
            <a:lvl9pPr marL="1828800" algn="r" rtl="0" fontAlgn="base">
              <a:spcBef>
                <a:spcPct val="0"/>
              </a:spcBef>
              <a:spcAft>
                <a:spcPct val="0"/>
              </a:spcAft>
              <a:defRPr sz="3600" b="1">
                <a:solidFill>
                  <a:srgbClr val="CC3300"/>
                </a:solidFill>
                <a:latin typeface="Arial" charset="0"/>
                <a:ea typeface="黑体" pitchFamily="2" charset="-122"/>
              </a:defRPr>
            </a:lvl9pPr>
          </a:lstStyle>
          <a:p>
            <a:pPr algn="l">
              <a:defRPr/>
            </a:pPr>
            <a:r>
              <a:rPr lang="zh-CN" altLang="en-US" sz="2800" kern="0" dirty="0">
                <a:solidFill>
                  <a:schemeClr val="bg1"/>
                </a:solidFill>
                <a:latin typeface="华文新魏" panose="02010800040101010101" pitchFamily="2" charset="-122"/>
                <a:ea typeface="华文新魏" panose="02010800040101010101" pitchFamily="2" charset="-122"/>
              </a:rPr>
              <a:t>计算机硬件系统基础</a:t>
            </a:r>
          </a:p>
        </p:txBody>
      </p:sp>
    </p:spTree>
    <p:extLst>
      <p:ext uri="{BB962C8B-B14F-4D97-AF65-F5344CB8AC3E}">
        <p14:creationId xmlns:p14="http://schemas.microsoft.com/office/powerpoint/2010/main" val="26879073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内容占位符 2"/>
          <p:cNvSpPr>
            <a:spLocks noGrp="1"/>
          </p:cNvSpPr>
          <p:nvPr>
            <p:ph idx="4294967295"/>
          </p:nvPr>
        </p:nvSpPr>
        <p:spPr>
          <a:xfrm>
            <a:off x="486456" y="1447800"/>
            <a:ext cx="8229600" cy="4876800"/>
          </a:xfrm>
        </p:spPr>
        <p:txBody>
          <a:bodyPr/>
          <a:lstStyle/>
          <a:p>
            <a:pPr>
              <a:buFont typeface="Wingdings" pitchFamily="2" charset="2"/>
              <a:buChar char="Ø"/>
            </a:pPr>
            <a:r>
              <a:rPr lang="zh-CN" altLang="en-US" dirty="0"/>
              <a:t>软件系统</a:t>
            </a:r>
          </a:p>
          <a:p>
            <a:pPr lvl="1">
              <a:buFont typeface="Wingdings" pitchFamily="2" charset="2"/>
              <a:buChar char="Ø"/>
            </a:pPr>
            <a:r>
              <a:rPr lang="zh-CN" altLang="en-US" sz="3200" dirty="0"/>
              <a:t>软件：</a:t>
            </a:r>
            <a:r>
              <a:rPr lang="zh-CN" altLang="zh-CN" sz="3200" dirty="0"/>
              <a:t>程序、数据和文档的集合</a:t>
            </a:r>
            <a:endParaRPr lang="en-US" altLang="zh-CN" sz="3200" dirty="0"/>
          </a:p>
          <a:p>
            <a:pPr lvl="1">
              <a:buFont typeface="Wingdings" pitchFamily="2" charset="2"/>
              <a:buChar char="Ø"/>
            </a:pPr>
            <a:r>
              <a:rPr lang="zh-CN" altLang="en-US" sz="3200" dirty="0"/>
              <a:t>软件系统</a:t>
            </a:r>
            <a:r>
              <a:rPr lang="en-US" altLang="zh-CN" sz="3200" dirty="0"/>
              <a:t>=</a:t>
            </a:r>
            <a:r>
              <a:rPr lang="zh-CN" altLang="en-US" sz="3200" dirty="0"/>
              <a:t>系统软件</a:t>
            </a:r>
            <a:r>
              <a:rPr lang="en-US" altLang="zh-CN" sz="3200" dirty="0"/>
              <a:t>+</a:t>
            </a:r>
            <a:r>
              <a:rPr lang="zh-CN" altLang="en-US" sz="3200" dirty="0"/>
              <a:t>应用软件</a:t>
            </a:r>
          </a:p>
          <a:p>
            <a:pPr lvl="1">
              <a:buFont typeface="Wingdings" pitchFamily="2" charset="2"/>
              <a:buChar char="Ø"/>
            </a:pPr>
            <a:r>
              <a:rPr lang="zh-CN" altLang="en-US" sz="3200" dirty="0"/>
              <a:t>系统软件：操作系统、</a:t>
            </a:r>
            <a:r>
              <a:rPr lang="zh-CN" altLang="en-US" sz="3200" dirty="0">
                <a:solidFill>
                  <a:srgbClr val="FF0000"/>
                </a:solidFill>
              </a:rPr>
              <a:t>语言翻译程序</a:t>
            </a:r>
            <a:r>
              <a:rPr lang="zh-CN" altLang="en-US" sz="3200" dirty="0"/>
              <a:t>、辅助程序等</a:t>
            </a:r>
            <a:endParaRPr kumimoji="1" lang="zh-CN" altLang="en-US" sz="3200" dirty="0"/>
          </a:p>
          <a:p>
            <a:pPr lvl="1">
              <a:buFont typeface="Wingdings" pitchFamily="2" charset="2"/>
              <a:buChar char="Ø"/>
            </a:pPr>
            <a:r>
              <a:rPr kumimoji="1" lang="zh-CN" altLang="en-US" sz="3200" dirty="0"/>
              <a:t>应用软件：为解决某类实际问题而开发的程序</a:t>
            </a:r>
            <a:endParaRPr kumimoji="1" lang="en-US" altLang="zh-CN" sz="3200" dirty="0"/>
          </a:p>
          <a:p>
            <a:pPr lvl="1">
              <a:buFont typeface="Wingdings" pitchFamily="2" charset="2"/>
              <a:buChar char="Ø"/>
            </a:pPr>
            <a:r>
              <a:rPr kumimoji="1" lang="zh-CN" altLang="en-US" sz="3200" dirty="0"/>
              <a:t>应用软件在系统软件之上。</a:t>
            </a:r>
            <a:endParaRPr kumimoji="1" lang="en-US" altLang="zh-CN" sz="3200" dirty="0"/>
          </a:p>
        </p:txBody>
      </p:sp>
      <p:sp>
        <p:nvSpPr>
          <p:cNvPr id="4" name="标题 1"/>
          <p:cNvSpPr txBox="1">
            <a:spLocks/>
          </p:cNvSpPr>
          <p:nvPr/>
        </p:nvSpPr>
        <p:spPr bwMode="auto">
          <a:xfrm>
            <a:off x="10886" y="457200"/>
            <a:ext cx="590550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rtl="0" eaLnBrk="0" fontAlgn="base" hangingPunct="0">
              <a:spcBef>
                <a:spcPct val="0"/>
              </a:spcBef>
              <a:spcAft>
                <a:spcPct val="0"/>
              </a:spcAft>
              <a:defRPr sz="3600" b="1">
                <a:solidFill>
                  <a:srgbClr val="CC3300"/>
                </a:solidFill>
                <a:latin typeface="+mj-lt"/>
                <a:ea typeface="+mj-ea"/>
                <a:cs typeface="+mj-cs"/>
              </a:defRPr>
            </a:lvl1pPr>
            <a:lvl2pPr algn="r" rtl="0" eaLnBrk="0" fontAlgn="base" hangingPunct="0">
              <a:spcBef>
                <a:spcPct val="0"/>
              </a:spcBef>
              <a:spcAft>
                <a:spcPct val="0"/>
              </a:spcAft>
              <a:defRPr sz="3600" b="1">
                <a:solidFill>
                  <a:srgbClr val="CC3300"/>
                </a:solidFill>
                <a:latin typeface="Arial" charset="0"/>
                <a:ea typeface="黑体" pitchFamily="2" charset="-122"/>
              </a:defRPr>
            </a:lvl2pPr>
            <a:lvl3pPr algn="r" rtl="0" eaLnBrk="0" fontAlgn="base" hangingPunct="0">
              <a:spcBef>
                <a:spcPct val="0"/>
              </a:spcBef>
              <a:spcAft>
                <a:spcPct val="0"/>
              </a:spcAft>
              <a:defRPr sz="3600" b="1">
                <a:solidFill>
                  <a:srgbClr val="CC3300"/>
                </a:solidFill>
                <a:latin typeface="Arial" charset="0"/>
                <a:ea typeface="黑体" pitchFamily="2" charset="-122"/>
              </a:defRPr>
            </a:lvl3pPr>
            <a:lvl4pPr algn="r" rtl="0" eaLnBrk="0" fontAlgn="base" hangingPunct="0">
              <a:spcBef>
                <a:spcPct val="0"/>
              </a:spcBef>
              <a:spcAft>
                <a:spcPct val="0"/>
              </a:spcAft>
              <a:defRPr sz="3600" b="1">
                <a:solidFill>
                  <a:srgbClr val="CC3300"/>
                </a:solidFill>
                <a:latin typeface="Arial" charset="0"/>
                <a:ea typeface="黑体" pitchFamily="2" charset="-122"/>
              </a:defRPr>
            </a:lvl4pPr>
            <a:lvl5pPr algn="r" rtl="0" eaLnBrk="0" fontAlgn="base" hangingPunct="0">
              <a:spcBef>
                <a:spcPct val="0"/>
              </a:spcBef>
              <a:spcAft>
                <a:spcPct val="0"/>
              </a:spcAft>
              <a:defRPr sz="3600" b="1">
                <a:solidFill>
                  <a:srgbClr val="CC3300"/>
                </a:solidFill>
                <a:latin typeface="Arial" charset="0"/>
                <a:ea typeface="黑体" pitchFamily="2" charset="-122"/>
              </a:defRPr>
            </a:lvl5pPr>
            <a:lvl6pPr marL="457200" algn="r" rtl="0" fontAlgn="base">
              <a:spcBef>
                <a:spcPct val="0"/>
              </a:spcBef>
              <a:spcAft>
                <a:spcPct val="0"/>
              </a:spcAft>
              <a:defRPr sz="3600" b="1">
                <a:solidFill>
                  <a:srgbClr val="CC3300"/>
                </a:solidFill>
                <a:latin typeface="Arial" charset="0"/>
                <a:ea typeface="黑体" pitchFamily="2" charset="-122"/>
              </a:defRPr>
            </a:lvl6pPr>
            <a:lvl7pPr marL="914400" algn="r" rtl="0" fontAlgn="base">
              <a:spcBef>
                <a:spcPct val="0"/>
              </a:spcBef>
              <a:spcAft>
                <a:spcPct val="0"/>
              </a:spcAft>
              <a:defRPr sz="3600" b="1">
                <a:solidFill>
                  <a:srgbClr val="CC3300"/>
                </a:solidFill>
                <a:latin typeface="Arial" charset="0"/>
                <a:ea typeface="黑体" pitchFamily="2" charset="-122"/>
              </a:defRPr>
            </a:lvl7pPr>
            <a:lvl8pPr marL="1371600" algn="r" rtl="0" fontAlgn="base">
              <a:spcBef>
                <a:spcPct val="0"/>
              </a:spcBef>
              <a:spcAft>
                <a:spcPct val="0"/>
              </a:spcAft>
              <a:defRPr sz="3600" b="1">
                <a:solidFill>
                  <a:srgbClr val="CC3300"/>
                </a:solidFill>
                <a:latin typeface="Arial" charset="0"/>
                <a:ea typeface="黑体" pitchFamily="2" charset="-122"/>
              </a:defRPr>
            </a:lvl8pPr>
            <a:lvl9pPr marL="1828800" algn="r" rtl="0" fontAlgn="base">
              <a:spcBef>
                <a:spcPct val="0"/>
              </a:spcBef>
              <a:spcAft>
                <a:spcPct val="0"/>
              </a:spcAft>
              <a:defRPr sz="3600" b="1">
                <a:solidFill>
                  <a:srgbClr val="CC3300"/>
                </a:solidFill>
                <a:latin typeface="Arial" charset="0"/>
                <a:ea typeface="黑体" pitchFamily="2" charset="-122"/>
              </a:defRPr>
            </a:lvl9pPr>
          </a:lstStyle>
          <a:p>
            <a:pPr algn="l">
              <a:defRPr/>
            </a:pPr>
            <a:r>
              <a:rPr lang="zh-CN" altLang="en-US" sz="2800" kern="0" dirty="0">
                <a:solidFill>
                  <a:schemeClr val="bg1"/>
                </a:solidFill>
                <a:latin typeface="华文新魏" panose="02010800040101010101" pitchFamily="2" charset="-122"/>
                <a:ea typeface="华文新魏" panose="02010800040101010101" pitchFamily="2" charset="-122"/>
              </a:rPr>
              <a:t>操作系统基础</a:t>
            </a:r>
          </a:p>
        </p:txBody>
      </p:sp>
    </p:spTree>
    <p:extLst>
      <p:ext uri="{BB962C8B-B14F-4D97-AF65-F5344CB8AC3E}">
        <p14:creationId xmlns:p14="http://schemas.microsoft.com/office/powerpoint/2010/main" val="20727977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内容占位符 2"/>
          <p:cNvSpPr>
            <a:spLocks noGrp="1"/>
          </p:cNvSpPr>
          <p:nvPr>
            <p:ph idx="4294967295"/>
          </p:nvPr>
        </p:nvSpPr>
        <p:spPr>
          <a:xfrm>
            <a:off x="512762" y="1524000"/>
            <a:ext cx="8229600" cy="1470025"/>
          </a:xfrm>
        </p:spPr>
        <p:txBody>
          <a:bodyPr/>
          <a:lstStyle/>
          <a:p>
            <a:pPr>
              <a:buFont typeface="Wingdings" pitchFamily="2" charset="2"/>
              <a:buChar char="Ø"/>
            </a:pPr>
            <a:r>
              <a:rPr lang="zh-CN" altLang="en-US" dirty="0"/>
              <a:t>操作系统：管理、控制和监督计算机软硬件资源的一系列程序的总称，是</a:t>
            </a:r>
            <a:r>
              <a:rPr lang="zh-CN" altLang="en-US" dirty="0">
                <a:solidFill>
                  <a:srgbClr val="FF0000"/>
                </a:solidFill>
              </a:rPr>
              <a:t>最主要的系统软件</a:t>
            </a:r>
            <a:r>
              <a:rPr lang="zh-CN" altLang="en-US" dirty="0"/>
              <a:t>。</a:t>
            </a:r>
            <a:endParaRPr lang="en-US" altLang="zh-CN" dirty="0"/>
          </a:p>
          <a:p>
            <a:pPr>
              <a:buFont typeface="Wingdings" pitchFamily="2" charset="2"/>
              <a:buChar char="Ø"/>
            </a:pPr>
            <a:r>
              <a:rPr lang="zh-CN" altLang="en-US" dirty="0"/>
              <a:t>裸机：只有硬件系统。</a:t>
            </a:r>
            <a:endParaRPr lang="en-US" altLang="zh-CN" dirty="0"/>
          </a:p>
          <a:p>
            <a:pPr>
              <a:buFont typeface="Wingdings" pitchFamily="2" charset="2"/>
              <a:buChar char="Ø"/>
            </a:pPr>
            <a:endParaRPr lang="en-US" altLang="zh-CN" dirty="0"/>
          </a:p>
        </p:txBody>
      </p:sp>
      <p:sp>
        <p:nvSpPr>
          <p:cNvPr id="4" name="Text Box 8"/>
          <p:cNvSpPr txBox="1">
            <a:spLocks noChangeArrowheads="1"/>
          </p:cNvSpPr>
          <p:nvPr/>
        </p:nvSpPr>
        <p:spPr bwMode="auto">
          <a:xfrm>
            <a:off x="228600" y="3318441"/>
            <a:ext cx="52546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a:defRPr sz="3200">
                <a:solidFill>
                  <a:schemeClr val="tx1"/>
                </a:solidFill>
                <a:latin typeface="Arial" pitchFamily="34" charset="0"/>
                <a:ea typeface="黑体" pitchFamily="49" charset="-122"/>
              </a:defRPr>
            </a:lvl1pPr>
            <a:lvl2pPr>
              <a:defRPr sz="2800">
                <a:solidFill>
                  <a:srgbClr val="000066"/>
                </a:solidFill>
                <a:latin typeface="Arial" pitchFamily="34" charset="0"/>
                <a:ea typeface="黑体" pitchFamily="49" charset="-122"/>
              </a:defRPr>
            </a:lvl2pPr>
            <a:lvl3pPr>
              <a:defRPr sz="2400">
                <a:solidFill>
                  <a:schemeClr val="tx1"/>
                </a:solidFill>
                <a:latin typeface="Arial" pitchFamily="34" charset="0"/>
                <a:ea typeface="黑体" pitchFamily="49" charset="-122"/>
              </a:defRPr>
            </a:lvl3pPr>
            <a:lvl4pPr>
              <a:defRPr sz="2000">
                <a:solidFill>
                  <a:schemeClr val="tx1"/>
                </a:solidFill>
                <a:latin typeface="Arial" pitchFamily="34" charset="0"/>
                <a:ea typeface="黑体" pitchFamily="49" charset="-122"/>
              </a:defRPr>
            </a:lvl4pPr>
            <a:lvl5pPr>
              <a:defRPr sz="2000">
                <a:solidFill>
                  <a:schemeClr val="tx1"/>
                </a:solidFill>
                <a:latin typeface="Arial" pitchFamily="34" charset="0"/>
                <a:ea typeface="黑体" pitchFamily="49" charset="-122"/>
              </a:defRPr>
            </a:lvl5pPr>
            <a:lvl6pPr eaLnBrk="0" hangingPunct="0">
              <a:defRPr sz="2000">
                <a:solidFill>
                  <a:schemeClr val="tx1"/>
                </a:solidFill>
                <a:latin typeface="Arial" pitchFamily="34" charset="0"/>
                <a:ea typeface="黑体" pitchFamily="49" charset="-122"/>
              </a:defRPr>
            </a:lvl6pPr>
            <a:lvl7pPr eaLnBrk="0" hangingPunct="0">
              <a:defRPr sz="2000">
                <a:solidFill>
                  <a:schemeClr val="tx1"/>
                </a:solidFill>
                <a:latin typeface="Arial" pitchFamily="34" charset="0"/>
                <a:ea typeface="黑体" pitchFamily="49" charset="-122"/>
              </a:defRPr>
            </a:lvl7pPr>
            <a:lvl8pPr eaLnBrk="0" hangingPunct="0">
              <a:defRPr sz="2000">
                <a:solidFill>
                  <a:schemeClr val="tx1"/>
                </a:solidFill>
                <a:latin typeface="Arial" pitchFamily="34" charset="0"/>
                <a:ea typeface="黑体" pitchFamily="49" charset="-122"/>
              </a:defRPr>
            </a:lvl8pPr>
            <a:lvl9pPr eaLnBrk="0" hangingPunct="0">
              <a:defRPr sz="2000">
                <a:solidFill>
                  <a:schemeClr val="tx1"/>
                </a:solidFill>
                <a:latin typeface="Arial" pitchFamily="34" charset="0"/>
                <a:ea typeface="黑体" pitchFamily="49" charset="-122"/>
              </a:defRPr>
            </a:lvl9pPr>
          </a:lstStyle>
          <a:p>
            <a:pPr algn="ctr" eaLnBrk="1" hangingPunct="1">
              <a:spcBef>
                <a:spcPct val="50000"/>
              </a:spcBef>
              <a:buFont typeface="Arial" pitchFamily="34" charset="0"/>
              <a:buNone/>
            </a:pPr>
            <a:r>
              <a:rPr lang="zh-CN" altLang="en-US" dirty="0">
                <a:latin typeface="微软雅黑" pitchFamily="34" charset="-122"/>
                <a:ea typeface="微软雅黑" pitchFamily="34" charset="-122"/>
              </a:rPr>
              <a:t>操作系统的主要特征</a:t>
            </a:r>
            <a:endParaRPr lang="zh-CN" altLang="en-US" dirty="0">
              <a:ea typeface="宋体" pitchFamily="2" charset="-122"/>
            </a:endParaRPr>
          </a:p>
        </p:txBody>
      </p:sp>
      <p:sp>
        <p:nvSpPr>
          <p:cNvPr id="5" name="内容占位符 2"/>
          <p:cNvSpPr txBox="1">
            <a:spLocks noChangeArrowheads="1"/>
          </p:cNvSpPr>
          <p:nvPr/>
        </p:nvSpPr>
        <p:spPr bwMode="auto">
          <a:xfrm>
            <a:off x="533400" y="4114800"/>
            <a:ext cx="8208962" cy="24614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fontAlgn="base">
              <a:spcBef>
                <a:spcPct val="20000"/>
              </a:spcBef>
              <a:spcAft>
                <a:spcPct val="0"/>
              </a:spcAft>
              <a:buClr>
                <a:schemeClr val="accent1"/>
              </a:buClr>
              <a:buFont typeface="Wingdings" pitchFamily="2" charset="2"/>
              <a:buChar char="§"/>
              <a:defRPr sz="2800">
                <a:solidFill>
                  <a:schemeClr val="tx1"/>
                </a:solidFill>
                <a:latin typeface="Arial" charset="0"/>
              </a:defRPr>
            </a:lvl2pPr>
            <a:lvl3pPr marL="1143000" indent="-228600" algn="l" rtl="0" fontAlgn="base">
              <a:spcBef>
                <a:spcPct val="20000"/>
              </a:spcBef>
              <a:spcAft>
                <a:spcPct val="0"/>
              </a:spcAft>
              <a:buClr>
                <a:schemeClr val="tx1"/>
              </a:buClr>
              <a:buChar char="•"/>
              <a:defRPr sz="2400">
                <a:solidFill>
                  <a:schemeClr val="tx1"/>
                </a:solidFill>
                <a:latin typeface="Arial" charset="0"/>
              </a:defRPr>
            </a:lvl3pPr>
            <a:lvl4pPr marL="1600200" indent="-228600" algn="l" rtl="0" fontAlgn="base">
              <a:spcBef>
                <a:spcPct val="20000"/>
              </a:spcBef>
              <a:spcAft>
                <a:spcPct val="0"/>
              </a:spcAft>
              <a:buChar char="–"/>
              <a:defRPr sz="2000">
                <a:solidFill>
                  <a:schemeClr val="tx1"/>
                </a:solidFill>
                <a:latin typeface="Arial" charset="0"/>
              </a:defRPr>
            </a:lvl4pPr>
            <a:lvl5pPr marL="2057400" indent="-228600" algn="l" rtl="0" fontAlgn="base">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r>
              <a:rPr lang="en-US" altLang="zh-CN"/>
              <a:t>1. </a:t>
            </a:r>
            <a:r>
              <a:rPr lang="zh-CN" altLang="en-US"/>
              <a:t>并发性</a:t>
            </a:r>
            <a:endParaRPr lang="en-US" altLang="zh-CN"/>
          </a:p>
          <a:p>
            <a:r>
              <a:rPr lang="en-US" altLang="zh-CN"/>
              <a:t>2. </a:t>
            </a:r>
            <a:r>
              <a:rPr lang="zh-CN" altLang="en-US"/>
              <a:t>共享性</a:t>
            </a:r>
            <a:endParaRPr lang="en-US" altLang="zh-CN"/>
          </a:p>
          <a:p>
            <a:r>
              <a:rPr lang="en-US" altLang="zh-CN"/>
              <a:t>3. </a:t>
            </a:r>
            <a:r>
              <a:rPr lang="zh-CN" altLang="en-US"/>
              <a:t>异步性</a:t>
            </a:r>
            <a:endParaRPr lang="en-US" altLang="zh-CN"/>
          </a:p>
          <a:p>
            <a:r>
              <a:rPr lang="en-US" altLang="zh-CN"/>
              <a:t>4. </a:t>
            </a:r>
            <a:r>
              <a:rPr lang="zh-CN" altLang="en-US"/>
              <a:t>虚拟性</a:t>
            </a:r>
            <a:endParaRPr lang="zh-CN" altLang="en-US" dirty="0"/>
          </a:p>
        </p:txBody>
      </p:sp>
      <p:sp>
        <p:nvSpPr>
          <p:cNvPr id="6" name="标题 1"/>
          <p:cNvSpPr txBox="1">
            <a:spLocks/>
          </p:cNvSpPr>
          <p:nvPr/>
        </p:nvSpPr>
        <p:spPr bwMode="auto">
          <a:xfrm>
            <a:off x="10886" y="457200"/>
            <a:ext cx="590550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rtl="0" eaLnBrk="0" fontAlgn="base" hangingPunct="0">
              <a:spcBef>
                <a:spcPct val="0"/>
              </a:spcBef>
              <a:spcAft>
                <a:spcPct val="0"/>
              </a:spcAft>
              <a:defRPr sz="3600" b="1">
                <a:solidFill>
                  <a:srgbClr val="CC3300"/>
                </a:solidFill>
                <a:latin typeface="+mj-lt"/>
                <a:ea typeface="+mj-ea"/>
                <a:cs typeface="+mj-cs"/>
              </a:defRPr>
            </a:lvl1pPr>
            <a:lvl2pPr algn="r" rtl="0" eaLnBrk="0" fontAlgn="base" hangingPunct="0">
              <a:spcBef>
                <a:spcPct val="0"/>
              </a:spcBef>
              <a:spcAft>
                <a:spcPct val="0"/>
              </a:spcAft>
              <a:defRPr sz="3600" b="1">
                <a:solidFill>
                  <a:srgbClr val="CC3300"/>
                </a:solidFill>
                <a:latin typeface="Arial" charset="0"/>
                <a:ea typeface="黑体" pitchFamily="2" charset="-122"/>
              </a:defRPr>
            </a:lvl2pPr>
            <a:lvl3pPr algn="r" rtl="0" eaLnBrk="0" fontAlgn="base" hangingPunct="0">
              <a:spcBef>
                <a:spcPct val="0"/>
              </a:spcBef>
              <a:spcAft>
                <a:spcPct val="0"/>
              </a:spcAft>
              <a:defRPr sz="3600" b="1">
                <a:solidFill>
                  <a:srgbClr val="CC3300"/>
                </a:solidFill>
                <a:latin typeface="Arial" charset="0"/>
                <a:ea typeface="黑体" pitchFamily="2" charset="-122"/>
              </a:defRPr>
            </a:lvl3pPr>
            <a:lvl4pPr algn="r" rtl="0" eaLnBrk="0" fontAlgn="base" hangingPunct="0">
              <a:spcBef>
                <a:spcPct val="0"/>
              </a:spcBef>
              <a:spcAft>
                <a:spcPct val="0"/>
              </a:spcAft>
              <a:defRPr sz="3600" b="1">
                <a:solidFill>
                  <a:srgbClr val="CC3300"/>
                </a:solidFill>
                <a:latin typeface="Arial" charset="0"/>
                <a:ea typeface="黑体" pitchFamily="2" charset="-122"/>
              </a:defRPr>
            </a:lvl4pPr>
            <a:lvl5pPr algn="r" rtl="0" eaLnBrk="0" fontAlgn="base" hangingPunct="0">
              <a:spcBef>
                <a:spcPct val="0"/>
              </a:spcBef>
              <a:spcAft>
                <a:spcPct val="0"/>
              </a:spcAft>
              <a:defRPr sz="3600" b="1">
                <a:solidFill>
                  <a:srgbClr val="CC3300"/>
                </a:solidFill>
                <a:latin typeface="Arial" charset="0"/>
                <a:ea typeface="黑体" pitchFamily="2" charset="-122"/>
              </a:defRPr>
            </a:lvl5pPr>
            <a:lvl6pPr marL="457200" algn="r" rtl="0" fontAlgn="base">
              <a:spcBef>
                <a:spcPct val="0"/>
              </a:spcBef>
              <a:spcAft>
                <a:spcPct val="0"/>
              </a:spcAft>
              <a:defRPr sz="3600" b="1">
                <a:solidFill>
                  <a:srgbClr val="CC3300"/>
                </a:solidFill>
                <a:latin typeface="Arial" charset="0"/>
                <a:ea typeface="黑体" pitchFamily="2" charset="-122"/>
              </a:defRPr>
            </a:lvl6pPr>
            <a:lvl7pPr marL="914400" algn="r" rtl="0" fontAlgn="base">
              <a:spcBef>
                <a:spcPct val="0"/>
              </a:spcBef>
              <a:spcAft>
                <a:spcPct val="0"/>
              </a:spcAft>
              <a:defRPr sz="3600" b="1">
                <a:solidFill>
                  <a:srgbClr val="CC3300"/>
                </a:solidFill>
                <a:latin typeface="Arial" charset="0"/>
                <a:ea typeface="黑体" pitchFamily="2" charset="-122"/>
              </a:defRPr>
            </a:lvl7pPr>
            <a:lvl8pPr marL="1371600" algn="r" rtl="0" fontAlgn="base">
              <a:spcBef>
                <a:spcPct val="0"/>
              </a:spcBef>
              <a:spcAft>
                <a:spcPct val="0"/>
              </a:spcAft>
              <a:defRPr sz="3600" b="1">
                <a:solidFill>
                  <a:srgbClr val="CC3300"/>
                </a:solidFill>
                <a:latin typeface="Arial" charset="0"/>
                <a:ea typeface="黑体" pitchFamily="2" charset="-122"/>
              </a:defRPr>
            </a:lvl8pPr>
            <a:lvl9pPr marL="1828800" algn="r" rtl="0" fontAlgn="base">
              <a:spcBef>
                <a:spcPct val="0"/>
              </a:spcBef>
              <a:spcAft>
                <a:spcPct val="0"/>
              </a:spcAft>
              <a:defRPr sz="3600" b="1">
                <a:solidFill>
                  <a:srgbClr val="CC3300"/>
                </a:solidFill>
                <a:latin typeface="Arial" charset="0"/>
                <a:ea typeface="黑体" pitchFamily="2" charset="-122"/>
              </a:defRPr>
            </a:lvl9pPr>
          </a:lstStyle>
          <a:p>
            <a:pPr algn="l">
              <a:defRPr/>
            </a:pPr>
            <a:r>
              <a:rPr lang="zh-CN" altLang="en-US" sz="2800" kern="0" dirty="0">
                <a:solidFill>
                  <a:schemeClr val="bg1"/>
                </a:solidFill>
                <a:latin typeface="华文新魏" panose="02010800040101010101" pitchFamily="2" charset="-122"/>
                <a:ea typeface="华文新魏" panose="02010800040101010101" pitchFamily="2" charset="-122"/>
              </a:rPr>
              <a:t>操作系统基础</a:t>
            </a:r>
          </a:p>
        </p:txBody>
      </p:sp>
    </p:spTree>
    <p:extLst>
      <p:ext uri="{BB962C8B-B14F-4D97-AF65-F5344CB8AC3E}">
        <p14:creationId xmlns:p14="http://schemas.microsoft.com/office/powerpoint/2010/main" val="6557475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noChangeArrowheads="1"/>
          </p:cNvSpPr>
          <p:nvPr/>
        </p:nvSpPr>
        <p:spPr bwMode="auto">
          <a:xfrm>
            <a:off x="179388" y="1136650"/>
            <a:ext cx="727233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3200" b="1">
                <a:latin typeface="华文楷体" pitchFamily="2" charset="-122"/>
                <a:ea typeface="华文楷体" pitchFamily="2" charset="-122"/>
              </a:rPr>
              <a:t>人机交互与作业管理</a:t>
            </a:r>
          </a:p>
        </p:txBody>
      </p:sp>
      <p:pic>
        <p:nvPicPr>
          <p:cNvPr id="69635" name="图片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28750" y="2357438"/>
            <a:ext cx="6643688"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a:spLocks/>
          </p:cNvSpPr>
          <p:nvPr/>
        </p:nvSpPr>
        <p:spPr bwMode="auto">
          <a:xfrm>
            <a:off x="10886" y="457200"/>
            <a:ext cx="590550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rtl="0" eaLnBrk="0" fontAlgn="base" hangingPunct="0">
              <a:spcBef>
                <a:spcPct val="0"/>
              </a:spcBef>
              <a:spcAft>
                <a:spcPct val="0"/>
              </a:spcAft>
              <a:defRPr sz="3600" b="1">
                <a:solidFill>
                  <a:srgbClr val="CC3300"/>
                </a:solidFill>
                <a:latin typeface="+mj-lt"/>
                <a:ea typeface="+mj-ea"/>
                <a:cs typeface="+mj-cs"/>
              </a:defRPr>
            </a:lvl1pPr>
            <a:lvl2pPr algn="r" rtl="0" eaLnBrk="0" fontAlgn="base" hangingPunct="0">
              <a:spcBef>
                <a:spcPct val="0"/>
              </a:spcBef>
              <a:spcAft>
                <a:spcPct val="0"/>
              </a:spcAft>
              <a:defRPr sz="3600" b="1">
                <a:solidFill>
                  <a:srgbClr val="CC3300"/>
                </a:solidFill>
                <a:latin typeface="Arial" charset="0"/>
                <a:ea typeface="黑体" pitchFamily="2" charset="-122"/>
              </a:defRPr>
            </a:lvl2pPr>
            <a:lvl3pPr algn="r" rtl="0" eaLnBrk="0" fontAlgn="base" hangingPunct="0">
              <a:spcBef>
                <a:spcPct val="0"/>
              </a:spcBef>
              <a:spcAft>
                <a:spcPct val="0"/>
              </a:spcAft>
              <a:defRPr sz="3600" b="1">
                <a:solidFill>
                  <a:srgbClr val="CC3300"/>
                </a:solidFill>
                <a:latin typeface="Arial" charset="0"/>
                <a:ea typeface="黑体" pitchFamily="2" charset="-122"/>
              </a:defRPr>
            </a:lvl3pPr>
            <a:lvl4pPr algn="r" rtl="0" eaLnBrk="0" fontAlgn="base" hangingPunct="0">
              <a:spcBef>
                <a:spcPct val="0"/>
              </a:spcBef>
              <a:spcAft>
                <a:spcPct val="0"/>
              </a:spcAft>
              <a:defRPr sz="3600" b="1">
                <a:solidFill>
                  <a:srgbClr val="CC3300"/>
                </a:solidFill>
                <a:latin typeface="Arial" charset="0"/>
                <a:ea typeface="黑体" pitchFamily="2" charset="-122"/>
              </a:defRPr>
            </a:lvl4pPr>
            <a:lvl5pPr algn="r" rtl="0" eaLnBrk="0" fontAlgn="base" hangingPunct="0">
              <a:spcBef>
                <a:spcPct val="0"/>
              </a:spcBef>
              <a:spcAft>
                <a:spcPct val="0"/>
              </a:spcAft>
              <a:defRPr sz="3600" b="1">
                <a:solidFill>
                  <a:srgbClr val="CC3300"/>
                </a:solidFill>
                <a:latin typeface="Arial" charset="0"/>
                <a:ea typeface="黑体" pitchFamily="2" charset="-122"/>
              </a:defRPr>
            </a:lvl5pPr>
            <a:lvl6pPr marL="457200" algn="r" rtl="0" fontAlgn="base">
              <a:spcBef>
                <a:spcPct val="0"/>
              </a:spcBef>
              <a:spcAft>
                <a:spcPct val="0"/>
              </a:spcAft>
              <a:defRPr sz="3600" b="1">
                <a:solidFill>
                  <a:srgbClr val="CC3300"/>
                </a:solidFill>
                <a:latin typeface="Arial" charset="0"/>
                <a:ea typeface="黑体" pitchFamily="2" charset="-122"/>
              </a:defRPr>
            </a:lvl6pPr>
            <a:lvl7pPr marL="914400" algn="r" rtl="0" fontAlgn="base">
              <a:spcBef>
                <a:spcPct val="0"/>
              </a:spcBef>
              <a:spcAft>
                <a:spcPct val="0"/>
              </a:spcAft>
              <a:defRPr sz="3600" b="1">
                <a:solidFill>
                  <a:srgbClr val="CC3300"/>
                </a:solidFill>
                <a:latin typeface="Arial" charset="0"/>
                <a:ea typeface="黑体" pitchFamily="2" charset="-122"/>
              </a:defRPr>
            </a:lvl7pPr>
            <a:lvl8pPr marL="1371600" algn="r" rtl="0" fontAlgn="base">
              <a:spcBef>
                <a:spcPct val="0"/>
              </a:spcBef>
              <a:spcAft>
                <a:spcPct val="0"/>
              </a:spcAft>
              <a:defRPr sz="3600" b="1">
                <a:solidFill>
                  <a:srgbClr val="CC3300"/>
                </a:solidFill>
                <a:latin typeface="Arial" charset="0"/>
                <a:ea typeface="黑体" pitchFamily="2" charset="-122"/>
              </a:defRPr>
            </a:lvl8pPr>
            <a:lvl9pPr marL="1828800" algn="r" rtl="0" fontAlgn="base">
              <a:spcBef>
                <a:spcPct val="0"/>
              </a:spcBef>
              <a:spcAft>
                <a:spcPct val="0"/>
              </a:spcAft>
              <a:defRPr sz="3600" b="1">
                <a:solidFill>
                  <a:srgbClr val="CC3300"/>
                </a:solidFill>
                <a:latin typeface="Arial" charset="0"/>
                <a:ea typeface="黑体" pitchFamily="2" charset="-122"/>
              </a:defRPr>
            </a:lvl9pPr>
          </a:lstStyle>
          <a:p>
            <a:pPr algn="l">
              <a:defRPr/>
            </a:pPr>
            <a:r>
              <a:rPr lang="zh-CN" altLang="en-US" sz="2800" kern="0" dirty="0">
                <a:solidFill>
                  <a:schemeClr val="bg1"/>
                </a:solidFill>
                <a:latin typeface="华文新魏" panose="02010800040101010101" pitchFamily="2" charset="-122"/>
                <a:ea typeface="华文新魏" panose="02010800040101010101" pitchFamily="2" charset="-122"/>
              </a:rPr>
              <a:t>操作系统基础</a:t>
            </a:r>
          </a:p>
        </p:txBody>
      </p:sp>
    </p:spTree>
    <p:extLst>
      <p:ext uri="{BB962C8B-B14F-4D97-AF65-F5344CB8AC3E}">
        <p14:creationId xmlns:p14="http://schemas.microsoft.com/office/powerpoint/2010/main" val="7170996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内容占位符 2"/>
          <p:cNvSpPr>
            <a:spLocks noGrp="1"/>
          </p:cNvSpPr>
          <p:nvPr>
            <p:ph idx="4294967295"/>
          </p:nvPr>
        </p:nvSpPr>
        <p:spPr>
          <a:xfrm>
            <a:off x="304800" y="1600200"/>
            <a:ext cx="8634413" cy="4352925"/>
          </a:xfrm>
        </p:spPr>
        <p:txBody>
          <a:bodyPr/>
          <a:lstStyle/>
          <a:p>
            <a:pPr>
              <a:buFont typeface="Wingdings" pitchFamily="2" charset="2"/>
              <a:buChar char="Ø"/>
            </a:pPr>
            <a:r>
              <a:rPr lang="zh-CN" altLang="en-US" dirty="0"/>
              <a:t>操作系统功能： </a:t>
            </a:r>
            <a:r>
              <a:rPr lang="en-US" altLang="zh-CN" dirty="0"/>
              <a:t>CPU</a:t>
            </a:r>
            <a:r>
              <a:rPr lang="zh-CN" altLang="en-US" dirty="0"/>
              <a:t>管理；</a:t>
            </a:r>
            <a:r>
              <a:rPr lang="en-US" altLang="zh-CN" dirty="0"/>
              <a:t> </a:t>
            </a:r>
            <a:r>
              <a:rPr lang="zh-CN" altLang="en-US" dirty="0"/>
              <a:t>存储管理；设备管理；信息管理</a:t>
            </a:r>
          </a:p>
          <a:p>
            <a:pPr>
              <a:buFont typeface="Wingdings" pitchFamily="2" charset="2"/>
              <a:buChar char="Ø"/>
            </a:pPr>
            <a:r>
              <a:rPr lang="zh-CN" altLang="en-US" dirty="0"/>
              <a:t>单用户和多用户；单任务和多任务</a:t>
            </a:r>
          </a:p>
          <a:p>
            <a:pPr>
              <a:buFont typeface="Wingdings" pitchFamily="2" charset="2"/>
              <a:buChar char="Ø"/>
            </a:pPr>
            <a:r>
              <a:rPr lang="zh-CN" altLang="en-US" dirty="0"/>
              <a:t>常用计算机操作系统</a:t>
            </a:r>
          </a:p>
          <a:p>
            <a:pPr lvl="1">
              <a:buFont typeface="Wingdings" pitchFamily="2" charset="2"/>
              <a:buChar char="Ø"/>
            </a:pPr>
            <a:r>
              <a:rPr lang="en-US" altLang="zh-CN" dirty="0"/>
              <a:t>MS-DOS</a:t>
            </a:r>
            <a:r>
              <a:rPr lang="zh-CN" altLang="en-US" dirty="0"/>
              <a:t>：</a:t>
            </a:r>
            <a:r>
              <a:rPr kumimoji="1" lang="zh-CN" altLang="en-US" dirty="0"/>
              <a:t>单用户单任务，字符界面</a:t>
            </a:r>
            <a:endParaRPr lang="zh-CN" altLang="en-US" dirty="0"/>
          </a:p>
          <a:p>
            <a:pPr lvl="1">
              <a:buFont typeface="Wingdings" pitchFamily="2" charset="2"/>
              <a:buChar char="Ø"/>
            </a:pPr>
            <a:r>
              <a:rPr lang="en-US" altLang="zh-CN" dirty="0"/>
              <a:t>Windows</a:t>
            </a:r>
            <a:r>
              <a:rPr lang="zh-CN" altLang="en-US" dirty="0"/>
              <a:t>：</a:t>
            </a:r>
            <a:r>
              <a:rPr kumimoji="1" lang="zh-CN" altLang="en-US" dirty="0"/>
              <a:t>单用户多任务，图形界面</a:t>
            </a:r>
          </a:p>
          <a:p>
            <a:pPr lvl="1">
              <a:buFont typeface="Wingdings" pitchFamily="2" charset="2"/>
              <a:buChar char="Ø"/>
            </a:pPr>
            <a:r>
              <a:rPr kumimoji="1" lang="en-US" altLang="zh-CN" dirty="0"/>
              <a:t>UNIX</a:t>
            </a:r>
            <a:r>
              <a:rPr kumimoji="1" lang="zh-CN" altLang="en-US" dirty="0"/>
              <a:t>：多用户多任务，字符界面和图形界面</a:t>
            </a:r>
          </a:p>
          <a:p>
            <a:pPr lvl="1">
              <a:buFont typeface="Wingdings" pitchFamily="2" charset="2"/>
              <a:buChar char="Ø"/>
            </a:pPr>
            <a:r>
              <a:rPr kumimoji="1" lang="en-US" altLang="zh-CN" dirty="0"/>
              <a:t>Linux</a:t>
            </a:r>
            <a:r>
              <a:rPr kumimoji="1" lang="zh-CN" altLang="en-US" dirty="0"/>
              <a:t>：多用户多任务，字符界面和图形界面</a:t>
            </a:r>
          </a:p>
        </p:txBody>
      </p:sp>
      <p:sp>
        <p:nvSpPr>
          <p:cNvPr id="4" name="标题 1"/>
          <p:cNvSpPr txBox="1">
            <a:spLocks/>
          </p:cNvSpPr>
          <p:nvPr/>
        </p:nvSpPr>
        <p:spPr bwMode="auto">
          <a:xfrm>
            <a:off x="10886" y="457200"/>
            <a:ext cx="590550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rtl="0" eaLnBrk="0" fontAlgn="base" hangingPunct="0">
              <a:spcBef>
                <a:spcPct val="0"/>
              </a:spcBef>
              <a:spcAft>
                <a:spcPct val="0"/>
              </a:spcAft>
              <a:defRPr sz="3600" b="1">
                <a:solidFill>
                  <a:srgbClr val="CC3300"/>
                </a:solidFill>
                <a:latin typeface="+mj-lt"/>
                <a:ea typeface="+mj-ea"/>
                <a:cs typeface="+mj-cs"/>
              </a:defRPr>
            </a:lvl1pPr>
            <a:lvl2pPr algn="r" rtl="0" eaLnBrk="0" fontAlgn="base" hangingPunct="0">
              <a:spcBef>
                <a:spcPct val="0"/>
              </a:spcBef>
              <a:spcAft>
                <a:spcPct val="0"/>
              </a:spcAft>
              <a:defRPr sz="3600" b="1">
                <a:solidFill>
                  <a:srgbClr val="CC3300"/>
                </a:solidFill>
                <a:latin typeface="Arial" charset="0"/>
                <a:ea typeface="黑体" pitchFamily="2" charset="-122"/>
              </a:defRPr>
            </a:lvl2pPr>
            <a:lvl3pPr algn="r" rtl="0" eaLnBrk="0" fontAlgn="base" hangingPunct="0">
              <a:spcBef>
                <a:spcPct val="0"/>
              </a:spcBef>
              <a:spcAft>
                <a:spcPct val="0"/>
              </a:spcAft>
              <a:defRPr sz="3600" b="1">
                <a:solidFill>
                  <a:srgbClr val="CC3300"/>
                </a:solidFill>
                <a:latin typeface="Arial" charset="0"/>
                <a:ea typeface="黑体" pitchFamily="2" charset="-122"/>
              </a:defRPr>
            </a:lvl3pPr>
            <a:lvl4pPr algn="r" rtl="0" eaLnBrk="0" fontAlgn="base" hangingPunct="0">
              <a:spcBef>
                <a:spcPct val="0"/>
              </a:spcBef>
              <a:spcAft>
                <a:spcPct val="0"/>
              </a:spcAft>
              <a:defRPr sz="3600" b="1">
                <a:solidFill>
                  <a:srgbClr val="CC3300"/>
                </a:solidFill>
                <a:latin typeface="Arial" charset="0"/>
                <a:ea typeface="黑体" pitchFamily="2" charset="-122"/>
              </a:defRPr>
            </a:lvl4pPr>
            <a:lvl5pPr algn="r" rtl="0" eaLnBrk="0" fontAlgn="base" hangingPunct="0">
              <a:spcBef>
                <a:spcPct val="0"/>
              </a:spcBef>
              <a:spcAft>
                <a:spcPct val="0"/>
              </a:spcAft>
              <a:defRPr sz="3600" b="1">
                <a:solidFill>
                  <a:srgbClr val="CC3300"/>
                </a:solidFill>
                <a:latin typeface="Arial" charset="0"/>
                <a:ea typeface="黑体" pitchFamily="2" charset="-122"/>
              </a:defRPr>
            </a:lvl5pPr>
            <a:lvl6pPr marL="457200" algn="r" rtl="0" fontAlgn="base">
              <a:spcBef>
                <a:spcPct val="0"/>
              </a:spcBef>
              <a:spcAft>
                <a:spcPct val="0"/>
              </a:spcAft>
              <a:defRPr sz="3600" b="1">
                <a:solidFill>
                  <a:srgbClr val="CC3300"/>
                </a:solidFill>
                <a:latin typeface="Arial" charset="0"/>
                <a:ea typeface="黑体" pitchFamily="2" charset="-122"/>
              </a:defRPr>
            </a:lvl6pPr>
            <a:lvl7pPr marL="914400" algn="r" rtl="0" fontAlgn="base">
              <a:spcBef>
                <a:spcPct val="0"/>
              </a:spcBef>
              <a:spcAft>
                <a:spcPct val="0"/>
              </a:spcAft>
              <a:defRPr sz="3600" b="1">
                <a:solidFill>
                  <a:srgbClr val="CC3300"/>
                </a:solidFill>
                <a:latin typeface="Arial" charset="0"/>
                <a:ea typeface="黑体" pitchFamily="2" charset="-122"/>
              </a:defRPr>
            </a:lvl7pPr>
            <a:lvl8pPr marL="1371600" algn="r" rtl="0" fontAlgn="base">
              <a:spcBef>
                <a:spcPct val="0"/>
              </a:spcBef>
              <a:spcAft>
                <a:spcPct val="0"/>
              </a:spcAft>
              <a:defRPr sz="3600" b="1">
                <a:solidFill>
                  <a:srgbClr val="CC3300"/>
                </a:solidFill>
                <a:latin typeface="Arial" charset="0"/>
                <a:ea typeface="黑体" pitchFamily="2" charset="-122"/>
              </a:defRPr>
            </a:lvl8pPr>
            <a:lvl9pPr marL="1828800" algn="r" rtl="0" fontAlgn="base">
              <a:spcBef>
                <a:spcPct val="0"/>
              </a:spcBef>
              <a:spcAft>
                <a:spcPct val="0"/>
              </a:spcAft>
              <a:defRPr sz="3600" b="1">
                <a:solidFill>
                  <a:srgbClr val="CC3300"/>
                </a:solidFill>
                <a:latin typeface="Arial" charset="0"/>
                <a:ea typeface="黑体" pitchFamily="2" charset="-122"/>
              </a:defRPr>
            </a:lvl9pPr>
          </a:lstStyle>
          <a:p>
            <a:pPr algn="l">
              <a:defRPr/>
            </a:pPr>
            <a:r>
              <a:rPr lang="zh-CN" altLang="en-US" sz="2800" kern="0" dirty="0">
                <a:solidFill>
                  <a:schemeClr val="bg1"/>
                </a:solidFill>
                <a:latin typeface="华文新魏" panose="02010800040101010101" pitchFamily="2" charset="-122"/>
                <a:ea typeface="华文新魏" panose="02010800040101010101" pitchFamily="2" charset="-122"/>
              </a:rPr>
              <a:t>操作系统基础</a:t>
            </a:r>
          </a:p>
        </p:txBody>
      </p:sp>
    </p:spTree>
    <p:extLst>
      <p:ext uri="{BB962C8B-B14F-4D97-AF65-F5344CB8AC3E}">
        <p14:creationId xmlns:p14="http://schemas.microsoft.com/office/powerpoint/2010/main" val="10140513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270"/>
          <p:cNvGraphicFramePr>
            <a:graphicFrameLocks/>
          </p:cNvGraphicFramePr>
          <p:nvPr>
            <p:extLst>
              <p:ext uri="{D42A27DB-BD31-4B8C-83A1-F6EECF244321}">
                <p14:modId xmlns:p14="http://schemas.microsoft.com/office/powerpoint/2010/main" val="2986566325"/>
              </p:ext>
            </p:extLst>
          </p:nvPr>
        </p:nvGraphicFramePr>
        <p:xfrm>
          <a:off x="457200" y="1371600"/>
          <a:ext cx="7210425" cy="5211612"/>
        </p:xfrm>
        <a:graphic>
          <a:graphicData uri="http://schemas.openxmlformats.org/drawingml/2006/table">
            <a:tbl>
              <a:tblPr/>
              <a:tblGrid>
                <a:gridCol w="349250">
                  <a:extLst>
                    <a:ext uri="{9D8B030D-6E8A-4147-A177-3AD203B41FA5}">
                      <a16:colId xmlns:a16="http://schemas.microsoft.com/office/drawing/2014/main" val="20000"/>
                    </a:ext>
                  </a:extLst>
                </a:gridCol>
                <a:gridCol w="6861175">
                  <a:extLst>
                    <a:ext uri="{9D8B030D-6E8A-4147-A177-3AD203B41FA5}">
                      <a16:colId xmlns:a16="http://schemas.microsoft.com/office/drawing/2014/main" val="20001"/>
                    </a:ext>
                  </a:extLst>
                </a:gridCol>
              </a:tblGrid>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1</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计算机概述及数字化基础</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2</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计算机三大平台</a:t>
                      </a:r>
                      <a:r>
                        <a:rPr kumimoji="0" lang="en-US" altLang="zh-CN" sz="2800" b="1" i="0" u="none" strike="noStrike" cap="none" normalizeH="0" baseline="0" dirty="0">
                          <a:ln>
                            <a:noFill/>
                          </a:ln>
                          <a:solidFill>
                            <a:schemeClr val="tx1"/>
                          </a:solidFill>
                          <a:effectLst/>
                          <a:latin typeface="Arial" charset="0"/>
                          <a:ea typeface="宋体" pitchFamily="2" charset="-122"/>
                        </a:rPr>
                        <a:t>——</a:t>
                      </a:r>
                      <a:r>
                        <a:rPr kumimoji="0" lang="zh-CN" altLang="en-US" sz="2800" b="1" i="0" u="none" strike="noStrike" cap="none" normalizeH="0" baseline="0" dirty="0">
                          <a:ln>
                            <a:noFill/>
                          </a:ln>
                          <a:solidFill>
                            <a:schemeClr val="tx1"/>
                          </a:solidFill>
                          <a:effectLst/>
                          <a:latin typeface="Arial" charset="0"/>
                          <a:ea typeface="宋体" pitchFamily="2" charset="-122"/>
                        </a:rPr>
                        <a:t>硬件、软件、</a:t>
                      </a:r>
                      <a:r>
                        <a:rPr kumimoji="0" lang="zh-CN" altLang="en-US" sz="2800" b="1" i="0" u="none" strike="sngStrike" cap="none" normalizeH="0" baseline="0" dirty="0">
                          <a:ln>
                            <a:noFill/>
                          </a:ln>
                          <a:solidFill>
                            <a:schemeClr val="tx1"/>
                          </a:solidFill>
                          <a:effectLst/>
                          <a:latin typeface="Arial" charset="0"/>
                          <a:ea typeface="宋体" pitchFamily="2" charset="-122"/>
                        </a:rPr>
                        <a:t>网络</a:t>
                      </a:r>
                      <a:endParaRPr kumimoji="0" lang="en-US" altLang="zh-CN" sz="2800" b="1" i="0" u="none" strike="sng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3</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rgbClr val="FF0000"/>
                          </a:solidFill>
                          <a:effectLst/>
                          <a:latin typeface="Arial" charset="0"/>
                          <a:ea typeface="宋体" pitchFamily="2" charset="-122"/>
                        </a:rPr>
                        <a:t>数据处理及数据库</a:t>
                      </a:r>
                      <a:endParaRPr kumimoji="0" lang="en-US" altLang="zh-CN" sz="2800" b="1" i="0" u="none" strike="noStrike" cap="none" normalizeH="0" baseline="0" dirty="0">
                        <a:ln>
                          <a:noFill/>
                        </a:ln>
                        <a:solidFill>
                          <a:srgbClr val="FF0000"/>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9482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4</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数据类型，运算符，表达式</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5</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流程控制</a:t>
                      </a:r>
                      <a:r>
                        <a:rPr kumimoji="0" lang="en-US" altLang="zh-CN" sz="2800" b="1" i="0" u="none" strike="noStrike" cap="none" normalizeH="0" baseline="0" dirty="0">
                          <a:ln>
                            <a:noFill/>
                          </a:ln>
                          <a:solidFill>
                            <a:schemeClr val="tx1"/>
                          </a:solidFill>
                          <a:effectLst/>
                          <a:latin typeface="Arial" charset="0"/>
                          <a:ea typeface="宋体" pitchFamily="2" charset="-122"/>
                        </a:rPr>
                        <a:t>——</a:t>
                      </a:r>
                      <a:r>
                        <a:rPr kumimoji="0" lang="zh-CN" altLang="en-US" sz="2800" b="1" i="0" u="none" strike="noStrike" cap="none" normalizeH="0" baseline="0" dirty="0">
                          <a:ln>
                            <a:noFill/>
                          </a:ln>
                          <a:solidFill>
                            <a:schemeClr val="tx1"/>
                          </a:solidFill>
                          <a:effectLst/>
                          <a:latin typeface="Arial" charset="0"/>
                          <a:ea typeface="宋体" pitchFamily="2" charset="-122"/>
                        </a:rPr>
                        <a:t>顺序、选择、循环</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4"/>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6</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数组</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5"/>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7</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函数</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8</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med" len="med"/>
                      <a:tailEnd type="none" w="med" len="med"/>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指针</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med" len="med"/>
                      <a:tailEnd type="none" w="med" len="med"/>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7"/>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9</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结构</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sp>
        <p:nvSpPr>
          <p:cNvPr id="3" name="标题 1"/>
          <p:cNvSpPr>
            <a:spLocks noGrp="1"/>
          </p:cNvSpPr>
          <p:nvPr>
            <p:ph type="title"/>
          </p:nvPr>
        </p:nvSpPr>
        <p:spPr>
          <a:xfrm>
            <a:off x="838200" y="547688"/>
            <a:ext cx="7391400" cy="563562"/>
          </a:xfrm>
        </p:spPr>
        <p:txBody>
          <a:bodyPr/>
          <a:lstStyle/>
          <a:p>
            <a:r>
              <a:rPr lang="zh-CN" altLang="en-US" dirty="0">
                <a:latin typeface="隶书" pitchFamily="49" charset="-122"/>
                <a:ea typeface="隶书" pitchFamily="49" charset="-122"/>
              </a:rPr>
              <a:t>复习内容</a:t>
            </a:r>
          </a:p>
        </p:txBody>
      </p:sp>
    </p:spTree>
    <p:extLst>
      <p:ext uri="{BB962C8B-B14F-4D97-AF65-F5344CB8AC3E}">
        <p14:creationId xmlns:p14="http://schemas.microsoft.com/office/powerpoint/2010/main" val="791260790"/>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3"/>
          <p:cNvSpPr>
            <a:spLocks noGrp="1" noChangeArrowheads="1"/>
          </p:cNvSpPr>
          <p:nvPr>
            <p:ph type="body" idx="1"/>
          </p:nvPr>
        </p:nvSpPr>
        <p:spPr>
          <a:xfrm>
            <a:off x="228600" y="1219200"/>
            <a:ext cx="8137525" cy="5505450"/>
          </a:xfrm>
        </p:spPr>
        <p:txBody>
          <a:bodyPr/>
          <a:lstStyle/>
          <a:p>
            <a:pPr eaLnBrk="1" hangingPunct="1">
              <a:buFont typeface="Wingdings" pitchFamily="2" charset="2"/>
              <a:buChar char="Ø"/>
            </a:pPr>
            <a:r>
              <a:rPr lang="zh-CN" altLang="en-US" dirty="0"/>
              <a:t>图形与图像的区别</a:t>
            </a:r>
          </a:p>
          <a:p>
            <a:pPr lvl="1" eaLnBrk="1" hangingPunct="1">
              <a:buFont typeface="Wingdings" pitchFamily="2" charset="2"/>
              <a:buChar char="Ø"/>
            </a:pPr>
            <a:r>
              <a:rPr lang="zh-CN" altLang="en-US" dirty="0">
                <a:solidFill>
                  <a:srgbClr val="FF0000"/>
                </a:solidFill>
              </a:rPr>
              <a:t>图形</a:t>
            </a:r>
            <a:r>
              <a:rPr lang="zh-CN" altLang="en-US" dirty="0"/>
              <a:t>是矢量概念，基本元素是图元；</a:t>
            </a:r>
            <a:r>
              <a:rPr lang="zh-CN" altLang="en-US" dirty="0">
                <a:solidFill>
                  <a:srgbClr val="FF0000"/>
                </a:solidFill>
              </a:rPr>
              <a:t>图像</a:t>
            </a:r>
            <a:r>
              <a:rPr lang="zh-CN" altLang="en-US" dirty="0"/>
              <a:t>是位图概念，基本元素是像素；</a:t>
            </a:r>
          </a:p>
          <a:p>
            <a:pPr lvl="1" eaLnBrk="1" hangingPunct="1">
              <a:buFont typeface="Wingdings" pitchFamily="2" charset="2"/>
              <a:buChar char="Ø"/>
            </a:pPr>
            <a:r>
              <a:rPr lang="zh-CN" altLang="en-US" dirty="0">
                <a:solidFill>
                  <a:srgbClr val="FF0000"/>
                </a:solidFill>
              </a:rPr>
              <a:t>图形</a:t>
            </a:r>
            <a:r>
              <a:rPr lang="zh-CN" altLang="en-US" dirty="0"/>
              <a:t>可以任意缩放无失真；</a:t>
            </a:r>
            <a:r>
              <a:rPr lang="zh-CN" altLang="en-US" dirty="0">
                <a:solidFill>
                  <a:srgbClr val="FF0000"/>
                </a:solidFill>
              </a:rPr>
              <a:t>图像</a:t>
            </a:r>
            <a:r>
              <a:rPr lang="zh-CN" altLang="en-US" dirty="0"/>
              <a:t>缩放有失真；</a:t>
            </a:r>
          </a:p>
          <a:p>
            <a:pPr lvl="1" eaLnBrk="1" hangingPunct="1">
              <a:buFont typeface="Wingdings" pitchFamily="2" charset="2"/>
              <a:buChar char="Ø"/>
            </a:pPr>
            <a:r>
              <a:rPr lang="zh-CN" altLang="en-US" dirty="0">
                <a:solidFill>
                  <a:srgbClr val="FF0000"/>
                </a:solidFill>
              </a:rPr>
              <a:t>图形</a:t>
            </a:r>
            <a:r>
              <a:rPr lang="zh-CN" altLang="en-US" dirty="0"/>
              <a:t>以图元为单位修改属性、编辑；</a:t>
            </a:r>
            <a:r>
              <a:rPr lang="zh-CN" altLang="en-US" dirty="0">
                <a:solidFill>
                  <a:srgbClr val="FF0000"/>
                </a:solidFill>
              </a:rPr>
              <a:t>图像</a:t>
            </a:r>
            <a:r>
              <a:rPr lang="zh-CN" altLang="en-US" dirty="0"/>
              <a:t>只能对像素或图块处理；</a:t>
            </a:r>
          </a:p>
          <a:p>
            <a:pPr lvl="1" eaLnBrk="1" hangingPunct="1">
              <a:buFont typeface="Wingdings" pitchFamily="2" charset="2"/>
              <a:buChar char="Ø"/>
            </a:pPr>
            <a:r>
              <a:rPr lang="zh-CN" altLang="en-US" dirty="0">
                <a:solidFill>
                  <a:srgbClr val="FF0000"/>
                </a:solidFill>
              </a:rPr>
              <a:t>图形</a:t>
            </a:r>
            <a:r>
              <a:rPr lang="zh-CN" altLang="en-US" dirty="0"/>
              <a:t>文件比较小，</a:t>
            </a:r>
            <a:r>
              <a:rPr lang="zh-CN" altLang="en-US" dirty="0">
                <a:solidFill>
                  <a:srgbClr val="FF0000"/>
                </a:solidFill>
              </a:rPr>
              <a:t>图像</a:t>
            </a:r>
            <a:r>
              <a:rPr lang="zh-CN" altLang="en-US" dirty="0"/>
              <a:t>文件比较大</a:t>
            </a:r>
          </a:p>
          <a:p>
            <a:pPr lvl="1" eaLnBrk="1" hangingPunct="1">
              <a:buFont typeface="Wingdings" pitchFamily="2" charset="2"/>
              <a:buChar char="Ø"/>
            </a:pPr>
            <a:r>
              <a:rPr lang="zh-CN" altLang="en-US" dirty="0">
                <a:solidFill>
                  <a:srgbClr val="FF0000"/>
                </a:solidFill>
              </a:rPr>
              <a:t>图形</a:t>
            </a:r>
            <a:r>
              <a:rPr lang="zh-CN" altLang="en-US" dirty="0"/>
              <a:t>适合描述</a:t>
            </a:r>
            <a:r>
              <a:rPr lang="zh-CN" altLang="en-US" dirty="0">
                <a:solidFill>
                  <a:schemeClr val="tx1"/>
                </a:solidFill>
              </a:rPr>
              <a:t>轮廓不很复杂，色彩不是很丰富的对象，如几何图形，工程图纸等；</a:t>
            </a:r>
            <a:r>
              <a:rPr lang="zh-CN" altLang="en-US" dirty="0">
                <a:solidFill>
                  <a:srgbClr val="FF0000"/>
                </a:solidFill>
              </a:rPr>
              <a:t>图像</a:t>
            </a:r>
            <a:r>
              <a:rPr lang="zh-CN" altLang="en-US" dirty="0"/>
              <a:t>适合表现</a:t>
            </a:r>
            <a:r>
              <a:rPr lang="zh-CN" altLang="en-US" dirty="0">
                <a:solidFill>
                  <a:schemeClr val="tx1"/>
                </a:solidFill>
              </a:rPr>
              <a:t>含有大量细节（如明暗变化、场景复杂、轮廓色彩丰富）的对象，</a:t>
            </a:r>
            <a:r>
              <a:rPr lang="zh-CN" altLang="en-US" dirty="0"/>
              <a:t>如：照片、绘图等。</a:t>
            </a:r>
          </a:p>
        </p:txBody>
      </p:sp>
      <p:sp>
        <p:nvSpPr>
          <p:cNvPr id="4" name="标题 1"/>
          <p:cNvSpPr txBox="1">
            <a:spLocks/>
          </p:cNvSpPr>
          <p:nvPr/>
        </p:nvSpPr>
        <p:spPr bwMode="auto">
          <a:xfrm>
            <a:off x="10886" y="457200"/>
            <a:ext cx="590550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rtl="0" eaLnBrk="0" fontAlgn="base" hangingPunct="0">
              <a:spcBef>
                <a:spcPct val="0"/>
              </a:spcBef>
              <a:spcAft>
                <a:spcPct val="0"/>
              </a:spcAft>
              <a:defRPr sz="3600" b="1">
                <a:solidFill>
                  <a:srgbClr val="CC3300"/>
                </a:solidFill>
                <a:latin typeface="+mj-lt"/>
                <a:ea typeface="+mj-ea"/>
                <a:cs typeface="+mj-cs"/>
              </a:defRPr>
            </a:lvl1pPr>
            <a:lvl2pPr algn="r" rtl="0" eaLnBrk="0" fontAlgn="base" hangingPunct="0">
              <a:spcBef>
                <a:spcPct val="0"/>
              </a:spcBef>
              <a:spcAft>
                <a:spcPct val="0"/>
              </a:spcAft>
              <a:defRPr sz="3600" b="1">
                <a:solidFill>
                  <a:srgbClr val="CC3300"/>
                </a:solidFill>
                <a:latin typeface="Arial" charset="0"/>
                <a:ea typeface="黑体" pitchFamily="2" charset="-122"/>
              </a:defRPr>
            </a:lvl2pPr>
            <a:lvl3pPr algn="r" rtl="0" eaLnBrk="0" fontAlgn="base" hangingPunct="0">
              <a:spcBef>
                <a:spcPct val="0"/>
              </a:spcBef>
              <a:spcAft>
                <a:spcPct val="0"/>
              </a:spcAft>
              <a:defRPr sz="3600" b="1">
                <a:solidFill>
                  <a:srgbClr val="CC3300"/>
                </a:solidFill>
                <a:latin typeface="Arial" charset="0"/>
                <a:ea typeface="黑体" pitchFamily="2" charset="-122"/>
              </a:defRPr>
            </a:lvl3pPr>
            <a:lvl4pPr algn="r" rtl="0" eaLnBrk="0" fontAlgn="base" hangingPunct="0">
              <a:spcBef>
                <a:spcPct val="0"/>
              </a:spcBef>
              <a:spcAft>
                <a:spcPct val="0"/>
              </a:spcAft>
              <a:defRPr sz="3600" b="1">
                <a:solidFill>
                  <a:srgbClr val="CC3300"/>
                </a:solidFill>
                <a:latin typeface="Arial" charset="0"/>
                <a:ea typeface="黑体" pitchFamily="2" charset="-122"/>
              </a:defRPr>
            </a:lvl4pPr>
            <a:lvl5pPr algn="r" rtl="0" eaLnBrk="0" fontAlgn="base" hangingPunct="0">
              <a:spcBef>
                <a:spcPct val="0"/>
              </a:spcBef>
              <a:spcAft>
                <a:spcPct val="0"/>
              </a:spcAft>
              <a:defRPr sz="3600" b="1">
                <a:solidFill>
                  <a:srgbClr val="CC3300"/>
                </a:solidFill>
                <a:latin typeface="Arial" charset="0"/>
                <a:ea typeface="黑体" pitchFamily="2" charset="-122"/>
              </a:defRPr>
            </a:lvl5pPr>
            <a:lvl6pPr marL="457200" algn="r" rtl="0" fontAlgn="base">
              <a:spcBef>
                <a:spcPct val="0"/>
              </a:spcBef>
              <a:spcAft>
                <a:spcPct val="0"/>
              </a:spcAft>
              <a:defRPr sz="3600" b="1">
                <a:solidFill>
                  <a:srgbClr val="CC3300"/>
                </a:solidFill>
                <a:latin typeface="Arial" charset="0"/>
                <a:ea typeface="黑体" pitchFamily="2" charset="-122"/>
              </a:defRPr>
            </a:lvl6pPr>
            <a:lvl7pPr marL="914400" algn="r" rtl="0" fontAlgn="base">
              <a:spcBef>
                <a:spcPct val="0"/>
              </a:spcBef>
              <a:spcAft>
                <a:spcPct val="0"/>
              </a:spcAft>
              <a:defRPr sz="3600" b="1">
                <a:solidFill>
                  <a:srgbClr val="CC3300"/>
                </a:solidFill>
                <a:latin typeface="Arial" charset="0"/>
                <a:ea typeface="黑体" pitchFamily="2" charset="-122"/>
              </a:defRPr>
            </a:lvl7pPr>
            <a:lvl8pPr marL="1371600" algn="r" rtl="0" fontAlgn="base">
              <a:spcBef>
                <a:spcPct val="0"/>
              </a:spcBef>
              <a:spcAft>
                <a:spcPct val="0"/>
              </a:spcAft>
              <a:defRPr sz="3600" b="1">
                <a:solidFill>
                  <a:srgbClr val="CC3300"/>
                </a:solidFill>
                <a:latin typeface="Arial" charset="0"/>
                <a:ea typeface="黑体" pitchFamily="2" charset="-122"/>
              </a:defRPr>
            </a:lvl8pPr>
            <a:lvl9pPr marL="1828800" algn="r" rtl="0" fontAlgn="base">
              <a:spcBef>
                <a:spcPct val="0"/>
              </a:spcBef>
              <a:spcAft>
                <a:spcPct val="0"/>
              </a:spcAft>
              <a:defRPr sz="3600" b="1">
                <a:solidFill>
                  <a:srgbClr val="CC3300"/>
                </a:solidFill>
                <a:latin typeface="Arial" charset="0"/>
                <a:ea typeface="黑体" pitchFamily="2" charset="-122"/>
              </a:defRPr>
            </a:lvl9pPr>
          </a:lstStyle>
          <a:p>
            <a:pPr algn="l">
              <a:defRPr/>
            </a:pPr>
            <a:r>
              <a:rPr lang="zh-CN" altLang="en-US" sz="2800" kern="0" dirty="0">
                <a:solidFill>
                  <a:schemeClr val="bg1"/>
                </a:solidFill>
                <a:latin typeface="华文新魏" panose="02010800040101010101" pitchFamily="2" charset="-122"/>
                <a:ea typeface="华文新魏" panose="02010800040101010101" pitchFamily="2" charset="-122"/>
              </a:rPr>
              <a:t>数据处理及数据库</a:t>
            </a:r>
          </a:p>
        </p:txBody>
      </p:sp>
    </p:spTree>
    <p:extLst>
      <p:ext uri="{BB962C8B-B14F-4D97-AF65-F5344CB8AC3E}">
        <p14:creationId xmlns:p14="http://schemas.microsoft.com/office/powerpoint/2010/main" val="254480651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内容占位符 2"/>
          <p:cNvSpPr>
            <a:spLocks noGrp="1"/>
          </p:cNvSpPr>
          <p:nvPr>
            <p:ph idx="4294967295"/>
          </p:nvPr>
        </p:nvSpPr>
        <p:spPr>
          <a:xfrm>
            <a:off x="381000" y="1981200"/>
            <a:ext cx="8229600" cy="3895725"/>
          </a:xfrm>
        </p:spPr>
        <p:txBody>
          <a:bodyPr/>
          <a:lstStyle/>
          <a:p>
            <a:pPr>
              <a:buFont typeface="Wingdings" pitchFamily="2" charset="2"/>
              <a:buChar char="Ø"/>
            </a:pPr>
            <a:r>
              <a:rPr lang="zh-CN" altLang="en-US" dirty="0"/>
              <a:t>数据管理技术的发展：人工管理、文件管理、数据库管理</a:t>
            </a:r>
          </a:p>
          <a:p>
            <a:pPr lvl="1">
              <a:buFont typeface="Wingdings" pitchFamily="2" charset="2"/>
              <a:buChar char="Ø"/>
            </a:pPr>
            <a:r>
              <a:rPr lang="zh-CN" altLang="en-US" sz="3200" dirty="0"/>
              <a:t>数据库</a:t>
            </a:r>
            <a:r>
              <a:rPr lang="en-US" altLang="zh-CN" sz="3200" dirty="0"/>
              <a:t>DB</a:t>
            </a:r>
            <a:r>
              <a:rPr lang="zh-CN" altLang="en-US" sz="3200" dirty="0"/>
              <a:t>；数据集合</a:t>
            </a:r>
          </a:p>
          <a:p>
            <a:pPr lvl="1">
              <a:buFont typeface="Wingdings" pitchFamily="2" charset="2"/>
              <a:buChar char="Ø"/>
            </a:pPr>
            <a:r>
              <a:rPr lang="zh-CN" altLang="en-US" sz="3200" dirty="0"/>
              <a:t>数据库管理系统</a:t>
            </a:r>
            <a:r>
              <a:rPr lang="en-US" altLang="zh-CN" sz="3200" dirty="0"/>
              <a:t>DBMS</a:t>
            </a:r>
            <a:r>
              <a:rPr lang="zh-CN" altLang="en-US" sz="3200" dirty="0"/>
              <a:t>：管理数据库的软件</a:t>
            </a:r>
          </a:p>
          <a:p>
            <a:pPr lvl="1">
              <a:buFont typeface="Wingdings" pitchFamily="2" charset="2"/>
              <a:buChar char="Ø"/>
            </a:pPr>
            <a:r>
              <a:rPr lang="zh-CN" altLang="en-US" sz="3200" dirty="0"/>
              <a:t>数据库系统</a:t>
            </a:r>
            <a:r>
              <a:rPr lang="en-US" altLang="zh-CN" sz="3200" dirty="0"/>
              <a:t>DBS</a:t>
            </a:r>
            <a:r>
              <a:rPr lang="zh-CN" altLang="en-US" sz="3200" dirty="0"/>
              <a:t>：带有数据库的计算机应用系统</a:t>
            </a:r>
          </a:p>
        </p:txBody>
      </p:sp>
      <p:sp>
        <p:nvSpPr>
          <p:cNvPr id="4" name="标题 1"/>
          <p:cNvSpPr txBox="1">
            <a:spLocks/>
          </p:cNvSpPr>
          <p:nvPr/>
        </p:nvSpPr>
        <p:spPr bwMode="auto">
          <a:xfrm>
            <a:off x="10886" y="457200"/>
            <a:ext cx="590550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rtl="0" eaLnBrk="0" fontAlgn="base" hangingPunct="0">
              <a:spcBef>
                <a:spcPct val="0"/>
              </a:spcBef>
              <a:spcAft>
                <a:spcPct val="0"/>
              </a:spcAft>
              <a:defRPr sz="3600" b="1">
                <a:solidFill>
                  <a:srgbClr val="CC3300"/>
                </a:solidFill>
                <a:latin typeface="+mj-lt"/>
                <a:ea typeface="+mj-ea"/>
                <a:cs typeface="+mj-cs"/>
              </a:defRPr>
            </a:lvl1pPr>
            <a:lvl2pPr algn="r" rtl="0" eaLnBrk="0" fontAlgn="base" hangingPunct="0">
              <a:spcBef>
                <a:spcPct val="0"/>
              </a:spcBef>
              <a:spcAft>
                <a:spcPct val="0"/>
              </a:spcAft>
              <a:defRPr sz="3600" b="1">
                <a:solidFill>
                  <a:srgbClr val="CC3300"/>
                </a:solidFill>
                <a:latin typeface="Arial" charset="0"/>
                <a:ea typeface="黑体" pitchFamily="2" charset="-122"/>
              </a:defRPr>
            </a:lvl2pPr>
            <a:lvl3pPr algn="r" rtl="0" eaLnBrk="0" fontAlgn="base" hangingPunct="0">
              <a:spcBef>
                <a:spcPct val="0"/>
              </a:spcBef>
              <a:spcAft>
                <a:spcPct val="0"/>
              </a:spcAft>
              <a:defRPr sz="3600" b="1">
                <a:solidFill>
                  <a:srgbClr val="CC3300"/>
                </a:solidFill>
                <a:latin typeface="Arial" charset="0"/>
                <a:ea typeface="黑体" pitchFamily="2" charset="-122"/>
              </a:defRPr>
            </a:lvl3pPr>
            <a:lvl4pPr algn="r" rtl="0" eaLnBrk="0" fontAlgn="base" hangingPunct="0">
              <a:spcBef>
                <a:spcPct val="0"/>
              </a:spcBef>
              <a:spcAft>
                <a:spcPct val="0"/>
              </a:spcAft>
              <a:defRPr sz="3600" b="1">
                <a:solidFill>
                  <a:srgbClr val="CC3300"/>
                </a:solidFill>
                <a:latin typeface="Arial" charset="0"/>
                <a:ea typeface="黑体" pitchFamily="2" charset="-122"/>
              </a:defRPr>
            </a:lvl4pPr>
            <a:lvl5pPr algn="r" rtl="0" eaLnBrk="0" fontAlgn="base" hangingPunct="0">
              <a:spcBef>
                <a:spcPct val="0"/>
              </a:spcBef>
              <a:spcAft>
                <a:spcPct val="0"/>
              </a:spcAft>
              <a:defRPr sz="3600" b="1">
                <a:solidFill>
                  <a:srgbClr val="CC3300"/>
                </a:solidFill>
                <a:latin typeface="Arial" charset="0"/>
                <a:ea typeface="黑体" pitchFamily="2" charset="-122"/>
              </a:defRPr>
            </a:lvl5pPr>
            <a:lvl6pPr marL="457200" algn="r" rtl="0" fontAlgn="base">
              <a:spcBef>
                <a:spcPct val="0"/>
              </a:spcBef>
              <a:spcAft>
                <a:spcPct val="0"/>
              </a:spcAft>
              <a:defRPr sz="3600" b="1">
                <a:solidFill>
                  <a:srgbClr val="CC3300"/>
                </a:solidFill>
                <a:latin typeface="Arial" charset="0"/>
                <a:ea typeface="黑体" pitchFamily="2" charset="-122"/>
              </a:defRPr>
            </a:lvl6pPr>
            <a:lvl7pPr marL="914400" algn="r" rtl="0" fontAlgn="base">
              <a:spcBef>
                <a:spcPct val="0"/>
              </a:spcBef>
              <a:spcAft>
                <a:spcPct val="0"/>
              </a:spcAft>
              <a:defRPr sz="3600" b="1">
                <a:solidFill>
                  <a:srgbClr val="CC3300"/>
                </a:solidFill>
                <a:latin typeface="Arial" charset="0"/>
                <a:ea typeface="黑体" pitchFamily="2" charset="-122"/>
              </a:defRPr>
            </a:lvl7pPr>
            <a:lvl8pPr marL="1371600" algn="r" rtl="0" fontAlgn="base">
              <a:spcBef>
                <a:spcPct val="0"/>
              </a:spcBef>
              <a:spcAft>
                <a:spcPct val="0"/>
              </a:spcAft>
              <a:defRPr sz="3600" b="1">
                <a:solidFill>
                  <a:srgbClr val="CC3300"/>
                </a:solidFill>
                <a:latin typeface="Arial" charset="0"/>
                <a:ea typeface="黑体" pitchFamily="2" charset="-122"/>
              </a:defRPr>
            </a:lvl8pPr>
            <a:lvl9pPr marL="1828800" algn="r" rtl="0" fontAlgn="base">
              <a:spcBef>
                <a:spcPct val="0"/>
              </a:spcBef>
              <a:spcAft>
                <a:spcPct val="0"/>
              </a:spcAft>
              <a:defRPr sz="3600" b="1">
                <a:solidFill>
                  <a:srgbClr val="CC3300"/>
                </a:solidFill>
                <a:latin typeface="Arial" charset="0"/>
                <a:ea typeface="黑体" pitchFamily="2" charset="-122"/>
              </a:defRPr>
            </a:lvl9pPr>
          </a:lstStyle>
          <a:p>
            <a:pPr algn="l">
              <a:defRPr/>
            </a:pPr>
            <a:r>
              <a:rPr lang="zh-CN" altLang="en-US" sz="2800" kern="0" dirty="0">
                <a:solidFill>
                  <a:schemeClr val="bg1"/>
                </a:solidFill>
                <a:latin typeface="华文新魏" panose="02010800040101010101" pitchFamily="2" charset="-122"/>
                <a:ea typeface="华文新魏" panose="02010800040101010101" pitchFamily="2" charset="-122"/>
              </a:rPr>
              <a:t>数据处理及数据库</a:t>
            </a:r>
          </a:p>
        </p:txBody>
      </p:sp>
    </p:spTree>
    <p:extLst>
      <p:ext uri="{BB962C8B-B14F-4D97-AF65-F5344CB8AC3E}">
        <p14:creationId xmlns:p14="http://schemas.microsoft.com/office/powerpoint/2010/main" val="18062321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内容占位符 2"/>
          <p:cNvSpPr>
            <a:spLocks noGrp="1"/>
          </p:cNvSpPr>
          <p:nvPr>
            <p:ph idx="4294967295"/>
          </p:nvPr>
        </p:nvSpPr>
        <p:spPr>
          <a:xfrm>
            <a:off x="381000" y="1447800"/>
            <a:ext cx="8229600" cy="3887788"/>
          </a:xfrm>
        </p:spPr>
        <p:txBody>
          <a:bodyPr/>
          <a:lstStyle/>
          <a:p>
            <a:pPr>
              <a:buFont typeface="Wingdings" pitchFamily="2" charset="2"/>
              <a:buChar char="Ø"/>
              <a:defRPr/>
            </a:pPr>
            <a:r>
              <a:rPr lang="zh-CN" altLang="en-US" dirty="0">
                <a:latin typeface="+mn-ea"/>
              </a:rPr>
              <a:t>数据模型：</a:t>
            </a:r>
            <a:endParaRPr lang="en-US" altLang="zh-CN" dirty="0">
              <a:latin typeface="+mn-ea"/>
            </a:endParaRPr>
          </a:p>
          <a:p>
            <a:pPr>
              <a:buFont typeface="Wingdings" pitchFamily="2" charset="2"/>
              <a:buNone/>
              <a:defRPr/>
            </a:pPr>
            <a:r>
              <a:rPr kumimoji="1" lang="en-US" altLang="zh-CN" dirty="0">
                <a:solidFill>
                  <a:srgbClr val="FF0000"/>
                </a:solidFill>
                <a:latin typeface="+mn-ea"/>
                <a:cs typeface="Times New Roman" pitchFamily="18" charset="0"/>
              </a:rPr>
              <a:t>  </a:t>
            </a:r>
            <a:r>
              <a:rPr kumimoji="1" lang="zh-CN" altLang="en-US" dirty="0">
                <a:solidFill>
                  <a:srgbClr val="FF0000"/>
                </a:solidFill>
                <a:latin typeface="+mn-ea"/>
                <a:cs typeface="Times New Roman" pitchFamily="18" charset="0"/>
              </a:rPr>
              <a:t>概念模型：</a:t>
            </a:r>
            <a:r>
              <a:rPr kumimoji="1" lang="en-US" altLang="zh-CN" dirty="0">
                <a:solidFill>
                  <a:srgbClr val="FF0000"/>
                </a:solidFill>
                <a:latin typeface="+mn-ea"/>
                <a:cs typeface="Times New Roman" pitchFamily="18" charset="0"/>
              </a:rPr>
              <a:t>E-R</a:t>
            </a:r>
            <a:r>
              <a:rPr kumimoji="1" lang="zh-CN" altLang="en-US" dirty="0">
                <a:solidFill>
                  <a:srgbClr val="FF0000"/>
                </a:solidFill>
                <a:latin typeface="+mn-ea"/>
                <a:cs typeface="Times New Roman" pitchFamily="18" charset="0"/>
              </a:rPr>
              <a:t>图，与</a:t>
            </a:r>
            <a:r>
              <a:rPr kumimoji="1" lang="en-US" altLang="zh-CN" dirty="0">
                <a:solidFill>
                  <a:srgbClr val="FF0000"/>
                </a:solidFill>
                <a:latin typeface="+mn-ea"/>
                <a:cs typeface="Times New Roman" pitchFamily="18" charset="0"/>
              </a:rPr>
              <a:t>DBMS</a:t>
            </a:r>
            <a:r>
              <a:rPr kumimoji="1" lang="zh-CN" altLang="en-US" dirty="0">
                <a:solidFill>
                  <a:srgbClr val="FF0000"/>
                </a:solidFill>
                <a:latin typeface="+mn-ea"/>
                <a:cs typeface="Times New Roman" pitchFamily="18" charset="0"/>
              </a:rPr>
              <a:t>无关</a:t>
            </a:r>
            <a:endParaRPr kumimoji="1" lang="en-US" altLang="zh-CN" dirty="0">
              <a:solidFill>
                <a:srgbClr val="FF0000"/>
              </a:solidFill>
              <a:latin typeface="+mn-ea"/>
              <a:cs typeface="Times New Roman" pitchFamily="18" charset="0"/>
            </a:endParaRPr>
          </a:p>
          <a:p>
            <a:pPr>
              <a:buFont typeface="Wingdings" pitchFamily="2" charset="2"/>
              <a:buNone/>
              <a:defRPr/>
            </a:pPr>
            <a:r>
              <a:rPr kumimoji="1" lang="zh-CN" altLang="en-US" dirty="0">
                <a:solidFill>
                  <a:srgbClr val="FF0000"/>
                </a:solidFill>
                <a:latin typeface="+mn-ea"/>
                <a:cs typeface="Times New Roman" pitchFamily="18" charset="0"/>
              </a:rPr>
              <a:t>  逻辑模型：层次模型、网状模型和关系模型，与</a:t>
            </a:r>
            <a:r>
              <a:rPr kumimoji="1" lang="en-US" altLang="zh-CN" dirty="0">
                <a:solidFill>
                  <a:srgbClr val="FF0000"/>
                </a:solidFill>
                <a:latin typeface="+mn-ea"/>
                <a:cs typeface="Times New Roman" pitchFamily="18" charset="0"/>
              </a:rPr>
              <a:t>DBMS</a:t>
            </a:r>
            <a:r>
              <a:rPr kumimoji="1" lang="zh-CN" altLang="en-US" dirty="0">
                <a:solidFill>
                  <a:srgbClr val="FF0000"/>
                </a:solidFill>
                <a:latin typeface="+mn-ea"/>
                <a:cs typeface="Times New Roman" pitchFamily="18" charset="0"/>
              </a:rPr>
              <a:t>有关</a:t>
            </a:r>
            <a:endParaRPr kumimoji="1" lang="en-US" altLang="zh-CN" dirty="0">
              <a:solidFill>
                <a:srgbClr val="FF0000"/>
              </a:solidFill>
              <a:latin typeface="+mn-ea"/>
              <a:cs typeface="Times New Roman" pitchFamily="18" charset="0"/>
            </a:endParaRPr>
          </a:p>
          <a:p>
            <a:pPr>
              <a:buFont typeface="Wingdings" pitchFamily="2" charset="2"/>
              <a:buNone/>
              <a:defRPr/>
            </a:pPr>
            <a:r>
              <a:rPr kumimoji="1" lang="en-US" altLang="zh-CN" dirty="0">
                <a:solidFill>
                  <a:srgbClr val="FF0000"/>
                </a:solidFill>
                <a:latin typeface="+mn-ea"/>
                <a:cs typeface="Times New Roman" pitchFamily="18" charset="0"/>
              </a:rPr>
              <a:t>  </a:t>
            </a:r>
            <a:r>
              <a:rPr kumimoji="1" lang="zh-CN" altLang="en-US" dirty="0">
                <a:solidFill>
                  <a:srgbClr val="FF0000"/>
                </a:solidFill>
                <a:latin typeface="+mn-ea"/>
                <a:cs typeface="Times New Roman" pitchFamily="18" charset="0"/>
              </a:rPr>
              <a:t>物理模型：反映存储结构</a:t>
            </a:r>
            <a:endParaRPr kumimoji="1" lang="en-US" altLang="zh-CN" dirty="0">
              <a:solidFill>
                <a:srgbClr val="FF0000"/>
              </a:solidFill>
              <a:latin typeface="+mn-ea"/>
              <a:cs typeface="Times New Roman" pitchFamily="18" charset="0"/>
            </a:endParaRPr>
          </a:p>
          <a:p>
            <a:pPr>
              <a:buFont typeface="Wingdings" pitchFamily="2" charset="2"/>
              <a:buChar char="Ø"/>
              <a:defRPr/>
            </a:pPr>
            <a:r>
              <a:rPr lang="zh-CN" altLang="en-US" dirty="0">
                <a:latin typeface="+mn-ea"/>
              </a:rPr>
              <a:t>关系模型：</a:t>
            </a:r>
            <a:r>
              <a:rPr kumimoji="1" lang="zh-CN" altLang="en-US" dirty="0">
                <a:solidFill>
                  <a:srgbClr val="FF0000"/>
                </a:solidFill>
                <a:latin typeface="+mn-ea"/>
                <a:cs typeface="Times New Roman" pitchFamily="18" charset="0"/>
              </a:rPr>
              <a:t>二维表格</a:t>
            </a:r>
            <a:r>
              <a:rPr kumimoji="1" lang="zh-CN" altLang="en-US" dirty="0">
                <a:latin typeface="+mn-ea"/>
                <a:cs typeface="Times New Roman" pitchFamily="18" charset="0"/>
              </a:rPr>
              <a:t>，</a:t>
            </a:r>
            <a:r>
              <a:rPr lang="zh-CN" altLang="en-US" dirty="0">
                <a:latin typeface="+mn-ea"/>
              </a:rPr>
              <a:t>一个</a:t>
            </a:r>
            <a:r>
              <a:rPr lang="zh-CN" altLang="en-US" dirty="0">
                <a:solidFill>
                  <a:srgbClr val="FF0000"/>
                </a:solidFill>
                <a:effectLst>
                  <a:outerShdw blurRad="38100" dist="38100" dir="2700000" algn="tl">
                    <a:srgbClr val="FFFFFF"/>
                  </a:outerShdw>
                </a:effectLst>
                <a:latin typeface="+mn-ea"/>
              </a:rPr>
              <a:t>关系</a:t>
            </a:r>
            <a:r>
              <a:rPr lang="zh-CN" altLang="en-US" dirty="0">
                <a:latin typeface="+mn-ea"/>
              </a:rPr>
              <a:t>是一张</a:t>
            </a:r>
            <a:r>
              <a:rPr lang="zh-CN" altLang="en-US" dirty="0">
                <a:solidFill>
                  <a:srgbClr val="336600"/>
                </a:solidFill>
                <a:effectLst>
                  <a:outerShdw blurRad="38100" dist="38100" dir="2700000" algn="tl">
                    <a:srgbClr val="FFFFFF"/>
                  </a:outerShdw>
                </a:effectLst>
                <a:latin typeface="+mn-ea"/>
              </a:rPr>
              <a:t>二维表。</a:t>
            </a:r>
            <a:endParaRPr lang="zh-CN" altLang="en-US" dirty="0">
              <a:latin typeface="+mn-ea"/>
            </a:endParaRPr>
          </a:p>
          <a:p>
            <a:pPr lvl="1">
              <a:buFont typeface="Wingdings" pitchFamily="2" charset="2"/>
              <a:buChar char="Ø"/>
              <a:defRPr/>
            </a:pPr>
            <a:r>
              <a:rPr lang="zh-CN" altLang="en-US" sz="3200" dirty="0">
                <a:latin typeface="+mn-ea"/>
              </a:rPr>
              <a:t>表的</a:t>
            </a:r>
            <a:r>
              <a:rPr kumimoji="1" lang="zh-CN" altLang="en-US" sz="3200" dirty="0">
                <a:latin typeface="+mn-ea"/>
              </a:rPr>
              <a:t>每</a:t>
            </a:r>
            <a:r>
              <a:rPr lang="zh-CN" altLang="en-US" sz="3200" dirty="0">
                <a:latin typeface="+mn-ea"/>
              </a:rPr>
              <a:t>一行</a:t>
            </a:r>
            <a:r>
              <a:rPr kumimoji="1" lang="zh-CN" altLang="en-US" sz="3200" dirty="0">
                <a:latin typeface="+mn-ea"/>
              </a:rPr>
              <a:t>为一个</a:t>
            </a:r>
            <a:r>
              <a:rPr kumimoji="1" lang="zh-CN" altLang="en-US" sz="3200" dirty="0">
                <a:solidFill>
                  <a:srgbClr val="FF0000"/>
                </a:solidFill>
                <a:latin typeface="+mn-ea"/>
              </a:rPr>
              <a:t>记录</a:t>
            </a:r>
            <a:r>
              <a:rPr kumimoji="1" lang="zh-CN" altLang="en-US" sz="3200" dirty="0">
                <a:solidFill>
                  <a:schemeClr val="tx2"/>
                </a:solidFill>
                <a:latin typeface="+mn-ea"/>
              </a:rPr>
              <a:t>（</a:t>
            </a:r>
            <a:r>
              <a:rPr kumimoji="1" lang="zh-CN" altLang="en-US" sz="3200" dirty="0">
                <a:solidFill>
                  <a:srgbClr val="336600"/>
                </a:solidFill>
                <a:latin typeface="+mn-ea"/>
              </a:rPr>
              <a:t>元组</a:t>
            </a:r>
            <a:r>
              <a:rPr kumimoji="1" lang="zh-CN" altLang="en-US" sz="3200" dirty="0">
                <a:solidFill>
                  <a:schemeClr val="tx2"/>
                </a:solidFill>
                <a:latin typeface="+mn-ea"/>
              </a:rPr>
              <a:t>）</a:t>
            </a:r>
            <a:endParaRPr lang="zh-CN" altLang="en-US" sz="3200" dirty="0">
              <a:latin typeface="+mn-ea"/>
            </a:endParaRPr>
          </a:p>
          <a:p>
            <a:pPr lvl="1">
              <a:buFont typeface="Wingdings" pitchFamily="2" charset="2"/>
              <a:buChar char="Ø"/>
              <a:defRPr/>
            </a:pPr>
            <a:r>
              <a:rPr lang="zh-CN" altLang="en-US" sz="3200" dirty="0">
                <a:latin typeface="+mn-ea"/>
              </a:rPr>
              <a:t>表的</a:t>
            </a:r>
            <a:r>
              <a:rPr kumimoji="1" lang="zh-CN" altLang="en-US" sz="3200" dirty="0">
                <a:latin typeface="+mn-ea"/>
              </a:rPr>
              <a:t>每</a:t>
            </a:r>
            <a:r>
              <a:rPr lang="zh-CN" altLang="en-US" sz="3200" dirty="0">
                <a:latin typeface="+mn-ea"/>
              </a:rPr>
              <a:t>一列</a:t>
            </a:r>
            <a:r>
              <a:rPr kumimoji="1" lang="zh-CN" altLang="en-US" sz="3200" dirty="0">
                <a:latin typeface="+mn-ea"/>
              </a:rPr>
              <a:t>代表</a:t>
            </a:r>
            <a:r>
              <a:rPr kumimoji="1" lang="zh-CN" altLang="en-US" sz="3200" dirty="0">
                <a:solidFill>
                  <a:srgbClr val="FF0000"/>
                </a:solidFill>
                <a:latin typeface="+mn-ea"/>
              </a:rPr>
              <a:t>字段</a:t>
            </a:r>
            <a:r>
              <a:rPr kumimoji="1" lang="zh-CN" altLang="en-US" sz="3200" dirty="0">
                <a:latin typeface="+mn-ea"/>
              </a:rPr>
              <a:t>（</a:t>
            </a:r>
            <a:r>
              <a:rPr kumimoji="1" lang="zh-CN" altLang="en-US" sz="3200" dirty="0">
                <a:solidFill>
                  <a:srgbClr val="336600"/>
                </a:solidFill>
                <a:latin typeface="+mn-ea"/>
              </a:rPr>
              <a:t>属性</a:t>
            </a:r>
            <a:r>
              <a:rPr kumimoji="1" lang="zh-CN" altLang="en-US" sz="3200" dirty="0">
                <a:latin typeface="+mn-ea"/>
              </a:rPr>
              <a:t>）</a:t>
            </a:r>
            <a:endParaRPr lang="zh-CN" altLang="en-US" sz="3200" dirty="0">
              <a:latin typeface="+mn-ea"/>
            </a:endParaRPr>
          </a:p>
        </p:txBody>
      </p:sp>
      <p:sp>
        <p:nvSpPr>
          <p:cNvPr id="4" name="标题 1"/>
          <p:cNvSpPr txBox="1">
            <a:spLocks/>
          </p:cNvSpPr>
          <p:nvPr/>
        </p:nvSpPr>
        <p:spPr bwMode="auto">
          <a:xfrm>
            <a:off x="10886" y="457200"/>
            <a:ext cx="590550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r" rtl="0" eaLnBrk="0" fontAlgn="base" hangingPunct="0">
              <a:spcBef>
                <a:spcPct val="0"/>
              </a:spcBef>
              <a:spcAft>
                <a:spcPct val="0"/>
              </a:spcAft>
              <a:defRPr sz="3600" b="1">
                <a:solidFill>
                  <a:srgbClr val="CC3300"/>
                </a:solidFill>
                <a:latin typeface="+mj-lt"/>
                <a:ea typeface="+mj-ea"/>
                <a:cs typeface="+mj-cs"/>
              </a:defRPr>
            </a:lvl1pPr>
            <a:lvl2pPr algn="r" rtl="0" eaLnBrk="0" fontAlgn="base" hangingPunct="0">
              <a:spcBef>
                <a:spcPct val="0"/>
              </a:spcBef>
              <a:spcAft>
                <a:spcPct val="0"/>
              </a:spcAft>
              <a:defRPr sz="3600" b="1">
                <a:solidFill>
                  <a:srgbClr val="CC3300"/>
                </a:solidFill>
                <a:latin typeface="Arial" charset="0"/>
                <a:ea typeface="黑体" pitchFamily="2" charset="-122"/>
              </a:defRPr>
            </a:lvl2pPr>
            <a:lvl3pPr algn="r" rtl="0" eaLnBrk="0" fontAlgn="base" hangingPunct="0">
              <a:spcBef>
                <a:spcPct val="0"/>
              </a:spcBef>
              <a:spcAft>
                <a:spcPct val="0"/>
              </a:spcAft>
              <a:defRPr sz="3600" b="1">
                <a:solidFill>
                  <a:srgbClr val="CC3300"/>
                </a:solidFill>
                <a:latin typeface="Arial" charset="0"/>
                <a:ea typeface="黑体" pitchFamily="2" charset="-122"/>
              </a:defRPr>
            </a:lvl3pPr>
            <a:lvl4pPr algn="r" rtl="0" eaLnBrk="0" fontAlgn="base" hangingPunct="0">
              <a:spcBef>
                <a:spcPct val="0"/>
              </a:spcBef>
              <a:spcAft>
                <a:spcPct val="0"/>
              </a:spcAft>
              <a:defRPr sz="3600" b="1">
                <a:solidFill>
                  <a:srgbClr val="CC3300"/>
                </a:solidFill>
                <a:latin typeface="Arial" charset="0"/>
                <a:ea typeface="黑体" pitchFamily="2" charset="-122"/>
              </a:defRPr>
            </a:lvl4pPr>
            <a:lvl5pPr algn="r" rtl="0" eaLnBrk="0" fontAlgn="base" hangingPunct="0">
              <a:spcBef>
                <a:spcPct val="0"/>
              </a:spcBef>
              <a:spcAft>
                <a:spcPct val="0"/>
              </a:spcAft>
              <a:defRPr sz="3600" b="1">
                <a:solidFill>
                  <a:srgbClr val="CC3300"/>
                </a:solidFill>
                <a:latin typeface="Arial" charset="0"/>
                <a:ea typeface="黑体" pitchFamily="2" charset="-122"/>
              </a:defRPr>
            </a:lvl5pPr>
            <a:lvl6pPr marL="457200" algn="r" rtl="0" fontAlgn="base">
              <a:spcBef>
                <a:spcPct val="0"/>
              </a:spcBef>
              <a:spcAft>
                <a:spcPct val="0"/>
              </a:spcAft>
              <a:defRPr sz="3600" b="1">
                <a:solidFill>
                  <a:srgbClr val="CC3300"/>
                </a:solidFill>
                <a:latin typeface="Arial" charset="0"/>
                <a:ea typeface="黑体" pitchFamily="2" charset="-122"/>
              </a:defRPr>
            </a:lvl6pPr>
            <a:lvl7pPr marL="914400" algn="r" rtl="0" fontAlgn="base">
              <a:spcBef>
                <a:spcPct val="0"/>
              </a:spcBef>
              <a:spcAft>
                <a:spcPct val="0"/>
              </a:spcAft>
              <a:defRPr sz="3600" b="1">
                <a:solidFill>
                  <a:srgbClr val="CC3300"/>
                </a:solidFill>
                <a:latin typeface="Arial" charset="0"/>
                <a:ea typeface="黑体" pitchFamily="2" charset="-122"/>
              </a:defRPr>
            </a:lvl7pPr>
            <a:lvl8pPr marL="1371600" algn="r" rtl="0" fontAlgn="base">
              <a:spcBef>
                <a:spcPct val="0"/>
              </a:spcBef>
              <a:spcAft>
                <a:spcPct val="0"/>
              </a:spcAft>
              <a:defRPr sz="3600" b="1">
                <a:solidFill>
                  <a:srgbClr val="CC3300"/>
                </a:solidFill>
                <a:latin typeface="Arial" charset="0"/>
                <a:ea typeface="黑体" pitchFamily="2" charset="-122"/>
              </a:defRPr>
            </a:lvl8pPr>
            <a:lvl9pPr marL="1828800" algn="r" rtl="0" fontAlgn="base">
              <a:spcBef>
                <a:spcPct val="0"/>
              </a:spcBef>
              <a:spcAft>
                <a:spcPct val="0"/>
              </a:spcAft>
              <a:defRPr sz="3600" b="1">
                <a:solidFill>
                  <a:srgbClr val="CC3300"/>
                </a:solidFill>
                <a:latin typeface="Arial" charset="0"/>
                <a:ea typeface="黑体" pitchFamily="2" charset="-122"/>
              </a:defRPr>
            </a:lvl9pPr>
          </a:lstStyle>
          <a:p>
            <a:pPr algn="l">
              <a:defRPr/>
            </a:pPr>
            <a:r>
              <a:rPr lang="zh-CN" altLang="en-US" sz="2800" kern="0" dirty="0">
                <a:solidFill>
                  <a:schemeClr val="bg1"/>
                </a:solidFill>
                <a:latin typeface="华文新魏" panose="02010800040101010101" pitchFamily="2" charset="-122"/>
                <a:ea typeface="华文新魏" panose="02010800040101010101" pitchFamily="2" charset="-122"/>
              </a:rPr>
              <a:t>数据处理及数据库</a:t>
            </a:r>
          </a:p>
        </p:txBody>
      </p:sp>
    </p:spTree>
    <p:extLst>
      <p:ext uri="{BB962C8B-B14F-4D97-AF65-F5344CB8AC3E}">
        <p14:creationId xmlns:p14="http://schemas.microsoft.com/office/powerpoint/2010/main" val="18466912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270"/>
          <p:cNvGraphicFramePr>
            <a:graphicFrameLocks/>
          </p:cNvGraphicFramePr>
          <p:nvPr>
            <p:extLst>
              <p:ext uri="{D42A27DB-BD31-4B8C-83A1-F6EECF244321}">
                <p14:modId xmlns:p14="http://schemas.microsoft.com/office/powerpoint/2010/main" val="1151051432"/>
              </p:ext>
            </p:extLst>
          </p:nvPr>
        </p:nvGraphicFramePr>
        <p:xfrm>
          <a:off x="457200" y="1371600"/>
          <a:ext cx="7210425" cy="5211612"/>
        </p:xfrm>
        <a:graphic>
          <a:graphicData uri="http://schemas.openxmlformats.org/drawingml/2006/table">
            <a:tbl>
              <a:tblPr/>
              <a:tblGrid>
                <a:gridCol w="349250">
                  <a:extLst>
                    <a:ext uri="{9D8B030D-6E8A-4147-A177-3AD203B41FA5}">
                      <a16:colId xmlns:a16="http://schemas.microsoft.com/office/drawing/2014/main" val="20000"/>
                    </a:ext>
                  </a:extLst>
                </a:gridCol>
                <a:gridCol w="6861175">
                  <a:extLst>
                    <a:ext uri="{9D8B030D-6E8A-4147-A177-3AD203B41FA5}">
                      <a16:colId xmlns:a16="http://schemas.microsoft.com/office/drawing/2014/main" val="20001"/>
                    </a:ext>
                  </a:extLst>
                </a:gridCol>
              </a:tblGrid>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1</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计算机概述及数字化基础</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2</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计算机三大平台</a:t>
                      </a:r>
                      <a:r>
                        <a:rPr kumimoji="0" lang="en-US" altLang="zh-CN" sz="2800" b="1" i="0" u="none" strike="noStrike" cap="none" normalizeH="0" baseline="0" dirty="0">
                          <a:ln>
                            <a:noFill/>
                          </a:ln>
                          <a:solidFill>
                            <a:schemeClr val="tx1"/>
                          </a:solidFill>
                          <a:effectLst/>
                          <a:latin typeface="Arial" charset="0"/>
                          <a:ea typeface="宋体" pitchFamily="2" charset="-122"/>
                        </a:rPr>
                        <a:t>——</a:t>
                      </a:r>
                      <a:r>
                        <a:rPr kumimoji="0" lang="zh-CN" altLang="en-US" sz="2800" b="1" i="0" u="none" strike="noStrike" cap="none" normalizeH="0" baseline="0" dirty="0">
                          <a:ln>
                            <a:noFill/>
                          </a:ln>
                          <a:solidFill>
                            <a:schemeClr val="tx1"/>
                          </a:solidFill>
                          <a:effectLst/>
                          <a:latin typeface="Arial" charset="0"/>
                          <a:ea typeface="宋体" pitchFamily="2" charset="-122"/>
                        </a:rPr>
                        <a:t>硬件、软件、</a:t>
                      </a:r>
                      <a:r>
                        <a:rPr kumimoji="0" lang="zh-CN" altLang="en-US" sz="2800" b="1" i="0" u="none" strike="sngStrike" cap="none" normalizeH="0" baseline="0" dirty="0">
                          <a:ln>
                            <a:noFill/>
                          </a:ln>
                          <a:solidFill>
                            <a:schemeClr val="tx1"/>
                          </a:solidFill>
                          <a:effectLst/>
                          <a:latin typeface="Arial" charset="0"/>
                          <a:ea typeface="宋体" pitchFamily="2" charset="-122"/>
                        </a:rPr>
                        <a:t>网络</a:t>
                      </a:r>
                      <a:endParaRPr kumimoji="0" lang="en-US" altLang="zh-CN" sz="2800" b="1" i="0" u="none" strike="sng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3</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数据处理及数据库</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9482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4</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rgbClr val="FF0000"/>
                          </a:solidFill>
                          <a:effectLst/>
                          <a:latin typeface="Arial" charset="0"/>
                          <a:ea typeface="宋体" pitchFamily="2" charset="-122"/>
                        </a:rPr>
                        <a:t>数据类型，运算符，表达式</a:t>
                      </a:r>
                      <a:endParaRPr kumimoji="0" lang="en-US" altLang="zh-CN" sz="2800" b="1" i="0" u="none" strike="noStrike" cap="none" normalizeH="0" baseline="0" dirty="0">
                        <a:ln>
                          <a:noFill/>
                        </a:ln>
                        <a:solidFill>
                          <a:srgbClr val="FF0000"/>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5</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流程控制</a:t>
                      </a:r>
                      <a:r>
                        <a:rPr kumimoji="0" lang="en-US" altLang="zh-CN" sz="2800" b="1" i="0" u="none" strike="noStrike" cap="none" normalizeH="0" baseline="0" dirty="0">
                          <a:ln>
                            <a:noFill/>
                          </a:ln>
                          <a:solidFill>
                            <a:schemeClr val="tx1"/>
                          </a:solidFill>
                          <a:effectLst/>
                          <a:latin typeface="Arial" charset="0"/>
                          <a:ea typeface="宋体" pitchFamily="2" charset="-122"/>
                        </a:rPr>
                        <a:t>——</a:t>
                      </a:r>
                      <a:r>
                        <a:rPr kumimoji="0" lang="zh-CN" altLang="en-US" sz="2800" b="1" i="0" u="none" strike="noStrike" cap="none" normalizeH="0" baseline="0" dirty="0">
                          <a:ln>
                            <a:noFill/>
                          </a:ln>
                          <a:solidFill>
                            <a:schemeClr val="tx1"/>
                          </a:solidFill>
                          <a:effectLst/>
                          <a:latin typeface="Arial" charset="0"/>
                          <a:ea typeface="宋体" pitchFamily="2" charset="-122"/>
                        </a:rPr>
                        <a:t>顺序、选择、循环</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4"/>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6</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数组</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5"/>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7</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函数</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8</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med" len="med"/>
                      <a:tailEnd type="none" w="med" len="med"/>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指针</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med" len="med"/>
                      <a:tailEnd type="none" w="med" len="med"/>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7"/>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9</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结构</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sp>
        <p:nvSpPr>
          <p:cNvPr id="3" name="标题 1"/>
          <p:cNvSpPr>
            <a:spLocks noGrp="1"/>
          </p:cNvSpPr>
          <p:nvPr>
            <p:ph type="title"/>
          </p:nvPr>
        </p:nvSpPr>
        <p:spPr>
          <a:xfrm>
            <a:off x="838200" y="547688"/>
            <a:ext cx="7391400" cy="563562"/>
          </a:xfrm>
        </p:spPr>
        <p:txBody>
          <a:bodyPr/>
          <a:lstStyle/>
          <a:p>
            <a:r>
              <a:rPr lang="zh-CN" altLang="en-US" dirty="0">
                <a:latin typeface="隶书" pitchFamily="49" charset="-122"/>
                <a:ea typeface="隶书" pitchFamily="49" charset="-122"/>
              </a:rPr>
              <a:t>复习内容</a:t>
            </a:r>
          </a:p>
        </p:txBody>
      </p:sp>
    </p:spTree>
    <p:extLst>
      <p:ext uri="{BB962C8B-B14F-4D97-AF65-F5344CB8AC3E}">
        <p14:creationId xmlns:p14="http://schemas.microsoft.com/office/powerpoint/2010/main" val="3167364643"/>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3"/>
          <p:cNvSpPr>
            <a:spLocks noGrp="1" noChangeArrowheads="1"/>
          </p:cNvSpPr>
          <p:nvPr>
            <p:ph type="body" sz="half" idx="1"/>
          </p:nvPr>
        </p:nvSpPr>
        <p:spPr>
          <a:xfrm>
            <a:off x="0" y="1185862"/>
            <a:ext cx="8483600" cy="2014538"/>
          </a:xfrm>
          <a:gradFill rotWithShape="1">
            <a:gsLst>
              <a:gs pos="0">
                <a:srgbClr val="FFCCFF"/>
              </a:gs>
              <a:gs pos="100000">
                <a:schemeClr val="bg1"/>
              </a:gs>
            </a:gsLst>
            <a:path path="shape">
              <a:fillToRect l="50000" t="50000" r="50000" b="50000"/>
            </a:path>
          </a:gradFill>
        </p:spPr>
        <p:txBody>
          <a:bodyPr/>
          <a:lstStyle/>
          <a:p>
            <a:r>
              <a:rPr lang="zh-CN" altLang="en-US" sz="2800" b="1">
                <a:latin typeface="幼圆" pitchFamily="49" charset="-122"/>
                <a:ea typeface="幼圆" pitchFamily="49" charset="-122"/>
              </a:rPr>
              <a:t>基本概念</a:t>
            </a:r>
            <a:endParaRPr lang="zh-CN" altLang="en-US" sz="2800" b="1">
              <a:solidFill>
                <a:srgbClr val="00FFFF"/>
              </a:solidFill>
              <a:latin typeface="幼圆" pitchFamily="49" charset="-122"/>
              <a:ea typeface="幼圆" pitchFamily="49" charset="-122"/>
            </a:endParaRPr>
          </a:p>
          <a:p>
            <a:pPr lvl="1"/>
            <a:r>
              <a:rPr lang="zh-CN" altLang="en-US" sz="2400" b="1">
                <a:solidFill>
                  <a:schemeClr val="tx2"/>
                </a:solidFill>
                <a:latin typeface="幼圆" pitchFamily="49" charset="-122"/>
                <a:ea typeface="幼圆" pitchFamily="49" charset="-122"/>
              </a:rPr>
              <a:t>字符集、标识符、</a:t>
            </a:r>
            <a:r>
              <a:rPr lang="zh-CN" altLang="en-US" sz="2400" b="1">
                <a:solidFill>
                  <a:schemeClr val="tx2"/>
                </a:solidFill>
                <a:latin typeface="幼圆" pitchFamily="49" charset="-122"/>
                <a:ea typeface="幼圆" pitchFamily="49" charset="-122"/>
                <a:cs typeface="Times New Roman" pitchFamily="18" charset="0"/>
              </a:rPr>
              <a:t>关键字</a:t>
            </a:r>
          </a:p>
          <a:p>
            <a:pPr lvl="1"/>
            <a:r>
              <a:rPr lang="zh-CN" altLang="en-US" sz="2400" b="1">
                <a:solidFill>
                  <a:schemeClr val="tx2"/>
                </a:solidFill>
                <a:latin typeface="幼圆" pitchFamily="49" charset="-122"/>
                <a:ea typeface="幼圆" pitchFamily="49" charset="-122"/>
              </a:rPr>
              <a:t>各种常量的表示方法</a:t>
            </a:r>
          </a:p>
          <a:p>
            <a:pPr lvl="1"/>
            <a:r>
              <a:rPr lang="zh-CN" altLang="en-US" sz="2400" b="1">
                <a:solidFill>
                  <a:schemeClr val="tx2"/>
                </a:solidFill>
                <a:latin typeface="幼圆" pitchFamily="49" charset="-122"/>
                <a:ea typeface="幼圆" pitchFamily="49" charset="-122"/>
              </a:rPr>
              <a:t>变量的说明</a:t>
            </a:r>
          </a:p>
        </p:txBody>
      </p:sp>
      <p:sp>
        <p:nvSpPr>
          <p:cNvPr id="6147" name="Text Box 4"/>
          <p:cNvSpPr txBox="1">
            <a:spLocks noChangeArrowheads="1"/>
          </p:cNvSpPr>
          <p:nvPr/>
        </p:nvSpPr>
        <p:spPr bwMode="auto">
          <a:xfrm>
            <a:off x="5927725" y="52784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wrap="none">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ctr">
              <a:spcBef>
                <a:spcPct val="20000"/>
              </a:spcBef>
              <a:buClr>
                <a:srgbClr val="CC99FF"/>
              </a:buClr>
              <a:buFont typeface="Monotype Sorts"/>
              <a:buNone/>
            </a:pPr>
            <a:endParaRPr kumimoji="1" lang="zh-CN" altLang="en-US" sz="2400" b="1">
              <a:solidFill>
                <a:srgbClr val="FF3300"/>
              </a:solidFill>
              <a:latin typeface="Times New Roman" pitchFamily="18" charset="0"/>
            </a:endParaRPr>
          </a:p>
        </p:txBody>
      </p:sp>
      <p:sp>
        <p:nvSpPr>
          <p:cNvPr id="6148" name="Text Box 5"/>
          <p:cNvSpPr txBox="1">
            <a:spLocks noChangeArrowheads="1"/>
          </p:cNvSpPr>
          <p:nvPr/>
        </p:nvSpPr>
        <p:spPr bwMode="auto">
          <a:xfrm>
            <a:off x="0" y="3124200"/>
            <a:ext cx="8305800" cy="2940050"/>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solidFill>
                  <a:srgbClr val="000000"/>
                </a:solidFill>
                <a:prstDash val="sysDot"/>
                <a:miter lim="800000"/>
                <a:headEnd/>
                <a:tailEnd/>
              </a14:hiddenLine>
            </a:ext>
          </a:extLst>
        </p:spPr>
        <p:txBody>
          <a:bodyPr>
            <a:spAutoFit/>
          </a:bodyPr>
          <a:lstStyle>
            <a:lvl1pPr>
              <a:defRPr sz="3200">
                <a:solidFill>
                  <a:schemeClr val="tx1"/>
                </a:solidFill>
                <a:latin typeface="Tahoma" pitchFamily="34" charset="0"/>
              </a:defRPr>
            </a:lvl1pPr>
            <a:lvl2pPr marL="457200">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lvl="1" eaLnBrk="1" hangingPunct="1">
              <a:spcBef>
                <a:spcPct val="20000"/>
              </a:spcBef>
              <a:buClr>
                <a:schemeClr val="tx1"/>
              </a:buClr>
              <a:buSzPct val="60000"/>
              <a:buFont typeface="宋体" pitchFamily="2" charset="-122"/>
              <a:buNone/>
            </a:pPr>
            <a:r>
              <a:rPr kumimoji="1" lang="zh-CN" altLang="en-US" sz="2400" b="1">
                <a:solidFill>
                  <a:srgbClr val="FF0000"/>
                </a:solidFill>
                <a:latin typeface="Times New Roman" pitchFamily="18" charset="0"/>
              </a:rPr>
              <a:t>标识符</a:t>
            </a:r>
            <a:r>
              <a:rPr kumimoji="1" lang="zh-CN" altLang="en-US" sz="2400" b="1">
                <a:solidFill>
                  <a:schemeClr val="tx2"/>
                </a:solidFill>
                <a:latin typeface="Times New Roman" pitchFamily="18" charset="0"/>
              </a:rPr>
              <a:t>：</a:t>
            </a:r>
            <a:r>
              <a:rPr kumimoji="1" lang="en-US" altLang="zh-CN" sz="2400" b="1">
                <a:solidFill>
                  <a:schemeClr val="tx2"/>
                </a:solidFill>
                <a:latin typeface="Times New Roman" pitchFamily="18" charset="0"/>
              </a:rPr>
              <a:t>C</a:t>
            </a:r>
            <a:r>
              <a:rPr kumimoji="1" lang="zh-CN" altLang="en-US" sz="2400" b="1">
                <a:solidFill>
                  <a:schemeClr val="tx2"/>
                </a:solidFill>
                <a:latin typeface="Times New Roman" pitchFamily="18" charset="0"/>
              </a:rPr>
              <a:t>程序各种对象的名字。</a:t>
            </a:r>
          </a:p>
          <a:p>
            <a:pPr lvl="1" eaLnBrk="1" hangingPunct="1">
              <a:spcBef>
                <a:spcPct val="20000"/>
              </a:spcBef>
              <a:buClr>
                <a:schemeClr val="tx1"/>
              </a:buClr>
              <a:buSzPct val="60000"/>
              <a:buFont typeface="宋体" pitchFamily="2" charset="-122"/>
              <a:buNone/>
            </a:pPr>
            <a:r>
              <a:rPr kumimoji="1" lang="zh-CN" altLang="en-US" sz="2400" b="1">
                <a:solidFill>
                  <a:schemeClr val="tx2"/>
                </a:solidFill>
                <a:latin typeface="Times New Roman" pitchFamily="18" charset="0"/>
              </a:rPr>
              <a:t>标识符的组成：由字母或下划线开头的字母、数字或下划线序列。</a:t>
            </a:r>
          </a:p>
          <a:p>
            <a:pPr lvl="1" eaLnBrk="1" hangingPunct="1">
              <a:spcBef>
                <a:spcPct val="20000"/>
              </a:spcBef>
              <a:buClr>
                <a:schemeClr val="tx1"/>
              </a:buClr>
              <a:buSzPct val="60000"/>
              <a:buFont typeface="宋体" pitchFamily="2" charset="-122"/>
              <a:buNone/>
            </a:pPr>
            <a:r>
              <a:rPr kumimoji="1" lang="en-US" altLang="zh-CN" sz="2400" b="1">
                <a:solidFill>
                  <a:schemeClr val="tx2"/>
                </a:solidFill>
                <a:latin typeface="Times New Roman" pitchFamily="18" charset="0"/>
              </a:rPr>
              <a:t>abc, a12, _1aq                a*3, 1aq, int</a:t>
            </a:r>
            <a:r>
              <a:rPr kumimoji="1" lang="en-US" altLang="zh-CN" sz="2400" b="1">
                <a:solidFill>
                  <a:srgbClr val="FF0000"/>
                </a:solidFill>
                <a:latin typeface="Times New Roman" pitchFamily="18" charset="0"/>
                <a:sym typeface="Marlett" pitchFamily="2" charset="2"/>
              </a:rPr>
              <a:t></a:t>
            </a:r>
            <a:endParaRPr kumimoji="1" lang="en-US" altLang="zh-CN" sz="2400" b="1">
              <a:solidFill>
                <a:srgbClr val="FF0000"/>
              </a:solidFill>
              <a:latin typeface="Times New Roman" pitchFamily="18" charset="0"/>
            </a:endParaRPr>
          </a:p>
          <a:p>
            <a:pPr lvl="1" eaLnBrk="1" hangingPunct="1">
              <a:spcBef>
                <a:spcPct val="20000"/>
              </a:spcBef>
              <a:buClr>
                <a:schemeClr val="tx1"/>
              </a:buClr>
              <a:buSzPct val="60000"/>
              <a:buFont typeface="宋体" pitchFamily="2" charset="-122"/>
              <a:buNone/>
            </a:pPr>
            <a:r>
              <a:rPr kumimoji="1" lang="zh-CN" altLang="en-US" sz="2400" b="1">
                <a:solidFill>
                  <a:srgbClr val="FF0000"/>
                </a:solidFill>
                <a:latin typeface="Times New Roman" pitchFamily="18" charset="0"/>
              </a:rPr>
              <a:t>关键字</a:t>
            </a:r>
            <a:r>
              <a:rPr kumimoji="1" lang="zh-CN" altLang="en-US" sz="2400" b="1">
                <a:solidFill>
                  <a:schemeClr val="tx2"/>
                </a:solidFill>
                <a:latin typeface="Times New Roman" pitchFamily="18" charset="0"/>
              </a:rPr>
              <a:t>  在</a:t>
            </a:r>
            <a:r>
              <a:rPr kumimoji="1" lang="en-US" altLang="zh-CN" sz="2400" b="1">
                <a:solidFill>
                  <a:schemeClr val="tx2"/>
                </a:solidFill>
                <a:latin typeface="Times New Roman" pitchFamily="18" charset="0"/>
              </a:rPr>
              <a:t>C</a:t>
            </a:r>
            <a:r>
              <a:rPr kumimoji="1" lang="zh-CN" altLang="en-US" sz="2400" b="1">
                <a:solidFill>
                  <a:schemeClr val="tx2"/>
                </a:solidFill>
                <a:latin typeface="Times New Roman" pitchFamily="18" charset="0"/>
              </a:rPr>
              <a:t>语言中有特定含义的定义符。</a:t>
            </a:r>
            <a:r>
              <a:rPr kumimoji="1" lang="en-US" altLang="zh-CN" sz="2400" b="1">
                <a:solidFill>
                  <a:schemeClr val="tx2"/>
                </a:solidFill>
                <a:latin typeface="Times New Roman" pitchFamily="18" charset="0"/>
              </a:rPr>
              <a:t>int，case，switch</a:t>
            </a:r>
            <a:r>
              <a:rPr kumimoji="1" lang="zh-CN" altLang="en-US" sz="2400" b="1">
                <a:solidFill>
                  <a:schemeClr val="tx2"/>
                </a:solidFill>
                <a:latin typeface="Times New Roman" pitchFamily="18" charset="0"/>
              </a:rPr>
              <a:t>　</a:t>
            </a:r>
            <a:endParaRPr kumimoji="1" lang="en-US" altLang="zh-CN" sz="2400" b="1">
              <a:solidFill>
                <a:schemeClr val="tx2"/>
              </a:solidFill>
              <a:latin typeface="Times New Roman" pitchFamily="18" charset="0"/>
            </a:endParaRPr>
          </a:p>
          <a:p>
            <a:pPr lvl="1" eaLnBrk="1" hangingPunct="1">
              <a:spcBef>
                <a:spcPct val="20000"/>
              </a:spcBef>
              <a:buClr>
                <a:schemeClr val="tx1"/>
              </a:buClr>
              <a:buSzPct val="60000"/>
              <a:buFont typeface="宋体" pitchFamily="2" charset="-122"/>
              <a:buNone/>
            </a:pPr>
            <a:r>
              <a:rPr kumimoji="1" lang="en-US" altLang="zh-CN" sz="2400" b="1">
                <a:solidFill>
                  <a:schemeClr val="tx2"/>
                </a:solidFill>
                <a:latin typeface="Times New Roman" pitchFamily="18" charset="0"/>
              </a:rPr>
              <a:t>scanf，define，include</a:t>
            </a:r>
            <a:r>
              <a:rPr kumimoji="1" lang="zh-CN" altLang="en-US" sz="2400" b="1">
                <a:solidFill>
                  <a:schemeClr val="tx2"/>
                </a:solidFill>
                <a:latin typeface="Times New Roman" pitchFamily="18" charset="0"/>
              </a:rPr>
              <a:t>　等不是</a:t>
            </a:r>
            <a:r>
              <a:rPr kumimoji="1" lang="en-US" altLang="zh-CN" sz="2400" b="1">
                <a:solidFill>
                  <a:schemeClr val="tx2"/>
                </a:solidFill>
                <a:latin typeface="Times New Roman" pitchFamily="18" charset="0"/>
              </a:rPr>
              <a:t>C</a:t>
            </a:r>
            <a:r>
              <a:rPr kumimoji="1" lang="zh-CN" altLang="en-US" sz="2400" b="1">
                <a:solidFill>
                  <a:schemeClr val="tx2"/>
                </a:solidFill>
                <a:latin typeface="Times New Roman" pitchFamily="18" charset="0"/>
              </a:rPr>
              <a:t>语言关键字</a:t>
            </a:r>
          </a:p>
        </p:txBody>
      </p:sp>
      <p:sp>
        <p:nvSpPr>
          <p:cNvPr id="6149" name="Rectangle 4"/>
          <p:cNvSpPr>
            <a:spLocks noChangeArrowheads="1"/>
          </p:cNvSpPr>
          <p:nvPr/>
        </p:nvSpPr>
        <p:spPr bwMode="auto">
          <a:xfrm>
            <a:off x="0" y="533400"/>
            <a:ext cx="291938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标识符</a:t>
            </a:r>
          </a:p>
        </p:txBody>
      </p:sp>
    </p:spTree>
    <p:extLst>
      <p:ext uri="{BB962C8B-B14F-4D97-AF65-F5344CB8AC3E}">
        <p14:creationId xmlns:p14="http://schemas.microsoft.com/office/powerpoint/2010/main" val="3089835010"/>
      </p:ext>
    </p:extLst>
  </p:cSld>
  <p:clrMapOvr>
    <a:masterClrMapping/>
  </p:clrMapOvr>
  <p:transition>
    <p:wedge/>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3"/>
          <p:cNvSpPr>
            <a:spLocks noGrp="1" noChangeArrowheads="1"/>
          </p:cNvSpPr>
          <p:nvPr>
            <p:ph type="body" sz="half" idx="1"/>
          </p:nvPr>
        </p:nvSpPr>
        <p:spPr>
          <a:xfrm>
            <a:off x="0" y="1447800"/>
            <a:ext cx="8483600" cy="4621213"/>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800" b="1">
                <a:solidFill>
                  <a:schemeClr val="tx2"/>
                </a:solidFill>
                <a:latin typeface="Times New Roman" pitchFamily="18" charset="0"/>
                <a:ea typeface="宋体" pitchFamily="2" charset="-122"/>
              </a:rPr>
              <a:t>● </a:t>
            </a:r>
            <a:r>
              <a:rPr kumimoji="1" lang="zh-CN" altLang="en-US" sz="2800" b="1">
                <a:solidFill>
                  <a:srgbClr val="CC6600"/>
                </a:solidFill>
                <a:latin typeface="Times New Roman" pitchFamily="18" charset="0"/>
                <a:ea typeface="宋体" pitchFamily="2" charset="-122"/>
              </a:rPr>
              <a:t>整型常量的表示</a:t>
            </a:r>
            <a:r>
              <a:rPr kumimoji="1" lang="zh-CN" altLang="en-US" sz="2800" b="1">
                <a:solidFill>
                  <a:srgbClr val="CC6600"/>
                </a:solidFill>
                <a:latin typeface="Times New Roman" pitchFamily="18" charset="0"/>
                <a:ea typeface="宋体" pitchFamily="2" charset="-122"/>
                <a:cs typeface="Times New Roman" pitchFamily="18" charset="0"/>
              </a:rPr>
              <a:t> </a:t>
            </a:r>
          </a:p>
          <a:p>
            <a:pPr marL="0" indent="0" eaLnBrk="1" hangingPunct="1">
              <a:buClr>
                <a:schemeClr val="tx1"/>
              </a:buClr>
              <a:buSzPct val="60000"/>
              <a:buFont typeface="宋体" pitchFamily="2" charset="-122"/>
              <a:buNone/>
            </a:pPr>
            <a:r>
              <a:rPr kumimoji="1" lang="zh-CN" altLang="en-US" sz="2800" b="1">
                <a:solidFill>
                  <a:schemeClr val="tx2"/>
                </a:solidFill>
                <a:latin typeface="Times New Roman" pitchFamily="18" charset="0"/>
                <a:ea typeface="宋体" pitchFamily="2" charset="-122"/>
                <a:cs typeface="Times New Roman" pitchFamily="18" charset="0"/>
              </a:rPr>
              <a:t>     10</a:t>
            </a:r>
            <a:r>
              <a:rPr kumimoji="1" lang="zh-CN" altLang="en-US" sz="2800" b="1">
                <a:solidFill>
                  <a:schemeClr val="tx2"/>
                </a:solidFill>
                <a:latin typeface="Times New Roman" pitchFamily="18" charset="0"/>
                <a:ea typeface="宋体" pitchFamily="2" charset="-122"/>
              </a:rPr>
              <a:t>进制常量的表示       12</a:t>
            </a:r>
          </a:p>
          <a:p>
            <a:pPr marL="0" indent="0" eaLnBrk="1" hangingPunct="1">
              <a:buClr>
                <a:schemeClr val="tx1"/>
              </a:buClr>
              <a:buSzPct val="60000"/>
              <a:buFont typeface="宋体" pitchFamily="2" charset="-122"/>
              <a:buNone/>
            </a:pPr>
            <a:r>
              <a:rPr kumimoji="1" lang="zh-CN" altLang="en-US" sz="2800" b="1">
                <a:solidFill>
                  <a:schemeClr val="tx2"/>
                </a:solidFill>
                <a:latin typeface="Times New Roman" pitchFamily="18" charset="0"/>
                <a:ea typeface="宋体" pitchFamily="2" charset="-122"/>
              </a:rPr>
              <a:t>      8进制常量的表示:      012            019 </a:t>
            </a:r>
            <a:r>
              <a:rPr kumimoji="1" lang="zh-CN" altLang="en-US" sz="2800" b="1">
                <a:solidFill>
                  <a:srgbClr val="FF0000"/>
                </a:solidFill>
                <a:latin typeface="Times New Roman" pitchFamily="18" charset="0"/>
                <a:ea typeface="宋体" pitchFamily="2" charset="-122"/>
                <a:sym typeface="Marlett" pitchFamily="2" charset="2"/>
              </a:rPr>
              <a:t></a:t>
            </a:r>
            <a:endParaRPr kumimoji="1" lang="zh-CN" altLang="en-US" sz="2800" b="1">
              <a:solidFill>
                <a:srgbClr val="FF0000"/>
              </a:solidFill>
              <a:latin typeface="Times New Roman" pitchFamily="18" charset="0"/>
              <a:ea typeface="宋体" pitchFamily="2" charset="-122"/>
            </a:endParaRPr>
          </a:p>
          <a:p>
            <a:pPr marL="0" indent="0" eaLnBrk="1" hangingPunct="1">
              <a:buClr>
                <a:schemeClr val="tx1"/>
              </a:buClr>
              <a:buSzPct val="60000"/>
              <a:buFont typeface="宋体" pitchFamily="2" charset="-122"/>
              <a:buNone/>
            </a:pPr>
            <a:r>
              <a:rPr kumimoji="1" lang="zh-CN" altLang="en-US" sz="2800" b="1">
                <a:solidFill>
                  <a:schemeClr val="tx2"/>
                </a:solidFill>
                <a:latin typeface="Times New Roman" pitchFamily="18" charset="0"/>
                <a:ea typeface="宋体" pitchFamily="2" charset="-122"/>
              </a:rPr>
              <a:t>    16进制常量的表示     0</a:t>
            </a:r>
            <a:r>
              <a:rPr kumimoji="1" lang="en-US" altLang="zh-CN" sz="2800" b="1">
                <a:solidFill>
                  <a:schemeClr val="tx2"/>
                </a:solidFill>
                <a:latin typeface="Times New Roman" pitchFamily="18" charset="0"/>
                <a:ea typeface="宋体" pitchFamily="2" charset="-122"/>
              </a:rPr>
              <a:t>x12           0x2k </a:t>
            </a:r>
            <a:r>
              <a:rPr kumimoji="1" lang="en-US" altLang="zh-CN" sz="2800" b="1">
                <a:solidFill>
                  <a:srgbClr val="FF0000"/>
                </a:solidFill>
                <a:latin typeface="Times New Roman" pitchFamily="18" charset="0"/>
                <a:ea typeface="宋体" pitchFamily="2" charset="-122"/>
                <a:sym typeface="Marlett" pitchFamily="2" charset="2"/>
              </a:rPr>
              <a:t></a:t>
            </a:r>
            <a:endParaRPr kumimoji="1" lang="en-US" altLang="zh-CN" sz="2800" b="1">
              <a:solidFill>
                <a:srgbClr val="FF0000"/>
              </a:solidFill>
              <a:latin typeface="Times New Roman" pitchFamily="18" charset="0"/>
              <a:ea typeface="宋体" pitchFamily="2" charset="-122"/>
            </a:endParaRPr>
          </a:p>
          <a:p>
            <a:pPr marL="0" indent="0" eaLnBrk="1" hangingPunct="1">
              <a:buClr>
                <a:schemeClr val="tx1"/>
              </a:buClr>
              <a:buSzPct val="60000"/>
              <a:buFont typeface="宋体" pitchFamily="2" charset="-122"/>
              <a:buNone/>
            </a:pPr>
            <a:endParaRPr kumimoji="1" lang="zh-CN" altLang="en-US" sz="2800" b="1">
              <a:solidFill>
                <a:schemeClr val="tx2"/>
              </a:solidFill>
              <a:latin typeface="Times New Roman" pitchFamily="18" charset="0"/>
              <a:ea typeface="宋体" pitchFamily="2" charset="-122"/>
            </a:endParaRPr>
          </a:p>
          <a:p>
            <a:pPr marL="0" indent="0" eaLnBrk="1" hangingPunct="1">
              <a:buClr>
                <a:schemeClr val="tx1"/>
              </a:buClr>
              <a:buSzPct val="60000"/>
              <a:buFont typeface="宋体" pitchFamily="2" charset="-122"/>
              <a:buNone/>
            </a:pPr>
            <a:r>
              <a:rPr kumimoji="1" lang="zh-CN" altLang="en-US" sz="2800" b="1">
                <a:solidFill>
                  <a:schemeClr val="tx2"/>
                </a:solidFill>
                <a:latin typeface="Times New Roman" pitchFamily="18" charset="0"/>
                <a:ea typeface="宋体" pitchFamily="2" charset="-122"/>
              </a:rPr>
              <a:t>● </a:t>
            </a:r>
            <a:r>
              <a:rPr kumimoji="1" lang="zh-CN" altLang="en-US" sz="2800" b="1">
                <a:solidFill>
                  <a:srgbClr val="CC6600"/>
                </a:solidFill>
                <a:latin typeface="Times New Roman" pitchFamily="18" charset="0"/>
                <a:ea typeface="宋体" pitchFamily="2" charset="-122"/>
              </a:rPr>
              <a:t>实型常量的表示</a:t>
            </a:r>
          </a:p>
          <a:p>
            <a:pPr marL="0" indent="0" eaLnBrk="1" hangingPunct="1">
              <a:buClr>
                <a:schemeClr val="tx1"/>
              </a:buClr>
              <a:buSzPct val="60000"/>
              <a:buFont typeface="宋体" pitchFamily="2" charset="-122"/>
              <a:buNone/>
            </a:pPr>
            <a:r>
              <a:rPr kumimoji="1" lang="zh-CN" altLang="en-US" sz="2800" b="1">
                <a:solidFill>
                  <a:schemeClr val="tx2"/>
                </a:solidFill>
                <a:latin typeface="Times New Roman" pitchFamily="18" charset="0"/>
                <a:ea typeface="宋体" pitchFamily="2" charset="-122"/>
              </a:rPr>
              <a:t>      小数形式：1.2, 1.0, 1. ,  1.0,  .1</a:t>
            </a:r>
          </a:p>
          <a:p>
            <a:pPr marL="0" indent="0" eaLnBrk="1" hangingPunct="1">
              <a:buClr>
                <a:schemeClr val="tx1"/>
              </a:buClr>
              <a:buSzPct val="60000"/>
              <a:buFont typeface="宋体" pitchFamily="2" charset="-122"/>
              <a:buNone/>
            </a:pPr>
            <a:r>
              <a:rPr kumimoji="1" lang="zh-CN" altLang="en-US" sz="2800" b="1">
                <a:solidFill>
                  <a:schemeClr val="tx2"/>
                </a:solidFill>
                <a:latin typeface="Times New Roman" pitchFamily="18" charset="0"/>
                <a:ea typeface="宋体" pitchFamily="2" charset="-122"/>
              </a:rPr>
              <a:t>      指数形式：2</a:t>
            </a:r>
            <a:r>
              <a:rPr kumimoji="1" lang="en-US" altLang="zh-CN" sz="2800" b="1">
                <a:solidFill>
                  <a:schemeClr val="tx2"/>
                </a:solidFill>
                <a:latin typeface="Times New Roman" pitchFamily="18" charset="0"/>
                <a:ea typeface="宋体" pitchFamily="2" charset="-122"/>
              </a:rPr>
              <a:t>e3, 12e-2, </a:t>
            </a:r>
          </a:p>
          <a:p>
            <a:pPr marL="0" indent="0" eaLnBrk="1" hangingPunct="1">
              <a:buClr>
                <a:schemeClr val="tx1"/>
              </a:buClr>
              <a:buSzPct val="60000"/>
              <a:buFont typeface="宋体" pitchFamily="2" charset="-122"/>
              <a:buNone/>
            </a:pPr>
            <a:r>
              <a:rPr kumimoji="1" lang="en-US" altLang="zh-CN" sz="2800" b="1">
                <a:solidFill>
                  <a:schemeClr val="tx2"/>
                </a:solidFill>
                <a:latin typeface="Times New Roman" pitchFamily="18" charset="0"/>
                <a:ea typeface="宋体" pitchFamily="2" charset="-122"/>
              </a:rPr>
              <a:t>       e2</a:t>
            </a:r>
            <a:r>
              <a:rPr kumimoji="1" lang="zh-CN" altLang="en-US" sz="2800" b="1">
                <a:solidFill>
                  <a:srgbClr val="FF0000"/>
                </a:solidFill>
                <a:latin typeface="Times New Roman" pitchFamily="18" charset="0"/>
                <a:ea typeface="宋体" pitchFamily="2" charset="-122"/>
                <a:sym typeface="Marlett" pitchFamily="2" charset="2"/>
              </a:rPr>
              <a:t></a:t>
            </a:r>
            <a:r>
              <a:rPr kumimoji="1" lang="en-US" altLang="zh-CN" sz="2800" b="1">
                <a:solidFill>
                  <a:schemeClr val="tx2"/>
                </a:solidFill>
                <a:latin typeface="Times New Roman" pitchFamily="18" charset="0"/>
                <a:ea typeface="宋体" pitchFamily="2" charset="-122"/>
              </a:rPr>
              <a:t>  1.2e</a:t>
            </a:r>
            <a:r>
              <a:rPr kumimoji="1" lang="zh-CN" altLang="en-US" sz="2800" b="1">
                <a:solidFill>
                  <a:srgbClr val="FF0000"/>
                </a:solidFill>
                <a:latin typeface="Times New Roman" pitchFamily="18" charset="0"/>
                <a:ea typeface="宋体" pitchFamily="2" charset="-122"/>
                <a:sym typeface="Marlett" pitchFamily="2" charset="2"/>
              </a:rPr>
              <a:t></a:t>
            </a:r>
            <a:r>
              <a:rPr kumimoji="1" lang="en-US" altLang="zh-CN" sz="2800" b="1">
                <a:solidFill>
                  <a:schemeClr val="tx2"/>
                </a:solidFill>
                <a:latin typeface="Times New Roman" pitchFamily="18" charset="0"/>
                <a:ea typeface="宋体" pitchFamily="2" charset="-122"/>
              </a:rPr>
              <a:t>   3e1.2</a:t>
            </a:r>
            <a:r>
              <a:rPr kumimoji="1" lang="zh-CN" altLang="en-US" sz="2800" b="1">
                <a:solidFill>
                  <a:srgbClr val="FF0000"/>
                </a:solidFill>
                <a:latin typeface="Times New Roman" pitchFamily="18" charset="0"/>
                <a:ea typeface="宋体" pitchFamily="2" charset="-122"/>
                <a:sym typeface="Marlett" pitchFamily="2" charset="2"/>
              </a:rPr>
              <a:t></a:t>
            </a:r>
          </a:p>
        </p:txBody>
      </p:sp>
      <p:pic>
        <p:nvPicPr>
          <p:cNvPr id="7171" name="Picture 4" descr="j029556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7000" y="4419600"/>
            <a:ext cx="26670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 name="Rectangle 4"/>
          <p:cNvSpPr>
            <a:spLocks noChangeArrowheads="1"/>
          </p:cNvSpPr>
          <p:nvPr/>
        </p:nvSpPr>
        <p:spPr bwMode="auto">
          <a:xfrm>
            <a:off x="0" y="533400"/>
            <a:ext cx="25603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常量</a:t>
            </a:r>
          </a:p>
        </p:txBody>
      </p:sp>
    </p:spTree>
    <p:extLst>
      <p:ext uri="{BB962C8B-B14F-4D97-AF65-F5344CB8AC3E}">
        <p14:creationId xmlns:p14="http://schemas.microsoft.com/office/powerpoint/2010/main" val="4227206370"/>
      </p:ext>
    </p:extLst>
  </p:cSld>
  <p:clrMapOvr>
    <a:masterClrMapping/>
  </p:clrMapOvr>
  <p:transition>
    <p:wedge/>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3"/>
          <p:cNvSpPr>
            <a:spLocks noGrp="1" noChangeArrowheads="1"/>
          </p:cNvSpPr>
          <p:nvPr>
            <p:ph type="body" sz="half" idx="1"/>
          </p:nvPr>
        </p:nvSpPr>
        <p:spPr>
          <a:xfrm>
            <a:off x="0" y="1066800"/>
            <a:ext cx="8763000" cy="5133975"/>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800" b="1" dirty="0">
                <a:solidFill>
                  <a:srgbClr val="CC6600"/>
                </a:solidFill>
                <a:latin typeface="Times New Roman" pitchFamily="18" charset="0"/>
                <a:ea typeface="宋体" pitchFamily="2" charset="-122"/>
              </a:rPr>
              <a:t>●</a:t>
            </a:r>
            <a:r>
              <a:rPr kumimoji="1" lang="zh-CN" altLang="en-US" sz="2800" b="1" dirty="0">
                <a:solidFill>
                  <a:srgbClr val="CC6600"/>
                </a:solidFill>
                <a:latin typeface="Times New Roman" pitchFamily="18" charset="0"/>
                <a:ea typeface="宋体" pitchFamily="2" charset="-122"/>
                <a:cs typeface="Times New Roman" pitchFamily="18" charset="0"/>
              </a:rPr>
              <a:t> </a:t>
            </a:r>
            <a:r>
              <a:rPr kumimoji="1" lang="zh-CN" altLang="en-US" sz="2800" b="1" dirty="0">
                <a:solidFill>
                  <a:srgbClr val="CC6600"/>
                </a:solidFill>
                <a:latin typeface="Times New Roman" pitchFamily="18" charset="0"/>
                <a:ea typeface="宋体" pitchFamily="2" charset="-122"/>
              </a:rPr>
              <a:t>字符型常量的表示</a:t>
            </a:r>
            <a:r>
              <a:rPr kumimoji="1" lang="en-US" altLang="zh-CN" sz="2800" b="1" dirty="0">
                <a:solidFill>
                  <a:srgbClr val="FF0000"/>
                </a:solidFill>
                <a:latin typeface="Times New Roman" pitchFamily="18" charset="0"/>
                <a:ea typeface="宋体" pitchFamily="2" charset="-122"/>
              </a:rPr>
              <a:t>—</a:t>
            </a:r>
            <a:r>
              <a:rPr kumimoji="1" lang="zh-CN" altLang="en-US" sz="2800" b="1" dirty="0">
                <a:solidFill>
                  <a:srgbClr val="FF0000"/>
                </a:solidFill>
                <a:latin typeface="Times New Roman" pitchFamily="18" charset="0"/>
                <a:ea typeface="宋体" pitchFamily="2" charset="-122"/>
              </a:rPr>
              <a:t>单引号</a:t>
            </a:r>
          </a:p>
          <a:p>
            <a:pPr marL="0" indent="0" eaLnBrk="1" hangingPunct="1">
              <a:buClr>
                <a:schemeClr val="tx1"/>
              </a:buClr>
              <a:buSzPct val="60000"/>
              <a:buFont typeface="宋体" pitchFamily="2" charset="-122"/>
              <a:buNone/>
            </a:pPr>
            <a:r>
              <a:rPr kumimoji="1" lang="zh-CN" altLang="en-US" sz="2800" b="1" dirty="0">
                <a:solidFill>
                  <a:schemeClr val="tx2"/>
                </a:solidFill>
                <a:latin typeface="Times New Roman" pitchFamily="18" charset="0"/>
                <a:ea typeface="宋体" pitchFamily="2" charset="-122"/>
              </a:rPr>
              <a:t>      </a:t>
            </a:r>
            <a:r>
              <a:rPr kumimoji="1" lang="zh-CN" altLang="en-US" sz="2800" b="1" dirty="0">
                <a:solidFill>
                  <a:schemeClr val="tx2"/>
                </a:solidFill>
                <a:latin typeface="Arial" pitchFamily="34" charset="0"/>
                <a:ea typeface="宋体" pitchFamily="2" charset="-122"/>
              </a:rPr>
              <a:t>‘</a:t>
            </a:r>
            <a:r>
              <a:rPr kumimoji="1" lang="en-US" altLang="zh-CN" sz="2800" b="1" dirty="0">
                <a:solidFill>
                  <a:schemeClr val="tx2"/>
                </a:solidFill>
                <a:latin typeface="Times New Roman" pitchFamily="18" charset="0"/>
                <a:ea typeface="宋体" pitchFamily="2" charset="-122"/>
              </a:rPr>
              <a:t>A</a:t>
            </a:r>
            <a:r>
              <a:rPr kumimoji="1" lang="en-US" altLang="zh-CN" sz="2800" b="1" dirty="0">
                <a:solidFill>
                  <a:schemeClr val="tx2"/>
                </a:solidFill>
                <a:latin typeface="Arial" pitchFamily="34" charset="0"/>
                <a:ea typeface="宋体" pitchFamily="2" charset="-122"/>
              </a:rPr>
              <a:t>’</a:t>
            </a:r>
            <a:r>
              <a:rPr kumimoji="1" lang="en-US" altLang="zh-CN" sz="2800" b="1" dirty="0">
                <a:solidFill>
                  <a:schemeClr val="tx2"/>
                </a:solidFill>
                <a:latin typeface="Times New Roman" pitchFamily="18" charset="0"/>
                <a:ea typeface="宋体" pitchFamily="2" charset="-122"/>
              </a:rPr>
              <a:t>，</a:t>
            </a:r>
            <a:r>
              <a:rPr kumimoji="1" lang="en-US" altLang="zh-CN" sz="2800" b="1" dirty="0">
                <a:solidFill>
                  <a:schemeClr val="tx2"/>
                </a:solidFill>
                <a:latin typeface="Arial" pitchFamily="34" charset="0"/>
                <a:ea typeface="宋体" pitchFamily="2" charset="-122"/>
              </a:rPr>
              <a:t>’</a:t>
            </a:r>
            <a:r>
              <a:rPr kumimoji="1" lang="en-US" altLang="zh-CN" sz="2800" b="1" dirty="0">
                <a:solidFill>
                  <a:schemeClr val="tx2"/>
                </a:solidFill>
                <a:latin typeface="Times New Roman" pitchFamily="18" charset="0"/>
                <a:ea typeface="宋体" pitchFamily="2" charset="-122"/>
              </a:rPr>
              <a:t>%</a:t>
            </a:r>
            <a:r>
              <a:rPr kumimoji="1" lang="en-US" altLang="zh-CN" sz="2800" b="1" dirty="0">
                <a:solidFill>
                  <a:schemeClr val="tx2"/>
                </a:solidFill>
                <a:latin typeface="Arial" pitchFamily="34" charset="0"/>
                <a:ea typeface="宋体" pitchFamily="2" charset="-122"/>
              </a:rPr>
              <a:t>’</a:t>
            </a:r>
            <a:r>
              <a:rPr kumimoji="1" lang="en-US" altLang="zh-CN" sz="2800" b="1" dirty="0">
                <a:solidFill>
                  <a:schemeClr val="tx2"/>
                </a:solidFill>
                <a:latin typeface="Times New Roman" pitchFamily="18" charset="0"/>
                <a:ea typeface="宋体" pitchFamily="2" charset="-122"/>
              </a:rPr>
              <a:t>，</a:t>
            </a:r>
            <a:r>
              <a:rPr kumimoji="1" lang="en-US" altLang="zh-CN" sz="2800" b="1" dirty="0">
                <a:solidFill>
                  <a:schemeClr val="tx2"/>
                </a:solidFill>
                <a:latin typeface="Arial" pitchFamily="34" charset="0"/>
                <a:ea typeface="宋体" pitchFamily="2" charset="-122"/>
              </a:rPr>
              <a:t>’</a:t>
            </a:r>
            <a:r>
              <a:rPr kumimoji="1" lang="en-US" altLang="zh-CN" sz="2800" b="1" dirty="0">
                <a:solidFill>
                  <a:schemeClr val="tx2"/>
                </a:solidFill>
                <a:latin typeface="Times New Roman" pitchFamily="18" charset="0"/>
                <a:ea typeface="宋体" pitchFamily="2" charset="-122"/>
              </a:rPr>
              <a:t>8</a:t>
            </a:r>
            <a:r>
              <a:rPr kumimoji="1" lang="en-US" altLang="zh-CN" sz="2800" b="1" dirty="0">
                <a:solidFill>
                  <a:schemeClr val="tx2"/>
                </a:solidFill>
                <a:latin typeface="Arial" pitchFamily="34" charset="0"/>
                <a:ea typeface="宋体" pitchFamily="2" charset="-122"/>
              </a:rPr>
              <a:t>’</a:t>
            </a:r>
            <a:r>
              <a:rPr kumimoji="1" lang="zh-CN" altLang="en-US" sz="2800" b="1" dirty="0">
                <a:solidFill>
                  <a:schemeClr val="tx2"/>
                </a:solidFill>
                <a:latin typeface="Times New Roman" pitchFamily="18" charset="0"/>
                <a:ea typeface="宋体" pitchFamily="2" charset="-122"/>
              </a:rPr>
              <a:t> </a:t>
            </a:r>
          </a:p>
          <a:p>
            <a:pPr marL="0" indent="0" eaLnBrk="1" hangingPunct="1">
              <a:buClr>
                <a:schemeClr val="tx1"/>
              </a:buClr>
              <a:buSzPct val="60000"/>
              <a:buFont typeface="宋体" pitchFamily="2" charset="-122"/>
              <a:buNone/>
            </a:pPr>
            <a:r>
              <a:rPr kumimoji="1" lang="en-US" altLang="zh-CN" sz="2800" b="1" dirty="0">
                <a:solidFill>
                  <a:schemeClr val="tx2"/>
                </a:solidFill>
                <a:latin typeface="Times New Roman" pitchFamily="18" charset="0"/>
                <a:ea typeface="宋体" pitchFamily="2" charset="-122"/>
                <a:sym typeface="Marlett" pitchFamily="2" charset="2"/>
              </a:rPr>
              <a:t>      </a:t>
            </a:r>
            <a:r>
              <a:rPr kumimoji="1" lang="en-US" altLang="zh-CN" sz="2800" b="1" dirty="0">
                <a:solidFill>
                  <a:schemeClr val="tx2"/>
                </a:solidFill>
                <a:latin typeface="Arial" pitchFamily="34" charset="0"/>
                <a:ea typeface="宋体" pitchFamily="2" charset="-122"/>
                <a:sym typeface="Marlett" pitchFamily="2" charset="2"/>
              </a:rPr>
              <a:t>‘</a:t>
            </a:r>
            <a:r>
              <a:rPr kumimoji="1" lang="en-US" altLang="zh-CN" sz="2800" b="1" dirty="0">
                <a:solidFill>
                  <a:schemeClr val="tx2"/>
                </a:solidFill>
                <a:latin typeface="Times New Roman" pitchFamily="18" charset="0"/>
                <a:ea typeface="宋体" pitchFamily="2" charset="-122"/>
                <a:sym typeface="Marlett" pitchFamily="2" charset="2"/>
              </a:rPr>
              <a:t>AB</a:t>
            </a:r>
            <a:r>
              <a:rPr kumimoji="1" lang="en-US" altLang="zh-CN" sz="2800" b="1" dirty="0">
                <a:solidFill>
                  <a:schemeClr val="tx2"/>
                </a:solidFill>
                <a:latin typeface="Arial" pitchFamily="34" charset="0"/>
                <a:ea typeface="宋体" pitchFamily="2" charset="-122"/>
                <a:sym typeface="Marlett" pitchFamily="2" charset="2"/>
              </a:rPr>
              <a:t>’</a:t>
            </a:r>
            <a:r>
              <a:rPr kumimoji="1" lang="en-US" altLang="zh-CN" sz="2800" b="1" dirty="0">
                <a:solidFill>
                  <a:srgbClr val="FF0000"/>
                </a:solidFill>
                <a:latin typeface="Times New Roman" pitchFamily="18" charset="0"/>
                <a:ea typeface="宋体" pitchFamily="2" charset="-122"/>
                <a:sym typeface="Marlett" pitchFamily="2" charset="2"/>
              </a:rPr>
              <a:t></a:t>
            </a:r>
            <a:endParaRPr kumimoji="1" lang="en-US" altLang="zh-CN" sz="2800" b="1" dirty="0">
              <a:solidFill>
                <a:srgbClr val="FF0000"/>
              </a:solidFill>
              <a:latin typeface="Times New Roman" pitchFamily="18" charset="0"/>
              <a:ea typeface="宋体" pitchFamily="2" charset="-122"/>
            </a:endParaRPr>
          </a:p>
          <a:p>
            <a:pPr marL="0" indent="0" eaLnBrk="1" hangingPunct="1">
              <a:buClr>
                <a:schemeClr val="tx1"/>
              </a:buClr>
              <a:buSzPct val="60000"/>
              <a:buFont typeface="宋体" pitchFamily="2" charset="-122"/>
              <a:buNone/>
            </a:pPr>
            <a:r>
              <a:rPr kumimoji="1" lang="en-US" altLang="zh-CN" sz="2800" b="1" dirty="0">
                <a:solidFill>
                  <a:srgbClr val="CC6600"/>
                </a:solidFill>
                <a:latin typeface="Times New Roman" pitchFamily="18" charset="0"/>
                <a:ea typeface="宋体" pitchFamily="2" charset="-122"/>
              </a:rPr>
              <a:t>● </a:t>
            </a:r>
            <a:r>
              <a:rPr kumimoji="1" lang="zh-CN" altLang="en-US" sz="2800" b="1" dirty="0">
                <a:solidFill>
                  <a:srgbClr val="CC6600"/>
                </a:solidFill>
                <a:latin typeface="Times New Roman" pitchFamily="18" charset="0"/>
                <a:ea typeface="宋体" pitchFamily="2" charset="-122"/>
              </a:rPr>
              <a:t>转义字符</a:t>
            </a:r>
          </a:p>
          <a:p>
            <a:pPr marL="0" indent="0" eaLnBrk="1" hangingPunct="1">
              <a:buClr>
                <a:schemeClr val="tx1"/>
              </a:buClr>
              <a:buSzPct val="60000"/>
              <a:buFont typeface="宋体" pitchFamily="2" charset="-122"/>
              <a:buNone/>
            </a:pPr>
            <a:r>
              <a:rPr kumimoji="1" lang="zh-CN" altLang="en-US" sz="2800" b="1" dirty="0">
                <a:solidFill>
                  <a:schemeClr val="tx2"/>
                </a:solidFill>
                <a:latin typeface="Times New Roman" pitchFamily="18" charset="0"/>
                <a:ea typeface="宋体" pitchFamily="2" charset="-122"/>
              </a:rPr>
              <a:t>     </a:t>
            </a:r>
            <a:r>
              <a:rPr kumimoji="1" lang="zh-CN" altLang="en-US" sz="2800" b="1" dirty="0">
                <a:solidFill>
                  <a:schemeClr val="tx2"/>
                </a:solidFill>
                <a:latin typeface="Arial" pitchFamily="34" charset="0"/>
                <a:ea typeface="宋体" pitchFamily="2" charset="-122"/>
              </a:rPr>
              <a:t>‘</a:t>
            </a:r>
            <a:r>
              <a:rPr kumimoji="1" lang="zh-CN" altLang="en-US" sz="2800" b="1" dirty="0">
                <a:solidFill>
                  <a:schemeClr val="tx2"/>
                </a:solidFill>
                <a:latin typeface="Times New Roman" pitchFamily="18" charset="0"/>
                <a:ea typeface="宋体" pitchFamily="2" charset="-122"/>
              </a:rPr>
              <a:t>\</a:t>
            </a:r>
            <a:r>
              <a:rPr kumimoji="1" lang="en-US" altLang="zh-CN" sz="2800" b="1" dirty="0">
                <a:solidFill>
                  <a:schemeClr val="tx2"/>
                </a:solidFill>
                <a:latin typeface="Times New Roman" pitchFamily="18" charset="0"/>
                <a:ea typeface="宋体" pitchFamily="2" charset="-122"/>
              </a:rPr>
              <a:t>n</a:t>
            </a:r>
            <a:r>
              <a:rPr kumimoji="1" lang="en-US" altLang="zh-CN" sz="2800" b="1" dirty="0">
                <a:solidFill>
                  <a:schemeClr val="tx2"/>
                </a:solidFill>
                <a:latin typeface="Arial" pitchFamily="34" charset="0"/>
                <a:ea typeface="宋体" pitchFamily="2" charset="-122"/>
              </a:rPr>
              <a:t>’</a:t>
            </a:r>
            <a:r>
              <a:rPr kumimoji="1" lang="en-US" altLang="zh-CN" sz="2800" b="1" dirty="0">
                <a:solidFill>
                  <a:schemeClr val="tx2"/>
                </a:solidFill>
                <a:latin typeface="Times New Roman" pitchFamily="18" charset="0"/>
                <a:ea typeface="宋体" pitchFamily="2" charset="-122"/>
              </a:rPr>
              <a:t>, </a:t>
            </a:r>
            <a:r>
              <a:rPr kumimoji="1" lang="en-US" altLang="zh-CN" sz="2800" b="1" dirty="0">
                <a:solidFill>
                  <a:schemeClr val="tx2"/>
                </a:solidFill>
                <a:latin typeface="Arial" pitchFamily="34" charset="0"/>
                <a:ea typeface="宋体" pitchFamily="2" charset="-122"/>
              </a:rPr>
              <a:t>‘</a:t>
            </a:r>
            <a:r>
              <a:rPr kumimoji="1" lang="en-US" altLang="zh-CN" sz="2800" b="1" dirty="0">
                <a:solidFill>
                  <a:schemeClr val="tx2"/>
                </a:solidFill>
                <a:latin typeface="Times New Roman" pitchFamily="18" charset="0"/>
                <a:ea typeface="宋体" pitchFamily="2" charset="-122"/>
              </a:rPr>
              <a:t> \t</a:t>
            </a:r>
            <a:r>
              <a:rPr kumimoji="1" lang="en-US" altLang="zh-CN" sz="2800" b="1" dirty="0">
                <a:solidFill>
                  <a:schemeClr val="tx2"/>
                </a:solidFill>
                <a:latin typeface="Arial" pitchFamily="34" charset="0"/>
                <a:ea typeface="宋体" pitchFamily="2" charset="-122"/>
              </a:rPr>
              <a:t>’</a:t>
            </a:r>
            <a:r>
              <a:rPr kumimoji="1" lang="en-US" altLang="zh-CN" sz="2800" b="1" dirty="0">
                <a:solidFill>
                  <a:schemeClr val="tx2"/>
                </a:solidFill>
                <a:latin typeface="Times New Roman" pitchFamily="18" charset="0"/>
                <a:ea typeface="宋体" pitchFamily="2" charset="-122"/>
              </a:rPr>
              <a:t>, </a:t>
            </a:r>
            <a:r>
              <a:rPr kumimoji="1" lang="en-US" altLang="zh-CN" sz="2800" b="1" dirty="0">
                <a:solidFill>
                  <a:schemeClr val="tx2"/>
                </a:solidFill>
                <a:latin typeface="Arial" pitchFamily="34" charset="0"/>
                <a:ea typeface="宋体" pitchFamily="2" charset="-122"/>
              </a:rPr>
              <a:t>‘</a:t>
            </a:r>
            <a:r>
              <a:rPr kumimoji="1" lang="en-US" altLang="zh-CN" sz="2800" b="1" dirty="0">
                <a:solidFill>
                  <a:schemeClr val="tx2"/>
                </a:solidFill>
                <a:latin typeface="Times New Roman" pitchFamily="18" charset="0"/>
                <a:ea typeface="宋体" pitchFamily="2" charset="-122"/>
              </a:rPr>
              <a:t> \r</a:t>
            </a:r>
            <a:r>
              <a:rPr kumimoji="1" lang="en-US" altLang="zh-CN" sz="2800" b="1" dirty="0">
                <a:solidFill>
                  <a:schemeClr val="tx2"/>
                </a:solidFill>
                <a:latin typeface="Arial" pitchFamily="34" charset="0"/>
                <a:ea typeface="宋体" pitchFamily="2" charset="-122"/>
              </a:rPr>
              <a:t>’</a:t>
            </a:r>
            <a:r>
              <a:rPr kumimoji="1" lang="en-US" altLang="zh-CN" sz="2800" b="1" dirty="0">
                <a:solidFill>
                  <a:schemeClr val="tx2"/>
                </a:solidFill>
                <a:latin typeface="Times New Roman" pitchFamily="18" charset="0"/>
                <a:ea typeface="宋体" pitchFamily="2" charset="-122"/>
              </a:rPr>
              <a:t>, </a:t>
            </a:r>
            <a:r>
              <a:rPr kumimoji="1" lang="en-US" altLang="zh-CN" sz="2800" b="1" dirty="0">
                <a:solidFill>
                  <a:schemeClr val="tx2"/>
                </a:solidFill>
                <a:latin typeface="Arial" pitchFamily="34" charset="0"/>
                <a:ea typeface="宋体" pitchFamily="2" charset="-122"/>
              </a:rPr>
              <a:t>‘</a:t>
            </a:r>
            <a:r>
              <a:rPr kumimoji="1" lang="en-US" altLang="zh-CN" sz="2800" b="1" dirty="0">
                <a:solidFill>
                  <a:schemeClr val="tx2"/>
                </a:solidFill>
                <a:latin typeface="Times New Roman" pitchFamily="18" charset="0"/>
                <a:ea typeface="宋体" pitchFamily="2" charset="-122"/>
              </a:rPr>
              <a:t> \b</a:t>
            </a:r>
            <a:r>
              <a:rPr kumimoji="1" lang="en-US" altLang="zh-CN" sz="2800" b="1" dirty="0">
                <a:solidFill>
                  <a:schemeClr val="tx2"/>
                </a:solidFill>
                <a:latin typeface="Arial" pitchFamily="34" charset="0"/>
                <a:ea typeface="宋体" pitchFamily="2" charset="-122"/>
              </a:rPr>
              <a:t>’</a:t>
            </a:r>
            <a:r>
              <a:rPr kumimoji="1" lang="en-US" altLang="zh-CN" sz="2800" b="1" dirty="0">
                <a:solidFill>
                  <a:schemeClr val="tx2"/>
                </a:solidFill>
                <a:latin typeface="Times New Roman" pitchFamily="18" charset="0"/>
                <a:ea typeface="宋体" pitchFamily="2" charset="-122"/>
              </a:rPr>
              <a:t>,</a:t>
            </a:r>
            <a:r>
              <a:rPr kumimoji="1" lang="en-US" altLang="zh-CN" sz="2800" b="1" dirty="0">
                <a:solidFill>
                  <a:schemeClr val="tx2"/>
                </a:solidFill>
                <a:latin typeface="Arial" pitchFamily="34" charset="0"/>
                <a:ea typeface="宋体" pitchFamily="2" charset="-122"/>
              </a:rPr>
              <a:t>……</a:t>
            </a:r>
            <a:r>
              <a:rPr kumimoji="1" lang="en-US" altLang="zh-CN" sz="2800" b="1" dirty="0">
                <a:solidFill>
                  <a:schemeClr val="tx2"/>
                </a:solidFill>
                <a:latin typeface="Times New Roman" pitchFamily="18" charset="0"/>
                <a:ea typeface="宋体" pitchFamily="2" charset="-122"/>
              </a:rPr>
              <a:t> </a:t>
            </a:r>
          </a:p>
          <a:p>
            <a:pPr marL="0" indent="0" eaLnBrk="1" hangingPunct="1">
              <a:buClr>
                <a:schemeClr val="tx1"/>
              </a:buClr>
              <a:buSzPct val="60000"/>
              <a:buFont typeface="宋体" pitchFamily="2" charset="-122"/>
              <a:buNone/>
            </a:pPr>
            <a:r>
              <a:rPr kumimoji="1" lang="en-US" altLang="zh-CN" sz="2800" b="1" dirty="0">
                <a:solidFill>
                  <a:schemeClr val="tx2"/>
                </a:solidFill>
                <a:latin typeface="Times New Roman" pitchFamily="18" charset="0"/>
                <a:ea typeface="宋体" pitchFamily="2" charset="-122"/>
              </a:rPr>
              <a:t>     </a:t>
            </a:r>
            <a:r>
              <a:rPr kumimoji="1" lang="en-US" altLang="zh-CN" sz="2800" b="1" dirty="0">
                <a:solidFill>
                  <a:schemeClr val="tx2"/>
                </a:solidFill>
                <a:latin typeface="Arial" pitchFamily="34" charset="0"/>
                <a:ea typeface="宋体" pitchFamily="2" charset="-122"/>
              </a:rPr>
              <a:t>‘</a:t>
            </a:r>
            <a:r>
              <a:rPr kumimoji="1" lang="en-US" altLang="zh-CN" sz="2800" b="1" dirty="0">
                <a:solidFill>
                  <a:schemeClr val="tx2"/>
                </a:solidFill>
                <a:latin typeface="Times New Roman" pitchFamily="18" charset="0"/>
                <a:ea typeface="宋体" pitchFamily="2" charset="-122"/>
              </a:rPr>
              <a:t> \\</a:t>
            </a:r>
            <a:r>
              <a:rPr kumimoji="1" lang="en-US" altLang="zh-CN" sz="2800" b="1" dirty="0">
                <a:solidFill>
                  <a:schemeClr val="tx2"/>
                </a:solidFill>
                <a:latin typeface="Arial" pitchFamily="34" charset="0"/>
                <a:ea typeface="宋体" pitchFamily="2" charset="-122"/>
              </a:rPr>
              <a:t>’</a:t>
            </a:r>
            <a:r>
              <a:rPr kumimoji="1" lang="en-US" altLang="zh-CN" sz="2800" b="1" dirty="0">
                <a:solidFill>
                  <a:schemeClr val="tx2"/>
                </a:solidFill>
                <a:latin typeface="Times New Roman" pitchFamily="18" charset="0"/>
                <a:ea typeface="宋体" pitchFamily="2" charset="-122"/>
              </a:rPr>
              <a:t>, </a:t>
            </a:r>
            <a:r>
              <a:rPr kumimoji="1" lang="en-US" altLang="zh-CN" sz="2800" b="1" dirty="0">
                <a:solidFill>
                  <a:schemeClr val="tx2"/>
                </a:solidFill>
                <a:latin typeface="Arial" pitchFamily="34" charset="0"/>
                <a:ea typeface="宋体" pitchFamily="2" charset="-122"/>
              </a:rPr>
              <a:t>‘</a:t>
            </a:r>
            <a:r>
              <a:rPr kumimoji="1" lang="en-US" altLang="zh-CN" sz="2800" b="1" dirty="0">
                <a:solidFill>
                  <a:schemeClr val="tx2"/>
                </a:solidFill>
                <a:latin typeface="Times New Roman" pitchFamily="18" charset="0"/>
                <a:ea typeface="宋体" pitchFamily="2" charset="-122"/>
              </a:rPr>
              <a:t> \</a:t>
            </a:r>
            <a:r>
              <a:rPr kumimoji="1" lang="en-US" altLang="zh-CN" sz="2800" b="1" dirty="0">
                <a:solidFill>
                  <a:schemeClr val="tx2"/>
                </a:solidFill>
                <a:latin typeface="Arial" pitchFamily="34" charset="0"/>
                <a:ea typeface="宋体" pitchFamily="2" charset="-122"/>
              </a:rPr>
              <a:t>’</a:t>
            </a:r>
            <a:r>
              <a:rPr kumimoji="1" lang="en-US" altLang="zh-CN" sz="2800" b="1" dirty="0">
                <a:solidFill>
                  <a:schemeClr val="tx2"/>
                </a:solidFill>
                <a:latin typeface="Times New Roman" pitchFamily="18" charset="0"/>
                <a:ea typeface="宋体" pitchFamily="2" charset="-122"/>
              </a:rPr>
              <a:t> </a:t>
            </a:r>
            <a:r>
              <a:rPr kumimoji="1" lang="en-US" altLang="zh-CN" sz="2800" b="1" dirty="0">
                <a:solidFill>
                  <a:schemeClr val="tx2"/>
                </a:solidFill>
                <a:latin typeface="Arial" pitchFamily="34" charset="0"/>
                <a:ea typeface="宋体" pitchFamily="2" charset="-122"/>
              </a:rPr>
              <a:t>’</a:t>
            </a:r>
            <a:r>
              <a:rPr kumimoji="1" lang="en-US" altLang="zh-CN" sz="2800" b="1" dirty="0">
                <a:solidFill>
                  <a:schemeClr val="tx2"/>
                </a:solidFill>
                <a:latin typeface="Times New Roman" pitchFamily="18" charset="0"/>
                <a:ea typeface="宋体" pitchFamily="2" charset="-122"/>
              </a:rPr>
              <a:t>, </a:t>
            </a:r>
            <a:r>
              <a:rPr kumimoji="1" lang="en-US" altLang="zh-CN" sz="2800" b="1" dirty="0">
                <a:solidFill>
                  <a:schemeClr val="tx2"/>
                </a:solidFill>
                <a:latin typeface="Arial" pitchFamily="34" charset="0"/>
                <a:ea typeface="宋体" pitchFamily="2" charset="-122"/>
              </a:rPr>
              <a:t>‘</a:t>
            </a:r>
            <a:r>
              <a:rPr kumimoji="1" lang="en-US" altLang="zh-CN" sz="2800" b="1" dirty="0">
                <a:solidFill>
                  <a:schemeClr val="tx2"/>
                </a:solidFill>
                <a:latin typeface="Times New Roman" pitchFamily="18" charset="0"/>
                <a:ea typeface="宋体" pitchFamily="2" charset="-122"/>
              </a:rPr>
              <a:t> \</a:t>
            </a:r>
            <a:r>
              <a:rPr kumimoji="1" lang="en-US" altLang="zh-CN" sz="2800" b="1" dirty="0">
                <a:solidFill>
                  <a:schemeClr val="tx2"/>
                </a:solidFill>
                <a:latin typeface="Arial" pitchFamily="34" charset="0"/>
                <a:ea typeface="宋体" pitchFamily="2" charset="-122"/>
              </a:rPr>
              <a:t>”</a:t>
            </a:r>
            <a:r>
              <a:rPr kumimoji="1" lang="en-US" altLang="zh-CN" sz="2800" b="1" dirty="0">
                <a:solidFill>
                  <a:schemeClr val="tx2"/>
                </a:solidFill>
                <a:latin typeface="Times New Roman" pitchFamily="18" charset="0"/>
                <a:ea typeface="宋体" pitchFamily="2" charset="-122"/>
              </a:rPr>
              <a:t> </a:t>
            </a:r>
            <a:r>
              <a:rPr kumimoji="1" lang="en-US" altLang="zh-CN" sz="2800" b="1" dirty="0">
                <a:solidFill>
                  <a:schemeClr val="tx2"/>
                </a:solidFill>
                <a:latin typeface="Arial" pitchFamily="34" charset="0"/>
                <a:ea typeface="宋体" pitchFamily="2" charset="-122"/>
              </a:rPr>
              <a:t>’</a:t>
            </a:r>
            <a:endParaRPr kumimoji="1" lang="en-US" altLang="zh-CN" sz="2800" b="1" dirty="0">
              <a:solidFill>
                <a:schemeClr val="tx2"/>
              </a:solidFill>
              <a:latin typeface="Times New Roman" pitchFamily="18" charset="0"/>
              <a:ea typeface="宋体" pitchFamily="2" charset="-122"/>
            </a:endParaRPr>
          </a:p>
          <a:p>
            <a:pPr marL="0" indent="0" eaLnBrk="1" hangingPunct="1">
              <a:buClr>
                <a:schemeClr val="tx1"/>
              </a:buClr>
              <a:buSzPct val="60000"/>
              <a:buFont typeface="宋体" pitchFamily="2" charset="-122"/>
              <a:buNone/>
            </a:pPr>
            <a:r>
              <a:rPr kumimoji="1" lang="en-US" altLang="zh-CN" sz="2800" b="1" dirty="0">
                <a:solidFill>
                  <a:schemeClr val="tx2"/>
                </a:solidFill>
                <a:latin typeface="Times New Roman" pitchFamily="18" charset="0"/>
                <a:ea typeface="宋体" pitchFamily="2" charset="-122"/>
              </a:rPr>
              <a:t>      </a:t>
            </a:r>
            <a:r>
              <a:rPr kumimoji="1" lang="en-US" altLang="zh-CN" sz="2800" b="1" dirty="0">
                <a:solidFill>
                  <a:srgbClr val="A50021"/>
                </a:solidFill>
                <a:latin typeface="Times New Roman" pitchFamily="18" charset="0"/>
                <a:ea typeface="宋体" pitchFamily="2" charset="-122"/>
              </a:rPr>
              <a:t>\***（1</a:t>
            </a:r>
            <a:r>
              <a:rPr kumimoji="1" lang="zh-CN" altLang="en-US" sz="2800" b="1" dirty="0">
                <a:solidFill>
                  <a:srgbClr val="A50021"/>
                </a:solidFill>
                <a:latin typeface="Times New Roman" pitchFamily="18" charset="0"/>
                <a:ea typeface="宋体" pitchFamily="2" charset="-122"/>
              </a:rPr>
              <a:t>到3位8进制数）</a:t>
            </a:r>
          </a:p>
          <a:p>
            <a:pPr marL="0" indent="0" eaLnBrk="1" hangingPunct="1">
              <a:buClr>
                <a:schemeClr val="tx1"/>
              </a:buClr>
              <a:buSzPct val="60000"/>
              <a:buFont typeface="宋体" pitchFamily="2" charset="-122"/>
              <a:buNone/>
            </a:pPr>
            <a:r>
              <a:rPr kumimoji="1" lang="zh-CN" altLang="en-US" sz="2800" b="1" dirty="0">
                <a:solidFill>
                  <a:schemeClr val="tx2"/>
                </a:solidFill>
                <a:latin typeface="Times New Roman" pitchFamily="18" charset="0"/>
                <a:ea typeface="宋体" pitchFamily="2" charset="-122"/>
              </a:rPr>
              <a:t>         如：</a:t>
            </a:r>
            <a:r>
              <a:rPr kumimoji="1" lang="zh-CN" altLang="en-US" sz="2800" b="1" dirty="0">
                <a:solidFill>
                  <a:schemeClr val="tx2"/>
                </a:solidFill>
                <a:latin typeface="Arial" pitchFamily="34" charset="0"/>
                <a:ea typeface="宋体" pitchFamily="2" charset="-122"/>
              </a:rPr>
              <a:t>‘</a:t>
            </a:r>
            <a:r>
              <a:rPr kumimoji="1" lang="zh-CN" altLang="en-US" sz="2800" b="1" dirty="0">
                <a:solidFill>
                  <a:schemeClr val="tx2"/>
                </a:solidFill>
                <a:latin typeface="Times New Roman" pitchFamily="18" charset="0"/>
                <a:ea typeface="宋体" pitchFamily="2" charset="-122"/>
              </a:rPr>
              <a:t> \101</a:t>
            </a:r>
            <a:r>
              <a:rPr kumimoji="1" lang="zh-CN" altLang="en-US" sz="2800" b="1" dirty="0">
                <a:solidFill>
                  <a:schemeClr val="tx2"/>
                </a:solidFill>
                <a:latin typeface="Arial" pitchFamily="34" charset="0"/>
                <a:ea typeface="宋体" pitchFamily="2" charset="-122"/>
              </a:rPr>
              <a:t>’</a:t>
            </a:r>
            <a:r>
              <a:rPr kumimoji="1" lang="zh-CN" altLang="en-US" sz="2800" b="1" dirty="0">
                <a:solidFill>
                  <a:schemeClr val="tx2"/>
                </a:solidFill>
                <a:latin typeface="Times New Roman" pitchFamily="18" charset="0"/>
                <a:ea typeface="宋体" pitchFamily="2" charset="-122"/>
              </a:rPr>
              <a:t>     </a:t>
            </a:r>
            <a:r>
              <a:rPr kumimoji="1" lang="zh-CN" altLang="en-US" sz="2800" b="1" dirty="0">
                <a:solidFill>
                  <a:schemeClr val="tx2"/>
                </a:solidFill>
                <a:latin typeface="Arial" pitchFamily="34" charset="0"/>
                <a:ea typeface="宋体" pitchFamily="2" charset="-122"/>
              </a:rPr>
              <a:t>‘</a:t>
            </a:r>
            <a:r>
              <a:rPr kumimoji="1" lang="zh-CN" altLang="en-US" sz="2800" b="1" dirty="0">
                <a:solidFill>
                  <a:schemeClr val="tx2"/>
                </a:solidFill>
                <a:latin typeface="Times New Roman" pitchFamily="18" charset="0"/>
                <a:ea typeface="宋体" pitchFamily="2" charset="-122"/>
              </a:rPr>
              <a:t>\081</a:t>
            </a:r>
            <a:r>
              <a:rPr kumimoji="1" lang="zh-CN" altLang="en-US" sz="2800" b="1" dirty="0">
                <a:solidFill>
                  <a:schemeClr val="tx2"/>
                </a:solidFill>
                <a:latin typeface="Arial" pitchFamily="34" charset="0"/>
                <a:ea typeface="宋体" pitchFamily="2" charset="-122"/>
              </a:rPr>
              <a:t>’</a:t>
            </a:r>
            <a:r>
              <a:rPr kumimoji="1" lang="zh-CN" altLang="en-US" sz="2800" b="1" dirty="0">
                <a:solidFill>
                  <a:schemeClr val="tx2"/>
                </a:solidFill>
                <a:latin typeface="Times New Roman" pitchFamily="18" charset="0"/>
                <a:ea typeface="宋体" pitchFamily="2" charset="-122"/>
              </a:rPr>
              <a:t> </a:t>
            </a:r>
            <a:r>
              <a:rPr kumimoji="1" lang="zh-CN" altLang="en-US" sz="2800" b="1" dirty="0">
                <a:solidFill>
                  <a:srgbClr val="FF0000"/>
                </a:solidFill>
                <a:latin typeface="Times New Roman" pitchFamily="18" charset="0"/>
                <a:ea typeface="宋体" pitchFamily="2" charset="-122"/>
                <a:sym typeface="Marlett" pitchFamily="2" charset="2"/>
              </a:rPr>
              <a:t></a:t>
            </a:r>
            <a:r>
              <a:rPr kumimoji="1" lang="zh-CN" altLang="en-US" sz="2800" b="1" dirty="0">
                <a:solidFill>
                  <a:schemeClr val="tx2"/>
                </a:solidFill>
                <a:latin typeface="Times New Roman" pitchFamily="18" charset="0"/>
                <a:ea typeface="宋体" pitchFamily="2" charset="-122"/>
                <a:sym typeface="Marlett" pitchFamily="2" charset="2"/>
              </a:rPr>
              <a:t>，</a:t>
            </a:r>
            <a:r>
              <a:rPr kumimoji="1" lang="zh-CN" altLang="en-US" sz="2800" b="1" dirty="0">
                <a:solidFill>
                  <a:schemeClr val="tx2"/>
                </a:solidFill>
                <a:latin typeface="Arial" pitchFamily="34" charset="0"/>
                <a:ea typeface="宋体" pitchFamily="2" charset="-122"/>
              </a:rPr>
              <a:t>‘</a:t>
            </a:r>
            <a:r>
              <a:rPr kumimoji="1" lang="zh-CN" altLang="en-US" sz="2800" b="1" dirty="0">
                <a:solidFill>
                  <a:schemeClr val="tx2"/>
                </a:solidFill>
                <a:latin typeface="Times New Roman" pitchFamily="18" charset="0"/>
                <a:ea typeface="宋体" pitchFamily="2" charset="-122"/>
              </a:rPr>
              <a:t> \1013</a:t>
            </a:r>
            <a:r>
              <a:rPr kumimoji="1" lang="zh-CN" altLang="en-US" sz="2800" b="1" dirty="0">
                <a:solidFill>
                  <a:schemeClr val="tx2"/>
                </a:solidFill>
                <a:latin typeface="Arial" pitchFamily="34" charset="0"/>
                <a:ea typeface="宋体" pitchFamily="2" charset="-122"/>
              </a:rPr>
              <a:t>’</a:t>
            </a:r>
            <a:r>
              <a:rPr kumimoji="1" lang="zh-CN" altLang="en-US" sz="2800" b="1" dirty="0">
                <a:solidFill>
                  <a:schemeClr val="tx2"/>
                </a:solidFill>
                <a:latin typeface="Times New Roman" pitchFamily="18" charset="0"/>
                <a:ea typeface="宋体" pitchFamily="2" charset="-122"/>
              </a:rPr>
              <a:t> </a:t>
            </a:r>
            <a:r>
              <a:rPr kumimoji="1" lang="zh-CN" altLang="en-US" sz="2800" b="1" dirty="0">
                <a:solidFill>
                  <a:srgbClr val="FF0000"/>
                </a:solidFill>
                <a:latin typeface="Times New Roman" pitchFamily="18" charset="0"/>
                <a:ea typeface="宋体" pitchFamily="2" charset="-122"/>
                <a:sym typeface="Marlett" pitchFamily="2" charset="2"/>
              </a:rPr>
              <a:t></a:t>
            </a:r>
            <a:endParaRPr kumimoji="1" lang="zh-CN" altLang="en-US" sz="2800" b="1" dirty="0">
              <a:solidFill>
                <a:srgbClr val="FF0000"/>
              </a:solidFill>
              <a:latin typeface="Times New Roman" pitchFamily="18" charset="0"/>
              <a:ea typeface="宋体" pitchFamily="2" charset="-122"/>
            </a:endParaRPr>
          </a:p>
          <a:p>
            <a:pPr marL="0" indent="0" eaLnBrk="1" hangingPunct="1">
              <a:buClr>
                <a:schemeClr val="tx1"/>
              </a:buClr>
              <a:buSzPct val="60000"/>
              <a:buFont typeface="宋体" pitchFamily="2" charset="-122"/>
              <a:buNone/>
            </a:pPr>
            <a:r>
              <a:rPr kumimoji="1" lang="zh-CN" altLang="en-US" sz="2800" b="1" dirty="0">
                <a:solidFill>
                  <a:srgbClr val="A50021"/>
                </a:solidFill>
                <a:latin typeface="Times New Roman" pitchFamily="18" charset="0"/>
                <a:ea typeface="宋体" pitchFamily="2" charset="-122"/>
              </a:rPr>
              <a:t>     \</a:t>
            </a:r>
            <a:r>
              <a:rPr kumimoji="1" lang="en-US" altLang="zh-CN" sz="2800" b="1" dirty="0">
                <a:solidFill>
                  <a:srgbClr val="A50021"/>
                </a:solidFill>
                <a:latin typeface="Times New Roman" pitchFamily="18" charset="0"/>
                <a:ea typeface="宋体" pitchFamily="2" charset="-122"/>
              </a:rPr>
              <a:t>x**（1</a:t>
            </a:r>
            <a:r>
              <a:rPr kumimoji="1" lang="zh-CN" altLang="en-US" sz="2800" b="1" dirty="0">
                <a:solidFill>
                  <a:srgbClr val="A50021"/>
                </a:solidFill>
                <a:latin typeface="Times New Roman" pitchFamily="18" charset="0"/>
                <a:ea typeface="宋体" pitchFamily="2" charset="-122"/>
              </a:rPr>
              <a:t>到2位16进制数）</a:t>
            </a:r>
          </a:p>
          <a:p>
            <a:pPr marL="0" indent="0" eaLnBrk="1" hangingPunct="1">
              <a:buClr>
                <a:schemeClr val="tx1"/>
              </a:buClr>
              <a:buSzPct val="60000"/>
              <a:buFont typeface="宋体" pitchFamily="2" charset="-122"/>
              <a:buNone/>
            </a:pPr>
            <a:r>
              <a:rPr kumimoji="1" lang="zh-CN" altLang="en-US" sz="2800" b="1" dirty="0">
                <a:solidFill>
                  <a:schemeClr val="tx2"/>
                </a:solidFill>
                <a:latin typeface="Times New Roman" pitchFamily="18" charset="0"/>
                <a:ea typeface="宋体" pitchFamily="2" charset="-122"/>
              </a:rPr>
              <a:t>         如：</a:t>
            </a:r>
            <a:r>
              <a:rPr kumimoji="1" lang="zh-CN" altLang="en-US" sz="2800" b="1" dirty="0">
                <a:solidFill>
                  <a:schemeClr val="tx2"/>
                </a:solidFill>
                <a:latin typeface="Arial" pitchFamily="34" charset="0"/>
                <a:ea typeface="宋体" pitchFamily="2" charset="-122"/>
              </a:rPr>
              <a:t>‘</a:t>
            </a:r>
            <a:r>
              <a:rPr kumimoji="1" lang="zh-CN" altLang="en-US" sz="2800" b="1" dirty="0">
                <a:solidFill>
                  <a:schemeClr val="tx2"/>
                </a:solidFill>
                <a:latin typeface="Times New Roman" pitchFamily="18" charset="0"/>
                <a:ea typeface="宋体" pitchFamily="2" charset="-122"/>
              </a:rPr>
              <a:t> \</a:t>
            </a:r>
            <a:r>
              <a:rPr kumimoji="1" lang="en-US" altLang="zh-CN" sz="2800" b="1" dirty="0">
                <a:solidFill>
                  <a:schemeClr val="tx2"/>
                </a:solidFill>
                <a:latin typeface="Times New Roman" pitchFamily="18" charset="0"/>
                <a:ea typeface="宋体" pitchFamily="2" charset="-122"/>
              </a:rPr>
              <a:t>x41</a:t>
            </a:r>
            <a:r>
              <a:rPr kumimoji="1" lang="en-US" altLang="zh-CN" sz="2800" b="1" dirty="0">
                <a:solidFill>
                  <a:schemeClr val="tx2"/>
                </a:solidFill>
                <a:latin typeface="Arial" pitchFamily="34" charset="0"/>
                <a:ea typeface="宋体" pitchFamily="2" charset="-122"/>
              </a:rPr>
              <a:t>’</a:t>
            </a:r>
            <a:r>
              <a:rPr kumimoji="1" lang="en-US" altLang="zh-CN" sz="2800" b="1" dirty="0">
                <a:solidFill>
                  <a:schemeClr val="tx2"/>
                </a:solidFill>
                <a:latin typeface="Times New Roman" pitchFamily="18" charset="0"/>
                <a:ea typeface="宋体" pitchFamily="2" charset="-122"/>
              </a:rPr>
              <a:t> ,     </a:t>
            </a:r>
            <a:r>
              <a:rPr kumimoji="1" lang="en-US" altLang="zh-CN" sz="2800" b="1" dirty="0">
                <a:solidFill>
                  <a:schemeClr val="tx2"/>
                </a:solidFill>
                <a:latin typeface="Arial" pitchFamily="34" charset="0"/>
                <a:ea typeface="宋体" pitchFamily="2" charset="-122"/>
              </a:rPr>
              <a:t>‘</a:t>
            </a:r>
            <a:r>
              <a:rPr kumimoji="1" lang="en-US" altLang="zh-CN" sz="2800" b="1" dirty="0">
                <a:solidFill>
                  <a:schemeClr val="tx2"/>
                </a:solidFill>
                <a:latin typeface="Times New Roman" pitchFamily="18" charset="0"/>
                <a:ea typeface="宋体" pitchFamily="2" charset="-122"/>
              </a:rPr>
              <a:t> \x2g</a:t>
            </a:r>
            <a:r>
              <a:rPr kumimoji="1" lang="en-US" altLang="zh-CN" sz="2800" b="1" dirty="0">
                <a:solidFill>
                  <a:schemeClr val="tx2"/>
                </a:solidFill>
                <a:latin typeface="Arial" pitchFamily="34" charset="0"/>
                <a:ea typeface="宋体" pitchFamily="2" charset="-122"/>
              </a:rPr>
              <a:t>’</a:t>
            </a:r>
            <a:r>
              <a:rPr kumimoji="1" lang="en-US" altLang="zh-CN" sz="2800" b="1" dirty="0">
                <a:solidFill>
                  <a:schemeClr val="tx2"/>
                </a:solidFill>
                <a:latin typeface="Times New Roman" pitchFamily="18" charset="0"/>
                <a:ea typeface="宋体" pitchFamily="2" charset="-122"/>
              </a:rPr>
              <a:t> </a:t>
            </a:r>
            <a:r>
              <a:rPr kumimoji="1" lang="en-US" altLang="zh-CN" sz="2800" b="1" dirty="0">
                <a:solidFill>
                  <a:srgbClr val="FF0000"/>
                </a:solidFill>
                <a:latin typeface="Times New Roman" pitchFamily="18" charset="0"/>
                <a:ea typeface="宋体" pitchFamily="2" charset="-122"/>
                <a:sym typeface="Marlett" pitchFamily="2" charset="2"/>
              </a:rPr>
              <a:t></a:t>
            </a:r>
            <a:r>
              <a:rPr kumimoji="1" lang="en-US" altLang="zh-CN" sz="2800" b="1" dirty="0">
                <a:solidFill>
                  <a:schemeClr val="tx2"/>
                </a:solidFill>
                <a:latin typeface="Times New Roman" pitchFamily="18" charset="0"/>
                <a:ea typeface="宋体" pitchFamily="2" charset="-122"/>
              </a:rPr>
              <a:t> </a:t>
            </a:r>
            <a:endParaRPr kumimoji="1" lang="zh-CN" altLang="en-US" sz="2800" b="1" dirty="0">
              <a:solidFill>
                <a:schemeClr val="tx2"/>
              </a:solidFill>
              <a:latin typeface="Times New Roman" pitchFamily="18" charset="0"/>
              <a:ea typeface="宋体" pitchFamily="2" charset="-122"/>
            </a:endParaRPr>
          </a:p>
        </p:txBody>
      </p:sp>
      <p:pic>
        <p:nvPicPr>
          <p:cNvPr id="9219" name="Picture 5" descr="j014939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0" y="1066800"/>
            <a:ext cx="3048000" cy="185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Rectangle 4"/>
          <p:cNvSpPr>
            <a:spLocks noChangeArrowheads="1"/>
          </p:cNvSpPr>
          <p:nvPr/>
        </p:nvSpPr>
        <p:spPr bwMode="auto">
          <a:xfrm>
            <a:off x="0" y="543580"/>
            <a:ext cx="25603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常量</a:t>
            </a:r>
          </a:p>
        </p:txBody>
      </p:sp>
    </p:spTree>
    <p:extLst>
      <p:ext uri="{BB962C8B-B14F-4D97-AF65-F5344CB8AC3E}">
        <p14:creationId xmlns:p14="http://schemas.microsoft.com/office/powerpoint/2010/main" val="492347616"/>
      </p:ext>
    </p:extLst>
  </p:cSld>
  <p:clrMapOvr>
    <a:masterClrMapping/>
  </p:clrMapOvr>
  <p:transition>
    <p:wedg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228600" y="1143000"/>
            <a:ext cx="19800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1" hangingPunct="1"/>
            <a:r>
              <a:rPr lang="zh-CN" altLang="en-US" sz="2800" b="1" dirty="0">
                <a:solidFill>
                  <a:srgbClr val="000066"/>
                </a:solidFill>
                <a:latin typeface="微软雅黑" pitchFamily="34" charset="-122"/>
                <a:ea typeface="微软雅黑" pitchFamily="34" charset="-122"/>
              </a:rPr>
              <a:t>字符型变量</a:t>
            </a:r>
            <a:endParaRPr lang="en-US" altLang="zh-CN" sz="2800" b="1" dirty="0">
              <a:solidFill>
                <a:srgbClr val="000066"/>
              </a:solidFill>
              <a:latin typeface="微软雅黑" pitchFamily="34" charset="-122"/>
              <a:ea typeface="微软雅黑" pitchFamily="34" charset="-122"/>
            </a:endParaRPr>
          </a:p>
        </p:txBody>
      </p:sp>
      <p:sp>
        <p:nvSpPr>
          <p:cNvPr id="123908" name="Rectangle 4"/>
          <p:cNvSpPr>
            <a:spLocks noChangeArrowheads="1"/>
          </p:cNvSpPr>
          <p:nvPr/>
        </p:nvSpPr>
        <p:spPr bwMode="auto">
          <a:xfrm>
            <a:off x="609600" y="2133600"/>
            <a:ext cx="7543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1" hangingPunct="1">
              <a:spcBef>
                <a:spcPct val="50000"/>
              </a:spcBef>
            </a:pPr>
            <a:r>
              <a:rPr lang="zh-CN" altLang="en-US" sz="2800" b="1">
                <a:solidFill>
                  <a:srgbClr val="CC0066"/>
                </a:solidFill>
                <a:latin typeface="微软雅黑" pitchFamily="34" charset="-122"/>
                <a:ea typeface="微软雅黑" pitchFamily="34" charset="-122"/>
              </a:rPr>
              <a:t>字符变量存储的是该字符的</a:t>
            </a:r>
            <a:r>
              <a:rPr lang="en-US" altLang="zh-CN" sz="2800" b="1">
                <a:solidFill>
                  <a:srgbClr val="CC0066"/>
                </a:solidFill>
                <a:latin typeface="微软雅黑" pitchFamily="34" charset="-122"/>
                <a:ea typeface="微软雅黑" pitchFamily="34" charset="-122"/>
              </a:rPr>
              <a:t>ASCII</a:t>
            </a:r>
          </a:p>
        </p:txBody>
      </p:sp>
      <p:sp>
        <p:nvSpPr>
          <p:cNvPr id="123909" name="Rectangle 5"/>
          <p:cNvSpPr>
            <a:spLocks noChangeArrowheads="1"/>
          </p:cNvSpPr>
          <p:nvPr/>
        </p:nvSpPr>
        <p:spPr bwMode="auto">
          <a:xfrm>
            <a:off x="609600" y="2895600"/>
            <a:ext cx="3733800" cy="308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1" hangingPunct="1">
              <a:spcBef>
                <a:spcPct val="50000"/>
              </a:spcBef>
            </a:pPr>
            <a:r>
              <a:rPr lang="en-US" altLang="zh-CN" sz="2800" b="1">
                <a:solidFill>
                  <a:srgbClr val="000066"/>
                </a:solidFill>
                <a:latin typeface="微软雅黑" pitchFamily="34" charset="-122"/>
                <a:ea typeface="微软雅黑" pitchFamily="34" charset="-122"/>
              </a:rPr>
              <a:t>main ( )</a:t>
            </a:r>
          </a:p>
          <a:p>
            <a:pPr eaLnBrk="1" hangingPunct="1">
              <a:spcBef>
                <a:spcPct val="50000"/>
              </a:spcBef>
            </a:pPr>
            <a:r>
              <a:rPr lang="en-US" altLang="zh-CN" sz="2800" b="1">
                <a:solidFill>
                  <a:srgbClr val="000066"/>
                </a:solidFill>
                <a:latin typeface="微软雅黑" pitchFamily="34" charset="-122"/>
                <a:ea typeface="微软雅黑" pitchFamily="34" charset="-122"/>
              </a:rPr>
              <a:t>{  char c;</a:t>
            </a:r>
          </a:p>
          <a:p>
            <a:pPr eaLnBrk="1" hangingPunct="1">
              <a:spcBef>
                <a:spcPct val="50000"/>
              </a:spcBef>
            </a:pPr>
            <a:r>
              <a:rPr lang="en-US" altLang="zh-CN" sz="2800" b="1">
                <a:solidFill>
                  <a:srgbClr val="000066"/>
                </a:solidFill>
                <a:latin typeface="微软雅黑" pitchFamily="34" charset="-122"/>
                <a:ea typeface="微软雅黑" pitchFamily="34" charset="-122"/>
              </a:rPr>
              <a:t> c =‘c’;</a:t>
            </a:r>
          </a:p>
          <a:p>
            <a:pPr eaLnBrk="1" hangingPunct="1">
              <a:spcBef>
                <a:spcPct val="50000"/>
              </a:spcBef>
            </a:pPr>
            <a:r>
              <a:rPr lang="en-US" altLang="zh-CN" sz="2800" b="1">
                <a:solidFill>
                  <a:srgbClr val="000066"/>
                </a:solidFill>
                <a:latin typeface="微软雅黑" pitchFamily="34" charset="-122"/>
                <a:ea typeface="微软雅黑" pitchFamily="34" charset="-122"/>
              </a:rPr>
              <a:t>printf(“%c”,c);</a:t>
            </a:r>
          </a:p>
          <a:p>
            <a:pPr eaLnBrk="1" hangingPunct="1">
              <a:spcBef>
                <a:spcPct val="50000"/>
              </a:spcBef>
            </a:pPr>
            <a:r>
              <a:rPr lang="en-US" altLang="zh-CN" sz="2800" b="1">
                <a:solidFill>
                  <a:srgbClr val="000066"/>
                </a:solidFill>
                <a:latin typeface="微软雅黑" pitchFamily="34" charset="-122"/>
                <a:ea typeface="微软雅黑" pitchFamily="34" charset="-122"/>
              </a:rPr>
              <a:t>}</a:t>
            </a:r>
          </a:p>
        </p:txBody>
      </p:sp>
      <p:sp>
        <p:nvSpPr>
          <p:cNvPr id="123910" name="Oval 6"/>
          <p:cNvSpPr>
            <a:spLocks noChangeArrowheads="1"/>
          </p:cNvSpPr>
          <p:nvPr/>
        </p:nvSpPr>
        <p:spPr bwMode="auto">
          <a:xfrm>
            <a:off x="1752600" y="3581400"/>
            <a:ext cx="381000" cy="457200"/>
          </a:xfrm>
          <a:prstGeom prst="ellipse">
            <a:avLst/>
          </a:prstGeom>
          <a:noFill/>
          <a:ln w="38100"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b="1">
              <a:latin typeface="微软雅黑" pitchFamily="34" charset="-122"/>
              <a:ea typeface="微软雅黑" pitchFamily="34" charset="-122"/>
            </a:endParaRPr>
          </a:p>
        </p:txBody>
      </p:sp>
      <p:sp>
        <p:nvSpPr>
          <p:cNvPr id="123911" name="Oval 7"/>
          <p:cNvSpPr>
            <a:spLocks noChangeArrowheads="1"/>
          </p:cNvSpPr>
          <p:nvPr/>
        </p:nvSpPr>
        <p:spPr bwMode="auto">
          <a:xfrm>
            <a:off x="684213" y="4221163"/>
            <a:ext cx="381000" cy="457200"/>
          </a:xfrm>
          <a:prstGeom prst="ellipse">
            <a:avLst/>
          </a:prstGeom>
          <a:noFill/>
          <a:ln w="38100"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b="1">
              <a:latin typeface="微软雅黑" pitchFamily="34" charset="-122"/>
              <a:ea typeface="微软雅黑" pitchFamily="34" charset="-122"/>
            </a:endParaRPr>
          </a:p>
        </p:txBody>
      </p:sp>
      <p:sp>
        <p:nvSpPr>
          <p:cNvPr id="123912" name="Oval 8"/>
          <p:cNvSpPr>
            <a:spLocks noChangeArrowheads="1"/>
          </p:cNvSpPr>
          <p:nvPr/>
        </p:nvSpPr>
        <p:spPr bwMode="auto">
          <a:xfrm>
            <a:off x="2590800" y="4876800"/>
            <a:ext cx="381000" cy="457200"/>
          </a:xfrm>
          <a:prstGeom prst="ellipse">
            <a:avLst/>
          </a:prstGeom>
          <a:noFill/>
          <a:ln w="38100"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b="1">
              <a:latin typeface="微软雅黑" pitchFamily="34" charset="-122"/>
              <a:ea typeface="微软雅黑" pitchFamily="34" charset="-122"/>
            </a:endParaRPr>
          </a:p>
        </p:txBody>
      </p:sp>
      <p:sp>
        <p:nvSpPr>
          <p:cNvPr id="123913" name="Oval 9"/>
          <p:cNvSpPr>
            <a:spLocks noChangeArrowheads="1"/>
          </p:cNvSpPr>
          <p:nvPr/>
        </p:nvSpPr>
        <p:spPr bwMode="auto">
          <a:xfrm>
            <a:off x="1619250" y="4221163"/>
            <a:ext cx="381000" cy="457200"/>
          </a:xfrm>
          <a:prstGeom prst="ellipse">
            <a:avLst/>
          </a:prstGeom>
          <a:noFill/>
          <a:ln w="38100" cap="sq">
            <a:solidFill>
              <a:srgbClr val="990033"/>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b="1">
              <a:latin typeface="微软雅黑" pitchFamily="34" charset="-122"/>
              <a:ea typeface="微软雅黑" pitchFamily="34" charset="-122"/>
            </a:endParaRPr>
          </a:p>
        </p:txBody>
      </p:sp>
      <p:sp>
        <p:nvSpPr>
          <p:cNvPr id="123919" name="Text Box 15"/>
          <p:cNvSpPr txBox="1">
            <a:spLocks noChangeArrowheads="1"/>
          </p:cNvSpPr>
          <p:nvPr/>
        </p:nvSpPr>
        <p:spPr bwMode="auto">
          <a:xfrm>
            <a:off x="4343400" y="2667000"/>
            <a:ext cx="3482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nchor="ct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nSpc>
                <a:spcPct val="125000"/>
              </a:lnSpc>
            </a:pPr>
            <a:r>
              <a:rPr lang="zh-CN" altLang="en-US" sz="2800" b="1">
                <a:solidFill>
                  <a:srgbClr val="000066"/>
                </a:solidFill>
                <a:latin typeface="微软雅黑" pitchFamily="34" charset="-122"/>
                <a:ea typeface="微软雅黑" pitchFamily="34" charset="-122"/>
              </a:rPr>
              <a:t>‘</a:t>
            </a:r>
            <a:r>
              <a:rPr lang="en-US" altLang="zh-CN" sz="2800" b="1">
                <a:solidFill>
                  <a:srgbClr val="000066"/>
                </a:solidFill>
                <a:latin typeface="微软雅黑" pitchFamily="34" charset="-122"/>
                <a:ea typeface="微软雅黑" pitchFamily="34" charset="-122"/>
              </a:rPr>
              <a:t>a ‘           </a:t>
            </a:r>
            <a:r>
              <a:rPr lang="zh-CN" altLang="en-US" sz="2800" b="1">
                <a:solidFill>
                  <a:srgbClr val="000066"/>
                </a:solidFill>
                <a:latin typeface="微软雅黑" pitchFamily="34" charset="-122"/>
                <a:ea typeface="微软雅黑" pitchFamily="34" charset="-122"/>
              </a:rPr>
              <a:t>    97  </a:t>
            </a:r>
          </a:p>
        </p:txBody>
      </p:sp>
      <p:sp>
        <p:nvSpPr>
          <p:cNvPr id="123920" name="Text Box 16"/>
          <p:cNvSpPr txBox="1">
            <a:spLocks noChangeArrowheads="1"/>
          </p:cNvSpPr>
          <p:nvPr/>
        </p:nvSpPr>
        <p:spPr bwMode="auto">
          <a:xfrm>
            <a:off x="4498975" y="3352800"/>
            <a:ext cx="2703513" cy="525463"/>
          </a:xfrm>
          <a:prstGeom prst="rect">
            <a:avLst/>
          </a:prstGeom>
          <a:noFill/>
          <a:ln w="12700">
            <a:solidFill>
              <a:srgbClr val="FF0066"/>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ctr"/>
            <a:r>
              <a:rPr lang="zh-CN" altLang="en-US" sz="2800" b="1">
                <a:solidFill>
                  <a:srgbClr val="000066"/>
                </a:solidFill>
                <a:latin typeface="微软雅黑" pitchFamily="34" charset="-122"/>
                <a:ea typeface="微软雅黑" pitchFamily="34" charset="-122"/>
              </a:rPr>
              <a:t>0 1 1 0 0 0 0 1</a:t>
            </a:r>
          </a:p>
        </p:txBody>
      </p:sp>
      <p:sp>
        <p:nvSpPr>
          <p:cNvPr id="123921" name="AutoShape 17"/>
          <p:cNvSpPr>
            <a:spLocks noChangeArrowheads="1"/>
          </p:cNvSpPr>
          <p:nvPr/>
        </p:nvSpPr>
        <p:spPr bwMode="auto">
          <a:xfrm>
            <a:off x="5651500" y="2852738"/>
            <a:ext cx="762000" cy="228600"/>
          </a:xfrm>
          <a:prstGeom prst="leftRightArrow">
            <a:avLst>
              <a:gd name="adj1" fmla="val 50000"/>
              <a:gd name="adj2" fmla="val 66651"/>
            </a:avLst>
          </a:prstGeom>
          <a:solidFill>
            <a:srgbClr val="CCCCFF"/>
          </a:solidFill>
          <a:ln w="12700" cap="sq">
            <a:solidFill>
              <a:schemeClr val="tx1"/>
            </a:solidFill>
            <a:miter lim="800000"/>
            <a:headEnd type="none" w="sm" len="sm"/>
            <a:tailEnd type="none" w="sm" len="sm"/>
          </a:ln>
        </p:spPr>
        <p:txBody>
          <a:bodyPr wrap="none" anchor="ctr"/>
          <a:lstStyle/>
          <a:p>
            <a:pPr eaLnBrk="1" hangingPunct="1"/>
            <a:endParaRPr lang="zh-CN" altLang="en-US" b="1">
              <a:latin typeface="微软雅黑" pitchFamily="34" charset="-122"/>
              <a:ea typeface="微软雅黑" pitchFamily="34" charset="-122"/>
            </a:endParaRPr>
          </a:p>
        </p:txBody>
      </p:sp>
      <p:graphicFrame>
        <p:nvGraphicFramePr>
          <p:cNvPr id="123947" name="Group 43"/>
          <p:cNvGraphicFramePr>
            <a:graphicFrameLocks noGrp="1"/>
          </p:cNvGraphicFramePr>
          <p:nvPr/>
        </p:nvGraphicFramePr>
        <p:xfrm>
          <a:off x="3429000" y="1143000"/>
          <a:ext cx="5181600" cy="914400"/>
        </p:xfrm>
        <a:graphic>
          <a:graphicData uri="http://schemas.openxmlformats.org/drawingml/2006/table">
            <a:tbl>
              <a:tblPr/>
              <a:tblGrid>
                <a:gridCol w="1727200">
                  <a:extLst>
                    <a:ext uri="{9D8B030D-6E8A-4147-A177-3AD203B41FA5}">
                      <a16:colId xmlns:a16="http://schemas.microsoft.com/office/drawing/2014/main" val="20000"/>
                    </a:ext>
                  </a:extLst>
                </a:gridCol>
                <a:gridCol w="928688">
                  <a:extLst>
                    <a:ext uri="{9D8B030D-6E8A-4147-A177-3AD203B41FA5}">
                      <a16:colId xmlns:a16="http://schemas.microsoft.com/office/drawing/2014/main" val="20001"/>
                    </a:ext>
                  </a:extLst>
                </a:gridCol>
                <a:gridCol w="2525712">
                  <a:extLst>
                    <a:ext uri="{9D8B030D-6E8A-4147-A177-3AD203B41FA5}">
                      <a16:colId xmlns:a16="http://schemas.microsoft.com/office/drawing/2014/main" val="20002"/>
                    </a:ext>
                  </a:extLst>
                </a:gridCol>
              </a:tblGrid>
              <a:tr h="45720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rgbClr val="990000"/>
                          </a:solidFill>
                          <a:effectLst/>
                          <a:latin typeface="Tahoma" pitchFamily="34" charset="0"/>
                          <a:ea typeface="宋体" pitchFamily="2" charset="-122"/>
                        </a:rPr>
                        <a:t>关键字</a:t>
                      </a:r>
                      <a:endParaRPr kumimoji="0" lang="en-US" altLang="zh-CN" sz="2400" b="1" i="0" u="none" strike="noStrike" cap="none" normalizeH="0" baseline="0">
                        <a:ln>
                          <a:noFill/>
                        </a:ln>
                        <a:solidFill>
                          <a:srgbClr val="990000"/>
                        </a:solidFill>
                        <a:effectLst/>
                        <a:latin typeface="Tahoma" pitchFamily="34"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CCFF33"/>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rgbClr val="990000"/>
                          </a:solidFill>
                          <a:effectLst/>
                          <a:latin typeface="Tahoma" pitchFamily="34" charset="0"/>
                          <a:ea typeface="宋体" pitchFamily="2" charset="-122"/>
                        </a:rPr>
                        <a:t>字节</a:t>
                      </a:r>
                      <a:endParaRPr kumimoji="0" lang="en-US" altLang="zh-CN" sz="2400" b="1" i="0" u="none" strike="noStrike" cap="none" normalizeH="0" baseline="0">
                        <a:ln>
                          <a:noFill/>
                        </a:ln>
                        <a:solidFill>
                          <a:srgbClr val="990000"/>
                        </a:solidFill>
                        <a:effectLst/>
                        <a:latin typeface="Tahom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CCFF33"/>
                        </a:gs>
                        <a:gs pos="100000">
                          <a:schemeClr val="bg1"/>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400" b="1" i="0" u="none" strike="noStrike" cap="none" normalizeH="0" baseline="0">
                          <a:ln>
                            <a:noFill/>
                          </a:ln>
                          <a:solidFill>
                            <a:srgbClr val="990000"/>
                          </a:solidFill>
                          <a:effectLst/>
                          <a:latin typeface="Tahoma" pitchFamily="34" charset="0"/>
                          <a:ea typeface="宋体" pitchFamily="2" charset="-122"/>
                        </a:rPr>
                        <a:t>范围</a:t>
                      </a:r>
                      <a:endParaRPr kumimoji="0" lang="en-US" altLang="zh-CN" sz="2400" b="1" i="0" u="none" strike="noStrike" cap="none" normalizeH="0" baseline="0">
                        <a:ln>
                          <a:noFill/>
                        </a:ln>
                        <a:solidFill>
                          <a:srgbClr val="990000"/>
                        </a:solidFill>
                        <a:effectLst/>
                        <a:latin typeface="Tahom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rgbClr val="CCFF33"/>
                        </a:gs>
                        <a:gs pos="100000">
                          <a:schemeClr val="bg1"/>
                        </a:gs>
                      </a:gsLst>
                      <a:lin ang="5400000" scaled="1"/>
                    </a:gradFill>
                  </a:tcPr>
                </a:tc>
                <a:extLst>
                  <a:ext uri="{0D108BD9-81ED-4DB2-BD59-A6C34878D82A}">
                    <a16:rowId xmlns:a16="http://schemas.microsoft.com/office/drawing/2014/main" val="10000"/>
                  </a:ext>
                </a:extLst>
              </a:tr>
              <a:tr h="4191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char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1">
                      <a:gsLst>
                        <a:gs pos="0">
                          <a:srgbClr val="CCFF33"/>
                        </a:gs>
                        <a:gs pos="100000">
                          <a:schemeClr val="bg1"/>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400" b="0" i="0" u="none" strike="noStrike" cap="none" normalizeH="0" baseline="0">
                          <a:ln>
                            <a:noFill/>
                          </a:ln>
                          <a:solidFill>
                            <a:schemeClr val="tx1"/>
                          </a:solidFill>
                          <a:effectLst/>
                          <a:latin typeface="Tahoma"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1">
                      <a:gsLst>
                        <a:gs pos="0">
                          <a:srgbClr val="CCFF33"/>
                        </a:gs>
                        <a:gs pos="100000">
                          <a:schemeClr val="bg1"/>
                        </a:gs>
                      </a:gsLst>
                      <a:lin ang="5400000" scaled="1"/>
                    </a:gra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en-US" sz="2400" b="0" i="0" u="none" strike="noStrike" cap="none" normalizeH="0" baseline="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1">
                      <a:gsLst>
                        <a:gs pos="0">
                          <a:srgbClr val="CCFF33"/>
                        </a:gs>
                        <a:gs pos="100000">
                          <a:schemeClr val="bg1"/>
                        </a:gs>
                      </a:gsLst>
                      <a:lin ang="5400000" scaled="1"/>
                    </a:gradFill>
                  </a:tcPr>
                </a:tc>
                <a:extLst>
                  <a:ext uri="{0D108BD9-81ED-4DB2-BD59-A6C34878D82A}">
                    <a16:rowId xmlns:a16="http://schemas.microsoft.com/office/drawing/2014/main" val="10001"/>
                  </a:ext>
                </a:extLst>
              </a:tr>
            </a:tbl>
          </a:graphicData>
        </a:graphic>
      </p:graphicFrame>
      <p:sp>
        <p:nvSpPr>
          <p:cNvPr id="123948" name="Rectangle 44"/>
          <p:cNvSpPr>
            <a:spLocks noChangeArrowheads="1"/>
          </p:cNvSpPr>
          <p:nvPr/>
        </p:nvSpPr>
        <p:spPr bwMode="auto">
          <a:xfrm>
            <a:off x="3492500" y="4581525"/>
            <a:ext cx="5327650" cy="954088"/>
          </a:xfrm>
          <a:prstGeom prst="rect">
            <a:avLst/>
          </a:prstGeom>
          <a:noFill/>
          <a:ln w="57150" cmpd="thickThin">
            <a:solidFill>
              <a:srgbClr val="CCFF66"/>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eaLnBrk="1" hangingPunct="1"/>
            <a:r>
              <a:rPr lang="zh-CN" altLang="en-US" sz="2800" b="1">
                <a:latin typeface="微软雅黑" pitchFamily="34" charset="-122"/>
                <a:ea typeface="微软雅黑" pitchFamily="34" charset="-122"/>
              </a:rPr>
              <a:t>在一定范围内，整型数据和字符型数据可以混用。</a:t>
            </a:r>
            <a:endParaRPr lang="en-US" altLang="zh-CN" sz="2800" b="1">
              <a:latin typeface="微软雅黑" pitchFamily="34" charset="-122"/>
              <a:ea typeface="微软雅黑" pitchFamily="34" charset="-122"/>
            </a:endParaRPr>
          </a:p>
        </p:txBody>
      </p:sp>
      <p:pic>
        <p:nvPicPr>
          <p:cNvPr id="123949" name="Picture 45" descr="002712hanguorenwu2_0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904485">
            <a:off x="7599363" y="2544763"/>
            <a:ext cx="1192212" cy="168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92" name="Rectangle 4"/>
          <p:cNvSpPr>
            <a:spLocks noChangeArrowheads="1"/>
          </p:cNvSpPr>
          <p:nvPr/>
        </p:nvSpPr>
        <p:spPr bwMode="auto">
          <a:xfrm>
            <a:off x="0" y="533400"/>
            <a:ext cx="25603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常量</a:t>
            </a:r>
          </a:p>
        </p:txBody>
      </p:sp>
    </p:spTree>
    <p:extLst>
      <p:ext uri="{BB962C8B-B14F-4D97-AF65-F5344CB8AC3E}">
        <p14:creationId xmlns:p14="http://schemas.microsoft.com/office/powerpoint/2010/main" val="25779076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390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7" presetClass="entr" presetSubtype="8" fill="hold" grpId="0" nodeType="clickEffect">
                                  <p:stCondLst>
                                    <p:cond delay="0"/>
                                  </p:stCondLst>
                                  <p:iterate type="wd">
                                    <p:tmPct val="100000"/>
                                  </p:iterate>
                                  <p:childTnLst>
                                    <p:set>
                                      <p:cBhvr>
                                        <p:cTn id="10" dur="1" fill="hold">
                                          <p:stCondLst>
                                            <p:cond delay="0"/>
                                          </p:stCondLst>
                                        </p:cTn>
                                        <p:tgtEl>
                                          <p:spTgt spid="123919"/>
                                        </p:tgtEl>
                                        <p:attrNameLst>
                                          <p:attrName>style.visibility</p:attrName>
                                        </p:attrNameLst>
                                      </p:cBhvr>
                                      <p:to>
                                        <p:strVal val="visible"/>
                                      </p:to>
                                    </p:set>
                                    <p:anim calcmode="lin" valueType="num">
                                      <p:cBhvr>
                                        <p:cTn id="11" dur="300" fill="hold"/>
                                        <p:tgtEl>
                                          <p:spTgt spid="123919"/>
                                        </p:tgtEl>
                                        <p:attrNameLst>
                                          <p:attrName>ppt_x</p:attrName>
                                        </p:attrNameLst>
                                      </p:cBhvr>
                                      <p:tavLst>
                                        <p:tav tm="0">
                                          <p:val>
                                            <p:strVal val="#ppt_x-#ppt_w/2"/>
                                          </p:val>
                                        </p:tav>
                                        <p:tav tm="100000">
                                          <p:val>
                                            <p:strVal val="#ppt_x"/>
                                          </p:val>
                                        </p:tav>
                                      </p:tavLst>
                                    </p:anim>
                                    <p:anim calcmode="lin" valueType="num">
                                      <p:cBhvr>
                                        <p:cTn id="12" dur="300" fill="hold"/>
                                        <p:tgtEl>
                                          <p:spTgt spid="123919"/>
                                        </p:tgtEl>
                                        <p:attrNameLst>
                                          <p:attrName>ppt_y</p:attrName>
                                        </p:attrNameLst>
                                      </p:cBhvr>
                                      <p:tavLst>
                                        <p:tav tm="0">
                                          <p:val>
                                            <p:strVal val="#ppt_y"/>
                                          </p:val>
                                        </p:tav>
                                        <p:tav tm="100000">
                                          <p:val>
                                            <p:strVal val="#ppt_y"/>
                                          </p:val>
                                        </p:tav>
                                      </p:tavLst>
                                    </p:anim>
                                    <p:anim calcmode="lin" valueType="num">
                                      <p:cBhvr>
                                        <p:cTn id="13" dur="300" fill="hold"/>
                                        <p:tgtEl>
                                          <p:spTgt spid="123919"/>
                                        </p:tgtEl>
                                        <p:attrNameLst>
                                          <p:attrName>ppt_w</p:attrName>
                                        </p:attrNameLst>
                                      </p:cBhvr>
                                      <p:tavLst>
                                        <p:tav tm="0">
                                          <p:val>
                                            <p:fltVal val="0"/>
                                          </p:val>
                                        </p:tav>
                                        <p:tav tm="100000">
                                          <p:val>
                                            <p:strVal val="#ppt_w"/>
                                          </p:val>
                                        </p:tav>
                                      </p:tavLst>
                                    </p:anim>
                                    <p:anim calcmode="lin" valueType="num">
                                      <p:cBhvr>
                                        <p:cTn id="14" dur="300" fill="hold"/>
                                        <p:tgtEl>
                                          <p:spTgt spid="123919"/>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23921"/>
                                        </p:tgtEl>
                                        <p:attrNameLst>
                                          <p:attrName>style.visibility</p:attrName>
                                        </p:attrNameLst>
                                      </p:cBhvr>
                                      <p:to>
                                        <p:strVal val="visible"/>
                                      </p:to>
                                    </p:set>
                                  </p:childTnLst>
                                </p:cTn>
                              </p:par>
                            </p:childTnLst>
                          </p:cTn>
                        </p:par>
                        <p:par>
                          <p:cTn id="19" fill="hold" nodeType="afterGroup">
                            <p:stCondLst>
                              <p:cond delay="500"/>
                            </p:stCondLst>
                            <p:childTnLst>
                              <p:par>
                                <p:cTn id="20" presetID="1" presetClass="entr" presetSubtype="0" fill="hold" grpId="0" nodeType="afterEffect">
                                  <p:stCondLst>
                                    <p:cond delay="0"/>
                                  </p:stCondLst>
                                  <p:iterate type="wd">
                                    <p:tmAbs val="300"/>
                                  </p:iterate>
                                  <p:childTnLst>
                                    <p:set>
                                      <p:cBhvr>
                                        <p:cTn id="21" dur="1" fill="hold">
                                          <p:stCondLst>
                                            <p:cond delay="299"/>
                                          </p:stCondLst>
                                        </p:cTn>
                                        <p:tgtEl>
                                          <p:spTgt spid="123920"/>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123909"/>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123910"/>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123911"/>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123912"/>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123913"/>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8" presetClass="entr" presetSubtype="16" fill="hold" grpId="0" nodeType="clickEffect">
                                  <p:stCondLst>
                                    <p:cond delay="0"/>
                                  </p:stCondLst>
                                  <p:childTnLst>
                                    <p:set>
                                      <p:cBhvr>
                                        <p:cTn id="45" dur="1" fill="hold">
                                          <p:stCondLst>
                                            <p:cond delay="0"/>
                                          </p:stCondLst>
                                        </p:cTn>
                                        <p:tgtEl>
                                          <p:spTgt spid="123948"/>
                                        </p:tgtEl>
                                        <p:attrNameLst>
                                          <p:attrName>style.visibility</p:attrName>
                                        </p:attrNameLst>
                                      </p:cBhvr>
                                      <p:to>
                                        <p:strVal val="visible"/>
                                      </p:to>
                                    </p:set>
                                    <p:animEffect transition="in" filter="diamond(in)">
                                      <p:cBhvr>
                                        <p:cTn id="46" dur="2000"/>
                                        <p:tgtEl>
                                          <p:spTgt spid="123948"/>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nodeType="clickEffect">
                                  <p:stCondLst>
                                    <p:cond delay="0"/>
                                  </p:stCondLst>
                                  <p:childTnLst>
                                    <p:set>
                                      <p:cBhvr>
                                        <p:cTn id="50" dur="1" fill="hold">
                                          <p:stCondLst>
                                            <p:cond delay="0"/>
                                          </p:stCondLst>
                                        </p:cTn>
                                        <p:tgtEl>
                                          <p:spTgt spid="123949"/>
                                        </p:tgtEl>
                                        <p:attrNameLst>
                                          <p:attrName>style.visibility</p:attrName>
                                        </p:attrNameLst>
                                      </p:cBhvr>
                                      <p:to>
                                        <p:strVal val="visible"/>
                                      </p:to>
                                    </p:set>
                                    <p:anim calcmode="lin" valueType="num">
                                      <p:cBhvr additive="base">
                                        <p:cTn id="51" dur="500" fill="hold"/>
                                        <p:tgtEl>
                                          <p:spTgt spid="123949"/>
                                        </p:tgtEl>
                                        <p:attrNameLst>
                                          <p:attrName>ppt_x</p:attrName>
                                        </p:attrNameLst>
                                      </p:cBhvr>
                                      <p:tavLst>
                                        <p:tav tm="0">
                                          <p:val>
                                            <p:strVal val="#ppt_x"/>
                                          </p:val>
                                        </p:tav>
                                        <p:tav tm="100000">
                                          <p:val>
                                            <p:strVal val="#ppt_x"/>
                                          </p:val>
                                        </p:tav>
                                      </p:tavLst>
                                    </p:anim>
                                    <p:anim calcmode="lin" valueType="num">
                                      <p:cBhvr additive="base">
                                        <p:cTn id="52" dur="500" fill="hold"/>
                                        <p:tgtEl>
                                          <p:spTgt spid="1239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8" grpId="0"/>
      <p:bldP spid="123909" grpId="0"/>
      <p:bldP spid="123910" grpId="0" animBg="1"/>
      <p:bldP spid="123911" grpId="0" animBg="1"/>
      <p:bldP spid="123912" grpId="0" animBg="1"/>
      <p:bldP spid="123913" grpId="0" animBg="1"/>
      <p:bldP spid="123919" grpId="0"/>
      <p:bldP spid="123920" grpId="0" animBg="1"/>
      <p:bldP spid="123921" grpId="0" animBg="1"/>
      <p:bldP spid="123948"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body" sz="half" idx="1"/>
          </p:nvPr>
        </p:nvSpPr>
        <p:spPr>
          <a:xfrm>
            <a:off x="0" y="1196975"/>
            <a:ext cx="9144000" cy="5508625"/>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000" b="1" dirty="0">
                <a:solidFill>
                  <a:schemeClr val="tx2"/>
                </a:solidFill>
                <a:latin typeface="幼圆" pitchFamily="49" charset="-122"/>
                <a:ea typeface="幼圆" pitchFamily="49" charset="-122"/>
                <a:sym typeface="Symbol" pitchFamily="18" charset="2"/>
              </a:rPr>
              <a:t>     ( ),[ ],.,-&gt;</a:t>
            </a:r>
          </a:p>
          <a:p>
            <a:pPr marL="0" indent="0" eaLnBrk="1" hangingPunct="1">
              <a:buClr>
                <a:schemeClr val="tx1"/>
              </a:buClr>
              <a:buSzPct val="60000"/>
              <a:buFont typeface="宋体" pitchFamily="2" charset="-122"/>
              <a:buNone/>
            </a:pPr>
            <a:r>
              <a:rPr kumimoji="1" lang="zh-CN" altLang="en-US" sz="2000" b="1" dirty="0">
                <a:solidFill>
                  <a:schemeClr val="tx2"/>
                </a:solidFill>
                <a:latin typeface="幼圆" pitchFamily="49" charset="-122"/>
                <a:ea typeface="幼圆" pitchFamily="49" charset="-122"/>
                <a:sym typeface="Symbol" pitchFamily="18" charset="2"/>
              </a:rPr>
              <a:t>高    ~, ! ,++ ,--, -, &amp;, *,(类型), </a:t>
            </a:r>
            <a:r>
              <a:rPr kumimoji="1" lang="en-US" altLang="zh-CN" sz="2000" b="1" dirty="0" err="1">
                <a:solidFill>
                  <a:schemeClr val="tx2"/>
                </a:solidFill>
                <a:latin typeface="幼圆" pitchFamily="49" charset="-122"/>
                <a:ea typeface="幼圆" pitchFamily="49" charset="-122"/>
                <a:sym typeface="Symbol" pitchFamily="18" charset="2"/>
              </a:rPr>
              <a:t>sizeof</a:t>
            </a:r>
            <a:r>
              <a:rPr kumimoji="1" lang="en-US" altLang="zh-CN" sz="2000" b="1" dirty="0">
                <a:solidFill>
                  <a:schemeClr val="tx2"/>
                </a:solidFill>
                <a:latin typeface="幼圆" pitchFamily="49" charset="-122"/>
                <a:ea typeface="幼圆" pitchFamily="49" charset="-122"/>
                <a:sym typeface="Symbol" pitchFamily="18" charset="2"/>
              </a:rPr>
              <a:t> (</a:t>
            </a:r>
            <a:r>
              <a:rPr kumimoji="1" lang="zh-CN" altLang="en-US" sz="2000" b="1" dirty="0">
                <a:solidFill>
                  <a:schemeClr val="tx2"/>
                </a:solidFill>
                <a:latin typeface="幼圆" pitchFamily="49" charset="-122"/>
                <a:ea typeface="幼圆" pitchFamily="49" charset="-122"/>
                <a:sym typeface="Symbol" pitchFamily="18" charset="2"/>
              </a:rPr>
              <a:t>右结合)</a:t>
            </a:r>
          </a:p>
          <a:p>
            <a:pPr marL="0" indent="0" eaLnBrk="1" hangingPunct="1">
              <a:buClr>
                <a:schemeClr val="tx1"/>
              </a:buClr>
              <a:buSzPct val="60000"/>
              <a:buFont typeface="宋体" pitchFamily="2" charset="-122"/>
              <a:buNone/>
            </a:pPr>
            <a:r>
              <a:rPr kumimoji="1" lang="zh-CN" altLang="en-US" sz="2000" b="1" dirty="0">
                <a:solidFill>
                  <a:schemeClr val="tx2"/>
                </a:solidFill>
                <a:latin typeface="幼圆" pitchFamily="49" charset="-122"/>
                <a:ea typeface="幼圆" pitchFamily="49" charset="-122"/>
                <a:sym typeface="Symbol" pitchFamily="18" charset="2"/>
              </a:rPr>
              <a:t>      * ,/, %              算术运算符</a:t>
            </a:r>
          </a:p>
          <a:p>
            <a:pPr marL="0" indent="0" eaLnBrk="1" hangingPunct="1">
              <a:buClr>
                <a:schemeClr val="tx1"/>
              </a:buClr>
              <a:buSzPct val="60000"/>
              <a:buFont typeface="宋体" pitchFamily="2" charset="-122"/>
              <a:buNone/>
            </a:pPr>
            <a:r>
              <a:rPr kumimoji="1" lang="zh-CN" altLang="en-US" sz="2000" b="1" dirty="0">
                <a:solidFill>
                  <a:schemeClr val="tx2"/>
                </a:solidFill>
                <a:latin typeface="幼圆" pitchFamily="49" charset="-122"/>
                <a:ea typeface="幼圆" pitchFamily="49" charset="-122"/>
                <a:sym typeface="Symbol" pitchFamily="18" charset="2"/>
              </a:rPr>
              <a:t>      +, -</a:t>
            </a:r>
          </a:p>
          <a:p>
            <a:pPr marL="0" indent="0" eaLnBrk="1" hangingPunct="1">
              <a:buClr>
                <a:schemeClr val="tx1"/>
              </a:buClr>
              <a:buSzPct val="60000"/>
              <a:buFont typeface="宋体" pitchFamily="2" charset="-122"/>
              <a:buNone/>
            </a:pPr>
            <a:r>
              <a:rPr kumimoji="1" lang="zh-CN" altLang="en-US" sz="2000" b="1" dirty="0">
                <a:solidFill>
                  <a:schemeClr val="tx2"/>
                </a:solidFill>
                <a:latin typeface="幼圆" pitchFamily="49" charset="-122"/>
                <a:ea typeface="幼圆" pitchFamily="49" charset="-122"/>
                <a:sym typeface="Symbol" pitchFamily="18" charset="2"/>
              </a:rPr>
              <a:t>     &lt;&lt; ,&gt;&gt;                移位运算符</a:t>
            </a:r>
          </a:p>
          <a:p>
            <a:pPr marL="0" indent="0" eaLnBrk="1" hangingPunct="1">
              <a:buClr>
                <a:schemeClr val="tx1"/>
              </a:buClr>
              <a:buSzPct val="60000"/>
              <a:buFont typeface="宋体" pitchFamily="2" charset="-122"/>
              <a:buNone/>
            </a:pPr>
            <a:r>
              <a:rPr kumimoji="1" lang="zh-CN" altLang="en-US" sz="2000" b="1" dirty="0">
                <a:solidFill>
                  <a:schemeClr val="tx2"/>
                </a:solidFill>
                <a:latin typeface="幼圆" pitchFamily="49" charset="-122"/>
                <a:ea typeface="幼圆" pitchFamily="49" charset="-122"/>
                <a:sym typeface="Symbol" pitchFamily="18" charset="2"/>
              </a:rPr>
              <a:t>      &lt;, &lt;=, &gt;, &gt;=         关系运算符</a:t>
            </a:r>
          </a:p>
          <a:p>
            <a:pPr marL="0" indent="0" eaLnBrk="1" hangingPunct="1">
              <a:buClr>
                <a:schemeClr val="tx1"/>
              </a:buClr>
              <a:buSzPct val="60000"/>
              <a:buFont typeface="宋体" pitchFamily="2" charset="-122"/>
              <a:buNone/>
            </a:pPr>
            <a:r>
              <a:rPr kumimoji="1" lang="zh-CN" altLang="en-US" sz="2000" b="1" dirty="0">
                <a:solidFill>
                  <a:schemeClr val="tx2"/>
                </a:solidFill>
                <a:latin typeface="幼圆" pitchFamily="49" charset="-122"/>
                <a:ea typeface="幼圆" pitchFamily="49" charset="-122"/>
                <a:sym typeface="Symbol" pitchFamily="18" charset="2"/>
              </a:rPr>
              <a:t>      == ,!=      </a:t>
            </a:r>
          </a:p>
          <a:p>
            <a:pPr marL="0" indent="0" eaLnBrk="1" hangingPunct="1">
              <a:buClr>
                <a:schemeClr val="tx1"/>
              </a:buClr>
              <a:buSzPct val="60000"/>
              <a:buFont typeface="宋体" pitchFamily="2" charset="-122"/>
              <a:buNone/>
            </a:pPr>
            <a:r>
              <a:rPr kumimoji="1" lang="zh-CN" altLang="en-US" sz="2000" b="1" dirty="0">
                <a:solidFill>
                  <a:schemeClr val="tx2"/>
                </a:solidFill>
                <a:latin typeface="幼圆" pitchFamily="49" charset="-122"/>
                <a:ea typeface="幼圆" pitchFamily="49" charset="-122"/>
                <a:sym typeface="Symbol" pitchFamily="18" charset="2"/>
              </a:rPr>
              <a:t>      &amp;                    位运算符</a:t>
            </a:r>
          </a:p>
          <a:p>
            <a:pPr marL="0" indent="0" eaLnBrk="1" hangingPunct="1">
              <a:buClr>
                <a:schemeClr val="tx1"/>
              </a:buClr>
              <a:buSzPct val="60000"/>
              <a:buFont typeface="宋体" pitchFamily="2" charset="-122"/>
              <a:buNone/>
            </a:pPr>
            <a:r>
              <a:rPr kumimoji="1" lang="zh-CN" altLang="en-US" sz="2000" b="1" dirty="0">
                <a:solidFill>
                  <a:schemeClr val="tx2"/>
                </a:solidFill>
                <a:latin typeface="幼圆" pitchFamily="49" charset="-122"/>
                <a:ea typeface="幼圆" pitchFamily="49" charset="-122"/>
                <a:sym typeface="Symbol" pitchFamily="18" charset="2"/>
              </a:rPr>
              <a:t>      ^</a:t>
            </a:r>
          </a:p>
          <a:p>
            <a:pPr marL="0" indent="0" eaLnBrk="1" hangingPunct="1">
              <a:buClr>
                <a:schemeClr val="tx1"/>
              </a:buClr>
              <a:buSzPct val="60000"/>
              <a:buFont typeface="宋体" pitchFamily="2" charset="-122"/>
              <a:buNone/>
            </a:pPr>
            <a:r>
              <a:rPr kumimoji="1" lang="zh-CN" altLang="en-US" sz="2000" b="1" dirty="0">
                <a:solidFill>
                  <a:schemeClr val="tx2"/>
                </a:solidFill>
                <a:latin typeface="幼圆" pitchFamily="49" charset="-122"/>
                <a:ea typeface="幼圆" pitchFamily="49" charset="-122"/>
                <a:sym typeface="Symbol" pitchFamily="18" charset="2"/>
              </a:rPr>
              <a:t>      |</a:t>
            </a:r>
          </a:p>
          <a:p>
            <a:pPr marL="0" indent="0" eaLnBrk="1" hangingPunct="1">
              <a:buClr>
                <a:schemeClr val="tx1"/>
              </a:buClr>
              <a:buSzPct val="60000"/>
              <a:buFont typeface="宋体" pitchFamily="2" charset="-122"/>
              <a:buNone/>
            </a:pPr>
            <a:r>
              <a:rPr kumimoji="1" lang="zh-CN" altLang="en-US" sz="2000" b="1" dirty="0">
                <a:solidFill>
                  <a:schemeClr val="tx2"/>
                </a:solidFill>
                <a:latin typeface="幼圆" pitchFamily="49" charset="-122"/>
                <a:ea typeface="幼圆" pitchFamily="49" charset="-122"/>
                <a:sym typeface="Symbol" pitchFamily="18" charset="2"/>
              </a:rPr>
              <a:t>      &amp;&amp;                   逻辑运算符</a:t>
            </a:r>
          </a:p>
          <a:p>
            <a:pPr marL="0" indent="0" eaLnBrk="1" hangingPunct="1">
              <a:buClr>
                <a:schemeClr val="tx1"/>
              </a:buClr>
              <a:buSzPct val="60000"/>
              <a:buFont typeface="宋体" pitchFamily="2" charset="-122"/>
              <a:buNone/>
            </a:pPr>
            <a:r>
              <a:rPr kumimoji="1" lang="zh-CN" altLang="en-US" sz="2000" b="1" dirty="0">
                <a:solidFill>
                  <a:schemeClr val="tx2"/>
                </a:solidFill>
                <a:latin typeface="幼圆" pitchFamily="49" charset="-122"/>
                <a:ea typeface="幼圆" pitchFamily="49" charset="-122"/>
                <a:sym typeface="Symbol" pitchFamily="18" charset="2"/>
              </a:rPr>
              <a:t>      || </a:t>
            </a:r>
          </a:p>
          <a:p>
            <a:pPr marL="0" indent="0" eaLnBrk="1" hangingPunct="1">
              <a:buClr>
                <a:schemeClr val="tx1"/>
              </a:buClr>
              <a:buSzPct val="60000"/>
              <a:buFont typeface="宋体" pitchFamily="2" charset="-122"/>
              <a:buNone/>
            </a:pPr>
            <a:r>
              <a:rPr kumimoji="1" lang="zh-CN" altLang="en-US" sz="2000" b="1" dirty="0">
                <a:solidFill>
                  <a:schemeClr val="tx2"/>
                </a:solidFill>
                <a:latin typeface="幼圆" pitchFamily="49" charset="-122"/>
                <a:ea typeface="幼圆" pitchFamily="49" charset="-122"/>
                <a:sym typeface="Symbol" pitchFamily="18" charset="2"/>
              </a:rPr>
              <a:t>      ?  :                                (右结合)</a:t>
            </a:r>
          </a:p>
          <a:p>
            <a:pPr marL="0" indent="0" eaLnBrk="1" hangingPunct="1">
              <a:buClr>
                <a:schemeClr val="tx1"/>
              </a:buClr>
              <a:buSzPct val="60000"/>
              <a:buFont typeface="宋体" pitchFamily="2" charset="-122"/>
              <a:buNone/>
            </a:pPr>
            <a:r>
              <a:rPr kumimoji="1" lang="zh-CN" altLang="en-US" sz="2000" b="1" dirty="0">
                <a:solidFill>
                  <a:schemeClr val="tx2"/>
                </a:solidFill>
                <a:latin typeface="幼圆" pitchFamily="49" charset="-122"/>
                <a:ea typeface="幼圆" pitchFamily="49" charset="-122"/>
                <a:sym typeface="Symbol" pitchFamily="18" charset="2"/>
              </a:rPr>
              <a:t>      = (+=,-=,...)                       (右结合)</a:t>
            </a:r>
          </a:p>
          <a:p>
            <a:pPr marL="0" indent="0" eaLnBrk="1" hangingPunct="1">
              <a:buClr>
                <a:schemeClr val="tx1"/>
              </a:buClr>
              <a:buSzPct val="60000"/>
              <a:buFont typeface="宋体" pitchFamily="2" charset="-122"/>
              <a:buNone/>
            </a:pPr>
            <a:r>
              <a:rPr kumimoji="1" lang="zh-CN" altLang="en-US" sz="2000" b="1" dirty="0">
                <a:solidFill>
                  <a:schemeClr val="tx2"/>
                </a:solidFill>
                <a:latin typeface="幼圆" pitchFamily="49" charset="-122"/>
                <a:ea typeface="幼圆" pitchFamily="49" charset="-122"/>
                <a:sym typeface="Symbol" pitchFamily="18" charset="2"/>
              </a:rPr>
              <a:t>      ,</a:t>
            </a:r>
            <a:endParaRPr kumimoji="1" lang="en-US" altLang="zh-CN" sz="2000" b="1" dirty="0">
              <a:solidFill>
                <a:schemeClr val="tx2"/>
              </a:solidFill>
              <a:latin typeface="幼圆" pitchFamily="49" charset="-122"/>
              <a:ea typeface="幼圆" pitchFamily="49" charset="-122"/>
              <a:sym typeface="Symbol" pitchFamily="18" charset="2"/>
            </a:endParaRPr>
          </a:p>
        </p:txBody>
      </p:sp>
      <p:sp>
        <p:nvSpPr>
          <p:cNvPr id="16387" name="Line 4"/>
          <p:cNvSpPr>
            <a:spLocks noChangeShapeType="1"/>
          </p:cNvSpPr>
          <p:nvPr/>
        </p:nvSpPr>
        <p:spPr bwMode="auto">
          <a:xfrm flipV="1">
            <a:off x="457200" y="1371600"/>
            <a:ext cx="0" cy="47244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6388" name="Rectangle 4"/>
          <p:cNvSpPr>
            <a:spLocks noChangeArrowheads="1"/>
          </p:cNvSpPr>
          <p:nvPr/>
        </p:nvSpPr>
        <p:spPr bwMode="auto">
          <a:xfrm>
            <a:off x="0" y="533400"/>
            <a:ext cx="291938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运算符</a:t>
            </a:r>
          </a:p>
        </p:txBody>
      </p:sp>
    </p:spTree>
    <p:extLst>
      <p:ext uri="{BB962C8B-B14F-4D97-AF65-F5344CB8AC3E}">
        <p14:creationId xmlns:p14="http://schemas.microsoft.com/office/powerpoint/2010/main" val="1541484998"/>
      </p:ext>
    </p:extLst>
  </p:cSld>
  <p:clrMapOvr>
    <a:masterClrMapping/>
  </p:clrMapOvr>
  <p:transition>
    <p:wedge/>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p:cNvSpPr>
            <a:spLocks noGrp="1" noChangeArrowheads="1"/>
          </p:cNvSpPr>
          <p:nvPr>
            <p:ph type="body" sz="half" idx="1"/>
          </p:nvPr>
        </p:nvSpPr>
        <p:spPr>
          <a:xfrm>
            <a:off x="0" y="990600"/>
            <a:ext cx="9144000" cy="5780088"/>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 i=1,j=3   ++i+ j-- +i++</a:t>
            </a:r>
            <a:r>
              <a:rPr kumimoji="1" lang="zh-CN" altLang="en-US" sz="2400" b="1">
                <a:solidFill>
                  <a:schemeClr val="tx2"/>
                </a:solidFill>
                <a:latin typeface="幼圆" pitchFamily="49" charset="-122"/>
                <a:ea typeface="幼圆" pitchFamily="49" charset="-122"/>
                <a:sym typeface="Symbol" pitchFamily="18" charset="2"/>
              </a:rPr>
              <a:t>的值是7    </a:t>
            </a:r>
            <a:r>
              <a:rPr kumimoji="1" lang="en-US" altLang="zh-CN" sz="2400" b="1">
                <a:solidFill>
                  <a:schemeClr val="tx2"/>
                </a:solidFill>
                <a:latin typeface="幼圆" pitchFamily="49" charset="-122"/>
                <a:ea typeface="幼圆" pitchFamily="49" charset="-122"/>
                <a:sym typeface="Symbol" pitchFamily="18" charset="2"/>
              </a:rPr>
              <a:t>i=3  j=2</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 x=3,y=4;  ++x==y--?x++:--y</a:t>
            </a:r>
            <a:r>
              <a:rPr kumimoji="1" lang="zh-CN" altLang="en-US" sz="2400" b="1">
                <a:solidFill>
                  <a:schemeClr val="tx2"/>
                </a:solidFill>
                <a:latin typeface="幼圆" pitchFamily="49" charset="-122"/>
                <a:ea typeface="幼圆" pitchFamily="49" charset="-122"/>
                <a:sym typeface="Symbol" pitchFamily="18" charset="2"/>
              </a:rPr>
              <a:t>的值是4</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sym typeface="Symbol" pitchFamily="18" charset="2"/>
              </a:rPr>
              <a:t>x=5  y=3</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 5/2</a:t>
            </a:r>
            <a:r>
              <a:rPr kumimoji="1" lang="zh-CN" altLang="en-US" sz="2400" b="1">
                <a:solidFill>
                  <a:schemeClr val="tx2"/>
                </a:solidFill>
                <a:latin typeface="幼圆" pitchFamily="49" charset="-122"/>
                <a:ea typeface="幼圆" pitchFamily="49" charset="-122"/>
                <a:sym typeface="Symbol" pitchFamily="18" charset="2"/>
              </a:rPr>
              <a:t>的值是2        5/2.0的值是2.5 （整数相除）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 </a:t>
            </a:r>
            <a:r>
              <a:rPr kumimoji="1" lang="en-US" altLang="zh-CN" sz="2400" b="1">
                <a:solidFill>
                  <a:schemeClr val="tx2"/>
                </a:solidFill>
                <a:latin typeface="幼圆" pitchFamily="49" charset="-122"/>
                <a:ea typeface="幼圆" pitchFamily="49" charset="-122"/>
                <a:sym typeface="Symbol" pitchFamily="18" charset="2"/>
              </a:rPr>
              <a:t>printf(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%d</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,5.4%2); </a:t>
            </a:r>
            <a:r>
              <a:rPr kumimoji="1" lang="zh-CN" altLang="en-US" sz="2400" b="1">
                <a:solidFill>
                  <a:schemeClr val="tx2"/>
                </a:solidFill>
                <a:latin typeface="幼圆" pitchFamily="49" charset="-122"/>
                <a:ea typeface="幼圆" pitchFamily="49" charset="-122"/>
                <a:sym typeface="Symbol" pitchFamily="18" charset="2"/>
              </a:rPr>
              <a:t>出错（求余，整数）</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sym typeface="Symbol" pitchFamily="18" charset="2"/>
              </a:rPr>
              <a:t>printf(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%d</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,(int)5.4%2); </a:t>
            </a:r>
            <a:r>
              <a:rPr kumimoji="1" lang="zh-CN" altLang="en-US" sz="2400" b="1">
                <a:solidFill>
                  <a:schemeClr val="tx2"/>
                </a:solidFill>
                <a:latin typeface="幼圆" pitchFamily="49" charset="-122"/>
                <a:ea typeface="幼圆" pitchFamily="49" charset="-122"/>
                <a:sym typeface="Symbol" pitchFamily="18" charset="2"/>
              </a:rPr>
              <a:t>的执行结果是 1</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 </a:t>
            </a:r>
            <a:r>
              <a:rPr kumimoji="1" lang="en-US" altLang="zh-CN" sz="2400" b="1">
                <a:solidFill>
                  <a:schemeClr val="tx2"/>
                </a:solidFill>
                <a:latin typeface="幼圆" pitchFamily="49" charset="-122"/>
                <a:ea typeface="幼圆" pitchFamily="49" charset="-122"/>
                <a:sym typeface="Symbol" pitchFamily="18" charset="2"/>
              </a:rPr>
              <a:t>a=3,b=10    if(a=b) b=a+5;     a=10    b=15   </a:t>
            </a:r>
            <a:r>
              <a:rPr kumimoji="1" lang="zh-CN" altLang="en-US"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t>
            </a:r>
            <a:r>
              <a:rPr kumimoji="1" lang="zh-CN" altLang="en-US" sz="2400" b="1">
                <a:solidFill>
                  <a:schemeClr val="tx2"/>
                </a:solidFill>
                <a:latin typeface="幼圆" pitchFamily="49" charset="-122"/>
                <a:ea typeface="幼圆" pitchFamily="49" charset="-122"/>
                <a:sym typeface="Symbol" pitchFamily="18" charset="2"/>
              </a:rPr>
              <a:t>）</a:t>
            </a:r>
            <a:endParaRPr kumimoji="1" lang="en-US" altLang="zh-CN" sz="2400" b="1">
              <a:solidFill>
                <a:schemeClr val="tx2"/>
              </a:solidFill>
              <a:latin typeface="幼圆" pitchFamily="49" charset="-122"/>
              <a:ea typeface="幼圆" pitchFamily="49" charset="-122"/>
              <a:sym typeface="Symbol" pitchFamily="18" charset="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 a=1,b=2,c=3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a||c-- &amp;&amp; ++b </a:t>
            </a:r>
            <a:r>
              <a:rPr kumimoji="1" lang="zh-CN" altLang="en-US" sz="2400" b="1">
                <a:solidFill>
                  <a:schemeClr val="tx2"/>
                </a:solidFill>
                <a:latin typeface="幼圆" pitchFamily="49" charset="-122"/>
                <a:ea typeface="幼圆" pitchFamily="49" charset="-122"/>
                <a:sym typeface="Symbol" pitchFamily="18" charset="2"/>
              </a:rPr>
              <a:t>的值是1  </a:t>
            </a:r>
            <a:r>
              <a:rPr kumimoji="1" lang="en-US" altLang="zh-CN" sz="2400" b="1">
                <a:solidFill>
                  <a:schemeClr val="tx2"/>
                </a:solidFill>
                <a:latin typeface="幼圆" pitchFamily="49" charset="-122"/>
                <a:ea typeface="幼圆" pitchFamily="49" charset="-122"/>
                <a:sym typeface="Symbol" pitchFamily="18" charset="2"/>
              </a:rPr>
              <a:t>a=1  b=2  c=3</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!a &amp;&amp;(a=c- -)</a:t>
            </a:r>
            <a:r>
              <a:rPr kumimoji="1" lang="zh-CN" altLang="en-US" sz="2400" b="1">
                <a:solidFill>
                  <a:schemeClr val="tx2"/>
                </a:solidFill>
                <a:latin typeface="幼圆" pitchFamily="49" charset="-122"/>
                <a:ea typeface="幼圆" pitchFamily="49" charset="-122"/>
                <a:sym typeface="Symbol" pitchFamily="18" charset="2"/>
              </a:rPr>
              <a:t>的值是0   </a:t>
            </a:r>
            <a:r>
              <a:rPr kumimoji="1" lang="en-US" altLang="zh-CN" sz="2400" b="1">
                <a:solidFill>
                  <a:schemeClr val="tx2"/>
                </a:solidFill>
                <a:latin typeface="幼圆" pitchFamily="49" charset="-122"/>
                <a:ea typeface="幼圆" pitchFamily="49" charset="-122"/>
                <a:sym typeface="Symbol" pitchFamily="18" charset="2"/>
              </a:rPr>
              <a:t>a=1  c=3</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 a=1,b=2,c=3   a+=b-=c*=3+a; a=-9 b=-10 c=12</a:t>
            </a:r>
            <a:r>
              <a:rPr kumimoji="1" lang="zh-CN" altLang="en-US" sz="2400" b="1">
                <a:solidFill>
                  <a:schemeClr val="tx2"/>
                </a:solidFill>
                <a:latin typeface="幼圆" pitchFamily="49" charset="-122"/>
                <a:ea typeface="幼圆" pitchFamily="49" charset="-122"/>
                <a:sym typeface="Symbol" pitchFamily="18" charset="2"/>
              </a:rPr>
              <a:t>（右结合）</a:t>
            </a:r>
            <a:endParaRPr kumimoji="1" lang="en-US" altLang="zh-CN" sz="2400" b="1">
              <a:solidFill>
                <a:schemeClr val="tx2"/>
              </a:solidFill>
              <a:latin typeface="幼圆" pitchFamily="49" charset="-122"/>
              <a:ea typeface="幼圆" pitchFamily="49" charset="-122"/>
              <a:sym typeface="Symbol" pitchFamily="18" charset="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 a=1,b=2   max=a&gt;b?a:b              max =2</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min=a&gt;b?b:</a:t>
            </a:r>
            <a:r>
              <a:rPr kumimoji="1" lang="zh-CN" altLang="en-US"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a&lt;0.2?a:0.2</a:t>
            </a:r>
            <a:r>
              <a:rPr kumimoji="1" lang="zh-CN" altLang="en-US"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sym typeface="Symbol" pitchFamily="18" charset="2"/>
              </a:rPr>
              <a:t>min= 0.2  </a:t>
            </a:r>
          </a:p>
        </p:txBody>
      </p:sp>
      <p:sp>
        <p:nvSpPr>
          <p:cNvPr id="4" name="Rectangle 4"/>
          <p:cNvSpPr>
            <a:spLocks noChangeArrowheads="1"/>
          </p:cNvSpPr>
          <p:nvPr/>
        </p:nvSpPr>
        <p:spPr bwMode="auto">
          <a:xfrm>
            <a:off x="0" y="533400"/>
            <a:ext cx="291938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运算符</a:t>
            </a:r>
          </a:p>
        </p:txBody>
      </p:sp>
    </p:spTree>
    <p:extLst>
      <p:ext uri="{BB962C8B-B14F-4D97-AF65-F5344CB8AC3E}">
        <p14:creationId xmlns:p14="http://schemas.microsoft.com/office/powerpoint/2010/main" val="3216881946"/>
      </p:ext>
    </p:extLst>
  </p:cSld>
  <p:clrMapOvr>
    <a:masterClrMapping/>
  </p:clrMapOvr>
  <p:transition>
    <p:wedge/>
  </p:transition>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body" sz="half" idx="1"/>
          </p:nvPr>
        </p:nvSpPr>
        <p:spPr>
          <a:xfrm>
            <a:off x="0" y="1708150"/>
            <a:ext cx="9144000" cy="4006850"/>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 k=(i=1,++i,i++);           k=2  i=3</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 k=i=1,++i,i++;             k=1  i=3</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 sizeof(int) </a:t>
            </a:r>
            <a:r>
              <a:rPr kumimoji="1" lang="zh-CN" altLang="en-US" sz="2400" b="1">
                <a:solidFill>
                  <a:schemeClr val="tx2"/>
                </a:solidFill>
                <a:latin typeface="幼圆" pitchFamily="49" charset="-122"/>
                <a:ea typeface="幼圆" pitchFamily="49" charset="-122"/>
                <a:sym typeface="Symbol" pitchFamily="18" charset="2"/>
              </a:rPr>
              <a:t>的值是 2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若</a:t>
            </a:r>
            <a:r>
              <a:rPr kumimoji="1" lang="en-US" altLang="zh-CN" sz="2400" b="1">
                <a:solidFill>
                  <a:schemeClr val="tx2"/>
                </a:solidFill>
                <a:latin typeface="幼圆" pitchFamily="49" charset="-122"/>
                <a:ea typeface="幼圆" pitchFamily="49" charset="-122"/>
                <a:sym typeface="Symbol" pitchFamily="18" charset="2"/>
              </a:rPr>
              <a:t>struct stu{int num;</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char name[20];</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}a；</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sizeof(a)</a:t>
            </a:r>
            <a:r>
              <a:rPr kumimoji="1" lang="zh-CN" altLang="en-US" sz="2400" b="1">
                <a:solidFill>
                  <a:schemeClr val="tx2"/>
                </a:solidFill>
                <a:latin typeface="幼圆" pitchFamily="49" charset="-122"/>
                <a:ea typeface="幼圆" pitchFamily="49" charset="-122"/>
                <a:sym typeface="Symbol" pitchFamily="18" charset="2"/>
              </a:rPr>
              <a:t>的值是22  </a:t>
            </a:r>
            <a:r>
              <a:rPr kumimoji="1" lang="en-US" altLang="zh-CN" sz="2400" b="1">
                <a:solidFill>
                  <a:schemeClr val="tx2"/>
                </a:solidFill>
                <a:latin typeface="幼圆" pitchFamily="49" charset="-122"/>
                <a:ea typeface="幼圆" pitchFamily="49" charset="-122"/>
                <a:sym typeface="Symbol" pitchFamily="18" charset="2"/>
              </a:rPr>
              <a:t>sizeof(struct stu) </a:t>
            </a:r>
            <a:r>
              <a:rPr kumimoji="1" lang="zh-CN" altLang="en-US" sz="2400" b="1">
                <a:solidFill>
                  <a:schemeClr val="tx2"/>
                </a:solidFill>
                <a:latin typeface="幼圆" pitchFamily="49" charset="-122"/>
                <a:ea typeface="幼圆" pitchFamily="49" charset="-122"/>
                <a:sym typeface="Symbol" pitchFamily="18" charset="2"/>
              </a:rPr>
              <a:t>的值是22</a:t>
            </a:r>
          </a:p>
          <a:p>
            <a:pPr marL="0" indent="0" eaLnBrk="1" hangingPunct="1">
              <a:buClr>
                <a:schemeClr val="tx1"/>
              </a:buClr>
              <a:buSzPct val="60000"/>
              <a:buFont typeface="宋体" pitchFamily="2" charset="-122"/>
              <a:buNone/>
            </a:pPr>
            <a:endParaRPr kumimoji="1" lang="en-US" altLang="zh-CN" sz="2400" b="1">
              <a:solidFill>
                <a:schemeClr val="tx2"/>
              </a:solidFill>
              <a:latin typeface="幼圆" pitchFamily="49" charset="-122"/>
              <a:ea typeface="幼圆" pitchFamily="49" charset="-122"/>
              <a:sym typeface="Symbol" pitchFamily="18" charset="2"/>
            </a:endParaRPr>
          </a:p>
        </p:txBody>
      </p:sp>
      <p:sp>
        <p:nvSpPr>
          <p:cNvPr id="4" name="Rectangle 4"/>
          <p:cNvSpPr>
            <a:spLocks noChangeArrowheads="1"/>
          </p:cNvSpPr>
          <p:nvPr/>
        </p:nvSpPr>
        <p:spPr bwMode="auto">
          <a:xfrm>
            <a:off x="0" y="533400"/>
            <a:ext cx="291938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运算符</a:t>
            </a:r>
          </a:p>
        </p:txBody>
      </p:sp>
    </p:spTree>
    <p:extLst>
      <p:ext uri="{BB962C8B-B14F-4D97-AF65-F5344CB8AC3E}">
        <p14:creationId xmlns:p14="http://schemas.microsoft.com/office/powerpoint/2010/main" val="4099464005"/>
      </p:ext>
    </p:extLst>
  </p:cSld>
  <p:clrMapOvr>
    <a:masterClrMapping/>
  </p:clrMapOvr>
  <p:transition>
    <p:wedg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3" name="Text Box 5"/>
          <p:cNvSpPr txBox="1">
            <a:spLocks noChangeArrowheads="1"/>
          </p:cNvSpPr>
          <p:nvPr/>
        </p:nvSpPr>
        <p:spPr bwMode="auto">
          <a:xfrm>
            <a:off x="0" y="1101725"/>
            <a:ext cx="876300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46800" anchor="ct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r>
              <a:rPr lang="zh-CN" altLang="en-US" sz="2800" b="1">
                <a:solidFill>
                  <a:srgbClr val="000066"/>
                </a:solidFill>
                <a:latin typeface="微软雅黑" pitchFamily="34" charset="-122"/>
                <a:ea typeface="微软雅黑" pitchFamily="34" charset="-122"/>
              </a:rPr>
              <a:t>当不同数据类型的运算分量出现在同一个表达式中，</a:t>
            </a:r>
            <a:r>
              <a:rPr lang="en-US" altLang="zh-CN" sz="2800" b="1">
                <a:solidFill>
                  <a:srgbClr val="000066"/>
                </a:solidFill>
                <a:latin typeface="微软雅黑" pitchFamily="34" charset="-122"/>
                <a:ea typeface="微软雅黑" pitchFamily="34" charset="-122"/>
              </a:rPr>
              <a:t>C</a:t>
            </a:r>
            <a:r>
              <a:rPr lang="zh-CN" altLang="en-US" sz="2800" b="1">
                <a:solidFill>
                  <a:srgbClr val="000066"/>
                </a:solidFill>
                <a:latin typeface="微软雅黑" pitchFamily="34" charset="-122"/>
                <a:ea typeface="微软雅黑" pitchFamily="34" charset="-122"/>
              </a:rPr>
              <a:t>先将其转换为同一类型，然后运算。</a:t>
            </a:r>
            <a:endParaRPr lang="en-US" altLang="zh-CN" sz="2800" b="1">
              <a:solidFill>
                <a:srgbClr val="000066"/>
              </a:solidFill>
              <a:latin typeface="微软雅黑" pitchFamily="34" charset="-122"/>
              <a:ea typeface="微软雅黑" pitchFamily="34" charset="-122"/>
            </a:endParaRPr>
          </a:p>
        </p:txBody>
      </p:sp>
      <p:sp>
        <p:nvSpPr>
          <p:cNvPr id="155654" name="Text Box 6"/>
          <p:cNvSpPr txBox="1">
            <a:spLocks noChangeArrowheads="1"/>
          </p:cNvSpPr>
          <p:nvPr/>
        </p:nvSpPr>
        <p:spPr bwMode="auto">
          <a:xfrm>
            <a:off x="0" y="1871663"/>
            <a:ext cx="62484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46800" anchor="ct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r>
              <a:rPr lang="zh-CN" altLang="en-US" b="1">
                <a:solidFill>
                  <a:srgbClr val="C00000"/>
                </a:solidFill>
                <a:latin typeface="微软雅黑" pitchFamily="34" charset="-122"/>
                <a:ea typeface="微软雅黑" pitchFamily="34" charset="-122"/>
              </a:rPr>
              <a:t>1 </a:t>
            </a:r>
            <a:r>
              <a:rPr lang="en-US" altLang="zh-CN" b="1">
                <a:solidFill>
                  <a:srgbClr val="C00000"/>
                </a:solidFill>
                <a:latin typeface="微软雅黑" pitchFamily="34" charset="-122"/>
                <a:ea typeface="微软雅黑" pitchFamily="34" charset="-122"/>
              </a:rPr>
              <a:t>.</a:t>
            </a:r>
            <a:r>
              <a:rPr lang="zh-CN" altLang="en-US" b="1">
                <a:solidFill>
                  <a:srgbClr val="C00000"/>
                </a:solidFill>
                <a:latin typeface="微软雅黑" pitchFamily="34" charset="-122"/>
                <a:ea typeface="微软雅黑" pitchFamily="34" charset="-122"/>
              </a:rPr>
              <a:t>自动转换</a:t>
            </a:r>
            <a:endParaRPr lang="en-US" altLang="zh-CN" b="1">
              <a:solidFill>
                <a:srgbClr val="C00000"/>
              </a:solidFill>
              <a:latin typeface="微软雅黑" pitchFamily="34" charset="-122"/>
              <a:ea typeface="微软雅黑" pitchFamily="34" charset="-122"/>
            </a:endParaRPr>
          </a:p>
        </p:txBody>
      </p:sp>
      <p:sp>
        <p:nvSpPr>
          <p:cNvPr id="22532" name="Freeform 9"/>
          <p:cNvSpPr>
            <a:spLocks noEditPoints="1"/>
          </p:cNvSpPr>
          <p:nvPr/>
        </p:nvSpPr>
        <p:spPr bwMode="gray">
          <a:xfrm>
            <a:off x="609600" y="2362200"/>
            <a:ext cx="6705600" cy="4306888"/>
          </a:xfrm>
          <a:custGeom>
            <a:avLst/>
            <a:gdLst>
              <a:gd name="T0" fmla="*/ 2147483646 w 2820"/>
              <a:gd name="T1" fmla="*/ 2147483646 h 2912"/>
              <a:gd name="T2" fmla="*/ 2147483646 w 2820"/>
              <a:gd name="T3" fmla="*/ 2147483646 h 2912"/>
              <a:gd name="T4" fmla="*/ 2147483646 w 2820"/>
              <a:gd name="T5" fmla="*/ 2147483646 h 2912"/>
              <a:gd name="T6" fmla="*/ 2147483646 w 2820"/>
              <a:gd name="T7" fmla="*/ 2147483646 h 2912"/>
              <a:gd name="T8" fmla="*/ 2147483646 w 2820"/>
              <a:gd name="T9" fmla="*/ 2147483646 h 2912"/>
              <a:gd name="T10" fmla="*/ 2147483646 w 2820"/>
              <a:gd name="T11" fmla="*/ 2147483646 h 2912"/>
              <a:gd name="T12" fmla="*/ 2147483646 w 2820"/>
              <a:gd name="T13" fmla="*/ 2147483646 h 2912"/>
              <a:gd name="T14" fmla="*/ 2147483646 w 2820"/>
              <a:gd name="T15" fmla="*/ 2147483646 h 2912"/>
              <a:gd name="T16" fmla="*/ 0 w 2820"/>
              <a:gd name="T17" fmla="*/ 2147483646 h 2912"/>
              <a:gd name="T18" fmla="*/ 2147483646 w 2820"/>
              <a:gd name="T19" fmla="*/ 2147483646 h 2912"/>
              <a:gd name="T20" fmla="*/ 2147483646 w 2820"/>
              <a:gd name="T21" fmla="*/ 2147483646 h 2912"/>
              <a:gd name="T22" fmla="*/ 2147483646 w 2820"/>
              <a:gd name="T23" fmla="*/ 2147483646 h 2912"/>
              <a:gd name="T24" fmla="*/ 2147483646 w 2820"/>
              <a:gd name="T25" fmla="*/ 2147483646 h 2912"/>
              <a:gd name="T26" fmla="*/ 2147483646 w 2820"/>
              <a:gd name="T27" fmla="*/ 2147483646 h 2912"/>
              <a:gd name="T28" fmla="*/ 2147483646 w 2820"/>
              <a:gd name="T29" fmla="*/ 2147483646 h 2912"/>
              <a:gd name="T30" fmla="*/ 2147483646 w 2820"/>
              <a:gd name="T31" fmla="*/ 2147483646 h 2912"/>
              <a:gd name="T32" fmla="*/ 2147483646 w 2820"/>
              <a:gd name="T33" fmla="*/ 2147483646 h 2912"/>
              <a:gd name="T34" fmla="*/ 2147483646 w 2820"/>
              <a:gd name="T35" fmla="*/ 2147483646 h 2912"/>
              <a:gd name="T36" fmla="*/ 2147483646 w 2820"/>
              <a:gd name="T37" fmla="*/ 2147483646 h 2912"/>
              <a:gd name="T38" fmla="*/ 2147483646 w 2820"/>
              <a:gd name="T39" fmla="*/ 2147483646 h 2912"/>
              <a:gd name="T40" fmla="*/ 2147483646 w 2820"/>
              <a:gd name="T41" fmla="*/ 2147483646 h 2912"/>
              <a:gd name="T42" fmla="*/ 2147483646 w 2820"/>
              <a:gd name="T43" fmla="*/ 2147483646 h 2912"/>
              <a:gd name="T44" fmla="*/ 2147483646 w 2820"/>
              <a:gd name="T45" fmla="*/ 2147483646 h 2912"/>
              <a:gd name="T46" fmla="*/ 2147483646 w 2820"/>
              <a:gd name="T47" fmla="*/ 2147483646 h 2912"/>
              <a:gd name="T48" fmla="*/ 2147483646 w 2820"/>
              <a:gd name="T49" fmla="*/ 2147483646 h 2912"/>
              <a:gd name="T50" fmla="*/ 2147483646 w 2820"/>
              <a:gd name="T51" fmla="*/ 2147483646 h 2912"/>
              <a:gd name="T52" fmla="*/ 2147483646 w 2820"/>
              <a:gd name="T53" fmla="*/ 2147483646 h 2912"/>
              <a:gd name="T54" fmla="*/ 2147483646 w 2820"/>
              <a:gd name="T55" fmla="*/ 2147483646 h 2912"/>
              <a:gd name="T56" fmla="*/ 2147483646 w 2820"/>
              <a:gd name="T57" fmla="*/ 2147483646 h 2912"/>
              <a:gd name="T58" fmla="*/ 2147483646 w 2820"/>
              <a:gd name="T59" fmla="*/ 2147483646 h 2912"/>
              <a:gd name="T60" fmla="*/ 2147483646 w 2820"/>
              <a:gd name="T61" fmla="*/ 2147483646 h 2912"/>
              <a:gd name="T62" fmla="*/ 2147483646 w 2820"/>
              <a:gd name="T63" fmla="*/ 2147483646 h 2912"/>
              <a:gd name="T64" fmla="*/ 2147483646 w 2820"/>
              <a:gd name="T65" fmla="*/ 2147483646 h 2912"/>
              <a:gd name="T66" fmla="*/ 2147483646 w 2820"/>
              <a:gd name="T67" fmla="*/ 2147483646 h 2912"/>
              <a:gd name="T68" fmla="*/ 2147483646 w 2820"/>
              <a:gd name="T69" fmla="*/ 2147483646 h 2912"/>
              <a:gd name="T70" fmla="*/ 2147483646 w 2820"/>
              <a:gd name="T71" fmla="*/ 2147483646 h 2912"/>
              <a:gd name="T72" fmla="*/ 2147483646 w 2820"/>
              <a:gd name="T73" fmla="*/ 2147483646 h 2912"/>
              <a:gd name="T74" fmla="*/ 2147483646 w 2820"/>
              <a:gd name="T75" fmla="*/ 2147483646 h 2912"/>
              <a:gd name="T76" fmla="*/ 2147483646 w 2820"/>
              <a:gd name="T77" fmla="*/ 2147483646 h 2912"/>
              <a:gd name="T78" fmla="*/ 2147483646 w 2820"/>
              <a:gd name="T79" fmla="*/ 2147483646 h 2912"/>
              <a:gd name="T80" fmla="*/ 2147483646 w 2820"/>
              <a:gd name="T81" fmla="*/ 2147483646 h 2912"/>
              <a:gd name="T82" fmla="*/ 2147483646 w 2820"/>
              <a:gd name="T83" fmla="*/ 2147483646 h 2912"/>
              <a:gd name="T84" fmla="*/ 2147483646 w 2820"/>
              <a:gd name="T85" fmla="*/ 2147483646 h 2912"/>
              <a:gd name="T86" fmla="*/ 2147483646 w 2820"/>
              <a:gd name="T87" fmla="*/ 2147483646 h 2912"/>
              <a:gd name="T88" fmla="*/ 2147483646 w 2820"/>
              <a:gd name="T89" fmla="*/ 2147483646 h 2912"/>
              <a:gd name="T90" fmla="*/ 2147483646 w 2820"/>
              <a:gd name="T91" fmla="*/ 0 h 2912"/>
              <a:gd name="T92" fmla="*/ 2147483646 w 2820"/>
              <a:gd name="T93" fmla="*/ 2147483646 h 2912"/>
              <a:gd name="T94" fmla="*/ 2147483646 w 2820"/>
              <a:gd name="T95" fmla="*/ 2147483646 h 291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820" h="2912">
                <a:moveTo>
                  <a:pt x="1244" y="0"/>
                </a:moveTo>
                <a:lnTo>
                  <a:pt x="1092" y="50"/>
                </a:lnTo>
                <a:lnTo>
                  <a:pt x="952" y="106"/>
                </a:lnTo>
                <a:lnTo>
                  <a:pt x="822" y="168"/>
                </a:lnTo>
                <a:lnTo>
                  <a:pt x="704" y="232"/>
                </a:lnTo>
                <a:lnTo>
                  <a:pt x="594" y="300"/>
                </a:lnTo>
                <a:lnTo>
                  <a:pt x="494" y="372"/>
                </a:lnTo>
                <a:lnTo>
                  <a:pt x="406" y="446"/>
                </a:lnTo>
                <a:lnTo>
                  <a:pt x="324" y="524"/>
                </a:lnTo>
                <a:lnTo>
                  <a:pt x="254" y="604"/>
                </a:lnTo>
                <a:lnTo>
                  <a:pt x="192" y="686"/>
                </a:lnTo>
                <a:lnTo>
                  <a:pt x="140" y="772"/>
                </a:lnTo>
                <a:lnTo>
                  <a:pt x="96" y="856"/>
                </a:lnTo>
                <a:lnTo>
                  <a:pt x="60" y="944"/>
                </a:lnTo>
                <a:lnTo>
                  <a:pt x="32" y="1032"/>
                </a:lnTo>
                <a:lnTo>
                  <a:pt x="14" y="1122"/>
                </a:lnTo>
                <a:lnTo>
                  <a:pt x="2" y="1210"/>
                </a:lnTo>
                <a:lnTo>
                  <a:pt x="0" y="1300"/>
                </a:lnTo>
                <a:lnTo>
                  <a:pt x="4" y="1388"/>
                </a:lnTo>
                <a:lnTo>
                  <a:pt x="18" y="1476"/>
                </a:lnTo>
                <a:lnTo>
                  <a:pt x="36" y="1564"/>
                </a:lnTo>
                <a:lnTo>
                  <a:pt x="64" y="1650"/>
                </a:lnTo>
                <a:lnTo>
                  <a:pt x="96" y="1736"/>
                </a:lnTo>
                <a:lnTo>
                  <a:pt x="138" y="1818"/>
                </a:lnTo>
                <a:lnTo>
                  <a:pt x="184" y="1900"/>
                </a:lnTo>
                <a:lnTo>
                  <a:pt x="238" y="1978"/>
                </a:lnTo>
                <a:lnTo>
                  <a:pt x="298" y="2054"/>
                </a:lnTo>
                <a:lnTo>
                  <a:pt x="364" y="2126"/>
                </a:lnTo>
                <a:lnTo>
                  <a:pt x="434" y="2196"/>
                </a:lnTo>
                <a:lnTo>
                  <a:pt x="512" y="2262"/>
                </a:lnTo>
                <a:lnTo>
                  <a:pt x="596" y="2324"/>
                </a:lnTo>
                <a:lnTo>
                  <a:pt x="684" y="2382"/>
                </a:lnTo>
                <a:lnTo>
                  <a:pt x="776" y="2436"/>
                </a:lnTo>
                <a:lnTo>
                  <a:pt x="874" y="2484"/>
                </a:lnTo>
                <a:lnTo>
                  <a:pt x="978" y="2526"/>
                </a:lnTo>
                <a:lnTo>
                  <a:pt x="1086" y="2564"/>
                </a:lnTo>
                <a:lnTo>
                  <a:pt x="1198" y="2596"/>
                </a:lnTo>
                <a:lnTo>
                  <a:pt x="1314" y="2622"/>
                </a:lnTo>
                <a:lnTo>
                  <a:pt x="1434" y="2642"/>
                </a:lnTo>
                <a:lnTo>
                  <a:pt x="1558" y="2654"/>
                </a:lnTo>
                <a:lnTo>
                  <a:pt x="1686" y="2660"/>
                </a:lnTo>
                <a:lnTo>
                  <a:pt x="1818" y="2658"/>
                </a:lnTo>
                <a:lnTo>
                  <a:pt x="1952" y="2650"/>
                </a:lnTo>
                <a:lnTo>
                  <a:pt x="2090" y="2632"/>
                </a:lnTo>
                <a:lnTo>
                  <a:pt x="2230" y="2608"/>
                </a:lnTo>
                <a:lnTo>
                  <a:pt x="2374" y="2574"/>
                </a:lnTo>
                <a:lnTo>
                  <a:pt x="2542" y="2912"/>
                </a:lnTo>
                <a:lnTo>
                  <a:pt x="2544" y="2912"/>
                </a:lnTo>
                <a:lnTo>
                  <a:pt x="2820" y="1934"/>
                </a:lnTo>
                <a:lnTo>
                  <a:pt x="1868" y="1552"/>
                </a:lnTo>
                <a:lnTo>
                  <a:pt x="2036" y="1894"/>
                </a:lnTo>
                <a:lnTo>
                  <a:pt x="1956" y="1914"/>
                </a:lnTo>
                <a:lnTo>
                  <a:pt x="1872" y="1928"/>
                </a:lnTo>
                <a:lnTo>
                  <a:pt x="1788" y="1936"/>
                </a:lnTo>
                <a:lnTo>
                  <a:pt x="1702" y="1938"/>
                </a:lnTo>
                <a:lnTo>
                  <a:pt x="1616" y="1934"/>
                </a:lnTo>
                <a:lnTo>
                  <a:pt x="1528" y="1926"/>
                </a:lnTo>
                <a:lnTo>
                  <a:pt x="1442" y="1912"/>
                </a:lnTo>
                <a:lnTo>
                  <a:pt x="1356" y="1894"/>
                </a:lnTo>
                <a:lnTo>
                  <a:pt x="1272" y="1872"/>
                </a:lnTo>
                <a:lnTo>
                  <a:pt x="1188" y="1844"/>
                </a:lnTo>
                <a:lnTo>
                  <a:pt x="1108" y="1812"/>
                </a:lnTo>
                <a:lnTo>
                  <a:pt x="1028" y="1776"/>
                </a:lnTo>
                <a:lnTo>
                  <a:pt x="952" y="1736"/>
                </a:lnTo>
                <a:lnTo>
                  <a:pt x="880" y="1692"/>
                </a:lnTo>
                <a:lnTo>
                  <a:pt x="810" y="1646"/>
                </a:lnTo>
                <a:lnTo>
                  <a:pt x="744" y="1596"/>
                </a:lnTo>
                <a:lnTo>
                  <a:pt x="684" y="1542"/>
                </a:lnTo>
                <a:lnTo>
                  <a:pt x="628" y="1486"/>
                </a:lnTo>
                <a:lnTo>
                  <a:pt x="578" y="1428"/>
                </a:lnTo>
                <a:lnTo>
                  <a:pt x="532" y="1366"/>
                </a:lnTo>
                <a:lnTo>
                  <a:pt x="494" y="1304"/>
                </a:lnTo>
                <a:lnTo>
                  <a:pt x="462" y="1238"/>
                </a:lnTo>
                <a:lnTo>
                  <a:pt x="438" y="1170"/>
                </a:lnTo>
                <a:lnTo>
                  <a:pt x="420" y="1102"/>
                </a:lnTo>
                <a:lnTo>
                  <a:pt x="410" y="1032"/>
                </a:lnTo>
                <a:lnTo>
                  <a:pt x="410" y="960"/>
                </a:lnTo>
                <a:lnTo>
                  <a:pt x="416" y="888"/>
                </a:lnTo>
                <a:lnTo>
                  <a:pt x="434" y="816"/>
                </a:lnTo>
                <a:lnTo>
                  <a:pt x="460" y="742"/>
                </a:lnTo>
                <a:lnTo>
                  <a:pt x="496" y="668"/>
                </a:lnTo>
                <a:lnTo>
                  <a:pt x="544" y="592"/>
                </a:lnTo>
                <a:lnTo>
                  <a:pt x="602" y="518"/>
                </a:lnTo>
                <a:lnTo>
                  <a:pt x="670" y="444"/>
                </a:lnTo>
                <a:lnTo>
                  <a:pt x="752" y="370"/>
                </a:lnTo>
                <a:lnTo>
                  <a:pt x="844" y="298"/>
                </a:lnTo>
                <a:lnTo>
                  <a:pt x="950" y="226"/>
                </a:lnTo>
                <a:lnTo>
                  <a:pt x="1070" y="154"/>
                </a:lnTo>
                <a:lnTo>
                  <a:pt x="1202" y="84"/>
                </a:lnTo>
                <a:lnTo>
                  <a:pt x="1348" y="16"/>
                </a:lnTo>
                <a:lnTo>
                  <a:pt x="1244" y="0"/>
                </a:lnTo>
                <a:close/>
                <a:moveTo>
                  <a:pt x="2820" y="1934"/>
                </a:moveTo>
                <a:lnTo>
                  <a:pt x="2820" y="1934"/>
                </a:lnTo>
                <a:close/>
              </a:path>
            </a:pathLst>
          </a:custGeom>
          <a:gradFill rotWithShape="1">
            <a:gsLst>
              <a:gs pos="0">
                <a:srgbClr val="FFFFCC"/>
              </a:gs>
              <a:gs pos="100000">
                <a:srgbClr val="CCCCFF"/>
              </a:gs>
            </a:gsLst>
            <a:lin ang="0" scaled="1"/>
          </a:gradFill>
          <a:ln>
            <a:noFill/>
          </a:ln>
          <a:effectLst>
            <a:outerShdw dist="206741" dir="8249373" algn="ctr" rotWithShape="0">
              <a:srgbClr val="C1D1D3">
                <a:alpha val="50000"/>
              </a:srgbClr>
            </a:outerShdw>
          </a:effectLst>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grpSp>
        <p:nvGrpSpPr>
          <p:cNvPr id="22533" name="Group 11"/>
          <p:cNvGrpSpPr>
            <a:grpSpLocks/>
          </p:cNvGrpSpPr>
          <p:nvPr/>
        </p:nvGrpSpPr>
        <p:grpSpPr bwMode="auto">
          <a:xfrm>
            <a:off x="1143000" y="5334000"/>
            <a:ext cx="1219200" cy="1295400"/>
            <a:chOff x="2046" y="2364"/>
            <a:chExt cx="1074" cy="1188"/>
          </a:xfrm>
        </p:grpSpPr>
        <p:sp>
          <p:nvSpPr>
            <p:cNvPr id="22568" name="Oval 12"/>
            <p:cNvSpPr>
              <a:spLocks noChangeArrowheads="1"/>
            </p:cNvSpPr>
            <p:nvPr/>
          </p:nvSpPr>
          <p:spPr bwMode="auto">
            <a:xfrm rot="-723406">
              <a:off x="2089" y="3132"/>
              <a:ext cx="906" cy="420"/>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zh-CN" altLang="en-US">
                <a:latin typeface="微软雅黑" pitchFamily="34" charset="-122"/>
                <a:ea typeface="微软雅黑" pitchFamily="34" charset="-122"/>
              </a:endParaRPr>
            </a:p>
          </p:txBody>
        </p:sp>
        <p:sp>
          <p:nvSpPr>
            <p:cNvPr id="22569" name="Oval 13"/>
            <p:cNvSpPr>
              <a:spLocks noChangeArrowheads="1"/>
            </p:cNvSpPr>
            <p:nvPr/>
          </p:nvSpPr>
          <p:spPr bwMode="auto">
            <a:xfrm>
              <a:off x="2046" y="2364"/>
              <a:ext cx="1074" cy="1075"/>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p>
              <a:pPr eaLnBrk="1" hangingPunct="1"/>
              <a:endParaRPr lang="zh-CN" altLang="en-US">
                <a:latin typeface="微软雅黑" pitchFamily="34" charset="-122"/>
                <a:ea typeface="微软雅黑" pitchFamily="34" charset="-122"/>
              </a:endParaRPr>
            </a:p>
          </p:txBody>
        </p:sp>
        <p:sp>
          <p:nvSpPr>
            <p:cNvPr id="22570" name="Oval 14"/>
            <p:cNvSpPr>
              <a:spLocks noChangeArrowheads="1"/>
            </p:cNvSpPr>
            <p:nvPr/>
          </p:nvSpPr>
          <p:spPr bwMode="auto">
            <a:xfrm>
              <a:off x="2059" y="2370"/>
              <a:ext cx="1049" cy="1048"/>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p>
              <a:pPr eaLnBrk="1" hangingPunct="1"/>
              <a:endParaRPr lang="zh-CN" altLang="en-US">
                <a:latin typeface="微软雅黑" pitchFamily="34" charset="-122"/>
                <a:ea typeface="微软雅黑" pitchFamily="34" charset="-122"/>
              </a:endParaRPr>
            </a:p>
          </p:txBody>
        </p:sp>
        <p:sp>
          <p:nvSpPr>
            <p:cNvPr id="22571" name="Oval 15"/>
            <p:cNvSpPr>
              <a:spLocks noChangeArrowheads="1"/>
            </p:cNvSpPr>
            <p:nvPr/>
          </p:nvSpPr>
          <p:spPr bwMode="auto">
            <a:xfrm>
              <a:off x="2070" y="2380"/>
              <a:ext cx="998" cy="980"/>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p>
              <a:pPr eaLnBrk="1" hangingPunct="1"/>
              <a:endParaRPr lang="zh-CN" altLang="en-US">
                <a:latin typeface="微软雅黑" pitchFamily="34" charset="-122"/>
                <a:ea typeface="微软雅黑" pitchFamily="34" charset="-122"/>
              </a:endParaRPr>
            </a:p>
          </p:txBody>
        </p:sp>
        <p:sp>
          <p:nvSpPr>
            <p:cNvPr id="22572" name="Oval 16"/>
            <p:cNvSpPr>
              <a:spLocks noChangeArrowheads="1"/>
            </p:cNvSpPr>
            <p:nvPr/>
          </p:nvSpPr>
          <p:spPr bwMode="auto">
            <a:xfrm>
              <a:off x="2128" y="2408"/>
              <a:ext cx="888" cy="795"/>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p>
              <a:pPr eaLnBrk="1" hangingPunct="1"/>
              <a:endParaRPr lang="zh-CN" altLang="en-US">
                <a:latin typeface="微软雅黑" pitchFamily="34" charset="-122"/>
                <a:ea typeface="微软雅黑" pitchFamily="34" charset="-122"/>
              </a:endParaRPr>
            </a:p>
          </p:txBody>
        </p:sp>
        <p:sp>
          <p:nvSpPr>
            <p:cNvPr id="22573" name="Text Box 17"/>
            <p:cNvSpPr txBox="1">
              <a:spLocks noChangeArrowheads="1"/>
            </p:cNvSpPr>
            <p:nvPr/>
          </p:nvSpPr>
          <p:spPr bwMode="auto">
            <a:xfrm>
              <a:off x="2308" y="2759"/>
              <a:ext cx="552" cy="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ctr" eaLnBrk="1" hangingPunct="1"/>
              <a:r>
                <a:rPr lang="en-US" altLang="zh-CN" sz="2800">
                  <a:solidFill>
                    <a:srgbClr val="000000"/>
                  </a:solidFill>
                  <a:latin typeface="微软雅黑" pitchFamily="34" charset="-122"/>
                  <a:ea typeface="微软雅黑" pitchFamily="34" charset="-122"/>
                </a:rPr>
                <a:t> </a:t>
              </a:r>
              <a:endParaRPr lang="en-US" altLang="zh-CN">
                <a:latin typeface="微软雅黑" pitchFamily="34" charset="-122"/>
                <a:ea typeface="微软雅黑" pitchFamily="34" charset="-122"/>
              </a:endParaRPr>
            </a:p>
          </p:txBody>
        </p:sp>
      </p:grpSp>
      <p:grpSp>
        <p:nvGrpSpPr>
          <p:cNvPr id="22534" name="Group 18"/>
          <p:cNvGrpSpPr>
            <a:grpSpLocks/>
          </p:cNvGrpSpPr>
          <p:nvPr/>
        </p:nvGrpSpPr>
        <p:grpSpPr bwMode="auto">
          <a:xfrm>
            <a:off x="228600" y="4267200"/>
            <a:ext cx="1143000" cy="1323975"/>
            <a:chOff x="880" y="2124"/>
            <a:chExt cx="864" cy="1008"/>
          </a:xfrm>
        </p:grpSpPr>
        <p:sp>
          <p:nvSpPr>
            <p:cNvPr id="22561" name="Oval 19"/>
            <p:cNvSpPr>
              <a:spLocks noChangeArrowheads="1"/>
            </p:cNvSpPr>
            <p:nvPr/>
          </p:nvSpPr>
          <p:spPr bwMode="auto">
            <a:xfrm rot="-772996">
              <a:off x="928" y="2748"/>
              <a:ext cx="714" cy="384"/>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zh-CN" altLang="en-US">
                <a:latin typeface="微软雅黑" pitchFamily="34" charset="-122"/>
                <a:ea typeface="微软雅黑" pitchFamily="34" charset="-122"/>
              </a:endParaRPr>
            </a:p>
          </p:txBody>
        </p:sp>
        <p:grpSp>
          <p:nvGrpSpPr>
            <p:cNvPr id="22562" name="Group 20"/>
            <p:cNvGrpSpPr>
              <a:grpSpLocks/>
            </p:cNvGrpSpPr>
            <p:nvPr/>
          </p:nvGrpSpPr>
          <p:grpSpPr bwMode="auto">
            <a:xfrm>
              <a:off x="880" y="2124"/>
              <a:ext cx="864" cy="908"/>
              <a:chOff x="732" y="2112"/>
              <a:chExt cx="842" cy="860"/>
            </a:xfrm>
          </p:grpSpPr>
          <p:sp>
            <p:nvSpPr>
              <p:cNvPr id="22563" name="Oval 21"/>
              <p:cNvSpPr>
                <a:spLocks noChangeArrowheads="1"/>
              </p:cNvSpPr>
              <p:nvPr/>
            </p:nvSpPr>
            <p:spPr bwMode="auto">
              <a:xfrm>
                <a:off x="732" y="2112"/>
                <a:ext cx="842" cy="860"/>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p>
                <a:pPr eaLnBrk="1" hangingPunct="1"/>
                <a:endParaRPr lang="zh-CN" altLang="en-US">
                  <a:latin typeface="微软雅黑" pitchFamily="34" charset="-122"/>
                  <a:ea typeface="微软雅黑" pitchFamily="34" charset="-122"/>
                </a:endParaRPr>
              </a:p>
            </p:txBody>
          </p:sp>
          <p:sp>
            <p:nvSpPr>
              <p:cNvPr id="22564" name="Oval 22"/>
              <p:cNvSpPr>
                <a:spLocks noChangeArrowheads="1"/>
              </p:cNvSpPr>
              <p:nvPr/>
            </p:nvSpPr>
            <p:spPr bwMode="auto">
              <a:xfrm>
                <a:off x="743" y="2117"/>
                <a:ext cx="821" cy="838"/>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p>
                <a:pPr eaLnBrk="1" hangingPunct="1"/>
                <a:endParaRPr lang="zh-CN" altLang="en-US">
                  <a:latin typeface="微软雅黑" pitchFamily="34" charset="-122"/>
                  <a:ea typeface="微软雅黑" pitchFamily="34" charset="-122"/>
                </a:endParaRPr>
              </a:p>
            </p:txBody>
          </p:sp>
          <p:sp>
            <p:nvSpPr>
              <p:cNvPr id="22565" name="Oval 23"/>
              <p:cNvSpPr>
                <a:spLocks noChangeArrowheads="1"/>
              </p:cNvSpPr>
              <p:nvPr/>
            </p:nvSpPr>
            <p:spPr bwMode="auto">
              <a:xfrm>
                <a:off x="751" y="2125"/>
                <a:ext cx="781" cy="784"/>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p>
                <a:pPr eaLnBrk="1" hangingPunct="1"/>
                <a:endParaRPr lang="zh-CN" altLang="en-US">
                  <a:latin typeface="微软雅黑" pitchFamily="34" charset="-122"/>
                  <a:ea typeface="微软雅黑" pitchFamily="34" charset="-122"/>
                </a:endParaRPr>
              </a:p>
            </p:txBody>
          </p:sp>
          <p:sp>
            <p:nvSpPr>
              <p:cNvPr id="22566" name="Oval 24"/>
              <p:cNvSpPr>
                <a:spLocks noChangeArrowheads="1"/>
              </p:cNvSpPr>
              <p:nvPr/>
            </p:nvSpPr>
            <p:spPr bwMode="auto">
              <a:xfrm>
                <a:off x="795" y="2147"/>
                <a:ext cx="695" cy="636"/>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p>
                <a:pPr eaLnBrk="1" hangingPunct="1"/>
                <a:endParaRPr lang="zh-CN" altLang="en-US">
                  <a:latin typeface="微软雅黑" pitchFamily="34" charset="-122"/>
                  <a:ea typeface="微软雅黑" pitchFamily="34" charset="-122"/>
                </a:endParaRPr>
              </a:p>
            </p:txBody>
          </p:sp>
          <p:sp>
            <p:nvSpPr>
              <p:cNvPr id="22567" name="Text Box 25"/>
              <p:cNvSpPr txBox="1">
                <a:spLocks noChangeArrowheads="1"/>
              </p:cNvSpPr>
              <p:nvPr/>
            </p:nvSpPr>
            <p:spPr bwMode="auto">
              <a:xfrm>
                <a:off x="1043" y="2414"/>
                <a:ext cx="203"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ctr" eaLnBrk="1" hangingPunct="1"/>
                <a:r>
                  <a:rPr lang="en-US" altLang="zh-CN" sz="2400">
                    <a:solidFill>
                      <a:srgbClr val="000000"/>
                    </a:solidFill>
                    <a:latin typeface="微软雅黑" pitchFamily="34" charset="-122"/>
                    <a:ea typeface="微软雅黑" pitchFamily="34" charset="-122"/>
                  </a:rPr>
                  <a:t> </a:t>
                </a:r>
                <a:endParaRPr lang="en-US" altLang="zh-CN">
                  <a:latin typeface="微软雅黑" pitchFamily="34" charset="-122"/>
                  <a:ea typeface="微软雅黑" pitchFamily="34" charset="-122"/>
                </a:endParaRPr>
              </a:p>
            </p:txBody>
          </p:sp>
        </p:grpSp>
      </p:grpSp>
      <p:grpSp>
        <p:nvGrpSpPr>
          <p:cNvPr id="22535" name="Group 26"/>
          <p:cNvGrpSpPr>
            <a:grpSpLocks/>
          </p:cNvGrpSpPr>
          <p:nvPr/>
        </p:nvGrpSpPr>
        <p:grpSpPr bwMode="auto">
          <a:xfrm>
            <a:off x="762000" y="2971800"/>
            <a:ext cx="1100138" cy="1106488"/>
            <a:chOff x="816" y="1260"/>
            <a:chExt cx="693" cy="718"/>
          </a:xfrm>
        </p:grpSpPr>
        <p:sp>
          <p:nvSpPr>
            <p:cNvPr id="22555" name="Oval 27"/>
            <p:cNvSpPr>
              <a:spLocks noChangeArrowheads="1"/>
            </p:cNvSpPr>
            <p:nvPr/>
          </p:nvSpPr>
          <p:spPr bwMode="auto">
            <a:xfrm>
              <a:off x="816" y="1642"/>
              <a:ext cx="576" cy="336"/>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zh-CN" altLang="en-US">
                <a:latin typeface="微软雅黑" pitchFamily="34" charset="-122"/>
                <a:ea typeface="微软雅黑" pitchFamily="34" charset="-122"/>
              </a:endParaRPr>
            </a:p>
          </p:txBody>
        </p:sp>
        <p:sp>
          <p:nvSpPr>
            <p:cNvPr id="22556" name="Oval 28"/>
            <p:cNvSpPr>
              <a:spLocks noChangeArrowheads="1"/>
            </p:cNvSpPr>
            <p:nvPr/>
          </p:nvSpPr>
          <p:spPr bwMode="auto">
            <a:xfrm>
              <a:off x="864" y="1260"/>
              <a:ext cx="645" cy="645"/>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p>
              <a:pPr eaLnBrk="1" hangingPunct="1"/>
              <a:endParaRPr lang="zh-CN" altLang="en-US">
                <a:latin typeface="微软雅黑" pitchFamily="34" charset="-122"/>
                <a:ea typeface="微软雅黑" pitchFamily="34" charset="-122"/>
              </a:endParaRPr>
            </a:p>
          </p:txBody>
        </p:sp>
        <p:sp>
          <p:nvSpPr>
            <p:cNvPr id="22557" name="Oval 29"/>
            <p:cNvSpPr>
              <a:spLocks noChangeArrowheads="1"/>
            </p:cNvSpPr>
            <p:nvPr/>
          </p:nvSpPr>
          <p:spPr bwMode="auto">
            <a:xfrm>
              <a:off x="872" y="1263"/>
              <a:ext cx="630" cy="630"/>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p>
              <a:pPr eaLnBrk="1" hangingPunct="1"/>
              <a:endParaRPr lang="zh-CN" altLang="en-US">
                <a:latin typeface="微软雅黑" pitchFamily="34" charset="-122"/>
                <a:ea typeface="微软雅黑" pitchFamily="34" charset="-122"/>
              </a:endParaRPr>
            </a:p>
          </p:txBody>
        </p:sp>
        <p:sp>
          <p:nvSpPr>
            <p:cNvPr id="22558" name="Oval 30"/>
            <p:cNvSpPr>
              <a:spLocks noChangeArrowheads="1"/>
            </p:cNvSpPr>
            <p:nvPr/>
          </p:nvSpPr>
          <p:spPr bwMode="auto">
            <a:xfrm>
              <a:off x="879" y="1270"/>
              <a:ext cx="599" cy="588"/>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p>
              <a:pPr eaLnBrk="1" hangingPunct="1"/>
              <a:endParaRPr lang="zh-CN" altLang="en-US">
                <a:latin typeface="微软雅黑" pitchFamily="34" charset="-122"/>
                <a:ea typeface="微软雅黑" pitchFamily="34" charset="-122"/>
              </a:endParaRPr>
            </a:p>
          </p:txBody>
        </p:sp>
        <p:sp>
          <p:nvSpPr>
            <p:cNvPr id="22559" name="Oval 31"/>
            <p:cNvSpPr>
              <a:spLocks noChangeArrowheads="1"/>
            </p:cNvSpPr>
            <p:nvPr/>
          </p:nvSpPr>
          <p:spPr bwMode="auto">
            <a:xfrm>
              <a:off x="913" y="1286"/>
              <a:ext cx="534" cy="477"/>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p>
              <a:pPr eaLnBrk="1" hangingPunct="1"/>
              <a:endParaRPr lang="zh-CN" altLang="en-US">
                <a:latin typeface="微软雅黑" pitchFamily="34" charset="-122"/>
                <a:ea typeface="微软雅黑" pitchFamily="34" charset="-122"/>
              </a:endParaRPr>
            </a:p>
          </p:txBody>
        </p:sp>
        <p:sp>
          <p:nvSpPr>
            <p:cNvPr id="22560" name="Text Box 32"/>
            <p:cNvSpPr txBox="1">
              <a:spLocks noChangeArrowheads="1"/>
            </p:cNvSpPr>
            <p:nvPr/>
          </p:nvSpPr>
          <p:spPr bwMode="auto">
            <a:xfrm>
              <a:off x="1115" y="1480"/>
              <a:ext cx="15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ctr" eaLnBrk="1" hangingPunct="1"/>
              <a:r>
                <a:rPr lang="en-US" altLang="zh-CN">
                  <a:solidFill>
                    <a:srgbClr val="000000"/>
                  </a:solidFill>
                  <a:latin typeface="微软雅黑" pitchFamily="34" charset="-122"/>
                  <a:ea typeface="微软雅黑" pitchFamily="34" charset="-122"/>
                </a:rPr>
                <a:t> </a:t>
              </a:r>
              <a:endParaRPr lang="en-US" altLang="zh-CN">
                <a:latin typeface="微软雅黑" pitchFamily="34" charset="-122"/>
                <a:ea typeface="微软雅黑" pitchFamily="34" charset="-122"/>
              </a:endParaRPr>
            </a:p>
          </p:txBody>
        </p:sp>
      </p:grpSp>
      <p:grpSp>
        <p:nvGrpSpPr>
          <p:cNvPr id="22536" name="Group 33"/>
          <p:cNvGrpSpPr>
            <a:grpSpLocks/>
          </p:cNvGrpSpPr>
          <p:nvPr/>
        </p:nvGrpSpPr>
        <p:grpSpPr bwMode="auto">
          <a:xfrm>
            <a:off x="1828800" y="2286000"/>
            <a:ext cx="804863" cy="739775"/>
            <a:chOff x="1614" y="972"/>
            <a:chExt cx="507" cy="480"/>
          </a:xfrm>
        </p:grpSpPr>
        <p:sp>
          <p:nvSpPr>
            <p:cNvPr id="22549" name="Oval 34"/>
            <p:cNvSpPr>
              <a:spLocks noChangeArrowheads="1"/>
            </p:cNvSpPr>
            <p:nvPr/>
          </p:nvSpPr>
          <p:spPr bwMode="auto">
            <a:xfrm>
              <a:off x="1614" y="1308"/>
              <a:ext cx="432" cy="144"/>
            </a:xfrm>
            <a:prstGeom prst="ellipse">
              <a:avLst/>
            </a:prstGeom>
            <a:solidFill>
              <a:srgbClr val="0F2145">
                <a:alpha val="30196"/>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endParaRPr lang="zh-CN" altLang="en-US">
                <a:latin typeface="微软雅黑" pitchFamily="34" charset="-122"/>
                <a:ea typeface="微软雅黑" pitchFamily="34" charset="-122"/>
              </a:endParaRPr>
            </a:p>
          </p:txBody>
        </p:sp>
        <p:sp>
          <p:nvSpPr>
            <p:cNvPr id="22550" name="Oval 35"/>
            <p:cNvSpPr>
              <a:spLocks noChangeArrowheads="1"/>
            </p:cNvSpPr>
            <p:nvPr/>
          </p:nvSpPr>
          <p:spPr bwMode="auto">
            <a:xfrm>
              <a:off x="1691" y="972"/>
              <a:ext cx="430" cy="430"/>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p>
              <a:pPr eaLnBrk="1" hangingPunct="1"/>
              <a:endParaRPr lang="zh-CN" altLang="en-US">
                <a:latin typeface="微软雅黑" pitchFamily="34" charset="-122"/>
                <a:ea typeface="微软雅黑" pitchFamily="34" charset="-122"/>
              </a:endParaRPr>
            </a:p>
          </p:txBody>
        </p:sp>
        <p:sp>
          <p:nvSpPr>
            <p:cNvPr id="22551" name="Oval 36"/>
            <p:cNvSpPr>
              <a:spLocks noChangeArrowheads="1"/>
            </p:cNvSpPr>
            <p:nvPr/>
          </p:nvSpPr>
          <p:spPr bwMode="auto">
            <a:xfrm>
              <a:off x="1697" y="974"/>
              <a:ext cx="419" cy="420"/>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p>
              <a:pPr eaLnBrk="1" hangingPunct="1"/>
              <a:endParaRPr lang="zh-CN" altLang="en-US">
                <a:latin typeface="微软雅黑" pitchFamily="34" charset="-122"/>
                <a:ea typeface="微软雅黑" pitchFamily="34" charset="-122"/>
              </a:endParaRPr>
            </a:p>
          </p:txBody>
        </p:sp>
        <p:sp>
          <p:nvSpPr>
            <p:cNvPr id="22552" name="Oval 37"/>
            <p:cNvSpPr>
              <a:spLocks noChangeArrowheads="1"/>
            </p:cNvSpPr>
            <p:nvPr/>
          </p:nvSpPr>
          <p:spPr bwMode="auto">
            <a:xfrm>
              <a:off x="1701" y="978"/>
              <a:ext cx="399" cy="392"/>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p>
              <a:pPr eaLnBrk="1" hangingPunct="1"/>
              <a:endParaRPr lang="zh-CN" altLang="en-US">
                <a:latin typeface="微软雅黑" pitchFamily="34" charset="-122"/>
                <a:ea typeface="微软雅黑" pitchFamily="34" charset="-122"/>
              </a:endParaRPr>
            </a:p>
          </p:txBody>
        </p:sp>
        <p:sp>
          <p:nvSpPr>
            <p:cNvPr id="22553" name="Oval 38"/>
            <p:cNvSpPr>
              <a:spLocks noChangeArrowheads="1"/>
            </p:cNvSpPr>
            <p:nvPr/>
          </p:nvSpPr>
          <p:spPr bwMode="auto">
            <a:xfrm>
              <a:off x="1724" y="990"/>
              <a:ext cx="355" cy="317"/>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eaVert" wrap="none" anchor="ctr"/>
            <a:lstStyle/>
            <a:p>
              <a:pPr eaLnBrk="1" hangingPunct="1"/>
              <a:endParaRPr lang="zh-CN" altLang="en-US">
                <a:latin typeface="微软雅黑" pitchFamily="34" charset="-122"/>
                <a:ea typeface="微软雅黑" pitchFamily="34" charset="-122"/>
              </a:endParaRPr>
            </a:p>
          </p:txBody>
        </p:sp>
        <p:sp>
          <p:nvSpPr>
            <p:cNvPr id="22554" name="Text Box 39"/>
            <p:cNvSpPr txBox="1">
              <a:spLocks noChangeArrowheads="1"/>
            </p:cNvSpPr>
            <p:nvPr/>
          </p:nvSpPr>
          <p:spPr bwMode="auto">
            <a:xfrm>
              <a:off x="1849" y="1072"/>
              <a:ext cx="116"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lgn="ctr" eaLnBrk="1" hangingPunct="1"/>
              <a:endParaRPr lang="en-US" altLang="zh-CN">
                <a:latin typeface="微软雅黑" pitchFamily="34" charset="-122"/>
                <a:ea typeface="微软雅黑" pitchFamily="34" charset="-122"/>
              </a:endParaRPr>
            </a:p>
          </p:txBody>
        </p:sp>
      </p:grpSp>
      <p:sp>
        <p:nvSpPr>
          <p:cNvPr id="155688" name="Rectangle 40"/>
          <p:cNvSpPr>
            <a:spLocks noChangeArrowheads="1"/>
          </p:cNvSpPr>
          <p:nvPr/>
        </p:nvSpPr>
        <p:spPr bwMode="auto">
          <a:xfrm>
            <a:off x="2286000" y="2362200"/>
            <a:ext cx="58674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Arial" pitchFamily="34" charset="0"/>
              <a:buChar char="•"/>
            </a:pPr>
            <a:r>
              <a:rPr lang="en-US" altLang="zh-CN" sz="2800" b="1" dirty="0">
                <a:solidFill>
                  <a:srgbClr val="660033"/>
                </a:solidFill>
                <a:latin typeface="微软雅黑" pitchFamily="34" charset="-122"/>
                <a:ea typeface="微软雅黑" pitchFamily="34" charset="-122"/>
              </a:rPr>
              <a:t> </a:t>
            </a:r>
            <a:r>
              <a:rPr lang="zh-CN" altLang="en-US" sz="2800" b="1" dirty="0">
                <a:solidFill>
                  <a:srgbClr val="660033"/>
                </a:solidFill>
                <a:latin typeface="微软雅黑" pitchFamily="34" charset="-122"/>
                <a:ea typeface="微软雅黑" pitchFamily="34" charset="-122"/>
              </a:rPr>
              <a:t>允许不同的数据类型的值出现在算术表达式中。</a:t>
            </a:r>
            <a:endParaRPr lang="en-US" altLang="zh-CN" sz="2800" b="1" dirty="0">
              <a:solidFill>
                <a:srgbClr val="660033"/>
              </a:solidFill>
              <a:latin typeface="微软雅黑" pitchFamily="34" charset="-122"/>
              <a:ea typeface="微软雅黑" pitchFamily="34" charset="-122"/>
            </a:endParaRPr>
          </a:p>
        </p:txBody>
      </p:sp>
      <p:sp>
        <p:nvSpPr>
          <p:cNvPr id="155689" name="Rectangle 41"/>
          <p:cNvSpPr>
            <a:spLocks noChangeArrowheads="1"/>
          </p:cNvSpPr>
          <p:nvPr/>
        </p:nvSpPr>
        <p:spPr bwMode="auto">
          <a:xfrm>
            <a:off x="1219200" y="3429000"/>
            <a:ext cx="5486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Arial" pitchFamily="34" charset="0"/>
              <a:buChar char="•"/>
            </a:pPr>
            <a:r>
              <a:rPr lang="en-US" altLang="zh-CN" sz="2800" b="1">
                <a:latin typeface="微软雅黑" pitchFamily="34" charset="-122"/>
                <a:ea typeface="微软雅黑" pitchFamily="34" charset="-122"/>
              </a:rPr>
              <a:t>char  </a:t>
            </a:r>
            <a:r>
              <a:rPr lang="zh-CN" altLang="en-US" sz="2800" b="1">
                <a:latin typeface="微软雅黑" pitchFamily="34" charset="-122"/>
                <a:ea typeface="微软雅黑" pitchFamily="34" charset="-122"/>
              </a:rPr>
              <a:t>类型转换为</a:t>
            </a:r>
            <a:r>
              <a:rPr lang="en-US" altLang="zh-CN" sz="2800" b="1">
                <a:latin typeface="微软雅黑" pitchFamily="34" charset="-122"/>
                <a:ea typeface="微软雅黑" pitchFamily="34" charset="-122"/>
              </a:rPr>
              <a:t>int</a:t>
            </a:r>
          </a:p>
        </p:txBody>
      </p:sp>
      <p:sp>
        <p:nvSpPr>
          <p:cNvPr id="155690" name="Rectangle 42"/>
          <p:cNvSpPr>
            <a:spLocks noChangeArrowheads="1"/>
          </p:cNvSpPr>
          <p:nvPr/>
        </p:nvSpPr>
        <p:spPr bwMode="auto">
          <a:xfrm>
            <a:off x="533400" y="4343400"/>
            <a:ext cx="5715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Arial" pitchFamily="34" charset="0"/>
              <a:buChar char="•"/>
            </a:pPr>
            <a:r>
              <a:rPr lang="en-US" altLang="zh-CN" sz="2800" b="1">
                <a:solidFill>
                  <a:srgbClr val="660033"/>
                </a:solidFill>
                <a:latin typeface="微软雅黑" pitchFamily="34" charset="-122"/>
                <a:ea typeface="微软雅黑" pitchFamily="34" charset="-122"/>
              </a:rPr>
              <a:t> </a:t>
            </a:r>
            <a:r>
              <a:rPr lang="zh-CN" altLang="en-US" sz="2800" b="1">
                <a:solidFill>
                  <a:srgbClr val="660033"/>
                </a:solidFill>
                <a:latin typeface="微软雅黑" pitchFamily="34" charset="-122"/>
                <a:ea typeface="微软雅黑" pitchFamily="34" charset="-122"/>
              </a:rPr>
              <a:t>单精度浮点类型</a:t>
            </a:r>
            <a:r>
              <a:rPr lang="en-US" altLang="zh-CN" sz="2800" b="1">
                <a:solidFill>
                  <a:srgbClr val="660033"/>
                </a:solidFill>
                <a:latin typeface="微软雅黑" pitchFamily="34" charset="-122"/>
                <a:ea typeface="微软雅黑" pitchFamily="34" charset="-122"/>
              </a:rPr>
              <a:t>float </a:t>
            </a:r>
            <a:r>
              <a:rPr lang="zh-CN" altLang="en-US" sz="2800" b="1">
                <a:solidFill>
                  <a:srgbClr val="660033"/>
                </a:solidFill>
                <a:latin typeface="微软雅黑" pitchFamily="34" charset="-122"/>
                <a:ea typeface="微软雅黑" pitchFamily="34" charset="-122"/>
              </a:rPr>
              <a:t>转换为</a:t>
            </a:r>
            <a:r>
              <a:rPr lang="en-US" altLang="zh-CN" sz="2800" b="1">
                <a:solidFill>
                  <a:srgbClr val="660033"/>
                </a:solidFill>
                <a:latin typeface="微软雅黑" pitchFamily="34" charset="-122"/>
                <a:ea typeface="微软雅黑" pitchFamily="34" charset="-122"/>
              </a:rPr>
              <a:t>double</a:t>
            </a:r>
            <a:r>
              <a:rPr lang="zh-CN" altLang="en-US" sz="2800" b="1">
                <a:solidFill>
                  <a:srgbClr val="660033"/>
                </a:solidFill>
                <a:latin typeface="微软雅黑" pitchFamily="34" charset="-122"/>
                <a:ea typeface="微软雅黑" pitchFamily="34" charset="-122"/>
              </a:rPr>
              <a:t>类型。</a:t>
            </a:r>
            <a:endParaRPr lang="en-US" altLang="zh-CN" sz="2800" b="1">
              <a:solidFill>
                <a:srgbClr val="660033"/>
              </a:solidFill>
              <a:latin typeface="微软雅黑" pitchFamily="34" charset="-122"/>
              <a:ea typeface="微软雅黑" pitchFamily="34" charset="-122"/>
            </a:endParaRPr>
          </a:p>
        </p:txBody>
      </p:sp>
      <p:sp>
        <p:nvSpPr>
          <p:cNvPr id="155691" name="Rectangle 43"/>
          <p:cNvSpPr>
            <a:spLocks noChangeArrowheads="1"/>
          </p:cNvSpPr>
          <p:nvPr/>
        </p:nvSpPr>
        <p:spPr bwMode="auto">
          <a:xfrm>
            <a:off x="1524000" y="5486400"/>
            <a:ext cx="57912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Arial" pitchFamily="34" charset="0"/>
              <a:buChar char="•"/>
            </a:pPr>
            <a:r>
              <a:rPr lang="en-US" altLang="zh-CN" sz="2800" b="1">
                <a:latin typeface="微软雅黑" pitchFamily="34" charset="-122"/>
                <a:ea typeface="微软雅黑" pitchFamily="34" charset="-122"/>
              </a:rPr>
              <a:t> </a:t>
            </a:r>
            <a:r>
              <a:rPr lang="zh-CN" altLang="en-US" sz="2800" b="1">
                <a:latin typeface="微软雅黑" pitchFamily="34" charset="-122"/>
                <a:ea typeface="微软雅黑" pitchFamily="34" charset="-122"/>
              </a:rPr>
              <a:t>整型数据和实型数据同时出现，结果为</a:t>
            </a:r>
            <a:r>
              <a:rPr lang="en-US" altLang="zh-CN" sz="2800" b="1">
                <a:latin typeface="微软雅黑" pitchFamily="34" charset="-122"/>
                <a:ea typeface="微软雅黑" pitchFamily="34" charset="-122"/>
              </a:rPr>
              <a:t>double</a:t>
            </a:r>
            <a:r>
              <a:rPr lang="zh-CN" altLang="en-US" sz="2800" b="1">
                <a:latin typeface="微软雅黑" pitchFamily="34" charset="-122"/>
                <a:ea typeface="微软雅黑" pitchFamily="34" charset="-122"/>
              </a:rPr>
              <a:t>类型。</a:t>
            </a:r>
            <a:endParaRPr lang="en-US" altLang="zh-CN" sz="2800" b="1">
              <a:latin typeface="微软雅黑" pitchFamily="34" charset="-122"/>
              <a:ea typeface="微软雅黑" pitchFamily="34" charset="-122"/>
            </a:endParaRPr>
          </a:p>
        </p:txBody>
      </p:sp>
      <p:sp>
        <p:nvSpPr>
          <p:cNvPr id="30736" name="Text Box 45"/>
          <p:cNvSpPr txBox="1">
            <a:spLocks noChangeArrowheads="1"/>
          </p:cNvSpPr>
          <p:nvPr/>
        </p:nvSpPr>
        <p:spPr bwMode="auto">
          <a:xfrm>
            <a:off x="6564313" y="3068638"/>
            <a:ext cx="2579687" cy="3789362"/>
          </a:xfrm>
          <a:prstGeom prst="rect">
            <a:avLst/>
          </a:prstGeom>
          <a:solidFill>
            <a:schemeClr val="accent2">
              <a:lumMod val="50000"/>
            </a:schemeClr>
          </a:solidFill>
          <a:ln w="12700">
            <a:solidFill>
              <a:srgbClr val="FF9900"/>
            </a:solidFill>
            <a:miter lim="800000"/>
          </a:ln>
        </p:spPr>
        <p:txBody>
          <a:bodyPr lIns="90000" tIns="46800" rIns="90000" bIns="46800" anchor="ctr">
            <a:spAutoFit/>
          </a:bodyPr>
          <a:lstStyle/>
          <a:p>
            <a:pPr>
              <a:lnSpc>
                <a:spcPct val="140000"/>
              </a:lnSpc>
              <a:defRPr/>
            </a:pPr>
            <a:r>
              <a:rPr kumimoji="1" lang="en-US" altLang="zh-CN" sz="2400" b="1" dirty="0">
                <a:solidFill>
                  <a:srgbClr val="FFFF00"/>
                </a:solidFill>
                <a:latin typeface="微软雅黑" pitchFamily="34" charset="-122"/>
                <a:ea typeface="微软雅黑" pitchFamily="34" charset="-122"/>
                <a:cs typeface="Times New Roman" pitchFamily="18" charset="0"/>
              </a:rPr>
              <a:t>double       float</a:t>
            </a:r>
          </a:p>
          <a:p>
            <a:pPr>
              <a:lnSpc>
                <a:spcPct val="170000"/>
              </a:lnSpc>
              <a:defRPr/>
            </a:pPr>
            <a:r>
              <a:rPr kumimoji="1" lang="en-US" altLang="zh-CN" sz="2400" b="1" dirty="0">
                <a:solidFill>
                  <a:srgbClr val="FFFF00"/>
                </a:solidFill>
                <a:latin typeface="微软雅黑" pitchFamily="34" charset="-122"/>
                <a:ea typeface="微软雅黑" pitchFamily="34" charset="-122"/>
                <a:cs typeface="Times New Roman" pitchFamily="18" charset="0"/>
              </a:rPr>
              <a:t>long </a:t>
            </a:r>
          </a:p>
          <a:p>
            <a:pPr>
              <a:lnSpc>
                <a:spcPct val="170000"/>
              </a:lnSpc>
              <a:defRPr/>
            </a:pPr>
            <a:r>
              <a:rPr kumimoji="1" lang="en-US" altLang="zh-CN" sz="2400" b="1" dirty="0">
                <a:solidFill>
                  <a:srgbClr val="FFFF00"/>
                </a:solidFill>
                <a:latin typeface="微软雅黑" pitchFamily="34" charset="-122"/>
                <a:ea typeface="微软雅黑" pitchFamily="34" charset="-122"/>
                <a:cs typeface="Times New Roman" pitchFamily="18" charset="0"/>
              </a:rPr>
              <a:t>unsigned  </a:t>
            </a:r>
          </a:p>
          <a:p>
            <a:pPr>
              <a:lnSpc>
                <a:spcPct val="170000"/>
              </a:lnSpc>
              <a:defRPr/>
            </a:pPr>
            <a:r>
              <a:rPr kumimoji="1" lang="en-US" altLang="zh-CN" sz="2400" b="1" dirty="0" err="1">
                <a:solidFill>
                  <a:srgbClr val="FFFF00"/>
                </a:solidFill>
                <a:latin typeface="微软雅黑" pitchFamily="34" charset="-122"/>
                <a:ea typeface="微软雅黑" pitchFamily="34" charset="-122"/>
                <a:cs typeface="Times New Roman" pitchFamily="18" charset="0"/>
              </a:rPr>
              <a:t>int</a:t>
            </a:r>
            <a:r>
              <a:rPr kumimoji="1" lang="en-US" altLang="zh-CN" sz="2400" b="1" dirty="0">
                <a:solidFill>
                  <a:srgbClr val="FFFF00"/>
                </a:solidFill>
                <a:latin typeface="微软雅黑" pitchFamily="34" charset="-122"/>
                <a:ea typeface="微软雅黑" pitchFamily="34" charset="-122"/>
                <a:cs typeface="Times New Roman" pitchFamily="18" charset="0"/>
              </a:rPr>
              <a:t>      char,  short</a:t>
            </a:r>
          </a:p>
        </p:txBody>
      </p:sp>
      <p:sp>
        <p:nvSpPr>
          <p:cNvPr id="30737" name="Line 46"/>
          <p:cNvSpPr>
            <a:spLocks noChangeShapeType="1"/>
          </p:cNvSpPr>
          <p:nvPr/>
        </p:nvSpPr>
        <p:spPr bwMode="auto">
          <a:xfrm flipV="1">
            <a:off x="6804025" y="3573463"/>
            <a:ext cx="14288" cy="338137"/>
          </a:xfrm>
          <a:prstGeom prst="line">
            <a:avLst/>
          </a:prstGeom>
          <a:solidFill>
            <a:schemeClr val="accent2">
              <a:lumMod val="50000"/>
            </a:schemeClr>
          </a:solidFill>
          <a:ln w="57150">
            <a:solidFill>
              <a:schemeClr val="bg1"/>
            </a:solidFill>
            <a:round/>
            <a:tailEnd type="triangle" w="med" len="med"/>
          </a:ln>
        </p:spPr>
        <p:txBody>
          <a:bodyPr wrap="none" lIns="90000" tIns="46800" rIns="90000" bIns="46800" anchor="ctr"/>
          <a:lstStyle/>
          <a:p>
            <a:pPr eaLnBrk="1" hangingPunct="1">
              <a:defRPr/>
            </a:pPr>
            <a:endParaRPr lang="zh-CN" altLang="en-US">
              <a:solidFill>
                <a:srgbClr val="FFFF00"/>
              </a:solidFill>
              <a:latin typeface="微软雅黑" pitchFamily="34" charset="-122"/>
              <a:ea typeface="微软雅黑" pitchFamily="34" charset="-122"/>
            </a:endParaRPr>
          </a:p>
        </p:txBody>
      </p:sp>
      <p:sp>
        <p:nvSpPr>
          <p:cNvPr id="30738" name="Line 47"/>
          <p:cNvSpPr>
            <a:spLocks noChangeShapeType="1"/>
          </p:cNvSpPr>
          <p:nvPr/>
        </p:nvSpPr>
        <p:spPr bwMode="auto">
          <a:xfrm flipH="1" flipV="1">
            <a:off x="6804025" y="4149725"/>
            <a:ext cx="38100" cy="346075"/>
          </a:xfrm>
          <a:prstGeom prst="line">
            <a:avLst/>
          </a:prstGeom>
          <a:solidFill>
            <a:schemeClr val="accent2">
              <a:lumMod val="50000"/>
            </a:schemeClr>
          </a:solidFill>
          <a:ln w="57150">
            <a:solidFill>
              <a:schemeClr val="bg1"/>
            </a:solidFill>
            <a:round/>
            <a:tailEnd type="triangle" w="med" len="med"/>
          </a:ln>
        </p:spPr>
        <p:txBody>
          <a:bodyPr wrap="none" lIns="90000" tIns="46800" rIns="90000" bIns="46800" anchor="ctr"/>
          <a:lstStyle/>
          <a:p>
            <a:pPr eaLnBrk="1" hangingPunct="1">
              <a:defRPr/>
            </a:pPr>
            <a:endParaRPr lang="zh-CN" altLang="en-US">
              <a:solidFill>
                <a:srgbClr val="FFFF00"/>
              </a:solidFill>
              <a:latin typeface="微软雅黑" pitchFamily="34" charset="-122"/>
              <a:ea typeface="微软雅黑" pitchFamily="34" charset="-122"/>
            </a:endParaRPr>
          </a:p>
        </p:txBody>
      </p:sp>
      <p:sp>
        <p:nvSpPr>
          <p:cNvPr id="30739" name="Line 48"/>
          <p:cNvSpPr>
            <a:spLocks noChangeShapeType="1"/>
          </p:cNvSpPr>
          <p:nvPr/>
        </p:nvSpPr>
        <p:spPr bwMode="auto">
          <a:xfrm flipV="1">
            <a:off x="6804025" y="4724400"/>
            <a:ext cx="0" cy="350838"/>
          </a:xfrm>
          <a:prstGeom prst="line">
            <a:avLst/>
          </a:prstGeom>
          <a:solidFill>
            <a:schemeClr val="accent2">
              <a:lumMod val="50000"/>
            </a:schemeClr>
          </a:solidFill>
          <a:ln w="57150">
            <a:solidFill>
              <a:schemeClr val="bg1"/>
            </a:solidFill>
            <a:round/>
            <a:tailEnd type="triangle" w="med" len="med"/>
          </a:ln>
        </p:spPr>
        <p:txBody>
          <a:bodyPr wrap="none" lIns="90000" tIns="46800" rIns="90000" bIns="46800" anchor="ctr"/>
          <a:lstStyle/>
          <a:p>
            <a:pPr eaLnBrk="1" hangingPunct="1">
              <a:defRPr/>
            </a:pPr>
            <a:endParaRPr lang="zh-CN" altLang="en-US">
              <a:solidFill>
                <a:srgbClr val="FFFF00"/>
              </a:solidFill>
              <a:latin typeface="微软雅黑" pitchFamily="34" charset="-122"/>
              <a:ea typeface="微软雅黑" pitchFamily="34" charset="-122"/>
            </a:endParaRPr>
          </a:p>
        </p:txBody>
      </p:sp>
      <p:sp>
        <p:nvSpPr>
          <p:cNvPr id="30740" name="Line 49"/>
          <p:cNvSpPr>
            <a:spLocks noChangeShapeType="1"/>
          </p:cNvSpPr>
          <p:nvPr/>
        </p:nvSpPr>
        <p:spPr bwMode="auto">
          <a:xfrm flipH="1">
            <a:off x="7885113" y="3500438"/>
            <a:ext cx="454025" cy="0"/>
          </a:xfrm>
          <a:prstGeom prst="line">
            <a:avLst/>
          </a:prstGeom>
          <a:solidFill>
            <a:schemeClr val="accent2">
              <a:lumMod val="50000"/>
            </a:schemeClr>
          </a:solidFill>
          <a:ln w="57150">
            <a:solidFill>
              <a:schemeClr val="bg1"/>
            </a:solidFill>
            <a:round/>
            <a:tailEnd type="triangle" w="med" len="med"/>
          </a:ln>
        </p:spPr>
        <p:txBody>
          <a:bodyPr wrap="none" lIns="90000" tIns="46800" rIns="90000" bIns="46800" anchor="ctr"/>
          <a:lstStyle/>
          <a:p>
            <a:pPr eaLnBrk="1" hangingPunct="1">
              <a:defRPr/>
            </a:pPr>
            <a:endParaRPr lang="zh-CN" altLang="en-US">
              <a:solidFill>
                <a:srgbClr val="FFFF00"/>
              </a:solidFill>
              <a:latin typeface="微软雅黑" pitchFamily="34" charset="-122"/>
              <a:ea typeface="微软雅黑" pitchFamily="34" charset="-122"/>
            </a:endParaRPr>
          </a:p>
        </p:txBody>
      </p:sp>
      <p:sp>
        <p:nvSpPr>
          <p:cNvPr id="30741" name="Line 50"/>
          <p:cNvSpPr>
            <a:spLocks noChangeShapeType="1"/>
          </p:cNvSpPr>
          <p:nvPr/>
        </p:nvSpPr>
        <p:spPr bwMode="auto">
          <a:xfrm flipH="1">
            <a:off x="7164388" y="5805488"/>
            <a:ext cx="400050" cy="0"/>
          </a:xfrm>
          <a:prstGeom prst="line">
            <a:avLst/>
          </a:prstGeom>
          <a:solidFill>
            <a:schemeClr val="accent2">
              <a:lumMod val="50000"/>
            </a:schemeClr>
          </a:solidFill>
          <a:ln w="57150">
            <a:solidFill>
              <a:schemeClr val="bg1"/>
            </a:solidFill>
            <a:round/>
            <a:tailEnd type="triangle" w="med" len="med"/>
          </a:ln>
        </p:spPr>
        <p:txBody>
          <a:bodyPr wrap="none" lIns="90000" tIns="46800" rIns="90000" bIns="46800" anchor="ctr"/>
          <a:lstStyle/>
          <a:p>
            <a:pPr eaLnBrk="1" hangingPunct="1">
              <a:defRPr/>
            </a:pPr>
            <a:endParaRPr lang="zh-CN" altLang="en-US">
              <a:solidFill>
                <a:srgbClr val="FFFF00"/>
              </a:solidFill>
              <a:latin typeface="微软雅黑" pitchFamily="34" charset="-122"/>
              <a:ea typeface="微软雅黑" pitchFamily="34" charset="-122"/>
            </a:endParaRPr>
          </a:p>
        </p:txBody>
      </p:sp>
      <p:sp>
        <p:nvSpPr>
          <p:cNvPr id="46" name="Line 48"/>
          <p:cNvSpPr>
            <a:spLocks noChangeShapeType="1"/>
          </p:cNvSpPr>
          <p:nvPr/>
        </p:nvSpPr>
        <p:spPr bwMode="auto">
          <a:xfrm flipV="1">
            <a:off x="6804025" y="5949950"/>
            <a:ext cx="0" cy="349250"/>
          </a:xfrm>
          <a:prstGeom prst="line">
            <a:avLst/>
          </a:prstGeom>
          <a:solidFill>
            <a:schemeClr val="accent2">
              <a:lumMod val="50000"/>
            </a:schemeClr>
          </a:solidFill>
          <a:ln w="57150">
            <a:solidFill>
              <a:schemeClr val="bg1"/>
            </a:solidFill>
            <a:round/>
            <a:tailEnd type="triangle" w="med" len="med"/>
          </a:ln>
        </p:spPr>
        <p:txBody>
          <a:bodyPr wrap="none" lIns="90000" tIns="46800" rIns="90000" bIns="46800" anchor="ctr"/>
          <a:lstStyle/>
          <a:p>
            <a:pPr eaLnBrk="1" hangingPunct="1">
              <a:defRPr/>
            </a:pPr>
            <a:endParaRPr lang="zh-CN" altLang="en-US">
              <a:solidFill>
                <a:srgbClr val="FFFF00"/>
              </a:solidFill>
              <a:latin typeface="微软雅黑" pitchFamily="34" charset="-122"/>
              <a:ea typeface="微软雅黑" pitchFamily="34" charset="-122"/>
            </a:endParaRPr>
          </a:p>
        </p:txBody>
      </p:sp>
      <p:sp>
        <p:nvSpPr>
          <p:cNvPr id="22548" name="Rectangle 4"/>
          <p:cNvSpPr>
            <a:spLocks noChangeArrowheads="1"/>
          </p:cNvSpPr>
          <p:nvPr/>
        </p:nvSpPr>
        <p:spPr bwMode="auto">
          <a:xfrm>
            <a:off x="0" y="578505"/>
            <a:ext cx="41344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数据类型转换</a:t>
            </a:r>
          </a:p>
        </p:txBody>
      </p:sp>
    </p:spTree>
    <p:extLst>
      <p:ext uri="{BB962C8B-B14F-4D97-AF65-F5344CB8AC3E}">
        <p14:creationId xmlns:p14="http://schemas.microsoft.com/office/powerpoint/2010/main" val="328924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55653"/>
                                        </p:tgtEl>
                                        <p:attrNameLst>
                                          <p:attrName>style.visibility</p:attrName>
                                        </p:attrNameLst>
                                      </p:cBhvr>
                                      <p:to>
                                        <p:strVal val="visible"/>
                                      </p:to>
                                    </p:set>
                                    <p:anim calcmode="lin" valueType="num">
                                      <p:cBhvr>
                                        <p:cTn id="7" dur="500" fill="hold"/>
                                        <p:tgtEl>
                                          <p:spTgt spid="155653"/>
                                        </p:tgtEl>
                                        <p:attrNameLst>
                                          <p:attrName>ppt_x</p:attrName>
                                        </p:attrNameLst>
                                      </p:cBhvr>
                                      <p:tavLst>
                                        <p:tav tm="0">
                                          <p:val>
                                            <p:strVal val="#ppt_x-#ppt_w/2"/>
                                          </p:val>
                                        </p:tav>
                                        <p:tav tm="100000">
                                          <p:val>
                                            <p:strVal val="#ppt_x"/>
                                          </p:val>
                                        </p:tav>
                                      </p:tavLst>
                                    </p:anim>
                                    <p:anim calcmode="lin" valueType="num">
                                      <p:cBhvr>
                                        <p:cTn id="8" dur="500" fill="hold"/>
                                        <p:tgtEl>
                                          <p:spTgt spid="155653"/>
                                        </p:tgtEl>
                                        <p:attrNameLst>
                                          <p:attrName>ppt_y</p:attrName>
                                        </p:attrNameLst>
                                      </p:cBhvr>
                                      <p:tavLst>
                                        <p:tav tm="0">
                                          <p:val>
                                            <p:strVal val="#ppt_y"/>
                                          </p:val>
                                        </p:tav>
                                        <p:tav tm="100000">
                                          <p:val>
                                            <p:strVal val="#ppt_y"/>
                                          </p:val>
                                        </p:tav>
                                      </p:tavLst>
                                    </p:anim>
                                    <p:anim calcmode="lin" valueType="num">
                                      <p:cBhvr>
                                        <p:cTn id="9" dur="500" fill="hold"/>
                                        <p:tgtEl>
                                          <p:spTgt spid="155653"/>
                                        </p:tgtEl>
                                        <p:attrNameLst>
                                          <p:attrName>ppt_w</p:attrName>
                                        </p:attrNameLst>
                                      </p:cBhvr>
                                      <p:tavLst>
                                        <p:tav tm="0">
                                          <p:val>
                                            <p:fltVal val="0"/>
                                          </p:val>
                                        </p:tav>
                                        <p:tav tm="100000">
                                          <p:val>
                                            <p:strVal val="#ppt_w"/>
                                          </p:val>
                                        </p:tav>
                                      </p:tavLst>
                                    </p:anim>
                                    <p:anim calcmode="lin" valueType="num">
                                      <p:cBhvr>
                                        <p:cTn id="10" dur="500" fill="hold"/>
                                        <p:tgtEl>
                                          <p:spTgt spid="155653"/>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5" fill="hold" grpId="0" nodeType="clickEffect">
                                  <p:stCondLst>
                                    <p:cond delay="0"/>
                                  </p:stCondLst>
                                  <p:childTnLst>
                                    <p:set>
                                      <p:cBhvr>
                                        <p:cTn id="14" dur="1" fill="hold">
                                          <p:stCondLst>
                                            <p:cond delay="0"/>
                                          </p:stCondLst>
                                        </p:cTn>
                                        <p:tgtEl>
                                          <p:spTgt spid="155654"/>
                                        </p:tgtEl>
                                        <p:attrNameLst>
                                          <p:attrName>style.visibility</p:attrName>
                                        </p:attrNameLst>
                                      </p:cBhvr>
                                      <p:to>
                                        <p:strVal val="visible"/>
                                      </p:to>
                                    </p:set>
                                    <p:animEffect transition="in" filter="checkerboard(down)">
                                      <p:cBhvr>
                                        <p:cTn id="15" dur="500"/>
                                        <p:tgtEl>
                                          <p:spTgt spid="15565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55688"/>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155689"/>
                                        </p:tgtEl>
                                        <p:attrNameLst>
                                          <p:attrName>style.visibility</p:attrName>
                                        </p:attrNameLst>
                                      </p:cBhvr>
                                      <p:to>
                                        <p:strVal val="visible"/>
                                      </p:to>
                                    </p:set>
                                    <p:animEffect transition="in" filter="box(in)">
                                      <p:cBhvr>
                                        <p:cTn id="24" dur="500"/>
                                        <p:tgtEl>
                                          <p:spTgt spid="15568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 presetClass="entr" presetSubtype="10" fill="hold" grpId="0" nodeType="clickEffect">
                                  <p:stCondLst>
                                    <p:cond delay="0"/>
                                  </p:stCondLst>
                                  <p:childTnLst>
                                    <p:set>
                                      <p:cBhvr>
                                        <p:cTn id="28" dur="1" fill="hold">
                                          <p:stCondLst>
                                            <p:cond delay="0"/>
                                          </p:stCondLst>
                                        </p:cTn>
                                        <p:tgtEl>
                                          <p:spTgt spid="155690"/>
                                        </p:tgtEl>
                                        <p:attrNameLst>
                                          <p:attrName>style.visibility</p:attrName>
                                        </p:attrNameLst>
                                      </p:cBhvr>
                                      <p:to>
                                        <p:strVal val="visible"/>
                                      </p:to>
                                    </p:set>
                                    <p:animEffect transition="in" filter="checkerboard(across)">
                                      <p:cBhvr>
                                        <p:cTn id="29" dur="500"/>
                                        <p:tgtEl>
                                          <p:spTgt spid="15569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ntr" presetSubtype="10" fill="hold" grpId="0" nodeType="clickEffect">
                                  <p:stCondLst>
                                    <p:cond delay="0"/>
                                  </p:stCondLst>
                                  <p:childTnLst>
                                    <p:set>
                                      <p:cBhvr>
                                        <p:cTn id="33" dur="1" fill="hold">
                                          <p:stCondLst>
                                            <p:cond delay="0"/>
                                          </p:stCondLst>
                                        </p:cTn>
                                        <p:tgtEl>
                                          <p:spTgt spid="155691"/>
                                        </p:tgtEl>
                                        <p:attrNameLst>
                                          <p:attrName>style.visibility</p:attrName>
                                        </p:attrNameLst>
                                      </p:cBhvr>
                                      <p:to>
                                        <p:strVal val="visible"/>
                                      </p:to>
                                    </p:set>
                                    <p:animEffect transition="in" filter="checkerboard(across)">
                                      <p:cBhvr>
                                        <p:cTn id="34" dur="500"/>
                                        <p:tgtEl>
                                          <p:spTgt spid="1556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3" grpId="0"/>
      <p:bldP spid="155654" grpId="0"/>
      <p:bldP spid="155688" grpId="0"/>
      <p:bldP spid="155689" grpId="0"/>
      <p:bldP spid="155690" grpId="0"/>
      <p:bldP spid="15569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50" name="Text Box 10"/>
          <p:cNvSpPr txBox="1">
            <a:spLocks noChangeArrowheads="1"/>
          </p:cNvSpPr>
          <p:nvPr/>
        </p:nvSpPr>
        <p:spPr bwMode="auto">
          <a:xfrm>
            <a:off x="0" y="1222375"/>
            <a:ext cx="8964613" cy="831850"/>
          </a:xfrm>
          <a:prstGeom prst="rect">
            <a:avLst/>
          </a:prstGeom>
          <a:solidFill>
            <a:schemeClr val="bg1"/>
          </a:solidFill>
          <a:ln w="12700">
            <a:solidFill>
              <a:srgbClr val="336600"/>
            </a:solidFill>
            <a:miter lim="800000"/>
          </a:ln>
          <a:effectLst/>
        </p:spPr>
        <p:txBody>
          <a:bodyPr lIns="90000" tIns="46800" rIns="90000" bIns="46800" anchor="ctr">
            <a:spAutoFit/>
          </a:bodyPr>
          <a:lstStyle>
            <a:lvl1pPr eaLnBrk="0" hangingPunct="0">
              <a:defRPr>
                <a:solidFill>
                  <a:schemeClr val="tx1"/>
                </a:solidFill>
                <a:latin typeface="Calibri" pitchFamily="34" charset="0"/>
                <a:ea typeface="黑体" pitchFamily="49" charset="-122"/>
              </a:defRPr>
            </a:lvl1pPr>
            <a:lvl2pPr marL="742950" indent="-285750" eaLnBrk="0" hangingPunct="0">
              <a:defRPr>
                <a:solidFill>
                  <a:schemeClr val="tx1"/>
                </a:solidFill>
                <a:latin typeface="Calibri" pitchFamily="34" charset="0"/>
                <a:ea typeface="黑体" pitchFamily="49" charset="-122"/>
              </a:defRPr>
            </a:lvl2pPr>
            <a:lvl3pPr marL="1143000" indent="-228600" eaLnBrk="0" hangingPunct="0">
              <a:defRPr>
                <a:solidFill>
                  <a:schemeClr val="tx1"/>
                </a:solidFill>
                <a:latin typeface="Calibri" pitchFamily="34" charset="0"/>
                <a:ea typeface="黑体" pitchFamily="49" charset="-122"/>
              </a:defRPr>
            </a:lvl3pPr>
            <a:lvl4pPr marL="1600200" indent="-228600" eaLnBrk="0" hangingPunct="0">
              <a:defRPr>
                <a:solidFill>
                  <a:schemeClr val="tx1"/>
                </a:solidFill>
                <a:latin typeface="Calibri" pitchFamily="34" charset="0"/>
                <a:ea typeface="黑体" pitchFamily="49" charset="-122"/>
              </a:defRPr>
            </a:lvl4pPr>
            <a:lvl5pPr marL="2057400" indent="-228600" eaLnBrk="0" hangingPunct="0">
              <a:defRPr>
                <a:solidFill>
                  <a:schemeClr val="tx1"/>
                </a:solidFill>
                <a:latin typeface="Calibri" pitchFamily="34" charset="0"/>
                <a:ea typeface="黑体" pitchFamily="49"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黑体" pitchFamily="49"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黑体" pitchFamily="49"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黑体" pitchFamily="49"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黑体" pitchFamily="49" charset="-122"/>
              </a:defRPr>
            </a:lvl9pPr>
          </a:lstStyle>
          <a:p>
            <a:pPr eaLnBrk="1" hangingPunct="1">
              <a:defRPr/>
            </a:pPr>
            <a:r>
              <a:rPr lang="zh-CN" altLang="en-US" sz="2400" b="1" noProof="1">
                <a:solidFill>
                  <a:srgbClr val="660033"/>
                </a:solidFill>
                <a:latin typeface="微软雅黑" pitchFamily="34" charset="-122"/>
                <a:ea typeface="微软雅黑" pitchFamily="34" charset="-122"/>
                <a:cs typeface="黑体" pitchFamily="49" charset="-122"/>
              </a:rPr>
              <a:t>思考： 如果有</a:t>
            </a:r>
            <a:r>
              <a:rPr lang="en-US" altLang="zh-CN" sz="2400" b="1" noProof="1">
                <a:solidFill>
                  <a:srgbClr val="660033"/>
                </a:solidFill>
                <a:latin typeface="微软雅黑" pitchFamily="34" charset="-122"/>
                <a:ea typeface="微软雅黑" pitchFamily="34" charset="-122"/>
                <a:cs typeface="黑体" pitchFamily="49" charset="-122"/>
              </a:rPr>
              <a:t>int i;    float  f;   double d;   long e;</a:t>
            </a:r>
          </a:p>
          <a:p>
            <a:pPr eaLnBrk="1" hangingPunct="1">
              <a:defRPr/>
            </a:pPr>
            <a:r>
              <a:rPr lang="en-US" altLang="en-US" sz="2400" b="1" noProof="1">
                <a:solidFill>
                  <a:srgbClr val="660033"/>
                </a:solidFill>
                <a:latin typeface="微软雅黑" pitchFamily="34" charset="-122"/>
                <a:ea typeface="微软雅黑" pitchFamily="34" charset="-122"/>
                <a:cs typeface="黑体" pitchFamily="49" charset="-122"/>
              </a:rPr>
              <a:t>       </a:t>
            </a:r>
            <a:r>
              <a:rPr lang="zh-CN" altLang="en-US" sz="2400" b="1" noProof="1">
                <a:solidFill>
                  <a:srgbClr val="660033"/>
                </a:solidFill>
                <a:latin typeface="微软雅黑" pitchFamily="34" charset="-122"/>
                <a:ea typeface="微软雅黑" pitchFamily="34" charset="-122"/>
                <a:cs typeface="黑体" pitchFamily="49" charset="-122"/>
              </a:rPr>
              <a:t>则 表达式10+’</a:t>
            </a:r>
            <a:r>
              <a:rPr lang="en-US" altLang="zh-CN" sz="2400" b="1" noProof="1">
                <a:solidFill>
                  <a:srgbClr val="660033"/>
                </a:solidFill>
                <a:latin typeface="微软雅黑" pitchFamily="34" charset="-122"/>
                <a:ea typeface="微软雅黑" pitchFamily="34" charset="-122"/>
                <a:cs typeface="黑体" pitchFamily="49" charset="-122"/>
              </a:rPr>
              <a:t>a’+i*f-d/e </a:t>
            </a:r>
            <a:r>
              <a:rPr lang="zh-CN" altLang="en-US" sz="2400" b="1" noProof="1">
                <a:solidFill>
                  <a:srgbClr val="660033"/>
                </a:solidFill>
                <a:latin typeface="微软雅黑" pitchFamily="34" charset="-122"/>
                <a:ea typeface="微软雅黑" pitchFamily="34" charset="-122"/>
                <a:cs typeface="黑体" pitchFamily="49" charset="-122"/>
              </a:rPr>
              <a:t>的结果是什么类型？</a:t>
            </a:r>
            <a:endParaRPr lang="zh-CN" altLang="zh-CN" sz="2400" b="1" i="1" noProof="1">
              <a:solidFill>
                <a:srgbClr val="660033"/>
              </a:solidFill>
              <a:effectLst>
                <a:outerShdw blurRad="38100" dist="38100" dir="2700000" algn="tl">
                  <a:srgbClr val="C0C0C0"/>
                </a:outerShdw>
              </a:effectLst>
              <a:latin typeface="微软雅黑" pitchFamily="34" charset="-122"/>
              <a:ea typeface="微软雅黑" pitchFamily="34" charset="-122"/>
            </a:endParaRPr>
          </a:p>
        </p:txBody>
      </p:sp>
      <p:sp>
        <p:nvSpPr>
          <p:cNvPr id="138259" name="Text Box 19"/>
          <p:cNvSpPr txBox="1">
            <a:spLocks noChangeArrowheads="1"/>
          </p:cNvSpPr>
          <p:nvPr/>
        </p:nvSpPr>
        <p:spPr bwMode="auto">
          <a:xfrm>
            <a:off x="0" y="2143125"/>
            <a:ext cx="6300788"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46800" anchor="ct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r>
              <a:rPr lang="zh-CN" altLang="en-US" sz="2800" b="1">
                <a:solidFill>
                  <a:srgbClr val="C00000"/>
                </a:solidFill>
                <a:latin typeface="微软雅黑" pitchFamily="34" charset="-122"/>
                <a:ea typeface="微软雅黑" pitchFamily="34" charset="-122"/>
              </a:rPr>
              <a:t>2</a:t>
            </a:r>
            <a:r>
              <a:rPr lang="en-US" altLang="zh-CN" sz="2800" b="1">
                <a:solidFill>
                  <a:srgbClr val="C00000"/>
                </a:solidFill>
                <a:latin typeface="微软雅黑" pitchFamily="34" charset="-122"/>
                <a:ea typeface="微软雅黑" pitchFamily="34" charset="-122"/>
              </a:rPr>
              <a:t>.</a:t>
            </a:r>
            <a:r>
              <a:rPr lang="zh-CN" altLang="en-US" sz="2800" b="1">
                <a:solidFill>
                  <a:srgbClr val="C00000"/>
                </a:solidFill>
                <a:latin typeface="微软雅黑" pitchFamily="34" charset="-122"/>
                <a:ea typeface="微软雅黑" pitchFamily="34" charset="-122"/>
              </a:rPr>
              <a:t>类型转换运算符</a:t>
            </a:r>
            <a:endParaRPr lang="en-US" altLang="zh-CN" sz="2800" b="1">
              <a:solidFill>
                <a:srgbClr val="C00000"/>
              </a:solidFill>
              <a:latin typeface="微软雅黑" pitchFamily="34" charset="-122"/>
              <a:ea typeface="微软雅黑" pitchFamily="34" charset="-122"/>
            </a:endParaRPr>
          </a:p>
          <a:p>
            <a:r>
              <a:rPr lang="zh-CN" altLang="en-US" sz="2800" b="1">
                <a:solidFill>
                  <a:srgbClr val="C00000"/>
                </a:solidFill>
                <a:latin typeface="微软雅黑" pitchFamily="34" charset="-122"/>
                <a:ea typeface="微软雅黑" pitchFamily="34" charset="-122"/>
              </a:rPr>
              <a:t>格式： (类型</a:t>
            </a:r>
            <a:r>
              <a:rPr lang="en-US" altLang="zh-CN" sz="2800" b="1">
                <a:solidFill>
                  <a:srgbClr val="C00000"/>
                </a:solidFill>
                <a:latin typeface="微软雅黑" pitchFamily="34" charset="-122"/>
                <a:ea typeface="微软雅黑" pitchFamily="34" charset="-122"/>
              </a:rPr>
              <a:t>)  </a:t>
            </a:r>
            <a:r>
              <a:rPr lang="zh-CN" altLang="en-US" sz="2800" b="1">
                <a:solidFill>
                  <a:srgbClr val="C00000"/>
                </a:solidFill>
                <a:latin typeface="微软雅黑" pitchFamily="34" charset="-122"/>
                <a:ea typeface="微软雅黑" pitchFamily="34" charset="-122"/>
              </a:rPr>
              <a:t>表达式</a:t>
            </a:r>
            <a:endParaRPr lang="en-US" altLang="zh-CN" sz="2800" b="1">
              <a:solidFill>
                <a:srgbClr val="C00000"/>
              </a:solidFill>
              <a:latin typeface="微软雅黑" pitchFamily="34" charset="-122"/>
              <a:ea typeface="微软雅黑" pitchFamily="34" charset="-122"/>
            </a:endParaRPr>
          </a:p>
        </p:txBody>
      </p:sp>
      <p:sp>
        <p:nvSpPr>
          <p:cNvPr id="138260" name="Text Box 20"/>
          <p:cNvSpPr txBox="1">
            <a:spLocks noChangeArrowheads="1"/>
          </p:cNvSpPr>
          <p:nvPr/>
        </p:nvSpPr>
        <p:spPr bwMode="auto">
          <a:xfrm>
            <a:off x="4572000" y="2471738"/>
            <a:ext cx="4110038"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nchor="ct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r>
              <a:rPr lang="zh-CN" altLang="zh-CN" sz="2400" b="1">
                <a:solidFill>
                  <a:srgbClr val="002060"/>
                </a:solidFill>
                <a:latin typeface="微软雅黑" pitchFamily="34" charset="-122"/>
                <a:ea typeface="微软雅黑" pitchFamily="34" charset="-122"/>
              </a:rPr>
              <a:t> （</a:t>
            </a:r>
            <a:r>
              <a:rPr lang="en-US" altLang="en-US" sz="2400" b="1">
                <a:solidFill>
                  <a:srgbClr val="002060"/>
                </a:solidFill>
                <a:latin typeface="微软雅黑" pitchFamily="34" charset="-122"/>
                <a:ea typeface="微软雅黑" pitchFamily="34" charset="-122"/>
              </a:rPr>
              <a:t>int) (</a:t>
            </a:r>
            <a:r>
              <a:rPr lang="zh-CN" altLang="en-US" sz="2400" b="1" u="sng">
                <a:solidFill>
                  <a:srgbClr val="002060"/>
                </a:solidFill>
                <a:latin typeface="微软雅黑" pitchFamily="34" charset="-122"/>
                <a:ea typeface="微软雅黑" pitchFamily="34" charset="-122"/>
              </a:rPr>
              <a:t>10+’</a:t>
            </a:r>
            <a:r>
              <a:rPr lang="en-US" altLang="zh-CN" sz="2400" b="1" u="sng">
                <a:solidFill>
                  <a:srgbClr val="002060"/>
                </a:solidFill>
                <a:latin typeface="微软雅黑" pitchFamily="34" charset="-122"/>
                <a:ea typeface="微软雅黑" pitchFamily="34" charset="-122"/>
              </a:rPr>
              <a:t>a’+i*f-d/e</a:t>
            </a:r>
            <a:r>
              <a:rPr lang="en-US" altLang="zh-CN" sz="2400" b="1">
                <a:solidFill>
                  <a:srgbClr val="002060"/>
                </a:solidFill>
                <a:latin typeface="微软雅黑" pitchFamily="34" charset="-122"/>
                <a:ea typeface="微软雅黑" pitchFamily="34" charset="-122"/>
              </a:rPr>
              <a:t>)</a:t>
            </a:r>
          </a:p>
        </p:txBody>
      </p:sp>
      <p:sp>
        <p:nvSpPr>
          <p:cNvPr id="138261" name="Text Box 21"/>
          <p:cNvSpPr txBox="1">
            <a:spLocks noChangeArrowheads="1"/>
          </p:cNvSpPr>
          <p:nvPr/>
        </p:nvSpPr>
        <p:spPr bwMode="auto">
          <a:xfrm>
            <a:off x="0" y="3117850"/>
            <a:ext cx="8153400" cy="525463"/>
          </a:xfrm>
          <a:prstGeom prst="rect">
            <a:avLst/>
          </a:prstGeom>
          <a:noFill/>
          <a:ln w="12700">
            <a:noFill/>
            <a:miter lim="800000"/>
          </a:ln>
        </p:spPr>
        <p:txBody>
          <a:bodyPr lIns="90000" tIns="46800" rIns="90000" bIns="46800" anchor="ctr">
            <a:spAutoFit/>
          </a:bodyPr>
          <a:lstStyle/>
          <a:p>
            <a:pPr>
              <a:defRPr/>
            </a:pPr>
            <a:r>
              <a:rPr kumimoji="1" lang="zh-CN" altLang="en-US" sz="2800" b="1" dirty="0">
                <a:solidFill>
                  <a:schemeClr val="accent5">
                    <a:lumMod val="25000"/>
                  </a:schemeClr>
                </a:solidFill>
                <a:latin typeface="微软雅黑" pitchFamily="34" charset="-122"/>
                <a:ea typeface="微软雅黑" pitchFamily="34" charset="-122"/>
                <a:cs typeface="Times New Roman" pitchFamily="18" charset="0"/>
              </a:rPr>
              <a:t>功能：将表达式的结果强制转换为指定的类型。</a:t>
            </a:r>
            <a:r>
              <a:rPr kumimoji="1" lang="en-US" altLang="zh-CN" sz="2800" b="1" dirty="0">
                <a:solidFill>
                  <a:schemeClr val="accent5">
                    <a:lumMod val="25000"/>
                  </a:schemeClr>
                </a:solidFill>
                <a:latin typeface="微软雅黑" pitchFamily="34" charset="-122"/>
                <a:ea typeface="微软雅黑" pitchFamily="34" charset="-122"/>
                <a:cs typeface="Times New Roman" pitchFamily="18" charset="0"/>
              </a:rPr>
              <a:t> </a:t>
            </a:r>
          </a:p>
        </p:txBody>
      </p:sp>
      <p:pic>
        <p:nvPicPr>
          <p:cNvPr id="23558" name="Picture 234" descr="j015906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77075" y="4800600"/>
            <a:ext cx="1601788" cy="145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4"/>
          <p:cNvSpPr>
            <a:spLocks noChangeArrowheads="1"/>
          </p:cNvSpPr>
          <p:nvPr/>
        </p:nvSpPr>
        <p:spPr bwMode="auto">
          <a:xfrm>
            <a:off x="428595" y="3770331"/>
            <a:ext cx="8064500" cy="1200329"/>
          </a:xfrm>
          <a:prstGeom prst="rect">
            <a:avLst/>
          </a:prstGeom>
          <a:solidFill>
            <a:schemeClr val="tx2">
              <a:lumMod val="20000"/>
              <a:lumOff val="80000"/>
            </a:schemeClr>
          </a:solidFill>
          <a:ln w="9525">
            <a:noFill/>
            <a:miter lim="800000"/>
          </a:ln>
          <a:effectLst>
            <a:softEdge rad="317500"/>
          </a:effectLst>
        </p:spPr>
        <p:txBody>
          <a:bodyPr>
            <a:spAutoFit/>
          </a:bodyPr>
          <a:lstStyle/>
          <a:p>
            <a:pPr eaLnBrk="1" hangingPunct="1">
              <a:defRPr/>
            </a:pPr>
            <a:r>
              <a:rPr lang="en-US" altLang="zh-CN" sz="2400" b="1" dirty="0">
                <a:solidFill>
                  <a:srgbClr val="002060"/>
                </a:solidFill>
                <a:latin typeface="微软雅黑" pitchFamily="34" charset="-122"/>
                <a:ea typeface="微软雅黑" pitchFamily="34" charset="-122"/>
              </a:rPr>
              <a:t>(</a:t>
            </a:r>
            <a:r>
              <a:rPr lang="en-US" altLang="zh-CN" sz="2400" b="1" dirty="0" err="1">
                <a:solidFill>
                  <a:srgbClr val="002060"/>
                </a:solidFill>
                <a:latin typeface="微软雅黑" pitchFamily="34" charset="-122"/>
                <a:ea typeface="微软雅黑" pitchFamily="34" charset="-122"/>
              </a:rPr>
              <a:t>int</a:t>
            </a:r>
            <a:r>
              <a:rPr lang="en-US" altLang="zh-CN" sz="2400" b="1" dirty="0">
                <a:solidFill>
                  <a:srgbClr val="002060"/>
                </a:solidFill>
                <a:latin typeface="微软雅黑" pitchFamily="34" charset="-122"/>
                <a:ea typeface="微软雅黑" pitchFamily="34" charset="-122"/>
              </a:rPr>
              <a:t>)a      </a:t>
            </a:r>
            <a:r>
              <a:rPr lang="zh-CN" altLang="en-US" sz="2400" b="1" dirty="0">
                <a:solidFill>
                  <a:srgbClr val="002060"/>
                </a:solidFill>
                <a:latin typeface="微软雅黑" pitchFamily="34" charset="-122"/>
                <a:ea typeface="微软雅黑" pitchFamily="34" charset="-122"/>
              </a:rPr>
              <a:t>将</a:t>
            </a:r>
            <a:r>
              <a:rPr lang="en-US" altLang="zh-CN" sz="2400" b="1" dirty="0">
                <a:solidFill>
                  <a:srgbClr val="002060"/>
                </a:solidFill>
                <a:latin typeface="微软雅黑" pitchFamily="34" charset="-122"/>
                <a:ea typeface="微软雅黑" pitchFamily="34" charset="-122"/>
              </a:rPr>
              <a:t>a</a:t>
            </a:r>
            <a:r>
              <a:rPr lang="zh-CN" altLang="en-US" sz="2400" b="1" dirty="0">
                <a:solidFill>
                  <a:srgbClr val="002060"/>
                </a:solidFill>
                <a:latin typeface="微软雅黑" pitchFamily="34" charset="-122"/>
                <a:ea typeface="微软雅黑" pitchFamily="34" charset="-122"/>
              </a:rPr>
              <a:t>的结果强制转换为整型量。</a:t>
            </a:r>
          </a:p>
          <a:p>
            <a:pPr eaLnBrk="1" hangingPunct="1">
              <a:defRPr/>
            </a:pPr>
            <a:r>
              <a:rPr lang="en-US" altLang="zh-CN" sz="2400" b="1" dirty="0">
                <a:solidFill>
                  <a:srgbClr val="002060"/>
                </a:solidFill>
                <a:latin typeface="微软雅黑" pitchFamily="34" charset="-122"/>
                <a:ea typeface="微软雅黑" pitchFamily="34" charset="-122"/>
              </a:rPr>
              <a:t>(</a:t>
            </a:r>
            <a:r>
              <a:rPr lang="en-US" altLang="zh-CN" sz="2400" b="1" dirty="0" err="1">
                <a:solidFill>
                  <a:srgbClr val="002060"/>
                </a:solidFill>
                <a:latin typeface="微软雅黑" pitchFamily="34" charset="-122"/>
                <a:ea typeface="微软雅黑" pitchFamily="34" charset="-122"/>
              </a:rPr>
              <a:t>int</a:t>
            </a:r>
            <a:r>
              <a:rPr lang="en-US" altLang="zh-CN" sz="2400" b="1" dirty="0">
                <a:solidFill>
                  <a:srgbClr val="002060"/>
                </a:solidFill>
                <a:latin typeface="微软雅黑" pitchFamily="34" charset="-122"/>
                <a:ea typeface="微软雅黑" pitchFamily="34" charset="-122"/>
              </a:rPr>
              <a:t>)(</a:t>
            </a:r>
            <a:r>
              <a:rPr lang="en-US" altLang="zh-CN" sz="2400" b="1" dirty="0" err="1">
                <a:solidFill>
                  <a:srgbClr val="002060"/>
                </a:solidFill>
                <a:latin typeface="微软雅黑" pitchFamily="34" charset="-122"/>
                <a:ea typeface="微软雅黑" pitchFamily="34" charset="-122"/>
              </a:rPr>
              <a:t>x+y</a:t>
            </a:r>
            <a:r>
              <a:rPr lang="en-US" altLang="zh-CN" sz="2400" b="1" dirty="0">
                <a:solidFill>
                  <a:srgbClr val="002060"/>
                </a:solidFill>
                <a:latin typeface="微软雅黑" pitchFamily="34" charset="-122"/>
                <a:ea typeface="微软雅黑" pitchFamily="34" charset="-122"/>
              </a:rPr>
              <a:t>)  </a:t>
            </a:r>
            <a:r>
              <a:rPr lang="zh-CN" altLang="en-US" sz="2400" b="1" dirty="0">
                <a:solidFill>
                  <a:srgbClr val="002060"/>
                </a:solidFill>
                <a:latin typeface="微软雅黑" pitchFamily="34" charset="-122"/>
                <a:ea typeface="微软雅黑" pitchFamily="34" charset="-122"/>
              </a:rPr>
              <a:t>将</a:t>
            </a:r>
            <a:r>
              <a:rPr lang="en-US" altLang="zh-CN" sz="2400" b="1" dirty="0" err="1">
                <a:solidFill>
                  <a:srgbClr val="002060"/>
                </a:solidFill>
                <a:latin typeface="微软雅黑" pitchFamily="34" charset="-122"/>
                <a:ea typeface="微软雅黑" pitchFamily="34" charset="-122"/>
              </a:rPr>
              <a:t>x+y</a:t>
            </a:r>
            <a:r>
              <a:rPr lang="zh-CN" altLang="en-US" sz="2400" b="1" dirty="0">
                <a:solidFill>
                  <a:srgbClr val="002060"/>
                </a:solidFill>
                <a:latin typeface="微软雅黑" pitchFamily="34" charset="-122"/>
                <a:ea typeface="微软雅黑" pitchFamily="34" charset="-122"/>
              </a:rPr>
              <a:t>的结果强制转换为整型量。</a:t>
            </a:r>
          </a:p>
          <a:p>
            <a:pPr eaLnBrk="1" hangingPunct="1">
              <a:defRPr/>
            </a:pPr>
            <a:r>
              <a:rPr lang="en-US" altLang="zh-CN" sz="2400" b="1" dirty="0">
                <a:solidFill>
                  <a:srgbClr val="002060"/>
                </a:solidFill>
                <a:latin typeface="微软雅黑" pitchFamily="34" charset="-122"/>
                <a:ea typeface="微软雅黑" pitchFamily="34" charset="-122"/>
              </a:rPr>
              <a:t>(float)</a:t>
            </a:r>
            <a:r>
              <a:rPr lang="en-US" altLang="zh-CN" sz="2400" b="1" dirty="0" err="1">
                <a:solidFill>
                  <a:srgbClr val="002060"/>
                </a:solidFill>
                <a:latin typeface="微软雅黑" pitchFamily="34" charset="-122"/>
                <a:ea typeface="微软雅黑" pitchFamily="34" charset="-122"/>
              </a:rPr>
              <a:t>a+b</a:t>
            </a:r>
            <a:r>
              <a:rPr lang="en-US" altLang="zh-CN" sz="2400" b="1" dirty="0">
                <a:solidFill>
                  <a:srgbClr val="002060"/>
                </a:solidFill>
                <a:latin typeface="微软雅黑" pitchFamily="34" charset="-122"/>
                <a:ea typeface="微软雅黑" pitchFamily="34" charset="-122"/>
              </a:rPr>
              <a:t>  </a:t>
            </a:r>
            <a:r>
              <a:rPr lang="zh-CN" altLang="en-US" sz="2400" b="1" dirty="0">
                <a:solidFill>
                  <a:srgbClr val="002060"/>
                </a:solidFill>
                <a:latin typeface="微软雅黑" pitchFamily="34" charset="-122"/>
                <a:ea typeface="微软雅黑" pitchFamily="34" charset="-122"/>
              </a:rPr>
              <a:t>将</a:t>
            </a:r>
            <a:r>
              <a:rPr lang="en-US" altLang="zh-CN" sz="2400" b="1" dirty="0">
                <a:solidFill>
                  <a:srgbClr val="002060"/>
                </a:solidFill>
                <a:latin typeface="微软雅黑" pitchFamily="34" charset="-122"/>
                <a:ea typeface="微软雅黑" pitchFamily="34" charset="-122"/>
              </a:rPr>
              <a:t>a</a:t>
            </a:r>
            <a:r>
              <a:rPr lang="zh-CN" altLang="en-US" sz="2400" b="1" dirty="0">
                <a:solidFill>
                  <a:srgbClr val="002060"/>
                </a:solidFill>
                <a:latin typeface="微软雅黑" pitchFamily="34" charset="-122"/>
                <a:ea typeface="微软雅黑" pitchFamily="34" charset="-122"/>
              </a:rPr>
              <a:t>的内容强制转换为浮点数，再与</a:t>
            </a:r>
            <a:r>
              <a:rPr lang="en-US" altLang="zh-CN" sz="2400" b="1" dirty="0">
                <a:solidFill>
                  <a:srgbClr val="002060"/>
                </a:solidFill>
                <a:latin typeface="微软雅黑" pitchFamily="34" charset="-122"/>
                <a:ea typeface="微软雅黑" pitchFamily="34" charset="-122"/>
              </a:rPr>
              <a:t>b</a:t>
            </a:r>
            <a:r>
              <a:rPr lang="zh-CN" altLang="en-US" sz="2400" b="1" dirty="0">
                <a:solidFill>
                  <a:srgbClr val="002060"/>
                </a:solidFill>
                <a:latin typeface="微软雅黑" pitchFamily="34" charset="-122"/>
                <a:ea typeface="微软雅黑" pitchFamily="34" charset="-122"/>
              </a:rPr>
              <a:t>相加</a:t>
            </a:r>
          </a:p>
        </p:txBody>
      </p:sp>
      <p:sp>
        <p:nvSpPr>
          <p:cNvPr id="14" name="Rectangle 5"/>
          <p:cNvSpPr>
            <a:spLocks noChangeArrowheads="1"/>
          </p:cNvSpPr>
          <p:nvPr/>
        </p:nvSpPr>
        <p:spPr bwMode="auto">
          <a:xfrm>
            <a:off x="428625" y="5357813"/>
            <a:ext cx="6215063"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lnSpc>
                <a:spcPct val="90000"/>
              </a:lnSpc>
              <a:spcBef>
                <a:spcPct val="20000"/>
              </a:spcBef>
            </a:pPr>
            <a:r>
              <a:rPr lang="zh-CN" altLang="en-US" sz="2800" b="1">
                <a:solidFill>
                  <a:srgbClr val="C00000"/>
                </a:solidFill>
                <a:latin typeface="微软雅黑" pitchFamily="34" charset="-122"/>
                <a:ea typeface="微软雅黑" pitchFamily="34" charset="-122"/>
              </a:rPr>
              <a:t>无论隐式转换，强制转换都是临时转换，不改变数据本身的类型和值。</a:t>
            </a:r>
          </a:p>
        </p:txBody>
      </p:sp>
      <p:sp>
        <p:nvSpPr>
          <p:cNvPr id="23563" name="Rectangle 4"/>
          <p:cNvSpPr>
            <a:spLocks noChangeArrowheads="1"/>
          </p:cNvSpPr>
          <p:nvPr/>
        </p:nvSpPr>
        <p:spPr bwMode="auto">
          <a:xfrm>
            <a:off x="0" y="533400"/>
            <a:ext cx="41344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数据类型转换</a:t>
            </a:r>
          </a:p>
        </p:txBody>
      </p:sp>
    </p:spTree>
    <p:extLst>
      <p:ext uri="{BB962C8B-B14F-4D97-AF65-F5344CB8AC3E}">
        <p14:creationId xmlns:p14="http://schemas.microsoft.com/office/powerpoint/2010/main" val="16198917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iterate type="wd">
                                    <p:tmPct val="100000"/>
                                  </p:iterate>
                                  <p:childTnLst>
                                    <p:set>
                                      <p:cBhvr>
                                        <p:cTn id="6" dur="1" fill="hold">
                                          <p:stCondLst>
                                            <p:cond delay="0"/>
                                          </p:stCondLst>
                                        </p:cTn>
                                        <p:tgtEl>
                                          <p:spTgt spid="138250"/>
                                        </p:tgtEl>
                                        <p:attrNameLst>
                                          <p:attrName>style.visibility</p:attrName>
                                        </p:attrNameLst>
                                      </p:cBhvr>
                                      <p:to>
                                        <p:strVal val="visible"/>
                                      </p:to>
                                    </p:set>
                                    <p:animEffect transition="in" filter="blinds(vertical)">
                                      <p:cBhvr>
                                        <p:cTn id="7" dur="300"/>
                                        <p:tgtEl>
                                          <p:spTgt spid="1382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5" fill="hold" grpId="0" nodeType="clickEffect">
                                  <p:stCondLst>
                                    <p:cond delay="0"/>
                                  </p:stCondLst>
                                  <p:childTnLst>
                                    <p:set>
                                      <p:cBhvr>
                                        <p:cTn id="11" dur="1" fill="hold">
                                          <p:stCondLst>
                                            <p:cond delay="0"/>
                                          </p:stCondLst>
                                        </p:cTn>
                                        <p:tgtEl>
                                          <p:spTgt spid="138259"/>
                                        </p:tgtEl>
                                        <p:attrNameLst>
                                          <p:attrName>style.visibility</p:attrName>
                                        </p:attrNameLst>
                                      </p:cBhvr>
                                      <p:to>
                                        <p:strVal val="visible"/>
                                      </p:to>
                                    </p:set>
                                    <p:animEffect transition="in" filter="checkerboard(down)">
                                      <p:cBhvr>
                                        <p:cTn id="12" dur="500"/>
                                        <p:tgtEl>
                                          <p:spTgt spid="1382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8" fill="hold" grpId="0" nodeType="clickEffect">
                                  <p:stCondLst>
                                    <p:cond delay="0"/>
                                  </p:stCondLst>
                                  <p:childTnLst>
                                    <p:set>
                                      <p:cBhvr>
                                        <p:cTn id="16" dur="1" fill="hold">
                                          <p:stCondLst>
                                            <p:cond delay="0"/>
                                          </p:stCondLst>
                                        </p:cTn>
                                        <p:tgtEl>
                                          <p:spTgt spid="138260"/>
                                        </p:tgtEl>
                                        <p:attrNameLst>
                                          <p:attrName>style.visibility</p:attrName>
                                        </p:attrNameLst>
                                      </p:cBhvr>
                                      <p:to>
                                        <p:strVal val="visible"/>
                                      </p:to>
                                    </p:set>
                                    <p:anim calcmode="lin" valueType="num">
                                      <p:cBhvr>
                                        <p:cTn id="17" dur="500" fill="hold"/>
                                        <p:tgtEl>
                                          <p:spTgt spid="138260"/>
                                        </p:tgtEl>
                                        <p:attrNameLst>
                                          <p:attrName>ppt_x</p:attrName>
                                        </p:attrNameLst>
                                      </p:cBhvr>
                                      <p:tavLst>
                                        <p:tav tm="0">
                                          <p:val>
                                            <p:strVal val="#ppt_x-#ppt_w/2"/>
                                          </p:val>
                                        </p:tav>
                                        <p:tav tm="100000">
                                          <p:val>
                                            <p:strVal val="#ppt_x"/>
                                          </p:val>
                                        </p:tav>
                                      </p:tavLst>
                                    </p:anim>
                                    <p:anim calcmode="lin" valueType="num">
                                      <p:cBhvr>
                                        <p:cTn id="18" dur="500" fill="hold"/>
                                        <p:tgtEl>
                                          <p:spTgt spid="138260"/>
                                        </p:tgtEl>
                                        <p:attrNameLst>
                                          <p:attrName>ppt_y</p:attrName>
                                        </p:attrNameLst>
                                      </p:cBhvr>
                                      <p:tavLst>
                                        <p:tav tm="0">
                                          <p:val>
                                            <p:strVal val="#ppt_y"/>
                                          </p:val>
                                        </p:tav>
                                        <p:tav tm="100000">
                                          <p:val>
                                            <p:strVal val="#ppt_y"/>
                                          </p:val>
                                        </p:tav>
                                      </p:tavLst>
                                    </p:anim>
                                    <p:anim calcmode="lin" valueType="num">
                                      <p:cBhvr>
                                        <p:cTn id="19" dur="500" fill="hold"/>
                                        <p:tgtEl>
                                          <p:spTgt spid="138260"/>
                                        </p:tgtEl>
                                        <p:attrNameLst>
                                          <p:attrName>ppt_w</p:attrName>
                                        </p:attrNameLst>
                                      </p:cBhvr>
                                      <p:tavLst>
                                        <p:tav tm="0">
                                          <p:val>
                                            <p:fltVal val="0"/>
                                          </p:val>
                                        </p:tav>
                                        <p:tav tm="100000">
                                          <p:val>
                                            <p:strVal val="#ppt_w"/>
                                          </p:val>
                                        </p:tav>
                                      </p:tavLst>
                                    </p:anim>
                                    <p:anim calcmode="lin" valueType="num">
                                      <p:cBhvr>
                                        <p:cTn id="20" dur="500" fill="hold"/>
                                        <p:tgtEl>
                                          <p:spTgt spid="138260"/>
                                        </p:tgtEl>
                                        <p:attrNameLst>
                                          <p:attrName>ppt_h</p:attrName>
                                        </p:attrNameLst>
                                      </p:cBhvr>
                                      <p:tavLst>
                                        <p:tav tm="0">
                                          <p:val>
                                            <p:strVal val="#ppt_h"/>
                                          </p:val>
                                        </p:tav>
                                        <p:tav tm="100000">
                                          <p:val>
                                            <p:strVal val="#ppt_h"/>
                                          </p:val>
                                        </p:tav>
                                      </p:tavLst>
                                    </p:anim>
                                  </p:childTnLst>
                                </p:cTn>
                              </p:par>
                            </p:childTnLst>
                          </p:cTn>
                        </p:par>
                        <p:par>
                          <p:cTn id="21" fill="hold" nodeType="afterGroup">
                            <p:stCondLst>
                              <p:cond delay="500"/>
                            </p:stCondLst>
                            <p:childTnLst>
                              <p:par>
                                <p:cTn id="22" presetID="3" presetClass="entr" presetSubtype="10" fill="hold" grpId="0" nodeType="afterEffect">
                                  <p:stCondLst>
                                    <p:cond delay="0"/>
                                  </p:stCondLst>
                                  <p:iterate type="wd">
                                    <p:tmPct val="100000"/>
                                  </p:iterate>
                                  <p:childTnLst>
                                    <p:set>
                                      <p:cBhvr>
                                        <p:cTn id="23" dur="1" fill="hold">
                                          <p:stCondLst>
                                            <p:cond delay="0"/>
                                          </p:stCondLst>
                                        </p:cTn>
                                        <p:tgtEl>
                                          <p:spTgt spid="138261"/>
                                        </p:tgtEl>
                                        <p:attrNameLst>
                                          <p:attrName>style.visibility</p:attrName>
                                        </p:attrNameLst>
                                      </p:cBhvr>
                                      <p:to>
                                        <p:strVal val="visible"/>
                                      </p:to>
                                    </p:set>
                                    <p:animEffect transition="in" filter="blinds(horizontal)">
                                      <p:cBhvr>
                                        <p:cTn id="24" dur="300"/>
                                        <p:tgtEl>
                                          <p:spTgt spid="13826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8" presetClass="entr" presetSubtype="16"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diamond(in)">
                                      <p:cBhvr>
                                        <p:cTn id="29" dur="2000"/>
                                        <p:tgtEl>
                                          <p:spTgt spid="1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ntr" presetSubtype="10"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checkerboard(across)">
                                      <p:cBhvr>
                                        <p:cTn id="3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50" grpId="0" animBg="1"/>
      <p:bldP spid="138259" grpId="0"/>
      <p:bldP spid="138260" grpId="0"/>
      <p:bldP spid="138261" grpId="0"/>
      <p:bldP spid="1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2"/>
          <p:cNvSpPr txBox="1">
            <a:spLocks noChangeArrowheads="1"/>
          </p:cNvSpPr>
          <p:nvPr/>
        </p:nvSpPr>
        <p:spPr bwMode="auto">
          <a:xfrm>
            <a:off x="271463" y="1119188"/>
            <a:ext cx="2049462"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r>
              <a:rPr lang="zh-CN" altLang="en-US" sz="2800" b="1">
                <a:solidFill>
                  <a:srgbClr val="C00000"/>
                </a:solidFill>
                <a:latin typeface="微软雅黑" pitchFamily="34" charset="-122"/>
                <a:ea typeface="微软雅黑" pitchFamily="34" charset="-122"/>
              </a:rPr>
              <a:t>3</a:t>
            </a:r>
            <a:r>
              <a:rPr lang="en-US" altLang="zh-CN" sz="2800" b="1">
                <a:solidFill>
                  <a:srgbClr val="C00000"/>
                </a:solidFill>
                <a:latin typeface="微软雅黑" pitchFamily="34" charset="-122"/>
                <a:ea typeface="微软雅黑" pitchFamily="34" charset="-122"/>
              </a:rPr>
              <a:t>.</a:t>
            </a:r>
            <a:r>
              <a:rPr lang="zh-CN" altLang="en-US" sz="2800" b="1">
                <a:solidFill>
                  <a:srgbClr val="C00000"/>
                </a:solidFill>
                <a:latin typeface="微软雅黑" pitchFamily="34" charset="-122"/>
                <a:ea typeface="微软雅黑" pitchFamily="34" charset="-122"/>
              </a:rPr>
              <a:t> 赋值转换</a:t>
            </a:r>
            <a:endParaRPr lang="en-US" altLang="zh-CN" sz="2800" b="1">
              <a:solidFill>
                <a:srgbClr val="C00000"/>
              </a:solidFill>
              <a:latin typeface="微软雅黑" pitchFamily="34" charset="-122"/>
              <a:ea typeface="微软雅黑" pitchFamily="34" charset="-122"/>
            </a:endParaRPr>
          </a:p>
        </p:txBody>
      </p:sp>
      <p:sp>
        <p:nvSpPr>
          <p:cNvPr id="5" name="Text Box 23"/>
          <p:cNvSpPr txBox="1">
            <a:spLocks noChangeArrowheads="1"/>
          </p:cNvSpPr>
          <p:nvPr/>
        </p:nvSpPr>
        <p:spPr bwMode="auto">
          <a:xfrm>
            <a:off x="666750" y="1624013"/>
            <a:ext cx="8477250"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r>
              <a:rPr lang="zh-CN" altLang="en-US" sz="2800" b="1">
                <a:solidFill>
                  <a:srgbClr val="3333CC"/>
                </a:solidFill>
                <a:latin typeface="微软雅黑" pitchFamily="34" charset="-122"/>
                <a:ea typeface="微软雅黑" pitchFamily="34" charset="-122"/>
              </a:rPr>
              <a:t>当赋值运算符两侧的类型不一致时，类型发生变化。</a:t>
            </a:r>
            <a:endParaRPr lang="en-US" altLang="zh-CN" sz="2800" b="1">
              <a:solidFill>
                <a:srgbClr val="3333CC"/>
              </a:solidFill>
              <a:latin typeface="微软雅黑" pitchFamily="34" charset="-122"/>
              <a:ea typeface="微软雅黑" pitchFamily="34" charset="-122"/>
            </a:endParaRPr>
          </a:p>
        </p:txBody>
      </p:sp>
      <p:sp>
        <p:nvSpPr>
          <p:cNvPr id="6" name="Text Box 24"/>
          <p:cNvSpPr txBox="1">
            <a:spLocks noChangeArrowheads="1"/>
          </p:cNvSpPr>
          <p:nvPr/>
        </p:nvSpPr>
        <p:spPr bwMode="auto">
          <a:xfrm>
            <a:off x="728663" y="2284413"/>
            <a:ext cx="3500437" cy="2064284"/>
          </a:xfrm>
          <a:prstGeom prst="rect">
            <a:avLst/>
          </a:prstGeom>
          <a:solidFill>
            <a:schemeClr val="tx2">
              <a:lumMod val="20000"/>
              <a:lumOff val="80000"/>
            </a:schemeClr>
          </a:solidFill>
          <a:ln w="12700">
            <a:solidFill>
              <a:schemeClr val="accent1"/>
            </a:solidFill>
            <a:miter lim="800000"/>
          </a:ln>
        </p:spPr>
        <p:txBody>
          <a:bodyPr lIns="90000" tIns="46800" rIns="90000" bIns="46800">
            <a:spAutoFit/>
          </a:bodyPr>
          <a:lstStyle/>
          <a:p>
            <a:pPr>
              <a:defRPr/>
            </a:pPr>
            <a:r>
              <a:rPr kumimoji="1" lang="en-US" altLang="zh-CN" sz="3200" dirty="0" err="1">
                <a:solidFill>
                  <a:srgbClr val="660033"/>
                </a:solidFill>
                <a:latin typeface="微软雅黑" pitchFamily="34" charset="-122"/>
                <a:ea typeface="微软雅黑" pitchFamily="34" charset="-122"/>
                <a:cs typeface="Times New Roman" pitchFamily="18" charset="0"/>
              </a:rPr>
              <a:t>int</a:t>
            </a:r>
            <a:r>
              <a:rPr kumimoji="1" lang="en-US" altLang="zh-CN" sz="3200" dirty="0">
                <a:solidFill>
                  <a:srgbClr val="660033"/>
                </a:solidFill>
                <a:latin typeface="微软雅黑" pitchFamily="34" charset="-122"/>
                <a:ea typeface="微软雅黑" pitchFamily="34" charset="-122"/>
                <a:cs typeface="Times New Roman" pitchFamily="18" charset="0"/>
              </a:rPr>
              <a:t> x;</a:t>
            </a:r>
          </a:p>
          <a:p>
            <a:pPr>
              <a:defRPr/>
            </a:pPr>
            <a:r>
              <a:rPr kumimoji="1" lang="en-US" altLang="zh-CN" sz="3200" dirty="0">
                <a:solidFill>
                  <a:srgbClr val="660033"/>
                </a:solidFill>
                <a:latin typeface="微软雅黑" pitchFamily="34" charset="-122"/>
                <a:ea typeface="微软雅黑" pitchFamily="34" charset="-122"/>
                <a:cs typeface="Times New Roman" pitchFamily="18" charset="0"/>
              </a:rPr>
              <a:t>float y = 5.3;</a:t>
            </a:r>
          </a:p>
          <a:p>
            <a:pPr>
              <a:defRPr/>
            </a:pPr>
            <a:r>
              <a:rPr kumimoji="1" lang="en-US" altLang="zh-CN" sz="3200" dirty="0">
                <a:solidFill>
                  <a:srgbClr val="660033"/>
                </a:solidFill>
                <a:latin typeface="微软雅黑" pitchFamily="34" charset="-122"/>
                <a:ea typeface="微软雅黑" pitchFamily="34" charset="-122"/>
                <a:cs typeface="Times New Roman" pitchFamily="18" charset="0"/>
              </a:rPr>
              <a:t>x=y;</a:t>
            </a:r>
          </a:p>
          <a:p>
            <a:pPr>
              <a:defRPr/>
            </a:pPr>
            <a:r>
              <a:rPr kumimoji="1" lang="en-US" altLang="zh-CN" sz="3200" dirty="0">
                <a:solidFill>
                  <a:srgbClr val="660033"/>
                </a:solidFill>
                <a:latin typeface="微软雅黑" pitchFamily="34" charset="-122"/>
                <a:ea typeface="微软雅黑" pitchFamily="34" charset="-122"/>
                <a:cs typeface="Times New Roman" pitchFamily="18" charset="0"/>
              </a:rPr>
              <a:t>X</a:t>
            </a:r>
            <a:r>
              <a:rPr kumimoji="1" lang="zh-CN" altLang="en-US" sz="3200" dirty="0">
                <a:solidFill>
                  <a:srgbClr val="660033"/>
                </a:solidFill>
                <a:latin typeface="微软雅黑" pitchFamily="34" charset="-122"/>
                <a:ea typeface="微软雅黑" pitchFamily="34" charset="-122"/>
                <a:cs typeface="Times New Roman" pitchFamily="18" charset="0"/>
              </a:rPr>
              <a:t>的值为</a:t>
            </a:r>
            <a:r>
              <a:rPr kumimoji="1" lang="en-US" altLang="zh-CN" sz="3200" dirty="0">
                <a:solidFill>
                  <a:srgbClr val="660033"/>
                </a:solidFill>
                <a:latin typeface="微软雅黑" pitchFamily="34" charset="-122"/>
                <a:ea typeface="微软雅黑" pitchFamily="34" charset="-122"/>
                <a:cs typeface="Times New Roman" pitchFamily="18" charset="0"/>
              </a:rPr>
              <a:t>5</a:t>
            </a:r>
          </a:p>
        </p:txBody>
      </p:sp>
      <p:sp>
        <p:nvSpPr>
          <p:cNvPr id="7" name="Text Box 25"/>
          <p:cNvSpPr txBox="1">
            <a:spLocks noChangeArrowheads="1"/>
          </p:cNvSpPr>
          <p:nvPr/>
        </p:nvSpPr>
        <p:spPr bwMode="auto">
          <a:xfrm>
            <a:off x="785813" y="4429125"/>
            <a:ext cx="3443287" cy="2063750"/>
          </a:xfrm>
          <a:prstGeom prst="rect">
            <a:avLst/>
          </a:prstGeom>
          <a:solidFill>
            <a:srgbClr val="CCFF99"/>
          </a:solidFill>
          <a:ln w="12700">
            <a:solidFill>
              <a:srgbClr val="FF9900"/>
            </a:solidFill>
            <a:miter lim="800000"/>
            <a:headEnd/>
            <a:tailEnd/>
          </a:ln>
        </p:spPr>
        <p:txBody>
          <a:bodyPr wrap="none" lIns="90000" tIns="46800" rIns="90000" bIns="46800">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r>
              <a:rPr lang="en-US" altLang="zh-CN">
                <a:solidFill>
                  <a:srgbClr val="273434"/>
                </a:solidFill>
                <a:latin typeface="微软雅黑" pitchFamily="34" charset="-122"/>
                <a:ea typeface="微软雅黑" pitchFamily="34" charset="-122"/>
              </a:rPr>
              <a:t>int x=5;</a:t>
            </a:r>
          </a:p>
          <a:p>
            <a:pPr eaLnBrk="1" hangingPunct="1"/>
            <a:r>
              <a:rPr lang="en-US" altLang="zh-CN">
                <a:solidFill>
                  <a:srgbClr val="273434"/>
                </a:solidFill>
                <a:latin typeface="微软雅黑" pitchFamily="34" charset="-122"/>
                <a:ea typeface="微软雅黑" pitchFamily="34" charset="-122"/>
              </a:rPr>
              <a:t>float y;  </a:t>
            </a:r>
          </a:p>
          <a:p>
            <a:pPr eaLnBrk="1" hangingPunct="1"/>
            <a:r>
              <a:rPr lang="en-US" altLang="zh-CN">
                <a:solidFill>
                  <a:srgbClr val="273434"/>
                </a:solidFill>
                <a:latin typeface="微软雅黑" pitchFamily="34" charset="-122"/>
                <a:ea typeface="微软雅黑" pitchFamily="34" charset="-122"/>
              </a:rPr>
              <a:t>y=x;</a:t>
            </a:r>
          </a:p>
          <a:p>
            <a:pPr eaLnBrk="1" hangingPunct="1"/>
            <a:r>
              <a:rPr lang="en-US" altLang="zh-CN">
                <a:solidFill>
                  <a:srgbClr val="273434"/>
                </a:solidFill>
                <a:latin typeface="微软雅黑" pitchFamily="34" charset="-122"/>
                <a:ea typeface="微软雅黑" pitchFamily="34" charset="-122"/>
              </a:rPr>
              <a:t>Y</a:t>
            </a:r>
            <a:r>
              <a:rPr lang="zh-CN" altLang="en-US">
                <a:solidFill>
                  <a:srgbClr val="273434"/>
                </a:solidFill>
                <a:latin typeface="微软雅黑" pitchFamily="34" charset="-122"/>
                <a:ea typeface="微软雅黑" pitchFamily="34" charset="-122"/>
              </a:rPr>
              <a:t>的值为</a:t>
            </a:r>
            <a:r>
              <a:rPr lang="en-US" altLang="zh-CN">
                <a:solidFill>
                  <a:srgbClr val="273434"/>
                </a:solidFill>
                <a:latin typeface="微软雅黑" pitchFamily="34" charset="-122"/>
                <a:ea typeface="微软雅黑" pitchFamily="34" charset="-122"/>
              </a:rPr>
              <a:t>5.000000</a:t>
            </a:r>
          </a:p>
        </p:txBody>
      </p:sp>
      <p:sp>
        <p:nvSpPr>
          <p:cNvPr id="9" name="Rectangle 4"/>
          <p:cNvSpPr>
            <a:spLocks noChangeArrowheads="1"/>
          </p:cNvSpPr>
          <p:nvPr/>
        </p:nvSpPr>
        <p:spPr bwMode="auto">
          <a:xfrm>
            <a:off x="4229100" y="4443413"/>
            <a:ext cx="4071938" cy="203358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p>
            <a:pPr marL="387350" indent="-387350" eaLnBrk="1" hangingPunct="1">
              <a:spcBef>
                <a:spcPct val="50000"/>
              </a:spcBef>
            </a:pPr>
            <a:r>
              <a:rPr lang="zh-CN" altLang="en-US" sz="2800">
                <a:latin typeface="微软雅黑" pitchFamily="34" charset="-122"/>
                <a:ea typeface="微软雅黑" pitchFamily="34" charset="-122"/>
              </a:rPr>
              <a:t>    整型数据赋给实型变量</a:t>
            </a:r>
            <a:r>
              <a:rPr lang="en-US" altLang="zh-CN" sz="2800">
                <a:latin typeface="微软雅黑" pitchFamily="34" charset="-122"/>
                <a:ea typeface="微软雅黑" pitchFamily="34" charset="-122"/>
              </a:rPr>
              <a:t>,</a:t>
            </a:r>
            <a:r>
              <a:rPr lang="zh-CN" altLang="en-US" sz="2800">
                <a:latin typeface="微软雅黑" pitchFamily="34" charset="-122"/>
                <a:ea typeface="微软雅黑" pitchFamily="34" charset="-122"/>
              </a:rPr>
              <a:t>数值不变</a:t>
            </a:r>
            <a:r>
              <a:rPr lang="en-US" altLang="zh-CN" sz="2800">
                <a:latin typeface="微软雅黑" pitchFamily="34" charset="-122"/>
                <a:ea typeface="微软雅黑" pitchFamily="34" charset="-122"/>
              </a:rPr>
              <a:t>,</a:t>
            </a:r>
            <a:r>
              <a:rPr lang="zh-CN" altLang="en-US" sz="2800">
                <a:latin typeface="微软雅黑" pitchFamily="34" charset="-122"/>
                <a:ea typeface="微软雅黑" pitchFamily="34" charset="-122"/>
              </a:rPr>
              <a:t>但按实数形式存放</a:t>
            </a:r>
            <a:r>
              <a:rPr lang="en-US" altLang="zh-CN" sz="2800">
                <a:latin typeface="微软雅黑" pitchFamily="34" charset="-122"/>
                <a:ea typeface="微软雅黑" pitchFamily="34" charset="-122"/>
              </a:rPr>
              <a:t>.</a:t>
            </a:r>
          </a:p>
          <a:p>
            <a:pPr marL="387350" indent="-387350" eaLnBrk="1" hangingPunct="1">
              <a:spcBef>
                <a:spcPct val="50000"/>
              </a:spcBef>
            </a:pPr>
            <a:r>
              <a:rPr lang="en-US" altLang="zh-CN" sz="2800">
                <a:latin typeface="微软雅黑" pitchFamily="34" charset="-122"/>
                <a:ea typeface="微软雅黑" pitchFamily="34" charset="-122"/>
              </a:rPr>
              <a:t> </a:t>
            </a:r>
          </a:p>
        </p:txBody>
      </p:sp>
      <p:sp>
        <p:nvSpPr>
          <p:cNvPr id="10" name="Text Box 5"/>
          <p:cNvSpPr txBox="1">
            <a:spLocks noChangeArrowheads="1"/>
          </p:cNvSpPr>
          <p:nvPr/>
        </p:nvSpPr>
        <p:spPr bwMode="auto">
          <a:xfrm>
            <a:off x="4214813" y="2214563"/>
            <a:ext cx="4071937" cy="2203450"/>
          </a:xfrm>
          <a:prstGeom prst="rect">
            <a:avLst/>
          </a:prstGeom>
          <a:solidFill>
            <a:schemeClr val="accent1">
              <a:lumMod val="20000"/>
              <a:lumOff val="80000"/>
            </a:schemeClr>
          </a:solidFill>
          <a:ln w="9525">
            <a:solidFill>
              <a:srgbClr val="C00000"/>
            </a:solidFill>
            <a:miter lim="800000"/>
          </a:ln>
          <a:effectLst/>
        </p:spPr>
        <p:txBody>
          <a:bodyPr>
            <a:spAutoFit/>
          </a:bodyPr>
          <a:lstStyle/>
          <a:p>
            <a:pPr marL="387350" indent="-387350" eaLnBrk="1" hangingPunct="1">
              <a:lnSpc>
                <a:spcPct val="110000"/>
              </a:lnSpc>
              <a:spcBef>
                <a:spcPct val="50000"/>
              </a:spcBef>
              <a:defRPr/>
            </a:pPr>
            <a:r>
              <a:rPr lang="zh-CN" altLang="en-US" sz="2800" dirty="0">
                <a:latin typeface="微软雅黑" pitchFamily="34" charset="-122"/>
                <a:ea typeface="微软雅黑" pitchFamily="34" charset="-122"/>
              </a:rPr>
              <a:t>    将实型数据</a:t>
            </a:r>
            <a:r>
              <a:rPr lang="en-US" altLang="zh-CN" sz="2800" dirty="0">
                <a:latin typeface="微软雅黑" pitchFamily="34" charset="-122"/>
                <a:ea typeface="微软雅黑" pitchFamily="34" charset="-122"/>
              </a:rPr>
              <a:t>(</a:t>
            </a:r>
            <a:r>
              <a:rPr lang="zh-CN" altLang="en-US" sz="2800" dirty="0">
                <a:latin typeface="微软雅黑" pitchFamily="34" charset="-122"/>
                <a:ea typeface="微软雅黑" pitchFamily="34" charset="-122"/>
              </a:rPr>
              <a:t>无论单</a:t>
            </a:r>
            <a:r>
              <a:rPr lang="en-US" altLang="zh-CN" sz="2800" dirty="0">
                <a:latin typeface="微软雅黑" pitchFamily="34" charset="-122"/>
                <a:ea typeface="微软雅黑" pitchFamily="34" charset="-122"/>
              </a:rPr>
              <a:t>,</a:t>
            </a:r>
            <a:r>
              <a:rPr lang="zh-CN" altLang="en-US" sz="2800" dirty="0">
                <a:latin typeface="微软雅黑" pitchFamily="34" charset="-122"/>
                <a:ea typeface="微软雅黑" pitchFamily="34" charset="-122"/>
              </a:rPr>
              <a:t>双精度</a:t>
            </a:r>
            <a:r>
              <a:rPr lang="en-US" altLang="zh-CN" sz="2800" dirty="0">
                <a:latin typeface="微软雅黑" pitchFamily="34" charset="-122"/>
                <a:ea typeface="微软雅黑" pitchFamily="34" charset="-122"/>
              </a:rPr>
              <a:t>)</a:t>
            </a:r>
            <a:r>
              <a:rPr lang="zh-CN" altLang="en-US" sz="2800" dirty="0">
                <a:latin typeface="微软雅黑" pitchFamily="34" charset="-122"/>
                <a:ea typeface="微软雅黑" pitchFamily="34" charset="-122"/>
              </a:rPr>
              <a:t>赋给整型变量时</a:t>
            </a:r>
            <a:r>
              <a:rPr lang="en-US" altLang="zh-CN" sz="2800" dirty="0">
                <a:latin typeface="微软雅黑" pitchFamily="34" charset="-122"/>
                <a:ea typeface="微软雅黑" pitchFamily="34" charset="-122"/>
              </a:rPr>
              <a:t>,</a:t>
            </a:r>
            <a:r>
              <a:rPr lang="zh-CN" altLang="en-US" sz="2800" dirty="0">
                <a:latin typeface="微软雅黑" pitchFamily="34" charset="-122"/>
                <a:ea typeface="微软雅黑" pitchFamily="34" charset="-122"/>
              </a:rPr>
              <a:t>舍弃小数</a:t>
            </a:r>
            <a:r>
              <a:rPr lang="en-US" altLang="zh-CN" sz="2800" dirty="0">
                <a:latin typeface="微软雅黑" pitchFamily="34" charset="-122"/>
                <a:ea typeface="微软雅黑" pitchFamily="34" charset="-122"/>
              </a:rPr>
              <a:t>.</a:t>
            </a:r>
          </a:p>
          <a:p>
            <a:pPr marL="387350" indent="-387350" eaLnBrk="1" hangingPunct="1">
              <a:lnSpc>
                <a:spcPct val="110000"/>
              </a:lnSpc>
              <a:spcBef>
                <a:spcPct val="50000"/>
              </a:spcBef>
              <a:defRPr/>
            </a:pPr>
            <a:endParaRPr lang="en-US" altLang="zh-CN" sz="2800" dirty="0">
              <a:latin typeface="微软雅黑" pitchFamily="34" charset="-122"/>
              <a:ea typeface="微软雅黑" pitchFamily="34" charset="-122"/>
            </a:endParaRPr>
          </a:p>
        </p:txBody>
      </p:sp>
      <p:sp>
        <p:nvSpPr>
          <p:cNvPr id="24584" name="Rectangle 4"/>
          <p:cNvSpPr>
            <a:spLocks noChangeArrowheads="1"/>
          </p:cNvSpPr>
          <p:nvPr/>
        </p:nvSpPr>
        <p:spPr bwMode="auto">
          <a:xfrm>
            <a:off x="0" y="595968"/>
            <a:ext cx="41344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数据类型转换</a:t>
            </a:r>
          </a:p>
        </p:txBody>
      </p:sp>
    </p:spTree>
    <p:extLst>
      <p:ext uri="{BB962C8B-B14F-4D97-AF65-F5344CB8AC3E}">
        <p14:creationId xmlns:p14="http://schemas.microsoft.com/office/powerpoint/2010/main" val="31468630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6"/>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4" presetClass="entr" presetSubtype="1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randombar(horizontal)">
                                      <p:cBhvr>
                                        <p:cTn id="21" dur="500"/>
                                        <p:tgtEl>
                                          <p:spTgt spid="1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7"/>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randombar(horizontal)">
                                      <p:cBhvr>
                                        <p:cTn id="3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9" grpId="0" animBg="1"/>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3"/>
          <p:cNvSpPr>
            <a:spLocks noChangeArrowheads="1"/>
          </p:cNvSpPr>
          <p:nvPr/>
        </p:nvSpPr>
        <p:spPr bwMode="auto">
          <a:xfrm>
            <a:off x="720725" y="1500188"/>
            <a:ext cx="2243138" cy="585787"/>
          </a:xfrm>
          <a:prstGeom prst="rect">
            <a:avLst/>
          </a:prstGeom>
          <a:noFill/>
          <a:ln w="12700">
            <a:solidFill>
              <a:schemeClr val="accent6">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p>
            <a:pPr algn="ctr">
              <a:defRPr/>
            </a:pPr>
            <a:r>
              <a:rPr lang="zh-CN" altLang="en-US" sz="3200" b="1" dirty="0">
                <a:latin typeface="Arial" pitchFamily="34" charset="0"/>
              </a:rPr>
              <a:t>逗号运算符</a:t>
            </a:r>
          </a:p>
        </p:txBody>
      </p:sp>
      <p:sp>
        <p:nvSpPr>
          <p:cNvPr id="290821" name="Text Box 5"/>
          <p:cNvSpPr txBox="1">
            <a:spLocks noChangeArrowheads="1"/>
          </p:cNvSpPr>
          <p:nvPr/>
        </p:nvSpPr>
        <p:spPr bwMode="auto">
          <a:xfrm>
            <a:off x="573088" y="2363788"/>
            <a:ext cx="7948612" cy="585787"/>
          </a:xfrm>
          <a:prstGeom prst="rect">
            <a:avLst/>
          </a:prstGeom>
          <a:solidFill>
            <a:srgbClr val="C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3200" b="1">
                <a:solidFill>
                  <a:schemeClr val="bg1"/>
                </a:solidFill>
                <a:latin typeface="Arial" pitchFamily="34" charset="0"/>
              </a:rPr>
              <a:t>(表达式 1,表达式 2,表达式 3,……表达式 </a:t>
            </a:r>
            <a:r>
              <a:rPr lang="en-US" altLang="en-US" sz="3200" b="1">
                <a:solidFill>
                  <a:schemeClr val="bg1"/>
                </a:solidFill>
                <a:latin typeface="Arial" pitchFamily="34" charset="0"/>
              </a:rPr>
              <a:t>n</a:t>
            </a:r>
            <a:r>
              <a:rPr lang="en-US" altLang="zh-CN" sz="3200" b="1">
                <a:solidFill>
                  <a:schemeClr val="bg1"/>
                </a:solidFill>
                <a:latin typeface="Arial" pitchFamily="34" charset="0"/>
              </a:rPr>
              <a:t>)</a:t>
            </a:r>
            <a:endParaRPr lang="en-US" altLang="zh-CN" sz="3200">
              <a:solidFill>
                <a:schemeClr val="bg1"/>
              </a:solidFill>
              <a:latin typeface="Arial" pitchFamily="34" charset="0"/>
            </a:endParaRPr>
          </a:p>
        </p:txBody>
      </p:sp>
      <p:sp>
        <p:nvSpPr>
          <p:cNvPr id="31748" name="Text Box 6"/>
          <p:cNvSpPr txBox="1">
            <a:spLocks noChangeArrowheads="1"/>
          </p:cNvSpPr>
          <p:nvPr/>
        </p:nvSpPr>
        <p:spPr bwMode="auto">
          <a:xfrm>
            <a:off x="3779838" y="1500188"/>
            <a:ext cx="43910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46800" anchor="ct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zh-CN" altLang="en-US" sz="3200" b="1" i="1">
                <a:latin typeface="Arial" pitchFamily="34" charset="0"/>
              </a:rPr>
              <a:t>用于连接几个表达式</a:t>
            </a:r>
            <a:endParaRPr lang="zh-CN" altLang="en-US" sz="3200">
              <a:latin typeface="Arial" pitchFamily="34" charset="0"/>
            </a:endParaRPr>
          </a:p>
        </p:txBody>
      </p:sp>
      <p:sp>
        <p:nvSpPr>
          <p:cNvPr id="290823" name="Rectangle 7"/>
          <p:cNvSpPr>
            <a:spLocks noChangeArrowheads="1"/>
          </p:cNvSpPr>
          <p:nvPr/>
        </p:nvSpPr>
        <p:spPr bwMode="auto">
          <a:xfrm>
            <a:off x="492125" y="4695825"/>
            <a:ext cx="207486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nchor="ctr">
            <a:spAutoFit/>
          </a:bodyPr>
          <a:lstStyle/>
          <a:p>
            <a:pPr algn="ctr">
              <a:buSzPct val="80000"/>
              <a:buFont typeface="Wingdings" pitchFamily="2" charset="2"/>
              <a:buChar char="l"/>
            </a:pPr>
            <a:r>
              <a:rPr lang="zh-CN" altLang="en-US" sz="3200" b="1">
                <a:latin typeface="Arial" pitchFamily="34" charset="0"/>
              </a:rPr>
              <a:t>求解过程</a:t>
            </a:r>
          </a:p>
        </p:txBody>
      </p:sp>
      <p:sp>
        <p:nvSpPr>
          <p:cNvPr id="290824" name="Rectangle 8"/>
          <p:cNvSpPr>
            <a:spLocks noChangeArrowheads="1"/>
          </p:cNvSpPr>
          <p:nvPr/>
        </p:nvSpPr>
        <p:spPr bwMode="auto">
          <a:xfrm>
            <a:off x="2963863" y="4702175"/>
            <a:ext cx="38528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nchor="ctr">
            <a:spAutoFit/>
          </a:bodyPr>
          <a:lstStyle/>
          <a:p>
            <a:pPr algn="ctr"/>
            <a:r>
              <a:rPr lang="zh-CN" altLang="en-US" sz="3200" b="1" i="1">
                <a:latin typeface="Arial" pitchFamily="34" charset="0"/>
              </a:rPr>
              <a:t>顺序求解几个表达式</a:t>
            </a:r>
          </a:p>
        </p:txBody>
      </p:sp>
      <p:sp>
        <p:nvSpPr>
          <p:cNvPr id="290825" name="Rectangle 9"/>
          <p:cNvSpPr>
            <a:spLocks noChangeArrowheads="1"/>
          </p:cNvSpPr>
          <p:nvPr/>
        </p:nvSpPr>
        <p:spPr bwMode="auto">
          <a:xfrm>
            <a:off x="492125" y="5381625"/>
            <a:ext cx="2932113"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46800" anchor="ctr">
            <a:spAutoFit/>
          </a:bodyPr>
          <a:lstStyle/>
          <a:p>
            <a:pPr>
              <a:buSzPct val="80000"/>
              <a:buFont typeface="Wingdings" pitchFamily="2" charset="2"/>
              <a:buChar char="l"/>
            </a:pPr>
            <a:r>
              <a:rPr lang="zh-CN" altLang="en-US" sz="3200" b="1">
                <a:latin typeface="Arial" pitchFamily="34" charset="0"/>
              </a:rPr>
              <a:t>优先级</a:t>
            </a:r>
          </a:p>
        </p:txBody>
      </p:sp>
      <p:sp>
        <p:nvSpPr>
          <p:cNvPr id="290826" name="Rectangle 10"/>
          <p:cNvSpPr>
            <a:spLocks noChangeArrowheads="1"/>
          </p:cNvSpPr>
          <p:nvPr/>
        </p:nvSpPr>
        <p:spPr bwMode="auto">
          <a:xfrm>
            <a:off x="2979738" y="5372100"/>
            <a:ext cx="47132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nchor="ctr">
            <a:spAutoFit/>
          </a:bodyPr>
          <a:lstStyle/>
          <a:p>
            <a:pPr algn="ctr"/>
            <a:r>
              <a:rPr lang="zh-CN" altLang="en-US" sz="3200" b="1" i="1">
                <a:latin typeface="Arial" pitchFamily="34" charset="0"/>
              </a:rPr>
              <a:t>逗号运算符的优先级最低</a:t>
            </a:r>
          </a:p>
        </p:txBody>
      </p:sp>
      <p:sp>
        <p:nvSpPr>
          <p:cNvPr id="290827" name="Oval 11"/>
          <p:cNvSpPr>
            <a:spLocks noChangeArrowheads="1"/>
          </p:cNvSpPr>
          <p:nvPr/>
        </p:nvSpPr>
        <p:spPr bwMode="auto">
          <a:xfrm>
            <a:off x="7102475" y="5305425"/>
            <a:ext cx="782638" cy="641350"/>
          </a:xfrm>
          <a:prstGeom prst="ellipse">
            <a:avLst/>
          </a:prstGeom>
          <a:noFill/>
          <a:ln w="57150">
            <a:solidFill>
              <a:srgbClr val="FF00FF"/>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endParaRPr lang="zh-CN" altLang="en-US" sz="3200">
              <a:solidFill>
                <a:srgbClr val="FF0066"/>
              </a:solidFill>
              <a:latin typeface="Arial" pitchFamily="34" charset="0"/>
            </a:endParaRPr>
          </a:p>
        </p:txBody>
      </p:sp>
      <p:sp>
        <p:nvSpPr>
          <p:cNvPr id="290828" name="Rectangle 12"/>
          <p:cNvSpPr>
            <a:spLocks noChangeArrowheads="1"/>
          </p:cNvSpPr>
          <p:nvPr/>
        </p:nvSpPr>
        <p:spPr bwMode="auto">
          <a:xfrm>
            <a:off x="492125" y="6040438"/>
            <a:ext cx="16637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nchor="ctr">
            <a:spAutoFit/>
          </a:bodyPr>
          <a:lstStyle/>
          <a:p>
            <a:pPr algn="ctr">
              <a:buSzPct val="80000"/>
              <a:buFont typeface="Wingdings" pitchFamily="2" charset="2"/>
              <a:buChar char="l"/>
            </a:pPr>
            <a:r>
              <a:rPr lang="zh-CN" altLang="en-US" sz="3200" b="1">
                <a:latin typeface="Arial" pitchFamily="34" charset="0"/>
              </a:rPr>
              <a:t>结合性</a:t>
            </a:r>
          </a:p>
        </p:txBody>
      </p:sp>
      <p:sp>
        <p:nvSpPr>
          <p:cNvPr id="290829" name="Rectangle 13"/>
          <p:cNvSpPr>
            <a:spLocks noChangeArrowheads="1"/>
          </p:cNvSpPr>
          <p:nvPr/>
        </p:nvSpPr>
        <p:spPr bwMode="auto">
          <a:xfrm>
            <a:off x="2979738" y="6043613"/>
            <a:ext cx="269081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46800" anchor="ctr">
            <a:spAutoFit/>
          </a:bodyPr>
          <a:lstStyle/>
          <a:p>
            <a:r>
              <a:rPr lang="zh-CN" altLang="en-US" sz="3200" b="1" i="1">
                <a:latin typeface="Arial" pitchFamily="34" charset="0"/>
              </a:rPr>
              <a:t>左结合</a:t>
            </a:r>
          </a:p>
        </p:txBody>
      </p:sp>
      <p:sp>
        <p:nvSpPr>
          <p:cNvPr id="290830" name="Line 14"/>
          <p:cNvSpPr>
            <a:spLocks noChangeShapeType="1"/>
          </p:cNvSpPr>
          <p:nvPr/>
        </p:nvSpPr>
        <p:spPr bwMode="auto">
          <a:xfrm flipH="1">
            <a:off x="4572000" y="6332538"/>
            <a:ext cx="990600" cy="0"/>
          </a:xfrm>
          <a:prstGeom prst="line">
            <a:avLst/>
          </a:prstGeom>
          <a:noFill/>
          <a:ln w="38100">
            <a:solidFill>
              <a:srgbClr val="FF0066"/>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0837" name="Text Box 21"/>
          <p:cNvSpPr txBox="1">
            <a:spLocks noChangeArrowheads="1"/>
          </p:cNvSpPr>
          <p:nvPr/>
        </p:nvSpPr>
        <p:spPr bwMode="auto">
          <a:xfrm>
            <a:off x="941388" y="3227388"/>
            <a:ext cx="6219825"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nchor="ct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algn="ctr" eaLnBrk="1" hangingPunct="1"/>
            <a:r>
              <a:rPr lang="en-US" altLang="en-US" sz="4000" b="1" dirty="0">
                <a:latin typeface="Arial" pitchFamily="34" charset="0"/>
              </a:rPr>
              <a:t>X = </a:t>
            </a:r>
            <a:r>
              <a:rPr lang="en-US" altLang="en-US" sz="4000" b="1" dirty="0">
                <a:solidFill>
                  <a:srgbClr val="C00000"/>
                </a:solidFill>
                <a:latin typeface="Arial" pitchFamily="34" charset="0"/>
              </a:rPr>
              <a:t>( </a:t>
            </a:r>
            <a:r>
              <a:rPr lang="en-US" altLang="en-US" sz="4000" b="1" dirty="0">
                <a:solidFill>
                  <a:srgbClr val="1306BA"/>
                </a:solidFill>
                <a:latin typeface="Arial" pitchFamily="34" charset="0"/>
              </a:rPr>
              <a:t>(</a:t>
            </a:r>
            <a:r>
              <a:rPr lang="en-US" altLang="en-US" sz="4000" b="1" dirty="0">
                <a:latin typeface="Arial" pitchFamily="34" charset="0"/>
              </a:rPr>
              <a:t> a=4*5 , a*2 </a:t>
            </a:r>
            <a:r>
              <a:rPr lang="en-US" altLang="en-US" sz="4000" b="1" dirty="0">
                <a:solidFill>
                  <a:srgbClr val="1306BA"/>
                </a:solidFill>
                <a:latin typeface="Arial" pitchFamily="34" charset="0"/>
              </a:rPr>
              <a:t>)</a:t>
            </a:r>
            <a:r>
              <a:rPr lang="en-US" altLang="en-US" sz="4000" b="1" dirty="0">
                <a:latin typeface="Arial" pitchFamily="34" charset="0"/>
              </a:rPr>
              <a:t> , a+6 </a:t>
            </a:r>
            <a:r>
              <a:rPr lang="en-US" altLang="en-US" sz="4000" b="1" dirty="0">
                <a:solidFill>
                  <a:srgbClr val="C00000"/>
                </a:solidFill>
                <a:latin typeface="Arial" pitchFamily="34" charset="0"/>
              </a:rPr>
              <a:t>)</a:t>
            </a:r>
            <a:endParaRPr lang="en-US" altLang="zh-CN" b="1" dirty="0">
              <a:solidFill>
                <a:srgbClr val="C00000"/>
              </a:solidFill>
              <a:latin typeface="Arial" pitchFamily="34" charset="0"/>
            </a:endParaRPr>
          </a:p>
        </p:txBody>
      </p:sp>
      <p:sp>
        <p:nvSpPr>
          <p:cNvPr id="290838" name="Oval 22"/>
          <p:cNvSpPr>
            <a:spLocks noChangeArrowheads="1"/>
          </p:cNvSpPr>
          <p:nvPr/>
        </p:nvSpPr>
        <p:spPr bwMode="auto">
          <a:xfrm>
            <a:off x="3087688" y="3081338"/>
            <a:ext cx="908050" cy="869950"/>
          </a:xfrm>
          <a:prstGeom prst="ellipse">
            <a:avLst/>
          </a:prstGeom>
          <a:noFill/>
          <a:ln w="57150">
            <a:solidFill>
              <a:srgbClr val="FF0066"/>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p>
            <a:pPr algn="ctr"/>
            <a:endParaRPr lang="zh-CN" altLang="en-US" sz="2400">
              <a:solidFill>
                <a:srgbClr val="FF0066"/>
              </a:solidFill>
              <a:latin typeface="Arial" pitchFamily="34" charset="0"/>
            </a:endParaRPr>
          </a:p>
        </p:txBody>
      </p:sp>
      <p:sp>
        <p:nvSpPr>
          <p:cNvPr id="290839" name="Line 23"/>
          <p:cNvSpPr>
            <a:spLocks noChangeShapeType="1"/>
          </p:cNvSpPr>
          <p:nvPr/>
        </p:nvSpPr>
        <p:spPr bwMode="auto">
          <a:xfrm>
            <a:off x="6011863" y="3879850"/>
            <a:ext cx="693737" cy="0"/>
          </a:xfrm>
          <a:prstGeom prst="line">
            <a:avLst/>
          </a:prstGeom>
          <a:noFill/>
          <a:ln w="57150">
            <a:solidFill>
              <a:srgbClr val="FF0066"/>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p>
        </p:txBody>
      </p:sp>
      <p:sp>
        <p:nvSpPr>
          <p:cNvPr id="290840" name="Text Box 24"/>
          <p:cNvSpPr txBox="1">
            <a:spLocks noChangeArrowheads="1"/>
          </p:cNvSpPr>
          <p:nvPr/>
        </p:nvSpPr>
        <p:spPr bwMode="auto">
          <a:xfrm>
            <a:off x="611188" y="4021138"/>
            <a:ext cx="727392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46800" anchor="ct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sz="3200" b="1">
                <a:latin typeface="楷体_GB2312"/>
                <a:ea typeface="楷体_GB2312"/>
                <a:cs typeface="楷体_GB2312"/>
              </a:rPr>
              <a:t>逗号表达式的值为最后一个表达式的值</a:t>
            </a:r>
          </a:p>
        </p:txBody>
      </p:sp>
      <p:sp>
        <p:nvSpPr>
          <p:cNvPr id="18" name="Rectangle 4"/>
          <p:cNvSpPr>
            <a:spLocks noChangeArrowheads="1"/>
          </p:cNvSpPr>
          <p:nvPr/>
        </p:nvSpPr>
        <p:spPr bwMode="auto">
          <a:xfrm>
            <a:off x="0" y="595968"/>
            <a:ext cx="3416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逗号运算</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0821"/>
                                        </p:tgtEl>
                                        <p:attrNameLst>
                                          <p:attrName>style.visibility</p:attrName>
                                        </p:attrNameLst>
                                      </p:cBhvr>
                                      <p:to>
                                        <p:strVal val="visible"/>
                                      </p:to>
                                    </p:set>
                                    <p:animEffect transition="in" filter="wipe(left)">
                                      <p:cBhvr>
                                        <p:cTn id="7" dur="500"/>
                                        <p:tgtEl>
                                          <p:spTgt spid="2908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0837"/>
                                        </p:tgtEl>
                                        <p:attrNameLst>
                                          <p:attrName>style.visibility</p:attrName>
                                        </p:attrNameLst>
                                      </p:cBhvr>
                                      <p:to>
                                        <p:strVal val="visible"/>
                                      </p:to>
                                    </p:set>
                                    <p:animEffect transition="in" filter="wipe(left)">
                                      <p:cBhvr>
                                        <p:cTn id="12" dur="500"/>
                                        <p:tgtEl>
                                          <p:spTgt spid="290837"/>
                                        </p:tgtEl>
                                      </p:cBhvr>
                                    </p:animEffect>
                                  </p:childTnLst>
                                </p:cTn>
                              </p:par>
                            </p:childTnLst>
                          </p:cTn>
                        </p:par>
                        <p:par>
                          <p:cTn id="13" fill="hold" nodeType="afterGroup">
                            <p:stCondLst>
                              <p:cond delay="500"/>
                            </p:stCondLst>
                            <p:childTnLst>
                              <p:par>
                                <p:cTn id="14" presetID="23" presetClass="entr" presetSubtype="16" fill="hold" grpId="0" nodeType="afterEffect">
                                  <p:stCondLst>
                                    <p:cond delay="0"/>
                                  </p:stCondLst>
                                  <p:childTnLst>
                                    <p:set>
                                      <p:cBhvr>
                                        <p:cTn id="15" dur="1" fill="hold">
                                          <p:stCondLst>
                                            <p:cond delay="0"/>
                                          </p:stCondLst>
                                        </p:cTn>
                                        <p:tgtEl>
                                          <p:spTgt spid="290838"/>
                                        </p:tgtEl>
                                        <p:attrNameLst>
                                          <p:attrName>style.visibility</p:attrName>
                                        </p:attrNameLst>
                                      </p:cBhvr>
                                      <p:to>
                                        <p:strVal val="visible"/>
                                      </p:to>
                                    </p:set>
                                    <p:anim calcmode="lin" valueType="num">
                                      <p:cBhvr>
                                        <p:cTn id="16" dur="500" fill="hold"/>
                                        <p:tgtEl>
                                          <p:spTgt spid="290838"/>
                                        </p:tgtEl>
                                        <p:attrNameLst>
                                          <p:attrName>ppt_w</p:attrName>
                                        </p:attrNameLst>
                                      </p:cBhvr>
                                      <p:tavLst>
                                        <p:tav tm="0">
                                          <p:val>
                                            <p:fltVal val="0"/>
                                          </p:val>
                                        </p:tav>
                                        <p:tav tm="100000">
                                          <p:val>
                                            <p:strVal val="#ppt_w"/>
                                          </p:val>
                                        </p:tav>
                                      </p:tavLst>
                                    </p:anim>
                                    <p:anim calcmode="lin" valueType="num">
                                      <p:cBhvr>
                                        <p:cTn id="17" dur="500" fill="hold"/>
                                        <p:tgtEl>
                                          <p:spTgt spid="290838"/>
                                        </p:tgtEl>
                                        <p:attrNameLst>
                                          <p:attrName>ppt_h</p:attrName>
                                        </p:attrNameLst>
                                      </p:cBhvr>
                                      <p:tavLst>
                                        <p:tav tm="0">
                                          <p:val>
                                            <p:fltVal val="0"/>
                                          </p:val>
                                        </p:tav>
                                        <p:tav tm="100000">
                                          <p:val>
                                            <p:strVal val="#ppt_h"/>
                                          </p:val>
                                        </p:tav>
                                      </p:tavLst>
                                    </p:anim>
                                  </p:childTnLst>
                                </p:cTn>
                              </p:par>
                            </p:childTnLst>
                          </p:cTn>
                        </p:par>
                        <p:par>
                          <p:cTn id="18" fill="hold" nodeType="afterGroup">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290839"/>
                                        </p:tgtEl>
                                        <p:attrNameLst>
                                          <p:attrName>style.visibility</p:attrName>
                                        </p:attrNameLst>
                                      </p:cBhvr>
                                      <p:to>
                                        <p:strVal val="visible"/>
                                      </p:to>
                                    </p:set>
                                    <p:animEffect transition="in" filter="wipe(left)">
                                      <p:cBhvr>
                                        <p:cTn id="21" dur="500"/>
                                        <p:tgtEl>
                                          <p:spTgt spid="29083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90840"/>
                                        </p:tgtEl>
                                        <p:attrNameLst>
                                          <p:attrName>style.visibility</p:attrName>
                                        </p:attrNameLst>
                                      </p:cBhvr>
                                      <p:to>
                                        <p:strVal val="visible"/>
                                      </p:to>
                                    </p:set>
                                    <p:animEffect transition="in" filter="wipe(left)">
                                      <p:cBhvr>
                                        <p:cTn id="26" dur="500"/>
                                        <p:tgtEl>
                                          <p:spTgt spid="29084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90823"/>
                                        </p:tgtEl>
                                        <p:attrNameLst>
                                          <p:attrName>style.visibility</p:attrName>
                                        </p:attrNameLst>
                                      </p:cBhvr>
                                      <p:to>
                                        <p:strVal val="visible"/>
                                      </p:to>
                                    </p:set>
                                    <p:animEffect transition="in" filter="wipe(left)">
                                      <p:cBhvr>
                                        <p:cTn id="31" dur="500"/>
                                        <p:tgtEl>
                                          <p:spTgt spid="290823"/>
                                        </p:tgtEl>
                                      </p:cBhvr>
                                    </p:animEffect>
                                  </p:childTnLst>
                                </p:cTn>
                              </p:par>
                            </p:childTnLst>
                          </p:cTn>
                        </p:par>
                        <p:par>
                          <p:cTn id="32" fill="hold" nodeType="afterGroup">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290824"/>
                                        </p:tgtEl>
                                        <p:attrNameLst>
                                          <p:attrName>style.visibility</p:attrName>
                                        </p:attrNameLst>
                                      </p:cBhvr>
                                      <p:to>
                                        <p:strVal val="visible"/>
                                      </p:to>
                                    </p:set>
                                    <p:animEffect transition="in" filter="wipe(left)">
                                      <p:cBhvr>
                                        <p:cTn id="35" dur="500"/>
                                        <p:tgtEl>
                                          <p:spTgt spid="29082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90825"/>
                                        </p:tgtEl>
                                        <p:attrNameLst>
                                          <p:attrName>style.visibility</p:attrName>
                                        </p:attrNameLst>
                                      </p:cBhvr>
                                      <p:to>
                                        <p:strVal val="visible"/>
                                      </p:to>
                                    </p:set>
                                    <p:animEffect transition="in" filter="wipe(left)">
                                      <p:cBhvr>
                                        <p:cTn id="40" dur="500"/>
                                        <p:tgtEl>
                                          <p:spTgt spid="290825"/>
                                        </p:tgtEl>
                                      </p:cBhvr>
                                    </p:animEffect>
                                  </p:childTnLst>
                                </p:cTn>
                              </p:par>
                            </p:childTnLst>
                          </p:cTn>
                        </p:par>
                        <p:par>
                          <p:cTn id="41" fill="hold" nodeType="afterGroup">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290826"/>
                                        </p:tgtEl>
                                        <p:attrNameLst>
                                          <p:attrName>style.visibility</p:attrName>
                                        </p:attrNameLst>
                                      </p:cBhvr>
                                      <p:to>
                                        <p:strVal val="visible"/>
                                      </p:to>
                                    </p:set>
                                    <p:animEffect transition="in" filter="wipe(left)">
                                      <p:cBhvr>
                                        <p:cTn id="44" dur="500"/>
                                        <p:tgtEl>
                                          <p:spTgt spid="290826"/>
                                        </p:tgtEl>
                                      </p:cBhvr>
                                    </p:animEffect>
                                  </p:childTnLst>
                                </p:cTn>
                              </p:par>
                            </p:childTnLst>
                          </p:cTn>
                        </p:par>
                        <p:par>
                          <p:cTn id="45" fill="hold" nodeType="afterGroup">
                            <p:stCondLst>
                              <p:cond delay="1000"/>
                            </p:stCondLst>
                            <p:childTnLst>
                              <p:par>
                                <p:cTn id="46" presetID="1" presetClass="entr" presetSubtype="0" fill="hold" grpId="0" nodeType="afterEffect">
                                  <p:stCondLst>
                                    <p:cond delay="0"/>
                                  </p:stCondLst>
                                  <p:childTnLst>
                                    <p:set>
                                      <p:cBhvr>
                                        <p:cTn id="47" dur="1" fill="hold">
                                          <p:stCondLst>
                                            <p:cond delay="499"/>
                                          </p:stCondLst>
                                        </p:cTn>
                                        <p:tgtEl>
                                          <p:spTgt spid="290827"/>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90828"/>
                                        </p:tgtEl>
                                        <p:attrNameLst>
                                          <p:attrName>style.visibility</p:attrName>
                                        </p:attrNameLst>
                                      </p:cBhvr>
                                      <p:to>
                                        <p:strVal val="visible"/>
                                      </p:to>
                                    </p:set>
                                    <p:animEffect transition="in" filter="wipe(left)">
                                      <p:cBhvr>
                                        <p:cTn id="52" dur="500"/>
                                        <p:tgtEl>
                                          <p:spTgt spid="290828"/>
                                        </p:tgtEl>
                                      </p:cBhvr>
                                    </p:animEffect>
                                  </p:childTnLst>
                                </p:cTn>
                              </p:par>
                            </p:childTnLst>
                          </p:cTn>
                        </p:par>
                        <p:par>
                          <p:cTn id="53" fill="hold" nodeType="afterGroup">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290829"/>
                                        </p:tgtEl>
                                        <p:attrNameLst>
                                          <p:attrName>style.visibility</p:attrName>
                                        </p:attrNameLst>
                                      </p:cBhvr>
                                      <p:to>
                                        <p:strVal val="visible"/>
                                      </p:to>
                                    </p:set>
                                    <p:animEffect transition="in" filter="wipe(left)">
                                      <p:cBhvr>
                                        <p:cTn id="56" dur="500"/>
                                        <p:tgtEl>
                                          <p:spTgt spid="290829"/>
                                        </p:tgtEl>
                                      </p:cBhvr>
                                    </p:animEffect>
                                  </p:childTnLst>
                                </p:cTn>
                              </p:par>
                            </p:childTnLst>
                          </p:cTn>
                        </p:par>
                        <p:par>
                          <p:cTn id="57" fill="hold" nodeType="afterGroup">
                            <p:stCondLst>
                              <p:cond delay="1000"/>
                            </p:stCondLst>
                            <p:childTnLst>
                              <p:par>
                                <p:cTn id="58" presetID="22" presetClass="entr" presetSubtype="8" fill="hold" grpId="0" nodeType="afterEffect">
                                  <p:stCondLst>
                                    <p:cond delay="0"/>
                                  </p:stCondLst>
                                  <p:childTnLst>
                                    <p:set>
                                      <p:cBhvr>
                                        <p:cTn id="59" dur="1" fill="hold">
                                          <p:stCondLst>
                                            <p:cond delay="0"/>
                                          </p:stCondLst>
                                        </p:cTn>
                                        <p:tgtEl>
                                          <p:spTgt spid="290830"/>
                                        </p:tgtEl>
                                        <p:attrNameLst>
                                          <p:attrName>style.visibility</p:attrName>
                                        </p:attrNameLst>
                                      </p:cBhvr>
                                      <p:to>
                                        <p:strVal val="visible"/>
                                      </p:to>
                                    </p:set>
                                    <p:animEffect transition="in" filter="wipe(left)">
                                      <p:cBhvr>
                                        <p:cTn id="60" dur="500"/>
                                        <p:tgtEl>
                                          <p:spTgt spid="2908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21" grpId="0" animBg="1" autoUpdateAnimBg="0"/>
      <p:bldP spid="290823" grpId="0" autoUpdateAnimBg="0"/>
      <p:bldP spid="290824" grpId="0" autoUpdateAnimBg="0"/>
      <p:bldP spid="290825" grpId="0" autoUpdateAnimBg="0"/>
      <p:bldP spid="290826" grpId="0" autoUpdateAnimBg="0"/>
      <p:bldP spid="290827" grpId="0" animBg="1" autoUpdateAnimBg="0"/>
      <p:bldP spid="290828" grpId="0" autoUpdateAnimBg="0"/>
      <p:bldP spid="290829" grpId="0" autoUpdateAnimBg="0"/>
      <p:bldP spid="290830" grpId="0" animBg="1"/>
      <p:bldP spid="290837" grpId="0" autoUpdateAnimBg="0"/>
      <p:bldP spid="290838" grpId="0" animBg="1" autoUpdateAnimBg="0"/>
      <p:bldP spid="290839" grpId="0" animBg="1"/>
      <p:bldP spid="29084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270"/>
          <p:cNvGraphicFramePr>
            <a:graphicFrameLocks/>
          </p:cNvGraphicFramePr>
          <p:nvPr>
            <p:extLst>
              <p:ext uri="{D42A27DB-BD31-4B8C-83A1-F6EECF244321}">
                <p14:modId xmlns:p14="http://schemas.microsoft.com/office/powerpoint/2010/main" val="784430010"/>
              </p:ext>
            </p:extLst>
          </p:nvPr>
        </p:nvGraphicFramePr>
        <p:xfrm>
          <a:off x="457200" y="1371600"/>
          <a:ext cx="7210425" cy="5211612"/>
        </p:xfrm>
        <a:graphic>
          <a:graphicData uri="http://schemas.openxmlformats.org/drawingml/2006/table">
            <a:tbl>
              <a:tblPr/>
              <a:tblGrid>
                <a:gridCol w="349250">
                  <a:extLst>
                    <a:ext uri="{9D8B030D-6E8A-4147-A177-3AD203B41FA5}">
                      <a16:colId xmlns:a16="http://schemas.microsoft.com/office/drawing/2014/main" val="20000"/>
                    </a:ext>
                  </a:extLst>
                </a:gridCol>
                <a:gridCol w="6861175">
                  <a:extLst>
                    <a:ext uri="{9D8B030D-6E8A-4147-A177-3AD203B41FA5}">
                      <a16:colId xmlns:a16="http://schemas.microsoft.com/office/drawing/2014/main" val="20001"/>
                    </a:ext>
                  </a:extLst>
                </a:gridCol>
              </a:tblGrid>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1</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计算机概述及数字化基础</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2</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计算机三大平台</a:t>
                      </a:r>
                      <a:r>
                        <a:rPr kumimoji="0" lang="en-US" altLang="zh-CN" sz="2800" b="1" i="0" u="none" strike="noStrike" cap="none" normalizeH="0" baseline="0" dirty="0">
                          <a:ln>
                            <a:noFill/>
                          </a:ln>
                          <a:solidFill>
                            <a:schemeClr val="tx1"/>
                          </a:solidFill>
                          <a:effectLst/>
                          <a:latin typeface="Arial" charset="0"/>
                          <a:ea typeface="宋体" pitchFamily="2" charset="-122"/>
                        </a:rPr>
                        <a:t>——</a:t>
                      </a:r>
                      <a:r>
                        <a:rPr kumimoji="0" lang="zh-CN" altLang="en-US" sz="2800" b="1" i="0" u="none" strike="noStrike" cap="none" normalizeH="0" baseline="0" dirty="0">
                          <a:ln>
                            <a:noFill/>
                          </a:ln>
                          <a:solidFill>
                            <a:schemeClr val="tx1"/>
                          </a:solidFill>
                          <a:effectLst/>
                          <a:latin typeface="Arial" charset="0"/>
                          <a:ea typeface="宋体" pitchFamily="2" charset="-122"/>
                        </a:rPr>
                        <a:t>硬件、软件、</a:t>
                      </a:r>
                      <a:r>
                        <a:rPr kumimoji="0" lang="zh-CN" altLang="en-US" sz="2800" b="1" i="0" u="none" strike="sngStrike" cap="none" normalizeH="0" baseline="0" dirty="0">
                          <a:ln>
                            <a:noFill/>
                          </a:ln>
                          <a:solidFill>
                            <a:schemeClr val="tx1"/>
                          </a:solidFill>
                          <a:effectLst/>
                          <a:latin typeface="Arial" charset="0"/>
                          <a:ea typeface="宋体" pitchFamily="2" charset="-122"/>
                        </a:rPr>
                        <a:t>网络</a:t>
                      </a:r>
                      <a:endParaRPr kumimoji="0" lang="en-US" altLang="zh-CN" sz="2800" b="1" i="0" u="none" strike="sng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3</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数据处理及数据库</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9482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4</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数据类型，运算符，表达式</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5</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rgbClr val="FF0000"/>
                          </a:solidFill>
                          <a:effectLst/>
                          <a:latin typeface="Arial" charset="0"/>
                          <a:ea typeface="宋体" pitchFamily="2" charset="-122"/>
                        </a:rPr>
                        <a:t>流程控制</a:t>
                      </a:r>
                      <a:r>
                        <a:rPr kumimoji="0" lang="en-US" altLang="zh-CN" sz="2800" b="1" i="0" u="none" strike="noStrike" cap="none" normalizeH="0" baseline="0" dirty="0">
                          <a:ln>
                            <a:noFill/>
                          </a:ln>
                          <a:solidFill>
                            <a:srgbClr val="FF0000"/>
                          </a:solidFill>
                          <a:effectLst/>
                          <a:latin typeface="Arial" charset="0"/>
                          <a:ea typeface="宋体" pitchFamily="2" charset="-122"/>
                        </a:rPr>
                        <a:t>——</a:t>
                      </a:r>
                      <a:r>
                        <a:rPr kumimoji="0" lang="zh-CN" altLang="en-US" sz="2800" b="1" i="0" u="none" strike="noStrike" cap="none" normalizeH="0" baseline="0" dirty="0">
                          <a:ln>
                            <a:noFill/>
                          </a:ln>
                          <a:solidFill>
                            <a:srgbClr val="FF0000"/>
                          </a:solidFill>
                          <a:effectLst/>
                          <a:latin typeface="Arial" charset="0"/>
                          <a:ea typeface="宋体" pitchFamily="2" charset="-122"/>
                        </a:rPr>
                        <a:t>顺序、选择、循环</a:t>
                      </a:r>
                      <a:endParaRPr kumimoji="0" lang="en-US" altLang="zh-CN" sz="2800" b="1" i="0" u="none" strike="noStrike" cap="none" normalizeH="0" baseline="0" dirty="0">
                        <a:ln>
                          <a:noFill/>
                        </a:ln>
                        <a:solidFill>
                          <a:srgbClr val="FF0000"/>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4"/>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6</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数组</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5"/>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7</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函数</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8</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med" len="med"/>
                      <a:tailEnd type="none" w="med" len="med"/>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指针</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med" len="med"/>
                      <a:tailEnd type="none" w="med" len="med"/>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7"/>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9</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结构</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sp>
        <p:nvSpPr>
          <p:cNvPr id="3" name="标题 1"/>
          <p:cNvSpPr>
            <a:spLocks noGrp="1"/>
          </p:cNvSpPr>
          <p:nvPr>
            <p:ph type="title"/>
          </p:nvPr>
        </p:nvSpPr>
        <p:spPr>
          <a:xfrm>
            <a:off x="838200" y="547688"/>
            <a:ext cx="7391400" cy="563562"/>
          </a:xfrm>
        </p:spPr>
        <p:txBody>
          <a:bodyPr/>
          <a:lstStyle/>
          <a:p>
            <a:r>
              <a:rPr lang="zh-CN" altLang="en-US" dirty="0">
                <a:latin typeface="隶书" pitchFamily="49" charset="-122"/>
                <a:ea typeface="隶书" pitchFamily="49" charset="-122"/>
              </a:rPr>
              <a:t>复习内容</a:t>
            </a:r>
          </a:p>
        </p:txBody>
      </p:sp>
    </p:spTree>
    <p:extLst>
      <p:ext uri="{BB962C8B-B14F-4D97-AF65-F5344CB8AC3E}">
        <p14:creationId xmlns:p14="http://schemas.microsoft.com/office/powerpoint/2010/main" val="2954386493"/>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示 2"/>
          <p:cNvGraphicFramePr/>
          <p:nvPr/>
        </p:nvGraphicFramePr>
        <p:xfrm>
          <a:off x="1571604" y="1857364"/>
          <a:ext cx="5338778" cy="3938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矩形 3"/>
          <p:cNvSpPr>
            <a:spLocks noChangeArrowheads="1"/>
          </p:cNvSpPr>
          <p:nvPr/>
        </p:nvSpPr>
        <p:spPr bwMode="auto">
          <a:xfrm>
            <a:off x="2786063" y="1071563"/>
            <a:ext cx="321468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spcBef>
                <a:spcPct val="20000"/>
              </a:spcBef>
            </a:pPr>
            <a:r>
              <a:rPr lang="zh-CN" altLang="en-US" sz="2400" b="1">
                <a:solidFill>
                  <a:srgbClr val="002060"/>
                </a:solidFill>
                <a:latin typeface="微软雅黑" pitchFamily="34" charset="-122"/>
                <a:ea typeface="微软雅黑" pitchFamily="34" charset="-122"/>
              </a:rPr>
              <a:t>一个</a:t>
            </a:r>
            <a:r>
              <a:rPr lang="en-US" altLang="zh-CN" sz="2400" b="1">
                <a:solidFill>
                  <a:srgbClr val="002060"/>
                </a:solidFill>
                <a:latin typeface="微软雅黑" pitchFamily="34" charset="-122"/>
                <a:ea typeface="微软雅黑" pitchFamily="34" charset="-122"/>
              </a:rPr>
              <a:t>c</a:t>
            </a:r>
            <a:r>
              <a:rPr lang="zh-CN" altLang="en-US" sz="2400" b="1">
                <a:solidFill>
                  <a:srgbClr val="002060"/>
                </a:solidFill>
                <a:latin typeface="微软雅黑" pitchFamily="34" charset="-122"/>
                <a:ea typeface="微软雅黑" pitchFamily="34" charset="-122"/>
              </a:rPr>
              <a:t>程序可以有若干个源程序文件组成</a:t>
            </a:r>
          </a:p>
        </p:txBody>
      </p:sp>
      <p:sp>
        <p:nvSpPr>
          <p:cNvPr id="5" name="矩形 4"/>
          <p:cNvSpPr>
            <a:spLocks noChangeArrowheads="1"/>
          </p:cNvSpPr>
          <p:nvPr/>
        </p:nvSpPr>
        <p:spPr bwMode="auto">
          <a:xfrm>
            <a:off x="6072188" y="2571750"/>
            <a:ext cx="2786062"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spcBef>
                <a:spcPct val="20000"/>
              </a:spcBef>
            </a:pPr>
            <a:r>
              <a:rPr lang="zh-CN" altLang="en-US" sz="2400" b="1">
                <a:solidFill>
                  <a:srgbClr val="002060"/>
                </a:solidFill>
                <a:latin typeface="微软雅黑" pitchFamily="34" charset="-122"/>
                <a:ea typeface="微软雅黑" pitchFamily="34" charset="-122"/>
              </a:rPr>
              <a:t>一个源文件可以有若干个函数和预处理命令以及全局变量声明部分组成</a:t>
            </a:r>
          </a:p>
        </p:txBody>
      </p:sp>
      <p:sp>
        <p:nvSpPr>
          <p:cNvPr id="6" name="矩形 5"/>
          <p:cNvSpPr>
            <a:spLocks noChangeArrowheads="1"/>
          </p:cNvSpPr>
          <p:nvPr/>
        </p:nvSpPr>
        <p:spPr bwMode="auto">
          <a:xfrm>
            <a:off x="3708400" y="5732463"/>
            <a:ext cx="31432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spcBef>
                <a:spcPct val="20000"/>
              </a:spcBef>
            </a:pPr>
            <a:r>
              <a:rPr lang="zh-CN" altLang="en-US" sz="2400" b="1">
                <a:solidFill>
                  <a:srgbClr val="002060"/>
                </a:solidFill>
                <a:latin typeface="微软雅黑" pitchFamily="34" charset="-122"/>
                <a:ea typeface="微软雅黑" pitchFamily="34" charset="-122"/>
              </a:rPr>
              <a:t>一个函数有函数首部和函数体组成</a:t>
            </a:r>
          </a:p>
        </p:txBody>
      </p:sp>
      <p:sp>
        <p:nvSpPr>
          <p:cNvPr id="7" name="矩形 6"/>
          <p:cNvSpPr>
            <a:spLocks noChangeArrowheads="1"/>
          </p:cNvSpPr>
          <p:nvPr/>
        </p:nvSpPr>
        <p:spPr bwMode="auto">
          <a:xfrm>
            <a:off x="0" y="5300663"/>
            <a:ext cx="27559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spcBef>
                <a:spcPct val="20000"/>
              </a:spcBef>
            </a:pPr>
            <a:r>
              <a:rPr lang="zh-CN" altLang="en-US" sz="2400" b="1">
                <a:solidFill>
                  <a:srgbClr val="002060"/>
                </a:solidFill>
                <a:latin typeface="微软雅黑" pitchFamily="34" charset="-122"/>
                <a:ea typeface="微软雅黑" pitchFamily="34" charset="-122"/>
              </a:rPr>
              <a:t>函数体由数据声明（说明语句）和</a:t>
            </a:r>
            <a:r>
              <a:rPr lang="zh-CN" altLang="en-US" sz="2400" b="1">
                <a:solidFill>
                  <a:srgbClr val="FF0000"/>
                </a:solidFill>
                <a:latin typeface="微软雅黑" pitchFamily="34" charset="-122"/>
                <a:ea typeface="微软雅黑" pitchFamily="34" charset="-122"/>
              </a:rPr>
              <a:t>执行语句</a:t>
            </a:r>
            <a:r>
              <a:rPr lang="zh-CN" altLang="en-US" sz="2400" b="1">
                <a:solidFill>
                  <a:srgbClr val="002060"/>
                </a:solidFill>
                <a:latin typeface="微软雅黑" pitchFamily="34" charset="-122"/>
                <a:ea typeface="微软雅黑" pitchFamily="34" charset="-122"/>
              </a:rPr>
              <a:t>组成</a:t>
            </a:r>
          </a:p>
        </p:txBody>
      </p:sp>
      <p:sp>
        <p:nvSpPr>
          <p:cNvPr id="8" name="矩形 7"/>
          <p:cNvSpPr>
            <a:spLocks noChangeArrowheads="1"/>
          </p:cNvSpPr>
          <p:nvPr/>
        </p:nvSpPr>
        <p:spPr bwMode="auto">
          <a:xfrm>
            <a:off x="0" y="1857375"/>
            <a:ext cx="1622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342900" indent="-342900" eaLnBrk="1" hangingPunct="1">
              <a:spcBef>
                <a:spcPct val="20000"/>
              </a:spcBef>
            </a:pPr>
            <a:r>
              <a:rPr lang="en-US" altLang="zh-CN" sz="2400" b="1">
                <a:solidFill>
                  <a:srgbClr val="FF0000"/>
                </a:solidFill>
                <a:latin typeface="微软雅黑" pitchFamily="34" charset="-122"/>
                <a:ea typeface="微软雅黑" pitchFamily="34" charset="-122"/>
              </a:rPr>
              <a:t>C</a:t>
            </a:r>
            <a:r>
              <a:rPr lang="zh-CN" altLang="en-US" sz="2400" b="1">
                <a:solidFill>
                  <a:srgbClr val="FF0000"/>
                </a:solidFill>
                <a:latin typeface="微软雅黑" pitchFamily="34" charset="-122"/>
                <a:ea typeface="微软雅黑" pitchFamily="34" charset="-122"/>
              </a:rPr>
              <a:t>语句</a:t>
            </a:r>
            <a:r>
              <a:rPr lang="zh-CN" altLang="en-US" sz="2400" b="1">
                <a:solidFill>
                  <a:srgbClr val="002060"/>
                </a:solidFill>
                <a:latin typeface="微软雅黑" pitchFamily="34" charset="-122"/>
                <a:ea typeface="微软雅黑" pitchFamily="34" charset="-122"/>
              </a:rPr>
              <a:t>分为</a:t>
            </a:r>
          </a:p>
        </p:txBody>
      </p:sp>
      <p:sp>
        <p:nvSpPr>
          <p:cNvPr id="9" name="Rectangle 8"/>
          <p:cNvSpPr>
            <a:spLocks noChangeArrowheads="1"/>
          </p:cNvSpPr>
          <p:nvPr/>
        </p:nvSpPr>
        <p:spPr bwMode="auto">
          <a:xfrm>
            <a:off x="285750" y="2357438"/>
            <a:ext cx="1928813" cy="207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buFont typeface="Arial" pitchFamily="34" charset="0"/>
              <a:buChar char="•"/>
            </a:pPr>
            <a:r>
              <a:rPr lang="zh-CN" altLang="en-US" sz="2400" b="1">
                <a:solidFill>
                  <a:srgbClr val="FF0000"/>
                </a:solidFill>
                <a:latin typeface="微软雅黑" pitchFamily="34" charset="-122"/>
                <a:ea typeface="微软雅黑" pitchFamily="34" charset="-122"/>
              </a:rPr>
              <a:t>控制语句</a:t>
            </a:r>
          </a:p>
          <a:p>
            <a:pPr eaLnBrk="1" hangingPunct="1">
              <a:buFont typeface="Arial" pitchFamily="34" charset="0"/>
              <a:buChar char="•"/>
            </a:pPr>
            <a:r>
              <a:rPr lang="zh-CN" altLang="en-US" sz="2400" b="1">
                <a:solidFill>
                  <a:srgbClr val="FF0000"/>
                </a:solidFill>
                <a:latin typeface="微软雅黑" pitchFamily="34" charset="-122"/>
                <a:ea typeface="微软雅黑" pitchFamily="34" charset="-122"/>
              </a:rPr>
              <a:t>函数调用语句</a:t>
            </a:r>
          </a:p>
          <a:p>
            <a:pPr eaLnBrk="1" hangingPunct="1">
              <a:buFont typeface="Arial" pitchFamily="34" charset="0"/>
              <a:buChar char="•"/>
            </a:pPr>
            <a:r>
              <a:rPr lang="zh-CN" altLang="en-US" sz="2400" b="1">
                <a:solidFill>
                  <a:srgbClr val="FF0000"/>
                </a:solidFill>
                <a:latin typeface="微软雅黑" pitchFamily="34" charset="-122"/>
                <a:ea typeface="微软雅黑" pitchFamily="34" charset="-122"/>
              </a:rPr>
              <a:t>表达式语句</a:t>
            </a:r>
          </a:p>
          <a:p>
            <a:pPr eaLnBrk="1" hangingPunct="1">
              <a:buFont typeface="Arial" pitchFamily="34" charset="0"/>
              <a:buChar char="•"/>
            </a:pPr>
            <a:r>
              <a:rPr lang="zh-CN" altLang="en-US" sz="2400" b="1">
                <a:solidFill>
                  <a:srgbClr val="FF0000"/>
                </a:solidFill>
                <a:latin typeface="微软雅黑" pitchFamily="34" charset="-122"/>
                <a:ea typeface="微软雅黑" pitchFamily="34" charset="-122"/>
              </a:rPr>
              <a:t>空语句</a:t>
            </a:r>
          </a:p>
          <a:p>
            <a:pPr eaLnBrk="1" hangingPunct="1">
              <a:buFont typeface="Arial" pitchFamily="34" charset="0"/>
              <a:buChar char="•"/>
            </a:pPr>
            <a:r>
              <a:rPr lang="zh-CN" altLang="en-US" sz="2400" b="1">
                <a:solidFill>
                  <a:srgbClr val="FF0000"/>
                </a:solidFill>
                <a:latin typeface="微软雅黑" pitchFamily="34" charset="-122"/>
                <a:ea typeface="微软雅黑" pitchFamily="34" charset="-122"/>
              </a:rPr>
              <a:t>复合语句</a:t>
            </a:r>
          </a:p>
        </p:txBody>
      </p:sp>
      <p:sp>
        <p:nvSpPr>
          <p:cNvPr id="10" name="Rectangle 4"/>
          <p:cNvSpPr>
            <a:spLocks noChangeArrowheads="1"/>
          </p:cNvSpPr>
          <p:nvPr/>
        </p:nvSpPr>
        <p:spPr bwMode="auto">
          <a:xfrm>
            <a:off x="0" y="595968"/>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流程控制</a:t>
            </a:r>
          </a:p>
        </p:txBody>
      </p:sp>
    </p:spTree>
    <p:extLst>
      <p:ext uri="{BB962C8B-B14F-4D97-AF65-F5344CB8AC3E}">
        <p14:creationId xmlns:p14="http://schemas.microsoft.com/office/powerpoint/2010/main" val="40991549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checkerboard(across)">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ox(in)">
                                      <p:cBhvr>
                                        <p:cTn id="22" dur="5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checkerboard(across)">
                                      <p:cBhvr>
                                        <p:cTn id="3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7" name="Rectangle 3"/>
          <p:cNvSpPr>
            <a:spLocks noChangeArrowheads="1"/>
          </p:cNvSpPr>
          <p:nvPr/>
        </p:nvSpPr>
        <p:spPr bwMode="auto">
          <a:xfrm>
            <a:off x="428596" y="2000240"/>
            <a:ext cx="4357686" cy="4357718"/>
          </a:xfrm>
          <a:prstGeom prst="rect">
            <a:avLst/>
          </a:prstGeom>
          <a:solidFill>
            <a:srgbClr val="FFFFCC"/>
          </a:solidFill>
          <a:ln w="9525">
            <a:solidFill>
              <a:schemeClr val="accent2"/>
            </a:solidFill>
            <a:miter lim="800000"/>
          </a:ln>
          <a:effectLst>
            <a:softEdge rad="317500"/>
          </a:effectLst>
        </p:spPr>
        <p:txBody>
          <a:bodyPr/>
          <a:lstStyle/>
          <a:p>
            <a:pPr marL="342900" indent="-342900" eaLnBrk="1" hangingPunct="1">
              <a:spcBef>
                <a:spcPct val="20000"/>
              </a:spcBef>
              <a:defRPr/>
            </a:pPr>
            <a:r>
              <a:rPr lang="zh-CN" altLang="en-US" sz="2400" b="1" dirty="0">
                <a:solidFill>
                  <a:srgbClr val="002060"/>
                </a:solidFill>
                <a:latin typeface="微软雅黑" pitchFamily="34" charset="-122"/>
                <a:ea typeface="微软雅黑" pitchFamily="34" charset="-122"/>
              </a:rPr>
              <a:t>  </a:t>
            </a:r>
            <a:r>
              <a:rPr lang="en-US" altLang="zh-CN" sz="2400" b="1" dirty="0">
                <a:solidFill>
                  <a:srgbClr val="002060"/>
                </a:solidFill>
                <a:latin typeface="微软雅黑" pitchFamily="34" charset="-122"/>
                <a:ea typeface="微软雅黑" pitchFamily="34" charset="-122"/>
              </a:rPr>
              <a:t>1 </a:t>
            </a:r>
            <a:r>
              <a:rPr lang="zh-CN" altLang="en-US" sz="2400" b="1" dirty="0">
                <a:solidFill>
                  <a:srgbClr val="002060"/>
                </a:solidFill>
                <a:latin typeface="微软雅黑" pitchFamily="34" charset="-122"/>
                <a:ea typeface="微软雅黑" pitchFamily="34" charset="-122"/>
              </a:rPr>
              <a:t>）</a:t>
            </a:r>
            <a:r>
              <a:rPr lang="en-US" altLang="zh-CN" sz="2400" b="1" dirty="0">
                <a:solidFill>
                  <a:srgbClr val="C00000"/>
                </a:solidFill>
                <a:latin typeface="微软雅黑" pitchFamily="34" charset="-122"/>
                <a:ea typeface="微软雅黑" pitchFamily="34" charset="-122"/>
              </a:rPr>
              <a:t> </a:t>
            </a:r>
            <a:r>
              <a:rPr lang="en-US" altLang="en-US" sz="2400" b="1" dirty="0">
                <a:solidFill>
                  <a:srgbClr val="C00000"/>
                </a:solidFill>
                <a:latin typeface="微软雅黑" pitchFamily="34" charset="-122"/>
                <a:ea typeface="微软雅黑" pitchFamily="34" charset="-122"/>
              </a:rPr>
              <a:t>if() ~else </a:t>
            </a:r>
            <a:r>
              <a:rPr lang="zh-CN" altLang="zh-CN" sz="2400" b="1" dirty="0">
                <a:solidFill>
                  <a:srgbClr val="C00000"/>
                </a:solidFill>
                <a:latin typeface="微软雅黑" pitchFamily="34" charset="-122"/>
                <a:ea typeface="微软雅黑" pitchFamily="34" charset="-122"/>
              </a:rPr>
              <a:t>条件</a:t>
            </a:r>
            <a:r>
              <a:rPr lang="zh-CN" altLang="en-US" sz="2400" b="1" dirty="0">
                <a:solidFill>
                  <a:srgbClr val="C00000"/>
                </a:solidFill>
                <a:latin typeface="微软雅黑" pitchFamily="34" charset="-122"/>
                <a:ea typeface="微软雅黑" pitchFamily="34" charset="-122"/>
              </a:rPr>
              <a:t>语句</a:t>
            </a:r>
          </a:p>
          <a:p>
            <a:pPr marL="342900" indent="-342900" eaLnBrk="1" hangingPunct="1">
              <a:spcBef>
                <a:spcPct val="20000"/>
              </a:spcBef>
              <a:defRPr/>
            </a:pPr>
            <a:r>
              <a:rPr lang="zh-CN" altLang="en-US" sz="2400" b="1" dirty="0">
                <a:solidFill>
                  <a:srgbClr val="002060"/>
                </a:solidFill>
                <a:latin typeface="微软雅黑" pitchFamily="34" charset="-122"/>
                <a:ea typeface="微软雅黑" pitchFamily="34" charset="-122"/>
              </a:rPr>
              <a:t>  </a:t>
            </a:r>
            <a:r>
              <a:rPr lang="en-US" altLang="zh-CN" sz="2400" b="1" dirty="0">
                <a:solidFill>
                  <a:srgbClr val="002060"/>
                </a:solidFill>
                <a:latin typeface="微软雅黑" pitchFamily="34" charset="-122"/>
                <a:ea typeface="微软雅黑" pitchFamily="34" charset="-122"/>
              </a:rPr>
              <a:t>2  </a:t>
            </a:r>
            <a:r>
              <a:rPr lang="zh-CN" altLang="en-US" sz="2400" b="1" dirty="0">
                <a:solidFill>
                  <a:srgbClr val="002060"/>
                </a:solidFill>
                <a:latin typeface="微软雅黑" pitchFamily="34" charset="-122"/>
                <a:ea typeface="微软雅黑" pitchFamily="34" charset="-122"/>
              </a:rPr>
              <a:t>）</a:t>
            </a:r>
            <a:r>
              <a:rPr lang="en-US" altLang="zh-CN" sz="2400" b="1" dirty="0">
                <a:solidFill>
                  <a:srgbClr val="002060"/>
                </a:solidFill>
                <a:latin typeface="微软雅黑" pitchFamily="34" charset="-122"/>
                <a:ea typeface="微软雅黑" pitchFamily="34" charset="-122"/>
              </a:rPr>
              <a:t>switch() </a:t>
            </a:r>
            <a:r>
              <a:rPr lang="zh-CN" altLang="en-US" sz="2400" b="1" dirty="0">
                <a:solidFill>
                  <a:srgbClr val="002060"/>
                </a:solidFill>
                <a:latin typeface="微软雅黑" pitchFamily="34" charset="-122"/>
                <a:ea typeface="微软雅黑" pitchFamily="34" charset="-122"/>
              </a:rPr>
              <a:t>开关语句</a:t>
            </a:r>
            <a:endParaRPr lang="en-US" altLang="zh-CN" sz="2400" b="1" dirty="0">
              <a:solidFill>
                <a:srgbClr val="002060"/>
              </a:solidFill>
              <a:latin typeface="微软雅黑" pitchFamily="34" charset="-122"/>
              <a:ea typeface="微软雅黑" pitchFamily="34" charset="-122"/>
            </a:endParaRPr>
          </a:p>
          <a:p>
            <a:pPr marL="342900" indent="-342900" eaLnBrk="1" hangingPunct="1">
              <a:spcBef>
                <a:spcPct val="20000"/>
              </a:spcBef>
              <a:defRPr/>
            </a:pPr>
            <a:r>
              <a:rPr lang="en-US" altLang="en-US" sz="2400" b="1" dirty="0">
                <a:solidFill>
                  <a:srgbClr val="002060"/>
                </a:solidFill>
                <a:latin typeface="微软雅黑" pitchFamily="34" charset="-122"/>
                <a:ea typeface="微软雅黑" pitchFamily="34" charset="-122"/>
              </a:rPr>
              <a:t>  3  </a:t>
            </a:r>
            <a:r>
              <a:rPr lang="zh-CN" altLang="en-US" sz="2400" b="1" dirty="0">
                <a:solidFill>
                  <a:srgbClr val="002060"/>
                </a:solidFill>
                <a:latin typeface="微软雅黑" pitchFamily="34" charset="-122"/>
                <a:ea typeface="微软雅黑" pitchFamily="34" charset="-122"/>
              </a:rPr>
              <a:t>）</a:t>
            </a:r>
            <a:r>
              <a:rPr lang="en-US" altLang="en-US" sz="2400" b="1" dirty="0">
                <a:solidFill>
                  <a:srgbClr val="002060"/>
                </a:solidFill>
                <a:latin typeface="微软雅黑" pitchFamily="34" charset="-122"/>
                <a:ea typeface="微软雅黑" pitchFamily="34" charset="-122"/>
              </a:rPr>
              <a:t>for()~ </a:t>
            </a:r>
            <a:r>
              <a:rPr lang="zh-CN" altLang="zh-CN" sz="2400" b="1" dirty="0">
                <a:solidFill>
                  <a:srgbClr val="002060"/>
                </a:solidFill>
                <a:latin typeface="微软雅黑" pitchFamily="34" charset="-122"/>
                <a:ea typeface="微软雅黑" pitchFamily="34" charset="-122"/>
              </a:rPr>
              <a:t>循环</a:t>
            </a:r>
            <a:r>
              <a:rPr lang="zh-CN" altLang="en-US" sz="2400" b="1" dirty="0">
                <a:solidFill>
                  <a:srgbClr val="002060"/>
                </a:solidFill>
                <a:latin typeface="微软雅黑" pitchFamily="34" charset="-122"/>
                <a:ea typeface="微软雅黑" pitchFamily="34" charset="-122"/>
              </a:rPr>
              <a:t>语句</a:t>
            </a:r>
          </a:p>
          <a:p>
            <a:pPr marL="342900" indent="-342900" eaLnBrk="1" hangingPunct="1">
              <a:spcBef>
                <a:spcPct val="20000"/>
              </a:spcBef>
              <a:defRPr/>
            </a:pPr>
            <a:r>
              <a:rPr lang="zh-CN" altLang="en-US" sz="2400" b="1" dirty="0">
                <a:solidFill>
                  <a:srgbClr val="002060"/>
                </a:solidFill>
                <a:latin typeface="微软雅黑" pitchFamily="34" charset="-122"/>
                <a:ea typeface="微软雅黑" pitchFamily="34" charset="-122"/>
              </a:rPr>
              <a:t>  </a:t>
            </a:r>
            <a:r>
              <a:rPr lang="en-US" altLang="zh-CN" sz="2400" b="1" dirty="0">
                <a:solidFill>
                  <a:srgbClr val="002060"/>
                </a:solidFill>
                <a:latin typeface="微软雅黑" pitchFamily="34" charset="-122"/>
                <a:ea typeface="微软雅黑" pitchFamily="34" charset="-122"/>
              </a:rPr>
              <a:t>4  </a:t>
            </a:r>
            <a:r>
              <a:rPr lang="zh-CN" altLang="en-US" sz="2400" b="1" dirty="0">
                <a:solidFill>
                  <a:srgbClr val="002060"/>
                </a:solidFill>
                <a:latin typeface="微软雅黑" pitchFamily="34" charset="-122"/>
                <a:ea typeface="微软雅黑" pitchFamily="34" charset="-122"/>
              </a:rPr>
              <a:t>）</a:t>
            </a:r>
            <a:r>
              <a:rPr lang="en-US" altLang="en-US" sz="2400" b="1" dirty="0">
                <a:solidFill>
                  <a:srgbClr val="002060"/>
                </a:solidFill>
                <a:latin typeface="微软雅黑" pitchFamily="34" charset="-122"/>
                <a:ea typeface="微软雅黑" pitchFamily="34" charset="-122"/>
              </a:rPr>
              <a:t>while()~</a:t>
            </a:r>
            <a:r>
              <a:rPr lang="zh-CN" altLang="zh-CN" sz="2400" b="1" dirty="0">
                <a:solidFill>
                  <a:srgbClr val="002060"/>
                </a:solidFill>
                <a:latin typeface="微软雅黑" pitchFamily="34" charset="-122"/>
                <a:ea typeface="微软雅黑" pitchFamily="34" charset="-122"/>
              </a:rPr>
              <a:t>循环</a:t>
            </a:r>
            <a:r>
              <a:rPr lang="zh-CN" altLang="en-US" sz="2400" b="1" dirty="0">
                <a:solidFill>
                  <a:srgbClr val="002060"/>
                </a:solidFill>
                <a:latin typeface="微软雅黑" pitchFamily="34" charset="-122"/>
                <a:ea typeface="微软雅黑" pitchFamily="34" charset="-122"/>
              </a:rPr>
              <a:t>语句</a:t>
            </a:r>
          </a:p>
          <a:p>
            <a:pPr marL="342900" indent="-342900" eaLnBrk="1" hangingPunct="1">
              <a:spcBef>
                <a:spcPct val="20000"/>
              </a:spcBef>
              <a:defRPr/>
            </a:pPr>
            <a:r>
              <a:rPr lang="zh-CN" altLang="en-US" sz="2400" b="1" dirty="0">
                <a:solidFill>
                  <a:srgbClr val="002060"/>
                </a:solidFill>
                <a:latin typeface="微软雅黑" pitchFamily="34" charset="-122"/>
                <a:ea typeface="微软雅黑" pitchFamily="34" charset="-122"/>
              </a:rPr>
              <a:t>  </a:t>
            </a:r>
            <a:r>
              <a:rPr lang="en-US" altLang="zh-CN" sz="2400" b="1" dirty="0">
                <a:solidFill>
                  <a:srgbClr val="002060"/>
                </a:solidFill>
                <a:latin typeface="微软雅黑" pitchFamily="34" charset="-122"/>
                <a:ea typeface="微软雅黑" pitchFamily="34" charset="-122"/>
              </a:rPr>
              <a:t>5  </a:t>
            </a:r>
            <a:r>
              <a:rPr lang="zh-CN" altLang="en-US" sz="2400" b="1" dirty="0">
                <a:solidFill>
                  <a:srgbClr val="002060"/>
                </a:solidFill>
                <a:latin typeface="微软雅黑" pitchFamily="34" charset="-122"/>
                <a:ea typeface="微软雅黑" pitchFamily="34" charset="-122"/>
              </a:rPr>
              <a:t>）</a:t>
            </a:r>
            <a:r>
              <a:rPr lang="en-US" altLang="en-US" sz="2400" b="1" dirty="0">
                <a:solidFill>
                  <a:srgbClr val="002060"/>
                </a:solidFill>
                <a:latin typeface="微软雅黑" pitchFamily="34" charset="-122"/>
                <a:ea typeface="微软雅黑" pitchFamily="34" charset="-122"/>
              </a:rPr>
              <a:t>do ~while();</a:t>
            </a:r>
            <a:r>
              <a:rPr lang="zh-CN" altLang="zh-CN" sz="2400" b="1" dirty="0">
                <a:solidFill>
                  <a:srgbClr val="002060"/>
                </a:solidFill>
                <a:latin typeface="微软雅黑" pitchFamily="34" charset="-122"/>
                <a:ea typeface="微软雅黑" pitchFamily="34" charset="-122"/>
              </a:rPr>
              <a:t>循环</a:t>
            </a:r>
            <a:r>
              <a:rPr lang="zh-CN" altLang="en-US" sz="2400" b="1" dirty="0">
                <a:solidFill>
                  <a:srgbClr val="002060"/>
                </a:solidFill>
                <a:latin typeface="微软雅黑" pitchFamily="34" charset="-122"/>
                <a:ea typeface="微软雅黑" pitchFamily="34" charset="-122"/>
              </a:rPr>
              <a:t>语句</a:t>
            </a:r>
          </a:p>
          <a:p>
            <a:pPr marL="342900" indent="-342900" eaLnBrk="1" hangingPunct="1">
              <a:spcBef>
                <a:spcPct val="20000"/>
              </a:spcBef>
              <a:defRPr/>
            </a:pPr>
            <a:r>
              <a:rPr lang="zh-CN" altLang="en-US" sz="2400" b="1" dirty="0">
                <a:solidFill>
                  <a:srgbClr val="002060"/>
                </a:solidFill>
                <a:latin typeface="微软雅黑" pitchFamily="34" charset="-122"/>
                <a:ea typeface="微软雅黑" pitchFamily="34" charset="-122"/>
              </a:rPr>
              <a:t>  </a:t>
            </a:r>
            <a:r>
              <a:rPr lang="en-US" altLang="zh-CN" sz="2400" b="1" dirty="0">
                <a:solidFill>
                  <a:srgbClr val="002060"/>
                </a:solidFill>
                <a:latin typeface="微软雅黑" pitchFamily="34" charset="-122"/>
                <a:ea typeface="微软雅黑" pitchFamily="34" charset="-122"/>
              </a:rPr>
              <a:t>6  </a:t>
            </a:r>
            <a:r>
              <a:rPr lang="zh-CN" altLang="en-US" sz="2400" b="1" dirty="0">
                <a:solidFill>
                  <a:srgbClr val="002060"/>
                </a:solidFill>
                <a:latin typeface="微软雅黑" pitchFamily="34" charset="-122"/>
                <a:ea typeface="微软雅黑" pitchFamily="34" charset="-122"/>
              </a:rPr>
              <a:t>）</a:t>
            </a:r>
            <a:r>
              <a:rPr lang="en-US" altLang="en-US" sz="2400" b="1" dirty="0">
                <a:solidFill>
                  <a:srgbClr val="002060"/>
                </a:solidFill>
                <a:latin typeface="微软雅黑" pitchFamily="34" charset="-122"/>
                <a:ea typeface="微软雅黑" pitchFamily="34" charset="-122"/>
              </a:rPr>
              <a:t>continue </a:t>
            </a:r>
            <a:r>
              <a:rPr lang="zh-CN" altLang="zh-CN" sz="2400" b="1" dirty="0">
                <a:solidFill>
                  <a:srgbClr val="002060"/>
                </a:solidFill>
                <a:latin typeface="微软雅黑" pitchFamily="34" charset="-122"/>
                <a:ea typeface="微软雅黑" pitchFamily="34" charset="-122"/>
              </a:rPr>
              <a:t>继续</a:t>
            </a:r>
            <a:r>
              <a:rPr lang="zh-CN" altLang="en-US" sz="2400" b="1" dirty="0">
                <a:solidFill>
                  <a:srgbClr val="002060"/>
                </a:solidFill>
                <a:latin typeface="微软雅黑" pitchFamily="34" charset="-122"/>
                <a:ea typeface="微软雅黑" pitchFamily="34" charset="-122"/>
              </a:rPr>
              <a:t>语句</a:t>
            </a:r>
            <a:endParaRPr lang="en-US" altLang="zh-CN" sz="2400" b="1" dirty="0">
              <a:solidFill>
                <a:srgbClr val="002060"/>
              </a:solidFill>
              <a:latin typeface="微软雅黑" pitchFamily="34" charset="-122"/>
              <a:ea typeface="微软雅黑" pitchFamily="34" charset="-122"/>
            </a:endParaRPr>
          </a:p>
          <a:p>
            <a:pPr marL="342900" indent="-342900" eaLnBrk="1" hangingPunct="1">
              <a:spcBef>
                <a:spcPct val="20000"/>
              </a:spcBef>
              <a:defRPr/>
            </a:pPr>
            <a:r>
              <a:rPr lang="en-US" altLang="zh-CN" sz="2400" b="1" dirty="0">
                <a:solidFill>
                  <a:srgbClr val="002060"/>
                </a:solidFill>
                <a:latin typeface="微软雅黑" pitchFamily="34" charset="-122"/>
                <a:ea typeface="微软雅黑" pitchFamily="34" charset="-122"/>
              </a:rPr>
              <a:t>  7  </a:t>
            </a:r>
            <a:r>
              <a:rPr lang="zh-CN" altLang="en-US" sz="2400" b="1" dirty="0">
                <a:solidFill>
                  <a:srgbClr val="002060"/>
                </a:solidFill>
                <a:latin typeface="微软雅黑" pitchFamily="34" charset="-122"/>
                <a:ea typeface="微软雅黑" pitchFamily="34" charset="-122"/>
              </a:rPr>
              <a:t>）</a:t>
            </a:r>
            <a:r>
              <a:rPr lang="en-US" altLang="zh-CN" sz="2400" b="1" dirty="0">
                <a:solidFill>
                  <a:srgbClr val="002060"/>
                </a:solidFill>
                <a:latin typeface="微软雅黑" pitchFamily="34" charset="-122"/>
                <a:ea typeface="微软雅黑" pitchFamily="34" charset="-122"/>
              </a:rPr>
              <a:t>break   </a:t>
            </a:r>
            <a:r>
              <a:rPr lang="zh-CN" altLang="en-US" sz="2400" b="1" dirty="0">
                <a:solidFill>
                  <a:srgbClr val="002060"/>
                </a:solidFill>
                <a:latin typeface="微软雅黑" pitchFamily="34" charset="-122"/>
                <a:ea typeface="微软雅黑" pitchFamily="34" charset="-122"/>
              </a:rPr>
              <a:t>间断语句</a:t>
            </a:r>
            <a:endParaRPr lang="en-US" altLang="zh-CN" sz="2400" b="1" dirty="0">
              <a:solidFill>
                <a:srgbClr val="002060"/>
              </a:solidFill>
              <a:latin typeface="微软雅黑" pitchFamily="34" charset="-122"/>
              <a:ea typeface="微软雅黑" pitchFamily="34" charset="-122"/>
            </a:endParaRPr>
          </a:p>
          <a:p>
            <a:pPr marL="342900" indent="-342900" eaLnBrk="1" hangingPunct="1">
              <a:spcBef>
                <a:spcPct val="20000"/>
              </a:spcBef>
              <a:defRPr/>
            </a:pPr>
            <a:r>
              <a:rPr lang="en-US" altLang="zh-CN" sz="2400" b="1" dirty="0">
                <a:solidFill>
                  <a:srgbClr val="002060"/>
                </a:solidFill>
                <a:latin typeface="微软雅黑" pitchFamily="34" charset="-122"/>
                <a:ea typeface="微软雅黑" pitchFamily="34" charset="-122"/>
              </a:rPr>
              <a:t>  8  </a:t>
            </a:r>
            <a:r>
              <a:rPr lang="zh-CN" altLang="en-US" sz="2400" b="1" dirty="0">
                <a:solidFill>
                  <a:srgbClr val="002060"/>
                </a:solidFill>
                <a:latin typeface="微软雅黑" pitchFamily="34" charset="-122"/>
                <a:ea typeface="微软雅黑" pitchFamily="34" charset="-122"/>
              </a:rPr>
              <a:t>）</a:t>
            </a:r>
            <a:r>
              <a:rPr lang="en-US" altLang="zh-CN" sz="2400" b="1" dirty="0" err="1">
                <a:solidFill>
                  <a:srgbClr val="002060"/>
                </a:solidFill>
                <a:latin typeface="微软雅黑" pitchFamily="34" charset="-122"/>
                <a:ea typeface="微软雅黑" pitchFamily="34" charset="-122"/>
              </a:rPr>
              <a:t>goto</a:t>
            </a:r>
            <a:r>
              <a:rPr lang="en-US" altLang="zh-CN" sz="2400" b="1" dirty="0">
                <a:solidFill>
                  <a:srgbClr val="002060"/>
                </a:solidFill>
                <a:latin typeface="微软雅黑" pitchFamily="34" charset="-122"/>
                <a:ea typeface="微软雅黑" pitchFamily="34" charset="-122"/>
              </a:rPr>
              <a:t>  </a:t>
            </a:r>
            <a:r>
              <a:rPr lang="zh-CN" altLang="en-US" sz="2400" b="1" dirty="0">
                <a:solidFill>
                  <a:srgbClr val="002060"/>
                </a:solidFill>
                <a:latin typeface="微软雅黑" pitchFamily="34" charset="-122"/>
                <a:ea typeface="微软雅黑" pitchFamily="34" charset="-122"/>
              </a:rPr>
              <a:t>转向语句</a:t>
            </a:r>
            <a:endParaRPr lang="en-US" altLang="zh-CN" sz="2400" b="1" dirty="0">
              <a:solidFill>
                <a:srgbClr val="002060"/>
              </a:solidFill>
              <a:latin typeface="微软雅黑" pitchFamily="34" charset="-122"/>
              <a:ea typeface="微软雅黑" pitchFamily="34" charset="-122"/>
            </a:endParaRPr>
          </a:p>
          <a:p>
            <a:pPr marL="342900" indent="-342900" eaLnBrk="1" hangingPunct="1">
              <a:spcBef>
                <a:spcPct val="20000"/>
              </a:spcBef>
              <a:defRPr/>
            </a:pPr>
            <a:r>
              <a:rPr lang="en-US" altLang="zh-CN" sz="2400" b="1" dirty="0">
                <a:solidFill>
                  <a:srgbClr val="002060"/>
                </a:solidFill>
                <a:latin typeface="微软雅黑" pitchFamily="34" charset="-122"/>
                <a:ea typeface="微软雅黑" pitchFamily="34" charset="-122"/>
              </a:rPr>
              <a:t>  </a:t>
            </a:r>
            <a:r>
              <a:rPr lang="zh-CN" altLang="zh-CN" sz="2400" b="1" dirty="0">
                <a:solidFill>
                  <a:srgbClr val="002060"/>
                </a:solidFill>
                <a:latin typeface="微软雅黑" pitchFamily="34" charset="-122"/>
                <a:ea typeface="微软雅黑" pitchFamily="34" charset="-122"/>
              </a:rPr>
              <a:t>9</a:t>
            </a:r>
            <a:r>
              <a:rPr lang="en-US" altLang="zh-CN" sz="2400" b="1" dirty="0">
                <a:solidFill>
                  <a:srgbClr val="002060"/>
                </a:solidFill>
                <a:latin typeface="微软雅黑" pitchFamily="34" charset="-122"/>
                <a:ea typeface="微软雅黑" pitchFamily="34" charset="-122"/>
              </a:rPr>
              <a:t>  </a:t>
            </a:r>
            <a:r>
              <a:rPr lang="zh-CN" altLang="en-US" sz="2400" b="1" dirty="0">
                <a:solidFill>
                  <a:srgbClr val="002060"/>
                </a:solidFill>
                <a:latin typeface="微软雅黑" pitchFamily="34" charset="-122"/>
                <a:ea typeface="微软雅黑" pitchFamily="34" charset="-122"/>
              </a:rPr>
              <a:t>）</a:t>
            </a:r>
            <a:r>
              <a:rPr lang="en-US" altLang="zh-CN" sz="2400" b="1" dirty="0">
                <a:solidFill>
                  <a:srgbClr val="002060"/>
                </a:solidFill>
                <a:latin typeface="微软雅黑" pitchFamily="34" charset="-122"/>
                <a:ea typeface="微软雅黑" pitchFamily="34" charset="-122"/>
              </a:rPr>
              <a:t>return  </a:t>
            </a:r>
            <a:r>
              <a:rPr lang="zh-CN" altLang="en-US" sz="2400" b="1" dirty="0">
                <a:solidFill>
                  <a:srgbClr val="002060"/>
                </a:solidFill>
                <a:latin typeface="微软雅黑" pitchFamily="34" charset="-122"/>
                <a:ea typeface="微软雅黑" pitchFamily="34" charset="-122"/>
              </a:rPr>
              <a:t>返回语句</a:t>
            </a:r>
          </a:p>
        </p:txBody>
      </p:sp>
      <p:sp>
        <p:nvSpPr>
          <p:cNvPr id="5" name="矩形 4"/>
          <p:cNvSpPr>
            <a:spLocks noChangeArrowheads="1"/>
          </p:cNvSpPr>
          <p:nvPr/>
        </p:nvSpPr>
        <p:spPr bwMode="auto">
          <a:xfrm>
            <a:off x="357188" y="1143000"/>
            <a:ext cx="85725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ct val="95000"/>
              </a:lnSpc>
              <a:spcBef>
                <a:spcPct val="5000"/>
              </a:spcBef>
            </a:pPr>
            <a:r>
              <a:rPr lang="zh-CN" altLang="en-US" sz="2800" b="1">
                <a:solidFill>
                  <a:srgbClr val="C00000"/>
                </a:solidFill>
                <a:latin typeface="微软雅黑" pitchFamily="34" charset="-122"/>
                <a:ea typeface="微软雅黑" pitchFamily="34" charset="-122"/>
              </a:rPr>
              <a:t>控制语句  </a:t>
            </a:r>
            <a:r>
              <a:rPr lang="zh-CN" altLang="en-US" sz="2800" b="1">
                <a:solidFill>
                  <a:srgbClr val="002060"/>
                </a:solidFill>
                <a:latin typeface="微软雅黑" pitchFamily="34" charset="-122"/>
                <a:ea typeface="微软雅黑" pitchFamily="34" charset="-122"/>
              </a:rPr>
              <a:t>完成一定的控制功能</a:t>
            </a:r>
            <a:r>
              <a:rPr lang="en-US" altLang="zh-CN" sz="2800" b="1">
                <a:solidFill>
                  <a:srgbClr val="002060"/>
                </a:solidFill>
                <a:latin typeface="微软雅黑" pitchFamily="34" charset="-122"/>
                <a:ea typeface="微软雅黑" pitchFamily="34" charset="-122"/>
              </a:rPr>
              <a:t>,</a:t>
            </a:r>
            <a:r>
              <a:rPr lang="zh-CN" altLang="en-US" sz="2800" b="1">
                <a:solidFill>
                  <a:srgbClr val="002060"/>
                </a:solidFill>
                <a:latin typeface="微软雅黑" pitchFamily="34" charset="-122"/>
                <a:ea typeface="微软雅黑" pitchFamily="34" charset="-122"/>
              </a:rPr>
              <a:t>实现三种基本结构</a:t>
            </a:r>
          </a:p>
        </p:txBody>
      </p:sp>
      <p:sp>
        <p:nvSpPr>
          <p:cNvPr id="8" name="右大括号 7"/>
          <p:cNvSpPr>
            <a:spLocks/>
          </p:cNvSpPr>
          <p:nvPr/>
        </p:nvSpPr>
        <p:spPr bwMode="auto">
          <a:xfrm>
            <a:off x="4357688" y="2143125"/>
            <a:ext cx="571500" cy="714375"/>
          </a:xfrm>
          <a:prstGeom prst="rightBrace">
            <a:avLst>
              <a:gd name="adj1" fmla="val 832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en-US">
              <a:latin typeface="微软雅黑" pitchFamily="34" charset="-122"/>
              <a:ea typeface="微软雅黑" pitchFamily="34" charset="-122"/>
            </a:endParaRPr>
          </a:p>
        </p:txBody>
      </p:sp>
      <p:sp>
        <p:nvSpPr>
          <p:cNvPr id="9" name="矩形 8"/>
          <p:cNvSpPr>
            <a:spLocks noChangeArrowheads="1"/>
          </p:cNvSpPr>
          <p:nvPr/>
        </p:nvSpPr>
        <p:spPr bwMode="auto">
          <a:xfrm>
            <a:off x="5000625" y="2286000"/>
            <a:ext cx="17287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800" b="1">
                <a:solidFill>
                  <a:srgbClr val="C00000"/>
                </a:solidFill>
                <a:latin typeface="微软雅黑" pitchFamily="34" charset="-122"/>
                <a:ea typeface="微软雅黑" pitchFamily="34" charset="-122"/>
              </a:rPr>
              <a:t> 选择结构</a:t>
            </a:r>
            <a:endParaRPr lang="zh-CN" altLang="en-US" sz="2800">
              <a:latin typeface="微软雅黑" pitchFamily="34" charset="-122"/>
              <a:ea typeface="微软雅黑" pitchFamily="34" charset="-122"/>
            </a:endParaRPr>
          </a:p>
        </p:txBody>
      </p:sp>
      <p:sp>
        <p:nvSpPr>
          <p:cNvPr id="10" name="右大括号 9"/>
          <p:cNvSpPr>
            <a:spLocks/>
          </p:cNvSpPr>
          <p:nvPr/>
        </p:nvSpPr>
        <p:spPr bwMode="auto">
          <a:xfrm>
            <a:off x="4500563" y="3214688"/>
            <a:ext cx="571500" cy="2000250"/>
          </a:xfrm>
          <a:prstGeom prst="rightBrace">
            <a:avLst>
              <a:gd name="adj1" fmla="val 831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en-US">
              <a:latin typeface="微软雅黑" pitchFamily="34" charset="-122"/>
              <a:ea typeface="微软雅黑" pitchFamily="34" charset="-122"/>
            </a:endParaRPr>
          </a:p>
        </p:txBody>
      </p:sp>
      <p:sp>
        <p:nvSpPr>
          <p:cNvPr id="11" name="矩形 10"/>
          <p:cNvSpPr>
            <a:spLocks noChangeArrowheads="1"/>
          </p:cNvSpPr>
          <p:nvPr/>
        </p:nvSpPr>
        <p:spPr bwMode="auto">
          <a:xfrm>
            <a:off x="5072063" y="3929063"/>
            <a:ext cx="17287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800" b="1">
                <a:solidFill>
                  <a:srgbClr val="C00000"/>
                </a:solidFill>
                <a:latin typeface="微软雅黑" pitchFamily="34" charset="-122"/>
                <a:ea typeface="微软雅黑" pitchFamily="34" charset="-122"/>
              </a:rPr>
              <a:t> 循环结构</a:t>
            </a:r>
            <a:endParaRPr lang="zh-CN" altLang="en-US" sz="2800">
              <a:latin typeface="微软雅黑" pitchFamily="34" charset="-122"/>
              <a:ea typeface="微软雅黑" pitchFamily="34" charset="-122"/>
            </a:endParaRPr>
          </a:p>
        </p:txBody>
      </p:sp>
      <p:cxnSp>
        <p:nvCxnSpPr>
          <p:cNvPr id="13" name="直接箭头连接符 12"/>
          <p:cNvCxnSpPr>
            <a:cxnSpLocks noChangeShapeType="1"/>
          </p:cNvCxnSpPr>
          <p:nvPr/>
        </p:nvCxnSpPr>
        <p:spPr bwMode="auto">
          <a:xfrm>
            <a:off x="3857625" y="5715000"/>
            <a:ext cx="1214438"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14" name="矩形 13"/>
          <p:cNvSpPr>
            <a:spLocks noChangeArrowheads="1"/>
          </p:cNvSpPr>
          <p:nvPr/>
        </p:nvSpPr>
        <p:spPr bwMode="auto">
          <a:xfrm>
            <a:off x="5143500" y="5357813"/>
            <a:ext cx="17287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800" b="1">
                <a:solidFill>
                  <a:srgbClr val="C00000"/>
                </a:solidFill>
                <a:latin typeface="微软雅黑" pitchFamily="34" charset="-122"/>
                <a:ea typeface="微软雅黑" pitchFamily="34" charset="-122"/>
              </a:rPr>
              <a:t> 函数调用</a:t>
            </a:r>
            <a:endParaRPr lang="zh-CN" altLang="en-US" sz="2800">
              <a:latin typeface="微软雅黑" pitchFamily="34" charset="-122"/>
              <a:ea typeface="微软雅黑" pitchFamily="34" charset="-122"/>
            </a:endParaRPr>
          </a:p>
        </p:txBody>
      </p:sp>
      <p:sp>
        <p:nvSpPr>
          <p:cNvPr id="12" name="Rectangle 4"/>
          <p:cNvSpPr>
            <a:spLocks noChangeArrowheads="1"/>
          </p:cNvSpPr>
          <p:nvPr/>
        </p:nvSpPr>
        <p:spPr bwMode="auto">
          <a:xfrm>
            <a:off x="0" y="595968"/>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流程控制</a:t>
            </a:r>
          </a:p>
        </p:txBody>
      </p:sp>
    </p:spTree>
    <p:extLst>
      <p:ext uri="{BB962C8B-B14F-4D97-AF65-F5344CB8AC3E}">
        <p14:creationId xmlns:p14="http://schemas.microsoft.com/office/powerpoint/2010/main" val="2794048036"/>
      </p:ext>
    </p:extLst>
  </p:cSld>
  <p:clrMapOvr>
    <a:masterClrMapping/>
  </p:clrMapOvr>
  <p:transition advClick="0">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5427"/>
                                        </p:tgtEl>
                                        <p:attrNameLst>
                                          <p:attrName>style.visibility</p:attrName>
                                        </p:attrNameLst>
                                      </p:cBhvr>
                                      <p:to>
                                        <p:strVal val="visible"/>
                                      </p:to>
                                    </p:set>
                                    <p:animEffect transition="in" filter="blinds(horizontal)">
                                      <p:cBhvr>
                                        <p:cTn id="7" dur="500"/>
                                        <p:tgtEl>
                                          <p:spTgt spid="6154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615427"/>
                                        </p:tgtEl>
                                        <p:attrNameLst>
                                          <p:attrName>style.visibility</p:attrName>
                                        </p:attrNameLst>
                                      </p:cBhvr>
                                      <p:to>
                                        <p:strVal val="visible"/>
                                      </p:to>
                                    </p:set>
                                    <p:animEffect transition="in" filter="box(in)">
                                      <p:cBhvr>
                                        <p:cTn id="17" dur="500"/>
                                        <p:tgtEl>
                                          <p:spTgt spid="61542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ppt_x"/>
                                          </p:val>
                                        </p:tav>
                                        <p:tav tm="100000">
                                          <p:val>
                                            <p:strVal val="#ppt_x"/>
                                          </p:val>
                                        </p:tav>
                                      </p:tavLst>
                                    </p:anim>
                                    <p:anim calcmode="lin" valueType="num">
                                      <p:cBhvr additive="base">
                                        <p:cTn id="2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box(in)">
                                      <p:cBhvr>
                                        <p:cTn id="28" dur="500"/>
                                        <p:tgtEl>
                                          <p:spTgt spid="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box(in)">
                                      <p:cBhvr>
                                        <p:cTn id="33" dur="500"/>
                                        <p:tgtEl>
                                          <p:spTgt spid="1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box(in)">
                                      <p:cBhvr>
                                        <p:cTn id="38" dur="500"/>
                                        <p:tgtEl>
                                          <p:spTgt spid="1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blinds(horizontal)">
                                      <p:cBhvr>
                                        <p:cTn id="43" dur="500"/>
                                        <p:tgtEl>
                                          <p:spTgt spid="1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blinds(horizontal)">
                                      <p:cBhvr>
                                        <p:cTn id="4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nimBg="1"/>
      <p:bldP spid="9" grpId="0"/>
      <p:bldP spid="10" grpId="0" animBg="1"/>
      <p:bldP spid="11" grpId="0"/>
      <p:bldP spid="1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a:spLocks noChangeArrowheads="1"/>
          </p:cNvSpPr>
          <p:nvPr/>
        </p:nvSpPr>
        <p:spPr bwMode="auto">
          <a:xfrm>
            <a:off x="152400" y="1071563"/>
            <a:ext cx="3633788"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lnSpc>
                <a:spcPct val="95000"/>
              </a:lnSpc>
              <a:spcBef>
                <a:spcPct val="5000"/>
              </a:spcBef>
            </a:pPr>
            <a:r>
              <a:rPr lang="zh-CN" altLang="en-US" sz="2800" b="1">
                <a:solidFill>
                  <a:srgbClr val="C00000"/>
                </a:solidFill>
                <a:latin typeface="微软雅黑" pitchFamily="34" charset="-122"/>
                <a:ea typeface="微软雅黑" pitchFamily="34" charset="-122"/>
              </a:rPr>
              <a:t>函数调用语句</a:t>
            </a:r>
          </a:p>
        </p:txBody>
      </p:sp>
      <p:sp>
        <p:nvSpPr>
          <p:cNvPr id="9" name="矩形 8"/>
          <p:cNvSpPr>
            <a:spLocks noChangeArrowheads="1"/>
          </p:cNvSpPr>
          <p:nvPr/>
        </p:nvSpPr>
        <p:spPr bwMode="auto">
          <a:xfrm>
            <a:off x="723900" y="1643063"/>
            <a:ext cx="73215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400" b="1">
                <a:solidFill>
                  <a:srgbClr val="002060"/>
                </a:solidFill>
                <a:latin typeface="微软雅黑" pitchFamily="34" charset="-122"/>
                <a:ea typeface="微软雅黑" pitchFamily="34" charset="-122"/>
              </a:rPr>
              <a:t>由一个函数调用加一个分号构成一个语句</a:t>
            </a:r>
            <a:endParaRPr lang="en-US" altLang="zh-CN" sz="2400" b="1">
              <a:solidFill>
                <a:srgbClr val="002060"/>
              </a:solidFill>
              <a:latin typeface="微软雅黑" pitchFamily="34" charset="-122"/>
              <a:ea typeface="微软雅黑" pitchFamily="34" charset="-122"/>
            </a:endParaRPr>
          </a:p>
          <a:p>
            <a:pPr eaLnBrk="1" hangingPunct="1"/>
            <a:r>
              <a:rPr lang="en-US" altLang="zh-CN" sz="2400" b="1">
                <a:solidFill>
                  <a:srgbClr val="002060"/>
                </a:solidFill>
                <a:latin typeface="微软雅黑" pitchFamily="34" charset="-122"/>
                <a:ea typeface="微软雅黑" pitchFamily="34" charset="-122"/>
              </a:rPr>
              <a:t>printf(“Hello World.\n”); </a:t>
            </a:r>
            <a:r>
              <a:rPr lang="en-US" altLang="zh-CN" sz="2400" b="1">
                <a:solidFill>
                  <a:srgbClr val="C00000"/>
                </a:solidFill>
                <a:latin typeface="微软雅黑" pitchFamily="34" charset="-122"/>
                <a:ea typeface="微软雅黑" pitchFamily="34" charset="-122"/>
              </a:rPr>
              <a:t>--</a:t>
            </a:r>
            <a:r>
              <a:rPr lang="zh-CN" altLang="en-US" sz="2400" b="1">
                <a:solidFill>
                  <a:srgbClr val="C00000"/>
                </a:solidFill>
                <a:latin typeface="微软雅黑" pitchFamily="34" charset="-122"/>
                <a:ea typeface="微软雅黑" pitchFamily="34" charset="-122"/>
              </a:rPr>
              <a:t>库函数调用语句。</a:t>
            </a:r>
          </a:p>
        </p:txBody>
      </p:sp>
      <p:sp>
        <p:nvSpPr>
          <p:cNvPr id="10" name="矩形 9"/>
          <p:cNvSpPr>
            <a:spLocks noChangeArrowheads="1"/>
          </p:cNvSpPr>
          <p:nvPr/>
        </p:nvSpPr>
        <p:spPr bwMode="auto">
          <a:xfrm>
            <a:off x="223838" y="2547938"/>
            <a:ext cx="19796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800" b="1">
                <a:solidFill>
                  <a:srgbClr val="C00000"/>
                </a:solidFill>
                <a:latin typeface="微软雅黑" pitchFamily="34" charset="-122"/>
                <a:ea typeface="微软雅黑" pitchFamily="34" charset="-122"/>
              </a:rPr>
              <a:t>表达式语句</a:t>
            </a:r>
          </a:p>
        </p:txBody>
      </p:sp>
      <p:sp>
        <p:nvSpPr>
          <p:cNvPr id="11" name="Rectangle 19"/>
          <p:cNvSpPr>
            <a:spLocks noChangeArrowheads="1"/>
          </p:cNvSpPr>
          <p:nvPr/>
        </p:nvSpPr>
        <p:spPr bwMode="auto">
          <a:xfrm>
            <a:off x="2724150" y="2643188"/>
            <a:ext cx="195738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r>
              <a:rPr lang="zh-CN" altLang="en-US" sz="2400" b="1">
                <a:solidFill>
                  <a:srgbClr val="002060"/>
                </a:solidFill>
                <a:latin typeface="微软雅黑" pitchFamily="34" charset="-122"/>
                <a:ea typeface="微软雅黑" pitchFamily="34" charset="-122"/>
              </a:rPr>
              <a:t>表达式</a:t>
            </a:r>
            <a:r>
              <a:rPr lang="en-US" altLang="zh-CN" sz="2400" b="1">
                <a:solidFill>
                  <a:srgbClr val="002060"/>
                </a:solidFill>
                <a:latin typeface="微软雅黑" pitchFamily="34" charset="-122"/>
                <a:ea typeface="微软雅黑" pitchFamily="34" charset="-122"/>
              </a:rPr>
              <a:t>+</a:t>
            </a:r>
            <a:r>
              <a:rPr lang="zh-CN" altLang="en-US" sz="2400" b="1">
                <a:solidFill>
                  <a:srgbClr val="002060"/>
                </a:solidFill>
                <a:latin typeface="微软雅黑" pitchFamily="34" charset="-122"/>
                <a:ea typeface="微软雅黑" pitchFamily="34" charset="-122"/>
              </a:rPr>
              <a:t>分号</a:t>
            </a:r>
            <a:endParaRPr lang="en-US" altLang="zh-CN" sz="2400" b="1">
              <a:solidFill>
                <a:srgbClr val="002060"/>
              </a:solidFill>
              <a:latin typeface="微软雅黑" pitchFamily="34" charset="-122"/>
              <a:ea typeface="微软雅黑" pitchFamily="34" charset="-122"/>
            </a:endParaRPr>
          </a:p>
          <a:p>
            <a:r>
              <a:rPr lang="en-US" altLang="zh-CN" sz="2400" b="1">
                <a:solidFill>
                  <a:srgbClr val="002060"/>
                </a:solidFill>
                <a:latin typeface="微软雅黑" pitchFamily="34" charset="-122"/>
                <a:ea typeface="微软雅黑" pitchFamily="34" charset="-122"/>
              </a:rPr>
              <a:t>a   =   3  ;</a:t>
            </a:r>
          </a:p>
        </p:txBody>
      </p:sp>
      <p:sp>
        <p:nvSpPr>
          <p:cNvPr id="12" name="矩形 11"/>
          <p:cNvSpPr>
            <a:spLocks noChangeArrowheads="1"/>
          </p:cNvSpPr>
          <p:nvPr/>
        </p:nvSpPr>
        <p:spPr bwMode="auto">
          <a:xfrm>
            <a:off x="295275" y="3643313"/>
            <a:ext cx="46355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342900" indent="-342900" eaLnBrk="1" hangingPunct="1">
              <a:lnSpc>
                <a:spcPct val="95000"/>
              </a:lnSpc>
              <a:spcBef>
                <a:spcPct val="5000"/>
              </a:spcBef>
            </a:pPr>
            <a:r>
              <a:rPr lang="zh-CN" altLang="en-US" sz="2800" b="1">
                <a:solidFill>
                  <a:srgbClr val="C00000"/>
                </a:solidFill>
                <a:latin typeface="微软雅黑" pitchFamily="34" charset="-122"/>
                <a:ea typeface="微软雅黑" pitchFamily="34" charset="-122"/>
              </a:rPr>
              <a:t>空语句   </a:t>
            </a:r>
            <a:r>
              <a:rPr lang="zh-CN" altLang="en-US" sz="2400" b="1">
                <a:solidFill>
                  <a:srgbClr val="002060"/>
                </a:solidFill>
                <a:latin typeface="微软雅黑" pitchFamily="34" charset="-122"/>
                <a:ea typeface="微软雅黑" pitchFamily="34" charset="-122"/>
              </a:rPr>
              <a:t>只有一个分号的语句 </a:t>
            </a:r>
            <a:r>
              <a:rPr lang="en-US" altLang="zh-CN" sz="2400" b="1">
                <a:solidFill>
                  <a:srgbClr val="C00000"/>
                </a:solidFill>
                <a:latin typeface="微软雅黑" pitchFamily="34" charset="-122"/>
                <a:ea typeface="微软雅黑" pitchFamily="34" charset="-122"/>
              </a:rPr>
              <a:t>;</a:t>
            </a:r>
            <a:endParaRPr lang="zh-CN" altLang="en-US" sz="2400" b="1">
              <a:solidFill>
                <a:srgbClr val="C00000"/>
              </a:solidFill>
              <a:latin typeface="微软雅黑" pitchFamily="34" charset="-122"/>
              <a:ea typeface="微软雅黑" pitchFamily="34" charset="-122"/>
            </a:endParaRPr>
          </a:p>
        </p:txBody>
      </p:sp>
      <p:sp>
        <p:nvSpPr>
          <p:cNvPr id="13" name="矩形 12"/>
          <p:cNvSpPr>
            <a:spLocks noChangeArrowheads="1"/>
          </p:cNvSpPr>
          <p:nvPr/>
        </p:nvSpPr>
        <p:spPr bwMode="auto">
          <a:xfrm>
            <a:off x="938213" y="4143375"/>
            <a:ext cx="4572000"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1" hangingPunct="1">
              <a:spcBef>
                <a:spcPct val="20000"/>
              </a:spcBef>
              <a:buFont typeface="Arial" pitchFamily="34" charset="0"/>
              <a:buChar char="•"/>
            </a:pPr>
            <a:r>
              <a:rPr lang="zh-CN" altLang="en-US" sz="2400" b="1">
                <a:solidFill>
                  <a:srgbClr val="002060"/>
                </a:solidFill>
                <a:latin typeface="微软雅黑" pitchFamily="34" charset="-122"/>
                <a:ea typeface="微软雅黑" pitchFamily="34" charset="-122"/>
              </a:rPr>
              <a:t>用来做流程的转向点</a:t>
            </a:r>
          </a:p>
          <a:p>
            <a:pPr marL="342900" indent="-342900" eaLnBrk="1" hangingPunct="1">
              <a:spcBef>
                <a:spcPct val="20000"/>
              </a:spcBef>
              <a:buFont typeface="Arial" pitchFamily="34" charset="0"/>
              <a:buChar char="•"/>
            </a:pPr>
            <a:r>
              <a:rPr lang="zh-CN" altLang="en-US" sz="2400" b="1">
                <a:solidFill>
                  <a:srgbClr val="002060"/>
                </a:solidFill>
                <a:latin typeface="微软雅黑" pitchFamily="34" charset="-122"/>
                <a:ea typeface="微软雅黑" pitchFamily="34" charset="-122"/>
              </a:rPr>
              <a:t>用来作为循环语句中的循环体</a:t>
            </a:r>
            <a:endParaRPr lang="zh-CN" altLang="en-US" sz="2400">
              <a:solidFill>
                <a:srgbClr val="002060"/>
              </a:solidFill>
              <a:latin typeface="微软雅黑" pitchFamily="34" charset="-122"/>
              <a:ea typeface="微软雅黑" pitchFamily="34" charset="-122"/>
            </a:endParaRPr>
          </a:p>
        </p:txBody>
      </p:sp>
      <p:sp>
        <p:nvSpPr>
          <p:cNvPr id="14" name="矩形 13"/>
          <p:cNvSpPr>
            <a:spLocks noChangeArrowheads="1"/>
          </p:cNvSpPr>
          <p:nvPr/>
        </p:nvSpPr>
        <p:spPr bwMode="auto">
          <a:xfrm>
            <a:off x="366713" y="5072063"/>
            <a:ext cx="64293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2800" b="1">
                <a:solidFill>
                  <a:srgbClr val="C00000"/>
                </a:solidFill>
                <a:latin typeface="微软雅黑" pitchFamily="34" charset="-122"/>
                <a:ea typeface="微软雅黑" pitchFamily="34" charset="-122"/>
              </a:rPr>
              <a:t>复合语句   </a:t>
            </a:r>
            <a:r>
              <a:rPr lang="zh-CN" altLang="en-US" sz="2400" b="1">
                <a:solidFill>
                  <a:srgbClr val="002060"/>
                </a:solidFill>
                <a:latin typeface="微软雅黑" pitchFamily="34" charset="-122"/>
                <a:ea typeface="微软雅黑" pitchFamily="34" charset="-122"/>
              </a:rPr>
              <a:t>用一对</a:t>
            </a:r>
            <a:r>
              <a:rPr lang="en-US" altLang="zh-CN" sz="2400" b="1">
                <a:solidFill>
                  <a:srgbClr val="C00000"/>
                </a:solidFill>
                <a:latin typeface="微软雅黑" pitchFamily="34" charset="-122"/>
                <a:ea typeface="微软雅黑" pitchFamily="34" charset="-122"/>
              </a:rPr>
              <a:t>{ }</a:t>
            </a:r>
            <a:r>
              <a:rPr lang="zh-CN" altLang="en-US" sz="2400" b="1">
                <a:solidFill>
                  <a:srgbClr val="002060"/>
                </a:solidFill>
                <a:latin typeface="微软雅黑" pitchFamily="34" charset="-122"/>
                <a:ea typeface="微软雅黑" pitchFamily="34" charset="-122"/>
              </a:rPr>
              <a:t>括起来的语句组，作为一条语句使用。常用在循环结构和条件结构中。</a:t>
            </a:r>
          </a:p>
        </p:txBody>
      </p:sp>
      <p:sp>
        <p:nvSpPr>
          <p:cNvPr id="15" name="TextBox 14"/>
          <p:cNvSpPr txBox="1"/>
          <p:nvPr/>
        </p:nvSpPr>
        <p:spPr>
          <a:xfrm>
            <a:off x="6804248" y="2564903"/>
            <a:ext cx="2339752" cy="3477875"/>
          </a:xfrm>
          <a:prstGeom prst="rect">
            <a:avLst/>
          </a:prstGeom>
          <a:solidFill>
            <a:schemeClr val="accent2">
              <a:lumMod val="20000"/>
              <a:lumOff val="80000"/>
            </a:schemeClr>
          </a:solidFill>
          <a:effectLst>
            <a:softEdge rad="317500"/>
          </a:effectLst>
        </p:spPr>
        <p:txBody>
          <a:bodyPr>
            <a:spAutoFit/>
          </a:bodyPr>
          <a:lstStyle/>
          <a:p>
            <a:pPr eaLnBrk="1" hangingPunct="1">
              <a:defRPr/>
            </a:pPr>
            <a:r>
              <a:rPr lang="en-US" altLang="zh-CN" sz="2000" b="1" dirty="0">
                <a:latin typeface="微软雅黑" pitchFamily="34" charset="-122"/>
                <a:ea typeface="微软雅黑" pitchFamily="34" charset="-122"/>
              </a:rPr>
              <a:t>main()</a:t>
            </a:r>
          </a:p>
          <a:p>
            <a:pPr eaLnBrk="1" hangingPunct="1">
              <a:defRPr/>
            </a:pPr>
            <a:r>
              <a:rPr lang="en-US" altLang="zh-CN" sz="2000" b="1" dirty="0">
                <a:latin typeface="微软雅黑" pitchFamily="34" charset="-122"/>
                <a:ea typeface="微软雅黑" pitchFamily="34" charset="-122"/>
              </a:rPr>
              <a:t>{ </a:t>
            </a:r>
            <a:r>
              <a:rPr lang="en-US" altLang="zh-CN" sz="2000" b="1" dirty="0" err="1">
                <a:latin typeface="微软雅黑" pitchFamily="34" charset="-122"/>
                <a:ea typeface="微软雅黑" pitchFamily="34" charset="-122"/>
              </a:rPr>
              <a:t>int</a:t>
            </a:r>
            <a:r>
              <a:rPr lang="en-US" altLang="zh-CN" sz="2000" b="1" dirty="0">
                <a:latin typeface="微软雅黑" pitchFamily="34" charset="-122"/>
                <a:ea typeface="微软雅黑" pitchFamily="34" charset="-122"/>
              </a:rPr>
              <a:t> a=1;</a:t>
            </a:r>
          </a:p>
          <a:p>
            <a:pPr eaLnBrk="1" hangingPunct="1">
              <a:defRPr/>
            </a:pPr>
            <a:r>
              <a:rPr lang="en-US" altLang="zh-CN" sz="2000" b="1" dirty="0">
                <a:latin typeface="微软雅黑" pitchFamily="34" charset="-122"/>
                <a:ea typeface="微软雅黑" pitchFamily="34" charset="-122"/>
              </a:rPr>
              <a:t>  </a:t>
            </a:r>
            <a:r>
              <a:rPr lang="en-US" altLang="zh-CN" sz="2000" b="1" dirty="0" err="1">
                <a:latin typeface="微软雅黑" pitchFamily="34" charset="-122"/>
                <a:ea typeface="微软雅黑" pitchFamily="34" charset="-122"/>
              </a:rPr>
              <a:t>printf</a:t>
            </a:r>
            <a:r>
              <a:rPr lang="en-US" altLang="zh-CN" sz="2000" b="1" dirty="0">
                <a:latin typeface="微软雅黑" pitchFamily="34" charset="-122"/>
                <a:ea typeface="微软雅黑" pitchFamily="34" charset="-122"/>
              </a:rPr>
              <a:t>(“%</a:t>
            </a:r>
            <a:r>
              <a:rPr lang="en-US" altLang="zh-CN" sz="2000" b="1" dirty="0" err="1">
                <a:latin typeface="微软雅黑" pitchFamily="34" charset="-122"/>
                <a:ea typeface="微软雅黑" pitchFamily="34" charset="-122"/>
              </a:rPr>
              <a:t>d”,a</a:t>
            </a:r>
            <a:r>
              <a:rPr lang="en-US" altLang="zh-CN" sz="2000" b="1" dirty="0">
                <a:latin typeface="微软雅黑" pitchFamily="34" charset="-122"/>
                <a:ea typeface="微软雅黑" pitchFamily="34" charset="-122"/>
              </a:rPr>
              <a:t>);</a:t>
            </a:r>
          </a:p>
          <a:p>
            <a:pPr eaLnBrk="1" hangingPunct="1">
              <a:defRPr/>
            </a:pPr>
            <a:r>
              <a:rPr lang="en-US" altLang="zh-CN" sz="2000" b="1" dirty="0">
                <a:latin typeface="微软雅黑" pitchFamily="34" charset="-122"/>
                <a:ea typeface="微软雅黑" pitchFamily="34" charset="-122"/>
              </a:rPr>
              <a:t>  </a:t>
            </a:r>
            <a:r>
              <a:rPr lang="en-US" altLang="zh-CN" sz="2000" b="1" dirty="0">
                <a:solidFill>
                  <a:srgbClr val="C00000"/>
                </a:solidFill>
                <a:latin typeface="微软雅黑" pitchFamily="34" charset="-122"/>
                <a:ea typeface="微软雅黑" pitchFamily="34" charset="-122"/>
              </a:rPr>
              <a:t> { a=10;</a:t>
            </a:r>
          </a:p>
          <a:p>
            <a:pPr eaLnBrk="1" hangingPunct="1">
              <a:defRPr/>
            </a:pPr>
            <a:r>
              <a:rPr lang="en-US" altLang="zh-CN" sz="2000" b="1" dirty="0">
                <a:solidFill>
                  <a:srgbClr val="C00000"/>
                </a:solidFill>
                <a:latin typeface="微软雅黑" pitchFamily="34" charset="-122"/>
                <a:ea typeface="微软雅黑" pitchFamily="34" charset="-122"/>
              </a:rPr>
              <a:t>  </a:t>
            </a:r>
            <a:r>
              <a:rPr lang="en-US" altLang="zh-CN" sz="2000" b="1" dirty="0" err="1">
                <a:solidFill>
                  <a:srgbClr val="C00000"/>
                </a:solidFill>
                <a:latin typeface="微软雅黑" pitchFamily="34" charset="-122"/>
                <a:ea typeface="微软雅黑" pitchFamily="34" charset="-122"/>
              </a:rPr>
              <a:t>printf</a:t>
            </a:r>
            <a:r>
              <a:rPr lang="en-US" altLang="zh-CN" sz="2000" b="1" dirty="0">
                <a:solidFill>
                  <a:srgbClr val="C00000"/>
                </a:solidFill>
                <a:latin typeface="微软雅黑" pitchFamily="34" charset="-122"/>
                <a:ea typeface="微软雅黑" pitchFamily="34" charset="-122"/>
              </a:rPr>
              <a:t>(“%</a:t>
            </a:r>
            <a:r>
              <a:rPr lang="en-US" altLang="zh-CN" sz="2000" b="1" dirty="0" err="1">
                <a:solidFill>
                  <a:srgbClr val="C00000"/>
                </a:solidFill>
                <a:latin typeface="微软雅黑" pitchFamily="34" charset="-122"/>
                <a:ea typeface="微软雅黑" pitchFamily="34" charset="-122"/>
              </a:rPr>
              <a:t>d”,a</a:t>
            </a:r>
            <a:r>
              <a:rPr lang="en-US" altLang="zh-CN" sz="2000" b="1" dirty="0">
                <a:solidFill>
                  <a:srgbClr val="C00000"/>
                </a:solidFill>
                <a:latin typeface="微软雅黑" pitchFamily="34" charset="-122"/>
                <a:ea typeface="微软雅黑" pitchFamily="34" charset="-122"/>
              </a:rPr>
              <a:t>);</a:t>
            </a:r>
          </a:p>
          <a:p>
            <a:pPr eaLnBrk="1" hangingPunct="1">
              <a:defRPr/>
            </a:pPr>
            <a:r>
              <a:rPr lang="en-US" altLang="zh-CN" sz="2000" b="1" dirty="0">
                <a:latin typeface="微软雅黑" pitchFamily="34" charset="-122"/>
                <a:ea typeface="微软雅黑" pitchFamily="34" charset="-122"/>
              </a:rPr>
              <a:t>   </a:t>
            </a:r>
            <a:r>
              <a:rPr lang="en-US" altLang="zh-CN" sz="2000" b="1" dirty="0">
                <a:solidFill>
                  <a:srgbClr val="C00000"/>
                </a:solidFill>
                <a:latin typeface="微软雅黑" pitchFamily="34" charset="-122"/>
                <a:ea typeface="微软雅黑" pitchFamily="34" charset="-122"/>
              </a:rPr>
              <a:t> }</a:t>
            </a:r>
          </a:p>
          <a:p>
            <a:pPr eaLnBrk="1" hangingPunct="1">
              <a:defRPr/>
            </a:pPr>
            <a:r>
              <a:rPr lang="en-US" altLang="zh-CN" sz="2000" b="1" dirty="0">
                <a:latin typeface="微软雅黑" pitchFamily="34" charset="-122"/>
                <a:ea typeface="微软雅黑" pitchFamily="34" charset="-122"/>
              </a:rPr>
              <a:t>  </a:t>
            </a:r>
            <a:r>
              <a:rPr lang="en-US" altLang="zh-CN" sz="2000" b="1" dirty="0" err="1">
                <a:latin typeface="微软雅黑" pitchFamily="34" charset="-122"/>
                <a:ea typeface="微软雅黑" pitchFamily="34" charset="-122"/>
              </a:rPr>
              <a:t>pirntf</a:t>
            </a:r>
            <a:r>
              <a:rPr lang="en-US" altLang="zh-CN" sz="2000" b="1" dirty="0">
                <a:latin typeface="微软雅黑" pitchFamily="34" charset="-122"/>
                <a:ea typeface="微软雅黑" pitchFamily="34" charset="-122"/>
              </a:rPr>
              <a:t>(“%</a:t>
            </a:r>
            <a:r>
              <a:rPr lang="en-US" altLang="zh-CN" sz="2000" b="1" dirty="0" err="1">
                <a:latin typeface="微软雅黑" pitchFamily="34" charset="-122"/>
                <a:ea typeface="微软雅黑" pitchFamily="34" charset="-122"/>
              </a:rPr>
              <a:t>d”,a</a:t>
            </a:r>
            <a:r>
              <a:rPr lang="en-US" altLang="zh-CN" sz="2000" b="1" dirty="0">
                <a:latin typeface="微软雅黑" pitchFamily="34" charset="-122"/>
                <a:ea typeface="微软雅黑" pitchFamily="34" charset="-122"/>
              </a:rPr>
              <a:t>);</a:t>
            </a:r>
          </a:p>
          <a:p>
            <a:pPr eaLnBrk="1" hangingPunct="1">
              <a:defRPr/>
            </a:pPr>
            <a:r>
              <a:rPr lang="en-US" altLang="zh-CN" sz="2000" b="1" dirty="0">
                <a:latin typeface="微软雅黑" pitchFamily="34" charset="-122"/>
                <a:ea typeface="微软雅黑" pitchFamily="34" charset="-122"/>
              </a:rPr>
              <a:t>}</a:t>
            </a:r>
            <a:endParaRPr lang="zh-CN" altLang="en-US" sz="2000" b="1" dirty="0">
              <a:latin typeface="微软雅黑" pitchFamily="34" charset="-122"/>
              <a:ea typeface="微软雅黑" pitchFamily="34" charset="-122"/>
            </a:endParaRPr>
          </a:p>
        </p:txBody>
      </p:sp>
      <p:sp>
        <p:nvSpPr>
          <p:cNvPr id="16" name="Rectangle 4"/>
          <p:cNvSpPr>
            <a:spLocks noChangeArrowheads="1"/>
          </p:cNvSpPr>
          <p:nvPr/>
        </p:nvSpPr>
        <p:spPr bwMode="auto">
          <a:xfrm>
            <a:off x="0" y="595968"/>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流程控制</a:t>
            </a:r>
          </a:p>
        </p:txBody>
      </p:sp>
    </p:spTree>
    <p:extLst>
      <p:ext uri="{BB962C8B-B14F-4D97-AF65-F5344CB8AC3E}">
        <p14:creationId xmlns:p14="http://schemas.microsoft.com/office/powerpoint/2010/main" val="2385516862"/>
      </p:ext>
    </p:extLst>
  </p:cSld>
  <p:clrMapOvr>
    <a:masterClrMapping/>
  </p:clrMapOvr>
  <p:transition advClick="0">
    <p:strips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ox(in)">
                                      <p:cBhvr>
                                        <p:cTn id="13" dur="500"/>
                                        <p:tgtEl>
                                          <p:spTgt spid="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ox(in)">
                                      <p:cBhvr>
                                        <p:cTn id="18" dur="500"/>
                                        <p:tgtEl>
                                          <p:spTgt spid="1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ox(in)">
                                      <p:cBhvr>
                                        <p:cTn id="23" dur="500"/>
                                        <p:tgtEl>
                                          <p:spTgt spid="1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box(in)">
                                      <p:cBhvr>
                                        <p:cTn id="28" dur="500"/>
                                        <p:tgtEl>
                                          <p:spTgt spid="1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8" presetClass="entr" presetSubtype="16"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diamond(in)">
                                      <p:cBhvr>
                                        <p:cTn id="33" dur="2000"/>
                                        <p:tgtEl>
                                          <p:spTgt spid="1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8" presetClass="entr" presetSubtype="16"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diamond(in)">
                                      <p:cBhvr>
                                        <p:cTn id="38" dur="2000"/>
                                        <p:tgtEl>
                                          <p:spTgt spid="1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8" presetClass="entr" presetSubtype="16"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diamond(in)">
                                      <p:cBhvr>
                                        <p:cTn id="43"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13" grpId="0"/>
      <p:bldP spid="1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004" name="Rectangle 4"/>
          <p:cNvSpPr>
            <a:spLocks noChangeArrowheads="1"/>
          </p:cNvSpPr>
          <p:nvPr/>
        </p:nvSpPr>
        <p:spPr bwMode="auto">
          <a:xfrm>
            <a:off x="0" y="1714500"/>
            <a:ext cx="914400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r>
              <a:rPr lang="zh-CN" altLang="en-US" sz="2400" b="1">
                <a:solidFill>
                  <a:srgbClr val="002060"/>
                </a:solidFill>
                <a:latin typeface="微软雅黑" pitchFamily="34" charset="-122"/>
                <a:ea typeface="微软雅黑" pitchFamily="34" charset="-122"/>
              </a:rPr>
              <a:t>例：</a:t>
            </a:r>
            <a:r>
              <a:rPr lang="en-US" altLang="zh-CN" sz="2400" b="1">
                <a:solidFill>
                  <a:srgbClr val="002060"/>
                </a:solidFill>
                <a:latin typeface="微软雅黑" pitchFamily="34" charset="-122"/>
                <a:ea typeface="微软雅黑" pitchFamily="34" charset="-122"/>
              </a:rPr>
              <a:t>a=100        </a:t>
            </a:r>
            <a:r>
              <a:rPr lang="zh-CN" altLang="en-US" sz="2400" b="1">
                <a:solidFill>
                  <a:srgbClr val="002060"/>
                </a:solidFill>
                <a:latin typeface="微软雅黑" pitchFamily="34" charset="-122"/>
                <a:ea typeface="微软雅黑" pitchFamily="34" charset="-122"/>
              </a:rPr>
              <a:t>赋值表达式      </a:t>
            </a:r>
          </a:p>
          <a:p>
            <a:pPr eaLnBrk="1" hangingPunct="1"/>
            <a:r>
              <a:rPr lang="zh-CN" altLang="en-US" sz="2400" b="1">
                <a:solidFill>
                  <a:srgbClr val="002060"/>
                </a:solidFill>
                <a:latin typeface="微软雅黑" pitchFamily="34" charset="-122"/>
                <a:ea typeface="微软雅黑" pitchFamily="34" charset="-122"/>
              </a:rPr>
              <a:t>    </a:t>
            </a:r>
            <a:r>
              <a:rPr lang="en-US" altLang="zh-CN" sz="2400" b="1">
                <a:solidFill>
                  <a:srgbClr val="002060"/>
                </a:solidFill>
                <a:latin typeface="微软雅黑" pitchFamily="34" charset="-122"/>
                <a:ea typeface="微软雅黑" pitchFamily="34" charset="-122"/>
              </a:rPr>
              <a:t>a=100;       </a:t>
            </a:r>
            <a:r>
              <a:rPr lang="zh-CN" altLang="en-US" sz="2400" b="1">
                <a:solidFill>
                  <a:srgbClr val="002060"/>
                </a:solidFill>
                <a:latin typeface="微软雅黑" pitchFamily="34" charset="-122"/>
                <a:ea typeface="微软雅黑" pitchFamily="34" charset="-122"/>
              </a:rPr>
              <a:t>赋值语句</a:t>
            </a:r>
            <a:endParaRPr lang="en-US" altLang="zh-CN" sz="2400" b="1">
              <a:solidFill>
                <a:srgbClr val="002060"/>
              </a:solidFill>
              <a:latin typeface="微软雅黑" pitchFamily="34" charset="-122"/>
              <a:ea typeface="微软雅黑" pitchFamily="34" charset="-122"/>
            </a:endParaRPr>
          </a:p>
        </p:txBody>
      </p:sp>
      <p:sp>
        <p:nvSpPr>
          <p:cNvPr id="41987" name="矩形 4"/>
          <p:cNvSpPr>
            <a:spLocks noChangeArrowheads="1"/>
          </p:cNvSpPr>
          <p:nvPr/>
        </p:nvSpPr>
        <p:spPr bwMode="auto">
          <a:xfrm>
            <a:off x="0" y="1125538"/>
            <a:ext cx="85693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2800" b="1">
                <a:solidFill>
                  <a:srgbClr val="C00000"/>
                </a:solidFill>
                <a:latin typeface="微软雅黑" pitchFamily="34" charset="-122"/>
                <a:ea typeface="微软雅黑" pitchFamily="34" charset="-122"/>
              </a:rPr>
              <a:t>1.</a:t>
            </a:r>
            <a:r>
              <a:rPr lang="zh-CN" altLang="en-US" sz="2800" b="1">
                <a:solidFill>
                  <a:srgbClr val="C00000"/>
                </a:solidFill>
                <a:latin typeface="微软雅黑" pitchFamily="34" charset="-122"/>
                <a:ea typeface="微软雅黑" pitchFamily="34" charset="-122"/>
              </a:rPr>
              <a:t>赋值语句是由赋值表达式加上一个分号构成</a:t>
            </a:r>
          </a:p>
        </p:txBody>
      </p:sp>
      <p:sp>
        <p:nvSpPr>
          <p:cNvPr id="6" name="矩形 5"/>
          <p:cNvSpPr>
            <a:spLocks noChangeArrowheads="1"/>
          </p:cNvSpPr>
          <p:nvPr/>
        </p:nvSpPr>
        <p:spPr bwMode="auto">
          <a:xfrm>
            <a:off x="0" y="4429125"/>
            <a:ext cx="889317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2800" b="1">
                <a:solidFill>
                  <a:srgbClr val="C00000"/>
                </a:solidFill>
                <a:latin typeface="微软雅黑" pitchFamily="34" charset="-122"/>
                <a:ea typeface="微软雅黑" pitchFamily="34" charset="-122"/>
              </a:rPr>
              <a:t>3.</a:t>
            </a:r>
            <a:r>
              <a:rPr lang="zh-CN" altLang="en-US" sz="2800" b="1">
                <a:solidFill>
                  <a:srgbClr val="C00000"/>
                </a:solidFill>
                <a:latin typeface="微软雅黑" pitchFamily="34" charset="-122"/>
                <a:ea typeface="微软雅黑" pitchFamily="34" charset="-122"/>
              </a:rPr>
              <a:t>条件中不能含有赋值符号，但是赋值表达式可以</a:t>
            </a:r>
          </a:p>
          <a:p>
            <a:pPr eaLnBrk="1" hangingPunct="1"/>
            <a:r>
              <a:rPr lang="zh-CN" altLang="en-US" sz="2800" b="1">
                <a:solidFill>
                  <a:srgbClr val="C00000"/>
                </a:solidFill>
                <a:latin typeface="微软雅黑" pitchFamily="34" charset="-122"/>
                <a:ea typeface="微软雅黑" pitchFamily="34" charset="-122"/>
              </a:rPr>
              <a:t>包含于条件表达式中</a:t>
            </a:r>
          </a:p>
        </p:txBody>
      </p:sp>
      <p:sp>
        <p:nvSpPr>
          <p:cNvPr id="7" name="矩形 6"/>
          <p:cNvSpPr>
            <a:spLocks noChangeArrowheads="1"/>
          </p:cNvSpPr>
          <p:nvPr/>
        </p:nvSpPr>
        <p:spPr bwMode="auto">
          <a:xfrm>
            <a:off x="0" y="2643188"/>
            <a:ext cx="48529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2800" b="1">
                <a:solidFill>
                  <a:srgbClr val="C00000"/>
                </a:solidFill>
                <a:latin typeface="微软雅黑" pitchFamily="34" charset="-122"/>
                <a:ea typeface="微软雅黑" pitchFamily="34" charset="-122"/>
              </a:rPr>
              <a:t>2.</a:t>
            </a:r>
            <a:r>
              <a:rPr lang="zh-CN" altLang="en-US" sz="2800" b="1">
                <a:solidFill>
                  <a:srgbClr val="C00000"/>
                </a:solidFill>
                <a:latin typeface="微软雅黑" pitchFamily="34" charset="-122"/>
                <a:ea typeface="微软雅黑" pitchFamily="34" charset="-122"/>
              </a:rPr>
              <a:t>注意区分初始化与赋值语句</a:t>
            </a:r>
          </a:p>
        </p:txBody>
      </p:sp>
      <p:sp>
        <p:nvSpPr>
          <p:cNvPr id="9" name="Rectangle 4"/>
          <p:cNvSpPr>
            <a:spLocks noChangeArrowheads="1"/>
          </p:cNvSpPr>
          <p:nvPr/>
        </p:nvSpPr>
        <p:spPr bwMode="auto">
          <a:xfrm>
            <a:off x="214313" y="3286125"/>
            <a:ext cx="414337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r>
              <a:rPr lang="zh-CN" altLang="en-US" sz="2400" b="1">
                <a:solidFill>
                  <a:srgbClr val="002060"/>
                </a:solidFill>
                <a:latin typeface="微软雅黑" pitchFamily="34" charset="-122"/>
                <a:ea typeface="微软雅黑" pitchFamily="34" charset="-122"/>
              </a:rPr>
              <a:t>初始化：</a:t>
            </a:r>
            <a:r>
              <a:rPr lang="en-US" altLang="zh-CN" sz="2400" b="1">
                <a:solidFill>
                  <a:srgbClr val="002060"/>
                </a:solidFill>
                <a:latin typeface="微软雅黑" pitchFamily="34" charset="-122"/>
                <a:ea typeface="微软雅黑" pitchFamily="34" charset="-122"/>
              </a:rPr>
              <a:t>int a=10</a:t>
            </a:r>
            <a:r>
              <a:rPr lang="zh-CN" altLang="en-US" sz="2400" b="1">
                <a:solidFill>
                  <a:srgbClr val="002060"/>
                </a:solidFill>
                <a:latin typeface="微软雅黑" pitchFamily="34" charset="-122"/>
                <a:ea typeface="微软雅黑" pitchFamily="34" charset="-122"/>
              </a:rPr>
              <a:t>；</a:t>
            </a:r>
            <a:r>
              <a:rPr lang="en-US" altLang="zh-CN" sz="2400" b="1">
                <a:solidFill>
                  <a:srgbClr val="002060"/>
                </a:solidFill>
                <a:latin typeface="微软雅黑" pitchFamily="34" charset="-122"/>
                <a:ea typeface="微软雅黑" pitchFamily="34" charset="-122"/>
              </a:rPr>
              <a:t> </a:t>
            </a:r>
            <a:endParaRPr lang="zh-CN" altLang="en-US" sz="2400" b="1">
              <a:solidFill>
                <a:srgbClr val="002060"/>
              </a:solidFill>
              <a:latin typeface="微软雅黑" pitchFamily="34" charset="-122"/>
              <a:ea typeface="微软雅黑" pitchFamily="34" charset="-122"/>
            </a:endParaRPr>
          </a:p>
          <a:p>
            <a:pPr eaLnBrk="1" hangingPunct="1"/>
            <a:r>
              <a:rPr lang="zh-CN" altLang="en-US" sz="2400" b="1">
                <a:solidFill>
                  <a:srgbClr val="002060"/>
                </a:solidFill>
                <a:latin typeface="微软雅黑" pitchFamily="34" charset="-122"/>
                <a:ea typeface="微软雅黑" pitchFamily="34" charset="-122"/>
              </a:rPr>
              <a:t>赋值语句：</a:t>
            </a:r>
            <a:r>
              <a:rPr lang="en-US" altLang="zh-CN" sz="2400" b="1">
                <a:solidFill>
                  <a:srgbClr val="002060"/>
                </a:solidFill>
                <a:latin typeface="微软雅黑" pitchFamily="34" charset="-122"/>
                <a:ea typeface="微软雅黑" pitchFamily="34" charset="-122"/>
              </a:rPr>
              <a:t>int a;….a=10;</a:t>
            </a:r>
          </a:p>
        </p:txBody>
      </p:sp>
      <p:sp>
        <p:nvSpPr>
          <p:cNvPr id="10" name="Rectangle 4"/>
          <p:cNvSpPr>
            <a:spLocks noChangeArrowheads="1"/>
          </p:cNvSpPr>
          <p:nvPr/>
        </p:nvSpPr>
        <p:spPr bwMode="auto">
          <a:xfrm>
            <a:off x="4214813" y="3214688"/>
            <a:ext cx="471487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r>
              <a:rPr lang="zh-CN" altLang="en-US" sz="2400" b="1">
                <a:solidFill>
                  <a:srgbClr val="C00000"/>
                </a:solidFill>
                <a:latin typeface="微软雅黑" pitchFamily="34" charset="-122"/>
                <a:ea typeface="微软雅黑" pitchFamily="34" charset="-122"/>
              </a:rPr>
              <a:t>初始化语句出现在程序开始；</a:t>
            </a:r>
            <a:endParaRPr lang="en-US" altLang="zh-CN" sz="2400" b="1">
              <a:solidFill>
                <a:srgbClr val="C00000"/>
              </a:solidFill>
              <a:latin typeface="微软雅黑" pitchFamily="34" charset="-122"/>
              <a:ea typeface="微软雅黑" pitchFamily="34" charset="-122"/>
            </a:endParaRPr>
          </a:p>
          <a:p>
            <a:pPr eaLnBrk="1" hangingPunct="1"/>
            <a:r>
              <a:rPr lang="zh-CN" altLang="en-US" sz="2400" b="1">
                <a:solidFill>
                  <a:srgbClr val="C00000"/>
                </a:solidFill>
                <a:latin typeface="微软雅黑" pitchFamily="34" charset="-122"/>
                <a:ea typeface="微软雅黑" pitchFamily="34" charset="-122"/>
              </a:rPr>
              <a:t>赋值语句可以出现在程序任何位置。</a:t>
            </a:r>
            <a:endParaRPr lang="en-US" altLang="zh-CN" sz="2400" b="1">
              <a:solidFill>
                <a:srgbClr val="C00000"/>
              </a:solidFill>
              <a:latin typeface="微软雅黑" pitchFamily="34" charset="-122"/>
              <a:ea typeface="微软雅黑" pitchFamily="34" charset="-122"/>
            </a:endParaRPr>
          </a:p>
        </p:txBody>
      </p:sp>
      <p:sp>
        <p:nvSpPr>
          <p:cNvPr id="11" name="矩形 10"/>
          <p:cNvSpPr>
            <a:spLocks noChangeArrowheads="1"/>
          </p:cNvSpPr>
          <p:nvPr/>
        </p:nvSpPr>
        <p:spPr bwMode="auto">
          <a:xfrm>
            <a:off x="214313" y="5429250"/>
            <a:ext cx="650081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2400" b="1">
                <a:solidFill>
                  <a:srgbClr val="002060"/>
                </a:solidFill>
                <a:latin typeface="微软雅黑" pitchFamily="34" charset="-122"/>
                <a:ea typeface="微软雅黑" pitchFamily="34" charset="-122"/>
              </a:rPr>
              <a:t>例：</a:t>
            </a:r>
            <a:r>
              <a:rPr lang="en-US" altLang="zh-CN" sz="2400" b="1">
                <a:solidFill>
                  <a:srgbClr val="002060"/>
                </a:solidFill>
                <a:latin typeface="微软雅黑" pitchFamily="34" charset="-122"/>
                <a:ea typeface="微软雅黑" pitchFamily="34" charset="-122"/>
              </a:rPr>
              <a:t>if(a=b)          t=a;            </a:t>
            </a:r>
            <a:r>
              <a:rPr lang="zh-CN" altLang="en-US" sz="2400" b="1">
                <a:solidFill>
                  <a:srgbClr val="C00000"/>
                </a:solidFill>
                <a:latin typeface="微软雅黑" pitchFamily="34" charset="-122"/>
                <a:ea typeface="微软雅黑" pitchFamily="34" charset="-122"/>
              </a:rPr>
              <a:t>错误</a:t>
            </a:r>
          </a:p>
          <a:p>
            <a:pPr eaLnBrk="1" hangingPunct="1"/>
            <a:r>
              <a:rPr lang="zh-CN" altLang="en-US" sz="2400" b="1">
                <a:solidFill>
                  <a:srgbClr val="002060"/>
                </a:solidFill>
                <a:latin typeface="微软雅黑" pitchFamily="34" charset="-122"/>
                <a:ea typeface="微软雅黑" pitchFamily="34" charset="-122"/>
              </a:rPr>
              <a:t>    </a:t>
            </a:r>
            <a:r>
              <a:rPr lang="en-US" altLang="zh-CN" sz="2400" b="1">
                <a:solidFill>
                  <a:srgbClr val="002060"/>
                </a:solidFill>
                <a:latin typeface="微软雅黑" pitchFamily="34" charset="-122"/>
                <a:ea typeface="微软雅黑" pitchFamily="34" charset="-122"/>
              </a:rPr>
              <a:t>if((a=b)&gt;0)      t=a;            </a:t>
            </a:r>
            <a:r>
              <a:rPr lang="zh-CN" altLang="en-US" sz="2400" b="1">
                <a:solidFill>
                  <a:srgbClr val="002060"/>
                </a:solidFill>
                <a:latin typeface="微软雅黑" pitchFamily="34" charset="-122"/>
                <a:ea typeface="微软雅黑" pitchFamily="34" charset="-122"/>
              </a:rPr>
              <a:t>正确</a:t>
            </a:r>
          </a:p>
        </p:txBody>
      </p:sp>
      <p:sp>
        <p:nvSpPr>
          <p:cNvPr id="41993" name="Rectangle 4"/>
          <p:cNvSpPr>
            <a:spLocks noChangeArrowheads="1"/>
          </p:cNvSpPr>
          <p:nvPr/>
        </p:nvSpPr>
        <p:spPr bwMode="auto">
          <a:xfrm>
            <a:off x="0" y="602318"/>
            <a:ext cx="3416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赋值语句</a:t>
            </a:r>
          </a:p>
        </p:txBody>
      </p:sp>
    </p:spTree>
    <p:extLst>
      <p:ext uri="{BB962C8B-B14F-4D97-AF65-F5344CB8AC3E}">
        <p14:creationId xmlns:p14="http://schemas.microsoft.com/office/powerpoint/2010/main" val="42244469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40004"/>
                                        </p:tgtEl>
                                        <p:attrNameLst>
                                          <p:attrName>style.visibility</p:attrName>
                                        </p:attrNameLst>
                                      </p:cBhvr>
                                      <p:to>
                                        <p:strVal val="visible"/>
                                      </p:to>
                                    </p:set>
                                    <p:anim calcmode="lin" valueType="num">
                                      <p:cBhvr additive="base">
                                        <p:cTn id="7" dur="500" fill="hold"/>
                                        <p:tgtEl>
                                          <p:spTgt spid="640004"/>
                                        </p:tgtEl>
                                        <p:attrNameLst>
                                          <p:attrName>ppt_x</p:attrName>
                                        </p:attrNameLst>
                                      </p:cBhvr>
                                      <p:tavLst>
                                        <p:tav tm="0">
                                          <p:val>
                                            <p:strVal val="0-#ppt_w/2"/>
                                          </p:val>
                                        </p:tav>
                                        <p:tav tm="100000">
                                          <p:val>
                                            <p:strVal val="#ppt_x"/>
                                          </p:val>
                                        </p:tav>
                                      </p:tavLst>
                                    </p:anim>
                                    <p:anim calcmode="lin" valueType="num">
                                      <p:cBhvr additive="base">
                                        <p:cTn id="8" dur="500" fill="hold"/>
                                        <p:tgtEl>
                                          <p:spTgt spid="64000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diamond(in)">
                                      <p:cBhvr>
                                        <p:cTn id="13" dur="2000"/>
                                        <p:tgtEl>
                                          <p:spTgt spid="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0-#ppt_w/2"/>
                                          </p:val>
                                        </p:tav>
                                        <p:tav tm="100000">
                                          <p:val>
                                            <p:strVal val="#ppt_x"/>
                                          </p:val>
                                        </p:tav>
                                      </p:tavLst>
                                    </p:anim>
                                    <p:anim calcmode="lin" valueType="num">
                                      <p:cBhvr additive="base">
                                        <p:cTn id="19"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0-#ppt_w/2"/>
                                          </p:val>
                                        </p:tav>
                                        <p:tav tm="100000">
                                          <p:val>
                                            <p:strVal val="#ppt_x"/>
                                          </p:val>
                                        </p:tav>
                                      </p:tavLst>
                                    </p:anim>
                                    <p:anim calcmode="lin" valueType="num">
                                      <p:cBhvr additive="base">
                                        <p:cTn id="25"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diamond(in)">
                                      <p:cBhvr>
                                        <p:cTn id="30" dur="2000"/>
                                        <p:tgtEl>
                                          <p:spTgt spid="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box(in)">
                                      <p:cBhvr>
                                        <p:cTn id="3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0004" grpId="0"/>
      <p:bldP spid="6" grpId="0"/>
      <p:bldP spid="7" grpId="0"/>
      <p:bldP spid="9" grpId="0"/>
      <p:bldP spid="10" grpId="0"/>
      <p:bldP spid="11" grpId="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p:cNvSpPr>
            <a:spLocks noGrp="1" noChangeArrowheads="1"/>
          </p:cNvSpPr>
          <p:nvPr>
            <p:ph type="body" sz="half" idx="1"/>
          </p:nvPr>
        </p:nvSpPr>
        <p:spPr>
          <a:xfrm>
            <a:off x="0" y="1295400"/>
            <a:ext cx="9144000" cy="5337175"/>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ch=</a:t>
            </a:r>
            <a:r>
              <a:rPr kumimoji="1" lang="en-US" altLang="zh-CN" sz="2400" b="1">
                <a:solidFill>
                  <a:schemeClr val="tx2"/>
                </a:solidFill>
                <a:latin typeface="幼圆" pitchFamily="49" charset="-122"/>
                <a:ea typeface="幼圆" pitchFamily="49" charset="-122"/>
              </a:rPr>
              <a:t>getchar( );</a:t>
            </a:r>
            <a:r>
              <a:rPr kumimoji="1" lang="zh-CN" altLang="en-US" sz="2400" b="1">
                <a:solidFill>
                  <a:schemeClr val="tx2"/>
                </a:solidFill>
                <a:latin typeface="幼圆" pitchFamily="49" charset="-122"/>
                <a:ea typeface="幼圆" pitchFamily="49" charset="-122"/>
              </a:rPr>
              <a:t> 在键盘上读一个字符.</a:t>
            </a:r>
            <a:r>
              <a:rPr kumimoji="1" lang="en-US" altLang="zh-CN" sz="2400" b="1">
                <a:solidFill>
                  <a:schemeClr val="tx2"/>
                </a:solidFill>
                <a:latin typeface="幼圆" pitchFamily="49" charset="-122"/>
                <a:ea typeface="幼圆" pitchFamily="49" charset="-122"/>
                <a:sym typeface="Symbol" pitchFamily="18" charset="2"/>
              </a:rPr>
              <a:t>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●格式化输入函数</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sym typeface="Symbol" pitchFamily="18" charset="2"/>
              </a:rPr>
              <a:t>scanf(</a:t>
            </a:r>
            <a:r>
              <a:rPr kumimoji="1" lang="zh-CN" altLang="en-US" sz="2400" b="1">
                <a:solidFill>
                  <a:schemeClr val="tx2"/>
                </a:solidFill>
                <a:latin typeface="幼圆" pitchFamily="49" charset="-122"/>
                <a:ea typeface="幼圆" pitchFamily="49" charset="-122"/>
                <a:sym typeface="Symbol" pitchFamily="18" charset="2"/>
              </a:rPr>
              <a:t>格式串，输入地址表)</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格式符：</a:t>
            </a:r>
            <a:r>
              <a:rPr kumimoji="1" lang="en-US" altLang="zh-CN" sz="2400" b="1">
                <a:solidFill>
                  <a:schemeClr val="tx2"/>
                </a:solidFill>
                <a:latin typeface="幼圆" pitchFamily="49" charset="-122"/>
                <a:ea typeface="幼圆" pitchFamily="49" charset="-122"/>
                <a:sym typeface="Symbol" pitchFamily="18" charset="2"/>
              </a:rPr>
              <a:t>d，ld，f，lf，e，le，c，s</a:t>
            </a:r>
          </a:p>
          <a:p>
            <a:pPr marL="0" indent="0" eaLnBrk="1" hangingPunct="1">
              <a:buClr>
                <a:schemeClr val="tx1"/>
              </a:buClr>
              <a:buSzPct val="60000"/>
              <a:buFont typeface="宋体" pitchFamily="2" charset="-122"/>
              <a:buNone/>
            </a:pPr>
            <a:endParaRPr kumimoji="1" lang="en-US" altLang="zh-CN" sz="2400" b="1">
              <a:solidFill>
                <a:schemeClr val="tx2"/>
              </a:solidFill>
              <a:latin typeface="幼圆" pitchFamily="49" charset="-122"/>
              <a:ea typeface="幼圆" pitchFamily="49" charset="-122"/>
              <a:sym typeface="Symbol" pitchFamily="18" charset="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a:t>
            </a:r>
            <a:r>
              <a:rPr kumimoji="1" lang="zh-CN" altLang="en-US" sz="2400" b="1">
                <a:solidFill>
                  <a:schemeClr val="tx2"/>
                </a:solidFill>
                <a:latin typeface="幼圆" pitchFamily="49" charset="-122"/>
                <a:ea typeface="幼圆" pitchFamily="49" charset="-122"/>
                <a:sym typeface="Symbol" pitchFamily="18" charset="2"/>
              </a:rPr>
              <a:t>格式串中的普通字符要原样输入。</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scanf(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,&amp;a) </a:t>
            </a:r>
            <a:r>
              <a:rPr kumimoji="1" lang="zh-CN" altLang="en-US" sz="2400" b="1">
                <a:solidFill>
                  <a:schemeClr val="tx2"/>
                </a:solidFill>
                <a:latin typeface="幼圆" pitchFamily="49" charset="-122"/>
                <a:ea typeface="幼圆" pitchFamily="49" charset="-122"/>
                <a:sym typeface="Symbol" pitchFamily="18" charset="2"/>
              </a:rPr>
              <a:t>输入: 12.3</a:t>
            </a:r>
            <a:r>
              <a:rPr kumimoji="1" lang="zh-CN" altLang="en-US" sz="2400" b="1">
                <a:solidFill>
                  <a:srgbClr val="FF0000"/>
                </a:solidFill>
                <a:latin typeface="幼圆" pitchFamily="49" charset="-122"/>
                <a:ea typeface="幼圆" pitchFamily="49" charset="-122"/>
                <a:sym typeface="Marlett" pitchFamily="2" charset="2"/>
              </a:rPr>
              <a:t> </a:t>
            </a:r>
            <a:endParaRPr kumimoji="1" lang="en-US" altLang="zh-CN" sz="2400" b="1">
              <a:solidFill>
                <a:srgbClr val="FF0000"/>
              </a:solidFill>
              <a:latin typeface="幼圆" pitchFamily="49" charset="-122"/>
              <a:ea typeface="幼圆" pitchFamily="49" charset="-122"/>
              <a:sym typeface="Symbol" pitchFamily="18" charset="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a=12.3</a:t>
            </a:r>
            <a:r>
              <a:rPr kumimoji="1" lang="en-US" altLang="zh-CN" sz="2400" b="1">
                <a:solidFill>
                  <a:srgbClr val="FF0000"/>
                </a:solidFill>
                <a:latin typeface="幼圆" pitchFamily="49" charset="-122"/>
                <a:ea typeface="幼圆" pitchFamily="49" charset="-122"/>
                <a:sym typeface="Symbol" pitchFamily="18" charset="2"/>
              </a:rPr>
              <a:t>√</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a:t>
            </a:r>
            <a:r>
              <a:rPr kumimoji="1" lang="zh-CN" altLang="en-US" sz="2400" b="1">
                <a:solidFill>
                  <a:schemeClr val="tx2"/>
                </a:solidFill>
                <a:latin typeface="幼圆" pitchFamily="49" charset="-122"/>
                <a:ea typeface="幼圆" pitchFamily="49" charset="-122"/>
                <a:sym typeface="Symbol" pitchFamily="18" charset="2"/>
              </a:rPr>
              <a:t>用%</a:t>
            </a:r>
            <a:r>
              <a:rPr kumimoji="1" lang="en-US" altLang="zh-CN" sz="2400" b="1">
                <a:solidFill>
                  <a:schemeClr val="tx2"/>
                </a:solidFill>
                <a:latin typeface="幼圆" pitchFamily="49" charset="-122"/>
                <a:ea typeface="幼圆" pitchFamily="49" charset="-122"/>
                <a:sym typeface="Symbol" pitchFamily="18" charset="2"/>
              </a:rPr>
              <a:t>lf(%ld)</a:t>
            </a:r>
            <a:r>
              <a:rPr kumimoji="1" lang="zh-CN" altLang="en-US" sz="2400" b="1">
                <a:solidFill>
                  <a:schemeClr val="tx2"/>
                </a:solidFill>
                <a:latin typeface="幼圆" pitchFamily="49" charset="-122"/>
                <a:ea typeface="幼圆" pitchFamily="49" charset="-122"/>
                <a:sym typeface="Symbol" pitchFamily="18" charset="2"/>
              </a:rPr>
              <a:t>输入</a:t>
            </a:r>
            <a:r>
              <a:rPr kumimoji="1" lang="en-US" altLang="zh-CN" sz="2400" b="1">
                <a:solidFill>
                  <a:schemeClr val="tx2"/>
                </a:solidFill>
                <a:latin typeface="幼圆" pitchFamily="49" charset="-122"/>
                <a:ea typeface="幼圆" pitchFamily="49" charset="-122"/>
                <a:sym typeface="Symbol" pitchFamily="18" charset="2"/>
              </a:rPr>
              <a:t>double(long)</a:t>
            </a:r>
            <a:r>
              <a:rPr kumimoji="1" lang="zh-CN" altLang="en-US" sz="2400" b="1">
                <a:solidFill>
                  <a:schemeClr val="tx2"/>
                </a:solidFill>
                <a:latin typeface="幼圆" pitchFamily="49" charset="-122"/>
                <a:ea typeface="幼圆" pitchFamily="49" charset="-122"/>
                <a:sym typeface="Symbol" pitchFamily="18" charset="2"/>
              </a:rPr>
              <a:t>变量的值.</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double a;   scanf(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%lf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,&amp;a);</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a:t>
            </a:r>
            <a:endParaRPr kumimoji="1" lang="en-US" altLang="zh-CN" sz="2400" b="1">
              <a:solidFill>
                <a:schemeClr val="tx2"/>
              </a:solidFill>
              <a:latin typeface="幼圆" pitchFamily="49" charset="-122"/>
              <a:ea typeface="幼圆" pitchFamily="49" charset="-122"/>
              <a:sym typeface="Symbol" pitchFamily="18" charset="2"/>
            </a:endParaRPr>
          </a:p>
        </p:txBody>
      </p:sp>
      <p:sp>
        <p:nvSpPr>
          <p:cNvPr id="44035" name="Rectangle 4"/>
          <p:cNvSpPr>
            <a:spLocks noChangeArrowheads="1"/>
          </p:cNvSpPr>
          <p:nvPr/>
        </p:nvSpPr>
        <p:spPr bwMode="auto">
          <a:xfrm>
            <a:off x="0" y="533400"/>
            <a:ext cx="47147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基本输入输出函数</a:t>
            </a:r>
          </a:p>
        </p:txBody>
      </p:sp>
      <p:sp>
        <p:nvSpPr>
          <p:cNvPr id="4" name="矩形 3"/>
          <p:cNvSpPr/>
          <p:nvPr/>
        </p:nvSpPr>
        <p:spPr>
          <a:xfrm>
            <a:off x="5928797" y="1260394"/>
            <a:ext cx="3177480" cy="5632311"/>
          </a:xfrm>
          <a:prstGeom prst="rect">
            <a:avLst/>
          </a:prstGeom>
          <a:solidFill>
            <a:srgbClr val="99FF33"/>
          </a:solidFill>
          <a:effectLst>
            <a:softEdge rad="635000"/>
          </a:effectLst>
        </p:spPr>
        <p:txBody>
          <a:bodyPr>
            <a:spAutoFit/>
          </a:bodyPr>
          <a:lstStyle/>
          <a:p>
            <a:pPr eaLnBrk="1" hangingPunct="1">
              <a:defRPr/>
            </a:pPr>
            <a:r>
              <a:rPr lang="en-US" altLang="zh-CN" sz="2000" b="1" dirty="0">
                <a:solidFill>
                  <a:srgbClr val="002060"/>
                </a:solidFill>
                <a:latin typeface="微软雅黑" pitchFamily="34" charset="-122"/>
                <a:ea typeface="微软雅黑" pitchFamily="34" charset="-122"/>
              </a:rPr>
              <a:t>%d:</a:t>
            </a:r>
            <a:r>
              <a:rPr lang="zh-CN" altLang="en-US" sz="2000" b="1" dirty="0">
                <a:solidFill>
                  <a:srgbClr val="002060"/>
                </a:solidFill>
                <a:latin typeface="微软雅黑" pitchFamily="34" charset="-122"/>
                <a:ea typeface="微软雅黑" pitchFamily="34" charset="-122"/>
              </a:rPr>
              <a:t>以带符号的十进制形式输出整数</a:t>
            </a:r>
          </a:p>
          <a:p>
            <a:pPr eaLnBrk="1" hangingPunct="1">
              <a:defRPr/>
            </a:pPr>
            <a:r>
              <a:rPr lang="en-US" altLang="zh-CN" sz="2000" b="1" dirty="0">
                <a:solidFill>
                  <a:srgbClr val="002060"/>
                </a:solidFill>
                <a:latin typeface="微软雅黑" pitchFamily="34" charset="-122"/>
                <a:ea typeface="微软雅黑" pitchFamily="34" charset="-122"/>
              </a:rPr>
              <a:t>%o:</a:t>
            </a:r>
            <a:r>
              <a:rPr lang="zh-CN" altLang="en-US" sz="2000" b="1" dirty="0">
                <a:solidFill>
                  <a:srgbClr val="002060"/>
                </a:solidFill>
                <a:latin typeface="微软雅黑" pitchFamily="34" charset="-122"/>
                <a:ea typeface="微软雅黑" pitchFamily="34" charset="-122"/>
              </a:rPr>
              <a:t>以八进制无符号形式输出整数</a:t>
            </a:r>
          </a:p>
          <a:p>
            <a:pPr eaLnBrk="1" hangingPunct="1">
              <a:defRPr/>
            </a:pPr>
            <a:r>
              <a:rPr lang="en-US" altLang="zh-CN" sz="2000" b="1" dirty="0">
                <a:solidFill>
                  <a:srgbClr val="002060"/>
                </a:solidFill>
                <a:latin typeface="微软雅黑" pitchFamily="34" charset="-122"/>
                <a:ea typeface="微软雅黑" pitchFamily="34" charset="-122"/>
              </a:rPr>
              <a:t>%x:</a:t>
            </a:r>
            <a:r>
              <a:rPr lang="zh-CN" altLang="en-US" sz="2000" b="1" dirty="0">
                <a:solidFill>
                  <a:srgbClr val="002060"/>
                </a:solidFill>
                <a:latin typeface="微软雅黑" pitchFamily="34" charset="-122"/>
                <a:ea typeface="微软雅黑" pitchFamily="34" charset="-122"/>
              </a:rPr>
              <a:t>以十六进制无符号形式输出整数</a:t>
            </a:r>
          </a:p>
          <a:p>
            <a:pPr eaLnBrk="1" hangingPunct="1">
              <a:defRPr/>
            </a:pPr>
            <a:r>
              <a:rPr lang="en-US" altLang="zh-CN" sz="2000" b="1" dirty="0">
                <a:solidFill>
                  <a:srgbClr val="002060"/>
                </a:solidFill>
                <a:latin typeface="微软雅黑" pitchFamily="34" charset="-122"/>
                <a:ea typeface="微软雅黑" pitchFamily="34" charset="-122"/>
              </a:rPr>
              <a:t>%u:</a:t>
            </a:r>
            <a:r>
              <a:rPr lang="zh-CN" altLang="en-US" sz="2000" b="1" dirty="0">
                <a:solidFill>
                  <a:srgbClr val="002060"/>
                </a:solidFill>
                <a:latin typeface="微软雅黑" pitchFamily="34" charset="-122"/>
                <a:ea typeface="微软雅黑" pitchFamily="34" charset="-122"/>
              </a:rPr>
              <a:t>以无符号十进制形式输出整数</a:t>
            </a:r>
          </a:p>
          <a:p>
            <a:pPr eaLnBrk="1" hangingPunct="1">
              <a:defRPr/>
            </a:pPr>
            <a:r>
              <a:rPr lang="en-US" altLang="zh-CN" sz="2000" b="1" dirty="0">
                <a:solidFill>
                  <a:srgbClr val="002060"/>
                </a:solidFill>
                <a:latin typeface="微软雅黑" pitchFamily="34" charset="-122"/>
                <a:ea typeface="微软雅黑" pitchFamily="34" charset="-122"/>
              </a:rPr>
              <a:t>%c:</a:t>
            </a:r>
            <a:r>
              <a:rPr lang="zh-CN" altLang="en-US" sz="2000" b="1" dirty="0">
                <a:solidFill>
                  <a:srgbClr val="002060"/>
                </a:solidFill>
                <a:latin typeface="微软雅黑" pitchFamily="34" charset="-122"/>
                <a:ea typeface="微软雅黑" pitchFamily="34" charset="-122"/>
              </a:rPr>
              <a:t>以字符形式输出，只输出一个字符</a:t>
            </a:r>
          </a:p>
          <a:p>
            <a:pPr eaLnBrk="1" hangingPunct="1">
              <a:defRPr/>
            </a:pPr>
            <a:r>
              <a:rPr lang="en-US" altLang="zh-CN" sz="2000" b="1" dirty="0">
                <a:solidFill>
                  <a:srgbClr val="002060"/>
                </a:solidFill>
                <a:latin typeface="微软雅黑" pitchFamily="34" charset="-122"/>
                <a:ea typeface="微软雅黑" pitchFamily="34" charset="-122"/>
              </a:rPr>
              <a:t>%s:</a:t>
            </a:r>
            <a:r>
              <a:rPr lang="zh-CN" altLang="en-US" sz="2000" b="1" dirty="0">
                <a:solidFill>
                  <a:srgbClr val="002060"/>
                </a:solidFill>
                <a:latin typeface="微软雅黑" pitchFamily="34" charset="-122"/>
                <a:ea typeface="微软雅黑" pitchFamily="34" charset="-122"/>
              </a:rPr>
              <a:t>输出字符串</a:t>
            </a:r>
          </a:p>
          <a:p>
            <a:pPr eaLnBrk="1" hangingPunct="1">
              <a:defRPr/>
            </a:pPr>
            <a:r>
              <a:rPr lang="en-US" altLang="zh-CN" sz="2000" b="1" dirty="0">
                <a:solidFill>
                  <a:srgbClr val="002060"/>
                </a:solidFill>
                <a:latin typeface="微软雅黑" pitchFamily="34" charset="-122"/>
                <a:ea typeface="微软雅黑" pitchFamily="34" charset="-122"/>
              </a:rPr>
              <a:t>%f:</a:t>
            </a:r>
            <a:r>
              <a:rPr lang="zh-CN" altLang="en-US" sz="2000" b="1" dirty="0">
                <a:solidFill>
                  <a:srgbClr val="002060"/>
                </a:solidFill>
                <a:latin typeface="微软雅黑" pitchFamily="34" charset="-122"/>
                <a:ea typeface="微软雅黑" pitchFamily="34" charset="-122"/>
              </a:rPr>
              <a:t>以小数形式输出单，双精度数，隐含输出六位小数</a:t>
            </a:r>
          </a:p>
          <a:p>
            <a:pPr eaLnBrk="1" hangingPunct="1">
              <a:defRPr/>
            </a:pPr>
            <a:r>
              <a:rPr lang="en-US" altLang="zh-CN" sz="2000" b="1" dirty="0">
                <a:solidFill>
                  <a:srgbClr val="002060"/>
                </a:solidFill>
                <a:latin typeface="微软雅黑" pitchFamily="34" charset="-122"/>
                <a:ea typeface="微软雅黑" pitchFamily="34" charset="-122"/>
              </a:rPr>
              <a:t>%e:</a:t>
            </a:r>
            <a:r>
              <a:rPr lang="zh-CN" altLang="en-US" sz="2000" b="1" dirty="0">
                <a:solidFill>
                  <a:srgbClr val="002060"/>
                </a:solidFill>
                <a:latin typeface="微软雅黑" pitchFamily="34" charset="-122"/>
                <a:ea typeface="微软雅黑" pitchFamily="34" charset="-122"/>
              </a:rPr>
              <a:t>以指数形式输出实数</a:t>
            </a:r>
          </a:p>
          <a:p>
            <a:pPr eaLnBrk="1" hangingPunct="1">
              <a:defRPr/>
            </a:pPr>
            <a:r>
              <a:rPr lang="en-US" altLang="zh-CN" sz="2000" b="1" dirty="0">
                <a:solidFill>
                  <a:srgbClr val="002060"/>
                </a:solidFill>
                <a:latin typeface="微软雅黑" pitchFamily="34" charset="-122"/>
                <a:ea typeface="微软雅黑" pitchFamily="34" charset="-122"/>
              </a:rPr>
              <a:t>%g:</a:t>
            </a:r>
            <a:r>
              <a:rPr lang="zh-CN" altLang="en-US" sz="2000" b="1" dirty="0">
                <a:solidFill>
                  <a:srgbClr val="002060"/>
                </a:solidFill>
                <a:latin typeface="微软雅黑" pitchFamily="34" charset="-122"/>
                <a:ea typeface="微软雅黑" pitchFamily="34" charset="-122"/>
              </a:rPr>
              <a:t>选用</a:t>
            </a:r>
            <a:r>
              <a:rPr lang="en-US" altLang="zh-CN" sz="2000" b="1" dirty="0">
                <a:solidFill>
                  <a:srgbClr val="002060"/>
                </a:solidFill>
                <a:latin typeface="微软雅黑" pitchFamily="34" charset="-122"/>
                <a:ea typeface="微软雅黑" pitchFamily="34" charset="-122"/>
              </a:rPr>
              <a:t>%f</a:t>
            </a:r>
            <a:r>
              <a:rPr lang="zh-CN" altLang="en-US" sz="2000" b="1" dirty="0">
                <a:solidFill>
                  <a:srgbClr val="002060"/>
                </a:solidFill>
                <a:latin typeface="微软雅黑" pitchFamily="34" charset="-122"/>
                <a:ea typeface="微软雅黑" pitchFamily="34" charset="-122"/>
              </a:rPr>
              <a:t>或</a:t>
            </a:r>
            <a:r>
              <a:rPr lang="en-US" altLang="zh-CN" sz="2000" b="1" dirty="0">
                <a:solidFill>
                  <a:srgbClr val="002060"/>
                </a:solidFill>
                <a:latin typeface="微软雅黑" pitchFamily="34" charset="-122"/>
                <a:ea typeface="微软雅黑" pitchFamily="34" charset="-122"/>
              </a:rPr>
              <a:t>%e</a:t>
            </a:r>
            <a:r>
              <a:rPr lang="zh-CN" altLang="en-US" sz="2000" b="1" dirty="0">
                <a:solidFill>
                  <a:srgbClr val="002060"/>
                </a:solidFill>
                <a:latin typeface="微软雅黑" pitchFamily="34" charset="-122"/>
                <a:ea typeface="微软雅黑" pitchFamily="34" charset="-122"/>
              </a:rPr>
              <a:t>格式中输出宽度较短的一种格式，不输出无意义的</a:t>
            </a:r>
            <a:r>
              <a:rPr lang="en-US" altLang="zh-CN" sz="2000" b="1" dirty="0">
                <a:solidFill>
                  <a:srgbClr val="002060"/>
                </a:solidFill>
                <a:latin typeface="微软雅黑" pitchFamily="34" charset="-122"/>
                <a:ea typeface="微软雅黑" pitchFamily="34" charset="-122"/>
              </a:rPr>
              <a:t>0</a:t>
            </a:r>
          </a:p>
        </p:txBody>
      </p:sp>
    </p:spTree>
    <p:extLst>
      <p:ext uri="{BB962C8B-B14F-4D97-AF65-F5344CB8AC3E}">
        <p14:creationId xmlns:p14="http://schemas.microsoft.com/office/powerpoint/2010/main" val="2491901599"/>
      </p:ext>
    </p:extLst>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8" name="Rectangle 4"/>
          <p:cNvSpPr>
            <a:spLocks noChangeArrowheads="1"/>
          </p:cNvSpPr>
          <p:nvPr/>
        </p:nvSpPr>
        <p:spPr bwMode="auto">
          <a:xfrm>
            <a:off x="0" y="1125538"/>
            <a:ext cx="68040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r>
              <a:rPr lang="zh-CN" altLang="en-US" b="1">
                <a:solidFill>
                  <a:srgbClr val="990033"/>
                </a:solidFill>
                <a:latin typeface="微软雅黑" pitchFamily="34" charset="-122"/>
                <a:ea typeface="微软雅黑" pitchFamily="34" charset="-122"/>
              </a:rPr>
              <a:t>常见的格式符的修饰符：</a:t>
            </a:r>
          </a:p>
        </p:txBody>
      </p:sp>
      <p:sp>
        <p:nvSpPr>
          <p:cNvPr id="6" name="矩形 5"/>
          <p:cNvSpPr/>
          <p:nvPr/>
        </p:nvSpPr>
        <p:spPr>
          <a:xfrm>
            <a:off x="0" y="1857363"/>
            <a:ext cx="8748464" cy="3970318"/>
          </a:xfrm>
          <a:prstGeom prst="rect">
            <a:avLst/>
          </a:prstGeom>
          <a:solidFill>
            <a:srgbClr val="FFFF99"/>
          </a:solidFill>
          <a:effectLst>
            <a:softEdge rad="635000"/>
          </a:effectLst>
        </p:spPr>
        <p:txBody>
          <a:bodyPr>
            <a:spAutoFit/>
          </a:bodyPr>
          <a:lstStyle/>
          <a:p>
            <a:pPr eaLnBrk="1" hangingPunct="1">
              <a:lnSpc>
                <a:spcPct val="150000"/>
              </a:lnSpc>
              <a:buFont typeface="Arial" pitchFamily="34" charset="0"/>
              <a:buChar char="•"/>
              <a:defRPr/>
            </a:pPr>
            <a:r>
              <a:rPr lang="zh-CN" altLang="en-US" sz="2800" b="1" dirty="0">
                <a:solidFill>
                  <a:srgbClr val="002060"/>
                </a:solidFill>
                <a:latin typeface="微软雅黑" pitchFamily="34" charset="-122"/>
                <a:ea typeface="微软雅黑" pitchFamily="34" charset="-122"/>
              </a:rPr>
              <a:t>字母</a:t>
            </a:r>
            <a:r>
              <a:rPr lang="en-US" altLang="zh-CN" sz="2800" b="1" dirty="0">
                <a:solidFill>
                  <a:srgbClr val="002060"/>
                </a:solidFill>
                <a:latin typeface="微软雅黑" pitchFamily="34" charset="-122"/>
                <a:ea typeface="微软雅黑" pitchFamily="34" charset="-122"/>
              </a:rPr>
              <a:t>l</a:t>
            </a:r>
            <a:r>
              <a:rPr lang="zh-CN" altLang="en-US" sz="2800" b="1" dirty="0">
                <a:solidFill>
                  <a:srgbClr val="002060"/>
                </a:solidFill>
                <a:latin typeface="微软雅黑" pitchFamily="34" charset="-122"/>
                <a:ea typeface="微软雅黑" pitchFamily="34" charset="-122"/>
              </a:rPr>
              <a:t>：用于长整型整数，可加在格式符</a:t>
            </a:r>
            <a:r>
              <a:rPr lang="en-US" altLang="zh-CN" sz="2800" b="1" dirty="0">
                <a:solidFill>
                  <a:srgbClr val="002060"/>
                </a:solidFill>
                <a:latin typeface="微软雅黑" pitchFamily="34" charset="-122"/>
                <a:ea typeface="微软雅黑" pitchFamily="34" charset="-122"/>
              </a:rPr>
              <a:t>d</a:t>
            </a:r>
            <a:r>
              <a:rPr lang="zh-CN" altLang="en-US" sz="2800" b="1" dirty="0">
                <a:solidFill>
                  <a:srgbClr val="002060"/>
                </a:solidFill>
                <a:latin typeface="微软雅黑" pitchFamily="34" charset="-122"/>
                <a:ea typeface="微软雅黑" pitchFamily="34" charset="-122"/>
              </a:rPr>
              <a:t>，</a:t>
            </a:r>
            <a:r>
              <a:rPr lang="en-US" altLang="zh-CN" sz="2800" b="1" dirty="0">
                <a:solidFill>
                  <a:srgbClr val="002060"/>
                </a:solidFill>
                <a:latin typeface="微软雅黑" pitchFamily="34" charset="-122"/>
                <a:ea typeface="微软雅黑" pitchFamily="34" charset="-122"/>
              </a:rPr>
              <a:t>o</a:t>
            </a:r>
            <a:r>
              <a:rPr lang="zh-CN" altLang="en-US" sz="2800" b="1" dirty="0">
                <a:solidFill>
                  <a:srgbClr val="002060"/>
                </a:solidFill>
                <a:latin typeface="微软雅黑" pitchFamily="34" charset="-122"/>
                <a:ea typeface="微软雅黑" pitchFamily="34" charset="-122"/>
              </a:rPr>
              <a:t>，</a:t>
            </a:r>
            <a:r>
              <a:rPr lang="en-US" altLang="zh-CN" sz="2800" b="1" dirty="0">
                <a:solidFill>
                  <a:srgbClr val="002060"/>
                </a:solidFill>
                <a:latin typeface="微软雅黑" pitchFamily="34" charset="-122"/>
                <a:ea typeface="微软雅黑" pitchFamily="34" charset="-122"/>
              </a:rPr>
              <a:t>x</a:t>
            </a:r>
            <a:r>
              <a:rPr lang="zh-CN" altLang="en-US" sz="2800" b="1" dirty="0">
                <a:solidFill>
                  <a:srgbClr val="002060"/>
                </a:solidFill>
                <a:latin typeface="微软雅黑" pitchFamily="34" charset="-122"/>
                <a:ea typeface="微软雅黑" pitchFamily="34" charset="-122"/>
              </a:rPr>
              <a:t>，</a:t>
            </a:r>
            <a:r>
              <a:rPr lang="en-US" altLang="zh-CN" sz="2800" b="1" dirty="0">
                <a:solidFill>
                  <a:srgbClr val="002060"/>
                </a:solidFill>
                <a:latin typeface="微软雅黑" pitchFamily="34" charset="-122"/>
                <a:ea typeface="微软雅黑" pitchFamily="34" charset="-122"/>
              </a:rPr>
              <a:t>u</a:t>
            </a:r>
            <a:r>
              <a:rPr lang="zh-CN" altLang="en-US" sz="2800" b="1" dirty="0">
                <a:solidFill>
                  <a:srgbClr val="002060"/>
                </a:solidFill>
                <a:latin typeface="微软雅黑" pitchFamily="34" charset="-122"/>
                <a:ea typeface="微软雅黑" pitchFamily="34" charset="-122"/>
              </a:rPr>
              <a:t>前面</a:t>
            </a:r>
          </a:p>
          <a:p>
            <a:pPr eaLnBrk="1" hangingPunct="1">
              <a:lnSpc>
                <a:spcPct val="150000"/>
              </a:lnSpc>
              <a:buFont typeface="Arial" pitchFamily="34" charset="0"/>
              <a:buChar char="•"/>
              <a:defRPr/>
            </a:pPr>
            <a:r>
              <a:rPr lang="zh-CN" altLang="en-US" sz="2800" b="1" dirty="0">
                <a:solidFill>
                  <a:srgbClr val="002060"/>
                </a:solidFill>
                <a:latin typeface="微软雅黑" pitchFamily="34" charset="-122"/>
                <a:ea typeface="微软雅黑" pitchFamily="34" charset="-122"/>
              </a:rPr>
              <a:t>字母</a:t>
            </a:r>
            <a:r>
              <a:rPr lang="en-US" altLang="zh-CN" sz="2800" b="1" dirty="0">
                <a:solidFill>
                  <a:srgbClr val="002060"/>
                </a:solidFill>
                <a:latin typeface="微软雅黑" pitchFamily="34" charset="-122"/>
                <a:ea typeface="微软雅黑" pitchFamily="34" charset="-122"/>
              </a:rPr>
              <a:t>m</a:t>
            </a:r>
            <a:r>
              <a:rPr lang="zh-CN" altLang="en-US" sz="2800" b="1" dirty="0">
                <a:solidFill>
                  <a:srgbClr val="002060"/>
                </a:solidFill>
                <a:latin typeface="微软雅黑" pitchFamily="34" charset="-122"/>
                <a:ea typeface="微软雅黑" pitchFamily="34" charset="-122"/>
              </a:rPr>
              <a:t>（代表一个正整数）：数据最小宽度</a:t>
            </a:r>
          </a:p>
          <a:p>
            <a:pPr eaLnBrk="1" hangingPunct="1">
              <a:lnSpc>
                <a:spcPct val="150000"/>
              </a:lnSpc>
              <a:buFont typeface="Arial" pitchFamily="34" charset="0"/>
              <a:buChar char="•"/>
              <a:defRPr/>
            </a:pPr>
            <a:r>
              <a:rPr lang="zh-CN" altLang="en-US" sz="2800" b="1" dirty="0">
                <a:solidFill>
                  <a:srgbClr val="002060"/>
                </a:solidFill>
                <a:latin typeface="微软雅黑" pitchFamily="34" charset="-122"/>
                <a:ea typeface="微软雅黑" pitchFamily="34" charset="-122"/>
              </a:rPr>
              <a:t>字母</a:t>
            </a:r>
            <a:r>
              <a:rPr lang="en-US" altLang="zh-CN" sz="2800" b="1" dirty="0">
                <a:solidFill>
                  <a:srgbClr val="002060"/>
                </a:solidFill>
                <a:latin typeface="微软雅黑" pitchFamily="34" charset="-122"/>
                <a:ea typeface="微软雅黑" pitchFamily="34" charset="-122"/>
              </a:rPr>
              <a:t>n</a:t>
            </a:r>
            <a:r>
              <a:rPr lang="zh-CN" altLang="en-US" sz="2800" b="1" dirty="0">
                <a:solidFill>
                  <a:srgbClr val="002060"/>
                </a:solidFill>
                <a:latin typeface="微软雅黑" pitchFamily="34" charset="-122"/>
                <a:ea typeface="微软雅黑" pitchFamily="34" charset="-122"/>
              </a:rPr>
              <a:t>（代表一个正整数）：对实数，表示输出</a:t>
            </a:r>
            <a:r>
              <a:rPr lang="en-US" altLang="zh-CN" sz="2800" b="1" dirty="0">
                <a:solidFill>
                  <a:srgbClr val="002060"/>
                </a:solidFill>
                <a:latin typeface="微软雅黑" pitchFamily="34" charset="-122"/>
                <a:ea typeface="微软雅黑" pitchFamily="34" charset="-122"/>
              </a:rPr>
              <a:t>n</a:t>
            </a:r>
            <a:r>
              <a:rPr lang="zh-CN" altLang="en-US" sz="2800" b="1" dirty="0">
                <a:solidFill>
                  <a:srgbClr val="002060"/>
                </a:solidFill>
                <a:latin typeface="微软雅黑" pitchFamily="34" charset="-122"/>
                <a:ea typeface="微软雅黑" pitchFamily="34" charset="-122"/>
              </a:rPr>
              <a:t>位小数；对字符串，表示截取的字符个数。</a:t>
            </a:r>
          </a:p>
          <a:p>
            <a:pPr eaLnBrk="1" hangingPunct="1">
              <a:lnSpc>
                <a:spcPct val="150000"/>
              </a:lnSpc>
              <a:buFont typeface="Arial" pitchFamily="34" charset="0"/>
              <a:buChar char="•"/>
              <a:defRPr/>
            </a:pPr>
            <a:r>
              <a:rPr lang="en-US" altLang="zh-CN" sz="2800" b="1" dirty="0">
                <a:solidFill>
                  <a:srgbClr val="002060"/>
                </a:solidFill>
                <a:latin typeface="微软雅黑" pitchFamily="34" charset="-122"/>
                <a:ea typeface="微软雅黑" pitchFamily="34" charset="-122"/>
              </a:rPr>
              <a:t>—</a:t>
            </a:r>
            <a:r>
              <a:rPr lang="zh-CN" altLang="en-US" sz="2800" b="1" dirty="0">
                <a:solidFill>
                  <a:srgbClr val="002060"/>
                </a:solidFill>
                <a:latin typeface="微软雅黑" pitchFamily="34" charset="-122"/>
                <a:ea typeface="微软雅黑" pitchFamily="34" charset="-122"/>
              </a:rPr>
              <a:t>：输出的数字或字符在域内向左靠对齐。</a:t>
            </a:r>
          </a:p>
        </p:txBody>
      </p:sp>
      <p:sp>
        <p:nvSpPr>
          <p:cNvPr id="45062" name="Rectangle 4"/>
          <p:cNvSpPr>
            <a:spLocks noChangeArrowheads="1"/>
          </p:cNvSpPr>
          <p:nvPr/>
        </p:nvSpPr>
        <p:spPr bwMode="auto">
          <a:xfrm>
            <a:off x="0" y="602318"/>
            <a:ext cx="47147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基本输入输出函数</a:t>
            </a:r>
          </a:p>
        </p:txBody>
      </p:sp>
    </p:spTree>
    <p:extLst>
      <p:ext uri="{BB962C8B-B14F-4D97-AF65-F5344CB8AC3E}">
        <p14:creationId xmlns:p14="http://schemas.microsoft.com/office/powerpoint/2010/main" val="41649824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51268"/>
                                        </p:tgtEl>
                                        <p:attrNameLst>
                                          <p:attrName>style.visibility</p:attrName>
                                        </p:attrNameLst>
                                      </p:cBhvr>
                                      <p:to>
                                        <p:strVal val="visible"/>
                                      </p:to>
                                    </p:set>
                                    <p:anim calcmode="lin" valueType="num">
                                      <p:cBhvr additive="base">
                                        <p:cTn id="7" dur="500" fill="hold"/>
                                        <p:tgtEl>
                                          <p:spTgt spid="651268"/>
                                        </p:tgtEl>
                                        <p:attrNameLst>
                                          <p:attrName>ppt_x</p:attrName>
                                        </p:attrNameLst>
                                      </p:cBhvr>
                                      <p:tavLst>
                                        <p:tav tm="0">
                                          <p:val>
                                            <p:strVal val="#ppt_x"/>
                                          </p:val>
                                        </p:tav>
                                        <p:tav tm="100000">
                                          <p:val>
                                            <p:strVal val="#ppt_x"/>
                                          </p:val>
                                        </p:tav>
                                      </p:tavLst>
                                    </p:anim>
                                    <p:anim calcmode="lin" valueType="num">
                                      <p:cBhvr additive="base">
                                        <p:cTn id="8" dur="500" fill="hold"/>
                                        <p:tgtEl>
                                          <p:spTgt spid="65126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1268" grpId="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p:cNvSpPr>
            <a:spLocks noGrp="1" noChangeArrowheads="1"/>
          </p:cNvSpPr>
          <p:nvPr>
            <p:ph type="body" sz="half" idx="1"/>
          </p:nvPr>
        </p:nvSpPr>
        <p:spPr>
          <a:xfrm>
            <a:off x="0" y="1219200"/>
            <a:ext cx="9144000" cy="4449763"/>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 </a:t>
            </a:r>
            <a:r>
              <a:rPr kumimoji="1" lang="zh-CN" altLang="en-US" sz="2400" b="1">
                <a:solidFill>
                  <a:schemeClr val="tx2"/>
                </a:solidFill>
                <a:latin typeface="幼圆" pitchFamily="49" charset="-122"/>
                <a:ea typeface="幼圆" pitchFamily="49" charset="-122"/>
                <a:sym typeface="Symbol" pitchFamily="18" charset="2"/>
              </a:rPr>
              <a:t>不能用%.</a:t>
            </a:r>
            <a:r>
              <a:rPr kumimoji="1" lang="en-US" altLang="zh-CN" sz="2400" b="1">
                <a:solidFill>
                  <a:schemeClr val="tx2"/>
                </a:solidFill>
                <a:latin typeface="幼圆" pitchFamily="49" charset="-122"/>
                <a:ea typeface="幼圆" pitchFamily="49" charset="-122"/>
                <a:sym typeface="Symbol" pitchFamily="18" charset="2"/>
              </a:rPr>
              <a:t>nf</a:t>
            </a:r>
            <a:r>
              <a:rPr kumimoji="1" lang="zh-CN" altLang="en-US" sz="2400" b="1">
                <a:solidFill>
                  <a:schemeClr val="tx2"/>
                </a:solidFill>
                <a:latin typeface="幼圆" pitchFamily="49" charset="-122"/>
                <a:ea typeface="幼圆" pitchFamily="49" charset="-122"/>
                <a:sym typeface="Symbol" pitchFamily="18" charset="2"/>
              </a:rPr>
              <a:t>的格式输入实型变量的值（可以指定宽度）</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不能用</a:t>
            </a:r>
            <a:r>
              <a:rPr kumimoji="1" lang="en-US" altLang="zh-CN" sz="2400" b="1">
                <a:solidFill>
                  <a:schemeClr val="tx2"/>
                </a:solidFill>
                <a:latin typeface="幼圆" pitchFamily="49" charset="-122"/>
                <a:ea typeface="幼圆" pitchFamily="49" charset="-122"/>
                <a:sym typeface="Symbol" pitchFamily="18" charset="2"/>
              </a:rPr>
              <a:t>scanf( )</a:t>
            </a:r>
            <a:r>
              <a:rPr kumimoji="1" lang="zh-CN" altLang="en-US" sz="2400" b="1">
                <a:solidFill>
                  <a:schemeClr val="tx2"/>
                </a:solidFill>
                <a:latin typeface="幼圆" pitchFamily="49" charset="-122"/>
                <a:ea typeface="幼圆" pitchFamily="49" charset="-122"/>
                <a:sym typeface="Symbol" pitchFamily="18" charset="2"/>
              </a:rPr>
              <a:t>输入带空格或跳格的字符串，</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为字符数组</a:t>
            </a:r>
            <a:r>
              <a:rPr kumimoji="1" lang="en-US" altLang="zh-CN" sz="2400" b="1">
                <a:solidFill>
                  <a:schemeClr val="tx2"/>
                </a:solidFill>
                <a:latin typeface="幼圆" pitchFamily="49" charset="-122"/>
                <a:ea typeface="幼圆" pitchFamily="49" charset="-122"/>
                <a:sym typeface="Symbol" pitchFamily="18" charset="2"/>
              </a:rPr>
              <a:t>a</a:t>
            </a:r>
            <a:r>
              <a:rPr kumimoji="1" lang="zh-CN" altLang="en-US" sz="2400" b="1">
                <a:solidFill>
                  <a:schemeClr val="tx2"/>
                </a:solidFill>
                <a:latin typeface="幼圆" pitchFamily="49" charset="-122"/>
                <a:ea typeface="幼圆" pitchFamily="49" charset="-122"/>
                <a:sym typeface="Symbol" pitchFamily="18" charset="2"/>
              </a:rPr>
              <a:t>输入：</a:t>
            </a:r>
            <a:r>
              <a:rPr kumimoji="1" lang="zh-CN" altLang="en-US"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How  are  you</a:t>
            </a:r>
            <a:r>
              <a:rPr kumimoji="1" lang="en-US" altLang="zh-CN" sz="2400" b="1">
                <a:solidFill>
                  <a:schemeClr val="tx2"/>
                </a:solidFill>
                <a:latin typeface="Arial" pitchFamily="34" charset="0"/>
                <a:ea typeface="幼圆" pitchFamily="49" charset="-122"/>
                <a:sym typeface="Symbol" pitchFamily="18" charset="2"/>
              </a:rPr>
              <a:t>”</a:t>
            </a:r>
            <a:endParaRPr kumimoji="1" lang="en-US" altLang="zh-CN" sz="2400" b="1">
              <a:solidFill>
                <a:schemeClr val="tx2"/>
              </a:solidFill>
              <a:latin typeface="幼圆" pitchFamily="49" charset="-122"/>
              <a:ea typeface="幼圆" pitchFamily="49" charset="-122"/>
              <a:sym typeface="Symbol" pitchFamily="18" charset="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scanf(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%s</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 </a:t>
            </a:r>
            <a:r>
              <a:rPr kumimoji="1" lang="en-US" altLang="zh-CN" sz="2400" b="1">
                <a:solidFill>
                  <a:srgbClr val="FF0000"/>
                </a:solidFill>
                <a:latin typeface="幼圆" pitchFamily="49" charset="-122"/>
                <a:ea typeface="幼圆" pitchFamily="49" charset="-122"/>
                <a:sym typeface="Marlett" pitchFamily="2" charset="2"/>
              </a:rPr>
              <a:t></a:t>
            </a:r>
            <a:r>
              <a:rPr kumimoji="1" lang="en-US" altLang="zh-CN" sz="2400" b="1">
                <a:solidFill>
                  <a:schemeClr val="tx2"/>
                </a:solidFill>
                <a:latin typeface="幼圆" pitchFamily="49" charset="-122"/>
                <a:ea typeface="幼圆" pitchFamily="49" charset="-122"/>
                <a:sym typeface="Symbol" pitchFamily="18" charset="2"/>
              </a:rPr>
              <a:t>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gets（a）；√</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scanf(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%d,%4.1f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,x,&amp;y); </a:t>
            </a:r>
            <a:r>
              <a:rPr kumimoji="1" lang="en-US" altLang="zh-CN" sz="2400" b="1">
                <a:solidFill>
                  <a:srgbClr val="FF0000"/>
                </a:solidFill>
                <a:latin typeface="幼圆" pitchFamily="49" charset="-122"/>
                <a:ea typeface="幼圆" pitchFamily="49" charset="-122"/>
                <a:sym typeface="Marlett" pitchFamily="2" charset="2"/>
              </a:rPr>
              <a:t></a:t>
            </a:r>
            <a:endParaRPr kumimoji="1" lang="en-US" altLang="zh-CN" sz="2400" b="1">
              <a:solidFill>
                <a:srgbClr val="FF0000"/>
              </a:solidFill>
              <a:latin typeface="幼圆" pitchFamily="49" charset="-122"/>
              <a:ea typeface="幼圆" pitchFamily="49" charset="-122"/>
              <a:sym typeface="Symbol" pitchFamily="18" charset="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scanf(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%d,b=%f,%c%2d%c</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,&amp;a,&amp;b,&amp;c,&amp;d,&amp;e);</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输入: 12,</a:t>
            </a:r>
            <a:r>
              <a:rPr kumimoji="1" lang="en-US" altLang="zh-CN" sz="2400" b="1">
                <a:solidFill>
                  <a:schemeClr val="tx2"/>
                </a:solidFill>
                <a:latin typeface="幼圆" pitchFamily="49" charset="-122"/>
                <a:ea typeface="幼圆" pitchFamily="49" charset="-122"/>
                <a:sym typeface="Symbol" pitchFamily="18" charset="2"/>
              </a:rPr>
              <a:t>b=12.7,a123b&lt;</a:t>
            </a:r>
            <a:r>
              <a:rPr kumimoji="1" lang="zh-CN" altLang="en-US" sz="2400" b="1">
                <a:solidFill>
                  <a:schemeClr val="tx2"/>
                </a:solidFill>
                <a:latin typeface="幼圆" pitchFamily="49" charset="-122"/>
                <a:ea typeface="幼圆" pitchFamily="49" charset="-122"/>
                <a:sym typeface="Symbol" pitchFamily="18" charset="2"/>
              </a:rPr>
              <a:t>回车&gt;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a:t>
            </a:r>
            <a:r>
              <a:rPr kumimoji="1" lang="zh-CN" altLang="en-US" sz="2400" b="1">
                <a:solidFill>
                  <a:schemeClr val="tx2"/>
                </a:solidFill>
                <a:latin typeface="幼圆" pitchFamily="49" charset="-122"/>
                <a:ea typeface="幼圆" pitchFamily="49" charset="-122"/>
                <a:sym typeface="Symbol" pitchFamily="18" charset="2"/>
              </a:rPr>
              <a:t>则： </a:t>
            </a:r>
            <a:r>
              <a:rPr kumimoji="1" lang="en-US" altLang="zh-CN" sz="2400" b="1">
                <a:solidFill>
                  <a:schemeClr val="tx2"/>
                </a:solidFill>
                <a:latin typeface="幼圆" pitchFamily="49" charset="-122"/>
                <a:ea typeface="幼圆" pitchFamily="49" charset="-122"/>
                <a:sym typeface="Symbol" pitchFamily="18" charset="2"/>
              </a:rPr>
              <a:t>a=12 b=12.7 c=</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 d=12 e=</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3</a:t>
            </a:r>
            <a:r>
              <a:rPr kumimoji="1" lang="en-US" altLang="zh-CN" sz="2400" b="1">
                <a:solidFill>
                  <a:schemeClr val="tx2"/>
                </a:solidFill>
                <a:latin typeface="Arial" pitchFamily="34" charset="0"/>
                <a:ea typeface="幼圆" pitchFamily="49" charset="-122"/>
                <a:sym typeface="Symbol" pitchFamily="18" charset="2"/>
              </a:rPr>
              <a:t>’</a:t>
            </a:r>
            <a:endParaRPr kumimoji="1" lang="en-US" altLang="zh-CN" sz="2400" b="1">
              <a:solidFill>
                <a:schemeClr val="tx2"/>
              </a:solidFill>
              <a:latin typeface="幼圆" pitchFamily="49" charset="-122"/>
              <a:ea typeface="幼圆" pitchFamily="49" charset="-122"/>
              <a:sym typeface="Symbol" pitchFamily="18" charset="2"/>
            </a:endParaRPr>
          </a:p>
        </p:txBody>
      </p:sp>
      <p:sp>
        <p:nvSpPr>
          <p:cNvPr id="46083" name="Rectangle 4"/>
          <p:cNvSpPr>
            <a:spLocks noChangeArrowheads="1"/>
          </p:cNvSpPr>
          <p:nvPr/>
        </p:nvSpPr>
        <p:spPr bwMode="auto">
          <a:xfrm>
            <a:off x="0" y="609600"/>
            <a:ext cx="47147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基本输入输出函数</a:t>
            </a:r>
          </a:p>
        </p:txBody>
      </p:sp>
    </p:spTree>
    <p:extLst>
      <p:ext uri="{BB962C8B-B14F-4D97-AF65-F5344CB8AC3E}">
        <p14:creationId xmlns:p14="http://schemas.microsoft.com/office/powerpoint/2010/main" val="45486182"/>
      </p:ext>
    </p:extLst>
  </p:cSld>
  <p:clrMapOvr>
    <a:masterClrMapping/>
  </p:clrMapOvr>
  <p:transition>
    <p:wedge/>
  </p:transition>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p:cNvSpPr>
            <a:spLocks noGrp="1" noChangeArrowheads="1"/>
          </p:cNvSpPr>
          <p:nvPr>
            <p:ph type="body" sz="half" idx="1"/>
          </p:nvPr>
        </p:nvSpPr>
        <p:spPr>
          <a:xfrm>
            <a:off x="0" y="1555750"/>
            <a:ext cx="9144000" cy="4006850"/>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a:t>
            </a:r>
            <a:r>
              <a:rPr kumimoji="1" lang="zh-CN" altLang="en-US"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sym typeface="Symbol" pitchFamily="18" charset="2"/>
              </a:rPr>
              <a:t>putchar(x)   </a:t>
            </a:r>
            <a:r>
              <a:rPr kumimoji="1" lang="zh-CN" altLang="en-US" sz="2400" b="1">
                <a:solidFill>
                  <a:schemeClr val="tx2"/>
                </a:solidFill>
                <a:latin typeface="幼圆" pitchFamily="49" charset="-122"/>
                <a:ea typeface="幼圆" pitchFamily="49" charset="-122"/>
                <a:sym typeface="Symbol" pitchFamily="18" charset="2"/>
              </a:rPr>
              <a:t>将字符</a:t>
            </a:r>
            <a:r>
              <a:rPr kumimoji="1" lang="en-US" altLang="zh-CN" sz="2400" b="1">
                <a:solidFill>
                  <a:schemeClr val="tx2"/>
                </a:solidFill>
                <a:latin typeface="幼圆" pitchFamily="49" charset="-122"/>
                <a:ea typeface="幼圆" pitchFamily="49" charset="-122"/>
                <a:sym typeface="Symbol" pitchFamily="18" charset="2"/>
              </a:rPr>
              <a:t>x</a:t>
            </a:r>
            <a:r>
              <a:rPr kumimoji="1" lang="zh-CN" altLang="en-US" sz="2400" b="1">
                <a:solidFill>
                  <a:schemeClr val="tx2"/>
                </a:solidFill>
                <a:latin typeface="幼圆" pitchFamily="49" charset="-122"/>
                <a:ea typeface="幼圆" pitchFamily="49" charset="-122"/>
                <a:sym typeface="Symbol" pitchFamily="18" charset="2"/>
              </a:rPr>
              <a:t>输出到屏幕上。</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sym typeface="Symbol" pitchFamily="18" charset="2"/>
              </a:rPr>
              <a:t>char ch=</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 putchar(ch);   putchar(</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 格式化输出函数</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sym typeface="Symbol" pitchFamily="18" charset="2"/>
              </a:rPr>
              <a:t>printf(</a:t>
            </a:r>
            <a:r>
              <a:rPr kumimoji="1" lang="zh-CN" altLang="en-US" sz="2400" b="1">
                <a:solidFill>
                  <a:schemeClr val="tx2"/>
                </a:solidFill>
                <a:latin typeface="幼圆" pitchFamily="49" charset="-122"/>
                <a:ea typeface="幼圆" pitchFamily="49" charset="-122"/>
                <a:sym typeface="Symbol" pitchFamily="18" charset="2"/>
              </a:rPr>
              <a:t>格式串，输出表)</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printf(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dec=%4d,oct=%4o,hex=%-4x,ASCII=%c\n</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D</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D</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D</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D</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a:t>
            </a:r>
            <a:r>
              <a:rPr kumimoji="1" lang="zh-CN" altLang="en-US" sz="2400" b="1">
                <a:solidFill>
                  <a:schemeClr val="tx2"/>
                </a:solidFill>
                <a:latin typeface="幼圆" pitchFamily="49" charset="-122"/>
                <a:ea typeface="幼圆" pitchFamily="49" charset="-122"/>
                <a:sym typeface="Symbol" pitchFamily="18" charset="2"/>
              </a:rPr>
              <a:t>输:</a:t>
            </a:r>
            <a:r>
              <a:rPr kumimoji="1" lang="en-US" altLang="zh-CN" sz="2400" b="1">
                <a:solidFill>
                  <a:schemeClr val="tx2"/>
                </a:solidFill>
                <a:latin typeface="幼圆" pitchFamily="49" charset="-122"/>
                <a:ea typeface="幼圆" pitchFamily="49" charset="-122"/>
                <a:sym typeface="Symbol" pitchFamily="18" charset="2"/>
              </a:rPr>
              <a:t>dec=□  □ 68,oct= □</a:t>
            </a:r>
            <a:r>
              <a:rPr kumimoji="1" lang="en-US" altLang="zh-CN" sz="2400" b="1">
                <a:solidFill>
                  <a:schemeClr val="tx2"/>
                </a:solidFill>
                <a:latin typeface="幼圆" pitchFamily="49" charset="-122"/>
                <a:ea typeface="幼圆" pitchFamily="49" charset="-122"/>
                <a:sym typeface="Monotype Sorts"/>
              </a:rPr>
              <a:t> </a:t>
            </a:r>
            <a:r>
              <a:rPr kumimoji="1" lang="en-US" altLang="zh-CN" sz="2400" b="1">
                <a:solidFill>
                  <a:schemeClr val="tx2"/>
                </a:solidFill>
                <a:latin typeface="幼圆" pitchFamily="49" charset="-122"/>
                <a:ea typeface="幼圆" pitchFamily="49" charset="-122"/>
                <a:sym typeface="Symbol" pitchFamily="18" charset="2"/>
              </a:rPr>
              <a:t>104,hex=44 □ □,ASCII=D </a:t>
            </a:r>
            <a:r>
              <a:rPr kumimoji="1" lang="zh-CN" altLang="en-US" sz="2400" b="1">
                <a:solidFill>
                  <a:schemeClr val="tx2"/>
                </a:solidFill>
                <a:latin typeface="幼圆" pitchFamily="49" charset="-122"/>
                <a:ea typeface="幼圆" pitchFamily="49" charset="-122"/>
                <a:sym typeface="Symbol" pitchFamily="18" charset="2"/>
              </a:rPr>
              <a:t>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printf(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%f,%e,%g\n</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,123.45,123.456,123.45);</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输出 123.450000,1.2345</a:t>
            </a:r>
            <a:r>
              <a:rPr kumimoji="1" lang="en-US" altLang="zh-CN" sz="2400" b="1">
                <a:solidFill>
                  <a:schemeClr val="tx2"/>
                </a:solidFill>
                <a:latin typeface="幼圆" pitchFamily="49" charset="-122"/>
                <a:ea typeface="幼圆" pitchFamily="49" charset="-122"/>
                <a:sym typeface="Symbol" pitchFamily="18" charset="2"/>
              </a:rPr>
              <a:t>6</a:t>
            </a:r>
            <a:r>
              <a:rPr kumimoji="1" lang="zh-CN" altLang="en-US" sz="2400" b="1">
                <a:solidFill>
                  <a:schemeClr val="tx2"/>
                </a:solidFill>
                <a:latin typeface="幼圆" pitchFamily="49" charset="-122"/>
                <a:ea typeface="幼圆" pitchFamily="49" charset="-122"/>
                <a:sym typeface="Symbol" pitchFamily="18" charset="2"/>
              </a:rPr>
              <a:t>0</a:t>
            </a:r>
            <a:r>
              <a:rPr kumimoji="1" lang="en-US" altLang="zh-CN" sz="2400" b="1">
                <a:solidFill>
                  <a:schemeClr val="tx2"/>
                </a:solidFill>
                <a:latin typeface="幼圆" pitchFamily="49" charset="-122"/>
                <a:ea typeface="幼圆" pitchFamily="49" charset="-122"/>
                <a:sym typeface="Symbol" pitchFamily="18" charset="2"/>
              </a:rPr>
              <a:t>e+002,123.45</a:t>
            </a:r>
          </a:p>
        </p:txBody>
      </p:sp>
      <p:sp>
        <p:nvSpPr>
          <p:cNvPr id="4" name="Rectangle 4"/>
          <p:cNvSpPr>
            <a:spLocks noChangeArrowheads="1"/>
          </p:cNvSpPr>
          <p:nvPr/>
        </p:nvSpPr>
        <p:spPr bwMode="auto">
          <a:xfrm>
            <a:off x="0" y="609600"/>
            <a:ext cx="47147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基本输入输出函数</a:t>
            </a:r>
          </a:p>
        </p:txBody>
      </p:sp>
    </p:spTree>
    <p:extLst>
      <p:ext uri="{BB962C8B-B14F-4D97-AF65-F5344CB8AC3E}">
        <p14:creationId xmlns:p14="http://schemas.microsoft.com/office/powerpoint/2010/main" val="51703302"/>
      </p:ext>
    </p:extLst>
  </p:cSld>
  <p:clrMapOvr>
    <a:masterClrMapping/>
  </p:clrMapOvr>
  <p:transition>
    <p:wedg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4" name="Rectangle 4"/>
          <p:cNvSpPr>
            <a:spLocks noChangeArrowheads="1"/>
          </p:cNvSpPr>
          <p:nvPr/>
        </p:nvSpPr>
        <p:spPr bwMode="auto">
          <a:xfrm>
            <a:off x="179387" y="4077072"/>
            <a:ext cx="8964613" cy="1512168"/>
          </a:xfrm>
          <a:prstGeom prst="rect">
            <a:avLst/>
          </a:prstGeom>
          <a:solidFill>
            <a:srgbClr val="FFFF99"/>
          </a:solidFill>
          <a:ln w="12700">
            <a:noFill/>
            <a:miter lim="800000"/>
          </a:ln>
          <a:effectLst>
            <a:softEdge rad="317500"/>
          </a:effectLst>
        </p:spPr>
        <p:txBody>
          <a:bodyPr wrap="none" anchor="ctr"/>
          <a:lstStyle/>
          <a:p>
            <a:pPr eaLnBrk="1" hangingPunct="1">
              <a:defRPr/>
            </a:pPr>
            <a:r>
              <a:rPr lang="zh-CN" altLang="en-US" sz="2400" b="1" dirty="0">
                <a:solidFill>
                  <a:srgbClr val="002060"/>
                </a:solidFill>
                <a:latin typeface="微软雅黑" charset="0"/>
                <a:ea typeface="微软雅黑" charset="0"/>
              </a:rPr>
              <a:t>％ｍ</a:t>
            </a:r>
            <a:r>
              <a:rPr lang="en-US" altLang="zh-CN" sz="2400" b="1" dirty="0">
                <a:solidFill>
                  <a:srgbClr val="002060"/>
                </a:solidFill>
                <a:latin typeface="微软雅黑" charset="0"/>
                <a:ea typeface="微软雅黑" charset="0"/>
              </a:rPr>
              <a:t>.</a:t>
            </a:r>
            <a:r>
              <a:rPr lang="zh-CN" altLang="en-US" sz="2400" b="1" dirty="0">
                <a:solidFill>
                  <a:srgbClr val="002060"/>
                </a:solidFill>
                <a:latin typeface="微软雅黑" charset="0"/>
                <a:ea typeface="微软雅黑" charset="0"/>
              </a:rPr>
              <a:t>ｎｆ。指定输出的数据共占ｍ列，其中有ｎ位小数。如果</a:t>
            </a:r>
          </a:p>
          <a:p>
            <a:pPr eaLnBrk="1" hangingPunct="1">
              <a:defRPr/>
            </a:pPr>
            <a:r>
              <a:rPr lang="zh-CN" altLang="en-US" sz="2400" b="1" dirty="0">
                <a:solidFill>
                  <a:srgbClr val="002060"/>
                </a:solidFill>
                <a:latin typeface="微软雅黑" charset="0"/>
                <a:ea typeface="微软雅黑" charset="0"/>
              </a:rPr>
              <a:t>数值长度小于ｍ，则左端补空格。</a:t>
            </a:r>
          </a:p>
          <a:p>
            <a:pPr eaLnBrk="1" hangingPunct="1">
              <a:defRPr/>
            </a:pPr>
            <a:endParaRPr lang="zh-CN" altLang="en-US" sz="2400" b="1" dirty="0">
              <a:solidFill>
                <a:srgbClr val="002060"/>
              </a:solidFill>
              <a:latin typeface="微软雅黑" charset="0"/>
              <a:ea typeface="微软雅黑" charset="0"/>
            </a:endParaRPr>
          </a:p>
          <a:p>
            <a:pPr eaLnBrk="1" hangingPunct="1">
              <a:defRPr/>
            </a:pPr>
            <a:r>
              <a:rPr lang="zh-CN" altLang="en-US" sz="2400" b="1" dirty="0">
                <a:solidFill>
                  <a:srgbClr val="002060"/>
                </a:solidFill>
                <a:latin typeface="微软雅黑" charset="0"/>
                <a:ea typeface="微软雅黑" charset="0"/>
              </a:rPr>
              <a:t>％－ｍ</a:t>
            </a:r>
            <a:r>
              <a:rPr lang="en-US" altLang="zh-CN" sz="2400" b="1" dirty="0">
                <a:solidFill>
                  <a:srgbClr val="002060"/>
                </a:solidFill>
                <a:latin typeface="微软雅黑" charset="0"/>
                <a:ea typeface="微软雅黑" charset="0"/>
              </a:rPr>
              <a:t>.</a:t>
            </a:r>
            <a:r>
              <a:rPr lang="zh-CN" altLang="en-US" sz="2400" b="1" dirty="0">
                <a:solidFill>
                  <a:srgbClr val="002060"/>
                </a:solidFill>
                <a:latin typeface="微软雅黑" charset="0"/>
                <a:ea typeface="微软雅黑" charset="0"/>
              </a:rPr>
              <a:t>ｎｆ与％ｍ</a:t>
            </a:r>
            <a:r>
              <a:rPr lang="en-US" altLang="zh-CN" sz="2400" b="1" dirty="0">
                <a:solidFill>
                  <a:srgbClr val="002060"/>
                </a:solidFill>
                <a:latin typeface="微软雅黑" charset="0"/>
                <a:ea typeface="微软雅黑" charset="0"/>
              </a:rPr>
              <a:t>.</a:t>
            </a:r>
            <a:r>
              <a:rPr lang="zh-CN" altLang="en-US" sz="2400" b="1" dirty="0">
                <a:solidFill>
                  <a:srgbClr val="002060"/>
                </a:solidFill>
                <a:latin typeface="微软雅黑" charset="0"/>
                <a:ea typeface="微软雅黑" charset="0"/>
              </a:rPr>
              <a:t>ｎｆ基本相同，输出的数值左对齐右端补空格。 </a:t>
            </a:r>
          </a:p>
        </p:txBody>
      </p:sp>
      <p:sp>
        <p:nvSpPr>
          <p:cNvPr id="50181" name="矩形 4"/>
          <p:cNvSpPr>
            <a:spLocks noChangeArrowheads="1"/>
          </p:cNvSpPr>
          <p:nvPr/>
        </p:nvSpPr>
        <p:spPr bwMode="auto">
          <a:xfrm>
            <a:off x="250825" y="1125538"/>
            <a:ext cx="7993063"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2800" b="1">
                <a:solidFill>
                  <a:srgbClr val="C00000"/>
                </a:solidFill>
                <a:latin typeface="微软雅黑" pitchFamily="34" charset="-122"/>
                <a:ea typeface="微软雅黑" pitchFamily="34" charset="-122"/>
              </a:rPr>
              <a:t>ｆ格式符。用来以小数形式输出实数（包括单双精度）</a:t>
            </a:r>
          </a:p>
        </p:txBody>
      </p:sp>
      <p:sp>
        <p:nvSpPr>
          <p:cNvPr id="7" name="矩形 6"/>
          <p:cNvSpPr/>
          <p:nvPr/>
        </p:nvSpPr>
        <p:spPr>
          <a:xfrm>
            <a:off x="395536" y="2276872"/>
            <a:ext cx="8748464" cy="1754326"/>
          </a:xfrm>
          <a:prstGeom prst="rect">
            <a:avLst/>
          </a:prstGeom>
          <a:solidFill>
            <a:srgbClr val="FFFF99"/>
          </a:solidFill>
          <a:effectLst>
            <a:softEdge rad="317500"/>
          </a:effectLst>
        </p:spPr>
        <p:txBody>
          <a:bodyPr>
            <a:spAutoFit/>
          </a:bodyPr>
          <a:lstStyle/>
          <a:p>
            <a:pPr eaLnBrk="1" hangingPunct="1">
              <a:lnSpc>
                <a:spcPct val="150000"/>
              </a:lnSpc>
              <a:buFont typeface="Arial" pitchFamily="34" charset="0"/>
              <a:buChar char="•"/>
              <a:defRPr/>
            </a:pPr>
            <a:r>
              <a:rPr lang="zh-CN" altLang="en-US" sz="2400" b="1" dirty="0">
                <a:solidFill>
                  <a:srgbClr val="002060"/>
                </a:solidFill>
                <a:latin typeface="微软雅黑" charset="0"/>
                <a:ea typeface="微软雅黑" charset="0"/>
              </a:rPr>
              <a:t>％ｆ。不指定字段宽度，</a:t>
            </a:r>
            <a:r>
              <a:rPr lang="zh-CN" altLang="en-US" sz="2400" b="1" dirty="0">
                <a:solidFill>
                  <a:srgbClr val="C00000"/>
                </a:solidFill>
                <a:latin typeface="微软雅黑" charset="0"/>
                <a:ea typeface="微软雅黑" charset="0"/>
              </a:rPr>
              <a:t>整数部分全部输出，并输出６位小数。</a:t>
            </a:r>
            <a:endParaRPr lang="en-US" altLang="zh-CN" sz="2400" b="1" dirty="0">
              <a:solidFill>
                <a:srgbClr val="C00000"/>
              </a:solidFill>
              <a:latin typeface="微软雅黑" charset="0"/>
              <a:ea typeface="微软雅黑" charset="0"/>
            </a:endParaRPr>
          </a:p>
          <a:p>
            <a:pPr eaLnBrk="1" hangingPunct="1">
              <a:lnSpc>
                <a:spcPct val="150000"/>
              </a:lnSpc>
              <a:buFont typeface="Arial" pitchFamily="34" charset="0"/>
              <a:buChar char="•"/>
              <a:defRPr/>
            </a:pPr>
            <a:r>
              <a:rPr lang="zh-CN" altLang="en-US" sz="2400" b="1" dirty="0">
                <a:solidFill>
                  <a:srgbClr val="002060"/>
                </a:solidFill>
                <a:latin typeface="微软雅黑" charset="0"/>
                <a:ea typeface="微软雅黑" charset="0"/>
              </a:rPr>
              <a:t>在输出的数字中并非全部数字都是有效数字</a:t>
            </a:r>
            <a:endParaRPr lang="en-US" altLang="zh-CN" sz="2400" b="1" dirty="0">
              <a:solidFill>
                <a:srgbClr val="002060"/>
              </a:solidFill>
              <a:latin typeface="微软雅黑" charset="0"/>
              <a:ea typeface="微软雅黑" charset="0"/>
            </a:endParaRPr>
          </a:p>
          <a:p>
            <a:pPr eaLnBrk="1" hangingPunct="1">
              <a:lnSpc>
                <a:spcPct val="150000"/>
              </a:lnSpc>
              <a:buFont typeface="Arial" pitchFamily="34" charset="0"/>
              <a:buChar char="•"/>
              <a:defRPr/>
            </a:pPr>
            <a:r>
              <a:rPr lang="zh-CN" altLang="en-US" sz="2400" b="1" dirty="0">
                <a:solidFill>
                  <a:srgbClr val="002060"/>
                </a:solidFill>
                <a:latin typeface="微软雅黑" charset="0"/>
                <a:ea typeface="微软雅黑" charset="0"/>
              </a:rPr>
              <a:t>单精度实数的有效位数一般为７位。</a:t>
            </a:r>
          </a:p>
        </p:txBody>
      </p:sp>
      <p:sp>
        <p:nvSpPr>
          <p:cNvPr id="6" name="Rectangle 4"/>
          <p:cNvSpPr>
            <a:spLocks noChangeArrowheads="1"/>
          </p:cNvSpPr>
          <p:nvPr/>
        </p:nvSpPr>
        <p:spPr bwMode="auto">
          <a:xfrm>
            <a:off x="0" y="609600"/>
            <a:ext cx="47147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基本输入输出函数</a:t>
            </a:r>
          </a:p>
        </p:txBody>
      </p:sp>
    </p:spTree>
    <p:extLst>
      <p:ext uri="{BB962C8B-B14F-4D97-AF65-F5344CB8AC3E}">
        <p14:creationId xmlns:p14="http://schemas.microsoft.com/office/powerpoint/2010/main" val="1899688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70724"/>
                                        </p:tgtEl>
                                        <p:attrNameLst>
                                          <p:attrName>style.visibility</p:attrName>
                                        </p:attrNameLst>
                                      </p:cBhvr>
                                      <p:to>
                                        <p:strVal val="visible"/>
                                      </p:to>
                                    </p:set>
                                    <p:animEffect transition="in" filter="blinds(horizontal)">
                                      <p:cBhvr>
                                        <p:cTn id="12" dur="500"/>
                                        <p:tgtEl>
                                          <p:spTgt spid="670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20" name="Rectangle 4"/>
          <p:cNvSpPr>
            <a:spLocks noChangeArrowheads="1"/>
          </p:cNvSpPr>
          <p:nvPr/>
        </p:nvSpPr>
        <p:spPr bwMode="auto">
          <a:xfrm>
            <a:off x="0" y="1052513"/>
            <a:ext cx="8964613"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r>
              <a:rPr lang="zh-CN" altLang="en-US" sz="2800" b="1">
                <a:solidFill>
                  <a:srgbClr val="C00000"/>
                </a:solidFill>
                <a:latin typeface="微软雅黑" pitchFamily="34" charset="-122"/>
                <a:ea typeface="微软雅黑" pitchFamily="34" charset="-122"/>
              </a:rPr>
              <a:t>ｅ格式符，以指数形式输出实数</a:t>
            </a:r>
            <a:endParaRPr lang="zh-CN" altLang="en-US" sz="2800">
              <a:solidFill>
                <a:schemeClr val="accent2"/>
              </a:solidFill>
              <a:latin typeface="微软雅黑" pitchFamily="34" charset="-122"/>
              <a:ea typeface="微软雅黑" pitchFamily="34" charset="-122"/>
            </a:endParaRPr>
          </a:p>
          <a:p>
            <a:pPr eaLnBrk="1" hangingPunct="1"/>
            <a:endParaRPr lang="zh-CN" altLang="en-US" sz="2400">
              <a:latin typeface="微软雅黑" pitchFamily="34" charset="-122"/>
              <a:ea typeface="微软雅黑" pitchFamily="34" charset="-122"/>
            </a:endParaRPr>
          </a:p>
          <a:p>
            <a:pPr eaLnBrk="1" hangingPunct="1"/>
            <a:r>
              <a:rPr lang="zh-CN" altLang="en-US" sz="2400">
                <a:latin typeface="微软雅黑" pitchFamily="34" charset="-122"/>
                <a:ea typeface="微软雅黑" pitchFamily="34" charset="-122"/>
              </a:rPr>
              <a:t> </a:t>
            </a:r>
          </a:p>
          <a:p>
            <a:pPr eaLnBrk="1" hangingPunct="1"/>
            <a:r>
              <a:rPr lang="zh-CN" altLang="en-US" sz="2400">
                <a:latin typeface="微软雅黑" pitchFamily="34" charset="-122"/>
                <a:ea typeface="微软雅黑" pitchFamily="34" charset="-122"/>
              </a:rPr>
              <a:t> </a:t>
            </a:r>
            <a:r>
              <a:rPr lang="zh-CN" altLang="en-US" sz="2400" b="1">
                <a:solidFill>
                  <a:srgbClr val="002060"/>
                </a:solidFill>
                <a:latin typeface="微软雅黑" pitchFamily="34" charset="-122"/>
                <a:ea typeface="微软雅黑" pitchFamily="34" charset="-122"/>
              </a:rPr>
              <a:t>％ｅ。不指定输出数据所占的宽度和数字部分的小数位数</a:t>
            </a:r>
            <a:r>
              <a:rPr lang="en-US" altLang="zh-CN" sz="2400" b="1">
                <a:solidFill>
                  <a:srgbClr val="002060"/>
                </a:solidFill>
                <a:latin typeface="微软雅黑" pitchFamily="34" charset="-122"/>
                <a:ea typeface="微软雅黑" pitchFamily="34" charset="-122"/>
              </a:rPr>
              <a:t>.</a:t>
            </a:r>
          </a:p>
          <a:p>
            <a:pPr eaLnBrk="1" hangingPunct="1"/>
            <a:r>
              <a:rPr lang="zh-CN" altLang="en-US" sz="2400" b="1">
                <a:solidFill>
                  <a:srgbClr val="002060"/>
                </a:solidFill>
                <a:latin typeface="微软雅黑" pitchFamily="34" charset="-122"/>
                <a:ea typeface="微软雅黑" pitchFamily="34" charset="-122"/>
              </a:rPr>
              <a:t>例</a:t>
            </a:r>
            <a:r>
              <a:rPr lang="en-US" altLang="zh-CN" sz="2400" b="1">
                <a:solidFill>
                  <a:srgbClr val="002060"/>
                </a:solidFill>
                <a:latin typeface="微软雅黑" pitchFamily="34" charset="-122"/>
                <a:ea typeface="微软雅黑" pitchFamily="34" charset="-122"/>
              </a:rPr>
              <a:t>:</a:t>
            </a:r>
          </a:p>
          <a:p>
            <a:pPr eaLnBrk="1" hangingPunct="1"/>
            <a:r>
              <a:rPr lang="en-US" altLang="zh-CN" sz="2400" b="1">
                <a:solidFill>
                  <a:srgbClr val="002060"/>
                </a:solidFill>
                <a:latin typeface="微软雅黑" pitchFamily="34" charset="-122"/>
                <a:ea typeface="微软雅黑" pitchFamily="34" charset="-122"/>
              </a:rPr>
              <a:t>   </a:t>
            </a:r>
            <a:r>
              <a:rPr lang="zh-CN" altLang="en-US" sz="2400" b="1">
                <a:solidFill>
                  <a:srgbClr val="002060"/>
                </a:solidFill>
                <a:latin typeface="微软雅黑" pitchFamily="34" charset="-122"/>
                <a:ea typeface="微软雅黑" pitchFamily="34" charset="-122"/>
              </a:rPr>
              <a:t>ｐｒｉｎｔｆ（</a:t>
            </a:r>
            <a:r>
              <a:rPr lang="en-US" altLang="zh-CN" sz="2400" b="1">
                <a:solidFill>
                  <a:srgbClr val="002060"/>
                </a:solidFill>
                <a:latin typeface="微软雅黑" pitchFamily="34" charset="-122"/>
                <a:ea typeface="微软雅黑" pitchFamily="34" charset="-122"/>
              </a:rPr>
              <a:t>″</a:t>
            </a:r>
            <a:r>
              <a:rPr lang="zh-CN" altLang="en-US" sz="2400" b="1">
                <a:solidFill>
                  <a:srgbClr val="002060"/>
                </a:solidFill>
                <a:latin typeface="微软雅黑" pitchFamily="34" charset="-122"/>
                <a:ea typeface="微软雅黑" pitchFamily="34" charset="-122"/>
              </a:rPr>
              <a:t>％ｅ</a:t>
            </a:r>
            <a:r>
              <a:rPr lang="en-US" altLang="zh-CN" sz="2400" b="1">
                <a:solidFill>
                  <a:srgbClr val="002060"/>
                </a:solidFill>
                <a:latin typeface="微软雅黑" pitchFamily="34" charset="-122"/>
                <a:ea typeface="微软雅黑" pitchFamily="34" charset="-122"/>
              </a:rPr>
              <a:t>″</a:t>
            </a:r>
            <a:r>
              <a:rPr lang="zh-CN" altLang="en-US" sz="2400" b="1">
                <a:solidFill>
                  <a:srgbClr val="002060"/>
                </a:solidFill>
                <a:latin typeface="微软雅黑" pitchFamily="34" charset="-122"/>
                <a:ea typeface="微软雅黑" pitchFamily="34" charset="-122"/>
              </a:rPr>
              <a:t>，１２３．４５６）；</a:t>
            </a:r>
          </a:p>
          <a:p>
            <a:pPr eaLnBrk="1" hangingPunct="1"/>
            <a:r>
              <a:rPr lang="zh-CN" altLang="en-US" sz="2400" b="1">
                <a:solidFill>
                  <a:srgbClr val="002060"/>
                </a:solidFill>
                <a:latin typeface="微软雅黑" pitchFamily="34" charset="-122"/>
                <a:ea typeface="微软雅黑" pitchFamily="34" charset="-122"/>
              </a:rPr>
              <a:t>输出：</a:t>
            </a:r>
            <a:endParaRPr lang="zh-CN" altLang="en-US" sz="2400" b="1" u="sng">
              <a:solidFill>
                <a:srgbClr val="002060"/>
              </a:solidFill>
              <a:latin typeface="微软雅黑" pitchFamily="34" charset="-122"/>
              <a:ea typeface="微软雅黑" pitchFamily="34" charset="-122"/>
            </a:endParaRPr>
          </a:p>
          <a:p>
            <a:pPr eaLnBrk="1" hangingPunct="1"/>
            <a:r>
              <a:rPr lang="zh-CN" altLang="en-US" sz="2400" b="1" u="sng">
                <a:solidFill>
                  <a:srgbClr val="002060"/>
                </a:solidFill>
                <a:latin typeface="微软雅黑" pitchFamily="34" charset="-122"/>
                <a:ea typeface="微软雅黑" pitchFamily="34" charset="-122"/>
              </a:rPr>
              <a:t>  １．２３４５６０</a:t>
            </a:r>
            <a:r>
              <a:rPr lang="zh-CN" altLang="en-US" sz="2400" b="1">
                <a:solidFill>
                  <a:srgbClr val="002060"/>
                </a:solidFill>
                <a:latin typeface="微软雅黑" pitchFamily="34" charset="-122"/>
                <a:ea typeface="微软雅黑" pitchFamily="34" charset="-122"/>
              </a:rPr>
              <a:t> </a:t>
            </a:r>
            <a:r>
              <a:rPr lang="zh-CN" altLang="en-US" sz="2400" b="1" u="sng">
                <a:solidFill>
                  <a:srgbClr val="002060"/>
                </a:solidFill>
                <a:latin typeface="微软雅黑" pitchFamily="34" charset="-122"/>
                <a:ea typeface="微软雅黑" pitchFamily="34" charset="-122"/>
              </a:rPr>
              <a:t>ｅ＋００２</a:t>
            </a:r>
            <a:endParaRPr lang="zh-CN" altLang="en-US" sz="2400" b="1">
              <a:solidFill>
                <a:srgbClr val="002060"/>
              </a:solidFill>
              <a:latin typeface="微软雅黑" pitchFamily="34" charset="-122"/>
              <a:ea typeface="微软雅黑" pitchFamily="34" charset="-122"/>
            </a:endParaRPr>
          </a:p>
          <a:p>
            <a:pPr eaLnBrk="1" hangingPunct="1"/>
            <a:r>
              <a:rPr lang="zh-CN" altLang="en-US" sz="2400" b="1">
                <a:solidFill>
                  <a:srgbClr val="002060"/>
                </a:solidFill>
                <a:latin typeface="微软雅黑" pitchFamily="34" charset="-122"/>
                <a:ea typeface="微软雅黑" pitchFamily="34" charset="-122"/>
              </a:rPr>
              <a:t>                </a:t>
            </a:r>
            <a:r>
              <a:rPr lang="en-US" altLang="zh-CN" sz="2400" b="1">
                <a:solidFill>
                  <a:srgbClr val="002060"/>
                </a:solidFill>
                <a:latin typeface="微软雅黑" pitchFamily="34" charset="-122"/>
                <a:ea typeface="微软雅黑" pitchFamily="34" charset="-122"/>
              </a:rPr>
              <a:t>8</a:t>
            </a:r>
            <a:r>
              <a:rPr lang="zh-CN" altLang="en-US" sz="2400" b="1">
                <a:solidFill>
                  <a:srgbClr val="002060"/>
                </a:solidFill>
                <a:latin typeface="微软雅黑" pitchFamily="34" charset="-122"/>
                <a:ea typeface="微软雅黑" pitchFamily="34" charset="-122"/>
              </a:rPr>
              <a:t>列            </a:t>
            </a:r>
            <a:r>
              <a:rPr lang="en-US" altLang="zh-CN" sz="2400" b="1">
                <a:solidFill>
                  <a:srgbClr val="002060"/>
                </a:solidFill>
                <a:latin typeface="微软雅黑" pitchFamily="34" charset="-122"/>
                <a:ea typeface="微软雅黑" pitchFamily="34" charset="-122"/>
              </a:rPr>
              <a:t>5</a:t>
            </a:r>
            <a:r>
              <a:rPr lang="zh-CN" altLang="en-US" sz="2400" b="1">
                <a:solidFill>
                  <a:srgbClr val="002060"/>
                </a:solidFill>
                <a:latin typeface="微软雅黑" pitchFamily="34" charset="-122"/>
                <a:ea typeface="微软雅黑" pitchFamily="34" charset="-122"/>
              </a:rPr>
              <a:t>列</a:t>
            </a:r>
          </a:p>
          <a:p>
            <a:pPr eaLnBrk="1" hangingPunct="1"/>
            <a:r>
              <a:rPr lang="zh-CN" altLang="en-US" sz="2400" b="1">
                <a:solidFill>
                  <a:srgbClr val="002060"/>
                </a:solidFill>
                <a:latin typeface="微软雅黑" pitchFamily="34" charset="-122"/>
                <a:ea typeface="微软雅黑" pitchFamily="34" charset="-122"/>
              </a:rPr>
              <a:t>所输出的实数共占１３列宽度。</a:t>
            </a:r>
            <a:r>
              <a:rPr lang="en-US" altLang="zh-CN" sz="2400" b="1">
                <a:solidFill>
                  <a:srgbClr val="002060"/>
                </a:solidFill>
                <a:latin typeface="微软雅黑" pitchFamily="34" charset="-122"/>
                <a:ea typeface="微软雅黑" pitchFamily="34" charset="-122"/>
              </a:rPr>
              <a:t>(</a:t>
            </a:r>
            <a:r>
              <a:rPr lang="zh-CN" altLang="en-US" sz="2400" b="1">
                <a:solidFill>
                  <a:srgbClr val="002060"/>
                </a:solidFill>
                <a:latin typeface="微软雅黑" pitchFamily="34" charset="-122"/>
                <a:ea typeface="微软雅黑" pitchFamily="34" charset="-122"/>
              </a:rPr>
              <a:t>注</a:t>
            </a:r>
            <a:r>
              <a:rPr lang="zh-CN" altLang="en-US" sz="2400">
                <a:solidFill>
                  <a:srgbClr val="CC0000"/>
                </a:solidFill>
                <a:latin typeface="微软雅黑" pitchFamily="34" charset="-122"/>
                <a:ea typeface="微软雅黑" pitchFamily="34" charset="-122"/>
              </a:rPr>
              <a:t>：不同系统的规定略有不同</a:t>
            </a:r>
            <a:r>
              <a:rPr lang="en-US" altLang="zh-CN" sz="2400">
                <a:solidFill>
                  <a:srgbClr val="CC0000"/>
                </a:solidFill>
                <a:latin typeface="微软雅黑" pitchFamily="34" charset="-122"/>
                <a:ea typeface="微软雅黑" pitchFamily="34" charset="-122"/>
              </a:rPr>
              <a:t>)</a:t>
            </a:r>
          </a:p>
          <a:p>
            <a:pPr eaLnBrk="1" hangingPunct="1"/>
            <a:r>
              <a:rPr lang="en-US" altLang="zh-CN" sz="2400">
                <a:latin typeface="微软雅黑" pitchFamily="34" charset="-122"/>
                <a:ea typeface="微软雅黑" pitchFamily="34" charset="-122"/>
              </a:rPr>
              <a:t> </a:t>
            </a:r>
          </a:p>
        </p:txBody>
      </p:sp>
      <p:sp>
        <p:nvSpPr>
          <p:cNvPr id="4" name="Rectangle 4"/>
          <p:cNvSpPr>
            <a:spLocks noChangeArrowheads="1"/>
          </p:cNvSpPr>
          <p:nvPr/>
        </p:nvSpPr>
        <p:spPr bwMode="auto">
          <a:xfrm>
            <a:off x="0" y="609600"/>
            <a:ext cx="47147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基本输入输出函数</a:t>
            </a:r>
          </a:p>
        </p:txBody>
      </p:sp>
    </p:spTree>
    <p:extLst>
      <p:ext uri="{BB962C8B-B14F-4D97-AF65-F5344CB8AC3E}">
        <p14:creationId xmlns:p14="http://schemas.microsoft.com/office/powerpoint/2010/main" val="11919428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74820"/>
                                        </p:tgtEl>
                                        <p:attrNameLst>
                                          <p:attrName>style.visibility</p:attrName>
                                        </p:attrNameLst>
                                      </p:cBhvr>
                                      <p:to>
                                        <p:strVal val="visible"/>
                                      </p:to>
                                    </p:set>
                                    <p:anim calcmode="lin" valueType="num">
                                      <p:cBhvr additive="base">
                                        <p:cTn id="7" dur="500" fill="hold"/>
                                        <p:tgtEl>
                                          <p:spTgt spid="674820"/>
                                        </p:tgtEl>
                                        <p:attrNameLst>
                                          <p:attrName>ppt_x</p:attrName>
                                        </p:attrNameLst>
                                      </p:cBhvr>
                                      <p:tavLst>
                                        <p:tav tm="0">
                                          <p:val>
                                            <p:strVal val="0-#ppt_w/2"/>
                                          </p:val>
                                        </p:tav>
                                        <p:tav tm="100000">
                                          <p:val>
                                            <p:strVal val="#ppt_x"/>
                                          </p:val>
                                        </p:tav>
                                      </p:tavLst>
                                    </p:anim>
                                    <p:anim calcmode="lin" valueType="num">
                                      <p:cBhvr additive="base">
                                        <p:cTn id="8" dur="500" fill="hold"/>
                                        <p:tgtEl>
                                          <p:spTgt spid="6748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482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44" name="Rectangle 4"/>
          <p:cNvSpPr>
            <a:spLocks noChangeArrowheads="1"/>
          </p:cNvSpPr>
          <p:nvPr/>
        </p:nvSpPr>
        <p:spPr bwMode="auto">
          <a:xfrm>
            <a:off x="0" y="1125538"/>
            <a:ext cx="8964613"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r>
              <a:rPr lang="en-US" altLang="zh-CN" sz="2400" b="1">
                <a:latin typeface="微软雅黑" pitchFamily="34" charset="-122"/>
                <a:ea typeface="微软雅黑" pitchFamily="34" charset="-122"/>
              </a:rPr>
              <a:t>  </a:t>
            </a:r>
            <a:r>
              <a:rPr lang="zh-CN" altLang="en-US" sz="2400" b="1">
                <a:latin typeface="微软雅黑" pitchFamily="34" charset="-122"/>
                <a:ea typeface="微软雅黑" pitchFamily="34" charset="-122"/>
              </a:rPr>
              <a:t>％</a:t>
            </a:r>
            <a:r>
              <a:rPr lang="en-US" altLang="zh-CN" sz="2400" b="1">
                <a:latin typeface="微软雅黑" pitchFamily="34" charset="-122"/>
                <a:ea typeface="微软雅黑" pitchFamily="34" charset="-122"/>
              </a:rPr>
              <a:t>m.ne</a:t>
            </a:r>
            <a:r>
              <a:rPr lang="zh-CN" altLang="en-US" sz="2400" b="1">
                <a:latin typeface="微软雅黑" pitchFamily="34" charset="-122"/>
                <a:ea typeface="微软雅黑" pitchFamily="34" charset="-122"/>
              </a:rPr>
              <a:t>和％</a:t>
            </a:r>
            <a:r>
              <a:rPr lang="en-US" altLang="zh-CN" sz="2400" b="1">
                <a:latin typeface="微软雅黑" pitchFamily="34" charset="-122"/>
                <a:ea typeface="微软雅黑" pitchFamily="34" charset="-122"/>
              </a:rPr>
              <a:t>-m.ne</a:t>
            </a:r>
            <a:r>
              <a:rPr lang="zh-CN" altLang="en-US" sz="2400" b="1">
                <a:latin typeface="微软雅黑" pitchFamily="34" charset="-122"/>
                <a:ea typeface="微软雅黑" pitchFamily="34" charset="-122"/>
              </a:rPr>
              <a:t>。　ｍ、ｎ和“－”字符的含义与前相同。</a:t>
            </a:r>
          </a:p>
          <a:p>
            <a:pPr eaLnBrk="1" hangingPunct="1"/>
            <a:r>
              <a:rPr lang="zh-CN" altLang="en-US" sz="2400" b="1">
                <a:latin typeface="微软雅黑" pitchFamily="34" charset="-122"/>
                <a:ea typeface="微软雅黑" pitchFamily="34" charset="-122"/>
              </a:rPr>
              <a:t>   此处ｎ指拟输出的数据的小数部分（又称尾数）的小数位数。</a:t>
            </a:r>
          </a:p>
          <a:p>
            <a:pPr eaLnBrk="1" hangingPunct="1"/>
            <a:r>
              <a:rPr lang="zh-CN" altLang="en-US" sz="2400" b="1">
                <a:latin typeface="微软雅黑" pitchFamily="34" charset="-122"/>
                <a:ea typeface="微软雅黑" pitchFamily="34" charset="-122"/>
              </a:rPr>
              <a:t>   若ｆ＝１２３．４５６，则：</a:t>
            </a:r>
          </a:p>
          <a:p>
            <a:pPr eaLnBrk="1" hangingPunct="1"/>
            <a:r>
              <a:rPr lang="en-US" altLang="zh-CN" sz="2400" b="1">
                <a:latin typeface="微软雅黑" pitchFamily="34" charset="-122"/>
                <a:ea typeface="微软雅黑" pitchFamily="34" charset="-122"/>
              </a:rPr>
              <a:t>printf("%e  %10e  %10.2e  %.2e  %-10.2e"</a:t>
            </a:r>
            <a:r>
              <a:rPr lang="zh-CN" altLang="en-US" sz="2400" b="1">
                <a:latin typeface="微软雅黑" pitchFamily="34" charset="-122"/>
                <a:ea typeface="微软雅黑" pitchFamily="34" charset="-122"/>
              </a:rPr>
              <a:t>，</a:t>
            </a:r>
            <a:r>
              <a:rPr lang="en-US" altLang="zh-CN" sz="2400" b="1">
                <a:latin typeface="微软雅黑" pitchFamily="34" charset="-122"/>
                <a:ea typeface="微软雅黑" pitchFamily="34" charset="-122"/>
              </a:rPr>
              <a:t>f</a:t>
            </a:r>
            <a:r>
              <a:rPr lang="zh-CN" altLang="en-US" sz="2400" b="1">
                <a:latin typeface="微软雅黑" pitchFamily="34" charset="-122"/>
                <a:ea typeface="微软雅黑" pitchFamily="34" charset="-122"/>
              </a:rPr>
              <a:t>，</a:t>
            </a:r>
            <a:r>
              <a:rPr lang="en-US" altLang="zh-CN" sz="2400" b="1">
                <a:latin typeface="微软雅黑" pitchFamily="34" charset="-122"/>
                <a:ea typeface="微软雅黑" pitchFamily="34" charset="-122"/>
              </a:rPr>
              <a:t>f</a:t>
            </a:r>
            <a:r>
              <a:rPr lang="zh-CN" altLang="en-US" sz="2400" b="1">
                <a:latin typeface="微软雅黑" pitchFamily="34" charset="-122"/>
                <a:ea typeface="微软雅黑" pitchFamily="34" charset="-122"/>
              </a:rPr>
              <a:t>，</a:t>
            </a:r>
            <a:r>
              <a:rPr lang="en-US" altLang="zh-CN" sz="2400" b="1">
                <a:latin typeface="微软雅黑" pitchFamily="34" charset="-122"/>
                <a:ea typeface="微软雅黑" pitchFamily="34" charset="-122"/>
              </a:rPr>
              <a:t>f</a:t>
            </a:r>
            <a:r>
              <a:rPr lang="zh-CN" altLang="en-US" sz="2400" b="1">
                <a:latin typeface="微软雅黑" pitchFamily="34" charset="-122"/>
                <a:ea typeface="微软雅黑" pitchFamily="34" charset="-122"/>
              </a:rPr>
              <a:t>，</a:t>
            </a:r>
            <a:r>
              <a:rPr lang="en-US" altLang="zh-CN" sz="2400" b="1">
                <a:latin typeface="微软雅黑" pitchFamily="34" charset="-122"/>
                <a:ea typeface="微软雅黑" pitchFamily="34" charset="-122"/>
              </a:rPr>
              <a:t>f</a:t>
            </a:r>
            <a:r>
              <a:rPr lang="zh-CN" altLang="en-US" sz="2400" b="1">
                <a:latin typeface="微软雅黑" pitchFamily="34" charset="-122"/>
                <a:ea typeface="微软雅黑" pitchFamily="34" charset="-122"/>
              </a:rPr>
              <a:t>，</a:t>
            </a:r>
            <a:r>
              <a:rPr lang="en-US" altLang="zh-CN" sz="2400" b="1">
                <a:latin typeface="微软雅黑" pitchFamily="34" charset="-122"/>
                <a:ea typeface="微软雅黑" pitchFamily="34" charset="-122"/>
              </a:rPr>
              <a:t>f); </a:t>
            </a:r>
          </a:p>
          <a:p>
            <a:pPr eaLnBrk="1" hangingPunct="1"/>
            <a:r>
              <a:rPr lang="zh-CN" altLang="en-US" sz="2400" b="1">
                <a:latin typeface="微软雅黑" pitchFamily="34" charset="-122"/>
                <a:ea typeface="微软雅黑" pitchFamily="34" charset="-122"/>
              </a:rPr>
              <a:t>输出如下：</a:t>
            </a:r>
            <a:endParaRPr lang="zh-CN" altLang="en-US" sz="2400" b="1" u="sng">
              <a:latin typeface="微软雅黑" pitchFamily="34" charset="-122"/>
              <a:ea typeface="微软雅黑" pitchFamily="34" charset="-122"/>
            </a:endParaRPr>
          </a:p>
          <a:p>
            <a:pPr eaLnBrk="1" hangingPunct="1"/>
            <a:r>
              <a:rPr lang="en-US" altLang="zh-CN" sz="2400" b="1" u="sng">
                <a:latin typeface="微软雅黑" pitchFamily="34" charset="-122"/>
                <a:ea typeface="微软雅黑" pitchFamily="34" charset="-122"/>
              </a:rPr>
              <a:t>1.234560e+002</a:t>
            </a:r>
            <a:r>
              <a:rPr lang="en-US" altLang="zh-CN" sz="2400" b="1">
                <a:latin typeface="微软雅黑" pitchFamily="34" charset="-122"/>
                <a:ea typeface="微软雅黑" pitchFamily="34" charset="-122"/>
              </a:rPr>
              <a:t>  </a:t>
            </a:r>
            <a:r>
              <a:rPr lang="en-US" altLang="zh-CN" sz="2400" b="1" u="sng">
                <a:latin typeface="微软雅黑" pitchFamily="34" charset="-122"/>
                <a:ea typeface="微软雅黑" pitchFamily="34" charset="-122"/>
              </a:rPr>
              <a:t>1.234560e+002</a:t>
            </a:r>
            <a:r>
              <a:rPr lang="en-US" altLang="zh-CN" sz="2400" b="1">
                <a:latin typeface="微软雅黑" pitchFamily="34" charset="-122"/>
                <a:ea typeface="微软雅黑" pitchFamily="34" charset="-122"/>
              </a:rPr>
              <a:t>  </a:t>
            </a:r>
            <a:r>
              <a:rPr lang="en-US" altLang="zh-CN" sz="2400" b="1" u="sng">
                <a:latin typeface="微软雅黑" pitchFamily="34" charset="-122"/>
                <a:ea typeface="微软雅黑" pitchFamily="34" charset="-122"/>
              </a:rPr>
              <a:t>1.23e+002</a:t>
            </a:r>
            <a:r>
              <a:rPr lang="en-US" altLang="zh-CN" sz="2400" b="1">
                <a:latin typeface="微软雅黑" pitchFamily="34" charset="-122"/>
                <a:ea typeface="微软雅黑" pitchFamily="34" charset="-122"/>
              </a:rPr>
              <a:t>  </a:t>
            </a:r>
            <a:r>
              <a:rPr lang="en-US" altLang="zh-CN" sz="2400" b="1" u="sng">
                <a:latin typeface="微软雅黑" pitchFamily="34" charset="-122"/>
                <a:ea typeface="微软雅黑" pitchFamily="34" charset="-122"/>
              </a:rPr>
              <a:t>1.23e+002</a:t>
            </a:r>
            <a:r>
              <a:rPr lang="en-US" altLang="zh-CN" sz="2400" b="1">
                <a:latin typeface="微软雅黑" pitchFamily="34" charset="-122"/>
                <a:ea typeface="微软雅黑" pitchFamily="34" charset="-122"/>
              </a:rPr>
              <a:t> </a:t>
            </a:r>
          </a:p>
          <a:p>
            <a:pPr eaLnBrk="1" hangingPunct="1"/>
            <a:r>
              <a:rPr lang="en-US" altLang="zh-CN" sz="2400" b="1">
                <a:latin typeface="微软雅黑" pitchFamily="34" charset="-122"/>
                <a:ea typeface="微软雅黑" pitchFamily="34" charset="-122"/>
              </a:rPr>
              <a:t>        13</a:t>
            </a:r>
            <a:r>
              <a:rPr lang="zh-CN" altLang="en-US" sz="2400" b="1">
                <a:latin typeface="微软雅黑" pitchFamily="34" charset="-122"/>
                <a:ea typeface="微软雅黑" pitchFamily="34" charset="-122"/>
              </a:rPr>
              <a:t>列                      </a:t>
            </a:r>
            <a:r>
              <a:rPr lang="en-US" altLang="zh-CN" sz="2400" b="1">
                <a:latin typeface="微软雅黑" pitchFamily="34" charset="-122"/>
                <a:ea typeface="微软雅黑" pitchFamily="34" charset="-122"/>
              </a:rPr>
              <a:t>13</a:t>
            </a:r>
            <a:r>
              <a:rPr lang="zh-CN" altLang="en-US" sz="2400" b="1">
                <a:latin typeface="微软雅黑" pitchFamily="34" charset="-122"/>
                <a:ea typeface="微软雅黑" pitchFamily="34" charset="-122"/>
              </a:rPr>
              <a:t>列                 </a:t>
            </a:r>
            <a:r>
              <a:rPr lang="en-US" altLang="zh-CN" sz="2400" b="1">
                <a:latin typeface="微软雅黑" pitchFamily="34" charset="-122"/>
                <a:ea typeface="微软雅黑" pitchFamily="34" charset="-122"/>
              </a:rPr>
              <a:t>10</a:t>
            </a:r>
            <a:r>
              <a:rPr lang="zh-CN" altLang="en-US" sz="2400" b="1">
                <a:latin typeface="微软雅黑" pitchFamily="34" charset="-122"/>
                <a:ea typeface="微软雅黑" pitchFamily="34" charset="-122"/>
              </a:rPr>
              <a:t>列           </a:t>
            </a:r>
            <a:r>
              <a:rPr lang="en-US" altLang="zh-CN" sz="2400" b="1">
                <a:latin typeface="微软雅黑" pitchFamily="34" charset="-122"/>
                <a:ea typeface="微软雅黑" pitchFamily="34" charset="-122"/>
              </a:rPr>
              <a:t>9</a:t>
            </a:r>
            <a:r>
              <a:rPr lang="zh-CN" altLang="en-US" sz="2400" b="1">
                <a:latin typeface="微软雅黑" pitchFamily="34" charset="-122"/>
                <a:ea typeface="微软雅黑" pitchFamily="34" charset="-122"/>
              </a:rPr>
              <a:t>列        </a:t>
            </a:r>
          </a:p>
          <a:p>
            <a:pPr eaLnBrk="1" hangingPunct="1"/>
            <a:r>
              <a:rPr lang="zh-CN" altLang="en-US" sz="2400" b="1" u="sng">
                <a:latin typeface="微软雅黑" pitchFamily="34" charset="-122"/>
                <a:ea typeface="微软雅黑" pitchFamily="34" charset="-122"/>
              </a:rPr>
              <a:t> </a:t>
            </a:r>
            <a:r>
              <a:rPr lang="en-US" altLang="zh-CN" sz="2400" b="1" u="sng">
                <a:latin typeface="微软雅黑" pitchFamily="34" charset="-122"/>
                <a:ea typeface="微软雅黑" pitchFamily="34" charset="-122"/>
              </a:rPr>
              <a:t>1.23e+002 </a:t>
            </a:r>
          </a:p>
          <a:p>
            <a:pPr eaLnBrk="1" hangingPunct="1"/>
            <a:r>
              <a:rPr lang="en-US" altLang="zh-CN" sz="2400" b="1">
                <a:latin typeface="微软雅黑" pitchFamily="34" charset="-122"/>
                <a:ea typeface="微软雅黑" pitchFamily="34" charset="-122"/>
              </a:rPr>
              <a:t>  10</a:t>
            </a:r>
            <a:r>
              <a:rPr lang="zh-CN" altLang="en-US" sz="2400" b="1">
                <a:latin typeface="微软雅黑" pitchFamily="34" charset="-122"/>
                <a:ea typeface="微软雅黑" pitchFamily="34" charset="-122"/>
              </a:rPr>
              <a:t>列</a:t>
            </a:r>
          </a:p>
          <a:p>
            <a:pPr eaLnBrk="1" hangingPunct="1"/>
            <a:endParaRPr lang="zh-CN" altLang="en-US" sz="2400" b="1">
              <a:latin typeface="微软雅黑" pitchFamily="34" charset="-122"/>
              <a:ea typeface="微软雅黑" pitchFamily="34" charset="-122"/>
            </a:endParaRPr>
          </a:p>
          <a:p>
            <a:pPr eaLnBrk="1" hangingPunct="1"/>
            <a:endParaRPr lang="zh-CN" altLang="en-US" sz="2400" b="1">
              <a:latin typeface="微软雅黑" pitchFamily="34" charset="-122"/>
              <a:ea typeface="微软雅黑" pitchFamily="34" charset="-122"/>
            </a:endParaRPr>
          </a:p>
          <a:p>
            <a:pPr eaLnBrk="1" hangingPunct="1"/>
            <a:endParaRPr lang="en-US" altLang="zh-CN" sz="2400" b="1">
              <a:latin typeface="微软雅黑" pitchFamily="34" charset="-122"/>
              <a:ea typeface="微软雅黑" pitchFamily="34" charset="-122"/>
            </a:endParaRPr>
          </a:p>
        </p:txBody>
      </p:sp>
      <p:sp>
        <p:nvSpPr>
          <p:cNvPr id="675845" name="Rectangle 5"/>
          <p:cNvSpPr>
            <a:spLocks noChangeArrowheads="1"/>
          </p:cNvSpPr>
          <p:nvPr/>
        </p:nvSpPr>
        <p:spPr bwMode="auto">
          <a:xfrm>
            <a:off x="0" y="4381500"/>
            <a:ext cx="9296400" cy="2476500"/>
          </a:xfrm>
          <a:prstGeom prst="rect">
            <a:avLst/>
          </a:prstGeom>
          <a:solidFill>
            <a:srgbClr val="FFFFCC"/>
          </a:solidFill>
          <a:ln w="12700">
            <a:solidFill>
              <a:schemeClr val="tx1"/>
            </a:solidFill>
            <a:miter lim="800000"/>
            <a:headEnd/>
            <a:tailEnd/>
          </a:ln>
        </p:spPr>
        <p:txBody>
          <a:bodyPr wrap="none" anchor="ctr"/>
          <a:lstStyle/>
          <a:p>
            <a:pPr eaLnBrk="1" hangingPunct="1"/>
            <a:r>
              <a:rPr lang="zh-CN" altLang="en-US" sz="2400" b="1">
                <a:latin typeface="微软雅黑" pitchFamily="34" charset="-122"/>
                <a:ea typeface="微软雅黑" pitchFamily="34" charset="-122"/>
              </a:rPr>
              <a:t>未指定ｎ，自动使ｎ＝６</a:t>
            </a:r>
            <a:r>
              <a:rPr lang="en-US" altLang="zh-CN" sz="2400" b="1">
                <a:latin typeface="微软雅黑" pitchFamily="34" charset="-122"/>
                <a:ea typeface="微软雅黑" pitchFamily="34" charset="-122"/>
              </a:rPr>
              <a:t>.</a:t>
            </a:r>
          </a:p>
          <a:p>
            <a:pPr eaLnBrk="1" hangingPunct="1"/>
            <a:r>
              <a:rPr lang="zh-CN" altLang="en-US" sz="2400" b="1">
                <a:latin typeface="微软雅黑" pitchFamily="34" charset="-122"/>
                <a:ea typeface="微软雅黑" pitchFamily="34" charset="-122"/>
              </a:rPr>
              <a:t>超过给定的１０列，按实际长度输出。</a:t>
            </a:r>
          </a:p>
          <a:p>
            <a:pPr eaLnBrk="1" hangingPunct="1"/>
            <a:r>
              <a:rPr lang="zh-CN" altLang="en-US" sz="2400" b="1">
                <a:latin typeface="微软雅黑" pitchFamily="34" charset="-122"/>
                <a:ea typeface="微软雅黑" pitchFamily="34" charset="-122"/>
              </a:rPr>
              <a:t>第</a:t>
            </a:r>
            <a:r>
              <a:rPr lang="en-US" altLang="zh-CN" sz="2400" b="1">
                <a:latin typeface="微软雅黑" pitchFamily="34" charset="-122"/>
                <a:ea typeface="微软雅黑" pitchFamily="34" charset="-122"/>
              </a:rPr>
              <a:t>3</a:t>
            </a:r>
            <a:r>
              <a:rPr lang="zh-CN" altLang="en-US" sz="2400" b="1">
                <a:latin typeface="微软雅黑" pitchFamily="34" charset="-122"/>
                <a:ea typeface="微软雅黑" pitchFamily="34" charset="-122"/>
              </a:rPr>
              <a:t>个数据共占１０列，小数部分占２列。</a:t>
            </a:r>
          </a:p>
          <a:p>
            <a:pPr eaLnBrk="1" hangingPunct="1"/>
            <a:r>
              <a:rPr lang="zh-CN" altLang="en-US" sz="2400" b="1">
                <a:latin typeface="微软雅黑" pitchFamily="34" charset="-122"/>
                <a:ea typeface="微软雅黑" pitchFamily="34" charset="-122"/>
              </a:rPr>
              <a:t>只指定ｎ＝２，未指定ｍ，自动使ｍ等于数据应占的长度。</a:t>
            </a:r>
          </a:p>
          <a:p>
            <a:pPr eaLnBrk="1" hangingPunct="1"/>
            <a:r>
              <a:rPr lang="zh-CN" altLang="en-US" sz="2400" b="1">
                <a:latin typeface="微软雅黑" pitchFamily="34" charset="-122"/>
                <a:ea typeface="微软雅黑" pitchFamily="34" charset="-122"/>
              </a:rPr>
              <a:t>第</a:t>
            </a:r>
            <a:r>
              <a:rPr lang="en-US" altLang="zh-CN" sz="2400" b="1">
                <a:latin typeface="微软雅黑" pitchFamily="34" charset="-122"/>
                <a:ea typeface="微软雅黑" pitchFamily="34" charset="-122"/>
              </a:rPr>
              <a:t>5</a:t>
            </a:r>
            <a:r>
              <a:rPr lang="zh-CN" altLang="en-US" sz="2400" b="1">
                <a:latin typeface="微软雅黑" pitchFamily="34" charset="-122"/>
                <a:ea typeface="微软雅黑" pitchFamily="34" charset="-122"/>
              </a:rPr>
              <a:t>个数据应占１０列，数值只有９列，由于是“％－１０．２ｅ”，</a:t>
            </a:r>
          </a:p>
          <a:p>
            <a:pPr eaLnBrk="1" hangingPunct="1"/>
            <a:r>
              <a:rPr lang="zh-CN" altLang="en-US" sz="2400" b="1">
                <a:latin typeface="微软雅黑" pitchFamily="34" charset="-122"/>
                <a:ea typeface="微软雅黑" pitchFamily="34" charset="-122"/>
              </a:rPr>
              <a:t>数值向左靠，右补一个空格。</a:t>
            </a:r>
          </a:p>
        </p:txBody>
      </p:sp>
      <p:sp>
        <p:nvSpPr>
          <p:cNvPr id="5" name="Rectangle 4"/>
          <p:cNvSpPr>
            <a:spLocks noChangeArrowheads="1"/>
          </p:cNvSpPr>
          <p:nvPr/>
        </p:nvSpPr>
        <p:spPr bwMode="auto">
          <a:xfrm>
            <a:off x="0" y="609600"/>
            <a:ext cx="47147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基本输入输出函数</a:t>
            </a:r>
          </a:p>
        </p:txBody>
      </p:sp>
    </p:spTree>
    <p:extLst>
      <p:ext uri="{BB962C8B-B14F-4D97-AF65-F5344CB8AC3E}">
        <p14:creationId xmlns:p14="http://schemas.microsoft.com/office/powerpoint/2010/main" val="11256995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75844"/>
                                        </p:tgtEl>
                                        <p:attrNameLst>
                                          <p:attrName>style.visibility</p:attrName>
                                        </p:attrNameLst>
                                      </p:cBhvr>
                                      <p:to>
                                        <p:strVal val="visible"/>
                                      </p:to>
                                    </p:set>
                                    <p:anim calcmode="lin" valueType="num">
                                      <p:cBhvr additive="base">
                                        <p:cTn id="7" dur="500" fill="hold"/>
                                        <p:tgtEl>
                                          <p:spTgt spid="675844"/>
                                        </p:tgtEl>
                                        <p:attrNameLst>
                                          <p:attrName>ppt_x</p:attrName>
                                        </p:attrNameLst>
                                      </p:cBhvr>
                                      <p:tavLst>
                                        <p:tav tm="0">
                                          <p:val>
                                            <p:strVal val="#ppt_x"/>
                                          </p:val>
                                        </p:tav>
                                        <p:tav tm="100000">
                                          <p:val>
                                            <p:strVal val="#ppt_x"/>
                                          </p:val>
                                        </p:tav>
                                      </p:tavLst>
                                    </p:anim>
                                    <p:anim calcmode="lin" valueType="num">
                                      <p:cBhvr additive="base">
                                        <p:cTn id="8" dur="500" fill="hold"/>
                                        <p:tgtEl>
                                          <p:spTgt spid="67584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675845"/>
                                        </p:tgtEl>
                                        <p:attrNameLst>
                                          <p:attrName>style.visibility</p:attrName>
                                        </p:attrNameLst>
                                      </p:cBhvr>
                                      <p:to>
                                        <p:strVal val="visible"/>
                                      </p:to>
                                    </p:set>
                                    <p:animEffect transition="in" filter="blinds(horizontal)">
                                      <p:cBhvr>
                                        <p:cTn id="13" dur="500"/>
                                        <p:tgtEl>
                                          <p:spTgt spid="675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44" grpId="0"/>
      <p:bldP spid="67584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8" name="Rectangle 4"/>
          <p:cNvSpPr>
            <a:spLocks noChangeArrowheads="1"/>
          </p:cNvSpPr>
          <p:nvPr/>
        </p:nvSpPr>
        <p:spPr bwMode="auto">
          <a:xfrm>
            <a:off x="0" y="1169988"/>
            <a:ext cx="8964613"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1" hangingPunct="1"/>
            <a:r>
              <a:rPr lang="zh-CN" altLang="en-US" sz="2800" b="1">
                <a:solidFill>
                  <a:srgbClr val="C00000"/>
                </a:solidFill>
                <a:latin typeface="微软雅黑" pitchFamily="34" charset="-122"/>
                <a:ea typeface="微软雅黑" pitchFamily="34" charset="-122"/>
              </a:rPr>
              <a:t>ｇ格式符，用来输出实数</a:t>
            </a:r>
            <a:r>
              <a:rPr lang="en-US" altLang="zh-CN" sz="2800" b="1">
                <a:solidFill>
                  <a:srgbClr val="C00000"/>
                </a:solidFill>
                <a:latin typeface="微软雅黑" pitchFamily="34" charset="-122"/>
                <a:ea typeface="微软雅黑" pitchFamily="34" charset="-122"/>
              </a:rPr>
              <a:t>.</a:t>
            </a:r>
          </a:p>
          <a:p>
            <a:pPr eaLnBrk="1" hangingPunct="1"/>
            <a:r>
              <a:rPr lang="en-US" altLang="zh-CN" sz="2400" b="1">
                <a:latin typeface="微软雅黑" pitchFamily="34" charset="-122"/>
                <a:ea typeface="微软雅黑" pitchFamily="34" charset="-122"/>
              </a:rPr>
              <a:t>  </a:t>
            </a:r>
            <a:r>
              <a:rPr lang="zh-CN" altLang="en-US" sz="2400" b="1">
                <a:latin typeface="微软雅黑" pitchFamily="34" charset="-122"/>
                <a:ea typeface="微软雅黑" pitchFamily="34" charset="-122"/>
              </a:rPr>
              <a:t>它根据数值的大小，自动选ｆ格式或ｅ格式（选择输出时占宽度</a:t>
            </a:r>
          </a:p>
          <a:p>
            <a:pPr eaLnBrk="1" hangingPunct="1"/>
            <a:r>
              <a:rPr lang="zh-CN" altLang="en-US" sz="2400" b="1">
                <a:latin typeface="微软雅黑" pitchFamily="34" charset="-122"/>
                <a:ea typeface="微软雅黑" pitchFamily="34" charset="-122"/>
              </a:rPr>
              <a:t>较小的一种），且不输出无意义的零。</a:t>
            </a:r>
          </a:p>
          <a:p>
            <a:pPr eaLnBrk="1" hangingPunct="1"/>
            <a:r>
              <a:rPr lang="zh-CN" altLang="en-US" sz="2400" b="1">
                <a:solidFill>
                  <a:srgbClr val="CC0000"/>
                </a:solidFill>
                <a:latin typeface="微软雅黑" pitchFamily="34" charset="-122"/>
                <a:ea typeface="微软雅黑" pitchFamily="34" charset="-122"/>
              </a:rPr>
              <a:t>例</a:t>
            </a:r>
            <a:r>
              <a:rPr lang="en-US" altLang="zh-CN" sz="2400" b="1">
                <a:solidFill>
                  <a:srgbClr val="CC0000"/>
                </a:solidFill>
                <a:latin typeface="微软雅黑" pitchFamily="34" charset="-122"/>
                <a:ea typeface="微软雅黑" pitchFamily="34" charset="-122"/>
              </a:rPr>
              <a:t>:</a:t>
            </a:r>
            <a:r>
              <a:rPr lang="zh-CN" altLang="en-US" sz="2400" b="1">
                <a:latin typeface="微软雅黑" pitchFamily="34" charset="-122"/>
                <a:ea typeface="微软雅黑" pitchFamily="34" charset="-122"/>
              </a:rPr>
              <a:t>若ｆ＝１２３．４６８，则</a:t>
            </a:r>
          </a:p>
          <a:p>
            <a:pPr eaLnBrk="1" hangingPunct="1"/>
            <a:r>
              <a:rPr lang="zh-CN" altLang="en-US" sz="2400" b="1">
                <a:latin typeface="微软雅黑" pitchFamily="34" charset="-122"/>
                <a:ea typeface="微软雅黑" pitchFamily="34" charset="-122"/>
              </a:rPr>
              <a:t>ｐｒｉｎｔｆ（</a:t>
            </a:r>
            <a:r>
              <a:rPr lang="en-US" altLang="zh-CN" sz="2400" b="1">
                <a:latin typeface="微软雅黑" pitchFamily="34" charset="-122"/>
                <a:ea typeface="微软雅黑" pitchFamily="34" charset="-122"/>
              </a:rPr>
              <a:t>″</a:t>
            </a:r>
            <a:r>
              <a:rPr lang="zh-CN" altLang="en-US" sz="2400" b="1">
                <a:latin typeface="微软雅黑" pitchFamily="34" charset="-122"/>
                <a:ea typeface="微软雅黑" pitchFamily="34" charset="-122"/>
              </a:rPr>
              <a:t>％ｆ   ％ｅ   ％ｇ</a:t>
            </a:r>
            <a:r>
              <a:rPr lang="en-US" altLang="zh-CN" sz="2400" b="1">
                <a:latin typeface="微软雅黑" pitchFamily="34" charset="-122"/>
                <a:ea typeface="微软雅黑" pitchFamily="34" charset="-122"/>
              </a:rPr>
              <a:t>″</a:t>
            </a:r>
            <a:r>
              <a:rPr lang="zh-CN" altLang="en-US" sz="2400" b="1">
                <a:latin typeface="微软雅黑" pitchFamily="34" charset="-122"/>
                <a:ea typeface="微软雅黑" pitchFamily="34" charset="-122"/>
              </a:rPr>
              <a:t>，ｆ，ｆ，ｆ）；</a:t>
            </a:r>
          </a:p>
          <a:p>
            <a:pPr eaLnBrk="1" hangingPunct="1"/>
            <a:r>
              <a:rPr lang="zh-CN" altLang="en-US" sz="2400" b="1">
                <a:latin typeface="微软雅黑" pitchFamily="34" charset="-122"/>
                <a:ea typeface="微软雅黑" pitchFamily="34" charset="-122"/>
              </a:rPr>
              <a:t>输出如下：</a:t>
            </a:r>
            <a:endParaRPr lang="zh-CN" altLang="en-US" sz="2400" b="1" u="sng">
              <a:latin typeface="微软雅黑" pitchFamily="34" charset="-122"/>
              <a:ea typeface="微软雅黑" pitchFamily="34" charset="-122"/>
            </a:endParaRPr>
          </a:p>
          <a:p>
            <a:pPr eaLnBrk="1" hangingPunct="1"/>
            <a:r>
              <a:rPr lang="en-US" altLang="zh-CN" sz="2400" b="1" u="sng">
                <a:latin typeface="微软雅黑" pitchFamily="34" charset="-122"/>
                <a:ea typeface="微软雅黑" pitchFamily="34" charset="-122"/>
              </a:rPr>
              <a:t>123.468000</a:t>
            </a:r>
            <a:r>
              <a:rPr lang="en-US" altLang="zh-CN" sz="2400" b="1">
                <a:latin typeface="微软雅黑" pitchFamily="34" charset="-122"/>
                <a:ea typeface="微软雅黑" pitchFamily="34" charset="-122"/>
              </a:rPr>
              <a:t>  </a:t>
            </a:r>
            <a:r>
              <a:rPr lang="en-US" altLang="zh-CN" sz="2400" b="1" u="sng">
                <a:latin typeface="微软雅黑" pitchFamily="34" charset="-122"/>
                <a:ea typeface="微软雅黑" pitchFamily="34" charset="-122"/>
              </a:rPr>
              <a:t>1.234680e+002</a:t>
            </a:r>
            <a:r>
              <a:rPr lang="en-US" altLang="zh-CN" sz="2400" b="1">
                <a:latin typeface="微软雅黑" pitchFamily="34" charset="-122"/>
                <a:ea typeface="微软雅黑" pitchFamily="34" charset="-122"/>
              </a:rPr>
              <a:t>  </a:t>
            </a:r>
            <a:r>
              <a:rPr lang="en-US" altLang="zh-CN" sz="2400" b="1" u="sng">
                <a:latin typeface="微软雅黑" pitchFamily="34" charset="-122"/>
                <a:ea typeface="微软雅黑" pitchFamily="34" charset="-122"/>
              </a:rPr>
              <a:t>123.468    </a:t>
            </a:r>
            <a:endParaRPr lang="en-US" altLang="zh-CN" sz="2400" b="1">
              <a:latin typeface="微软雅黑" pitchFamily="34" charset="-122"/>
              <a:ea typeface="微软雅黑" pitchFamily="34" charset="-122"/>
            </a:endParaRPr>
          </a:p>
          <a:p>
            <a:pPr eaLnBrk="1" hangingPunct="1"/>
            <a:r>
              <a:rPr lang="en-US" altLang="zh-CN" sz="2400" b="1">
                <a:latin typeface="微软雅黑" pitchFamily="34" charset="-122"/>
                <a:ea typeface="微软雅黑" pitchFamily="34" charset="-122"/>
              </a:rPr>
              <a:t>       10</a:t>
            </a:r>
            <a:r>
              <a:rPr lang="zh-CN" altLang="en-US" sz="2400" b="1">
                <a:latin typeface="微软雅黑" pitchFamily="34" charset="-122"/>
                <a:ea typeface="微软雅黑" pitchFamily="34" charset="-122"/>
              </a:rPr>
              <a:t>列                 </a:t>
            </a:r>
            <a:r>
              <a:rPr lang="en-US" altLang="zh-CN" sz="2400" b="1">
                <a:latin typeface="微软雅黑" pitchFamily="34" charset="-122"/>
                <a:ea typeface="微软雅黑" pitchFamily="34" charset="-122"/>
              </a:rPr>
              <a:t>13</a:t>
            </a:r>
            <a:r>
              <a:rPr lang="zh-CN" altLang="en-US" sz="2400" b="1">
                <a:latin typeface="微软雅黑" pitchFamily="34" charset="-122"/>
                <a:ea typeface="微软雅黑" pitchFamily="34" charset="-122"/>
              </a:rPr>
              <a:t>列               </a:t>
            </a:r>
            <a:r>
              <a:rPr lang="en-US" altLang="zh-CN" sz="2400" b="1">
                <a:latin typeface="微软雅黑" pitchFamily="34" charset="-122"/>
                <a:ea typeface="微软雅黑" pitchFamily="34" charset="-122"/>
              </a:rPr>
              <a:t>10</a:t>
            </a:r>
            <a:r>
              <a:rPr lang="zh-CN" altLang="en-US" sz="2400" b="1">
                <a:latin typeface="微软雅黑" pitchFamily="34" charset="-122"/>
                <a:ea typeface="微软雅黑" pitchFamily="34" charset="-122"/>
              </a:rPr>
              <a:t>列</a:t>
            </a:r>
          </a:p>
          <a:p>
            <a:pPr eaLnBrk="1" hangingPunct="1"/>
            <a:endParaRPr lang="zh-CN" altLang="en-US" sz="2400" b="1">
              <a:latin typeface="微软雅黑" pitchFamily="34" charset="-122"/>
              <a:ea typeface="微软雅黑" pitchFamily="34" charset="-122"/>
            </a:endParaRPr>
          </a:p>
          <a:p>
            <a:pPr eaLnBrk="1" hangingPunct="1"/>
            <a:endParaRPr lang="zh-CN" altLang="en-US" sz="2400" b="1">
              <a:latin typeface="微软雅黑" pitchFamily="34" charset="-122"/>
              <a:ea typeface="微软雅黑" pitchFamily="34" charset="-122"/>
            </a:endParaRPr>
          </a:p>
          <a:p>
            <a:pPr eaLnBrk="1" hangingPunct="1"/>
            <a:endParaRPr lang="zh-CN" altLang="en-US" sz="2400" b="1">
              <a:latin typeface="微软雅黑" pitchFamily="34" charset="-122"/>
              <a:ea typeface="微软雅黑" pitchFamily="34" charset="-122"/>
            </a:endParaRPr>
          </a:p>
          <a:p>
            <a:pPr eaLnBrk="1" hangingPunct="1"/>
            <a:endParaRPr lang="en-US" altLang="zh-CN" sz="2400" b="1">
              <a:latin typeface="微软雅黑" pitchFamily="34" charset="-122"/>
              <a:ea typeface="微软雅黑" pitchFamily="34" charset="-122"/>
            </a:endParaRPr>
          </a:p>
        </p:txBody>
      </p:sp>
      <p:sp>
        <p:nvSpPr>
          <p:cNvPr id="676869" name="Rectangle 5"/>
          <p:cNvSpPr>
            <a:spLocks noChangeArrowheads="1"/>
          </p:cNvSpPr>
          <p:nvPr/>
        </p:nvSpPr>
        <p:spPr bwMode="auto">
          <a:xfrm>
            <a:off x="15875" y="4432300"/>
            <a:ext cx="8639175" cy="2349500"/>
          </a:xfrm>
          <a:prstGeom prst="rect">
            <a:avLst/>
          </a:prstGeom>
          <a:solidFill>
            <a:srgbClr val="FFFFCC"/>
          </a:solidFill>
          <a:ln w="12700">
            <a:solidFill>
              <a:schemeClr val="tx1"/>
            </a:solidFill>
            <a:miter lim="800000"/>
            <a:headEnd/>
            <a:tailEnd/>
          </a:ln>
        </p:spPr>
        <p:txBody>
          <a:bodyPr wrap="none" anchor="ctr"/>
          <a:lstStyle/>
          <a:p>
            <a:pPr eaLnBrk="1" hangingPunct="1"/>
            <a:r>
              <a:rPr lang="zh-CN" altLang="en-US" sz="2400" u="sng">
                <a:solidFill>
                  <a:srgbClr val="CC0000"/>
                </a:solidFill>
                <a:latin typeface="微软雅黑" pitchFamily="34" charset="-122"/>
                <a:ea typeface="微软雅黑" pitchFamily="34" charset="-122"/>
              </a:rPr>
              <a:t>说明</a:t>
            </a:r>
            <a:r>
              <a:rPr lang="en-US" altLang="zh-CN" sz="2400" u="sng">
                <a:solidFill>
                  <a:srgbClr val="CC0000"/>
                </a:solidFill>
                <a:latin typeface="微软雅黑" pitchFamily="34" charset="-122"/>
                <a:ea typeface="微软雅黑" pitchFamily="34" charset="-122"/>
              </a:rPr>
              <a:t>:</a:t>
            </a:r>
          </a:p>
          <a:p>
            <a:pPr eaLnBrk="1" hangingPunct="1"/>
            <a:r>
              <a:rPr lang="zh-CN" altLang="zh-CN" sz="2400">
                <a:latin typeface="微软雅黑" pitchFamily="34" charset="-122"/>
                <a:ea typeface="微软雅黑" pitchFamily="34" charset="-122"/>
              </a:rPr>
              <a:t>用％ｆ格式输出占１０列，用％ｅ格式输出占１３列，用％ｇ</a:t>
            </a:r>
            <a:endParaRPr lang="zh-CN" altLang="en-US" sz="2400">
              <a:latin typeface="微软雅黑" pitchFamily="34" charset="-122"/>
              <a:ea typeface="微软雅黑" pitchFamily="34" charset="-122"/>
            </a:endParaRPr>
          </a:p>
          <a:p>
            <a:pPr eaLnBrk="1" hangingPunct="1"/>
            <a:r>
              <a:rPr lang="zh-CN" altLang="zh-CN" sz="2400">
                <a:latin typeface="微软雅黑" pitchFamily="34" charset="-122"/>
                <a:ea typeface="微软雅黑" pitchFamily="34" charset="-122"/>
              </a:rPr>
              <a:t>格式时，自动从上面两种格式中选择短者（今以％ｆ格式为短）</a:t>
            </a:r>
            <a:endParaRPr lang="zh-CN" altLang="en-US" sz="2400">
              <a:latin typeface="微软雅黑" pitchFamily="34" charset="-122"/>
              <a:ea typeface="微软雅黑" pitchFamily="34" charset="-122"/>
            </a:endParaRPr>
          </a:p>
          <a:p>
            <a:pPr eaLnBrk="1" hangingPunct="1"/>
            <a:r>
              <a:rPr lang="zh-CN" altLang="zh-CN" sz="2400">
                <a:latin typeface="微软雅黑" pitchFamily="34" charset="-122"/>
                <a:ea typeface="微软雅黑" pitchFamily="34" charset="-122"/>
              </a:rPr>
              <a:t>故占１０列，并按％ｆ格式用小数形式输出，最后</a:t>
            </a:r>
            <a:r>
              <a:rPr lang="en-US" altLang="zh-CN" sz="2400">
                <a:latin typeface="微软雅黑" pitchFamily="34" charset="-122"/>
                <a:ea typeface="微软雅黑" pitchFamily="34" charset="-122"/>
              </a:rPr>
              <a:t>3</a:t>
            </a:r>
            <a:r>
              <a:rPr lang="zh-CN" altLang="en-US" sz="2400">
                <a:latin typeface="微软雅黑" pitchFamily="34" charset="-122"/>
                <a:ea typeface="微软雅黑" pitchFamily="34" charset="-122"/>
              </a:rPr>
              <a:t>个小数位为</a:t>
            </a:r>
          </a:p>
          <a:p>
            <a:pPr eaLnBrk="1" hangingPunct="1"/>
            <a:r>
              <a:rPr lang="zh-CN" altLang="en-US" sz="2400">
                <a:latin typeface="微软雅黑" pitchFamily="34" charset="-122"/>
                <a:ea typeface="微软雅黑" pitchFamily="34" charset="-122"/>
              </a:rPr>
              <a:t>无意义的０，不输出，因此输出</a:t>
            </a:r>
            <a:r>
              <a:rPr lang="en-US" altLang="zh-CN" sz="2400">
                <a:latin typeface="微软雅黑" pitchFamily="34" charset="-122"/>
                <a:ea typeface="微软雅黑" pitchFamily="34" charset="-122"/>
              </a:rPr>
              <a:t>123.468</a:t>
            </a:r>
            <a:r>
              <a:rPr lang="zh-CN" altLang="en-US" sz="2400">
                <a:latin typeface="微软雅黑" pitchFamily="34" charset="-122"/>
                <a:ea typeface="微软雅黑" pitchFamily="34" charset="-122"/>
              </a:rPr>
              <a:t>，然后右补</a:t>
            </a:r>
            <a:r>
              <a:rPr lang="en-US" altLang="zh-CN" sz="2400">
                <a:latin typeface="微软雅黑" pitchFamily="34" charset="-122"/>
                <a:ea typeface="微软雅黑" pitchFamily="34" charset="-122"/>
              </a:rPr>
              <a:t>3</a:t>
            </a:r>
            <a:r>
              <a:rPr lang="zh-CN" altLang="en-US" sz="2400">
                <a:latin typeface="微软雅黑" pitchFamily="34" charset="-122"/>
                <a:ea typeface="微软雅黑" pitchFamily="34" charset="-122"/>
              </a:rPr>
              <a:t>个空格。</a:t>
            </a:r>
          </a:p>
          <a:p>
            <a:pPr eaLnBrk="1" hangingPunct="1"/>
            <a:r>
              <a:rPr lang="zh-CN" altLang="en-US" sz="2400">
                <a:latin typeface="微软雅黑" pitchFamily="34" charset="-122"/>
                <a:ea typeface="微软雅黑" pitchFamily="34" charset="-122"/>
              </a:rPr>
              <a:t>％ｇ格式用得较少。</a:t>
            </a:r>
          </a:p>
        </p:txBody>
      </p:sp>
      <p:sp>
        <p:nvSpPr>
          <p:cNvPr id="5" name="Rectangle 4"/>
          <p:cNvSpPr>
            <a:spLocks noChangeArrowheads="1"/>
          </p:cNvSpPr>
          <p:nvPr/>
        </p:nvSpPr>
        <p:spPr bwMode="auto">
          <a:xfrm>
            <a:off x="0" y="609600"/>
            <a:ext cx="47147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基本输入输出函数</a:t>
            </a:r>
          </a:p>
        </p:txBody>
      </p:sp>
    </p:spTree>
    <p:extLst>
      <p:ext uri="{BB962C8B-B14F-4D97-AF65-F5344CB8AC3E}">
        <p14:creationId xmlns:p14="http://schemas.microsoft.com/office/powerpoint/2010/main" val="3506626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76868"/>
                                        </p:tgtEl>
                                        <p:attrNameLst>
                                          <p:attrName>style.visibility</p:attrName>
                                        </p:attrNameLst>
                                      </p:cBhvr>
                                      <p:to>
                                        <p:strVal val="visible"/>
                                      </p:to>
                                    </p:set>
                                    <p:anim calcmode="lin" valueType="num">
                                      <p:cBhvr additive="base">
                                        <p:cTn id="7" dur="500" fill="hold"/>
                                        <p:tgtEl>
                                          <p:spTgt spid="676868"/>
                                        </p:tgtEl>
                                        <p:attrNameLst>
                                          <p:attrName>ppt_x</p:attrName>
                                        </p:attrNameLst>
                                      </p:cBhvr>
                                      <p:tavLst>
                                        <p:tav tm="0">
                                          <p:val>
                                            <p:strVal val="#ppt_x"/>
                                          </p:val>
                                        </p:tav>
                                        <p:tav tm="100000">
                                          <p:val>
                                            <p:strVal val="#ppt_x"/>
                                          </p:val>
                                        </p:tav>
                                      </p:tavLst>
                                    </p:anim>
                                    <p:anim calcmode="lin" valueType="num">
                                      <p:cBhvr additive="base">
                                        <p:cTn id="8" dur="500" fill="hold"/>
                                        <p:tgtEl>
                                          <p:spTgt spid="67686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676869"/>
                                        </p:tgtEl>
                                        <p:attrNameLst>
                                          <p:attrName>style.visibility</p:attrName>
                                        </p:attrNameLst>
                                      </p:cBhvr>
                                      <p:to>
                                        <p:strVal val="visible"/>
                                      </p:to>
                                    </p:set>
                                    <p:animEffect transition="in" filter="blinds(horizontal)">
                                      <p:cBhvr>
                                        <p:cTn id="13" dur="500"/>
                                        <p:tgtEl>
                                          <p:spTgt spid="6768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868" grpId="0"/>
      <p:bldP spid="67686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p:cNvSpPr>
            <a:spLocks noGrp="1" noChangeArrowheads="1"/>
          </p:cNvSpPr>
          <p:nvPr>
            <p:ph idx="1"/>
          </p:nvPr>
        </p:nvSpPr>
        <p:spPr>
          <a:xfrm>
            <a:off x="468313" y="1484313"/>
            <a:ext cx="8280400" cy="4246562"/>
          </a:xfrm>
          <a:solidFill>
            <a:srgbClr val="FFFFCC"/>
          </a:solidFill>
          <a:ln>
            <a:solidFill>
              <a:schemeClr val="tx1"/>
            </a:solidFill>
            <a:miter lim="800000"/>
            <a:headEnd/>
            <a:tailEnd/>
          </a:ln>
        </p:spPr>
        <p:txBody>
          <a:bodyPr/>
          <a:lstStyle/>
          <a:p>
            <a:pPr>
              <a:lnSpc>
                <a:spcPct val="90000"/>
              </a:lnSpc>
            </a:pPr>
            <a:r>
              <a:rPr lang="zh-CN" altLang="en-US" sz="2800">
                <a:latin typeface="微软雅黑" pitchFamily="34" charset="-122"/>
                <a:ea typeface="微软雅黑" pitchFamily="34" charset="-122"/>
              </a:rPr>
              <a:t>除了</a:t>
            </a:r>
            <a:r>
              <a:rPr lang="en-US" altLang="zh-CN" sz="2800">
                <a:latin typeface="微软雅黑" pitchFamily="34" charset="-122"/>
                <a:ea typeface="微软雅黑" pitchFamily="34" charset="-122"/>
              </a:rPr>
              <a:t>X</a:t>
            </a:r>
            <a:r>
              <a:rPr lang="zh-CN" altLang="en-US" sz="2800">
                <a:latin typeface="微软雅黑" pitchFamily="34" charset="-122"/>
                <a:ea typeface="微软雅黑" pitchFamily="34" charset="-122"/>
              </a:rPr>
              <a:t>，</a:t>
            </a:r>
            <a:r>
              <a:rPr lang="en-US" altLang="zh-CN" sz="2800">
                <a:latin typeface="微软雅黑" pitchFamily="34" charset="-122"/>
                <a:ea typeface="微软雅黑" pitchFamily="34" charset="-122"/>
              </a:rPr>
              <a:t>E</a:t>
            </a:r>
            <a:r>
              <a:rPr lang="zh-CN" altLang="en-US" sz="2800">
                <a:latin typeface="微软雅黑" pitchFamily="34" charset="-122"/>
                <a:ea typeface="微软雅黑" pitchFamily="34" charset="-122"/>
              </a:rPr>
              <a:t>，</a:t>
            </a:r>
            <a:r>
              <a:rPr lang="en-US" altLang="zh-CN" sz="2800">
                <a:latin typeface="微软雅黑" pitchFamily="34" charset="-122"/>
                <a:ea typeface="微软雅黑" pitchFamily="34" charset="-122"/>
              </a:rPr>
              <a:t>G</a:t>
            </a:r>
            <a:r>
              <a:rPr lang="zh-CN" altLang="en-US" sz="2800">
                <a:latin typeface="微软雅黑" pitchFamily="34" charset="-122"/>
                <a:ea typeface="微软雅黑" pitchFamily="34" charset="-122"/>
              </a:rPr>
              <a:t>外，其他各式字符必须用小写。</a:t>
            </a:r>
          </a:p>
          <a:p>
            <a:pPr>
              <a:lnSpc>
                <a:spcPct val="90000"/>
              </a:lnSpc>
            </a:pPr>
            <a:r>
              <a:rPr lang="zh-CN" altLang="en-US" sz="2800">
                <a:latin typeface="微软雅黑" pitchFamily="34" charset="-122"/>
                <a:ea typeface="微软雅黑" pitchFamily="34" charset="-122"/>
              </a:rPr>
              <a:t>可以在</a:t>
            </a:r>
            <a:r>
              <a:rPr lang="en-US" altLang="zh-CN" sz="2800">
                <a:latin typeface="微软雅黑" pitchFamily="34" charset="-122"/>
                <a:ea typeface="微软雅黑" pitchFamily="34" charset="-122"/>
              </a:rPr>
              <a:t>printf</a:t>
            </a:r>
            <a:r>
              <a:rPr lang="zh-CN" altLang="en-US" sz="2800">
                <a:latin typeface="微软雅黑" pitchFamily="34" charset="-122"/>
                <a:ea typeface="微软雅黑" pitchFamily="34" charset="-122"/>
              </a:rPr>
              <a:t>函数中的“格式控制”字符串中包含转义字符。</a:t>
            </a:r>
          </a:p>
          <a:p>
            <a:pPr>
              <a:lnSpc>
                <a:spcPct val="90000"/>
              </a:lnSpc>
            </a:pPr>
            <a:r>
              <a:rPr lang="zh-CN" altLang="en-US" sz="2800">
                <a:latin typeface="微软雅黑" pitchFamily="34" charset="-122"/>
                <a:ea typeface="微软雅黑" pitchFamily="34" charset="-122"/>
              </a:rPr>
              <a:t>一个格式说明必须以“</a:t>
            </a:r>
            <a:r>
              <a:rPr lang="en-US" altLang="zh-CN" sz="2800">
                <a:latin typeface="微软雅黑" pitchFamily="34" charset="-122"/>
                <a:ea typeface="微软雅黑" pitchFamily="34" charset="-122"/>
              </a:rPr>
              <a:t>%”</a:t>
            </a:r>
            <a:r>
              <a:rPr lang="zh-CN" altLang="en-US" sz="2800">
                <a:latin typeface="微软雅黑" pitchFamily="34" charset="-122"/>
                <a:ea typeface="微软雅黑" pitchFamily="34" charset="-122"/>
              </a:rPr>
              <a:t>开头，以</a:t>
            </a:r>
            <a:r>
              <a:rPr lang="en-US" altLang="zh-CN" sz="2800">
                <a:latin typeface="微软雅黑" pitchFamily="34" charset="-122"/>
                <a:ea typeface="微软雅黑" pitchFamily="34" charset="-122"/>
              </a:rPr>
              <a:t>9</a:t>
            </a:r>
            <a:r>
              <a:rPr lang="zh-CN" altLang="en-US" sz="2800">
                <a:latin typeface="微软雅黑" pitchFamily="34" charset="-122"/>
                <a:ea typeface="微软雅黑" pitchFamily="34" charset="-122"/>
              </a:rPr>
              <a:t>个格式字符之一为结束，中间可以插入附加格式字符。</a:t>
            </a:r>
          </a:p>
          <a:p>
            <a:pPr>
              <a:lnSpc>
                <a:spcPct val="90000"/>
              </a:lnSpc>
            </a:pPr>
            <a:r>
              <a:rPr lang="zh-CN" altLang="en-US" sz="2800" b="1">
                <a:solidFill>
                  <a:srgbClr val="C00000"/>
                </a:solidFill>
                <a:latin typeface="微软雅黑" pitchFamily="34" charset="-122"/>
                <a:ea typeface="微软雅黑" pitchFamily="34" charset="-122"/>
              </a:rPr>
              <a:t>想输出</a:t>
            </a:r>
            <a:r>
              <a:rPr lang="en-US" altLang="zh-CN" sz="2800" b="1">
                <a:solidFill>
                  <a:srgbClr val="C00000"/>
                </a:solidFill>
                <a:latin typeface="微软雅黑" pitchFamily="34" charset="-122"/>
                <a:ea typeface="微软雅黑" pitchFamily="34" charset="-122"/>
              </a:rPr>
              <a:t>%</a:t>
            </a:r>
            <a:r>
              <a:rPr lang="zh-CN" altLang="en-US" sz="2800" b="1">
                <a:solidFill>
                  <a:srgbClr val="C00000"/>
                </a:solidFill>
                <a:latin typeface="微软雅黑" pitchFamily="34" charset="-122"/>
                <a:ea typeface="微软雅黑" pitchFamily="34" charset="-122"/>
              </a:rPr>
              <a:t>，则应该在格式控制字符串中用连续两个</a:t>
            </a:r>
            <a:r>
              <a:rPr lang="en-US" altLang="zh-CN" sz="2800" b="1">
                <a:solidFill>
                  <a:srgbClr val="C00000"/>
                </a:solidFill>
                <a:latin typeface="微软雅黑" pitchFamily="34" charset="-122"/>
                <a:ea typeface="微软雅黑" pitchFamily="34" charset="-122"/>
              </a:rPr>
              <a:t>%</a:t>
            </a:r>
            <a:r>
              <a:rPr lang="zh-CN" altLang="en-US" sz="2800" b="1">
                <a:solidFill>
                  <a:srgbClr val="C00000"/>
                </a:solidFill>
                <a:latin typeface="微软雅黑" pitchFamily="34" charset="-122"/>
                <a:ea typeface="微软雅黑" pitchFamily="34" charset="-122"/>
              </a:rPr>
              <a:t>表示。</a:t>
            </a:r>
          </a:p>
        </p:txBody>
      </p:sp>
      <p:sp>
        <p:nvSpPr>
          <p:cNvPr id="4" name="Rectangle 4"/>
          <p:cNvSpPr>
            <a:spLocks noChangeArrowheads="1"/>
          </p:cNvSpPr>
          <p:nvPr/>
        </p:nvSpPr>
        <p:spPr bwMode="auto">
          <a:xfrm>
            <a:off x="0" y="609600"/>
            <a:ext cx="47147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基本输入输出函数</a:t>
            </a:r>
          </a:p>
        </p:txBody>
      </p:sp>
    </p:spTree>
    <p:extLst>
      <p:ext uri="{BB962C8B-B14F-4D97-AF65-F5344CB8AC3E}">
        <p14:creationId xmlns:p14="http://schemas.microsoft.com/office/powerpoint/2010/main" val="4636319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3"/>
          <p:cNvSpPr>
            <a:spLocks noGrp="1" noChangeArrowheads="1"/>
          </p:cNvSpPr>
          <p:nvPr>
            <p:ph type="body" sz="half" idx="1"/>
          </p:nvPr>
        </p:nvSpPr>
        <p:spPr>
          <a:xfrm>
            <a:off x="152400" y="1371600"/>
            <a:ext cx="8686800" cy="3121025"/>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基本语句</a:t>
            </a:r>
            <a:r>
              <a:rPr kumimoji="1" lang="zh-CN" altLang="en-US" sz="2400" b="1">
                <a:solidFill>
                  <a:schemeClr val="tx2"/>
                </a:solidFill>
                <a:latin typeface="Arial" pitchFamily="34" charset="0"/>
                <a:ea typeface="幼圆" pitchFamily="49" charset="-122"/>
              </a:rPr>
              <a:t>——</a:t>
            </a:r>
            <a:r>
              <a:rPr kumimoji="1" lang="zh-CN" altLang="en-US" sz="2400" b="1">
                <a:solidFill>
                  <a:schemeClr val="tx2"/>
                </a:solidFill>
                <a:latin typeface="幼圆" pitchFamily="49" charset="-122"/>
                <a:ea typeface="幼圆" pitchFamily="49" charset="-122"/>
              </a:rPr>
              <a:t>必须会</a:t>
            </a:r>
          </a:p>
          <a:p>
            <a:pPr marL="457200" lvl="1"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掌握正确的语法形式、控制流程、常见书写形式</a:t>
            </a:r>
          </a:p>
          <a:p>
            <a:pPr marL="457200" lvl="1"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if </a:t>
            </a:r>
            <a:r>
              <a:rPr kumimoji="1" lang="zh-CN" altLang="en-US" sz="2400" b="1">
                <a:solidFill>
                  <a:schemeClr val="tx2"/>
                </a:solidFill>
                <a:latin typeface="幼圆" pitchFamily="49" charset="-122"/>
                <a:ea typeface="幼圆" pitchFamily="49" charset="-122"/>
              </a:rPr>
              <a:t>和 </a:t>
            </a:r>
            <a:r>
              <a:rPr kumimoji="1" lang="en-US" altLang="zh-CN" sz="2400" b="1">
                <a:solidFill>
                  <a:schemeClr val="tx2"/>
                </a:solidFill>
                <a:latin typeface="幼圆" pitchFamily="49" charset="-122"/>
                <a:ea typeface="幼圆" pitchFamily="49" charset="-122"/>
              </a:rPr>
              <a:t>switch </a:t>
            </a:r>
            <a:r>
              <a:rPr kumimoji="1" lang="zh-CN" altLang="en-US" sz="2400" b="1">
                <a:solidFill>
                  <a:schemeClr val="tx2"/>
                </a:solidFill>
                <a:latin typeface="幼圆" pitchFamily="49" charset="-122"/>
                <a:ea typeface="幼圆" pitchFamily="49" charset="-122"/>
              </a:rPr>
              <a:t>语句</a:t>
            </a:r>
          </a:p>
          <a:p>
            <a:pPr marL="457200" lvl="1"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循环语句（</a:t>
            </a:r>
            <a:r>
              <a:rPr kumimoji="1" lang="en-US" altLang="zh-CN" sz="2400" b="1">
                <a:solidFill>
                  <a:schemeClr val="tx2"/>
                </a:solidFill>
                <a:latin typeface="幼圆" pitchFamily="49" charset="-122"/>
                <a:ea typeface="幼圆" pitchFamily="49" charset="-122"/>
              </a:rPr>
              <a:t>for、while、do-while）</a:t>
            </a:r>
          </a:p>
          <a:p>
            <a:pPr marL="457200" lvl="1"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break </a:t>
            </a:r>
            <a:r>
              <a:rPr kumimoji="1" lang="zh-CN" altLang="en-US" sz="2400" b="1">
                <a:solidFill>
                  <a:schemeClr val="tx2"/>
                </a:solidFill>
                <a:latin typeface="幼圆" pitchFamily="49" charset="-122"/>
                <a:ea typeface="幼圆" pitchFamily="49" charset="-122"/>
              </a:rPr>
              <a:t>和 </a:t>
            </a:r>
            <a:r>
              <a:rPr kumimoji="1" lang="en-US" altLang="zh-CN" sz="2400" b="1">
                <a:solidFill>
                  <a:schemeClr val="tx2"/>
                </a:solidFill>
                <a:latin typeface="幼圆" pitchFamily="49" charset="-122"/>
                <a:ea typeface="幼圆" pitchFamily="49" charset="-122"/>
              </a:rPr>
              <a:t>continue </a:t>
            </a:r>
            <a:r>
              <a:rPr kumimoji="1" lang="zh-CN" altLang="en-US" sz="2400" b="1">
                <a:solidFill>
                  <a:schemeClr val="tx2"/>
                </a:solidFill>
                <a:latin typeface="幼圆" pitchFamily="49" charset="-122"/>
                <a:ea typeface="幼圆" pitchFamily="49" charset="-122"/>
              </a:rPr>
              <a:t>语句</a:t>
            </a:r>
          </a:p>
          <a:p>
            <a:pPr marL="457200" lvl="1"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语句之间的嵌套关系和规定</a:t>
            </a:r>
          </a:p>
          <a:p>
            <a:pPr marL="457200" lvl="1"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最基本的多重循环程序的编写方法</a:t>
            </a:r>
          </a:p>
        </p:txBody>
      </p:sp>
      <p:sp>
        <p:nvSpPr>
          <p:cNvPr id="4" name="Rectangle 4"/>
          <p:cNvSpPr>
            <a:spLocks noChangeArrowheads="1"/>
          </p:cNvSpPr>
          <p:nvPr/>
        </p:nvSpPr>
        <p:spPr bwMode="auto">
          <a:xfrm>
            <a:off x="0" y="595968"/>
            <a:ext cx="1620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流程控制</a:t>
            </a:r>
          </a:p>
        </p:txBody>
      </p:sp>
    </p:spTree>
    <p:extLst>
      <p:ext uri="{BB962C8B-B14F-4D97-AF65-F5344CB8AC3E}">
        <p14:creationId xmlns:p14="http://schemas.microsoft.com/office/powerpoint/2010/main" val="1174892966"/>
      </p:ext>
    </p:extLst>
  </p:cSld>
  <p:clrMapOvr>
    <a:masterClrMapping/>
  </p:clrMapOvr>
  <p:transition>
    <p:wedge/>
  </p:transition>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Rectangle 3"/>
          <p:cNvSpPr>
            <a:spLocks noGrp="1" noChangeArrowheads="1"/>
          </p:cNvSpPr>
          <p:nvPr>
            <p:ph type="body" sz="half" idx="1"/>
          </p:nvPr>
        </p:nvSpPr>
        <p:spPr>
          <a:xfrm>
            <a:off x="152400" y="1371600"/>
            <a:ext cx="6400800" cy="4400550"/>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Marlett" pitchFamily="2" charset="2"/>
              </a:rPr>
              <a:t></a:t>
            </a:r>
            <a:r>
              <a:rPr kumimoji="1" lang="en-US" altLang="zh-CN" sz="2400" b="1">
                <a:solidFill>
                  <a:schemeClr val="tx2"/>
                </a:solidFill>
                <a:latin typeface="幼圆" pitchFamily="49" charset="-122"/>
                <a:ea typeface="幼圆" pitchFamily="49" charset="-122"/>
                <a:sym typeface="Marlett" pitchFamily="2" charset="2"/>
              </a:rPr>
              <a:t>if</a:t>
            </a:r>
            <a:r>
              <a:rPr kumimoji="1" lang="zh-CN" altLang="en-US" sz="2400" b="1">
                <a:solidFill>
                  <a:schemeClr val="tx2"/>
                </a:solidFill>
                <a:latin typeface="幼圆" pitchFamily="49" charset="-122"/>
                <a:ea typeface="幼圆" pitchFamily="49" charset="-122"/>
                <a:sym typeface="Marlett" pitchFamily="2" charset="2"/>
              </a:rPr>
              <a:t>语句</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if(p) s</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if(p) s1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else s2</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if(p1)  s1</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else if(p2)  s2</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else if(p3) s3</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else    s4</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p,p1,p2,p3</a:t>
            </a:r>
            <a:r>
              <a:rPr kumimoji="1" lang="zh-CN" altLang="en-US" sz="2400" b="1">
                <a:solidFill>
                  <a:schemeClr val="tx2"/>
                </a:solidFill>
                <a:latin typeface="幼圆" pitchFamily="49" charset="-122"/>
                <a:ea typeface="幼圆" pitchFamily="49" charset="-122"/>
              </a:rPr>
              <a:t>是任何表达式,</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非0为真,0为假.</a:t>
            </a:r>
          </a:p>
        </p:txBody>
      </p:sp>
      <p:sp>
        <p:nvSpPr>
          <p:cNvPr id="57347" name="Rectangle 4"/>
          <p:cNvSpPr>
            <a:spLocks noChangeArrowheads="1"/>
          </p:cNvSpPr>
          <p:nvPr/>
        </p:nvSpPr>
        <p:spPr bwMode="auto">
          <a:xfrm>
            <a:off x="0" y="533400"/>
            <a:ext cx="276389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--if</a:t>
            </a:r>
            <a:r>
              <a:rPr lang="zh-CN" altLang="en-US" sz="2800" b="1" kern="0" dirty="0">
                <a:solidFill>
                  <a:schemeClr val="bg1"/>
                </a:solidFill>
                <a:latin typeface="华文新魏" panose="02010800040101010101" pitchFamily="2" charset="-122"/>
                <a:ea typeface="华文新魏" panose="02010800040101010101" pitchFamily="2" charset="-122"/>
                <a:cs typeface="+mj-cs"/>
              </a:rPr>
              <a:t>语句</a:t>
            </a:r>
          </a:p>
        </p:txBody>
      </p:sp>
      <p:sp>
        <p:nvSpPr>
          <p:cNvPr id="4" name="Rectangle 10"/>
          <p:cNvSpPr>
            <a:spLocks noChangeArrowheads="1"/>
          </p:cNvSpPr>
          <p:nvPr/>
        </p:nvSpPr>
        <p:spPr bwMode="auto">
          <a:xfrm>
            <a:off x="4855029" y="1447800"/>
            <a:ext cx="3879057" cy="269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eaLnBrk="1" hangingPunct="1">
              <a:lnSpc>
                <a:spcPct val="115000"/>
              </a:lnSpc>
              <a:buSzPct val="70000"/>
              <a:buFont typeface="Wingdings" pitchFamily="2" charset="2"/>
              <a:buChar char="l"/>
            </a:pPr>
            <a:r>
              <a:rPr lang="zh-CN" altLang="en-US" sz="3600" b="1" dirty="0"/>
              <a:t>匹配规则：在嵌套的</a:t>
            </a:r>
            <a:r>
              <a:rPr lang="en-US" altLang="en-US" sz="3600" b="1" dirty="0"/>
              <a:t>if-else</a:t>
            </a:r>
            <a:r>
              <a:rPr lang="zh-CN" altLang="zh-CN" sz="3600" b="1" dirty="0"/>
              <a:t>语句</a:t>
            </a:r>
            <a:r>
              <a:rPr lang="zh-CN" altLang="en-US" sz="3600" b="1" dirty="0"/>
              <a:t>中，</a:t>
            </a:r>
            <a:r>
              <a:rPr lang="en-US" altLang="en-US" sz="3600" b="1" dirty="0"/>
              <a:t>else</a:t>
            </a:r>
            <a:r>
              <a:rPr lang="zh-CN" altLang="en-US" sz="3600" b="1" dirty="0"/>
              <a:t>子句总是与</a:t>
            </a:r>
            <a:r>
              <a:rPr lang="zh-CN" altLang="en-US" sz="3600" b="1" u="sng" dirty="0">
                <a:solidFill>
                  <a:srgbClr val="C00000"/>
                </a:solidFill>
              </a:rPr>
              <a:t>上面的</a:t>
            </a:r>
            <a:r>
              <a:rPr lang="zh-CN" altLang="en-US" sz="3600" b="1" dirty="0"/>
              <a:t>、</a:t>
            </a:r>
            <a:r>
              <a:rPr lang="zh-CN" altLang="en-US" sz="3600" b="1" u="sng" dirty="0">
                <a:solidFill>
                  <a:srgbClr val="C00000"/>
                </a:solidFill>
              </a:rPr>
              <a:t>离它最近的</a:t>
            </a:r>
            <a:r>
              <a:rPr lang="zh-CN" altLang="en-US" sz="3600" b="1" dirty="0"/>
              <a:t>、且</a:t>
            </a:r>
            <a:r>
              <a:rPr lang="zh-CN" altLang="en-US" sz="3600" b="1" u="sng" dirty="0">
                <a:solidFill>
                  <a:srgbClr val="C00000"/>
                </a:solidFill>
              </a:rPr>
              <a:t>在同一复合语句中还没有配对的</a:t>
            </a:r>
            <a:r>
              <a:rPr lang="en-US" altLang="en-US" sz="3600" b="1" dirty="0"/>
              <a:t>if</a:t>
            </a:r>
            <a:r>
              <a:rPr lang="zh-CN" altLang="zh-CN" sz="3600" b="1" dirty="0"/>
              <a:t>子</a:t>
            </a:r>
            <a:r>
              <a:rPr lang="zh-CN" altLang="en-US" sz="3600" b="1" dirty="0"/>
              <a:t>语配对。</a:t>
            </a:r>
          </a:p>
        </p:txBody>
      </p:sp>
    </p:spTree>
    <p:extLst>
      <p:ext uri="{BB962C8B-B14F-4D97-AF65-F5344CB8AC3E}">
        <p14:creationId xmlns:p14="http://schemas.microsoft.com/office/powerpoint/2010/main" val="490259472"/>
      </p:ext>
    </p:extLst>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3"/>
          <p:cNvSpPr>
            <a:spLocks noGrp="1" noChangeArrowheads="1"/>
          </p:cNvSpPr>
          <p:nvPr>
            <p:ph type="body" sz="half" idx="1"/>
          </p:nvPr>
        </p:nvSpPr>
        <p:spPr>
          <a:xfrm>
            <a:off x="0" y="1143000"/>
            <a:ext cx="9144000" cy="5337175"/>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x=0;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if(x</a:t>
            </a:r>
            <a:r>
              <a:rPr kumimoji="1" lang="en-US" altLang="zh-CN" sz="2400" b="1">
                <a:solidFill>
                  <a:srgbClr val="FF0000"/>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0) s1;s2;s3;        </a:t>
            </a:r>
            <a:r>
              <a:rPr kumimoji="1" lang="zh-CN" altLang="en-US" sz="2400" b="1">
                <a:solidFill>
                  <a:schemeClr val="tx2"/>
                </a:solidFill>
                <a:latin typeface="幼圆" pitchFamily="49" charset="-122"/>
                <a:ea typeface="幼圆" pitchFamily="49" charset="-122"/>
              </a:rPr>
              <a:t>执行</a:t>
            </a:r>
            <a:r>
              <a:rPr kumimoji="1" lang="en-US" altLang="zh-CN" sz="2400" b="1">
                <a:solidFill>
                  <a:schemeClr val="tx2"/>
                </a:solidFill>
                <a:latin typeface="幼圆" pitchFamily="49" charset="-122"/>
                <a:ea typeface="幼圆" pitchFamily="49" charset="-122"/>
              </a:rPr>
              <a:t>s2、s3</a:t>
            </a:r>
            <a:endParaRPr kumimoji="1" lang="zh-CN" altLang="en-US"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 x=0;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if(x</a:t>
            </a:r>
            <a:r>
              <a:rPr kumimoji="1" lang="en-US" altLang="zh-CN" sz="2400" b="1">
                <a:solidFill>
                  <a:srgbClr val="FF0000"/>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0) s1;s2;s3;</a:t>
            </a:r>
            <a:r>
              <a:rPr kumimoji="1" lang="zh-CN" altLang="en-US" sz="2400" b="1">
                <a:solidFill>
                  <a:schemeClr val="tx2"/>
                </a:solidFill>
                <a:latin typeface="幼圆" pitchFamily="49" charset="-122"/>
                <a:ea typeface="幼圆" pitchFamily="49" charset="-122"/>
              </a:rPr>
              <a:t> 执行</a:t>
            </a:r>
            <a:r>
              <a:rPr kumimoji="1" lang="en-US" altLang="zh-CN" sz="2400" b="1">
                <a:solidFill>
                  <a:schemeClr val="tx2"/>
                </a:solidFill>
                <a:latin typeface="幼圆" pitchFamily="49" charset="-122"/>
                <a:ea typeface="幼圆" pitchFamily="49" charset="-122"/>
              </a:rPr>
              <a:t>s1、s2、s3</a:t>
            </a:r>
            <a:endParaRPr kumimoji="1" lang="zh-CN" altLang="en-US"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 x=0;</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if(x</a:t>
            </a:r>
            <a:r>
              <a:rPr kumimoji="1" lang="en-US" altLang="zh-CN" sz="2400" b="1">
                <a:solidFill>
                  <a:srgbClr val="FF0000"/>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1)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s1;s2;s3;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执行</a:t>
            </a:r>
            <a:r>
              <a:rPr kumimoji="1" lang="en-US" altLang="zh-CN" sz="2400" b="1">
                <a:solidFill>
                  <a:schemeClr val="tx2"/>
                </a:solidFill>
                <a:latin typeface="幼圆" pitchFamily="49" charset="-122"/>
                <a:ea typeface="幼圆" pitchFamily="49" charset="-122"/>
              </a:rPr>
              <a:t>s1、s2、s3</a:t>
            </a:r>
            <a:endParaRPr kumimoji="1" lang="zh-CN" altLang="en-US"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 if(</a:t>
            </a:r>
            <a:r>
              <a:rPr kumimoji="1" lang="en-US" altLang="zh-CN" sz="2400" b="1">
                <a:solidFill>
                  <a:srgbClr val="FF0000"/>
                </a:solidFill>
                <a:latin typeface="幼圆" pitchFamily="49" charset="-122"/>
                <a:ea typeface="幼圆" pitchFamily="49" charset="-122"/>
              </a:rPr>
              <a:t>n</a:t>
            </a:r>
            <a:r>
              <a:rPr kumimoji="1" lang="en-US" altLang="zh-CN" sz="2400" b="1">
                <a:solidFill>
                  <a:schemeClr val="tx2"/>
                </a:solidFill>
                <a:latin typeface="幼圆" pitchFamily="49" charset="-122"/>
                <a:ea typeface="幼圆" pitchFamily="49" charset="-122"/>
              </a:rPr>
              <a:t>) s1;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其中</a:t>
            </a:r>
            <a:r>
              <a:rPr kumimoji="1" lang="en-US" altLang="zh-CN" sz="2400" b="1">
                <a:solidFill>
                  <a:schemeClr val="tx2"/>
                </a:solidFill>
                <a:latin typeface="幼圆" pitchFamily="49" charset="-122"/>
                <a:ea typeface="幼圆" pitchFamily="49" charset="-122"/>
              </a:rPr>
              <a:t>n</a:t>
            </a:r>
            <a:r>
              <a:rPr kumimoji="1" lang="zh-CN" altLang="en-US" sz="2400" b="1">
                <a:solidFill>
                  <a:schemeClr val="tx2"/>
                </a:solidFill>
                <a:latin typeface="幼圆" pitchFamily="49" charset="-122"/>
                <a:ea typeface="幼圆" pitchFamily="49" charset="-122"/>
              </a:rPr>
              <a:t>等价于：</a:t>
            </a:r>
            <a:r>
              <a:rPr kumimoji="1" lang="en-US" altLang="zh-CN" sz="2400" b="1">
                <a:solidFill>
                  <a:schemeClr val="tx2"/>
                </a:solidFill>
                <a:latin typeface="幼圆" pitchFamily="49" charset="-122"/>
                <a:ea typeface="幼圆" pitchFamily="49" charset="-122"/>
              </a:rPr>
              <a:t>n!=0</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if(</a:t>
            </a:r>
            <a:r>
              <a:rPr kumimoji="1" lang="en-US" altLang="zh-CN" sz="2400" b="1">
                <a:solidFill>
                  <a:srgbClr val="FF0000"/>
                </a:solidFill>
                <a:latin typeface="幼圆" pitchFamily="49" charset="-122"/>
                <a:ea typeface="幼圆" pitchFamily="49" charset="-122"/>
              </a:rPr>
              <a:t>!n</a:t>
            </a:r>
            <a:r>
              <a:rPr kumimoji="1" lang="en-US" altLang="zh-CN" sz="2400" b="1">
                <a:solidFill>
                  <a:schemeClr val="tx2"/>
                </a:solidFill>
                <a:latin typeface="幼圆" pitchFamily="49" charset="-122"/>
                <a:ea typeface="幼圆" pitchFamily="49" charset="-122"/>
              </a:rPr>
              <a:t>) s1;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其中!</a:t>
            </a:r>
            <a:r>
              <a:rPr kumimoji="1" lang="en-US" altLang="zh-CN" sz="2400" b="1">
                <a:solidFill>
                  <a:schemeClr val="tx2"/>
                </a:solidFill>
                <a:latin typeface="幼圆" pitchFamily="49" charset="-122"/>
                <a:ea typeface="幼圆" pitchFamily="49" charset="-122"/>
              </a:rPr>
              <a:t>n</a:t>
            </a:r>
            <a:r>
              <a:rPr kumimoji="1" lang="zh-CN" altLang="en-US" sz="2400" b="1">
                <a:solidFill>
                  <a:schemeClr val="tx2"/>
                </a:solidFill>
                <a:latin typeface="幼圆" pitchFamily="49" charset="-122"/>
                <a:ea typeface="幼圆" pitchFamily="49" charset="-122"/>
              </a:rPr>
              <a:t>等价于：!</a:t>
            </a:r>
            <a:r>
              <a:rPr kumimoji="1" lang="en-US" altLang="zh-CN" sz="2400" b="1">
                <a:solidFill>
                  <a:schemeClr val="tx2"/>
                </a:solidFill>
                <a:latin typeface="幼圆" pitchFamily="49" charset="-122"/>
                <a:ea typeface="幼圆" pitchFamily="49" charset="-122"/>
              </a:rPr>
              <a:t>n!=0</a:t>
            </a:r>
            <a:r>
              <a:rPr kumimoji="1" lang="zh-CN" altLang="en-US" sz="2400" b="1">
                <a:solidFill>
                  <a:schemeClr val="tx2"/>
                </a:solidFill>
                <a:latin typeface="幼圆" pitchFamily="49" charset="-122"/>
                <a:ea typeface="幼圆" pitchFamily="49" charset="-122"/>
              </a:rPr>
              <a:t>或 </a:t>
            </a:r>
            <a:r>
              <a:rPr kumimoji="1" lang="en-US" altLang="zh-CN" sz="2400" b="1">
                <a:solidFill>
                  <a:schemeClr val="tx2"/>
                </a:solidFill>
                <a:latin typeface="幼圆" pitchFamily="49" charset="-122"/>
                <a:ea typeface="幼圆" pitchFamily="49" charset="-122"/>
              </a:rPr>
              <a:t>n==0</a:t>
            </a:r>
            <a:endParaRPr kumimoji="1" lang="zh-CN" altLang="en-US" sz="2400" b="1">
              <a:solidFill>
                <a:schemeClr val="tx2"/>
              </a:solidFill>
              <a:latin typeface="幼圆" pitchFamily="49" charset="-122"/>
              <a:ea typeface="幼圆" pitchFamily="49" charset="-122"/>
            </a:endParaRPr>
          </a:p>
        </p:txBody>
      </p:sp>
      <p:sp>
        <p:nvSpPr>
          <p:cNvPr id="58371" name="Rectangle 4"/>
          <p:cNvSpPr>
            <a:spLocks noChangeArrowheads="1"/>
          </p:cNvSpPr>
          <p:nvPr/>
        </p:nvSpPr>
        <p:spPr bwMode="auto">
          <a:xfrm>
            <a:off x="0" y="533400"/>
            <a:ext cx="28520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--if </a:t>
            </a:r>
            <a:r>
              <a:rPr lang="zh-CN" altLang="en-US" sz="2800" b="1" kern="0" dirty="0">
                <a:solidFill>
                  <a:schemeClr val="bg1"/>
                </a:solidFill>
                <a:latin typeface="华文新魏" panose="02010800040101010101" pitchFamily="2" charset="-122"/>
                <a:ea typeface="华文新魏" panose="02010800040101010101" pitchFamily="2" charset="-122"/>
                <a:cs typeface="+mj-cs"/>
              </a:rPr>
              <a:t>语句</a:t>
            </a:r>
          </a:p>
        </p:txBody>
      </p:sp>
    </p:spTree>
    <p:extLst>
      <p:ext uri="{BB962C8B-B14F-4D97-AF65-F5344CB8AC3E}">
        <p14:creationId xmlns:p14="http://schemas.microsoft.com/office/powerpoint/2010/main" val="3747572034"/>
      </p:ext>
    </p:extLst>
  </p:cSld>
  <p:clrMapOvr>
    <a:masterClrMapping/>
  </p:clrMapOvr>
  <p:transition>
    <p:wedge/>
  </p:transition>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Rectangle 3"/>
          <p:cNvSpPr>
            <a:spLocks noGrp="1" noChangeArrowheads="1"/>
          </p:cNvSpPr>
          <p:nvPr>
            <p:ph type="body" sz="half" idx="1"/>
          </p:nvPr>
        </p:nvSpPr>
        <p:spPr>
          <a:xfrm>
            <a:off x="228600" y="1143000"/>
            <a:ext cx="8686800" cy="5276850"/>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Marlett" pitchFamily="2" charset="2"/>
              </a:rPr>
              <a:t></a:t>
            </a:r>
            <a:r>
              <a:rPr kumimoji="1" lang="en-US" altLang="zh-CN" sz="2400" b="1">
                <a:solidFill>
                  <a:schemeClr val="tx2"/>
                </a:solidFill>
                <a:latin typeface="幼圆" pitchFamily="49" charset="-122"/>
                <a:ea typeface="幼圆" pitchFamily="49" charset="-122"/>
              </a:rPr>
              <a:t>switch</a:t>
            </a:r>
            <a:r>
              <a:rPr kumimoji="1" lang="zh-CN" altLang="en-US" sz="2400" b="1">
                <a:solidFill>
                  <a:schemeClr val="tx2"/>
                </a:solidFill>
                <a:latin typeface="幼圆" pitchFamily="49" charset="-122"/>
                <a:ea typeface="幼圆" pitchFamily="49" charset="-122"/>
              </a:rPr>
              <a:t>语句</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switch(K)</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{case K1:  S1</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case K2:  S2</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case Kn:  Sn</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default: Sn+1;</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K   </a:t>
            </a:r>
            <a:r>
              <a:rPr kumimoji="1" lang="zh-CN" altLang="en-US" sz="2400" b="1">
                <a:solidFill>
                  <a:schemeClr val="tx2"/>
                </a:solidFill>
                <a:latin typeface="幼圆" pitchFamily="49" charset="-122"/>
                <a:ea typeface="幼圆" pitchFamily="49" charset="-122"/>
              </a:rPr>
              <a:t>整型或字符型表达式</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Ki   </a:t>
            </a:r>
            <a:r>
              <a:rPr kumimoji="1" lang="zh-CN" altLang="en-US" sz="2400" b="1">
                <a:solidFill>
                  <a:schemeClr val="tx2"/>
                </a:solidFill>
                <a:latin typeface="幼圆" pitchFamily="49" charset="-122"/>
                <a:ea typeface="幼圆" pitchFamily="49" charset="-122"/>
              </a:rPr>
              <a:t>整型或字符型常量表达式</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Si   </a:t>
            </a:r>
            <a:r>
              <a:rPr kumimoji="1" lang="zh-CN" altLang="en-US" sz="2400" b="1">
                <a:solidFill>
                  <a:schemeClr val="tx2"/>
                </a:solidFill>
                <a:latin typeface="幼圆" pitchFamily="49" charset="-122"/>
                <a:ea typeface="幼圆" pitchFamily="49" charset="-122"/>
              </a:rPr>
              <a:t>语句</a:t>
            </a:r>
          </a:p>
          <a:p>
            <a:pPr marL="0" indent="0" eaLnBrk="1" hangingPunct="1">
              <a:buClr>
                <a:schemeClr val="tx1"/>
              </a:buClr>
              <a:buSzPct val="60000"/>
              <a:buFont typeface="宋体" pitchFamily="2" charset="-122"/>
              <a:buNone/>
            </a:pPr>
            <a:endParaRPr kumimoji="1" lang="zh-CN" altLang="en-US" sz="2400" b="1">
              <a:solidFill>
                <a:schemeClr val="tx2"/>
              </a:solidFill>
              <a:latin typeface="幼圆" pitchFamily="49" charset="-122"/>
              <a:ea typeface="幼圆" pitchFamily="49" charset="-122"/>
            </a:endParaRPr>
          </a:p>
        </p:txBody>
      </p:sp>
      <p:sp>
        <p:nvSpPr>
          <p:cNvPr id="61443" name="Rectangle 4"/>
          <p:cNvSpPr>
            <a:spLocks noChangeArrowheads="1"/>
          </p:cNvSpPr>
          <p:nvPr/>
        </p:nvSpPr>
        <p:spPr bwMode="auto">
          <a:xfrm>
            <a:off x="0" y="533400"/>
            <a:ext cx="32784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开关语句</a:t>
            </a:r>
          </a:p>
        </p:txBody>
      </p:sp>
    </p:spTree>
    <p:extLst>
      <p:ext uri="{BB962C8B-B14F-4D97-AF65-F5344CB8AC3E}">
        <p14:creationId xmlns:p14="http://schemas.microsoft.com/office/powerpoint/2010/main" val="1057793369"/>
      </p:ext>
    </p:extLst>
  </p:cSld>
  <p:clrMapOvr>
    <a:masterClrMapping/>
  </p:clrMapOvr>
  <p:transition>
    <p:wedg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12"/>
          <p:cNvSpPr>
            <a:spLocks noChangeArrowheads="1"/>
          </p:cNvSpPr>
          <p:nvPr/>
        </p:nvSpPr>
        <p:spPr bwMode="gray">
          <a:xfrm>
            <a:off x="3779912" y="3164775"/>
            <a:ext cx="1080120" cy="1076524"/>
          </a:xfrm>
          <a:prstGeom prst="ellipse">
            <a:avLst/>
          </a:prstGeom>
          <a:solidFill>
            <a:schemeClr val="tx2">
              <a:lumMod val="20000"/>
              <a:lumOff val="80000"/>
            </a:schemeClr>
          </a:solidFill>
          <a:ln w="9525">
            <a:noFill/>
            <a:round/>
          </a:ln>
          <a:scene3d>
            <a:camera prst="orthographicFront"/>
            <a:lightRig rig="threePt" dir="t"/>
          </a:scene3d>
          <a:sp3d>
            <a:bevelT w="165100" prst="coolSlant"/>
          </a:sp3d>
        </p:spPr>
        <p:txBody>
          <a:bodyPr wrap="none" anchor="ctr"/>
          <a:lstStyle/>
          <a:p>
            <a:pPr eaLnBrk="1" hangingPunct="1">
              <a:defRPr/>
            </a:pPr>
            <a:endParaRPr lang="zh-CN" altLang="en-US">
              <a:latin typeface="微软雅黑" pitchFamily="34" charset="-122"/>
              <a:ea typeface="微软雅黑" pitchFamily="34" charset="-122"/>
            </a:endParaRPr>
          </a:p>
        </p:txBody>
      </p:sp>
      <p:sp>
        <p:nvSpPr>
          <p:cNvPr id="47" name="Oval 12"/>
          <p:cNvSpPr>
            <a:spLocks noChangeArrowheads="1"/>
          </p:cNvSpPr>
          <p:nvPr/>
        </p:nvSpPr>
        <p:spPr bwMode="gray">
          <a:xfrm>
            <a:off x="3203848" y="2516703"/>
            <a:ext cx="2367880" cy="2309044"/>
          </a:xfrm>
          <a:prstGeom prst="ellipse">
            <a:avLst/>
          </a:prstGeom>
          <a:solidFill>
            <a:schemeClr val="tx2">
              <a:lumMod val="20000"/>
              <a:lumOff val="80000"/>
            </a:schemeClr>
          </a:solidFill>
          <a:ln w="9525">
            <a:noFill/>
            <a:round/>
          </a:ln>
          <a:scene3d>
            <a:camera prst="orthographicFront"/>
            <a:lightRig rig="threePt" dir="t"/>
          </a:scene3d>
          <a:sp3d>
            <a:bevelT w="165100" prst="coolSlant"/>
          </a:sp3d>
        </p:spPr>
        <p:txBody>
          <a:bodyPr wrap="none" anchor="ctr"/>
          <a:lstStyle/>
          <a:p>
            <a:pPr eaLnBrk="1" hangingPunct="1">
              <a:defRPr/>
            </a:pPr>
            <a:endParaRPr lang="zh-CN" altLang="en-US">
              <a:latin typeface="微软雅黑" pitchFamily="34" charset="-122"/>
              <a:ea typeface="微软雅黑" pitchFamily="34" charset="-122"/>
            </a:endParaRPr>
          </a:p>
        </p:txBody>
      </p:sp>
      <p:sp>
        <p:nvSpPr>
          <p:cNvPr id="62472" name="矩形 2"/>
          <p:cNvSpPr>
            <a:spLocks noChangeArrowheads="1"/>
          </p:cNvSpPr>
          <p:nvPr/>
        </p:nvSpPr>
        <p:spPr bwMode="auto">
          <a:xfrm>
            <a:off x="3635375" y="3213100"/>
            <a:ext cx="12461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457200" indent="-457200" eaLnBrk="1" hangingPunct="1"/>
            <a:r>
              <a:rPr lang="zh-CN" altLang="en-US" sz="3600" b="1">
                <a:solidFill>
                  <a:srgbClr val="002060"/>
                </a:solidFill>
                <a:latin typeface="微软雅黑" pitchFamily="34" charset="-122"/>
                <a:ea typeface="微软雅黑" pitchFamily="34" charset="-122"/>
              </a:rPr>
              <a:t>说明 </a:t>
            </a:r>
          </a:p>
        </p:txBody>
      </p:sp>
      <p:grpSp>
        <p:nvGrpSpPr>
          <p:cNvPr id="2" name="Group 39"/>
          <p:cNvGrpSpPr/>
          <p:nvPr/>
        </p:nvGrpSpPr>
        <p:grpSpPr bwMode="auto">
          <a:xfrm>
            <a:off x="2915816" y="3020759"/>
            <a:ext cx="641350" cy="644525"/>
            <a:chOff x="2016" y="1920"/>
            <a:chExt cx="1680" cy="1680"/>
          </a:xfrm>
          <a:solidFill>
            <a:schemeClr val="accent6">
              <a:lumMod val="50000"/>
              <a:lumOff val="50000"/>
            </a:schemeClr>
          </a:solidFill>
        </p:grpSpPr>
        <p:sp>
          <p:nvSpPr>
            <p:cNvPr id="35" name="Oval 40"/>
            <p:cNvSpPr>
              <a:spLocks noChangeArrowheads="1"/>
            </p:cNvSpPr>
            <p:nvPr/>
          </p:nvSpPr>
          <p:spPr bwMode="gray">
            <a:xfrm>
              <a:off x="2016" y="1920"/>
              <a:ext cx="1680" cy="1680"/>
            </a:xfrm>
            <a:prstGeom prst="ellipse">
              <a:avLst/>
            </a:prstGeom>
            <a:grpFill/>
            <a:ln w="9525">
              <a:noFill/>
              <a:round/>
            </a:ln>
            <a:effectLst/>
          </p:spPr>
          <p:txBody>
            <a:bodyPr wrap="none" anchor="ctr"/>
            <a:lstStyle/>
            <a:p>
              <a:pPr eaLnBrk="1" hangingPunct="1">
                <a:defRPr/>
              </a:pPr>
              <a:endParaRPr lang="zh-CN" altLang="en-US">
                <a:latin typeface="微软雅黑" pitchFamily="34" charset="-122"/>
                <a:ea typeface="微软雅黑" pitchFamily="34" charset="-122"/>
              </a:endParaRPr>
            </a:p>
          </p:txBody>
        </p:sp>
        <p:sp>
          <p:nvSpPr>
            <p:cNvPr id="36" name="Freeform 41"/>
            <p:cNvSpPr/>
            <p:nvPr/>
          </p:nvSpPr>
          <p:spPr bwMode="gray">
            <a:xfrm>
              <a:off x="2208" y="1948"/>
              <a:ext cx="1296" cy="634"/>
            </a:xfrm>
            <a:custGeom>
              <a:avLst/>
              <a:gdLst>
                <a:gd name="T0" fmla="*/ 1228 w 1321"/>
                <a:gd name="T1" fmla="*/ 283 h 712"/>
                <a:gd name="T2" fmla="*/ 1244 w 1321"/>
                <a:gd name="T3" fmla="*/ 313 h 712"/>
                <a:gd name="T4" fmla="*/ 1247 w 1321"/>
                <a:gd name="T5" fmla="*/ 339 h 712"/>
                <a:gd name="T6" fmla="*/ 1242 w 1321"/>
                <a:gd name="T7" fmla="*/ 364 h 712"/>
                <a:gd name="T8" fmla="*/ 1225 w 1321"/>
                <a:gd name="T9" fmla="*/ 388 h 712"/>
                <a:gd name="T10" fmla="*/ 1201 w 1321"/>
                <a:gd name="T11" fmla="*/ 409 h 712"/>
                <a:gd name="T12" fmla="*/ 1170 w 1321"/>
                <a:gd name="T13" fmla="*/ 427 h 712"/>
                <a:gd name="T14" fmla="*/ 1129 w 1321"/>
                <a:gd name="T15" fmla="*/ 443 h 712"/>
                <a:gd name="T16" fmla="*/ 1083 w 1321"/>
                <a:gd name="T17" fmla="*/ 459 h 712"/>
                <a:gd name="T18" fmla="*/ 1031 w 1321"/>
                <a:gd name="T19" fmla="*/ 471 h 712"/>
                <a:gd name="T20" fmla="*/ 973 w 1321"/>
                <a:gd name="T21" fmla="*/ 482 h 712"/>
                <a:gd name="T22" fmla="*/ 913 w 1321"/>
                <a:gd name="T23" fmla="*/ 490 h 712"/>
                <a:gd name="T24" fmla="*/ 846 w 1321"/>
                <a:gd name="T25" fmla="*/ 497 h 712"/>
                <a:gd name="T26" fmla="*/ 778 w 1321"/>
                <a:gd name="T27" fmla="*/ 501 h 712"/>
                <a:gd name="T28" fmla="*/ 751 w 1321"/>
                <a:gd name="T29" fmla="*/ 503 h 712"/>
                <a:gd name="T30" fmla="*/ 449 w 1321"/>
                <a:gd name="T31" fmla="*/ 503 h 712"/>
                <a:gd name="T32" fmla="*/ 445 w 1321"/>
                <a:gd name="T33" fmla="*/ 503 h 712"/>
                <a:gd name="T34" fmla="*/ 386 w 1321"/>
                <a:gd name="T35" fmla="*/ 500 h 712"/>
                <a:gd name="T36" fmla="*/ 329 w 1321"/>
                <a:gd name="T37" fmla="*/ 497 h 712"/>
                <a:gd name="T38" fmla="*/ 275 w 1321"/>
                <a:gd name="T39" fmla="*/ 492 h 712"/>
                <a:gd name="T40" fmla="*/ 223 w 1321"/>
                <a:gd name="T41" fmla="*/ 487 h 712"/>
                <a:gd name="T42" fmla="*/ 176 w 1321"/>
                <a:gd name="T43" fmla="*/ 478 h 712"/>
                <a:gd name="T44" fmla="*/ 132 w 1321"/>
                <a:gd name="T45" fmla="*/ 467 h 712"/>
                <a:gd name="T46" fmla="*/ 96 w 1321"/>
                <a:gd name="T47" fmla="*/ 458 h 712"/>
                <a:gd name="T48" fmla="*/ 64 w 1321"/>
                <a:gd name="T49" fmla="*/ 445 h 712"/>
                <a:gd name="T50" fmla="*/ 36 w 1321"/>
                <a:gd name="T51" fmla="*/ 429 h 712"/>
                <a:gd name="T52" fmla="*/ 18 w 1321"/>
                <a:gd name="T53" fmla="*/ 411 h 712"/>
                <a:gd name="T54" fmla="*/ 6 w 1321"/>
                <a:gd name="T55" fmla="*/ 391 h 712"/>
                <a:gd name="T56" fmla="*/ 0 w 1321"/>
                <a:gd name="T57" fmla="*/ 370 h 712"/>
                <a:gd name="T58" fmla="*/ 0 w 1321"/>
                <a:gd name="T59" fmla="*/ 367 h 712"/>
                <a:gd name="T60" fmla="*/ 4 w 1321"/>
                <a:gd name="T61" fmla="*/ 344 h 712"/>
                <a:gd name="T62" fmla="*/ 16 w 1321"/>
                <a:gd name="T63" fmla="*/ 315 h 712"/>
                <a:gd name="T64" fmla="*/ 48 w 1321"/>
                <a:gd name="T65" fmla="*/ 261 h 712"/>
                <a:gd name="T66" fmla="*/ 88 w 1321"/>
                <a:gd name="T67" fmla="*/ 211 h 712"/>
                <a:gd name="T68" fmla="*/ 138 w 1321"/>
                <a:gd name="T69" fmla="*/ 166 h 712"/>
                <a:gd name="T70" fmla="*/ 192 w 1321"/>
                <a:gd name="T71" fmla="*/ 125 h 712"/>
                <a:gd name="T72" fmla="*/ 255 w 1321"/>
                <a:gd name="T73" fmla="*/ 88 h 712"/>
                <a:gd name="T74" fmla="*/ 323 w 1321"/>
                <a:gd name="T75" fmla="*/ 58 h 712"/>
                <a:gd name="T76" fmla="*/ 391 w 1321"/>
                <a:gd name="T77" fmla="*/ 33 h 712"/>
                <a:gd name="T78" fmla="*/ 470 w 1321"/>
                <a:gd name="T79" fmla="*/ 15 h 712"/>
                <a:gd name="T80" fmla="*/ 548 w 1321"/>
                <a:gd name="T81" fmla="*/ 4 h 712"/>
                <a:gd name="T82" fmla="*/ 630 w 1321"/>
                <a:gd name="T83" fmla="*/ 0 h 712"/>
                <a:gd name="T84" fmla="*/ 630 w 1321"/>
                <a:gd name="T85" fmla="*/ 0 h 712"/>
                <a:gd name="T86" fmla="*/ 717 w 1321"/>
                <a:gd name="T87" fmla="*/ 4 h 712"/>
                <a:gd name="T88" fmla="*/ 800 w 1321"/>
                <a:gd name="T89" fmla="*/ 16 h 712"/>
                <a:gd name="T90" fmla="*/ 880 w 1321"/>
                <a:gd name="T91" fmla="*/ 37 h 712"/>
                <a:gd name="T92" fmla="*/ 954 w 1321"/>
                <a:gd name="T93" fmla="*/ 63 h 712"/>
                <a:gd name="T94" fmla="*/ 1022 w 1321"/>
                <a:gd name="T95" fmla="*/ 97 h 712"/>
                <a:gd name="T96" fmla="*/ 1085 w 1321"/>
                <a:gd name="T97" fmla="*/ 137 h 712"/>
                <a:gd name="T98" fmla="*/ 1141 w 1321"/>
                <a:gd name="T99" fmla="*/ 181 h 712"/>
                <a:gd name="T100" fmla="*/ 1188 w 1321"/>
                <a:gd name="T101" fmla="*/ 229 h 712"/>
                <a:gd name="T102" fmla="*/ 1228 w 1321"/>
                <a:gd name="T103" fmla="*/ 283 h 712"/>
                <a:gd name="T104" fmla="*/ 1228 w 1321"/>
                <a:gd name="T105" fmla="*/ 283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pFill/>
            <a:ln w="0">
              <a:noFill/>
              <a:prstDash val="solid"/>
              <a:round/>
            </a:ln>
          </p:spPr>
          <p:txBody>
            <a:bodyPr/>
            <a:lstStyle/>
            <a:p>
              <a:pPr eaLnBrk="1" hangingPunct="1">
                <a:defRPr/>
              </a:pPr>
              <a:endParaRPr lang="zh-CN" altLang="en-US">
                <a:latin typeface="微软雅黑" pitchFamily="34" charset="-122"/>
                <a:ea typeface="微软雅黑" pitchFamily="34" charset="-122"/>
              </a:endParaRPr>
            </a:p>
          </p:txBody>
        </p:sp>
      </p:grpSp>
      <p:grpSp>
        <p:nvGrpSpPr>
          <p:cNvPr id="3" name="Group 16"/>
          <p:cNvGrpSpPr/>
          <p:nvPr/>
        </p:nvGrpSpPr>
        <p:grpSpPr bwMode="auto">
          <a:xfrm>
            <a:off x="3995936" y="2084654"/>
            <a:ext cx="644613" cy="617538"/>
            <a:chOff x="2016" y="1920"/>
            <a:chExt cx="1680" cy="1680"/>
          </a:xfrm>
          <a:solidFill>
            <a:srgbClr val="FFC000"/>
          </a:solidFill>
        </p:grpSpPr>
        <p:sp>
          <p:nvSpPr>
            <p:cNvPr id="49" name="Oval 17"/>
            <p:cNvSpPr>
              <a:spLocks noChangeArrowheads="1"/>
            </p:cNvSpPr>
            <p:nvPr/>
          </p:nvSpPr>
          <p:spPr bwMode="gray">
            <a:xfrm>
              <a:off x="2015" y="1920"/>
              <a:ext cx="1680" cy="1680"/>
            </a:xfrm>
            <a:prstGeom prst="ellipse">
              <a:avLst/>
            </a:prstGeom>
            <a:grpFill/>
            <a:ln w="9525">
              <a:noFill/>
              <a:round/>
            </a:ln>
            <a:effectLst/>
          </p:spPr>
          <p:txBody>
            <a:bodyPr wrap="none" anchor="ctr"/>
            <a:lstStyle/>
            <a:p>
              <a:pPr eaLnBrk="1" hangingPunct="1">
                <a:defRPr/>
              </a:pPr>
              <a:endParaRPr lang="zh-CN" altLang="en-US">
                <a:latin typeface="微软雅黑" pitchFamily="34" charset="-122"/>
                <a:ea typeface="微软雅黑" pitchFamily="34" charset="-122"/>
              </a:endParaRPr>
            </a:p>
          </p:txBody>
        </p:sp>
        <p:sp>
          <p:nvSpPr>
            <p:cNvPr id="50" name="Freeform 18"/>
            <p:cNvSpPr/>
            <p:nvPr/>
          </p:nvSpPr>
          <p:spPr bwMode="gray">
            <a:xfrm>
              <a:off x="2208" y="1948"/>
              <a:ext cx="1296" cy="634"/>
            </a:xfrm>
            <a:custGeom>
              <a:avLst/>
              <a:gdLst>
                <a:gd name="T0" fmla="*/ 1228 w 1321"/>
                <a:gd name="T1" fmla="*/ 283 h 712"/>
                <a:gd name="T2" fmla="*/ 1244 w 1321"/>
                <a:gd name="T3" fmla="*/ 313 h 712"/>
                <a:gd name="T4" fmla="*/ 1247 w 1321"/>
                <a:gd name="T5" fmla="*/ 339 h 712"/>
                <a:gd name="T6" fmla="*/ 1242 w 1321"/>
                <a:gd name="T7" fmla="*/ 364 h 712"/>
                <a:gd name="T8" fmla="*/ 1225 w 1321"/>
                <a:gd name="T9" fmla="*/ 388 h 712"/>
                <a:gd name="T10" fmla="*/ 1201 w 1321"/>
                <a:gd name="T11" fmla="*/ 409 h 712"/>
                <a:gd name="T12" fmla="*/ 1170 w 1321"/>
                <a:gd name="T13" fmla="*/ 427 h 712"/>
                <a:gd name="T14" fmla="*/ 1129 w 1321"/>
                <a:gd name="T15" fmla="*/ 443 h 712"/>
                <a:gd name="T16" fmla="*/ 1083 w 1321"/>
                <a:gd name="T17" fmla="*/ 459 h 712"/>
                <a:gd name="T18" fmla="*/ 1031 w 1321"/>
                <a:gd name="T19" fmla="*/ 471 h 712"/>
                <a:gd name="T20" fmla="*/ 973 w 1321"/>
                <a:gd name="T21" fmla="*/ 482 h 712"/>
                <a:gd name="T22" fmla="*/ 913 w 1321"/>
                <a:gd name="T23" fmla="*/ 490 h 712"/>
                <a:gd name="T24" fmla="*/ 846 w 1321"/>
                <a:gd name="T25" fmla="*/ 497 h 712"/>
                <a:gd name="T26" fmla="*/ 778 w 1321"/>
                <a:gd name="T27" fmla="*/ 501 h 712"/>
                <a:gd name="T28" fmla="*/ 751 w 1321"/>
                <a:gd name="T29" fmla="*/ 503 h 712"/>
                <a:gd name="T30" fmla="*/ 449 w 1321"/>
                <a:gd name="T31" fmla="*/ 503 h 712"/>
                <a:gd name="T32" fmla="*/ 445 w 1321"/>
                <a:gd name="T33" fmla="*/ 503 h 712"/>
                <a:gd name="T34" fmla="*/ 386 w 1321"/>
                <a:gd name="T35" fmla="*/ 500 h 712"/>
                <a:gd name="T36" fmla="*/ 329 w 1321"/>
                <a:gd name="T37" fmla="*/ 497 h 712"/>
                <a:gd name="T38" fmla="*/ 275 w 1321"/>
                <a:gd name="T39" fmla="*/ 492 h 712"/>
                <a:gd name="T40" fmla="*/ 223 w 1321"/>
                <a:gd name="T41" fmla="*/ 487 h 712"/>
                <a:gd name="T42" fmla="*/ 176 w 1321"/>
                <a:gd name="T43" fmla="*/ 478 h 712"/>
                <a:gd name="T44" fmla="*/ 132 w 1321"/>
                <a:gd name="T45" fmla="*/ 467 h 712"/>
                <a:gd name="T46" fmla="*/ 96 w 1321"/>
                <a:gd name="T47" fmla="*/ 458 h 712"/>
                <a:gd name="T48" fmla="*/ 64 w 1321"/>
                <a:gd name="T49" fmla="*/ 445 h 712"/>
                <a:gd name="T50" fmla="*/ 36 w 1321"/>
                <a:gd name="T51" fmla="*/ 429 h 712"/>
                <a:gd name="T52" fmla="*/ 18 w 1321"/>
                <a:gd name="T53" fmla="*/ 411 h 712"/>
                <a:gd name="T54" fmla="*/ 6 w 1321"/>
                <a:gd name="T55" fmla="*/ 391 h 712"/>
                <a:gd name="T56" fmla="*/ 0 w 1321"/>
                <a:gd name="T57" fmla="*/ 370 h 712"/>
                <a:gd name="T58" fmla="*/ 0 w 1321"/>
                <a:gd name="T59" fmla="*/ 367 h 712"/>
                <a:gd name="T60" fmla="*/ 4 w 1321"/>
                <a:gd name="T61" fmla="*/ 344 h 712"/>
                <a:gd name="T62" fmla="*/ 16 w 1321"/>
                <a:gd name="T63" fmla="*/ 315 h 712"/>
                <a:gd name="T64" fmla="*/ 48 w 1321"/>
                <a:gd name="T65" fmla="*/ 261 h 712"/>
                <a:gd name="T66" fmla="*/ 88 w 1321"/>
                <a:gd name="T67" fmla="*/ 211 h 712"/>
                <a:gd name="T68" fmla="*/ 138 w 1321"/>
                <a:gd name="T69" fmla="*/ 166 h 712"/>
                <a:gd name="T70" fmla="*/ 192 w 1321"/>
                <a:gd name="T71" fmla="*/ 125 h 712"/>
                <a:gd name="T72" fmla="*/ 255 w 1321"/>
                <a:gd name="T73" fmla="*/ 88 h 712"/>
                <a:gd name="T74" fmla="*/ 323 w 1321"/>
                <a:gd name="T75" fmla="*/ 58 h 712"/>
                <a:gd name="T76" fmla="*/ 391 w 1321"/>
                <a:gd name="T77" fmla="*/ 33 h 712"/>
                <a:gd name="T78" fmla="*/ 470 w 1321"/>
                <a:gd name="T79" fmla="*/ 15 h 712"/>
                <a:gd name="T80" fmla="*/ 548 w 1321"/>
                <a:gd name="T81" fmla="*/ 4 h 712"/>
                <a:gd name="T82" fmla="*/ 630 w 1321"/>
                <a:gd name="T83" fmla="*/ 0 h 712"/>
                <a:gd name="T84" fmla="*/ 630 w 1321"/>
                <a:gd name="T85" fmla="*/ 0 h 712"/>
                <a:gd name="T86" fmla="*/ 717 w 1321"/>
                <a:gd name="T87" fmla="*/ 4 h 712"/>
                <a:gd name="T88" fmla="*/ 800 w 1321"/>
                <a:gd name="T89" fmla="*/ 16 h 712"/>
                <a:gd name="T90" fmla="*/ 880 w 1321"/>
                <a:gd name="T91" fmla="*/ 37 h 712"/>
                <a:gd name="T92" fmla="*/ 954 w 1321"/>
                <a:gd name="T93" fmla="*/ 63 h 712"/>
                <a:gd name="T94" fmla="*/ 1022 w 1321"/>
                <a:gd name="T95" fmla="*/ 97 h 712"/>
                <a:gd name="T96" fmla="*/ 1085 w 1321"/>
                <a:gd name="T97" fmla="*/ 137 h 712"/>
                <a:gd name="T98" fmla="*/ 1141 w 1321"/>
                <a:gd name="T99" fmla="*/ 181 h 712"/>
                <a:gd name="T100" fmla="*/ 1188 w 1321"/>
                <a:gd name="T101" fmla="*/ 229 h 712"/>
                <a:gd name="T102" fmla="*/ 1228 w 1321"/>
                <a:gd name="T103" fmla="*/ 283 h 712"/>
                <a:gd name="T104" fmla="*/ 1228 w 1321"/>
                <a:gd name="T105" fmla="*/ 283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pFill/>
            <a:ln w="0">
              <a:noFill/>
              <a:prstDash val="solid"/>
              <a:round/>
            </a:ln>
          </p:spPr>
          <p:txBody>
            <a:bodyPr/>
            <a:lstStyle/>
            <a:p>
              <a:pPr eaLnBrk="1" hangingPunct="1">
                <a:defRPr/>
              </a:pPr>
              <a:endParaRPr lang="zh-CN" altLang="en-US">
                <a:latin typeface="微软雅黑" pitchFamily="34" charset="-122"/>
                <a:ea typeface="微软雅黑" pitchFamily="34" charset="-122"/>
              </a:endParaRPr>
            </a:p>
          </p:txBody>
        </p:sp>
      </p:grpSp>
      <p:grpSp>
        <p:nvGrpSpPr>
          <p:cNvPr id="4" name="Group 29"/>
          <p:cNvGrpSpPr/>
          <p:nvPr/>
        </p:nvGrpSpPr>
        <p:grpSpPr bwMode="auto">
          <a:xfrm>
            <a:off x="5148064" y="2948750"/>
            <a:ext cx="639787" cy="652463"/>
            <a:chOff x="2016" y="1920"/>
            <a:chExt cx="1680" cy="1680"/>
          </a:xfrm>
          <a:solidFill>
            <a:srgbClr val="C00000"/>
          </a:solidFill>
        </p:grpSpPr>
        <p:sp>
          <p:nvSpPr>
            <p:cNvPr id="52" name="Oval 30"/>
            <p:cNvSpPr>
              <a:spLocks noChangeArrowheads="1"/>
            </p:cNvSpPr>
            <p:nvPr/>
          </p:nvSpPr>
          <p:spPr bwMode="gray">
            <a:xfrm>
              <a:off x="2015" y="1920"/>
              <a:ext cx="1680" cy="1680"/>
            </a:xfrm>
            <a:prstGeom prst="ellipse">
              <a:avLst/>
            </a:prstGeom>
            <a:grpFill/>
            <a:ln w="9525">
              <a:noFill/>
              <a:round/>
            </a:ln>
            <a:effectLst/>
          </p:spPr>
          <p:txBody>
            <a:bodyPr wrap="none" anchor="ctr"/>
            <a:lstStyle/>
            <a:p>
              <a:pPr eaLnBrk="1" hangingPunct="1">
                <a:defRPr/>
              </a:pPr>
              <a:endParaRPr lang="zh-CN" altLang="en-US">
                <a:latin typeface="微软雅黑" pitchFamily="34" charset="-122"/>
                <a:ea typeface="微软雅黑" pitchFamily="34" charset="-122"/>
              </a:endParaRPr>
            </a:p>
          </p:txBody>
        </p:sp>
        <p:sp>
          <p:nvSpPr>
            <p:cNvPr id="53" name="Freeform 31"/>
            <p:cNvSpPr/>
            <p:nvPr/>
          </p:nvSpPr>
          <p:spPr bwMode="gray">
            <a:xfrm>
              <a:off x="2208" y="1948"/>
              <a:ext cx="1296" cy="634"/>
            </a:xfrm>
            <a:custGeom>
              <a:avLst/>
              <a:gdLst>
                <a:gd name="T0" fmla="*/ 1228 w 1321"/>
                <a:gd name="T1" fmla="*/ 283 h 712"/>
                <a:gd name="T2" fmla="*/ 1244 w 1321"/>
                <a:gd name="T3" fmla="*/ 313 h 712"/>
                <a:gd name="T4" fmla="*/ 1247 w 1321"/>
                <a:gd name="T5" fmla="*/ 339 h 712"/>
                <a:gd name="T6" fmla="*/ 1242 w 1321"/>
                <a:gd name="T7" fmla="*/ 364 h 712"/>
                <a:gd name="T8" fmla="*/ 1225 w 1321"/>
                <a:gd name="T9" fmla="*/ 388 h 712"/>
                <a:gd name="T10" fmla="*/ 1201 w 1321"/>
                <a:gd name="T11" fmla="*/ 409 h 712"/>
                <a:gd name="T12" fmla="*/ 1170 w 1321"/>
                <a:gd name="T13" fmla="*/ 427 h 712"/>
                <a:gd name="T14" fmla="*/ 1129 w 1321"/>
                <a:gd name="T15" fmla="*/ 443 h 712"/>
                <a:gd name="T16" fmla="*/ 1083 w 1321"/>
                <a:gd name="T17" fmla="*/ 459 h 712"/>
                <a:gd name="T18" fmla="*/ 1031 w 1321"/>
                <a:gd name="T19" fmla="*/ 471 h 712"/>
                <a:gd name="T20" fmla="*/ 973 w 1321"/>
                <a:gd name="T21" fmla="*/ 482 h 712"/>
                <a:gd name="T22" fmla="*/ 913 w 1321"/>
                <a:gd name="T23" fmla="*/ 490 h 712"/>
                <a:gd name="T24" fmla="*/ 846 w 1321"/>
                <a:gd name="T25" fmla="*/ 497 h 712"/>
                <a:gd name="T26" fmla="*/ 778 w 1321"/>
                <a:gd name="T27" fmla="*/ 501 h 712"/>
                <a:gd name="T28" fmla="*/ 751 w 1321"/>
                <a:gd name="T29" fmla="*/ 503 h 712"/>
                <a:gd name="T30" fmla="*/ 449 w 1321"/>
                <a:gd name="T31" fmla="*/ 503 h 712"/>
                <a:gd name="T32" fmla="*/ 445 w 1321"/>
                <a:gd name="T33" fmla="*/ 503 h 712"/>
                <a:gd name="T34" fmla="*/ 386 w 1321"/>
                <a:gd name="T35" fmla="*/ 500 h 712"/>
                <a:gd name="T36" fmla="*/ 329 w 1321"/>
                <a:gd name="T37" fmla="*/ 497 h 712"/>
                <a:gd name="T38" fmla="*/ 275 w 1321"/>
                <a:gd name="T39" fmla="*/ 492 h 712"/>
                <a:gd name="T40" fmla="*/ 223 w 1321"/>
                <a:gd name="T41" fmla="*/ 487 h 712"/>
                <a:gd name="T42" fmla="*/ 176 w 1321"/>
                <a:gd name="T43" fmla="*/ 478 h 712"/>
                <a:gd name="T44" fmla="*/ 132 w 1321"/>
                <a:gd name="T45" fmla="*/ 467 h 712"/>
                <a:gd name="T46" fmla="*/ 96 w 1321"/>
                <a:gd name="T47" fmla="*/ 458 h 712"/>
                <a:gd name="T48" fmla="*/ 64 w 1321"/>
                <a:gd name="T49" fmla="*/ 445 h 712"/>
                <a:gd name="T50" fmla="*/ 36 w 1321"/>
                <a:gd name="T51" fmla="*/ 429 h 712"/>
                <a:gd name="T52" fmla="*/ 18 w 1321"/>
                <a:gd name="T53" fmla="*/ 411 h 712"/>
                <a:gd name="T54" fmla="*/ 6 w 1321"/>
                <a:gd name="T55" fmla="*/ 391 h 712"/>
                <a:gd name="T56" fmla="*/ 0 w 1321"/>
                <a:gd name="T57" fmla="*/ 370 h 712"/>
                <a:gd name="T58" fmla="*/ 0 w 1321"/>
                <a:gd name="T59" fmla="*/ 367 h 712"/>
                <a:gd name="T60" fmla="*/ 4 w 1321"/>
                <a:gd name="T61" fmla="*/ 344 h 712"/>
                <a:gd name="T62" fmla="*/ 16 w 1321"/>
                <a:gd name="T63" fmla="*/ 315 h 712"/>
                <a:gd name="T64" fmla="*/ 48 w 1321"/>
                <a:gd name="T65" fmla="*/ 261 h 712"/>
                <a:gd name="T66" fmla="*/ 88 w 1321"/>
                <a:gd name="T67" fmla="*/ 211 h 712"/>
                <a:gd name="T68" fmla="*/ 138 w 1321"/>
                <a:gd name="T69" fmla="*/ 166 h 712"/>
                <a:gd name="T70" fmla="*/ 192 w 1321"/>
                <a:gd name="T71" fmla="*/ 125 h 712"/>
                <a:gd name="T72" fmla="*/ 255 w 1321"/>
                <a:gd name="T73" fmla="*/ 88 h 712"/>
                <a:gd name="T74" fmla="*/ 323 w 1321"/>
                <a:gd name="T75" fmla="*/ 58 h 712"/>
                <a:gd name="T76" fmla="*/ 391 w 1321"/>
                <a:gd name="T77" fmla="*/ 33 h 712"/>
                <a:gd name="T78" fmla="*/ 470 w 1321"/>
                <a:gd name="T79" fmla="*/ 15 h 712"/>
                <a:gd name="T80" fmla="*/ 548 w 1321"/>
                <a:gd name="T81" fmla="*/ 4 h 712"/>
                <a:gd name="T82" fmla="*/ 630 w 1321"/>
                <a:gd name="T83" fmla="*/ 0 h 712"/>
                <a:gd name="T84" fmla="*/ 630 w 1321"/>
                <a:gd name="T85" fmla="*/ 0 h 712"/>
                <a:gd name="T86" fmla="*/ 717 w 1321"/>
                <a:gd name="T87" fmla="*/ 4 h 712"/>
                <a:gd name="T88" fmla="*/ 800 w 1321"/>
                <a:gd name="T89" fmla="*/ 16 h 712"/>
                <a:gd name="T90" fmla="*/ 880 w 1321"/>
                <a:gd name="T91" fmla="*/ 37 h 712"/>
                <a:gd name="T92" fmla="*/ 954 w 1321"/>
                <a:gd name="T93" fmla="*/ 63 h 712"/>
                <a:gd name="T94" fmla="*/ 1022 w 1321"/>
                <a:gd name="T95" fmla="*/ 97 h 712"/>
                <a:gd name="T96" fmla="*/ 1085 w 1321"/>
                <a:gd name="T97" fmla="*/ 137 h 712"/>
                <a:gd name="T98" fmla="*/ 1141 w 1321"/>
                <a:gd name="T99" fmla="*/ 181 h 712"/>
                <a:gd name="T100" fmla="*/ 1188 w 1321"/>
                <a:gd name="T101" fmla="*/ 229 h 712"/>
                <a:gd name="T102" fmla="*/ 1228 w 1321"/>
                <a:gd name="T103" fmla="*/ 283 h 712"/>
                <a:gd name="T104" fmla="*/ 1228 w 1321"/>
                <a:gd name="T105" fmla="*/ 283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pFill/>
            <a:ln w="0">
              <a:noFill/>
              <a:prstDash val="solid"/>
              <a:round/>
            </a:ln>
          </p:spPr>
          <p:txBody>
            <a:bodyPr/>
            <a:lstStyle/>
            <a:p>
              <a:pPr eaLnBrk="1" hangingPunct="1">
                <a:defRPr/>
              </a:pPr>
              <a:endParaRPr lang="zh-CN" altLang="en-US">
                <a:latin typeface="微软雅黑" pitchFamily="34" charset="-122"/>
                <a:ea typeface="微软雅黑" pitchFamily="34" charset="-122"/>
              </a:endParaRPr>
            </a:p>
          </p:txBody>
        </p:sp>
      </p:grpSp>
      <p:grpSp>
        <p:nvGrpSpPr>
          <p:cNvPr id="5" name="Group 34"/>
          <p:cNvGrpSpPr/>
          <p:nvPr/>
        </p:nvGrpSpPr>
        <p:grpSpPr bwMode="auto">
          <a:xfrm>
            <a:off x="4860032" y="4172886"/>
            <a:ext cx="613782" cy="582613"/>
            <a:chOff x="2016" y="1920"/>
            <a:chExt cx="1680" cy="1680"/>
          </a:xfrm>
          <a:solidFill>
            <a:srgbClr val="99FF33"/>
          </a:solidFill>
        </p:grpSpPr>
        <p:sp>
          <p:nvSpPr>
            <p:cNvPr id="55" name="Oval 35"/>
            <p:cNvSpPr>
              <a:spLocks noChangeArrowheads="1"/>
            </p:cNvSpPr>
            <p:nvPr/>
          </p:nvSpPr>
          <p:spPr bwMode="gray">
            <a:xfrm>
              <a:off x="2015" y="1920"/>
              <a:ext cx="1682" cy="1680"/>
            </a:xfrm>
            <a:prstGeom prst="ellipse">
              <a:avLst/>
            </a:prstGeom>
            <a:grpFill/>
            <a:ln w="9525">
              <a:noFill/>
              <a:round/>
            </a:ln>
            <a:effectLst/>
          </p:spPr>
          <p:txBody>
            <a:bodyPr wrap="none" anchor="ctr"/>
            <a:lstStyle/>
            <a:p>
              <a:pPr eaLnBrk="1" hangingPunct="1">
                <a:defRPr/>
              </a:pPr>
              <a:endParaRPr lang="zh-CN" altLang="en-US">
                <a:latin typeface="微软雅黑" pitchFamily="34" charset="-122"/>
                <a:ea typeface="微软雅黑" pitchFamily="34" charset="-122"/>
              </a:endParaRPr>
            </a:p>
          </p:txBody>
        </p:sp>
        <p:sp>
          <p:nvSpPr>
            <p:cNvPr id="56" name="Freeform 36"/>
            <p:cNvSpPr/>
            <p:nvPr/>
          </p:nvSpPr>
          <p:spPr bwMode="gray">
            <a:xfrm>
              <a:off x="2208" y="1948"/>
              <a:ext cx="1296" cy="634"/>
            </a:xfrm>
            <a:custGeom>
              <a:avLst/>
              <a:gdLst>
                <a:gd name="T0" fmla="*/ 1228 w 1321"/>
                <a:gd name="T1" fmla="*/ 283 h 712"/>
                <a:gd name="T2" fmla="*/ 1244 w 1321"/>
                <a:gd name="T3" fmla="*/ 313 h 712"/>
                <a:gd name="T4" fmla="*/ 1247 w 1321"/>
                <a:gd name="T5" fmla="*/ 339 h 712"/>
                <a:gd name="T6" fmla="*/ 1242 w 1321"/>
                <a:gd name="T7" fmla="*/ 364 h 712"/>
                <a:gd name="T8" fmla="*/ 1225 w 1321"/>
                <a:gd name="T9" fmla="*/ 388 h 712"/>
                <a:gd name="T10" fmla="*/ 1201 w 1321"/>
                <a:gd name="T11" fmla="*/ 409 h 712"/>
                <a:gd name="T12" fmla="*/ 1170 w 1321"/>
                <a:gd name="T13" fmla="*/ 427 h 712"/>
                <a:gd name="T14" fmla="*/ 1129 w 1321"/>
                <a:gd name="T15" fmla="*/ 443 h 712"/>
                <a:gd name="T16" fmla="*/ 1083 w 1321"/>
                <a:gd name="T17" fmla="*/ 459 h 712"/>
                <a:gd name="T18" fmla="*/ 1031 w 1321"/>
                <a:gd name="T19" fmla="*/ 471 h 712"/>
                <a:gd name="T20" fmla="*/ 973 w 1321"/>
                <a:gd name="T21" fmla="*/ 482 h 712"/>
                <a:gd name="T22" fmla="*/ 913 w 1321"/>
                <a:gd name="T23" fmla="*/ 490 h 712"/>
                <a:gd name="T24" fmla="*/ 846 w 1321"/>
                <a:gd name="T25" fmla="*/ 497 h 712"/>
                <a:gd name="T26" fmla="*/ 778 w 1321"/>
                <a:gd name="T27" fmla="*/ 501 h 712"/>
                <a:gd name="T28" fmla="*/ 751 w 1321"/>
                <a:gd name="T29" fmla="*/ 503 h 712"/>
                <a:gd name="T30" fmla="*/ 449 w 1321"/>
                <a:gd name="T31" fmla="*/ 503 h 712"/>
                <a:gd name="T32" fmla="*/ 445 w 1321"/>
                <a:gd name="T33" fmla="*/ 503 h 712"/>
                <a:gd name="T34" fmla="*/ 386 w 1321"/>
                <a:gd name="T35" fmla="*/ 500 h 712"/>
                <a:gd name="T36" fmla="*/ 329 w 1321"/>
                <a:gd name="T37" fmla="*/ 497 h 712"/>
                <a:gd name="T38" fmla="*/ 275 w 1321"/>
                <a:gd name="T39" fmla="*/ 492 h 712"/>
                <a:gd name="T40" fmla="*/ 223 w 1321"/>
                <a:gd name="T41" fmla="*/ 487 h 712"/>
                <a:gd name="T42" fmla="*/ 176 w 1321"/>
                <a:gd name="T43" fmla="*/ 478 h 712"/>
                <a:gd name="T44" fmla="*/ 132 w 1321"/>
                <a:gd name="T45" fmla="*/ 467 h 712"/>
                <a:gd name="T46" fmla="*/ 96 w 1321"/>
                <a:gd name="T47" fmla="*/ 458 h 712"/>
                <a:gd name="T48" fmla="*/ 64 w 1321"/>
                <a:gd name="T49" fmla="*/ 445 h 712"/>
                <a:gd name="T50" fmla="*/ 36 w 1321"/>
                <a:gd name="T51" fmla="*/ 429 h 712"/>
                <a:gd name="T52" fmla="*/ 18 w 1321"/>
                <a:gd name="T53" fmla="*/ 411 h 712"/>
                <a:gd name="T54" fmla="*/ 6 w 1321"/>
                <a:gd name="T55" fmla="*/ 391 h 712"/>
                <a:gd name="T56" fmla="*/ 0 w 1321"/>
                <a:gd name="T57" fmla="*/ 370 h 712"/>
                <a:gd name="T58" fmla="*/ 0 w 1321"/>
                <a:gd name="T59" fmla="*/ 367 h 712"/>
                <a:gd name="T60" fmla="*/ 4 w 1321"/>
                <a:gd name="T61" fmla="*/ 344 h 712"/>
                <a:gd name="T62" fmla="*/ 16 w 1321"/>
                <a:gd name="T63" fmla="*/ 315 h 712"/>
                <a:gd name="T64" fmla="*/ 48 w 1321"/>
                <a:gd name="T65" fmla="*/ 261 h 712"/>
                <a:gd name="T66" fmla="*/ 88 w 1321"/>
                <a:gd name="T67" fmla="*/ 211 h 712"/>
                <a:gd name="T68" fmla="*/ 138 w 1321"/>
                <a:gd name="T69" fmla="*/ 166 h 712"/>
                <a:gd name="T70" fmla="*/ 192 w 1321"/>
                <a:gd name="T71" fmla="*/ 125 h 712"/>
                <a:gd name="T72" fmla="*/ 255 w 1321"/>
                <a:gd name="T73" fmla="*/ 88 h 712"/>
                <a:gd name="T74" fmla="*/ 323 w 1321"/>
                <a:gd name="T75" fmla="*/ 58 h 712"/>
                <a:gd name="T76" fmla="*/ 391 w 1321"/>
                <a:gd name="T77" fmla="*/ 33 h 712"/>
                <a:gd name="T78" fmla="*/ 470 w 1321"/>
                <a:gd name="T79" fmla="*/ 15 h 712"/>
                <a:gd name="T80" fmla="*/ 548 w 1321"/>
                <a:gd name="T81" fmla="*/ 4 h 712"/>
                <a:gd name="T82" fmla="*/ 630 w 1321"/>
                <a:gd name="T83" fmla="*/ 0 h 712"/>
                <a:gd name="T84" fmla="*/ 630 w 1321"/>
                <a:gd name="T85" fmla="*/ 0 h 712"/>
                <a:gd name="T86" fmla="*/ 717 w 1321"/>
                <a:gd name="T87" fmla="*/ 4 h 712"/>
                <a:gd name="T88" fmla="*/ 800 w 1321"/>
                <a:gd name="T89" fmla="*/ 16 h 712"/>
                <a:gd name="T90" fmla="*/ 880 w 1321"/>
                <a:gd name="T91" fmla="*/ 37 h 712"/>
                <a:gd name="T92" fmla="*/ 954 w 1321"/>
                <a:gd name="T93" fmla="*/ 63 h 712"/>
                <a:gd name="T94" fmla="*/ 1022 w 1321"/>
                <a:gd name="T95" fmla="*/ 97 h 712"/>
                <a:gd name="T96" fmla="*/ 1085 w 1321"/>
                <a:gd name="T97" fmla="*/ 137 h 712"/>
                <a:gd name="T98" fmla="*/ 1141 w 1321"/>
                <a:gd name="T99" fmla="*/ 181 h 712"/>
                <a:gd name="T100" fmla="*/ 1188 w 1321"/>
                <a:gd name="T101" fmla="*/ 229 h 712"/>
                <a:gd name="T102" fmla="*/ 1228 w 1321"/>
                <a:gd name="T103" fmla="*/ 283 h 712"/>
                <a:gd name="T104" fmla="*/ 1228 w 1321"/>
                <a:gd name="T105" fmla="*/ 283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pFill/>
            <a:ln w="0">
              <a:noFill/>
              <a:prstDash val="solid"/>
              <a:round/>
            </a:ln>
          </p:spPr>
          <p:txBody>
            <a:bodyPr/>
            <a:lstStyle/>
            <a:p>
              <a:pPr eaLnBrk="1" hangingPunct="1">
                <a:defRPr/>
              </a:pPr>
              <a:endParaRPr lang="zh-CN" altLang="en-US">
                <a:latin typeface="微软雅黑" pitchFamily="34" charset="-122"/>
                <a:ea typeface="微软雅黑" pitchFamily="34" charset="-122"/>
              </a:endParaRPr>
            </a:p>
          </p:txBody>
        </p:sp>
      </p:grpSp>
      <p:grpSp>
        <p:nvGrpSpPr>
          <p:cNvPr id="7" name="Group 24"/>
          <p:cNvGrpSpPr/>
          <p:nvPr/>
        </p:nvGrpSpPr>
        <p:grpSpPr bwMode="auto">
          <a:xfrm>
            <a:off x="3203848" y="4244895"/>
            <a:ext cx="643027" cy="642532"/>
            <a:chOff x="2016" y="1920"/>
            <a:chExt cx="1680" cy="1680"/>
          </a:xfrm>
          <a:solidFill>
            <a:srgbClr val="FF0066"/>
          </a:solidFill>
        </p:grpSpPr>
        <p:sp>
          <p:nvSpPr>
            <p:cNvPr id="58" name="Oval 25"/>
            <p:cNvSpPr>
              <a:spLocks noChangeArrowheads="1"/>
            </p:cNvSpPr>
            <p:nvPr/>
          </p:nvSpPr>
          <p:spPr bwMode="gray">
            <a:xfrm>
              <a:off x="2015" y="1920"/>
              <a:ext cx="1680" cy="1681"/>
            </a:xfrm>
            <a:prstGeom prst="ellipse">
              <a:avLst/>
            </a:prstGeom>
            <a:grpFill/>
            <a:ln w="9525">
              <a:noFill/>
              <a:round/>
            </a:ln>
            <a:effectLst/>
          </p:spPr>
          <p:txBody>
            <a:bodyPr wrap="none" anchor="ctr"/>
            <a:lstStyle/>
            <a:p>
              <a:pPr eaLnBrk="1" hangingPunct="1">
                <a:defRPr/>
              </a:pPr>
              <a:endParaRPr lang="zh-CN" altLang="en-US">
                <a:latin typeface="微软雅黑" pitchFamily="34" charset="-122"/>
                <a:ea typeface="微软雅黑" pitchFamily="34" charset="-122"/>
              </a:endParaRPr>
            </a:p>
          </p:txBody>
        </p:sp>
        <p:sp>
          <p:nvSpPr>
            <p:cNvPr id="59" name="Freeform 26"/>
            <p:cNvSpPr/>
            <p:nvPr/>
          </p:nvSpPr>
          <p:spPr bwMode="gray">
            <a:xfrm>
              <a:off x="2208" y="1948"/>
              <a:ext cx="1296" cy="634"/>
            </a:xfrm>
            <a:custGeom>
              <a:avLst/>
              <a:gdLst>
                <a:gd name="T0" fmla="*/ 1228 w 1321"/>
                <a:gd name="T1" fmla="*/ 283 h 712"/>
                <a:gd name="T2" fmla="*/ 1244 w 1321"/>
                <a:gd name="T3" fmla="*/ 313 h 712"/>
                <a:gd name="T4" fmla="*/ 1247 w 1321"/>
                <a:gd name="T5" fmla="*/ 339 h 712"/>
                <a:gd name="T6" fmla="*/ 1242 w 1321"/>
                <a:gd name="T7" fmla="*/ 364 h 712"/>
                <a:gd name="T8" fmla="*/ 1225 w 1321"/>
                <a:gd name="T9" fmla="*/ 388 h 712"/>
                <a:gd name="T10" fmla="*/ 1201 w 1321"/>
                <a:gd name="T11" fmla="*/ 409 h 712"/>
                <a:gd name="T12" fmla="*/ 1170 w 1321"/>
                <a:gd name="T13" fmla="*/ 427 h 712"/>
                <a:gd name="T14" fmla="*/ 1129 w 1321"/>
                <a:gd name="T15" fmla="*/ 443 h 712"/>
                <a:gd name="T16" fmla="*/ 1083 w 1321"/>
                <a:gd name="T17" fmla="*/ 459 h 712"/>
                <a:gd name="T18" fmla="*/ 1031 w 1321"/>
                <a:gd name="T19" fmla="*/ 471 h 712"/>
                <a:gd name="T20" fmla="*/ 973 w 1321"/>
                <a:gd name="T21" fmla="*/ 482 h 712"/>
                <a:gd name="T22" fmla="*/ 913 w 1321"/>
                <a:gd name="T23" fmla="*/ 490 h 712"/>
                <a:gd name="T24" fmla="*/ 846 w 1321"/>
                <a:gd name="T25" fmla="*/ 497 h 712"/>
                <a:gd name="T26" fmla="*/ 778 w 1321"/>
                <a:gd name="T27" fmla="*/ 501 h 712"/>
                <a:gd name="T28" fmla="*/ 751 w 1321"/>
                <a:gd name="T29" fmla="*/ 503 h 712"/>
                <a:gd name="T30" fmla="*/ 449 w 1321"/>
                <a:gd name="T31" fmla="*/ 503 h 712"/>
                <a:gd name="T32" fmla="*/ 445 w 1321"/>
                <a:gd name="T33" fmla="*/ 503 h 712"/>
                <a:gd name="T34" fmla="*/ 386 w 1321"/>
                <a:gd name="T35" fmla="*/ 500 h 712"/>
                <a:gd name="T36" fmla="*/ 329 w 1321"/>
                <a:gd name="T37" fmla="*/ 497 h 712"/>
                <a:gd name="T38" fmla="*/ 275 w 1321"/>
                <a:gd name="T39" fmla="*/ 492 h 712"/>
                <a:gd name="T40" fmla="*/ 223 w 1321"/>
                <a:gd name="T41" fmla="*/ 487 h 712"/>
                <a:gd name="T42" fmla="*/ 176 w 1321"/>
                <a:gd name="T43" fmla="*/ 478 h 712"/>
                <a:gd name="T44" fmla="*/ 132 w 1321"/>
                <a:gd name="T45" fmla="*/ 467 h 712"/>
                <a:gd name="T46" fmla="*/ 96 w 1321"/>
                <a:gd name="T47" fmla="*/ 458 h 712"/>
                <a:gd name="T48" fmla="*/ 64 w 1321"/>
                <a:gd name="T49" fmla="*/ 445 h 712"/>
                <a:gd name="T50" fmla="*/ 36 w 1321"/>
                <a:gd name="T51" fmla="*/ 429 h 712"/>
                <a:gd name="T52" fmla="*/ 18 w 1321"/>
                <a:gd name="T53" fmla="*/ 411 h 712"/>
                <a:gd name="T54" fmla="*/ 6 w 1321"/>
                <a:gd name="T55" fmla="*/ 391 h 712"/>
                <a:gd name="T56" fmla="*/ 0 w 1321"/>
                <a:gd name="T57" fmla="*/ 370 h 712"/>
                <a:gd name="T58" fmla="*/ 0 w 1321"/>
                <a:gd name="T59" fmla="*/ 367 h 712"/>
                <a:gd name="T60" fmla="*/ 4 w 1321"/>
                <a:gd name="T61" fmla="*/ 344 h 712"/>
                <a:gd name="T62" fmla="*/ 16 w 1321"/>
                <a:gd name="T63" fmla="*/ 315 h 712"/>
                <a:gd name="T64" fmla="*/ 48 w 1321"/>
                <a:gd name="T65" fmla="*/ 261 h 712"/>
                <a:gd name="T66" fmla="*/ 88 w 1321"/>
                <a:gd name="T67" fmla="*/ 211 h 712"/>
                <a:gd name="T68" fmla="*/ 138 w 1321"/>
                <a:gd name="T69" fmla="*/ 166 h 712"/>
                <a:gd name="T70" fmla="*/ 192 w 1321"/>
                <a:gd name="T71" fmla="*/ 125 h 712"/>
                <a:gd name="T72" fmla="*/ 255 w 1321"/>
                <a:gd name="T73" fmla="*/ 88 h 712"/>
                <a:gd name="T74" fmla="*/ 323 w 1321"/>
                <a:gd name="T75" fmla="*/ 58 h 712"/>
                <a:gd name="T76" fmla="*/ 391 w 1321"/>
                <a:gd name="T77" fmla="*/ 33 h 712"/>
                <a:gd name="T78" fmla="*/ 470 w 1321"/>
                <a:gd name="T79" fmla="*/ 15 h 712"/>
                <a:gd name="T80" fmla="*/ 548 w 1321"/>
                <a:gd name="T81" fmla="*/ 4 h 712"/>
                <a:gd name="T82" fmla="*/ 630 w 1321"/>
                <a:gd name="T83" fmla="*/ 0 h 712"/>
                <a:gd name="T84" fmla="*/ 630 w 1321"/>
                <a:gd name="T85" fmla="*/ 0 h 712"/>
                <a:gd name="T86" fmla="*/ 717 w 1321"/>
                <a:gd name="T87" fmla="*/ 4 h 712"/>
                <a:gd name="T88" fmla="*/ 800 w 1321"/>
                <a:gd name="T89" fmla="*/ 16 h 712"/>
                <a:gd name="T90" fmla="*/ 880 w 1321"/>
                <a:gd name="T91" fmla="*/ 37 h 712"/>
                <a:gd name="T92" fmla="*/ 954 w 1321"/>
                <a:gd name="T93" fmla="*/ 63 h 712"/>
                <a:gd name="T94" fmla="*/ 1022 w 1321"/>
                <a:gd name="T95" fmla="*/ 97 h 712"/>
                <a:gd name="T96" fmla="*/ 1085 w 1321"/>
                <a:gd name="T97" fmla="*/ 137 h 712"/>
                <a:gd name="T98" fmla="*/ 1141 w 1321"/>
                <a:gd name="T99" fmla="*/ 181 h 712"/>
                <a:gd name="T100" fmla="*/ 1188 w 1321"/>
                <a:gd name="T101" fmla="*/ 229 h 712"/>
                <a:gd name="T102" fmla="*/ 1228 w 1321"/>
                <a:gd name="T103" fmla="*/ 283 h 712"/>
                <a:gd name="T104" fmla="*/ 1228 w 1321"/>
                <a:gd name="T105" fmla="*/ 283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pFill/>
            <a:ln w="0">
              <a:noFill/>
              <a:prstDash val="solid"/>
              <a:round/>
            </a:ln>
          </p:spPr>
          <p:txBody>
            <a:bodyPr/>
            <a:lstStyle/>
            <a:p>
              <a:pPr eaLnBrk="1" hangingPunct="1">
                <a:defRPr/>
              </a:pPr>
              <a:endParaRPr lang="zh-CN" altLang="en-US">
                <a:latin typeface="微软雅黑" pitchFamily="34" charset="-122"/>
                <a:ea typeface="微软雅黑" pitchFamily="34" charset="-122"/>
              </a:endParaRPr>
            </a:p>
          </p:txBody>
        </p:sp>
      </p:grpSp>
      <p:sp>
        <p:nvSpPr>
          <p:cNvPr id="60" name="矩形 59"/>
          <p:cNvSpPr>
            <a:spLocks noChangeArrowheads="1"/>
          </p:cNvSpPr>
          <p:nvPr/>
        </p:nvSpPr>
        <p:spPr bwMode="auto">
          <a:xfrm>
            <a:off x="2339975" y="1268413"/>
            <a:ext cx="45720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indent="-457200" eaLnBrk="1" hangingPunct="1"/>
            <a:r>
              <a:rPr lang="en-US" altLang="zh-CN" sz="2400" b="1">
                <a:solidFill>
                  <a:srgbClr val="002060"/>
                </a:solidFill>
                <a:latin typeface="微软雅黑" pitchFamily="34" charset="-122"/>
                <a:ea typeface="微软雅黑" pitchFamily="34" charset="-122"/>
              </a:rPr>
              <a:t>switch</a:t>
            </a:r>
            <a:r>
              <a:rPr lang="zh-CN" altLang="en-US" sz="2400" b="1">
                <a:solidFill>
                  <a:srgbClr val="002060"/>
                </a:solidFill>
                <a:latin typeface="微软雅黑" pitchFamily="34" charset="-122"/>
                <a:ea typeface="微软雅黑" pitchFamily="34" charset="-122"/>
              </a:rPr>
              <a:t>后面括弧内的“表达式”， 一般使用整型或字符型</a:t>
            </a:r>
          </a:p>
        </p:txBody>
      </p:sp>
      <p:sp>
        <p:nvSpPr>
          <p:cNvPr id="61" name="矩形 60"/>
          <p:cNvSpPr>
            <a:spLocks noChangeArrowheads="1"/>
          </p:cNvSpPr>
          <p:nvPr/>
        </p:nvSpPr>
        <p:spPr bwMode="auto">
          <a:xfrm>
            <a:off x="5867400" y="2805113"/>
            <a:ext cx="27368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2400" b="1">
                <a:solidFill>
                  <a:srgbClr val="002060"/>
                </a:solidFill>
                <a:latin typeface="微软雅黑" pitchFamily="34" charset="-122"/>
                <a:ea typeface="微软雅黑" pitchFamily="34" charset="-122"/>
              </a:rPr>
              <a:t>每一个</a:t>
            </a:r>
            <a:r>
              <a:rPr lang="en-US" altLang="zh-CN" sz="2400" b="1">
                <a:solidFill>
                  <a:srgbClr val="002060"/>
                </a:solidFill>
                <a:latin typeface="微软雅黑" pitchFamily="34" charset="-122"/>
                <a:ea typeface="微软雅黑" pitchFamily="34" charset="-122"/>
              </a:rPr>
              <a:t>case</a:t>
            </a:r>
            <a:r>
              <a:rPr lang="zh-CN" altLang="en-US" sz="2400" b="1">
                <a:solidFill>
                  <a:srgbClr val="002060"/>
                </a:solidFill>
                <a:latin typeface="微软雅黑" pitchFamily="34" charset="-122"/>
                <a:ea typeface="微软雅黑" pitchFamily="34" charset="-122"/>
              </a:rPr>
              <a:t>的常量表达式的值必须互不相同</a:t>
            </a:r>
            <a:endParaRPr lang="zh-CN" altLang="en-US" sz="2400">
              <a:solidFill>
                <a:srgbClr val="002060"/>
              </a:solidFill>
              <a:latin typeface="微软雅黑" pitchFamily="34" charset="-122"/>
              <a:ea typeface="微软雅黑" pitchFamily="34" charset="-122"/>
            </a:endParaRPr>
          </a:p>
        </p:txBody>
      </p:sp>
      <p:sp>
        <p:nvSpPr>
          <p:cNvPr id="62" name="矩形 61"/>
          <p:cNvSpPr>
            <a:spLocks noChangeArrowheads="1"/>
          </p:cNvSpPr>
          <p:nvPr/>
        </p:nvSpPr>
        <p:spPr bwMode="auto">
          <a:xfrm>
            <a:off x="5435600" y="4821238"/>
            <a:ext cx="31686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2400" b="1">
                <a:solidFill>
                  <a:srgbClr val="002060"/>
                </a:solidFill>
                <a:latin typeface="微软雅黑" pitchFamily="34" charset="-122"/>
                <a:ea typeface="微软雅黑" pitchFamily="34" charset="-122"/>
              </a:rPr>
              <a:t>各个</a:t>
            </a:r>
            <a:r>
              <a:rPr lang="en-US" altLang="zh-CN" sz="2400" b="1">
                <a:solidFill>
                  <a:srgbClr val="002060"/>
                </a:solidFill>
                <a:latin typeface="微软雅黑" pitchFamily="34" charset="-122"/>
                <a:ea typeface="微软雅黑" pitchFamily="34" charset="-122"/>
              </a:rPr>
              <a:t>case</a:t>
            </a:r>
            <a:r>
              <a:rPr lang="zh-CN" altLang="en-US" sz="2400" b="1">
                <a:solidFill>
                  <a:srgbClr val="002060"/>
                </a:solidFill>
                <a:latin typeface="微软雅黑" pitchFamily="34" charset="-122"/>
                <a:ea typeface="微软雅黑" pitchFamily="34" charset="-122"/>
              </a:rPr>
              <a:t>和</a:t>
            </a:r>
            <a:r>
              <a:rPr lang="en-US" altLang="zh-CN" sz="2400" b="1">
                <a:solidFill>
                  <a:srgbClr val="002060"/>
                </a:solidFill>
                <a:latin typeface="微软雅黑" pitchFamily="34" charset="-122"/>
                <a:ea typeface="微软雅黑" pitchFamily="34" charset="-122"/>
              </a:rPr>
              <a:t>default</a:t>
            </a:r>
            <a:r>
              <a:rPr lang="zh-CN" altLang="en-US" sz="2400" b="1">
                <a:solidFill>
                  <a:srgbClr val="002060"/>
                </a:solidFill>
                <a:latin typeface="微软雅黑" pitchFamily="34" charset="-122"/>
                <a:ea typeface="微软雅黑" pitchFamily="34" charset="-122"/>
              </a:rPr>
              <a:t>的出现次序不影响执行结果。</a:t>
            </a:r>
            <a:r>
              <a:rPr lang="en-US" altLang="zh-CN" sz="2400" b="1">
                <a:solidFill>
                  <a:srgbClr val="002060"/>
                </a:solidFill>
                <a:latin typeface="微软雅黑" pitchFamily="34" charset="-122"/>
                <a:ea typeface="微软雅黑" pitchFamily="34" charset="-122"/>
              </a:rPr>
              <a:t> </a:t>
            </a:r>
            <a:endParaRPr lang="zh-CN" altLang="en-US" sz="2400" b="1">
              <a:solidFill>
                <a:srgbClr val="002060"/>
              </a:solidFill>
              <a:latin typeface="微软雅黑" pitchFamily="34" charset="-122"/>
              <a:ea typeface="微软雅黑" pitchFamily="34" charset="-122"/>
            </a:endParaRPr>
          </a:p>
        </p:txBody>
      </p:sp>
      <p:sp>
        <p:nvSpPr>
          <p:cNvPr id="63" name="矩形 62"/>
          <p:cNvSpPr>
            <a:spLocks noChangeArrowheads="1"/>
          </p:cNvSpPr>
          <p:nvPr/>
        </p:nvSpPr>
        <p:spPr bwMode="auto">
          <a:xfrm>
            <a:off x="0" y="4652963"/>
            <a:ext cx="4572000"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1" hangingPunct="1"/>
            <a:r>
              <a:rPr lang="zh-CN" altLang="en-US" sz="2400" b="1">
                <a:solidFill>
                  <a:srgbClr val="002060"/>
                </a:solidFill>
                <a:latin typeface="微软雅黑" pitchFamily="34" charset="-122"/>
                <a:ea typeface="微软雅黑" pitchFamily="34" charset="-122"/>
              </a:rPr>
              <a:t>执行一个</a:t>
            </a:r>
            <a:r>
              <a:rPr lang="en-US" altLang="zh-CN" sz="2400" b="1">
                <a:solidFill>
                  <a:srgbClr val="002060"/>
                </a:solidFill>
                <a:latin typeface="微软雅黑" pitchFamily="34" charset="-122"/>
                <a:ea typeface="微软雅黑" pitchFamily="34" charset="-122"/>
              </a:rPr>
              <a:t>case</a:t>
            </a:r>
            <a:r>
              <a:rPr lang="zh-CN" altLang="en-US" sz="2400" b="1">
                <a:solidFill>
                  <a:srgbClr val="002060"/>
                </a:solidFill>
                <a:latin typeface="微软雅黑" pitchFamily="34" charset="-122"/>
                <a:ea typeface="微软雅黑" pitchFamily="34" charset="-122"/>
              </a:rPr>
              <a:t>后面的语句后，流程控制转移到下一 个</a:t>
            </a:r>
            <a:r>
              <a:rPr lang="en-US" altLang="zh-CN" sz="2400" b="1">
                <a:solidFill>
                  <a:srgbClr val="002060"/>
                </a:solidFill>
                <a:latin typeface="微软雅黑" pitchFamily="34" charset="-122"/>
                <a:ea typeface="微软雅黑" pitchFamily="34" charset="-122"/>
              </a:rPr>
              <a:t>case</a:t>
            </a:r>
            <a:r>
              <a:rPr lang="zh-CN" altLang="en-US" sz="2400" b="1">
                <a:solidFill>
                  <a:srgbClr val="002060"/>
                </a:solidFill>
                <a:latin typeface="微软雅黑" pitchFamily="34" charset="-122"/>
                <a:ea typeface="微软雅黑" pitchFamily="34" charset="-122"/>
              </a:rPr>
              <a:t>继续执行。</a:t>
            </a:r>
            <a:r>
              <a:rPr lang="en-US" altLang="zh-CN" sz="2400" b="1">
                <a:solidFill>
                  <a:srgbClr val="002060"/>
                </a:solidFill>
                <a:latin typeface="微软雅黑" pitchFamily="34" charset="-122"/>
                <a:ea typeface="微软雅黑" pitchFamily="34" charset="-122"/>
              </a:rPr>
              <a:t> </a:t>
            </a:r>
            <a:r>
              <a:rPr lang="zh-CN" altLang="en-US" sz="2400" b="1">
                <a:solidFill>
                  <a:srgbClr val="CC0000"/>
                </a:solidFill>
                <a:latin typeface="微软雅黑" pitchFamily="34" charset="-122"/>
                <a:ea typeface="微软雅黑" pitchFamily="34" charset="-122"/>
              </a:rPr>
              <a:t>在执行一个</a:t>
            </a:r>
            <a:r>
              <a:rPr lang="en-US" altLang="zh-CN" sz="2400" b="1">
                <a:solidFill>
                  <a:srgbClr val="CC0000"/>
                </a:solidFill>
                <a:latin typeface="微软雅黑" pitchFamily="34" charset="-122"/>
                <a:ea typeface="微软雅黑" pitchFamily="34" charset="-122"/>
              </a:rPr>
              <a:t>case</a:t>
            </a:r>
            <a:r>
              <a:rPr lang="zh-CN" altLang="en-US" sz="2400" b="1">
                <a:solidFill>
                  <a:srgbClr val="CC0000"/>
                </a:solidFill>
                <a:latin typeface="微软雅黑" pitchFamily="34" charset="-122"/>
                <a:ea typeface="微软雅黑" pitchFamily="34" charset="-122"/>
              </a:rPr>
              <a:t>分支后</a:t>
            </a:r>
            <a:r>
              <a:rPr lang="en-US" altLang="zh-CN" sz="2400" b="1">
                <a:solidFill>
                  <a:srgbClr val="CC0000"/>
                </a:solidFill>
                <a:latin typeface="微软雅黑" pitchFamily="34" charset="-122"/>
                <a:ea typeface="微软雅黑" pitchFamily="34" charset="-122"/>
              </a:rPr>
              <a:t>,</a:t>
            </a:r>
            <a:r>
              <a:rPr lang="zh-CN" altLang="en-US" sz="2400" b="1">
                <a:solidFill>
                  <a:srgbClr val="CC0000"/>
                </a:solidFill>
                <a:latin typeface="微软雅黑" pitchFamily="34" charset="-122"/>
                <a:ea typeface="微软雅黑" pitchFamily="34" charset="-122"/>
              </a:rPr>
              <a:t>可以用一个</a:t>
            </a:r>
            <a:r>
              <a:rPr lang="en-US" altLang="zh-CN" sz="2400" b="1">
                <a:solidFill>
                  <a:srgbClr val="CC0000"/>
                </a:solidFill>
                <a:latin typeface="微软雅黑" pitchFamily="34" charset="-122"/>
                <a:ea typeface="微软雅黑" pitchFamily="34" charset="-122"/>
              </a:rPr>
              <a:t>break</a:t>
            </a:r>
            <a:r>
              <a:rPr lang="zh-CN" altLang="en-US" sz="2400" b="1">
                <a:solidFill>
                  <a:srgbClr val="CC0000"/>
                </a:solidFill>
                <a:latin typeface="微软雅黑" pitchFamily="34" charset="-122"/>
                <a:ea typeface="微软雅黑" pitchFamily="34" charset="-122"/>
              </a:rPr>
              <a:t>语句来终止</a:t>
            </a:r>
            <a:r>
              <a:rPr lang="en-US" altLang="zh-CN" sz="2400" b="1">
                <a:solidFill>
                  <a:srgbClr val="CC0000"/>
                </a:solidFill>
                <a:latin typeface="微软雅黑" pitchFamily="34" charset="-122"/>
                <a:ea typeface="微软雅黑" pitchFamily="34" charset="-122"/>
              </a:rPr>
              <a:t>switch</a:t>
            </a:r>
            <a:r>
              <a:rPr lang="zh-CN" altLang="en-US" sz="2400" b="1">
                <a:solidFill>
                  <a:srgbClr val="CC0000"/>
                </a:solidFill>
                <a:latin typeface="微软雅黑" pitchFamily="34" charset="-122"/>
                <a:ea typeface="微软雅黑" pitchFamily="34" charset="-122"/>
              </a:rPr>
              <a:t>语句的执行。</a:t>
            </a:r>
            <a:r>
              <a:rPr lang="zh-CN" altLang="en-US" sz="2400" b="1">
                <a:solidFill>
                  <a:schemeClr val="accent2"/>
                </a:solidFill>
                <a:latin typeface="微软雅黑" pitchFamily="34" charset="-122"/>
                <a:ea typeface="微软雅黑" pitchFamily="34" charset="-122"/>
              </a:rPr>
              <a:t> </a:t>
            </a:r>
          </a:p>
        </p:txBody>
      </p:sp>
      <p:sp>
        <p:nvSpPr>
          <p:cNvPr id="64" name="矩形 63"/>
          <p:cNvSpPr>
            <a:spLocks noChangeArrowheads="1"/>
          </p:cNvSpPr>
          <p:nvPr/>
        </p:nvSpPr>
        <p:spPr bwMode="auto">
          <a:xfrm>
            <a:off x="684213" y="2924175"/>
            <a:ext cx="22320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2400" b="1">
                <a:solidFill>
                  <a:srgbClr val="002060"/>
                </a:solidFill>
                <a:latin typeface="微软雅黑" pitchFamily="34" charset="-122"/>
                <a:ea typeface="微软雅黑" pitchFamily="34" charset="-122"/>
              </a:rPr>
              <a:t>多个可以共用一组执行语句。</a:t>
            </a:r>
            <a:r>
              <a:rPr lang="zh-CN" altLang="en-US" sz="2400">
                <a:solidFill>
                  <a:srgbClr val="002060"/>
                </a:solidFill>
                <a:latin typeface="微软雅黑" pitchFamily="34" charset="-122"/>
                <a:ea typeface="微软雅黑" pitchFamily="34" charset="-122"/>
              </a:rPr>
              <a:t>  </a:t>
            </a:r>
          </a:p>
        </p:txBody>
      </p:sp>
      <p:sp>
        <p:nvSpPr>
          <p:cNvPr id="62483" name="Rectangle 4"/>
          <p:cNvSpPr>
            <a:spLocks noChangeArrowheads="1"/>
          </p:cNvSpPr>
          <p:nvPr/>
        </p:nvSpPr>
        <p:spPr bwMode="auto">
          <a:xfrm>
            <a:off x="0" y="533400"/>
            <a:ext cx="32784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开关语句</a:t>
            </a:r>
          </a:p>
        </p:txBody>
      </p:sp>
    </p:spTree>
    <p:extLst>
      <p:ext uri="{BB962C8B-B14F-4D97-AF65-F5344CB8AC3E}">
        <p14:creationId xmlns:p14="http://schemas.microsoft.com/office/powerpoint/2010/main" val="16953219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box(in)">
                                      <p:cBhvr>
                                        <p:cTn id="7" dur="500"/>
                                        <p:tgtEl>
                                          <p:spTgt spid="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1"/>
                                        </p:tgtEl>
                                        <p:attrNameLst>
                                          <p:attrName>style.visibility</p:attrName>
                                        </p:attrNameLst>
                                      </p:cBhvr>
                                      <p:to>
                                        <p:strVal val="visible"/>
                                      </p:to>
                                    </p:set>
                                    <p:animEffect transition="in" filter="box(in)">
                                      <p:cBhvr>
                                        <p:cTn id="12" dur="500"/>
                                        <p:tgtEl>
                                          <p:spTgt spid="6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box(in)">
                                      <p:cBhvr>
                                        <p:cTn id="17" dur="500"/>
                                        <p:tgtEl>
                                          <p:spTgt spid="6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63"/>
                                        </p:tgtEl>
                                        <p:attrNameLst>
                                          <p:attrName>style.visibility</p:attrName>
                                        </p:attrNameLst>
                                      </p:cBhvr>
                                      <p:to>
                                        <p:strVal val="visible"/>
                                      </p:to>
                                    </p:set>
                                    <p:animEffect transition="in" filter="diamond(in)">
                                      <p:cBhvr>
                                        <p:cTn id="22" dur="2000"/>
                                        <p:tgtEl>
                                          <p:spTgt spid="6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64"/>
                                        </p:tgtEl>
                                        <p:attrNameLst>
                                          <p:attrName>style.visibility</p:attrName>
                                        </p:attrNameLst>
                                      </p:cBhvr>
                                      <p:to>
                                        <p:strVal val="visible"/>
                                      </p:to>
                                    </p:set>
                                    <p:animEffect transition="in" filter="diamond(in)">
                                      <p:cBhvr>
                                        <p:cTn id="27" dur="20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1" grpId="0"/>
      <p:bldP spid="62" grpId="0"/>
      <p:bldP spid="63" grpId="0"/>
      <p:bldP spid="64" grpId="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3"/>
          <p:cNvSpPr>
            <a:spLocks noGrp="1" noChangeArrowheads="1"/>
          </p:cNvSpPr>
          <p:nvPr>
            <p:ph type="body" sz="half" idx="1"/>
          </p:nvPr>
        </p:nvSpPr>
        <p:spPr>
          <a:xfrm>
            <a:off x="0" y="1077913"/>
            <a:ext cx="8686800" cy="5780087"/>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switch(k);              </a:t>
            </a:r>
            <a:r>
              <a:rPr kumimoji="1" lang="en-US" altLang="zh-CN" sz="2400" b="1">
                <a:solidFill>
                  <a:srgbClr val="FF0000"/>
                </a:solidFill>
                <a:latin typeface="幼圆" pitchFamily="49" charset="-122"/>
                <a:ea typeface="幼圆" pitchFamily="49" charset="-122"/>
              </a:rPr>
              <a:t>/* </a:t>
            </a:r>
            <a:r>
              <a:rPr kumimoji="1" lang="zh-CN" altLang="en-US" sz="2400" b="1">
                <a:solidFill>
                  <a:srgbClr val="FF0000"/>
                </a:solidFill>
                <a:latin typeface="幼圆" pitchFamily="49" charset="-122"/>
                <a:ea typeface="幼圆" pitchFamily="49" charset="-122"/>
              </a:rPr>
              <a:t>不能出现分号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{case1:      j=1</a:t>
            </a:r>
            <a:r>
              <a:rPr kumimoji="1" lang="en-US" altLang="zh-CN" sz="2400" b="1">
                <a:solidFill>
                  <a:srgbClr val="FF0000"/>
                </a:solidFill>
                <a:latin typeface="幼圆" pitchFamily="49" charset="-122"/>
                <a:ea typeface="幼圆" pitchFamily="49" charset="-122"/>
              </a:rPr>
              <a:t>;     /* case </a:t>
            </a:r>
            <a:r>
              <a:rPr kumimoji="1" lang="zh-CN" altLang="en-US" sz="2400" b="1">
                <a:solidFill>
                  <a:srgbClr val="FF0000"/>
                </a:solidFill>
                <a:latin typeface="幼圆" pitchFamily="49" charset="-122"/>
                <a:ea typeface="幼圆" pitchFamily="49" charset="-122"/>
              </a:rPr>
              <a:t>和1应分开：</a:t>
            </a:r>
            <a:r>
              <a:rPr kumimoji="1" lang="en-US" altLang="zh-CN" sz="2400" b="1">
                <a:solidFill>
                  <a:srgbClr val="FF0000"/>
                </a:solidFill>
                <a:latin typeface="幼圆" pitchFamily="49" charset="-122"/>
                <a:ea typeface="幼圆" pitchFamily="49" charset="-122"/>
              </a:rPr>
              <a:t>case 1: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case 1.2:   j++;    </a:t>
            </a:r>
            <a:r>
              <a:rPr kumimoji="1" lang="en-US" altLang="zh-CN" sz="2400" b="1">
                <a:solidFill>
                  <a:srgbClr val="FF0000"/>
                </a:solidFill>
                <a:latin typeface="幼圆" pitchFamily="49" charset="-122"/>
                <a:ea typeface="幼圆" pitchFamily="49" charset="-122"/>
              </a:rPr>
              <a:t>/* case</a:t>
            </a:r>
            <a:r>
              <a:rPr kumimoji="1" lang="zh-CN" altLang="en-US" sz="2400" b="1">
                <a:solidFill>
                  <a:srgbClr val="FF0000"/>
                </a:solidFill>
                <a:latin typeface="幼圆" pitchFamily="49" charset="-122"/>
                <a:ea typeface="幼圆" pitchFamily="49" charset="-122"/>
              </a:rPr>
              <a:t>后为整型或字符型常量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case 1+1:  k++;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case    2:  h--;      </a:t>
            </a:r>
            <a:r>
              <a:rPr kumimoji="1" lang="en-US" altLang="zh-CN" sz="2400" b="1">
                <a:solidFill>
                  <a:srgbClr val="FF0000"/>
                </a:solidFill>
                <a:latin typeface="幼圆" pitchFamily="49" charset="-122"/>
                <a:ea typeface="幼圆" pitchFamily="49" charset="-122"/>
              </a:rPr>
              <a:t>/* </a:t>
            </a:r>
            <a:r>
              <a:rPr kumimoji="1" lang="zh-CN" altLang="en-US" sz="2400" b="1">
                <a:solidFill>
                  <a:srgbClr val="FF0000"/>
                </a:solidFill>
                <a:latin typeface="幼圆" pitchFamily="49" charset="-122"/>
                <a:ea typeface="幼圆" pitchFamily="49" charset="-122"/>
              </a:rPr>
              <a:t>不能出现相同</a:t>
            </a:r>
            <a:r>
              <a:rPr kumimoji="1" lang="en-US" altLang="zh-CN" sz="2400" b="1">
                <a:solidFill>
                  <a:srgbClr val="FF0000"/>
                </a:solidFill>
                <a:latin typeface="幼圆" pitchFamily="49" charset="-122"/>
                <a:ea typeface="幼圆" pitchFamily="49" charset="-122"/>
              </a:rPr>
              <a:t>case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case    a:  g++;    </a:t>
            </a:r>
            <a:r>
              <a:rPr kumimoji="1" lang="en-US" altLang="zh-CN" sz="2400" b="1">
                <a:solidFill>
                  <a:srgbClr val="FF0000"/>
                </a:solidFill>
                <a:latin typeface="幼圆" pitchFamily="49" charset="-122"/>
                <a:ea typeface="幼圆" pitchFamily="49" charset="-122"/>
              </a:rPr>
              <a:t>/* </a:t>
            </a:r>
            <a:r>
              <a:rPr kumimoji="1" lang="zh-CN" altLang="en-US" sz="2400" b="1">
                <a:solidFill>
                  <a:srgbClr val="FF0000"/>
                </a:solidFill>
                <a:latin typeface="幼圆" pitchFamily="49" charset="-122"/>
                <a:ea typeface="幼圆" pitchFamily="49" charset="-122"/>
              </a:rPr>
              <a:t>不能出现变量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int i=10,j=0;</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switch(j</a:t>
            </a:r>
            <a:r>
              <a:rPr kumimoji="1" lang="en-US" altLang="zh-CN" sz="2400" b="1">
                <a:solidFill>
                  <a:srgbClr val="FF0000"/>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i)</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{case 0:  i+=1;   /*(1)*/</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case 10: i/=2;   /*(2)*/</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default: i%=3;</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i=2    </a:t>
            </a:r>
            <a:r>
              <a:rPr kumimoji="1" lang="zh-CN" altLang="en-US" sz="2400" b="1">
                <a:solidFill>
                  <a:schemeClr val="tx2"/>
                </a:solidFill>
                <a:latin typeface="幼圆" pitchFamily="49" charset="-122"/>
                <a:ea typeface="幼圆" pitchFamily="49" charset="-122"/>
              </a:rPr>
              <a:t>若在(1),(2)后加</a:t>
            </a:r>
            <a:r>
              <a:rPr kumimoji="1" lang="en-US" altLang="zh-CN" sz="2400" b="1">
                <a:solidFill>
                  <a:schemeClr val="tx2"/>
                </a:solidFill>
                <a:latin typeface="幼圆" pitchFamily="49" charset="-122"/>
                <a:ea typeface="幼圆" pitchFamily="49" charset="-122"/>
              </a:rPr>
              <a:t>break; ,</a:t>
            </a:r>
            <a:r>
              <a:rPr kumimoji="1" lang="zh-CN" altLang="en-US" sz="2400" b="1">
                <a:solidFill>
                  <a:schemeClr val="tx2"/>
                </a:solidFill>
                <a:latin typeface="幼圆" pitchFamily="49" charset="-122"/>
                <a:ea typeface="幼圆" pitchFamily="49" charset="-122"/>
              </a:rPr>
              <a:t>则</a:t>
            </a:r>
            <a:r>
              <a:rPr kumimoji="1" lang="en-US" altLang="zh-CN" sz="2400" b="1">
                <a:solidFill>
                  <a:schemeClr val="tx2"/>
                </a:solidFill>
                <a:latin typeface="幼圆" pitchFamily="49" charset="-122"/>
                <a:ea typeface="幼圆" pitchFamily="49" charset="-122"/>
              </a:rPr>
              <a:t>i=5</a:t>
            </a:r>
            <a:endParaRPr kumimoji="1" lang="zh-CN" altLang="en-US" sz="2400" b="1">
              <a:solidFill>
                <a:schemeClr val="tx2"/>
              </a:solidFill>
              <a:latin typeface="幼圆" pitchFamily="49" charset="-122"/>
              <a:ea typeface="幼圆" pitchFamily="49" charset="-122"/>
            </a:endParaRPr>
          </a:p>
        </p:txBody>
      </p:sp>
      <p:sp>
        <p:nvSpPr>
          <p:cNvPr id="63491" name="Rectangle 4"/>
          <p:cNvSpPr>
            <a:spLocks noChangeArrowheads="1"/>
          </p:cNvSpPr>
          <p:nvPr/>
        </p:nvSpPr>
        <p:spPr bwMode="auto">
          <a:xfrm>
            <a:off x="0" y="533400"/>
            <a:ext cx="32784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开关语句</a:t>
            </a:r>
          </a:p>
        </p:txBody>
      </p:sp>
    </p:spTree>
    <p:extLst>
      <p:ext uri="{BB962C8B-B14F-4D97-AF65-F5344CB8AC3E}">
        <p14:creationId xmlns:p14="http://schemas.microsoft.com/office/powerpoint/2010/main" val="2868047159"/>
      </p:ext>
    </p:extLst>
  </p:cSld>
  <p:clrMapOvr>
    <a:masterClrMapping/>
  </p:clrMapOvr>
  <p:transition>
    <p:wedge/>
  </p:transition>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3"/>
          <p:cNvSpPr>
            <a:spLocks noGrp="1" noChangeArrowheads="1"/>
          </p:cNvSpPr>
          <p:nvPr>
            <p:ph type="body" sz="half" idx="1"/>
          </p:nvPr>
        </p:nvSpPr>
        <p:spPr>
          <a:xfrm>
            <a:off x="0" y="1143000"/>
            <a:ext cx="9144000" cy="5337175"/>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main( ) /*</a:t>
            </a:r>
            <a:r>
              <a:rPr kumimoji="1" lang="zh-CN" altLang="en-US" sz="2400" b="1">
                <a:solidFill>
                  <a:schemeClr val="tx2"/>
                </a:solidFill>
                <a:latin typeface="幼圆" pitchFamily="49" charset="-122"/>
                <a:ea typeface="幼圆" pitchFamily="49" charset="-122"/>
                <a:sym typeface="Symbol" pitchFamily="18" charset="2"/>
              </a:rPr>
              <a:t>嵌套</a:t>
            </a:r>
            <a:r>
              <a:rPr kumimoji="1" lang="en-US" altLang="zh-CN" sz="2400" b="1">
                <a:solidFill>
                  <a:schemeClr val="tx2"/>
                </a:solidFill>
                <a:latin typeface="幼圆" pitchFamily="49" charset="-122"/>
                <a:ea typeface="幼圆" pitchFamily="49" charset="-122"/>
                <a:sym typeface="Symbol" pitchFamily="18" charset="2"/>
              </a:rPr>
              <a:t>switch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{int y,x,z;  scanf(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%d,%d,%d</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,&amp;x,&amp;y,&amp;z);</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switch(x)</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 case 0: switch(y= =0)</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{case 1: printf(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);break;</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case 0: printf(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case 1: switch(z)</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{default: printf(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);break;</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case 1: printf(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);break;</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case 0: printf(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default: printf(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!!!\n</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a:t>
            </a:r>
            <a:r>
              <a:rPr kumimoji="1" lang="zh-CN" altLang="en-US" sz="2400" b="1">
                <a:solidFill>
                  <a:schemeClr val="tx2"/>
                </a:solidFill>
                <a:latin typeface="幼圆" pitchFamily="49" charset="-122"/>
                <a:ea typeface="幼圆" pitchFamily="49" charset="-122"/>
                <a:sym typeface="Symbol" pitchFamily="18" charset="2"/>
              </a:rPr>
              <a:t>输入0,2,3  </a:t>
            </a:r>
            <a:r>
              <a:rPr kumimoji="1" lang="zh-CN" altLang="zh-CN" sz="2400" b="1">
                <a:solidFill>
                  <a:schemeClr val="tx2"/>
                </a:solidFill>
                <a:latin typeface="幼圆" pitchFamily="49" charset="-122"/>
                <a:ea typeface="幼圆" pitchFamily="49" charset="-122"/>
                <a:sym typeface="Symbol" pitchFamily="18" charset="2"/>
              </a:rPr>
              <a:t>输出 </a:t>
            </a:r>
            <a:r>
              <a:rPr kumimoji="1" lang="zh-CN" altLang="en-US" sz="2400" b="1">
                <a:solidFill>
                  <a:schemeClr val="tx2"/>
                </a:solidFill>
                <a:latin typeface="幼圆" pitchFamily="49" charset="-122"/>
                <a:ea typeface="幼圆" pitchFamily="49" charset="-122"/>
              </a:rPr>
              <a:t>+#!!!</a:t>
            </a:r>
            <a:r>
              <a:rPr kumimoji="1" lang="zh-CN" altLang="en-US" sz="2400" b="1">
                <a:solidFill>
                  <a:schemeClr val="tx2"/>
                </a:solidFill>
                <a:latin typeface="幼圆" pitchFamily="49" charset="-122"/>
                <a:ea typeface="幼圆" pitchFamily="49" charset="-122"/>
                <a:sym typeface="Symbol" pitchFamily="18" charset="2"/>
              </a:rPr>
              <a:t> 输入3,2,0  </a:t>
            </a:r>
            <a:r>
              <a:rPr kumimoji="1" lang="zh-CN" altLang="zh-CN" sz="2400" b="1">
                <a:solidFill>
                  <a:schemeClr val="tx2"/>
                </a:solidFill>
                <a:latin typeface="幼圆" pitchFamily="49" charset="-122"/>
                <a:ea typeface="幼圆" pitchFamily="49" charset="-122"/>
                <a:sym typeface="Symbol" pitchFamily="18" charset="2"/>
              </a:rPr>
              <a:t>输出</a:t>
            </a:r>
            <a:r>
              <a:rPr kumimoji="1" lang="zh-CN" altLang="en-US" sz="2400" b="1">
                <a:solidFill>
                  <a:schemeClr val="tx2"/>
                </a:solidFill>
                <a:latin typeface="幼圆" pitchFamily="49" charset="-122"/>
                <a:ea typeface="幼圆" pitchFamily="49" charset="-122"/>
                <a:sym typeface="Symbol" pitchFamily="18" charset="2"/>
              </a:rPr>
              <a:t> </a:t>
            </a:r>
            <a:r>
              <a:rPr kumimoji="1" lang="zh-CN" altLang="en-US" sz="2400" b="1">
                <a:solidFill>
                  <a:schemeClr val="tx2"/>
                </a:solidFill>
                <a:latin typeface="幼圆" pitchFamily="49" charset="-122"/>
                <a:ea typeface="幼圆" pitchFamily="49" charset="-122"/>
              </a:rPr>
              <a:t>!!!</a:t>
            </a:r>
            <a:r>
              <a:rPr kumimoji="1" lang="zh-CN" altLang="en-US" sz="2400" b="1">
                <a:solidFill>
                  <a:schemeClr val="tx2"/>
                </a:solidFill>
                <a:latin typeface="幼圆" pitchFamily="49" charset="-122"/>
                <a:ea typeface="幼圆" pitchFamily="49" charset="-122"/>
                <a:sym typeface="Symbol" pitchFamily="18" charset="2"/>
              </a:rPr>
              <a:t> </a:t>
            </a:r>
          </a:p>
        </p:txBody>
      </p:sp>
      <p:sp>
        <p:nvSpPr>
          <p:cNvPr id="4" name="Rectangle 4"/>
          <p:cNvSpPr>
            <a:spLocks noChangeArrowheads="1"/>
          </p:cNvSpPr>
          <p:nvPr/>
        </p:nvSpPr>
        <p:spPr bwMode="auto">
          <a:xfrm>
            <a:off x="0" y="533400"/>
            <a:ext cx="32784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开关语句</a:t>
            </a:r>
          </a:p>
        </p:txBody>
      </p:sp>
    </p:spTree>
    <p:extLst>
      <p:ext uri="{BB962C8B-B14F-4D97-AF65-F5344CB8AC3E}">
        <p14:creationId xmlns:p14="http://schemas.microsoft.com/office/powerpoint/2010/main" val="2301424604"/>
      </p:ext>
    </p:extLst>
  </p:cSld>
  <p:clrMapOvr>
    <a:masterClrMapping/>
  </p:clrMapOvr>
  <p:transition>
    <p:wedge/>
  </p:transition>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4963" name="Rectangle 3"/>
          <p:cNvSpPr>
            <a:spLocks noGrp="1" noChangeArrowheads="1"/>
          </p:cNvSpPr>
          <p:nvPr>
            <p:ph type="body" sz="half" idx="1"/>
          </p:nvPr>
        </p:nvSpPr>
        <p:spPr>
          <a:xfrm>
            <a:off x="247650" y="1333500"/>
            <a:ext cx="8610600" cy="5448300"/>
          </a:xfrm>
        </p:spPr>
        <p:txBody>
          <a:bodyPr/>
          <a:lstStyle/>
          <a:p>
            <a:pPr>
              <a:lnSpc>
                <a:spcPct val="110000"/>
              </a:lnSpc>
            </a:pPr>
            <a:r>
              <a:rPr lang="en-US" altLang="en-US" b="1">
                <a:solidFill>
                  <a:srgbClr val="C00000"/>
                </a:solidFill>
              </a:rPr>
              <a:t>Break</a:t>
            </a:r>
            <a:r>
              <a:rPr lang="zh-CN" altLang="en-US" b="1">
                <a:solidFill>
                  <a:srgbClr val="C00000"/>
                </a:solidFill>
                <a:ea typeface="宋体" pitchFamily="2" charset="-122"/>
              </a:rPr>
              <a:t>语句格式</a:t>
            </a:r>
          </a:p>
          <a:p>
            <a:pPr marL="1162050" lvl="2" algn="ctr">
              <a:lnSpc>
                <a:spcPct val="110000"/>
              </a:lnSpc>
              <a:buFont typeface="Wingdings" pitchFamily="2" charset="2"/>
              <a:buNone/>
            </a:pPr>
            <a:r>
              <a:rPr lang="en-US" altLang="zh-CN" sz="3200" b="1">
                <a:solidFill>
                  <a:srgbClr val="1306BA"/>
                </a:solidFill>
                <a:latin typeface="Arial" pitchFamily="34" charset="0"/>
                <a:ea typeface="宋体" pitchFamily="2" charset="-122"/>
              </a:rPr>
              <a:t>break</a:t>
            </a:r>
            <a:r>
              <a:rPr lang="zh-CN" altLang="en-US" sz="3200" b="1">
                <a:solidFill>
                  <a:srgbClr val="1306BA"/>
                </a:solidFill>
                <a:latin typeface="Arial" pitchFamily="34" charset="0"/>
                <a:ea typeface="宋体" pitchFamily="2" charset="-122"/>
              </a:rPr>
              <a:t>；</a:t>
            </a:r>
          </a:p>
          <a:p>
            <a:pPr>
              <a:lnSpc>
                <a:spcPct val="110000"/>
              </a:lnSpc>
            </a:pPr>
            <a:r>
              <a:rPr lang="en-US" altLang="en-US" b="1">
                <a:solidFill>
                  <a:srgbClr val="C00000"/>
                </a:solidFill>
              </a:rPr>
              <a:t>break</a:t>
            </a:r>
            <a:r>
              <a:rPr lang="zh-CN" altLang="en-US" b="1">
                <a:solidFill>
                  <a:srgbClr val="C00000"/>
                </a:solidFill>
                <a:ea typeface="宋体" pitchFamily="2" charset="-122"/>
              </a:rPr>
              <a:t>语句的功能</a:t>
            </a:r>
          </a:p>
          <a:p>
            <a:pPr>
              <a:lnSpc>
                <a:spcPct val="110000"/>
              </a:lnSpc>
              <a:buFont typeface="Wingdings" pitchFamily="2" charset="2"/>
              <a:buNone/>
            </a:pPr>
            <a:r>
              <a:rPr lang="zh-CN" altLang="en-US" b="1">
                <a:ea typeface="宋体" pitchFamily="2" charset="-122"/>
              </a:rPr>
              <a:t>      1.在</a:t>
            </a:r>
            <a:r>
              <a:rPr lang="en-US" altLang="zh-CN" b="1">
                <a:solidFill>
                  <a:srgbClr val="1306BA"/>
                </a:solidFill>
                <a:ea typeface="宋体" pitchFamily="2" charset="-122"/>
              </a:rPr>
              <a:t>switch</a:t>
            </a:r>
            <a:r>
              <a:rPr lang="zh-CN" altLang="en-US" b="1">
                <a:ea typeface="宋体" pitchFamily="2" charset="-122"/>
              </a:rPr>
              <a:t>语句中结束</a:t>
            </a:r>
            <a:r>
              <a:rPr lang="en-US" altLang="zh-CN" b="1">
                <a:solidFill>
                  <a:srgbClr val="1306BA"/>
                </a:solidFill>
                <a:ea typeface="宋体" pitchFamily="2" charset="-122"/>
              </a:rPr>
              <a:t>case</a:t>
            </a:r>
            <a:r>
              <a:rPr lang="zh-CN" altLang="en-US" b="1">
                <a:ea typeface="宋体" pitchFamily="2" charset="-122"/>
              </a:rPr>
              <a:t>子句，使控制转到</a:t>
            </a:r>
            <a:r>
              <a:rPr lang="en-US" altLang="zh-CN" b="1">
                <a:ea typeface="宋体" pitchFamily="2" charset="-122"/>
              </a:rPr>
              <a:t>switch</a:t>
            </a:r>
            <a:r>
              <a:rPr lang="zh-CN" altLang="en-US" b="1">
                <a:ea typeface="宋体" pitchFamily="2" charset="-122"/>
              </a:rPr>
              <a:t>语句之外。</a:t>
            </a:r>
          </a:p>
          <a:p>
            <a:pPr>
              <a:lnSpc>
                <a:spcPct val="110000"/>
              </a:lnSpc>
              <a:buFont typeface="Wingdings" pitchFamily="2" charset="2"/>
              <a:buNone/>
            </a:pPr>
            <a:r>
              <a:rPr lang="zh-CN" altLang="en-US" b="1">
                <a:ea typeface="宋体" pitchFamily="2" charset="-122"/>
              </a:rPr>
              <a:t>      2.在</a:t>
            </a:r>
            <a:r>
              <a:rPr lang="zh-CN" altLang="en-US" b="1">
                <a:solidFill>
                  <a:srgbClr val="1306BA"/>
                </a:solidFill>
                <a:ea typeface="宋体" pitchFamily="2" charset="-122"/>
              </a:rPr>
              <a:t>循环</a:t>
            </a:r>
            <a:r>
              <a:rPr lang="zh-CN" altLang="en-US" b="1">
                <a:ea typeface="宋体" pitchFamily="2" charset="-122"/>
              </a:rPr>
              <a:t>语句的循环体中使用，结束循环过程，使控制转移到整个</a:t>
            </a:r>
            <a:r>
              <a:rPr lang="zh-CN" altLang="en-US" b="1">
                <a:solidFill>
                  <a:srgbClr val="1306BA"/>
                </a:solidFill>
                <a:ea typeface="宋体" pitchFamily="2" charset="-122"/>
              </a:rPr>
              <a:t>循环语句之外</a:t>
            </a:r>
            <a:r>
              <a:rPr lang="zh-CN" altLang="en-US" b="1">
                <a:ea typeface="宋体" pitchFamily="2" charset="-122"/>
              </a:rPr>
              <a:t>的下一条语句处。</a:t>
            </a:r>
          </a:p>
        </p:txBody>
      </p:sp>
      <p:sp>
        <p:nvSpPr>
          <p:cNvPr id="4" name="Rectangle 4"/>
          <p:cNvSpPr>
            <a:spLocks noChangeArrowheads="1"/>
          </p:cNvSpPr>
          <p:nvPr/>
        </p:nvSpPr>
        <p:spPr bwMode="auto">
          <a:xfrm>
            <a:off x="0" y="533400"/>
            <a:ext cx="32784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defRPr/>
            </a:pPr>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开关语句</a:t>
            </a:r>
          </a:p>
        </p:txBody>
      </p:sp>
    </p:spTree>
    <p:extLst>
      <p:ext uri="{BB962C8B-B14F-4D97-AF65-F5344CB8AC3E}">
        <p14:creationId xmlns:p14="http://schemas.microsoft.com/office/powerpoint/2010/main" val="2630161321"/>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24963">
                                            <p:txEl>
                                              <p:pRg st="0" end="0"/>
                                            </p:txEl>
                                          </p:spTgt>
                                        </p:tgtEl>
                                        <p:attrNameLst>
                                          <p:attrName>style.visibility</p:attrName>
                                        </p:attrNameLst>
                                      </p:cBhvr>
                                      <p:to>
                                        <p:strVal val="visible"/>
                                      </p:to>
                                    </p:set>
                                    <p:animEffect transition="in" filter="wipe(left)">
                                      <p:cBhvr>
                                        <p:cTn id="7" dur="500"/>
                                        <p:tgtEl>
                                          <p:spTgt spid="42496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24963">
                                            <p:txEl>
                                              <p:pRg st="1" end="1"/>
                                            </p:txEl>
                                          </p:spTgt>
                                        </p:tgtEl>
                                        <p:attrNameLst>
                                          <p:attrName>style.visibility</p:attrName>
                                        </p:attrNameLst>
                                      </p:cBhvr>
                                      <p:to>
                                        <p:strVal val="visible"/>
                                      </p:to>
                                    </p:set>
                                    <p:animEffect transition="in" filter="wipe(left)">
                                      <p:cBhvr>
                                        <p:cTn id="10" dur="500"/>
                                        <p:tgtEl>
                                          <p:spTgt spid="424963">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24963">
                                            <p:txEl>
                                              <p:pRg st="2" end="2"/>
                                            </p:txEl>
                                          </p:spTgt>
                                        </p:tgtEl>
                                        <p:attrNameLst>
                                          <p:attrName>style.visibility</p:attrName>
                                        </p:attrNameLst>
                                      </p:cBhvr>
                                      <p:to>
                                        <p:strVal val="visible"/>
                                      </p:to>
                                    </p:set>
                                    <p:animEffect transition="in" filter="wipe(left)">
                                      <p:cBhvr>
                                        <p:cTn id="15" dur="500"/>
                                        <p:tgtEl>
                                          <p:spTgt spid="424963">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24963">
                                            <p:txEl>
                                              <p:pRg st="3" end="3"/>
                                            </p:txEl>
                                          </p:spTgt>
                                        </p:tgtEl>
                                        <p:attrNameLst>
                                          <p:attrName>style.visibility</p:attrName>
                                        </p:attrNameLst>
                                      </p:cBhvr>
                                      <p:to>
                                        <p:strVal val="visible"/>
                                      </p:to>
                                    </p:set>
                                    <p:animEffect transition="in" filter="wipe(left)">
                                      <p:cBhvr>
                                        <p:cTn id="20" dur="500"/>
                                        <p:tgtEl>
                                          <p:spTgt spid="424963">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424963">
                                            <p:txEl>
                                              <p:pRg st="4" end="4"/>
                                            </p:txEl>
                                          </p:spTgt>
                                        </p:tgtEl>
                                        <p:attrNameLst>
                                          <p:attrName>style.visibility</p:attrName>
                                        </p:attrNameLst>
                                      </p:cBhvr>
                                      <p:to>
                                        <p:strVal val="visible"/>
                                      </p:to>
                                    </p:set>
                                    <p:animEffect transition="in" filter="wipe(left)">
                                      <p:cBhvr>
                                        <p:cTn id="25" dur="500"/>
                                        <p:tgtEl>
                                          <p:spTgt spid="4249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63" grpId="0" build="p"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67586" name="Group 43"/>
          <p:cNvGrpSpPr>
            <a:grpSpLocks/>
          </p:cNvGrpSpPr>
          <p:nvPr/>
        </p:nvGrpSpPr>
        <p:grpSpPr bwMode="auto">
          <a:xfrm>
            <a:off x="3124200" y="2138363"/>
            <a:ext cx="3295650" cy="4254500"/>
            <a:chOff x="2040" y="1252"/>
            <a:chExt cx="2076" cy="2680"/>
          </a:xfrm>
        </p:grpSpPr>
        <p:sp>
          <p:nvSpPr>
            <p:cNvPr id="67641" name="AutoShape 23"/>
            <p:cNvSpPr>
              <a:spLocks noChangeArrowheads="1"/>
            </p:cNvSpPr>
            <p:nvPr/>
          </p:nvSpPr>
          <p:spPr bwMode="auto">
            <a:xfrm>
              <a:off x="2262" y="1666"/>
              <a:ext cx="1254" cy="330"/>
            </a:xfrm>
            <a:prstGeom prst="diamond">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400"/>
            </a:p>
          </p:txBody>
        </p:sp>
        <p:sp>
          <p:nvSpPr>
            <p:cNvPr id="67642" name="Text Box 24"/>
            <p:cNvSpPr txBox="1">
              <a:spLocks noChangeArrowheads="1"/>
            </p:cNvSpPr>
            <p:nvPr/>
          </p:nvSpPr>
          <p:spPr bwMode="auto">
            <a:xfrm>
              <a:off x="2453" y="1702"/>
              <a:ext cx="89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r>
                <a:rPr lang="zh-CN" altLang="en-US" sz="2400">
                  <a:latin typeface="Arial" pitchFamily="34" charset="0"/>
                </a:rPr>
                <a:t>表达式2?</a:t>
              </a:r>
            </a:p>
          </p:txBody>
        </p:sp>
        <p:sp>
          <p:nvSpPr>
            <p:cNvPr id="67643" name="Line 26"/>
            <p:cNvSpPr>
              <a:spLocks noChangeShapeType="1"/>
            </p:cNvSpPr>
            <p:nvPr/>
          </p:nvSpPr>
          <p:spPr bwMode="auto">
            <a:xfrm>
              <a:off x="2880" y="1492"/>
              <a:ext cx="0" cy="180"/>
            </a:xfrm>
            <a:prstGeom prst="line">
              <a:avLst/>
            </a:prstGeom>
            <a:noFill/>
            <a:ln w="28575">
              <a:solidFill>
                <a:srgbClr val="0070C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4" name="Line 27"/>
            <p:cNvSpPr>
              <a:spLocks noChangeShapeType="1"/>
            </p:cNvSpPr>
            <p:nvPr/>
          </p:nvSpPr>
          <p:spPr bwMode="auto">
            <a:xfrm>
              <a:off x="2880" y="1996"/>
              <a:ext cx="0" cy="216"/>
            </a:xfrm>
            <a:prstGeom prst="line">
              <a:avLst/>
            </a:prstGeom>
            <a:noFill/>
            <a:ln w="28575">
              <a:solidFill>
                <a:srgbClr val="0070C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5" name="Line 28"/>
            <p:cNvSpPr>
              <a:spLocks noChangeShapeType="1"/>
            </p:cNvSpPr>
            <p:nvPr/>
          </p:nvSpPr>
          <p:spPr bwMode="auto">
            <a:xfrm>
              <a:off x="3504" y="1828"/>
              <a:ext cx="294" cy="0"/>
            </a:xfrm>
            <a:prstGeom prst="line">
              <a:avLst/>
            </a:prstGeom>
            <a:noFill/>
            <a:ln w="28575">
              <a:solidFill>
                <a:srgbClr val="0070C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6" name="Line 29"/>
            <p:cNvSpPr>
              <a:spLocks noChangeShapeType="1"/>
            </p:cNvSpPr>
            <p:nvPr/>
          </p:nvSpPr>
          <p:spPr bwMode="auto">
            <a:xfrm>
              <a:off x="3792" y="1846"/>
              <a:ext cx="0" cy="1680"/>
            </a:xfrm>
            <a:prstGeom prst="line">
              <a:avLst/>
            </a:prstGeom>
            <a:noFill/>
            <a:ln w="28575">
              <a:solidFill>
                <a:srgbClr val="0070C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7" name="Line 30"/>
            <p:cNvSpPr>
              <a:spLocks noChangeShapeType="1"/>
            </p:cNvSpPr>
            <p:nvPr/>
          </p:nvSpPr>
          <p:spPr bwMode="auto">
            <a:xfrm flipH="1">
              <a:off x="2880" y="2722"/>
              <a:ext cx="0" cy="252"/>
            </a:xfrm>
            <a:prstGeom prst="line">
              <a:avLst/>
            </a:prstGeom>
            <a:noFill/>
            <a:ln w="28575">
              <a:solidFill>
                <a:srgbClr val="0070C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8" name="Line 31"/>
            <p:cNvSpPr>
              <a:spLocks noChangeShapeType="1"/>
            </p:cNvSpPr>
            <p:nvPr/>
          </p:nvSpPr>
          <p:spPr bwMode="auto">
            <a:xfrm flipH="1">
              <a:off x="2880" y="3532"/>
              <a:ext cx="918" cy="0"/>
            </a:xfrm>
            <a:prstGeom prst="line">
              <a:avLst/>
            </a:prstGeom>
            <a:noFill/>
            <a:ln w="28575">
              <a:solidFill>
                <a:srgbClr val="0070C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9" name="Text Box 32"/>
            <p:cNvSpPr txBox="1">
              <a:spLocks noChangeArrowheads="1"/>
            </p:cNvSpPr>
            <p:nvPr/>
          </p:nvSpPr>
          <p:spPr bwMode="auto">
            <a:xfrm>
              <a:off x="2988" y="1942"/>
              <a:ext cx="504"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lnSpc>
                  <a:spcPct val="80000"/>
                </a:lnSpc>
              </a:pPr>
              <a:r>
                <a:rPr lang="zh-CN" altLang="en-US" sz="2400">
                  <a:latin typeface="Arial" pitchFamily="34" charset="0"/>
                </a:rPr>
                <a:t>成立</a:t>
              </a:r>
            </a:p>
          </p:txBody>
        </p:sp>
        <p:sp>
          <p:nvSpPr>
            <p:cNvPr id="67650" name="Text Box 33"/>
            <p:cNvSpPr txBox="1">
              <a:spLocks noChangeArrowheads="1"/>
            </p:cNvSpPr>
            <p:nvPr/>
          </p:nvSpPr>
          <p:spPr bwMode="auto">
            <a:xfrm>
              <a:off x="3396" y="1624"/>
              <a:ext cx="720"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lnSpc>
                  <a:spcPct val="80000"/>
                </a:lnSpc>
              </a:pPr>
              <a:r>
                <a:rPr lang="zh-CN" altLang="en-US" sz="2400">
                  <a:latin typeface="Arial" pitchFamily="34" charset="0"/>
                </a:rPr>
                <a:t>不成立</a:t>
              </a:r>
            </a:p>
          </p:txBody>
        </p:sp>
        <p:sp>
          <p:nvSpPr>
            <p:cNvPr id="67651" name="Line 34"/>
            <p:cNvSpPr>
              <a:spLocks noChangeShapeType="1"/>
            </p:cNvSpPr>
            <p:nvPr/>
          </p:nvSpPr>
          <p:spPr bwMode="auto">
            <a:xfrm flipH="1">
              <a:off x="2046" y="3382"/>
              <a:ext cx="846" cy="0"/>
            </a:xfrm>
            <a:prstGeom prst="line">
              <a:avLst/>
            </a:prstGeom>
            <a:noFill/>
            <a:ln w="28575">
              <a:solidFill>
                <a:srgbClr val="0070C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52" name="Line 35"/>
            <p:cNvSpPr>
              <a:spLocks noChangeShapeType="1"/>
            </p:cNvSpPr>
            <p:nvPr/>
          </p:nvSpPr>
          <p:spPr bwMode="auto">
            <a:xfrm flipV="1">
              <a:off x="2040" y="1576"/>
              <a:ext cx="852" cy="0"/>
            </a:xfrm>
            <a:prstGeom prst="line">
              <a:avLst/>
            </a:prstGeom>
            <a:noFill/>
            <a:ln w="28575">
              <a:solidFill>
                <a:srgbClr val="0070C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53" name="Line 36"/>
            <p:cNvSpPr>
              <a:spLocks noChangeShapeType="1"/>
            </p:cNvSpPr>
            <p:nvPr/>
          </p:nvSpPr>
          <p:spPr bwMode="auto">
            <a:xfrm flipH="1">
              <a:off x="2880" y="3526"/>
              <a:ext cx="0" cy="174"/>
            </a:xfrm>
            <a:prstGeom prst="line">
              <a:avLst/>
            </a:prstGeom>
            <a:noFill/>
            <a:ln w="28575">
              <a:solidFill>
                <a:srgbClr val="0070C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54" name="Text Box 37"/>
            <p:cNvSpPr txBox="1">
              <a:spLocks noChangeArrowheads="1"/>
            </p:cNvSpPr>
            <p:nvPr/>
          </p:nvSpPr>
          <p:spPr bwMode="auto">
            <a:xfrm>
              <a:off x="2214" y="3688"/>
              <a:ext cx="1332" cy="244"/>
            </a:xfrm>
            <a:prstGeom prst="rect">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lnSpc>
                  <a:spcPct val="80000"/>
                </a:lnSpc>
              </a:pPr>
              <a:r>
                <a:rPr lang="zh-CN" altLang="en-US" sz="2400">
                  <a:latin typeface="Arial" pitchFamily="34" charset="0"/>
                </a:rPr>
                <a:t>执行后续语句</a:t>
              </a:r>
            </a:p>
          </p:txBody>
        </p:sp>
        <p:sp>
          <p:nvSpPr>
            <p:cNvPr id="67655" name="Text Box 38"/>
            <p:cNvSpPr txBox="1">
              <a:spLocks noChangeArrowheads="1"/>
            </p:cNvSpPr>
            <p:nvPr/>
          </p:nvSpPr>
          <p:spPr bwMode="auto">
            <a:xfrm>
              <a:off x="2262" y="2962"/>
              <a:ext cx="1236" cy="244"/>
            </a:xfrm>
            <a:prstGeom prst="rect">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lnSpc>
                  <a:spcPct val="80000"/>
                </a:lnSpc>
              </a:pPr>
              <a:r>
                <a:rPr lang="zh-CN" altLang="en-US" sz="2400">
                  <a:latin typeface="Arial" pitchFamily="34" charset="0"/>
                </a:rPr>
                <a:t>执行表达式3</a:t>
              </a:r>
            </a:p>
          </p:txBody>
        </p:sp>
        <p:sp>
          <p:nvSpPr>
            <p:cNvPr id="67656" name="Line 39"/>
            <p:cNvSpPr>
              <a:spLocks noChangeShapeType="1"/>
            </p:cNvSpPr>
            <p:nvPr/>
          </p:nvSpPr>
          <p:spPr bwMode="auto">
            <a:xfrm>
              <a:off x="2886" y="3214"/>
              <a:ext cx="0" cy="180"/>
            </a:xfrm>
            <a:prstGeom prst="line">
              <a:avLst/>
            </a:prstGeom>
            <a:noFill/>
            <a:ln w="28575">
              <a:solidFill>
                <a:srgbClr val="0070C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57" name="Text Box 40"/>
            <p:cNvSpPr txBox="1">
              <a:spLocks noChangeArrowheads="1"/>
            </p:cNvSpPr>
            <p:nvPr/>
          </p:nvSpPr>
          <p:spPr bwMode="auto">
            <a:xfrm>
              <a:off x="2220" y="1252"/>
              <a:ext cx="1332" cy="244"/>
            </a:xfrm>
            <a:prstGeom prst="rect">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lnSpc>
                  <a:spcPct val="80000"/>
                </a:lnSpc>
              </a:pPr>
              <a:r>
                <a:rPr lang="zh-CN" altLang="en-US" sz="2400">
                  <a:latin typeface="Arial" pitchFamily="34" charset="0"/>
                </a:rPr>
                <a:t>执行表达式1</a:t>
              </a:r>
            </a:p>
          </p:txBody>
        </p:sp>
        <p:sp>
          <p:nvSpPr>
            <p:cNvPr id="67658" name="Line 41"/>
            <p:cNvSpPr>
              <a:spLocks noChangeShapeType="1"/>
            </p:cNvSpPr>
            <p:nvPr/>
          </p:nvSpPr>
          <p:spPr bwMode="auto">
            <a:xfrm flipV="1">
              <a:off x="2052" y="1582"/>
              <a:ext cx="0" cy="1806"/>
            </a:xfrm>
            <a:prstGeom prst="line">
              <a:avLst/>
            </a:prstGeom>
            <a:noFill/>
            <a:ln w="28575">
              <a:solidFill>
                <a:srgbClr val="0070C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7587" name="Line 64"/>
          <p:cNvSpPr>
            <a:spLocks noChangeShapeType="1"/>
          </p:cNvSpPr>
          <p:nvPr/>
        </p:nvSpPr>
        <p:spPr bwMode="auto">
          <a:xfrm>
            <a:off x="4419600" y="1827213"/>
            <a:ext cx="0" cy="273050"/>
          </a:xfrm>
          <a:prstGeom prst="line">
            <a:avLst/>
          </a:prstGeom>
          <a:noFill/>
          <a:ln w="28575" cap="rnd">
            <a:solidFill>
              <a:srgbClr val="0070C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nvGrpSpPr>
          <p:cNvPr id="67588" name="Group 21"/>
          <p:cNvGrpSpPr>
            <a:grpSpLocks/>
          </p:cNvGrpSpPr>
          <p:nvPr/>
        </p:nvGrpSpPr>
        <p:grpSpPr bwMode="auto">
          <a:xfrm>
            <a:off x="504825" y="2100263"/>
            <a:ext cx="3059113" cy="4292600"/>
            <a:chOff x="318" y="1228"/>
            <a:chExt cx="1927" cy="2704"/>
          </a:xfrm>
        </p:grpSpPr>
        <p:sp>
          <p:nvSpPr>
            <p:cNvPr id="67626" name="AutoShape 4"/>
            <p:cNvSpPr>
              <a:spLocks noChangeArrowheads="1"/>
            </p:cNvSpPr>
            <p:nvPr/>
          </p:nvSpPr>
          <p:spPr bwMode="auto">
            <a:xfrm>
              <a:off x="432" y="1666"/>
              <a:ext cx="1260" cy="330"/>
            </a:xfrm>
            <a:prstGeom prst="diamond">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400"/>
            </a:p>
          </p:txBody>
        </p:sp>
        <p:sp>
          <p:nvSpPr>
            <p:cNvPr id="67627" name="Text Box 5"/>
            <p:cNvSpPr txBox="1">
              <a:spLocks noChangeArrowheads="1"/>
            </p:cNvSpPr>
            <p:nvPr/>
          </p:nvSpPr>
          <p:spPr bwMode="auto">
            <a:xfrm>
              <a:off x="606" y="1672"/>
              <a:ext cx="89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r>
                <a:rPr lang="zh-CN" altLang="en-US" sz="2400">
                  <a:latin typeface="Arial" pitchFamily="34" charset="0"/>
                </a:rPr>
                <a:t>表达式?</a:t>
              </a:r>
            </a:p>
          </p:txBody>
        </p:sp>
        <p:sp>
          <p:nvSpPr>
            <p:cNvPr id="67628" name="Line 7"/>
            <p:cNvSpPr>
              <a:spLocks noChangeShapeType="1"/>
            </p:cNvSpPr>
            <p:nvPr/>
          </p:nvSpPr>
          <p:spPr bwMode="auto">
            <a:xfrm>
              <a:off x="1062" y="1228"/>
              <a:ext cx="0" cy="432"/>
            </a:xfrm>
            <a:prstGeom prst="line">
              <a:avLst/>
            </a:prstGeom>
            <a:noFill/>
            <a:ln w="28575">
              <a:solidFill>
                <a:srgbClr val="0070C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29" name="Line 8"/>
            <p:cNvSpPr>
              <a:spLocks noChangeShapeType="1"/>
            </p:cNvSpPr>
            <p:nvPr/>
          </p:nvSpPr>
          <p:spPr bwMode="auto">
            <a:xfrm>
              <a:off x="1056" y="1996"/>
              <a:ext cx="0" cy="216"/>
            </a:xfrm>
            <a:prstGeom prst="line">
              <a:avLst/>
            </a:prstGeom>
            <a:noFill/>
            <a:ln w="28575">
              <a:solidFill>
                <a:srgbClr val="0070C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30" name="Line 9"/>
            <p:cNvSpPr>
              <a:spLocks noChangeShapeType="1"/>
            </p:cNvSpPr>
            <p:nvPr/>
          </p:nvSpPr>
          <p:spPr bwMode="auto">
            <a:xfrm>
              <a:off x="1710" y="1822"/>
              <a:ext cx="150" cy="0"/>
            </a:xfrm>
            <a:prstGeom prst="line">
              <a:avLst/>
            </a:prstGeom>
            <a:noFill/>
            <a:ln w="28575">
              <a:solidFill>
                <a:srgbClr val="0070C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31" name="Line 10"/>
            <p:cNvSpPr>
              <a:spLocks noChangeShapeType="1"/>
            </p:cNvSpPr>
            <p:nvPr/>
          </p:nvSpPr>
          <p:spPr bwMode="auto">
            <a:xfrm>
              <a:off x="1854" y="1840"/>
              <a:ext cx="0" cy="1680"/>
            </a:xfrm>
            <a:prstGeom prst="line">
              <a:avLst/>
            </a:prstGeom>
            <a:noFill/>
            <a:ln w="28575">
              <a:solidFill>
                <a:srgbClr val="0070C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32" name="Line 11"/>
            <p:cNvSpPr>
              <a:spLocks noChangeShapeType="1"/>
            </p:cNvSpPr>
            <p:nvPr/>
          </p:nvSpPr>
          <p:spPr bwMode="auto">
            <a:xfrm flipH="1">
              <a:off x="1056" y="2722"/>
              <a:ext cx="0" cy="492"/>
            </a:xfrm>
            <a:prstGeom prst="line">
              <a:avLst/>
            </a:prstGeom>
            <a:noFill/>
            <a:ln w="28575">
              <a:solidFill>
                <a:srgbClr val="0070C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33" name="Line 12"/>
            <p:cNvSpPr>
              <a:spLocks noChangeShapeType="1"/>
            </p:cNvSpPr>
            <p:nvPr/>
          </p:nvSpPr>
          <p:spPr bwMode="auto">
            <a:xfrm flipH="1" flipV="1">
              <a:off x="1056" y="3532"/>
              <a:ext cx="798" cy="0"/>
            </a:xfrm>
            <a:prstGeom prst="line">
              <a:avLst/>
            </a:prstGeom>
            <a:noFill/>
            <a:ln w="28575">
              <a:solidFill>
                <a:srgbClr val="0070C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34" name="Text Box 13"/>
            <p:cNvSpPr txBox="1">
              <a:spLocks noChangeArrowheads="1"/>
            </p:cNvSpPr>
            <p:nvPr/>
          </p:nvSpPr>
          <p:spPr bwMode="auto">
            <a:xfrm>
              <a:off x="558" y="1966"/>
              <a:ext cx="504"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lnSpc>
                  <a:spcPct val="80000"/>
                </a:lnSpc>
              </a:pPr>
              <a:r>
                <a:rPr lang="zh-CN" altLang="en-US" sz="2400">
                  <a:latin typeface="Arial" pitchFamily="34" charset="0"/>
                </a:rPr>
                <a:t>成立</a:t>
              </a:r>
            </a:p>
          </p:txBody>
        </p:sp>
        <p:sp>
          <p:nvSpPr>
            <p:cNvPr id="67635" name="Text Box 14"/>
            <p:cNvSpPr txBox="1">
              <a:spLocks noChangeArrowheads="1"/>
            </p:cNvSpPr>
            <p:nvPr/>
          </p:nvSpPr>
          <p:spPr bwMode="auto">
            <a:xfrm>
              <a:off x="1512" y="1624"/>
              <a:ext cx="733"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lnSpc>
                  <a:spcPct val="80000"/>
                </a:lnSpc>
              </a:pPr>
              <a:r>
                <a:rPr lang="zh-CN" altLang="en-US" sz="2400">
                  <a:latin typeface="Arial" pitchFamily="34" charset="0"/>
                </a:rPr>
                <a:t>不成立</a:t>
              </a:r>
            </a:p>
          </p:txBody>
        </p:sp>
        <p:sp>
          <p:nvSpPr>
            <p:cNvPr id="67636" name="Line 15"/>
            <p:cNvSpPr>
              <a:spLocks noChangeShapeType="1"/>
            </p:cNvSpPr>
            <p:nvPr/>
          </p:nvSpPr>
          <p:spPr bwMode="auto">
            <a:xfrm flipV="1">
              <a:off x="318" y="1450"/>
              <a:ext cx="750" cy="0"/>
            </a:xfrm>
            <a:prstGeom prst="line">
              <a:avLst/>
            </a:prstGeom>
            <a:noFill/>
            <a:ln w="28575">
              <a:solidFill>
                <a:srgbClr val="0070C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37" name="Line 16"/>
            <p:cNvSpPr>
              <a:spLocks noChangeShapeType="1"/>
            </p:cNvSpPr>
            <p:nvPr/>
          </p:nvSpPr>
          <p:spPr bwMode="auto">
            <a:xfrm flipH="1">
              <a:off x="1056" y="3526"/>
              <a:ext cx="0" cy="174"/>
            </a:xfrm>
            <a:prstGeom prst="line">
              <a:avLst/>
            </a:prstGeom>
            <a:noFill/>
            <a:ln w="28575">
              <a:solidFill>
                <a:srgbClr val="0070C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38" name="Text Box 17"/>
            <p:cNvSpPr txBox="1">
              <a:spLocks noChangeArrowheads="1"/>
            </p:cNvSpPr>
            <p:nvPr/>
          </p:nvSpPr>
          <p:spPr bwMode="auto">
            <a:xfrm>
              <a:off x="414" y="3688"/>
              <a:ext cx="1296" cy="244"/>
            </a:xfrm>
            <a:prstGeom prst="rect">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lnSpc>
                  <a:spcPct val="80000"/>
                </a:lnSpc>
              </a:pPr>
              <a:r>
                <a:rPr lang="zh-CN" altLang="en-US" sz="2400">
                  <a:latin typeface="Arial" pitchFamily="34" charset="0"/>
                </a:rPr>
                <a:t>执行后续语句</a:t>
              </a:r>
            </a:p>
          </p:txBody>
        </p:sp>
        <p:sp>
          <p:nvSpPr>
            <p:cNvPr id="67639" name="Line 18"/>
            <p:cNvSpPr>
              <a:spLocks noChangeShapeType="1"/>
            </p:cNvSpPr>
            <p:nvPr/>
          </p:nvSpPr>
          <p:spPr bwMode="auto">
            <a:xfrm flipV="1">
              <a:off x="330" y="1456"/>
              <a:ext cx="0" cy="1770"/>
            </a:xfrm>
            <a:prstGeom prst="line">
              <a:avLst/>
            </a:prstGeom>
            <a:noFill/>
            <a:ln w="28575">
              <a:solidFill>
                <a:srgbClr val="0070C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40" name="Line 20"/>
            <p:cNvSpPr>
              <a:spLocks noChangeShapeType="1"/>
            </p:cNvSpPr>
            <p:nvPr/>
          </p:nvSpPr>
          <p:spPr bwMode="auto">
            <a:xfrm flipH="1" flipV="1">
              <a:off x="324" y="3220"/>
              <a:ext cx="732" cy="0"/>
            </a:xfrm>
            <a:prstGeom prst="line">
              <a:avLst/>
            </a:prstGeom>
            <a:noFill/>
            <a:ln w="28575">
              <a:solidFill>
                <a:srgbClr val="0070C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28051" name="Line 19"/>
          <p:cNvSpPr>
            <a:spLocks noChangeShapeType="1"/>
          </p:cNvSpPr>
          <p:nvPr/>
        </p:nvSpPr>
        <p:spPr bwMode="auto">
          <a:xfrm>
            <a:off x="2197100" y="4005263"/>
            <a:ext cx="746125" cy="0"/>
          </a:xfrm>
          <a:prstGeom prst="line">
            <a:avLst/>
          </a:prstGeom>
          <a:noFill/>
          <a:ln w="2857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8054" name="Text Box 22"/>
          <p:cNvSpPr txBox="1">
            <a:spLocks noChangeArrowheads="1"/>
          </p:cNvSpPr>
          <p:nvPr/>
        </p:nvSpPr>
        <p:spPr bwMode="auto">
          <a:xfrm>
            <a:off x="1152525" y="3746500"/>
            <a:ext cx="1133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rnd">
                <a:solidFill>
                  <a:srgbClr val="000000"/>
                </a:solidFill>
                <a:prstDash val="sysDot"/>
                <a:miter lim="800000"/>
                <a:headEnd/>
                <a:tailEnd/>
              </a14:hiddenLine>
            </a:ext>
          </a:extLst>
        </p:spPr>
        <p:txBody>
          <a:bodyPr anchor="ct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buClr>
                <a:srgbClr val="CC99FF"/>
              </a:buClr>
              <a:buFont typeface="Monotype Sorts"/>
              <a:buNone/>
            </a:pPr>
            <a:r>
              <a:rPr lang="en-US" altLang="en-US" sz="2800">
                <a:latin typeface="Arial" pitchFamily="34" charset="0"/>
                <a:sym typeface="Monotype Sorts"/>
              </a:rPr>
              <a:t>break</a:t>
            </a:r>
            <a:endParaRPr lang="en-US" altLang="zh-CN">
              <a:latin typeface="Arial" pitchFamily="34" charset="0"/>
              <a:sym typeface="Monotype Sorts"/>
            </a:endParaRPr>
          </a:p>
        </p:txBody>
      </p:sp>
      <p:sp>
        <p:nvSpPr>
          <p:cNvPr id="428074" name="Line 42"/>
          <p:cNvSpPr>
            <a:spLocks noChangeShapeType="1"/>
          </p:cNvSpPr>
          <p:nvPr/>
        </p:nvSpPr>
        <p:spPr bwMode="auto">
          <a:xfrm>
            <a:off x="5043488" y="4014788"/>
            <a:ext cx="847725" cy="0"/>
          </a:xfrm>
          <a:prstGeom prst="line">
            <a:avLst/>
          </a:prstGeom>
          <a:noFill/>
          <a:ln w="2857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8076" name="Text Box 44"/>
          <p:cNvSpPr txBox="1">
            <a:spLocks noChangeArrowheads="1"/>
          </p:cNvSpPr>
          <p:nvPr/>
        </p:nvSpPr>
        <p:spPr bwMode="auto">
          <a:xfrm>
            <a:off x="3886200" y="3746500"/>
            <a:ext cx="1133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rnd">
                <a:solidFill>
                  <a:srgbClr val="000000"/>
                </a:solidFill>
                <a:prstDash val="sysDot"/>
                <a:miter lim="800000"/>
                <a:headEnd/>
                <a:tailEnd/>
              </a14:hiddenLine>
            </a:ext>
          </a:extLst>
        </p:spPr>
        <p:txBody>
          <a:bodyPr anchor="ct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buClr>
                <a:srgbClr val="CC99FF"/>
              </a:buClr>
              <a:buFont typeface="Monotype Sorts"/>
              <a:buNone/>
            </a:pPr>
            <a:r>
              <a:rPr lang="en-US" altLang="en-US" sz="2800">
                <a:latin typeface="Arial" pitchFamily="34" charset="0"/>
                <a:sym typeface="Monotype Sorts"/>
              </a:rPr>
              <a:t>break</a:t>
            </a:r>
            <a:endParaRPr lang="en-US" altLang="zh-CN">
              <a:latin typeface="Arial" pitchFamily="34" charset="0"/>
              <a:sym typeface="Monotype Sorts"/>
            </a:endParaRPr>
          </a:p>
        </p:txBody>
      </p:sp>
      <p:sp>
        <p:nvSpPr>
          <p:cNvPr id="67593" name="AutoShape 45"/>
          <p:cNvSpPr>
            <a:spLocks noChangeArrowheads="1"/>
          </p:cNvSpPr>
          <p:nvPr/>
        </p:nvSpPr>
        <p:spPr bwMode="auto">
          <a:xfrm>
            <a:off x="6448425" y="4386263"/>
            <a:ext cx="2000250" cy="523875"/>
          </a:xfrm>
          <a:prstGeom prst="diamond">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400"/>
          </a:p>
        </p:txBody>
      </p:sp>
      <p:sp>
        <p:nvSpPr>
          <p:cNvPr id="67594" name="Text Box 46"/>
          <p:cNvSpPr txBox="1">
            <a:spLocks noChangeArrowheads="1"/>
          </p:cNvSpPr>
          <p:nvPr/>
        </p:nvSpPr>
        <p:spPr bwMode="auto">
          <a:xfrm>
            <a:off x="6897688" y="4414838"/>
            <a:ext cx="1419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r>
              <a:rPr lang="zh-CN" altLang="en-US" sz="2400">
                <a:latin typeface="Arial" pitchFamily="34" charset="0"/>
              </a:rPr>
              <a:t>表达式?</a:t>
            </a:r>
          </a:p>
        </p:txBody>
      </p:sp>
      <p:sp>
        <p:nvSpPr>
          <p:cNvPr id="67595" name="Line 48"/>
          <p:cNvSpPr>
            <a:spLocks noChangeShapeType="1"/>
          </p:cNvSpPr>
          <p:nvPr/>
        </p:nvSpPr>
        <p:spPr bwMode="auto">
          <a:xfrm>
            <a:off x="7448550" y="2100263"/>
            <a:ext cx="0" cy="685800"/>
          </a:xfrm>
          <a:prstGeom prst="line">
            <a:avLst/>
          </a:prstGeom>
          <a:noFill/>
          <a:ln w="28575">
            <a:solidFill>
              <a:srgbClr val="0070C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6" name="Line 49"/>
          <p:cNvSpPr>
            <a:spLocks noChangeShapeType="1"/>
          </p:cNvSpPr>
          <p:nvPr/>
        </p:nvSpPr>
        <p:spPr bwMode="auto">
          <a:xfrm>
            <a:off x="7439025" y="4929188"/>
            <a:ext cx="0" cy="342900"/>
          </a:xfrm>
          <a:prstGeom prst="line">
            <a:avLst/>
          </a:prstGeom>
          <a:noFill/>
          <a:ln w="28575">
            <a:solidFill>
              <a:srgbClr val="0070C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7" name="Line 50"/>
          <p:cNvSpPr>
            <a:spLocks noChangeShapeType="1"/>
          </p:cNvSpPr>
          <p:nvPr/>
        </p:nvSpPr>
        <p:spPr bwMode="auto">
          <a:xfrm>
            <a:off x="8477250" y="4652963"/>
            <a:ext cx="238125" cy="0"/>
          </a:xfrm>
          <a:prstGeom prst="line">
            <a:avLst/>
          </a:prstGeom>
          <a:noFill/>
          <a:ln w="28575">
            <a:solidFill>
              <a:srgbClr val="0070C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8" name="Line 51"/>
          <p:cNvSpPr>
            <a:spLocks noChangeShapeType="1"/>
          </p:cNvSpPr>
          <p:nvPr/>
        </p:nvSpPr>
        <p:spPr bwMode="auto">
          <a:xfrm flipH="1">
            <a:off x="8705850" y="4652963"/>
            <a:ext cx="9525" cy="1085850"/>
          </a:xfrm>
          <a:prstGeom prst="line">
            <a:avLst/>
          </a:prstGeom>
          <a:noFill/>
          <a:ln w="28575">
            <a:solidFill>
              <a:srgbClr val="0070C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599" name="Line 52"/>
          <p:cNvSpPr>
            <a:spLocks noChangeShapeType="1"/>
          </p:cNvSpPr>
          <p:nvPr/>
        </p:nvSpPr>
        <p:spPr bwMode="auto">
          <a:xfrm flipH="1">
            <a:off x="7439025" y="3595688"/>
            <a:ext cx="0" cy="781050"/>
          </a:xfrm>
          <a:prstGeom prst="line">
            <a:avLst/>
          </a:prstGeom>
          <a:noFill/>
          <a:ln w="28575">
            <a:solidFill>
              <a:srgbClr val="0070C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0" name="Line 53"/>
          <p:cNvSpPr>
            <a:spLocks noChangeShapeType="1"/>
          </p:cNvSpPr>
          <p:nvPr/>
        </p:nvSpPr>
        <p:spPr bwMode="auto">
          <a:xfrm flipH="1" flipV="1">
            <a:off x="7439025" y="5757863"/>
            <a:ext cx="1266825" cy="0"/>
          </a:xfrm>
          <a:prstGeom prst="line">
            <a:avLst/>
          </a:prstGeom>
          <a:noFill/>
          <a:ln w="28575">
            <a:solidFill>
              <a:srgbClr val="0070C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1" name="Text Box 54"/>
          <p:cNvSpPr txBox="1">
            <a:spLocks noChangeArrowheads="1"/>
          </p:cNvSpPr>
          <p:nvPr/>
        </p:nvSpPr>
        <p:spPr bwMode="auto">
          <a:xfrm>
            <a:off x="6705600" y="4919663"/>
            <a:ext cx="8001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lnSpc>
                <a:spcPct val="80000"/>
              </a:lnSpc>
            </a:pPr>
            <a:r>
              <a:rPr lang="zh-CN" altLang="en-US" sz="2400">
                <a:latin typeface="Arial" pitchFamily="34" charset="0"/>
              </a:rPr>
              <a:t>成立</a:t>
            </a:r>
          </a:p>
        </p:txBody>
      </p:sp>
      <p:sp>
        <p:nvSpPr>
          <p:cNvPr id="67602" name="Line 56"/>
          <p:cNvSpPr>
            <a:spLocks noChangeShapeType="1"/>
          </p:cNvSpPr>
          <p:nvPr/>
        </p:nvSpPr>
        <p:spPr bwMode="auto">
          <a:xfrm flipV="1">
            <a:off x="6267450" y="2452688"/>
            <a:ext cx="1190625" cy="0"/>
          </a:xfrm>
          <a:prstGeom prst="line">
            <a:avLst/>
          </a:prstGeom>
          <a:noFill/>
          <a:ln w="28575">
            <a:solidFill>
              <a:srgbClr val="0070C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3" name="Line 57"/>
          <p:cNvSpPr>
            <a:spLocks noChangeShapeType="1"/>
          </p:cNvSpPr>
          <p:nvPr/>
        </p:nvSpPr>
        <p:spPr bwMode="auto">
          <a:xfrm flipH="1">
            <a:off x="7439025" y="5748338"/>
            <a:ext cx="0" cy="276225"/>
          </a:xfrm>
          <a:prstGeom prst="line">
            <a:avLst/>
          </a:prstGeom>
          <a:noFill/>
          <a:ln w="28575">
            <a:solidFill>
              <a:srgbClr val="0070C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4" name="Text Box 58"/>
          <p:cNvSpPr txBox="1">
            <a:spLocks noChangeArrowheads="1"/>
          </p:cNvSpPr>
          <p:nvPr/>
        </p:nvSpPr>
        <p:spPr bwMode="auto">
          <a:xfrm>
            <a:off x="6419850" y="6005513"/>
            <a:ext cx="2057400" cy="387350"/>
          </a:xfrm>
          <a:prstGeom prst="rect">
            <a:avLst/>
          </a:prstGeom>
          <a:noFill/>
          <a:ln w="2857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lnSpc>
                <a:spcPct val="80000"/>
              </a:lnSpc>
            </a:pPr>
            <a:r>
              <a:rPr lang="zh-CN" altLang="en-US" sz="2400">
                <a:latin typeface="Arial" pitchFamily="34" charset="0"/>
              </a:rPr>
              <a:t>执行后续语句</a:t>
            </a:r>
          </a:p>
        </p:txBody>
      </p:sp>
      <p:sp>
        <p:nvSpPr>
          <p:cNvPr id="67605" name="Line 59"/>
          <p:cNvSpPr>
            <a:spLocks noChangeShapeType="1"/>
          </p:cNvSpPr>
          <p:nvPr/>
        </p:nvSpPr>
        <p:spPr bwMode="auto">
          <a:xfrm flipV="1">
            <a:off x="6286500" y="2462213"/>
            <a:ext cx="0" cy="2809875"/>
          </a:xfrm>
          <a:prstGeom prst="line">
            <a:avLst/>
          </a:prstGeom>
          <a:noFill/>
          <a:ln w="28575">
            <a:solidFill>
              <a:srgbClr val="0070C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606" name="Line 61"/>
          <p:cNvSpPr>
            <a:spLocks noChangeShapeType="1"/>
          </p:cNvSpPr>
          <p:nvPr/>
        </p:nvSpPr>
        <p:spPr bwMode="auto">
          <a:xfrm flipH="1" flipV="1">
            <a:off x="6276975" y="5262563"/>
            <a:ext cx="1162050" cy="0"/>
          </a:xfrm>
          <a:prstGeom prst="line">
            <a:avLst/>
          </a:prstGeom>
          <a:noFill/>
          <a:ln w="28575">
            <a:solidFill>
              <a:srgbClr val="0070C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8095" name="Text Box 63"/>
          <p:cNvSpPr txBox="1">
            <a:spLocks noChangeArrowheads="1"/>
          </p:cNvSpPr>
          <p:nvPr/>
        </p:nvSpPr>
        <p:spPr bwMode="auto">
          <a:xfrm>
            <a:off x="6848475" y="2940050"/>
            <a:ext cx="1133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rnd">
                <a:solidFill>
                  <a:srgbClr val="000000"/>
                </a:solidFill>
                <a:prstDash val="sysDot"/>
                <a:miter lim="800000"/>
                <a:headEnd/>
                <a:tailEnd/>
              </a14:hiddenLine>
            </a:ext>
          </a:extLst>
        </p:spPr>
        <p:txBody>
          <a:bodyPr anchor="ct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buClr>
                <a:srgbClr val="CC99FF"/>
              </a:buClr>
              <a:buFont typeface="Monotype Sorts"/>
              <a:buNone/>
            </a:pPr>
            <a:r>
              <a:rPr lang="en-US" altLang="en-US" sz="2800">
                <a:latin typeface="Arial" pitchFamily="34" charset="0"/>
                <a:sym typeface="Monotype Sorts"/>
              </a:rPr>
              <a:t>break</a:t>
            </a:r>
            <a:endParaRPr lang="en-US" altLang="zh-CN">
              <a:latin typeface="Arial" pitchFamily="34" charset="0"/>
              <a:sym typeface="Monotype Sorts"/>
            </a:endParaRPr>
          </a:p>
        </p:txBody>
      </p:sp>
      <p:sp>
        <p:nvSpPr>
          <p:cNvPr id="428092" name="Line 60"/>
          <p:cNvSpPr>
            <a:spLocks noChangeShapeType="1"/>
          </p:cNvSpPr>
          <p:nvPr/>
        </p:nvSpPr>
        <p:spPr bwMode="auto">
          <a:xfrm>
            <a:off x="7964488" y="3128963"/>
            <a:ext cx="760412" cy="0"/>
          </a:xfrm>
          <a:prstGeom prst="line">
            <a:avLst/>
          </a:prstGeom>
          <a:noFill/>
          <a:ln w="2857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8098" name="Text Box 66"/>
          <p:cNvSpPr txBox="1">
            <a:spLocks noChangeArrowheads="1"/>
          </p:cNvSpPr>
          <p:nvPr/>
        </p:nvSpPr>
        <p:spPr bwMode="auto">
          <a:xfrm>
            <a:off x="685800" y="1397000"/>
            <a:ext cx="1885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anchor="ct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buClr>
                <a:srgbClr val="CC99FF"/>
              </a:buClr>
              <a:buFont typeface="Monotype Sorts"/>
              <a:buNone/>
            </a:pPr>
            <a:r>
              <a:rPr lang="en-US" altLang="zh-CN" sz="2800" b="1">
                <a:latin typeface="Arial" pitchFamily="34" charset="0"/>
                <a:sym typeface="Monotype Sorts"/>
              </a:rPr>
              <a:t>while</a:t>
            </a:r>
            <a:r>
              <a:rPr lang="zh-CN" altLang="en-US" sz="2800" b="1">
                <a:latin typeface="Arial" pitchFamily="34" charset="0"/>
                <a:sym typeface="Monotype Sorts"/>
              </a:rPr>
              <a:t>语句</a:t>
            </a:r>
            <a:endParaRPr lang="zh-CN" altLang="en-US" b="1">
              <a:latin typeface="Arial" pitchFamily="34" charset="0"/>
              <a:sym typeface="Monotype Sorts"/>
            </a:endParaRPr>
          </a:p>
        </p:txBody>
      </p:sp>
      <p:sp>
        <p:nvSpPr>
          <p:cNvPr id="428099" name="Text Box 67"/>
          <p:cNvSpPr txBox="1">
            <a:spLocks noChangeArrowheads="1"/>
          </p:cNvSpPr>
          <p:nvPr/>
        </p:nvSpPr>
        <p:spPr bwMode="auto">
          <a:xfrm>
            <a:off x="3448050" y="1366838"/>
            <a:ext cx="1885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anchor="ct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buClr>
                <a:srgbClr val="CC99FF"/>
              </a:buClr>
              <a:buFont typeface="Monotype Sorts"/>
              <a:buNone/>
            </a:pPr>
            <a:r>
              <a:rPr lang="en-US" altLang="zh-CN" sz="2800" b="1">
                <a:latin typeface="Arial" pitchFamily="34" charset="0"/>
                <a:sym typeface="Monotype Sorts"/>
              </a:rPr>
              <a:t>for</a:t>
            </a:r>
            <a:r>
              <a:rPr lang="zh-CN" altLang="en-US" sz="2800" b="1">
                <a:latin typeface="Arial" pitchFamily="34" charset="0"/>
                <a:sym typeface="Monotype Sorts"/>
              </a:rPr>
              <a:t>语句</a:t>
            </a:r>
            <a:endParaRPr lang="zh-CN" altLang="en-US" b="1">
              <a:latin typeface="Arial" pitchFamily="34" charset="0"/>
              <a:sym typeface="Monotype Sorts"/>
            </a:endParaRPr>
          </a:p>
        </p:txBody>
      </p:sp>
      <p:sp>
        <p:nvSpPr>
          <p:cNvPr id="428100" name="Text Box 68"/>
          <p:cNvSpPr txBox="1">
            <a:spLocks noChangeArrowheads="1"/>
          </p:cNvSpPr>
          <p:nvPr/>
        </p:nvSpPr>
        <p:spPr bwMode="auto">
          <a:xfrm>
            <a:off x="6286500" y="1381125"/>
            <a:ext cx="2409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anchor="ct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buClr>
                <a:srgbClr val="CC99FF"/>
              </a:buClr>
              <a:buFont typeface="Monotype Sorts"/>
              <a:buNone/>
            </a:pPr>
            <a:r>
              <a:rPr lang="en-US" altLang="zh-CN" sz="2800" b="1">
                <a:latin typeface="Arial" pitchFamily="34" charset="0"/>
                <a:sym typeface="Monotype Sorts"/>
              </a:rPr>
              <a:t>do-while</a:t>
            </a:r>
            <a:r>
              <a:rPr lang="zh-CN" altLang="en-US" sz="2800" b="1">
                <a:latin typeface="Arial" pitchFamily="34" charset="0"/>
                <a:sym typeface="Monotype Sorts"/>
              </a:rPr>
              <a:t>语句</a:t>
            </a:r>
            <a:endParaRPr lang="zh-CN" altLang="en-US" b="1">
              <a:latin typeface="Arial" pitchFamily="34" charset="0"/>
              <a:sym typeface="Monotype Sorts"/>
            </a:endParaRPr>
          </a:p>
        </p:txBody>
      </p:sp>
      <p:sp>
        <p:nvSpPr>
          <p:cNvPr id="428103" name="Line 71"/>
          <p:cNvSpPr>
            <a:spLocks noChangeShapeType="1"/>
          </p:cNvSpPr>
          <p:nvPr/>
        </p:nvSpPr>
        <p:spPr bwMode="auto">
          <a:xfrm>
            <a:off x="2943225" y="4005263"/>
            <a:ext cx="0" cy="1743075"/>
          </a:xfrm>
          <a:prstGeom prst="line">
            <a:avLst/>
          </a:prstGeom>
          <a:noFill/>
          <a:ln w="38100">
            <a:solidFill>
              <a:srgbClr val="00FF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28104" name="Line 72"/>
          <p:cNvSpPr>
            <a:spLocks noChangeShapeType="1"/>
          </p:cNvSpPr>
          <p:nvPr/>
        </p:nvSpPr>
        <p:spPr bwMode="auto">
          <a:xfrm flipH="1">
            <a:off x="1676400" y="5757863"/>
            <a:ext cx="1266825" cy="0"/>
          </a:xfrm>
          <a:prstGeom prst="line">
            <a:avLst/>
          </a:prstGeom>
          <a:noFill/>
          <a:ln w="38100">
            <a:solidFill>
              <a:srgbClr val="00FF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28105" name="Line 73"/>
          <p:cNvSpPr>
            <a:spLocks noChangeShapeType="1"/>
          </p:cNvSpPr>
          <p:nvPr/>
        </p:nvSpPr>
        <p:spPr bwMode="auto">
          <a:xfrm>
            <a:off x="1676400" y="5748338"/>
            <a:ext cx="0" cy="257175"/>
          </a:xfrm>
          <a:prstGeom prst="line">
            <a:avLst/>
          </a:prstGeom>
          <a:noFill/>
          <a:ln w="3810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28106" name="Line 74"/>
          <p:cNvSpPr>
            <a:spLocks noChangeShapeType="1"/>
          </p:cNvSpPr>
          <p:nvPr/>
        </p:nvSpPr>
        <p:spPr bwMode="auto">
          <a:xfrm>
            <a:off x="5915025" y="4017963"/>
            <a:ext cx="0" cy="1743075"/>
          </a:xfrm>
          <a:prstGeom prst="line">
            <a:avLst/>
          </a:prstGeom>
          <a:noFill/>
          <a:ln w="38100">
            <a:solidFill>
              <a:srgbClr val="00FF00"/>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28107" name="Line 75"/>
          <p:cNvSpPr>
            <a:spLocks noChangeShapeType="1"/>
          </p:cNvSpPr>
          <p:nvPr/>
        </p:nvSpPr>
        <p:spPr bwMode="auto">
          <a:xfrm flipH="1">
            <a:off x="4448175" y="5761038"/>
            <a:ext cx="1457325" cy="0"/>
          </a:xfrm>
          <a:prstGeom prst="line">
            <a:avLst/>
          </a:prstGeom>
          <a:noFill/>
          <a:ln w="38100">
            <a:solidFill>
              <a:srgbClr val="00FF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428108" name="Line 76"/>
          <p:cNvSpPr>
            <a:spLocks noChangeShapeType="1"/>
          </p:cNvSpPr>
          <p:nvPr/>
        </p:nvSpPr>
        <p:spPr bwMode="auto">
          <a:xfrm>
            <a:off x="4457700" y="5761038"/>
            <a:ext cx="0" cy="257175"/>
          </a:xfrm>
          <a:prstGeom prst="line">
            <a:avLst/>
          </a:prstGeom>
          <a:noFill/>
          <a:ln w="3810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28110" name="Line 78"/>
          <p:cNvSpPr>
            <a:spLocks noChangeShapeType="1"/>
          </p:cNvSpPr>
          <p:nvPr/>
        </p:nvSpPr>
        <p:spPr bwMode="auto">
          <a:xfrm>
            <a:off x="8724900" y="3128963"/>
            <a:ext cx="0" cy="2632075"/>
          </a:xfrm>
          <a:prstGeom prst="line">
            <a:avLst/>
          </a:prstGeom>
          <a:noFill/>
          <a:ln w="38100">
            <a:solidFill>
              <a:srgbClr val="00FF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428111" name="Line 79"/>
          <p:cNvSpPr>
            <a:spLocks noChangeShapeType="1"/>
          </p:cNvSpPr>
          <p:nvPr/>
        </p:nvSpPr>
        <p:spPr bwMode="auto">
          <a:xfrm flipH="1">
            <a:off x="7400925" y="5761038"/>
            <a:ext cx="1323975" cy="0"/>
          </a:xfrm>
          <a:prstGeom prst="line">
            <a:avLst/>
          </a:prstGeom>
          <a:noFill/>
          <a:ln w="38100">
            <a:solidFill>
              <a:srgbClr val="00FF00"/>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428112" name="Line 80"/>
          <p:cNvSpPr>
            <a:spLocks noChangeShapeType="1"/>
          </p:cNvSpPr>
          <p:nvPr/>
        </p:nvSpPr>
        <p:spPr bwMode="auto">
          <a:xfrm>
            <a:off x="7439025" y="5761038"/>
            <a:ext cx="0" cy="257175"/>
          </a:xfrm>
          <a:prstGeom prst="line">
            <a:avLst/>
          </a:prstGeom>
          <a:noFill/>
          <a:ln w="3810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6" name="矩形 5"/>
          <p:cNvSpPr/>
          <p:nvPr/>
        </p:nvSpPr>
        <p:spPr>
          <a:xfrm>
            <a:off x="3749675" y="3659188"/>
            <a:ext cx="1339850" cy="790575"/>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a:p>
        </p:txBody>
      </p:sp>
      <p:sp>
        <p:nvSpPr>
          <p:cNvPr id="82" name="矩形 81"/>
          <p:cNvSpPr/>
          <p:nvPr/>
        </p:nvSpPr>
        <p:spPr>
          <a:xfrm>
            <a:off x="908050" y="3659188"/>
            <a:ext cx="1339850" cy="790575"/>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a:p>
        </p:txBody>
      </p:sp>
      <p:sp>
        <p:nvSpPr>
          <p:cNvPr id="83" name="矩形 82"/>
          <p:cNvSpPr/>
          <p:nvPr/>
        </p:nvSpPr>
        <p:spPr>
          <a:xfrm>
            <a:off x="6732588" y="2805113"/>
            <a:ext cx="1339850" cy="790575"/>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2400"/>
          </a:p>
        </p:txBody>
      </p:sp>
      <p:sp>
        <p:nvSpPr>
          <p:cNvPr id="67624" name="Text Box 55"/>
          <p:cNvSpPr txBox="1">
            <a:spLocks noChangeArrowheads="1"/>
          </p:cNvSpPr>
          <p:nvPr/>
        </p:nvSpPr>
        <p:spPr bwMode="auto">
          <a:xfrm>
            <a:off x="7942263" y="4284663"/>
            <a:ext cx="124777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lnSpc>
                <a:spcPct val="80000"/>
              </a:lnSpc>
            </a:pPr>
            <a:r>
              <a:rPr lang="zh-CN" altLang="en-US" sz="2400">
                <a:latin typeface="Arial" pitchFamily="34" charset="0"/>
              </a:rPr>
              <a:t>不成立</a:t>
            </a:r>
          </a:p>
        </p:txBody>
      </p:sp>
      <p:sp>
        <p:nvSpPr>
          <p:cNvPr id="67625" name="Rectangle 4"/>
          <p:cNvSpPr>
            <a:spLocks noChangeArrowheads="1"/>
          </p:cNvSpPr>
          <p:nvPr/>
        </p:nvSpPr>
        <p:spPr bwMode="auto">
          <a:xfrm>
            <a:off x="-10456" y="533400"/>
            <a:ext cx="32784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循环语句</a:t>
            </a:r>
          </a:p>
        </p:txBody>
      </p:sp>
    </p:spTree>
    <p:extLst>
      <p:ext uri="{BB962C8B-B14F-4D97-AF65-F5344CB8AC3E}">
        <p14:creationId xmlns:p14="http://schemas.microsoft.com/office/powerpoint/2010/main" val="560530836"/>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2809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9" presetClass="entr" presetSubtype="10" fill="hold" grpId="0" nodeType="clickEffect">
                                  <p:stCondLst>
                                    <p:cond delay="0"/>
                                  </p:stCondLst>
                                  <p:childTnLst>
                                    <p:set>
                                      <p:cBhvr>
                                        <p:cTn id="10" dur="1" fill="hold">
                                          <p:stCondLst>
                                            <p:cond delay="0"/>
                                          </p:stCondLst>
                                        </p:cTn>
                                        <p:tgtEl>
                                          <p:spTgt spid="428054"/>
                                        </p:tgtEl>
                                        <p:attrNameLst>
                                          <p:attrName>style.visibility</p:attrName>
                                        </p:attrNameLst>
                                      </p:cBhvr>
                                      <p:to>
                                        <p:strVal val="visible"/>
                                      </p:to>
                                    </p:set>
                                    <p:anim calcmode="lin" valueType="num">
                                      <p:cBhvr>
                                        <p:cTn id="11" dur="5000" fill="hold"/>
                                        <p:tgtEl>
                                          <p:spTgt spid="428054"/>
                                        </p:tgtEl>
                                        <p:attrNameLst>
                                          <p:attrName>ppt_w</p:attrName>
                                        </p:attrNameLst>
                                      </p:cBhvr>
                                      <p:tavLst>
                                        <p:tav tm="0" fmla="#ppt_w*sin(2.5*pi*$)">
                                          <p:val>
                                            <p:fltVal val="0"/>
                                          </p:val>
                                        </p:tav>
                                        <p:tav tm="100000">
                                          <p:val>
                                            <p:fltVal val="1"/>
                                          </p:val>
                                        </p:tav>
                                      </p:tavLst>
                                    </p:anim>
                                    <p:anim calcmode="lin" valueType="num">
                                      <p:cBhvr>
                                        <p:cTn id="12" dur="5000" fill="hold"/>
                                        <p:tgtEl>
                                          <p:spTgt spid="428054"/>
                                        </p:tgtEl>
                                        <p:attrNameLst>
                                          <p:attrName>ppt_h</p:attrName>
                                        </p:attrNameLst>
                                      </p:cBhvr>
                                      <p:tavLst>
                                        <p:tav tm="0">
                                          <p:val>
                                            <p:strVal val="#ppt_h"/>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8" fill="hold" grpId="0" nodeType="clickEffect">
                                  <p:stCondLst>
                                    <p:cond delay="0"/>
                                  </p:stCondLst>
                                  <p:childTnLst>
                                    <p:set>
                                      <p:cBhvr>
                                        <p:cTn id="16" dur="1" fill="hold">
                                          <p:stCondLst>
                                            <p:cond delay="0"/>
                                          </p:stCondLst>
                                        </p:cTn>
                                        <p:tgtEl>
                                          <p:spTgt spid="428051"/>
                                        </p:tgtEl>
                                        <p:attrNameLst>
                                          <p:attrName>style.visibility</p:attrName>
                                        </p:attrNameLst>
                                      </p:cBhvr>
                                      <p:to>
                                        <p:strVal val="visible"/>
                                      </p:to>
                                    </p:set>
                                    <p:anim calcmode="lin" valueType="num">
                                      <p:cBhvr>
                                        <p:cTn id="17" dur="500" fill="hold"/>
                                        <p:tgtEl>
                                          <p:spTgt spid="428051"/>
                                        </p:tgtEl>
                                        <p:attrNameLst>
                                          <p:attrName>ppt_x</p:attrName>
                                        </p:attrNameLst>
                                      </p:cBhvr>
                                      <p:tavLst>
                                        <p:tav tm="0">
                                          <p:val>
                                            <p:strVal val="#ppt_x-#ppt_w/2"/>
                                          </p:val>
                                        </p:tav>
                                        <p:tav tm="100000">
                                          <p:val>
                                            <p:strVal val="#ppt_x"/>
                                          </p:val>
                                        </p:tav>
                                      </p:tavLst>
                                    </p:anim>
                                    <p:anim calcmode="lin" valueType="num">
                                      <p:cBhvr>
                                        <p:cTn id="18" dur="500" fill="hold"/>
                                        <p:tgtEl>
                                          <p:spTgt spid="428051"/>
                                        </p:tgtEl>
                                        <p:attrNameLst>
                                          <p:attrName>ppt_y</p:attrName>
                                        </p:attrNameLst>
                                      </p:cBhvr>
                                      <p:tavLst>
                                        <p:tav tm="0">
                                          <p:val>
                                            <p:strVal val="#ppt_y"/>
                                          </p:val>
                                        </p:tav>
                                        <p:tav tm="100000">
                                          <p:val>
                                            <p:strVal val="#ppt_y"/>
                                          </p:val>
                                        </p:tav>
                                      </p:tavLst>
                                    </p:anim>
                                    <p:anim calcmode="lin" valueType="num">
                                      <p:cBhvr>
                                        <p:cTn id="19" dur="500" fill="hold"/>
                                        <p:tgtEl>
                                          <p:spTgt spid="428051"/>
                                        </p:tgtEl>
                                        <p:attrNameLst>
                                          <p:attrName>ppt_w</p:attrName>
                                        </p:attrNameLst>
                                      </p:cBhvr>
                                      <p:tavLst>
                                        <p:tav tm="0">
                                          <p:val>
                                            <p:fltVal val="0"/>
                                          </p:val>
                                        </p:tav>
                                        <p:tav tm="100000">
                                          <p:val>
                                            <p:strVal val="#ppt_w"/>
                                          </p:val>
                                        </p:tav>
                                      </p:tavLst>
                                    </p:anim>
                                    <p:anim calcmode="lin" valueType="num">
                                      <p:cBhvr>
                                        <p:cTn id="20" dur="500" fill="hold"/>
                                        <p:tgtEl>
                                          <p:spTgt spid="428051"/>
                                        </p:tgtEl>
                                        <p:attrNameLst>
                                          <p:attrName>ppt_h</p:attrName>
                                        </p:attrNameLst>
                                      </p:cBhvr>
                                      <p:tavLst>
                                        <p:tav tm="0">
                                          <p:val>
                                            <p:strVal val="#ppt_h"/>
                                          </p:val>
                                        </p:tav>
                                        <p:tav tm="100000">
                                          <p:val>
                                            <p:strVal val="#ppt_h"/>
                                          </p:val>
                                        </p:tav>
                                      </p:tavLst>
                                    </p:anim>
                                  </p:childTnLst>
                                </p:cTn>
                              </p:par>
                            </p:childTnLst>
                          </p:cTn>
                        </p:par>
                        <p:par>
                          <p:cTn id="21" fill="hold" nodeType="afterGroup">
                            <p:stCondLst>
                              <p:cond delay="500"/>
                            </p:stCondLst>
                            <p:childTnLst>
                              <p:par>
                                <p:cTn id="22" presetID="17" presetClass="entr" presetSubtype="1" fill="hold" grpId="0" nodeType="afterEffect">
                                  <p:stCondLst>
                                    <p:cond delay="0"/>
                                  </p:stCondLst>
                                  <p:childTnLst>
                                    <p:set>
                                      <p:cBhvr>
                                        <p:cTn id="23" dur="1" fill="hold">
                                          <p:stCondLst>
                                            <p:cond delay="0"/>
                                          </p:stCondLst>
                                        </p:cTn>
                                        <p:tgtEl>
                                          <p:spTgt spid="428103"/>
                                        </p:tgtEl>
                                        <p:attrNameLst>
                                          <p:attrName>style.visibility</p:attrName>
                                        </p:attrNameLst>
                                      </p:cBhvr>
                                      <p:to>
                                        <p:strVal val="visible"/>
                                      </p:to>
                                    </p:set>
                                    <p:anim calcmode="lin" valueType="num">
                                      <p:cBhvr>
                                        <p:cTn id="24" dur="500" fill="hold"/>
                                        <p:tgtEl>
                                          <p:spTgt spid="428103"/>
                                        </p:tgtEl>
                                        <p:attrNameLst>
                                          <p:attrName>ppt_x</p:attrName>
                                        </p:attrNameLst>
                                      </p:cBhvr>
                                      <p:tavLst>
                                        <p:tav tm="0">
                                          <p:val>
                                            <p:strVal val="#ppt_x"/>
                                          </p:val>
                                        </p:tav>
                                        <p:tav tm="100000">
                                          <p:val>
                                            <p:strVal val="#ppt_x"/>
                                          </p:val>
                                        </p:tav>
                                      </p:tavLst>
                                    </p:anim>
                                    <p:anim calcmode="lin" valueType="num">
                                      <p:cBhvr>
                                        <p:cTn id="25" dur="500" fill="hold"/>
                                        <p:tgtEl>
                                          <p:spTgt spid="428103"/>
                                        </p:tgtEl>
                                        <p:attrNameLst>
                                          <p:attrName>ppt_y</p:attrName>
                                        </p:attrNameLst>
                                      </p:cBhvr>
                                      <p:tavLst>
                                        <p:tav tm="0">
                                          <p:val>
                                            <p:strVal val="#ppt_y-#ppt_h/2"/>
                                          </p:val>
                                        </p:tav>
                                        <p:tav tm="100000">
                                          <p:val>
                                            <p:strVal val="#ppt_y"/>
                                          </p:val>
                                        </p:tav>
                                      </p:tavLst>
                                    </p:anim>
                                    <p:anim calcmode="lin" valueType="num">
                                      <p:cBhvr>
                                        <p:cTn id="26" dur="500" fill="hold"/>
                                        <p:tgtEl>
                                          <p:spTgt spid="428103"/>
                                        </p:tgtEl>
                                        <p:attrNameLst>
                                          <p:attrName>ppt_w</p:attrName>
                                        </p:attrNameLst>
                                      </p:cBhvr>
                                      <p:tavLst>
                                        <p:tav tm="0">
                                          <p:val>
                                            <p:strVal val="#ppt_w"/>
                                          </p:val>
                                        </p:tav>
                                        <p:tav tm="100000">
                                          <p:val>
                                            <p:strVal val="#ppt_w"/>
                                          </p:val>
                                        </p:tav>
                                      </p:tavLst>
                                    </p:anim>
                                    <p:anim calcmode="lin" valueType="num">
                                      <p:cBhvr>
                                        <p:cTn id="27" dur="500" fill="hold"/>
                                        <p:tgtEl>
                                          <p:spTgt spid="428103"/>
                                        </p:tgtEl>
                                        <p:attrNameLst>
                                          <p:attrName>ppt_h</p:attrName>
                                        </p:attrNameLst>
                                      </p:cBhvr>
                                      <p:tavLst>
                                        <p:tav tm="0">
                                          <p:val>
                                            <p:fltVal val="0"/>
                                          </p:val>
                                        </p:tav>
                                        <p:tav tm="100000">
                                          <p:val>
                                            <p:strVal val="#ppt_h"/>
                                          </p:val>
                                        </p:tav>
                                      </p:tavLst>
                                    </p:anim>
                                  </p:childTnLst>
                                </p:cTn>
                              </p:par>
                            </p:childTnLst>
                          </p:cTn>
                        </p:par>
                        <p:par>
                          <p:cTn id="28" fill="hold" nodeType="afterGroup">
                            <p:stCondLst>
                              <p:cond delay="1000"/>
                            </p:stCondLst>
                            <p:childTnLst>
                              <p:par>
                                <p:cTn id="29" presetID="17" presetClass="entr" presetSubtype="2" fill="hold" grpId="0" nodeType="afterEffect">
                                  <p:stCondLst>
                                    <p:cond delay="0"/>
                                  </p:stCondLst>
                                  <p:childTnLst>
                                    <p:set>
                                      <p:cBhvr>
                                        <p:cTn id="30" dur="1" fill="hold">
                                          <p:stCondLst>
                                            <p:cond delay="0"/>
                                          </p:stCondLst>
                                        </p:cTn>
                                        <p:tgtEl>
                                          <p:spTgt spid="428104"/>
                                        </p:tgtEl>
                                        <p:attrNameLst>
                                          <p:attrName>style.visibility</p:attrName>
                                        </p:attrNameLst>
                                      </p:cBhvr>
                                      <p:to>
                                        <p:strVal val="visible"/>
                                      </p:to>
                                    </p:set>
                                    <p:anim calcmode="lin" valueType="num">
                                      <p:cBhvr>
                                        <p:cTn id="31" dur="500" fill="hold"/>
                                        <p:tgtEl>
                                          <p:spTgt spid="428104"/>
                                        </p:tgtEl>
                                        <p:attrNameLst>
                                          <p:attrName>ppt_x</p:attrName>
                                        </p:attrNameLst>
                                      </p:cBhvr>
                                      <p:tavLst>
                                        <p:tav tm="0">
                                          <p:val>
                                            <p:strVal val="#ppt_x+#ppt_w/2"/>
                                          </p:val>
                                        </p:tav>
                                        <p:tav tm="100000">
                                          <p:val>
                                            <p:strVal val="#ppt_x"/>
                                          </p:val>
                                        </p:tav>
                                      </p:tavLst>
                                    </p:anim>
                                    <p:anim calcmode="lin" valueType="num">
                                      <p:cBhvr>
                                        <p:cTn id="32" dur="500" fill="hold"/>
                                        <p:tgtEl>
                                          <p:spTgt spid="428104"/>
                                        </p:tgtEl>
                                        <p:attrNameLst>
                                          <p:attrName>ppt_y</p:attrName>
                                        </p:attrNameLst>
                                      </p:cBhvr>
                                      <p:tavLst>
                                        <p:tav tm="0">
                                          <p:val>
                                            <p:strVal val="#ppt_y"/>
                                          </p:val>
                                        </p:tav>
                                        <p:tav tm="100000">
                                          <p:val>
                                            <p:strVal val="#ppt_y"/>
                                          </p:val>
                                        </p:tav>
                                      </p:tavLst>
                                    </p:anim>
                                    <p:anim calcmode="lin" valueType="num">
                                      <p:cBhvr>
                                        <p:cTn id="33" dur="500" fill="hold"/>
                                        <p:tgtEl>
                                          <p:spTgt spid="428104"/>
                                        </p:tgtEl>
                                        <p:attrNameLst>
                                          <p:attrName>ppt_w</p:attrName>
                                        </p:attrNameLst>
                                      </p:cBhvr>
                                      <p:tavLst>
                                        <p:tav tm="0">
                                          <p:val>
                                            <p:fltVal val="0"/>
                                          </p:val>
                                        </p:tav>
                                        <p:tav tm="100000">
                                          <p:val>
                                            <p:strVal val="#ppt_w"/>
                                          </p:val>
                                        </p:tav>
                                      </p:tavLst>
                                    </p:anim>
                                    <p:anim calcmode="lin" valueType="num">
                                      <p:cBhvr>
                                        <p:cTn id="34" dur="500" fill="hold"/>
                                        <p:tgtEl>
                                          <p:spTgt spid="428104"/>
                                        </p:tgtEl>
                                        <p:attrNameLst>
                                          <p:attrName>ppt_h</p:attrName>
                                        </p:attrNameLst>
                                      </p:cBhvr>
                                      <p:tavLst>
                                        <p:tav tm="0">
                                          <p:val>
                                            <p:strVal val="#ppt_h"/>
                                          </p:val>
                                        </p:tav>
                                        <p:tav tm="100000">
                                          <p:val>
                                            <p:strVal val="#ppt_h"/>
                                          </p:val>
                                        </p:tav>
                                      </p:tavLst>
                                    </p:anim>
                                  </p:childTnLst>
                                </p:cTn>
                              </p:par>
                            </p:childTnLst>
                          </p:cTn>
                        </p:par>
                        <p:par>
                          <p:cTn id="35" fill="hold" nodeType="afterGroup">
                            <p:stCondLst>
                              <p:cond delay="1500"/>
                            </p:stCondLst>
                            <p:childTnLst>
                              <p:par>
                                <p:cTn id="36" presetID="17" presetClass="entr" presetSubtype="1" fill="hold" grpId="0" nodeType="afterEffect">
                                  <p:stCondLst>
                                    <p:cond delay="0"/>
                                  </p:stCondLst>
                                  <p:childTnLst>
                                    <p:set>
                                      <p:cBhvr>
                                        <p:cTn id="37" dur="1" fill="hold">
                                          <p:stCondLst>
                                            <p:cond delay="0"/>
                                          </p:stCondLst>
                                        </p:cTn>
                                        <p:tgtEl>
                                          <p:spTgt spid="428105"/>
                                        </p:tgtEl>
                                        <p:attrNameLst>
                                          <p:attrName>style.visibility</p:attrName>
                                        </p:attrNameLst>
                                      </p:cBhvr>
                                      <p:to>
                                        <p:strVal val="visible"/>
                                      </p:to>
                                    </p:set>
                                    <p:anim calcmode="lin" valueType="num">
                                      <p:cBhvr>
                                        <p:cTn id="38" dur="500" fill="hold"/>
                                        <p:tgtEl>
                                          <p:spTgt spid="428105"/>
                                        </p:tgtEl>
                                        <p:attrNameLst>
                                          <p:attrName>ppt_x</p:attrName>
                                        </p:attrNameLst>
                                      </p:cBhvr>
                                      <p:tavLst>
                                        <p:tav tm="0">
                                          <p:val>
                                            <p:strVal val="#ppt_x"/>
                                          </p:val>
                                        </p:tav>
                                        <p:tav tm="100000">
                                          <p:val>
                                            <p:strVal val="#ppt_x"/>
                                          </p:val>
                                        </p:tav>
                                      </p:tavLst>
                                    </p:anim>
                                    <p:anim calcmode="lin" valueType="num">
                                      <p:cBhvr>
                                        <p:cTn id="39" dur="500" fill="hold"/>
                                        <p:tgtEl>
                                          <p:spTgt spid="428105"/>
                                        </p:tgtEl>
                                        <p:attrNameLst>
                                          <p:attrName>ppt_y</p:attrName>
                                        </p:attrNameLst>
                                      </p:cBhvr>
                                      <p:tavLst>
                                        <p:tav tm="0">
                                          <p:val>
                                            <p:strVal val="#ppt_y-#ppt_h/2"/>
                                          </p:val>
                                        </p:tav>
                                        <p:tav tm="100000">
                                          <p:val>
                                            <p:strVal val="#ppt_y"/>
                                          </p:val>
                                        </p:tav>
                                      </p:tavLst>
                                    </p:anim>
                                    <p:anim calcmode="lin" valueType="num">
                                      <p:cBhvr>
                                        <p:cTn id="40" dur="500" fill="hold"/>
                                        <p:tgtEl>
                                          <p:spTgt spid="428105"/>
                                        </p:tgtEl>
                                        <p:attrNameLst>
                                          <p:attrName>ppt_w</p:attrName>
                                        </p:attrNameLst>
                                      </p:cBhvr>
                                      <p:tavLst>
                                        <p:tav tm="0">
                                          <p:val>
                                            <p:strVal val="#ppt_w"/>
                                          </p:val>
                                        </p:tav>
                                        <p:tav tm="100000">
                                          <p:val>
                                            <p:strVal val="#ppt_w"/>
                                          </p:val>
                                        </p:tav>
                                      </p:tavLst>
                                    </p:anim>
                                    <p:anim calcmode="lin" valueType="num">
                                      <p:cBhvr>
                                        <p:cTn id="41" dur="500" fill="hold"/>
                                        <p:tgtEl>
                                          <p:spTgt spid="428105"/>
                                        </p:tgtEl>
                                        <p:attrNameLst>
                                          <p:attrName>ppt_h</p:attrName>
                                        </p:attrNameLst>
                                      </p:cBhvr>
                                      <p:tavLst>
                                        <p:tav tm="0">
                                          <p:val>
                                            <p:fltVal val="0"/>
                                          </p:val>
                                        </p:tav>
                                        <p:tav tm="100000">
                                          <p:val>
                                            <p:strVal val="#ppt_h"/>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childTnLst>
                                    <p:set>
                                      <p:cBhvr>
                                        <p:cTn id="45" dur="1" fill="hold">
                                          <p:stCondLst>
                                            <p:cond delay="499"/>
                                          </p:stCondLst>
                                        </p:cTn>
                                        <p:tgtEl>
                                          <p:spTgt spid="428099"/>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19" presetClass="entr" presetSubtype="10" fill="hold" grpId="0" nodeType="clickEffect">
                                  <p:stCondLst>
                                    <p:cond delay="0"/>
                                  </p:stCondLst>
                                  <p:childTnLst>
                                    <p:set>
                                      <p:cBhvr>
                                        <p:cTn id="49" dur="1" fill="hold">
                                          <p:stCondLst>
                                            <p:cond delay="0"/>
                                          </p:stCondLst>
                                        </p:cTn>
                                        <p:tgtEl>
                                          <p:spTgt spid="428076"/>
                                        </p:tgtEl>
                                        <p:attrNameLst>
                                          <p:attrName>style.visibility</p:attrName>
                                        </p:attrNameLst>
                                      </p:cBhvr>
                                      <p:to>
                                        <p:strVal val="visible"/>
                                      </p:to>
                                    </p:set>
                                    <p:anim calcmode="lin" valueType="num">
                                      <p:cBhvr>
                                        <p:cTn id="50" dur="5000" fill="hold"/>
                                        <p:tgtEl>
                                          <p:spTgt spid="428076"/>
                                        </p:tgtEl>
                                        <p:attrNameLst>
                                          <p:attrName>ppt_w</p:attrName>
                                        </p:attrNameLst>
                                      </p:cBhvr>
                                      <p:tavLst>
                                        <p:tav tm="0" fmla="#ppt_w*sin(2.5*pi*$)">
                                          <p:val>
                                            <p:fltVal val="0"/>
                                          </p:val>
                                        </p:tav>
                                        <p:tav tm="100000">
                                          <p:val>
                                            <p:fltVal val="1"/>
                                          </p:val>
                                        </p:tav>
                                      </p:tavLst>
                                    </p:anim>
                                    <p:anim calcmode="lin" valueType="num">
                                      <p:cBhvr>
                                        <p:cTn id="51" dur="5000" fill="hold"/>
                                        <p:tgtEl>
                                          <p:spTgt spid="428076"/>
                                        </p:tgtEl>
                                        <p:attrNameLst>
                                          <p:attrName>ppt_h</p:attrName>
                                        </p:attrNameLst>
                                      </p:cBhvr>
                                      <p:tavLst>
                                        <p:tav tm="0">
                                          <p:val>
                                            <p:strVal val="#ppt_h"/>
                                          </p:val>
                                        </p:tav>
                                        <p:tav tm="100000">
                                          <p:val>
                                            <p:strVal val="#ppt_h"/>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17" presetClass="entr" presetSubtype="8" fill="hold" grpId="0" nodeType="clickEffect">
                                  <p:stCondLst>
                                    <p:cond delay="0"/>
                                  </p:stCondLst>
                                  <p:childTnLst>
                                    <p:set>
                                      <p:cBhvr>
                                        <p:cTn id="55" dur="1" fill="hold">
                                          <p:stCondLst>
                                            <p:cond delay="0"/>
                                          </p:stCondLst>
                                        </p:cTn>
                                        <p:tgtEl>
                                          <p:spTgt spid="428074"/>
                                        </p:tgtEl>
                                        <p:attrNameLst>
                                          <p:attrName>style.visibility</p:attrName>
                                        </p:attrNameLst>
                                      </p:cBhvr>
                                      <p:to>
                                        <p:strVal val="visible"/>
                                      </p:to>
                                    </p:set>
                                    <p:anim calcmode="lin" valueType="num">
                                      <p:cBhvr>
                                        <p:cTn id="56" dur="500" fill="hold"/>
                                        <p:tgtEl>
                                          <p:spTgt spid="428074"/>
                                        </p:tgtEl>
                                        <p:attrNameLst>
                                          <p:attrName>ppt_x</p:attrName>
                                        </p:attrNameLst>
                                      </p:cBhvr>
                                      <p:tavLst>
                                        <p:tav tm="0">
                                          <p:val>
                                            <p:strVal val="#ppt_x-#ppt_w/2"/>
                                          </p:val>
                                        </p:tav>
                                        <p:tav tm="100000">
                                          <p:val>
                                            <p:strVal val="#ppt_x"/>
                                          </p:val>
                                        </p:tav>
                                      </p:tavLst>
                                    </p:anim>
                                    <p:anim calcmode="lin" valueType="num">
                                      <p:cBhvr>
                                        <p:cTn id="57" dur="500" fill="hold"/>
                                        <p:tgtEl>
                                          <p:spTgt spid="428074"/>
                                        </p:tgtEl>
                                        <p:attrNameLst>
                                          <p:attrName>ppt_y</p:attrName>
                                        </p:attrNameLst>
                                      </p:cBhvr>
                                      <p:tavLst>
                                        <p:tav tm="0">
                                          <p:val>
                                            <p:strVal val="#ppt_y"/>
                                          </p:val>
                                        </p:tav>
                                        <p:tav tm="100000">
                                          <p:val>
                                            <p:strVal val="#ppt_y"/>
                                          </p:val>
                                        </p:tav>
                                      </p:tavLst>
                                    </p:anim>
                                    <p:anim calcmode="lin" valueType="num">
                                      <p:cBhvr>
                                        <p:cTn id="58" dur="500" fill="hold"/>
                                        <p:tgtEl>
                                          <p:spTgt spid="428074"/>
                                        </p:tgtEl>
                                        <p:attrNameLst>
                                          <p:attrName>ppt_w</p:attrName>
                                        </p:attrNameLst>
                                      </p:cBhvr>
                                      <p:tavLst>
                                        <p:tav tm="0">
                                          <p:val>
                                            <p:fltVal val="0"/>
                                          </p:val>
                                        </p:tav>
                                        <p:tav tm="100000">
                                          <p:val>
                                            <p:strVal val="#ppt_w"/>
                                          </p:val>
                                        </p:tav>
                                      </p:tavLst>
                                    </p:anim>
                                    <p:anim calcmode="lin" valueType="num">
                                      <p:cBhvr>
                                        <p:cTn id="59" dur="500" fill="hold"/>
                                        <p:tgtEl>
                                          <p:spTgt spid="428074"/>
                                        </p:tgtEl>
                                        <p:attrNameLst>
                                          <p:attrName>ppt_h</p:attrName>
                                        </p:attrNameLst>
                                      </p:cBhvr>
                                      <p:tavLst>
                                        <p:tav tm="0">
                                          <p:val>
                                            <p:strVal val="#ppt_h"/>
                                          </p:val>
                                        </p:tav>
                                        <p:tav tm="100000">
                                          <p:val>
                                            <p:strVal val="#ppt_h"/>
                                          </p:val>
                                        </p:tav>
                                      </p:tavLst>
                                    </p:anim>
                                  </p:childTnLst>
                                </p:cTn>
                              </p:par>
                            </p:childTnLst>
                          </p:cTn>
                        </p:par>
                        <p:par>
                          <p:cTn id="60" fill="hold" nodeType="afterGroup">
                            <p:stCondLst>
                              <p:cond delay="500"/>
                            </p:stCondLst>
                            <p:childTnLst>
                              <p:par>
                                <p:cTn id="61" presetID="17" presetClass="entr" presetSubtype="1" fill="hold" grpId="0" nodeType="afterEffect">
                                  <p:stCondLst>
                                    <p:cond delay="0"/>
                                  </p:stCondLst>
                                  <p:childTnLst>
                                    <p:set>
                                      <p:cBhvr>
                                        <p:cTn id="62" dur="1" fill="hold">
                                          <p:stCondLst>
                                            <p:cond delay="0"/>
                                          </p:stCondLst>
                                        </p:cTn>
                                        <p:tgtEl>
                                          <p:spTgt spid="428106"/>
                                        </p:tgtEl>
                                        <p:attrNameLst>
                                          <p:attrName>style.visibility</p:attrName>
                                        </p:attrNameLst>
                                      </p:cBhvr>
                                      <p:to>
                                        <p:strVal val="visible"/>
                                      </p:to>
                                    </p:set>
                                    <p:anim calcmode="lin" valueType="num">
                                      <p:cBhvr>
                                        <p:cTn id="63" dur="500" fill="hold"/>
                                        <p:tgtEl>
                                          <p:spTgt spid="428106"/>
                                        </p:tgtEl>
                                        <p:attrNameLst>
                                          <p:attrName>ppt_x</p:attrName>
                                        </p:attrNameLst>
                                      </p:cBhvr>
                                      <p:tavLst>
                                        <p:tav tm="0">
                                          <p:val>
                                            <p:strVal val="#ppt_x"/>
                                          </p:val>
                                        </p:tav>
                                        <p:tav tm="100000">
                                          <p:val>
                                            <p:strVal val="#ppt_x"/>
                                          </p:val>
                                        </p:tav>
                                      </p:tavLst>
                                    </p:anim>
                                    <p:anim calcmode="lin" valueType="num">
                                      <p:cBhvr>
                                        <p:cTn id="64" dur="500" fill="hold"/>
                                        <p:tgtEl>
                                          <p:spTgt spid="428106"/>
                                        </p:tgtEl>
                                        <p:attrNameLst>
                                          <p:attrName>ppt_y</p:attrName>
                                        </p:attrNameLst>
                                      </p:cBhvr>
                                      <p:tavLst>
                                        <p:tav tm="0">
                                          <p:val>
                                            <p:strVal val="#ppt_y-#ppt_h/2"/>
                                          </p:val>
                                        </p:tav>
                                        <p:tav tm="100000">
                                          <p:val>
                                            <p:strVal val="#ppt_y"/>
                                          </p:val>
                                        </p:tav>
                                      </p:tavLst>
                                    </p:anim>
                                    <p:anim calcmode="lin" valueType="num">
                                      <p:cBhvr>
                                        <p:cTn id="65" dur="500" fill="hold"/>
                                        <p:tgtEl>
                                          <p:spTgt spid="428106"/>
                                        </p:tgtEl>
                                        <p:attrNameLst>
                                          <p:attrName>ppt_w</p:attrName>
                                        </p:attrNameLst>
                                      </p:cBhvr>
                                      <p:tavLst>
                                        <p:tav tm="0">
                                          <p:val>
                                            <p:strVal val="#ppt_w"/>
                                          </p:val>
                                        </p:tav>
                                        <p:tav tm="100000">
                                          <p:val>
                                            <p:strVal val="#ppt_w"/>
                                          </p:val>
                                        </p:tav>
                                      </p:tavLst>
                                    </p:anim>
                                    <p:anim calcmode="lin" valueType="num">
                                      <p:cBhvr>
                                        <p:cTn id="66" dur="500" fill="hold"/>
                                        <p:tgtEl>
                                          <p:spTgt spid="428106"/>
                                        </p:tgtEl>
                                        <p:attrNameLst>
                                          <p:attrName>ppt_h</p:attrName>
                                        </p:attrNameLst>
                                      </p:cBhvr>
                                      <p:tavLst>
                                        <p:tav tm="0">
                                          <p:val>
                                            <p:fltVal val="0"/>
                                          </p:val>
                                        </p:tav>
                                        <p:tav tm="100000">
                                          <p:val>
                                            <p:strVal val="#ppt_h"/>
                                          </p:val>
                                        </p:tav>
                                      </p:tavLst>
                                    </p:anim>
                                  </p:childTnLst>
                                </p:cTn>
                              </p:par>
                            </p:childTnLst>
                          </p:cTn>
                        </p:par>
                        <p:par>
                          <p:cTn id="67" fill="hold" nodeType="afterGroup">
                            <p:stCondLst>
                              <p:cond delay="1000"/>
                            </p:stCondLst>
                            <p:childTnLst>
                              <p:par>
                                <p:cTn id="68" presetID="17" presetClass="entr" presetSubtype="2" fill="hold" grpId="0" nodeType="afterEffect">
                                  <p:stCondLst>
                                    <p:cond delay="0"/>
                                  </p:stCondLst>
                                  <p:childTnLst>
                                    <p:set>
                                      <p:cBhvr>
                                        <p:cTn id="69" dur="1" fill="hold">
                                          <p:stCondLst>
                                            <p:cond delay="0"/>
                                          </p:stCondLst>
                                        </p:cTn>
                                        <p:tgtEl>
                                          <p:spTgt spid="428107"/>
                                        </p:tgtEl>
                                        <p:attrNameLst>
                                          <p:attrName>style.visibility</p:attrName>
                                        </p:attrNameLst>
                                      </p:cBhvr>
                                      <p:to>
                                        <p:strVal val="visible"/>
                                      </p:to>
                                    </p:set>
                                    <p:anim calcmode="lin" valueType="num">
                                      <p:cBhvr>
                                        <p:cTn id="70" dur="500" fill="hold"/>
                                        <p:tgtEl>
                                          <p:spTgt spid="428107"/>
                                        </p:tgtEl>
                                        <p:attrNameLst>
                                          <p:attrName>ppt_x</p:attrName>
                                        </p:attrNameLst>
                                      </p:cBhvr>
                                      <p:tavLst>
                                        <p:tav tm="0">
                                          <p:val>
                                            <p:strVal val="#ppt_x+#ppt_w/2"/>
                                          </p:val>
                                        </p:tav>
                                        <p:tav tm="100000">
                                          <p:val>
                                            <p:strVal val="#ppt_x"/>
                                          </p:val>
                                        </p:tav>
                                      </p:tavLst>
                                    </p:anim>
                                    <p:anim calcmode="lin" valueType="num">
                                      <p:cBhvr>
                                        <p:cTn id="71" dur="500" fill="hold"/>
                                        <p:tgtEl>
                                          <p:spTgt spid="428107"/>
                                        </p:tgtEl>
                                        <p:attrNameLst>
                                          <p:attrName>ppt_y</p:attrName>
                                        </p:attrNameLst>
                                      </p:cBhvr>
                                      <p:tavLst>
                                        <p:tav tm="0">
                                          <p:val>
                                            <p:strVal val="#ppt_y"/>
                                          </p:val>
                                        </p:tav>
                                        <p:tav tm="100000">
                                          <p:val>
                                            <p:strVal val="#ppt_y"/>
                                          </p:val>
                                        </p:tav>
                                      </p:tavLst>
                                    </p:anim>
                                    <p:anim calcmode="lin" valueType="num">
                                      <p:cBhvr>
                                        <p:cTn id="72" dur="500" fill="hold"/>
                                        <p:tgtEl>
                                          <p:spTgt spid="428107"/>
                                        </p:tgtEl>
                                        <p:attrNameLst>
                                          <p:attrName>ppt_w</p:attrName>
                                        </p:attrNameLst>
                                      </p:cBhvr>
                                      <p:tavLst>
                                        <p:tav tm="0">
                                          <p:val>
                                            <p:fltVal val="0"/>
                                          </p:val>
                                        </p:tav>
                                        <p:tav tm="100000">
                                          <p:val>
                                            <p:strVal val="#ppt_w"/>
                                          </p:val>
                                        </p:tav>
                                      </p:tavLst>
                                    </p:anim>
                                    <p:anim calcmode="lin" valueType="num">
                                      <p:cBhvr>
                                        <p:cTn id="73" dur="500" fill="hold"/>
                                        <p:tgtEl>
                                          <p:spTgt spid="428107"/>
                                        </p:tgtEl>
                                        <p:attrNameLst>
                                          <p:attrName>ppt_h</p:attrName>
                                        </p:attrNameLst>
                                      </p:cBhvr>
                                      <p:tavLst>
                                        <p:tav tm="0">
                                          <p:val>
                                            <p:strVal val="#ppt_h"/>
                                          </p:val>
                                        </p:tav>
                                        <p:tav tm="100000">
                                          <p:val>
                                            <p:strVal val="#ppt_h"/>
                                          </p:val>
                                        </p:tav>
                                      </p:tavLst>
                                    </p:anim>
                                  </p:childTnLst>
                                </p:cTn>
                              </p:par>
                            </p:childTnLst>
                          </p:cTn>
                        </p:par>
                        <p:par>
                          <p:cTn id="74" fill="hold" nodeType="afterGroup">
                            <p:stCondLst>
                              <p:cond delay="1500"/>
                            </p:stCondLst>
                            <p:childTnLst>
                              <p:par>
                                <p:cTn id="75" presetID="17" presetClass="entr" presetSubtype="1" fill="hold" grpId="0" nodeType="afterEffect">
                                  <p:stCondLst>
                                    <p:cond delay="0"/>
                                  </p:stCondLst>
                                  <p:childTnLst>
                                    <p:set>
                                      <p:cBhvr>
                                        <p:cTn id="76" dur="1" fill="hold">
                                          <p:stCondLst>
                                            <p:cond delay="0"/>
                                          </p:stCondLst>
                                        </p:cTn>
                                        <p:tgtEl>
                                          <p:spTgt spid="428108"/>
                                        </p:tgtEl>
                                        <p:attrNameLst>
                                          <p:attrName>style.visibility</p:attrName>
                                        </p:attrNameLst>
                                      </p:cBhvr>
                                      <p:to>
                                        <p:strVal val="visible"/>
                                      </p:to>
                                    </p:set>
                                    <p:anim calcmode="lin" valueType="num">
                                      <p:cBhvr>
                                        <p:cTn id="77" dur="500" fill="hold"/>
                                        <p:tgtEl>
                                          <p:spTgt spid="428108"/>
                                        </p:tgtEl>
                                        <p:attrNameLst>
                                          <p:attrName>ppt_x</p:attrName>
                                        </p:attrNameLst>
                                      </p:cBhvr>
                                      <p:tavLst>
                                        <p:tav tm="0">
                                          <p:val>
                                            <p:strVal val="#ppt_x"/>
                                          </p:val>
                                        </p:tav>
                                        <p:tav tm="100000">
                                          <p:val>
                                            <p:strVal val="#ppt_x"/>
                                          </p:val>
                                        </p:tav>
                                      </p:tavLst>
                                    </p:anim>
                                    <p:anim calcmode="lin" valueType="num">
                                      <p:cBhvr>
                                        <p:cTn id="78" dur="500" fill="hold"/>
                                        <p:tgtEl>
                                          <p:spTgt spid="428108"/>
                                        </p:tgtEl>
                                        <p:attrNameLst>
                                          <p:attrName>ppt_y</p:attrName>
                                        </p:attrNameLst>
                                      </p:cBhvr>
                                      <p:tavLst>
                                        <p:tav tm="0">
                                          <p:val>
                                            <p:strVal val="#ppt_y-#ppt_h/2"/>
                                          </p:val>
                                        </p:tav>
                                        <p:tav tm="100000">
                                          <p:val>
                                            <p:strVal val="#ppt_y"/>
                                          </p:val>
                                        </p:tav>
                                      </p:tavLst>
                                    </p:anim>
                                    <p:anim calcmode="lin" valueType="num">
                                      <p:cBhvr>
                                        <p:cTn id="79" dur="500" fill="hold"/>
                                        <p:tgtEl>
                                          <p:spTgt spid="428108"/>
                                        </p:tgtEl>
                                        <p:attrNameLst>
                                          <p:attrName>ppt_w</p:attrName>
                                        </p:attrNameLst>
                                      </p:cBhvr>
                                      <p:tavLst>
                                        <p:tav tm="0">
                                          <p:val>
                                            <p:strVal val="#ppt_w"/>
                                          </p:val>
                                        </p:tav>
                                        <p:tav tm="100000">
                                          <p:val>
                                            <p:strVal val="#ppt_w"/>
                                          </p:val>
                                        </p:tav>
                                      </p:tavLst>
                                    </p:anim>
                                    <p:anim calcmode="lin" valueType="num">
                                      <p:cBhvr>
                                        <p:cTn id="80" dur="500" fill="hold"/>
                                        <p:tgtEl>
                                          <p:spTgt spid="428108"/>
                                        </p:tgtEl>
                                        <p:attrNameLst>
                                          <p:attrName>ppt_h</p:attrName>
                                        </p:attrNameLst>
                                      </p:cBhvr>
                                      <p:tavLst>
                                        <p:tav tm="0">
                                          <p:val>
                                            <p:fltVal val="0"/>
                                          </p:val>
                                        </p:tav>
                                        <p:tav tm="100000">
                                          <p:val>
                                            <p:strVal val="#ppt_h"/>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grpId="0" nodeType="clickEffect">
                                  <p:stCondLst>
                                    <p:cond delay="0"/>
                                  </p:stCondLst>
                                  <p:childTnLst>
                                    <p:set>
                                      <p:cBhvr>
                                        <p:cTn id="84" dur="1" fill="hold">
                                          <p:stCondLst>
                                            <p:cond delay="499"/>
                                          </p:stCondLst>
                                        </p:cTn>
                                        <p:tgtEl>
                                          <p:spTgt spid="428100"/>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19" presetClass="entr" presetSubtype="10" fill="hold" grpId="0" nodeType="clickEffect">
                                  <p:stCondLst>
                                    <p:cond delay="0"/>
                                  </p:stCondLst>
                                  <p:childTnLst>
                                    <p:set>
                                      <p:cBhvr>
                                        <p:cTn id="88" dur="1" fill="hold">
                                          <p:stCondLst>
                                            <p:cond delay="0"/>
                                          </p:stCondLst>
                                        </p:cTn>
                                        <p:tgtEl>
                                          <p:spTgt spid="428095"/>
                                        </p:tgtEl>
                                        <p:attrNameLst>
                                          <p:attrName>style.visibility</p:attrName>
                                        </p:attrNameLst>
                                      </p:cBhvr>
                                      <p:to>
                                        <p:strVal val="visible"/>
                                      </p:to>
                                    </p:set>
                                    <p:anim calcmode="lin" valueType="num">
                                      <p:cBhvr>
                                        <p:cTn id="89" dur="5000" fill="hold"/>
                                        <p:tgtEl>
                                          <p:spTgt spid="428095"/>
                                        </p:tgtEl>
                                        <p:attrNameLst>
                                          <p:attrName>ppt_w</p:attrName>
                                        </p:attrNameLst>
                                      </p:cBhvr>
                                      <p:tavLst>
                                        <p:tav tm="0" fmla="#ppt_w*sin(2.5*pi*$)">
                                          <p:val>
                                            <p:fltVal val="0"/>
                                          </p:val>
                                        </p:tav>
                                        <p:tav tm="100000">
                                          <p:val>
                                            <p:fltVal val="1"/>
                                          </p:val>
                                        </p:tav>
                                      </p:tavLst>
                                    </p:anim>
                                    <p:anim calcmode="lin" valueType="num">
                                      <p:cBhvr>
                                        <p:cTn id="90" dur="5000" fill="hold"/>
                                        <p:tgtEl>
                                          <p:spTgt spid="428095"/>
                                        </p:tgtEl>
                                        <p:attrNameLst>
                                          <p:attrName>ppt_h</p:attrName>
                                        </p:attrNameLst>
                                      </p:cBhvr>
                                      <p:tavLst>
                                        <p:tav tm="0">
                                          <p:val>
                                            <p:strVal val="#ppt_h"/>
                                          </p:val>
                                        </p:tav>
                                        <p:tav tm="100000">
                                          <p:val>
                                            <p:strVal val="#ppt_h"/>
                                          </p:val>
                                        </p:tav>
                                      </p:tavLst>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17" presetClass="entr" presetSubtype="8" fill="hold" grpId="0" nodeType="clickEffect">
                                  <p:stCondLst>
                                    <p:cond delay="0"/>
                                  </p:stCondLst>
                                  <p:childTnLst>
                                    <p:set>
                                      <p:cBhvr>
                                        <p:cTn id="94" dur="1" fill="hold">
                                          <p:stCondLst>
                                            <p:cond delay="0"/>
                                          </p:stCondLst>
                                        </p:cTn>
                                        <p:tgtEl>
                                          <p:spTgt spid="428092"/>
                                        </p:tgtEl>
                                        <p:attrNameLst>
                                          <p:attrName>style.visibility</p:attrName>
                                        </p:attrNameLst>
                                      </p:cBhvr>
                                      <p:to>
                                        <p:strVal val="visible"/>
                                      </p:to>
                                    </p:set>
                                    <p:anim calcmode="lin" valueType="num">
                                      <p:cBhvr>
                                        <p:cTn id="95" dur="500" fill="hold"/>
                                        <p:tgtEl>
                                          <p:spTgt spid="428092"/>
                                        </p:tgtEl>
                                        <p:attrNameLst>
                                          <p:attrName>ppt_x</p:attrName>
                                        </p:attrNameLst>
                                      </p:cBhvr>
                                      <p:tavLst>
                                        <p:tav tm="0">
                                          <p:val>
                                            <p:strVal val="#ppt_x-#ppt_w/2"/>
                                          </p:val>
                                        </p:tav>
                                        <p:tav tm="100000">
                                          <p:val>
                                            <p:strVal val="#ppt_x"/>
                                          </p:val>
                                        </p:tav>
                                      </p:tavLst>
                                    </p:anim>
                                    <p:anim calcmode="lin" valueType="num">
                                      <p:cBhvr>
                                        <p:cTn id="96" dur="500" fill="hold"/>
                                        <p:tgtEl>
                                          <p:spTgt spid="428092"/>
                                        </p:tgtEl>
                                        <p:attrNameLst>
                                          <p:attrName>ppt_y</p:attrName>
                                        </p:attrNameLst>
                                      </p:cBhvr>
                                      <p:tavLst>
                                        <p:tav tm="0">
                                          <p:val>
                                            <p:strVal val="#ppt_y"/>
                                          </p:val>
                                        </p:tav>
                                        <p:tav tm="100000">
                                          <p:val>
                                            <p:strVal val="#ppt_y"/>
                                          </p:val>
                                        </p:tav>
                                      </p:tavLst>
                                    </p:anim>
                                    <p:anim calcmode="lin" valueType="num">
                                      <p:cBhvr>
                                        <p:cTn id="97" dur="500" fill="hold"/>
                                        <p:tgtEl>
                                          <p:spTgt spid="428092"/>
                                        </p:tgtEl>
                                        <p:attrNameLst>
                                          <p:attrName>ppt_w</p:attrName>
                                        </p:attrNameLst>
                                      </p:cBhvr>
                                      <p:tavLst>
                                        <p:tav tm="0">
                                          <p:val>
                                            <p:fltVal val="0"/>
                                          </p:val>
                                        </p:tav>
                                        <p:tav tm="100000">
                                          <p:val>
                                            <p:strVal val="#ppt_w"/>
                                          </p:val>
                                        </p:tav>
                                      </p:tavLst>
                                    </p:anim>
                                    <p:anim calcmode="lin" valueType="num">
                                      <p:cBhvr>
                                        <p:cTn id="98" dur="500" fill="hold"/>
                                        <p:tgtEl>
                                          <p:spTgt spid="428092"/>
                                        </p:tgtEl>
                                        <p:attrNameLst>
                                          <p:attrName>ppt_h</p:attrName>
                                        </p:attrNameLst>
                                      </p:cBhvr>
                                      <p:tavLst>
                                        <p:tav tm="0">
                                          <p:val>
                                            <p:strVal val="#ppt_h"/>
                                          </p:val>
                                        </p:tav>
                                        <p:tav tm="100000">
                                          <p:val>
                                            <p:strVal val="#ppt_h"/>
                                          </p:val>
                                        </p:tav>
                                      </p:tavLst>
                                    </p:anim>
                                  </p:childTnLst>
                                </p:cTn>
                              </p:par>
                            </p:childTnLst>
                          </p:cTn>
                        </p:par>
                        <p:par>
                          <p:cTn id="99" fill="hold" nodeType="afterGroup">
                            <p:stCondLst>
                              <p:cond delay="500"/>
                            </p:stCondLst>
                            <p:childTnLst>
                              <p:par>
                                <p:cTn id="100" presetID="17" presetClass="entr" presetSubtype="1" fill="hold" grpId="0" nodeType="afterEffect">
                                  <p:stCondLst>
                                    <p:cond delay="0"/>
                                  </p:stCondLst>
                                  <p:childTnLst>
                                    <p:set>
                                      <p:cBhvr>
                                        <p:cTn id="101" dur="1" fill="hold">
                                          <p:stCondLst>
                                            <p:cond delay="0"/>
                                          </p:stCondLst>
                                        </p:cTn>
                                        <p:tgtEl>
                                          <p:spTgt spid="428110"/>
                                        </p:tgtEl>
                                        <p:attrNameLst>
                                          <p:attrName>style.visibility</p:attrName>
                                        </p:attrNameLst>
                                      </p:cBhvr>
                                      <p:to>
                                        <p:strVal val="visible"/>
                                      </p:to>
                                    </p:set>
                                    <p:anim calcmode="lin" valueType="num">
                                      <p:cBhvr>
                                        <p:cTn id="102" dur="500" fill="hold"/>
                                        <p:tgtEl>
                                          <p:spTgt spid="428110"/>
                                        </p:tgtEl>
                                        <p:attrNameLst>
                                          <p:attrName>ppt_x</p:attrName>
                                        </p:attrNameLst>
                                      </p:cBhvr>
                                      <p:tavLst>
                                        <p:tav tm="0">
                                          <p:val>
                                            <p:strVal val="#ppt_x"/>
                                          </p:val>
                                        </p:tav>
                                        <p:tav tm="100000">
                                          <p:val>
                                            <p:strVal val="#ppt_x"/>
                                          </p:val>
                                        </p:tav>
                                      </p:tavLst>
                                    </p:anim>
                                    <p:anim calcmode="lin" valueType="num">
                                      <p:cBhvr>
                                        <p:cTn id="103" dur="500" fill="hold"/>
                                        <p:tgtEl>
                                          <p:spTgt spid="428110"/>
                                        </p:tgtEl>
                                        <p:attrNameLst>
                                          <p:attrName>ppt_y</p:attrName>
                                        </p:attrNameLst>
                                      </p:cBhvr>
                                      <p:tavLst>
                                        <p:tav tm="0">
                                          <p:val>
                                            <p:strVal val="#ppt_y-#ppt_h/2"/>
                                          </p:val>
                                        </p:tav>
                                        <p:tav tm="100000">
                                          <p:val>
                                            <p:strVal val="#ppt_y"/>
                                          </p:val>
                                        </p:tav>
                                      </p:tavLst>
                                    </p:anim>
                                    <p:anim calcmode="lin" valueType="num">
                                      <p:cBhvr>
                                        <p:cTn id="104" dur="500" fill="hold"/>
                                        <p:tgtEl>
                                          <p:spTgt spid="428110"/>
                                        </p:tgtEl>
                                        <p:attrNameLst>
                                          <p:attrName>ppt_w</p:attrName>
                                        </p:attrNameLst>
                                      </p:cBhvr>
                                      <p:tavLst>
                                        <p:tav tm="0">
                                          <p:val>
                                            <p:strVal val="#ppt_w"/>
                                          </p:val>
                                        </p:tav>
                                        <p:tav tm="100000">
                                          <p:val>
                                            <p:strVal val="#ppt_w"/>
                                          </p:val>
                                        </p:tav>
                                      </p:tavLst>
                                    </p:anim>
                                    <p:anim calcmode="lin" valueType="num">
                                      <p:cBhvr>
                                        <p:cTn id="105" dur="500" fill="hold"/>
                                        <p:tgtEl>
                                          <p:spTgt spid="428110"/>
                                        </p:tgtEl>
                                        <p:attrNameLst>
                                          <p:attrName>ppt_h</p:attrName>
                                        </p:attrNameLst>
                                      </p:cBhvr>
                                      <p:tavLst>
                                        <p:tav tm="0">
                                          <p:val>
                                            <p:fltVal val="0"/>
                                          </p:val>
                                        </p:tav>
                                        <p:tav tm="100000">
                                          <p:val>
                                            <p:strVal val="#ppt_h"/>
                                          </p:val>
                                        </p:tav>
                                      </p:tavLst>
                                    </p:anim>
                                  </p:childTnLst>
                                </p:cTn>
                              </p:par>
                            </p:childTnLst>
                          </p:cTn>
                        </p:par>
                        <p:par>
                          <p:cTn id="106" fill="hold" nodeType="afterGroup">
                            <p:stCondLst>
                              <p:cond delay="1000"/>
                            </p:stCondLst>
                            <p:childTnLst>
                              <p:par>
                                <p:cTn id="107" presetID="17" presetClass="entr" presetSubtype="2" fill="hold" grpId="0" nodeType="afterEffect">
                                  <p:stCondLst>
                                    <p:cond delay="0"/>
                                  </p:stCondLst>
                                  <p:childTnLst>
                                    <p:set>
                                      <p:cBhvr>
                                        <p:cTn id="108" dur="1" fill="hold">
                                          <p:stCondLst>
                                            <p:cond delay="0"/>
                                          </p:stCondLst>
                                        </p:cTn>
                                        <p:tgtEl>
                                          <p:spTgt spid="428111"/>
                                        </p:tgtEl>
                                        <p:attrNameLst>
                                          <p:attrName>style.visibility</p:attrName>
                                        </p:attrNameLst>
                                      </p:cBhvr>
                                      <p:to>
                                        <p:strVal val="visible"/>
                                      </p:to>
                                    </p:set>
                                    <p:anim calcmode="lin" valueType="num">
                                      <p:cBhvr>
                                        <p:cTn id="109" dur="500" fill="hold"/>
                                        <p:tgtEl>
                                          <p:spTgt spid="428111"/>
                                        </p:tgtEl>
                                        <p:attrNameLst>
                                          <p:attrName>ppt_x</p:attrName>
                                        </p:attrNameLst>
                                      </p:cBhvr>
                                      <p:tavLst>
                                        <p:tav tm="0">
                                          <p:val>
                                            <p:strVal val="#ppt_x+#ppt_w/2"/>
                                          </p:val>
                                        </p:tav>
                                        <p:tav tm="100000">
                                          <p:val>
                                            <p:strVal val="#ppt_x"/>
                                          </p:val>
                                        </p:tav>
                                      </p:tavLst>
                                    </p:anim>
                                    <p:anim calcmode="lin" valueType="num">
                                      <p:cBhvr>
                                        <p:cTn id="110" dur="500" fill="hold"/>
                                        <p:tgtEl>
                                          <p:spTgt spid="428111"/>
                                        </p:tgtEl>
                                        <p:attrNameLst>
                                          <p:attrName>ppt_y</p:attrName>
                                        </p:attrNameLst>
                                      </p:cBhvr>
                                      <p:tavLst>
                                        <p:tav tm="0">
                                          <p:val>
                                            <p:strVal val="#ppt_y"/>
                                          </p:val>
                                        </p:tav>
                                        <p:tav tm="100000">
                                          <p:val>
                                            <p:strVal val="#ppt_y"/>
                                          </p:val>
                                        </p:tav>
                                      </p:tavLst>
                                    </p:anim>
                                    <p:anim calcmode="lin" valueType="num">
                                      <p:cBhvr>
                                        <p:cTn id="111" dur="500" fill="hold"/>
                                        <p:tgtEl>
                                          <p:spTgt spid="428111"/>
                                        </p:tgtEl>
                                        <p:attrNameLst>
                                          <p:attrName>ppt_w</p:attrName>
                                        </p:attrNameLst>
                                      </p:cBhvr>
                                      <p:tavLst>
                                        <p:tav tm="0">
                                          <p:val>
                                            <p:fltVal val="0"/>
                                          </p:val>
                                        </p:tav>
                                        <p:tav tm="100000">
                                          <p:val>
                                            <p:strVal val="#ppt_w"/>
                                          </p:val>
                                        </p:tav>
                                      </p:tavLst>
                                    </p:anim>
                                    <p:anim calcmode="lin" valueType="num">
                                      <p:cBhvr>
                                        <p:cTn id="112" dur="500" fill="hold"/>
                                        <p:tgtEl>
                                          <p:spTgt spid="428111"/>
                                        </p:tgtEl>
                                        <p:attrNameLst>
                                          <p:attrName>ppt_h</p:attrName>
                                        </p:attrNameLst>
                                      </p:cBhvr>
                                      <p:tavLst>
                                        <p:tav tm="0">
                                          <p:val>
                                            <p:strVal val="#ppt_h"/>
                                          </p:val>
                                        </p:tav>
                                        <p:tav tm="100000">
                                          <p:val>
                                            <p:strVal val="#ppt_h"/>
                                          </p:val>
                                        </p:tav>
                                      </p:tavLst>
                                    </p:anim>
                                  </p:childTnLst>
                                </p:cTn>
                              </p:par>
                            </p:childTnLst>
                          </p:cTn>
                        </p:par>
                        <p:par>
                          <p:cTn id="113" fill="hold" nodeType="afterGroup">
                            <p:stCondLst>
                              <p:cond delay="1500"/>
                            </p:stCondLst>
                            <p:childTnLst>
                              <p:par>
                                <p:cTn id="114" presetID="17" presetClass="entr" presetSubtype="1" fill="hold" grpId="0" nodeType="afterEffect">
                                  <p:stCondLst>
                                    <p:cond delay="0"/>
                                  </p:stCondLst>
                                  <p:childTnLst>
                                    <p:set>
                                      <p:cBhvr>
                                        <p:cTn id="115" dur="1" fill="hold">
                                          <p:stCondLst>
                                            <p:cond delay="0"/>
                                          </p:stCondLst>
                                        </p:cTn>
                                        <p:tgtEl>
                                          <p:spTgt spid="428112"/>
                                        </p:tgtEl>
                                        <p:attrNameLst>
                                          <p:attrName>style.visibility</p:attrName>
                                        </p:attrNameLst>
                                      </p:cBhvr>
                                      <p:to>
                                        <p:strVal val="visible"/>
                                      </p:to>
                                    </p:set>
                                    <p:anim calcmode="lin" valueType="num">
                                      <p:cBhvr>
                                        <p:cTn id="116" dur="500" fill="hold"/>
                                        <p:tgtEl>
                                          <p:spTgt spid="428112"/>
                                        </p:tgtEl>
                                        <p:attrNameLst>
                                          <p:attrName>ppt_x</p:attrName>
                                        </p:attrNameLst>
                                      </p:cBhvr>
                                      <p:tavLst>
                                        <p:tav tm="0">
                                          <p:val>
                                            <p:strVal val="#ppt_x"/>
                                          </p:val>
                                        </p:tav>
                                        <p:tav tm="100000">
                                          <p:val>
                                            <p:strVal val="#ppt_x"/>
                                          </p:val>
                                        </p:tav>
                                      </p:tavLst>
                                    </p:anim>
                                    <p:anim calcmode="lin" valueType="num">
                                      <p:cBhvr>
                                        <p:cTn id="117" dur="500" fill="hold"/>
                                        <p:tgtEl>
                                          <p:spTgt spid="428112"/>
                                        </p:tgtEl>
                                        <p:attrNameLst>
                                          <p:attrName>ppt_y</p:attrName>
                                        </p:attrNameLst>
                                      </p:cBhvr>
                                      <p:tavLst>
                                        <p:tav tm="0">
                                          <p:val>
                                            <p:strVal val="#ppt_y-#ppt_h/2"/>
                                          </p:val>
                                        </p:tav>
                                        <p:tav tm="100000">
                                          <p:val>
                                            <p:strVal val="#ppt_y"/>
                                          </p:val>
                                        </p:tav>
                                      </p:tavLst>
                                    </p:anim>
                                    <p:anim calcmode="lin" valueType="num">
                                      <p:cBhvr>
                                        <p:cTn id="118" dur="500" fill="hold"/>
                                        <p:tgtEl>
                                          <p:spTgt spid="428112"/>
                                        </p:tgtEl>
                                        <p:attrNameLst>
                                          <p:attrName>ppt_w</p:attrName>
                                        </p:attrNameLst>
                                      </p:cBhvr>
                                      <p:tavLst>
                                        <p:tav tm="0">
                                          <p:val>
                                            <p:strVal val="#ppt_w"/>
                                          </p:val>
                                        </p:tav>
                                        <p:tav tm="100000">
                                          <p:val>
                                            <p:strVal val="#ppt_w"/>
                                          </p:val>
                                        </p:tav>
                                      </p:tavLst>
                                    </p:anim>
                                    <p:anim calcmode="lin" valueType="num">
                                      <p:cBhvr>
                                        <p:cTn id="119" dur="500" fill="hold"/>
                                        <p:tgtEl>
                                          <p:spTgt spid="42811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051" grpId="0" animBg="1"/>
      <p:bldP spid="428054" grpId="0" autoUpdateAnimBg="0"/>
      <p:bldP spid="428074" grpId="0" animBg="1"/>
      <p:bldP spid="428076" grpId="0" autoUpdateAnimBg="0"/>
      <p:bldP spid="428095" grpId="0" autoUpdateAnimBg="0"/>
      <p:bldP spid="428092" grpId="0" animBg="1"/>
      <p:bldP spid="428098" grpId="0" autoUpdateAnimBg="0"/>
      <p:bldP spid="428099" grpId="0" autoUpdateAnimBg="0"/>
      <p:bldP spid="428100" grpId="0" autoUpdateAnimBg="0"/>
      <p:bldP spid="428103" grpId="0" animBg="1"/>
      <p:bldP spid="428104" grpId="0" animBg="1"/>
      <p:bldP spid="428105" grpId="0" animBg="1"/>
      <p:bldP spid="428106" grpId="0" animBg="1"/>
      <p:bldP spid="428107" grpId="0" animBg="1"/>
      <p:bldP spid="428108" grpId="0" animBg="1"/>
      <p:bldP spid="428110" grpId="0" animBg="1"/>
      <p:bldP spid="428111" grpId="0" animBg="1"/>
      <p:bldP spid="428112" grpId="0" animBg="1"/>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083" name="Rectangle 3"/>
          <p:cNvSpPr>
            <a:spLocks noGrp="1" noChangeArrowheads="1"/>
          </p:cNvSpPr>
          <p:nvPr>
            <p:ph type="body" sz="half" idx="1"/>
          </p:nvPr>
        </p:nvSpPr>
        <p:spPr>
          <a:xfrm>
            <a:off x="233363" y="1336675"/>
            <a:ext cx="8509000" cy="5597525"/>
          </a:xfrm>
        </p:spPr>
        <p:txBody>
          <a:bodyPr/>
          <a:lstStyle/>
          <a:p>
            <a:pPr>
              <a:lnSpc>
                <a:spcPct val="120000"/>
              </a:lnSpc>
            </a:pPr>
            <a:r>
              <a:rPr lang="en-US" altLang="zh-CN" b="1">
                <a:solidFill>
                  <a:srgbClr val="C00000"/>
                </a:solidFill>
                <a:latin typeface="宋体" pitchFamily="2" charset="-122"/>
                <a:ea typeface="宋体" pitchFamily="2" charset="-122"/>
              </a:rPr>
              <a:t>break</a:t>
            </a:r>
            <a:r>
              <a:rPr lang="zh-CN" altLang="en-US" b="1">
                <a:solidFill>
                  <a:srgbClr val="C00000"/>
                </a:solidFill>
                <a:latin typeface="宋体" pitchFamily="2" charset="-122"/>
                <a:ea typeface="宋体" pitchFamily="2" charset="-122"/>
              </a:rPr>
              <a:t>语句使用注意：</a:t>
            </a:r>
          </a:p>
          <a:p>
            <a:pPr>
              <a:lnSpc>
                <a:spcPct val="120000"/>
              </a:lnSpc>
              <a:buFont typeface="Wingdings" pitchFamily="2" charset="2"/>
              <a:buNone/>
            </a:pPr>
            <a:r>
              <a:rPr lang="zh-CN" altLang="en-US" sz="2800">
                <a:latin typeface="宋体" pitchFamily="2" charset="-122"/>
                <a:ea typeface="宋体" pitchFamily="2" charset="-122"/>
              </a:rPr>
              <a:t>	    </a:t>
            </a:r>
            <a:r>
              <a:rPr lang="zh-CN" altLang="en-US" sz="2800" b="1">
                <a:solidFill>
                  <a:srgbClr val="1306BA"/>
                </a:solidFill>
                <a:latin typeface="宋体" pitchFamily="2" charset="-122"/>
                <a:ea typeface="宋体" pitchFamily="2" charset="-122"/>
              </a:rPr>
              <a:t>1、在嵌套循环中，</a:t>
            </a:r>
            <a:r>
              <a:rPr lang="en-US" altLang="zh-CN" sz="2800" b="1">
                <a:solidFill>
                  <a:srgbClr val="1306BA"/>
                </a:solidFill>
                <a:latin typeface="宋体" pitchFamily="2" charset="-122"/>
                <a:ea typeface="宋体" pitchFamily="2" charset="-122"/>
              </a:rPr>
              <a:t>break </a:t>
            </a:r>
            <a:r>
              <a:rPr lang="zh-CN" altLang="en-US" sz="2800" b="1">
                <a:solidFill>
                  <a:srgbClr val="1306BA"/>
                </a:solidFill>
                <a:latin typeface="宋体" pitchFamily="2" charset="-122"/>
                <a:ea typeface="宋体" pitchFamily="2" charset="-122"/>
              </a:rPr>
              <a:t>语句仅能退出一层(当前层)循环。</a:t>
            </a:r>
          </a:p>
          <a:p>
            <a:pPr>
              <a:lnSpc>
                <a:spcPct val="120000"/>
              </a:lnSpc>
              <a:buFont typeface="Wingdings" pitchFamily="2" charset="2"/>
              <a:buNone/>
            </a:pPr>
            <a:r>
              <a:rPr lang="zh-CN" altLang="en-US" sz="2800">
                <a:latin typeface="宋体" pitchFamily="2" charset="-122"/>
                <a:ea typeface="宋体" pitchFamily="2" charset="-122"/>
              </a:rPr>
              <a:t>	    </a:t>
            </a:r>
            <a:r>
              <a:rPr lang="zh-CN" altLang="en-US" sz="2800" b="1">
                <a:latin typeface="宋体" pitchFamily="2" charset="-122"/>
                <a:ea typeface="宋体" pitchFamily="2" charset="-122"/>
              </a:rPr>
              <a:t>2、若在循环语句中包含了 </a:t>
            </a:r>
            <a:r>
              <a:rPr lang="en-US" altLang="zh-CN" sz="2800" b="1">
                <a:latin typeface="宋体" pitchFamily="2" charset="-122"/>
                <a:ea typeface="宋体" pitchFamily="2" charset="-122"/>
              </a:rPr>
              <a:t>switch </a:t>
            </a:r>
            <a:r>
              <a:rPr lang="zh-CN" altLang="en-US" sz="2800" b="1">
                <a:latin typeface="宋体" pitchFamily="2" charset="-122"/>
                <a:ea typeface="宋体" pitchFamily="2" charset="-122"/>
              </a:rPr>
              <a:t>语句，那么</a:t>
            </a:r>
            <a:r>
              <a:rPr lang="en-US" altLang="zh-CN" sz="2800" b="1">
                <a:latin typeface="宋体" pitchFamily="2" charset="-122"/>
                <a:ea typeface="宋体" pitchFamily="2" charset="-122"/>
              </a:rPr>
              <a:t>switch </a:t>
            </a:r>
            <a:r>
              <a:rPr lang="zh-CN" altLang="en-US" sz="2800" b="1">
                <a:latin typeface="宋体" pitchFamily="2" charset="-122"/>
                <a:ea typeface="宋体" pitchFamily="2" charset="-122"/>
              </a:rPr>
              <a:t>语句中的 </a:t>
            </a:r>
            <a:r>
              <a:rPr lang="en-US" altLang="zh-CN" sz="2800" b="1">
                <a:latin typeface="宋体" pitchFamily="2" charset="-122"/>
                <a:ea typeface="宋体" pitchFamily="2" charset="-122"/>
              </a:rPr>
              <a:t>break </a:t>
            </a:r>
            <a:r>
              <a:rPr lang="zh-CN" altLang="en-US" sz="2800" b="1">
                <a:latin typeface="宋体" pitchFamily="2" charset="-122"/>
                <a:ea typeface="宋体" pitchFamily="2" charset="-122"/>
              </a:rPr>
              <a:t>语句仅能使控制退出 </a:t>
            </a:r>
            <a:r>
              <a:rPr lang="en-US" altLang="zh-CN" sz="2800" b="1">
                <a:latin typeface="宋体" pitchFamily="2" charset="-122"/>
                <a:ea typeface="宋体" pitchFamily="2" charset="-122"/>
              </a:rPr>
              <a:t>switch </a:t>
            </a:r>
            <a:r>
              <a:rPr lang="zh-CN" altLang="en-US" sz="2800" b="1">
                <a:latin typeface="宋体" pitchFamily="2" charset="-122"/>
                <a:ea typeface="宋体" pitchFamily="2" charset="-122"/>
              </a:rPr>
              <a:t>语句。</a:t>
            </a:r>
            <a:endParaRPr lang="zh-CN" altLang="en-US" sz="2800" b="1">
              <a:solidFill>
                <a:srgbClr val="00FF00"/>
              </a:solidFill>
              <a:latin typeface="宋体" pitchFamily="2" charset="-122"/>
              <a:ea typeface="宋体" pitchFamily="2" charset="-122"/>
            </a:endParaRPr>
          </a:p>
          <a:p>
            <a:pPr>
              <a:lnSpc>
                <a:spcPct val="120000"/>
              </a:lnSpc>
              <a:buFont typeface="Wingdings" pitchFamily="2" charset="2"/>
              <a:buNone/>
            </a:pPr>
            <a:r>
              <a:rPr lang="zh-CN" altLang="zh-CN" sz="2800" b="1">
                <a:solidFill>
                  <a:srgbClr val="00FFFF"/>
                </a:solidFill>
                <a:latin typeface="宋体" pitchFamily="2" charset="-122"/>
                <a:ea typeface="宋体" pitchFamily="2" charset="-122"/>
              </a:rPr>
              <a:t>	</a:t>
            </a:r>
            <a:r>
              <a:rPr lang="zh-CN" altLang="en-US" sz="2800" b="1">
                <a:solidFill>
                  <a:srgbClr val="00FFFF"/>
                </a:solidFill>
                <a:latin typeface="宋体" pitchFamily="2" charset="-122"/>
                <a:ea typeface="宋体" pitchFamily="2" charset="-122"/>
              </a:rPr>
              <a:t>    </a:t>
            </a:r>
            <a:r>
              <a:rPr lang="zh-CN" altLang="zh-CN" sz="2800" b="1">
                <a:solidFill>
                  <a:srgbClr val="7030A0"/>
                </a:solidFill>
                <a:latin typeface="宋体" pitchFamily="2" charset="-122"/>
                <a:ea typeface="宋体" pitchFamily="2" charset="-122"/>
              </a:rPr>
              <a:t>3、</a:t>
            </a:r>
            <a:r>
              <a:rPr lang="en-US" altLang="zh-CN" sz="2800" b="1">
                <a:solidFill>
                  <a:srgbClr val="7030A0"/>
                </a:solidFill>
                <a:latin typeface="宋体" pitchFamily="2" charset="-122"/>
                <a:ea typeface="宋体" pitchFamily="2" charset="-122"/>
              </a:rPr>
              <a:t>break </a:t>
            </a:r>
            <a:r>
              <a:rPr lang="zh-CN" altLang="en-US" sz="2800" b="1">
                <a:solidFill>
                  <a:srgbClr val="7030A0"/>
                </a:solidFill>
                <a:latin typeface="宋体" pitchFamily="2" charset="-122"/>
                <a:ea typeface="宋体" pitchFamily="2" charset="-122"/>
              </a:rPr>
              <a:t>语句并不是程序设计中必不可少的语句，可以通过改变程序的结构去掉。</a:t>
            </a:r>
            <a:endParaRPr lang="zh-CN" altLang="en-US" sz="2600" b="1">
              <a:solidFill>
                <a:srgbClr val="7030A0"/>
              </a:solidFill>
              <a:latin typeface="宋体" pitchFamily="2" charset="-122"/>
              <a:ea typeface="宋体" pitchFamily="2" charset="-122"/>
            </a:endParaRPr>
          </a:p>
        </p:txBody>
      </p:sp>
      <p:sp>
        <p:nvSpPr>
          <p:cNvPr id="68611" name="Rectangle 4"/>
          <p:cNvSpPr>
            <a:spLocks noChangeArrowheads="1"/>
          </p:cNvSpPr>
          <p:nvPr/>
        </p:nvSpPr>
        <p:spPr bwMode="auto">
          <a:xfrm>
            <a:off x="0" y="543580"/>
            <a:ext cx="32784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循环语句</a:t>
            </a:r>
          </a:p>
        </p:txBody>
      </p:sp>
    </p:spTree>
    <p:extLst>
      <p:ext uri="{BB962C8B-B14F-4D97-AF65-F5344CB8AC3E}">
        <p14:creationId xmlns:p14="http://schemas.microsoft.com/office/powerpoint/2010/main" val="4129453578"/>
      </p:ext>
    </p:extLst>
  </p:cSld>
  <p:clrMapOvr>
    <a:masterClrMapping/>
  </p:clrMapOvr>
  <p:transition>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083">
                                            <p:txEl>
                                              <p:pRg st="0" end="0"/>
                                            </p:txEl>
                                          </p:spTgt>
                                        </p:tgtEl>
                                        <p:attrNameLst>
                                          <p:attrName>style.visibility</p:attrName>
                                        </p:attrNameLst>
                                      </p:cBhvr>
                                      <p:to>
                                        <p:strVal val="visible"/>
                                      </p:to>
                                    </p:set>
                                    <p:animEffect transition="in" filter="wipe(left)">
                                      <p:cBhvr>
                                        <p:cTn id="7" dur="500"/>
                                        <p:tgtEl>
                                          <p:spTgt spid="4300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083">
                                            <p:txEl>
                                              <p:pRg st="1" end="1"/>
                                            </p:txEl>
                                          </p:spTgt>
                                        </p:tgtEl>
                                        <p:attrNameLst>
                                          <p:attrName>style.visibility</p:attrName>
                                        </p:attrNameLst>
                                      </p:cBhvr>
                                      <p:to>
                                        <p:strVal val="visible"/>
                                      </p:to>
                                    </p:set>
                                    <p:animEffect transition="in" filter="wipe(left)">
                                      <p:cBhvr>
                                        <p:cTn id="12" dur="500"/>
                                        <p:tgtEl>
                                          <p:spTgt spid="4300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0083">
                                            <p:txEl>
                                              <p:pRg st="2" end="2"/>
                                            </p:txEl>
                                          </p:spTgt>
                                        </p:tgtEl>
                                        <p:attrNameLst>
                                          <p:attrName>style.visibility</p:attrName>
                                        </p:attrNameLst>
                                      </p:cBhvr>
                                      <p:to>
                                        <p:strVal val="visible"/>
                                      </p:to>
                                    </p:set>
                                    <p:animEffect transition="in" filter="wipe(left)">
                                      <p:cBhvr>
                                        <p:cTn id="17" dur="500"/>
                                        <p:tgtEl>
                                          <p:spTgt spid="4300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30083">
                                            <p:txEl>
                                              <p:pRg st="3" end="3"/>
                                            </p:txEl>
                                          </p:spTgt>
                                        </p:tgtEl>
                                        <p:attrNameLst>
                                          <p:attrName>style.visibility</p:attrName>
                                        </p:attrNameLst>
                                      </p:cBhvr>
                                      <p:to>
                                        <p:strVal val="visible"/>
                                      </p:to>
                                    </p:set>
                                    <p:animEffect transition="in" filter="wipe(left)">
                                      <p:cBhvr>
                                        <p:cTn id="22" dur="500"/>
                                        <p:tgtEl>
                                          <p:spTgt spid="4300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083" grpId="0" build="p"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Rectangle 3"/>
          <p:cNvSpPr>
            <a:spLocks noGrp="1" noChangeArrowheads="1"/>
          </p:cNvSpPr>
          <p:nvPr>
            <p:ph type="body" sz="half" idx="1"/>
          </p:nvPr>
        </p:nvSpPr>
        <p:spPr>
          <a:xfrm>
            <a:off x="0" y="1524000"/>
            <a:ext cx="9144000" cy="4838700"/>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3种循环语句</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while（p）{...</a:t>
            </a:r>
            <a:r>
              <a:rPr kumimoji="1" lang="zh-CN" altLang="en-US" sz="2400" b="1">
                <a:solidFill>
                  <a:schemeClr val="tx2"/>
                </a:solidFill>
                <a:latin typeface="幼圆" pitchFamily="49" charset="-122"/>
                <a:ea typeface="幼圆" pitchFamily="49" charset="-122"/>
              </a:rPr>
              <a:t>循环体...}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do {...</a:t>
            </a:r>
            <a:r>
              <a:rPr kumimoji="1" lang="zh-CN" altLang="en-US" sz="2400" b="1">
                <a:solidFill>
                  <a:schemeClr val="tx2"/>
                </a:solidFill>
                <a:latin typeface="幼圆" pitchFamily="49" charset="-122"/>
                <a:ea typeface="幼圆" pitchFamily="49" charset="-122"/>
              </a:rPr>
              <a:t>循环体...} </a:t>
            </a:r>
            <a:r>
              <a:rPr kumimoji="1" lang="en-US" altLang="zh-CN" sz="2400" b="1">
                <a:solidFill>
                  <a:schemeClr val="tx2"/>
                </a:solidFill>
                <a:latin typeface="幼圆" pitchFamily="49" charset="-122"/>
                <a:ea typeface="幼圆" pitchFamily="49" charset="-122"/>
              </a:rPr>
              <a:t>while（p）;</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for(k1;k2;k3) {...</a:t>
            </a:r>
            <a:r>
              <a:rPr kumimoji="1" lang="zh-CN" altLang="en-US" sz="2400" b="1">
                <a:solidFill>
                  <a:schemeClr val="tx2"/>
                </a:solidFill>
                <a:latin typeface="幼圆" pitchFamily="49" charset="-122"/>
                <a:ea typeface="幼圆" pitchFamily="49" charset="-122"/>
              </a:rPr>
              <a:t>循环体...}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i=0; while(i++&lt;3) ;   </a:t>
            </a:r>
            <a:r>
              <a:rPr kumimoji="1" lang="zh-CN" altLang="en-US" sz="2400" b="1">
                <a:solidFill>
                  <a:schemeClr val="tx2"/>
                </a:solidFill>
                <a:latin typeface="幼圆" pitchFamily="49" charset="-122"/>
                <a:ea typeface="幼圆" pitchFamily="49" charset="-122"/>
              </a:rPr>
              <a:t>循环3次, 循环后</a:t>
            </a:r>
            <a:r>
              <a:rPr kumimoji="1" lang="en-US" altLang="zh-CN" sz="2400" b="1">
                <a:solidFill>
                  <a:schemeClr val="tx2"/>
                </a:solidFill>
                <a:latin typeface="幼圆" pitchFamily="49" charset="-122"/>
                <a:ea typeface="幼圆" pitchFamily="49" charset="-122"/>
              </a:rPr>
              <a:t>i=4</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i=0; while(++i &lt;3) ;  </a:t>
            </a:r>
            <a:r>
              <a:rPr kumimoji="1" lang="zh-CN" altLang="en-US" sz="2400" b="1">
                <a:solidFill>
                  <a:schemeClr val="tx2"/>
                </a:solidFill>
                <a:latin typeface="幼圆" pitchFamily="49" charset="-122"/>
                <a:ea typeface="幼圆" pitchFamily="49" charset="-122"/>
              </a:rPr>
              <a:t>循环2次, 循环后</a:t>
            </a:r>
            <a:r>
              <a:rPr kumimoji="1" lang="en-US" altLang="zh-CN" sz="2400" b="1">
                <a:solidFill>
                  <a:schemeClr val="tx2"/>
                </a:solidFill>
                <a:latin typeface="幼圆" pitchFamily="49" charset="-122"/>
                <a:ea typeface="幼圆" pitchFamily="49" charset="-122"/>
              </a:rPr>
              <a:t>i=3</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i=0; do {s+=i;}while(i++&lt;3);</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i=0; do  s+=i;  while(i++&lt;3);  </a:t>
            </a:r>
            <a:r>
              <a:rPr kumimoji="1" lang="zh-CN" altLang="en-US" sz="2400" b="1">
                <a:solidFill>
                  <a:schemeClr val="tx2"/>
                </a:solidFill>
                <a:latin typeface="幼圆" pitchFamily="49" charset="-122"/>
                <a:ea typeface="幼圆" pitchFamily="49" charset="-122"/>
              </a:rPr>
              <a:t>循环4次</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for(j=0;j&lt;6;j++) s+=j;</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for(j=0;k=0;j&lt;6&amp;&amp;k!=4;k++,j++) s+=j;</a:t>
            </a:r>
            <a:r>
              <a:rPr kumimoji="1" lang="zh-CN" altLang="en-US" sz="2400" b="1">
                <a:solidFill>
                  <a:schemeClr val="tx2"/>
                </a:solidFill>
                <a:latin typeface="幼圆" pitchFamily="49" charset="-122"/>
                <a:ea typeface="幼圆" pitchFamily="49" charset="-122"/>
              </a:rPr>
              <a:t>循环4次</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for(j=0; ;j++) s+=j;    </a:t>
            </a:r>
            <a:r>
              <a:rPr kumimoji="1" lang="zh-CN" altLang="en-US" sz="2400" b="1">
                <a:solidFill>
                  <a:schemeClr val="tx2"/>
                </a:solidFill>
                <a:latin typeface="幼圆" pitchFamily="49" charset="-122"/>
                <a:ea typeface="幼圆" pitchFamily="49" charset="-122"/>
              </a:rPr>
              <a:t>死循环 </a:t>
            </a:r>
          </a:p>
        </p:txBody>
      </p:sp>
      <p:sp>
        <p:nvSpPr>
          <p:cNvPr id="69635" name="Rectangle 4"/>
          <p:cNvSpPr>
            <a:spLocks noChangeArrowheads="1"/>
          </p:cNvSpPr>
          <p:nvPr/>
        </p:nvSpPr>
        <p:spPr bwMode="auto">
          <a:xfrm>
            <a:off x="0" y="533400"/>
            <a:ext cx="32784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循环语句</a:t>
            </a:r>
          </a:p>
        </p:txBody>
      </p:sp>
    </p:spTree>
    <p:extLst>
      <p:ext uri="{BB962C8B-B14F-4D97-AF65-F5344CB8AC3E}">
        <p14:creationId xmlns:p14="http://schemas.microsoft.com/office/powerpoint/2010/main" val="1158509914"/>
      </p:ext>
    </p:extLst>
  </p:cSld>
  <p:clrMapOvr>
    <a:masterClrMapping/>
  </p:clrMapOvr>
  <p:transition>
    <p:wedge/>
  </p:transition>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3"/>
          <p:cNvSpPr>
            <a:spLocks noGrp="1" noChangeArrowheads="1"/>
          </p:cNvSpPr>
          <p:nvPr>
            <p:ph type="body" sz="half" idx="1"/>
          </p:nvPr>
        </p:nvSpPr>
        <p:spPr>
          <a:xfrm>
            <a:off x="0" y="1752600"/>
            <a:ext cx="9144000" cy="4449763"/>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continue</a:t>
            </a:r>
            <a:r>
              <a:rPr kumimoji="1" lang="zh-CN" altLang="en-US" sz="2400" b="1">
                <a:solidFill>
                  <a:schemeClr val="tx2"/>
                </a:solidFill>
                <a:latin typeface="幼圆" pitchFamily="49" charset="-122"/>
                <a:ea typeface="幼圆" pitchFamily="49" charset="-122"/>
              </a:rPr>
              <a:t>与 </a:t>
            </a:r>
            <a:r>
              <a:rPr kumimoji="1" lang="en-US" altLang="zh-CN" sz="2400" b="1">
                <a:solidFill>
                  <a:schemeClr val="tx2"/>
                </a:solidFill>
                <a:latin typeface="幼圆" pitchFamily="49" charset="-122"/>
                <a:ea typeface="幼圆" pitchFamily="49" charset="-122"/>
              </a:rPr>
              <a:t>break</a:t>
            </a:r>
            <a:r>
              <a:rPr kumimoji="1" lang="zh-CN" altLang="en-US" sz="2400" b="1">
                <a:solidFill>
                  <a:schemeClr val="tx2"/>
                </a:solidFill>
                <a:latin typeface="幼圆" pitchFamily="49" charset="-122"/>
                <a:ea typeface="幼圆" pitchFamily="49" charset="-122"/>
              </a:rPr>
              <a:t>语句区别</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continue</a:t>
            </a:r>
            <a:r>
              <a:rPr kumimoji="1" lang="zh-CN" altLang="en-US" sz="2400" b="1">
                <a:solidFill>
                  <a:schemeClr val="tx2"/>
                </a:solidFill>
                <a:latin typeface="幼圆" pitchFamily="49" charset="-122"/>
                <a:ea typeface="幼圆" pitchFamily="49" charset="-122"/>
              </a:rPr>
              <a:t>只能出现在循环语句中</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break    </a:t>
            </a:r>
            <a:r>
              <a:rPr kumimoji="1" lang="zh-CN" altLang="en-US" sz="2400" b="1">
                <a:solidFill>
                  <a:schemeClr val="tx2"/>
                </a:solidFill>
                <a:latin typeface="幼圆" pitchFamily="49" charset="-122"/>
                <a:ea typeface="幼圆" pitchFamily="49" charset="-122"/>
              </a:rPr>
              <a:t>出现在循环语句或</a:t>
            </a:r>
            <a:r>
              <a:rPr kumimoji="1" lang="en-US" altLang="zh-CN" sz="2400" b="1">
                <a:solidFill>
                  <a:schemeClr val="tx2"/>
                </a:solidFill>
                <a:latin typeface="幼圆" pitchFamily="49" charset="-122"/>
                <a:ea typeface="幼圆" pitchFamily="49" charset="-122"/>
              </a:rPr>
              <a:t>switch</a:t>
            </a:r>
            <a:r>
              <a:rPr kumimoji="1" lang="zh-CN" altLang="en-US" sz="2400" b="1">
                <a:solidFill>
                  <a:schemeClr val="tx2"/>
                </a:solidFill>
                <a:latin typeface="幼圆" pitchFamily="49" charset="-122"/>
                <a:ea typeface="幼圆" pitchFamily="49" charset="-122"/>
              </a:rPr>
              <a:t>语句中</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 </a:t>
            </a:r>
            <a:r>
              <a:rPr kumimoji="1" lang="en-US" altLang="zh-CN" sz="2400" b="1">
                <a:solidFill>
                  <a:schemeClr val="tx2"/>
                </a:solidFill>
                <a:latin typeface="幼圆" pitchFamily="49" charset="-122"/>
                <a:ea typeface="幼圆" pitchFamily="49" charset="-122"/>
              </a:rPr>
              <a:t>continue </a:t>
            </a:r>
            <a:r>
              <a:rPr kumimoji="1" lang="zh-CN" altLang="en-US" sz="2400" b="1">
                <a:solidFill>
                  <a:schemeClr val="tx2"/>
                </a:solidFill>
                <a:latin typeface="幼圆" pitchFamily="49" charset="-122"/>
                <a:ea typeface="幼圆" pitchFamily="49" charset="-122"/>
              </a:rPr>
              <a:t>结束本次循环,开始下次循环的判断</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break      </a:t>
            </a:r>
            <a:r>
              <a:rPr kumimoji="1" lang="zh-CN" altLang="en-US" sz="2400" b="1">
                <a:solidFill>
                  <a:schemeClr val="tx2"/>
                </a:solidFill>
                <a:latin typeface="幼圆" pitchFamily="49" charset="-122"/>
                <a:ea typeface="幼圆" pitchFamily="49" charset="-122"/>
              </a:rPr>
              <a:t>结束整个循环</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for(i=0;i&lt;8;i++)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{if(i&lt;5) continue;  </a:t>
            </a:r>
            <a:r>
              <a:rPr kumimoji="1" lang="en-US" altLang="zh-CN" sz="2400" b="1">
                <a:solidFill>
                  <a:srgbClr val="FF0000"/>
                </a:solidFill>
                <a:latin typeface="幼圆" pitchFamily="49" charset="-122"/>
                <a:ea typeface="幼圆" pitchFamily="49" charset="-122"/>
              </a:rPr>
              <a:t>/* break;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printf(</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%5d</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,i);}</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r>
              <a:rPr kumimoji="1" lang="zh-CN" altLang="en-US" sz="2400" b="1">
                <a:solidFill>
                  <a:schemeClr val="tx2"/>
                </a:solidFill>
                <a:latin typeface="幼圆" pitchFamily="49" charset="-122"/>
                <a:ea typeface="幼圆" pitchFamily="49" charset="-122"/>
              </a:rPr>
              <a:t>输出  5   6   7</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若</a:t>
            </a:r>
            <a:r>
              <a:rPr kumimoji="1" lang="en-US" altLang="zh-CN" sz="2400" b="1">
                <a:solidFill>
                  <a:schemeClr val="tx2"/>
                </a:solidFill>
                <a:latin typeface="幼圆" pitchFamily="49" charset="-122"/>
                <a:ea typeface="幼圆" pitchFamily="49" charset="-122"/>
              </a:rPr>
              <a:t>continue;</a:t>
            </a:r>
            <a:r>
              <a:rPr kumimoji="1" lang="zh-CN" altLang="en-US" sz="2400" b="1">
                <a:solidFill>
                  <a:schemeClr val="tx2"/>
                </a:solidFill>
                <a:latin typeface="幼圆" pitchFamily="49" charset="-122"/>
                <a:ea typeface="幼圆" pitchFamily="49" charset="-122"/>
              </a:rPr>
              <a:t>换成</a:t>
            </a:r>
            <a:r>
              <a:rPr kumimoji="1" lang="en-US" altLang="zh-CN" sz="2400" b="1">
                <a:solidFill>
                  <a:schemeClr val="tx2"/>
                </a:solidFill>
                <a:latin typeface="幼圆" pitchFamily="49" charset="-122"/>
                <a:ea typeface="幼圆" pitchFamily="49" charset="-122"/>
              </a:rPr>
              <a:t>break;  </a:t>
            </a:r>
            <a:r>
              <a:rPr kumimoji="1" lang="zh-CN" altLang="en-US" sz="2400" b="1">
                <a:solidFill>
                  <a:schemeClr val="tx2"/>
                </a:solidFill>
                <a:latin typeface="幼圆" pitchFamily="49" charset="-122"/>
                <a:ea typeface="幼圆" pitchFamily="49" charset="-122"/>
              </a:rPr>
              <a:t>输出 ?     无输出 </a:t>
            </a:r>
          </a:p>
        </p:txBody>
      </p:sp>
      <p:sp>
        <p:nvSpPr>
          <p:cNvPr id="73731" name="Rectangle 4"/>
          <p:cNvSpPr>
            <a:spLocks noChangeArrowheads="1"/>
          </p:cNvSpPr>
          <p:nvPr/>
        </p:nvSpPr>
        <p:spPr bwMode="auto">
          <a:xfrm>
            <a:off x="0" y="533400"/>
            <a:ext cx="32784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2800" b="1" kern="0" dirty="0">
                <a:solidFill>
                  <a:schemeClr val="bg1"/>
                </a:solidFill>
                <a:latin typeface="华文新魏" panose="02010800040101010101" pitchFamily="2" charset="-122"/>
                <a:ea typeface="华文新魏" panose="02010800040101010101" pitchFamily="2" charset="-122"/>
                <a:cs typeface="+mj-cs"/>
              </a:rPr>
              <a:t>语法要点</a:t>
            </a:r>
            <a:r>
              <a:rPr lang="en-US" altLang="zh-CN" sz="2800" b="1" kern="0" dirty="0">
                <a:solidFill>
                  <a:schemeClr val="bg1"/>
                </a:solidFill>
                <a:latin typeface="华文新魏" panose="02010800040101010101" pitchFamily="2" charset="-122"/>
                <a:ea typeface="华文新魏" panose="02010800040101010101" pitchFamily="2" charset="-122"/>
                <a:cs typeface="+mj-cs"/>
              </a:rPr>
              <a:t>--</a:t>
            </a:r>
            <a:r>
              <a:rPr lang="zh-CN" altLang="en-US" sz="2800" b="1" kern="0" dirty="0">
                <a:solidFill>
                  <a:schemeClr val="bg1"/>
                </a:solidFill>
                <a:latin typeface="华文新魏" panose="02010800040101010101" pitchFamily="2" charset="-122"/>
                <a:ea typeface="华文新魏" panose="02010800040101010101" pitchFamily="2" charset="-122"/>
                <a:cs typeface="+mj-cs"/>
              </a:rPr>
              <a:t>循环语句</a:t>
            </a:r>
          </a:p>
        </p:txBody>
      </p:sp>
    </p:spTree>
    <p:extLst>
      <p:ext uri="{BB962C8B-B14F-4D97-AF65-F5344CB8AC3E}">
        <p14:creationId xmlns:p14="http://schemas.microsoft.com/office/powerpoint/2010/main" val="253980226"/>
      </p:ext>
    </p:extLst>
  </p:cSld>
  <p:clrMapOvr>
    <a:masterClrMapping/>
  </p:clrMapOvr>
  <p:transition>
    <p:wedg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270"/>
          <p:cNvGraphicFramePr>
            <a:graphicFrameLocks/>
          </p:cNvGraphicFramePr>
          <p:nvPr>
            <p:extLst>
              <p:ext uri="{D42A27DB-BD31-4B8C-83A1-F6EECF244321}">
                <p14:modId xmlns:p14="http://schemas.microsoft.com/office/powerpoint/2010/main" val="3231243264"/>
              </p:ext>
            </p:extLst>
          </p:nvPr>
        </p:nvGraphicFramePr>
        <p:xfrm>
          <a:off x="457200" y="1371600"/>
          <a:ext cx="7210425" cy="5211612"/>
        </p:xfrm>
        <a:graphic>
          <a:graphicData uri="http://schemas.openxmlformats.org/drawingml/2006/table">
            <a:tbl>
              <a:tblPr/>
              <a:tblGrid>
                <a:gridCol w="349250">
                  <a:extLst>
                    <a:ext uri="{9D8B030D-6E8A-4147-A177-3AD203B41FA5}">
                      <a16:colId xmlns:a16="http://schemas.microsoft.com/office/drawing/2014/main" val="20000"/>
                    </a:ext>
                  </a:extLst>
                </a:gridCol>
                <a:gridCol w="6861175">
                  <a:extLst>
                    <a:ext uri="{9D8B030D-6E8A-4147-A177-3AD203B41FA5}">
                      <a16:colId xmlns:a16="http://schemas.microsoft.com/office/drawing/2014/main" val="20001"/>
                    </a:ext>
                  </a:extLst>
                </a:gridCol>
              </a:tblGrid>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1</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计算机概述及数字化基础</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2</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计算机三大平台</a:t>
                      </a:r>
                      <a:r>
                        <a:rPr kumimoji="0" lang="en-US" altLang="zh-CN" sz="2800" b="1" i="0" u="none" strike="noStrike" cap="none" normalizeH="0" baseline="0" dirty="0">
                          <a:ln>
                            <a:noFill/>
                          </a:ln>
                          <a:solidFill>
                            <a:schemeClr val="tx1"/>
                          </a:solidFill>
                          <a:effectLst/>
                          <a:latin typeface="Arial" charset="0"/>
                          <a:ea typeface="宋体" pitchFamily="2" charset="-122"/>
                        </a:rPr>
                        <a:t>——</a:t>
                      </a:r>
                      <a:r>
                        <a:rPr kumimoji="0" lang="zh-CN" altLang="en-US" sz="2800" b="1" i="0" u="none" strike="noStrike" cap="none" normalizeH="0" baseline="0" dirty="0">
                          <a:ln>
                            <a:noFill/>
                          </a:ln>
                          <a:solidFill>
                            <a:schemeClr val="tx1"/>
                          </a:solidFill>
                          <a:effectLst/>
                          <a:latin typeface="Arial" charset="0"/>
                          <a:ea typeface="宋体" pitchFamily="2" charset="-122"/>
                        </a:rPr>
                        <a:t>硬件、软件、</a:t>
                      </a:r>
                      <a:r>
                        <a:rPr kumimoji="0" lang="zh-CN" altLang="en-US" sz="2800" b="1" i="0" u="none" strike="sngStrike" cap="none" normalizeH="0" baseline="0" dirty="0">
                          <a:ln>
                            <a:noFill/>
                          </a:ln>
                          <a:solidFill>
                            <a:schemeClr val="tx1"/>
                          </a:solidFill>
                          <a:effectLst/>
                          <a:latin typeface="Arial" charset="0"/>
                          <a:ea typeface="宋体" pitchFamily="2" charset="-122"/>
                        </a:rPr>
                        <a:t>网络</a:t>
                      </a:r>
                      <a:endParaRPr kumimoji="0" lang="en-US" altLang="zh-CN" sz="2800" b="1" i="0" u="none" strike="sng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3</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数据处理及数据库</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9482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4</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数据类型，运算符，表达式</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5</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流程控制</a:t>
                      </a:r>
                      <a:r>
                        <a:rPr kumimoji="0" lang="en-US" altLang="zh-CN" sz="2800" b="1" i="0" u="none" strike="noStrike" cap="none" normalizeH="0" baseline="0" dirty="0">
                          <a:ln>
                            <a:noFill/>
                          </a:ln>
                          <a:solidFill>
                            <a:schemeClr val="tx1"/>
                          </a:solidFill>
                          <a:effectLst/>
                          <a:latin typeface="Arial" charset="0"/>
                          <a:ea typeface="宋体" pitchFamily="2" charset="-122"/>
                        </a:rPr>
                        <a:t>——</a:t>
                      </a:r>
                      <a:r>
                        <a:rPr kumimoji="0" lang="zh-CN" altLang="en-US" sz="2800" b="1" i="0" u="none" strike="noStrike" cap="none" normalizeH="0" baseline="0" dirty="0">
                          <a:ln>
                            <a:noFill/>
                          </a:ln>
                          <a:solidFill>
                            <a:schemeClr val="tx1"/>
                          </a:solidFill>
                          <a:effectLst/>
                          <a:latin typeface="Arial" charset="0"/>
                          <a:ea typeface="宋体" pitchFamily="2" charset="-122"/>
                        </a:rPr>
                        <a:t>顺序、选择、循环</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4"/>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6</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rgbClr val="FF0000"/>
                          </a:solidFill>
                          <a:effectLst/>
                          <a:latin typeface="Arial" charset="0"/>
                          <a:ea typeface="宋体" pitchFamily="2" charset="-122"/>
                        </a:rPr>
                        <a:t>数组</a:t>
                      </a:r>
                      <a:endParaRPr kumimoji="0" lang="en-US" altLang="zh-CN" sz="2800" b="1" i="0" u="none" strike="noStrike" cap="none" normalizeH="0" baseline="0" dirty="0">
                        <a:ln>
                          <a:noFill/>
                        </a:ln>
                        <a:solidFill>
                          <a:srgbClr val="FF0000"/>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5"/>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7</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函数</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8</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med" len="med"/>
                      <a:tailEnd type="none" w="med" len="med"/>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指针</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med" len="med"/>
                      <a:tailEnd type="none" w="med" len="med"/>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7"/>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9</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结构</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sp>
        <p:nvSpPr>
          <p:cNvPr id="3" name="标题 1"/>
          <p:cNvSpPr>
            <a:spLocks noGrp="1"/>
          </p:cNvSpPr>
          <p:nvPr>
            <p:ph type="title"/>
          </p:nvPr>
        </p:nvSpPr>
        <p:spPr>
          <a:xfrm>
            <a:off x="838200" y="547688"/>
            <a:ext cx="7391400" cy="563562"/>
          </a:xfrm>
        </p:spPr>
        <p:txBody>
          <a:bodyPr/>
          <a:lstStyle/>
          <a:p>
            <a:r>
              <a:rPr lang="zh-CN" altLang="en-US" dirty="0">
                <a:latin typeface="隶书" pitchFamily="49" charset="-122"/>
                <a:ea typeface="隶书" pitchFamily="49" charset="-122"/>
              </a:rPr>
              <a:t>复习内容</a:t>
            </a:r>
          </a:p>
        </p:txBody>
      </p:sp>
    </p:spTree>
    <p:extLst>
      <p:ext uri="{BB962C8B-B14F-4D97-AF65-F5344CB8AC3E}">
        <p14:creationId xmlns:p14="http://schemas.microsoft.com/office/powerpoint/2010/main" val="1828245649"/>
      </p:ext>
    </p:extLst>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2" name="Rectangle 3"/>
          <p:cNvSpPr>
            <a:spLocks noGrp="1" noChangeArrowheads="1"/>
          </p:cNvSpPr>
          <p:nvPr>
            <p:ph type="body" sz="half" idx="1"/>
          </p:nvPr>
        </p:nvSpPr>
        <p:spPr>
          <a:xfrm>
            <a:off x="304800" y="1447800"/>
            <a:ext cx="8534400" cy="3711575"/>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rgbClr val="FF0000"/>
                </a:solidFill>
                <a:latin typeface="幼圆" pitchFamily="49" charset="-122"/>
                <a:ea typeface="幼圆" pitchFamily="49" charset="-122"/>
              </a:rPr>
              <a:t>数组</a:t>
            </a:r>
            <a:r>
              <a:rPr kumimoji="1" lang="zh-CN" altLang="en-US" sz="2400" b="1">
                <a:solidFill>
                  <a:srgbClr val="FF0000"/>
                </a:solidFill>
                <a:latin typeface="Arial" pitchFamily="34" charset="0"/>
                <a:ea typeface="幼圆" pitchFamily="49" charset="-122"/>
              </a:rPr>
              <a:t>——</a:t>
            </a:r>
            <a:r>
              <a:rPr kumimoji="1" lang="zh-CN" altLang="en-US" sz="2400" b="1">
                <a:solidFill>
                  <a:srgbClr val="FF0000"/>
                </a:solidFill>
                <a:latin typeface="幼圆" pitchFamily="49" charset="-122"/>
                <a:ea typeface="幼圆" pitchFamily="49" charset="-122"/>
              </a:rPr>
              <a:t>重点</a:t>
            </a:r>
          </a:p>
          <a:p>
            <a:pPr marL="457200" lvl="1"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数组的概念，数组说明，数组元素起始下标，如何引用数组元素，数组名的意义</a:t>
            </a:r>
          </a:p>
          <a:p>
            <a:pPr marL="457200" lvl="1"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多维数组元素的标识方法，存放方式。多维数组只要求到二维</a:t>
            </a:r>
          </a:p>
          <a:p>
            <a:pPr marL="457200" lvl="1"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数组与函数的关系：在函数之间传递数组中的一个元素，在函数之间传递整个数组</a:t>
            </a:r>
          </a:p>
          <a:p>
            <a:pPr marL="457200" lvl="1"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基本算法：排序（冒泡、选择），求最大</a:t>
            </a:r>
            <a:r>
              <a:rPr kumimoji="1" lang="en-US" altLang="zh-CN" sz="2400" b="1">
                <a:solidFill>
                  <a:schemeClr val="tx2"/>
                </a:solidFill>
                <a:latin typeface="幼圆" pitchFamily="49" charset="-122"/>
                <a:ea typeface="幼圆" pitchFamily="49" charset="-122"/>
              </a:rPr>
              <a:t>(</a:t>
            </a:r>
            <a:r>
              <a:rPr kumimoji="1" lang="zh-CN" altLang="en-US" sz="2400" b="1">
                <a:solidFill>
                  <a:schemeClr val="tx2"/>
                </a:solidFill>
                <a:latin typeface="幼圆" pitchFamily="49" charset="-122"/>
                <a:ea typeface="幼圆" pitchFamily="49" charset="-122"/>
              </a:rPr>
              <a:t>小</a:t>
            </a:r>
            <a:r>
              <a:rPr kumimoji="1" lang="en-US" altLang="zh-CN" sz="2400" b="1">
                <a:solidFill>
                  <a:schemeClr val="tx2"/>
                </a:solidFill>
                <a:latin typeface="幼圆" pitchFamily="49" charset="-122"/>
                <a:ea typeface="幼圆" pitchFamily="49" charset="-122"/>
              </a:rPr>
              <a:t>)</a:t>
            </a:r>
            <a:r>
              <a:rPr kumimoji="1" lang="zh-CN" altLang="en-US" sz="2400" b="1">
                <a:solidFill>
                  <a:schemeClr val="tx2"/>
                </a:solidFill>
                <a:latin typeface="幼圆" pitchFamily="49" charset="-122"/>
                <a:ea typeface="幼圆" pitchFamily="49" charset="-122"/>
              </a:rPr>
              <a:t>值</a:t>
            </a:r>
            <a:r>
              <a:rPr kumimoji="1" lang="en-US" altLang="zh-CN" sz="2400" b="1">
                <a:solidFill>
                  <a:schemeClr val="tx2"/>
                </a:solidFill>
                <a:latin typeface="幼圆" pitchFamily="49" charset="-122"/>
                <a:ea typeface="幼圆" pitchFamily="49" charset="-122"/>
              </a:rPr>
              <a:t>,</a:t>
            </a:r>
            <a:r>
              <a:rPr kumimoji="1" lang="zh-CN" altLang="en-US" sz="2400" b="1">
                <a:solidFill>
                  <a:schemeClr val="tx2"/>
                </a:solidFill>
                <a:latin typeface="幼圆" pitchFamily="49" charset="-122"/>
                <a:ea typeface="幼圆" pitchFamily="49" charset="-122"/>
              </a:rPr>
              <a:t>矩阵乘法，矩阵转置</a:t>
            </a:r>
          </a:p>
        </p:txBody>
      </p:sp>
      <p:sp>
        <p:nvSpPr>
          <p:cNvPr id="76803" name="Rectangle 4"/>
          <p:cNvSpPr>
            <a:spLocks noChangeArrowheads="1"/>
          </p:cNvSpPr>
          <p:nvPr/>
        </p:nvSpPr>
        <p:spPr bwMode="auto">
          <a:xfrm>
            <a:off x="0" y="533400"/>
            <a:ext cx="327685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数组</a:t>
            </a:r>
            <a:r>
              <a:rPr lang="en-US" altLang="zh-CN" sz="3200" b="1" dirty="0">
                <a:solidFill>
                  <a:schemeClr val="bg1"/>
                </a:solidFill>
                <a:latin typeface="隶书" pitchFamily="49" charset="-122"/>
                <a:ea typeface="隶书" pitchFamily="49" charset="-122"/>
                <a:cs typeface="+mj-cs"/>
              </a:rPr>
              <a:t> </a:t>
            </a:r>
            <a:endParaRPr lang="zh-CN" altLang="en-US" sz="3200" b="1" dirty="0">
              <a:solidFill>
                <a:schemeClr val="bg1"/>
              </a:solidFill>
              <a:latin typeface="隶书" pitchFamily="49" charset="-122"/>
              <a:ea typeface="隶书" pitchFamily="49" charset="-122"/>
              <a:cs typeface="+mj-cs"/>
            </a:endParaRPr>
          </a:p>
        </p:txBody>
      </p:sp>
    </p:spTree>
    <p:extLst>
      <p:ext uri="{BB962C8B-B14F-4D97-AF65-F5344CB8AC3E}">
        <p14:creationId xmlns:p14="http://schemas.microsoft.com/office/powerpoint/2010/main" val="2471673160"/>
      </p:ext>
    </p:extLst>
  </p:cSld>
  <p:clrMapOvr>
    <a:masterClrMapping/>
  </p:clrMapOvr>
  <p:transition>
    <p:wedge/>
  </p:transition>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6" name="Rectangle 3"/>
          <p:cNvSpPr>
            <a:spLocks noGrp="1" noChangeArrowheads="1"/>
          </p:cNvSpPr>
          <p:nvPr>
            <p:ph type="body" sz="half" idx="1"/>
          </p:nvPr>
        </p:nvSpPr>
        <p:spPr>
          <a:xfrm>
            <a:off x="0" y="1447800"/>
            <a:ext cx="9144000" cy="4894263"/>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●数组定义</a:t>
            </a:r>
            <a:endParaRPr kumimoji="1" lang="zh-CN" altLang="en-US" sz="2400" b="1">
              <a:solidFill>
                <a:schemeClr val="tx2"/>
              </a:solidFill>
              <a:latin typeface="幼圆" pitchFamily="49" charset="-122"/>
              <a:ea typeface="幼圆" pitchFamily="49" charset="-122"/>
              <a:cs typeface="Times New Roman" pitchFamily="18" charset="0"/>
            </a:endParaRP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define N 2</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int  a[3],b[N][2];       int c[k]; </a:t>
            </a:r>
            <a:r>
              <a:rPr kumimoji="1" lang="en-US" altLang="zh-CN" sz="2400" b="1">
                <a:solidFill>
                  <a:srgbClr val="FF0000"/>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  a[3]=23; </a:t>
            </a:r>
            <a:r>
              <a:rPr kumimoji="1" lang="en-US" altLang="zh-CN" sz="2400" b="1">
                <a:solidFill>
                  <a:srgbClr val="FF0000"/>
                </a:solidFill>
                <a:latin typeface="幼圆" pitchFamily="49" charset="-122"/>
                <a:ea typeface="幼圆" pitchFamily="49" charset="-122"/>
              </a:rPr>
              <a:t>╳</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数组名代表数组首地址：</a:t>
            </a:r>
            <a:r>
              <a:rPr kumimoji="1" lang="en-US" altLang="zh-CN" sz="2400" b="1">
                <a:solidFill>
                  <a:schemeClr val="tx2"/>
                </a:solidFill>
                <a:latin typeface="幼圆" pitchFamily="49" charset="-122"/>
                <a:ea typeface="幼圆" pitchFamily="49" charset="-122"/>
              </a:rPr>
              <a:t>a≡&amp;a[0]</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static int a[5]={1,2,3,4,5},</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b[2][3]={0,1,2,10,11,12}，</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c[ ]={1,2},  d[ ][2]={1,2,3}；</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char d[ ]=</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china</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int a[4]={1,2,3,4,5}</a:t>
            </a:r>
            <a:r>
              <a:rPr kumimoji="1" lang="en-US" altLang="zh-CN" sz="2400" b="1">
                <a:solidFill>
                  <a:srgbClr val="FF0000"/>
                </a:solidFill>
                <a:latin typeface="幼圆" pitchFamily="49" charset="-122"/>
                <a:ea typeface="幼圆" pitchFamily="49" charset="-122"/>
              </a:rPr>
              <a:t>╳</a:t>
            </a:r>
            <a:r>
              <a:rPr kumimoji="1" lang="zh-CN" altLang="en-US" sz="2400" b="1">
                <a:solidFill>
                  <a:schemeClr val="tx2"/>
                </a:solidFill>
                <a:latin typeface="幼圆" pitchFamily="49" charset="-122"/>
                <a:ea typeface="幼圆" pitchFamily="49" charset="-122"/>
              </a:rPr>
              <a:t>初值个数不能多于数组元素个数</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char a[5]=</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12345</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a:t>
            </a:r>
            <a:r>
              <a:rPr kumimoji="1" lang="en-US" altLang="zh-CN" sz="2400" b="1">
                <a:solidFill>
                  <a:srgbClr val="FF0000"/>
                </a:solidFill>
                <a:latin typeface="幼圆" pitchFamily="49" charset="-122"/>
                <a:ea typeface="幼圆" pitchFamily="49" charset="-122"/>
              </a:rPr>
              <a:t>╳ </a:t>
            </a:r>
            <a:r>
              <a:rPr kumimoji="1" lang="zh-CN" altLang="en-US" sz="2400" b="1">
                <a:solidFill>
                  <a:schemeClr val="tx2"/>
                </a:solidFill>
                <a:latin typeface="幼圆" pitchFamily="49" charset="-122"/>
                <a:ea typeface="幼圆" pitchFamily="49" charset="-122"/>
              </a:rPr>
              <a:t>字符串共有6个字符,即</a:t>
            </a:r>
            <a:r>
              <a:rPr kumimoji="1" lang="en-US" altLang="zh-CN" sz="2400" b="1">
                <a:solidFill>
                  <a:schemeClr val="tx2"/>
                </a:solidFill>
                <a:latin typeface="幼圆" pitchFamily="49" charset="-122"/>
                <a:ea typeface="幼圆" pitchFamily="49" charset="-122"/>
              </a:rPr>
              <a:t>china\0</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a={1,2,3,4,5}</a:t>
            </a:r>
            <a:r>
              <a:rPr kumimoji="1" lang="en-US" altLang="zh-CN" sz="2400" b="1">
                <a:solidFill>
                  <a:srgbClr val="FF0000"/>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       </a:t>
            </a:r>
            <a:r>
              <a:rPr kumimoji="1" lang="zh-CN" altLang="en-US" sz="2400" b="1">
                <a:solidFill>
                  <a:schemeClr val="tx2"/>
                </a:solidFill>
                <a:latin typeface="幼圆" pitchFamily="49" charset="-122"/>
                <a:ea typeface="幼圆" pitchFamily="49" charset="-122"/>
              </a:rPr>
              <a:t>数组名是地址常量</a:t>
            </a:r>
          </a:p>
        </p:txBody>
      </p:sp>
      <p:sp>
        <p:nvSpPr>
          <p:cNvPr id="77827" name="Rectangle 4"/>
          <p:cNvSpPr>
            <a:spLocks noChangeArrowheads="1"/>
          </p:cNvSpPr>
          <p:nvPr/>
        </p:nvSpPr>
        <p:spPr bwMode="auto">
          <a:xfrm>
            <a:off x="10886" y="533400"/>
            <a:ext cx="307007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数组</a:t>
            </a:r>
          </a:p>
        </p:txBody>
      </p:sp>
    </p:spTree>
    <p:extLst>
      <p:ext uri="{BB962C8B-B14F-4D97-AF65-F5344CB8AC3E}">
        <p14:creationId xmlns:p14="http://schemas.microsoft.com/office/powerpoint/2010/main" val="458905705"/>
      </p:ext>
    </p:extLst>
  </p:cSld>
  <p:clrMapOvr>
    <a:masterClrMapping/>
  </p:clrMapOvr>
  <p:transition>
    <p:wedge/>
  </p:transition>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Rectangle 3"/>
          <p:cNvSpPr>
            <a:spLocks noGrp="1" noChangeArrowheads="1"/>
          </p:cNvSpPr>
          <p:nvPr>
            <p:ph type="body" sz="half" idx="1"/>
          </p:nvPr>
        </p:nvSpPr>
        <p:spPr>
          <a:xfrm>
            <a:off x="0" y="1216025"/>
            <a:ext cx="9144000" cy="5641975"/>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●在函数间传递数组（元素）</a:t>
            </a:r>
          </a:p>
          <a:p>
            <a:pPr marL="0" indent="0" eaLnBrk="1" hangingPunct="1">
              <a:buClr>
                <a:schemeClr val="tx1"/>
              </a:buClr>
              <a:buSzPct val="60000"/>
              <a:buFont typeface="宋体" pitchFamily="2" charset="-122"/>
              <a:buNone/>
            </a:pPr>
            <a:r>
              <a:rPr kumimoji="1" lang="en-US" altLang="zh-CN" sz="2400" b="1" dirty="0" err="1">
                <a:solidFill>
                  <a:schemeClr val="tx2"/>
                </a:solidFill>
                <a:latin typeface="幼圆" pitchFamily="49" charset="-122"/>
                <a:ea typeface="幼圆" pitchFamily="49" charset="-122"/>
                <a:sym typeface="Symbol" pitchFamily="18" charset="2"/>
              </a:rPr>
              <a:t>pr</a:t>
            </a:r>
            <a:r>
              <a:rPr kumimoji="1" lang="en-US" altLang="zh-CN" sz="2400" b="1" dirty="0">
                <a:solidFill>
                  <a:schemeClr val="tx2"/>
                </a:solidFill>
                <a:latin typeface="幼圆" pitchFamily="49" charset="-122"/>
                <a:ea typeface="幼圆" pitchFamily="49" charset="-122"/>
                <a:sym typeface="Symbol" pitchFamily="18" charset="2"/>
              </a:rPr>
              <a:t>(</a:t>
            </a:r>
            <a:r>
              <a:rPr kumimoji="1" lang="en-US" altLang="zh-CN" sz="2400" b="1" dirty="0" err="1">
                <a:solidFill>
                  <a:schemeClr val="tx2"/>
                </a:solidFill>
                <a:latin typeface="幼圆" pitchFamily="49" charset="-122"/>
                <a:ea typeface="幼圆" pitchFamily="49" charset="-122"/>
                <a:sym typeface="Symbol" pitchFamily="18" charset="2"/>
              </a:rPr>
              <a:t>int</a:t>
            </a:r>
            <a:r>
              <a:rPr kumimoji="1" lang="en-US" altLang="zh-CN" sz="2400" b="1" dirty="0">
                <a:solidFill>
                  <a:schemeClr val="tx2"/>
                </a:solidFill>
                <a:latin typeface="幼圆" pitchFamily="49" charset="-122"/>
                <a:ea typeface="幼圆" pitchFamily="49" charset="-122"/>
                <a:sym typeface="Symbol" pitchFamily="18" charset="2"/>
              </a:rPr>
              <a:t> </a:t>
            </a:r>
            <a:r>
              <a:rPr kumimoji="1" lang="en-US" altLang="zh-CN" sz="2400" b="1" dirty="0" err="1">
                <a:solidFill>
                  <a:schemeClr val="tx2"/>
                </a:solidFill>
                <a:latin typeface="幼圆" pitchFamily="49" charset="-122"/>
                <a:ea typeface="幼圆" pitchFamily="49" charset="-122"/>
                <a:sym typeface="Symbol" pitchFamily="18" charset="2"/>
              </a:rPr>
              <a:t>ak</a:t>
            </a:r>
            <a:r>
              <a:rPr kumimoji="1" lang="en-US" altLang="zh-CN" sz="2400" b="1" dirty="0">
                <a:solidFill>
                  <a:schemeClr val="tx2"/>
                </a:solidFill>
                <a:latin typeface="幼圆" pitchFamily="49" charset="-122"/>
                <a:ea typeface="幼圆" pitchFamily="49" charset="-122"/>
                <a:sym typeface="Symbol" pitchFamily="18" charset="2"/>
              </a:rPr>
              <a:t> ) /*</a:t>
            </a:r>
            <a:r>
              <a:rPr kumimoji="1" lang="zh-CN" altLang="en-US" sz="2400" b="1" dirty="0">
                <a:solidFill>
                  <a:schemeClr val="tx2"/>
                </a:solidFill>
                <a:latin typeface="幼圆" pitchFamily="49" charset="-122"/>
                <a:ea typeface="幼圆" pitchFamily="49" charset="-122"/>
                <a:sym typeface="Symbol" pitchFamily="18" charset="2"/>
              </a:rPr>
              <a:t>判断素数*/</a:t>
            </a:r>
            <a:br>
              <a:rPr kumimoji="1" lang="zh-CN" altLang="en-US" sz="2400" b="1" dirty="0">
                <a:solidFill>
                  <a:schemeClr val="tx2"/>
                </a:solidFill>
                <a:latin typeface="幼圆" pitchFamily="49" charset="-122"/>
                <a:ea typeface="幼圆" pitchFamily="49" charset="-122"/>
                <a:sym typeface="Symbol" pitchFamily="18" charset="2"/>
              </a:rPr>
            </a:br>
            <a:r>
              <a:rPr kumimoji="1" lang="zh-CN" altLang="en-US" sz="2400" b="1" dirty="0">
                <a:solidFill>
                  <a:schemeClr val="tx2"/>
                </a:solidFill>
                <a:latin typeface="幼圆" pitchFamily="49" charset="-122"/>
                <a:ea typeface="幼圆" pitchFamily="49" charset="-122"/>
                <a:sym typeface="Symbol" pitchFamily="18" charset="2"/>
              </a:rPr>
              <a:t>{ </a:t>
            </a:r>
            <a:r>
              <a:rPr kumimoji="1" lang="en-US" altLang="zh-CN" sz="2400" b="1" dirty="0" err="1">
                <a:solidFill>
                  <a:schemeClr val="tx2"/>
                </a:solidFill>
                <a:latin typeface="幼圆" pitchFamily="49" charset="-122"/>
                <a:ea typeface="幼圆" pitchFamily="49" charset="-122"/>
                <a:sym typeface="Symbol" pitchFamily="18" charset="2"/>
              </a:rPr>
              <a:t>int</a:t>
            </a:r>
            <a:r>
              <a:rPr kumimoji="1" lang="en-US" altLang="zh-CN" sz="2400" b="1" dirty="0">
                <a:solidFill>
                  <a:schemeClr val="tx2"/>
                </a:solidFill>
                <a:latin typeface="幼圆" pitchFamily="49" charset="-122"/>
                <a:ea typeface="幼圆" pitchFamily="49" charset="-122"/>
                <a:sym typeface="Symbol" pitchFamily="18" charset="2"/>
              </a:rPr>
              <a:t>  </a:t>
            </a:r>
            <a:r>
              <a:rPr kumimoji="1" lang="en-US" altLang="zh-CN" sz="2400" b="1" dirty="0" err="1">
                <a:solidFill>
                  <a:schemeClr val="tx2"/>
                </a:solidFill>
                <a:latin typeface="幼圆" pitchFamily="49" charset="-122"/>
                <a:ea typeface="幼圆" pitchFamily="49" charset="-122"/>
                <a:sym typeface="Symbol" pitchFamily="18" charset="2"/>
              </a:rPr>
              <a:t>i</a:t>
            </a:r>
            <a:r>
              <a:rPr kumimoji="1" lang="en-US" altLang="zh-CN" sz="2400" b="1" dirty="0">
                <a:solidFill>
                  <a:schemeClr val="tx2"/>
                </a:solidFill>
                <a:latin typeface="幼圆" pitchFamily="49" charset="-122"/>
                <a:ea typeface="幼圆" pitchFamily="49" charset="-122"/>
                <a:sym typeface="Symbol" pitchFamily="18" charset="2"/>
              </a:rPr>
              <a:t> ; </a:t>
            </a:r>
            <a:br>
              <a:rPr kumimoji="1" lang="en-US" altLang="zh-CN" sz="2400" b="1" dirty="0">
                <a:solidFill>
                  <a:schemeClr val="tx2"/>
                </a:solidFill>
                <a:latin typeface="幼圆" pitchFamily="49" charset="-122"/>
                <a:ea typeface="幼圆" pitchFamily="49" charset="-122"/>
                <a:sym typeface="Symbol" pitchFamily="18" charset="2"/>
              </a:rPr>
            </a:br>
            <a:r>
              <a:rPr kumimoji="1" lang="en-US" altLang="zh-CN" sz="2400" b="1" dirty="0">
                <a:solidFill>
                  <a:schemeClr val="tx2"/>
                </a:solidFill>
                <a:latin typeface="幼圆" pitchFamily="49" charset="-122"/>
                <a:ea typeface="幼圆" pitchFamily="49" charset="-122"/>
                <a:sym typeface="Symbol" pitchFamily="18" charset="2"/>
              </a:rPr>
              <a:t>  for(</a:t>
            </a:r>
            <a:r>
              <a:rPr kumimoji="1" lang="en-US" altLang="zh-CN" sz="2400" b="1" dirty="0" err="1">
                <a:solidFill>
                  <a:schemeClr val="tx2"/>
                </a:solidFill>
                <a:latin typeface="幼圆" pitchFamily="49" charset="-122"/>
                <a:ea typeface="幼圆" pitchFamily="49" charset="-122"/>
                <a:sym typeface="Symbol" pitchFamily="18" charset="2"/>
              </a:rPr>
              <a:t>i</a:t>
            </a:r>
            <a:r>
              <a:rPr kumimoji="1" lang="en-US" altLang="zh-CN" sz="2400" b="1" dirty="0">
                <a:solidFill>
                  <a:schemeClr val="tx2"/>
                </a:solidFill>
                <a:latin typeface="幼圆" pitchFamily="49" charset="-122"/>
                <a:ea typeface="幼圆" pitchFamily="49" charset="-122"/>
                <a:sym typeface="Symbol" pitchFamily="18" charset="2"/>
              </a:rPr>
              <a:t>=2; </a:t>
            </a:r>
            <a:r>
              <a:rPr kumimoji="1" lang="en-US" altLang="zh-CN" sz="2400" b="1" dirty="0" err="1">
                <a:solidFill>
                  <a:schemeClr val="tx2"/>
                </a:solidFill>
                <a:latin typeface="幼圆" pitchFamily="49" charset="-122"/>
                <a:ea typeface="幼圆" pitchFamily="49" charset="-122"/>
                <a:sym typeface="Symbol" pitchFamily="18" charset="2"/>
              </a:rPr>
              <a:t>i</a:t>
            </a:r>
            <a:r>
              <a:rPr kumimoji="1" lang="en-US" altLang="zh-CN" sz="2400" b="1" dirty="0">
                <a:solidFill>
                  <a:schemeClr val="tx2"/>
                </a:solidFill>
                <a:latin typeface="幼圆" pitchFamily="49" charset="-122"/>
                <a:ea typeface="幼圆" pitchFamily="49" charset="-122"/>
                <a:sym typeface="Symbol" pitchFamily="18" charset="2"/>
              </a:rPr>
              <a:t>&lt;</a:t>
            </a:r>
            <a:r>
              <a:rPr kumimoji="1" lang="en-US" altLang="zh-CN" sz="2400" b="1" dirty="0" err="1">
                <a:solidFill>
                  <a:schemeClr val="tx2"/>
                </a:solidFill>
                <a:latin typeface="幼圆" pitchFamily="49" charset="-122"/>
                <a:ea typeface="幼圆" pitchFamily="49" charset="-122"/>
                <a:sym typeface="Symbol" pitchFamily="18" charset="2"/>
              </a:rPr>
              <a:t>ak</a:t>
            </a:r>
            <a:r>
              <a:rPr kumimoji="1" lang="en-US" altLang="zh-CN" sz="2400" b="1" dirty="0">
                <a:solidFill>
                  <a:schemeClr val="tx2"/>
                </a:solidFill>
                <a:latin typeface="幼圆" pitchFamily="49" charset="-122"/>
                <a:ea typeface="幼圆" pitchFamily="49" charset="-122"/>
                <a:sym typeface="Symbol" pitchFamily="18" charset="2"/>
              </a:rPr>
              <a:t>; </a:t>
            </a:r>
            <a:r>
              <a:rPr kumimoji="1" lang="en-US" altLang="zh-CN" sz="2400" b="1" dirty="0" err="1">
                <a:solidFill>
                  <a:schemeClr val="tx2"/>
                </a:solidFill>
                <a:latin typeface="幼圆" pitchFamily="49" charset="-122"/>
                <a:ea typeface="幼圆" pitchFamily="49" charset="-122"/>
                <a:sym typeface="Symbol" pitchFamily="18" charset="2"/>
              </a:rPr>
              <a:t>i</a:t>
            </a:r>
            <a:r>
              <a:rPr kumimoji="1" lang="en-US" altLang="zh-CN" sz="2400" b="1" dirty="0">
                <a:solidFill>
                  <a:schemeClr val="tx2"/>
                </a:solidFill>
                <a:latin typeface="幼圆" pitchFamily="49" charset="-122"/>
                <a:ea typeface="幼圆" pitchFamily="49" charset="-122"/>
                <a:sym typeface="Symbol" pitchFamily="18" charset="2"/>
              </a:rPr>
              <a:t>++) </a:t>
            </a:r>
          </a:p>
          <a:p>
            <a:pPr marL="0" indent="0" eaLnBrk="1" hangingPunct="1">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sym typeface="Symbol" pitchFamily="18" charset="2"/>
              </a:rPr>
              <a:t>        if(</a:t>
            </a:r>
            <a:r>
              <a:rPr kumimoji="1" lang="en-US" altLang="zh-CN" sz="2400" b="1" dirty="0" err="1">
                <a:solidFill>
                  <a:schemeClr val="tx2"/>
                </a:solidFill>
                <a:latin typeface="幼圆" pitchFamily="49" charset="-122"/>
                <a:ea typeface="幼圆" pitchFamily="49" charset="-122"/>
                <a:sym typeface="Symbol" pitchFamily="18" charset="2"/>
              </a:rPr>
              <a:t>ak%i</a:t>
            </a:r>
            <a:r>
              <a:rPr kumimoji="1" lang="en-US" altLang="zh-CN" sz="2400" b="1" dirty="0">
                <a:solidFill>
                  <a:schemeClr val="tx2"/>
                </a:solidFill>
                <a:latin typeface="幼圆" pitchFamily="49" charset="-122"/>
                <a:ea typeface="幼圆" pitchFamily="49" charset="-122"/>
                <a:sym typeface="Symbol" pitchFamily="18" charset="2"/>
              </a:rPr>
              <a:t>==0)  return  0;       </a:t>
            </a:r>
          </a:p>
          <a:p>
            <a:pPr marL="0" indent="0" eaLnBrk="1" hangingPunct="1">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sym typeface="Symbol" pitchFamily="18" charset="2"/>
              </a:rPr>
              <a:t>     return  1; </a:t>
            </a:r>
            <a:br>
              <a:rPr kumimoji="1" lang="en-US" altLang="zh-CN" sz="2400" b="1" dirty="0">
                <a:solidFill>
                  <a:schemeClr val="tx2"/>
                </a:solidFill>
                <a:latin typeface="幼圆" pitchFamily="49" charset="-122"/>
                <a:ea typeface="幼圆" pitchFamily="49" charset="-122"/>
                <a:sym typeface="Symbol" pitchFamily="18" charset="2"/>
              </a:rPr>
            </a:br>
            <a:r>
              <a:rPr kumimoji="1" lang="en-US" altLang="zh-CN" sz="2400" b="1" dirty="0">
                <a:solidFill>
                  <a:schemeClr val="tx2"/>
                </a:solidFill>
                <a:latin typeface="幼圆" pitchFamily="49" charset="-122"/>
                <a:ea typeface="幼圆" pitchFamily="49" charset="-122"/>
                <a:sym typeface="Symbol" pitchFamily="18" charset="2"/>
              </a:rPr>
              <a:t> }</a:t>
            </a:r>
          </a:p>
          <a:p>
            <a:pPr marL="0" indent="0" eaLnBrk="1" hangingPunct="1">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sym typeface="Symbol" pitchFamily="18" charset="2"/>
              </a:rPr>
              <a:t>main( )/*</a:t>
            </a:r>
            <a:r>
              <a:rPr kumimoji="1" lang="zh-CN" altLang="en-US" sz="2400" b="1" dirty="0">
                <a:solidFill>
                  <a:schemeClr val="tx2"/>
                </a:solidFill>
                <a:latin typeface="幼圆" pitchFamily="49" charset="-122"/>
                <a:ea typeface="幼圆" pitchFamily="49" charset="-122"/>
                <a:sym typeface="Symbol" pitchFamily="18" charset="2"/>
              </a:rPr>
              <a:t>输出素数*/</a:t>
            </a:r>
            <a:br>
              <a:rPr kumimoji="1" lang="zh-CN" altLang="en-US" sz="2400" b="1" dirty="0">
                <a:solidFill>
                  <a:schemeClr val="tx2"/>
                </a:solidFill>
                <a:latin typeface="幼圆" pitchFamily="49" charset="-122"/>
                <a:ea typeface="幼圆" pitchFamily="49" charset="-122"/>
                <a:sym typeface="Symbol" pitchFamily="18" charset="2"/>
              </a:rPr>
            </a:br>
            <a:r>
              <a:rPr kumimoji="1" lang="zh-CN" altLang="en-US" sz="2400" b="1" dirty="0">
                <a:solidFill>
                  <a:schemeClr val="tx2"/>
                </a:solidFill>
                <a:latin typeface="幼圆" pitchFamily="49" charset="-122"/>
                <a:ea typeface="幼圆" pitchFamily="49" charset="-122"/>
                <a:sym typeface="Symbol" pitchFamily="18" charset="2"/>
              </a:rPr>
              <a:t> { </a:t>
            </a:r>
            <a:r>
              <a:rPr kumimoji="1" lang="en-US" altLang="zh-CN" sz="2400" b="1" dirty="0" err="1">
                <a:solidFill>
                  <a:schemeClr val="tx2"/>
                </a:solidFill>
                <a:latin typeface="幼圆" pitchFamily="49" charset="-122"/>
                <a:ea typeface="幼圆" pitchFamily="49" charset="-122"/>
                <a:sym typeface="Symbol" pitchFamily="18" charset="2"/>
              </a:rPr>
              <a:t>int</a:t>
            </a:r>
            <a:r>
              <a:rPr kumimoji="1" lang="en-US" altLang="zh-CN" sz="2400" b="1" dirty="0">
                <a:solidFill>
                  <a:schemeClr val="tx2"/>
                </a:solidFill>
                <a:latin typeface="幼圆" pitchFamily="49" charset="-122"/>
                <a:ea typeface="幼圆" pitchFamily="49" charset="-122"/>
                <a:sym typeface="Symbol" pitchFamily="18" charset="2"/>
              </a:rPr>
              <a:t>  k ,a[9];</a:t>
            </a:r>
            <a:br>
              <a:rPr kumimoji="1" lang="en-US" altLang="zh-CN" sz="2400" b="1" dirty="0">
                <a:solidFill>
                  <a:schemeClr val="tx2"/>
                </a:solidFill>
                <a:latin typeface="幼圆" pitchFamily="49" charset="-122"/>
                <a:ea typeface="幼圆" pitchFamily="49" charset="-122"/>
                <a:sym typeface="Symbol" pitchFamily="18" charset="2"/>
              </a:rPr>
            </a:br>
            <a:r>
              <a:rPr kumimoji="1" lang="en-US" altLang="zh-CN" sz="2400" b="1" dirty="0">
                <a:solidFill>
                  <a:schemeClr val="tx2"/>
                </a:solidFill>
                <a:latin typeface="幼圆" pitchFamily="49" charset="-122"/>
                <a:ea typeface="幼圆" pitchFamily="49" charset="-122"/>
                <a:sym typeface="Symbol" pitchFamily="18" charset="2"/>
              </a:rPr>
              <a:t>   for(k=0;k&lt;9;k++)</a:t>
            </a:r>
          </a:p>
          <a:p>
            <a:pPr marL="0" indent="0" eaLnBrk="1" hangingPunct="1">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sym typeface="Symbol" pitchFamily="18" charset="2"/>
              </a:rPr>
              <a:t>         {</a:t>
            </a:r>
            <a:r>
              <a:rPr kumimoji="1" lang="en-US" altLang="zh-CN" sz="2400" b="1" dirty="0" err="1">
                <a:solidFill>
                  <a:schemeClr val="tx2"/>
                </a:solidFill>
                <a:latin typeface="幼圆" pitchFamily="49" charset="-122"/>
                <a:ea typeface="幼圆" pitchFamily="49" charset="-122"/>
                <a:sym typeface="Symbol" pitchFamily="18" charset="2"/>
              </a:rPr>
              <a:t>scanf</a:t>
            </a:r>
            <a:r>
              <a:rPr kumimoji="1" lang="en-US" altLang="zh-CN" sz="2400" b="1" dirty="0">
                <a:solidFill>
                  <a:schemeClr val="tx2"/>
                </a:solidFill>
                <a:latin typeface="幼圆" pitchFamily="49" charset="-122"/>
                <a:ea typeface="幼圆" pitchFamily="49" charset="-122"/>
                <a:sym typeface="Symbol" pitchFamily="18" charset="2"/>
              </a:rPr>
              <a:t>(</a:t>
            </a:r>
            <a:r>
              <a:rPr kumimoji="1" lang="en-US" altLang="zh-CN" sz="2400" b="1" dirty="0">
                <a:solidFill>
                  <a:schemeClr val="tx2"/>
                </a:solidFill>
                <a:latin typeface="Arial" pitchFamily="34" charset="0"/>
                <a:ea typeface="幼圆" pitchFamily="49" charset="-122"/>
                <a:sym typeface="Symbol" pitchFamily="18" charset="2"/>
              </a:rPr>
              <a:t>“</a:t>
            </a:r>
            <a:r>
              <a:rPr kumimoji="1" lang="en-US" altLang="zh-CN" sz="2400" b="1" dirty="0">
                <a:solidFill>
                  <a:schemeClr val="tx2"/>
                </a:solidFill>
                <a:latin typeface="幼圆" pitchFamily="49" charset="-122"/>
                <a:ea typeface="幼圆" pitchFamily="49" charset="-122"/>
                <a:sym typeface="Symbol" pitchFamily="18" charset="2"/>
              </a:rPr>
              <a:t>%</a:t>
            </a:r>
            <a:r>
              <a:rPr kumimoji="1" lang="en-US" altLang="zh-CN" sz="2400" b="1" dirty="0" err="1">
                <a:solidFill>
                  <a:schemeClr val="tx2"/>
                </a:solidFill>
                <a:latin typeface="幼圆" pitchFamily="49" charset="-122"/>
                <a:ea typeface="幼圆" pitchFamily="49" charset="-122"/>
                <a:sym typeface="Symbol" pitchFamily="18" charset="2"/>
              </a:rPr>
              <a:t>d</a:t>
            </a:r>
            <a:r>
              <a:rPr kumimoji="1" lang="en-US" altLang="zh-CN" sz="2400" b="1" dirty="0" err="1">
                <a:solidFill>
                  <a:schemeClr val="tx2"/>
                </a:solidFill>
                <a:latin typeface="Arial" pitchFamily="34" charset="0"/>
                <a:ea typeface="幼圆" pitchFamily="49" charset="-122"/>
                <a:sym typeface="Symbol" pitchFamily="18" charset="2"/>
              </a:rPr>
              <a:t>”</a:t>
            </a:r>
            <a:r>
              <a:rPr kumimoji="1" lang="en-US" altLang="zh-CN" sz="2400" b="1" dirty="0" err="1">
                <a:solidFill>
                  <a:schemeClr val="tx2"/>
                </a:solidFill>
                <a:latin typeface="幼圆" pitchFamily="49" charset="-122"/>
                <a:ea typeface="幼圆" pitchFamily="49" charset="-122"/>
                <a:sym typeface="Symbol" pitchFamily="18" charset="2"/>
              </a:rPr>
              <a:t>,&amp;a</a:t>
            </a:r>
            <a:r>
              <a:rPr kumimoji="1" lang="en-US" altLang="zh-CN" sz="2400" b="1" dirty="0">
                <a:solidFill>
                  <a:schemeClr val="tx2"/>
                </a:solidFill>
                <a:latin typeface="幼圆" pitchFamily="49" charset="-122"/>
                <a:ea typeface="幼圆" pitchFamily="49" charset="-122"/>
                <a:sym typeface="Symbol" pitchFamily="18" charset="2"/>
              </a:rPr>
              <a:t>[k]); </a:t>
            </a:r>
          </a:p>
          <a:p>
            <a:pPr marL="0" indent="0" eaLnBrk="1" hangingPunct="1">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sym typeface="Symbol" pitchFamily="18" charset="2"/>
              </a:rPr>
              <a:t>           if(</a:t>
            </a:r>
            <a:r>
              <a:rPr kumimoji="1" lang="en-US" altLang="zh-CN" sz="2400" b="1" dirty="0" err="1">
                <a:solidFill>
                  <a:schemeClr val="tx2"/>
                </a:solidFill>
                <a:latin typeface="幼圆" pitchFamily="49" charset="-122"/>
                <a:ea typeface="幼圆" pitchFamily="49" charset="-122"/>
                <a:sym typeface="Symbol" pitchFamily="18" charset="2"/>
              </a:rPr>
              <a:t>pr</a:t>
            </a:r>
            <a:r>
              <a:rPr kumimoji="1" lang="en-US" altLang="zh-CN" sz="2400" b="1" dirty="0">
                <a:solidFill>
                  <a:schemeClr val="tx2"/>
                </a:solidFill>
                <a:latin typeface="幼圆" pitchFamily="49" charset="-122"/>
                <a:ea typeface="幼圆" pitchFamily="49" charset="-122"/>
                <a:sym typeface="Symbol" pitchFamily="18" charset="2"/>
              </a:rPr>
              <a:t>(a[k])!=0)</a:t>
            </a:r>
            <a:br>
              <a:rPr kumimoji="1" lang="en-US" altLang="zh-CN" sz="2400" b="1" dirty="0">
                <a:solidFill>
                  <a:schemeClr val="tx2"/>
                </a:solidFill>
                <a:latin typeface="幼圆" pitchFamily="49" charset="-122"/>
                <a:ea typeface="幼圆" pitchFamily="49" charset="-122"/>
                <a:sym typeface="Symbol" pitchFamily="18" charset="2"/>
              </a:rPr>
            </a:br>
            <a:r>
              <a:rPr kumimoji="1" lang="en-US" altLang="zh-CN" sz="2400" b="1" dirty="0">
                <a:solidFill>
                  <a:schemeClr val="tx2"/>
                </a:solidFill>
                <a:latin typeface="幼圆" pitchFamily="49" charset="-122"/>
                <a:ea typeface="幼圆" pitchFamily="49" charset="-122"/>
                <a:sym typeface="Symbol" pitchFamily="18" charset="2"/>
              </a:rPr>
              <a:t>         </a:t>
            </a:r>
            <a:r>
              <a:rPr kumimoji="1" lang="en-US" altLang="zh-CN" sz="2400" b="1" dirty="0" err="1">
                <a:solidFill>
                  <a:schemeClr val="tx2"/>
                </a:solidFill>
                <a:latin typeface="幼圆" pitchFamily="49" charset="-122"/>
                <a:ea typeface="幼圆" pitchFamily="49" charset="-122"/>
                <a:sym typeface="Symbol" pitchFamily="18" charset="2"/>
              </a:rPr>
              <a:t>printf</a:t>
            </a:r>
            <a:r>
              <a:rPr kumimoji="1" lang="en-US" altLang="zh-CN" sz="2400" b="1" dirty="0">
                <a:solidFill>
                  <a:schemeClr val="tx2"/>
                </a:solidFill>
                <a:latin typeface="幼圆" pitchFamily="49" charset="-122"/>
                <a:ea typeface="幼圆" pitchFamily="49" charset="-122"/>
                <a:sym typeface="Symbol" pitchFamily="18" charset="2"/>
              </a:rPr>
              <a:t>(</a:t>
            </a:r>
            <a:r>
              <a:rPr kumimoji="1" lang="en-US" altLang="zh-CN" sz="2400" b="1" dirty="0">
                <a:solidFill>
                  <a:schemeClr val="tx2"/>
                </a:solidFill>
                <a:latin typeface="Arial" pitchFamily="34" charset="0"/>
                <a:ea typeface="幼圆" pitchFamily="49" charset="-122"/>
                <a:sym typeface="Symbol" pitchFamily="18" charset="2"/>
              </a:rPr>
              <a:t>“</a:t>
            </a:r>
            <a:r>
              <a:rPr kumimoji="1" lang="en-US" altLang="zh-CN" sz="2400" b="1" dirty="0">
                <a:solidFill>
                  <a:schemeClr val="tx2"/>
                </a:solidFill>
                <a:latin typeface="幼圆" pitchFamily="49" charset="-122"/>
                <a:ea typeface="幼圆" pitchFamily="49" charset="-122"/>
                <a:sym typeface="Symbol" pitchFamily="18" charset="2"/>
              </a:rPr>
              <a:t>%5d</a:t>
            </a:r>
            <a:r>
              <a:rPr kumimoji="1" lang="en-US" altLang="zh-CN" sz="2400" b="1" dirty="0">
                <a:solidFill>
                  <a:schemeClr val="tx2"/>
                </a:solidFill>
                <a:latin typeface="Arial" pitchFamily="34" charset="0"/>
                <a:ea typeface="幼圆" pitchFamily="49" charset="-122"/>
                <a:sym typeface="Symbol" pitchFamily="18" charset="2"/>
              </a:rPr>
              <a:t>”</a:t>
            </a:r>
            <a:r>
              <a:rPr kumimoji="1" lang="en-US" altLang="zh-CN" sz="2400" b="1" dirty="0">
                <a:solidFill>
                  <a:schemeClr val="tx2"/>
                </a:solidFill>
                <a:latin typeface="幼圆" pitchFamily="49" charset="-122"/>
                <a:ea typeface="幼圆" pitchFamily="49" charset="-122"/>
                <a:sym typeface="Symbol" pitchFamily="18" charset="2"/>
              </a:rPr>
              <a:t>,a[k]);}</a:t>
            </a:r>
            <a:br>
              <a:rPr kumimoji="1" lang="en-US" altLang="zh-CN" sz="2400" b="1" dirty="0">
                <a:solidFill>
                  <a:schemeClr val="tx2"/>
                </a:solidFill>
                <a:latin typeface="幼圆" pitchFamily="49" charset="-122"/>
                <a:ea typeface="幼圆" pitchFamily="49" charset="-122"/>
                <a:sym typeface="Symbol" pitchFamily="18" charset="2"/>
              </a:rPr>
            </a:br>
            <a:r>
              <a:rPr kumimoji="1" lang="en-US" altLang="zh-CN" sz="2400" b="1" dirty="0">
                <a:solidFill>
                  <a:schemeClr val="tx2"/>
                </a:solidFill>
                <a:latin typeface="幼圆" pitchFamily="49" charset="-122"/>
                <a:ea typeface="幼圆" pitchFamily="49" charset="-122"/>
                <a:sym typeface="Symbol" pitchFamily="18" charset="2"/>
              </a:rPr>
              <a:t> }</a:t>
            </a:r>
            <a:endParaRPr kumimoji="1" lang="zh-CN" altLang="en-US" sz="2400" b="1" dirty="0">
              <a:solidFill>
                <a:schemeClr val="tx2"/>
              </a:solidFill>
              <a:latin typeface="幼圆" pitchFamily="49" charset="-122"/>
              <a:ea typeface="幼圆" pitchFamily="49" charset="-122"/>
            </a:endParaRPr>
          </a:p>
        </p:txBody>
      </p:sp>
      <p:sp>
        <p:nvSpPr>
          <p:cNvPr id="78851" name="Rectangle 4"/>
          <p:cNvSpPr>
            <a:spLocks noChangeArrowheads="1"/>
          </p:cNvSpPr>
          <p:nvPr/>
        </p:nvSpPr>
        <p:spPr bwMode="auto">
          <a:xfrm>
            <a:off x="0" y="533400"/>
            <a:ext cx="307007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数组</a:t>
            </a:r>
          </a:p>
        </p:txBody>
      </p:sp>
    </p:spTree>
    <p:extLst>
      <p:ext uri="{BB962C8B-B14F-4D97-AF65-F5344CB8AC3E}">
        <p14:creationId xmlns:p14="http://schemas.microsoft.com/office/powerpoint/2010/main" val="2558020318"/>
      </p:ext>
    </p:extLst>
  </p:cSld>
  <p:clrMapOvr>
    <a:masterClrMapping/>
  </p:clrMapOvr>
  <p:transition>
    <p:wedge/>
  </p:transition>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4" name="Rectangle 3"/>
          <p:cNvSpPr>
            <a:spLocks noGrp="1" noChangeArrowheads="1"/>
          </p:cNvSpPr>
          <p:nvPr>
            <p:ph type="body" sz="half" idx="1"/>
          </p:nvPr>
        </p:nvSpPr>
        <p:spPr>
          <a:xfrm>
            <a:off x="0" y="990600"/>
            <a:ext cx="9144000" cy="5422900"/>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pr(int a[ ] ) { int  i ,j,k; </a:t>
            </a:r>
            <a:br>
              <a:rPr kumimoji="1" lang="en-US" altLang="zh-CN" sz="2400" b="1">
                <a:solidFill>
                  <a:schemeClr val="tx2"/>
                </a:solidFill>
                <a:latin typeface="幼圆" pitchFamily="49" charset="-122"/>
                <a:ea typeface="幼圆" pitchFamily="49" charset="-122"/>
                <a:sym typeface="Symbol" pitchFamily="18" charset="2"/>
              </a:rPr>
            </a:br>
            <a:r>
              <a:rPr kumimoji="1" lang="en-US" altLang="zh-CN" sz="2400" b="1">
                <a:solidFill>
                  <a:schemeClr val="tx2"/>
                </a:solidFill>
                <a:latin typeface="幼圆" pitchFamily="49" charset="-122"/>
                <a:ea typeface="幼圆" pitchFamily="49" charset="-122"/>
                <a:sym typeface="Symbol" pitchFamily="18" charset="2"/>
              </a:rPr>
              <a:t>  for(j=0; j&lt;9; j++)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{k=1;</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for(i=2; i&lt;a[j]; i++)   /    *  *(a+j)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if(a[j]%i==0)  k=0;   /*  *(a+j)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if(k==1) printf(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%5d</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.a[j]);}   /*  *(a+j)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main( )/*</a:t>
            </a:r>
            <a:r>
              <a:rPr kumimoji="1" lang="zh-CN" altLang="en-US" sz="2400" b="1">
                <a:solidFill>
                  <a:schemeClr val="tx2"/>
                </a:solidFill>
                <a:latin typeface="幼圆" pitchFamily="49" charset="-122"/>
                <a:ea typeface="幼圆" pitchFamily="49" charset="-122"/>
                <a:sym typeface="Symbol" pitchFamily="18" charset="2"/>
              </a:rPr>
              <a:t>输出素数*/</a:t>
            </a:r>
            <a:br>
              <a:rPr kumimoji="1" lang="zh-CN" altLang="en-US" sz="2400" b="1">
                <a:solidFill>
                  <a:schemeClr val="tx2"/>
                </a:solidFill>
                <a:latin typeface="幼圆" pitchFamily="49" charset="-122"/>
                <a:ea typeface="幼圆" pitchFamily="49" charset="-122"/>
                <a:sym typeface="Symbol" pitchFamily="18" charset="2"/>
              </a:rPr>
            </a:br>
            <a:r>
              <a:rPr kumimoji="1" lang="zh-CN" altLang="en-US" sz="2400" b="1">
                <a:solidFill>
                  <a:schemeClr val="tx2"/>
                </a:solidFill>
                <a:latin typeface="幼圆" pitchFamily="49" charset="-122"/>
                <a:ea typeface="幼圆" pitchFamily="49" charset="-122"/>
                <a:sym typeface="Symbol" pitchFamily="18" charset="2"/>
              </a:rPr>
              <a:t> { </a:t>
            </a:r>
            <a:r>
              <a:rPr kumimoji="1" lang="en-US" altLang="zh-CN" sz="2400" b="1">
                <a:solidFill>
                  <a:schemeClr val="tx2"/>
                </a:solidFill>
                <a:latin typeface="幼圆" pitchFamily="49" charset="-122"/>
                <a:ea typeface="幼圆" pitchFamily="49" charset="-122"/>
                <a:sym typeface="Symbol" pitchFamily="18" charset="2"/>
              </a:rPr>
              <a:t>int  k ,a[9], *p=a;</a:t>
            </a:r>
            <a:br>
              <a:rPr kumimoji="1" lang="en-US" altLang="zh-CN" sz="2400" b="1">
                <a:solidFill>
                  <a:schemeClr val="tx2"/>
                </a:solidFill>
                <a:latin typeface="幼圆" pitchFamily="49" charset="-122"/>
                <a:ea typeface="幼圆" pitchFamily="49" charset="-122"/>
                <a:sym typeface="Symbol" pitchFamily="18" charset="2"/>
              </a:rPr>
            </a:br>
            <a:r>
              <a:rPr kumimoji="1" lang="en-US" altLang="zh-CN" sz="2400" b="1">
                <a:solidFill>
                  <a:schemeClr val="tx2"/>
                </a:solidFill>
                <a:latin typeface="幼圆" pitchFamily="49" charset="-122"/>
                <a:ea typeface="幼圆" pitchFamily="49" charset="-122"/>
                <a:sym typeface="Symbol" pitchFamily="18" charset="2"/>
              </a:rPr>
              <a:t>   for(k=0;k&lt;9;k++)</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scanf(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%d</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,&amp;a[k]);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pr(a);        /* pr(p) ; */</a:t>
            </a:r>
            <a:br>
              <a:rPr kumimoji="1" lang="en-US" altLang="zh-CN" sz="2400" b="1">
                <a:solidFill>
                  <a:schemeClr val="tx2"/>
                </a:solidFill>
                <a:latin typeface="幼圆" pitchFamily="49" charset="-122"/>
                <a:ea typeface="幼圆" pitchFamily="49" charset="-122"/>
                <a:sym typeface="Symbol" pitchFamily="18" charset="2"/>
              </a:rPr>
            </a:br>
            <a:r>
              <a:rPr kumimoji="1" lang="en-US" altLang="zh-CN" sz="2400" b="1">
                <a:solidFill>
                  <a:schemeClr val="tx2"/>
                </a:solidFill>
                <a:latin typeface="幼圆" pitchFamily="49" charset="-122"/>
                <a:ea typeface="幼圆" pitchFamily="49" charset="-122"/>
                <a:sym typeface="Symbol" pitchFamily="18" charset="2"/>
              </a:rPr>
              <a:t>}</a:t>
            </a:r>
            <a:endParaRPr kumimoji="1" lang="zh-CN" altLang="en-US" sz="2400" b="1">
              <a:solidFill>
                <a:schemeClr val="tx2"/>
              </a:solidFill>
              <a:latin typeface="幼圆" pitchFamily="49" charset="-122"/>
              <a:ea typeface="幼圆" pitchFamily="49" charset="-122"/>
              <a:sym typeface="Symbol" pitchFamily="18" charset="2"/>
            </a:endParaRPr>
          </a:p>
        </p:txBody>
      </p:sp>
      <p:sp>
        <p:nvSpPr>
          <p:cNvPr id="4" name="Rectangle 4"/>
          <p:cNvSpPr>
            <a:spLocks noChangeArrowheads="1"/>
          </p:cNvSpPr>
          <p:nvPr/>
        </p:nvSpPr>
        <p:spPr bwMode="auto">
          <a:xfrm>
            <a:off x="0" y="533400"/>
            <a:ext cx="307007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数组</a:t>
            </a:r>
          </a:p>
        </p:txBody>
      </p:sp>
    </p:spTree>
    <p:extLst>
      <p:ext uri="{BB962C8B-B14F-4D97-AF65-F5344CB8AC3E}">
        <p14:creationId xmlns:p14="http://schemas.microsoft.com/office/powerpoint/2010/main" val="3322768528"/>
      </p:ext>
    </p:extLst>
  </p:cSld>
  <p:clrMapOvr>
    <a:masterClrMapping/>
  </p:clrMapOvr>
  <p:transition>
    <p:wedge/>
  </p:transition>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8" name="Rectangle 3"/>
          <p:cNvSpPr>
            <a:spLocks noGrp="1" noChangeArrowheads="1"/>
          </p:cNvSpPr>
          <p:nvPr>
            <p:ph type="body" sz="half" idx="1"/>
          </p:nvPr>
        </p:nvSpPr>
        <p:spPr>
          <a:xfrm>
            <a:off x="0" y="1066800"/>
            <a:ext cx="9144000" cy="5780088"/>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●排序（气泡法）</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define N  10</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main( )  /* </a:t>
            </a:r>
            <a:r>
              <a:rPr kumimoji="1" lang="zh-CN" altLang="en-US" sz="2400" b="1">
                <a:solidFill>
                  <a:schemeClr val="tx2"/>
                </a:solidFill>
                <a:latin typeface="幼圆" pitchFamily="49" charset="-122"/>
                <a:ea typeface="幼圆" pitchFamily="49" charset="-122"/>
                <a:sym typeface="Symbol" pitchFamily="18" charset="2"/>
              </a:rPr>
              <a:t>气泡法排序,大小*/</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int i,j,m,a[N];</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for(i=0;i&lt;N;i++)</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scanf(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%d</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,&amp;a[i]);</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for(j=1;j&lt;=</a:t>
            </a:r>
            <a:r>
              <a:rPr kumimoji="1" lang="en-US" altLang="zh-CN" sz="2400" b="1">
                <a:solidFill>
                  <a:srgbClr val="FF0000"/>
                </a:solidFill>
                <a:latin typeface="幼圆" pitchFamily="49" charset="-122"/>
                <a:ea typeface="幼圆" pitchFamily="49" charset="-122"/>
                <a:sym typeface="Symbol" pitchFamily="18" charset="2"/>
              </a:rPr>
              <a:t>N-1</a:t>
            </a:r>
            <a:r>
              <a:rPr kumimoji="1" lang="en-US" altLang="zh-CN" sz="2400" b="1">
                <a:solidFill>
                  <a:schemeClr val="tx2"/>
                </a:solidFill>
                <a:latin typeface="幼圆" pitchFamily="49" charset="-122"/>
                <a:ea typeface="幼圆" pitchFamily="49" charset="-122"/>
                <a:sym typeface="Symbol" pitchFamily="18" charset="2"/>
              </a:rPr>
              <a:t>;j++)  /* N-1</a:t>
            </a:r>
            <a:r>
              <a:rPr kumimoji="1" lang="zh-CN" altLang="en-US" sz="2400" b="1">
                <a:solidFill>
                  <a:schemeClr val="tx2"/>
                </a:solidFill>
                <a:latin typeface="幼圆" pitchFamily="49" charset="-122"/>
                <a:ea typeface="幼圆" pitchFamily="49" charset="-122"/>
                <a:sym typeface="Symbol" pitchFamily="18" charset="2"/>
              </a:rPr>
              <a:t>轮处理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sym typeface="Symbol" pitchFamily="18" charset="2"/>
              </a:rPr>
              <a:t>for(i=0;i&lt;</a:t>
            </a:r>
            <a:r>
              <a:rPr kumimoji="1" lang="en-US" altLang="zh-CN" sz="2400" b="1">
                <a:solidFill>
                  <a:srgbClr val="FF0000"/>
                </a:solidFill>
                <a:latin typeface="幼圆" pitchFamily="49" charset="-122"/>
                <a:ea typeface="幼圆" pitchFamily="49" charset="-122"/>
                <a:sym typeface="Symbol" pitchFamily="18" charset="2"/>
              </a:rPr>
              <a:t>N-j</a:t>
            </a:r>
            <a:r>
              <a:rPr kumimoji="1" lang="en-US" altLang="zh-CN" sz="2400" b="1">
                <a:solidFill>
                  <a:schemeClr val="tx2"/>
                </a:solidFill>
                <a:latin typeface="幼圆" pitchFamily="49" charset="-122"/>
                <a:ea typeface="幼圆" pitchFamily="49" charset="-122"/>
                <a:sym typeface="Symbol" pitchFamily="18" charset="2"/>
              </a:rPr>
              <a:t>;i++) /* N-J</a:t>
            </a:r>
            <a:r>
              <a:rPr kumimoji="1" lang="zh-CN" altLang="en-US" sz="2400" b="1">
                <a:solidFill>
                  <a:schemeClr val="tx2"/>
                </a:solidFill>
                <a:latin typeface="幼圆" pitchFamily="49" charset="-122"/>
                <a:ea typeface="幼圆" pitchFamily="49" charset="-122"/>
                <a:sym typeface="Symbol" pitchFamily="18" charset="2"/>
              </a:rPr>
              <a:t>次比较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sym typeface="Symbol" pitchFamily="18" charset="2"/>
              </a:rPr>
              <a:t>if(a[i]&lt;a[i+1])   /* </a:t>
            </a:r>
            <a:r>
              <a:rPr kumimoji="1" lang="zh-CN" altLang="en-US" sz="2400" b="1">
                <a:solidFill>
                  <a:schemeClr val="tx2"/>
                </a:solidFill>
                <a:latin typeface="幼圆" pitchFamily="49" charset="-122"/>
                <a:ea typeface="幼圆" pitchFamily="49" charset="-122"/>
                <a:sym typeface="Symbol" pitchFamily="18" charset="2"/>
              </a:rPr>
              <a:t>顺序不对时交换*/</a:t>
            </a:r>
            <a:endParaRPr kumimoji="1" lang="en-US" altLang="zh-CN" sz="2400" b="1">
              <a:solidFill>
                <a:schemeClr val="tx2"/>
              </a:solidFill>
              <a:latin typeface="幼圆" pitchFamily="49" charset="-122"/>
              <a:ea typeface="幼圆" pitchFamily="49" charset="-122"/>
              <a:sym typeface="Symbol" pitchFamily="18" charset="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{m=a[i];a[i]=a[i+1];a[i+1]=m;}</a:t>
            </a:r>
            <a:endParaRPr kumimoji="1" lang="zh-CN" altLang="en-US" sz="2400" b="1">
              <a:solidFill>
                <a:schemeClr val="tx2"/>
              </a:solidFill>
              <a:latin typeface="幼圆" pitchFamily="49" charset="-122"/>
              <a:ea typeface="幼圆" pitchFamily="49" charset="-122"/>
              <a:sym typeface="Symbol" pitchFamily="18" charset="2"/>
            </a:endParaRP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sym typeface="Symbol" pitchFamily="18" charset="2"/>
              </a:rPr>
              <a:t>for(i=0;i&lt;N;i++)</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printf(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%5d</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,a[i]);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a:t>
            </a:r>
            <a:endParaRPr kumimoji="1" lang="zh-CN" altLang="en-US" sz="2400" b="1">
              <a:solidFill>
                <a:schemeClr val="tx2"/>
              </a:solidFill>
              <a:latin typeface="幼圆" pitchFamily="49" charset="-122"/>
              <a:ea typeface="幼圆" pitchFamily="49" charset="-122"/>
              <a:sym typeface="Symbol" pitchFamily="18" charset="2"/>
            </a:endParaRPr>
          </a:p>
        </p:txBody>
      </p:sp>
      <p:sp>
        <p:nvSpPr>
          <p:cNvPr id="4" name="Rectangle 4"/>
          <p:cNvSpPr>
            <a:spLocks noChangeArrowheads="1"/>
          </p:cNvSpPr>
          <p:nvPr/>
        </p:nvSpPr>
        <p:spPr bwMode="auto">
          <a:xfrm>
            <a:off x="0" y="533400"/>
            <a:ext cx="307007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数组</a:t>
            </a:r>
          </a:p>
        </p:txBody>
      </p:sp>
    </p:spTree>
    <p:extLst>
      <p:ext uri="{BB962C8B-B14F-4D97-AF65-F5344CB8AC3E}">
        <p14:creationId xmlns:p14="http://schemas.microsoft.com/office/powerpoint/2010/main" val="4264197751"/>
      </p:ext>
    </p:extLst>
  </p:cSld>
  <p:clrMapOvr>
    <a:masterClrMapping/>
  </p:clrMapOvr>
  <p:transition>
    <p:wedge/>
  </p:transition>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2" name="Rectangle 3"/>
          <p:cNvSpPr>
            <a:spLocks noGrp="1" noChangeArrowheads="1"/>
          </p:cNvSpPr>
          <p:nvPr>
            <p:ph type="body" sz="half" idx="1"/>
          </p:nvPr>
        </p:nvSpPr>
        <p:spPr>
          <a:xfrm>
            <a:off x="0" y="990600"/>
            <a:ext cx="9144000" cy="5780088"/>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●排序（选择法）</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define N  10</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main( )  /* </a:t>
            </a:r>
            <a:r>
              <a:rPr kumimoji="1" lang="zh-CN" altLang="en-US" sz="2400" b="1">
                <a:solidFill>
                  <a:schemeClr val="tx2"/>
                </a:solidFill>
                <a:latin typeface="幼圆" pitchFamily="49" charset="-122"/>
                <a:ea typeface="幼圆" pitchFamily="49" charset="-122"/>
                <a:sym typeface="Symbol" pitchFamily="18" charset="2"/>
              </a:rPr>
              <a:t>选择法排序 大小*/</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int i,j,m,p,a[N];</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for(i=0;i&lt;N;i++)   scanf(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%d</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,&amp;a[i]);</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for(j=0;j&lt;</a:t>
            </a:r>
            <a:r>
              <a:rPr kumimoji="1" lang="en-US" altLang="zh-CN" sz="2400" b="1">
                <a:solidFill>
                  <a:srgbClr val="FF0000"/>
                </a:solidFill>
                <a:latin typeface="幼圆" pitchFamily="49" charset="-122"/>
                <a:ea typeface="幼圆" pitchFamily="49" charset="-122"/>
                <a:sym typeface="Symbol" pitchFamily="18" charset="2"/>
              </a:rPr>
              <a:t>N-1</a:t>
            </a:r>
            <a:r>
              <a:rPr kumimoji="1" lang="en-US" altLang="zh-CN" sz="2400" b="1">
                <a:solidFill>
                  <a:schemeClr val="tx2"/>
                </a:solidFill>
                <a:latin typeface="幼圆" pitchFamily="49" charset="-122"/>
                <a:ea typeface="幼圆" pitchFamily="49" charset="-122"/>
                <a:sym typeface="Symbol" pitchFamily="18" charset="2"/>
              </a:rPr>
              <a:t>;j++)  /* N-1</a:t>
            </a:r>
            <a:r>
              <a:rPr kumimoji="1" lang="zh-CN" altLang="en-US" sz="2400" b="1">
                <a:solidFill>
                  <a:schemeClr val="tx2"/>
                </a:solidFill>
                <a:latin typeface="幼圆" pitchFamily="49" charset="-122"/>
                <a:ea typeface="幼圆" pitchFamily="49" charset="-122"/>
                <a:sym typeface="Symbol" pitchFamily="18" charset="2"/>
              </a:rPr>
              <a:t>轮处理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sym typeface="Symbol" pitchFamily="18" charset="2"/>
              </a:rPr>
              <a:t>p=j;              /*p</a:t>
            </a:r>
            <a:r>
              <a:rPr kumimoji="1" lang="zh-CN" altLang="en-US" sz="2400" b="1">
                <a:solidFill>
                  <a:schemeClr val="tx2"/>
                </a:solidFill>
                <a:latin typeface="幼圆" pitchFamily="49" charset="-122"/>
                <a:ea typeface="幼圆" pitchFamily="49" charset="-122"/>
                <a:sym typeface="Symbol" pitchFamily="18" charset="2"/>
              </a:rPr>
              <a:t>记录最大值的下标*/</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sym typeface="Symbol" pitchFamily="18" charset="2"/>
              </a:rPr>
              <a:t>for(i=</a:t>
            </a:r>
            <a:r>
              <a:rPr kumimoji="1" lang="en-US" altLang="zh-CN" sz="2400" b="1">
                <a:solidFill>
                  <a:srgbClr val="FF0000"/>
                </a:solidFill>
                <a:latin typeface="幼圆" pitchFamily="49" charset="-122"/>
                <a:ea typeface="幼圆" pitchFamily="49" charset="-122"/>
                <a:sym typeface="Symbol" pitchFamily="18" charset="2"/>
              </a:rPr>
              <a:t>j+1</a:t>
            </a:r>
            <a:r>
              <a:rPr kumimoji="1" lang="en-US" altLang="zh-CN" sz="2400" b="1">
                <a:solidFill>
                  <a:schemeClr val="tx2"/>
                </a:solidFill>
                <a:latin typeface="幼圆" pitchFamily="49" charset="-122"/>
                <a:ea typeface="幼圆" pitchFamily="49" charset="-122"/>
                <a:sym typeface="Symbol" pitchFamily="18" charset="2"/>
              </a:rPr>
              <a:t>;i&lt;N;i++)/*</a:t>
            </a:r>
            <a:r>
              <a:rPr kumimoji="1" lang="zh-CN" altLang="en-US" sz="2400" b="1">
                <a:solidFill>
                  <a:schemeClr val="tx2"/>
                </a:solidFill>
                <a:latin typeface="幼圆" pitchFamily="49" charset="-122"/>
                <a:ea typeface="幼圆" pitchFamily="49" charset="-122"/>
                <a:sym typeface="Symbol" pitchFamily="18" charset="2"/>
              </a:rPr>
              <a:t>找第</a:t>
            </a:r>
            <a:r>
              <a:rPr kumimoji="1" lang="en-US" altLang="zh-CN" sz="2400" b="1">
                <a:solidFill>
                  <a:schemeClr val="tx2"/>
                </a:solidFill>
                <a:latin typeface="幼圆" pitchFamily="49" charset="-122"/>
                <a:ea typeface="幼圆" pitchFamily="49" charset="-122"/>
                <a:sym typeface="Symbol" pitchFamily="18" charset="2"/>
              </a:rPr>
              <a:t>J</a:t>
            </a:r>
            <a:r>
              <a:rPr kumimoji="1" lang="zh-CN" altLang="en-US" sz="2400" b="1">
                <a:solidFill>
                  <a:schemeClr val="tx2"/>
                </a:solidFill>
                <a:latin typeface="幼圆" pitchFamily="49" charset="-122"/>
                <a:ea typeface="幼圆" pitchFamily="49" charset="-122"/>
                <a:sym typeface="Symbol" pitchFamily="18" charset="2"/>
              </a:rPr>
              <a:t>轮最大值下标</a:t>
            </a:r>
            <a:r>
              <a:rPr kumimoji="1" lang="en-US" altLang="zh-CN" sz="2400" b="1">
                <a:solidFill>
                  <a:schemeClr val="tx2"/>
                </a:solidFill>
                <a:latin typeface="幼圆" pitchFamily="49" charset="-122"/>
                <a:ea typeface="幼圆" pitchFamily="49" charset="-122"/>
                <a:sym typeface="Symbol" pitchFamily="18" charset="2"/>
              </a:rPr>
              <a:t>P*/</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if(a[p]&lt;a[i]) p=i;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sym typeface="Symbol" pitchFamily="18" charset="2"/>
              </a:rPr>
              <a:t>m=a[p];a[p]=a[j];a[j]=m;/*a[p],a[j]</a:t>
            </a:r>
            <a:r>
              <a:rPr kumimoji="1" lang="zh-CN" altLang="en-US" sz="2400" b="1">
                <a:solidFill>
                  <a:schemeClr val="tx2"/>
                </a:solidFill>
                <a:latin typeface="幼圆" pitchFamily="49" charset="-122"/>
                <a:ea typeface="幼圆" pitchFamily="49" charset="-122"/>
                <a:sym typeface="Symbol" pitchFamily="18" charset="2"/>
              </a:rPr>
              <a:t>交换 */</a:t>
            </a:r>
            <a:endParaRPr kumimoji="1" lang="en-US" altLang="zh-CN" sz="2400" b="1">
              <a:solidFill>
                <a:schemeClr val="tx2"/>
              </a:solidFill>
              <a:latin typeface="幼圆" pitchFamily="49" charset="-122"/>
              <a:ea typeface="幼圆" pitchFamily="49" charset="-122"/>
              <a:sym typeface="Symbol" pitchFamily="18" charset="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for(i=0;i&lt;N;i++)</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printf(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%5d</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,a[i]);  }</a:t>
            </a:r>
          </a:p>
        </p:txBody>
      </p:sp>
      <p:sp>
        <p:nvSpPr>
          <p:cNvPr id="4" name="Rectangle 4"/>
          <p:cNvSpPr>
            <a:spLocks noChangeArrowheads="1"/>
          </p:cNvSpPr>
          <p:nvPr/>
        </p:nvSpPr>
        <p:spPr bwMode="auto">
          <a:xfrm>
            <a:off x="0" y="533400"/>
            <a:ext cx="307007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数组</a:t>
            </a:r>
          </a:p>
        </p:txBody>
      </p:sp>
    </p:spTree>
    <p:extLst>
      <p:ext uri="{BB962C8B-B14F-4D97-AF65-F5344CB8AC3E}">
        <p14:creationId xmlns:p14="http://schemas.microsoft.com/office/powerpoint/2010/main" val="426972125"/>
      </p:ext>
    </p:extLst>
  </p:cSld>
  <p:clrMapOvr>
    <a:masterClrMapping/>
  </p:clrMapOvr>
  <p:transition>
    <p:wedge/>
  </p:transition>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0" name="Rectangle 3"/>
          <p:cNvSpPr>
            <a:spLocks noGrp="1" noChangeArrowheads="1"/>
          </p:cNvSpPr>
          <p:nvPr>
            <p:ph type="body" sz="half" idx="1"/>
          </p:nvPr>
        </p:nvSpPr>
        <p:spPr>
          <a:xfrm>
            <a:off x="0" y="1387475"/>
            <a:ext cx="9144000" cy="4376583"/>
          </a:xfrm>
          <a:gradFill rotWithShape="1">
            <a:gsLst>
              <a:gs pos="0">
                <a:srgbClr val="CCFF66"/>
              </a:gs>
              <a:gs pos="100000">
                <a:srgbClr val="FFFFFF"/>
              </a:gs>
            </a:gsLst>
            <a:path path="shape">
              <a:fillToRect l="50000" t="50000" r="50000" b="50000"/>
            </a:path>
          </a:gradFill>
        </p:spPr>
        <p:txBody>
          <a:bodyPr>
            <a:spAutoFit/>
          </a:bodyPr>
          <a:lstStyle/>
          <a:p>
            <a:pPr marL="0" indent="0">
              <a:buClr>
                <a:schemeClr val="tx1"/>
              </a:buClr>
              <a:buSzPct val="60000"/>
              <a:buNone/>
            </a:pPr>
            <a:r>
              <a:rPr kumimoji="1" lang="zh-CN" altLang="en-US" sz="2400" b="1" dirty="0">
                <a:solidFill>
                  <a:schemeClr val="tx2"/>
                </a:solidFill>
                <a:latin typeface="幼圆" pitchFamily="49" charset="-122"/>
                <a:ea typeface="幼圆" pitchFamily="49" charset="-122"/>
              </a:rPr>
              <a:t>●字符串</a:t>
            </a:r>
            <a:r>
              <a:rPr kumimoji="1" lang="zh-CN" altLang="en-US" sz="2400" dirty="0">
                <a:solidFill>
                  <a:schemeClr val="tx2"/>
                </a:solidFill>
                <a:latin typeface="Arial" pitchFamily="34" charset="0"/>
                <a:ea typeface="幼圆" pitchFamily="49" charset="-122"/>
              </a:rPr>
              <a:t>——</a:t>
            </a:r>
            <a:r>
              <a:rPr kumimoji="1" lang="zh-CN" altLang="en-US" sz="2400" dirty="0">
                <a:solidFill>
                  <a:schemeClr val="tx2"/>
                </a:solidFill>
                <a:latin typeface="幼圆" pitchFamily="49" charset="-122"/>
                <a:ea typeface="幼圆" pitchFamily="49" charset="-122"/>
              </a:rPr>
              <a:t>重点</a:t>
            </a:r>
            <a:endParaRPr kumimoji="1" lang="zh-CN" altLang="en-US" sz="2400" b="1" dirty="0">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a:t>
            </a:r>
            <a:r>
              <a:rPr kumimoji="1" lang="zh-CN" altLang="en-US" sz="2400" b="1" dirty="0">
                <a:solidFill>
                  <a:schemeClr val="tx2"/>
                </a:solidFill>
                <a:latin typeface="幼圆" pitchFamily="49" charset="-122"/>
                <a:ea typeface="幼圆" pitchFamily="49" charset="-122"/>
              </a:rPr>
              <a:t>字符串常量：用双引号括起的一串字符，系统自动在串尾加</a:t>
            </a:r>
            <a:r>
              <a:rPr kumimoji="1" lang="zh-CN" altLang="en-US" sz="2400" b="1" dirty="0">
                <a:solidFill>
                  <a:schemeClr val="tx2"/>
                </a:solidFill>
                <a:latin typeface="Arial" pitchFamily="34" charset="0"/>
                <a:ea typeface="幼圆" pitchFamily="49" charset="-122"/>
              </a:rPr>
              <a:t>‘</a:t>
            </a:r>
            <a:r>
              <a:rPr kumimoji="1" lang="zh-CN" altLang="en-US" sz="2400" b="1" dirty="0">
                <a:solidFill>
                  <a:schemeClr val="tx2"/>
                </a:solidFill>
                <a:latin typeface="幼圆" pitchFamily="49" charset="-122"/>
                <a:ea typeface="幼圆" pitchFamily="49" charset="-122"/>
              </a:rPr>
              <a:t>\0</a:t>
            </a:r>
            <a:r>
              <a:rPr kumimoji="1" lang="zh-CN" altLang="en-US" sz="2400" b="1" dirty="0">
                <a:solidFill>
                  <a:schemeClr val="tx2"/>
                </a:solidFill>
                <a:latin typeface="Arial" pitchFamily="34" charset="0"/>
                <a:ea typeface="幼圆" pitchFamily="49" charset="-122"/>
              </a:rPr>
              <a:t>’</a:t>
            </a:r>
            <a:r>
              <a:rPr kumimoji="1" lang="zh-CN" altLang="en-US" sz="2400" b="1" dirty="0">
                <a:solidFill>
                  <a:schemeClr val="tx2"/>
                </a:solidFill>
                <a:latin typeface="幼圆" pitchFamily="49" charset="-122"/>
                <a:ea typeface="幼圆" pitchFamily="49" charset="-122"/>
              </a:rPr>
              <a:t>(串结束标记).</a:t>
            </a:r>
            <a:r>
              <a:rPr kumimoji="1" lang="zh-CN" altLang="en-US" sz="2400" b="1" dirty="0">
                <a:solidFill>
                  <a:schemeClr val="tx2"/>
                </a:solidFill>
                <a:latin typeface="Arial" pitchFamily="34" charset="0"/>
                <a:ea typeface="幼圆" pitchFamily="49" charset="-122"/>
              </a:rPr>
              <a:t>“</a:t>
            </a:r>
            <a:r>
              <a:rPr kumimoji="1" lang="en-US" altLang="zh-CN" sz="2400" b="1" dirty="0">
                <a:solidFill>
                  <a:schemeClr val="tx2"/>
                </a:solidFill>
                <a:latin typeface="幼圆" pitchFamily="49" charset="-122"/>
                <a:ea typeface="幼圆" pitchFamily="49" charset="-122"/>
              </a:rPr>
              <a:t>china</a:t>
            </a:r>
            <a:r>
              <a:rPr kumimoji="1" lang="en-US" altLang="zh-CN" sz="2400" b="1" dirty="0">
                <a:solidFill>
                  <a:schemeClr val="tx2"/>
                </a:solidFill>
                <a:latin typeface="Arial" pitchFamily="34" charset="0"/>
                <a:ea typeface="幼圆" pitchFamily="49" charset="-122"/>
              </a:rPr>
              <a:t>”</a:t>
            </a:r>
            <a:r>
              <a:rPr kumimoji="1" lang="en-US" altLang="zh-CN" sz="2400" b="1" dirty="0">
                <a:solidFill>
                  <a:schemeClr val="tx2"/>
                </a:solidFill>
                <a:latin typeface="幼圆" pitchFamily="49" charset="-122"/>
                <a:ea typeface="幼圆" pitchFamily="49" charset="-122"/>
              </a:rPr>
              <a:t>, </a:t>
            </a:r>
            <a:r>
              <a:rPr kumimoji="1" lang="en-US" altLang="zh-CN" sz="2400" b="1" dirty="0">
                <a:solidFill>
                  <a:schemeClr val="tx2"/>
                </a:solidFill>
                <a:latin typeface="Arial" pitchFamily="34" charset="0"/>
                <a:ea typeface="幼圆" pitchFamily="49" charset="-122"/>
              </a:rPr>
              <a:t>”</a:t>
            </a:r>
            <a:r>
              <a:rPr kumimoji="1" lang="en-US" altLang="zh-CN" sz="2400" b="1" dirty="0">
                <a:solidFill>
                  <a:schemeClr val="tx2"/>
                </a:solidFill>
                <a:latin typeface="幼圆" pitchFamily="49" charset="-122"/>
                <a:ea typeface="幼圆" pitchFamily="49" charset="-122"/>
              </a:rPr>
              <a:t>1</a:t>
            </a:r>
            <a:r>
              <a:rPr kumimoji="1" lang="en-US" altLang="zh-CN" sz="2400" b="1" dirty="0">
                <a:solidFill>
                  <a:schemeClr val="tx2"/>
                </a:solidFill>
                <a:latin typeface="Arial" pitchFamily="34" charset="0"/>
                <a:ea typeface="幼圆" pitchFamily="49" charset="-122"/>
              </a:rPr>
              <a:t>”</a:t>
            </a:r>
            <a:endParaRPr kumimoji="1" lang="en-US" altLang="zh-CN" sz="2400" b="1" dirty="0">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a:t>
            </a:r>
            <a:r>
              <a:rPr kumimoji="1" lang="zh-CN" altLang="en-US" sz="2400" b="1" dirty="0">
                <a:solidFill>
                  <a:schemeClr val="tx2"/>
                </a:solidFill>
                <a:latin typeface="幼圆" pitchFamily="49" charset="-122"/>
                <a:ea typeface="幼圆" pitchFamily="49" charset="-122"/>
              </a:rPr>
              <a:t>用字符数组存放字符串</a:t>
            </a:r>
          </a:p>
          <a:p>
            <a:pPr marL="0" indent="0" eaLnBrk="1" hangingPunct="1">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  </a:t>
            </a:r>
            <a:r>
              <a:rPr kumimoji="1" lang="en-US" altLang="zh-CN" sz="2400" b="1" dirty="0">
                <a:solidFill>
                  <a:schemeClr val="tx2"/>
                </a:solidFill>
                <a:latin typeface="幼圆" pitchFamily="49" charset="-122"/>
                <a:ea typeface="幼圆" pitchFamily="49" charset="-122"/>
              </a:rPr>
              <a:t>char a[10]=</a:t>
            </a:r>
            <a:r>
              <a:rPr kumimoji="1" lang="en-US" altLang="zh-CN" sz="2400" b="1" dirty="0">
                <a:solidFill>
                  <a:schemeClr val="tx2"/>
                </a:solidFill>
                <a:latin typeface="Arial" pitchFamily="34" charset="0"/>
                <a:ea typeface="幼圆" pitchFamily="49" charset="-122"/>
              </a:rPr>
              <a:t>“</a:t>
            </a:r>
            <a:r>
              <a:rPr kumimoji="1" lang="en-US" altLang="zh-CN" sz="2400" b="1" dirty="0">
                <a:solidFill>
                  <a:schemeClr val="tx2"/>
                </a:solidFill>
                <a:latin typeface="幼圆" pitchFamily="49" charset="-122"/>
                <a:ea typeface="幼圆" pitchFamily="49" charset="-122"/>
              </a:rPr>
              <a:t>china</a:t>
            </a:r>
            <a:r>
              <a:rPr kumimoji="1" lang="en-US" altLang="zh-CN" sz="2400" b="1" dirty="0">
                <a:solidFill>
                  <a:schemeClr val="tx2"/>
                </a:solidFill>
                <a:latin typeface="Arial" pitchFamily="34" charset="0"/>
                <a:ea typeface="幼圆" pitchFamily="49" charset="-122"/>
              </a:rPr>
              <a:t>”</a:t>
            </a:r>
            <a:r>
              <a:rPr kumimoji="1" lang="en-US" altLang="zh-CN" sz="2400" b="1" dirty="0">
                <a:solidFill>
                  <a:schemeClr val="tx2"/>
                </a:solidFill>
                <a:latin typeface="幼圆" pitchFamily="49" charset="-122"/>
                <a:ea typeface="幼圆" pitchFamily="49" charset="-122"/>
              </a:rPr>
              <a:t>, b[4]=</a:t>
            </a:r>
            <a:r>
              <a:rPr kumimoji="1" lang="en-US" altLang="zh-CN" sz="2400" b="1" dirty="0">
                <a:solidFill>
                  <a:schemeClr val="tx2"/>
                </a:solidFill>
                <a:latin typeface="Arial" pitchFamily="34" charset="0"/>
                <a:ea typeface="幼圆" pitchFamily="49" charset="-122"/>
              </a:rPr>
              <a:t>“</a:t>
            </a:r>
            <a:r>
              <a:rPr kumimoji="1" lang="en-US" altLang="zh-CN" sz="2400" b="1" dirty="0">
                <a:solidFill>
                  <a:schemeClr val="tx2"/>
                </a:solidFill>
                <a:latin typeface="幼圆" pitchFamily="49" charset="-122"/>
                <a:ea typeface="幼圆" pitchFamily="49" charset="-122"/>
              </a:rPr>
              <a:t>1234</a:t>
            </a:r>
            <a:r>
              <a:rPr kumimoji="1" lang="en-US" altLang="zh-CN" sz="2400" b="1" dirty="0">
                <a:solidFill>
                  <a:schemeClr val="tx2"/>
                </a:solidFill>
                <a:latin typeface="Arial" pitchFamily="34" charset="0"/>
                <a:ea typeface="幼圆" pitchFamily="49" charset="-122"/>
              </a:rPr>
              <a:t>”</a:t>
            </a:r>
            <a:r>
              <a:rPr kumimoji="1" lang="en-US" altLang="zh-CN" sz="2400" b="1" dirty="0">
                <a:solidFill>
                  <a:schemeClr val="tx2"/>
                </a:solidFill>
                <a:latin typeface="幼圆" pitchFamily="49" charset="-122"/>
                <a:ea typeface="幼圆" pitchFamily="49" charset="-122"/>
              </a:rPr>
              <a:t>×</a:t>
            </a:r>
          </a:p>
          <a:p>
            <a:pPr marL="0" indent="0" eaLnBrk="1" hangingPunct="1">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a:t>
            </a:r>
            <a:r>
              <a:rPr kumimoji="1" lang="zh-CN" altLang="en-US" sz="2400" b="1" dirty="0">
                <a:solidFill>
                  <a:schemeClr val="tx2"/>
                </a:solidFill>
                <a:latin typeface="幼圆" pitchFamily="49" charset="-122"/>
                <a:ea typeface="幼圆" pitchFamily="49" charset="-122"/>
              </a:rPr>
              <a:t>串输入/输出函数</a:t>
            </a:r>
            <a:endParaRPr kumimoji="1" lang="en-US" altLang="zh-CN" sz="2400" b="1" dirty="0">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  gets(s) </a:t>
            </a:r>
            <a:r>
              <a:rPr kumimoji="1" lang="zh-CN" altLang="en-US" sz="2400" b="1" dirty="0">
                <a:solidFill>
                  <a:schemeClr val="tx2"/>
                </a:solidFill>
                <a:latin typeface="幼圆" pitchFamily="49" charset="-122"/>
                <a:ea typeface="幼圆" pitchFamily="49" charset="-122"/>
              </a:rPr>
              <a:t>从键盘上输入字符串并存入</a:t>
            </a:r>
            <a:r>
              <a:rPr kumimoji="1" lang="en-US" altLang="zh-CN" sz="2400" b="1" dirty="0">
                <a:solidFill>
                  <a:schemeClr val="tx2"/>
                </a:solidFill>
                <a:latin typeface="幼圆" pitchFamily="49" charset="-122"/>
                <a:ea typeface="幼圆" pitchFamily="49" charset="-122"/>
              </a:rPr>
              <a:t>s</a:t>
            </a:r>
            <a:r>
              <a:rPr kumimoji="1" lang="zh-CN" altLang="en-US" sz="2400" b="1" dirty="0">
                <a:solidFill>
                  <a:schemeClr val="tx2"/>
                </a:solidFill>
                <a:latin typeface="幼圆" pitchFamily="49" charset="-122"/>
                <a:ea typeface="幼圆" pitchFamily="49" charset="-122"/>
              </a:rPr>
              <a:t>数组</a:t>
            </a:r>
          </a:p>
          <a:p>
            <a:pPr marL="0" indent="0" eaLnBrk="1" hangingPunct="1">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  puts(s) </a:t>
            </a:r>
            <a:r>
              <a:rPr kumimoji="1" lang="zh-CN" altLang="en-US" sz="2400" b="1" dirty="0">
                <a:solidFill>
                  <a:schemeClr val="tx2"/>
                </a:solidFill>
                <a:latin typeface="幼圆" pitchFamily="49" charset="-122"/>
                <a:ea typeface="幼圆" pitchFamily="49" charset="-122"/>
              </a:rPr>
              <a:t>输出</a:t>
            </a:r>
            <a:r>
              <a:rPr kumimoji="1" lang="en-US" altLang="zh-CN" sz="2400" b="1" dirty="0">
                <a:solidFill>
                  <a:schemeClr val="tx2"/>
                </a:solidFill>
                <a:latin typeface="幼圆" pitchFamily="49" charset="-122"/>
                <a:ea typeface="幼圆" pitchFamily="49" charset="-122"/>
              </a:rPr>
              <a:t>s</a:t>
            </a:r>
            <a:r>
              <a:rPr kumimoji="1" lang="zh-CN" altLang="en-US" sz="2400" b="1" dirty="0">
                <a:solidFill>
                  <a:schemeClr val="tx2"/>
                </a:solidFill>
                <a:latin typeface="幼圆" pitchFamily="49" charset="-122"/>
                <a:ea typeface="幼圆" pitchFamily="49" charset="-122"/>
              </a:rPr>
              <a:t>串，并换行</a:t>
            </a:r>
          </a:p>
          <a:p>
            <a:pPr marL="0" indent="0" eaLnBrk="1" hangingPunct="1">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a:t>
            </a:r>
            <a:r>
              <a:rPr kumimoji="1" lang="zh-CN" altLang="en-US" sz="2400" b="1" dirty="0">
                <a:solidFill>
                  <a:srgbClr val="C00000"/>
                </a:solidFill>
                <a:latin typeface="幼圆" pitchFamily="49" charset="-122"/>
                <a:ea typeface="幼圆" pitchFamily="49" charset="-122"/>
              </a:rPr>
              <a:t>串的基本操作</a:t>
            </a:r>
          </a:p>
          <a:p>
            <a:pPr marL="0" indent="0" eaLnBrk="1" hangingPunct="1">
              <a:buClr>
                <a:schemeClr val="tx1"/>
              </a:buClr>
              <a:buSzPct val="60000"/>
              <a:buFont typeface="宋体" pitchFamily="2" charset="-122"/>
              <a:buNone/>
            </a:pPr>
            <a:r>
              <a:rPr kumimoji="1" lang="zh-CN" altLang="en-US" sz="2400" b="1" dirty="0">
                <a:solidFill>
                  <a:srgbClr val="C00000"/>
                </a:solidFill>
                <a:latin typeface="幼圆" pitchFamily="49" charset="-122"/>
                <a:ea typeface="幼圆" pitchFamily="49" charset="-122"/>
              </a:rPr>
              <a:t>  复制、连接、求长度、比较、反向、查找、合并、排序、求子串。</a:t>
            </a:r>
          </a:p>
        </p:txBody>
      </p:sp>
      <p:pic>
        <p:nvPicPr>
          <p:cNvPr id="89091" name="Picture 6" descr="C:\Users\xueqing\Desktop\比赛备课\比赛备课\054_1600x1200_zcool.com.c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2514600"/>
            <a:ext cx="266700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2" name="Rectangle 4"/>
          <p:cNvSpPr>
            <a:spLocks noChangeArrowheads="1"/>
          </p:cNvSpPr>
          <p:nvPr/>
        </p:nvSpPr>
        <p:spPr bwMode="auto">
          <a:xfrm>
            <a:off x="0" y="533400"/>
            <a:ext cx="34820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字符串</a:t>
            </a:r>
          </a:p>
        </p:txBody>
      </p:sp>
    </p:spTree>
    <p:extLst>
      <p:ext uri="{BB962C8B-B14F-4D97-AF65-F5344CB8AC3E}">
        <p14:creationId xmlns:p14="http://schemas.microsoft.com/office/powerpoint/2010/main" val="2077105597"/>
      </p:ext>
    </p:extLst>
  </p:cSld>
  <p:clrMapOvr>
    <a:masterClrMapping/>
  </p:clrMapOvr>
  <p:transition>
    <p:wedge/>
  </p:transition>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4" name="Rectangle 3"/>
          <p:cNvSpPr>
            <a:spLocks noGrp="1" noChangeArrowheads="1"/>
          </p:cNvSpPr>
          <p:nvPr>
            <p:ph type="body" sz="half" idx="1"/>
          </p:nvPr>
        </p:nvSpPr>
        <p:spPr>
          <a:xfrm>
            <a:off x="0" y="1543050"/>
            <a:ext cx="9144000" cy="4449763"/>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★字符串复制</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include </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stdio.h</a:t>
            </a:r>
            <a:r>
              <a:rPr kumimoji="1" lang="en-US" altLang="zh-CN" sz="2400" b="1">
                <a:solidFill>
                  <a:schemeClr val="tx2"/>
                </a:solidFill>
                <a:latin typeface="Arial" pitchFamily="34" charset="0"/>
                <a:ea typeface="幼圆" pitchFamily="49" charset="-122"/>
              </a:rPr>
              <a:t>”</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main( )         </a:t>
            </a:r>
            <a:r>
              <a:rPr kumimoji="1" lang="en-US" altLang="zh-CN" sz="2400" b="1">
                <a:solidFill>
                  <a:srgbClr val="FF0000"/>
                </a:solidFill>
                <a:latin typeface="幼圆" pitchFamily="49" charset="-122"/>
                <a:ea typeface="幼圆" pitchFamily="49" charset="-122"/>
                <a:sym typeface="Symbol" pitchFamily="18" charset="2"/>
              </a:rPr>
              <a:t>/*  b</a:t>
            </a:r>
            <a:r>
              <a:rPr kumimoji="1" lang="zh-CN" altLang="en-US" sz="2400" b="1">
                <a:solidFill>
                  <a:srgbClr val="FF0000"/>
                </a:solidFill>
                <a:latin typeface="幼圆" pitchFamily="49" charset="-122"/>
                <a:ea typeface="幼圆" pitchFamily="49" charset="-122"/>
                <a:sym typeface="Symbol" pitchFamily="18" charset="2"/>
              </a:rPr>
              <a:t>串复制到</a:t>
            </a:r>
            <a:r>
              <a:rPr kumimoji="1" lang="en-US" altLang="zh-CN" sz="2400" b="1">
                <a:solidFill>
                  <a:srgbClr val="FF0000"/>
                </a:solidFill>
                <a:latin typeface="幼圆" pitchFamily="49" charset="-122"/>
                <a:ea typeface="幼圆" pitchFamily="49" charset="-122"/>
                <a:sym typeface="Symbol" pitchFamily="18" charset="2"/>
              </a:rPr>
              <a:t>a</a:t>
            </a:r>
            <a:r>
              <a:rPr kumimoji="1" lang="zh-CN" altLang="en-US" sz="2400" b="1">
                <a:solidFill>
                  <a:srgbClr val="FF0000"/>
                </a:solidFill>
                <a:latin typeface="幼圆" pitchFamily="49" charset="-122"/>
                <a:ea typeface="幼圆" pitchFamily="49" charset="-122"/>
                <a:sym typeface="Symbol" pitchFamily="18" charset="2"/>
              </a:rPr>
              <a:t>串*/</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char b[ ]=</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china</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 a[10]=</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Beijing</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int k=0;</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while(b[k]!=</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\0</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  /*</a:t>
            </a:r>
            <a:r>
              <a:rPr kumimoji="1" lang="zh-CN" altLang="en-US" sz="2400" b="1">
                <a:solidFill>
                  <a:schemeClr val="tx2"/>
                </a:solidFill>
                <a:latin typeface="幼圆" pitchFamily="49" charset="-122"/>
                <a:ea typeface="幼圆" pitchFamily="49" charset="-122"/>
                <a:sym typeface="Symbol" pitchFamily="18" charset="2"/>
              </a:rPr>
              <a:t>依次复制</a:t>
            </a:r>
            <a:r>
              <a:rPr kumimoji="1" lang="en-US" altLang="zh-CN" sz="2400" b="1">
                <a:solidFill>
                  <a:schemeClr val="tx2"/>
                </a:solidFill>
                <a:latin typeface="幼圆" pitchFamily="49" charset="-122"/>
                <a:ea typeface="幼圆" pitchFamily="49" charset="-122"/>
                <a:sym typeface="Symbol" pitchFamily="18" charset="2"/>
              </a:rPr>
              <a:t>b[k]</a:t>
            </a:r>
            <a:r>
              <a:rPr kumimoji="1" lang="zh-CN" altLang="en-US" sz="2400" b="1">
                <a:solidFill>
                  <a:schemeClr val="tx2"/>
                </a:solidFill>
                <a:latin typeface="幼圆" pitchFamily="49" charset="-122"/>
                <a:ea typeface="幼圆" pitchFamily="49" charset="-122"/>
                <a:sym typeface="Symbol" pitchFamily="18" charset="2"/>
              </a:rPr>
              <a:t>到</a:t>
            </a:r>
            <a:r>
              <a:rPr kumimoji="1" lang="en-US" altLang="zh-CN" sz="2400" b="1">
                <a:solidFill>
                  <a:schemeClr val="tx2"/>
                </a:solidFill>
                <a:latin typeface="幼圆" pitchFamily="49" charset="-122"/>
                <a:ea typeface="幼圆" pitchFamily="49" charset="-122"/>
                <a:sym typeface="Symbol" pitchFamily="18" charset="2"/>
              </a:rPr>
              <a:t>a[k]*/</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{a[k]=b[k];  k++;}</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a[k]=</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\0</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puts(a);</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a:t>
            </a:r>
            <a:endParaRPr kumimoji="1" lang="zh-CN" altLang="en-US" sz="2400" b="1">
              <a:solidFill>
                <a:schemeClr val="tx2"/>
              </a:solidFill>
              <a:latin typeface="幼圆" pitchFamily="49" charset="-122"/>
              <a:ea typeface="幼圆" pitchFamily="49" charset="-122"/>
            </a:endParaRPr>
          </a:p>
        </p:txBody>
      </p:sp>
      <p:pic>
        <p:nvPicPr>
          <p:cNvPr id="90115" name="Picture 35" descr="C:\Users\xueqing\Desktop\比赛备课\比赛备课\003359C92-0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4572000"/>
            <a:ext cx="21336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0" y="533400"/>
            <a:ext cx="34820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字符串</a:t>
            </a:r>
          </a:p>
        </p:txBody>
      </p:sp>
    </p:spTree>
    <p:extLst>
      <p:ext uri="{BB962C8B-B14F-4D97-AF65-F5344CB8AC3E}">
        <p14:creationId xmlns:p14="http://schemas.microsoft.com/office/powerpoint/2010/main" val="1155984279"/>
      </p:ext>
    </p:extLst>
  </p:cSld>
  <p:clrMapOvr>
    <a:masterClrMapping/>
  </p:clrMapOvr>
  <p:transition>
    <p:wedge/>
  </p:transition>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8" name="Rectangle 3"/>
          <p:cNvSpPr>
            <a:spLocks noGrp="1" noChangeArrowheads="1"/>
          </p:cNvSpPr>
          <p:nvPr>
            <p:ph type="body" sz="half" idx="1"/>
          </p:nvPr>
        </p:nvSpPr>
        <p:spPr>
          <a:xfrm>
            <a:off x="0" y="1600200"/>
            <a:ext cx="9144000" cy="4006850"/>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include </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stdio.h</a:t>
            </a:r>
            <a:r>
              <a:rPr kumimoji="1" lang="en-US" altLang="zh-CN" sz="2400" b="1">
                <a:solidFill>
                  <a:schemeClr val="tx2"/>
                </a:solidFill>
                <a:latin typeface="Arial" pitchFamily="34" charset="0"/>
                <a:ea typeface="幼圆" pitchFamily="49" charset="-122"/>
              </a:rPr>
              <a:t>”</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main( )          </a:t>
            </a:r>
            <a:r>
              <a:rPr kumimoji="1" lang="en-US" altLang="zh-CN" sz="2400" b="1">
                <a:solidFill>
                  <a:srgbClr val="FF0000"/>
                </a:solidFill>
                <a:latin typeface="幼圆" pitchFamily="49" charset="-122"/>
                <a:ea typeface="幼圆" pitchFamily="49" charset="-122"/>
                <a:sym typeface="Symbol" pitchFamily="18" charset="2"/>
              </a:rPr>
              <a:t>/*  </a:t>
            </a:r>
            <a:r>
              <a:rPr kumimoji="1" lang="zh-CN" altLang="en-US" sz="2400" b="1">
                <a:solidFill>
                  <a:srgbClr val="FF0000"/>
                </a:solidFill>
                <a:latin typeface="幼圆" pitchFamily="49" charset="-122"/>
                <a:ea typeface="幼圆" pitchFamily="49" charset="-122"/>
                <a:sym typeface="Symbol" pitchFamily="18" charset="2"/>
              </a:rPr>
              <a:t>用指针法实现</a:t>
            </a:r>
            <a:r>
              <a:rPr kumimoji="1" lang="en-US" altLang="zh-CN" sz="2400" b="1">
                <a:solidFill>
                  <a:srgbClr val="FF0000"/>
                </a:solidFill>
                <a:latin typeface="幼圆" pitchFamily="49" charset="-122"/>
                <a:ea typeface="幼圆" pitchFamily="49" charset="-122"/>
                <a:sym typeface="Symbol" pitchFamily="18" charset="2"/>
              </a:rPr>
              <a:t>b</a:t>
            </a:r>
            <a:r>
              <a:rPr kumimoji="1" lang="zh-CN" altLang="en-US" sz="2400" b="1">
                <a:solidFill>
                  <a:srgbClr val="FF0000"/>
                </a:solidFill>
                <a:latin typeface="幼圆" pitchFamily="49" charset="-122"/>
                <a:ea typeface="幼圆" pitchFamily="49" charset="-122"/>
                <a:sym typeface="Symbol" pitchFamily="18" charset="2"/>
              </a:rPr>
              <a:t>串复制到</a:t>
            </a:r>
            <a:r>
              <a:rPr kumimoji="1" lang="en-US" altLang="zh-CN" sz="2400" b="1">
                <a:solidFill>
                  <a:srgbClr val="FF0000"/>
                </a:solidFill>
                <a:latin typeface="幼圆" pitchFamily="49" charset="-122"/>
                <a:ea typeface="幼圆" pitchFamily="49" charset="-122"/>
                <a:sym typeface="Symbol" pitchFamily="18" charset="2"/>
              </a:rPr>
              <a:t>a</a:t>
            </a:r>
            <a:r>
              <a:rPr kumimoji="1" lang="zh-CN" altLang="en-US" sz="2400" b="1">
                <a:solidFill>
                  <a:srgbClr val="FF0000"/>
                </a:solidFill>
                <a:latin typeface="幼圆" pitchFamily="49" charset="-122"/>
                <a:ea typeface="幼圆" pitchFamily="49" charset="-122"/>
                <a:sym typeface="Symbol" pitchFamily="18" charset="2"/>
              </a:rPr>
              <a:t>串*/</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char b[ ]=</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china</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 a[10]=</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Beijing</a:t>
            </a:r>
            <a:r>
              <a:rPr kumimoji="1" lang="en-US" altLang="zh-CN" sz="2400" b="1">
                <a:solidFill>
                  <a:schemeClr val="tx2"/>
                </a:solidFill>
                <a:latin typeface="Arial" pitchFamily="34" charset="0"/>
                <a:ea typeface="幼圆" pitchFamily="49" charset="-122"/>
                <a:sym typeface="Symbol" pitchFamily="18" charset="2"/>
              </a:rPr>
              <a:t>”</a:t>
            </a:r>
            <a:r>
              <a:rPr kumimoji="1" lang="zh-CN" altLang="en-US"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p=a,*q=b;</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while(*q!=</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\0</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      *p++=*q++;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*p=</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\0</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              /*</a:t>
            </a:r>
            <a:r>
              <a:rPr kumimoji="1" lang="zh-CN" altLang="en-US" sz="2400" b="1">
                <a:solidFill>
                  <a:schemeClr val="tx2"/>
                </a:solidFill>
                <a:latin typeface="幼圆" pitchFamily="49" charset="-122"/>
                <a:ea typeface="幼圆" pitchFamily="49" charset="-122"/>
                <a:sym typeface="Symbol" pitchFamily="18" charset="2"/>
              </a:rPr>
              <a:t>或 </a:t>
            </a:r>
            <a:r>
              <a:rPr kumimoji="1" lang="en-US" altLang="zh-CN" sz="2400" b="1">
                <a:solidFill>
                  <a:schemeClr val="tx2"/>
                </a:solidFill>
                <a:latin typeface="幼圆" pitchFamily="49" charset="-122"/>
                <a:ea typeface="幼圆" pitchFamily="49" charset="-122"/>
                <a:sym typeface="Symbol" pitchFamily="18" charset="2"/>
              </a:rPr>
              <a:t>while(*p++=*q++)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puts(a);</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a:t>
            </a:r>
          </a:p>
          <a:p>
            <a:pPr marL="0" indent="0" eaLnBrk="1" hangingPunct="1">
              <a:buClr>
                <a:schemeClr val="tx1"/>
              </a:buClr>
              <a:buSzPct val="60000"/>
              <a:buFont typeface="宋体" pitchFamily="2" charset="-122"/>
              <a:buNone/>
            </a:pPr>
            <a:endParaRPr kumimoji="1" lang="en-US" altLang="zh-CN" sz="2400" b="1">
              <a:solidFill>
                <a:schemeClr val="tx2"/>
              </a:solidFill>
              <a:latin typeface="幼圆" pitchFamily="49" charset="-122"/>
              <a:ea typeface="幼圆" pitchFamily="49" charset="-122"/>
              <a:sym typeface="Symbol" pitchFamily="18" charset="2"/>
            </a:endParaRPr>
          </a:p>
          <a:p>
            <a:pPr marL="0" indent="0" eaLnBrk="1" hangingPunct="1">
              <a:buClr>
                <a:schemeClr val="tx1"/>
              </a:buClr>
              <a:buSzPct val="60000"/>
              <a:buFont typeface="宋体" pitchFamily="2" charset="-122"/>
              <a:buNone/>
            </a:pPr>
            <a:endParaRPr kumimoji="1" lang="zh-CN" altLang="en-US" sz="2400" b="1">
              <a:solidFill>
                <a:schemeClr val="tx2"/>
              </a:solidFill>
              <a:latin typeface="幼圆" pitchFamily="49" charset="-122"/>
              <a:ea typeface="幼圆" pitchFamily="49" charset="-122"/>
              <a:sym typeface="Symbol" pitchFamily="18" charset="2"/>
            </a:endParaRPr>
          </a:p>
        </p:txBody>
      </p:sp>
      <p:pic>
        <p:nvPicPr>
          <p:cNvPr id="91139" name="Picture 5" descr="MMj02889280000[1]"/>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52400" y="4572000"/>
            <a:ext cx="1895475" cy="179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0" y="533400"/>
            <a:ext cx="34820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字符串</a:t>
            </a:r>
          </a:p>
        </p:txBody>
      </p:sp>
    </p:spTree>
    <p:extLst>
      <p:ext uri="{BB962C8B-B14F-4D97-AF65-F5344CB8AC3E}">
        <p14:creationId xmlns:p14="http://schemas.microsoft.com/office/powerpoint/2010/main" val="670108235"/>
      </p:ext>
    </p:extLst>
  </p:cSld>
  <p:clrMapOvr>
    <a:masterClrMapping/>
  </p:clrMapOvr>
  <p:transition>
    <p:wedge/>
  </p:transition>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6" name="Rectangle 3"/>
          <p:cNvSpPr>
            <a:spLocks noGrp="1" noChangeArrowheads="1"/>
          </p:cNvSpPr>
          <p:nvPr>
            <p:ph type="body" sz="half" idx="1"/>
          </p:nvPr>
        </p:nvSpPr>
        <p:spPr>
          <a:xfrm>
            <a:off x="0" y="1077913"/>
            <a:ext cx="9144000" cy="5780087"/>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★字符串连接</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strcat1(char a[20],char b[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 int k=0,j=0;</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while(a[k]!=</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k++; /*</a:t>
            </a:r>
            <a:r>
              <a:rPr kumimoji="1" lang="zh-CN" altLang="en-US" sz="2400" b="1">
                <a:solidFill>
                  <a:schemeClr val="tx2"/>
                </a:solidFill>
                <a:latin typeface="幼圆" pitchFamily="49" charset="-122"/>
                <a:ea typeface="幼圆" pitchFamily="49" charset="-122"/>
              </a:rPr>
              <a:t>找</a:t>
            </a:r>
            <a:r>
              <a:rPr kumimoji="1" lang="en-US" altLang="zh-CN" sz="2400" b="1">
                <a:solidFill>
                  <a:schemeClr val="tx2"/>
                </a:solidFill>
                <a:latin typeface="幼圆" pitchFamily="49" charset="-122"/>
                <a:ea typeface="幼圆" pitchFamily="49" charset="-122"/>
              </a:rPr>
              <a:t>a</a:t>
            </a:r>
            <a:r>
              <a:rPr kumimoji="1" lang="zh-CN" altLang="en-US" sz="2400" b="1">
                <a:solidFill>
                  <a:schemeClr val="tx2"/>
                </a:solidFill>
                <a:latin typeface="幼圆" pitchFamily="49" charset="-122"/>
                <a:ea typeface="幼圆" pitchFamily="49" charset="-122"/>
              </a:rPr>
              <a:t>串尾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while(b[j]!=</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 </a:t>
            </a:r>
            <a:r>
              <a:rPr kumimoji="1" lang="zh-CN" altLang="en-US" sz="2400" b="1">
                <a:solidFill>
                  <a:schemeClr val="tx2"/>
                </a:solidFill>
                <a:latin typeface="幼圆" pitchFamily="49" charset="-122"/>
                <a:ea typeface="幼圆" pitchFamily="49" charset="-122"/>
              </a:rPr>
              <a:t>将</a:t>
            </a:r>
            <a:r>
              <a:rPr kumimoji="1" lang="en-US" altLang="zh-CN" sz="2400" b="1">
                <a:solidFill>
                  <a:schemeClr val="tx2"/>
                </a:solidFill>
                <a:latin typeface="幼圆" pitchFamily="49" charset="-122"/>
                <a:ea typeface="幼圆" pitchFamily="49" charset="-122"/>
              </a:rPr>
              <a:t>b</a:t>
            </a:r>
            <a:r>
              <a:rPr kumimoji="1" lang="zh-CN" altLang="en-US" sz="2400" b="1">
                <a:solidFill>
                  <a:schemeClr val="tx2"/>
                </a:solidFill>
                <a:latin typeface="幼圆" pitchFamily="49" charset="-122"/>
                <a:ea typeface="幼圆" pitchFamily="49" charset="-122"/>
              </a:rPr>
              <a:t>串接在</a:t>
            </a:r>
            <a:r>
              <a:rPr kumimoji="1" lang="en-US" altLang="zh-CN" sz="2400" b="1">
                <a:solidFill>
                  <a:schemeClr val="tx2"/>
                </a:solidFill>
                <a:latin typeface="幼圆" pitchFamily="49" charset="-122"/>
                <a:ea typeface="幼圆" pitchFamily="49" charset="-122"/>
              </a:rPr>
              <a:t>a</a:t>
            </a:r>
            <a:r>
              <a:rPr kumimoji="1" lang="zh-CN" altLang="en-US" sz="2400" b="1">
                <a:solidFill>
                  <a:schemeClr val="tx2"/>
                </a:solidFill>
                <a:latin typeface="幼圆" pitchFamily="49" charset="-122"/>
                <a:ea typeface="幼圆" pitchFamily="49" charset="-122"/>
              </a:rPr>
              <a:t>串尾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a[k]=b[j];  k++;j++;}</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a[k]=</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a:t>
            </a:r>
          </a:p>
          <a:p>
            <a:pPr marL="0" indent="0" eaLnBrk="1" hangingPunct="1">
              <a:buClr>
                <a:schemeClr val="tx1"/>
              </a:buClr>
              <a:buSzPct val="60000"/>
              <a:buFont typeface="Wingdings" pitchFamily="2" charset="2"/>
              <a:buNone/>
            </a:pPr>
            <a:r>
              <a:rPr kumimoji="1" lang="en-US" altLang="zh-CN" sz="2400" b="1">
                <a:solidFill>
                  <a:schemeClr val="tx2"/>
                </a:solidFill>
                <a:latin typeface="幼圆" pitchFamily="49" charset="-122"/>
                <a:ea typeface="幼圆" pitchFamily="49" charset="-122"/>
              </a:rPr>
              <a:t>  } /*</a:t>
            </a:r>
            <a:r>
              <a:rPr kumimoji="1" lang="zh-CN" altLang="en-US" sz="2400" b="1">
                <a:solidFill>
                  <a:schemeClr val="tx2"/>
                </a:solidFill>
                <a:latin typeface="幼圆" pitchFamily="49" charset="-122"/>
                <a:ea typeface="幼圆" pitchFamily="49" charset="-122"/>
              </a:rPr>
              <a:t>用循环实现字符串连接*/</a:t>
            </a:r>
          </a:p>
          <a:p>
            <a:pPr marL="0" indent="0" eaLnBrk="1" hangingPunct="1">
              <a:buClr>
                <a:schemeClr val="tx1"/>
              </a:buClr>
              <a:buSzPct val="60000"/>
              <a:buFont typeface="宋体" pitchFamily="2" charset="-122"/>
              <a:buNone/>
            </a:pP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main( ) </a:t>
            </a: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char a[20]=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china</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,b[ ]=</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Beijing</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strcat1(a,b)</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printf(</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a+b=%s\n</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,a);</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a:t>
            </a:r>
          </a:p>
        </p:txBody>
      </p:sp>
      <p:pic>
        <p:nvPicPr>
          <p:cNvPr id="93187" name="Picture 4" descr="MCj0354339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05600" y="4419600"/>
            <a:ext cx="1585913"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0" y="533400"/>
            <a:ext cx="34820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字符串</a:t>
            </a:r>
          </a:p>
        </p:txBody>
      </p:sp>
    </p:spTree>
    <p:extLst>
      <p:ext uri="{BB962C8B-B14F-4D97-AF65-F5344CB8AC3E}">
        <p14:creationId xmlns:p14="http://schemas.microsoft.com/office/powerpoint/2010/main" val="2149283969"/>
      </p:ext>
    </p:extLst>
  </p:cSld>
  <p:clrMapOvr>
    <a:masterClrMapping/>
  </p:clrMapOvr>
  <p:transition>
    <p:wedge/>
  </p:transition>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0" name="Rectangle 3"/>
          <p:cNvSpPr>
            <a:spLocks noGrp="1" noChangeArrowheads="1"/>
          </p:cNvSpPr>
          <p:nvPr>
            <p:ph type="body" sz="half" idx="1"/>
          </p:nvPr>
        </p:nvSpPr>
        <p:spPr>
          <a:xfrm>
            <a:off x="0" y="1216025"/>
            <a:ext cx="9144000" cy="5337175"/>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a:t>
            </a:r>
            <a:r>
              <a:rPr kumimoji="1" lang="zh-CN" altLang="en-US" sz="2400" b="1">
                <a:solidFill>
                  <a:schemeClr val="tx2"/>
                </a:solidFill>
                <a:latin typeface="幼圆" pitchFamily="49" charset="-122"/>
                <a:ea typeface="幼圆" pitchFamily="49" charset="-122"/>
              </a:rPr>
              <a:t>用指针法实现字符串连接*/</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char *strcat1(char *a,char *q)</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 char *p=a;</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while(*p!=</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p++; /*</a:t>
            </a:r>
            <a:r>
              <a:rPr kumimoji="1" lang="zh-CN" altLang="en-US" sz="2400" b="1">
                <a:solidFill>
                  <a:schemeClr val="tx2"/>
                </a:solidFill>
                <a:latin typeface="幼圆" pitchFamily="49" charset="-122"/>
                <a:ea typeface="幼圆" pitchFamily="49" charset="-122"/>
              </a:rPr>
              <a:t>找</a:t>
            </a:r>
            <a:r>
              <a:rPr kumimoji="1" lang="en-US" altLang="zh-CN" sz="2400" b="1">
                <a:solidFill>
                  <a:schemeClr val="tx2"/>
                </a:solidFill>
                <a:latin typeface="幼圆" pitchFamily="49" charset="-122"/>
                <a:ea typeface="幼圆" pitchFamily="49" charset="-122"/>
              </a:rPr>
              <a:t>a</a:t>
            </a:r>
            <a:r>
              <a:rPr kumimoji="1" lang="zh-CN" altLang="en-US" sz="2400" b="1">
                <a:solidFill>
                  <a:schemeClr val="tx2"/>
                </a:solidFill>
                <a:latin typeface="幼圆" pitchFamily="49" charset="-122"/>
                <a:ea typeface="幼圆" pitchFamily="49" charset="-122"/>
              </a:rPr>
              <a:t>串尾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while(*q!=</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a:t>
            </a: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*p=*q;  p++;q++;} </a:t>
            </a:r>
            <a:r>
              <a:rPr kumimoji="1" lang="en-US" altLang="zh-CN" sz="2400" b="1">
                <a:solidFill>
                  <a:srgbClr val="FF0000"/>
                </a:solidFill>
                <a:latin typeface="幼圆" pitchFamily="49" charset="-122"/>
                <a:ea typeface="幼圆" pitchFamily="49" charset="-122"/>
              </a:rPr>
              <a:t>/* </a:t>
            </a:r>
            <a:r>
              <a:rPr kumimoji="1" lang="zh-CN" altLang="en-US" sz="2400" b="1">
                <a:solidFill>
                  <a:srgbClr val="FF0000"/>
                </a:solidFill>
                <a:latin typeface="幼圆" pitchFamily="49" charset="-122"/>
                <a:ea typeface="幼圆" pitchFamily="49" charset="-122"/>
              </a:rPr>
              <a:t>将</a:t>
            </a:r>
            <a:r>
              <a:rPr kumimoji="1" lang="en-US" altLang="zh-CN" sz="2400" b="1">
                <a:solidFill>
                  <a:srgbClr val="FF0000"/>
                </a:solidFill>
                <a:latin typeface="幼圆" pitchFamily="49" charset="-122"/>
                <a:ea typeface="幼圆" pitchFamily="49" charset="-122"/>
              </a:rPr>
              <a:t>b</a:t>
            </a:r>
            <a:r>
              <a:rPr kumimoji="1" lang="zh-CN" altLang="en-US" sz="2400" b="1">
                <a:solidFill>
                  <a:srgbClr val="FF0000"/>
                </a:solidFill>
                <a:latin typeface="幼圆" pitchFamily="49" charset="-122"/>
                <a:ea typeface="幼圆" pitchFamily="49" charset="-122"/>
              </a:rPr>
              <a:t>串接在</a:t>
            </a:r>
            <a:r>
              <a:rPr kumimoji="1" lang="en-US" altLang="zh-CN" sz="2400" b="1">
                <a:solidFill>
                  <a:srgbClr val="FF0000"/>
                </a:solidFill>
                <a:latin typeface="幼圆" pitchFamily="49" charset="-122"/>
                <a:ea typeface="幼圆" pitchFamily="49" charset="-122"/>
              </a:rPr>
              <a:t>a</a:t>
            </a:r>
            <a:r>
              <a:rPr kumimoji="1" lang="zh-CN" altLang="en-US" sz="2400" b="1">
                <a:solidFill>
                  <a:srgbClr val="FF0000"/>
                </a:solidFill>
                <a:latin typeface="幼圆" pitchFamily="49" charset="-122"/>
                <a:ea typeface="幼圆" pitchFamily="49" charset="-122"/>
              </a:rPr>
              <a:t>串尾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a:t>
            </a:r>
            <a:r>
              <a:rPr kumimoji="1" lang="en-US" altLang="zh-CN" sz="2400" b="1">
                <a:solidFill>
                  <a:srgbClr val="FF0000"/>
                </a:solidFill>
                <a:latin typeface="幼圆" pitchFamily="49" charset="-122"/>
                <a:ea typeface="幼圆" pitchFamily="49" charset="-122"/>
              </a:rPr>
              <a:t>/* </a:t>
            </a:r>
            <a:r>
              <a:rPr kumimoji="1" lang="zh-CN" altLang="en-US" sz="2400" b="1">
                <a:solidFill>
                  <a:srgbClr val="FF0000"/>
                </a:solidFill>
                <a:latin typeface="幼圆" pitchFamily="49" charset="-122"/>
                <a:ea typeface="幼圆" pitchFamily="49" charset="-122"/>
              </a:rPr>
              <a:t>或 </a:t>
            </a:r>
            <a:r>
              <a:rPr kumimoji="1" lang="en-US" altLang="zh-CN" sz="2400" b="1">
                <a:solidFill>
                  <a:srgbClr val="FF0000"/>
                </a:solidFill>
                <a:latin typeface="幼圆" pitchFamily="49" charset="-122"/>
                <a:ea typeface="幼圆" pitchFamily="49" charset="-122"/>
              </a:rPr>
              <a:t>while(</a:t>
            </a:r>
            <a:r>
              <a:rPr kumimoji="1" lang="zh-CN" altLang="en-US" sz="2400" b="1">
                <a:solidFill>
                  <a:srgbClr val="FF0000"/>
                </a:solidFill>
                <a:latin typeface="幼圆" pitchFamily="49" charset="-122"/>
                <a:ea typeface="幼圆" pitchFamily="49" charset="-122"/>
              </a:rPr>
              <a:t>*</a:t>
            </a:r>
            <a:r>
              <a:rPr kumimoji="1" lang="en-US" altLang="zh-CN" sz="2400" b="1">
                <a:solidFill>
                  <a:srgbClr val="FF0000"/>
                </a:solidFill>
                <a:latin typeface="幼圆" pitchFamily="49" charset="-122"/>
                <a:ea typeface="幼圆" pitchFamily="49" charset="-122"/>
              </a:rPr>
              <a:t>p++=*q++ )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return a;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main( )</a:t>
            </a:r>
            <a:endParaRPr kumimoji="1" lang="zh-CN" altLang="en-US"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char a[20]=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china</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,b[ ]=</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Beijing</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printf(</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a+b=%s\n</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strcat1(a,b)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a:t>
            </a:r>
          </a:p>
        </p:txBody>
      </p:sp>
      <p:pic>
        <p:nvPicPr>
          <p:cNvPr id="94211" name="Picture 7" descr="MCj0232133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15213" y="4724400"/>
            <a:ext cx="1728787" cy="177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0" y="533400"/>
            <a:ext cx="34820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字符串</a:t>
            </a:r>
          </a:p>
        </p:txBody>
      </p:sp>
    </p:spTree>
    <p:extLst>
      <p:ext uri="{BB962C8B-B14F-4D97-AF65-F5344CB8AC3E}">
        <p14:creationId xmlns:p14="http://schemas.microsoft.com/office/powerpoint/2010/main" val="2892536982"/>
      </p:ext>
    </p:extLst>
  </p:cSld>
  <p:clrMapOvr>
    <a:masterClrMapping/>
  </p:clrMapOvr>
  <p:transition>
    <p:wedge/>
  </p:transition>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4" name="Rectangle 3"/>
          <p:cNvSpPr>
            <a:spLocks noGrp="1" noChangeArrowheads="1"/>
          </p:cNvSpPr>
          <p:nvPr>
            <p:ph type="body" sz="half" idx="1"/>
          </p:nvPr>
        </p:nvSpPr>
        <p:spPr>
          <a:xfrm>
            <a:off x="0" y="1695450"/>
            <a:ext cx="9144000" cy="4400550"/>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★求字符串长度</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strlen1(char a[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 int  k=0;</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while(a[k]!=</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\0</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  k++;       </a:t>
            </a:r>
            <a:r>
              <a:rPr kumimoji="1" lang="en-US" altLang="zh-CN" sz="2400" b="1">
                <a:solidFill>
                  <a:schemeClr val="tx2"/>
                </a:solidFill>
                <a:latin typeface="幼圆" pitchFamily="49" charset="-122"/>
                <a:ea typeface="幼圆" pitchFamily="49" charset="-122"/>
              </a:rPr>
              <a:t>/*</a:t>
            </a:r>
            <a:r>
              <a:rPr kumimoji="1" lang="zh-CN" altLang="en-US" sz="2400" b="1">
                <a:solidFill>
                  <a:schemeClr val="tx2"/>
                </a:solidFill>
                <a:latin typeface="幼圆" pitchFamily="49" charset="-122"/>
                <a:ea typeface="幼圆" pitchFamily="49" charset="-122"/>
              </a:rPr>
              <a:t>用循环计数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return k;</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main(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{char a[20]=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china</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printf(</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%d\n</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strlen1(a));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a:t>
            </a:r>
          </a:p>
        </p:txBody>
      </p:sp>
      <p:pic>
        <p:nvPicPr>
          <p:cNvPr id="95235" name="Picture 28" descr="C:\Users\xueqing\Desktop\比赛备课\比赛备课\b_124369810168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400" y="3810000"/>
            <a:ext cx="2895600"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0" y="533400"/>
            <a:ext cx="34820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字符串</a:t>
            </a:r>
          </a:p>
        </p:txBody>
      </p:sp>
    </p:spTree>
    <p:extLst>
      <p:ext uri="{BB962C8B-B14F-4D97-AF65-F5344CB8AC3E}">
        <p14:creationId xmlns:p14="http://schemas.microsoft.com/office/powerpoint/2010/main" val="689961982"/>
      </p:ext>
    </p:extLst>
  </p:cSld>
  <p:clrMapOvr>
    <a:masterClrMapping/>
  </p:clrMapOvr>
  <p:transition>
    <p:wedge/>
  </p:transition>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8" name="Rectangle 3"/>
          <p:cNvSpPr>
            <a:spLocks noGrp="1" noChangeArrowheads="1"/>
          </p:cNvSpPr>
          <p:nvPr>
            <p:ph type="body" sz="half" idx="1"/>
          </p:nvPr>
        </p:nvSpPr>
        <p:spPr>
          <a:xfrm>
            <a:off x="0" y="1466850"/>
            <a:ext cx="9144000" cy="4449763"/>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strlen1(char *s )          /* </a:t>
            </a:r>
            <a:r>
              <a:rPr kumimoji="1" lang="zh-CN" altLang="en-US" sz="2400" b="1">
                <a:solidFill>
                  <a:schemeClr val="tx2"/>
                </a:solidFill>
                <a:latin typeface="幼圆" pitchFamily="49" charset="-122"/>
                <a:ea typeface="幼圆" pitchFamily="49" charset="-122"/>
              </a:rPr>
              <a:t>指针法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 char *p=s;</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while(*p!=</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p++;</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return p-s;           /*s</a:t>
            </a:r>
            <a:r>
              <a:rPr kumimoji="1" lang="zh-CN" altLang="en-US" sz="2400" b="1">
                <a:solidFill>
                  <a:schemeClr val="tx2"/>
                </a:solidFill>
                <a:latin typeface="幼圆" pitchFamily="49" charset="-122"/>
                <a:ea typeface="幼圆" pitchFamily="49" charset="-122"/>
              </a:rPr>
              <a:t>串长度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main(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{char a[20]=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china</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rPr>
              <a:t>printf(</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%d\n</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sym typeface="Symbol" pitchFamily="18" charset="2"/>
              </a:rPr>
              <a:t>strlen1(a)</a:t>
            </a:r>
            <a:r>
              <a:rPr kumimoji="1" lang="en-US" altLang="zh-CN" sz="2400" b="1">
                <a:solidFill>
                  <a:schemeClr val="tx2"/>
                </a:solidFill>
                <a:latin typeface="幼圆" pitchFamily="49" charset="-122"/>
                <a:ea typeface="幼圆" pitchFamily="49" charset="-122"/>
              </a:rPr>
              <a:t>);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a:t>
            </a:r>
          </a:p>
        </p:txBody>
      </p:sp>
      <p:sp>
        <p:nvSpPr>
          <p:cNvPr id="96259" name="Freeform 179"/>
          <p:cNvSpPr>
            <a:spLocks/>
          </p:cNvSpPr>
          <p:nvPr/>
        </p:nvSpPr>
        <p:spPr bwMode="auto">
          <a:xfrm>
            <a:off x="7467600" y="3048000"/>
            <a:ext cx="938213" cy="919163"/>
          </a:xfrm>
          <a:custGeom>
            <a:avLst/>
            <a:gdLst>
              <a:gd name="T0" fmla="*/ 2147483646 w 591"/>
              <a:gd name="T1" fmla="*/ 2147483646 h 579"/>
              <a:gd name="T2" fmla="*/ 2147483646 w 591"/>
              <a:gd name="T3" fmla="*/ 2147483646 h 579"/>
              <a:gd name="T4" fmla="*/ 2147483646 w 591"/>
              <a:gd name="T5" fmla="*/ 2147483646 h 579"/>
              <a:gd name="T6" fmla="*/ 2147483646 w 591"/>
              <a:gd name="T7" fmla="*/ 2147483646 h 579"/>
              <a:gd name="T8" fmla="*/ 2147483646 w 591"/>
              <a:gd name="T9" fmla="*/ 2147483646 h 579"/>
              <a:gd name="T10" fmla="*/ 2147483646 w 591"/>
              <a:gd name="T11" fmla="*/ 2147483646 h 579"/>
              <a:gd name="T12" fmla="*/ 2147483646 w 591"/>
              <a:gd name="T13" fmla="*/ 2147483646 h 579"/>
              <a:gd name="T14" fmla="*/ 2147483646 w 591"/>
              <a:gd name="T15" fmla="*/ 2147483646 h 579"/>
              <a:gd name="T16" fmla="*/ 2147483646 w 591"/>
              <a:gd name="T17" fmla="*/ 2147483646 h 579"/>
              <a:gd name="T18" fmla="*/ 2147483646 w 591"/>
              <a:gd name="T19" fmla="*/ 2147483646 h 579"/>
              <a:gd name="T20" fmla="*/ 2147483646 w 591"/>
              <a:gd name="T21" fmla="*/ 2147483646 h 579"/>
              <a:gd name="T22" fmla="*/ 2147483646 w 591"/>
              <a:gd name="T23" fmla="*/ 2147483646 h 579"/>
              <a:gd name="T24" fmla="*/ 2147483646 w 591"/>
              <a:gd name="T25" fmla="*/ 2147483646 h 579"/>
              <a:gd name="T26" fmla="*/ 2147483646 w 591"/>
              <a:gd name="T27" fmla="*/ 2147483646 h 579"/>
              <a:gd name="T28" fmla="*/ 2147483646 w 591"/>
              <a:gd name="T29" fmla="*/ 2147483646 h 579"/>
              <a:gd name="T30" fmla="*/ 2147483646 w 591"/>
              <a:gd name="T31" fmla="*/ 2147483646 h 579"/>
              <a:gd name="T32" fmla="*/ 2147483646 w 591"/>
              <a:gd name="T33" fmla="*/ 2147483646 h 579"/>
              <a:gd name="T34" fmla="*/ 2147483646 w 591"/>
              <a:gd name="T35" fmla="*/ 2147483646 h 579"/>
              <a:gd name="T36" fmla="*/ 2147483646 w 591"/>
              <a:gd name="T37" fmla="*/ 2147483646 h 579"/>
              <a:gd name="T38" fmla="*/ 2147483646 w 591"/>
              <a:gd name="T39" fmla="*/ 2147483646 h 579"/>
              <a:gd name="T40" fmla="*/ 2147483646 w 591"/>
              <a:gd name="T41" fmla="*/ 2147483646 h 579"/>
              <a:gd name="T42" fmla="*/ 2147483646 w 591"/>
              <a:gd name="T43" fmla="*/ 2147483646 h 579"/>
              <a:gd name="T44" fmla="*/ 2147483646 w 591"/>
              <a:gd name="T45" fmla="*/ 2147483646 h 579"/>
              <a:gd name="T46" fmla="*/ 2147483646 w 591"/>
              <a:gd name="T47" fmla="*/ 2147483646 h 579"/>
              <a:gd name="T48" fmla="*/ 2147483646 w 591"/>
              <a:gd name="T49" fmla="*/ 2147483646 h 579"/>
              <a:gd name="T50" fmla="*/ 2147483646 w 591"/>
              <a:gd name="T51" fmla="*/ 2147483646 h 579"/>
              <a:gd name="T52" fmla="*/ 2147483646 w 591"/>
              <a:gd name="T53" fmla="*/ 2147483646 h 579"/>
              <a:gd name="T54" fmla="*/ 2147483646 w 591"/>
              <a:gd name="T55" fmla="*/ 2147483646 h 579"/>
              <a:gd name="T56" fmla="*/ 2147483646 w 591"/>
              <a:gd name="T57" fmla="*/ 2147483646 h 579"/>
              <a:gd name="T58" fmla="*/ 2147483646 w 591"/>
              <a:gd name="T59" fmla="*/ 2147483646 h 579"/>
              <a:gd name="T60" fmla="*/ 2147483646 w 591"/>
              <a:gd name="T61" fmla="*/ 2147483646 h 579"/>
              <a:gd name="T62" fmla="*/ 2147483646 w 591"/>
              <a:gd name="T63" fmla="*/ 2147483646 h 579"/>
              <a:gd name="T64" fmla="*/ 2147483646 w 591"/>
              <a:gd name="T65" fmla="*/ 2147483646 h 579"/>
              <a:gd name="T66" fmla="*/ 2147483646 w 591"/>
              <a:gd name="T67" fmla="*/ 2147483646 h 579"/>
              <a:gd name="T68" fmla="*/ 2147483646 w 591"/>
              <a:gd name="T69" fmla="*/ 2147483646 h 579"/>
              <a:gd name="T70" fmla="*/ 2147483646 w 591"/>
              <a:gd name="T71" fmla="*/ 2147483646 h 579"/>
              <a:gd name="T72" fmla="*/ 2147483646 w 591"/>
              <a:gd name="T73" fmla="*/ 2147483646 h 579"/>
              <a:gd name="T74" fmla="*/ 2147483646 w 591"/>
              <a:gd name="T75" fmla="*/ 2147483646 h 579"/>
              <a:gd name="T76" fmla="*/ 2147483646 w 591"/>
              <a:gd name="T77" fmla="*/ 2147483646 h 579"/>
              <a:gd name="T78" fmla="*/ 2147483646 w 591"/>
              <a:gd name="T79" fmla="*/ 2147483646 h 579"/>
              <a:gd name="T80" fmla="*/ 2147483646 w 591"/>
              <a:gd name="T81" fmla="*/ 2147483646 h 579"/>
              <a:gd name="T82" fmla="*/ 2147483646 w 591"/>
              <a:gd name="T83" fmla="*/ 2147483646 h 579"/>
              <a:gd name="T84" fmla="*/ 2147483646 w 591"/>
              <a:gd name="T85" fmla="*/ 2147483646 h 579"/>
              <a:gd name="T86" fmla="*/ 2147483646 w 591"/>
              <a:gd name="T87" fmla="*/ 2147483646 h 579"/>
              <a:gd name="T88" fmla="*/ 2147483646 w 591"/>
              <a:gd name="T89" fmla="*/ 2147483646 h 579"/>
              <a:gd name="T90" fmla="*/ 2147483646 w 591"/>
              <a:gd name="T91" fmla="*/ 2147483646 h 579"/>
              <a:gd name="T92" fmla="*/ 2147483646 w 591"/>
              <a:gd name="T93" fmla="*/ 2147483646 h 579"/>
              <a:gd name="T94" fmla="*/ 2147483646 w 591"/>
              <a:gd name="T95" fmla="*/ 0 h 579"/>
              <a:gd name="T96" fmla="*/ 2147483646 w 591"/>
              <a:gd name="T97" fmla="*/ 2147483646 h 579"/>
              <a:gd name="T98" fmla="*/ 2147483646 w 591"/>
              <a:gd name="T99" fmla="*/ 2147483646 h 579"/>
              <a:gd name="T100" fmla="*/ 2147483646 w 591"/>
              <a:gd name="T101" fmla="*/ 2147483646 h 579"/>
              <a:gd name="T102" fmla="*/ 2147483646 w 591"/>
              <a:gd name="T103" fmla="*/ 2147483646 h 579"/>
              <a:gd name="T104" fmla="*/ 2147483646 w 591"/>
              <a:gd name="T105" fmla="*/ 2147483646 h 579"/>
              <a:gd name="T106" fmla="*/ 2147483646 w 591"/>
              <a:gd name="T107" fmla="*/ 2147483646 h 579"/>
              <a:gd name="T108" fmla="*/ 2147483646 w 591"/>
              <a:gd name="T109" fmla="*/ 2147483646 h 579"/>
              <a:gd name="T110" fmla="*/ 2147483646 w 591"/>
              <a:gd name="T111" fmla="*/ 2147483646 h 579"/>
              <a:gd name="T112" fmla="*/ 0 w 591"/>
              <a:gd name="T113" fmla="*/ 2147483646 h 579"/>
              <a:gd name="T114" fmla="*/ 2147483646 w 591"/>
              <a:gd name="T115" fmla="*/ 2147483646 h 579"/>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91"/>
              <a:gd name="T175" fmla="*/ 0 h 579"/>
              <a:gd name="T176" fmla="*/ 591 w 591"/>
              <a:gd name="T177" fmla="*/ 579 h 579"/>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91" h="579">
                <a:moveTo>
                  <a:pt x="282" y="567"/>
                </a:moveTo>
                <a:lnTo>
                  <a:pt x="328" y="554"/>
                </a:lnTo>
                <a:lnTo>
                  <a:pt x="371" y="538"/>
                </a:lnTo>
                <a:lnTo>
                  <a:pt x="366" y="523"/>
                </a:lnTo>
                <a:lnTo>
                  <a:pt x="393" y="514"/>
                </a:lnTo>
                <a:lnTo>
                  <a:pt x="419" y="510"/>
                </a:lnTo>
                <a:lnTo>
                  <a:pt x="440" y="509"/>
                </a:lnTo>
                <a:lnTo>
                  <a:pt x="518" y="480"/>
                </a:lnTo>
                <a:lnTo>
                  <a:pt x="518" y="477"/>
                </a:lnTo>
                <a:lnTo>
                  <a:pt x="518" y="474"/>
                </a:lnTo>
                <a:lnTo>
                  <a:pt x="515" y="469"/>
                </a:lnTo>
                <a:lnTo>
                  <a:pt x="460" y="469"/>
                </a:lnTo>
                <a:lnTo>
                  <a:pt x="455" y="477"/>
                </a:lnTo>
                <a:lnTo>
                  <a:pt x="450" y="480"/>
                </a:lnTo>
                <a:lnTo>
                  <a:pt x="444" y="482"/>
                </a:lnTo>
                <a:lnTo>
                  <a:pt x="439" y="480"/>
                </a:lnTo>
                <a:lnTo>
                  <a:pt x="428" y="469"/>
                </a:lnTo>
                <a:lnTo>
                  <a:pt x="563" y="469"/>
                </a:lnTo>
                <a:lnTo>
                  <a:pt x="553" y="320"/>
                </a:lnTo>
                <a:lnTo>
                  <a:pt x="415" y="323"/>
                </a:lnTo>
                <a:lnTo>
                  <a:pt x="361" y="346"/>
                </a:lnTo>
                <a:lnTo>
                  <a:pt x="356" y="469"/>
                </a:lnTo>
                <a:lnTo>
                  <a:pt x="384" y="469"/>
                </a:lnTo>
                <a:lnTo>
                  <a:pt x="379" y="483"/>
                </a:lnTo>
                <a:lnTo>
                  <a:pt x="358" y="490"/>
                </a:lnTo>
                <a:lnTo>
                  <a:pt x="358" y="483"/>
                </a:lnTo>
                <a:lnTo>
                  <a:pt x="218" y="483"/>
                </a:lnTo>
                <a:lnTo>
                  <a:pt x="218" y="366"/>
                </a:lnTo>
                <a:lnTo>
                  <a:pt x="241" y="366"/>
                </a:lnTo>
                <a:lnTo>
                  <a:pt x="267" y="366"/>
                </a:lnTo>
                <a:lnTo>
                  <a:pt x="318" y="357"/>
                </a:lnTo>
                <a:lnTo>
                  <a:pt x="344" y="352"/>
                </a:lnTo>
                <a:lnTo>
                  <a:pt x="361" y="346"/>
                </a:lnTo>
                <a:lnTo>
                  <a:pt x="415" y="323"/>
                </a:lnTo>
                <a:lnTo>
                  <a:pt x="450" y="303"/>
                </a:lnTo>
                <a:lnTo>
                  <a:pt x="475" y="285"/>
                </a:lnTo>
                <a:lnTo>
                  <a:pt x="468" y="270"/>
                </a:lnTo>
                <a:lnTo>
                  <a:pt x="479" y="259"/>
                </a:lnTo>
                <a:lnTo>
                  <a:pt x="492" y="259"/>
                </a:lnTo>
                <a:lnTo>
                  <a:pt x="505" y="255"/>
                </a:lnTo>
                <a:lnTo>
                  <a:pt x="518" y="252"/>
                </a:lnTo>
                <a:lnTo>
                  <a:pt x="535" y="242"/>
                </a:lnTo>
                <a:lnTo>
                  <a:pt x="585" y="235"/>
                </a:lnTo>
                <a:lnTo>
                  <a:pt x="585" y="225"/>
                </a:lnTo>
                <a:lnTo>
                  <a:pt x="561" y="228"/>
                </a:lnTo>
                <a:lnTo>
                  <a:pt x="550" y="228"/>
                </a:lnTo>
                <a:lnTo>
                  <a:pt x="539" y="225"/>
                </a:lnTo>
                <a:lnTo>
                  <a:pt x="590" y="205"/>
                </a:lnTo>
                <a:lnTo>
                  <a:pt x="590" y="196"/>
                </a:lnTo>
                <a:lnTo>
                  <a:pt x="544" y="207"/>
                </a:lnTo>
                <a:lnTo>
                  <a:pt x="590" y="180"/>
                </a:lnTo>
                <a:lnTo>
                  <a:pt x="582" y="174"/>
                </a:lnTo>
                <a:lnTo>
                  <a:pt x="529" y="192"/>
                </a:lnTo>
                <a:lnTo>
                  <a:pt x="564" y="157"/>
                </a:lnTo>
                <a:lnTo>
                  <a:pt x="556" y="151"/>
                </a:lnTo>
                <a:lnTo>
                  <a:pt x="491" y="196"/>
                </a:lnTo>
                <a:lnTo>
                  <a:pt x="483" y="192"/>
                </a:lnTo>
                <a:lnTo>
                  <a:pt x="485" y="180"/>
                </a:lnTo>
                <a:lnTo>
                  <a:pt x="485" y="171"/>
                </a:lnTo>
                <a:lnTo>
                  <a:pt x="483" y="161"/>
                </a:lnTo>
                <a:lnTo>
                  <a:pt x="481" y="158"/>
                </a:lnTo>
                <a:lnTo>
                  <a:pt x="477" y="158"/>
                </a:lnTo>
                <a:lnTo>
                  <a:pt x="464" y="193"/>
                </a:lnTo>
                <a:lnTo>
                  <a:pt x="469" y="220"/>
                </a:lnTo>
                <a:lnTo>
                  <a:pt x="303" y="283"/>
                </a:lnTo>
                <a:lnTo>
                  <a:pt x="196" y="218"/>
                </a:lnTo>
                <a:lnTo>
                  <a:pt x="190" y="204"/>
                </a:lnTo>
                <a:lnTo>
                  <a:pt x="211" y="206"/>
                </a:lnTo>
                <a:lnTo>
                  <a:pt x="216" y="206"/>
                </a:lnTo>
                <a:lnTo>
                  <a:pt x="220" y="205"/>
                </a:lnTo>
                <a:lnTo>
                  <a:pt x="222" y="201"/>
                </a:lnTo>
                <a:lnTo>
                  <a:pt x="229" y="182"/>
                </a:lnTo>
                <a:lnTo>
                  <a:pt x="236" y="179"/>
                </a:lnTo>
                <a:lnTo>
                  <a:pt x="233" y="175"/>
                </a:lnTo>
                <a:lnTo>
                  <a:pt x="229" y="169"/>
                </a:lnTo>
                <a:lnTo>
                  <a:pt x="224" y="164"/>
                </a:lnTo>
                <a:lnTo>
                  <a:pt x="241" y="162"/>
                </a:lnTo>
                <a:lnTo>
                  <a:pt x="239" y="150"/>
                </a:lnTo>
                <a:lnTo>
                  <a:pt x="250" y="149"/>
                </a:lnTo>
                <a:lnTo>
                  <a:pt x="254" y="145"/>
                </a:lnTo>
                <a:lnTo>
                  <a:pt x="254" y="141"/>
                </a:lnTo>
                <a:lnTo>
                  <a:pt x="246" y="128"/>
                </a:lnTo>
                <a:lnTo>
                  <a:pt x="244" y="122"/>
                </a:lnTo>
                <a:lnTo>
                  <a:pt x="244" y="115"/>
                </a:lnTo>
                <a:lnTo>
                  <a:pt x="244" y="104"/>
                </a:lnTo>
                <a:lnTo>
                  <a:pt x="253" y="104"/>
                </a:lnTo>
                <a:lnTo>
                  <a:pt x="250" y="93"/>
                </a:lnTo>
                <a:lnTo>
                  <a:pt x="249" y="82"/>
                </a:lnTo>
                <a:lnTo>
                  <a:pt x="242" y="60"/>
                </a:lnTo>
                <a:lnTo>
                  <a:pt x="233" y="41"/>
                </a:lnTo>
                <a:lnTo>
                  <a:pt x="239" y="27"/>
                </a:lnTo>
                <a:lnTo>
                  <a:pt x="224" y="19"/>
                </a:lnTo>
                <a:lnTo>
                  <a:pt x="198" y="8"/>
                </a:lnTo>
                <a:lnTo>
                  <a:pt x="182" y="4"/>
                </a:lnTo>
                <a:lnTo>
                  <a:pt x="174" y="2"/>
                </a:lnTo>
                <a:lnTo>
                  <a:pt x="149" y="0"/>
                </a:lnTo>
                <a:lnTo>
                  <a:pt x="138" y="2"/>
                </a:lnTo>
                <a:lnTo>
                  <a:pt x="123" y="6"/>
                </a:lnTo>
                <a:lnTo>
                  <a:pt x="106" y="12"/>
                </a:lnTo>
                <a:lnTo>
                  <a:pt x="95" y="19"/>
                </a:lnTo>
                <a:lnTo>
                  <a:pt x="88" y="26"/>
                </a:lnTo>
                <a:lnTo>
                  <a:pt x="82" y="34"/>
                </a:lnTo>
                <a:lnTo>
                  <a:pt x="77" y="43"/>
                </a:lnTo>
                <a:lnTo>
                  <a:pt x="74" y="52"/>
                </a:lnTo>
                <a:lnTo>
                  <a:pt x="73" y="62"/>
                </a:lnTo>
                <a:lnTo>
                  <a:pt x="73" y="82"/>
                </a:lnTo>
                <a:lnTo>
                  <a:pt x="75" y="91"/>
                </a:lnTo>
                <a:lnTo>
                  <a:pt x="103" y="166"/>
                </a:lnTo>
                <a:lnTo>
                  <a:pt x="69" y="180"/>
                </a:lnTo>
                <a:lnTo>
                  <a:pt x="49" y="218"/>
                </a:lnTo>
                <a:lnTo>
                  <a:pt x="28" y="269"/>
                </a:lnTo>
                <a:lnTo>
                  <a:pt x="12" y="318"/>
                </a:lnTo>
                <a:lnTo>
                  <a:pt x="3" y="374"/>
                </a:lnTo>
                <a:lnTo>
                  <a:pt x="0" y="429"/>
                </a:lnTo>
                <a:lnTo>
                  <a:pt x="4" y="578"/>
                </a:lnTo>
                <a:lnTo>
                  <a:pt x="220" y="578"/>
                </a:lnTo>
                <a:lnTo>
                  <a:pt x="282" y="567"/>
                </a:lnTo>
              </a:path>
            </a:pathLst>
          </a:custGeom>
          <a:solidFill>
            <a:srgbClr val="0000FF"/>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zh-CN" altLang="en-US"/>
          </a:p>
        </p:txBody>
      </p:sp>
      <p:sp>
        <p:nvSpPr>
          <p:cNvPr id="5" name="Rectangle 4"/>
          <p:cNvSpPr>
            <a:spLocks noChangeArrowheads="1"/>
          </p:cNvSpPr>
          <p:nvPr/>
        </p:nvSpPr>
        <p:spPr bwMode="auto">
          <a:xfrm>
            <a:off x="0" y="533400"/>
            <a:ext cx="34820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字符串</a:t>
            </a:r>
          </a:p>
        </p:txBody>
      </p:sp>
    </p:spTree>
    <p:extLst>
      <p:ext uri="{BB962C8B-B14F-4D97-AF65-F5344CB8AC3E}">
        <p14:creationId xmlns:p14="http://schemas.microsoft.com/office/powerpoint/2010/main" val="519989142"/>
      </p:ext>
    </p:extLst>
  </p:cSld>
  <p:clrMapOvr>
    <a:masterClrMapping/>
  </p:clrMapOvr>
  <p:transition>
    <p:wedge/>
  </p:transition>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282" name="Rectangle 3"/>
          <p:cNvSpPr>
            <a:spLocks noGrp="1" noChangeArrowheads="1"/>
          </p:cNvSpPr>
          <p:nvPr>
            <p:ph type="body" sz="half" idx="1"/>
          </p:nvPr>
        </p:nvSpPr>
        <p:spPr>
          <a:xfrm>
            <a:off x="0" y="1390650"/>
            <a:ext cx="9144000" cy="4400550"/>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strlen1(char *s ) /* </a:t>
            </a:r>
            <a:r>
              <a:rPr kumimoji="1" lang="zh-CN" altLang="en-US" sz="2400" b="1">
                <a:solidFill>
                  <a:schemeClr val="tx2"/>
                </a:solidFill>
                <a:latin typeface="幼圆" pitchFamily="49" charset="-122"/>
                <a:ea typeface="幼圆" pitchFamily="49" charset="-122"/>
              </a:rPr>
              <a:t>递归法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 if(*s==</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return 0;</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else return  1+strlen1(s+1);</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main(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{char a[20]=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china</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int  k=0;</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k=strlen1(a);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rPr>
              <a:t>printf(</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%d\n</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k);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a:t>
            </a:r>
          </a:p>
        </p:txBody>
      </p:sp>
      <p:pic>
        <p:nvPicPr>
          <p:cNvPr id="97283" name="Picture 11" descr="C:\Users\xueqing\Desktop\比赛备课\比赛备课\23214610bF.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4572000"/>
            <a:ext cx="24384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0" y="533400"/>
            <a:ext cx="34820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字符串</a:t>
            </a:r>
          </a:p>
        </p:txBody>
      </p:sp>
    </p:spTree>
    <p:extLst>
      <p:ext uri="{BB962C8B-B14F-4D97-AF65-F5344CB8AC3E}">
        <p14:creationId xmlns:p14="http://schemas.microsoft.com/office/powerpoint/2010/main" val="673289385"/>
      </p:ext>
    </p:extLst>
  </p:cSld>
  <p:clrMapOvr>
    <a:masterClrMapping/>
  </p:clrMapOvr>
  <p:transition>
    <p:wedge/>
  </p:transition>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306" name="Rectangle 3"/>
          <p:cNvSpPr>
            <a:spLocks noGrp="1" noChangeArrowheads="1"/>
          </p:cNvSpPr>
          <p:nvPr>
            <p:ph type="body" sz="half" idx="1"/>
          </p:nvPr>
        </p:nvSpPr>
        <p:spPr>
          <a:xfrm>
            <a:off x="0" y="1077913"/>
            <a:ext cx="9144000" cy="5780087"/>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★字符串比较</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strcmp1(char a[ ],char b[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 int i=0;</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while(a[i]==b[i]&amp;&amp;a[i]!='\0'&amp;&amp;b[i]!='\0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i++;</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return  a[i]-b[i]; /* </a:t>
            </a:r>
            <a:r>
              <a:rPr kumimoji="1" lang="zh-CN" altLang="en-US" sz="2400" b="1">
                <a:solidFill>
                  <a:schemeClr val="tx2"/>
                </a:solidFill>
                <a:latin typeface="幼圆" pitchFamily="49" charset="-122"/>
                <a:ea typeface="幼圆" pitchFamily="49" charset="-122"/>
              </a:rPr>
              <a:t>不同字符的差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main( )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char a[20],b[20];  int k;</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gets(a);       gets(b);      k= strcmp1(a,b);</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if(k==0)      puts("a==b");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else if(k&gt;0) puts("a&gt;b");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else      puts("a&lt;b");</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p>
        </p:txBody>
      </p:sp>
      <p:pic>
        <p:nvPicPr>
          <p:cNvPr id="98307" name="Picture 5" descr="MCj0239195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15200" y="3589338"/>
            <a:ext cx="1546225" cy="139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0" y="533400"/>
            <a:ext cx="34820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字符串</a:t>
            </a:r>
          </a:p>
        </p:txBody>
      </p:sp>
    </p:spTree>
    <p:extLst>
      <p:ext uri="{BB962C8B-B14F-4D97-AF65-F5344CB8AC3E}">
        <p14:creationId xmlns:p14="http://schemas.microsoft.com/office/powerpoint/2010/main" val="4262417261"/>
      </p:ext>
    </p:extLst>
  </p:cSld>
  <p:clrMapOvr>
    <a:masterClrMapping/>
  </p:clrMapOvr>
  <p:transition>
    <p:wedge/>
  </p:transition>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30" name="Rectangle 3"/>
          <p:cNvSpPr>
            <a:spLocks noGrp="1" noChangeArrowheads="1"/>
          </p:cNvSpPr>
          <p:nvPr>
            <p:ph type="body" sz="half" idx="1"/>
          </p:nvPr>
        </p:nvSpPr>
        <p:spPr>
          <a:xfrm>
            <a:off x="0" y="990600"/>
            <a:ext cx="9144000" cy="5715000"/>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include </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stdio.h</a:t>
            </a:r>
            <a:r>
              <a:rPr kumimoji="1" lang="en-US" altLang="zh-CN" sz="2400" b="1">
                <a:solidFill>
                  <a:schemeClr val="tx2"/>
                </a:solidFill>
                <a:latin typeface="Arial" pitchFamily="34" charset="0"/>
                <a:ea typeface="幼圆" pitchFamily="49" charset="-122"/>
              </a:rPr>
              <a:t>”</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strcmp1(char *p, char *q) /* </a:t>
            </a:r>
            <a:r>
              <a:rPr kumimoji="1" lang="zh-CN" altLang="en-US" sz="2400" b="1">
                <a:solidFill>
                  <a:schemeClr val="tx2"/>
                </a:solidFill>
                <a:latin typeface="幼圆" pitchFamily="49" charset="-122"/>
                <a:ea typeface="幼圆" pitchFamily="49" charset="-122"/>
              </a:rPr>
              <a:t>指针法实现字符串比较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 int i=0;</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while(*p==*q&amp;&amp;*p!='\0'&amp;&amp;*q!='\0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{p++;q++;}</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return  *p-*q; /* </a:t>
            </a:r>
            <a:r>
              <a:rPr kumimoji="1" lang="zh-CN" altLang="en-US" sz="2400" b="1">
                <a:solidFill>
                  <a:schemeClr val="tx2"/>
                </a:solidFill>
                <a:latin typeface="幼圆" pitchFamily="49" charset="-122"/>
                <a:ea typeface="幼圆" pitchFamily="49" charset="-122"/>
              </a:rPr>
              <a:t>不同字符的差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main( )</a:t>
            </a:r>
            <a:endParaRPr kumimoji="1" lang="zh-CN" altLang="en-US"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char a[20],b[20];  int k;</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gets(a);       gets(b);    k=strcmp1(a,b);</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if(k==0)      puts("a==b");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else if(k&gt;0) puts("a&gt;b");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else      puts("a&lt;b");</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p>
        </p:txBody>
      </p:sp>
      <p:pic>
        <p:nvPicPr>
          <p:cNvPr id="99331" name="Picture 63" descr="C:\Users\xueqing\Desktop\比赛备课\比赛备课\1156939_122647073_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979058">
            <a:off x="6980238" y="3889375"/>
            <a:ext cx="1814512"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0" y="533400"/>
            <a:ext cx="34820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字符串</a:t>
            </a:r>
          </a:p>
        </p:txBody>
      </p:sp>
    </p:spTree>
    <p:extLst>
      <p:ext uri="{BB962C8B-B14F-4D97-AF65-F5344CB8AC3E}">
        <p14:creationId xmlns:p14="http://schemas.microsoft.com/office/powerpoint/2010/main" val="1075601702"/>
      </p:ext>
    </p:extLst>
  </p:cSld>
  <p:clrMapOvr>
    <a:masterClrMapping/>
  </p:clrMapOvr>
  <p:transition>
    <p:wedge/>
  </p:transition>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54" name="Rectangle 3"/>
          <p:cNvSpPr>
            <a:spLocks noGrp="1" noChangeArrowheads="1"/>
          </p:cNvSpPr>
          <p:nvPr>
            <p:ph type="body" sz="half" idx="1"/>
          </p:nvPr>
        </p:nvSpPr>
        <p:spPr>
          <a:xfrm>
            <a:off x="0" y="1143000"/>
            <a:ext cx="9144000" cy="5715000"/>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★字符串反向</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void revstr(char a[ ])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char c;    int s=0; p= strlen(a) -1;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while(s&lt;p) /* </a:t>
            </a:r>
            <a:r>
              <a:rPr kumimoji="1" lang="zh-CN" altLang="en-US" sz="2400" b="1">
                <a:solidFill>
                  <a:schemeClr val="tx2"/>
                </a:solidFill>
                <a:latin typeface="幼圆" pitchFamily="49" charset="-122"/>
                <a:ea typeface="幼圆" pitchFamily="49" charset="-122"/>
              </a:rPr>
              <a:t>对称位置字符交换位置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c=a[s]; a[s]=a[p];    a[p]=c;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s++;  p--;  } /* </a:t>
            </a:r>
            <a:r>
              <a:rPr kumimoji="1" lang="zh-CN" altLang="en-US" sz="2400" b="1">
                <a:solidFill>
                  <a:schemeClr val="tx2"/>
                </a:solidFill>
                <a:latin typeface="幼圆" pitchFamily="49" charset="-122"/>
                <a:ea typeface="幼圆" pitchFamily="49" charset="-122"/>
              </a:rPr>
              <a:t>下标</a:t>
            </a:r>
            <a:r>
              <a:rPr kumimoji="1" lang="en-US" altLang="zh-CN" sz="2400" b="1">
                <a:solidFill>
                  <a:schemeClr val="tx2"/>
                </a:solidFill>
                <a:latin typeface="幼圆" pitchFamily="49" charset="-122"/>
                <a:ea typeface="幼圆" pitchFamily="49" charset="-122"/>
              </a:rPr>
              <a:t>s</a:t>
            </a:r>
            <a:r>
              <a:rPr kumimoji="1" lang="zh-CN" altLang="en-US" sz="2400" b="1">
                <a:solidFill>
                  <a:schemeClr val="tx2"/>
                </a:solidFill>
                <a:latin typeface="幼圆" pitchFamily="49" charset="-122"/>
                <a:ea typeface="幼圆" pitchFamily="49" charset="-122"/>
              </a:rPr>
              <a:t>加1，下标</a:t>
            </a:r>
            <a:r>
              <a:rPr kumimoji="1" lang="en-US" altLang="zh-CN" sz="2400" b="1">
                <a:solidFill>
                  <a:schemeClr val="tx2"/>
                </a:solidFill>
                <a:latin typeface="幼圆" pitchFamily="49" charset="-122"/>
                <a:ea typeface="幼圆" pitchFamily="49" charset="-122"/>
              </a:rPr>
              <a:t>p</a:t>
            </a:r>
            <a:r>
              <a:rPr kumimoji="1" lang="zh-CN" altLang="en-US" sz="2400" b="1">
                <a:solidFill>
                  <a:schemeClr val="tx2"/>
                </a:solidFill>
                <a:latin typeface="幼圆" pitchFamily="49" charset="-122"/>
                <a:ea typeface="幼圆" pitchFamily="49" charset="-122"/>
              </a:rPr>
              <a:t>减1 */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main( )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{char str[80]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gets(str); /* </a:t>
            </a:r>
            <a:r>
              <a:rPr kumimoji="1" lang="zh-CN" altLang="en-US" sz="2400" b="1">
                <a:solidFill>
                  <a:schemeClr val="tx2"/>
                </a:solidFill>
                <a:latin typeface="幼圆" pitchFamily="49" charset="-122"/>
                <a:ea typeface="幼圆" pitchFamily="49" charset="-122"/>
              </a:rPr>
              <a:t>输入字符串到</a:t>
            </a:r>
            <a:r>
              <a:rPr kumimoji="1" lang="en-US" altLang="zh-CN" sz="2400" b="1">
                <a:solidFill>
                  <a:schemeClr val="tx2"/>
                </a:solidFill>
                <a:latin typeface="幼圆" pitchFamily="49" charset="-122"/>
                <a:ea typeface="幼圆" pitchFamily="49" charset="-122"/>
              </a:rPr>
              <a:t>str</a:t>
            </a:r>
            <a:r>
              <a:rPr kumimoji="1" lang="zh-CN" altLang="en-US" sz="2400" b="1">
                <a:solidFill>
                  <a:schemeClr val="tx2"/>
                </a:solidFill>
                <a:latin typeface="幼圆" pitchFamily="49" charset="-122"/>
                <a:ea typeface="幼圆" pitchFamily="49" charset="-122"/>
              </a:rPr>
              <a:t>数组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revstr(str); /* </a:t>
            </a:r>
            <a:r>
              <a:rPr kumimoji="1" lang="zh-CN" altLang="en-US" sz="2400" b="1">
                <a:solidFill>
                  <a:schemeClr val="tx2"/>
                </a:solidFill>
                <a:latin typeface="幼圆" pitchFamily="49" charset="-122"/>
                <a:ea typeface="幼圆" pitchFamily="49" charset="-122"/>
              </a:rPr>
              <a:t>调用</a:t>
            </a:r>
            <a:r>
              <a:rPr kumimoji="1" lang="en-US" altLang="zh-CN" sz="2400" b="1">
                <a:solidFill>
                  <a:schemeClr val="tx2"/>
                </a:solidFill>
                <a:latin typeface="幼圆" pitchFamily="49" charset="-122"/>
                <a:ea typeface="幼圆" pitchFamily="49" charset="-122"/>
              </a:rPr>
              <a:t> </a:t>
            </a:r>
            <a:r>
              <a:rPr kumimoji="1" lang="zh-CN" altLang="en-US" sz="2400" b="1">
                <a:solidFill>
                  <a:schemeClr val="tx2"/>
                </a:solidFill>
                <a:latin typeface="幼圆" pitchFamily="49" charset="-122"/>
                <a:ea typeface="幼圆" pitchFamily="49" charset="-122"/>
              </a:rPr>
              <a:t>函数实现字符串反向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puts(str); /* </a:t>
            </a:r>
            <a:r>
              <a:rPr kumimoji="1" lang="zh-CN" altLang="en-US" sz="2400" b="1">
                <a:solidFill>
                  <a:schemeClr val="tx2"/>
                </a:solidFill>
                <a:latin typeface="幼圆" pitchFamily="49" charset="-122"/>
                <a:ea typeface="幼圆" pitchFamily="49" charset="-122"/>
              </a:rPr>
              <a:t>输出反向后的字符串*/</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a:t>
            </a:r>
            <a:endParaRPr kumimoji="1" lang="zh-CN" altLang="en-US" sz="2400" b="1">
              <a:solidFill>
                <a:schemeClr val="tx2"/>
              </a:solidFill>
              <a:latin typeface="幼圆" pitchFamily="49" charset="-122"/>
              <a:ea typeface="幼圆" pitchFamily="49" charset="-122"/>
            </a:endParaRPr>
          </a:p>
        </p:txBody>
      </p:sp>
      <p:pic>
        <p:nvPicPr>
          <p:cNvPr id="100355" name="Picture 8" descr="C:\Users\xueqing\Desktop\比赛备课\比赛备课\b_125061485826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3505200"/>
            <a:ext cx="22860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0" y="533400"/>
            <a:ext cx="34820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字符串</a:t>
            </a:r>
          </a:p>
        </p:txBody>
      </p:sp>
    </p:spTree>
    <p:extLst>
      <p:ext uri="{BB962C8B-B14F-4D97-AF65-F5344CB8AC3E}">
        <p14:creationId xmlns:p14="http://schemas.microsoft.com/office/powerpoint/2010/main" val="2332361850"/>
      </p:ext>
    </p:extLst>
  </p:cSld>
  <p:clrMapOvr>
    <a:masterClrMapping/>
  </p:clrMapOvr>
  <p:transition>
    <p:wedge/>
  </p:transition>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02" name="Rectangle 3"/>
          <p:cNvSpPr>
            <a:spLocks noGrp="1" noChangeArrowheads="1"/>
          </p:cNvSpPr>
          <p:nvPr>
            <p:ph type="body" sz="half" idx="1"/>
          </p:nvPr>
        </p:nvSpPr>
        <p:spPr>
          <a:xfrm>
            <a:off x="0" y="1152525"/>
            <a:ext cx="9144000" cy="5705475"/>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void revstr(char *p) /* </a:t>
            </a:r>
            <a:r>
              <a:rPr kumimoji="1" lang="zh-CN" altLang="en-US" sz="2400" b="1">
                <a:solidFill>
                  <a:schemeClr val="tx2"/>
                </a:solidFill>
                <a:latin typeface="幼圆" pitchFamily="49" charset="-122"/>
                <a:ea typeface="幼圆" pitchFamily="49" charset="-122"/>
              </a:rPr>
              <a:t>指针法实现字符串反向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char c， *q= p+strlen(p) -1;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while(p&lt;q)                     /* </a:t>
            </a:r>
            <a:r>
              <a:rPr kumimoji="1" lang="zh-CN" altLang="en-US" sz="2400" b="1">
                <a:solidFill>
                  <a:schemeClr val="tx2"/>
                </a:solidFill>
                <a:latin typeface="幼圆" pitchFamily="49" charset="-122"/>
                <a:ea typeface="幼圆" pitchFamily="49" charset="-122"/>
              </a:rPr>
              <a:t>对称位置字符交换位置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c=*p; *p=*q;    *q=c;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  q--;  }                  /* p</a:t>
            </a:r>
            <a:r>
              <a:rPr kumimoji="1" lang="zh-CN" altLang="en-US" sz="2400" b="1">
                <a:solidFill>
                  <a:schemeClr val="tx2"/>
                </a:solidFill>
                <a:latin typeface="幼圆" pitchFamily="49" charset="-122"/>
                <a:ea typeface="幼圆" pitchFamily="49" charset="-122"/>
              </a:rPr>
              <a:t>加1，</a:t>
            </a:r>
            <a:r>
              <a:rPr kumimoji="1" lang="en-US" altLang="zh-CN" sz="2400" b="1">
                <a:solidFill>
                  <a:schemeClr val="tx2"/>
                </a:solidFill>
                <a:latin typeface="幼圆" pitchFamily="49" charset="-122"/>
                <a:ea typeface="幼圆" pitchFamily="49" charset="-122"/>
              </a:rPr>
              <a:t>q</a:t>
            </a:r>
            <a:r>
              <a:rPr kumimoji="1" lang="zh-CN" altLang="en-US" sz="2400" b="1">
                <a:solidFill>
                  <a:schemeClr val="tx2"/>
                </a:solidFill>
                <a:latin typeface="幼圆" pitchFamily="49" charset="-122"/>
                <a:ea typeface="幼圆" pitchFamily="49" charset="-122"/>
              </a:rPr>
              <a:t>减1 */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main( )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{char str[80]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gets(str);                    /* </a:t>
            </a:r>
            <a:r>
              <a:rPr kumimoji="1" lang="zh-CN" altLang="en-US" sz="2400" b="1">
                <a:solidFill>
                  <a:schemeClr val="tx2"/>
                </a:solidFill>
                <a:latin typeface="幼圆" pitchFamily="49" charset="-122"/>
                <a:ea typeface="幼圆" pitchFamily="49" charset="-122"/>
              </a:rPr>
              <a:t>输入字符串到</a:t>
            </a:r>
            <a:r>
              <a:rPr kumimoji="1" lang="en-US" altLang="zh-CN" sz="2400" b="1">
                <a:solidFill>
                  <a:schemeClr val="tx2"/>
                </a:solidFill>
                <a:latin typeface="幼圆" pitchFamily="49" charset="-122"/>
                <a:ea typeface="幼圆" pitchFamily="49" charset="-122"/>
              </a:rPr>
              <a:t>str</a:t>
            </a:r>
            <a:r>
              <a:rPr kumimoji="1" lang="zh-CN" altLang="en-US" sz="2400" b="1">
                <a:solidFill>
                  <a:schemeClr val="tx2"/>
                </a:solidFill>
                <a:latin typeface="幼圆" pitchFamily="49" charset="-122"/>
                <a:ea typeface="幼圆" pitchFamily="49" charset="-122"/>
              </a:rPr>
              <a:t>数组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revstr(str);               /* </a:t>
            </a:r>
            <a:r>
              <a:rPr kumimoji="1" lang="zh-CN" altLang="en-US" sz="2400" b="1">
                <a:solidFill>
                  <a:schemeClr val="tx2"/>
                </a:solidFill>
                <a:latin typeface="幼圆" pitchFamily="49" charset="-122"/>
                <a:ea typeface="幼圆" pitchFamily="49" charset="-122"/>
              </a:rPr>
              <a:t>调用</a:t>
            </a:r>
            <a:r>
              <a:rPr kumimoji="1" lang="en-US" altLang="zh-CN" sz="2400" b="1">
                <a:solidFill>
                  <a:schemeClr val="tx2"/>
                </a:solidFill>
                <a:latin typeface="幼圆" pitchFamily="49" charset="-122"/>
                <a:ea typeface="幼圆" pitchFamily="49" charset="-122"/>
              </a:rPr>
              <a:t> </a:t>
            </a:r>
            <a:r>
              <a:rPr kumimoji="1" lang="zh-CN" altLang="en-US" sz="2400" b="1">
                <a:solidFill>
                  <a:schemeClr val="tx2"/>
                </a:solidFill>
                <a:latin typeface="幼圆" pitchFamily="49" charset="-122"/>
                <a:ea typeface="幼圆" pitchFamily="49" charset="-122"/>
              </a:rPr>
              <a:t>函数实现字符串反向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puts(str);                     /* </a:t>
            </a:r>
            <a:r>
              <a:rPr kumimoji="1" lang="zh-CN" altLang="en-US" sz="2400" b="1">
                <a:solidFill>
                  <a:schemeClr val="tx2"/>
                </a:solidFill>
                <a:latin typeface="幼圆" pitchFamily="49" charset="-122"/>
                <a:ea typeface="幼圆" pitchFamily="49" charset="-122"/>
              </a:rPr>
              <a:t>输出反向后的字符串*/</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a:t>
            </a:r>
            <a:endParaRPr kumimoji="1" lang="zh-CN" altLang="en-US" sz="2400" b="1">
              <a:solidFill>
                <a:schemeClr val="tx2"/>
              </a:solidFill>
              <a:latin typeface="幼圆" pitchFamily="49" charset="-122"/>
              <a:ea typeface="幼圆" pitchFamily="49" charset="-122"/>
            </a:endParaRPr>
          </a:p>
        </p:txBody>
      </p:sp>
      <p:pic>
        <p:nvPicPr>
          <p:cNvPr id="102403" name="Picture 34" descr="C:\Users\xueqing\Desktop\比赛备课\比赛备课\23214610bF.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3429000"/>
            <a:ext cx="2582863" cy="151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4" name="Rectangle 4"/>
          <p:cNvSpPr>
            <a:spLocks noChangeArrowheads="1"/>
          </p:cNvSpPr>
          <p:nvPr/>
        </p:nvSpPr>
        <p:spPr bwMode="auto">
          <a:xfrm>
            <a:off x="2971800" y="457200"/>
            <a:ext cx="33416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b="1">
                <a:solidFill>
                  <a:schemeClr val="bg1"/>
                </a:solidFill>
                <a:ea typeface="幼圆" pitchFamily="49" charset="-122"/>
              </a:rPr>
              <a:t>语法要点</a:t>
            </a:r>
            <a:r>
              <a:rPr lang="en-US" altLang="zh-CN" b="1">
                <a:solidFill>
                  <a:schemeClr val="bg1"/>
                </a:solidFill>
                <a:ea typeface="幼圆" pitchFamily="49" charset="-122"/>
              </a:rPr>
              <a:t>--</a:t>
            </a:r>
            <a:r>
              <a:rPr lang="zh-CN" altLang="en-US" b="1">
                <a:solidFill>
                  <a:schemeClr val="bg1"/>
                </a:solidFill>
                <a:ea typeface="幼圆" pitchFamily="49" charset="-122"/>
              </a:rPr>
              <a:t>字符串</a:t>
            </a:r>
          </a:p>
        </p:txBody>
      </p:sp>
    </p:spTree>
    <p:extLst>
      <p:ext uri="{BB962C8B-B14F-4D97-AF65-F5344CB8AC3E}">
        <p14:creationId xmlns:p14="http://schemas.microsoft.com/office/powerpoint/2010/main" val="591792021"/>
      </p:ext>
    </p:extLst>
  </p:cSld>
  <p:clrMapOvr>
    <a:masterClrMapping/>
  </p:clrMapOvr>
  <p:transition>
    <p:wedge/>
  </p:transition>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3"/>
          <p:cNvSpPr>
            <a:spLocks noGrp="1" noChangeArrowheads="1"/>
          </p:cNvSpPr>
          <p:nvPr>
            <p:ph type="body" sz="half" idx="1"/>
          </p:nvPr>
        </p:nvSpPr>
        <p:spPr>
          <a:xfrm>
            <a:off x="0" y="1143000"/>
            <a:ext cx="9144000" cy="5715000"/>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★两个升序字符串合并</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include </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stdio.h</a:t>
            </a:r>
            <a:r>
              <a:rPr kumimoji="1" lang="en-US" altLang="zh-CN" sz="2400" b="1">
                <a:solidFill>
                  <a:schemeClr val="tx2"/>
                </a:solidFill>
                <a:latin typeface="Arial" pitchFamily="34" charset="0"/>
                <a:ea typeface="幼圆" pitchFamily="49" charset="-122"/>
              </a:rPr>
              <a:t>”</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main( )</a:t>
            </a:r>
            <a:endParaRPr kumimoji="1" lang="zh-CN" altLang="en-US"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char s1[80],s2[80],s0[80];  int i,j,n;</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gets(s1);       gets(s2);</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for(i=0,j=0,n=0; s1[i]!=</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&amp;&amp;s2[j]!=</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 </a:t>
            </a:r>
            <a:r>
              <a:rPr kumimoji="1" lang="en-US" altLang="zh-CN" sz="2000" b="1">
                <a:solidFill>
                  <a:schemeClr val="tx2"/>
                </a:solidFill>
                <a:latin typeface="幼圆" pitchFamily="49" charset="-122"/>
                <a:ea typeface="幼圆" pitchFamily="49" charset="-122"/>
              </a:rPr>
              <a:t>/*</a:t>
            </a:r>
            <a:r>
              <a:rPr kumimoji="1" lang="zh-CN" altLang="en-US" sz="2000" b="1">
                <a:solidFill>
                  <a:schemeClr val="tx2"/>
                </a:solidFill>
                <a:latin typeface="幼圆" pitchFamily="49" charset="-122"/>
                <a:ea typeface="幼圆" pitchFamily="49" charset="-122"/>
              </a:rPr>
              <a:t>串合并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if(s1[i] &lt; s2[j]) s0[n++] = s1[i ++]; </a:t>
            </a:r>
            <a:r>
              <a:rPr kumimoji="1" lang="en-US" altLang="zh-CN" sz="2000" b="1">
                <a:solidFill>
                  <a:schemeClr val="tx2"/>
                </a:solidFill>
                <a:latin typeface="幼圆" pitchFamily="49" charset="-122"/>
                <a:ea typeface="幼圆" pitchFamily="49" charset="-122"/>
              </a:rPr>
              <a:t>/*</a:t>
            </a:r>
            <a:r>
              <a:rPr kumimoji="1" lang="zh-CN" altLang="en-US" sz="2000" b="1">
                <a:solidFill>
                  <a:schemeClr val="tx2"/>
                </a:solidFill>
                <a:latin typeface="幼圆" pitchFamily="49" charset="-122"/>
                <a:ea typeface="幼圆" pitchFamily="49" charset="-122"/>
              </a:rPr>
              <a:t>将较小字符存入</a:t>
            </a:r>
            <a:r>
              <a:rPr kumimoji="1" lang="en-US" altLang="zh-CN" sz="2000" b="1">
                <a:solidFill>
                  <a:schemeClr val="tx2"/>
                </a:solidFill>
                <a:latin typeface="幼圆" pitchFamily="49" charset="-122"/>
                <a:ea typeface="幼圆" pitchFamily="49" charset="-122"/>
              </a:rPr>
              <a:t>s0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else                   s0[n++] = s2[j++];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while(s1[i]!=</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s0[n++]= s1[i++]; </a:t>
            </a:r>
            <a:r>
              <a:rPr kumimoji="1" lang="en-US" altLang="zh-CN" sz="2000" b="1">
                <a:solidFill>
                  <a:schemeClr val="tx2"/>
                </a:solidFill>
                <a:latin typeface="幼圆" pitchFamily="49" charset="-122"/>
                <a:ea typeface="幼圆" pitchFamily="49" charset="-122"/>
              </a:rPr>
              <a:t>/*</a:t>
            </a:r>
            <a:r>
              <a:rPr kumimoji="1" lang="zh-CN" altLang="en-US" sz="2000" b="1">
                <a:solidFill>
                  <a:schemeClr val="tx2"/>
                </a:solidFill>
                <a:latin typeface="幼圆" pitchFamily="49" charset="-122"/>
                <a:ea typeface="幼圆" pitchFamily="49" charset="-122"/>
              </a:rPr>
              <a:t>继续处理</a:t>
            </a:r>
            <a:r>
              <a:rPr kumimoji="1" lang="en-US" altLang="zh-CN" sz="2000" b="1">
                <a:solidFill>
                  <a:schemeClr val="tx2"/>
                </a:solidFill>
                <a:latin typeface="幼圆" pitchFamily="49" charset="-122"/>
                <a:ea typeface="幼圆" pitchFamily="49" charset="-122"/>
              </a:rPr>
              <a:t>s1</a:t>
            </a:r>
            <a:r>
              <a:rPr kumimoji="1" lang="zh-CN" altLang="en-US" sz="2000" b="1">
                <a:solidFill>
                  <a:schemeClr val="tx2"/>
                </a:solidFill>
                <a:latin typeface="幼圆" pitchFamily="49" charset="-122"/>
                <a:ea typeface="幼圆" pitchFamily="49" charset="-122"/>
              </a:rPr>
              <a:t>剩余字符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while(s2[j]!=</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s0[n++]= s2[j++]; </a:t>
            </a:r>
            <a:r>
              <a:rPr kumimoji="1" lang="en-US" altLang="zh-CN" sz="2000" b="1">
                <a:solidFill>
                  <a:schemeClr val="tx2"/>
                </a:solidFill>
                <a:latin typeface="幼圆" pitchFamily="49" charset="-122"/>
                <a:ea typeface="幼圆" pitchFamily="49" charset="-122"/>
              </a:rPr>
              <a:t>/*</a:t>
            </a:r>
            <a:r>
              <a:rPr kumimoji="1" lang="zh-CN" altLang="en-US" sz="2000" b="1">
                <a:solidFill>
                  <a:schemeClr val="tx2"/>
                </a:solidFill>
                <a:latin typeface="幼圆" pitchFamily="49" charset="-122"/>
                <a:ea typeface="幼圆" pitchFamily="49" charset="-122"/>
              </a:rPr>
              <a:t>继续处理</a:t>
            </a:r>
            <a:r>
              <a:rPr kumimoji="1" lang="en-US" altLang="zh-CN" sz="2000" b="1">
                <a:solidFill>
                  <a:schemeClr val="tx2"/>
                </a:solidFill>
                <a:latin typeface="幼圆" pitchFamily="49" charset="-122"/>
                <a:ea typeface="幼圆" pitchFamily="49" charset="-122"/>
              </a:rPr>
              <a:t>s2</a:t>
            </a:r>
            <a:r>
              <a:rPr kumimoji="1" lang="zh-CN" altLang="en-US" sz="2000" b="1">
                <a:solidFill>
                  <a:schemeClr val="tx2"/>
                </a:solidFill>
                <a:latin typeface="幼圆" pitchFamily="49" charset="-122"/>
                <a:ea typeface="幼圆" pitchFamily="49" charset="-122"/>
              </a:rPr>
              <a:t>剩余字符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s0[n] =</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a:t>
            </a:r>
            <a:r>
              <a:rPr kumimoji="1" lang="en-US" altLang="zh-CN" sz="2000" b="1">
                <a:solidFill>
                  <a:schemeClr val="tx2"/>
                </a:solidFill>
                <a:latin typeface="幼圆" pitchFamily="49" charset="-122"/>
                <a:ea typeface="幼圆" pitchFamily="49" charset="-122"/>
              </a:rPr>
              <a:t>/* </a:t>
            </a:r>
            <a:r>
              <a:rPr kumimoji="1" lang="zh-CN" altLang="en-US" sz="2000" b="1">
                <a:solidFill>
                  <a:schemeClr val="tx2"/>
                </a:solidFill>
                <a:latin typeface="幼圆" pitchFamily="49" charset="-122"/>
                <a:ea typeface="幼圆" pitchFamily="49" charset="-122"/>
              </a:rPr>
              <a:t>最后补上结束符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puts(s0);</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p>
        </p:txBody>
      </p:sp>
      <p:pic>
        <p:nvPicPr>
          <p:cNvPr id="104451" name="Picture 28" descr="MCj0141323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91400" y="1066800"/>
            <a:ext cx="1522413"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0" y="533400"/>
            <a:ext cx="34820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字符串</a:t>
            </a:r>
          </a:p>
        </p:txBody>
      </p:sp>
    </p:spTree>
    <p:extLst>
      <p:ext uri="{BB962C8B-B14F-4D97-AF65-F5344CB8AC3E}">
        <p14:creationId xmlns:p14="http://schemas.microsoft.com/office/powerpoint/2010/main" val="1383036863"/>
      </p:ext>
    </p:extLst>
  </p:cSld>
  <p:clrMapOvr>
    <a:masterClrMapping/>
  </p:clrMapOvr>
  <p:transition>
    <p:wedge/>
  </p:transition>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498" name="Rectangle 3"/>
          <p:cNvSpPr>
            <a:spLocks noGrp="1" noChangeArrowheads="1"/>
          </p:cNvSpPr>
          <p:nvPr>
            <p:ph type="body" sz="half" idx="1"/>
          </p:nvPr>
        </p:nvSpPr>
        <p:spPr>
          <a:xfrm>
            <a:off x="0" y="1219200"/>
            <a:ext cx="9144000" cy="5337175"/>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★字符串中字符排序</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main( )  /* </a:t>
            </a:r>
            <a:r>
              <a:rPr kumimoji="1" lang="zh-CN" altLang="en-US" sz="2400" b="1">
                <a:solidFill>
                  <a:schemeClr val="tx2"/>
                </a:solidFill>
                <a:latin typeface="幼圆" pitchFamily="49" charset="-122"/>
                <a:ea typeface="幼圆" pitchFamily="49" charset="-122"/>
                <a:sym typeface="Symbol" pitchFamily="18" charset="2"/>
              </a:rPr>
              <a:t>选择法排序 大小*/</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int i,j,n,p; char a[80],m;</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scanf(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%s</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  n=strlen(a);</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for(j=0;j&lt;</a:t>
            </a:r>
            <a:r>
              <a:rPr kumimoji="1" lang="en-US" altLang="zh-CN" sz="2400" b="1">
                <a:solidFill>
                  <a:srgbClr val="FF0000"/>
                </a:solidFill>
                <a:latin typeface="幼圆" pitchFamily="49" charset="-122"/>
                <a:ea typeface="幼圆" pitchFamily="49" charset="-122"/>
                <a:sym typeface="Symbol" pitchFamily="18" charset="2"/>
              </a:rPr>
              <a:t>n-1</a:t>
            </a:r>
            <a:r>
              <a:rPr kumimoji="1" lang="en-US" altLang="zh-CN" sz="2400" b="1">
                <a:solidFill>
                  <a:schemeClr val="tx2"/>
                </a:solidFill>
                <a:latin typeface="幼圆" pitchFamily="49" charset="-122"/>
                <a:ea typeface="幼圆" pitchFamily="49" charset="-122"/>
                <a:sym typeface="Symbol" pitchFamily="18" charset="2"/>
              </a:rPr>
              <a:t>;j++)   /* n-1</a:t>
            </a:r>
            <a:r>
              <a:rPr kumimoji="1" lang="zh-CN" altLang="en-US" sz="2400" b="1">
                <a:solidFill>
                  <a:schemeClr val="tx2"/>
                </a:solidFill>
                <a:latin typeface="幼圆" pitchFamily="49" charset="-122"/>
                <a:ea typeface="幼圆" pitchFamily="49" charset="-122"/>
                <a:sym typeface="Symbol" pitchFamily="18" charset="2"/>
              </a:rPr>
              <a:t>轮处理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sym typeface="Symbol" pitchFamily="18" charset="2"/>
              </a:rPr>
              <a:t>p=j;               /* p</a:t>
            </a:r>
            <a:r>
              <a:rPr kumimoji="1" lang="zh-CN" altLang="en-US" sz="2400" b="1">
                <a:solidFill>
                  <a:schemeClr val="tx2"/>
                </a:solidFill>
                <a:latin typeface="幼圆" pitchFamily="49" charset="-122"/>
                <a:ea typeface="幼圆" pitchFamily="49" charset="-122"/>
                <a:sym typeface="Symbol" pitchFamily="18" charset="2"/>
              </a:rPr>
              <a:t>记录最大值的下标*/</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sym typeface="Symbol" pitchFamily="18" charset="2"/>
              </a:rPr>
              <a:t>for(i=</a:t>
            </a:r>
            <a:r>
              <a:rPr kumimoji="1" lang="en-US" altLang="zh-CN" sz="2400" b="1">
                <a:solidFill>
                  <a:srgbClr val="FF0000"/>
                </a:solidFill>
                <a:latin typeface="幼圆" pitchFamily="49" charset="-122"/>
                <a:ea typeface="幼圆" pitchFamily="49" charset="-122"/>
                <a:sym typeface="Symbol" pitchFamily="18" charset="2"/>
              </a:rPr>
              <a:t>j+1</a:t>
            </a:r>
            <a:r>
              <a:rPr kumimoji="1" lang="en-US" altLang="zh-CN" sz="2400" b="1">
                <a:solidFill>
                  <a:schemeClr val="tx2"/>
                </a:solidFill>
                <a:latin typeface="幼圆" pitchFamily="49" charset="-122"/>
                <a:ea typeface="幼圆" pitchFamily="49" charset="-122"/>
                <a:sym typeface="Symbol" pitchFamily="18" charset="2"/>
              </a:rPr>
              <a:t>;i&lt;n;i++) /* </a:t>
            </a:r>
            <a:r>
              <a:rPr kumimoji="1" lang="zh-CN" altLang="en-US" sz="2400" b="1">
                <a:solidFill>
                  <a:schemeClr val="tx2"/>
                </a:solidFill>
                <a:latin typeface="幼圆" pitchFamily="49" charset="-122"/>
                <a:ea typeface="幼圆" pitchFamily="49" charset="-122"/>
                <a:sym typeface="Symbol" pitchFamily="18" charset="2"/>
              </a:rPr>
              <a:t>找第</a:t>
            </a:r>
            <a:r>
              <a:rPr kumimoji="1" lang="en-US" altLang="zh-CN" sz="2400" b="1">
                <a:solidFill>
                  <a:schemeClr val="tx2"/>
                </a:solidFill>
                <a:latin typeface="幼圆" pitchFamily="49" charset="-122"/>
                <a:ea typeface="幼圆" pitchFamily="49" charset="-122"/>
                <a:sym typeface="Symbol" pitchFamily="18" charset="2"/>
              </a:rPr>
              <a:t>J</a:t>
            </a:r>
            <a:r>
              <a:rPr kumimoji="1" lang="zh-CN" altLang="en-US" sz="2400" b="1">
                <a:solidFill>
                  <a:schemeClr val="tx2"/>
                </a:solidFill>
                <a:latin typeface="幼圆" pitchFamily="49" charset="-122"/>
                <a:ea typeface="幼圆" pitchFamily="49" charset="-122"/>
                <a:sym typeface="Symbol" pitchFamily="18" charset="2"/>
              </a:rPr>
              <a:t>轮最大值下标</a:t>
            </a:r>
            <a:r>
              <a:rPr kumimoji="1" lang="en-US" altLang="zh-CN" sz="2400" b="1">
                <a:solidFill>
                  <a:schemeClr val="tx2"/>
                </a:solidFill>
                <a:latin typeface="幼圆" pitchFamily="49" charset="-122"/>
                <a:ea typeface="幼圆" pitchFamily="49" charset="-122"/>
                <a:sym typeface="Symbol" pitchFamily="18" charset="2"/>
              </a:rPr>
              <a:t>P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if(a[p]&lt;a[i]) p=i;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m=a[p];a[p]=a[j];a[j]=m;</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printf(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%s\n</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,a);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a:t>
            </a:r>
          </a:p>
        </p:txBody>
      </p:sp>
      <p:pic>
        <p:nvPicPr>
          <p:cNvPr id="106499" name="Picture 10" descr="MCj0238603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64450" y="4267200"/>
            <a:ext cx="1479550"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0" y="533400"/>
            <a:ext cx="34820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字符串</a:t>
            </a:r>
          </a:p>
        </p:txBody>
      </p:sp>
    </p:spTree>
    <p:extLst>
      <p:ext uri="{BB962C8B-B14F-4D97-AF65-F5344CB8AC3E}">
        <p14:creationId xmlns:p14="http://schemas.microsoft.com/office/powerpoint/2010/main" val="1664576558"/>
      </p:ext>
    </p:extLst>
  </p:cSld>
  <p:clrMapOvr>
    <a:masterClrMapping/>
  </p:clrMapOvr>
  <p:transition>
    <p:wedge/>
  </p:transition>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522" name="Rectangle 3"/>
          <p:cNvSpPr>
            <a:spLocks noGrp="1" noChangeArrowheads="1"/>
          </p:cNvSpPr>
          <p:nvPr>
            <p:ph type="body" sz="half" idx="1"/>
          </p:nvPr>
        </p:nvSpPr>
        <p:spPr>
          <a:xfrm>
            <a:off x="0" y="1066800"/>
            <a:ext cx="9144000" cy="5337175"/>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★在字符串中查找字符</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include </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stdio.h</a:t>
            </a:r>
            <a:r>
              <a:rPr kumimoji="1" lang="en-US" altLang="zh-CN" sz="2400" b="1">
                <a:solidFill>
                  <a:schemeClr val="tx2"/>
                </a:solidFill>
                <a:latin typeface="Arial" pitchFamily="34" charset="0"/>
                <a:ea typeface="幼圆" pitchFamily="49" charset="-122"/>
              </a:rPr>
              <a:t>”</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main( )</a:t>
            </a:r>
            <a:endParaRPr kumimoji="1" lang="zh-CN" altLang="en-US"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char a[20],ch;  int i=0;</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gets(a);    ch=getchar( ); /*</a:t>
            </a:r>
            <a:r>
              <a:rPr kumimoji="1" lang="zh-CN" altLang="en-US" sz="2400" b="1">
                <a:solidFill>
                  <a:schemeClr val="tx2"/>
                </a:solidFill>
                <a:latin typeface="幼圆" pitchFamily="49" charset="-122"/>
                <a:ea typeface="幼圆" pitchFamily="49" charset="-122"/>
              </a:rPr>
              <a:t>要找的字符 */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while(a[i]!='\0')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if(ch==a[i]) /* </a:t>
            </a:r>
            <a:r>
              <a:rPr kumimoji="1" lang="zh-CN" altLang="en-US" sz="2400" b="1">
                <a:solidFill>
                  <a:schemeClr val="tx2"/>
                </a:solidFill>
                <a:latin typeface="幼圆" pitchFamily="49" charset="-122"/>
                <a:ea typeface="幼圆" pitchFamily="49" charset="-122"/>
              </a:rPr>
              <a:t>找到</a:t>
            </a:r>
            <a:r>
              <a:rPr kumimoji="1" lang="en-US" altLang="zh-CN" sz="2400" b="1">
                <a:solidFill>
                  <a:schemeClr val="tx2"/>
                </a:solidFill>
                <a:latin typeface="幼圆" pitchFamily="49" charset="-122"/>
                <a:ea typeface="幼圆" pitchFamily="49" charset="-122"/>
              </a:rPr>
              <a:t>ch */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{pintf(</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%c=a[%d]=%c\n</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,ch,i,a[i]);</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break;}</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else i++;</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if(a[i]=='\0')  printf(</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%c not found!\n</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,ch);</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p>
        </p:txBody>
      </p:sp>
      <p:pic>
        <p:nvPicPr>
          <p:cNvPr id="107523" name="Picture 3" descr="MCBD09501_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0" y="3962400"/>
            <a:ext cx="792163"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0" y="533400"/>
            <a:ext cx="34820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字符串</a:t>
            </a:r>
          </a:p>
        </p:txBody>
      </p:sp>
    </p:spTree>
    <p:extLst>
      <p:ext uri="{BB962C8B-B14F-4D97-AF65-F5344CB8AC3E}">
        <p14:creationId xmlns:p14="http://schemas.microsoft.com/office/powerpoint/2010/main" val="3858859949"/>
      </p:ext>
    </p:extLst>
  </p:cSld>
  <p:clrMapOvr>
    <a:masterClrMapping/>
  </p:clrMapOvr>
  <p:transition>
    <p:wedge/>
  </p:transition>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546" name="Rectangle 3"/>
          <p:cNvSpPr>
            <a:spLocks noGrp="1" noChangeArrowheads="1"/>
          </p:cNvSpPr>
          <p:nvPr>
            <p:ph type="body" sz="half" idx="1"/>
          </p:nvPr>
        </p:nvSpPr>
        <p:spPr>
          <a:xfrm>
            <a:off x="0" y="1066800"/>
            <a:ext cx="9144000" cy="5337175"/>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★在多个字符串中查找字符串</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include </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stdio.h</a:t>
            </a:r>
            <a:r>
              <a:rPr kumimoji="1" lang="en-US" altLang="zh-CN" sz="2400" b="1">
                <a:solidFill>
                  <a:schemeClr val="tx2"/>
                </a:solidFill>
                <a:latin typeface="Arial" pitchFamily="34" charset="0"/>
                <a:ea typeface="幼圆" pitchFamily="49" charset="-122"/>
              </a:rPr>
              <a:t>”</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main( )</a:t>
            </a:r>
            <a:endParaRPr kumimoji="1" lang="zh-CN" altLang="en-US"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char *a[4]={</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BASIC</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ALGOL</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CPL</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C</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},*p,s[10];  int i=0;</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gets( s);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while( i&lt;4)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if(strcpm(s,a[i])==0)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{pintf(</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%s=a[%d]=%s\n</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,s,i,a[i]);</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break;}</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else i++;</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if(i==4)  printf(</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%s not found!\n</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,s);</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p>
        </p:txBody>
      </p:sp>
      <p:pic>
        <p:nvPicPr>
          <p:cNvPr id="108547" name="Picture 5" descr="u=3666157148,3904412734&amp;fm=0&amp;gp=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4191000"/>
            <a:ext cx="2057400" cy="15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0" y="533400"/>
            <a:ext cx="34820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字符串</a:t>
            </a:r>
          </a:p>
        </p:txBody>
      </p:sp>
    </p:spTree>
    <p:extLst>
      <p:ext uri="{BB962C8B-B14F-4D97-AF65-F5344CB8AC3E}">
        <p14:creationId xmlns:p14="http://schemas.microsoft.com/office/powerpoint/2010/main" val="1962444542"/>
      </p:ext>
    </p:extLst>
  </p:cSld>
  <p:clrMapOvr>
    <a:masterClrMapping/>
  </p:clrMapOvr>
  <p:transition>
    <p:wedge/>
  </p:transition>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70" name="Rectangle 3"/>
          <p:cNvSpPr>
            <a:spLocks noGrp="1" noChangeArrowheads="1"/>
          </p:cNvSpPr>
          <p:nvPr>
            <p:ph type="body" sz="half" idx="1"/>
          </p:nvPr>
        </p:nvSpPr>
        <p:spPr>
          <a:xfrm>
            <a:off x="0" y="1752600"/>
            <a:ext cx="9144000" cy="4449763"/>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★求字符串中子串</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include </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stdio.h</a:t>
            </a:r>
            <a:r>
              <a:rPr kumimoji="1" lang="en-US" altLang="zh-CN" sz="2400" b="1">
                <a:solidFill>
                  <a:schemeClr val="tx2"/>
                </a:solidFill>
                <a:latin typeface="Arial" pitchFamily="34" charset="0"/>
                <a:ea typeface="幼圆" pitchFamily="49" charset="-122"/>
              </a:rPr>
              <a:t>”</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main( ) /*</a:t>
            </a:r>
            <a:r>
              <a:rPr kumimoji="1" lang="zh-CN" altLang="en-US" sz="2400" b="1">
                <a:solidFill>
                  <a:schemeClr val="tx2"/>
                </a:solidFill>
                <a:latin typeface="幼圆" pitchFamily="49" charset="-122"/>
                <a:ea typeface="幼圆" pitchFamily="49" charset="-122"/>
              </a:rPr>
              <a:t>求字符串从位置</a:t>
            </a:r>
            <a:r>
              <a:rPr kumimoji="1" lang="en-US" altLang="zh-CN" sz="2400" b="1">
                <a:solidFill>
                  <a:schemeClr val="tx2"/>
                </a:solidFill>
                <a:latin typeface="幼圆" pitchFamily="49" charset="-122"/>
                <a:ea typeface="幼圆" pitchFamily="49" charset="-122"/>
              </a:rPr>
              <a:t>b</a:t>
            </a:r>
            <a:r>
              <a:rPr kumimoji="1" lang="zh-CN" altLang="en-US" sz="2400" b="1">
                <a:solidFill>
                  <a:schemeClr val="tx2"/>
                </a:solidFill>
                <a:latin typeface="幼圆" pitchFamily="49" charset="-122"/>
                <a:ea typeface="幼圆" pitchFamily="49" charset="-122"/>
              </a:rPr>
              <a:t>开始的</a:t>
            </a:r>
            <a:r>
              <a:rPr kumimoji="1" lang="en-US" altLang="zh-CN" sz="2400" b="1">
                <a:solidFill>
                  <a:schemeClr val="tx2"/>
                </a:solidFill>
                <a:latin typeface="幼圆" pitchFamily="49" charset="-122"/>
                <a:ea typeface="幼圆" pitchFamily="49" charset="-122"/>
              </a:rPr>
              <a:t>n</a:t>
            </a:r>
            <a:r>
              <a:rPr kumimoji="1" lang="zh-CN" altLang="en-US" sz="2400" b="1">
                <a:solidFill>
                  <a:schemeClr val="tx2"/>
                </a:solidFill>
                <a:latin typeface="幼圆" pitchFamily="49" charset="-122"/>
                <a:ea typeface="幼圆" pitchFamily="49" charset="-122"/>
              </a:rPr>
              <a:t>个字符组成的子串*/</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char a[80]=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BASICALGOLCPLC</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,s[20];  int b,n,i,j=0;</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scanf(</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%d,%d</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,&amp;b,&amp;n)</a:t>
            </a:r>
            <a:r>
              <a:rPr kumimoji="1" lang="zh-CN" altLang="en-US" sz="2400" b="1">
                <a:solidFill>
                  <a:schemeClr val="tx2"/>
                </a:solidFill>
                <a:latin typeface="幼圆" pitchFamily="49" charset="-122"/>
                <a:ea typeface="幼圆" pitchFamily="49" charset="-122"/>
              </a:rPr>
              <a:t>;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for( i=b;i&lt;b+n;i++)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s[j++]=a[i];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s[j]=</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printf(</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%s ,%s\n</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,a,s);</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p>
        </p:txBody>
      </p:sp>
      <p:pic>
        <p:nvPicPr>
          <p:cNvPr id="109571" name="Picture 5" descr="u=163985244,220194510&amp;fm=0&amp;gp=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1000" y="4953000"/>
            <a:ext cx="8001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0" y="533400"/>
            <a:ext cx="34820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字符串</a:t>
            </a:r>
          </a:p>
        </p:txBody>
      </p:sp>
    </p:spTree>
    <p:extLst>
      <p:ext uri="{BB962C8B-B14F-4D97-AF65-F5344CB8AC3E}">
        <p14:creationId xmlns:p14="http://schemas.microsoft.com/office/powerpoint/2010/main" val="724556821"/>
      </p:ext>
    </p:extLst>
  </p:cSld>
  <p:clrMapOvr>
    <a:masterClrMapping/>
  </p:clrMapOvr>
  <p:transition>
    <p:wedg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文本框 7"/>
          <p:cNvSpPr txBox="1">
            <a:spLocks noChangeArrowheads="1"/>
          </p:cNvSpPr>
          <p:nvPr/>
        </p:nvSpPr>
        <p:spPr bwMode="auto">
          <a:xfrm>
            <a:off x="0" y="609600"/>
            <a:ext cx="361188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pPr>
            <a:r>
              <a:rPr lang="zh-CN" altLang="en-US" sz="2800" b="1" dirty="0">
                <a:solidFill>
                  <a:srgbClr val="C00000"/>
                </a:solidFill>
                <a:latin typeface="幼圆" pitchFamily="49" charset="-122"/>
                <a:ea typeface="幼圆" pitchFamily="49" charset="-122"/>
                <a:sym typeface="宋体" pitchFamily="2" charset="-122"/>
              </a:rPr>
              <a:t>字符类数据要点总结 </a:t>
            </a:r>
          </a:p>
        </p:txBody>
      </p:sp>
      <p:sp>
        <p:nvSpPr>
          <p:cNvPr id="13318" name="文本框 7"/>
          <p:cNvSpPr txBox="1">
            <a:spLocks noChangeArrowheads="1"/>
          </p:cNvSpPr>
          <p:nvPr/>
        </p:nvSpPr>
        <p:spPr bwMode="auto">
          <a:xfrm>
            <a:off x="152400" y="1524000"/>
            <a:ext cx="8458200"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pPr>
            <a:r>
              <a:rPr lang="en-US" altLang="zh-CN" sz="2400" b="1" dirty="0">
                <a:solidFill>
                  <a:srgbClr val="002060"/>
                </a:solidFill>
                <a:latin typeface="幼圆" pitchFamily="49" charset="-122"/>
                <a:ea typeface="幼圆" pitchFamily="49" charset="-122"/>
                <a:sym typeface="宋体" pitchFamily="2" charset="-122"/>
              </a:rPr>
              <a:t>1 </a:t>
            </a:r>
            <a:r>
              <a:rPr lang="zh-CN" altLang="en-US" sz="2400" b="1" dirty="0">
                <a:solidFill>
                  <a:srgbClr val="002060"/>
                </a:solidFill>
                <a:latin typeface="幼圆" pitchFamily="49" charset="-122"/>
                <a:ea typeface="幼圆" pitchFamily="49" charset="-122"/>
                <a:sym typeface="宋体" pitchFamily="2" charset="-122"/>
              </a:rPr>
              <a:t>字符变量是一个字符；</a:t>
            </a:r>
          </a:p>
          <a:p>
            <a:pPr eaLnBrk="1" hangingPunct="1">
              <a:buFont typeface="Arial" pitchFamily="34" charset="0"/>
              <a:buNone/>
            </a:pPr>
            <a:r>
              <a:rPr lang="en-US" altLang="zh-CN" sz="2400" b="1" dirty="0">
                <a:solidFill>
                  <a:srgbClr val="002060"/>
                </a:solidFill>
                <a:latin typeface="幼圆" pitchFamily="49" charset="-122"/>
                <a:ea typeface="幼圆" pitchFamily="49" charset="-122"/>
                <a:sym typeface="宋体" pitchFamily="2" charset="-122"/>
              </a:rPr>
              <a:t>2 </a:t>
            </a:r>
            <a:r>
              <a:rPr lang="zh-CN" altLang="en-US" sz="2400" b="1" dirty="0">
                <a:solidFill>
                  <a:srgbClr val="002060"/>
                </a:solidFill>
                <a:latin typeface="幼圆" pitchFamily="49" charset="-122"/>
                <a:ea typeface="幼圆" pitchFamily="49" charset="-122"/>
                <a:sym typeface="宋体" pitchFamily="2" charset="-122"/>
              </a:rPr>
              <a:t>字符常量中有转义字符</a:t>
            </a:r>
            <a:r>
              <a:rPr lang="en-US" altLang="zh-CN" sz="2400" b="1" dirty="0">
                <a:solidFill>
                  <a:srgbClr val="002060"/>
                </a:solidFill>
                <a:latin typeface="幼圆" pitchFamily="49" charset="-122"/>
                <a:ea typeface="幼圆" pitchFamily="49" charset="-122"/>
                <a:sym typeface="宋体" pitchFamily="2" charset="-122"/>
              </a:rPr>
              <a:t>;</a:t>
            </a:r>
          </a:p>
          <a:p>
            <a:pPr eaLnBrk="1" hangingPunct="1">
              <a:buFont typeface="Arial" pitchFamily="34" charset="0"/>
              <a:buNone/>
            </a:pPr>
            <a:r>
              <a:rPr lang="en-US" altLang="zh-CN" sz="2400" b="1" dirty="0">
                <a:solidFill>
                  <a:srgbClr val="002060"/>
                </a:solidFill>
                <a:latin typeface="幼圆" pitchFamily="49" charset="-122"/>
                <a:ea typeface="幼圆" pitchFamily="49" charset="-122"/>
                <a:sym typeface="宋体" pitchFamily="2" charset="-122"/>
              </a:rPr>
              <a:t>3 </a:t>
            </a:r>
            <a:r>
              <a:rPr lang="zh-CN" altLang="en-US" sz="2400" b="1" dirty="0">
                <a:solidFill>
                  <a:srgbClr val="002060"/>
                </a:solidFill>
                <a:latin typeface="幼圆" pitchFamily="49" charset="-122"/>
                <a:ea typeface="幼圆" pitchFamily="49" charset="-122"/>
                <a:sym typeface="宋体" pitchFamily="2" charset="-122"/>
              </a:rPr>
              <a:t>字符串结尾有</a:t>
            </a:r>
            <a:r>
              <a:rPr lang="en-US" altLang="zh-CN" sz="2400" b="1" dirty="0">
                <a:solidFill>
                  <a:srgbClr val="002060"/>
                </a:solidFill>
                <a:latin typeface="幼圆" pitchFamily="49" charset="-122"/>
                <a:ea typeface="幼圆" pitchFamily="49" charset="-122"/>
                <a:sym typeface="宋体" pitchFamily="2" charset="-122"/>
              </a:rPr>
              <a:t>’\0’</a:t>
            </a:r>
            <a:r>
              <a:rPr lang="zh-CN" altLang="en-US" sz="2400" b="1" dirty="0">
                <a:solidFill>
                  <a:srgbClr val="002060"/>
                </a:solidFill>
                <a:latin typeface="幼圆" pitchFamily="49" charset="-122"/>
                <a:ea typeface="幼圆" pitchFamily="49" charset="-122"/>
                <a:sym typeface="宋体" pitchFamily="2" charset="-122"/>
              </a:rPr>
              <a:t>，占</a:t>
            </a:r>
            <a:r>
              <a:rPr lang="en-US" altLang="zh-CN" sz="2400" b="1" dirty="0">
                <a:solidFill>
                  <a:srgbClr val="002060"/>
                </a:solidFill>
                <a:latin typeface="幼圆" pitchFamily="49" charset="-122"/>
                <a:ea typeface="幼圆" pitchFamily="49" charset="-122"/>
                <a:sym typeface="宋体" pitchFamily="2" charset="-122"/>
              </a:rPr>
              <a:t>1</a:t>
            </a:r>
            <a:r>
              <a:rPr lang="zh-CN" altLang="en-US" sz="2400" b="1" dirty="0">
                <a:solidFill>
                  <a:srgbClr val="002060"/>
                </a:solidFill>
                <a:latin typeface="幼圆" pitchFamily="49" charset="-122"/>
                <a:ea typeface="幼圆" pitchFamily="49" charset="-122"/>
                <a:sym typeface="宋体" pitchFamily="2" charset="-122"/>
              </a:rPr>
              <a:t>个字节；</a:t>
            </a:r>
          </a:p>
          <a:p>
            <a:pPr eaLnBrk="1" hangingPunct="1">
              <a:buFont typeface="Arial" pitchFamily="34" charset="0"/>
              <a:buNone/>
            </a:pPr>
            <a:r>
              <a:rPr lang="en-US" altLang="zh-CN" sz="2400" b="1" dirty="0">
                <a:solidFill>
                  <a:srgbClr val="002060"/>
                </a:solidFill>
                <a:latin typeface="幼圆" pitchFamily="49" charset="-122"/>
                <a:ea typeface="幼圆" pitchFamily="49" charset="-122"/>
                <a:sym typeface="宋体" pitchFamily="2" charset="-122"/>
              </a:rPr>
              <a:t>4 </a:t>
            </a:r>
            <a:r>
              <a:rPr lang="zh-CN" altLang="en-US" sz="2400" b="1" dirty="0">
                <a:solidFill>
                  <a:srgbClr val="002060"/>
                </a:solidFill>
                <a:latin typeface="幼圆" pitchFamily="49" charset="-122"/>
                <a:ea typeface="幼圆" pitchFamily="49" charset="-122"/>
                <a:sym typeface="宋体" pitchFamily="2" charset="-122"/>
              </a:rPr>
              <a:t>字符串输入时用</a:t>
            </a:r>
            <a:r>
              <a:rPr lang="en-US" altLang="zh-CN" sz="2400" b="1" dirty="0" err="1">
                <a:solidFill>
                  <a:srgbClr val="002060"/>
                </a:solidFill>
                <a:latin typeface="幼圆" pitchFamily="49" charset="-122"/>
                <a:ea typeface="幼圆" pitchFamily="49" charset="-122"/>
                <a:sym typeface="宋体" pitchFamily="2" charset="-122"/>
              </a:rPr>
              <a:t>scanf</a:t>
            </a:r>
            <a:r>
              <a:rPr lang="en-US" altLang="zh-CN" sz="2400" b="1" dirty="0">
                <a:solidFill>
                  <a:srgbClr val="002060"/>
                </a:solidFill>
                <a:latin typeface="幼圆" pitchFamily="49" charset="-122"/>
                <a:ea typeface="幼圆" pitchFamily="49" charset="-122"/>
                <a:sym typeface="宋体" pitchFamily="2" charset="-122"/>
              </a:rPr>
              <a:t>, %s</a:t>
            </a:r>
            <a:r>
              <a:rPr lang="zh-CN" altLang="en-US" sz="2400" b="1" dirty="0">
                <a:solidFill>
                  <a:srgbClr val="002060"/>
                </a:solidFill>
                <a:latin typeface="幼圆" pitchFamily="49" charset="-122"/>
                <a:ea typeface="幼圆" pitchFamily="49" charset="-122"/>
                <a:sym typeface="宋体" pitchFamily="2" charset="-122"/>
              </a:rPr>
              <a:t>遇空格结束；</a:t>
            </a:r>
          </a:p>
          <a:p>
            <a:pPr eaLnBrk="1" hangingPunct="1">
              <a:buFont typeface="Arial" pitchFamily="34" charset="0"/>
              <a:buNone/>
            </a:pPr>
            <a:r>
              <a:rPr lang="en-US" altLang="zh-CN" sz="2400" b="1" dirty="0">
                <a:solidFill>
                  <a:srgbClr val="002060"/>
                </a:solidFill>
                <a:latin typeface="幼圆" pitchFamily="49" charset="-122"/>
                <a:ea typeface="幼圆" pitchFamily="49" charset="-122"/>
                <a:sym typeface="宋体" pitchFamily="2" charset="-122"/>
              </a:rPr>
              <a:t>5 </a:t>
            </a:r>
            <a:r>
              <a:rPr lang="zh-CN" altLang="en-US" sz="2400" b="1" dirty="0">
                <a:solidFill>
                  <a:srgbClr val="002060"/>
                </a:solidFill>
                <a:latin typeface="幼圆" pitchFamily="49" charset="-122"/>
                <a:ea typeface="幼圆" pitchFamily="49" charset="-122"/>
                <a:sym typeface="宋体" pitchFamily="2" charset="-122"/>
              </a:rPr>
              <a:t>字符数组输入用</a:t>
            </a:r>
            <a:r>
              <a:rPr lang="en-US" altLang="zh-CN" sz="2400" b="1" dirty="0">
                <a:solidFill>
                  <a:srgbClr val="002060"/>
                </a:solidFill>
                <a:latin typeface="幼圆" pitchFamily="49" charset="-122"/>
                <a:ea typeface="幼圆" pitchFamily="49" charset="-122"/>
                <a:sym typeface="宋体" pitchFamily="2" charset="-122"/>
              </a:rPr>
              <a:t>gets</a:t>
            </a:r>
            <a:r>
              <a:rPr lang="zh-CN" altLang="en-US" sz="2400" b="1" dirty="0">
                <a:solidFill>
                  <a:srgbClr val="002060"/>
                </a:solidFill>
                <a:latin typeface="幼圆" pitchFamily="49" charset="-122"/>
                <a:ea typeface="幼圆" pitchFamily="49" charset="-122"/>
                <a:sym typeface="宋体" pitchFamily="2" charset="-122"/>
              </a:rPr>
              <a:t>可以有空格；</a:t>
            </a:r>
          </a:p>
          <a:p>
            <a:pPr eaLnBrk="1" hangingPunct="1">
              <a:buFont typeface="Arial" pitchFamily="34" charset="0"/>
              <a:buNone/>
            </a:pPr>
            <a:r>
              <a:rPr lang="en-US" altLang="zh-CN" sz="2400" b="1" dirty="0">
                <a:solidFill>
                  <a:srgbClr val="002060"/>
                </a:solidFill>
                <a:latin typeface="幼圆" pitchFamily="49" charset="-122"/>
                <a:ea typeface="幼圆" pitchFamily="49" charset="-122"/>
                <a:sym typeface="宋体" pitchFamily="2" charset="-122"/>
              </a:rPr>
              <a:t>6 </a:t>
            </a:r>
            <a:r>
              <a:rPr lang="zh-CN" altLang="en-US" sz="2400" b="1" dirty="0">
                <a:solidFill>
                  <a:srgbClr val="002060"/>
                </a:solidFill>
                <a:latin typeface="幼圆" pitchFamily="49" charset="-122"/>
                <a:ea typeface="幼圆" pitchFamily="49" charset="-122"/>
                <a:sym typeface="宋体" pitchFamily="2" charset="-122"/>
              </a:rPr>
              <a:t>字符数据存</a:t>
            </a:r>
            <a:r>
              <a:rPr lang="en-US" altLang="zh-CN" sz="2400" b="1" dirty="0">
                <a:solidFill>
                  <a:srgbClr val="002060"/>
                </a:solidFill>
                <a:latin typeface="幼圆" pitchFamily="49" charset="-122"/>
                <a:ea typeface="幼圆" pitchFamily="49" charset="-122"/>
                <a:sym typeface="宋体" pitchFamily="2" charset="-122"/>
              </a:rPr>
              <a:t>ASCII</a:t>
            </a:r>
            <a:r>
              <a:rPr lang="zh-CN" altLang="en-US" sz="2400" b="1" dirty="0">
                <a:solidFill>
                  <a:srgbClr val="002060"/>
                </a:solidFill>
                <a:latin typeface="幼圆" pitchFamily="49" charset="-122"/>
                <a:ea typeface="幼圆" pitchFamily="49" charset="-122"/>
                <a:sym typeface="宋体" pitchFamily="2" charset="-122"/>
              </a:rPr>
              <a:t>；</a:t>
            </a:r>
          </a:p>
          <a:p>
            <a:pPr eaLnBrk="1" hangingPunct="1">
              <a:buFont typeface="Arial" pitchFamily="34" charset="0"/>
              <a:buNone/>
            </a:pPr>
            <a:r>
              <a:rPr lang="en-US" altLang="zh-CN" sz="2400" b="1" dirty="0">
                <a:solidFill>
                  <a:srgbClr val="002060"/>
                </a:solidFill>
                <a:latin typeface="幼圆" pitchFamily="49" charset="-122"/>
                <a:ea typeface="幼圆" pitchFamily="49" charset="-122"/>
                <a:sym typeface="宋体" pitchFamily="2" charset="-122"/>
              </a:rPr>
              <a:t>7 </a:t>
            </a:r>
            <a:r>
              <a:rPr lang="zh-CN" altLang="en-US" sz="2400" b="1" dirty="0">
                <a:solidFill>
                  <a:srgbClr val="002060"/>
                </a:solidFill>
                <a:latin typeface="幼圆" pitchFamily="49" charset="-122"/>
                <a:ea typeface="幼圆" pitchFamily="49" charset="-122"/>
                <a:sym typeface="宋体" pitchFamily="2" charset="-122"/>
              </a:rPr>
              <a:t>字符数组</a:t>
            </a:r>
            <a:r>
              <a:rPr lang="en-US" altLang="zh-CN" sz="2400" b="1" dirty="0">
                <a:solidFill>
                  <a:srgbClr val="002060"/>
                </a:solidFill>
                <a:latin typeface="幼圆" pitchFamily="49" charset="-122"/>
                <a:ea typeface="幼圆" pitchFamily="49" charset="-122"/>
                <a:sym typeface="宋体" pitchFamily="2" charset="-122"/>
              </a:rPr>
              <a:t>char s[10]=“china”</a:t>
            </a:r>
            <a:r>
              <a:rPr lang="zh-CN" altLang="en-US" sz="2400" b="1" dirty="0">
                <a:solidFill>
                  <a:srgbClr val="002060"/>
                </a:solidFill>
                <a:latin typeface="幼圆" pitchFamily="49" charset="-122"/>
                <a:ea typeface="幼圆" pitchFamily="49" charset="-122"/>
                <a:sym typeface="宋体" pitchFamily="2" charset="-122"/>
              </a:rPr>
              <a:t>，正确；</a:t>
            </a:r>
          </a:p>
          <a:p>
            <a:pPr eaLnBrk="1" hangingPunct="1">
              <a:buFont typeface="Arial" pitchFamily="34" charset="0"/>
              <a:buNone/>
            </a:pPr>
            <a:r>
              <a:rPr lang="en-US" altLang="zh-CN" sz="2400" b="1" dirty="0">
                <a:solidFill>
                  <a:srgbClr val="002060"/>
                </a:solidFill>
                <a:latin typeface="幼圆" pitchFamily="49" charset="-122"/>
                <a:ea typeface="幼圆" pitchFamily="49" charset="-122"/>
                <a:sym typeface="宋体" pitchFamily="2" charset="-122"/>
              </a:rPr>
              <a:t>8 </a:t>
            </a:r>
            <a:r>
              <a:rPr lang="zh-CN" altLang="en-US" sz="2400" b="1" dirty="0">
                <a:solidFill>
                  <a:srgbClr val="002060"/>
                </a:solidFill>
                <a:latin typeface="幼圆" pitchFamily="49" charset="-122"/>
                <a:ea typeface="幼圆" pitchFamily="49" charset="-122"/>
                <a:sym typeface="宋体" pitchFamily="2" charset="-122"/>
              </a:rPr>
              <a:t>字符指针 </a:t>
            </a:r>
            <a:r>
              <a:rPr lang="en-US" altLang="zh-CN" sz="2400" b="1" dirty="0">
                <a:solidFill>
                  <a:srgbClr val="002060"/>
                </a:solidFill>
                <a:latin typeface="幼圆" pitchFamily="49" charset="-122"/>
                <a:ea typeface="幼圆" pitchFamily="49" charset="-122"/>
                <a:sym typeface="宋体" pitchFamily="2" charset="-122"/>
              </a:rPr>
              <a:t>char *s, s=“china”,</a:t>
            </a:r>
            <a:r>
              <a:rPr lang="zh-CN" altLang="en-US" sz="2400" b="1" dirty="0">
                <a:solidFill>
                  <a:srgbClr val="002060"/>
                </a:solidFill>
                <a:latin typeface="幼圆" pitchFamily="49" charset="-122"/>
                <a:ea typeface="幼圆" pitchFamily="49" charset="-122"/>
                <a:sym typeface="宋体" pitchFamily="2" charset="-122"/>
              </a:rPr>
              <a:t>正确；</a:t>
            </a:r>
          </a:p>
          <a:p>
            <a:pPr eaLnBrk="1" hangingPunct="1">
              <a:buFont typeface="Arial" pitchFamily="34" charset="0"/>
              <a:buNone/>
            </a:pPr>
            <a:r>
              <a:rPr lang="en-US" altLang="zh-CN" sz="2400" b="1" dirty="0">
                <a:solidFill>
                  <a:srgbClr val="002060"/>
                </a:solidFill>
                <a:latin typeface="幼圆" pitchFamily="49" charset="-122"/>
                <a:ea typeface="幼圆" pitchFamily="49" charset="-122"/>
                <a:sym typeface="宋体" pitchFamily="2" charset="-122"/>
              </a:rPr>
              <a:t>9 </a:t>
            </a:r>
            <a:r>
              <a:rPr lang="zh-CN" altLang="en-US" sz="2400" b="1" dirty="0">
                <a:solidFill>
                  <a:srgbClr val="002060"/>
                </a:solidFill>
                <a:latin typeface="幼圆" pitchFamily="49" charset="-122"/>
                <a:ea typeface="幼圆" pitchFamily="49" charset="-122"/>
                <a:sym typeface="宋体" pitchFamily="2" charset="-122"/>
              </a:rPr>
              <a:t>字符串处理函数中的参数有的可以用字符串常量；</a:t>
            </a:r>
          </a:p>
          <a:p>
            <a:pPr eaLnBrk="1" hangingPunct="1">
              <a:buFont typeface="Arial" pitchFamily="34" charset="0"/>
              <a:buNone/>
            </a:pPr>
            <a:r>
              <a:rPr lang="en-US" altLang="zh-CN" sz="2400" b="1" dirty="0">
                <a:solidFill>
                  <a:srgbClr val="002060"/>
                </a:solidFill>
                <a:latin typeface="幼圆" pitchFamily="49" charset="-122"/>
                <a:ea typeface="幼圆" pitchFamily="49" charset="-122"/>
                <a:sym typeface="宋体" pitchFamily="2" charset="-122"/>
              </a:rPr>
              <a:t>10 </a:t>
            </a:r>
            <a:r>
              <a:rPr lang="zh-CN" altLang="en-US" sz="2400" b="1" dirty="0">
                <a:solidFill>
                  <a:srgbClr val="002060"/>
                </a:solidFill>
                <a:latin typeface="幼圆" pitchFamily="49" charset="-122"/>
                <a:ea typeface="幼圆" pitchFamily="49" charset="-122"/>
                <a:sym typeface="宋体" pitchFamily="2" charset="-122"/>
              </a:rPr>
              <a:t>字符串处理函数中的参数的含义是地址；</a:t>
            </a:r>
          </a:p>
          <a:p>
            <a:pPr eaLnBrk="1" hangingPunct="1">
              <a:buFont typeface="Arial" pitchFamily="34" charset="0"/>
              <a:buNone/>
            </a:pPr>
            <a:r>
              <a:rPr lang="en-US" altLang="zh-CN" sz="2400" b="1" dirty="0">
                <a:solidFill>
                  <a:srgbClr val="002060"/>
                </a:solidFill>
                <a:latin typeface="幼圆" pitchFamily="49" charset="-122"/>
                <a:ea typeface="幼圆" pitchFamily="49" charset="-122"/>
                <a:sym typeface="宋体" pitchFamily="2" charset="-122"/>
              </a:rPr>
              <a:t>11 </a:t>
            </a:r>
            <a:r>
              <a:rPr lang="zh-CN" altLang="en-US" sz="2400" b="1" dirty="0">
                <a:solidFill>
                  <a:srgbClr val="002060"/>
                </a:solidFill>
                <a:latin typeface="幼圆" pitchFamily="49" charset="-122"/>
                <a:ea typeface="幼圆" pitchFamily="49" charset="-122"/>
                <a:sym typeface="宋体" pitchFamily="2" charset="-122"/>
              </a:rPr>
              <a:t>字符串不可以赋值，必须用</a:t>
            </a:r>
            <a:r>
              <a:rPr lang="en-US" altLang="zh-CN" sz="2400" b="1" dirty="0" err="1">
                <a:solidFill>
                  <a:srgbClr val="002060"/>
                </a:solidFill>
                <a:latin typeface="幼圆" pitchFamily="49" charset="-122"/>
                <a:ea typeface="幼圆" pitchFamily="49" charset="-122"/>
                <a:sym typeface="宋体" pitchFamily="2" charset="-122"/>
              </a:rPr>
              <a:t>strcpy</a:t>
            </a:r>
            <a:endParaRPr lang="en-US" altLang="zh-CN" sz="2400" b="1" dirty="0">
              <a:solidFill>
                <a:srgbClr val="002060"/>
              </a:solidFill>
              <a:latin typeface="幼圆" pitchFamily="49" charset="-122"/>
              <a:ea typeface="幼圆" pitchFamily="49" charset="-122"/>
              <a:sym typeface="宋体" pitchFamily="2" charset="-122"/>
            </a:endParaRPr>
          </a:p>
          <a:p>
            <a:pPr eaLnBrk="1" hangingPunct="1">
              <a:buFont typeface="Arial" pitchFamily="34" charset="0"/>
              <a:buNone/>
            </a:pPr>
            <a:r>
              <a:rPr lang="en-US" altLang="zh-CN" sz="2400" b="1" dirty="0">
                <a:solidFill>
                  <a:srgbClr val="002060"/>
                </a:solidFill>
                <a:latin typeface="幼圆" pitchFamily="49" charset="-122"/>
                <a:ea typeface="幼圆" pitchFamily="49" charset="-122"/>
                <a:sym typeface="宋体" pitchFamily="2" charset="-122"/>
              </a:rPr>
              <a:t>12 </a:t>
            </a:r>
            <a:r>
              <a:rPr lang="zh-CN" altLang="en-US" sz="2400" b="1" dirty="0">
                <a:solidFill>
                  <a:srgbClr val="002060"/>
                </a:solidFill>
                <a:latin typeface="幼圆" pitchFamily="49" charset="-122"/>
                <a:ea typeface="幼圆" pitchFamily="49" charset="-122"/>
                <a:sym typeface="宋体" pitchFamily="2" charset="-122"/>
              </a:rPr>
              <a:t>字符串不可以直接判断恒等，必须用</a:t>
            </a:r>
            <a:r>
              <a:rPr lang="en-US" altLang="zh-CN" sz="2400" b="1" dirty="0" err="1">
                <a:solidFill>
                  <a:srgbClr val="002060"/>
                </a:solidFill>
                <a:latin typeface="幼圆" pitchFamily="49" charset="-122"/>
                <a:ea typeface="幼圆" pitchFamily="49" charset="-122"/>
                <a:sym typeface="宋体" pitchFamily="2" charset="-122"/>
              </a:rPr>
              <a:t>strcmp</a:t>
            </a:r>
            <a:r>
              <a:rPr lang="en-US" altLang="zh-CN" sz="2400" b="1" dirty="0">
                <a:solidFill>
                  <a:srgbClr val="002060"/>
                </a:solidFill>
                <a:latin typeface="幼圆" pitchFamily="49" charset="-122"/>
                <a:ea typeface="幼圆" pitchFamily="49" charset="-122"/>
                <a:sym typeface="宋体" pitchFamily="2" charset="-122"/>
              </a:rPr>
              <a:t> </a:t>
            </a:r>
          </a:p>
          <a:p>
            <a:pPr eaLnBrk="1" hangingPunct="1">
              <a:buFont typeface="Arial" pitchFamily="34" charset="0"/>
              <a:buNone/>
            </a:pPr>
            <a:r>
              <a:rPr lang="en-US" altLang="zh-CN" sz="2400" b="1" dirty="0">
                <a:solidFill>
                  <a:srgbClr val="002060"/>
                </a:solidFill>
                <a:latin typeface="幼圆" pitchFamily="49" charset="-122"/>
                <a:ea typeface="幼圆" pitchFamily="49" charset="-122"/>
                <a:sym typeface="宋体" pitchFamily="2" charset="-122"/>
              </a:rPr>
              <a:t>13 </a:t>
            </a:r>
            <a:r>
              <a:rPr lang="zh-CN" altLang="en-US" sz="2400" b="1" dirty="0">
                <a:solidFill>
                  <a:srgbClr val="002060"/>
                </a:solidFill>
                <a:latin typeface="幼圆" pitchFamily="49" charset="-122"/>
                <a:ea typeface="幼圆" pitchFamily="49" charset="-122"/>
                <a:sym typeface="宋体" pitchFamily="2" charset="-122"/>
              </a:rPr>
              <a:t>字符指针与字符数组区别</a:t>
            </a:r>
          </a:p>
        </p:txBody>
      </p:sp>
    </p:spTree>
    <p:extLst>
      <p:ext uri="{BB962C8B-B14F-4D97-AF65-F5344CB8AC3E}">
        <p14:creationId xmlns:p14="http://schemas.microsoft.com/office/powerpoint/2010/main" val="28829362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270"/>
          <p:cNvGraphicFramePr>
            <a:graphicFrameLocks/>
          </p:cNvGraphicFramePr>
          <p:nvPr>
            <p:extLst>
              <p:ext uri="{D42A27DB-BD31-4B8C-83A1-F6EECF244321}">
                <p14:modId xmlns:p14="http://schemas.microsoft.com/office/powerpoint/2010/main" val="4195639194"/>
              </p:ext>
            </p:extLst>
          </p:nvPr>
        </p:nvGraphicFramePr>
        <p:xfrm>
          <a:off x="457200" y="1371600"/>
          <a:ext cx="7210425" cy="5211612"/>
        </p:xfrm>
        <a:graphic>
          <a:graphicData uri="http://schemas.openxmlformats.org/drawingml/2006/table">
            <a:tbl>
              <a:tblPr/>
              <a:tblGrid>
                <a:gridCol w="349250">
                  <a:extLst>
                    <a:ext uri="{9D8B030D-6E8A-4147-A177-3AD203B41FA5}">
                      <a16:colId xmlns:a16="http://schemas.microsoft.com/office/drawing/2014/main" val="20000"/>
                    </a:ext>
                  </a:extLst>
                </a:gridCol>
                <a:gridCol w="6861175">
                  <a:extLst>
                    <a:ext uri="{9D8B030D-6E8A-4147-A177-3AD203B41FA5}">
                      <a16:colId xmlns:a16="http://schemas.microsoft.com/office/drawing/2014/main" val="20001"/>
                    </a:ext>
                  </a:extLst>
                </a:gridCol>
              </a:tblGrid>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1</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计算机概述及数字化基础</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2</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计算机三大平台</a:t>
                      </a:r>
                      <a:r>
                        <a:rPr kumimoji="0" lang="en-US" altLang="zh-CN" sz="2800" b="1" i="0" u="none" strike="noStrike" cap="none" normalizeH="0" baseline="0" dirty="0">
                          <a:ln>
                            <a:noFill/>
                          </a:ln>
                          <a:solidFill>
                            <a:schemeClr val="tx1"/>
                          </a:solidFill>
                          <a:effectLst/>
                          <a:latin typeface="Arial" charset="0"/>
                          <a:ea typeface="宋体" pitchFamily="2" charset="-122"/>
                        </a:rPr>
                        <a:t>——</a:t>
                      </a:r>
                      <a:r>
                        <a:rPr kumimoji="0" lang="zh-CN" altLang="en-US" sz="2800" b="1" i="0" u="none" strike="noStrike" cap="none" normalizeH="0" baseline="0" dirty="0">
                          <a:ln>
                            <a:noFill/>
                          </a:ln>
                          <a:solidFill>
                            <a:schemeClr val="tx1"/>
                          </a:solidFill>
                          <a:effectLst/>
                          <a:latin typeface="Arial" charset="0"/>
                          <a:ea typeface="宋体" pitchFamily="2" charset="-122"/>
                        </a:rPr>
                        <a:t>硬件、软件、</a:t>
                      </a:r>
                      <a:r>
                        <a:rPr kumimoji="0" lang="zh-CN" altLang="en-US" sz="2800" b="1" i="0" u="none" strike="sngStrike" cap="none" normalizeH="0" baseline="0" dirty="0">
                          <a:ln>
                            <a:noFill/>
                          </a:ln>
                          <a:solidFill>
                            <a:schemeClr val="tx1"/>
                          </a:solidFill>
                          <a:effectLst/>
                          <a:latin typeface="Arial" charset="0"/>
                          <a:ea typeface="宋体" pitchFamily="2" charset="-122"/>
                        </a:rPr>
                        <a:t>网络</a:t>
                      </a:r>
                      <a:endParaRPr kumimoji="0" lang="en-US" altLang="zh-CN" sz="2800" b="1" i="0" u="none" strike="sng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3</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数据处理及数据库</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9482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4</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数据类型，运算符，表达式</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5</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流程控制</a:t>
                      </a:r>
                      <a:r>
                        <a:rPr kumimoji="0" lang="en-US" altLang="zh-CN" sz="2800" b="1" i="0" u="none" strike="noStrike" cap="none" normalizeH="0" baseline="0" dirty="0">
                          <a:ln>
                            <a:noFill/>
                          </a:ln>
                          <a:solidFill>
                            <a:schemeClr val="tx1"/>
                          </a:solidFill>
                          <a:effectLst/>
                          <a:latin typeface="Arial" charset="0"/>
                          <a:ea typeface="宋体" pitchFamily="2" charset="-122"/>
                        </a:rPr>
                        <a:t>——</a:t>
                      </a:r>
                      <a:r>
                        <a:rPr kumimoji="0" lang="zh-CN" altLang="en-US" sz="2800" b="1" i="0" u="none" strike="noStrike" cap="none" normalizeH="0" baseline="0" dirty="0">
                          <a:ln>
                            <a:noFill/>
                          </a:ln>
                          <a:solidFill>
                            <a:schemeClr val="tx1"/>
                          </a:solidFill>
                          <a:effectLst/>
                          <a:latin typeface="Arial" charset="0"/>
                          <a:ea typeface="宋体" pitchFamily="2" charset="-122"/>
                        </a:rPr>
                        <a:t>顺序、选择、循环</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4"/>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6</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数组</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5"/>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7</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rgbClr val="FF0000"/>
                          </a:solidFill>
                          <a:effectLst/>
                          <a:latin typeface="Arial" charset="0"/>
                          <a:ea typeface="宋体" pitchFamily="2" charset="-122"/>
                        </a:rPr>
                        <a:t>函数</a:t>
                      </a:r>
                      <a:endParaRPr kumimoji="0" lang="en-US" altLang="zh-CN" sz="2800" b="1" i="0" u="none" strike="noStrike" cap="none" normalizeH="0" baseline="0" dirty="0">
                        <a:ln>
                          <a:noFill/>
                        </a:ln>
                        <a:solidFill>
                          <a:srgbClr val="FF0000"/>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8</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med" len="med"/>
                      <a:tailEnd type="none" w="med" len="med"/>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指针</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med" len="med"/>
                      <a:tailEnd type="none" w="med" len="med"/>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7"/>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9</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结构</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sp>
        <p:nvSpPr>
          <p:cNvPr id="3" name="标题 1"/>
          <p:cNvSpPr>
            <a:spLocks noGrp="1"/>
          </p:cNvSpPr>
          <p:nvPr>
            <p:ph type="title"/>
          </p:nvPr>
        </p:nvSpPr>
        <p:spPr>
          <a:xfrm>
            <a:off x="838200" y="547688"/>
            <a:ext cx="7391400" cy="563562"/>
          </a:xfrm>
        </p:spPr>
        <p:txBody>
          <a:bodyPr/>
          <a:lstStyle/>
          <a:p>
            <a:r>
              <a:rPr lang="zh-CN" altLang="en-US" dirty="0">
                <a:latin typeface="隶书" pitchFamily="49" charset="-122"/>
                <a:ea typeface="隶书" pitchFamily="49" charset="-122"/>
              </a:rPr>
              <a:t>复习内容</a:t>
            </a:r>
          </a:p>
        </p:txBody>
      </p:sp>
    </p:spTree>
    <p:extLst>
      <p:ext uri="{BB962C8B-B14F-4D97-AF65-F5344CB8AC3E}">
        <p14:creationId xmlns:p14="http://schemas.microsoft.com/office/powerpoint/2010/main" val="2495641681"/>
      </p:ext>
    </p:extLst>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42" name="Text Box 3"/>
          <p:cNvSpPr txBox="1">
            <a:spLocks noChangeArrowheads="1"/>
          </p:cNvSpPr>
          <p:nvPr/>
        </p:nvSpPr>
        <p:spPr bwMode="auto">
          <a:xfrm>
            <a:off x="0" y="1257300"/>
            <a:ext cx="9144000" cy="4893647"/>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lgn="ctr">
                <a:solidFill>
                  <a:srgbClr val="000000"/>
                </a:solidFill>
                <a:prstDash val="sysDot"/>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spcBef>
                <a:spcPct val="20000"/>
              </a:spcBef>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  定义</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  float  f(</a:t>
            </a:r>
            <a:r>
              <a:rPr kumimoji="1" lang="en-US" altLang="zh-CN" sz="2400" b="1" dirty="0" err="1">
                <a:solidFill>
                  <a:schemeClr val="tx2"/>
                </a:solidFill>
                <a:latin typeface="幼圆" pitchFamily="49" charset="-122"/>
                <a:ea typeface="幼圆" pitchFamily="49" charset="-122"/>
              </a:rPr>
              <a:t>int</a:t>
            </a:r>
            <a:r>
              <a:rPr kumimoji="1" lang="en-US" altLang="zh-CN" sz="2400" b="1" dirty="0">
                <a:solidFill>
                  <a:schemeClr val="tx2"/>
                </a:solidFill>
                <a:latin typeface="幼圆" pitchFamily="49" charset="-122"/>
                <a:ea typeface="幼圆" pitchFamily="49" charset="-122"/>
              </a:rPr>
              <a:t> x)   /*</a:t>
            </a:r>
            <a:r>
              <a:rPr kumimoji="1" lang="zh-CN" altLang="en-US" sz="2400" b="1" dirty="0">
                <a:solidFill>
                  <a:schemeClr val="tx2"/>
                </a:solidFill>
                <a:latin typeface="幼圆" pitchFamily="49" charset="-122"/>
                <a:ea typeface="幼圆" pitchFamily="49" charset="-122"/>
              </a:rPr>
              <a:t>函数头*/</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   { </a:t>
            </a:r>
            <a:r>
              <a:rPr kumimoji="1" lang="en-US" altLang="zh-CN" sz="2400" b="1" dirty="0" err="1">
                <a:solidFill>
                  <a:schemeClr val="tx2"/>
                </a:solidFill>
                <a:latin typeface="幼圆" pitchFamily="49" charset="-122"/>
                <a:ea typeface="幼圆" pitchFamily="49" charset="-122"/>
              </a:rPr>
              <a:t>int</a:t>
            </a:r>
            <a:r>
              <a:rPr kumimoji="1" lang="en-US" altLang="zh-CN" sz="2400" b="1" dirty="0">
                <a:solidFill>
                  <a:schemeClr val="tx2"/>
                </a:solidFill>
                <a:latin typeface="幼圆" pitchFamily="49" charset="-122"/>
                <a:ea typeface="幼圆" pitchFamily="49" charset="-122"/>
              </a:rPr>
              <a:t> y;           /*  </a:t>
            </a:r>
            <a:r>
              <a:rPr kumimoji="1" lang="zh-CN" altLang="en-US" sz="2400" b="1" dirty="0">
                <a:solidFill>
                  <a:schemeClr val="tx2"/>
                </a:solidFill>
                <a:latin typeface="幼圆" pitchFamily="49" charset="-122"/>
                <a:ea typeface="幼圆" pitchFamily="49" charset="-122"/>
              </a:rPr>
              <a:t>函数体 */</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     y=x*x;</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     return y;</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   }         </a:t>
            </a:r>
            <a:r>
              <a:rPr kumimoji="1" lang="zh-CN" altLang="en-US" sz="2400" b="1" dirty="0">
                <a:solidFill>
                  <a:schemeClr val="tx2"/>
                </a:solidFill>
                <a:latin typeface="幼圆" pitchFamily="49" charset="-122"/>
                <a:ea typeface="幼圆" pitchFamily="49" charset="-122"/>
              </a:rPr>
              <a:t>不能嵌套定义</a:t>
            </a:r>
          </a:p>
          <a:p>
            <a:pPr eaLnBrk="1" hangingPunct="1">
              <a:spcBef>
                <a:spcPct val="20000"/>
              </a:spcBef>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 ● 调用函数</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   float max(</a:t>
            </a:r>
            <a:r>
              <a:rPr kumimoji="1" lang="en-US" altLang="zh-CN" sz="2400" b="1" dirty="0" err="1">
                <a:solidFill>
                  <a:schemeClr val="tx2"/>
                </a:solidFill>
                <a:latin typeface="幼圆" pitchFamily="49" charset="-122"/>
                <a:ea typeface="幼圆" pitchFamily="49" charset="-122"/>
              </a:rPr>
              <a:t>int</a:t>
            </a:r>
            <a:r>
              <a:rPr kumimoji="1" lang="en-US" altLang="zh-CN" sz="2400" b="1" dirty="0">
                <a:solidFill>
                  <a:schemeClr val="tx2"/>
                </a:solidFill>
                <a:latin typeface="幼圆" pitchFamily="49" charset="-122"/>
                <a:ea typeface="幼圆" pitchFamily="49" charset="-122"/>
              </a:rPr>
              <a:t> </a:t>
            </a:r>
            <a:r>
              <a:rPr kumimoji="1" lang="en-US" altLang="zh-CN" sz="2400" b="1" dirty="0" err="1">
                <a:solidFill>
                  <a:schemeClr val="tx2"/>
                </a:solidFill>
                <a:latin typeface="幼圆" pitchFamily="49" charset="-122"/>
                <a:ea typeface="幼圆" pitchFamily="49" charset="-122"/>
              </a:rPr>
              <a:t>x,int</a:t>
            </a:r>
            <a:r>
              <a:rPr kumimoji="1" lang="en-US" altLang="zh-CN" sz="2400" b="1" dirty="0">
                <a:solidFill>
                  <a:schemeClr val="tx2"/>
                </a:solidFill>
                <a:latin typeface="幼圆" pitchFamily="49" charset="-122"/>
                <a:ea typeface="幼圆" pitchFamily="49" charset="-122"/>
              </a:rPr>
              <a:t> y)  /* </a:t>
            </a:r>
            <a:r>
              <a:rPr kumimoji="1" lang="en-US" altLang="zh-CN" sz="2400" b="1" dirty="0" err="1">
                <a:solidFill>
                  <a:schemeClr val="tx2"/>
                </a:solidFill>
                <a:latin typeface="幼圆" pitchFamily="49" charset="-122"/>
                <a:ea typeface="幼圆" pitchFamily="49" charset="-122"/>
              </a:rPr>
              <a:t>x,y</a:t>
            </a:r>
            <a:r>
              <a:rPr kumimoji="1" lang="zh-CN" altLang="en-US" sz="2400" b="1" dirty="0">
                <a:solidFill>
                  <a:schemeClr val="tx2"/>
                </a:solidFill>
                <a:latin typeface="幼圆" pitchFamily="49" charset="-122"/>
                <a:ea typeface="幼圆" pitchFamily="49" charset="-122"/>
              </a:rPr>
              <a:t>是形式参数 */</a:t>
            </a:r>
          </a:p>
          <a:p>
            <a:pPr eaLnBrk="1" hangingPunct="1">
              <a:spcBef>
                <a:spcPct val="20000"/>
              </a:spcBef>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   {........}</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   c=max(</a:t>
            </a:r>
            <a:r>
              <a:rPr kumimoji="1" lang="en-US" altLang="zh-CN" sz="2400" b="1" dirty="0" err="1">
                <a:solidFill>
                  <a:schemeClr val="tx2"/>
                </a:solidFill>
                <a:latin typeface="幼圆" pitchFamily="49" charset="-122"/>
                <a:ea typeface="幼圆" pitchFamily="49" charset="-122"/>
              </a:rPr>
              <a:t>a,b</a:t>
            </a:r>
            <a:r>
              <a:rPr kumimoji="1" lang="en-US" altLang="zh-CN" sz="2400" b="1" dirty="0">
                <a:solidFill>
                  <a:schemeClr val="tx2"/>
                </a:solidFill>
                <a:latin typeface="幼圆" pitchFamily="49" charset="-122"/>
                <a:ea typeface="幼圆" pitchFamily="49" charset="-122"/>
              </a:rPr>
              <a:t>);                /* </a:t>
            </a:r>
            <a:r>
              <a:rPr kumimoji="1" lang="en-US" altLang="zh-CN" sz="2400" b="1" dirty="0" err="1">
                <a:solidFill>
                  <a:schemeClr val="tx2"/>
                </a:solidFill>
                <a:latin typeface="幼圆" pitchFamily="49" charset="-122"/>
                <a:ea typeface="幼圆" pitchFamily="49" charset="-122"/>
              </a:rPr>
              <a:t>a,b</a:t>
            </a:r>
            <a:r>
              <a:rPr kumimoji="1" lang="zh-CN" altLang="en-US" sz="2400" b="1" dirty="0">
                <a:solidFill>
                  <a:schemeClr val="tx2"/>
                </a:solidFill>
                <a:latin typeface="幼圆" pitchFamily="49" charset="-122"/>
                <a:ea typeface="幼圆" pitchFamily="49" charset="-122"/>
              </a:rPr>
              <a:t>是实际参数 */</a:t>
            </a:r>
          </a:p>
          <a:p>
            <a:pPr eaLnBrk="1" hangingPunct="1">
              <a:spcBef>
                <a:spcPct val="20000"/>
              </a:spcBef>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 ● 实际参数和形式参数:   个数相等,类型一致 </a:t>
            </a:r>
          </a:p>
        </p:txBody>
      </p:sp>
      <p:pic>
        <p:nvPicPr>
          <p:cNvPr id="112643" name="Picture 5" descr="u=3927145429,3867848093&amp;fm=0&amp;gp=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824309">
            <a:off x="6934200" y="1828800"/>
            <a:ext cx="1257300"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44" name="Rectangle 4"/>
          <p:cNvSpPr>
            <a:spLocks noChangeArrowheads="1"/>
          </p:cNvSpPr>
          <p:nvPr/>
        </p:nvSpPr>
        <p:spPr bwMode="auto">
          <a:xfrm>
            <a:off x="10886" y="533400"/>
            <a:ext cx="307007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函数</a:t>
            </a:r>
          </a:p>
        </p:txBody>
      </p:sp>
    </p:spTree>
    <p:extLst>
      <p:ext uri="{BB962C8B-B14F-4D97-AF65-F5344CB8AC3E}">
        <p14:creationId xmlns:p14="http://schemas.microsoft.com/office/powerpoint/2010/main" val="3094549908"/>
      </p:ext>
    </p:extLst>
  </p:cSld>
  <p:clrMapOvr>
    <a:masterClrMapping/>
  </p:clrMapOvr>
  <p:transition>
    <p:wedge/>
  </p:transition>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666" name="Text Box 3"/>
          <p:cNvSpPr txBox="1">
            <a:spLocks noChangeArrowheads="1"/>
          </p:cNvSpPr>
          <p:nvPr/>
        </p:nvSpPr>
        <p:spPr bwMode="auto">
          <a:xfrm>
            <a:off x="0" y="1600200"/>
            <a:ext cx="9144000" cy="4400550"/>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lgn="ctr">
                <a:solidFill>
                  <a:srgbClr val="000000"/>
                </a:solidFill>
                <a:prstDash val="sysDot"/>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函数返回值的类型取决于函数类型</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int f( )  /* f( )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{float x=2.3;</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return x+1.3;}   /* </a:t>
            </a:r>
            <a:r>
              <a:rPr kumimoji="1" lang="zh-CN" altLang="en-US" sz="2400" b="1">
                <a:solidFill>
                  <a:schemeClr val="tx2"/>
                </a:solidFill>
                <a:latin typeface="幼圆" pitchFamily="49" charset="-122"/>
                <a:ea typeface="幼圆" pitchFamily="49" charset="-122"/>
              </a:rPr>
              <a:t>返回3 */</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 </a:t>
            </a:r>
            <a:r>
              <a:rPr kumimoji="1" lang="en-US" altLang="zh-CN" sz="2400" b="1">
                <a:solidFill>
                  <a:schemeClr val="tx2"/>
                </a:solidFill>
                <a:latin typeface="幼圆" pitchFamily="49" charset="-122"/>
                <a:ea typeface="幼圆" pitchFamily="49" charset="-122"/>
              </a:rPr>
              <a:t>float *f(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  </a:t>
            </a:r>
            <a:r>
              <a:rPr kumimoji="1" lang="zh-CN" altLang="en-US" sz="2400" b="1">
                <a:solidFill>
                  <a:schemeClr val="tx2"/>
                </a:solidFill>
                <a:latin typeface="幼圆" pitchFamily="49" charset="-122"/>
                <a:ea typeface="幼圆" pitchFamily="49" charset="-122"/>
              </a:rPr>
              <a:t>返回</a:t>
            </a:r>
            <a:r>
              <a:rPr kumimoji="1" lang="en-US" altLang="zh-CN" sz="2400" b="1">
                <a:solidFill>
                  <a:schemeClr val="tx2"/>
                </a:solidFill>
                <a:latin typeface="幼圆" pitchFamily="49" charset="-122"/>
                <a:ea typeface="幼圆" pitchFamily="49" charset="-122"/>
              </a:rPr>
              <a:t>float</a:t>
            </a:r>
            <a:r>
              <a:rPr kumimoji="1" lang="zh-CN" altLang="en-US" sz="2400" b="1">
                <a:solidFill>
                  <a:schemeClr val="tx2"/>
                </a:solidFill>
                <a:latin typeface="幼圆" pitchFamily="49" charset="-122"/>
                <a:ea typeface="幼圆" pitchFamily="49" charset="-122"/>
              </a:rPr>
              <a:t>指针</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 </a:t>
            </a:r>
            <a:r>
              <a:rPr kumimoji="1" lang="en-US" altLang="zh-CN" sz="2400" b="1">
                <a:solidFill>
                  <a:schemeClr val="tx2"/>
                </a:solidFill>
                <a:latin typeface="幼圆" pitchFamily="49" charset="-122"/>
                <a:ea typeface="幼圆" pitchFamily="49" charset="-122"/>
              </a:rPr>
              <a:t>void f(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r>
              <a:rPr kumimoji="1" lang="zh-CN" altLang="en-US" sz="2400" b="1">
                <a:solidFill>
                  <a:schemeClr val="tx2"/>
                </a:solidFill>
                <a:latin typeface="幼圆" pitchFamily="49" charset="-122"/>
                <a:ea typeface="幼圆" pitchFamily="49" charset="-122"/>
              </a:rPr>
              <a:t>无返回值   </a:t>
            </a:r>
            <a:r>
              <a:rPr kumimoji="1" lang="en-US" altLang="zh-CN" sz="2400" b="1">
                <a:solidFill>
                  <a:schemeClr val="tx2"/>
                </a:solidFill>
                <a:latin typeface="幼圆" pitchFamily="49" charset="-122"/>
                <a:ea typeface="幼圆" pitchFamily="49" charset="-122"/>
              </a:rPr>
              <a:t>k=f( )+2;╳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struct node f(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  </a:t>
            </a:r>
            <a:r>
              <a:rPr kumimoji="1" lang="zh-CN" altLang="en-US" sz="2400" b="1">
                <a:solidFill>
                  <a:schemeClr val="tx2"/>
                </a:solidFill>
                <a:latin typeface="幼圆" pitchFamily="49" charset="-122"/>
                <a:ea typeface="幼圆" pitchFamily="49" charset="-122"/>
              </a:rPr>
              <a:t>返回</a:t>
            </a:r>
            <a:r>
              <a:rPr kumimoji="1" lang="en-US" altLang="zh-CN" sz="2400" b="1">
                <a:solidFill>
                  <a:schemeClr val="tx2"/>
                </a:solidFill>
                <a:latin typeface="幼圆" pitchFamily="49" charset="-122"/>
                <a:ea typeface="幼圆" pitchFamily="49" charset="-122"/>
              </a:rPr>
              <a:t>struct node </a:t>
            </a:r>
            <a:r>
              <a:rPr kumimoji="1" lang="zh-CN" altLang="en-US" sz="2400" b="1">
                <a:solidFill>
                  <a:schemeClr val="tx2"/>
                </a:solidFill>
                <a:latin typeface="幼圆" pitchFamily="49" charset="-122"/>
                <a:ea typeface="幼圆" pitchFamily="49" charset="-122"/>
              </a:rPr>
              <a:t>值 </a:t>
            </a:r>
          </a:p>
        </p:txBody>
      </p:sp>
      <p:graphicFrame>
        <p:nvGraphicFramePr>
          <p:cNvPr id="113667" name="Object 42"/>
          <p:cNvGraphicFramePr>
            <a:graphicFrameLocks noGrp="1" noChangeAspect="1"/>
          </p:cNvGraphicFramePr>
          <p:nvPr>
            <p:ph/>
          </p:nvPr>
        </p:nvGraphicFramePr>
        <p:xfrm>
          <a:off x="6665913" y="2514600"/>
          <a:ext cx="2478087" cy="2706688"/>
        </p:xfrm>
        <a:graphic>
          <a:graphicData uri="http://schemas.openxmlformats.org/presentationml/2006/ole">
            <mc:AlternateContent xmlns:mc="http://schemas.openxmlformats.org/markup-compatibility/2006">
              <mc:Choice xmlns:v="urn:schemas-microsoft-com:vml" Requires="v">
                <p:oleObj name="Clip" r:id="rId2" imgW="3176257" imgH="3468986" progId="">
                  <p:embed/>
                </p:oleObj>
              </mc:Choice>
              <mc:Fallback>
                <p:oleObj name="Clip" r:id="rId2" imgW="3176257" imgH="3468986"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5913" y="2514600"/>
                        <a:ext cx="2478087" cy="270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4"/>
          <p:cNvSpPr>
            <a:spLocks noChangeArrowheads="1"/>
          </p:cNvSpPr>
          <p:nvPr/>
        </p:nvSpPr>
        <p:spPr bwMode="auto">
          <a:xfrm>
            <a:off x="10886" y="533400"/>
            <a:ext cx="307007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函数</a:t>
            </a:r>
          </a:p>
        </p:txBody>
      </p:sp>
    </p:spTree>
    <p:extLst>
      <p:ext uri="{BB962C8B-B14F-4D97-AF65-F5344CB8AC3E}">
        <p14:creationId xmlns:p14="http://schemas.microsoft.com/office/powerpoint/2010/main" val="1076496555"/>
      </p:ext>
    </p:extLst>
  </p:cSld>
  <p:clrMapOvr>
    <a:masterClrMapping/>
  </p:clrMapOvr>
  <p:transition>
    <p:wedge/>
  </p:transition>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690" name="Text Box 3"/>
          <p:cNvSpPr txBox="1">
            <a:spLocks noChangeArrowheads="1"/>
          </p:cNvSpPr>
          <p:nvPr/>
        </p:nvSpPr>
        <p:spPr bwMode="auto">
          <a:xfrm>
            <a:off x="0" y="1225550"/>
            <a:ext cx="9144000" cy="5632450"/>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lgn="ctr">
                <a:solidFill>
                  <a:srgbClr val="000000"/>
                </a:solidFill>
                <a:prstDash val="sysDot"/>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spcBef>
                <a:spcPct val="20000"/>
              </a:spcBef>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 ● </a:t>
            </a:r>
            <a:r>
              <a:rPr kumimoji="1" lang="zh-CN" altLang="en-US" sz="2400" b="1" dirty="0">
                <a:solidFill>
                  <a:srgbClr val="FF0000"/>
                </a:solidFill>
                <a:latin typeface="幼圆" pitchFamily="49" charset="-122"/>
                <a:ea typeface="幼圆" pitchFamily="49" charset="-122"/>
              </a:rPr>
              <a:t>参数的传递</a:t>
            </a:r>
          </a:p>
          <a:p>
            <a:pPr eaLnBrk="1" hangingPunct="1">
              <a:spcBef>
                <a:spcPct val="20000"/>
              </a:spcBef>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实参                 形参                传递的值</a:t>
            </a:r>
          </a:p>
          <a:p>
            <a:pPr eaLnBrk="1" hangingPunct="1">
              <a:spcBef>
                <a:spcPct val="20000"/>
              </a:spcBef>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常量,变量, 表达式    变量             值(单向值传递)</a:t>
            </a:r>
          </a:p>
          <a:p>
            <a:pPr eaLnBrk="1" hangingPunct="1">
              <a:spcBef>
                <a:spcPct val="20000"/>
              </a:spcBef>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数组                 数组,指针变量    数组的首地址</a:t>
            </a:r>
          </a:p>
          <a:p>
            <a:pPr eaLnBrk="1" hangingPunct="1">
              <a:spcBef>
                <a:spcPct val="20000"/>
              </a:spcBef>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变量地址             指针变量         地址</a:t>
            </a:r>
          </a:p>
          <a:p>
            <a:pPr eaLnBrk="1" hangingPunct="1">
              <a:spcBef>
                <a:spcPct val="20000"/>
              </a:spcBef>
              <a:buClr>
                <a:schemeClr val="tx1"/>
              </a:buClr>
              <a:buSzPct val="60000"/>
              <a:buFont typeface="宋体" pitchFamily="2" charset="-122"/>
              <a:buNone/>
            </a:pPr>
            <a:r>
              <a:rPr kumimoji="1" lang="zh-CN" altLang="en-US" sz="2400" b="1" dirty="0">
                <a:solidFill>
                  <a:schemeClr val="tx2"/>
                </a:solidFill>
                <a:latin typeface="Arial" pitchFamily="34" charset="0"/>
                <a:ea typeface="幼圆" pitchFamily="49" charset="-122"/>
              </a:rPr>
              <a:t> </a:t>
            </a:r>
            <a:r>
              <a:rPr kumimoji="1" lang="zh-CN" altLang="en-US" sz="2400" b="1" dirty="0">
                <a:solidFill>
                  <a:schemeClr val="tx2"/>
                </a:solidFill>
                <a:latin typeface="幼圆" pitchFamily="49" charset="-122"/>
                <a:ea typeface="幼圆" pitchFamily="49" charset="-122"/>
              </a:rPr>
              <a:t>结构地址            结构指针变量      结构地址</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void f(</a:t>
            </a:r>
            <a:r>
              <a:rPr kumimoji="1" lang="en-US" altLang="zh-CN" sz="2400" b="1" dirty="0" err="1">
                <a:solidFill>
                  <a:schemeClr val="tx2"/>
                </a:solidFill>
                <a:latin typeface="幼圆" pitchFamily="49" charset="-122"/>
                <a:ea typeface="幼圆" pitchFamily="49" charset="-122"/>
              </a:rPr>
              <a:t>int</a:t>
            </a:r>
            <a:r>
              <a:rPr kumimoji="1" lang="en-US" altLang="zh-CN" sz="2400" b="1" dirty="0">
                <a:solidFill>
                  <a:schemeClr val="tx2"/>
                </a:solidFill>
                <a:latin typeface="幼圆" pitchFamily="49" charset="-122"/>
                <a:ea typeface="幼圆" pitchFamily="49" charset="-122"/>
              </a:rPr>
              <a:t> s[ ])        void f(</a:t>
            </a:r>
            <a:r>
              <a:rPr kumimoji="1" lang="en-US" altLang="zh-CN" sz="2400" b="1" dirty="0" err="1">
                <a:solidFill>
                  <a:schemeClr val="tx2"/>
                </a:solidFill>
                <a:latin typeface="幼圆" pitchFamily="49" charset="-122"/>
                <a:ea typeface="幼圆" pitchFamily="49" charset="-122"/>
              </a:rPr>
              <a:t>int</a:t>
            </a:r>
            <a:r>
              <a:rPr kumimoji="1" lang="en-US" altLang="zh-CN" sz="2400" b="1" dirty="0">
                <a:solidFill>
                  <a:schemeClr val="tx2"/>
                </a:solidFill>
                <a:latin typeface="幼圆" pitchFamily="49" charset="-122"/>
                <a:ea typeface="幼圆" pitchFamily="49" charset="-122"/>
              </a:rPr>
              <a:t> *s)  void f(</a:t>
            </a:r>
            <a:r>
              <a:rPr kumimoji="1" lang="en-US" altLang="zh-CN" sz="2400" b="1" dirty="0" err="1">
                <a:solidFill>
                  <a:schemeClr val="tx2"/>
                </a:solidFill>
                <a:latin typeface="幼圆" pitchFamily="49" charset="-122"/>
                <a:ea typeface="幼圆" pitchFamily="49" charset="-122"/>
              </a:rPr>
              <a:t>struct</a:t>
            </a:r>
            <a:r>
              <a:rPr kumimoji="1" lang="en-US" altLang="zh-CN" sz="2400" b="1" dirty="0">
                <a:solidFill>
                  <a:schemeClr val="tx2"/>
                </a:solidFill>
                <a:latin typeface="幼圆" pitchFamily="49" charset="-122"/>
                <a:ea typeface="幼圆" pitchFamily="49" charset="-122"/>
              </a:rPr>
              <a:t> k *s)</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  </a:t>
            </a:r>
            <a:r>
              <a:rPr kumimoji="1" lang="en-US" altLang="zh-CN" sz="2400" b="1" dirty="0">
                <a:solidFill>
                  <a:schemeClr val="tx2"/>
                </a:solidFill>
                <a:latin typeface="Arial" pitchFamily="34" charset="0"/>
                <a:ea typeface="幼圆" pitchFamily="49" charset="-122"/>
              </a:rPr>
              <a:t>……</a:t>
            </a:r>
            <a:r>
              <a:rPr kumimoji="1" lang="en-US" altLang="zh-CN" sz="2400" b="1" dirty="0">
                <a:solidFill>
                  <a:schemeClr val="tx2"/>
                </a:solidFill>
                <a:latin typeface="幼圆" pitchFamily="49" charset="-122"/>
                <a:ea typeface="幼圆" pitchFamily="49" charset="-122"/>
              </a:rPr>
              <a:t>      }                {</a:t>
            </a:r>
            <a:r>
              <a:rPr kumimoji="1" lang="en-US" altLang="zh-CN" sz="2400" b="1" dirty="0">
                <a:solidFill>
                  <a:schemeClr val="tx2"/>
                </a:solidFill>
                <a:latin typeface="Arial" pitchFamily="34" charset="0"/>
                <a:ea typeface="幼圆" pitchFamily="49" charset="-122"/>
              </a:rPr>
              <a:t>……</a:t>
            </a:r>
            <a:r>
              <a:rPr kumimoji="1" lang="en-US" altLang="zh-CN" sz="2400" b="1" dirty="0">
                <a:solidFill>
                  <a:schemeClr val="tx2"/>
                </a:solidFill>
                <a:latin typeface="幼圆" pitchFamily="49" charset="-122"/>
                <a:ea typeface="幼圆" pitchFamily="49" charset="-122"/>
              </a:rPr>
              <a:t>       }             { </a:t>
            </a:r>
            <a:r>
              <a:rPr kumimoji="1" lang="en-US" altLang="zh-CN" sz="2400" b="1" dirty="0">
                <a:solidFill>
                  <a:schemeClr val="tx2"/>
                </a:solidFill>
                <a:latin typeface="Arial" pitchFamily="34" charset="0"/>
                <a:ea typeface="幼圆" pitchFamily="49" charset="-122"/>
              </a:rPr>
              <a:t>……</a:t>
            </a:r>
            <a:r>
              <a:rPr kumimoji="1" lang="en-US" altLang="zh-CN" sz="2400" b="1" dirty="0">
                <a:solidFill>
                  <a:schemeClr val="tx2"/>
                </a:solidFill>
                <a:latin typeface="幼圆" pitchFamily="49" charset="-122"/>
                <a:ea typeface="幼圆" pitchFamily="49" charset="-122"/>
              </a:rPr>
              <a:t>       }</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main( )                     main( )                 main( ) </a:t>
            </a:r>
            <a:r>
              <a:rPr kumimoji="1" lang="en-US" altLang="zh-CN" sz="2400" b="1" dirty="0">
                <a:solidFill>
                  <a:schemeClr val="tx2"/>
                </a:solidFill>
                <a:latin typeface="Arial" pitchFamily="34" charset="0"/>
                <a:ea typeface="幼圆" pitchFamily="49" charset="-122"/>
              </a:rPr>
              <a:t> </a:t>
            </a:r>
            <a:endParaRPr kumimoji="1" lang="en-US" altLang="zh-CN" sz="2400" b="1" dirty="0">
              <a:solidFill>
                <a:schemeClr val="tx2"/>
              </a:solidFill>
              <a:latin typeface="幼圆" pitchFamily="49" charset="-122"/>
              <a:ea typeface="幼圆" pitchFamily="49" charset="-122"/>
            </a:endParaRP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a:t>
            </a:r>
            <a:r>
              <a:rPr kumimoji="1" lang="en-US" altLang="zh-CN" sz="2400" b="1" dirty="0" err="1">
                <a:solidFill>
                  <a:schemeClr val="tx2"/>
                </a:solidFill>
                <a:latin typeface="幼圆" pitchFamily="49" charset="-122"/>
                <a:ea typeface="幼圆" pitchFamily="49" charset="-122"/>
              </a:rPr>
              <a:t>int</a:t>
            </a:r>
            <a:r>
              <a:rPr kumimoji="1" lang="en-US" altLang="zh-CN" sz="2400" b="1" dirty="0">
                <a:solidFill>
                  <a:schemeClr val="tx2"/>
                </a:solidFill>
                <a:latin typeface="幼圆" pitchFamily="49" charset="-122"/>
                <a:ea typeface="幼圆" pitchFamily="49" charset="-122"/>
              </a:rPr>
              <a:t> a[10];                 {</a:t>
            </a:r>
            <a:r>
              <a:rPr kumimoji="1" lang="en-US" altLang="zh-CN" sz="2400" b="1" dirty="0" err="1">
                <a:solidFill>
                  <a:schemeClr val="tx2"/>
                </a:solidFill>
                <a:latin typeface="幼圆" pitchFamily="49" charset="-122"/>
                <a:ea typeface="幼圆" pitchFamily="49" charset="-122"/>
              </a:rPr>
              <a:t>int</a:t>
            </a:r>
            <a:r>
              <a:rPr kumimoji="1" lang="en-US" altLang="zh-CN" sz="2400" b="1" dirty="0">
                <a:solidFill>
                  <a:schemeClr val="tx2"/>
                </a:solidFill>
                <a:latin typeface="幼圆" pitchFamily="49" charset="-122"/>
                <a:ea typeface="幼圆" pitchFamily="49" charset="-122"/>
              </a:rPr>
              <a:t> a=10; {</a:t>
            </a:r>
            <a:r>
              <a:rPr kumimoji="1" lang="en-US" altLang="zh-CN" sz="2400" b="1" dirty="0" err="1">
                <a:solidFill>
                  <a:schemeClr val="tx2"/>
                </a:solidFill>
                <a:latin typeface="幼圆" pitchFamily="49" charset="-122"/>
                <a:ea typeface="幼圆" pitchFamily="49" charset="-122"/>
              </a:rPr>
              <a:t>struct</a:t>
            </a:r>
            <a:r>
              <a:rPr kumimoji="1" lang="en-US" altLang="zh-CN" sz="2400" b="1" dirty="0">
                <a:solidFill>
                  <a:schemeClr val="tx2"/>
                </a:solidFill>
                <a:latin typeface="幼圆" pitchFamily="49" charset="-122"/>
                <a:ea typeface="幼圆" pitchFamily="49" charset="-122"/>
              </a:rPr>
              <a:t> k  a;</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  f(a); f(&amp;a);                   f(&amp;a);</a:t>
            </a:r>
            <a:endParaRPr kumimoji="1" lang="zh-CN" altLang="en-US" sz="2400" b="1" dirty="0">
              <a:solidFill>
                <a:schemeClr val="tx2"/>
              </a:solidFill>
              <a:latin typeface="幼圆" pitchFamily="49" charset="-122"/>
              <a:ea typeface="幼圆" pitchFamily="49" charset="-122"/>
            </a:endParaRPr>
          </a:p>
        </p:txBody>
      </p:sp>
      <p:sp>
        <p:nvSpPr>
          <p:cNvPr id="6" name="Rectangle 4"/>
          <p:cNvSpPr>
            <a:spLocks noChangeArrowheads="1"/>
          </p:cNvSpPr>
          <p:nvPr/>
        </p:nvSpPr>
        <p:spPr bwMode="auto">
          <a:xfrm>
            <a:off x="10886" y="533400"/>
            <a:ext cx="307007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函数</a:t>
            </a:r>
          </a:p>
        </p:txBody>
      </p:sp>
    </p:spTree>
    <p:extLst>
      <p:ext uri="{BB962C8B-B14F-4D97-AF65-F5344CB8AC3E}">
        <p14:creationId xmlns:p14="http://schemas.microsoft.com/office/powerpoint/2010/main" val="172410788"/>
      </p:ext>
    </p:extLst>
  </p:cSld>
  <p:clrMapOvr>
    <a:masterClrMapping/>
  </p:clrMapOvr>
  <p:transition>
    <p:wedge/>
  </p:transition>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738" name="Text Box 3"/>
          <p:cNvSpPr txBox="1">
            <a:spLocks noChangeArrowheads="1"/>
          </p:cNvSpPr>
          <p:nvPr/>
        </p:nvSpPr>
        <p:spPr bwMode="auto">
          <a:xfrm>
            <a:off x="0" y="1066800"/>
            <a:ext cx="9144000" cy="4894263"/>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lgn="ctr">
                <a:solidFill>
                  <a:srgbClr val="000000"/>
                </a:solidFill>
                <a:prstDash val="sysDot"/>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●递归调用</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按递归公式写程序：</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n!=f(n)=</a:t>
            </a:r>
            <a:r>
              <a:rPr kumimoji="1" lang="zh-CN" altLang="en-US" sz="2400" b="1">
                <a:solidFill>
                  <a:schemeClr val="tx2"/>
                </a:solidFill>
                <a:latin typeface="幼圆" pitchFamily="49" charset="-122"/>
                <a:ea typeface="幼圆" pitchFamily="49" charset="-122"/>
              </a:rPr>
              <a:t>  1                 </a:t>
            </a:r>
            <a:r>
              <a:rPr kumimoji="1" lang="en-US" altLang="zh-CN" sz="2400" b="1">
                <a:solidFill>
                  <a:schemeClr val="tx2"/>
                </a:solidFill>
                <a:latin typeface="幼圆" pitchFamily="49" charset="-122"/>
                <a:ea typeface="幼圆" pitchFamily="49" charset="-122"/>
              </a:rPr>
              <a:t>n=1</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n*f(n-1)                 n&gt;1</a:t>
            </a:r>
          </a:p>
          <a:p>
            <a:pPr eaLnBrk="1" hangingPunct="1">
              <a:spcBef>
                <a:spcPct val="20000"/>
              </a:spcBef>
              <a:buClr>
                <a:schemeClr val="tx1"/>
              </a:buClr>
              <a:buSzPct val="60000"/>
              <a:buFont typeface="宋体" pitchFamily="2" charset="-122"/>
              <a:buNone/>
            </a:pPr>
            <a:endParaRPr kumimoji="1" lang="en-US" altLang="zh-CN" sz="2400" b="1">
              <a:solidFill>
                <a:schemeClr val="tx2"/>
              </a:solidFill>
              <a:latin typeface="幼圆" pitchFamily="49" charset="-122"/>
              <a:ea typeface="幼圆" pitchFamily="49" charset="-122"/>
            </a:endParaRP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long f(int n )  /*</a:t>
            </a:r>
            <a:r>
              <a:rPr kumimoji="1" lang="zh-CN" altLang="en-US" sz="2400" b="1">
                <a:solidFill>
                  <a:schemeClr val="tx2"/>
                </a:solidFill>
                <a:latin typeface="幼圆" pitchFamily="49" charset="-122"/>
                <a:ea typeface="幼圆" pitchFamily="49" charset="-122"/>
              </a:rPr>
              <a:t>求</a:t>
            </a:r>
            <a:r>
              <a:rPr kumimoji="1" lang="en-US" altLang="zh-CN" sz="2400" b="1">
                <a:solidFill>
                  <a:schemeClr val="tx2"/>
                </a:solidFill>
                <a:latin typeface="幼圆" pitchFamily="49" charset="-122"/>
                <a:ea typeface="幼圆" pitchFamily="49" charset="-122"/>
              </a:rPr>
              <a:t>n! */          main(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if(n==1) return 1;                 { int n=5;</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else  return  n*f(n-1);              printf(</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%ld</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,f(n));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p>
          <a:p>
            <a:pPr eaLnBrk="1" hangingPunct="1">
              <a:spcBef>
                <a:spcPct val="20000"/>
              </a:spcBef>
              <a:buClr>
                <a:schemeClr val="tx1"/>
              </a:buClr>
              <a:buSzPct val="60000"/>
              <a:buFont typeface="宋体" pitchFamily="2" charset="-122"/>
              <a:buNone/>
            </a:pPr>
            <a:endParaRPr kumimoji="1" lang="en-US" altLang="zh-CN" sz="2400" b="1">
              <a:solidFill>
                <a:schemeClr val="tx2"/>
              </a:solidFill>
              <a:latin typeface="幼圆" pitchFamily="49" charset="-122"/>
              <a:ea typeface="幼圆" pitchFamily="49" charset="-122"/>
            </a:endParaRPr>
          </a:p>
          <a:p>
            <a:pPr eaLnBrk="1" hangingPunct="1">
              <a:spcBef>
                <a:spcPct val="20000"/>
              </a:spcBef>
              <a:buClr>
                <a:schemeClr val="tx1"/>
              </a:buClr>
              <a:buSzPct val="60000"/>
              <a:buFont typeface="宋体" pitchFamily="2" charset="-122"/>
              <a:buNone/>
            </a:pPr>
            <a:endParaRPr kumimoji="1" lang="en-US" altLang="zh-CN" sz="2400" b="1">
              <a:solidFill>
                <a:schemeClr val="tx2"/>
              </a:solidFill>
              <a:latin typeface="幼圆" pitchFamily="49" charset="-122"/>
              <a:ea typeface="幼圆" pitchFamily="49" charset="-122"/>
            </a:endParaRPr>
          </a:p>
        </p:txBody>
      </p:sp>
      <p:pic>
        <p:nvPicPr>
          <p:cNvPr id="116739" name="Picture 3" descr="MCj02341100000[1]"/>
          <p:cNvPicPr>
            <a:picLocks noChangeAspect="1" noChangeArrowheads="1"/>
          </p:cNvPicPr>
          <p:nvPr/>
        </p:nvPicPr>
        <p:blipFill>
          <a:blip r:embed="rId2" cstate="print">
            <a:extLst>
              <a:ext uri="{28A0092B-C50C-407E-A947-70E740481C1C}">
                <a14:useLocalDpi xmlns:a14="http://schemas.microsoft.com/office/drawing/2010/main" val="0"/>
              </a:ext>
            </a:extLst>
          </a:blip>
          <a:srcRect r="25797"/>
          <a:stretch>
            <a:fillRect/>
          </a:stretch>
        </p:blipFill>
        <p:spPr bwMode="auto">
          <a:xfrm>
            <a:off x="4191000" y="4038600"/>
            <a:ext cx="14097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10886" y="533400"/>
            <a:ext cx="307007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函数</a:t>
            </a:r>
          </a:p>
        </p:txBody>
      </p:sp>
    </p:spTree>
    <p:extLst>
      <p:ext uri="{BB962C8B-B14F-4D97-AF65-F5344CB8AC3E}">
        <p14:creationId xmlns:p14="http://schemas.microsoft.com/office/powerpoint/2010/main" val="931965217"/>
      </p:ext>
    </p:extLst>
  </p:cSld>
  <p:clrMapOvr>
    <a:masterClrMapping/>
  </p:clrMapOvr>
  <p:transition>
    <p:wedge/>
  </p:transition>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762" name="Text Box 3"/>
          <p:cNvSpPr txBox="1">
            <a:spLocks noChangeArrowheads="1"/>
          </p:cNvSpPr>
          <p:nvPr/>
        </p:nvSpPr>
        <p:spPr bwMode="auto">
          <a:xfrm>
            <a:off x="0" y="1371600"/>
            <a:ext cx="9144000" cy="4838700"/>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lgn="ctr">
                <a:solidFill>
                  <a:srgbClr val="000000"/>
                </a:solidFill>
                <a:prstDash val="sysDot"/>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★递归法求字符串长度</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strlen1 (char *s)  /* </a:t>
            </a:r>
            <a:r>
              <a:rPr kumimoji="1" lang="zh-CN" altLang="en-US" sz="2400" b="1">
                <a:solidFill>
                  <a:schemeClr val="tx2"/>
                </a:solidFill>
                <a:latin typeface="幼圆" pitchFamily="49" charset="-122"/>
                <a:ea typeface="幼圆" pitchFamily="49" charset="-122"/>
              </a:rPr>
              <a:t>求</a:t>
            </a:r>
            <a:r>
              <a:rPr kumimoji="1" lang="en-US" altLang="zh-CN" sz="2400" b="1">
                <a:solidFill>
                  <a:schemeClr val="tx2"/>
                </a:solidFill>
                <a:latin typeface="幼圆" pitchFamily="49" charset="-122"/>
                <a:ea typeface="幼圆" pitchFamily="49" charset="-122"/>
              </a:rPr>
              <a:t>s</a:t>
            </a:r>
            <a:r>
              <a:rPr kumimoji="1" lang="zh-CN" altLang="en-US" sz="2400" b="1">
                <a:solidFill>
                  <a:schemeClr val="tx2"/>
                </a:solidFill>
                <a:latin typeface="幼圆" pitchFamily="49" charset="-122"/>
                <a:ea typeface="幼圆" pitchFamily="49" charset="-122"/>
              </a:rPr>
              <a:t>为首地址的串长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 if(*s==</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return  0;</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else                  return  1+strlen1(s+1);</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 strlen1(s+1)</a:t>
            </a:r>
            <a:r>
              <a:rPr kumimoji="1" lang="zh-CN" altLang="en-US" sz="2400" b="1">
                <a:solidFill>
                  <a:schemeClr val="tx2"/>
                </a:solidFill>
                <a:latin typeface="幼圆" pitchFamily="49" charset="-122"/>
                <a:ea typeface="幼圆" pitchFamily="49" charset="-122"/>
              </a:rPr>
              <a:t>是以(</a:t>
            </a:r>
            <a:r>
              <a:rPr kumimoji="1" lang="en-US" altLang="zh-CN" sz="2400" b="1">
                <a:solidFill>
                  <a:schemeClr val="tx2"/>
                </a:solidFill>
                <a:latin typeface="幼圆" pitchFamily="49" charset="-122"/>
                <a:ea typeface="幼圆" pitchFamily="49" charset="-122"/>
              </a:rPr>
              <a:t>s+1)</a:t>
            </a:r>
            <a:r>
              <a:rPr kumimoji="1" lang="zh-CN" altLang="en-US" sz="2400" b="1">
                <a:solidFill>
                  <a:schemeClr val="tx2"/>
                </a:solidFill>
                <a:latin typeface="幼圆" pitchFamily="49" charset="-122"/>
                <a:ea typeface="幼圆" pitchFamily="49" charset="-122"/>
              </a:rPr>
              <a:t>为首地址的串长*/ </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main(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char s[80];</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scanf(</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%s</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,s);</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printf(</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%d\n</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,strlen1(s));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a:t>
            </a:r>
          </a:p>
        </p:txBody>
      </p:sp>
      <p:pic>
        <p:nvPicPr>
          <p:cNvPr id="117763" name="Picture 9" descr="nuanxjbz[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43663" y="4076700"/>
            <a:ext cx="1714500" cy="182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10886" y="533400"/>
            <a:ext cx="307007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函数</a:t>
            </a:r>
          </a:p>
        </p:txBody>
      </p:sp>
    </p:spTree>
    <p:extLst>
      <p:ext uri="{BB962C8B-B14F-4D97-AF65-F5344CB8AC3E}">
        <p14:creationId xmlns:p14="http://schemas.microsoft.com/office/powerpoint/2010/main" val="3228573877"/>
      </p:ext>
    </p:extLst>
  </p:cSld>
  <p:clrMapOvr>
    <a:masterClrMapping/>
  </p:clrMapOvr>
  <p:transition>
    <p:wedge/>
  </p:transition>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786" name="Text Box 3"/>
          <p:cNvSpPr txBox="1">
            <a:spLocks noChangeArrowheads="1"/>
          </p:cNvSpPr>
          <p:nvPr/>
        </p:nvSpPr>
        <p:spPr bwMode="auto">
          <a:xfrm>
            <a:off x="0" y="1524000"/>
            <a:ext cx="9144000" cy="4838700"/>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lgn="ctr">
                <a:solidFill>
                  <a:srgbClr val="000000"/>
                </a:solidFill>
                <a:prstDash val="sysDot"/>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★递归法反向输出整数各位数字</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f (int n)</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if(n&gt;=0&amp;&amp;n&lt;=9)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printf(</a:t>
            </a:r>
            <a:r>
              <a:rPr kumimoji="1" lang="en-US" altLang="zh-CN" sz="2400" b="1">
                <a:solidFill>
                  <a:schemeClr val="tx2"/>
                </a:solidFill>
                <a:latin typeface="Arial" pitchFamily="34" charset="0"/>
                <a:ea typeface="幼圆" pitchFamily="49" charset="-122"/>
                <a:cs typeface="Times New Roman" pitchFamily="18" charset="0"/>
              </a:rPr>
              <a:t>“</a:t>
            </a:r>
            <a:r>
              <a:rPr kumimoji="1" lang="en-US" altLang="zh-CN" sz="2400" b="1">
                <a:solidFill>
                  <a:schemeClr val="tx2"/>
                </a:solidFill>
                <a:latin typeface="幼圆" pitchFamily="49" charset="-122"/>
                <a:ea typeface="幼圆" pitchFamily="49" charset="-122"/>
              </a:rPr>
              <a:t>%d</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,n);      /*</a:t>
            </a:r>
            <a:r>
              <a:rPr kumimoji="1" lang="zh-CN" altLang="en-US" sz="2400" b="1">
                <a:solidFill>
                  <a:schemeClr val="tx2"/>
                </a:solidFill>
                <a:latin typeface="幼圆" pitchFamily="49" charset="-122"/>
                <a:ea typeface="幼圆" pitchFamily="49" charset="-122"/>
              </a:rPr>
              <a:t>一位数字直接输出 */</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else { printf(</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%d</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,n%10);/* </a:t>
            </a:r>
            <a:r>
              <a:rPr kumimoji="1" lang="zh-CN" altLang="en-US" sz="2400" b="1">
                <a:solidFill>
                  <a:schemeClr val="tx2"/>
                </a:solidFill>
                <a:latin typeface="幼圆" pitchFamily="49" charset="-122"/>
                <a:ea typeface="幼圆" pitchFamily="49" charset="-122"/>
              </a:rPr>
              <a:t>先输出个位数字 */</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f(n/10);}          /* </a:t>
            </a:r>
            <a:r>
              <a:rPr kumimoji="1" lang="zh-CN" altLang="en-US" sz="2400" b="1">
                <a:solidFill>
                  <a:schemeClr val="tx2"/>
                </a:solidFill>
                <a:latin typeface="幼圆" pitchFamily="49" charset="-122"/>
                <a:ea typeface="幼圆" pitchFamily="49" charset="-122"/>
              </a:rPr>
              <a:t>输出个位以前的各位数字*/</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main(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int n=12345;</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printf(</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%ld</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,f(n));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a:t>
            </a:r>
          </a:p>
        </p:txBody>
      </p:sp>
      <p:pic>
        <p:nvPicPr>
          <p:cNvPr id="118787" name="Picture 7" descr="MCj0290846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39025" y="3962400"/>
            <a:ext cx="1704975" cy="253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10886" y="533400"/>
            <a:ext cx="307007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函数</a:t>
            </a:r>
          </a:p>
        </p:txBody>
      </p:sp>
    </p:spTree>
    <p:extLst>
      <p:ext uri="{BB962C8B-B14F-4D97-AF65-F5344CB8AC3E}">
        <p14:creationId xmlns:p14="http://schemas.microsoft.com/office/powerpoint/2010/main" val="3815026817"/>
      </p:ext>
    </p:extLst>
  </p:cSld>
  <p:clrMapOvr>
    <a:masterClrMapping/>
  </p:clrMapOvr>
  <p:transition>
    <p:wedg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2"/>
          <p:cNvSpPr>
            <a:spLocks noGrp="1"/>
          </p:cNvSpPr>
          <p:nvPr>
            <p:ph type="title"/>
          </p:nvPr>
        </p:nvSpPr>
        <p:spPr>
          <a:xfrm>
            <a:off x="457200" y="909638"/>
            <a:ext cx="8229600" cy="1143000"/>
          </a:xfrm>
        </p:spPr>
        <p:txBody>
          <a:bodyPr/>
          <a:lstStyle/>
          <a:p>
            <a:r>
              <a:rPr lang="zh-CN" altLang="en-US" sz="4000">
                <a:solidFill>
                  <a:srgbClr val="C00000"/>
                </a:solidFill>
                <a:ea typeface="宋体" pitchFamily="2" charset="-122"/>
              </a:rPr>
              <a:t>存储类型小结</a:t>
            </a:r>
          </a:p>
        </p:txBody>
      </p:sp>
      <p:sp>
        <p:nvSpPr>
          <p:cNvPr id="119811" name="Rectangle 3"/>
          <p:cNvSpPr txBox="1">
            <a:spLocks noChangeArrowheads="1"/>
          </p:cNvSpPr>
          <p:nvPr/>
        </p:nvSpPr>
        <p:spPr bwMode="auto">
          <a:xfrm>
            <a:off x="0" y="1924050"/>
            <a:ext cx="9601200"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marL="342900" indent="-342900" algn="just">
              <a:lnSpc>
                <a:spcPct val="140000"/>
              </a:lnSpc>
              <a:spcBef>
                <a:spcPct val="20000"/>
              </a:spcBef>
              <a:buFont typeface="Wingdings" pitchFamily="2" charset="2"/>
              <a:buNone/>
            </a:pPr>
            <a:r>
              <a:rPr lang="zh-CN" altLang="en-US" sz="2300" b="1" u="sng" dirty="0">
                <a:latin typeface="宋体" pitchFamily="2" charset="-122"/>
              </a:rPr>
              <a:t>    性   能    自动变量 外部变量 外部静态 内部静态 寄存器变量</a:t>
            </a:r>
            <a:endParaRPr lang="zh-CN" altLang="en-US" sz="2300" b="1" dirty="0">
              <a:latin typeface="宋体" pitchFamily="2" charset="-122"/>
            </a:endParaRPr>
          </a:p>
          <a:p>
            <a:pPr marL="342900" indent="-342900" algn="just">
              <a:lnSpc>
                <a:spcPct val="140000"/>
              </a:lnSpc>
              <a:spcBef>
                <a:spcPct val="20000"/>
              </a:spcBef>
              <a:buFont typeface="Wingdings" pitchFamily="2" charset="2"/>
              <a:buNone/>
            </a:pPr>
            <a:r>
              <a:rPr lang="zh-CN" altLang="en-US" sz="2300" b="1" dirty="0">
                <a:latin typeface="宋体" pitchFamily="2" charset="-122"/>
              </a:rPr>
              <a:t>记忆能力           无      有       有       有        无</a:t>
            </a:r>
          </a:p>
          <a:p>
            <a:pPr marL="342900" indent="-342900" algn="just">
              <a:lnSpc>
                <a:spcPct val="140000"/>
              </a:lnSpc>
              <a:spcBef>
                <a:spcPct val="20000"/>
              </a:spcBef>
              <a:buFont typeface="Wingdings" pitchFamily="2" charset="2"/>
              <a:buNone/>
            </a:pPr>
            <a:r>
              <a:rPr lang="zh-CN" altLang="en-US" sz="2300" b="1" dirty="0">
                <a:solidFill>
                  <a:srgbClr val="0000FF"/>
                </a:solidFill>
                <a:latin typeface="宋体" pitchFamily="2" charset="-122"/>
              </a:rPr>
              <a:t>多个函数共享       否      可       可       否        否</a:t>
            </a:r>
          </a:p>
          <a:p>
            <a:pPr marL="342900" indent="-342900" algn="just">
              <a:lnSpc>
                <a:spcPct val="140000"/>
              </a:lnSpc>
              <a:spcBef>
                <a:spcPct val="20000"/>
              </a:spcBef>
              <a:buFont typeface="Wingdings" pitchFamily="2" charset="2"/>
              <a:buNone/>
            </a:pPr>
            <a:r>
              <a:rPr lang="zh-CN" altLang="en-US" sz="2300" b="1" dirty="0">
                <a:solidFill>
                  <a:srgbClr val="00B050"/>
                </a:solidFill>
                <a:latin typeface="宋体" pitchFamily="2" charset="-122"/>
              </a:rPr>
              <a:t>在不同文件共享性   否      可       否       否        否</a:t>
            </a:r>
          </a:p>
          <a:p>
            <a:pPr marL="342900" indent="-342900" algn="just">
              <a:lnSpc>
                <a:spcPct val="140000"/>
              </a:lnSpc>
              <a:spcBef>
                <a:spcPct val="20000"/>
              </a:spcBef>
              <a:buFont typeface="Wingdings" pitchFamily="2" charset="2"/>
              <a:buNone/>
            </a:pPr>
            <a:r>
              <a:rPr lang="zh-CN" altLang="en-US" sz="2300" b="1" dirty="0">
                <a:latin typeface="宋体" pitchFamily="2" charset="-122"/>
              </a:rPr>
              <a:t>未显示赋值的取值  不定     ０       ０       ０       不定</a:t>
            </a:r>
          </a:p>
          <a:p>
            <a:pPr marL="342900" indent="-342900" algn="just">
              <a:lnSpc>
                <a:spcPct val="140000"/>
              </a:lnSpc>
              <a:spcBef>
                <a:spcPct val="20000"/>
              </a:spcBef>
              <a:buFont typeface="Wingdings" pitchFamily="2" charset="2"/>
              <a:buNone/>
            </a:pPr>
            <a:r>
              <a:rPr lang="zh-CN" altLang="en-US" sz="2300" b="1" dirty="0">
                <a:latin typeface="宋体" pitchFamily="2" charset="-122"/>
              </a:rPr>
              <a:t>变量初始化       程序控制 编译器   编译器  编译器   程序控制</a:t>
            </a:r>
          </a:p>
          <a:p>
            <a:pPr marL="342900" indent="-342900" algn="just">
              <a:lnSpc>
                <a:spcPct val="140000"/>
              </a:lnSpc>
              <a:spcBef>
                <a:spcPct val="20000"/>
              </a:spcBef>
              <a:buFont typeface="Wingdings" pitchFamily="2" charset="2"/>
              <a:buNone/>
            </a:pPr>
            <a:r>
              <a:rPr lang="zh-CN" altLang="en-US" sz="2300" b="1" dirty="0">
                <a:solidFill>
                  <a:srgbClr val="0000FF"/>
                </a:solidFill>
                <a:latin typeface="宋体" pitchFamily="2" charset="-122"/>
              </a:rPr>
              <a:t>数组与结构初始化   有</a:t>
            </a:r>
            <a:r>
              <a:rPr lang="zh-CN" altLang="zh-CN" sz="2300" b="1" dirty="0">
                <a:solidFill>
                  <a:srgbClr val="0000FF"/>
                </a:solidFill>
                <a:latin typeface="宋体" pitchFamily="2" charset="-122"/>
              </a:rPr>
              <a:t>      </a:t>
            </a:r>
            <a:r>
              <a:rPr lang="zh-CN" altLang="en-US" sz="2300" b="1" dirty="0">
                <a:solidFill>
                  <a:srgbClr val="0000FF"/>
                </a:solidFill>
                <a:latin typeface="宋体" pitchFamily="2" charset="-122"/>
              </a:rPr>
              <a:t>可       可       可        否</a:t>
            </a:r>
          </a:p>
          <a:p>
            <a:pPr marL="342900" indent="-342900" algn="just">
              <a:lnSpc>
                <a:spcPct val="140000"/>
              </a:lnSpc>
              <a:spcBef>
                <a:spcPct val="20000"/>
              </a:spcBef>
              <a:buFont typeface="Wingdings" pitchFamily="2" charset="2"/>
              <a:buNone/>
            </a:pPr>
            <a:r>
              <a:rPr lang="zh-CN" altLang="en-US" sz="2300" b="1" dirty="0">
                <a:solidFill>
                  <a:srgbClr val="00B050"/>
                </a:solidFill>
                <a:latin typeface="宋体" pitchFamily="2" charset="-122"/>
              </a:rPr>
              <a:t>作用域           当前函数 整个程序  文件    函数   当前函数</a:t>
            </a:r>
          </a:p>
        </p:txBody>
      </p:sp>
      <p:sp>
        <p:nvSpPr>
          <p:cNvPr id="5" name="Rectangle 4"/>
          <p:cNvSpPr>
            <a:spLocks noChangeArrowheads="1"/>
          </p:cNvSpPr>
          <p:nvPr/>
        </p:nvSpPr>
        <p:spPr bwMode="auto">
          <a:xfrm>
            <a:off x="10886" y="533400"/>
            <a:ext cx="307007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函数</a:t>
            </a:r>
          </a:p>
        </p:txBody>
      </p:sp>
    </p:spTree>
    <p:extLst>
      <p:ext uri="{BB962C8B-B14F-4D97-AF65-F5344CB8AC3E}">
        <p14:creationId xmlns:p14="http://schemas.microsoft.com/office/powerpoint/2010/main" val="3753769923"/>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文本框 7"/>
          <p:cNvSpPr txBox="1">
            <a:spLocks noChangeArrowheads="1"/>
          </p:cNvSpPr>
          <p:nvPr/>
        </p:nvSpPr>
        <p:spPr bwMode="auto">
          <a:xfrm>
            <a:off x="10886" y="601960"/>
            <a:ext cx="219643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pPr>
            <a:r>
              <a:rPr lang="zh-CN" altLang="en-US" sz="2400" b="1" dirty="0">
                <a:solidFill>
                  <a:srgbClr val="C00000"/>
                </a:solidFill>
                <a:latin typeface="幼圆" pitchFamily="49" charset="-122"/>
                <a:ea typeface="幼圆" pitchFamily="49" charset="-122"/>
                <a:sym typeface="宋体" pitchFamily="2" charset="-122"/>
              </a:rPr>
              <a:t>函数要点总结 </a:t>
            </a:r>
          </a:p>
        </p:txBody>
      </p:sp>
      <p:sp>
        <p:nvSpPr>
          <p:cNvPr id="11270" name="文本框 7"/>
          <p:cNvSpPr txBox="1">
            <a:spLocks noChangeArrowheads="1"/>
          </p:cNvSpPr>
          <p:nvPr/>
        </p:nvSpPr>
        <p:spPr bwMode="auto">
          <a:xfrm>
            <a:off x="0" y="1063625"/>
            <a:ext cx="8991600" cy="535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pPr>
            <a:r>
              <a:rPr lang="en-US" altLang="zh-CN" b="1" dirty="0">
                <a:solidFill>
                  <a:srgbClr val="0070C0"/>
                </a:solidFill>
                <a:latin typeface="幼圆" pitchFamily="49" charset="-122"/>
                <a:ea typeface="幼圆" pitchFamily="49" charset="-122"/>
                <a:sym typeface="宋体" pitchFamily="2" charset="-122"/>
              </a:rPr>
              <a:t>1 </a:t>
            </a:r>
            <a:r>
              <a:rPr lang="zh-CN" altLang="en-US" b="1" dirty="0">
                <a:solidFill>
                  <a:srgbClr val="0070C0"/>
                </a:solidFill>
                <a:latin typeface="幼圆" pitchFamily="49" charset="-122"/>
                <a:ea typeface="幼圆" pitchFamily="49" charset="-122"/>
                <a:sym typeface="宋体" pitchFamily="2" charset="-122"/>
              </a:rPr>
              <a:t>函数是</a:t>
            </a:r>
            <a:r>
              <a:rPr lang="en-US" altLang="zh-CN" b="1" dirty="0">
                <a:solidFill>
                  <a:srgbClr val="0070C0"/>
                </a:solidFill>
                <a:latin typeface="幼圆" pitchFamily="49" charset="-122"/>
                <a:ea typeface="幼圆" pitchFamily="49" charset="-122"/>
                <a:sym typeface="宋体" pitchFamily="2" charset="-122"/>
              </a:rPr>
              <a:t>C</a:t>
            </a:r>
            <a:r>
              <a:rPr lang="zh-CN" altLang="en-US" b="1" dirty="0">
                <a:solidFill>
                  <a:srgbClr val="0070C0"/>
                </a:solidFill>
                <a:latin typeface="幼圆" pitchFamily="49" charset="-122"/>
                <a:ea typeface="幼圆" pitchFamily="49" charset="-122"/>
                <a:sym typeface="宋体" pitchFamily="2" charset="-122"/>
              </a:rPr>
              <a:t>中最小的功能单位；</a:t>
            </a:r>
            <a:endParaRPr lang="en-US" altLang="zh-CN" b="1" dirty="0">
              <a:solidFill>
                <a:srgbClr val="0070C0"/>
              </a:solidFill>
              <a:latin typeface="幼圆" pitchFamily="49" charset="-122"/>
              <a:ea typeface="幼圆" pitchFamily="49" charset="-122"/>
              <a:sym typeface="宋体" pitchFamily="2" charset="-122"/>
            </a:endParaRPr>
          </a:p>
          <a:p>
            <a:pPr eaLnBrk="1" hangingPunct="1">
              <a:buFont typeface="Arial" pitchFamily="34" charset="0"/>
              <a:buNone/>
            </a:pPr>
            <a:r>
              <a:rPr lang="en-US" altLang="zh-CN" b="1" dirty="0">
                <a:solidFill>
                  <a:srgbClr val="0070C0"/>
                </a:solidFill>
                <a:latin typeface="幼圆" pitchFamily="49" charset="-122"/>
                <a:ea typeface="幼圆" pitchFamily="49" charset="-122"/>
                <a:sym typeface="宋体" pitchFamily="2" charset="-122"/>
              </a:rPr>
              <a:t>2 </a:t>
            </a:r>
            <a:r>
              <a:rPr lang="zh-CN" altLang="en-US" b="1" dirty="0">
                <a:solidFill>
                  <a:srgbClr val="0070C0"/>
                </a:solidFill>
                <a:latin typeface="幼圆" pitchFamily="49" charset="-122"/>
                <a:ea typeface="幼圆" pitchFamily="49" charset="-122"/>
                <a:sym typeface="宋体" pitchFamily="2" charset="-122"/>
              </a:rPr>
              <a:t>程序可以有多个文件，一个文件可以有多个函数组成</a:t>
            </a:r>
            <a:r>
              <a:rPr lang="en-US" altLang="zh-CN" b="1" dirty="0">
                <a:solidFill>
                  <a:srgbClr val="0070C0"/>
                </a:solidFill>
                <a:latin typeface="幼圆" pitchFamily="49" charset="-122"/>
                <a:ea typeface="幼圆" pitchFamily="49" charset="-122"/>
                <a:sym typeface="宋体" pitchFamily="2" charset="-122"/>
              </a:rPr>
              <a:t>;</a:t>
            </a:r>
          </a:p>
          <a:p>
            <a:pPr eaLnBrk="1" hangingPunct="1">
              <a:buFont typeface="Arial" pitchFamily="34" charset="0"/>
              <a:buNone/>
            </a:pPr>
            <a:r>
              <a:rPr lang="en-US" altLang="zh-CN" b="1" dirty="0">
                <a:solidFill>
                  <a:srgbClr val="0070C0"/>
                </a:solidFill>
                <a:latin typeface="幼圆" pitchFamily="49" charset="-122"/>
                <a:ea typeface="幼圆" pitchFamily="49" charset="-122"/>
                <a:sym typeface="宋体" pitchFamily="2" charset="-122"/>
              </a:rPr>
              <a:t>3 </a:t>
            </a:r>
            <a:r>
              <a:rPr lang="zh-CN" altLang="en-US" b="1" dirty="0">
                <a:solidFill>
                  <a:srgbClr val="0070C0"/>
                </a:solidFill>
                <a:latin typeface="幼圆" pitchFamily="49" charset="-122"/>
                <a:ea typeface="幼圆" pitchFamily="49" charset="-122"/>
                <a:sym typeface="宋体" pitchFamily="2" charset="-122"/>
              </a:rPr>
              <a:t>一个程序的运行必须从</a:t>
            </a:r>
            <a:r>
              <a:rPr lang="en-US" altLang="zh-CN" b="1" dirty="0">
                <a:solidFill>
                  <a:srgbClr val="0070C0"/>
                </a:solidFill>
                <a:latin typeface="幼圆" pitchFamily="49" charset="-122"/>
                <a:ea typeface="幼圆" pitchFamily="49" charset="-122"/>
                <a:sym typeface="宋体" pitchFamily="2" charset="-122"/>
              </a:rPr>
              <a:t>main</a:t>
            </a:r>
            <a:r>
              <a:rPr lang="zh-CN" altLang="en-US" b="1" dirty="0">
                <a:solidFill>
                  <a:srgbClr val="0070C0"/>
                </a:solidFill>
                <a:latin typeface="幼圆" pitchFamily="49" charset="-122"/>
                <a:ea typeface="幼圆" pitchFamily="49" charset="-122"/>
                <a:sym typeface="宋体" pitchFamily="2" charset="-122"/>
              </a:rPr>
              <a:t>开始；</a:t>
            </a:r>
            <a:endParaRPr lang="en-US" altLang="zh-CN" b="1" dirty="0">
              <a:solidFill>
                <a:srgbClr val="0070C0"/>
              </a:solidFill>
              <a:latin typeface="幼圆" pitchFamily="49" charset="-122"/>
              <a:ea typeface="幼圆" pitchFamily="49" charset="-122"/>
              <a:sym typeface="宋体" pitchFamily="2" charset="-122"/>
            </a:endParaRPr>
          </a:p>
          <a:p>
            <a:pPr eaLnBrk="1" hangingPunct="1">
              <a:buFont typeface="Arial" pitchFamily="34" charset="0"/>
              <a:buNone/>
            </a:pPr>
            <a:r>
              <a:rPr lang="en-US" altLang="zh-CN" b="1" dirty="0">
                <a:solidFill>
                  <a:srgbClr val="0070C0"/>
                </a:solidFill>
                <a:latin typeface="幼圆" pitchFamily="49" charset="-122"/>
                <a:ea typeface="幼圆" pitchFamily="49" charset="-122"/>
                <a:sym typeface="宋体" pitchFamily="2" charset="-122"/>
              </a:rPr>
              <a:t>4 </a:t>
            </a:r>
            <a:r>
              <a:rPr lang="zh-CN" altLang="en-US" b="1" dirty="0">
                <a:solidFill>
                  <a:srgbClr val="0070C0"/>
                </a:solidFill>
                <a:latin typeface="幼圆" pitchFamily="49" charset="-122"/>
                <a:ea typeface="幼圆" pitchFamily="49" charset="-122"/>
                <a:sym typeface="宋体" pitchFamily="2" charset="-122"/>
              </a:rPr>
              <a:t>函数的类型是返回值的类型，不定义就是</a:t>
            </a:r>
            <a:r>
              <a:rPr lang="en-US" altLang="zh-CN" b="1" dirty="0" err="1">
                <a:solidFill>
                  <a:srgbClr val="0070C0"/>
                </a:solidFill>
                <a:latin typeface="幼圆" pitchFamily="49" charset="-122"/>
                <a:ea typeface="幼圆" pitchFamily="49" charset="-122"/>
                <a:sym typeface="宋体" pitchFamily="2" charset="-122"/>
              </a:rPr>
              <a:t>int</a:t>
            </a:r>
            <a:endParaRPr lang="en-US" altLang="zh-CN" b="1" dirty="0">
              <a:solidFill>
                <a:srgbClr val="0070C0"/>
              </a:solidFill>
              <a:latin typeface="幼圆" pitchFamily="49" charset="-122"/>
              <a:ea typeface="幼圆" pitchFamily="49" charset="-122"/>
              <a:sym typeface="宋体" pitchFamily="2" charset="-122"/>
            </a:endParaRPr>
          </a:p>
          <a:p>
            <a:pPr eaLnBrk="1" hangingPunct="1">
              <a:buFont typeface="Arial" pitchFamily="34" charset="0"/>
              <a:buNone/>
            </a:pPr>
            <a:r>
              <a:rPr lang="en-US" altLang="zh-CN" b="1" dirty="0">
                <a:solidFill>
                  <a:srgbClr val="0070C0"/>
                </a:solidFill>
                <a:latin typeface="幼圆" pitchFamily="49" charset="-122"/>
                <a:ea typeface="幼圆" pitchFamily="49" charset="-122"/>
                <a:sym typeface="宋体" pitchFamily="2" charset="-122"/>
              </a:rPr>
              <a:t>5 </a:t>
            </a:r>
            <a:r>
              <a:rPr lang="zh-CN" altLang="en-US" b="1" dirty="0">
                <a:solidFill>
                  <a:srgbClr val="0070C0"/>
                </a:solidFill>
                <a:latin typeface="幼圆" pitchFamily="49" charset="-122"/>
                <a:ea typeface="幼圆" pitchFamily="49" charset="-122"/>
                <a:sym typeface="宋体" pitchFamily="2" charset="-122"/>
              </a:rPr>
              <a:t>函数定义类型与返回值类型不符，以定义为准；</a:t>
            </a:r>
            <a:endParaRPr lang="en-US" altLang="zh-CN" b="1" dirty="0">
              <a:solidFill>
                <a:srgbClr val="0070C0"/>
              </a:solidFill>
              <a:latin typeface="幼圆" pitchFamily="49" charset="-122"/>
              <a:ea typeface="幼圆" pitchFamily="49" charset="-122"/>
              <a:sym typeface="宋体" pitchFamily="2" charset="-122"/>
            </a:endParaRPr>
          </a:p>
          <a:p>
            <a:pPr eaLnBrk="1" hangingPunct="1">
              <a:buFont typeface="Arial" pitchFamily="34" charset="0"/>
              <a:buNone/>
            </a:pPr>
            <a:r>
              <a:rPr lang="en-US" altLang="zh-CN" b="1" dirty="0">
                <a:solidFill>
                  <a:srgbClr val="0070C0"/>
                </a:solidFill>
                <a:latin typeface="幼圆" pitchFamily="49" charset="-122"/>
                <a:ea typeface="幼圆" pitchFamily="49" charset="-122"/>
                <a:sym typeface="宋体" pitchFamily="2" charset="-122"/>
              </a:rPr>
              <a:t>6 </a:t>
            </a:r>
            <a:r>
              <a:rPr lang="zh-CN" altLang="en-US" b="1" dirty="0">
                <a:solidFill>
                  <a:srgbClr val="0070C0"/>
                </a:solidFill>
                <a:latin typeface="幼圆" pitchFamily="49" charset="-122"/>
                <a:ea typeface="幼圆" pitchFamily="49" charset="-122"/>
                <a:sym typeface="宋体" pitchFamily="2" charset="-122"/>
              </a:rPr>
              <a:t>函数形参是局部变量，仅在函数调用时有存储空间有值</a:t>
            </a:r>
            <a:endParaRPr lang="en-US" altLang="zh-CN" b="1" dirty="0">
              <a:solidFill>
                <a:srgbClr val="0070C0"/>
              </a:solidFill>
              <a:latin typeface="幼圆" pitchFamily="49" charset="-122"/>
              <a:ea typeface="幼圆" pitchFamily="49" charset="-122"/>
              <a:sym typeface="宋体" pitchFamily="2" charset="-122"/>
            </a:endParaRPr>
          </a:p>
          <a:p>
            <a:pPr eaLnBrk="1" hangingPunct="1">
              <a:buFont typeface="Arial" pitchFamily="34" charset="0"/>
              <a:buNone/>
            </a:pPr>
            <a:r>
              <a:rPr lang="en-US" altLang="zh-CN" b="1" dirty="0">
                <a:solidFill>
                  <a:srgbClr val="0070C0"/>
                </a:solidFill>
                <a:latin typeface="幼圆" pitchFamily="49" charset="-122"/>
                <a:ea typeface="幼圆" pitchFamily="49" charset="-122"/>
                <a:sym typeface="宋体" pitchFamily="2" charset="-122"/>
              </a:rPr>
              <a:t>7 </a:t>
            </a:r>
            <a:r>
              <a:rPr lang="zh-CN" altLang="en-US" b="1" dirty="0">
                <a:solidFill>
                  <a:srgbClr val="0070C0"/>
                </a:solidFill>
                <a:latin typeface="幼圆" pitchFamily="49" charset="-122"/>
                <a:ea typeface="幼圆" pitchFamily="49" charset="-122"/>
                <a:sym typeface="宋体" pitchFamily="2" charset="-122"/>
              </a:rPr>
              <a:t>若实参与形参都是基本变量 ，调用时是单向值传递</a:t>
            </a:r>
            <a:endParaRPr lang="en-US" altLang="zh-CN" b="1" dirty="0">
              <a:solidFill>
                <a:srgbClr val="0070C0"/>
              </a:solidFill>
              <a:latin typeface="幼圆" pitchFamily="49" charset="-122"/>
              <a:ea typeface="幼圆" pitchFamily="49" charset="-122"/>
              <a:sym typeface="宋体" pitchFamily="2" charset="-122"/>
            </a:endParaRPr>
          </a:p>
          <a:p>
            <a:pPr eaLnBrk="1" hangingPunct="1">
              <a:buFont typeface="Arial" pitchFamily="34" charset="0"/>
              <a:buNone/>
            </a:pPr>
            <a:r>
              <a:rPr lang="en-US" altLang="zh-CN" b="1" dirty="0">
                <a:solidFill>
                  <a:srgbClr val="0070C0"/>
                </a:solidFill>
                <a:latin typeface="幼圆" pitchFamily="49" charset="-122"/>
                <a:ea typeface="幼圆" pitchFamily="49" charset="-122"/>
                <a:sym typeface="宋体" pitchFamily="2" charset="-122"/>
              </a:rPr>
              <a:t>8 </a:t>
            </a:r>
            <a:r>
              <a:rPr lang="zh-CN" altLang="en-US" b="1" dirty="0">
                <a:solidFill>
                  <a:srgbClr val="0070C0"/>
                </a:solidFill>
                <a:latin typeface="幼圆" pitchFamily="49" charset="-122"/>
                <a:ea typeface="幼圆" pitchFamily="49" charset="-122"/>
                <a:sym typeface="宋体" pitchFamily="2" charset="-122"/>
              </a:rPr>
              <a:t>函数可以嵌套调用；</a:t>
            </a:r>
            <a:endParaRPr lang="en-US" altLang="zh-CN" b="1" dirty="0">
              <a:solidFill>
                <a:srgbClr val="0070C0"/>
              </a:solidFill>
              <a:latin typeface="幼圆" pitchFamily="49" charset="-122"/>
              <a:ea typeface="幼圆" pitchFamily="49" charset="-122"/>
              <a:sym typeface="宋体" pitchFamily="2" charset="-122"/>
            </a:endParaRPr>
          </a:p>
          <a:p>
            <a:pPr eaLnBrk="1" hangingPunct="1">
              <a:buFont typeface="Arial" pitchFamily="34" charset="0"/>
              <a:buNone/>
            </a:pPr>
            <a:r>
              <a:rPr lang="en-US" altLang="zh-CN" b="1" dirty="0">
                <a:solidFill>
                  <a:srgbClr val="0070C0"/>
                </a:solidFill>
                <a:latin typeface="幼圆" pitchFamily="49" charset="-122"/>
                <a:ea typeface="幼圆" pitchFamily="49" charset="-122"/>
                <a:sym typeface="宋体" pitchFamily="2" charset="-122"/>
              </a:rPr>
              <a:t>9 </a:t>
            </a:r>
            <a:r>
              <a:rPr lang="zh-CN" altLang="en-US" b="1" dirty="0">
                <a:solidFill>
                  <a:srgbClr val="0070C0"/>
                </a:solidFill>
                <a:latin typeface="幼圆" pitchFamily="49" charset="-122"/>
                <a:ea typeface="幼圆" pitchFamily="49" charset="-122"/>
                <a:sym typeface="宋体" pitchFamily="2" charset="-122"/>
              </a:rPr>
              <a:t>递归函数必须有结束的条件；常用的几个递归函数。</a:t>
            </a:r>
            <a:endParaRPr lang="en-US" altLang="zh-CN" b="1" dirty="0">
              <a:solidFill>
                <a:srgbClr val="0070C0"/>
              </a:solidFill>
              <a:latin typeface="幼圆" pitchFamily="49" charset="-122"/>
              <a:ea typeface="幼圆" pitchFamily="49" charset="-122"/>
              <a:sym typeface="宋体" pitchFamily="2" charset="-122"/>
            </a:endParaRPr>
          </a:p>
          <a:p>
            <a:pPr eaLnBrk="1" hangingPunct="1">
              <a:buFont typeface="Arial" pitchFamily="34" charset="0"/>
              <a:buNone/>
            </a:pPr>
            <a:r>
              <a:rPr lang="en-US" altLang="zh-CN" b="1" dirty="0">
                <a:solidFill>
                  <a:srgbClr val="0070C0"/>
                </a:solidFill>
                <a:latin typeface="幼圆" pitchFamily="49" charset="-122"/>
                <a:ea typeface="幼圆" pitchFamily="49" charset="-122"/>
                <a:sym typeface="宋体" pitchFamily="2" charset="-122"/>
              </a:rPr>
              <a:t>10 </a:t>
            </a:r>
            <a:r>
              <a:rPr lang="zh-CN" altLang="en-US" b="1" dirty="0">
                <a:solidFill>
                  <a:srgbClr val="0070C0"/>
                </a:solidFill>
                <a:latin typeface="幼圆" pitchFamily="49" charset="-122"/>
                <a:ea typeface="幼圆" pitchFamily="49" charset="-122"/>
                <a:sym typeface="宋体" pitchFamily="2" charset="-122"/>
              </a:rPr>
              <a:t>数组名做函数参数传递的是地址</a:t>
            </a:r>
            <a:endParaRPr lang="en-US" altLang="zh-CN" b="1" dirty="0">
              <a:solidFill>
                <a:srgbClr val="0070C0"/>
              </a:solidFill>
              <a:latin typeface="幼圆" pitchFamily="49" charset="-122"/>
              <a:ea typeface="幼圆" pitchFamily="49" charset="-122"/>
              <a:sym typeface="宋体" pitchFamily="2" charset="-122"/>
            </a:endParaRPr>
          </a:p>
          <a:p>
            <a:pPr eaLnBrk="1" hangingPunct="1">
              <a:buFont typeface="Arial" pitchFamily="34" charset="0"/>
              <a:buNone/>
            </a:pPr>
            <a:r>
              <a:rPr lang="en-US" altLang="zh-CN" b="1" dirty="0">
                <a:solidFill>
                  <a:srgbClr val="0070C0"/>
                </a:solidFill>
                <a:latin typeface="幼圆" pitchFamily="49" charset="-122"/>
                <a:ea typeface="幼圆" pitchFamily="49" charset="-122"/>
                <a:sym typeface="宋体" pitchFamily="2" charset="-122"/>
              </a:rPr>
              <a:t>11 </a:t>
            </a:r>
            <a:r>
              <a:rPr lang="zh-CN" altLang="en-US" b="1" dirty="0">
                <a:solidFill>
                  <a:srgbClr val="0070C0"/>
                </a:solidFill>
                <a:latin typeface="幼圆" pitchFamily="49" charset="-122"/>
                <a:ea typeface="幼圆" pitchFamily="49" charset="-122"/>
                <a:sym typeface="宋体" pitchFamily="2" charset="-122"/>
              </a:rPr>
              <a:t>形参是指针，实参可以是变量的地址</a:t>
            </a:r>
            <a:endParaRPr lang="en-US" altLang="zh-CN" b="1" dirty="0">
              <a:solidFill>
                <a:srgbClr val="0070C0"/>
              </a:solidFill>
              <a:latin typeface="幼圆" pitchFamily="49" charset="-122"/>
              <a:ea typeface="幼圆" pitchFamily="49" charset="-122"/>
              <a:sym typeface="宋体" pitchFamily="2" charset="-122"/>
            </a:endParaRPr>
          </a:p>
          <a:p>
            <a:pPr eaLnBrk="1" hangingPunct="1">
              <a:buFont typeface="Arial" pitchFamily="34" charset="0"/>
              <a:buNone/>
            </a:pPr>
            <a:r>
              <a:rPr lang="en-US" altLang="zh-CN" b="1" dirty="0">
                <a:solidFill>
                  <a:srgbClr val="0070C0"/>
                </a:solidFill>
                <a:latin typeface="幼圆" pitchFamily="49" charset="-122"/>
                <a:ea typeface="幼圆" pitchFamily="49" charset="-122"/>
                <a:sym typeface="宋体" pitchFamily="2" charset="-122"/>
              </a:rPr>
              <a:t>12 </a:t>
            </a:r>
            <a:r>
              <a:rPr lang="zh-CN" altLang="en-US" b="1" dirty="0">
                <a:solidFill>
                  <a:srgbClr val="0070C0"/>
                </a:solidFill>
                <a:latin typeface="幼圆" pitchFamily="49" charset="-122"/>
                <a:ea typeface="幼圆" pitchFamily="49" charset="-122"/>
                <a:sym typeface="宋体" pitchFamily="2" charset="-122"/>
              </a:rPr>
              <a:t>函数可以有多个返回语句，也可以没有返回语句；</a:t>
            </a:r>
            <a:endParaRPr lang="en-US" altLang="zh-CN" b="1" dirty="0">
              <a:solidFill>
                <a:srgbClr val="0070C0"/>
              </a:solidFill>
              <a:latin typeface="幼圆" pitchFamily="49" charset="-122"/>
              <a:ea typeface="幼圆" pitchFamily="49" charset="-122"/>
              <a:sym typeface="宋体" pitchFamily="2" charset="-122"/>
            </a:endParaRPr>
          </a:p>
          <a:p>
            <a:pPr eaLnBrk="1" hangingPunct="1">
              <a:buFont typeface="Arial" pitchFamily="34" charset="0"/>
              <a:buNone/>
            </a:pPr>
            <a:r>
              <a:rPr lang="en-US" altLang="zh-CN" b="1" dirty="0">
                <a:solidFill>
                  <a:srgbClr val="0070C0"/>
                </a:solidFill>
                <a:latin typeface="幼圆" pitchFamily="49" charset="-122"/>
                <a:ea typeface="幼圆" pitchFamily="49" charset="-122"/>
                <a:sym typeface="宋体" pitchFamily="2" charset="-122"/>
              </a:rPr>
              <a:t>13 void</a:t>
            </a:r>
            <a:r>
              <a:rPr lang="zh-CN" altLang="en-US" b="1" dirty="0">
                <a:solidFill>
                  <a:srgbClr val="0070C0"/>
                </a:solidFill>
                <a:latin typeface="幼圆" pitchFamily="49" charset="-122"/>
                <a:ea typeface="幼圆" pitchFamily="49" charset="-122"/>
                <a:sym typeface="宋体" pitchFamily="2" charset="-122"/>
              </a:rPr>
              <a:t>是无类型函数，无返回值；</a:t>
            </a:r>
            <a:endParaRPr lang="en-US" altLang="zh-CN" b="1" dirty="0">
              <a:solidFill>
                <a:srgbClr val="0070C0"/>
              </a:solidFill>
              <a:latin typeface="幼圆" pitchFamily="49" charset="-122"/>
              <a:ea typeface="幼圆" pitchFamily="49" charset="-122"/>
              <a:sym typeface="宋体" pitchFamily="2" charset="-122"/>
            </a:endParaRPr>
          </a:p>
          <a:p>
            <a:pPr eaLnBrk="1" hangingPunct="1">
              <a:buFont typeface="Arial" pitchFamily="34" charset="0"/>
              <a:buNone/>
            </a:pPr>
            <a:r>
              <a:rPr lang="en-US" altLang="zh-CN" b="1" dirty="0">
                <a:solidFill>
                  <a:srgbClr val="0070C0"/>
                </a:solidFill>
                <a:latin typeface="幼圆" pitchFamily="49" charset="-122"/>
                <a:ea typeface="幼圆" pitchFamily="49" charset="-122"/>
                <a:sym typeface="宋体" pitchFamily="2" charset="-122"/>
              </a:rPr>
              <a:t>14 </a:t>
            </a:r>
            <a:r>
              <a:rPr lang="zh-CN" altLang="en-US" b="1" dirty="0">
                <a:solidFill>
                  <a:srgbClr val="0070C0"/>
                </a:solidFill>
                <a:latin typeface="幼圆" pitchFamily="49" charset="-122"/>
                <a:ea typeface="幼圆" pitchFamily="49" charset="-122"/>
                <a:sym typeface="宋体" pitchFamily="2" charset="-122"/>
              </a:rPr>
              <a:t>调用函数前必须对其做说明</a:t>
            </a:r>
            <a:endParaRPr lang="en-US" altLang="zh-CN" b="1" dirty="0">
              <a:solidFill>
                <a:srgbClr val="0070C0"/>
              </a:solidFill>
              <a:latin typeface="幼圆" pitchFamily="49" charset="-122"/>
              <a:ea typeface="幼圆" pitchFamily="49" charset="-122"/>
              <a:sym typeface="宋体" pitchFamily="2" charset="-122"/>
            </a:endParaRPr>
          </a:p>
          <a:p>
            <a:pPr eaLnBrk="1" hangingPunct="1">
              <a:buFont typeface="Arial" pitchFamily="34" charset="0"/>
              <a:buNone/>
            </a:pPr>
            <a:r>
              <a:rPr lang="en-US" altLang="zh-CN" b="1" dirty="0">
                <a:solidFill>
                  <a:srgbClr val="0070C0"/>
                </a:solidFill>
                <a:latin typeface="幼圆" pitchFamily="49" charset="-122"/>
                <a:ea typeface="幼圆" pitchFamily="49" charset="-122"/>
                <a:sym typeface="宋体" pitchFamily="2" charset="-122"/>
              </a:rPr>
              <a:t>15 </a:t>
            </a:r>
            <a:r>
              <a:rPr lang="zh-CN" altLang="en-US" b="1" dirty="0">
                <a:solidFill>
                  <a:srgbClr val="0070C0"/>
                </a:solidFill>
                <a:latin typeface="幼圆" pitchFamily="49" charset="-122"/>
                <a:ea typeface="幼圆" pitchFamily="49" charset="-122"/>
                <a:sym typeface="宋体" pitchFamily="2" charset="-122"/>
              </a:rPr>
              <a:t>外部变量，静态变量占内存静态部分，不赋初值时为</a:t>
            </a:r>
            <a:r>
              <a:rPr lang="en-US" altLang="zh-CN" b="1" dirty="0">
                <a:solidFill>
                  <a:srgbClr val="0070C0"/>
                </a:solidFill>
                <a:latin typeface="幼圆" pitchFamily="49" charset="-122"/>
                <a:ea typeface="幼圆" pitchFamily="49" charset="-122"/>
                <a:sym typeface="宋体" pitchFamily="2" charset="-122"/>
              </a:rPr>
              <a:t>0</a:t>
            </a:r>
            <a:r>
              <a:rPr lang="zh-CN" altLang="en-US" b="1" dirty="0">
                <a:solidFill>
                  <a:srgbClr val="0070C0"/>
                </a:solidFill>
                <a:latin typeface="幼圆" pitchFamily="49" charset="-122"/>
                <a:ea typeface="幼圆" pitchFamily="49" charset="-122"/>
                <a:sym typeface="宋体" pitchFamily="2" charset="-122"/>
              </a:rPr>
              <a:t>；</a:t>
            </a:r>
            <a:endParaRPr lang="en-US" altLang="zh-CN" b="1" dirty="0">
              <a:solidFill>
                <a:srgbClr val="0070C0"/>
              </a:solidFill>
              <a:latin typeface="幼圆" pitchFamily="49" charset="-122"/>
              <a:ea typeface="幼圆" pitchFamily="49" charset="-122"/>
              <a:sym typeface="宋体" pitchFamily="2" charset="-122"/>
            </a:endParaRPr>
          </a:p>
          <a:p>
            <a:pPr eaLnBrk="1" hangingPunct="1">
              <a:buFont typeface="Arial" pitchFamily="34" charset="0"/>
              <a:buNone/>
            </a:pPr>
            <a:r>
              <a:rPr lang="en-US" altLang="zh-CN" b="1" dirty="0">
                <a:solidFill>
                  <a:srgbClr val="0070C0"/>
                </a:solidFill>
                <a:latin typeface="幼圆" pitchFamily="49" charset="-122"/>
                <a:ea typeface="幼圆" pitchFamily="49" charset="-122"/>
                <a:sym typeface="宋体" pitchFamily="2" charset="-122"/>
              </a:rPr>
              <a:t>16 </a:t>
            </a:r>
            <a:r>
              <a:rPr lang="zh-CN" altLang="en-US" b="1" dirty="0">
                <a:solidFill>
                  <a:srgbClr val="0070C0"/>
                </a:solidFill>
                <a:latin typeface="幼圆" pitchFamily="49" charset="-122"/>
                <a:ea typeface="幼圆" pitchFamily="49" charset="-122"/>
                <a:sym typeface="宋体" pitchFamily="2" charset="-122"/>
              </a:rPr>
              <a:t>不定义存储类型的系统默认为</a:t>
            </a:r>
            <a:r>
              <a:rPr lang="en-US" altLang="zh-CN" b="1" dirty="0">
                <a:solidFill>
                  <a:srgbClr val="0070C0"/>
                </a:solidFill>
                <a:latin typeface="幼圆" pitchFamily="49" charset="-122"/>
                <a:ea typeface="幼圆" pitchFamily="49" charset="-122"/>
                <a:sym typeface="宋体" pitchFamily="2" charset="-122"/>
              </a:rPr>
              <a:t>auto</a:t>
            </a:r>
            <a:r>
              <a:rPr lang="zh-CN" altLang="en-US" b="1" dirty="0">
                <a:solidFill>
                  <a:srgbClr val="0070C0"/>
                </a:solidFill>
                <a:latin typeface="幼圆" pitchFamily="49" charset="-122"/>
                <a:ea typeface="幼圆" pitchFamily="49" charset="-122"/>
                <a:sym typeface="宋体" pitchFamily="2" charset="-122"/>
              </a:rPr>
              <a:t>型</a:t>
            </a:r>
            <a:endParaRPr lang="en-US" altLang="zh-CN" b="1" dirty="0">
              <a:solidFill>
                <a:srgbClr val="0070C0"/>
              </a:solidFill>
              <a:latin typeface="幼圆" pitchFamily="49" charset="-122"/>
              <a:ea typeface="幼圆" pitchFamily="49" charset="-122"/>
              <a:sym typeface="宋体" pitchFamily="2" charset="-122"/>
            </a:endParaRPr>
          </a:p>
          <a:p>
            <a:pPr eaLnBrk="1" hangingPunct="1">
              <a:buFont typeface="Arial" pitchFamily="34" charset="0"/>
              <a:buNone/>
            </a:pPr>
            <a:r>
              <a:rPr lang="en-US" altLang="zh-CN" b="1" dirty="0">
                <a:solidFill>
                  <a:srgbClr val="0070C0"/>
                </a:solidFill>
                <a:latin typeface="幼圆" pitchFamily="49" charset="-122"/>
                <a:ea typeface="幼圆" pitchFamily="49" charset="-122"/>
                <a:sym typeface="宋体" pitchFamily="2" charset="-122"/>
              </a:rPr>
              <a:t>17 </a:t>
            </a:r>
            <a:r>
              <a:rPr lang="zh-CN" altLang="en-US" b="1" dirty="0">
                <a:solidFill>
                  <a:srgbClr val="0070C0"/>
                </a:solidFill>
                <a:latin typeface="幼圆" pitchFamily="49" charset="-122"/>
                <a:ea typeface="幼圆" pitchFamily="49" charset="-122"/>
                <a:sym typeface="宋体" pitchFamily="2" charset="-122"/>
              </a:rPr>
              <a:t>编译预处理不是语句，是特殊命令</a:t>
            </a:r>
            <a:endParaRPr lang="en-US" altLang="zh-CN" b="1" dirty="0">
              <a:solidFill>
                <a:srgbClr val="0070C0"/>
              </a:solidFill>
              <a:latin typeface="幼圆" pitchFamily="49" charset="-122"/>
              <a:ea typeface="幼圆" pitchFamily="49" charset="-122"/>
              <a:sym typeface="宋体" pitchFamily="2" charset="-122"/>
            </a:endParaRPr>
          </a:p>
          <a:p>
            <a:pPr eaLnBrk="1" hangingPunct="1">
              <a:buFont typeface="Arial" pitchFamily="34" charset="0"/>
              <a:buNone/>
            </a:pPr>
            <a:r>
              <a:rPr lang="en-US" altLang="zh-CN" b="1" dirty="0">
                <a:solidFill>
                  <a:srgbClr val="0070C0"/>
                </a:solidFill>
                <a:latin typeface="幼圆" pitchFamily="49" charset="-122"/>
                <a:ea typeface="幼圆" pitchFamily="49" charset="-122"/>
                <a:sym typeface="宋体" pitchFamily="2" charset="-122"/>
              </a:rPr>
              <a:t>18 </a:t>
            </a:r>
            <a:r>
              <a:rPr lang="zh-CN" altLang="en-US" b="1" dirty="0">
                <a:solidFill>
                  <a:srgbClr val="0070C0"/>
                </a:solidFill>
                <a:latin typeface="幼圆" pitchFamily="49" charset="-122"/>
                <a:ea typeface="幼圆" pitchFamily="49" charset="-122"/>
                <a:sym typeface="宋体" pitchFamily="2" charset="-122"/>
              </a:rPr>
              <a:t>函数调用可以是语句，也可以是表达式的运算分量</a:t>
            </a:r>
            <a:endParaRPr lang="en-US" altLang="zh-CN" b="1" dirty="0">
              <a:solidFill>
                <a:srgbClr val="0070C0"/>
              </a:solidFill>
              <a:latin typeface="幼圆" pitchFamily="49" charset="-122"/>
              <a:ea typeface="幼圆" pitchFamily="49" charset="-122"/>
              <a:sym typeface="宋体" pitchFamily="2" charset="-122"/>
            </a:endParaRPr>
          </a:p>
          <a:p>
            <a:pPr eaLnBrk="1" hangingPunct="1">
              <a:buFont typeface="Arial" pitchFamily="34" charset="0"/>
              <a:buNone/>
            </a:pPr>
            <a:r>
              <a:rPr lang="en-US" altLang="zh-CN" b="1" dirty="0">
                <a:solidFill>
                  <a:srgbClr val="0070C0"/>
                </a:solidFill>
                <a:latin typeface="幼圆" pitchFamily="49" charset="-122"/>
                <a:ea typeface="幼圆" pitchFamily="49" charset="-122"/>
                <a:sym typeface="宋体" pitchFamily="2" charset="-122"/>
              </a:rPr>
              <a:t>19 </a:t>
            </a:r>
            <a:r>
              <a:rPr lang="zh-CN" altLang="en-US" b="1" dirty="0">
                <a:solidFill>
                  <a:srgbClr val="0070C0"/>
                </a:solidFill>
                <a:latin typeface="幼圆" pitchFamily="49" charset="-122"/>
                <a:ea typeface="幼圆" pitchFamily="49" charset="-122"/>
                <a:sym typeface="宋体" pitchFamily="2" charset="-122"/>
              </a:rPr>
              <a:t>正确判断函数的实参或形参（变量？指针？结构变量？数组</a:t>
            </a:r>
            <a:r>
              <a:rPr lang="en-US" altLang="zh-CN" b="1" dirty="0">
                <a:solidFill>
                  <a:srgbClr val="0070C0"/>
                </a:solidFill>
                <a:latin typeface="幼圆" pitchFamily="49" charset="-122"/>
                <a:ea typeface="幼圆" pitchFamily="49" charset="-122"/>
                <a:sym typeface="宋体" pitchFamily="2" charset="-122"/>
              </a:rPr>
              <a:t>?)</a:t>
            </a:r>
            <a:endParaRPr lang="zh-CN" altLang="en-US" b="1" dirty="0">
              <a:solidFill>
                <a:srgbClr val="0070C0"/>
              </a:solidFill>
              <a:latin typeface="幼圆" pitchFamily="49" charset="-122"/>
              <a:ea typeface="幼圆" pitchFamily="49" charset="-122"/>
              <a:sym typeface="宋体" pitchFamily="2" charset="-122"/>
            </a:endParaRPr>
          </a:p>
        </p:txBody>
      </p:sp>
    </p:spTree>
    <p:extLst>
      <p:ext uri="{BB962C8B-B14F-4D97-AF65-F5344CB8AC3E}">
        <p14:creationId xmlns:p14="http://schemas.microsoft.com/office/powerpoint/2010/main" val="410199374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270"/>
          <p:cNvGraphicFramePr>
            <a:graphicFrameLocks/>
          </p:cNvGraphicFramePr>
          <p:nvPr>
            <p:extLst>
              <p:ext uri="{D42A27DB-BD31-4B8C-83A1-F6EECF244321}">
                <p14:modId xmlns:p14="http://schemas.microsoft.com/office/powerpoint/2010/main" val="1016135797"/>
              </p:ext>
            </p:extLst>
          </p:nvPr>
        </p:nvGraphicFramePr>
        <p:xfrm>
          <a:off x="457200" y="1371600"/>
          <a:ext cx="7210425" cy="5211612"/>
        </p:xfrm>
        <a:graphic>
          <a:graphicData uri="http://schemas.openxmlformats.org/drawingml/2006/table">
            <a:tbl>
              <a:tblPr/>
              <a:tblGrid>
                <a:gridCol w="349250">
                  <a:extLst>
                    <a:ext uri="{9D8B030D-6E8A-4147-A177-3AD203B41FA5}">
                      <a16:colId xmlns:a16="http://schemas.microsoft.com/office/drawing/2014/main" val="20000"/>
                    </a:ext>
                  </a:extLst>
                </a:gridCol>
                <a:gridCol w="6861175">
                  <a:extLst>
                    <a:ext uri="{9D8B030D-6E8A-4147-A177-3AD203B41FA5}">
                      <a16:colId xmlns:a16="http://schemas.microsoft.com/office/drawing/2014/main" val="20001"/>
                    </a:ext>
                  </a:extLst>
                </a:gridCol>
              </a:tblGrid>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1</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计算机概述及数字化基础</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2</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计算机三大平台</a:t>
                      </a:r>
                      <a:r>
                        <a:rPr kumimoji="0" lang="en-US" altLang="zh-CN" sz="2800" b="1" i="0" u="none" strike="noStrike" cap="none" normalizeH="0" baseline="0" dirty="0">
                          <a:ln>
                            <a:noFill/>
                          </a:ln>
                          <a:solidFill>
                            <a:schemeClr val="tx1"/>
                          </a:solidFill>
                          <a:effectLst/>
                          <a:latin typeface="Arial" charset="0"/>
                          <a:ea typeface="宋体" pitchFamily="2" charset="-122"/>
                        </a:rPr>
                        <a:t>——</a:t>
                      </a:r>
                      <a:r>
                        <a:rPr kumimoji="0" lang="zh-CN" altLang="en-US" sz="2800" b="1" i="0" u="none" strike="noStrike" cap="none" normalizeH="0" baseline="0" dirty="0">
                          <a:ln>
                            <a:noFill/>
                          </a:ln>
                          <a:solidFill>
                            <a:schemeClr val="tx1"/>
                          </a:solidFill>
                          <a:effectLst/>
                          <a:latin typeface="Arial" charset="0"/>
                          <a:ea typeface="宋体" pitchFamily="2" charset="-122"/>
                        </a:rPr>
                        <a:t>硬件、软件、网络</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3</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数据处理及数据库</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9482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4</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数据类型，运算符，表达式</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5</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流程控制</a:t>
                      </a:r>
                      <a:r>
                        <a:rPr kumimoji="0" lang="en-US" altLang="zh-CN" sz="2800" b="1" i="0" u="none" strike="noStrike" cap="none" normalizeH="0" baseline="0" dirty="0">
                          <a:ln>
                            <a:noFill/>
                          </a:ln>
                          <a:solidFill>
                            <a:schemeClr val="tx1"/>
                          </a:solidFill>
                          <a:effectLst/>
                          <a:latin typeface="Arial" charset="0"/>
                          <a:ea typeface="宋体" pitchFamily="2" charset="-122"/>
                        </a:rPr>
                        <a:t>——</a:t>
                      </a:r>
                      <a:r>
                        <a:rPr kumimoji="0" lang="zh-CN" altLang="en-US" sz="2800" b="1" i="0" u="none" strike="noStrike" cap="none" normalizeH="0" baseline="0" dirty="0">
                          <a:ln>
                            <a:noFill/>
                          </a:ln>
                          <a:solidFill>
                            <a:schemeClr val="tx1"/>
                          </a:solidFill>
                          <a:effectLst/>
                          <a:latin typeface="Arial" charset="0"/>
                          <a:ea typeface="宋体" pitchFamily="2" charset="-122"/>
                        </a:rPr>
                        <a:t>顺序、选择、循环</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4"/>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6</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数组</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5"/>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7</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函数</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8</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med" len="med"/>
                      <a:tailEnd type="none" w="med" len="med"/>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rgbClr val="FF0000"/>
                          </a:solidFill>
                          <a:effectLst/>
                          <a:latin typeface="Arial" charset="0"/>
                          <a:ea typeface="宋体" pitchFamily="2" charset="-122"/>
                        </a:rPr>
                        <a:t>指针</a:t>
                      </a:r>
                      <a:endParaRPr kumimoji="0" lang="en-US" altLang="zh-CN" sz="2800" b="1" i="0" u="none" strike="noStrike" cap="none" normalizeH="0" baseline="0" dirty="0">
                        <a:ln>
                          <a:noFill/>
                        </a:ln>
                        <a:solidFill>
                          <a:srgbClr val="FF0000"/>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med" len="med"/>
                      <a:tailEnd type="none" w="med" len="med"/>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7"/>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9</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结构</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sp>
        <p:nvSpPr>
          <p:cNvPr id="3" name="标题 1"/>
          <p:cNvSpPr>
            <a:spLocks noGrp="1"/>
          </p:cNvSpPr>
          <p:nvPr>
            <p:ph type="title"/>
          </p:nvPr>
        </p:nvSpPr>
        <p:spPr>
          <a:xfrm>
            <a:off x="838200" y="547688"/>
            <a:ext cx="7391400" cy="563562"/>
          </a:xfrm>
        </p:spPr>
        <p:txBody>
          <a:bodyPr/>
          <a:lstStyle/>
          <a:p>
            <a:r>
              <a:rPr lang="zh-CN" altLang="en-US" dirty="0">
                <a:latin typeface="隶书" pitchFamily="49" charset="-122"/>
                <a:ea typeface="隶书" pitchFamily="49" charset="-122"/>
              </a:rPr>
              <a:t>复习内容</a:t>
            </a:r>
          </a:p>
        </p:txBody>
      </p:sp>
    </p:spTree>
    <p:extLst>
      <p:ext uri="{BB962C8B-B14F-4D97-AF65-F5344CB8AC3E}">
        <p14:creationId xmlns:p14="http://schemas.microsoft.com/office/powerpoint/2010/main" val="2495641681"/>
      </p:ext>
    </p:extLst>
  </p:cSld>
  <p:clrMapOvr>
    <a:masterClrMapping/>
  </p:clrMapOvr>
  <p:transition spd="slow"/>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1858" name="Rectangle 3"/>
          <p:cNvSpPr>
            <a:spLocks noGrp="1" noChangeArrowheads="1"/>
          </p:cNvSpPr>
          <p:nvPr>
            <p:ph type="body" sz="half" idx="1"/>
          </p:nvPr>
        </p:nvSpPr>
        <p:spPr>
          <a:xfrm>
            <a:off x="0" y="1600200"/>
            <a:ext cx="8915400" cy="4746625"/>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rgbClr val="FF0000"/>
                </a:solidFill>
                <a:latin typeface="幼圆" pitchFamily="49" charset="-122"/>
                <a:ea typeface="幼圆" pitchFamily="49" charset="-122"/>
              </a:rPr>
              <a:t>指针</a:t>
            </a:r>
            <a:r>
              <a:rPr kumimoji="1" lang="zh-CN" altLang="en-US" sz="2400" b="1">
                <a:solidFill>
                  <a:srgbClr val="FF0000"/>
                </a:solidFill>
                <a:latin typeface="Arial" pitchFamily="34" charset="0"/>
                <a:ea typeface="幼圆" pitchFamily="49" charset="-122"/>
              </a:rPr>
              <a:t>——</a:t>
            </a:r>
            <a:r>
              <a:rPr kumimoji="1" lang="zh-CN" altLang="en-US" sz="2400" b="1">
                <a:solidFill>
                  <a:srgbClr val="FF0000"/>
                </a:solidFill>
                <a:latin typeface="幼圆" pitchFamily="49" charset="-122"/>
                <a:ea typeface="幼圆" pitchFamily="49" charset="-122"/>
              </a:rPr>
              <a:t>重点</a:t>
            </a:r>
          </a:p>
          <a:p>
            <a:pPr marL="457200" lvl="1"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指针变量的基本概念与基本运算：取地址</a:t>
            </a:r>
            <a:r>
              <a:rPr kumimoji="1" lang="zh-CN" altLang="en-US" sz="2400" b="1">
                <a:solidFill>
                  <a:schemeClr val="tx2"/>
                </a:solidFill>
                <a:latin typeface="Arial" pitchFamily="34" charset="0"/>
                <a:ea typeface="幼圆" pitchFamily="49" charset="-122"/>
              </a:rPr>
              <a:t>“</a:t>
            </a:r>
            <a:r>
              <a:rPr kumimoji="1" lang="zh-CN" altLang="en-US" sz="2400" b="1">
                <a:solidFill>
                  <a:schemeClr val="tx2"/>
                </a:solidFill>
                <a:latin typeface="幼圆" pitchFamily="49" charset="-122"/>
                <a:ea typeface="幼圆" pitchFamily="49" charset="-122"/>
              </a:rPr>
              <a:t>&amp;</a:t>
            </a:r>
            <a:r>
              <a:rPr kumimoji="1" lang="zh-CN" altLang="en-US" sz="2400" b="1">
                <a:solidFill>
                  <a:schemeClr val="tx2"/>
                </a:solidFill>
                <a:latin typeface="Arial" pitchFamily="34" charset="0"/>
                <a:ea typeface="幼圆" pitchFamily="49" charset="-122"/>
              </a:rPr>
              <a:t>”</a:t>
            </a:r>
            <a:r>
              <a:rPr kumimoji="1" lang="zh-CN" altLang="en-US" sz="2400" b="1">
                <a:solidFill>
                  <a:schemeClr val="tx2"/>
                </a:solidFill>
                <a:latin typeface="幼圆" pitchFamily="49" charset="-122"/>
                <a:ea typeface="幼圆" pitchFamily="49" charset="-122"/>
              </a:rPr>
              <a:t>运算，取内容</a:t>
            </a:r>
            <a:r>
              <a:rPr kumimoji="1" lang="zh-CN" altLang="en-US" sz="2400" b="1">
                <a:solidFill>
                  <a:schemeClr val="tx2"/>
                </a:solidFill>
                <a:latin typeface="Arial" pitchFamily="34" charset="0"/>
                <a:ea typeface="幼圆" pitchFamily="49" charset="-122"/>
              </a:rPr>
              <a:t>“</a:t>
            </a:r>
            <a:r>
              <a:rPr kumimoji="1" lang="zh-CN" altLang="en-US" sz="2400" b="1">
                <a:solidFill>
                  <a:schemeClr val="tx2"/>
                </a:solidFill>
                <a:latin typeface="幼圆" pitchFamily="49" charset="-122"/>
                <a:ea typeface="幼圆" pitchFamily="49" charset="-122"/>
              </a:rPr>
              <a:t>*</a:t>
            </a:r>
            <a:r>
              <a:rPr kumimoji="1" lang="zh-CN" altLang="en-US" sz="2400" b="1">
                <a:solidFill>
                  <a:schemeClr val="tx2"/>
                </a:solidFill>
                <a:latin typeface="Arial" pitchFamily="34" charset="0"/>
                <a:ea typeface="幼圆" pitchFamily="49" charset="-122"/>
              </a:rPr>
              <a:t>”</a:t>
            </a:r>
            <a:r>
              <a:rPr kumimoji="1" lang="zh-CN" altLang="en-US" sz="2400" b="1">
                <a:solidFill>
                  <a:schemeClr val="tx2"/>
                </a:solidFill>
                <a:latin typeface="幼圆" pitchFamily="49" charset="-122"/>
                <a:ea typeface="幼圆" pitchFamily="49" charset="-122"/>
              </a:rPr>
              <a:t>运算</a:t>
            </a:r>
          </a:p>
          <a:p>
            <a:pPr marL="457200" lvl="1"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指针变量与一般变量的关系</a:t>
            </a:r>
          </a:p>
          <a:p>
            <a:pPr marL="457200" lvl="1"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指针与函数的关系</a:t>
            </a:r>
            <a:endParaRPr kumimoji="1" lang="en-US" altLang="zh-CN" sz="2400" b="1">
              <a:solidFill>
                <a:schemeClr val="tx2"/>
              </a:solidFill>
              <a:latin typeface="幼圆" pitchFamily="49" charset="-122"/>
              <a:ea typeface="幼圆" pitchFamily="49" charset="-122"/>
            </a:endParaRPr>
          </a:p>
          <a:p>
            <a:pPr marL="457200" lvl="1"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数组与指针的关系，指针的3种基本运算与意义</a:t>
            </a:r>
          </a:p>
          <a:p>
            <a:pPr marL="914400" lvl="2" indent="0" eaLnBrk="1" hangingPunct="1">
              <a:buSzPct val="60000"/>
              <a:buFont typeface="宋体" pitchFamily="2" charset="-122"/>
              <a:buNone/>
            </a:pPr>
            <a:r>
              <a:rPr kumimoji="1" lang="zh-CN" altLang="en-US" b="1">
                <a:solidFill>
                  <a:schemeClr val="tx2"/>
                </a:solidFill>
                <a:latin typeface="幼圆" pitchFamily="49" charset="-122"/>
                <a:ea typeface="幼圆" pitchFamily="49" charset="-122"/>
              </a:rPr>
              <a:t>指针与整数进行加减运算（指针变量与自增++、自减--运算的关系）</a:t>
            </a:r>
          </a:p>
          <a:p>
            <a:pPr marL="914400" lvl="2" indent="0" eaLnBrk="1" hangingPunct="1">
              <a:buSzPct val="60000"/>
              <a:buFont typeface="宋体" pitchFamily="2" charset="-122"/>
              <a:buNone/>
            </a:pPr>
            <a:r>
              <a:rPr kumimoji="1" lang="zh-CN" altLang="en-US" b="1">
                <a:solidFill>
                  <a:schemeClr val="tx2"/>
                </a:solidFill>
                <a:latin typeface="幼圆" pitchFamily="49" charset="-122"/>
                <a:ea typeface="幼圆" pitchFamily="49" charset="-122"/>
              </a:rPr>
              <a:t>指针之间进行关系运算</a:t>
            </a:r>
          </a:p>
          <a:p>
            <a:pPr marL="914400" lvl="2" indent="0" eaLnBrk="1" hangingPunct="1">
              <a:buSzPct val="60000"/>
              <a:buFont typeface="宋体" pitchFamily="2" charset="-122"/>
              <a:buNone/>
            </a:pPr>
            <a:r>
              <a:rPr kumimoji="1" lang="zh-CN" altLang="en-US" b="1">
                <a:solidFill>
                  <a:schemeClr val="tx2"/>
                </a:solidFill>
                <a:latin typeface="幼圆" pitchFamily="49" charset="-122"/>
                <a:ea typeface="幼圆" pitchFamily="49" charset="-122"/>
              </a:rPr>
              <a:t>指针之间求差值</a:t>
            </a:r>
          </a:p>
          <a:p>
            <a:pPr marL="457200" lvl="1"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指针数组与数组指针，</a:t>
            </a:r>
            <a:r>
              <a:rPr kumimoji="1" lang="en-US" altLang="zh-CN" sz="2400" b="1">
                <a:solidFill>
                  <a:schemeClr val="tx2"/>
                </a:solidFill>
                <a:latin typeface="幼圆" pitchFamily="49" charset="-122"/>
                <a:ea typeface="幼圆" pitchFamily="49" charset="-122"/>
              </a:rPr>
              <a:t>main</a:t>
            </a:r>
            <a:r>
              <a:rPr kumimoji="1" lang="zh-CN" altLang="en-US" sz="2400" b="1">
                <a:solidFill>
                  <a:schemeClr val="tx2"/>
                </a:solidFill>
                <a:latin typeface="幼圆" pitchFamily="49" charset="-122"/>
                <a:ea typeface="幼圆" pitchFamily="49" charset="-122"/>
              </a:rPr>
              <a:t>函数的参数</a:t>
            </a:r>
          </a:p>
        </p:txBody>
      </p:sp>
      <p:pic>
        <p:nvPicPr>
          <p:cNvPr id="328709" name="Picture 5" descr="PE02081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05600" y="4572000"/>
            <a:ext cx="2438400" cy="186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0" name="Rectangle 4"/>
          <p:cNvSpPr>
            <a:spLocks noChangeArrowheads="1"/>
          </p:cNvSpPr>
          <p:nvPr/>
        </p:nvSpPr>
        <p:spPr bwMode="auto">
          <a:xfrm>
            <a:off x="0" y="533400"/>
            <a:ext cx="3068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指针</a:t>
            </a:r>
          </a:p>
        </p:txBody>
      </p:sp>
    </p:spTree>
    <p:extLst>
      <p:ext uri="{BB962C8B-B14F-4D97-AF65-F5344CB8AC3E}">
        <p14:creationId xmlns:p14="http://schemas.microsoft.com/office/powerpoint/2010/main" val="2207389296"/>
      </p:ext>
    </p:extLst>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328709"/>
                                        </p:tgtEl>
                                        <p:attrNameLst>
                                          <p:attrName>style.visibility</p:attrName>
                                        </p:attrNameLst>
                                      </p:cBhvr>
                                      <p:to>
                                        <p:strVal val="visible"/>
                                      </p:to>
                                    </p:set>
                                    <p:animEffect transition="in" filter="dissolve">
                                      <p:cBhvr>
                                        <p:cTn id="7" dur="500"/>
                                        <p:tgtEl>
                                          <p:spTgt spid="328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882" name="Text Box 3"/>
          <p:cNvSpPr txBox="1">
            <a:spLocks noChangeArrowheads="1"/>
          </p:cNvSpPr>
          <p:nvPr/>
        </p:nvSpPr>
        <p:spPr bwMode="auto">
          <a:xfrm>
            <a:off x="0" y="1219200"/>
            <a:ext cx="9144000" cy="4894263"/>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lgn="ctr">
                <a:solidFill>
                  <a:srgbClr val="000000"/>
                </a:solidFill>
                <a:prstDash val="sysDot"/>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指针     </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指针变量专门存放地址</a:t>
            </a:r>
            <a:r>
              <a:rPr kumimoji="1" lang="en-US" altLang="zh-CN" sz="2400" b="1">
                <a:solidFill>
                  <a:schemeClr val="tx2"/>
                </a:solidFill>
                <a:latin typeface="幼圆" pitchFamily="49" charset="-122"/>
                <a:ea typeface="幼圆" pitchFamily="49" charset="-122"/>
              </a:rPr>
              <a:t>.</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指向变量的指针</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int a，*p;               p=&amp;a;           *p</a:t>
            </a:r>
            <a:r>
              <a:rPr kumimoji="1" lang="en-US" altLang="zh-CN"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rPr>
              <a:t>a</a:t>
            </a:r>
          </a:p>
          <a:p>
            <a:pPr eaLnBrk="1" hangingPunct="1">
              <a:spcBef>
                <a:spcPct val="20000"/>
              </a:spcBef>
              <a:buClr>
                <a:schemeClr val="tx1"/>
              </a:buClr>
              <a:buSzPct val="60000"/>
              <a:buFont typeface="宋体" pitchFamily="2" charset="-122"/>
              <a:buNone/>
            </a:pPr>
            <a:endParaRPr kumimoji="1" lang="en-US" altLang="zh-CN" sz="2400" b="1">
              <a:solidFill>
                <a:schemeClr val="tx2"/>
              </a:solidFill>
              <a:latin typeface="幼圆" pitchFamily="49" charset="-122"/>
              <a:ea typeface="幼圆" pitchFamily="49" charset="-122"/>
            </a:endParaRP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 </a:t>
            </a:r>
            <a:r>
              <a:rPr kumimoji="1" lang="zh-CN" altLang="en-US" sz="2400" b="1">
                <a:solidFill>
                  <a:schemeClr val="tx2"/>
                </a:solidFill>
                <a:latin typeface="幼圆" pitchFamily="49" charset="-122"/>
                <a:ea typeface="幼圆" pitchFamily="49" charset="-122"/>
              </a:rPr>
              <a:t>指向数组元素的指针</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int a[10]，*p=a;</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p+i  </a:t>
            </a:r>
            <a:r>
              <a:rPr kumimoji="1" lang="en-US" altLang="zh-CN"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rPr>
              <a:t> &amp;a[i] </a:t>
            </a:r>
            <a:r>
              <a:rPr kumimoji="1" lang="en-US" altLang="zh-CN"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rPr>
              <a:t>   a+i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p[i]</a:t>
            </a:r>
            <a:r>
              <a:rPr kumimoji="1" lang="en-US" altLang="zh-CN"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rPr>
              <a:t>*(p+i) </a:t>
            </a:r>
            <a:r>
              <a:rPr kumimoji="1" lang="en-US" altLang="zh-CN"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rPr>
              <a:t>  a[i]   </a:t>
            </a:r>
            <a:r>
              <a:rPr kumimoji="1" lang="en-US" altLang="zh-CN"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rPr>
              <a:t> *(a+i)</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r>
              <a:rPr kumimoji="1" lang="zh-CN" altLang="en-US" sz="2400" b="1">
                <a:solidFill>
                  <a:schemeClr val="tx2"/>
                </a:solidFill>
                <a:latin typeface="幼圆" pitchFamily="49" charset="-122"/>
                <a:ea typeface="幼圆" pitchFamily="49" charset="-122"/>
              </a:rPr>
              <a:t>如：</a:t>
            </a:r>
            <a:r>
              <a:rPr kumimoji="1" lang="en-US" altLang="zh-CN" sz="2400" b="1">
                <a:solidFill>
                  <a:schemeClr val="tx2"/>
                </a:solidFill>
                <a:latin typeface="幼圆" pitchFamily="49" charset="-122"/>
                <a:ea typeface="幼圆" pitchFamily="49" charset="-122"/>
              </a:rPr>
              <a:t>a[i]</a:t>
            </a:r>
            <a:r>
              <a:rPr kumimoji="1" lang="en-US" altLang="zh-CN"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rPr>
              <a:t>a[j] </a:t>
            </a:r>
            <a:r>
              <a:rPr kumimoji="1" lang="en-US" altLang="zh-CN"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rPr>
              <a:t>   t=*(a+i); *(a+i)= *(a+j); *(a+j)=t;</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t=a[i];          a[i]=a[j];         a[j]=t; </a:t>
            </a:r>
            <a:endParaRPr kumimoji="1" lang="zh-CN" altLang="en-US" sz="2400" b="1">
              <a:solidFill>
                <a:schemeClr val="tx2"/>
              </a:solidFill>
              <a:latin typeface="幼圆" pitchFamily="49" charset="-122"/>
              <a:ea typeface="幼圆" pitchFamily="49" charset="-122"/>
            </a:endParaRPr>
          </a:p>
        </p:txBody>
      </p:sp>
      <p:pic>
        <p:nvPicPr>
          <p:cNvPr id="122883" name="Picture 2" descr="j008225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43800" y="2971800"/>
            <a:ext cx="1344613" cy="162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0" y="533400"/>
            <a:ext cx="3068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指针</a:t>
            </a:r>
          </a:p>
        </p:txBody>
      </p:sp>
    </p:spTree>
    <p:extLst>
      <p:ext uri="{BB962C8B-B14F-4D97-AF65-F5344CB8AC3E}">
        <p14:creationId xmlns:p14="http://schemas.microsoft.com/office/powerpoint/2010/main" val="1760196497"/>
      </p:ext>
    </p:extLst>
  </p:cSld>
  <p:clrMapOvr>
    <a:masterClrMapping/>
  </p:clrMapOvr>
  <p:transition>
    <p:wedge/>
  </p:transition>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4930" name="Text Box 3"/>
          <p:cNvSpPr txBox="1">
            <a:spLocks noChangeArrowheads="1"/>
          </p:cNvSpPr>
          <p:nvPr/>
        </p:nvSpPr>
        <p:spPr bwMode="auto">
          <a:xfrm>
            <a:off x="0" y="1371600"/>
            <a:ext cx="9144000" cy="4838700"/>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lgn="ctr">
                <a:solidFill>
                  <a:srgbClr val="000000"/>
                </a:solidFill>
                <a:prstDash val="sysDot"/>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指向2维数组元素的指针</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int a[3][3],*p; </a:t>
            </a:r>
            <a:r>
              <a:rPr kumimoji="1" lang="zh-CN" altLang="en-US" sz="2400" b="1">
                <a:solidFill>
                  <a:schemeClr val="tx2"/>
                </a:solidFill>
                <a:latin typeface="幼圆" pitchFamily="49" charset="-122"/>
                <a:ea typeface="幼圆" pitchFamily="49" charset="-122"/>
              </a:rPr>
              <a:t>指针变量</a:t>
            </a:r>
            <a:r>
              <a:rPr kumimoji="1" lang="en-US" altLang="zh-CN" sz="2400" b="1">
                <a:solidFill>
                  <a:schemeClr val="tx2"/>
                </a:solidFill>
                <a:latin typeface="幼圆" pitchFamily="49" charset="-122"/>
                <a:ea typeface="幼圆" pitchFamily="49" charset="-122"/>
              </a:rPr>
              <a:t>p</a:t>
            </a:r>
            <a:r>
              <a:rPr kumimoji="1" lang="zh-CN" altLang="en-US" sz="2400" b="1">
                <a:solidFill>
                  <a:schemeClr val="tx2"/>
                </a:solidFill>
                <a:latin typeface="幼圆" pitchFamily="49" charset="-122"/>
                <a:ea typeface="幼圆" pitchFamily="49" charset="-122"/>
              </a:rPr>
              <a:t>的基类型是</a:t>
            </a:r>
            <a:r>
              <a:rPr kumimoji="1" lang="en-US" altLang="zh-CN" sz="2400" b="1">
                <a:solidFill>
                  <a:schemeClr val="tx2"/>
                </a:solidFill>
                <a:latin typeface="幼圆" pitchFamily="49" charset="-122"/>
                <a:ea typeface="幼圆" pitchFamily="49" charset="-122"/>
              </a:rPr>
              <a:t>int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p=a[0];(p=&amp;a[0][0];)</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p+i*n+j  </a:t>
            </a:r>
            <a:r>
              <a:rPr kumimoji="1" lang="en-US" altLang="zh-CN"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rPr>
              <a:t> &amp;a[i][j](n</a:t>
            </a:r>
            <a:r>
              <a:rPr kumimoji="1" lang="zh-CN" altLang="en-US" sz="2400" b="1">
                <a:solidFill>
                  <a:schemeClr val="tx2"/>
                </a:solidFill>
                <a:latin typeface="幼圆" pitchFamily="49" charset="-122"/>
                <a:ea typeface="幼圆" pitchFamily="49" charset="-122"/>
              </a:rPr>
              <a:t>是列数)</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p+i*n+j) </a:t>
            </a:r>
            <a:r>
              <a:rPr kumimoji="1" lang="en-US" altLang="zh-CN"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rPr>
              <a:t>  a[i][j] </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指向一维数组的指针</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int a[3][3],(*p)[3]; </a:t>
            </a:r>
            <a:r>
              <a:rPr kumimoji="1" lang="zh-CN" altLang="en-US" sz="2400" b="1">
                <a:solidFill>
                  <a:schemeClr val="tx2"/>
                </a:solidFill>
                <a:latin typeface="幼圆" pitchFamily="49" charset="-122"/>
                <a:ea typeface="幼圆" pitchFamily="49" charset="-122"/>
              </a:rPr>
              <a:t>指针变量</a:t>
            </a:r>
            <a:r>
              <a:rPr kumimoji="1" lang="en-US" altLang="zh-CN" sz="2400" b="1">
                <a:solidFill>
                  <a:schemeClr val="tx2"/>
                </a:solidFill>
                <a:latin typeface="幼圆" pitchFamily="49" charset="-122"/>
                <a:ea typeface="幼圆" pitchFamily="49" charset="-122"/>
              </a:rPr>
              <a:t>p</a:t>
            </a:r>
            <a:r>
              <a:rPr kumimoji="1" lang="zh-CN" altLang="en-US" sz="2400" b="1">
                <a:solidFill>
                  <a:schemeClr val="tx2"/>
                </a:solidFill>
                <a:latin typeface="幼圆" pitchFamily="49" charset="-122"/>
                <a:ea typeface="幼圆" pitchFamily="49" charset="-122"/>
              </a:rPr>
              <a:t>的基类型是</a:t>
            </a:r>
            <a:r>
              <a:rPr kumimoji="1" lang="en-US" altLang="zh-CN" sz="2400" b="1">
                <a:solidFill>
                  <a:schemeClr val="tx2"/>
                </a:solidFill>
                <a:latin typeface="幼圆" pitchFamily="49" charset="-122"/>
                <a:ea typeface="幼圆" pitchFamily="49" charset="-122"/>
              </a:rPr>
              <a:t>int  [3]</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p=a;  </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p+i)+j </a:t>
            </a:r>
            <a:r>
              <a:rPr kumimoji="1" lang="en-US" altLang="zh-CN"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rPr>
              <a:t> &amp;a[i][j] </a:t>
            </a:r>
            <a:r>
              <a:rPr kumimoji="1" lang="en-US" altLang="zh-CN" sz="2400" b="1">
                <a:solidFill>
                  <a:schemeClr val="tx2"/>
                </a:solidFill>
                <a:latin typeface="幼圆" pitchFamily="49" charset="-122"/>
                <a:ea typeface="幼圆" pitchFamily="49" charset="-122"/>
                <a:sym typeface="Symbol" pitchFamily="18" charset="2"/>
              </a:rPr>
              <a:t> </a:t>
            </a: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a+i)+j </a:t>
            </a:r>
            <a:r>
              <a:rPr kumimoji="1" lang="en-US" altLang="zh-CN" sz="2400" b="1">
                <a:solidFill>
                  <a:schemeClr val="tx2"/>
                </a:solidFill>
                <a:latin typeface="幼圆" pitchFamily="49" charset="-122"/>
                <a:ea typeface="幼圆" pitchFamily="49" charset="-122"/>
                <a:sym typeface="Symbol" pitchFamily="18" charset="2"/>
              </a:rPr>
              <a:t>a[i]+j</a:t>
            </a:r>
            <a:endParaRPr kumimoji="1" lang="en-US" altLang="zh-CN" sz="2400" b="1">
              <a:solidFill>
                <a:schemeClr val="tx2"/>
              </a:solidFill>
              <a:latin typeface="幼圆" pitchFamily="49" charset="-122"/>
              <a:ea typeface="幼圆" pitchFamily="49" charset="-122"/>
            </a:endParaRP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p+i)+j) </a:t>
            </a:r>
            <a:r>
              <a:rPr kumimoji="1" lang="en-US" altLang="zh-CN"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rPr>
              <a:t> a[i][j] </a:t>
            </a:r>
          </a:p>
          <a:p>
            <a:pPr eaLnBrk="1" hangingPunct="1">
              <a:spcBef>
                <a:spcPct val="20000"/>
              </a:spcBef>
              <a:buClr>
                <a:schemeClr val="tx1"/>
              </a:buClr>
              <a:buSzPct val="60000"/>
              <a:buFont typeface="宋体" pitchFamily="2" charset="-122"/>
              <a:buNone/>
            </a:pPr>
            <a:endParaRPr kumimoji="1" lang="en-US" altLang="zh-CN" sz="2400" b="1">
              <a:solidFill>
                <a:schemeClr val="tx2"/>
              </a:solidFill>
              <a:latin typeface="幼圆" pitchFamily="49" charset="-122"/>
              <a:ea typeface="幼圆" pitchFamily="49" charset="-122"/>
            </a:endParaRPr>
          </a:p>
        </p:txBody>
      </p:sp>
      <p:pic>
        <p:nvPicPr>
          <p:cNvPr id="347138" name="Picture 2" descr="j015697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96175" y="4953000"/>
            <a:ext cx="1647825" cy="158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0" y="533400"/>
            <a:ext cx="3068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指针</a:t>
            </a:r>
          </a:p>
        </p:txBody>
      </p:sp>
    </p:spTree>
    <p:extLst>
      <p:ext uri="{BB962C8B-B14F-4D97-AF65-F5344CB8AC3E}">
        <p14:creationId xmlns:p14="http://schemas.microsoft.com/office/powerpoint/2010/main" val="2296740461"/>
      </p:ext>
    </p:extLst>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47138"/>
                                        </p:tgtEl>
                                        <p:attrNameLst>
                                          <p:attrName>style.visibility</p:attrName>
                                        </p:attrNameLst>
                                      </p:cBhvr>
                                      <p:to>
                                        <p:strVal val="visible"/>
                                      </p:to>
                                    </p:set>
                                    <p:animEffect transition="in" filter="dissolve">
                                      <p:cBhvr>
                                        <p:cTn id="7" dur="500"/>
                                        <p:tgtEl>
                                          <p:spTgt spid="347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6978" name="Text Box 3"/>
          <p:cNvSpPr txBox="1">
            <a:spLocks noChangeArrowheads="1"/>
          </p:cNvSpPr>
          <p:nvPr/>
        </p:nvSpPr>
        <p:spPr bwMode="auto">
          <a:xfrm>
            <a:off x="0" y="1295400"/>
            <a:ext cx="9144000" cy="4838700"/>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lgn="ctr">
                <a:solidFill>
                  <a:srgbClr val="000000"/>
                </a:solidFill>
                <a:prstDash val="sysDot"/>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spcBef>
                <a:spcPct val="20000"/>
              </a:spcBef>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◆字符指针</a:t>
            </a:r>
          </a:p>
          <a:p>
            <a:pPr eaLnBrk="1" hangingPunct="1">
              <a:spcBef>
                <a:spcPct val="20000"/>
              </a:spcBef>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   </a:t>
            </a:r>
            <a:r>
              <a:rPr kumimoji="1" lang="en-US" altLang="zh-CN" sz="2400" b="1" dirty="0">
                <a:solidFill>
                  <a:schemeClr val="tx2"/>
                </a:solidFill>
                <a:latin typeface="幼圆" pitchFamily="49" charset="-122"/>
                <a:ea typeface="幼圆" pitchFamily="49" charset="-122"/>
              </a:rPr>
              <a:t>char s[ ]=</a:t>
            </a:r>
            <a:r>
              <a:rPr kumimoji="1" lang="en-US" altLang="zh-CN" sz="2400" b="1" dirty="0">
                <a:solidFill>
                  <a:schemeClr val="tx2"/>
                </a:solidFill>
                <a:latin typeface="Arial" pitchFamily="34" charset="0"/>
                <a:ea typeface="幼圆" pitchFamily="49" charset="-122"/>
              </a:rPr>
              <a:t>”</a:t>
            </a:r>
            <a:r>
              <a:rPr kumimoji="1" lang="en-US" altLang="zh-CN" sz="2400" b="1" dirty="0">
                <a:solidFill>
                  <a:schemeClr val="tx2"/>
                </a:solidFill>
                <a:latin typeface="幼圆" pitchFamily="49" charset="-122"/>
                <a:ea typeface="幼圆" pitchFamily="49" charset="-122"/>
              </a:rPr>
              <a:t>china</a:t>
            </a:r>
            <a:r>
              <a:rPr kumimoji="1" lang="en-US" altLang="zh-CN" sz="2400" b="1" dirty="0">
                <a:solidFill>
                  <a:schemeClr val="tx2"/>
                </a:solidFill>
                <a:latin typeface="Arial" pitchFamily="34" charset="0"/>
                <a:ea typeface="幼圆" pitchFamily="49" charset="-122"/>
              </a:rPr>
              <a:t>”</a:t>
            </a:r>
            <a:r>
              <a:rPr kumimoji="1" lang="en-US" altLang="zh-CN" sz="2400" b="1" dirty="0">
                <a:solidFill>
                  <a:schemeClr val="tx2"/>
                </a:solidFill>
                <a:latin typeface="幼圆" pitchFamily="49" charset="-122"/>
                <a:ea typeface="幼圆" pitchFamily="49" charset="-122"/>
              </a:rPr>
              <a:t>,*p;  </a:t>
            </a:r>
            <a:r>
              <a:rPr kumimoji="1" lang="zh-CN" altLang="en-US" sz="2400" b="1" dirty="0">
                <a:solidFill>
                  <a:schemeClr val="tx2"/>
                </a:solidFill>
                <a:latin typeface="幼圆" pitchFamily="49" charset="-122"/>
                <a:ea typeface="幼圆" pitchFamily="49" charset="-122"/>
              </a:rPr>
              <a:t>指针变量</a:t>
            </a:r>
            <a:r>
              <a:rPr kumimoji="1" lang="en-US" altLang="zh-CN" sz="2400" b="1" dirty="0">
                <a:solidFill>
                  <a:schemeClr val="tx2"/>
                </a:solidFill>
                <a:latin typeface="幼圆" pitchFamily="49" charset="-122"/>
                <a:ea typeface="幼圆" pitchFamily="49" charset="-122"/>
              </a:rPr>
              <a:t>p</a:t>
            </a:r>
            <a:r>
              <a:rPr kumimoji="1" lang="zh-CN" altLang="en-US" sz="2400" b="1" dirty="0">
                <a:solidFill>
                  <a:schemeClr val="tx2"/>
                </a:solidFill>
                <a:latin typeface="幼圆" pitchFamily="49" charset="-122"/>
                <a:ea typeface="幼圆" pitchFamily="49" charset="-122"/>
              </a:rPr>
              <a:t>的基类型是</a:t>
            </a:r>
            <a:r>
              <a:rPr kumimoji="1" lang="en-US" altLang="zh-CN" sz="2400" b="1" dirty="0">
                <a:solidFill>
                  <a:schemeClr val="tx2"/>
                </a:solidFill>
                <a:latin typeface="幼圆" pitchFamily="49" charset="-122"/>
                <a:ea typeface="幼圆" pitchFamily="49" charset="-122"/>
              </a:rPr>
              <a:t>char</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   p=s;</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   </a:t>
            </a:r>
            <a:r>
              <a:rPr kumimoji="1" lang="en-US" altLang="zh-CN" sz="2400" b="1" dirty="0" err="1">
                <a:solidFill>
                  <a:schemeClr val="tx2"/>
                </a:solidFill>
                <a:latin typeface="幼圆" pitchFamily="49" charset="-122"/>
                <a:ea typeface="幼圆" pitchFamily="49" charset="-122"/>
              </a:rPr>
              <a:t>p+i</a:t>
            </a:r>
            <a:r>
              <a:rPr kumimoji="1" lang="en-US" altLang="zh-CN" sz="2400" b="1" dirty="0">
                <a:solidFill>
                  <a:schemeClr val="tx2"/>
                </a:solidFill>
                <a:latin typeface="幼圆" pitchFamily="49" charset="-122"/>
                <a:ea typeface="幼圆" pitchFamily="49" charset="-122"/>
              </a:rPr>
              <a:t> </a:t>
            </a:r>
            <a:r>
              <a:rPr kumimoji="1" lang="en-US" altLang="zh-CN" sz="2400" b="1" dirty="0">
                <a:solidFill>
                  <a:schemeClr val="tx2"/>
                </a:solidFill>
                <a:latin typeface="幼圆" pitchFamily="49" charset="-122"/>
                <a:ea typeface="幼圆" pitchFamily="49" charset="-122"/>
                <a:sym typeface="Symbol" pitchFamily="18" charset="2"/>
              </a:rPr>
              <a:t></a:t>
            </a:r>
            <a:r>
              <a:rPr kumimoji="1" lang="en-US" altLang="zh-CN" sz="2400" b="1" dirty="0">
                <a:solidFill>
                  <a:schemeClr val="tx2"/>
                </a:solidFill>
                <a:latin typeface="幼圆" pitchFamily="49" charset="-122"/>
                <a:ea typeface="幼圆" pitchFamily="49" charset="-122"/>
              </a:rPr>
              <a:t> &amp;s[</a:t>
            </a:r>
            <a:r>
              <a:rPr kumimoji="1" lang="en-US" altLang="zh-CN" sz="2400" b="1" dirty="0" err="1">
                <a:solidFill>
                  <a:schemeClr val="tx2"/>
                </a:solidFill>
                <a:latin typeface="幼圆" pitchFamily="49" charset="-122"/>
                <a:ea typeface="幼圆" pitchFamily="49" charset="-122"/>
              </a:rPr>
              <a:t>i</a:t>
            </a:r>
            <a:r>
              <a:rPr kumimoji="1" lang="en-US" altLang="zh-CN" sz="2400" b="1" dirty="0">
                <a:solidFill>
                  <a:schemeClr val="tx2"/>
                </a:solidFill>
                <a:latin typeface="幼圆" pitchFamily="49" charset="-122"/>
                <a:ea typeface="幼圆" pitchFamily="49" charset="-122"/>
              </a:rPr>
              <a:t>]      *(</a:t>
            </a:r>
            <a:r>
              <a:rPr kumimoji="1" lang="en-US" altLang="zh-CN" sz="2400" b="1" dirty="0" err="1">
                <a:solidFill>
                  <a:schemeClr val="tx2"/>
                </a:solidFill>
                <a:latin typeface="幼圆" pitchFamily="49" charset="-122"/>
                <a:ea typeface="幼圆" pitchFamily="49" charset="-122"/>
              </a:rPr>
              <a:t>p+i</a:t>
            </a:r>
            <a:r>
              <a:rPr kumimoji="1" lang="en-US" altLang="zh-CN" sz="2400" b="1" dirty="0">
                <a:solidFill>
                  <a:schemeClr val="tx2"/>
                </a:solidFill>
                <a:latin typeface="幼圆" pitchFamily="49" charset="-122"/>
                <a:ea typeface="幼圆" pitchFamily="49" charset="-122"/>
              </a:rPr>
              <a:t>) </a:t>
            </a:r>
            <a:r>
              <a:rPr kumimoji="1" lang="en-US" altLang="zh-CN" sz="2400" b="1" dirty="0">
                <a:solidFill>
                  <a:schemeClr val="tx2"/>
                </a:solidFill>
                <a:latin typeface="幼圆" pitchFamily="49" charset="-122"/>
                <a:ea typeface="幼圆" pitchFamily="49" charset="-122"/>
                <a:sym typeface="Symbol" pitchFamily="18" charset="2"/>
              </a:rPr>
              <a:t></a:t>
            </a:r>
            <a:r>
              <a:rPr kumimoji="1" lang="en-US" altLang="zh-CN" sz="2400" b="1" dirty="0">
                <a:solidFill>
                  <a:schemeClr val="tx2"/>
                </a:solidFill>
                <a:latin typeface="幼圆" pitchFamily="49" charset="-122"/>
                <a:ea typeface="幼圆" pitchFamily="49" charset="-122"/>
              </a:rPr>
              <a:t> s[</a:t>
            </a:r>
            <a:r>
              <a:rPr kumimoji="1" lang="en-US" altLang="zh-CN" sz="2400" b="1" dirty="0" err="1">
                <a:solidFill>
                  <a:schemeClr val="tx2"/>
                </a:solidFill>
                <a:latin typeface="幼圆" pitchFamily="49" charset="-122"/>
                <a:ea typeface="幼圆" pitchFamily="49" charset="-122"/>
              </a:rPr>
              <a:t>i</a:t>
            </a:r>
            <a:r>
              <a:rPr kumimoji="1" lang="en-US" altLang="zh-CN" sz="2400" b="1" dirty="0">
                <a:solidFill>
                  <a:schemeClr val="tx2"/>
                </a:solidFill>
                <a:latin typeface="幼圆" pitchFamily="49" charset="-122"/>
                <a:ea typeface="幼圆" pitchFamily="49" charset="-122"/>
              </a:rPr>
              <a:t>]</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   </a:t>
            </a:r>
            <a:r>
              <a:rPr kumimoji="1" lang="en-US" altLang="zh-CN" sz="2400" b="1" dirty="0" err="1">
                <a:solidFill>
                  <a:schemeClr val="tx2"/>
                </a:solidFill>
                <a:latin typeface="幼圆" pitchFamily="49" charset="-122"/>
                <a:ea typeface="幼圆" pitchFamily="49" charset="-122"/>
              </a:rPr>
              <a:t>printf</a:t>
            </a:r>
            <a:r>
              <a:rPr kumimoji="1" lang="en-US" altLang="zh-CN" sz="2400" b="1" dirty="0">
                <a:solidFill>
                  <a:schemeClr val="tx2"/>
                </a:solidFill>
                <a:latin typeface="幼圆" pitchFamily="49" charset="-122"/>
                <a:ea typeface="幼圆" pitchFamily="49" charset="-122"/>
              </a:rPr>
              <a:t>(</a:t>
            </a:r>
            <a:r>
              <a:rPr kumimoji="1" lang="en-US" altLang="zh-CN" sz="2400" b="1" dirty="0">
                <a:solidFill>
                  <a:schemeClr val="tx2"/>
                </a:solidFill>
                <a:latin typeface="Arial" pitchFamily="34" charset="0"/>
                <a:ea typeface="幼圆" pitchFamily="49" charset="-122"/>
              </a:rPr>
              <a:t>“</a:t>
            </a:r>
            <a:r>
              <a:rPr kumimoji="1" lang="en-US" altLang="zh-CN" sz="2400" b="1" dirty="0">
                <a:solidFill>
                  <a:schemeClr val="tx2"/>
                </a:solidFill>
                <a:latin typeface="幼圆" pitchFamily="49" charset="-122"/>
                <a:ea typeface="幼圆" pitchFamily="49" charset="-122"/>
              </a:rPr>
              <a:t>%</a:t>
            </a:r>
            <a:r>
              <a:rPr kumimoji="1" lang="en-US" altLang="zh-CN" sz="2400" b="1" dirty="0" err="1">
                <a:solidFill>
                  <a:schemeClr val="tx2"/>
                </a:solidFill>
                <a:latin typeface="幼圆" pitchFamily="49" charset="-122"/>
                <a:ea typeface="幼圆" pitchFamily="49" charset="-122"/>
              </a:rPr>
              <a:t>c,%s</a:t>
            </a:r>
            <a:r>
              <a:rPr kumimoji="1" lang="en-US" altLang="zh-CN" sz="2400" b="1" dirty="0">
                <a:solidFill>
                  <a:schemeClr val="tx2"/>
                </a:solidFill>
                <a:latin typeface="幼圆" pitchFamily="49" charset="-122"/>
                <a:ea typeface="幼圆" pitchFamily="49" charset="-122"/>
              </a:rPr>
              <a:t>\n</a:t>
            </a:r>
            <a:r>
              <a:rPr kumimoji="1" lang="en-US" altLang="zh-CN" sz="2400" b="1" dirty="0">
                <a:solidFill>
                  <a:schemeClr val="tx2"/>
                </a:solidFill>
                <a:latin typeface="Arial" pitchFamily="34" charset="0"/>
                <a:ea typeface="幼圆" pitchFamily="49" charset="-122"/>
              </a:rPr>
              <a:t>”</a:t>
            </a:r>
            <a:r>
              <a:rPr kumimoji="1" lang="en-US" altLang="zh-CN" sz="2400" b="1" dirty="0">
                <a:solidFill>
                  <a:schemeClr val="tx2"/>
                </a:solidFill>
                <a:latin typeface="幼圆" pitchFamily="49" charset="-122"/>
                <a:ea typeface="幼圆" pitchFamily="49" charset="-122"/>
              </a:rPr>
              <a:t>,*(s+2), s+2); </a:t>
            </a:r>
            <a:r>
              <a:rPr kumimoji="1" lang="zh-CN" altLang="en-US" sz="2400" b="1" dirty="0">
                <a:solidFill>
                  <a:schemeClr val="tx2"/>
                </a:solidFill>
                <a:latin typeface="幼圆" pitchFamily="49" charset="-122"/>
                <a:ea typeface="幼圆" pitchFamily="49" charset="-122"/>
              </a:rPr>
              <a:t>输出</a:t>
            </a:r>
            <a:r>
              <a:rPr kumimoji="1" lang="en-US" altLang="zh-CN" sz="2400" b="1" dirty="0" err="1">
                <a:solidFill>
                  <a:schemeClr val="tx2"/>
                </a:solidFill>
                <a:latin typeface="幼圆" pitchFamily="49" charset="-122"/>
                <a:ea typeface="幼圆" pitchFamily="49" charset="-122"/>
              </a:rPr>
              <a:t>i</a:t>
            </a:r>
            <a:r>
              <a:rPr kumimoji="1" lang="en-US" altLang="zh-CN" sz="2400" b="1" dirty="0">
                <a:solidFill>
                  <a:schemeClr val="tx2"/>
                </a:solidFill>
                <a:latin typeface="幼圆" pitchFamily="49" charset="-122"/>
                <a:ea typeface="幼圆" pitchFamily="49" charset="-122"/>
              </a:rPr>
              <a:t>, </a:t>
            </a:r>
            <a:r>
              <a:rPr kumimoji="1" lang="en-US" altLang="zh-CN" sz="2400" b="1" dirty="0" err="1">
                <a:solidFill>
                  <a:schemeClr val="tx2"/>
                </a:solidFill>
                <a:latin typeface="幼圆" pitchFamily="49" charset="-122"/>
                <a:ea typeface="幼圆" pitchFamily="49" charset="-122"/>
              </a:rPr>
              <a:t>ina</a:t>
            </a:r>
            <a:endParaRPr kumimoji="1" lang="en-US" altLang="zh-CN" sz="2400" b="1" dirty="0">
              <a:solidFill>
                <a:schemeClr val="tx2"/>
              </a:solidFill>
              <a:latin typeface="幼圆" pitchFamily="49" charset="-122"/>
              <a:ea typeface="幼圆" pitchFamily="49" charset="-122"/>
            </a:endParaRPr>
          </a:p>
          <a:p>
            <a:pPr eaLnBrk="1" hangingPunct="1">
              <a:spcBef>
                <a:spcPct val="20000"/>
              </a:spcBef>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   ★ 字符数组与字符指针的异同</a:t>
            </a:r>
          </a:p>
          <a:p>
            <a:pPr eaLnBrk="1" hangingPunct="1">
              <a:spcBef>
                <a:spcPct val="20000"/>
              </a:spcBef>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   同：</a:t>
            </a:r>
            <a:r>
              <a:rPr kumimoji="1" lang="en-US" altLang="zh-CN" sz="2400" b="1" dirty="0">
                <a:solidFill>
                  <a:schemeClr val="tx2"/>
                </a:solidFill>
                <a:latin typeface="幼圆" pitchFamily="49" charset="-122"/>
                <a:ea typeface="幼圆" pitchFamily="49" charset="-122"/>
              </a:rPr>
              <a:t>char s[ ]=</a:t>
            </a:r>
            <a:r>
              <a:rPr kumimoji="1" lang="en-US" altLang="zh-CN" sz="2400" b="1" dirty="0">
                <a:solidFill>
                  <a:schemeClr val="tx2"/>
                </a:solidFill>
                <a:latin typeface="Arial" pitchFamily="34" charset="0"/>
                <a:ea typeface="幼圆" pitchFamily="49" charset="-122"/>
              </a:rPr>
              <a:t>”</a:t>
            </a:r>
            <a:r>
              <a:rPr kumimoji="1" lang="en-US" altLang="zh-CN" sz="2400" b="1" dirty="0">
                <a:solidFill>
                  <a:schemeClr val="tx2"/>
                </a:solidFill>
                <a:latin typeface="幼圆" pitchFamily="49" charset="-122"/>
                <a:ea typeface="幼圆" pitchFamily="49" charset="-122"/>
              </a:rPr>
              <a:t>china</a:t>
            </a:r>
            <a:r>
              <a:rPr kumimoji="1" lang="en-US" altLang="zh-CN" sz="2400" b="1" dirty="0">
                <a:solidFill>
                  <a:schemeClr val="tx2"/>
                </a:solidFill>
                <a:latin typeface="Arial" pitchFamily="34" charset="0"/>
                <a:ea typeface="幼圆" pitchFamily="49" charset="-122"/>
              </a:rPr>
              <a:t>”</a:t>
            </a:r>
            <a:r>
              <a:rPr kumimoji="1" lang="en-US" altLang="zh-CN" sz="2400" b="1" dirty="0">
                <a:solidFill>
                  <a:schemeClr val="tx2"/>
                </a:solidFill>
                <a:latin typeface="幼圆" pitchFamily="49" charset="-122"/>
                <a:ea typeface="幼圆" pitchFamily="49" charset="-122"/>
              </a:rPr>
              <a:t>,  *p=</a:t>
            </a:r>
            <a:r>
              <a:rPr kumimoji="1" lang="en-US" altLang="zh-CN" sz="2400" b="1" dirty="0">
                <a:solidFill>
                  <a:schemeClr val="tx2"/>
                </a:solidFill>
                <a:latin typeface="Arial" pitchFamily="34" charset="0"/>
                <a:ea typeface="幼圆" pitchFamily="49" charset="-122"/>
              </a:rPr>
              <a:t>”</a:t>
            </a:r>
            <a:r>
              <a:rPr kumimoji="1" lang="en-US" altLang="zh-CN" sz="2400" b="1" dirty="0">
                <a:solidFill>
                  <a:schemeClr val="tx2"/>
                </a:solidFill>
                <a:latin typeface="幼圆" pitchFamily="49" charset="-122"/>
                <a:ea typeface="幼圆" pitchFamily="49" charset="-122"/>
              </a:rPr>
              <a:t>123</a:t>
            </a:r>
            <a:r>
              <a:rPr kumimoji="1" lang="en-US" altLang="zh-CN" sz="2400" b="1" dirty="0">
                <a:solidFill>
                  <a:schemeClr val="tx2"/>
                </a:solidFill>
                <a:latin typeface="Arial" pitchFamily="34" charset="0"/>
                <a:ea typeface="幼圆" pitchFamily="49" charset="-122"/>
              </a:rPr>
              <a:t>”</a:t>
            </a:r>
            <a:r>
              <a:rPr kumimoji="1" lang="en-US" altLang="zh-CN" sz="2400" b="1" dirty="0">
                <a:solidFill>
                  <a:schemeClr val="tx2"/>
                </a:solidFill>
                <a:latin typeface="幼圆" pitchFamily="49" charset="-122"/>
                <a:ea typeface="幼圆" pitchFamily="49" charset="-122"/>
              </a:rPr>
              <a:t>;</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       </a:t>
            </a:r>
            <a:r>
              <a:rPr kumimoji="1" lang="en-US" altLang="zh-CN" sz="2400" b="1" dirty="0" err="1">
                <a:solidFill>
                  <a:schemeClr val="tx2"/>
                </a:solidFill>
                <a:latin typeface="幼圆" pitchFamily="49" charset="-122"/>
                <a:ea typeface="幼圆" pitchFamily="49" charset="-122"/>
              </a:rPr>
              <a:t>printf</a:t>
            </a:r>
            <a:r>
              <a:rPr kumimoji="1" lang="en-US" altLang="zh-CN" sz="2400" b="1" dirty="0">
                <a:solidFill>
                  <a:schemeClr val="tx2"/>
                </a:solidFill>
                <a:latin typeface="幼圆" pitchFamily="49" charset="-122"/>
                <a:ea typeface="幼圆" pitchFamily="49" charset="-122"/>
              </a:rPr>
              <a:t> (</a:t>
            </a:r>
            <a:r>
              <a:rPr kumimoji="1" lang="en-US" altLang="zh-CN" sz="2400" b="1" dirty="0">
                <a:solidFill>
                  <a:schemeClr val="tx2"/>
                </a:solidFill>
                <a:latin typeface="Arial" pitchFamily="34" charset="0"/>
                <a:ea typeface="幼圆" pitchFamily="49" charset="-122"/>
              </a:rPr>
              <a:t>“</a:t>
            </a:r>
            <a:r>
              <a:rPr kumimoji="1" lang="en-US" altLang="zh-CN" sz="2400" b="1" dirty="0">
                <a:solidFill>
                  <a:schemeClr val="tx2"/>
                </a:solidFill>
                <a:latin typeface="幼圆" pitchFamily="49" charset="-122"/>
                <a:ea typeface="幼圆" pitchFamily="49" charset="-122"/>
              </a:rPr>
              <a:t>%</a:t>
            </a:r>
            <a:r>
              <a:rPr kumimoji="1" lang="en-US" altLang="zh-CN" sz="2400" b="1" dirty="0" err="1">
                <a:solidFill>
                  <a:schemeClr val="tx2"/>
                </a:solidFill>
                <a:latin typeface="幼圆" pitchFamily="49" charset="-122"/>
                <a:ea typeface="幼圆" pitchFamily="49" charset="-122"/>
              </a:rPr>
              <a:t>s,%s</a:t>
            </a:r>
            <a:r>
              <a:rPr kumimoji="1" lang="en-US" altLang="zh-CN" sz="2400" b="1" dirty="0">
                <a:solidFill>
                  <a:schemeClr val="tx2"/>
                </a:solidFill>
                <a:latin typeface="幼圆" pitchFamily="49" charset="-122"/>
                <a:ea typeface="幼圆" pitchFamily="49" charset="-122"/>
              </a:rPr>
              <a:t>\</a:t>
            </a:r>
            <a:r>
              <a:rPr kumimoji="1" lang="en-US" altLang="zh-CN" sz="2400" b="1" dirty="0" err="1">
                <a:solidFill>
                  <a:schemeClr val="tx2"/>
                </a:solidFill>
                <a:latin typeface="幼圆" pitchFamily="49" charset="-122"/>
                <a:ea typeface="幼圆" pitchFamily="49" charset="-122"/>
              </a:rPr>
              <a:t>n</a:t>
            </a:r>
            <a:r>
              <a:rPr kumimoji="1" lang="en-US" altLang="zh-CN" sz="2400" b="1" dirty="0" err="1">
                <a:solidFill>
                  <a:schemeClr val="tx2"/>
                </a:solidFill>
                <a:latin typeface="Arial" pitchFamily="34" charset="0"/>
                <a:ea typeface="幼圆" pitchFamily="49" charset="-122"/>
              </a:rPr>
              <a:t>”</a:t>
            </a:r>
            <a:r>
              <a:rPr kumimoji="1" lang="en-US" altLang="zh-CN" sz="2400" b="1" dirty="0" err="1">
                <a:solidFill>
                  <a:schemeClr val="tx2"/>
                </a:solidFill>
                <a:latin typeface="幼圆" pitchFamily="49" charset="-122"/>
                <a:ea typeface="幼圆" pitchFamily="49" charset="-122"/>
              </a:rPr>
              <a:t>,s</a:t>
            </a:r>
            <a:r>
              <a:rPr kumimoji="1" lang="en-US" altLang="zh-CN" sz="2400" b="1" dirty="0">
                <a:solidFill>
                  <a:schemeClr val="tx2"/>
                </a:solidFill>
                <a:latin typeface="幼圆" pitchFamily="49" charset="-122"/>
                <a:ea typeface="幼圆" pitchFamily="49" charset="-122"/>
              </a:rPr>
              <a:t>, p);</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   </a:t>
            </a:r>
            <a:r>
              <a:rPr kumimoji="1" lang="zh-CN" altLang="en-US" sz="2400" b="1" dirty="0">
                <a:solidFill>
                  <a:schemeClr val="tx2"/>
                </a:solidFill>
                <a:latin typeface="幼圆" pitchFamily="49" charset="-122"/>
                <a:ea typeface="幼圆" pitchFamily="49" charset="-122"/>
              </a:rPr>
              <a:t>异：</a:t>
            </a:r>
            <a:r>
              <a:rPr kumimoji="1" lang="en-US" altLang="zh-CN" sz="2400" b="1" dirty="0">
                <a:solidFill>
                  <a:schemeClr val="tx2"/>
                </a:solidFill>
                <a:latin typeface="幼圆" pitchFamily="49" charset="-122"/>
                <a:ea typeface="幼圆" pitchFamily="49" charset="-122"/>
              </a:rPr>
              <a:t>p=</a:t>
            </a:r>
            <a:r>
              <a:rPr kumimoji="1" lang="en-US" altLang="zh-CN" sz="2400" b="1" dirty="0">
                <a:solidFill>
                  <a:schemeClr val="tx2"/>
                </a:solidFill>
                <a:latin typeface="Arial" pitchFamily="34" charset="0"/>
                <a:ea typeface="幼圆" pitchFamily="49" charset="-122"/>
              </a:rPr>
              <a:t>”</a:t>
            </a:r>
            <a:r>
              <a:rPr kumimoji="1" lang="en-US" altLang="zh-CN" sz="2400" b="1" dirty="0" err="1">
                <a:solidFill>
                  <a:schemeClr val="tx2"/>
                </a:solidFill>
                <a:latin typeface="幼圆" pitchFamily="49" charset="-122"/>
                <a:ea typeface="幼圆" pitchFamily="49" charset="-122"/>
              </a:rPr>
              <a:t>abc</a:t>
            </a:r>
            <a:r>
              <a:rPr kumimoji="1" lang="en-US" altLang="zh-CN" sz="2400" b="1" dirty="0">
                <a:solidFill>
                  <a:schemeClr val="tx2"/>
                </a:solidFill>
                <a:latin typeface="Arial" pitchFamily="34" charset="0"/>
                <a:ea typeface="幼圆" pitchFamily="49" charset="-122"/>
              </a:rPr>
              <a:t>”</a:t>
            </a:r>
            <a:r>
              <a:rPr kumimoji="1" lang="en-US" altLang="zh-CN" sz="2400" b="1" dirty="0">
                <a:solidFill>
                  <a:schemeClr val="tx2"/>
                </a:solidFill>
                <a:latin typeface="幼圆" pitchFamily="49" charset="-122"/>
                <a:ea typeface="幼圆" pitchFamily="49" charset="-122"/>
              </a:rPr>
              <a:t>;      p</a:t>
            </a:r>
            <a:r>
              <a:rPr kumimoji="1" lang="zh-CN" altLang="en-US" sz="2400" b="1" dirty="0">
                <a:solidFill>
                  <a:schemeClr val="tx2"/>
                </a:solidFill>
                <a:latin typeface="幼圆" pitchFamily="49" charset="-122"/>
                <a:ea typeface="幼圆" pitchFamily="49" charset="-122"/>
              </a:rPr>
              <a:t>是指针变量</a:t>
            </a:r>
            <a:endParaRPr kumimoji="1" lang="en-US" altLang="zh-CN" sz="2400" b="1" dirty="0">
              <a:solidFill>
                <a:schemeClr val="tx2"/>
              </a:solidFill>
              <a:latin typeface="幼圆" pitchFamily="49" charset="-122"/>
              <a:ea typeface="幼圆" pitchFamily="49" charset="-122"/>
            </a:endParaRP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           s=</a:t>
            </a:r>
            <a:r>
              <a:rPr kumimoji="1" lang="en-US" altLang="zh-CN" sz="2400" b="1" dirty="0">
                <a:solidFill>
                  <a:schemeClr val="tx2"/>
                </a:solidFill>
                <a:latin typeface="Arial" pitchFamily="34" charset="0"/>
                <a:ea typeface="幼圆" pitchFamily="49" charset="-122"/>
              </a:rPr>
              <a:t>”</a:t>
            </a:r>
            <a:r>
              <a:rPr kumimoji="1" lang="en-US" altLang="zh-CN" sz="2400" b="1" dirty="0">
                <a:solidFill>
                  <a:schemeClr val="tx2"/>
                </a:solidFill>
                <a:latin typeface="幼圆" pitchFamily="49" charset="-122"/>
                <a:ea typeface="幼圆" pitchFamily="49" charset="-122"/>
              </a:rPr>
              <a:t>xyz</a:t>
            </a:r>
            <a:r>
              <a:rPr kumimoji="1" lang="en-US" altLang="zh-CN" sz="2400" b="1" dirty="0">
                <a:solidFill>
                  <a:schemeClr val="tx2"/>
                </a:solidFill>
                <a:latin typeface="Arial" pitchFamily="34" charset="0"/>
                <a:ea typeface="幼圆" pitchFamily="49" charset="-122"/>
              </a:rPr>
              <a:t>”</a:t>
            </a:r>
            <a:r>
              <a:rPr kumimoji="1" lang="en-US" altLang="zh-CN" sz="2400" b="1" dirty="0">
                <a:solidFill>
                  <a:schemeClr val="tx2"/>
                </a:solidFill>
                <a:latin typeface="幼圆" pitchFamily="49" charset="-122"/>
                <a:ea typeface="幼圆" pitchFamily="49" charset="-122"/>
              </a:rPr>
              <a:t>;×   s</a:t>
            </a:r>
            <a:r>
              <a:rPr kumimoji="1" lang="zh-CN" altLang="en-US" sz="2400" b="1" dirty="0">
                <a:solidFill>
                  <a:schemeClr val="tx2"/>
                </a:solidFill>
                <a:latin typeface="幼圆" pitchFamily="49" charset="-122"/>
                <a:ea typeface="幼圆" pitchFamily="49" charset="-122"/>
              </a:rPr>
              <a:t>是地址常量</a:t>
            </a:r>
          </a:p>
          <a:p>
            <a:pPr eaLnBrk="1" hangingPunct="1">
              <a:spcBef>
                <a:spcPct val="20000"/>
              </a:spcBef>
              <a:buClr>
                <a:schemeClr val="tx1"/>
              </a:buClr>
              <a:buSzPct val="60000"/>
              <a:buFont typeface="宋体" pitchFamily="2" charset="-122"/>
              <a:buNone/>
            </a:pPr>
            <a:endParaRPr kumimoji="1" lang="en-US" altLang="zh-CN" sz="2400" b="1" dirty="0">
              <a:solidFill>
                <a:schemeClr val="tx2"/>
              </a:solidFill>
              <a:latin typeface="幼圆" pitchFamily="49" charset="-122"/>
              <a:ea typeface="幼圆" pitchFamily="49" charset="-122"/>
            </a:endParaRPr>
          </a:p>
        </p:txBody>
      </p:sp>
      <p:sp>
        <p:nvSpPr>
          <p:cNvPr id="4" name="Rectangle 4"/>
          <p:cNvSpPr>
            <a:spLocks noChangeArrowheads="1"/>
          </p:cNvSpPr>
          <p:nvPr/>
        </p:nvSpPr>
        <p:spPr bwMode="auto">
          <a:xfrm>
            <a:off x="0" y="533400"/>
            <a:ext cx="3068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指针</a:t>
            </a:r>
          </a:p>
        </p:txBody>
      </p:sp>
    </p:spTree>
    <p:extLst>
      <p:ext uri="{BB962C8B-B14F-4D97-AF65-F5344CB8AC3E}">
        <p14:creationId xmlns:p14="http://schemas.microsoft.com/office/powerpoint/2010/main" val="2751153460"/>
      </p:ext>
    </p:extLst>
  </p:cSld>
  <p:clrMapOvr>
    <a:masterClrMapping/>
  </p:clrMapOvr>
  <p:transition>
    <p:wedge/>
  </p:transition>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002" name="Text Box 3"/>
          <p:cNvSpPr txBox="1">
            <a:spLocks noChangeArrowheads="1"/>
          </p:cNvSpPr>
          <p:nvPr/>
        </p:nvSpPr>
        <p:spPr bwMode="auto">
          <a:xfrm>
            <a:off x="0" y="1295400"/>
            <a:ext cx="9144000" cy="5276850"/>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lgn="ctr">
                <a:solidFill>
                  <a:srgbClr val="000000"/>
                </a:solidFill>
                <a:prstDash val="sysDot"/>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◆指针的3种基本运算与意义</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1.指针与整数进行加减运算</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int a[10],*p=&amp;a[3];</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p+1 </a:t>
            </a:r>
            <a:r>
              <a:rPr kumimoji="1" lang="en-US" altLang="zh-CN"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rPr>
              <a:t>&amp;a[4]      p-1 </a:t>
            </a:r>
            <a:r>
              <a:rPr kumimoji="1" lang="en-US" altLang="zh-CN"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rPr>
              <a:t>&amp;a[2]</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  → p=p+1 → p: &amp;a[4]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r>
              <a:rPr kumimoji="1" lang="zh-CN" altLang="en-US" sz="2400" b="1">
                <a:solidFill>
                  <a:schemeClr val="tx2"/>
                </a:solidFill>
                <a:latin typeface="幼圆" pitchFamily="49" charset="-122"/>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p++  *(p++)  *p </a:t>
            </a:r>
            <a:r>
              <a:rPr kumimoji="1" lang="zh-CN" altLang="en-US" sz="2400" b="1">
                <a:solidFill>
                  <a:schemeClr val="tx2"/>
                </a:solidFill>
                <a:latin typeface="幼圆" pitchFamily="49" charset="-122"/>
                <a:ea typeface="幼圆" pitchFamily="49" charset="-122"/>
                <a:sym typeface="Symbol" pitchFamily="18" charset="2"/>
              </a:rPr>
              <a:t>和 </a:t>
            </a:r>
            <a:r>
              <a:rPr kumimoji="1" lang="en-US" altLang="zh-CN" sz="2400" b="1">
                <a:solidFill>
                  <a:schemeClr val="tx2"/>
                </a:solidFill>
                <a:latin typeface="幼圆" pitchFamily="49" charset="-122"/>
                <a:ea typeface="幼圆" pitchFamily="49" charset="-122"/>
                <a:sym typeface="Symbol" pitchFamily="18" charset="2"/>
              </a:rPr>
              <a:t>p=p+1</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p=&amp;a[2]; printf(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%d\n</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,*p++); </a:t>
            </a:r>
            <a:r>
              <a:rPr kumimoji="1" lang="zh-CN" altLang="en-US" sz="2400" b="1">
                <a:solidFill>
                  <a:schemeClr val="tx2"/>
                </a:solidFill>
                <a:latin typeface="幼圆" pitchFamily="49" charset="-122"/>
                <a:ea typeface="幼圆" pitchFamily="49" charset="-122"/>
                <a:sym typeface="Symbol" pitchFamily="18" charset="2"/>
              </a:rPr>
              <a:t>输出</a:t>
            </a:r>
            <a:r>
              <a:rPr kumimoji="1" lang="en-US" altLang="zh-CN" sz="2400" b="1">
                <a:solidFill>
                  <a:schemeClr val="tx2"/>
                </a:solidFill>
                <a:latin typeface="幼圆" pitchFamily="49" charset="-122"/>
                <a:ea typeface="幼圆" pitchFamily="49" charset="-122"/>
                <a:sym typeface="Symbol" pitchFamily="18" charset="2"/>
              </a:rPr>
              <a:t>a[2]</a:t>
            </a:r>
            <a:endParaRPr kumimoji="1" lang="zh-CN" altLang="en-US" sz="2400" b="1">
              <a:solidFill>
                <a:schemeClr val="tx2"/>
              </a:solidFill>
              <a:latin typeface="幼圆" pitchFamily="49" charset="-122"/>
              <a:ea typeface="幼圆" pitchFamily="49" charset="-122"/>
              <a:sym typeface="Symbol" pitchFamily="18" charset="2"/>
            </a:endParaRP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sym typeface="Symbol" pitchFamily="18" charset="2"/>
              </a:rPr>
              <a:t>printf(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%d\n</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,*p);   </a:t>
            </a:r>
            <a:r>
              <a:rPr kumimoji="1" lang="zh-CN" altLang="en-US" sz="2400" b="1">
                <a:solidFill>
                  <a:schemeClr val="tx2"/>
                </a:solidFill>
                <a:latin typeface="幼圆" pitchFamily="49" charset="-122"/>
                <a:ea typeface="幼圆" pitchFamily="49" charset="-122"/>
                <a:sym typeface="Symbol" pitchFamily="18" charset="2"/>
              </a:rPr>
              <a:t>输出</a:t>
            </a:r>
            <a:r>
              <a:rPr kumimoji="1" lang="en-US" altLang="zh-CN" sz="2400" b="1">
                <a:solidFill>
                  <a:schemeClr val="tx2"/>
                </a:solidFill>
                <a:latin typeface="幼圆" pitchFamily="49" charset="-122"/>
                <a:ea typeface="幼圆" pitchFamily="49" charset="-122"/>
                <a:sym typeface="Symbol" pitchFamily="18" charset="2"/>
              </a:rPr>
              <a:t>a[3]</a:t>
            </a:r>
            <a:endParaRPr kumimoji="1" lang="en-US" altLang="zh-CN" sz="2400" b="1">
              <a:solidFill>
                <a:schemeClr val="tx2"/>
              </a:solidFill>
              <a:latin typeface="幼圆" pitchFamily="49" charset="-122"/>
              <a:ea typeface="幼圆" pitchFamily="49" charset="-122"/>
            </a:endParaRP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sym typeface="Symbol" pitchFamily="18" charset="2"/>
              </a:rPr>
              <a:t>p  *(++p)  p=p+1 </a:t>
            </a:r>
            <a:r>
              <a:rPr kumimoji="1" lang="zh-CN" altLang="en-US" sz="2400" b="1">
                <a:solidFill>
                  <a:schemeClr val="tx2"/>
                </a:solidFill>
                <a:latin typeface="幼圆" pitchFamily="49" charset="-122"/>
                <a:ea typeface="幼圆" pitchFamily="49" charset="-122"/>
                <a:sym typeface="Symbol" pitchFamily="18" charset="2"/>
              </a:rPr>
              <a:t>和 *</a:t>
            </a:r>
            <a:r>
              <a:rPr kumimoji="1" lang="en-US" altLang="zh-CN" sz="2400" b="1">
                <a:solidFill>
                  <a:schemeClr val="tx2"/>
                </a:solidFill>
                <a:latin typeface="幼圆" pitchFamily="49" charset="-122"/>
                <a:ea typeface="幼圆" pitchFamily="49" charset="-122"/>
                <a:sym typeface="Symbol" pitchFamily="18" charset="2"/>
              </a:rPr>
              <a:t>p</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p=&amp;a[2]; printf(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%d\n</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,*++p); </a:t>
            </a:r>
            <a:r>
              <a:rPr kumimoji="1" lang="zh-CN" altLang="en-US" sz="2400" b="1">
                <a:solidFill>
                  <a:schemeClr val="tx2"/>
                </a:solidFill>
                <a:latin typeface="幼圆" pitchFamily="49" charset="-122"/>
                <a:ea typeface="幼圆" pitchFamily="49" charset="-122"/>
                <a:sym typeface="Symbol" pitchFamily="18" charset="2"/>
              </a:rPr>
              <a:t>输出 </a:t>
            </a:r>
            <a:r>
              <a:rPr kumimoji="1" lang="en-US" altLang="zh-CN" sz="2400" b="1">
                <a:solidFill>
                  <a:schemeClr val="tx2"/>
                </a:solidFill>
                <a:latin typeface="幼圆" pitchFamily="49" charset="-122"/>
                <a:ea typeface="幼圆" pitchFamily="49" charset="-122"/>
                <a:sym typeface="Symbol" pitchFamily="18" charset="2"/>
              </a:rPr>
              <a:t>a[3]</a:t>
            </a:r>
            <a:endParaRPr kumimoji="1" lang="zh-CN" altLang="en-US" sz="2400" b="1">
              <a:solidFill>
                <a:schemeClr val="tx2"/>
              </a:solidFill>
              <a:latin typeface="幼圆" pitchFamily="49" charset="-122"/>
              <a:ea typeface="幼圆" pitchFamily="49" charset="-122"/>
              <a:sym typeface="Symbol" pitchFamily="18" charset="2"/>
            </a:endParaRP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sym typeface="Symbol" pitchFamily="18" charset="2"/>
              </a:rPr>
              <a:t>printf(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%d\n</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,*p);   </a:t>
            </a:r>
            <a:r>
              <a:rPr kumimoji="1" lang="zh-CN" altLang="en-US" sz="2400" b="1">
                <a:solidFill>
                  <a:schemeClr val="tx2"/>
                </a:solidFill>
                <a:latin typeface="幼圆" pitchFamily="49" charset="-122"/>
                <a:ea typeface="幼圆" pitchFamily="49" charset="-122"/>
                <a:sym typeface="Symbol" pitchFamily="18" charset="2"/>
              </a:rPr>
              <a:t>输出 </a:t>
            </a:r>
            <a:r>
              <a:rPr kumimoji="1" lang="en-US" altLang="zh-CN" sz="2400" b="1">
                <a:solidFill>
                  <a:schemeClr val="tx2"/>
                </a:solidFill>
                <a:latin typeface="幼圆" pitchFamily="49" charset="-122"/>
                <a:ea typeface="幼圆" pitchFamily="49" charset="-122"/>
                <a:sym typeface="Symbol" pitchFamily="18" charset="2"/>
              </a:rPr>
              <a:t>a[3]</a:t>
            </a:r>
            <a:endParaRPr kumimoji="1" lang="en-US" altLang="zh-CN" sz="2400" b="1">
              <a:solidFill>
                <a:schemeClr val="tx2"/>
              </a:solidFill>
              <a:latin typeface="幼圆" pitchFamily="49" charset="-122"/>
              <a:ea typeface="幼圆" pitchFamily="49" charset="-122"/>
            </a:endParaRPr>
          </a:p>
          <a:p>
            <a:pPr eaLnBrk="1" hangingPunct="1">
              <a:spcBef>
                <a:spcPct val="20000"/>
              </a:spcBef>
              <a:buClr>
                <a:schemeClr val="tx1"/>
              </a:buClr>
              <a:buSzPct val="60000"/>
              <a:buFont typeface="宋体" pitchFamily="2" charset="-122"/>
              <a:buNone/>
            </a:pPr>
            <a:endParaRPr kumimoji="1" lang="en-US" altLang="zh-CN" sz="2400" b="1">
              <a:solidFill>
                <a:schemeClr val="tx2"/>
              </a:solidFill>
              <a:latin typeface="幼圆" pitchFamily="49" charset="-122"/>
              <a:ea typeface="幼圆" pitchFamily="49" charset="-122"/>
            </a:endParaRPr>
          </a:p>
        </p:txBody>
      </p:sp>
      <p:sp>
        <p:nvSpPr>
          <p:cNvPr id="4" name="Rectangle 4"/>
          <p:cNvSpPr>
            <a:spLocks noChangeArrowheads="1"/>
          </p:cNvSpPr>
          <p:nvPr/>
        </p:nvSpPr>
        <p:spPr bwMode="auto">
          <a:xfrm>
            <a:off x="0" y="533400"/>
            <a:ext cx="3068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指针</a:t>
            </a:r>
          </a:p>
        </p:txBody>
      </p:sp>
    </p:spTree>
    <p:extLst>
      <p:ext uri="{BB962C8B-B14F-4D97-AF65-F5344CB8AC3E}">
        <p14:creationId xmlns:p14="http://schemas.microsoft.com/office/powerpoint/2010/main" val="2707874770"/>
      </p:ext>
    </p:extLst>
  </p:cSld>
  <p:clrMapOvr>
    <a:masterClrMapping/>
  </p:clrMapOvr>
  <p:transition>
    <p:wedge/>
  </p:transition>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6" name="Text Box 3"/>
          <p:cNvSpPr txBox="1">
            <a:spLocks noChangeArrowheads="1"/>
          </p:cNvSpPr>
          <p:nvPr/>
        </p:nvSpPr>
        <p:spPr bwMode="auto">
          <a:xfrm>
            <a:off x="0" y="1143000"/>
            <a:ext cx="9144000" cy="5276850"/>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lgn="ctr">
                <a:solidFill>
                  <a:srgbClr val="000000"/>
                </a:solidFill>
                <a:prstDash val="sysDot"/>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2. 指针之间进行关系运算</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两个指针指向同一数组的元素时才能进行指针关系运算</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int a[10],p=&amp;a[2]; q=&amp;a[4];</a:t>
            </a:r>
            <a:endParaRPr kumimoji="1" lang="en-US" altLang="zh-CN" sz="2400" b="1">
              <a:solidFill>
                <a:schemeClr val="tx2"/>
              </a:solidFill>
              <a:latin typeface="幼圆" pitchFamily="49" charset="-122"/>
              <a:ea typeface="幼圆" pitchFamily="49" charset="-122"/>
              <a:sym typeface="Symbol" pitchFamily="18" charset="2"/>
            </a:endParaRP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printf(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%d</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,p&lt;q); </a:t>
            </a:r>
            <a:r>
              <a:rPr kumimoji="1" lang="zh-CN" altLang="en-US" sz="2400" b="1">
                <a:solidFill>
                  <a:schemeClr val="tx2"/>
                </a:solidFill>
                <a:latin typeface="幼圆" pitchFamily="49" charset="-122"/>
                <a:ea typeface="幼圆" pitchFamily="49" charset="-122"/>
                <a:sym typeface="Symbol" pitchFamily="18" charset="2"/>
              </a:rPr>
              <a:t>输出 1</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for(p=a,q=a+9;p&lt;=q;p++)</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printf(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%d\n</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,*p);</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3. 指针减法运算</a:t>
            </a:r>
          </a:p>
          <a:p>
            <a:pPr eaLnBrk="1" hangingPunct="1">
              <a:spcBef>
                <a:spcPct val="20000"/>
              </a:spcBef>
              <a:buClr>
                <a:schemeClr val="tx1"/>
              </a:buClr>
              <a:buSzPct val="60000"/>
              <a:buFont typeface="宋体" pitchFamily="2" charset="-122"/>
              <a:buNone/>
            </a:pPr>
            <a:endParaRPr kumimoji="1" lang="en-US" altLang="zh-CN" sz="2400" b="1">
              <a:solidFill>
                <a:schemeClr val="tx2"/>
              </a:solidFill>
              <a:latin typeface="幼圆" pitchFamily="49" charset="-122"/>
              <a:ea typeface="幼圆" pitchFamily="49" charset="-122"/>
            </a:endParaRP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p>
          <a:p>
            <a:pPr eaLnBrk="1" hangingPunct="1">
              <a:spcBef>
                <a:spcPct val="20000"/>
              </a:spcBef>
              <a:buClr>
                <a:schemeClr val="tx1"/>
              </a:buClr>
              <a:buSzPct val="60000"/>
              <a:buFont typeface="宋体" pitchFamily="2" charset="-122"/>
              <a:buNone/>
            </a:pPr>
            <a:endParaRPr kumimoji="1" lang="en-US" altLang="zh-CN" sz="2400" b="1">
              <a:solidFill>
                <a:schemeClr val="tx2"/>
              </a:solidFill>
              <a:latin typeface="幼圆" pitchFamily="49" charset="-122"/>
              <a:ea typeface="幼圆" pitchFamily="49" charset="-122"/>
            </a:endParaRP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p>
          <a:p>
            <a:pPr eaLnBrk="1" hangingPunct="1">
              <a:spcBef>
                <a:spcPct val="20000"/>
              </a:spcBef>
              <a:buClr>
                <a:schemeClr val="tx1"/>
              </a:buClr>
              <a:buSzPct val="60000"/>
              <a:buFont typeface="宋体" pitchFamily="2" charset="-122"/>
              <a:buNone/>
            </a:pPr>
            <a:endParaRPr kumimoji="1" lang="en-US" altLang="zh-CN" sz="2400" b="1">
              <a:solidFill>
                <a:schemeClr val="tx2"/>
              </a:solidFill>
              <a:latin typeface="幼圆" pitchFamily="49" charset="-122"/>
              <a:ea typeface="幼圆" pitchFamily="49" charset="-122"/>
            </a:endParaRPr>
          </a:p>
        </p:txBody>
      </p:sp>
      <p:grpSp>
        <p:nvGrpSpPr>
          <p:cNvPr id="129027" name="Group 4"/>
          <p:cNvGrpSpPr>
            <a:grpSpLocks/>
          </p:cNvGrpSpPr>
          <p:nvPr/>
        </p:nvGrpSpPr>
        <p:grpSpPr bwMode="auto">
          <a:xfrm>
            <a:off x="1066800" y="4495800"/>
            <a:ext cx="8077200" cy="1854200"/>
            <a:chOff x="384" y="2592"/>
            <a:chExt cx="4752" cy="1503"/>
          </a:xfrm>
        </p:grpSpPr>
        <p:grpSp>
          <p:nvGrpSpPr>
            <p:cNvPr id="129030" name="Group 5"/>
            <p:cNvGrpSpPr>
              <a:grpSpLocks/>
            </p:cNvGrpSpPr>
            <p:nvPr/>
          </p:nvGrpSpPr>
          <p:grpSpPr bwMode="auto">
            <a:xfrm>
              <a:off x="576" y="2592"/>
              <a:ext cx="3648" cy="1238"/>
              <a:chOff x="576" y="2592"/>
              <a:chExt cx="3648" cy="1238"/>
            </a:xfrm>
          </p:grpSpPr>
          <p:sp>
            <p:nvSpPr>
              <p:cNvPr id="129032" name="Rectangle 6"/>
              <p:cNvSpPr>
                <a:spLocks noChangeArrowheads="1"/>
              </p:cNvSpPr>
              <p:nvPr/>
            </p:nvSpPr>
            <p:spPr bwMode="auto">
              <a:xfrm>
                <a:off x="3657" y="2592"/>
                <a:ext cx="567"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chemeClr val="hlink"/>
                  </a:buClr>
                  <a:buFont typeface="Wingdings" pitchFamily="2" charset="2"/>
                  <a:buNone/>
                </a:pPr>
                <a:r>
                  <a:rPr lang="zh-CN" altLang="en-US" sz="2400" b="1">
                    <a:solidFill>
                      <a:schemeClr val="tx2"/>
                    </a:solidFill>
                    <a:latin typeface="Tahoma" pitchFamily="34" charset="0"/>
                  </a:rPr>
                  <a:t>\0</a:t>
                </a:r>
              </a:p>
            </p:txBody>
          </p:sp>
          <p:sp>
            <p:nvSpPr>
              <p:cNvPr id="129033" name="Rectangle 7"/>
              <p:cNvSpPr>
                <a:spLocks noChangeArrowheads="1"/>
              </p:cNvSpPr>
              <p:nvPr/>
            </p:nvSpPr>
            <p:spPr bwMode="auto">
              <a:xfrm>
                <a:off x="3088" y="2592"/>
                <a:ext cx="569"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chemeClr val="hlink"/>
                  </a:buClr>
                  <a:buFont typeface="Wingdings" pitchFamily="2" charset="2"/>
                  <a:buNone/>
                </a:pPr>
                <a:r>
                  <a:rPr lang="en-US" altLang="zh-CN" sz="2400" b="1">
                    <a:solidFill>
                      <a:schemeClr val="tx2"/>
                    </a:solidFill>
                    <a:latin typeface="Tahoma" pitchFamily="34" charset="0"/>
                  </a:rPr>
                  <a:t>a[4]</a:t>
                </a:r>
              </a:p>
            </p:txBody>
          </p:sp>
          <p:sp>
            <p:nvSpPr>
              <p:cNvPr id="129034" name="Rectangle 8"/>
              <p:cNvSpPr>
                <a:spLocks noChangeArrowheads="1"/>
              </p:cNvSpPr>
              <p:nvPr/>
            </p:nvSpPr>
            <p:spPr bwMode="auto">
              <a:xfrm>
                <a:off x="2521" y="2592"/>
                <a:ext cx="567"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chemeClr val="hlink"/>
                  </a:buClr>
                  <a:buFont typeface="Wingdings" pitchFamily="2" charset="2"/>
                  <a:buNone/>
                </a:pPr>
                <a:r>
                  <a:rPr lang="en-US" altLang="zh-CN" sz="2400" b="1">
                    <a:solidFill>
                      <a:schemeClr val="tx2"/>
                    </a:solidFill>
                    <a:latin typeface="Tahoma" pitchFamily="34" charset="0"/>
                  </a:rPr>
                  <a:t>a[3]</a:t>
                </a:r>
              </a:p>
            </p:txBody>
          </p:sp>
          <p:sp>
            <p:nvSpPr>
              <p:cNvPr id="129035" name="Rectangle 9"/>
              <p:cNvSpPr>
                <a:spLocks noChangeArrowheads="1"/>
              </p:cNvSpPr>
              <p:nvPr/>
            </p:nvSpPr>
            <p:spPr bwMode="auto">
              <a:xfrm>
                <a:off x="1910" y="2592"/>
                <a:ext cx="611"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chemeClr val="hlink"/>
                  </a:buClr>
                  <a:buFont typeface="Wingdings" pitchFamily="2" charset="2"/>
                  <a:buNone/>
                </a:pPr>
                <a:r>
                  <a:rPr lang="en-US" altLang="zh-CN" sz="2400" b="1">
                    <a:solidFill>
                      <a:schemeClr val="tx2"/>
                    </a:solidFill>
                    <a:latin typeface="Tahoma" pitchFamily="34" charset="0"/>
                  </a:rPr>
                  <a:t>a[2]</a:t>
                </a:r>
              </a:p>
            </p:txBody>
          </p:sp>
          <p:sp>
            <p:nvSpPr>
              <p:cNvPr id="129036" name="Rectangle 10"/>
              <p:cNvSpPr>
                <a:spLocks noChangeArrowheads="1"/>
              </p:cNvSpPr>
              <p:nvPr/>
            </p:nvSpPr>
            <p:spPr bwMode="auto">
              <a:xfrm>
                <a:off x="1385" y="2592"/>
                <a:ext cx="525"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chemeClr val="hlink"/>
                  </a:buClr>
                  <a:buFont typeface="Wingdings" pitchFamily="2" charset="2"/>
                  <a:buNone/>
                </a:pPr>
                <a:r>
                  <a:rPr lang="en-US" altLang="zh-CN" sz="2400" b="1">
                    <a:solidFill>
                      <a:schemeClr val="tx2"/>
                    </a:solidFill>
                    <a:latin typeface="Tahoma" pitchFamily="34" charset="0"/>
                  </a:rPr>
                  <a:t>a[1]</a:t>
                </a:r>
              </a:p>
            </p:txBody>
          </p:sp>
          <p:sp>
            <p:nvSpPr>
              <p:cNvPr id="129037" name="Rectangle 11"/>
              <p:cNvSpPr>
                <a:spLocks noChangeArrowheads="1"/>
              </p:cNvSpPr>
              <p:nvPr/>
            </p:nvSpPr>
            <p:spPr bwMode="auto">
              <a:xfrm>
                <a:off x="816" y="2592"/>
                <a:ext cx="569"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chemeClr val="hlink"/>
                  </a:buClr>
                  <a:buFont typeface="Wingdings" pitchFamily="2" charset="2"/>
                  <a:buNone/>
                </a:pPr>
                <a:r>
                  <a:rPr lang="en-US" altLang="zh-CN" sz="2400" b="1">
                    <a:solidFill>
                      <a:schemeClr val="tx2"/>
                    </a:solidFill>
                    <a:latin typeface="Tahoma" pitchFamily="34" charset="0"/>
                  </a:rPr>
                  <a:t>a[0]</a:t>
                </a:r>
              </a:p>
            </p:txBody>
          </p:sp>
          <p:sp>
            <p:nvSpPr>
              <p:cNvPr id="129038" name="Line 12"/>
              <p:cNvSpPr>
                <a:spLocks noChangeShapeType="1"/>
              </p:cNvSpPr>
              <p:nvPr/>
            </p:nvSpPr>
            <p:spPr bwMode="auto">
              <a:xfrm>
                <a:off x="816" y="2592"/>
                <a:ext cx="3408" cy="0"/>
              </a:xfrm>
              <a:prstGeom prst="line">
                <a:avLst/>
              </a:prstGeom>
              <a:noFill/>
              <a:ln w="12700" cap="sq">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39" name="Line 13"/>
              <p:cNvSpPr>
                <a:spLocks noChangeShapeType="1"/>
              </p:cNvSpPr>
              <p:nvPr/>
            </p:nvSpPr>
            <p:spPr bwMode="auto">
              <a:xfrm>
                <a:off x="816" y="3072"/>
                <a:ext cx="3408" cy="0"/>
              </a:xfrm>
              <a:prstGeom prst="line">
                <a:avLst/>
              </a:prstGeom>
              <a:noFill/>
              <a:ln w="12700" cap="sq">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40" name="Line 14"/>
              <p:cNvSpPr>
                <a:spLocks noChangeShapeType="1"/>
              </p:cNvSpPr>
              <p:nvPr/>
            </p:nvSpPr>
            <p:spPr bwMode="auto">
              <a:xfrm>
                <a:off x="816" y="2592"/>
                <a:ext cx="0" cy="480"/>
              </a:xfrm>
              <a:prstGeom prst="line">
                <a:avLst/>
              </a:prstGeom>
              <a:noFill/>
              <a:ln w="12700" cap="sq">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41" name="Line 15"/>
              <p:cNvSpPr>
                <a:spLocks noChangeShapeType="1"/>
              </p:cNvSpPr>
              <p:nvPr/>
            </p:nvSpPr>
            <p:spPr bwMode="auto">
              <a:xfrm>
                <a:off x="1385" y="2592"/>
                <a:ext cx="0" cy="48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42" name="Line 16"/>
              <p:cNvSpPr>
                <a:spLocks noChangeShapeType="1"/>
              </p:cNvSpPr>
              <p:nvPr/>
            </p:nvSpPr>
            <p:spPr bwMode="auto">
              <a:xfrm>
                <a:off x="1910" y="2592"/>
                <a:ext cx="0" cy="48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43" name="Line 17"/>
              <p:cNvSpPr>
                <a:spLocks noChangeShapeType="1"/>
              </p:cNvSpPr>
              <p:nvPr/>
            </p:nvSpPr>
            <p:spPr bwMode="auto">
              <a:xfrm>
                <a:off x="2521" y="2592"/>
                <a:ext cx="0" cy="48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44" name="Line 18"/>
              <p:cNvSpPr>
                <a:spLocks noChangeShapeType="1"/>
              </p:cNvSpPr>
              <p:nvPr/>
            </p:nvSpPr>
            <p:spPr bwMode="auto">
              <a:xfrm>
                <a:off x="3088" y="2592"/>
                <a:ext cx="0" cy="48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45" name="Line 19"/>
              <p:cNvSpPr>
                <a:spLocks noChangeShapeType="1"/>
              </p:cNvSpPr>
              <p:nvPr/>
            </p:nvSpPr>
            <p:spPr bwMode="auto">
              <a:xfrm>
                <a:off x="3657" y="2592"/>
                <a:ext cx="0" cy="48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46" name="Line 20"/>
              <p:cNvSpPr>
                <a:spLocks noChangeShapeType="1"/>
              </p:cNvSpPr>
              <p:nvPr/>
            </p:nvSpPr>
            <p:spPr bwMode="auto">
              <a:xfrm>
                <a:off x="4224" y="2592"/>
                <a:ext cx="0" cy="480"/>
              </a:xfrm>
              <a:prstGeom prst="line">
                <a:avLst/>
              </a:prstGeom>
              <a:noFill/>
              <a:ln w="12700" cap="sq">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6629" name="Text Box 21"/>
              <p:cNvSpPr txBox="1">
                <a:spLocks noChangeArrowheads="1"/>
              </p:cNvSpPr>
              <p:nvPr/>
            </p:nvSpPr>
            <p:spPr bwMode="auto">
              <a:xfrm>
                <a:off x="3552" y="3360"/>
                <a:ext cx="336" cy="470"/>
              </a:xfrm>
              <a:prstGeom prst="rect">
                <a:avLst/>
              </a:prstGeom>
              <a:noFill/>
              <a:ln w="9525">
                <a:noFill/>
                <a:miter lim="800000"/>
                <a:headEnd/>
                <a:tailEnd/>
              </a:ln>
              <a:effectLst/>
            </p:spPr>
            <p:txBody>
              <a:bodyPr>
                <a:spAutoFit/>
              </a:bodyPr>
              <a:lstStyle>
                <a:lvl1pPr eaLnBrk="0" hangingPunct="0">
                  <a:defRPr sz="3200">
                    <a:solidFill>
                      <a:schemeClr val="tx1"/>
                    </a:solidFill>
                    <a:latin typeface="Arial" pitchFamily="34" charset="0"/>
                    <a:ea typeface="幼圆" pitchFamily="49" charset="-122"/>
                  </a:defRPr>
                </a:lvl1pPr>
                <a:lvl2pPr marL="742950" indent="-285750" eaLnBrk="0" hangingPunct="0">
                  <a:defRPr sz="3200">
                    <a:solidFill>
                      <a:schemeClr val="tx1"/>
                    </a:solidFill>
                    <a:latin typeface="Arial" pitchFamily="34" charset="0"/>
                    <a:ea typeface="幼圆" pitchFamily="49" charset="-122"/>
                  </a:defRPr>
                </a:lvl2pPr>
                <a:lvl3pPr marL="1143000" indent="-228600" eaLnBrk="0" hangingPunct="0">
                  <a:defRPr sz="3200">
                    <a:solidFill>
                      <a:schemeClr val="tx1"/>
                    </a:solidFill>
                    <a:latin typeface="Arial" pitchFamily="34" charset="0"/>
                    <a:ea typeface="幼圆" pitchFamily="49" charset="-122"/>
                  </a:defRPr>
                </a:lvl3pPr>
                <a:lvl4pPr marL="1600200" indent="-228600" eaLnBrk="0" hangingPunct="0">
                  <a:defRPr sz="3200">
                    <a:solidFill>
                      <a:schemeClr val="tx1"/>
                    </a:solidFill>
                    <a:latin typeface="Arial" pitchFamily="34" charset="0"/>
                    <a:ea typeface="幼圆" pitchFamily="49" charset="-122"/>
                  </a:defRPr>
                </a:lvl4pPr>
                <a:lvl5pPr marL="2057400" indent="-228600" eaLnBrk="0" hangingPunct="0">
                  <a:defRPr sz="3200">
                    <a:solidFill>
                      <a:schemeClr val="tx1"/>
                    </a:solidFill>
                    <a:latin typeface="Arial" pitchFamily="34" charset="0"/>
                    <a:ea typeface="幼圆" pitchFamily="49" charset="-122"/>
                  </a:defRPr>
                </a:lvl5pPr>
                <a:lvl6pPr marL="2514600" indent="-228600" eaLnBrk="0" fontAlgn="base" hangingPunct="0">
                  <a:spcBef>
                    <a:spcPct val="0"/>
                  </a:spcBef>
                  <a:spcAft>
                    <a:spcPct val="0"/>
                  </a:spcAft>
                  <a:defRPr sz="3200">
                    <a:solidFill>
                      <a:schemeClr val="tx1"/>
                    </a:solidFill>
                    <a:latin typeface="Arial" pitchFamily="34" charset="0"/>
                    <a:ea typeface="幼圆" pitchFamily="49" charset="-122"/>
                  </a:defRPr>
                </a:lvl6pPr>
                <a:lvl7pPr marL="2971800" indent="-228600" eaLnBrk="0" fontAlgn="base" hangingPunct="0">
                  <a:spcBef>
                    <a:spcPct val="0"/>
                  </a:spcBef>
                  <a:spcAft>
                    <a:spcPct val="0"/>
                  </a:spcAft>
                  <a:defRPr sz="3200">
                    <a:solidFill>
                      <a:schemeClr val="tx1"/>
                    </a:solidFill>
                    <a:latin typeface="Arial" pitchFamily="34" charset="0"/>
                    <a:ea typeface="幼圆" pitchFamily="49" charset="-122"/>
                  </a:defRPr>
                </a:lvl7pPr>
                <a:lvl8pPr marL="3429000" indent="-228600" eaLnBrk="0" fontAlgn="base" hangingPunct="0">
                  <a:spcBef>
                    <a:spcPct val="0"/>
                  </a:spcBef>
                  <a:spcAft>
                    <a:spcPct val="0"/>
                  </a:spcAft>
                  <a:defRPr sz="3200">
                    <a:solidFill>
                      <a:schemeClr val="tx1"/>
                    </a:solidFill>
                    <a:latin typeface="Arial" pitchFamily="34" charset="0"/>
                    <a:ea typeface="幼圆" pitchFamily="49" charset="-122"/>
                  </a:defRPr>
                </a:lvl8pPr>
                <a:lvl9pPr marL="3886200" indent="-228600" eaLnBrk="0" fontAlgn="base" hangingPunct="0">
                  <a:spcBef>
                    <a:spcPct val="0"/>
                  </a:spcBef>
                  <a:spcAft>
                    <a:spcPct val="0"/>
                  </a:spcAft>
                  <a:defRPr sz="3200">
                    <a:solidFill>
                      <a:schemeClr val="tx1"/>
                    </a:solidFill>
                    <a:latin typeface="Arial" pitchFamily="34" charset="0"/>
                    <a:ea typeface="幼圆" pitchFamily="49" charset="-122"/>
                  </a:defRPr>
                </a:lvl9pPr>
              </a:lstStyle>
              <a:p>
                <a:pPr eaLnBrk="1" hangingPunct="1">
                  <a:spcBef>
                    <a:spcPct val="50000"/>
                  </a:spcBef>
                  <a:defRPr/>
                </a:pPr>
                <a:r>
                  <a:rPr kumimoji="1" lang="en-US" altLang="zh-CN" b="1">
                    <a:solidFill>
                      <a:schemeClr val="bg2"/>
                    </a:solidFill>
                    <a:effectLst>
                      <a:outerShdw blurRad="38100" dist="38100" dir="2700000" algn="tl">
                        <a:srgbClr val="C0C0C0"/>
                      </a:outerShdw>
                    </a:effectLst>
                    <a:latin typeface="Times New Roman" pitchFamily="18" charset="0"/>
                    <a:ea typeface="宋体" pitchFamily="2" charset="-122"/>
                  </a:rPr>
                  <a:t>p</a:t>
                </a:r>
              </a:p>
            </p:txBody>
          </p:sp>
          <p:sp>
            <p:nvSpPr>
              <p:cNvPr id="129048" name="Line 22"/>
              <p:cNvSpPr>
                <a:spLocks noChangeShapeType="1"/>
              </p:cNvSpPr>
              <p:nvPr/>
            </p:nvSpPr>
            <p:spPr bwMode="auto">
              <a:xfrm flipV="1">
                <a:off x="3696" y="3072"/>
                <a:ext cx="0" cy="336"/>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6631" name="Text Box 23"/>
              <p:cNvSpPr txBox="1">
                <a:spLocks noChangeArrowheads="1"/>
              </p:cNvSpPr>
              <p:nvPr/>
            </p:nvSpPr>
            <p:spPr bwMode="auto">
              <a:xfrm>
                <a:off x="576" y="3311"/>
                <a:ext cx="432" cy="471"/>
              </a:xfrm>
              <a:prstGeom prst="rect">
                <a:avLst/>
              </a:prstGeom>
              <a:noFill/>
              <a:ln w="9525">
                <a:noFill/>
                <a:miter lim="800000"/>
                <a:headEnd/>
                <a:tailEnd/>
              </a:ln>
              <a:effectLst/>
            </p:spPr>
            <p:txBody>
              <a:bodyPr>
                <a:spAutoFit/>
              </a:bodyPr>
              <a:lstStyle/>
              <a:p>
                <a:pPr eaLnBrk="1" hangingPunct="1">
                  <a:spcBef>
                    <a:spcPct val="50000"/>
                  </a:spcBef>
                  <a:defRPr/>
                </a:pPr>
                <a:r>
                  <a:rPr kumimoji="1" lang="zh-CN" altLang="en-US">
                    <a:solidFill>
                      <a:schemeClr val="bg2"/>
                    </a:solidFill>
                    <a:effectLst>
                      <a:outerShdw blurRad="38100" dist="38100" dir="2700000" algn="tl">
                        <a:srgbClr val="C0C0C0"/>
                      </a:outerShdw>
                    </a:effectLst>
                    <a:latin typeface="Times New Roman" pitchFamily="18" charset="0"/>
                  </a:rPr>
                  <a:t>  </a:t>
                </a:r>
                <a:r>
                  <a:rPr kumimoji="1" lang="en-US" altLang="zh-CN" b="1">
                    <a:solidFill>
                      <a:schemeClr val="bg2"/>
                    </a:solidFill>
                    <a:effectLst>
                      <a:outerShdw blurRad="38100" dist="38100" dir="2700000" algn="tl">
                        <a:srgbClr val="C0C0C0"/>
                      </a:outerShdw>
                    </a:effectLst>
                    <a:latin typeface="Times New Roman" pitchFamily="18" charset="0"/>
                  </a:rPr>
                  <a:t>a</a:t>
                </a:r>
              </a:p>
            </p:txBody>
          </p:sp>
          <p:sp>
            <p:nvSpPr>
              <p:cNvPr id="129050" name="Line 24"/>
              <p:cNvSpPr>
                <a:spLocks noChangeShapeType="1"/>
              </p:cNvSpPr>
              <p:nvPr/>
            </p:nvSpPr>
            <p:spPr bwMode="auto">
              <a:xfrm flipV="1">
                <a:off x="816" y="3072"/>
                <a:ext cx="0" cy="336"/>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29031" name="Text Box 25"/>
            <p:cNvSpPr txBox="1">
              <a:spLocks noChangeArrowheads="1"/>
            </p:cNvSpPr>
            <p:nvPr/>
          </p:nvSpPr>
          <p:spPr bwMode="auto">
            <a:xfrm>
              <a:off x="384" y="3725"/>
              <a:ext cx="4752"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a:spcBef>
                  <a:spcPct val="50000"/>
                </a:spcBef>
                <a:buClr>
                  <a:srgbClr val="CC99FF"/>
                </a:buClr>
                <a:buFont typeface="Monotype Sorts"/>
                <a:buNone/>
              </a:pPr>
              <a:r>
                <a:rPr kumimoji="1" lang="en-US" altLang="zh-CN" sz="2400" b="1">
                  <a:solidFill>
                    <a:schemeClr val="tx2"/>
                  </a:solidFill>
                  <a:latin typeface="Times New Roman" pitchFamily="18" charset="0"/>
                </a:rPr>
                <a:t>p - a </a:t>
              </a:r>
              <a:r>
                <a:rPr kumimoji="1" lang="zh-CN" altLang="en-US" sz="2400" b="1">
                  <a:solidFill>
                    <a:schemeClr val="tx2"/>
                  </a:solidFill>
                  <a:latin typeface="Times New Roman" pitchFamily="18" charset="0"/>
                </a:rPr>
                <a:t>的值为5,   是</a:t>
              </a:r>
              <a:r>
                <a:rPr kumimoji="1" lang="en-US" altLang="zh-CN" sz="2400" b="1">
                  <a:solidFill>
                    <a:schemeClr val="tx2"/>
                  </a:solidFill>
                  <a:latin typeface="Times New Roman" pitchFamily="18" charset="0"/>
                </a:rPr>
                <a:t>p, a</a:t>
              </a:r>
              <a:r>
                <a:rPr kumimoji="1" lang="zh-CN" altLang="en-US" sz="2400" b="1">
                  <a:solidFill>
                    <a:schemeClr val="tx2"/>
                  </a:solidFill>
                  <a:latin typeface="Times New Roman" pitchFamily="18" charset="0"/>
                </a:rPr>
                <a:t>之间元素的个数。即“</a:t>
              </a:r>
              <a:r>
                <a:rPr kumimoji="1" lang="en-US" altLang="zh-CN" sz="2400" b="1">
                  <a:solidFill>
                    <a:schemeClr val="tx2"/>
                  </a:solidFill>
                  <a:latin typeface="Times New Roman" pitchFamily="18" charset="0"/>
                </a:rPr>
                <a:t>china”</a:t>
              </a:r>
              <a:r>
                <a:rPr kumimoji="1" lang="zh-CN" altLang="en-US" sz="2400" b="1">
                  <a:solidFill>
                    <a:schemeClr val="tx2"/>
                  </a:solidFill>
                  <a:latin typeface="Times New Roman" pitchFamily="18" charset="0"/>
                </a:rPr>
                <a:t>的长度</a:t>
              </a:r>
            </a:p>
          </p:txBody>
        </p:sp>
      </p:grpSp>
      <p:pic>
        <p:nvPicPr>
          <p:cNvPr id="129029" name="Picture 10" descr="j030125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9400" y="2286000"/>
            <a:ext cx="1830388" cy="156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Rectangle 4"/>
          <p:cNvSpPr>
            <a:spLocks noChangeArrowheads="1"/>
          </p:cNvSpPr>
          <p:nvPr/>
        </p:nvSpPr>
        <p:spPr bwMode="auto">
          <a:xfrm>
            <a:off x="0" y="533400"/>
            <a:ext cx="3068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指针</a:t>
            </a:r>
          </a:p>
        </p:txBody>
      </p:sp>
    </p:spTree>
    <p:extLst>
      <p:ext uri="{BB962C8B-B14F-4D97-AF65-F5344CB8AC3E}">
        <p14:creationId xmlns:p14="http://schemas.microsoft.com/office/powerpoint/2010/main" val="3183812025"/>
      </p:ext>
    </p:extLst>
  </p:cSld>
  <p:clrMapOvr>
    <a:masterClrMapping/>
  </p:clrMapOvr>
  <p:transition>
    <p:wedge/>
  </p:transition>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0050" name="Text Box 3"/>
          <p:cNvSpPr txBox="1">
            <a:spLocks noChangeArrowheads="1"/>
          </p:cNvSpPr>
          <p:nvPr/>
        </p:nvSpPr>
        <p:spPr bwMode="auto">
          <a:xfrm>
            <a:off x="0" y="1066800"/>
            <a:ext cx="9144000" cy="5337175"/>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lgn="ctr">
                <a:solidFill>
                  <a:srgbClr val="000000"/>
                </a:solidFill>
                <a:prstDash val="sysDot"/>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  计算</a:t>
            </a:r>
            <a:r>
              <a:rPr kumimoji="1" lang="en-US" altLang="zh-CN" sz="2400" b="1">
                <a:solidFill>
                  <a:schemeClr val="tx2"/>
                </a:solidFill>
                <a:latin typeface="幼圆" pitchFamily="49" charset="-122"/>
                <a:ea typeface="幼圆" pitchFamily="49" charset="-122"/>
              </a:rPr>
              <a:t>s</a:t>
            </a:r>
            <a:r>
              <a:rPr kumimoji="1" lang="zh-CN" altLang="en-US" sz="2400" b="1">
                <a:solidFill>
                  <a:schemeClr val="tx2"/>
                </a:solidFill>
                <a:latin typeface="幼圆" pitchFamily="49" charset="-122"/>
                <a:ea typeface="幼圆" pitchFamily="49" charset="-122"/>
              </a:rPr>
              <a:t>串长度#</a:t>
            </a:r>
            <a:r>
              <a:rPr kumimoji="1" lang="en-US" altLang="zh-CN" sz="2400" b="1">
                <a:solidFill>
                  <a:schemeClr val="tx2"/>
                </a:solidFill>
                <a:latin typeface="幼圆" pitchFamily="49" charset="-122"/>
                <a:ea typeface="幼圆" pitchFamily="49" charset="-122"/>
              </a:rPr>
              <a:t>include </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stdio.h</a:t>
            </a:r>
            <a:r>
              <a:rPr kumimoji="1" lang="en-US" altLang="zh-CN" sz="2400" b="1">
                <a:solidFill>
                  <a:schemeClr val="tx2"/>
                </a:solidFill>
                <a:latin typeface="Arial" pitchFamily="34" charset="0"/>
                <a:ea typeface="幼圆" pitchFamily="49" charset="-122"/>
              </a:rPr>
              <a:t>”</a:t>
            </a:r>
            <a:endParaRPr kumimoji="1" lang="en-US" altLang="zh-CN" sz="2400" b="1">
              <a:solidFill>
                <a:schemeClr val="tx2"/>
              </a:solidFill>
              <a:latin typeface="幼圆" pitchFamily="49" charset="-122"/>
              <a:ea typeface="幼圆" pitchFamily="49" charset="-122"/>
            </a:endParaRP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strlen1(char *s)         /* </a:t>
            </a:r>
            <a:r>
              <a:rPr kumimoji="1" lang="zh-CN" altLang="en-US" sz="2400" b="1">
                <a:solidFill>
                  <a:schemeClr val="tx2"/>
                </a:solidFill>
                <a:latin typeface="幼圆" pitchFamily="49" charset="-122"/>
                <a:ea typeface="幼圆" pitchFamily="49" charset="-122"/>
              </a:rPr>
              <a:t>计算</a:t>
            </a:r>
            <a:r>
              <a:rPr kumimoji="1" lang="en-US" altLang="zh-CN" sz="2400" b="1">
                <a:solidFill>
                  <a:schemeClr val="tx2"/>
                </a:solidFill>
                <a:latin typeface="幼圆" pitchFamily="49" charset="-122"/>
                <a:ea typeface="幼圆" pitchFamily="49" charset="-122"/>
              </a:rPr>
              <a:t>s</a:t>
            </a:r>
            <a:r>
              <a:rPr kumimoji="1" lang="zh-CN" altLang="en-US" sz="2400" b="1">
                <a:solidFill>
                  <a:schemeClr val="tx2"/>
                </a:solidFill>
                <a:latin typeface="幼圆" pitchFamily="49" charset="-122"/>
                <a:ea typeface="幼圆" pitchFamily="49" charset="-122"/>
              </a:rPr>
              <a:t>串长度 */</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char  *p;</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p=s;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while(*p!=</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\0</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p++; /*p</a:t>
            </a:r>
            <a:r>
              <a:rPr kumimoji="1" lang="zh-CN" altLang="en-US" sz="2400" b="1">
                <a:solidFill>
                  <a:schemeClr val="tx2"/>
                </a:solidFill>
                <a:latin typeface="幼圆" pitchFamily="49" charset="-122"/>
                <a:ea typeface="幼圆" pitchFamily="49" charset="-122"/>
              </a:rPr>
              <a:t>指向串尾*/</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return  p-s;         /*</a:t>
            </a:r>
            <a:r>
              <a:rPr kumimoji="1" lang="zh-CN" altLang="en-US" sz="2400" b="1">
                <a:solidFill>
                  <a:schemeClr val="tx2"/>
                </a:solidFill>
                <a:latin typeface="幼圆" pitchFamily="49" charset="-122"/>
                <a:ea typeface="幼圆" pitchFamily="49" charset="-122"/>
              </a:rPr>
              <a:t>返回串长度 */</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a:t>
            </a:r>
            <a:endParaRPr kumimoji="1" lang="en-US" altLang="zh-CN" sz="2400" b="1">
              <a:solidFill>
                <a:schemeClr val="tx2"/>
              </a:solidFill>
              <a:latin typeface="幼圆" pitchFamily="49" charset="-122"/>
              <a:ea typeface="幼圆" pitchFamily="49" charset="-122"/>
            </a:endParaRP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main(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 char a[80];</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gets(a);</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printf(</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string  length=%d\n</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,strlen1(a)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a:t>
            </a:r>
          </a:p>
        </p:txBody>
      </p:sp>
      <p:grpSp>
        <p:nvGrpSpPr>
          <p:cNvPr id="130052" name="Group 9"/>
          <p:cNvGrpSpPr>
            <a:grpSpLocks/>
          </p:cNvGrpSpPr>
          <p:nvPr/>
        </p:nvGrpSpPr>
        <p:grpSpPr bwMode="auto">
          <a:xfrm flipH="1">
            <a:off x="7010400" y="3484563"/>
            <a:ext cx="1970088" cy="3373437"/>
            <a:chOff x="4512" y="2112"/>
            <a:chExt cx="523" cy="1147"/>
          </a:xfrm>
        </p:grpSpPr>
        <p:sp>
          <p:nvSpPr>
            <p:cNvPr id="130053" name="Freeform 10"/>
            <p:cNvSpPr>
              <a:spLocks/>
            </p:cNvSpPr>
            <p:nvPr/>
          </p:nvSpPr>
          <p:spPr bwMode="auto">
            <a:xfrm>
              <a:off x="4891" y="2818"/>
              <a:ext cx="12" cy="28"/>
            </a:xfrm>
            <a:custGeom>
              <a:avLst/>
              <a:gdLst>
                <a:gd name="T0" fmla="*/ 0 w 25"/>
                <a:gd name="T1" fmla="*/ 0 h 57"/>
                <a:gd name="T2" fmla="*/ 0 w 25"/>
                <a:gd name="T3" fmla="*/ 0 h 57"/>
                <a:gd name="T4" fmla="*/ 0 w 25"/>
                <a:gd name="T5" fmla="*/ 0 h 57"/>
                <a:gd name="T6" fmla="*/ 0 w 25"/>
                <a:gd name="T7" fmla="*/ 0 h 57"/>
                <a:gd name="T8" fmla="*/ 0 w 25"/>
                <a:gd name="T9" fmla="*/ 0 h 57"/>
                <a:gd name="T10" fmla="*/ 0 w 25"/>
                <a:gd name="T11" fmla="*/ 0 h 57"/>
                <a:gd name="T12" fmla="*/ 0 60000 65536"/>
                <a:gd name="T13" fmla="*/ 0 60000 65536"/>
                <a:gd name="T14" fmla="*/ 0 60000 65536"/>
                <a:gd name="T15" fmla="*/ 0 60000 65536"/>
                <a:gd name="T16" fmla="*/ 0 60000 65536"/>
                <a:gd name="T17" fmla="*/ 0 60000 65536"/>
                <a:gd name="T18" fmla="*/ 0 w 25"/>
                <a:gd name="T19" fmla="*/ 0 h 57"/>
                <a:gd name="T20" fmla="*/ 25 w 25"/>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25" h="57">
                  <a:moveTo>
                    <a:pt x="25" y="0"/>
                  </a:moveTo>
                  <a:lnTo>
                    <a:pt x="4" y="57"/>
                  </a:lnTo>
                  <a:lnTo>
                    <a:pt x="0" y="4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54" name="Freeform 11"/>
            <p:cNvSpPr>
              <a:spLocks/>
            </p:cNvSpPr>
            <p:nvPr/>
          </p:nvSpPr>
          <p:spPr bwMode="auto">
            <a:xfrm>
              <a:off x="4775" y="2394"/>
              <a:ext cx="16" cy="50"/>
            </a:xfrm>
            <a:custGeom>
              <a:avLst/>
              <a:gdLst>
                <a:gd name="T0" fmla="*/ 1 w 32"/>
                <a:gd name="T1" fmla="*/ 1 h 100"/>
                <a:gd name="T2" fmla="*/ 1 w 32"/>
                <a:gd name="T3" fmla="*/ 0 h 100"/>
                <a:gd name="T4" fmla="*/ 1 w 32"/>
                <a:gd name="T5" fmla="*/ 1 h 100"/>
                <a:gd name="T6" fmla="*/ 1 w 32"/>
                <a:gd name="T7" fmla="*/ 1 h 100"/>
                <a:gd name="T8" fmla="*/ 1 w 32"/>
                <a:gd name="T9" fmla="*/ 1 h 100"/>
                <a:gd name="T10" fmla="*/ 1 w 32"/>
                <a:gd name="T11" fmla="*/ 1 h 100"/>
                <a:gd name="T12" fmla="*/ 0 w 32"/>
                <a:gd name="T13" fmla="*/ 1 h 100"/>
                <a:gd name="T14" fmla="*/ 1 w 32"/>
                <a:gd name="T15" fmla="*/ 1 h 100"/>
                <a:gd name="T16" fmla="*/ 1 w 32"/>
                <a:gd name="T17" fmla="*/ 1 h 100"/>
                <a:gd name="T18" fmla="*/ 1 w 32"/>
                <a:gd name="T19" fmla="*/ 1 h 1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
                <a:gd name="T31" fmla="*/ 0 h 100"/>
                <a:gd name="T32" fmla="*/ 32 w 32"/>
                <a:gd name="T33" fmla="*/ 100 h 1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 h="100">
                  <a:moveTo>
                    <a:pt x="5" y="68"/>
                  </a:moveTo>
                  <a:lnTo>
                    <a:pt x="32" y="0"/>
                  </a:lnTo>
                  <a:lnTo>
                    <a:pt x="32" y="34"/>
                  </a:lnTo>
                  <a:lnTo>
                    <a:pt x="18" y="66"/>
                  </a:lnTo>
                  <a:lnTo>
                    <a:pt x="13" y="95"/>
                  </a:lnTo>
                  <a:lnTo>
                    <a:pt x="9" y="100"/>
                  </a:lnTo>
                  <a:lnTo>
                    <a:pt x="0" y="79"/>
                  </a:lnTo>
                  <a:lnTo>
                    <a:pt x="5"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55" name="Freeform 12"/>
            <p:cNvSpPr>
              <a:spLocks/>
            </p:cNvSpPr>
            <p:nvPr/>
          </p:nvSpPr>
          <p:spPr bwMode="auto">
            <a:xfrm>
              <a:off x="4512" y="2112"/>
              <a:ext cx="335" cy="1141"/>
            </a:xfrm>
            <a:custGeom>
              <a:avLst/>
              <a:gdLst>
                <a:gd name="T0" fmla="*/ 3 w 670"/>
                <a:gd name="T1" fmla="*/ 8 h 2281"/>
                <a:gd name="T2" fmla="*/ 3 w 670"/>
                <a:gd name="T3" fmla="*/ 8 h 2281"/>
                <a:gd name="T4" fmla="*/ 3 w 670"/>
                <a:gd name="T5" fmla="*/ 7 h 2281"/>
                <a:gd name="T6" fmla="*/ 3 w 670"/>
                <a:gd name="T7" fmla="*/ 7 h 2281"/>
                <a:gd name="T8" fmla="*/ 3 w 670"/>
                <a:gd name="T9" fmla="*/ 7 h 2281"/>
                <a:gd name="T10" fmla="*/ 3 w 670"/>
                <a:gd name="T11" fmla="*/ 7 h 2281"/>
                <a:gd name="T12" fmla="*/ 3 w 670"/>
                <a:gd name="T13" fmla="*/ 7 h 2281"/>
                <a:gd name="T14" fmla="*/ 3 w 670"/>
                <a:gd name="T15" fmla="*/ 6 h 2281"/>
                <a:gd name="T16" fmla="*/ 3 w 670"/>
                <a:gd name="T17" fmla="*/ 7 h 2281"/>
                <a:gd name="T18" fmla="*/ 3 w 670"/>
                <a:gd name="T19" fmla="*/ 7 h 2281"/>
                <a:gd name="T20" fmla="*/ 3 w 670"/>
                <a:gd name="T21" fmla="*/ 6 h 2281"/>
                <a:gd name="T22" fmla="*/ 3 w 670"/>
                <a:gd name="T23" fmla="*/ 6 h 2281"/>
                <a:gd name="T24" fmla="*/ 3 w 670"/>
                <a:gd name="T25" fmla="*/ 7 h 2281"/>
                <a:gd name="T26" fmla="*/ 2 w 670"/>
                <a:gd name="T27" fmla="*/ 7 h 2281"/>
                <a:gd name="T28" fmla="*/ 2 w 670"/>
                <a:gd name="T29" fmla="*/ 6 h 2281"/>
                <a:gd name="T30" fmla="*/ 2 w 670"/>
                <a:gd name="T31" fmla="*/ 6 h 2281"/>
                <a:gd name="T32" fmla="*/ 2 w 670"/>
                <a:gd name="T33" fmla="*/ 6 h 2281"/>
                <a:gd name="T34" fmla="*/ 2 w 670"/>
                <a:gd name="T35" fmla="*/ 6 h 2281"/>
                <a:gd name="T36" fmla="*/ 2 w 670"/>
                <a:gd name="T37" fmla="*/ 6 h 2281"/>
                <a:gd name="T38" fmla="*/ 2 w 670"/>
                <a:gd name="T39" fmla="*/ 6 h 2281"/>
                <a:gd name="T40" fmla="*/ 2 w 670"/>
                <a:gd name="T41" fmla="*/ 5 h 2281"/>
                <a:gd name="T42" fmla="*/ 2 w 670"/>
                <a:gd name="T43" fmla="*/ 5 h 2281"/>
                <a:gd name="T44" fmla="*/ 2 w 670"/>
                <a:gd name="T45" fmla="*/ 5 h 2281"/>
                <a:gd name="T46" fmla="*/ 2 w 670"/>
                <a:gd name="T47" fmla="*/ 4 h 2281"/>
                <a:gd name="T48" fmla="*/ 2 w 670"/>
                <a:gd name="T49" fmla="*/ 4 h 2281"/>
                <a:gd name="T50" fmla="*/ 2 w 670"/>
                <a:gd name="T51" fmla="*/ 4 h 2281"/>
                <a:gd name="T52" fmla="*/ 2 w 670"/>
                <a:gd name="T53" fmla="*/ 4 h 2281"/>
                <a:gd name="T54" fmla="*/ 2 w 670"/>
                <a:gd name="T55" fmla="*/ 4 h 2281"/>
                <a:gd name="T56" fmla="*/ 2 w 670"/>
                <a:gd name="T57" fmla="*/ 3 h 2281"/>
                <a:gd name="T58" fmla="*/ 2 w 670"/>
                <a:gd name="T59" fmla="*/ 3 h 2281"/>
                <a:gd name="T60" fmla="*/ 2 w 670"/>
                <a:gd name="T61" fmla="*/ 3 h 2281"/>
                <a:gd name="T62" fmla="*/ 2 w 670"/>
                <a:gd name="T63" fmla="*/ 3 h 2281"/>
                <a:gd name="T64" fmla="*/ 2 w 670"/>
                <a:gd name="T65" fmla="*/ 4 h 2281"/>
                <a:gd name="T66" fmla="*/ 2 w 670"/>
                <a:gd name="T67" fmla="*/ 4 h 2281"/>
                <a:gd name="T68" fmla="*/ 2 w 670"/>
                <a:gd name="T69" fmla="*/ 4 h 2281"/>
                <a:gd name="T70" fmla="*/ 2 w 670"/>
                <a:gd name="T71" fmla="*/ 4 h 2281"/>
                <a:gd name="T72" fmla="*/ 1 w 670"/>
                <a:gd name="T73" fmla="*/ 3 h 2281"/>
                <a:gd name="T74" fmla="*/ 1 w 670"/>
                <a:gd name="T75" fmla="*/ 3 h 2281"/>
                <a:gd name="T76" fmla="*/ 2 w 670"/>
                <a:gd name="T77" fmla="*/ 3 h 2281"/>
                <a:gd name="T78" fmla="*/ 2 w 670"/>
                <a:gd name="T79" fmla="*/ 3 h 2281"/>
                <a:gd name="T80" fmla="*/ 2 w 670"/>
                <a:gd name="T81" fmla="*/ 3 h 2281"/>
                <a:gd name="T82" fmla="*/ 2 w 670"/>
                <a:gd name="T83" fmla="*/ 3 h 2281"/>
                <a:gd name="T84" fmla="*/ 2 w 670"/>
                <a:gd name="T85" fmla="*/ 3 h 2281"/>
                <a:gd name="T86" fmla="*/ 2 w 670"/>
                <a:gd name="T87" fmla="*/ 3 h 2281"/>
                <a:gd name="T88" fmla="*/ 2 w 670"/>
                <a:gd name="T89" fmla="*/ 3 h 2281"/>
                <a:gd name="T90" fmla="*/ 1 w 670"/>
                <a:gd name="T91" fmla="*/ 3 h 2281"/>
                <a:gd name="T92" fmla="*/ 2 w 670"/>
                <a:gd name="T93" fmla="*/ 2 h 2281"/>
                <a:gd name="T94" fmla="*/ 2 w 670"/>
                <a:gd name="T95" fmla="*/ 2 h 2281"/>
                <a:gd name="T96" fmla="*/ 2 w 670"/>
                <a:gd name="T97" fmla="*/ 2 h 2281"/>
                <a:gd name="T98" fmla="*/ 2 w 670"/>
                <a:gd name="T99" fmla="*/ 1 h 2281"/>
                <a:gd name="T100" fmla="*/ 2 w 670"/>
                <a:gd name="T101" fmla="*/ 1 h 2281"/>
                <a:gd name="T102" fmla="*/ 1 w 670"/>
                <a:gd name="T103" fmla="*/ 1 h 2281"/>
                <a:gd name="T104" fmla="*/ 1 w 670"/>
                <a:gd name="T105" fmla="*/ 1 h 2281"/>
                <a:gd name="T106" fmla="*/ 1 w 670"/>
                <a:gd name="T107" fmla="*/ 1 h 2281"/>
                <a:gd name="T108" fmla="*/ 0 w 670"/>
                <a:gd name="T109" fmla="*/ 0 h 2281"/>
                <a:gd name="T110" fmla="*/ 3 w 670"/>
                <a:gd name="T111" fmla="*/ 8 h 228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670"/>
                <a:gd name="T169" fmla="*/ 0 h 2281"/>
                <a:gd name="T170" fmla="*/ 670 w 670"/>
                <a:gd name="T171" fmla="*/ 2281 h 228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670" h="2281">
                  <a:moveTo>
                    <a:pt x="631" y="1986"/>
                  </a:moveTo>
                  <a:lnTo>
                    <a:pt x="630" y="1953"/>
                  </a:lnTo>
                  <a:lnTo>
                    <a:pt x="630" y="1920"/>
                  </a:lnTo>
                  <a:lnTo>
                    <a:pt x="628" y="1885"/>
                  </a:lnTo>
                  <a:lnTo>
                    <a:pt x="623" y="1852"/>
                  </a:lnTo>
                  <a:lnTo>
                    <a:pt x="613" y="1819"/>
                  </a:lnTo>
                  <a:lnTo>
                    <a:pt x="607" y="1793"/>
                  </a:lnTo>
                  <a:lnTo>
                    <a:pt x="598" y="1769"/>
                  </a:lnTo>
                  <a:lnTo>
                    <a:pt x="592" y="1748"/>
                  </a:lnTo>
                  <a:lnTo>
                    <a:pt x="586" y="1728"/>
                  </a:lnTo>
                  <a:lnTo>
                    <a:pt x="580" y="1713"/>
                  </a:lnTo>
                  <a:lnTo>
                    <a:pt x="575" y="1702"/>
                  </a:lnTo>
                  <a:lnTo>
                    <a:pt x="573" y="1694"/>
                  </a:lnTo>
                  <a:lnTo>
                    <a:pt x="572" y="1691"/>
                  </a:lnTo>
                  <a:lnTo>
                    <a:pt x="556" y="1664"/>
                  </a:lnTo>
                  <a:lnTo>
                    <a:pt x="574" y="1666"/>
                  </a:lnTo>
                  <a:lnTo>
                    <a:pt x="575" y="1672"/>
                  </a:lnTo>
                  <a:lnTo>
                    <a:pt x="598" y="1673"/>
                  </a:lnTo>
                  <a:lnTo>
                    <a:pt x="601" y="1660"/>
                  </a:lnTo>
                  <a:lnTo>
                    <a:pt x="610" y="1659"/>
                  </a:lnTo>
                  <a:lnTo>
                    <a:pt x="651" y="1537"/>
                  </a:lnTo>
                  <a:lnTo>
                    <a:pt x="658" y="1506"/>
                  </a:lnTo>
                  <a:lnTo>
                    <a:pt x="609" y="1498"/>
                  </a:lnTo>
                  <a:lnTo>
                    <a:pt x="592" y="1589"/>
                  </a:lnTo>
                  <a:lnTo>
                    <a:pt x="570" y="1626"/>
                  </a:lnTo>
                  <a:lnTo>
                    <a:pt x="534" y="1626"/>
                  </a:lnTo>
                  <a:lnTo>
                    <a:pt x="533" y="1626"/>
                  </a:lnTo>
                  <a:lnTo>
                    <a:pt x="592" y="1501"/>
                  </a:lnTo>
                  <a:lnTo>
                    <a:pt x="557" y="1455"/>
                  </a:lnTo>
                  <a:lnTo>
                    <a:pt x="556" y="1464"/>
                  </a:lnTo>
                  <a:lnTo>
                    <a:pt x="551" y="1479"/>
                  </a:lnTo>
                  <a:lnTo>
                    <a:pt x="547" y="1497"/>
                  </a:lnTo>
                  <a:lnTo>
                    <a:pt x="540" y="1516"/>
                  </a:lnTo>
                  <a:lnTo>
                    <a:pt x="532" y="1537"/>
                  </a:lnTo>
                  <a:lnTo>
                    <a:pt x="525" y="1557"/>
                  </a:lnTo>
                  <a:lnTo>
                    <a:pt x="518" y="1575"/>
                  </a:lnTo>
                  <a:lnTo>
                    <a:pt x="512" y="1589"/>
                  </a:lnTo>
                  <a:lnTo>
                    <a:pt x="508" y="1582"/>
                  </a:lnTo>
                  <a:lnTo>
                    <a:pt x="487" y="1500"/>
                  </a:lnTo>
                  <a:lnTo>
                    <a:pt x="459" y="1474"/>
                  </a:lnTo>
                  <a:lnTo>
                    <a:pt x="436" y="1360"/>
                  </a:lnTo>
                  <a:lnTo>
                    <a:pt x="434" y="1355"/>
                  </a:lnTo>
                  <a:lnTo>
                    <a:pt x="432" y="1349"/>
                  </a:lnTo>
                  <a:lnTo>
                    <a:pt x="430" y="1342"/>
                  </a:lnTo>
                  <a:lnTo>
                    <a:pt x="428" y="1335"/>
                  </a:lnTo>
                  <a:lnTo>
                    <a:pt x="426" y="1323"/>
                  </a:lnTo>
                  <a:lnTo>
                    <a:pt x="425" y="1316"/>
                  </a:lnTo>
                  <a:lnTo>
                    <a:pt x="425" y="1308"/>
                  </a:lnTo>
                  <a:lnTo>
                    <a:pt x="424" y="1300"/>
                  </a:lnTo>
                  <a:lnTo>
                    <a:pt x="422" y="1292"/>
                  </a:lnTo>
                  <a:lnTo>
                    <a:pt x="419" y="1258"/>
                  </a:lnTo>
                  <a:lnTo>
                    <a:pt x="418" y="1216"/>
                  </a:lnTo>
                  <a:lnTo>
                    <a:pt x="418" y="1171"/>
                  </a:lnTo>
                  <a:lnTo>
                    <a:pt x="419" y="1127"/>
                  </a:lnTo>
                  <a:lnTo>
                    <a:pt x="420" y="1085"/>
                  </a:lnTo>
                  <a:lnTo>
                    <a:pt x="421" y="1039"/>
                  </a:lnTo>
                  <a:lnTo>
                    <a:pt x="422" y="1016"/>
                  </a:lnTo>
                  <a:lnTo>
                    <a:pt x="424" y="998"/>
                  </a:lnTo>
                  <a:lnTo>
                    <a:pt x="425" y="986"/>
                  </a:lnTo>
                  <a:lnTo>
                    <a:pt x="425" y="982"/>
                  </a:lnTo>
                  <a:lnTo>
                    <a:pt x="414" y="953"/>
                  </a:lnTo>
                  <a:lnTo>
                    <a:pt x="409" y="873"/>
                  </a:lnTo>
                  <a:lnTo>
                    <a:pt x="387" y="860"/>
                  </a:lnTo>
                  <a:lnTo>
                    <a:pt x="388" y="839"/>
                  </a:lnTo>
                  <a:lnTo>
                    <a:pt x="401" y="835"/>
                  </a:lnTo>
                  <a:lnTo>
                    <a:pt x="404" y="825"/>
                  </a:lnTo>
                  <a:lnTo>
                    <a:pt x="410" y="811"/>
                  </a:lnTo>
                  <a:lnTo>
                    <a:pt x="418" y="795"/>
                  </a:lnTo>
                  <a:lnTo>
                    <a:pt x="426" y="779"/>
                  </a:lnTo>
                  <a:lnTo>
                    <a:pt x="435" y="763"/>
                  </a:lnTo>
                  <a:lnTo>
                    <a:pt x="442" y="749"/>
                  </a:lnTo>
                  <a:lnTo>
                    <a:pt x="447" y="740"/>
                  </a:lnTo>
                  <a:lnTo>
                    <a:pt x="449" y="736"/>
                  </a:lnTo>
                  <a:lnTo>
                    <a:pt x="451" y="724"/>
                  </a:lnTo>
                  <a:lnTo>
                    <a:pt x="447" y="719"/>
                  </a:lnTo>
                  <a:lnTo>
                    <a:pt x="399" y="707"/>
                  </a:lnTo>
                  <a:lnTo>
                    <a:pt x="397" y="728"/>
                  </a:lnTo>
                  <a:lnTo>
                    <a:pt x="392" y="748"/>
                  </a:lnTo>
                  <a:lnTo>
                    <a:pt x="387" y="765"/>
                  </a:lnTo>
                  <a:lnTo>
                    <a:pt x="380" y="780"/>
                  </a:lnTo>
                  <a:lnTo>
                    <a:pt x="373" y="793"/>
                  </a:lnTo>
                  <a:lnTo>
                    <a:pt x="367" y="802"/>
                  </a:lnTo>
                  <a:lnTo>
                    <a:pt x="363" y="808"/>
                  </a:lnTo>
                  <a:lnTo>
                    <a:pt x="361" y="810"/>
                  </a:lnTo>
                  <a:lnTo>
                    <a:pt x="325" y="811"/>
                  </a:lnTo>
                  <a:lnTo>
                    <a:pt x="323" y="815"/>
                  </a:lnTo>
                  <a:lnTo>
                    <a:pt x="258" y="769"/>
                  </a:lnTo>
                  <a:lnTo>
                    <a:pt x="253" y="752"/>
                  </a:lnTo>
                  <a:lnTo>
                    <a:pt x="250" y="728"/>
                  </a:lnTo>
                  <a:lnTo>
                    <a:pt x="247" y="701"/>
                  </a:lnTo>
                  <a:lnTo>
                    <a:pt x="246" y="667"/>
                  </a:lnTo>
                  <a:lnTo>
                    <a:pt x="254" y="672"/>
                  </a:lnTo>
                  <a:lnTo>
                    <a:pt x="262" y="674"/>
                  </a:lnTo>
                  <a:lnTo>
                    <a:pt x="269" y="674"/>
                  </a:lnTo>
                  <a:lnTo>
                    <a:pt x="272" y="674"/>
                  </a:lnTo>
                  <a:lnTo>
                    <a:pt x="279" y="661"/>
                  </a:lnTo>
                  <a:lnTo>
                    <a:pt x="292" y="667"/>
                  </a:lnTo>
                  <a:lnTo>
                    <a:pt x="303" y="654"/>
                  </a:lnTo>
                  <a:lnTo>
                    <a:pt x="314" y="644"/>
                  </a:lnTo>
                  <a:lnTo>
                    <a:pt x="326" y="635"/>
                  </a:lnTo>
                  <a:lnTo>
                    <a:pt x="336" y="627"/>
                  </a:lnTo>
                  <a:lnTo>
                    <a:pt x="344" y="621"/>
                  </a:lnTo>
                  <a:lnTo>
                    <a:pt x="351" y="616"/>
                  </a:lnTo>
                  <a:lnTo>
                    <a:pt x="357" y="614"/>
                  </a:lnTo>
                  <a:lnTo>
                    <a:pt x="358" y="613"/>
                  </a:lnTo>
                  <a:lnTo>
                    <a:pt x="368" y="593"/>
                  </a:lnTo>
                  <a:lnTo>
                    <a:pt x="373" y="586"/>
                  </a:lnTo>
                  <a:lnTo>
                    <a:pt x="376" y="528"/>
                  </a:lnTo>
                  <a:lnTo>
                    <a:pt x="349" y="542"/>
                  </a:lnTo>
                  <a:lnTo>
                    <a:pt x="266" y="628"/>
                  </a:lnTo>
                  <a:lnTo>
                    <a:pt x="246" y="616"/>
                  </a:lnTo>
                  <a:lnTo>
                    <a:pt x="249" y="518"/>
                  </a:lnTo>
                  <a:lnTo>
                    <a:pt x="252" y="426"/>
                  </a:lnTo>
                  <a:lnTo>
                    <a:pt x="256" y="359"/>
                  </a:lnTo>
                  <a:lnTo>
                    <a:pt x="258" y="333"/>
                  </a:lnTo>
                  <a:lnTo>
                    <a:pt x="282" y="271"/>
                  </a:lnTo>
                  <a:lnTo>
                    <a:pt x="276" y="263"/>
                  </a:lnTo>
                  <a:lnTo>
                    <a:pt x="273" y="250"/>
                  </a:lnTo>
                  <a:lnTo>
                    <a:pt x="270" y="234"/>
                  </a:lnTo>
                  <a:lnTo>
                    <a:pt x="268" y="217"/>
                  </a:lnTo>
                  <a:lnTo>
                    <a:pt x="267" y="190"/>
                  </a:lnTo>
                  <a:lnTo>
                    <a:pt x="267" y="165"/>
                  </a:lnTo>
                  <a:lnTo>
                    <a:pt x="267" y="143"/>
                  </a:lnTo>
                  <a:lnTo>
                    <a:pt x="268" y="128"/>
                  </a:lnTo>
                  <a:lnTo>
                    <a:pt x="268" y="122"/>
                  </a:lnTo>
                  <a:lnTo>
                    <a:pt x="250" y="109"/>
                  </a:lnTo>
                  <a:lnTo>
                    <a:pt x="234" y="92"/>
                  </a:lnTo>
                  <a:lnTo>
                    <a:pt x="220" y="71"/>
                  </a:lnTo>
                  <a:lnTo>
                    <a:pt x="208" y="51"/>
                  </a:lnTo>
                  <a:lnTo>
                    <a:pt x="199" y="31"/>
                  </a:lnTo>
                  <a:lnTo>
                    <a:pt x="193" y="15"/>
                  </a:lnTo>
                  <a:lnTo>
                    <a:pt x="189" y="5"/>
                  </a:lnTo>
                  <a:lnTo>
                    <a:pt x="188" y="0"/>
                  </a:lnTo>
                  <a:lnTo>
                    <a:pt x="0" y="0"/>
                  </a:lnTo>
                  <a:lnTo>
                    <a:pt x="2" y="2281"/>
                  </a:lnTo>
                  <a:lnTo>
                    <a:pt x="670" y="2281"/>
                  </a:lnTo>
                  <a:lnTo>
                    <a:pt x="648" y="2017"/>
                  </a:lnTo>
                  <a:lnTo>
                    <a:pt x="631" y="198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56" name="Freeform 13"/>
            <p:cNvSpPr>
              <a:spLocks/>
            </p:cNvSpPr>
            <p:nvPr/>
          </p:nvSpPr>
          <p:spPr bwMode="auto">
            <a:xfrm>
              <a:off x="4646" y="2207"/>
              <a:ext cx="389" cy="1052"/>
            </a:xfrm>
            <a:custGeom>
              <a:avLst/>
              <a:gdLst>
                <a:gd name="T0" fmla="*/ 2 w 779"/>
                <a:gd name="T1" fmla="*/ 7 h 2104"/>
                <a:gd name="T2" fmla="*/ 3 w 779"/>
                <a:gd name="T3" fmla="*/ 6 h 2104"/>
                <a:gd name="T4" fmla="*/ 2 w 779"/>
                <a:gd name="T5" fmla="*/ 6 h 2104"/>
                <a:gd name="T6" fmla="*/ 2 w 779"/>
                <a:gd name="T7" fmla="*/ 6 h 2104"/>
                <a:gd name="T8" fmla="*/ 2 w 779"/>
                <a:gd name="T9" fmla="*/ 6 h 2104"/>
                <a:gd name="T10" fmla="*/ 2 w 779"/>
                <a:gd name="T11" fmla="*/ 6 h 2104"/>
                <a:gd name="T12" fmla="*/ 2 w 779"/>
                <a:gd name="T13" fmla="*/ 6 h 2104"/>
                <a:gd name="T14" fmla="*/ 2 w 779"/>
                <a:gd name="T15" fmla="*/ 5 h 2104"/>
                <a:gd name="T16" fmla="*/ 2 w 779"/>
                <a:gd name="T17" fmla="*/ 5 h 2104"/>
                <a:gd name="T18" fmla="*/ 2 w 779"/>
                <a:gd name="T19" fmla="*/ 5 h 2104"/>
                <a:gd name="T20" fmla="*/ 2 w 779"/>
                <a:gd name="T21" fmla="*/ 4 h 2104"/>
                <a:gd name="T22" fmla="*/ 2 w 779"/>
                <a:gd name="T23" fmla="*/ 4 h 2104"/>
                <a:gd name="T24" fmla="*/ 1 w 779"/>
                <a:gd name="T25" fmla="*/ 5 h 2104"/>
                <a:gd name="T26" fmla="*/ 1 w 779"/>
                <a:gd name="T27" fmla="*/ 5 h 2104"/>
                <a:gd name="T28" fmla="*/ 1 w 779"/>
                <a:gd name="T29" fmla="*/ 4 h 2104"/>
                <a:gd name="T30" fmla="*/ 1 w 779"/>
                <a:gd name="T31" fmla="*/ 4 h 2104"/>
                <a:gd name="T32" fmla="*/ 2 w 779"/>
                <a:gd name="T33" fmla="*/ 3 h 2104"/>
                <a:gd name="T34" fmla="*/ 2 w 779"/>
                <a:gd name="T35" fmla="*/ 3 h 2104"/>
                <a:gd name="T36" fmla="*/ 1 w 779"/>
                <a:gd name="T37" fmla="*/ 3 h 2104"/>
                <a:gd name="T38" fmla="*/ 1 w 779"/>
                <a:gd name="T39" fmla="*/ 3 h 2104"/>
                <a:gd name="T40" fmla="*/ 1 w 779"/>
                <a:gd name="T41" fmla="*/ 3 h 2104"/>
                <a:gd name="T42" fmla="*/ 1 w 779"/>
                <a:gd name="T43" fmla="*/ 2 h 2104"/>
                <a:gd name="T44" fmla="*/ 1 w 779"/>
                <a:gd name="T45" fmla="*/ 2 h 2104"/>
                <a:gd name="T46" fmla="*/ 1 w 779"/>
                <a:gd name="T47" fmla="*/ 1 h 2104"/>
                <a:gd name="T48" fmla="*/ 0 w 779"/>
                <a:gd name="T49" fmla="*/ 1 h 2104"/>
                <a:gd name="T50" fmla="*/ 0 w 779"/>
                <a:gd name="T51" fmla="*/ 1 h 2104"/>
                <a:gd name="T52" fmla="*/ 0 w 779"/>
                <a:gd name="T53" fmla="*/ 1 h 2104"/>
                <a:gd name="T54" fmla="*/ 0 w 779"/>
                <a:gd name="T55" fmla="*/ 2 h 2104"/>
                <a:gd name="T56" fmla="*/ 0 w 779"/>
                <a:gd name="T57" fmla="*/ 2 h 2104"/>
                <a:gd name="T58" fmla="*/ 0 w 779"/>
                <a:gd name="T59" fmla="*/ 2 h 2104"/>
                <a:gd name="T60" fmla="*/ 1 w 779"/>
                <a:gd name="T61" fmla="*/ 2 h 2104"/>
                <a:gd name="T62" fmla="*/ 1 w 779"/>
                <a:gd name="T63" fmla="*/ 3 h 2104"/>
                <a:gd name="T64" fmla="*/ 1 w 779"/>
                <a:gd name="T65" fmla="*/ 3 h 2104"/>
                <a:gd name="T66" fmla="*/ 1 w 779"/>
                <a:gd name="T67" fmla="*/ 3 h 2104"/>
                <a:gd name="T68" fmla="*/ 1 w 779"/>
                <a:gd name="T69" fmla="*/ 3 h 2104"/>
                <a:gd name="T70" fmla="*/ 1 w 779"/>
                <a:gd name="T71" fmla="*/ 3 h 2104"/>
                <a:gd name="T72" fmla="*/ 0 w 779"/>
                <a:gd name="T73" fmla="*/ 3 h 2104"/>
                <a:gd name="T74" fmla="*/ 0 w 779"/>
                <a:gd name="T75" fmla="*/ 5 h 2104"/>
                <a:gd name="T76" fmla="*/ 0 w 779"/>
                <a:gd name="T77" fmla="*/ 5 h 2104"/>
                <a:gd name="T78" fmla="*/ 1 w 779"/>
                <a:gd name="T79" fmla="*/ 4 h 2104"/>
                <a:gd name="T80" fmla="*/ 1 w 779"/>
                <a:gd name="T81" fmla="*/ 4 h 2104"/>
                <a:gd name="T82" fmla="*/ 1 w 779"/>
                <a:gd name="T83" fmla="*/ 4 h 2104"/>
                <a:gd name="T84" fmla="*/ 1 w 779"/>
                <a:gd name="T85" fmla="*/ 5 h 2104"/>
                <a:gd name="T86" fmla="*/ 1 w 779"/>
                <a:gd name="T87" fmla="*/ 5 h 2104"/>
                <a:gd name="T88" fmla="*/ 1 w 779"/>
                <a:gd name="T89" fmla="*/ 6 h 2104"/>
                <a:gd name="T90" fmla="*/ 2 w 779"/>
                <a:gd name="T91" fmla="*/ 6 h 2104"/>
                <a:gd name="T92" fmla="*/ 2 w 779"/>
                <a:gd name="T93" fmla="*/ 6 h 2104"/>
                <a:gd name="T94" fmla="*/ 2 w 779"/>
                <a:gd name="T95" fmla="*/ 7 h 2104"/>
                <a:gd name="T96" fmla="*/ 1 w 779"/>
                <a:gd name="T97" fmla="*/ 7 h 2104"/>
                <a:gd name="T98" fmla="*/ 1 w 779"/>
                <a:gd name="T99" fmla="*/ 8 h 2104"/>
                <a:gd name="T100" fmla="*/ 1 w 779"/>
                <a:gd name="T101" fmla="*/ 7 h 2104"/>
                <a:gd name="T102" fmla="*/ 2 w 779"/>
                <a:gd name="T103" fmla="*/ 7 h 2104"/>
                <a:gd name="T104" fmla="*/ 2 w 779"/>
                <a:gd name="T105" fmla="*/ 7 h 2104"/>
                <a:gd name="T106" fmla="*/ 2 w 779"/>
                <a:gd name="T107" fmla="*/ 8 h 2104"/>
                <a:gd name="T108" fmla="*/ 2 w 779"/>
                <a:gd name="T109" fmla="*/ 9 h 2104"/>
                <a:gd name="T110" fmla="*/ 2 w 779"/>
                <a:gd name="T111" fmla="*/ 8 h 2104"/>
                <a:gd name="T112" fmla="*/ 2 w 779"/>
                <a:gd name="T113" fmla="*/ 7 h 2104"/>
                <a:gd name="T114" fmla="*/ 2 w 779"/>
                <a:gd name="T115" fmla="*/ 7 h 210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79"/>
                <a:gd name="T175" fmla="*/ 0 h 2104"/>
                <a:gd name="T176" fmla="*/ 779 w 779"/>
                <a:gd name="T177" fmla="*/ 2104 h 210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79" h="2104">
                  <a:moveTo>
                    <a:pt x="701" y="1619"/>
                  </a:moveTo>
                  <a:lnTo>
                    <a:pt x="688" y="1666"/>
                  </a:lnTo>
                  <a:lnTo>
                    <a:pt x="659" y="1686"/>
                  </a:lnTo>
                  <a:lnTo>
                    <a:pt x="701" y="1619"/>
                  </a:lnTo>
                  <a:lnTo>
                    <a:pt x="715" y="1716"/>
                  </a:lnTo>
                  <a:lnTo>
                    <a:pt x="757" y="1586"/>
                  </a:lnTo>
                  <a:lnTo>
                    <a:pt x="755" y="1571"/>
                  </a:lnTo>
                  <a:lnTo>
                    <a:pt x="750" y="1560"/>
                  </a:lnTo>
                  <a:lnTo>
                    <a:pt x="765" y="1550"/>
                  </a:lnTo>
                  <a:lnTo>
                    <a:pt x="778" y="1516"/>
                  </a:lnTo>
                  <a:lnTo>
                    <a:pt x="779" y="1496"/>
                  </a:lnTo>
                  <a:lnTo>
                    <a:pt x="775" y="1486"/>
                  </a:lnTo>
                  <a:lnTo>
                    <a:pt x="772" y="1484"/>
                  </a:lnTo>
                  <a:lnTo>
                    <a:pt x="771" y="1452"/>
                  </a:lnTo>
                  <a:lnTo>
                    <a:pt x="767" y="1439"/>
                  </a:lnTo>
                  <a:lnTo>
                    <a:pt x="760" y="1431"/>
                  </a:lnTo>
                  <a:lnTo>
                    <a:pt x="754" y="1427"/>
                  </a:lnTo>
                  <a:lnTo>
                    <a:pt x="747" y="1425"/>
                  </a:lnTo>
                  <a:lnTo>
                    <a:pt x="740" y="1425"/>
                  </a:lnTo>
                  <a:lnTo>
                    <a:pt x="735" y="1427"/>
                  </a:lnTo>
                  <a:lnTo>
                    <a:pt x="732" y="1428"/>
                  </a:lnTo>
                  <a:lnTo>
                    <a:pt x="731" y="1429"/>
                  </a:lnTo>
                  <a:lnTo>
                    <a:pt x="727" y="1432"/>
                  </a:lnTo>
                  <a:lnTo>
                    <a:pt x="726" y="1437"/>
                  </a:lnTo>
                  <a:lnTo>
                    <a:pt x="726" y="1441"/>
                  </a:lnTo>
                  <a:lnTo>
                    <a:pt x="726" y="1443"/>
                  </a:lnTo>
                  <a:lnTo>
                    <a:pt x="712" y="1454"/>
                  </a:lnTo>
                  <a:lnTo>
                    <a:pt x="702" y="1470"/>
                  </a:lnTo>
                  <a:lnTo>
                    <a:pt x="695" y="1485"/>
                  </a:lnTo>
                  <a:lnTo>
                    <a:pt x="693" y="1499"/>
                  </a:lnTo>
                  <a:lnTo>
                    <a:pt x="695" y="1506"/>
                  </a:lnTo>
                  <a:lnTo>
                    <a:pt x="697" y="1511"/>
                  </a:lnTo>
                  <a:lnTo>
                    <a:pt x="699" y="1514"/>
                  </a:lnTo>
                  <a:lnTo>
                    <a:pt x="700" y="1515"/>
                  </a:lnTo>
                  <a:lnTo>
                    <a:pt x="677" y="1494"/>
                  </a:lnTo>
                  <a:lnTo>
                    <a:pt x="674" y="1482"/>
                  </a:lnTo>
                  <a:lnTo>
                    <a:pt x="662" y="1480"/>
                  </a:lnTo>
                  <a:lnTo>
                    <a:pt x="646" y="1471"/>
                  </a:lnTo>
                  <a:lnTo>
                    <a:pt x="630" y="1461"/>
                  </a:lnTo>
                  <a:lnTo>
                    <a:pt x="613" y="1448"/>
                  </a:lnTo>
                  <a:lnTo>
                    <a:pt x="600" y="1437"/>
                  </a:lnTo>
                  <a:lnTo>
                    <a:pt x="587" y="1427"/>
                  </a:lnTo>
                  <a:lnTo>
                    <a:pt x="580" y="1418"/>
                  </a:lnTo>
                  <a:lnTo>
                    <a:pt x="577" y="1416"/>
                  </a:lnTo>
                  <a:lnTo>
                    <a:pt x="577" y="1423"/>
                  </a:lnTo>
                  <a:lnTo>
                    <a:pt x="562" y="1410"/>
                  </a:lnTo>
                  <a:lnTo>
                    <a:pt x="565" y="1402"/>
                  </a:lnTo>
                  <a:lnTo>
                    <a:pt x="554" y="1383"/>
                  </a:lnTo>
                  <a:lnTo>
                    <a:pt x="547" y="1383"/>
                  </a:lnTo>
                  <a:lnTo>
                    <a:pt x="520" y="1323"/>
                  </a:lnTo>
                  <a:lnTo>
                    <a:pt x="524" y="1319"/>
                  </a:lnTo>
                  <a:lnTo>
                    <a:pt x="524" y="1304"/>
                  </a:lnTo>
                  <a:lnTo>
                    <a:pt x="555" y="1240"/>
                  </a:lnTo>
                  <a:lnTo>
                    <a:pt x="573" y="1164"/>
                  </a:lnTo>
                  <a:lnTo>
                    <a:pt x="575" y="1147"/>
                  </a:lnTo>
                  <a:lnTo>
                    <a:pt x="574" y="1134"/>
                  </a:lnTo>
                  <a:lnTo>
                    <a:pt x="571" y="1125"/>
                  </a:lnTo>
                  <a:lnTo>
                    <a:pt x="570" y="1121"/>
                  </a:lnTo>
                  <a:lnTo>
                    <a:pt x="551" y="1106"/>
                  </a:lnTo>
                  <a:lnTo>
                    <a:pt x="552" y="1096"/>
                  </a:lnTo>
                  <a:lnTo>
                    <a:pt x="559" y="1092"/>
                  </a:lnTo>
                  <a:lnTo>
                    <a:pt x="566" y="1089"/>
                  </a:lnTo>
                  <a:lnTo>
                    <a:pt x="572" y="1084"/>
                  </a:lnTo>
                  <a:lnTo>
                    <a:pt x="578" y="1080"/>
                  </a:lnTo>
                  <a:lnTo>
                    <a:pt x="582" y="1075"/>
                  </a:lnTo>
                  <a:lnTo>
                    <a:pt x="586" y="1070"/>
                  </a:lnTo>
                  <a:lnTo>
                    <a:pt x="588" y="1068"/>
                  </a:lnTo>
                  <a:lnTo>
                    <a:pt x="589" y="1067"/>
                  </a:lnTo>
                  <a:lnTo>
                    <a:pt x="594" y="1057"/>
                  </a:lnTo>
                  <a:lnTo>
                    <a:pt x="594" y="1045"/>
                  </a:lnTo>
                  <a:lnTo>
                    <a:pt x="593" y="1036"/>
                  </a:lnTo>
                  <a:lnTo>
                    <a:pt x="592" y="1032"/>
                  </a:lnTo>
                  <a:lnTo>
                    <a:pt x="587" y="1027"/>
                  </a:lnTo>
                  <a:lnTo>
                    <a:pt x="581" y="1022"/>
                  </a:lnTo>
                  <a:lnTo>
                    <a:pt x="575" y="1019"/>
                  </a:lnTo>
                  <a:lnTo>
                    <a:pt x="570" y="1016"/>
                  </a:lnTo>
                  <a:lnTo>
                    <a:pt x="565" y="1015"/>
                  </a:lnTo>
                  <a:lnTo>
                    <a:pt x="561" y="1014"/>
                  </a:lnTo>
                  <a:lnTo>
                    <a:pt x="558" y="1013"/>
                  </a:lnTo>
                  <a:lnTo>
                    <a:pt x="557" y="1013"/>
                  </a:lnTo>
                  <a:lnTo>
                    <a:pt x="552" y="1019"/>
                  </a:lnTo>
                  <a:lnTo>
                    <a:pt x="540" y="1022"/>
                  </a:lnTo>
                  <a:lnTo>
                    <a:pt x="527" y="1037"/>
                  </a:lnTo>
                  <a:lnTo>
                    <a:pt x="519" y="1052"/>
                  </a:lnTo>
                  <a:lnTo>
                    <a:pt x="517" y="1064"/>
                  </a:lnTo>
                  <a:lnTo>
                    <a:pt x="516" y="1068"/>
                  </a:lnTo>
                  <a:lnTo>
                    <a:pt x="523" y="1081"/>
                  </a:lnTo>
                  <a:lnTo>
                    <a:pt x="516" y="1081"/>
                  </a:lnTo>
                  <a:lnTo>
                    <a:pt x="491" y="1066"/>
                  </a:lnTo>
                  <a:lnTo>
                    <a:pt x="485" y="1073"/>
                  </a:lnTo>
                  <a:lnTo>
                    <a:pt x="476" y="1079"/>
                  </a:lnTo>
                  <a:lnTo>
                    <a:pt x="470" y="1081"/>
                  </a:lnTo>
                  <a:lnTo>
                    <a:pt x="464" y="1083"/>
                  </a:lnTo>
                  <a:lnTo>
                    <a:pt x="458" y="1084"/>
                  </a:lnTo>
                  <a:lnTo>
                    <a:pt x="453" y="1084"/>
                  </a:lnTo>
                  <a:lnTo>
                    <a:pt x="451" y="1084"/>
                  </a:lnTo>
                  <a:lnTo>
                    <a:pt x="450" y="1084"/>
                  </a:lnTo>
                  <a:lnTo>
                    <a:pt x="435" y="1050"/>
                  </a:lnTo>
                  <a:lnTo>
                    <a:pt x="429" y="1029"/>
                  </a:lnTo>
                  <a:lnTo>
                    <a:pt x="434" y="1022"/>
                  </a:lnTo>
                  <a:lnTo>
                    <a:pt x="436" y="1005"/>
                  </a:lnTo>
                  <a:lnTo>
                    <a:pt x="424" y="989"/>
                  </a:lnTo>
                  <a:lnTo>
                    <a:pt x="418" y="991"/>
                  </a:lnTo>
                  <a:lnTo>
                    <a:pt x="413" y="968"/>
                  </a:lnTo>
                  <a:lnTo>
                    <a:pt x="405" y="935"/>
                  </a:lnTo>
                  <a:lnTo>
                    <a:pt x="396" y="893"/>
                  </a:lnTo>
                  <a:lnTo>
                    <a:pt x="386" y="846"/>
                  </a:lnTo>
                  <a:lnTo>
                    <a:pt x="396" y="833"/>
                  </a:lnTo>
                  <a:lnTo>
                    <a:pt x="402" y="819"/>
                  </a:lnTo>
                  <a:lnTo>
                    <a:pt x="404" y="809"/>
                  </a:lnTo>
                  <a:lnTo>
                    <a:pt x="405" y="804"/>
                  </a:lnTo>
                  <a:lnTo>
                    <a:pt x="407" y="793"/>
                  </a:lnTo>
                  <a:lnTo>
                    <a:pt x="411" y="781"/>
                  </a:lnTo>
                  <a:lnTo>
                    <a:pt x="414" y="772"/>
                  </a:lnTo>
                  <a:lnTo>
                    <a:pt x="415" y="769"/>
                  </a:lnTo>
                  <a:lnTo>
                    <a:pt x="523" y="694"/>
                  </a:lnTo>
                  <a:lnTo>
                    <a:pt x="524" y="683"/>
                  </a:lnTo>
                  <a:lnTo>
                    <a:pt x="531" y="687"/>
                  </a:lnTo>
                  <a:lnTo>
                    <a:pt x="544" y="682"/>
                  </a:lnTo>
                  <a:lnTo>
                    <a:pt x="554" y="676"/>
                  </a:lnTo>
                  <a:lnTo>
                    <a:pt x="558" y="670"/>
                  </a:lnTo>
                  <a:lnTo>
                    <a:pt x="561" y="661"/>
                  </a:lnTo>
                  <a:lnTo>
                    <a:pt x="561" y="653"/>
                  </a:lnTo>
                  <a:lnTo>
                    <a:pt x="559" y="648"/>
                  </a:lnTo>
                  <a:lnTo>
                    <a:pt x="558" y="643"/>
                  </a:lnTo>
                  <a:lnTo>
                    <a:pt x="557" y="642"/>
                  </a:lnTo>
                  <a:lnTo>
                    <a:pt x="558" y="582"/>
                  </a:lnTo>
                  <a:lnTo>
                    <a:pt x="551" y="549"/>
                  </a:lnTo>
                  <a:lnTo>
                    <a:pt x="542" y="532"/>
                  </a:lnTo>
                  <a:lnTo>
                    <a:pt x="537" y="529"/>
                  </a:lnTo>
                  <a:lnTo>
                    <a:pt x="520" y="526"/>
                  </a:lnTo>
                  <a:lnTo>
                    <a:pt x="506" y="526"/>
                  </a:lnTo>
                  <a:lnTo>
                    <a:pt x="495" y="528"/>
                  </a:lnTo>
                  <a:lnTo>
                    <a:pt x="486" y="531"/>
                  </a:lnTo>
                  <a:lnTo>
                    <a:pt x="480" y="535"/>
                  </a:lnTo>
                  <a:lnTo>
                    <a:pt x="475" y="539"/>
                  </a:lnTo>
                  <a:lnTo>
                    <a:pt x="473" y="542"/>
                  </a:lnTo>
                  <a:lnTo>
                    <a:pt x="472" y="543"/>
                  </a:lnTo>
                  <a:lnTo>
                    <a:pt x="468" y="550"/>
                  </a:lnTo>
                  <a:lnTo>
                    <a:pt x="470" y="558"/>
                  </a:lnTo>
                  <a:lnTo>
                    <a:pt x="471" y="565"/>
                  </a:lnTo>
                  <a:lnTo>
                    <a:pt x="472" y="568"/>
                  </a:lnTo>
                  <a:lnTo>
                    <a:pt x="472" y="617"/>
                  </a:lnTo>
                  <a:lnTo>
                    <a:pt x="464" y="623"/>
                  </a:lnTo>
                  <a:lnTo>
                    <a:pt x="335" y="567"/>
                  </a:lnTo>
                  <a:lnTo>
                    <a:pt x="308" y="553"/>
                  </a:lnTo>
                  <a:lnTo>
                    <a:pt x="306" y="555"/>
                  </a:lnTo>
                  <a:lnTo>
                    <a:pt x="293" y="517"/>
                  </a:lnTo>
                  <a:lnTo>
                    <a:pt x="296" y="516"/>
                  </a:lnTo>
                  <a:lnTo>
                    <a:pt x="295" y="501"/>
                  </a:lnTo>
                  <a:lnTo>
                    <a:pt x="303" y="500"/>
                  </a:lnTo>
                  <a:lnTo>
                    <a:pt x="312" y="476"/>
                  </a:lnTo>
                  <a:lnTo>
                    <a:pt x="315" y="455"/>
                  </a:lnTo>
                  <a:lnTo>
                    <a:pt x="325" y="425"/>
                  </a:lnTo>
                  <a:lnTo>
                    <a:pt x="336" y="398"/>
                  </a:lnTo>
                  <a:lnTo>
                    <a:pt x="341" y="386"/>
                  </a:lnTo>
                  <a:lnTo>
                    <a:pt x="349" y="322"/>
                  </a:lnTo>
                  <a:lnTo>
                    <a:pt x="343" y="307"/>
                  </a:lnTo>
                  <a:lnTo>
                    <a:pt x="343" y="288"/>
                  </a:lnTo>
                  <a:lnTo>
                    <a:pt x="365" y="278"/>
                  </a:lnTo>
                  <a:lnTo>
                    <a:pt x="371" y="272"/>
                  </a:lnTo>
                  <a:lnTo>
                    <a:pt x="378" y="263"/>
                  </a:lnTo>
                  <a:lnTo>
                    <a:pt x="382" y="256"/>
                  </a:lnTo>
                  <a:lnTo>
                    <a:pt x="384" y="252"/>
                  </a:lnTo>
                  <a:lnTo>
                    <a:pt x="386" y="240"/>
                  </a:lnTo>
                  <a:lnTo>
                    <a:pt x="384" y="227"/>
                  </a:lnTo>
                  <a:lnTo>
                    <a:pt x="382" y="219"/>
                  </a:lnTo>
                  <a:lnTo>
                    <a:pt x="381" y="216"/>
                  </a:lnTo>
                  <a:lnTo>
                    <a:pt x="359" y="189"/>
                  </a:lnTo>
                  <a:lnTo>
                    <a:pt x="348" y="202"/>
                  </a:lnTo>
                  <a:lnTo>
                    <a:pt x="334" y="212"/>
                  </a:lnTo>
                  <a:lnTo>
                    <a:pt x="312" y="257"/>
                  </a:lnTo>
                  <a:lnTo>
                    <a:pt x="283" y="235"/>
                  </a:lnTo>
                  <a:lnTo>
                    <a:pt x="175" y="234"/>
                  </a:lnTo>
                  <a:lnTo>
                    <a:pt x="170" y="229"/>
                  </a:lnTo>
                  <a:lnTo>
                    <a:pt x="170" y="222"/>
                  </a:lnTo>
                  <a:lnTo>
                    <a:pt x="155" y="208"/>
                  </a:lnTo>
                  <a:lnTo>
                    <a:pt x="146" y="210"/>
                  </a:lnTo>
                  <a:lnTo>
                    <a:pt x="120" y="179"/>
                  </a:lnTo>
                  <a:lnTo>
                    <a:pt x="93" y="145"/>
                  </a:lnTo>
                  <a:lnTo>
                    <a:pt x="69" y="110"/>
                  </a:lnTo>
                  <a:lnTo>
                    <a:pt x="46" y="76"/>
                  </a:lnTo>
                  <a:lnTo>
                    <a:pt x="28" y="46"/>
                  </a:lnTo>
                  <a:lnTo>
                    <a:pt x="13" y="22"/>
                  </a:lnTo>
                  <a:lnTo>
                    <a:pt x="3" y="6"/>
                  </a:lnTo>
                  <a:lnTo>
                    <a:pt x="0" y="0"/>
                  </a:lnTo>
                  <a:lnTo>
                    <a:pt x="1" y="27"/>
                  </a:lnTo>
                  <a:lnTo>
                    <a:pt x="12" y="44"/>
                  </a:lnTo>
                  <a:lnTo>
                    <a:pt x="24" y="66"/>
                  </a:lnTo>
                  <a:lnTo>
                    <a:pt x="39" y="90"/>
                  </a:lnTo>
                  <a:lnTo>
                    <a:pt x="58" y="116"/>
                  </a:lnTo>
                  <a:lnTo>
                    <a:pt x="76" y="143"/>
                  </a:lnTo>
                  <a:lnTo>
                    <a:pt x="96" y="171"/>
                  </a:lnTo>
                  <a:lnTo>
                    <a:pt x="116" y="196"/>
                  </a:lnTo>
                  <a:lnTo>
                    <a:pt x="137" y="220"/>
                  </a:lnTo>
                  <a:lnTo>
                    <a:pt x="128" y="228"/>
                  </a:lnTo>
                  <a:lnTo>
                    <a:pt x="155" y="267"/>
                  </a:lnTo>
                  <a:lnTo>
                    <a:pt x="159" y="266"/>
                  </a:lnTo>
                  <a:lnTo>
                    <a:pt x="200" y="358"/>
                  </a:lnTo>
                  <a:lnTo>
                    <a:pt x="209" y="346"/>
                  </a:lnTo>
                  <a:lnTo>
                    <a:pt x="172" y="262"/>
                  </a:lnTo>
                  <a:lnTo>
                    <a:pt x="178" y="259"/>
                  </a:lnTo>
                  <a:lnTo>
                    <a:pt x="188" y="261"/>
                  </a:lnTo>
                  <a:lnTo>
                    <a:pt x="196" y="269"/>
                  </a:lnTo>
                  <a:lnTo>
                    <a:pt x="252" y="275"/>
                  </a:lnTo>
                  <a:lnTo>
                    <a:pt x="244" y="300"/>
                  </a:lnTo>
                  <a:lnTo>
                    <a:pt x="209" y="346"/>
                  </a:lnTo>
                  <a:lnTo>
                    <a:pt x="200" y="358"/>
                  </a:lnTo>
                  <a:lnTo>
                    <a:pt x="192" y="370"/>
                  </a:lnTo>
                  <a:lnTo>
                    <a:pt x="109" y="338"/>
                  </a:lnTo>
                  <a:lnTo>
                    <a:pt x="106" y="396"/>
                  </a:lnTo>
                  <a:lnTo>
                    <a:pt x="145" y="423"/>
                  </a:lnTo>
                  <a:lnTo>
                    <a:pt x="176" y="447"/>
                  </a:lnTo>
                  <a:lnTo>
                    <a:pt x="132" y="517"/>
                  </a:lnTo>
                  <a:lnTo>
                    <a:pt x="180" y="529"/>
                  </a:lnTo>
                  <a:lnTo>
                    <a:pt x="186" y="515"/>
                  </a:lnTo>
                  <a:lnTo>
                    <a:pt x="252" y="473"/>
                  </a:lnTo>
                  <a:lnTo>
                    <a:pt x="258" y="487"/>
                  </a:lnTo>
                  <a:lnTo>
                    <a:pt x="254" y="494"/>
                  </a:lnTo>
                  <a:lnTo>
                    <a:pt x="270" y="530"/>
                  </a:lnTo>
                  <a:lnTo>
                    <a:pt x="281" y="523"/>
                  </a:lnTo>
                  <a:lnTo>
                    <a:pt x="293" y="561"/>
                  </a:lnTo>
                  <a:lnTo>
                    <a:pt x="288" y="565"/>
                  </a:lnTo>
                  <a:lnTo>
                    <a:pt x="312" y="613"/>
                  </a:lnTo>
                  <a:lnTo>
                    <a:pt x="319" y="613"/>
                  </a:lnTo>
                  <a:lnTo>
                    <a:pt x="346" y="733"/>
                  </a:lnTo>
                  <a:lnTo>
                    <a:pt x="359" y="727"/>
                  </a:lnTo>
                  <a:lnTo>
                    <a:pt x="350" y="690"/>
                  </a:lnTo>
                  <a:lnTo>
                    <a:pt x="343" y="658"/>
                  </a:lnTo>
                  <a:lnTo>
                    <a:pt x="337" y="632"/>
                  </a:lnTo>
                  <a:lnTo>
                    <a:pt x="334" y="613"/>
                  </a:lnTo>
                  <a:lnTo>
                    <a:pt x="343" y="613"/>
                  </a:lnTo>
                  <a:lnTo>
                    <a:pt x="346" y="628"/>
                  </a:lnTo>
                  <a:lnTo>
                    <a:pt x="352" y="634"/>
                  </a:lnTo>
                  <a:lnTo>
                    <a:pt x="363" y="640"/>
                  </a:lnTo>
                  <a:lnTo>
                    <a:pt x="375" y="645"/>
                  </a:lnTo>
                  <a:lnTo>
                    <a:pt x="389" y="650"/>
                  </a:lnTo>
                  <a:lnTo>
                    <a:pt x="402" y="656"/>
                  </a:lnTo>
                  <a:lnTo>
                    <a:pt x="413" y="659"/>
                  </a:lnTo>
                  <a:lnTo>
                    <a:pt x="420" y="661"/>
                  </a:lnTo>
                  <a:lnTo>
                    <a:pt x="424" y="663"/>
                  </a:lnTo>
                  <a:lnTo>
                    <a:pt x="410" y="661"/>
                  </a:lnTo>
                  <a:lnTo>
                    <a:pt x="401" y="663"/>
                  </a:lnTo>
                  <a:lnTo>
                    <a:pt x="396" y="666"/>
                  </a:lnTo>
                  <a:lnTo>
                    <a:pt x="394" y="667"/>
                  </a:lnTo>
                  <a:lnTo>
                    <a:pt x="389" y="673"/>
                  </a:lnTo>
                  <a:lnTo>
                    <a:pt x="387" y="682"/>
                  </a:lnTo>
                  <a:lnTo>
                    <a:pt x="384" y="691"/>
                  </a:lnTo>
                  <a:lnTo>
                    <a:pt x="384" y="695"/>
                  </a:lnTo>
                  <a:lnTo>
                    <a:pt x="359" y="727"/>
                  </a:lnTo>
                  <a:lnTo>
                    <a:pt x="346" y="733"/>
                  </a:lnTo>
                  <a:lnTo>
                    <a:pt x="329" y="733"/>
                  </a:lnTo>
                  <a:lnTo>
                    <a:pt x="317" y="726"/>
                  </a:lnTo>
                  <a:lnTo>
                    <a:pt x="304" y="721"/>
                  </a:lnTo>
                  <a:lnTo>
                    <a:pt x="290" y="718"/>
                  </a:lnTo>
                  <a:lnTo>
                    <a:pt x="276" y="717"/>
                  </a:lnTo>
                  <a:lnTo>
                    <a:pt x="265" y="716"/>
                  </a:lnTo>
                  <a:lnTo>
                    <a:pt x="256" y="716"/>
                  </a:lnTo>
                  <a:lnTo>
                    <a:pt x="250" y="716"/>
                  </a:lnTo>
                  <a:lnTo>
                    <a:pt x="247" y="716"/>
                  </a:lnTo>
                  <a:lnTo>
                    <a:pt x="238" y="735"/>
                  </a:lnTo>
                  <a:lnTo>
                    <a:pt x="154" y="849"/>
                  </a:lnTo>
                  <a:lnTo>
                    <a:pt x="153" y="895"/>
                  </a:lnTo>
                  <a:lnTo>
                    <a:pt x="244" y="809"/>
                  </a:lnTo>
                  <a:lnTo>
                    <a:pt x="239" y="910"/>
                  </a:lnTo>
                  <a:lnTo>
                    <a:pt x="176" y="1083"/>
                  </a:lnTo>
                  <a:lnTo>
                    <a:pt x="152" y="1068"/>
                  </a:lnTo>
                  <a:lnTo>
                    <a:pt x="155" y="1102"/>
                  </a:lnTo>
                  <a:lnTo>
                    <a:pt x="173" y="1115"/>
                  </a:lnTo>
                  <a:lnTo>
                    <a:pt x="159" y="1133"/>
                  </a:lnTo>
                  <a:lnTo>
                    <a:pt x="161" y="1145"/>
                  </a:lnTo>
                  <a:lnTo>
                    <a:pt x="192" y="1120"/>
                  </a:lnTo>
                  <a:lnTo>
                    <a:pt x="197" y="1111"/>
                  </a:lnTo>
                  <a:lnTo>
                    <a:pt x="198" y="1096"/>
                  </a:lnTo>
                  <a:lnTo>
                    <a:pt x="197" y="1083"/>
                  </a:lnTo>
                  <a:lnTo>
                    <a:pt x="197" y="1077"/>
                  </a:lnTo>
                  <a:lnTo>
                    <a:pt x="256" y="984"/>
                  </a:lnTo>
                  <a:lnTo>
                    <a:pt x="262" y="970"/>
                  </a:lnTo>
                  <a:lnTo>
                    <a:pt x="285" y="952"/>
                  </a:lnTo>
                  <a:lnTo>
                    <a:pt x="305" y="933"/>
                  </a:lnTo>
                  <a:lnTo>
                    <a:pt x="320" y="914"/>
                  </a:lnTo>
                  <a:lnTo>
                    <a:pt x="333" y="897"/>
                  </a:lnTo>
                  <a:lnTo>
                    <a:pt x="342" y="880"/>
                  </a:lnTo>
                  <a:lnTo>
                    <a:pt x="349" y="869"/>
                  </a:lnTo>
                  <a:lnTo>
                    <a:pt x="352" y="861"/>
                  </a:lnTo>
                  <a:lnTo>
                    <a:pt x="353" y="857"/>
                  </a:lnTo>
                  <a:lnTo>
                    <a:pt x="371" y="853"/>
                  </a:lnTo>
                  <a:lnTo>
                    <a:pt x="372" y="853"/>
                  </a:lnTo>
                  <a:lnTo>
                    <a:pt x="373" y="853"/>
                  </a:lnTo>
                  <a:lnTo>
                    <a:pt x="405" y="997"/>
                  </a:lnTo>
                  <a:lnTo>
                    <a:pt x="398" y="1020"/>
                  </a:lnTo>
                  <a:lnTo>
                    <a:pt x="392" y="1031"/>
                  </a:lnTo>
                  <a:lnTo>
                    <a:pt x="413" y="1129"/>
                  </a:lnTo>
                  <a:lnTo>
                    <a:pt x="420" y="1134"/>
                  </a:lnTo>
                  <a:lnTo>
                    <a:pt x="442" y="1133"/>
                  </a:lnTo>
                  <a:lnTo>
                    <a:pt x="443" y="1137"/>
                  </a:lnTo>
                  <a:lnTo>
                    <a:pt x="444" y="1141"/>
                  </a:lnTo>
                  <a:lnTo>
                    <a:pt x="444" y="1145"/>
                  </a:lnTo>
                  <a:lnTo>
                    <a:pt x="445" y="1149"/>
                  </a:lnTo>
                  <a:lnTo>
                    <a:pt x="439" y="1167"/>
                  </a:lnTo>
                  <a:lnTo>
                    <a:pt x="434" y="1186"/>
                  </a:lnTo>
                  <a:lnTo>
                    <a:pt x="430" y="1201"/>
                  </a:lnTo>
                  <a:lnTo>
                    <a:pt x="429" y="1206"/>
                  </a:lnTo>
                  <a:lnTo>
                    <a:pt x="340" y="1235"/>
                  </a:lnTo>
                  <a:lnTo>
                    <a:pt x="290" y="1265"/>
                  </a:lnTo>
                  <a:lnTo>
                    <a:pt x="325" y="1311"/>
                  </a:lnTo>
                  <a:lnTo>
                    <a:pt x="342" y="1308"/>
                  </a:lnTo>
                  <a:lnTo>
                    <a:pt x="391" y="1316"/>
                  </a:lnTo>
                  <a:lnTo>
                    <a:pt x="453" y="1297"/>
                  </a:lnTo>
                  <a:lnTo>
                    <a:pt x="480" y="1279"/>
                  </a:lnTo>
                  <a:lnTo>
                    <a:pt x="480" y="1278"/>
                  </a:lnTo>
                  <a:lnTo>
                    <a:pt x="482" y="1284"/>
                  </a:lnTo>
                  <a:lnTo>
                    <a:pt x="483" y="1288"/>
                  </a:lnTo>
                  <a:lnTo>
                    <a:pt x="486" y="1293"/>
                  </a:lnTo>
                  <a:lnTo>
                    <a:pt x="487" y="1297"/>
                  </a:lnTo>
                  <a:lnTo>
                    <a:pt x="479" y="1311"/>
                  </a:lnTo>
                  <a:lnTo>
                    <a:pt x="505" y="1341"/>
                  </a:lnTo>
                  <a:lnTo>
                    <a:pt x="510" y="1335"/>
                  </a:lnTo>
                  <a:lnTo>
                    <a:pt x="535" y="1386"/>
                  </a:lnTo>
                  <a:lnTo>
                    <a:pt x="525" y="1392"/>
                  </a:lnTo>
                  <a:lnTo>
                    <a:pt x="537" y="1423"/>
                  </a:lnTo>
                  <a:lnTo>
                    <a:pt x="546" y="1430"/>
                  </a:lnTo>
                  <a:lnTo>
                    <a:pt x="602" y="1615"/>
                  </a:lnTo>
                  <a:lnTo>
                    <a:pt x="610" y="1596"/>
                  </a:lnTo>
                  <a:lnTo>
                    <a:pt x="563" y="1439"/>
                  </a:lnTo>
                  <a:lnTo>
                    <a:pt x="573" y="1444"/>
                  </a:lnTo>
                  <a:lnTo>
                    <a:pt x="573" y="1451"/>
                  </a:lnTo>
                  <a:lnTo>
                    <a:pt x="642" y="1520"/>
                  </a:lnTo>
                  <a:lnTo>
                    <a:pt x="610" y="1596"/>
                  </a:lnTo>
                  <a:lnTo>
                    <a:pt x="602" y="1615"/>
                  </a:lnTo>
                  <a:lnTo>
                    <a:pt x="597" y="1627"/>
                  </a:lnTo>
                  <a:lnTo>
                    <a:pt x="493" y="1598"/>
                  </a:lnTo>
                  <a:lnTo>
                    <a:pt x="482" y="1605"/>
                  </a:lnTo>
                  <a:lnTo>
                    <a:pt x="456" y="1613"/>
                  </a:lnTo>
                  <a:lnTo>
                    <a:pt x="433" y="1620"/>
                  </a:lnTo>
                  <a:lnTo>
                    <a:pt x="412" y="1625"/>
                  </a:lnTo>
                  <a:lnTo>
                    <a:pt x="394" y="1627"/>
                  </a:lnTo>
                  <a:lnTo>
                    <a:pt x="379" y="1629"/>
                  </a:lnTo>
                  <a:lnTo>
                    <a:pt x="365" y="1630"/>
                  </a:lnTo>
                  <a:lnTo>
                    <a:pt x="354" y="1630"/>
                  </a:lnTo>
                  <a:lnTo>
                    <a:pt x="346" y="1629"/>
                  </a:lnTo>
                  <a:lnTo>
                    <a:pt x="356" y="1662"/>
                  </a:lnTo>
                  <a:lnTo>
                    <a:pt x="457" y="1665"/>
                  </a:lnTo>
                  <a:lnTo>
                    <a:pt x="364" y="1796"/>
                  </a:lnTo>
                  <a:lnTo>
                    <a:pt x="381" y="1827"/>
                  </a:lnTo>
                  <a:lnTo>
                    <a:pt x="404" y="1811"/>
                  </a:lnTo>
                  <a:lnTo>
                    <a:pt x="418" y="1800"/>
                  </a:lnTo>
                  <a:lnTo>
                    <a:pt x="433" y="1784"/>
                  </a:lnTo>
                  <a:lnTo>
                    <a:pt x="445" y="1765"/>
                  </a:lnTo>
                  <a:lnTo>
                    <a:pt x="457" y="1746"/>
                  </a:lnTo>
                  <a:lnTo>
                    <a:pt x="467" y="1728"/>
                  </a:lnTo>
                  <a:lnTo>
                    <a:pt x="475" y="1713"/>
                  </a:lnTo>
                  <a:lnTo>
                    <a:pt x="480" y="1703"/>
                  </a:lnTo>
                  <a:lnTo>
                    <a:pt x="482" y="1700"/>
                  </a:lnTo>
                  <a:lnTo>
                    <a:pt x="488" y="1708"/>
                  </a:lnTo>
                  <a:lnTo>
                    <a:pt x="498" y="1713"/>
                  </a:lnTo>
                  <a:lnTo>
                    <a:pt x="516" y="1717"/>
                  </a:lnTo>
                  <a:lnTo>
                    <a:pt x="536" y="1719"/>
                  </a:lnTo>
                  <a:lnTo>
                    <a:pt x="559" y="1719"/>
                  </a:lnTo>
                  <a:lnTo>
                    <a:pt x="581" y="1719"/>
                  </a:lnTo>
                  <a:lnTo>
                    <a:pt x="600" y="1718"/>
                  </a:lnTo>
                  <a:lnTo>
                    <a:pt x="612" y="1717"/>
                  </a:lnTo>
                  <a:lnTo>
                    <a:pt x="617" y="1717"/>
                  </a:lnTo>
                  <a:lnTo>
                    <a:pt x="619" y="1730"/>
                  </a:lnTo>
                  <a:lnTo>
                    <a:pt x="636" y="1754"/>
                  </a:lnTo>
                  <a:lnTo>
                    <a:pt x="646" y="1750"/>
                  </a:lnTo>
                  <a:lnTo>
                    <a:pt x="649" y="1769"/>
                  </a:lnTo>
                  <a:lnTo>
                    <a:pt x="654" y="1795"/>
                  </a:lnTo>
                  <a:lnTo>
                    <a:pt x="655" y="1827"/>
                  </a:lnTo>
                  <a:lnTo>
                    <a:pt x="651" y="1859"/>
                  </a:lnTo>
                  <a:lnTo>
                    <a:pt x="651" y="1860"/>
                  </a:lnTo>
                  <a:lnTo>
                    <a:pt x="650" y="1870"/>
                  </a:lnTo>
                  <a:lnTo>
                    <a:pt x="647" y="1894"/>
                  </a:lnTo>
                  <a:lnTo>
                    <a:pt x="643" y="1929"/>
                  </a:lnTo>
                  <a:lnTo>
                    <a:pt x="641" y="1968"/>
                  </a:lnTo>
                  <a:lnTo>
                    <a:pt x="641" y="2008"/>
                  </a:lnTo>
                  <a:lnTo>
                    <a:pt x="645" y="2048"/>
                  </a:lnTo>
                  <a:lnTo>
                    <a:pt x="653" y="2081"/>
                  </a:lnTo>
                  <a:lnTo>
                    <a:pt x="665" y="2104"/>
                  </a:lnTo>
                  <a:lnTo>
                    <a:pt x="676" y="2094"/>
                  </a:lnTo>
                  <a:lnTo>
                    <a:pt x="659" y="2051"/>
                  </a:lnTo>
                  <a:lnTo>
                    <a:pt x="655" y="1985"/>
                  </a:lnTo>
                  <a:lnTo>
                    <a:pt x="659" y="1916"/>
                  </a:lnTo>
                  <a:lnTo>
                    <a:pt x="665" y="1862"/>
                  </a:lnTo>
                  <a:lnTo>
                    <a:pt x="670" y="1826"/>
                  </a:lnTo>
                  <a:lnTo>
                    <a:pt x="668" y="1792"/>
                  </a:lnTo>
                  <a:lnTo>
                    <a:pt x="663" y="1763"/>
                  </a:lnTo>
                  <a:lnTo>
                    <a:pt x="658" y="1745"/>
                  </a:lnTo>
                  <a:lnTo>
                    <a:pt x="668" y="1739"/>
                  </a:lnTo>
                  <a:lnTo>
                    <a:pt x="671" y="1731"/>
                  </a:lnTo>
                  <a:lnTo>
                    <a:pt x="678" y="1723"/>
                  </a:lnTo>
                  <a:lnTo>
                    <a:pt x="685" y="1716"/>
                  </a:lnTo>
                  <a:lnTo>
                    <a:pt x="693" y="1710"/>
                  </a:lnTo>
                  <a:lnTo>
                    <a:pt x="701" y="1705"/>
                  </a:lnTo>
                  <a:lnTo>
                    <a:pt x="708" y="1702"/>
                  </a:lnTo>
                  <a:lnTo>
                    <a:pt x="712" y="1701"/>
                  </a:lnTo>
                  <a:lnTo>
                    <a:pt x="715" y="1700"/>
                  </a:lnTo>
                  <a:lnTo>
                    <a:pt x="701" y="16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57" name="Freeform 14"/>
            <p:cNvSpPr>
              <a:spLocks/>
            </p:cNvSpPr>
            <p:nvPr/>
          </p:nvSpPr>
          <p:spPr bwMode="auto">
            <a:xfrm>
              <a:off x="4715" y="2313"/>
              <a:ext cx="15" cy="21"/>
            </a:xfrm>
            <a:custGeom>
              <a:avLst/>
              <a:gdLst>
                <a:gd name="T0" fmla="*/ 1 w 30"/>
                <a:gd name="T1" fmla="*/ 0 h 43"/>
                <a:gd name="T2" fmla="*/ 0 w 30"/>
                <a:gd name="T3" fmla="*/ 0 h 43"/>
                <a:gd name="T4" fmla="*/ 1 w 30"/>
                <a:gd name="T5" fmla="*/ 0 h 43"/>
                <a:gd name="T6" fmla="*/ 1 w 30"/>
                <a:gd name="T7" fmla="*/ 0 h 43"/>
                <a:gd name="T8" fmla="*/ 1 w 30"/>
                <a:gd name="T9" fmla="*/ 0 h 43"/>
                <a:gd name="T10" fmla="*/ 1 w 30"/>
                <a:gd name="T11" fmla="*/ 0 h 43"/>
                <a:gd name="T12" fmla="*/ 1 w 30"/>
                <a:gd name="T13" fmla="*/ 0 h 43"/>
                <a:gd name="T14" fmla="*/ 1 w 30"/>
                <a:gd name="T15" fmla="*/ 0 h 43"/>
                <a:gd name="T16" fmla="*/ 0 60000 65536"/>
                <a:gd name="T17" fmla="*/ 0 60000 65536"/>
                <a:gd name="T18" fmla="*/ 0 60000 65536"/>
                <a:gd name="T19" fmla="*/ 0 60000 65536"/>
                <a:gd name="T20" fmla="*/ 0 60000 65536"/>
                <a:gd name="T21" fmla="*/ 0 60000 65536"/>
                <a:gd name="T22" fmla="*/ 0 60000 65536"/>
                <a:gd name="T23" fmla="*/ 0 60000 65536"/>
                <a:gd name="T24" fmla="*/ 0 w 30"/>
                <a:gd name="T25" fmla="*/ 0 h 43"/>
                <a:gd name="T26" fmla="*/ 30 w 30"/>
                <a:gd name="T27" fmla="*/ 43 h 4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 h="43">
                  <a:moveTo>
                    <a:pt x="14" y="0"/>
                  </a:moveTo>
                  <a:lnTo>
                    <a:pt x="0" y="17"/>
                  </a:lnTo>
                  <a:lnTo>
                    <a:pt x="18" y="43"/>
                  </a:lnTo>
                  <a:lnTo>
                    <a:pt x="30" y="39"/>
                  </a:lnTo>
                  <a:lnTo>
                    <a:pt x="23" y="19"/>
                  </a:lnTo>
                  <a:lnTo>
                    <a:pt x="23" y="10"/>
                  </a:lnTo>
                  <a:lnTo>
                    <a:pt x="14" y="0"/>
                  </a:lnTo>
                  <a:close/>
                </a:path>
              </a:pathLst>
            </a:custGeom>
            <a:solidFill>
              <a:srgbClr val="CC998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58" name="Freeform 15"/>
            <p:cNvSpPr>
              <a:spLocks/>
            </p:cNvSpPr>
            <p:nvPr/>
          </p:nvSpPr>
          <p:spPr bwMode="auto">
            <a:xfrm>
              <a:off x="4805" y="2310"/>
              <a:ext cx="26" cy="28"/>
            </a:xfrm>
            <a:custGeom>
              <a:avLst/>
              <a:gdLst>
                <a:gd name="T0" fmla="*/ 1 w 51"/>
                <a:gd name="T1" fmla="*/ 0 h 58"/>
                <a:gd name="T2" fmla="*/ 1 w 51"/>
                <a:gd name="T3" fmla="*/ 0 h 58"/>
                <a:gd name="T4" fmla="*/ 1 w 51"/>
                <a:gd name="T5" fmla="*/ 0 h 58"/>
                <a:gd name="T6" fmla="*/ 1 w 51"/>
                <a:gd name="T7" fmla="*/ 0 h 58"/>
                <a:gd name="T8" fmla="*/ 1 w 51"/>
                <a:gd name="T9" fmla="*/ 0 h 58"/>
                <a:gd name="T10" fmla="*/ 1 w 51"/>
                <a:gd name="T11" fmla="*/ 0 h 58"/>
                <a:gd name="T12" fmla="*/ 1 w 51"/>
                <a:gd name="T13" fmla="*/ 0 h 58"/>
                <a:gd name="T14" fmla="*/ 1 w 51"/>
                <a:gd name="T15" fmla="*/ 0 h 58"/>
                <a:gd name="T16" fmla="*/ 1 w 51"/>
                <a:gd name="T17" fmla="*/ 0 h 58"/>
                <a:gd name="T18" fmla="*/ 1 w 51"/>
                <a:gd name="T19" fmla="*/ 0 h 58"/>
                <a:gd name="T20" fmla="*/ 1 w 51"/>
                <a:gd name="T21" fmla="*/ 0 h 58"/>
                <a:gd name="T22" fmla="*/ 1 w 51"/>
                <a:gd name="T23" fmla="*/ 0 h 58"/>
                <a:gd name="T24" fmla="*/ 1 w 51"/>
                <a:gd name="T25" fmla="*/ 0 h 58"/>
                <a:gd name="T26" fmla="*/ 1 w 51"/>
                <a:gd name="T27" fmla="*/ 0 h 58"/>
                <a:gd name="T28" fmla="*/ 1 w 51"/>
                <a:gd name="T29" fmla="*/ 0 h 58"/>
                <a:gd name="T30" fmla="*/ 1 w 51"/>
                <a:gd name="T31" fmla="*/ 0 h 58"/>
                <a:gd name="T32" fmla="*/ 1 w 51"/>
                <a:gd name="T33" fmla="*/ 0 h 58"/>
                <a:gd name="T34" fmla="*/ 1 w 51"/>
                <a:gd name="T35" fmla="*/ 0 h 58"/>
                <a:gd name="T36" fmla="*/ 1 w 51"/>
                <a:gd name="T37" fmla="*/ 0 h 58"/>
                <a:gd name="T38" fmla="*/ 1 w 51"/>
                <a:gd name="T39" fmla="*/ 0 h 58"/>
                <a:gd name="T40" fmla="*/ 1 w 51"/>
                <a:gd name="T41" fmla="*/ 0 h 58"/>
                <a:gd name="T42" fmla="*/ 1 w 51"/>
                <a:gd name="T43" fmla="*/ 0 h 58"/>
                <a:gd name="T44" fmla="*/ 1 w 51"/>
                <a:gd name="T45" fmla="*/ 0 h 58"/>
                <a:gd name="T46" fmla="*/ 1 w 51"/>
                <a:gd name="T47" fmla="*/ 0 h 58"/>
                <a:gd name="T48" fmla="*/ 1 w 51"/>
                <a:gd name="T49" fmla="*/ 0 h 58"/>
                <a:gd name="T50" fmla="*/ 1 w 51"/>
                <a:gd name="T51" fmla="*/ 0 h 58"/>
                <a:gd name="T52" fmla="*/ 1 w 51"/>
                <a:gd name="T53" fmla="*/ 0 h 58"/>
                <a:gd name="T54" fmla="*/ 1 w 51"/>
                <a:gd name="T55" fmla="*/ 0 h 58"/>
                <a:gd name="T56" fmla="*/ 1 w 51"/>
                <a:gd name="T57" fmla="*/ 0 h 58"/>
                <a:gd name="T58" fmla="*/ 1 w 51"/>
                <a:gd name="T59" fmla="*/ 0 h 58"/>
                <a:gd name="T60" fmla="*/ 1 w 51"/>
                <a:gd name="T61" fmla="*/ 0 h 58"/>
                <a:gd name="T62" fmla="*/ 0 w 51"/>
                <a:gd name="T63" fmla="*/ 0 h 58"/>
                <a:gd name="T64" fmla="*/ 1 w 51"/>
                <a:gd name="T65" fmla="*/ 0 h 58"/>
                <a:gd name="T66" fmla="*/ 1 w 51"/>
                <a:gd name="T67" fmla="*/ 0 h 58"/>
                <a:gd name="T68" fmla="*/ 1 w 51"/>
                <a:gd name="T69" fmla="*/ 0 h 58"/>
                <a:gd name="T70" fmla="*/ 1 w 51"/>
                <a:gd name="T71" fmla="*/ 0 h 58"/>
                <a:gd name="T72" fmla="*/ 1 w 51"/>
                <a:gd name="T73" fmla="*/ 0 h 58"/>
                <a:gd name="T74" fmla="*/ 1 w 51"/>
                <a:gd name="T75" fmla="*/ 0 h 58"/>
                <a:gd name="T76" fmla="*/ 1 w 51"/>
                <a:gd name="T77" fmla="*/ 0 h 58"/>
                <a:gd name="T78" fmla="*/ 1 w 51"/>
                <a:gd name="T79" fmla="*/ 0 h 58"/>
                <a:gd name="T80" fmla="*/ 1 w 51"/>
                <a:gd name="T81" fmla="*/ 0 h 58"/>
                <a:gd name="T82" fmla="*/ 1 w 51"/>
                <a:gd name="T83" fmla="*/ 0 h 58"/>
                <a:gd name="T84" fmla="*/ 1 w 51"/>
                <a:gd name="T85" fmla="*/ 0 h 58"/>
                <a:gd name="T86" fmla="*/ 1 w 51"/>
                <a:gd name="T87" fmla="*/ 0 h 58"/>
                <a:gd name="T88" fmla="*/ 1 w 51"/>
                <a:gd name="T89" fmla="*/ 0 h 58"/>
                <a:gd name="T90" fmla="*/ 1 w 51"/>
                <a:gd name="T91" fmla="*/ 0 h 58"/>
                <a:gd name="T92" fmla="*/ 1 w 51"/>
                <a:gd name="T93" fmla="*/ 0 h 58"/>
                <a:gd name="T94" fmla="*/ 1 w 51"/>
                <a:gd name="T95" fmla="*/ 0 h 58"/>
                <a:gd name="T96" fmla="*/ 1 w 51"/>
                <a:gd name="T97" fmla="*/ 0 h 58"/>
                <a:gd name="T98" fmla="*/ 1 w 51"/>
                <a:gd name="T99" fmla="*/ 0 h 58"/>
                <a:gd name="T100" fmla="*/ 1 w 51"/>
                <a:gd name="T101" fmla="*/ 0 h 58"/>
                <a:gd name="T102" fmla="*/ 1 w 51"/>
                <a:gd name="T103" fmla="*/ 0 h 58"/>
                <a:gd name="T104" fmla="*/ 1 w 51"/>
                <a:gd name="T105" fmla="*/ 0 h 58"/>
                <a:gd name="T106" fmla="*/ 1 w 51"/>
                <a:gd name="T107" fmla="*/ 0 h 58"/>
                <a:gd name="T108" fmla="*/ 1 w 51"/>
                <a:gd name="T109" fmla="*/ 0 h 58"/>
                <a:gd name="T110" fmla="*/ 1 w 51"/>
                <a:gd name="T111" fmla="*/ 0 h 58"/>
                <a:gd name="T112" fmla="*/ 1 w 51"/>
                <a:gd name="T113" fmla="*/ 0 h 5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1"/>
                <a:gd name="T172" fmla="*/ 0 h 58"/>
                <a:gd name="T173" fmla="*/ 51 w 51"/>
                <a:gd name="T174" fmla="*/ 58 h 5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1" h="58">
                  <a:moveTo>
                    <a:pt x="18" y="7"/>
                  </a:moveTo>
                  <a:lnTo>
                    <a:pt x="32" y="0"/>
                  </a:lnTo>
                  <a:lnTo>
                    <a:pt x="33" y="0"/>
                  </a:lnTo>
                  <a:lnTo>
                    <a:pt x="38" y="0"/>
                  </a:lnTo>
                  <a:lnTo>
                    <a:pt x="41" y="1"/>
                  </a:lnTo>
                  <a:lnTo>
                    <a:pt x="46" y="7"/>
                  </a:lnTo>
                  <a:lnTo>
                    <a:pt x="51" y="17"/>
                  </a:lnTo>
                  <a:lnTo>
                    <a:pt x="51" y="20"/>
                  </a:lnTo>
                  <a:lnTo>
                    <a:pt x="49" y="24"/>
                  </a:lnTo>
                  <a:lnTo>
                    <a:pt x="48" y="30"/>
                  </a:lnTo>
                  <a:lnTo>
                    <a:pt x="45" y="32"/>
                  </a:lnTo>
                  <a:lnTo>
                    <a:pt x="44" y="36"/>
                  </a:lnTo>
                  <a:lnTo>
                    <a:pt x="46" y="39"/>
                  </a:lnTo>
                  <a:lnTo>
                    <a:pt x="47" y="38"/>
                  </a:lnTo>
                  <a:lnTo>
                    <a:pt x="48" y="38"/>
                  </a:lnTo>
                  <a:lnTo>
                    <a:pt x="51" y="39"/>
                  </a:lnTo>
                  <a:lnTo>
                    <a:pt x="51" y="41"/>
                  </a:lnTo>
                  <a:lnTo>
                    <a:pt x="49" y="44"/>
                  </a:lnTo>
                  <a:lnTo>
                    <a:pt x="46" y="49"/>
                  </a:lnTo>
                  <a:lnTo>
                    <a:pt x="41" y="50"/>
                  </a:lnTo>
                  <a:lnTo>
                    <a:pt x="38" y="52"/>
                  </a:lnTo>
                  <a:lnTo>
                    <a:pt x="34" y="49"/>
                  </a:lnTo>
                  <a:lnTo>
                    <a:pt x="31" y="49"/>
                  </a:lnTo>
                  <a:lnTo>
                    <a:pt x="26" y="58"/>
                  </a:lnTo>
                  <a:lnTo>
                    <a:pt x="0" y="57"/>
                  </a:lnTo>
                  <a:lnTo>
                    <a:pt x="1" y="43"/>
                  </a:lnTo>
                  <a:lnTo>
                    <a:pt x="3" y="39"/>
                  </a:lnTo>
                  <a:lnTo>
                    <a:pt x="8" y="42"/>
                  </a:lnTo>
                  <a:lnTo>
                    <a:pt x="8" y="43"/>
                  </a:lnTo>
                  <a:lnTo>
                    <a:pt x="11" y="42"/>
                  </a:lnTo>
                  <a:lnTo>
                    <a:pt x="10" y="39"/>
                  </a:lnTo>
                  <a:lnTo>
                    <a:pt x="6" y="34"/>
                  </a:lnTo>
                  <a:lnTo>
                    <a:pt x="8" y="31"/>
                  </a:lnTo>
                  <a:lnTo>
                    <a:pt x="11" y="32"/>
                  </a:lnTo>
                  <a:lnTo>
                    <a:pt x="10" y="26"/>
                  </a:lnTo>
                  <a:lnTo>
                    <a:pt x="16" y="19"/>
                  </a:lnTo>
                  <a:lnTo>
                    <a:pt x="21" y="20"/>
                  </a:lnTo>
                  <a:lnTo>
                    <a:pt x="23" y="27"/>
                  </a:lnTo>
                  <a:lnTo>
                    <a:pt x="26" y="32"/>
                  </a:lnTo>
                  <a:lnTo>
                    <a:pt x="36" y="31"/>
                  </a:lnTo>
                  <a:lnTo>
                    <a:pt x="38" y="24"/>
                  </a:lnTo>
                  <a:lnTo>
                    <a:pt x="37" y="23"/>
                  </a:lnTo>
                  <a:lnTo>
                    <a:pt x="34" y="19"/>
                  </a:lnTo>
                  <a:lnTo>
                    <a:pt x="30" y="14"/>
                  </a:lnTo>
                  <a:lnTo>
                    <a:pt x="22" y="11"/>
                  </a:lnTo>
                  <a:lnTo>
                    <a:pt x="16" y="11"/>
                  </a:lnTo>
                  <a:lnTo>
                    <a:pt x="18" y="7"/>
                  </a:lnTo>
                  <a:close/>
                </a:path>
              </a:pathLst>
            </a:custGeom>
            <a:solidFill>
              <a:srgbClr val="CC998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59" name="Freeform 16"/>
            <p:cNvSpPr>
              <a:spLocks/>
            </p:cNvSpPr>
            <p:nvPr/>
          </p:nvSpPr>
          <p:spPr bwMode="auto">
            <a:xfrm>
              <a:off x="4786" y="2342"/>
              <a:ext cx="28" cy="25"/>
            </a:xfrm>
            <a:custGeom>
              <a:avLst/>
              <a:gdLst>
                <a:gd name="T0" fmla="*/ 1 w 54"/>
                <a:gd name="T1" fmla="*/ 0 h 49"/>
                <a:gd name="T2" fmla="*/ 1 w 54"/>
                <a:gd name="T3" fmla="*/ 1 h 49"/>
                <a:gd name="T4" fmla="*/ 1 w 54"/>
                <a:gd name="T5" fmla="*/ 1 h 49"/>
                <a:gd name="T6" fmla="*/ 1 w 54"/>
                <a:gd name="T7" fmla="*/ 1 h 49"/>
                <a:gd name="T8" fmla="*/ 1 w 54"/>
                <a:gd name="T9" fmla="*/ 1 h 49"/>
                <a:gd name="T10" fmla="*/ 1 w 54"/>
                <a:gd name="T11" fmla="*/ 1 h 49"/>
                <a:gd name="T12" fmla="*/ 1 w 54"/>
                <a:gd name="T13" fmla="*/ 1 h 49"/>
                <a:gd name="T14" fmla="*/ 0 w 54"/>
                <a:gd name="T15" fmla="*/ 1 h 49"/>
                <a:gd name="T16" fmla="*/ 0 w 54"/>
                <a:gd name="T17" fmla="*/ 1 h 49"/>
                <a:gd name="T18" fmla="*/ 1 w 54"/>
                <a:gd name="T19" fmla="*/ 1 h 49"/>
                <a:gd name="T20" fmla="*/ 1 w 54"/>
                <a:gd name="T21" fmla="*/ 1 h 49"/>
                <a:gd name="T22" fmla="*/ 1 w 54"/>
                <a:gd name="T23" fmla="*/ 1 h 49"/>
                <a:gd name="T24" fmla="*/ 1 w 54"/>
                <a:gd name="T25" fmla="*/ 1 h 49"/>
                <a:gd name="T26" fmla="*/ 1 w 54"/>
                <a:gd name="T27" fmla="*/ 1 h 49"/>
                <a:gd name="T28" fmla="*/ 1 w 54"/>
                <a:gd name="T29" fmla="*/ 1 h 49"/>
                <a:gd name="T30" fmla="*/ 1 w 54"/>
                <a:gd name="T31" fmla="*/ 1 h 49"/>
                <a:gd name="T32" fmla="*/ 1 w 54"/>
                <a:gd name="T33" fmla="*/ 1 h 49"/>
                <a:gd name="T34" fmla="*/ 1 w 54"/>
                <a:gd name="T35" fmla="*/ 1 h 49"/>
                <a:gd name="T36" fmla="*/ 1 w 54"/>
                <a:gd name="T37" fmla="*/ 1 h 49"/>
                <a:gd name="T38" fmla="*/ 1 w 54"/>
                <a:gd name="T39" fmla="*/ 1 h 49"/>
                <a:gd name="T40" fmla="*/ 1 w 54"/>
                <a:gd name="T41" fmla="*/ 1 h 49"/>
                <a:gd name="T42" fmla="*/ 1 w 54"/>
                <a:gd name="T43" fmla="*/ 0 h 49"/>
                <a:gd name="T44" fmla="*/ 1 w 54"/>
                <a:gd name="T45" fmla="*/ 0 h 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4"/>
                <a:gd name="T70" fmla="*/ 0 h 49"/>
                <a:gd name="T71" fmla="*/ 54 w 54"/>
                <a:gd name="T72" fmla="*/ 49 h 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4" h="49">
                  <a:moveTo>
                    <a:pt x="40" y="0"/>
                  </a:moveTo>
                  <a:lnTo>
                    <a:pt x="26" y="5"/>
                  </a:lnTo>
                  <a:lnTo>
                    <a:pt x="26" y="12"/>
                  </a:lnTo>
                  <a:lnTo>
                    <a:pt x="23" y="14"/>
                  </a:lnTo>
                  <a:lnTo>
                    <a:pt x="14" y="19"/>
                  </a:lnTo>
                  <a:lnTo>
                    <a:pt x="5" y="29"/>
                  </a:lnTo>
                  <a:lnTo>
                    <a:pt x="0" y="44"/>
                  </a:lnTo>
                  <a:lnTo>
                    <a:pt x="1" y="49"/>
                  </a:lnTo>
                  <a:lnTo>
                    <a:pt x="2" y="48"/>
                  </a:lnTo>
                  <a:lnTo>
                    <a:pt x="6" y="45"/>
                  </a:lnTo>
                  <a:lnTo>
                    <a:pt x="10" y="40"/>
                  </a:lnTo>
                  <a:lnTo>
                    <a:pt x="17" y="34"/>
                  </a:lnTo>
                  <a:lnTo>
                    <a:pt x="24" y="29"/>
                  </a:lnTo>
                  <a:lnTo>
                    <a:pt x="32" y="24"/>
                  </a:lnTo>
                  <a:lnTo>
                    <a:pt x="41" y="19"/>
                  </a:lnTo>
                  <a:lnTo>
                    <a:pt x="51" y="18"/>
                  </a:lnTo>
                  <a:lnTo>
                    <a:pt x="54" y="12"/>
                  </a:lnTo>
                  <a:lnTo>
                    <a:pt x="40" y="0"/>
                  </a:lnTo>
                  <a:close/>
                </a:path>
              </a:pathLst>
            </a:custGeom>
            <a:solidFill>
              <a:srgbClr val="D1F7F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60" name="Freeform 17"/>
            <p:cNvSpPr>
              <a:spLocks/>
            </p:cNvSpPr>
            <p:nvPr/>
          </p:nvSpPr>
          <p:spPr bwMode="auto">
            <a:xfrm>
              <a:off x="4769" y="2342"/>
              <a:ext cx="23" cy="48"/>
            </a:xfrm>
            <a:custGeom>
              <a:avLst/>
              <a:gdLst>
                <a:gd name="T0" fmla="*/ 1 w 46"/>
                <a:gd name="T1" fmla="*/ 0 h 95"/>
                <a:gd name="T2" fmla="*/ 1 w 46"/>
                <a:gd name="T3" fmla="*/ 1 h 95"/>
                <a:gd name="T4" fmla="*/ 1 w 46"/>
                <a:gd name="T5" fmla="*/ 1 h 95"/>
                <a:gd name="T6" fmla="*/ 1 w 46"/>
                <a:gd name="T7" fmla="*/ 1 h 95"/>
                <a:gd name="T8" fmla="*/ 1 w 46"/>
                <a:gd name="T9" fmla="*/ 1 h 95"/>
                <a:gd name="T10" fmla="*/ 1 w 46"/>
                <a:gd name="T11" fmla="*/ 1 h 95"/>
                <a:gd name="T12" fmla="*/ 0 w 46"/>
                <a:gd name="T13" fmla="*/ 1 h 95"/>
                <a:gd name="T14" fmla="*/ 0 w 46"/>
                <a:gd name="T15" fmla="*/ 1 h 95"/>
                <a:gd name="T16" fmla="*/ 0 w 46"/>
                <a:gd name="T17" fmla="*/ 1 h 95"/>
                <a:gd name="T18" fmla="*/ 1 w 46"/>
                <a:gd name="T19" fmla="*/ 1 h 95"/>
                <a:gd name="T20" fmla="*/ 1 w 46"/>
                <a:gd name="T21" fmla="*/ 1 h 95"/>
                <a:gd name="T22" fmla="*/ 1 w 46"/>
                <a:gd name="T23" fmla="*/ 1 h 95"/>
                <a:gd name="T24" fmla="*/ 1 w 46"/>
                <a:gd name="T25" fmla="*/ 1 h 95"/>
                <a:gd name="T26" fmla="*/ 1 w 46"/>
                <a:gd name="T27" fmla="*/ 0 h 95"/>
                <a:gd name="T28" fmla="*/ 1 w 46"/>
                <a:gd name="T29" fmla="*/ 0 h 9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6"/>
                <a:gd name="T46" fmla="*/ 0 h 95"/>
                <a:gd name="T47" fmla="*/ 46 w 46"/>
                <a:gd name="T48" fmla="*/ 95 h 9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6" h="95">
                  <a:moveTo>
                    <a:pt x="46" y="0"/>
                  </a:moveTo>
                  <a:lnTo>
                    <a:pt x="42" y="7"/>
                  </a:lnTo>
                  <a:lnTo>
                    <a:pt x="31" y="25"/>
                  </a:lnTo>
                  <a:lnTo>
                    <a:pt x="20" y="52"/>
                  </a:lnTo>
                  <a:lnTo>
                    <a:pt x="15" y="80"/>
                  </a:lnTo>
                  <a:lnTo>
                    <a:pt x="0" y="95"/>
                  </a:lnTo>
                  <a:lnTo>
                    <a:pt x="0" y="90"/>
                  </a:lnTo>
                  <a:lnTo>
                    <a:pt x="1" y="75"/>
                  </a:lnTo>
                  <a:lnTo>
                    <a:pt x="10" y="50"/>
                  </a:lnTo>
                  <a:lnTo>
                    <a:pt x="27" y="18"/>
                  </a:lnTo>
                  <a:lnTo>
                    <a:pt x="46" y="0"/>
                  </a:lnTo>
                  <a:close/>
                </a:path>
              </a:pathLst>
            </a:custGeom>
            <a:solidFill>
              <a:srgbClr val="D1F7F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61" name="Freeform 18"/>
            <p:cNvSpPr>
              <a:spLocks/>
            </p:cNvSpPr>
            <p:nvPr/>
          </p:nvSpPr>
          <p:spPr bwMode="auto">
            <a:xfrm>
              <a:off x="4775" y="2449"/>
              <a:ext cx="14" cy="18"/>
            </a:xfrm>
            <a:custGeom>
              <a:avLst/>
              <a:gdLst>
                <a:gd name="T0" fmla="*/ 0 w 29"/>
                <a:gd name="T1" fmla="*/ 1 h 36"/>
                <a:gd name="T2" fmla="*/ 0 w 29"/>
                <a:gd name="T3" fmla="*/ 0 h 36"/>
                <a:gd name="T4" fmla="*/ 0 w 29"/>
                <a:gd name="T5" fmla="*/ 1 h 36"/>
                <a:gd name="T6" fmla="*/ 0 w 29"/>
                <a:gd name="T7" fmla="*/ 1 h 36"/>
                <a:gd name="T8" fmla="*/ 0 w 29"/>
                <a:gd name="T9" fmla="*/ 1 h 36"/>
                <a:gd name="T10" fmla="*/ 0 w 29"/>
                <a:gd name="T11" fmla="*/ 1 h 36"/>
                <a:gd name="T12" fmla="*/ 0 w 29"/>
                <a:gd name="T13" fmla="*/ 1 h 36"/>
                <a:gd name="T14" fmla="*/ 0 60000 65536"/>
                <a:gd name="T15" fmla="*/ 0 60000 65536"/>
                <a:gd name="T16" fmla="*/ 0 60000 65536"/>
                <a:gd name="T17" fmla="*/ 0 60000 65536"/>
                <a:gd name="T18" fmla="*/ 0 60000 65536"/>
                <a:gd name="T19" fmla="*/ 0 60000 65536"/>
                <a:gd name="T20" fmla="*/ 0 60000 65536"/>
                <a:gd name="T21" fmla="*/ 0 w 29"/>
                <a:gd name="T22" fmla="*/ 0 h 36"/>
                <a:gd name="T23" fmla="*/ 29 w 29"/>
                <a:gd name="T24" fmla="*/ 36 h 3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 h="36">
                  <a:moveTo>
                    <a:pt x="0" y="10"/>
                  </a:moveTo>
                  <a:lnTo>
                    <a:pt x="11" y="0"/>
                  </a:lnTo>
                  <a:lnTo>
                    <a:pt x="16" y="2"/>
                  </a:lnTo>
                  <a:lnTo>
                    <a:pt x="29" y="30"/>
                  </a:lnTo>
                  <a:lnTo>
                    <a:pt x="15" y="36"/>
                  </a:lnTo>
                  <a:lnTo>
                    <a:pt x="0" y="10"/>
                  </a:lnTo>
                  <a:close/>
                </a:path>
              </a:pathLst>
            </a:custGeom>
            <a:solidFill>
              <a:srgbClr val="CC998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62" name="Freeform 19"/>
            <p:cNvSpPr>
              <a:spLocks/>
            </p:cNvSpPr>
            <p:nvPr/>
          </p:nvSpPr>
          <p:spPr bwMode="auto">
            <a:xfrm>
              <a:off x="4884" y="2477"/>
              <a:ext cx="17" cy="42"/>
            </a:xfrm>
            <a:custGeom>
              <a:avLst/>
              <a:gdLst>
                <a:gd name="T0" fmla="*/ 0 w 35"/>
                <a:gd name="T1" fmla="*/ 0 h 84"/>
                <a:gd name="T2" fmla="*/ 0 w 35"/>
                <a:gd name="T3" fmla="*/ 1 h 84"/>
                <a:gd name="T4" fmla="*/ 0 w 35"/>
                <a:gd name="T5" fmla="*/ 1 h 84"/>
                <a:gd name="T6" fmla="*/ 0 w 35"/>
                <a:gd name="T7" fmla="*/ 1 h 84"/>
                <a:gd name="T8" fmla="*/ 0 w 35"/>
                <a:gd name="T9" fmla="*/ 1 h 84"/>
                <a:gd name="T10" fmla="*/ 0 w 35"/>
                <a:gd name="T11" fmla="*/ 1 h 84"/>
                <a:gd name="T12" fmla="*/ 0 w 35"/>
                <a:gd name="T13" fmla="*/ 1 h 84"/>
                <a:gd name="T14" fmla="*/ 0 w 35"/>
                <a:gd name="T15" fmla="*/ 1 h 84"/>
                <a:gd name="T16" fmla="*/ 0 w 35"/>
                <a:gd name="T17" fmla="*/ 1 h 84"/>
                <a:gd name="T18" fmla="*/ 0 w 35"/>
                <a:gd name="T19" fmla="*/ 1 h 84"/>
                <a:gd name="T20" fmla="*/ 0 w 35"/>
                <a:gd name="T21" fmla="*/ 1 h 84"/>
                <a:gd name="T22" fmla="*/ 0 w 35"/>
                <a:gd name="T23" fmla="*/ 1 h 84"/>
                <a:gd name="T24" fmla="*/ 0 w 35"/>
                <a:gd name="T25" fmla="*/ 1 h 84"/>
                <a:gd name="T26" fmla="*/ 0 w 35"/>
                <a:gd name="T27" fmla="*/ 1 h 84"/>
                <a:gd name="T28" fmla="*/ 0 w 35"/>
                <a:gd name="T29" fmla="*/ 1 h 84"/>
                <a:gd name="T30" fmla="*/ 0 w 35"/>
                <a:gd name="T31" fmla="*/ 1 h 84"/>
                <a:gd name="T32" fmla="*/ 0 w 35"/>
                <a:gd name="T33" fmla="*/ 1 h 84"/>
                <a:gd name="T34" fmla="*/ 0 w 35"/>
                <a:gd name="T35" fmla="*/ 1 h 84"/>
                <a:gd name="T36" fmla="*/ 0 w 35"/>
                <a:gd name="T37" fmla="*/ 1 h 84"/>
                <a:gd name="T38" fmla="*/ 0 w 35"/>
                <a:gd name="T39" fmla="*/ 1 h 84"/>
                <a:gd name="T40" fmla="*/ 0 w 35"/>
                <a:gd name="T41" fmla="*/ 1 h 84"/>
                <a:gd name="T42" fmla="*/ 0 w 35"/>
                <a:gd name="T43" fmla="*/ 1 h 84"/>
                <a:gd name="T44" fmla="*/ 0 w 35"/>
                <a:gd name="T45" fmla="*/ 1 h 84"/>
                <a:gd name="T46" fmla="*/ 0 w 35"/>
                <a:gd name="T47" fmla="*/ 1 h 84"/>
                <a:gd name="T48" fmla="*/ 0 w 35"/>
                <a:gd name="T49" fmla="*/ 1 h 84"/>
                <a:gd name="T50" fmla="*/ 0 w 35"/>
                <a:gd name="T51" fmla="*/ 1 h 84"/>
                <a:gd name="T52" fmla="*/ 0 w 35"/>
                <a:gd name="T53" fmla="*/ 1 h 84"/>
                <a:gd name="T54" fmla="*/ 0 w 35"/>
                <a:gd name="T55" fmla="*/ 1 h 84"/>
                <a:gd name="T56" fmla="*/ 0 w 35"/>
                <a:gd name="T57" fmla="*/ 1 h 84"/>
                <a:gd name="T58" fmla="*/ 0 w 35"/>
                <a:gd name="T59" fmla="*/ 1 h 84"/>
                <a:gd name="T60" fmla="*/ 0 w 35"/>
                <a:gd name="T61" fmla="*/ 1 h 84"/>
                <a:gd name="T62" fmla="*/ 0 w 35"/>
                <a:gd name="T63" fmla="*/ 1 h 84"/>
                <a:gd name="T64" fmla="*/ 0 w 35"/>
                <a:gd name="T65" fmla="*/ 0 h 84"/>
                <a:gd name="T66" fmla="*/ 0 w 35"/>
                <a:gd name="T67" fmla="*/ 0 h 84"/>
                <a:gd name="T68" fmla="*/ 0 w 35"/>
                <a:gd name="T69" fmla="*/ 0 h 8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5"/>
                <a:gd name="T106" fmla="*/ 0 h 84"/>
                <a:gd name="T107" fmla="*/ 35 w 35"/>
                <a:gd name="T108" fmla="*/ 84 h 84"/>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5" h="84">
                  <a:moveTo>
                    <a:pt x="21" y="0"/>
                  </a:moveTo>
                  <a:lnTo>
                    <a:pt x="19" y="4"/>
                  </a:lnTo>
                  <a:lnTo>
                    <a:pt x="12" y="12"/>
                  </a:lnTo>
                  <a:lnTo>
                    <a:pt x="6" y="21"/>
                  </a:lnTo>
                  <a:lnTo>
                    <a:pt x="3" y="28"/>
                  </a:lnTo>
                  <a:lnTo>
                    <a:pt x="3" y="37"/>
                  </a:lnTo>
                  <a:lnTo>
                    <a:pt x="0" y="56"/>
                  </a:lnTo>
                  <a:lnTo>
                    <a:pt x="3" y="75"/>
                  </a:lnTo>
                  <a:lnTo>
                    <a:pt x="24" y="74"/>
                  </a:lnTo>
                  <a:lnTo>
                    <a:pt x="34" y="84"/>
                  </a:lnTo>
                  <a:lnTo>
                    <a:pt x="35" y="82"/>
                  </a:lnTo>
                  <a:lnTo>
                    <a:pt x="35" y="75"/>
                  </a:lnTo>
                  <a:lnTo>
                    <a:pt x="34" y="67"/>
                  </a:lnTo>
                  <a:lnTo>
                    <a:pt x="29" y="61"/>
                  </a:lnTo>
                  <a:lnTo>
                    <a:pt x="28" y="58"/>
                  </a:lnTo>
                  <a:lnTo>
                    <a:pt x="26" y="51"/>
                  </a:lnTo>
                  <a:lnTo>
                    <a:pt x="25" y="42"/>
                  </a:lnTo>
                  <a:lnTo>
                    <a:pt x="26" y="35"/>
                  </a:lnTo>
                  <a:lnTo>
                    <a:pt x="12" y="37"/>
                  </a:lnTo>
                  <a:lnTo>
                    <a:pt x="11" y="29"/>
                  </a:lnTo>
                  <a:lnTo>
                    <a:pt x="29" y="27"/>
                  </a:lnTo>
                  <a:lnTo>
                    <a:pt x="28" y="25"/>
                  </a:lnTo>
                  <a:lnTo>
                    <a:pt x="27" y="20"/>
                  </a:lnTo>
                  <a:lnTo>
                    <a:pt x="27" y="14"/>
                  </a:lnTo>
                  <a:lnTo>
                    <a:pt x="30" y="8"/>
                  </a:lnTo>
                  <a:lnTo>
                    <a:pt x="30" y="7"/>
                  </a:lnTo>
                  <a:lnTo>
                    <a:pt x="29" y="5"/>
                  </a:lnTo>
                  <a:lnTo>
                    <a:pt x="27" y="3"/>
                  </a:lnTo>
                  <a:lnTo>
                    <a:pt x="21" y="0"/>
                  </a:lnTo>
                  <a:close/>
                </a:path>
              </a:pathLst>
            </a:custGeom>
            <a:solidFill>
              <a:srgbClr val="CC8C7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63" name="Freeform 20"/>
            <p:cNvSpPr>
              <a:spLocks/>
            </p:cNvSpPr>
            <p:nvPr/>
          </p:nvSpPr>
          <p:spPr bwMode="auto">
            <a:xfrm>
              <a:off x="4793" y="2487"/>
              <a:ext cx="18" cy="24"/>
            </a:xfrm>
            <a:custGeom>
              <a:avLst/>
              <a:gdLst>
                <a:gd name="T0" fmla="*/ 0 w 35"/>
                <a:gd name="T1" fmla="*/ 1 h 48"/>
                <a:gd name="T2" fmla="*/ 1 w 35"/>
                <a:gd name="T3" fmla="*/ 0 h 48"/>
                <a:gd name="T4" fmla="*/ 1 w 35"/>
                <a:gd name="T5" fmla="*/ 1 h 48"/>
                <a:gd name="T6" fmla="*/ 1 w 35"/>
                <a:gd name="T7" fmla="*/ 1 h 48"/>
                <a:gd name="T8" fmla="*/ 1 w 35"/>
                <a:gd name="T9" fmla="*/ 1 h 48"/>
                <a:gd name="T10" fmla="*/ 1 w 35"/>
                <a:gd name="T11" fmla="*/ 1 h 48"/>
                <a:gd name="T12" fmla="*/ 1 w 35"/>
                <a:gd name="T13" fmla="*/ 1 h 48"/>
                <a:gd name="T14" fmla="*/ 1 w 35"/>
                <a:gd name="T15" fmla="*/ 1 h 48"/>
                <a:gd name="T16" fmla="*/ 1 w 35"/>
                <a:gd name="T17" fmla="*/ 1 h 48"/>
                <a:gd name="T18" fmla="*/ 0 w 35"/>
                <a:gd name="T19" fmla="*/ 1 h 48"/>
                <a:gd name="T20" fmla="*/ 0 w 35"/>
                <a:gd name="T21" fmla="*/ 1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
                <a:gd name="T34" fmla="*/ 0 h 48"/>
                <a:gd name="T35" fmla="*/ 35 w 35"/>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 h="48">
                  <a:moveTo>
                    <a:pt x="0" y="8"/>
                  </a:moveTo>
                  <a:lnTo>
                    <a:pt x="14" y="0"/>
                  </a:lnTo>
                  <a:lnTo>
                    <a:pt x="22" y="2"/>
                  </a:lnTo>
                  <a:lnTo>
                    <a:pt x="24" y="7"/>
                  </a:lnTo>
                  <a:lnTo>
                    <a:pt x="25" y="10"/>
                  </a:lnTo>
                  <a:lnTo>
                    <a:pt x="27" y="14"/>
                  </a:lnTo>
                  <a:lnTo>
                    <a:pt x="31" y="20"/>
                  </a:lnTo>
                  <a:lnTo>
                    <a:pt x="35" y="33"/>
                  </a:lnTo>
                  <a:lnTo>
                    <a:pt x="19" y="48"/>
                  </a:lnTo>
                  <a:lnTo>
                    <a:pt x="0" y="8"/>
                  </a:lnTo>
                  <a:close/>
                </a:path>
              </a:pathLst>
            </a:custGeom>
            <a:solidFill>
              <a:srgbClr val="CC8C7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64" name="Freeform 21"/>
            <p:cNvSpPr>
              <a:spLocks/>
            </p:cNvSpPr>
            <p:nvPr/>
          </p:nvSpPr>
          <p:spPr bwMode="auto">
            <a:xfrm>
              <a:off x="4816" y="2494"/>
              <a:ext cx="81" cy="35"/>
            </a:xfrm>
            <a:custGeom>
              <a:avLst/>
              <a:gdLst>
                <a:gd name="T0" fmla="*/ 0 w 161"/>
                <a:gd name="T1" fmla="*/ 0 h 70"/>
                <a:gd name="T2" fmla="*/ 1 w 161"/>
                <a:gd name="T3" fmla="*/ 1 h 70"/>
                <a:gd name="T4" fmla="*/ 1 w 161"/>
                <a:gd name="T5" fmla="*/ 1 h 70"/>
                <a:gd name="T6" fmla="*/ 1 w 161"/>
                <a:gd name="T7" fmla="*/ 1 h 70"/>
                <a:gd name="T8" fmla="*/ 1 w 161"/>
                <a:gd name="T9" fmla="*/ 1 h 70"/>
                <a:gd name="T10" fmla="*/ 1 w 161"/>
                <a:gd name="T11" fmla="*/ 1 h 70"/>
                <a:gd name="T12" fmla="*/ 1 w 161"/>
                <a:gd name="T13" fmla="*/ 1 h 70"/>
                <a:gd name="T14" fmla="*/ 1 w 161"/>
                <a:gd name="T15" fmla="*/ 1 h 70"/>
                <a:gd name="T16" fmla="*/ 1 w 161"/>
                <a:gd name="T17" fmla="*/ 1 h 70"/>
                <a:gd name="T18" fmla="*/ 1 w 161"/>
                <a:gd name="T19" fmla="*/ 1 h 70"/>
                <a:gd name="T20" fmla="*/ 1 w 161"/>
                <a:gd name="T21" fmla="*/ 1 h 70"/>
                <a:gd name="T22" fmla="*/ 1 w 161"/>
                <a:gd name="T23" fmla="*/ 1 h 70"/>
                <a:gd name="T24" fmla="*/ 1 w 161"/>
                <a:gd name="T25" fmla="*/ 1 h 70"/>
                <a:gd name="T26" fmla="*/ 1 w 161"/>
                <a:gd name="T27" fmla="*/ 1 h 70"/>
                <a:gd name="T28" fmla="*/ 1 w 161"/>
                <a:gd name="T29" fmla="*/ 1 h 70"/>
                <a:gd name="T30" fmla="*/ 1 w 161"/>
                <a:gd name="T31" fmla="*/ 1 h 70"/>
                <a:gd name="T32" fmla="*/ 1 w 161"/>
                <a:gd name="T33" fmla="*/ 1 h 70"/>
                <a:gd name="T34" fmla="*/ 1 w 161"/>
                <a:gd name="T35" fmla="*/ 1 h 70"/>
                <a:gd name="T36" fmla="*/ 1 w 161"/>
                <a:gd name="T37" fmla="*/ 1 h 70"/>
                <a:gd name="T38" fmla="*/ 1 w 161"/>
                <a:gd name="T39" fmla="*/ 1 h 70"/>
                <a:gd name="T40" fmla="*/ 1 w 161"/>
                <a:gd name="T41" fmla="*/ 1 h 70"/>
                <a:gd name="T42" fmla="*/ 1 w 161"/>
                <a:gd name="T43" fmla="*/ 1 h 70"/>
                <a:gd name="T44" fmla="*/ 1 w 161"/>
                <a:gd name="T45" fmla="*/ 1 h 70"/>
                <a:gd name="T46" fmla="*/ 1 w 161"/>
                <a:gd name="T47" fmla="*/ 1 h 70"/>
                <a:gd name="T48" fmla="*/ 1 w 161"/>
                <a:gd name="T49" fmla="*/ 1 h 70"/>
                <a:gd name="T50" fmla="*/ 1 w 161"/>
                <a:gd name="T51" fmla="*/ 1 h 70"/>
                <a:gd name="T52" fmla="*/ 1 w 161"/>
                <a:gd name="T53" fmla="*/ 1 h 70"/>
                <a:gd name="T54" fmla="*/ 1 w 161"/>
                <a:gd name="T55" fmla="*/ 1 h 70"/>
                <a:gd name="T56" fmla="*/ 1 w 161"/>
                <a:gd name="T57" fmla="*/ 1 h 70"/>
                <a:gd name="T58" fmla="*/ 1 w 161"/>
                <a:gd name="T59" fmla="*/ 1 h 70"/>
                <a:gd name="T60" fmla="*/ 1 w 161"/>
                <a:gd name="T61" fmla="*/ 1 h 70"/>
                <a:gd name="T62" fmla="*/ 1 w 161"/>
                <a:gd name="T63" fmla="*/ 1 h 70"/>
                <a:gd name="T64" fmla="*/ 1 w 161"/>
                <a:gd name="T65" fmla="*/ 1 h 70"/>
                <a:gd name="T66" fmla="*/ 1 w 161"/>
                <a:gd name="T67" fmla="*/ 1 h 70"/>
                <a:gd name="T68" fmla="*/ 1 w 161"/>
                <a:gd name="T69" fmla="*/ 1 h 70"/>
                <a:gd name="T70" fmla="*/ 1 w 161"/>
                <a:gd name="T71" fmla="*/ 1 h 70"/>
                <a:gd name="T72" fmla="*/ 1 w 161"/>
                <a:gd name="T73" fmla="*/ 1 h 70"/>
                <a:gd name="T74" fmla="*/ 1 w 161"/>
                <a:gd name="T75" fmla="*/ 1 h 70"/>
                <a:gd name="T76" fmla="*/ 1 w 161"/>
                <a:gd name="T77" fmla="*/ 1 h 70"/>
                <a:gd name="T78" fmla="*/ 1 w 161"/>
                <a:gd name="T79" fmla="*/ 1 h 70"/>
                <a:gd name="T80" fmla="*/ 1 w 161"/>
                <a:gd name="T81" fmla="*/ 1 h 70"/>
                <a:gd name="T82" fmla="*/ 1 w 161"/>
                <a:gd name="T83" fmla="*/ 1 h 70"/>
                <a:gd name="T84" fmla="*/ 1 w 161"/>
                <a:gd name="T85" fmla="*/ 1 h 70"/>
                <a:gd name="T86" fmla="*/ 1 w 161"/>
                <a:gd name="T87" fmla="*/ 1 h 70"/>
                <a:gd name="T88" fmla="*/ 1 w 161"/>
                <a:gd name="T89" fmla="*/ 1 h 70"/>
                <a:gd name="T90" fmla="*/ 0 w 161"/>
                <a:gd name="T91" fmla="*/ 0 h 70"/>
                <a:gd name="T92" fmla="*/ 0 w 161"/>
                <a:gd name="T93" fmla="*/ 0 h 7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61"/>
                <a:gd name="T142" fmla="*/ 0 h 70"/>
                <a:gd name="T143" fmla="*/ 161 w 161"/>
                <a:gd name="T144" fmla="*/ 70 h 70"/>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61" h="70">
                  <a:moveTo>
                    <a:pt x="0" y="0"/>
                  </a:moveTo>
                  <a:lnTo>
                    <a:pt x="1" y="3"/>
                  </a:lnTo>
                  <a:lnTo>
                    <a:pt x="2" y="10"/>
                  </a:lnTo>
                  <a:lnTo>
                    <a:pt x="4" y="18"/>
                  </a:lnTo>
                  <a:lnTo>
                    <a:pt x="4" y="25"/>
                  </a:lnTo>
                  <a:lnTo>
                    <a:pt x="6" y="25"/>
                  </a:lnTo>
                  <a:lnTo>
                    <a:pt x="7" y="24"/>
                  </a:lnTo>
                  <a:lnTo>
                    <a:pt x="10" y="24"/>
                  </a:lnTo>
                  <a:lnTo>
                    <a:pt x="15" y="25"/>
                  </a:lnTo>
                  <a:lnTo>
                    <a:pt x="21" y="28"/>
                  </a:lnTo>
                  <a:lnTo>
                    <a:pt x="29" y="32"/>
                  </a:lnTo>
                  <a:lnTo>
                    <a:pt x="38" y="40"/>
                  </a:lnTo>
                  <a:lnTo>
                    <a:pt x="49" y="52"/>
                  </a:lnTo>
                  <a:lnTo>
                    <a:pt x="82" y="55"/>
                  </a:lnTo>
                  <a:lnTo>
                    <a:pt x="80" y="60"/>
                  </a:lnTo>
                  <a:lnTo>
                    <a:pt x="102" y="60"/>
                  </a:lnTo>
                  <a:lnTo>
                    <a:pt x="101" y="66"/>
                  </a:lnTo>
                  <a:lnTo>
                    <a:pt x="121" y="64"/>
                  </a:lnTo>
                  <a:lnTo>
                    <a:pt x="126" y="70"/>
                  </a:lnTo>
                  <a:lnTo>
                    <a:pt x="130" y="69"/>
                  </a:lnTo>
                  <a:lnTo>
                    <a:pt x="130" y="62"/>
                  </a:lnTo>
                  <a:lnTo>
                    <a:pt x="137" y="56"/>
                  </a:lnTo>
                  <a:lnTo>
                    <a:pt x="141" y="64"/>
                  </a:lnTo>
                  <a:lnTo>
                    <a:pt x="145" y="59"/>
                  </a:lnTo>
                  <a:lnTo>
                    <a:pt x="146" y="59"/>
                  </a:lnTo>
                  <a:lnTo>
                    <a:pt x="151" y="60"/>
                  </a:lnTo>
                  <a:lnTo>
                    <a:pt x="155" y="62"/>
                  </a:lnTo>
                  <a:lnTo>
                    <a:pt x="160" y="68"/>
                  </a:lnTo>
                  <a:lnTo>
                    <a:pt x="161" y="52"/>
                  </a:lnTo>
                  <a:lnTo>
                    <a:pt x="130" y="49"/>
                  </a:lnTo>
                  <a:lnTo>
                    <a:pt x="128" y="54"/>
                  </a:lnTo>
                  <a:lnTo>
                    <a:pt x="126" y="54"/>
                  </a:lnTo>
                  <a:lnTo>
                    <a:pt x="123" y="54"/>
                  </a:lnTo>
                  <a:lnTo>
                    <a:pt x="117" y="54"/>
                  </a:lnTo>
                  <a:lnTo>
                    <a:pt x="110" y="52"/>
                  </a:lnTo>
                  <a:lnTo>
                    <a:pt x="101" y="49"/>
                  </a:lnTo>
                  <a:lnTo>
                    <a:pt x="91" y="46"/>
                  </a:lnTo>
                  <a:lnTo>
                    <a:pt x="80" y="40"/>
                  </a:lnTo>
                  <a:lnTo>
                    <a:pt x="69" y="32"/>
                  </a:lnTo>
                  <a:lnTo>
                    <a:pt x="39" y="21"/>
                  </a:lnTo>
                  <a:lnTo>
                    <a:pt x="0" y="0"/>
                  </a:lnTo>
                  <a:close/>
                </a:path>
              </a:pathLst>
            </a:custGeom>
            <a:solidFill>
              <a:srgbClr val="267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65" name="Freeform 22"/>
            <p:cNvSpPr>
              <a:spLocks/>
            </p:cNvSpPr>
            <p:nvPr/>
          </p:nvSpPr>
          <p:spPr bwMode="auto">
            <a:xfrm>
              <a:off x="4770" y="2539"/>
              <a:ext cx="110" cy="112"/>
            </a:xfrm>
            <a:custGeom>
              <a:avLst/>
              <a:gdLst>
                <a:gd name="T0" fmla="*/ 0 w 221"/>
                <a:gd name="T1" fmla="*/ 1 h 223"/>
                <a:gd name="T2" fmla="*/ 0 w 221"/>
                <a:gd name="T3" fmla="*/ 1 h 223"/>
                <a:gd name="T4" fmla="*/ 0 w 221"/>
                <a:gd name="T5" fmla="*/ 1 h 223"/>
                <a:gd name="T6" fmla="*/ 0 w 221"/>
                <a:gd name="T7" fmla="*/ 1 h 223"/>
                <a:gd name="T8" fmla="*/ 0 w 221"/>
                <a:gd name="T9" fmla="*/ 1 h 223"/>
                <a:gd name="T10" fmla="*/ 0 w 221"/>
                <a:gd name="T11" fmla="*/ 1 h 223"/>
                <a:gd name="T12" fmla="*/ 0 w 221"/>
                <a:gd name="T13" fmla="*/ 1 h 223"/>
                <a:gd name="T14" fmla="*/ 0 w 221"/>
                <a:gd name="T15" fmla="*/ 1 h 223"/>
                <a:gd name="T16" fmla="*/ 0 w 221"/>
                <a:gd name="T17" fmla="*/ 1 h 223"/>
                <a:gd name="T18" fmla="*/ 0 w 221"/>
                <a:gd name="T19" fmla="*/ 1 h 223"/>
                <a:gd name="T20" fmla="*/ 0 w 221"/>
                <a:gd name="T21" fmla="*/ 1 h 223"/>
                <a:gd name="T22" fmla="*/ 0 w 221"/>
                <a:gd name="T23" fmla="*/ 1 h 223"/>
                <a:gd name="T24" fmla="*/ 0 w 221"/>
                <a:gd name="T25" fmla="*/ 1 h 223"/>
                <a:gd name="T26" fmla="*/ 0 w 221"/>
                <a:gd name="T27" fmla="*/ 1 h 223"/>
                <a:gd name="T28" fmla="*/ 0 w 221"/>
                <a:gd name="T29" fmla="*/ 1 h 223"/>
                <a:gd name="T30" fmla="*/ 0 w 221"/>
                <a:gd name="T31" fmla="*/ 1 h 223"/>
                <a:gd name="T32" fmla="*/ 0 w 221"/>
                <a:gd name="T33" fmla="*/ 1 h 223"/>
                <a:gd name="T34" fmla="*/ 0 w 221"/>
                <a:gd name="T35" fmla="*/ 1 h 223"/>
                <a:gd name="T36" fmla="*/ 0 w 221"/>
                <a:gd name="T37" fmla="*/ 1 h 223"/>
                <a:gd name="T38" fmla="*/ 0 w 221"/>
                <a:gd name="T39" fmla="*/ 1 h 223"/>
                <a:gd name="T40" fmla="*/ 0 w 221"/>
                <a:gd name="T41" fmla="*/ 1 h 223"/>
                <a:gd name="T42" fmla="*/ 0 w 221"/>
                <a:gd name="T43" fmla="*/ 1 h 223"/>
                <a:gd name="T44" fmla="*/ 0 w 221"/>
                <a:gd name="T45" fmla="*/ 1 h 223"/>
                <a:gd name="T46" fmla="*/ 0 w 221"/>
                <a:gd name="T47" fmla="*/ 1 h 223"/>
                <a:gd name="T48" fmla="*/ 0 w 221"/>
                <a:gd name="T49" fmla="*/ 1 h 223"/>
                <a:gd name="T50" fmla="*/ 0 w 221"/>
                <a:gd name="T51" fmla="*/ 1 h 223"/>
                <a:gd name="T52" fmla="*/ 0 w 221"/>
                <a:gd name="T53" fmla="*/ 1 h 223"/>
                <a:gd name="T54" fmla="*/ 0 w 221"/>
                <a:gd name="T55" fmla="*/ 1 h 223"/>
                <a:gd name="T56" fmla="*/ 0 w 221"/>
                <a:gd name="T57" fmla="*/ 1 h 223"/>
                <a:gd name="T58" fmla="*/ 0 w 221"/>
                <a:gd name="T59" fmla="*/ 1 h 223"/>
                <a:gd name="T60" fmla="*/ 0 w 221"/>
                <a:gd name="T61" fmla="*/ 1 h 223"/>
                <a:gd name="T62" fmla="*/ 0 w 221"/>
                <a:gd name="T63" fmla="*/ 1 h 223"/>
                <a:gd name="T64" fmla="*/ 0 w 221"/>
                <a:gd name="T65" fmla="*/ 1 h 223"/>
                <a:gd name="T66" fmla="*/ 0 w 221"/>
                <a:gd name="T67" fmla="*/ 1 h 223"/>
                <a:gd name="T68" fmla="*/ 0 w 221"/>
                <a:gd name="T69" fmla="*/ 1 h 223"/>
                <a:gd name="T70" fmla="*/ 0 w 221"/>
                <a:gd name="T71" fmla="*/ 1 h 223"/>
                <a:gd name="T72" fmla="*/ 0 w 221"/>
                <a:gd name="T73" fmla="*/ 1 h 223"/>
                <a:gd name="T74" fmla="*/ 0 w 221"/>
                <a:gd name="T75" fmla="*/ 1 h 223"/>
                <a:gd name="T76" fmla="*/ 0 w 221"/>
                <a:gd name="T77" fmla="*/ 1 h 223"/>
                <a:gd name="T78" fmla="*/ 0 w 221"/>
                <a:gd name="T79" fmla="*/ 1 h 223"/>
                <a:gd name="T80" fmla="*/ 0 w 221"/>
                <a:gd name="T81" fmla="*/ 1 h 223"/>
                <a:gd name="T82" fmla="*/ 0 w 221"/>
                <a:gd name="T83" fmla="*/ 1 h 223"/>
                <a:gd name="T84" fmla="*/ 0 w 221"/>
                <a:gd name="T85" fmla="*/ 1 h 223"/>
                <a:gd name="T86" fmla="*/ 0 w 221"/>
                <a:gd name="T87" fmla="*/ 1 h 223"/>
                <a:gd name="T88" fmla="*/ 0 w 221"/>
                <a:gd name="T89" fmla="*/ 1 h 223"/>
                <a:gd name="T90" fmla="*/ 0 w 221"/>
                <a:gd name="T91" fmla="*/ 1 h 223"/>
                <a:gd name="T92" fmla="*/ 0 w 221"/>
                <a:gd name="T93" fmla="*/ 1 h 223"/>
                <a:gd name="T94" fmla="*/ 0 w 221"/>
                <a:gd name="T95" fmla="*/ 0 h 22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21"/>
                <a:gd name="T145" fmla="*/ 0 h 223"/>
                <a:gd name="T146" fmla="*/ 221 w 221"/>
                <a:gd name="T147" fmla="*/ 223 h 22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21" h="223">
                  <a:moveTo>
                    <a:pt x="180" y="0"/>
                  </a:moveTo>
                  <a:lnTo>
                    <a:pt x="219" y="4"/>
                  </a:lnTo>
                  <a:lnTo>
                    <a:pt x="221" y="10"/>
                  </a:lnTo>
                  <a:lnTo>
                    <a:pt x="217" y="12"/>
                  </a:lnTo>
                  <a:lnTo>
                    <a:pt x="216" y="8"/>
                  </a:lnTo>
                  <a:lnTo>
                    <a:pt x="215" y="8"/>
                  </a:lnTo>
                  <a:lnTo>
                    <a:pt x="213" y="9"/>
                  </a:lnTo>
                  <a:lnTo>
                    <a:pt x="208" y="11"/>
                  </a:lnTo>
                  <a:lnTo>
                    <a:pt x="202" y="15"/>
                  </a:lnTo>
                  <a:lnTo>
                    <a:pt x="195" y="18"/>
                  </a:lnTo>
                  <a:lnTo>
                    <a:pt x="188" y="24"/>
                  </a:lnTo>
                  <a:lnTo>
                    <a:pt x="180" y="31"/>
                  </a:lnTo>
                  <a:lnTo>
                    <a:pt x="173" y="39"/>
                  </a:lnTo>
                  <a:lnTo>
                    <a:pt x="172" y="40"/>
                  </a:lnTo>
                  <a:lnTo>
                    <a:pt x="168" y="45"/>
                  </a:lnTo>
                  <a:lnTo>
                    <a:pt x="162" y="52"/>
                  </a:lnTo>
                  <a:lnTo>
                    <a:pt x="156" y="60"/>
                  </a:lnTo>
                  <a:lnTo>
                    <a:pt x="148" y="71"/>
                  </a:lnTo>
                  <a:lnTo>
                    <a:pt x="141" y="83"/>
                  </a:lnTo>
                  <a:lnTo>
                    <a:pt x="135" y="95"/>
                  </a:lnTo>
                  <a:lnTo>
                    <a:pt x="131" y="109"/>
                  </a:lnTo>
                  <a:lnTo>
                    <a:pt x="129" y="115"/>
                  </a:lnTo>
                  <a:lnTo>
                    <a:pt x="127" y="117"/>
                  </a:lnTo>
                  <a:lnTo>
                    <a:pt x="123" y="122"/>
                  </a:lnTo>
                  <a:lnTo>
                    <a:pt x="115" y="127"/>
                  </a:lnTo>
                  <a:lnTo>
                    <a:pt x="105" y="128"/>
                  </a:lnTo>
                  <a:lnTo>
                    <a:pt x="95" y="124"/>
                  </a:lnTo>
                  <a:lnTo>
                    <a:pt x="99" y="140"/>
                  </a:lnTo>
                  <a:lnTo>
                    <a:pt x="87" y="125"/>
                  </a:lnTo>
                  <a:lnTo>
                    <a:pt x="82" y="125"/>
                  </a:lnTo>
                  <a:lnTo>
                    <a:pt x="96" y="153"/>
                  </a:lnTo>
                  <a:lnTo>
                    <a:pt x="96" y="158"/>
                  </a:lnTo>
                  <a:lnTo>
                    <a:pt x="76" y="133"/>
                  </a:lnTo>
                  <a:lnTo>
                    <a:pt x="82" y="159"/>
                  </a:lnTo>
                  <a:lnTo>
                    <a:pt x="70" y="135"/>
                  </a:lnTo>
                  <a:lnTo>
                    <a:pt x="79" y="165"/>
                  </a:lnTo>
                  <a:lnTo>
                    <a:pt x="76" y="167"/>
                  </a:lnTo>
                  <a:lnTo>
                    <a:pt x="63" y="146"/>
                  </a:lnTo>
                  <a:lnTo>
                    <a:pt x="59" y="150"/>
                  </a:lnTo>
                  <a:lnTo>
                    <a:pt x="66" y="177"/>
                  </a:lnTo>
                  <a:lnTo>
                    <a:pt x="56" y="153"/>
                  </a:lnTo>
                  <a:lnTo>
                    <a:pt x="51" y="152"/>
                  </a:lnTo>
                  <a:lnTo>
                    <a:pt x="59" y="190"/>
                  </a:lnTo>
                  <a:lnTo>
                    <a:pt x="47" y="153"/>
                  </a:lnTo>
                  <a:lnTo>
                    <a:pt x="43" y="155"/>
                  </a:lnTo>
                  <a:lnTo>
                    <a:pt x="53" y="196"/>
                  </a:lnTo>
                  <a:lnTo>
                    <a:pt x="50" y="199"/>
                  </a:lnTo>
                  <a:lnTo>
                    <a:pt x="41" y="165"/>
                  </a:lnTo>
                  <a:lnTo>
                    <a:pt x="39" y="169"/>
                  </a:lnTo>
                  <a:lnTo>
                    <a:pt x="42" y="209"/>
                  </a:lnTo>
                  <a:lnTo>
                    <a:pt x="41" y="209"/>
                  </a:lnTo>
                  <a:lnTo>
                    <a:pt x="34" y="173"/>
                  </a:lnTo>
                  <a:lnTo>
                    <a:pt x="27" y="171"/>
                  </a:lnTo>
                  <a:lnTo>
                    <a:pt x="27" y="222"/>
                  </a:lnTo>
                  <a:lnTo>
                    <a:pt x="23" y="223"/>
                  </a:lnTo>
                  <a:lnTo>
                    <a:pt x="17" y="199"/>
                  </a:lnTo>
                  <a:lnTo>
                    <a:pt x="16" y="199"/>
                  </a:lnTo>
                  <a:lnTo>
                    <a:pt x="12" y="200"/>
                  </a:lnTo>
                  <a:lnTo>
                    <a:pt x="8" y="204"/>
                  </a:lnTo>
                  <a:lnTo>
                    <a:pt x="3" y="208"/>
                  </a:lnTo>
                  <a:lnTo>
                    <a:pt x="2" y="199"/>
                  </a:lnTo>
                  <a:lnTo>
                    <a:pt x="1" y="178"/>
                  </a:lnTo>
                  <a:lnTo>
                    <a:pt x="0" y="154"/>
                  </a:lnTo>
                  <a:lnTo>
                    <a:pt x="3" y="132"/>
                  </a:lnTo>
                  <a:lnTo>
                    <a:pt x="5" y="125"/>
                  </a:lnTo>
                  <a:lnTo>
                    <a:pt x="10" y="108"/>
                  </a:lnTo>
                  <a:lnTo>
                    <a:pt x="10" y="86"/>
                  </a:lnTo>
                  <a:lnTo>
                    <a:pt x="1" y="68"/>
                  </a:lnTo>
                  <a:lnTo>
                    <a:pt x="5" y="57"/>
                  </a:lnTo>
                  <a:lnTo>
                    <a:pt x="8" y="57"/>
                  </a:lnTo>
                  <a:lnTo>
                    <a:pt x="15" y="59"/>
                  </a:lnTo>
                  <a:lnTo>
                    <a:pt x="24" y="60"/>
                  </a:lnTo>
                  <a:lnTo>
                    <a:pt x="35" y="62"/>
                  </a:lnTo>
                  <a:lnTo>
                    <a:pt x="48" y="65"/>
                  </a:lnTo>
                  <a:lnTo>
                    <a:pt x="59" y="69"/>
                  </a:lnTo>
                  <a:lnTo>
                    <a:pt x="71" y="72"/>
                  </a:lnTo>
                  <a:lnTo>
                    <a:pt x="80" y="78"/>
                  </a:lnTo>
                  <a:lnTo>
                    <a:pt x="99" y="76"/>
                  </a:lnTo>
                  <a:lnTo>
                    <a:pt x="117" y="74"/>
                  </a:lnTo>
                  <a:lnTo>
                    <a:pt x="141" y="34"/>
                  </a:lnTo>
                  <a:lnTo>
                    <a:pt x="142" y="30"/>
                  </a:lnTo>
                  <a:lnTo>
                    <a:pt x="145" y="21"/>
                  </a:lnTo>
                  <a:lnTo>
                    <a:pt x="148" y="10"/>
                  </a:lnTo>
                  <a:lnTo>
                    <a:pt x="153" y="4"/>
                  </a:lnTo>
                  <a:lnTo>
                    <a:pt x="180" y="0"/>
                  </a:lnTo>
                  <a:close/>
                </a:path>
              </a:pathLst>
            </a:custGeom>
            <a:solidFill>
              <a:srgbClr val="267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66" name="Freeform 23"/>
            <p:cNvSpPr>
              <a:spLocks/>
            </p:cNvSpPr>
            <p:nvPr/>
          </p:nvSpPr>
          <p:spPr bwMode="auto">
            <a:xfrm>
              <a:off x="4723" y="2577"/>
              <a:ext cx="45" cy="67"/>
            </a:xfrm>
            <a:custGeom>
              <a:avLst/>
              <a:gdLst>
                <a:gd name="T0" fmla="*/ 1 w 90"/>
                <a:gd name="T1" fmla="*/ 0 h 132"/>
                <a:gd name="T2" fmla="*/ 1 w 90"/>
                <a:gd name="T3" fmla="*/ 1 h 132"/>
                <a:gd name="T4" fmla="*/ 0 w 90"/>
                <a:gd name="T5" fmla="*/ 1 h 132"/>
                <a:gd name="T6" fmla="*/ 1 w 90"/>
                <a:gd name="T7" fmla="*/ 1 h 132"/>
                <a:gd name="T8" fmla="*/ 1 w 90"/>
                <a:gd name="T9" fmla="*/ 0 h 132"/>
                <a:gd name="T10" fmla="*/ 1 w 90"/>
                <a:gd name="T11" fmla="*/ 0 h 132"/>
                <a:gd name="T12" fmla="*/ 0 60000 65536"/>
                <a:gd name="T13" fmla="*/ 0 60000 65536"/>
                <a:gd name="T14" fmla="*/ 0 60000 65536"/>
                <a:gd name="T15" fmla="*/ 0 60000 65536"/>
                <a:gd name="T16" fmla="*/ 0 60000 65536"/>
                <a:gd name="T17" fmla="*/ 0 60000 65536"/>
                <a:gd name="T18" fmla="*/ 0 w 90"/>
                <a:gd name="T19" fmla="*/ 0 h 132"/>
                <a:gd name="T20" fmla="*/ 90 w 90"/>
                <a:gd name="T21" fmla="*/ 132 h 132"/>
              </a:gdLst>
              <a:ahLst/>
              <a:cxnLst>
                <a:cxn ang="T12">
                  <a:pos x="T0" y="T1"/>
                </a:cxn>
                <a:cxn ang="T13">
                  <a:pos x="T2" y="T3"/>
                </a:cxn>
                <a:cxn ang="T14">
                  <a:pos x="T4" y="T5"/>
                </a:cxn>
                <a:cxn ang="T15">
                  <a:pos x="T6" y="T7"/>
                </a:cxn>
                <a:cxn ang="T16">
                  <a:pos x="T8" y="T9"/>
                </a:cxn>
                <a:cxn ang="T17">
                  <a:pos x="T10" y="T11"/>
                </a:cxn>
              </a:cxnLst>
              <a:rect l="T18" t="T19" r="T20" b="T21"/>
              <a:pathLst>
                <a:path w="90" h="132">
                  <a:moveTo>
                    <a:pt x="89" y="0"/>
                  </a:moveTo>
                  <a:lnTo>
                    <a:pt x="3" y="119"/>
                  </a:lnTo>
                  <a:lnTo>
                    <a:pt x="0" y="132"/>
                  </a:lnTo>
                  <a:lnTo>
                    <a:pt x="90" y="36"/>
                  </a:lnTo>
                  <a:lnTo>
                    <a:pt x="89" y="0"/>
                  </a:lnTo>
                  <a:close/>
                </a:path>
              </a:pathLst>
            </a:custGeom>
            <a:solidFill>
              <a:srgbClr val="CC8C7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67" name="Freeform 24"/>
            <p:cNvSpPr>
              <a:spLocks/>
            </p:cNvSpPr>
            <p:nvPr/>
          </p:nvSpPr>
          <p:spPr bwMode="auto">
            <a:xfrm>
              <a:off x="4735" y="2674"/>
              <a:ext cx="33" cy="79"/>
            </a:xfrm>
            <a:custGeom>
              <a:avLst/>
              <a:gdLst>
                <a:gd name="T0" fmla="*/ 1 w 64"/>
                <a:gd name="T1" fmla="*/ 0 h 156"/>
                <a:gd name="T2" fmla="*/ 1 w 64"/>
                <a:gd name="T3" fmla="*/ 1 h 156"/>
                <a:gd name="T4" fmla="*/ 1 w 64"/>
                <a:gd name="T5" fmla="*/ 1 h 156"/>
                <a:gd name="T6" fmla="*/ 1 w 64"/>
                <a:gd name="T7" fmla="*/ 1 h 156"/>
                <a:gd name="T8" fmla="*/ 0 w 64"/>
                <a:gd name="T9" fmla="*/ 1 h 156"/>
                <a:gd name="T10" fmla="*/ 1 w 64"/>
                <a:gd name="T11" fmla="*/ 1 h 156"/>
                <a:gd name="T12" fmla="*/ 1 w 64"/>
                <a:gd name="T13" fmla="*/ 0 h 156"/>
                <a:gd name="T14" fmla="*/ 1 w 64"/>
                <a:gd name="T15" fmla="*/ 0 h 156"/>
                <a:gd name="T16" fmla="*/ 0 60000 65536"/>
                <a:gd name="T17" fmla="*/ 0 60000 65536"/>
                <a:gd name="T18" fmla="*/ 0 60000 65536"/>
                <a:gd name="T19" fmla="*/ 0 60000 65536"/>
                <a:gd name="T20" fmla="*/ 0 60000 65536"/>
                <a:gd name="T21" fmla="*/ 0 60000 65536"/>
                <a:gd name="T22" fmla="*/ 0 60000 65536"/>
                <a:gd name="T23" fmla="*/ 0 60000 65536"/>
                <a:gd name="T24" fmla="*/ 0 w 64"/>
                <a:gd name="T25" fmla="*/ 0 h 156"/>
                <a:gd name="T26" fmla="*/ 64 w 64"/>
                <a:gd name="T27" fmla="*/ 156 h 1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4" h="156">
                  <a:moveTo>
                    <a:pt x="59" y="0"/>
                  </a:moveTo>
                  <a:lnTo>
                    <a:pt x="64" y="34"/>
                  </a:lnTo>
                  <a:lnTo>
                    <a:pt x="13" y="137"/>
                  </a:lnTo>
                  <a:lnTo>
                    <a:pt x="9" y="153"/>
                  </a:lnTo>
                  <a:lnTo>
                    <a:pt x="0" y="156"/>
                  </a:lnTo>
                  <a:lnTo>
                    <a:pt x="4" y="146"/>
                  </a:lnTo>
                  <a:lnTo>
                    <a:pt x="59" y="0"/>
                  </a:lnTo>
                  <a:close/>
                </a:path>
              </a:pathLst>
            </a:custGeom>
            <a:solidFill>
              <a:srgbClr val="CC8C7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68" name="Freeform 25"/>
            <p:cNvSpPr>
              <a:spLocks/>
            </p:cNvSpPr>
            <p:nvPr/>
          </p:nvSpPr>
          <p:spPr bwMode="auto">
            <a:xfrm>
              <a:off x="4906" y="2718"/>
              <a:ext cx="24" cy="30"/>
            </a:xfrm>
            <a:custGeom>
              <a:avLst/>
              <a:gdLst>
                <a:gd name="T0" fmla="*/ 0 w 49"/>
                <a:gd name="T1" fmla="*/ 1 h 60"/>
                <a:gd name="T2" fmla="*/ 0 w 49"/>
                <a:gd name="T3" fmla="*/ 0 h 60"/>
                <a:gd name="T4" fmla="*/ 0 w 49"/>
                <a:gd name="T5" fmla="*/ 0 h 60"/>
                <a:gd name="T6" fmla="*/ 0 w 49"/>
                <a:gd name="T7" fmla="*/ 1 h 60"/>
                <a:gd name="T8" fmla="*/ 0 w 49"/>
                <a:gd name="T9" fmla="*/ 1 h 60"/>
                <a:gd name="T10" fmla="*/ 0 w 49"/>
                <a:gd name="T11" fmla="*/ 1 h 60"/>
                <a:gd name="T12" fmla="*/ 0 w 49"/>
                <a:gd name="T13" fmla="*/ 1 h 60"/>
                <a:gd name="T14" fmla="*/ 0 w 49"/>
                <a:gd name="T15" fmla="*/ 1 h 60"/>
                <a:gd name="T16" fmla="*/ 0 w 49"/>
                <a:gd name="T17" fmla="*/ 1 h 60"/>
                <a:gd name="T18" fmla="*/ 0 w 49"/>
                <a:gd name="T19" fmla="*/ 1 h 60"/>
                <a:gd name="T20" fmla="*/ 0 w 49"/>
                <a:gd name="T21" fmla="*/ 1 h 60"/>
                <a:gd name="T22" fmla="*/ 0 w 49"/>
                <a:gd name="T23" fmla="*/ 1 h 60"/>
                <a:gd name="T24" fmla="*/ 0 w 49"/>
                <a:gd name="T25" fmla="*/ 1 h 60"/>
                <a:gd name="T26" fmla="*/ 0 w 49"/>
                <a:gd name="T27" fmla="*/ 1 h 60"/>
                <a:gd name="T28" fmla="*/ 0 w 49"/>
                <a:gd name="T29" fmla="*/ 1 h 60"/>
                <a:gd name="T30" fmla="*/ 0 w 49"/>
                <a:gd name="T31" fmla="*/ 1 h 60"/>
                <a:gd name="T32" fmla="*/ 0 w 49"/>
                <a:gd name="T33" fmla="*/ 1 h 60"/>
                <a:gd name="T34" fmla="*/ 0 w 49"/>
                <a:gd name="T35" fmla="*/ 1 h 60"/>
                <a:gd name="T36" fmla="*/ 0 w 49"/>
                <a:gd name="T37" fmla="*/ 1 h 60"/>
                <a:gd name="T38" fmla="*/ 0 w 49"/>
                <a:gd name="T39" fmla="*/ 1 h 60"/>
                <a:gd name="T40" fmla="*/ 0 w 49"/>
                <a:gd name="T41" fmla="*/ 1 h 60"/>
                <a:gd name="T42" fmla="*/ 0 w 49"/>
                <a:gd name="T43" fmla="*/ 1 h 60"/>
                <a:gd name="T44" fmla="*/ 0 w 49"/>
                <a:gd name="T45" fmla="*/ 1 h 60"/>
                <a:gd name="T46" fmla="*/ 0 w 49"/>
                <a:gd name="T47" fmla="*/ 1 h 60"/>
                <a:gd name="T48" fmla="*/ 0 w 49"/>
                <a:gd name="T49" fmla="*/ 1 h 60"/>
                <a:gd name="T50" fmla="*/ 0 w 49"/>
                <a:gd name="T51" fmla="*/ 1 h 60"/>
                <a:gd name="T52" fmla="*/ 0 w 49"/>
                <a:gd name="T53" fmla="*/ 1 h 60"/>
                <a:gd name="T54" fmla="*/ 0 w 49"/>
                <a:gd name="T55" fmla="*/ 1 h 60"/>
                <a:gd name="T56" fmla="*/ 0 w 49"/>
                <a:gd name="T57" fmla="*/ 1 h 60"/>
                <a:gd name="T58" fmla="*/ 0 w 49"/>
                <a:gd name="T59" fmla="*/ 1 h 60"/>
                <a:gd name="T60" fmla="*/ 0 w 49"/>
                <a:gd name="T61" fmla="*/ 1 h 60"/>
                <a:gd name="T62" fmla="*/ 0 w 49"/>
                <a:gd name="T63" fmla="*/ 1 h 60"/>
                <a:gd name="T64" fmla="*/ 0 w 49"/>
                <a:gd name="T65" fmla="*/ 1 h 60"/>
                <a:gd name="T66" fmla="*/ 0 w 49"/>
                <a:gd name="T67" fmla="*/ 1 h 60"/>
                <a:gd name="T68" fmla="*/ 0 w 49"/>
                <a:gd name="T69" fmla="*/ 1 h 60"/>
                <a:gd name="T70" fmla="*/ 0 w 49"/>
                <a:gd name="T71" fmla="*/ 1 h 60"/>
                <a:gd name="T72" fmla="*/ 0 w 49"/>
                <a:gd name="T73" fmla="*/ 1 h 60"/>
                <a:gd name="T74" fmla="*/ 0 w 49"/>
                <a:gd name="T75" fmla="*/ 1 h 60"/>
                <a:gd name="T76" fmla="*/ 0 w 49"/>
                <a:gd name="T77" fmla="*/ 1 h 60"/>
                <a:gd name="T78" fmla="*/ 0 w 49"/>
                <a:gd name="T79" fmla="*/ 1 h 60"/>
                <a:gd name="T80" fmla="*/ 0 w 49"/>
                <a:gd name="T81" fmla="*/ 1 h 60"/>
                <a:gd name="T82" fmla="*/ 0 w 49"/>
                <a:gd name="T83" fmla="*/ 1 h 60"/>
                <a:gd name="T84" fmla="*/ 0 w 49"/>
                <a:gd name="T85" fmla="*/ 1 h 60"/>
                <a:gd name="T86" fmla="*/ 0 w 49"/>
                <a:gd name="T87" fmla="*/ 1 h 60"/>
                <a:gd name="T88" fmla="*/ 0 w 49"/>
                <a:gd name="T89" fmla="*/ 1 h 60"/>
                <a:gd name="T90" fmla="*/ 0 w 49"/>
                <a:gd name="T91" fmla="*/ 1 h 60"/>
                <a:gd name="T92" fmla="*/ 0 w 49"/>
                <a:gd name="T93" fmla="*/ 1 h 60"/>
                <a:gd name="T94" fmla="*/ 0 w 49"/>
                <a:gd name="T95" fmla="*/ 1 h 60"/>
                <a:gd name="T96" fmla="*/ 0 w 49"/>
                <a:gd name="T97" fmla="*/ 1 h 60"/>
                <a:gd name="T98" fmla="*/ 0 w 49"/>
                <a:gd name="T99" fmla="*/ 1 h 6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9"/>
                <a:gd name="T151" fmla="*/ 0 h 60"/>
                <a:gd name="T152" fmla="*/ 49 w 49"/>
                <a:gd name="T153" fmla="*/ 60 h 6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9" h="60">
                  <a:moveTo>
                    <a:pt x="25" y="4"/>
                  </a:moveTo>
                  <a:lnTo>
                    <a:pt x="36" y="0"/>
                  </a:lnTo>
                  <a:lnTo>
                    <a:pt x="38" y="1"/>
                  </a:lnTo>
                  <a:lnTo>
                    <a:pt x="42" y="4"/>
                  </a:lnTo>
                  <a:lnTo>
                    <a:pt x="45" y="9"/>
                  </a:lnTo>
                  <a:lnTo>
                    <a:pt x="46" y="19"/>
                  </a:lnTo>
                  <a:lnTo>
                    <a:pt x="42" y="28"/>
                  </a:lnTo>
                  <a:lnTo>
                    <a:pt x="41" y="34"/>
                  </a:lnTo>
                  <a:lnTo>
                    <a:pt x="46" y="35"/>
                  </a:lnTo>
                  <a:lnTo>
                    <a:pt x="48" y="37"/>
                  </a:lnTo>
                  <a:lnTo>
                    <a:pt x="49" y="38"/>
                  </a:lnTo>
                  <a:lnTo>
                    <a:pt x="48" y="40"/>
                  </a:lnTo>
                  <a:lnTo>
                    <a:pt x="41" y="48"/>
                  </a:lnTo>
                  <a:lnTo>
                    <a:pt x="36" y="47"/>
                  </a:lnTo>
                  <a:lnTo>
                    <a:pt x="29" y="54"/>
                  </a:lnTo>
                  <a:lnTo>
                    <a:pt x="28" y="55"/>
                  </a:lnTo>
                  <a:lnTo>
                    <a:pt x="26" y="58"/>
                  </a:lnTo>
                  <a:lnTo>
                    <a:pt x="22" y="60"/>
                  </a:lnTo>
                  <a:lnTo>
                    <a:pt x="18" y="59"/>
                  </a:lnTo>
                  <a:lnTo>
                    <a:pt x="0" y="44"/>
                  </a:lnTo>
                  <a:lnTo>
                    <a:pt x="5" y="32"/>
                  </a:lnTo>
                  <a:lnTo>
                    <a:pt x="10" y="34"/>
                  </a:lnTo>
                  <a:lnTo>
                    <a:pt x="11" y="37"/>
                  </a:lnTo>
                  <a:lnTo>
                    <a:pt x="12" y="36"/>
                  </a:lnTo>
                  <a:lnTo>
                    <a:pt x="11" y="32"/>
                  </a:lnTo>
                  <a:lnTo>
                    <a:pt x="8" y="29"/>
                  </a:lnTo>
                  <a:lnTo>
                    <a:pt x="10" y="23"/>
                  </a:lnTo>
                  <a:lnTo>
                    <a:pt x="15" y="25"/>
                  </a:lnTo>
                  <a:lnTo>
                    <a:pt x="13" y="16"/>
                  </a:lnTo>
                  <a:lnTo>
                    <a:pt x="20" y="10"/>
                  </a:lnTo>
                  <a:lnTo>
                    <a:pt x="22" y="12"/>
                  </a:lnTo>
                  <a:lnTo>
                    <a:pt x="23" y="16"/>
                  </a:lnTo>
                  <a:lnTo>
                    <a:pt x="33" y="21"/>
                  </a:lnTo>
                  <a:lnTo>
                    <a:pt x="37" y="21"/>
                  </a:lnTo>
                  <a:lnTo>
                    <a:pt x="37" y="20"/>
                  </a:lnTo>
                  <a:lnTo>
                    <a:pt x="36" y="15"/>
                  </a:lnTo>
                  <a:lnTo>
                    <a:pt x="34" y="12"/>
                  </a:lnTo>
                  <a:lnTo>
                    <a:pt x="31" y="8"/>
                  </a:lnTo>
                  <a:lnTo>
                    <a:pt x="22" y="7"/>
                  </a:lnTo>
                  <a:lnTo>
                    <a:pt x="25" y="4"/>
                  </a:lnTo>
                  <a:close/>
                </a:path>
              </a:pathLst>
            </a:custGeom>
            <a:solidFill>
              <a:srgbClr val="992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69" name="Freeform 26"/>
            <p:cNvSpPr>
              <a:spLocks/>
            </p:cNvSpPr>
            <p:nvPr/>
          </p:nvSpPr>
          <p:spPr bwMode="auto">
            <a:xfrm>
              <a:off x="4846" y="2707"/>
              <a:ext cx="14" cy="21"/>
            </a:xfrm>
            <a:custGeom>
              <a:avLst/>
              <a:gdLst>
                <a:gd name="T0" fmla="*/ 1 w 28"/>
                <a:gd name="T1" fmla="*/ 0 h 42"/>
                <a:gd name="T2" fmla="*/ 1 w 28"/>
                <a:gd name="T3" fmla="*/ 1 h 42"/>
                <a:gd name="T4" fmla="*/ 0 w 28"/>
                <a:gd name="T5" fmla="*/ 1 h 42"/>
                <a:gd name="T6" fmla="*/ 0 w 28"/>
                <a:gd name="T7" fmla="*/ 1 h 42"/>
                <a:gd name="T8" fmla="*/ 1 w 28"/>
                <a:gd name="T9" fmla="*/ 1 h 42"/>
                <a:gd name="T10" fmla="*/ 1 w 28"/>
                <a:gd name="T11" fmla="*/ 1 h 42"/>
                <a:gd name="T12" fmla="*/ 1 w 28"/>
                <a:gd name="T13" fmla="*/ 1 h 42"/>
                <a:gd name="T14" fmla="*/ 1 w 28"/>
                <a:gd name="T15" fmla="*/ 1 h 42"/>
                <a:gd name="T16" fmla="*/ 1 w 28"/>
                <a:gd name="T17" fmla="*/ 1 h 42"/>
                <a:gd name="T18" fmla="*/ 1 w 28"/>
                <a:gd name="T19" fmla="*/ 1 h 42"/>
                <a:gd name="T20" fmla="*/ 1 w 28"/>
                <a:gd name="T21" fmla="*/ 1 h 42"/>
                <a:gd name="T22" fmla="*/ 1 w 28"/>
                <a:gd name="T23" fmla="*/ 1 h 42"/>
                <a:gd name="T24" fmla="*/ 1 w 28"/>
                <a:gd name="T25" fmla="*/ 0 h 42"/>
                <a:gd name="T26" fmla="*/ 1 w 28"/>
                <a:gd name="T27" fmla="*/ 0 h 4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8"/>
                <a:gd name="T43" fmla="*/ 0 h 42"/>
                <a:gd name="T44" fmla="*/ 28 w 28"/>
                <a:gd name="T45" fmla="*/ 42 h 4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8" h="42">
                  <a:moveTo>
                    <a:pt x="23" y="0"/>
                  </a:moveTo>
                  <a:lnTo>
                    <a:pt x="10" y="1"/>
                  </a:lnTo>
                  <a:lnTo>
                    <a:pt x="0" y="29"/>
                  </a:lnTo>
                  <a:lnTo>
                    <a:pt x="1" y="31"/>
                  </a:lnTo>
                  <a:lnTo>
                    <a:pt x="3" y="35"/>
                  </a:lnTo>
                  <a:lnTo>
                    <a:pt x="6" y="39"/>
                  </a:lnTo>
                  <a:lnTo>
                    <a:pt x="13" y="42"/>
                  </a:lnTo>
                  <a:lnTo>
                    <a:pt x="20" y="28"/>
                  </a:lnTo>
                  <a:lnTo>
                    <a:pt x="26" y="20"/>
                  </a:lnTo>
                  <a:lnTo>
                    <a:pt x="28" y="13"/>
                  </a:lnTo>
                  <a:lnTo>
                    <a:pt x="23" y="0"/>
                  </a:lnTo>
                  <a:close/>
                </a:path>
              </a:pathLst>
            </a:custGeom>
            <a:solidFill>
              <a:srgbClr val="992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70" name="Freeform 27"/>
            <p:cNvSpPr>
              <a:spLocks/>
            </p:cNvSpPr>
            <p:nvPr/>
          </p:nvSpPr>
          <p:spPr bwMode="auto">
            <a:xfrm>
              <a:off x="4889" y="2855"/>
              <a:ext cx="15" cy="16"/>
            </a:xfrm>
            <a:custGeom>
              <a:avLst/>
              <a:gdLst>
                <a:gd name="T0" fmla="*/ 0 w 31"/>
                <a:gd name="T1" fmla="*/ 0 h 33"/>
                <a:gd name="T2" fmla="*/ 0 w 31"/>
                <a:gd name="T3" fmla="*/ 0 h 33"/>
                <a:gd name="T4" fmla="*/ 0 w 31"/>
                <a:gd name="T5" fmla="*/ 0 h 33"/>
                <a:gd name="T6" fmla="*/ 0 w 31"/>
                <a:gd name="T7" fmla="*/ 0 h 33"/>
                <a:gd name="T8" fmla="*/ 0 w 31"/>
                <a:gd name="T9" fmla="*/ 0 h 33"/>
                <a:gd name="T10" fmla="*/ 0 w 31"/>
                <a:gd name="T11" fmla="*/ 0 h 33"/>
                <a:gd name="T12" fmla="*/ 0 w 31"/>
                <a:gd name="T13" fmla="*/ 0 h 33"/>
                <a:gd name="T14" fmla="*/ 0 w 31"/>
                <a:gd name="T15" fmla="*/ 0 h 33"/>
                <a:gd name="T16" fmla="*/ 0 60000 65536"/>
                <a:gd name="T17" fmla="*/ 0 60000 65536"/>
                <a:gd name="T18" fmla="*/ 0 60000 65536"/>
                <a:gd name="T19" fmla="*/ 0 60000 65536"/>
                <a:gd name="T20" fmla="*/ 0 60000 65536"/>
                <a:gd name="T21" fmla="*/ 0 60000 65536"/>
                <a:gd name="T22" fmla="*/ 0 60000 65536"/>
                <a:gd name="T23" fmla="*/ 0 60000 65536"/>
                <a:gd name="T24" fmla="*/ 0 w 31"/>
                <a:gd name="T25" fmla="*/ 0 h 33"/>
                <a:gd name="T26" fmla="*/ 31 w 31"/>
                <a:gd name="T27" fmla="*/ 33 h 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 h="33">
                  <a:moveTo>
                    <a:pt x="9" y="0"/>
                  </a:moveTo>
                  <a:lnTo>
                    <a:pt x="0" y="14"/>
                  </a:lnTo>
                  <a:lnTo>
                    <a:pt x="17" y="33"/>
                  </a:lnTo>
                  <a:lnTo>
                    <a:pt x="31" y="22"/>
                  </a:lnTo>
                  <a:lnTo>
                    <a:pt x="22" y="14"/>
                  </a:lnTo>
                  <a:lnTo>
                    <a:pt x="15" y="7"/>
                  </a:lnTo>
                  <a:lnTo>
                    <a:pt x="9" y="0"/>
                  </a:lnTo>
                  <a:close/>
                </a:path>
              </a:pathLst>
            </a:custGeom>
            <a:solidFill>
              <a:srgbClr val="992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71" name="Freeform 28"/>
            <p:cNvSpPr>
              <a:spLocks/>
            </p:cNvSpPr>
            <p:nvPr/>
          </p:nvSpPr>
          <p:spPr bwMode="auto">
            <a:xfrm>
              <a:off x="4884" y="2760"/>
              <a:ext cx="32" cy="43"/>
            </a:xfrm>
            <a:custGeom>
              <a:avLst/>
              <a:gdLst>
                <a:gd name="T0" fmla="*/ 0 w 65"/>
                <a:gd name="T1" fmla="*/ 0 h 88"/>
                <a:gd name="T2" fmla="*/ 0 w 65"/>
                <a:gd name="T3" fmla="*/ 0 h 88"/>
                <a:gd name="T4" fmla="*/ 0 w 65"/>
                <a:gd name="T5" fmla="*/ 0 h 88"/>
                <a:gd name="T6" fmla="*/ 0 w 65"/>
                <a:gd name="T7" fmla="*/ 0 h 88"/>
                <a:gd name="T8" fmla="*/ 0 w 65"/>
                <a:gd name="T9" fmla="*/ 0 h 88"/>
                <a:gd name="T10" fmla="*/ 0 w 65"/>
                <a:gd name="T11" fmla="*/ 0 h 88"/>
                <a:gd name="T12" fmla="*/ 0 w 65"/>
                <a:gd name="T13" fmla="*/ 0 h 88"/>
                <a:gd name="T14" fmla="*/ 0 w 65"/>
                <a:gd name="T15" fmla="*/ 0 h 88"/>
                <a:gd name="T16" fmla="*/ 0 w 65"/>
                <a:gd name="T17" fmla="*/ 0 h 88"/>
                <a:gd name="T18" fmla="*/ 0 w 65"/>
                <a:gd name="T19" fmla="*/ 0 h 88"/>
                <a:gd name="T20" fmla="*/ 0 w 65"/>
                <a:gd name="T21" fmla="*/ 0 h 88"/>
                <a:gd name="T22" fmla="*/ 0 w 65"/>
                <a:gd name="T23" fmla="*/ 0 h 88"/>
                <a:gd name="T24" fmla="*/ 0 w 65"/>
                <a:gd name="T25" fmla="*/ 0 h 88"/>
                <a:gd name="T26" fmla="*/ 0 w 65"/>
                <a:gd name="T27" fmla="*/ 0 h 88"/>
                <a:gd name="T28" fmla="*/ 0 w 65"/>
                <a:gd name="T29" fmla="*/ 0 h 88"/>
                <a:gd name="T30" fmla="*/ 0 w 65"/>
                <a:gd name="T31" fmla="*/ 0 h 88"/>
                <a:gd name="T32" fmla="*/ 0 w 65"/>
                <a:gd name="T33" fmla="*/ 0 h 88"/>
                <a:gd name="T34" fmla="*/ 0 w 65"/>
                <a:gd name="T35" fmla="*/ 0 h 88"/>
                <a:gd name="T36" fmla="*/ 0 w 65"/>
                <a:gd name="T37" fmla="*/ 0 h 88"/>
                <a:gd name="T38" fmla="*/ 0 w 65"/>
                <a:gd name="T39" fmla="*/ 0 h 88"/>
                <a:gd name="T40" fmla="*/ 0 w 65"/>
                <a:gd name="T41" fmla="*/ 0 h 88"/>
                <a:gd name="T42" fmla="*/ 0 w 65"/>
                <a:gd name="T43" fmla="*/ 0 h 88"/>
                <a:gd name="T44" fmla="*/ 0 w 65"/>
                <a:gd name="T45" fmla="*/ 0 h 88"/>
                <a:gd name="T46" fmla="*/ 0 w 65"/>
                <a:gd name="T47" fmla="*/ 0 h 88"/>
                <a:gd name="T48" fmla="*/ 0 w 65"/>
                <a:gd name="T49" fmla="*/ 0 h 88"/>
                <a:gd name="T50" fmla="*/ 0 w 65"/>
                <a:gd name="T51" fmla="*/ 0 h 88"/>
                <a:gd name="T52" fmla="*/ 0 w 65"/>
                <a:gd name="T53" fmla="*/ 0 h 88"/>
                <a:gd name="T54" fmla="*/ 0 w 65"/>
                <a:gd name="T55" fmla="*/ 0 h 88"/>
                <a:gd name="T56" fmla="*/ 0 w 65"/>
                <a:gd name="T57" fmla="*/ 0 h 88"/>
                <a:gd name="T58" fmla="*/ 0 w 65"/>
                <a:gd name="T59" fmla="*/ 0 h 8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65"/>
                <a:gd name="T91" fmla="*/ 0 h 88"/>
                <a:gd name="T92" fmla="*/ 65 w 65"/>
                <a:gd name="T93" fmla="*/ 88 h 8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65" h="88">
                  <a:moveTo>
                    <a:pt x="55" y="0"/>
                  </a:moveTo>
                  <a:lnTo>
                    <a:pt x="40" y="1"/>
                  </a:lnTo>
                  <a:lnTo>
                    <a:pt x="38" y="5"/>
                  </a:lnTo>
                  <a:lnTo>
                    <a:pt x="36" y="6"/>
                  </a:lnTo>
                  <a:lnTo>
                    <a:pt x="32" y="10"/>
                  </a:lnTo>
                  <a:lnTo>
                    <a:pt x="26" y="18"/>
                  </a:lnTo>
                  <a:lnTo>
                    <a:pt x="18" y="28"/>
                  </a:lnTo>
                  <a:lnTo>
                    <a:pt x="11" y="38"/>
                  </a:lnTo>
                  <a:lnTo>
                    <a:pt x="5" y="51"/>
                  </a:lnTo>
                  <a:lnTo>
                    <a:pt x="2" y="65"/>
                  </a:lnTo>
                  <a:lnTo>
                    <a:pt x="0" y="78"/>
                  </a:lnTo>
                  <a:lnTo>
                    <a:pt x="0" y="88"/>
                  </a:lnTo>
                  <a:lnTo>
                    <a:pt x="2" y="85"/>
                  </a:lnTo>
                  <a:lnTo>
                    <a:pt x="4" y="80"/>
                  </a:lnTo>
                  <a:lnTo>
                    <a:pt x="9" y="71"/>
                  </a:lnTo>
                  <a:lnTo>
                    <a:pt x="14" y="62"/>
                  </a:lnTo>
                  <a:lnTo>
                    <a:pt x="21" y="52"/>
                  </a:lnTo>
                  <a:lnTo>
                    <a:pt x="27" y="40"/>
                  </a:lnTo>
                  <a:lnTo>
                    <a:pt x="34" y="31"/>
                  </a:lnTo>
                  <a:lnTo>
                    <a:pt x="40" y="24"/>
                  </a:lnTo>
                  <a:lnTo>
                    <a:pt x="42" y="22"/>
                  </a:lnTo>
                  <a:lnTo>
                    <a:pt x="49" y="15"/>
                  </a:lnTo>
                  <a:lnTo>
                    <a:pt x="57" y="9"/>
                  </a:lnTo>
                  <a:lnTo>
                    <a:pt x="65" y="8"/>
                  </a:lnTo>
                  <a:lnTo>
                    <a:pt x="5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72" name="Freeform 29"/>
            <p:cNvSpPr>
              <a:spLocks/>
            </p:cNvSpPr>
            <p:nvPr/>
          </p:nvSpPr>
          <p:spPr bwMode="auto">
            <a:xfrm>
              <a:off x="4880" y="2751"/>
              <a:ext cx="23" cy="34"/>
            </a:xfrm>
            <a:custGeom>
              <a:avLst/>
              <a:gdLst>
                <a:gd name="T0" fmla="*/ 1 w 46"/>
                <a:gd name="T1" fmla="*/ 0 h 69"/>
                <a:gd name="T2" fmla="*/ 1 w 46"/>
                <a:gd name="T3" fmla="*/ 0 h 69"/>
                <a:gd name="T4" fmla="*/ 1 w 46"/>
                <a:gd name="T5" fmla="*/ 0 h 69"/>
                <a:gd name="T6" fmla="*/ 1 w 46"/>
                <a:gd name="T7" fmla="*/ 0 h 69"/>
                <a:gd name="T8" fmla="*/ 1 w 46"/>
                <a:gd name="T9" fmla="*/ 0 h 69"/>
                <a:gd name="T10" fmla="*/ 1 w 46"/>
                <a:gd name="T11" fmla="*/ 0 h 69"/>
                <a:gd name="T12" fmla="*/ 1 w 46"/>
                <a:gd name="T13" fmla="*/ 0 h 69"/>
                <a:gd name="T14" fmla="*/ 1 w 46"/>
                <a:gd name="T15" fmla="*/ 0 h 69"/>
                <a:gd name="T16" fmla="*/ 1 w 46"/>
                <a:gd name="T17" fmla="*/ 0 h 69"/>
                <a:gd name="T18" fmla="*/ 1 w 46"/>
                <a:gd name="T19" fmla="*/ 0 h 69"/>
                <a:gd name="T20" fmla="*/ 1 w 46"/>
                <a:gd name="T21" fmla="*/ 0 h 69"/>
                <a:gd name="T22" fmla="*/ 0 w 46"/>
                <a:gd name="T23" fmla="*/ 0 h 69"/>
                <a:gd name="T24" fmla="*/ 0 w 46"/>
                <a:gd name="T25" fmla="*/ 0 h 69"/>
                <a:gd name="T26" fmla="*/ 0 w 46"/>
                <a:gd name="T27" fmla="*/ 0 h 69"/>
                <a:gd name="T28" fmla="*/ 1 w 46"/>
                <a:gd name="T29" fmla="*/ 0 h 69"/>
                <a:gd name="T30" fmla="*/ 1 w 46"/>
                <a:gd name="T31" fmla="*/ 0 h 69"/>
                <a:gd name="T32" fmla="*/ 1 w 46"/>
                <a:gd name="T33" fmla="*/ 0 h 69"/>
                <a:gd name="T34" fmla="*/ 1 w 46"/>
                <a:gd name="T35" fmla="*/ 0 h 69"/>
                <a:gd name="T36" fmla="*/ 1 w 46"/>
                <a:gd name="T37" fmla="*/ 0 h 69"/>
                <a:gd name="T38" fmla="*/ 1 w 46"/>
                <a:gd name="T39" fmla="*/ 0 h 69"/>
                <a:gd name="T40" fmla="*/ 1 w 46"/>
                <a:gd name="T41" fmla="*/ 0 h 69"/>
                <a:gd name="T42" fmla="*/ 1 w 46"/>
                <a:gd name="T43" fmla="*/ 0 h 69"/>
                <a:gd name="T44" fmla="*/ 1 w 46"/>
                <a:gd name="T45" fmla="*/ 0 h 6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6"/>
                <a:gd name="T70" fmla="*/ 0 h 69"/>
                <a:gd name="T71" fmla="*/ 46 w 46"/>
                <a:gd name="T72" fmla="*/ 69 h 6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6" h="69">
                  <a:moveTo>
                    <a:pt x="46" y="0"/>
                  </a:moveTo>
                  <a:lnTo>
                    <a:pt x="44" y="8"/>
                  </a:lnTo>
                  <a:lnTo>
                    <a:pt x="35" y="16"/>
                  </a:lnTo>
                  <a:lnTo>
                    <a:pt x="34" y="17"/>
                  </a:lnTo>
                  <a:lnTo>
                    <a:pt x="31" y="21"/>
                  </a:lnTo>
                  <a:lnTo>
                    <a:pt x="26" y="26"/>
                  </a:lnTo>
                  <a:lnTo>
                    <a:pt x="20" y="33"/>
                  </a:lnTo>
                  <a:lnTo>
                    <a:pt x="13" y="42"/>
                  </a:lnTo>
                  <a:lnTo>
                    <a:pt x="8" y="50"/>
                  </a:lnTo>
                  <a:lnTo>
                    <a:pt x="3" y="60"/>
                  </a:lnTo>
                  <a:lnTo>
                    <a:pt x="0" y="69"/>
                  </a:lnTo>
                  <a:lnTo>
                    <a:pt x="0" y="68"/>
                  </a:lnTo>
                  <a:lnTo>
                    <a:pt x="0" y="63"/>
                  </a:lnTo>
                  <a:lnTo>
                    <a:pt x="1" y="56"/>
                  </a:lnTo>
                  <a:lnTo>
                    <a:pt x="3" y="48"/>
                  </a:lnTo>
                  <a:lnTo>
                    <a:pt x="6" y="39"/>
                  </a:lnTo>
                  <a:lnTo>
                    <a:pt x="12" y="27"/>
                  </a:lnTo>
                  <a:lnTo>
                    <a:pt x="21" y="16"/>
                  </a:lnTo>
                  <a:lnTo>
                    <a:pt x="33" y="4"/>
                  </a:lnTo>
                  <a:lnTo>
                    <a:pt x="4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73" name="Freeform 30"/>
            <p:cNvSpPr>
              <a:spLocks/>
            </p:cNvSpPr>
            <p:nvPr/>
          </p:nvSpPr>
          <p:spPr bwMode="auto">
            <a:xfrm>
              <a:off x="4911" y="2902"/>
              <a:ext cx="14" cy="15"/>
            </a:xfrm>
            <a:custGeom>
              <a:avLst/>
              <a:gdLst>
                <a:gd name="T0" fmla="*/ 1 w 26"/>
                <a:gd name="T1" fmla="*/ 0 h 31"/>
                <a:gd name="T2" fmla="*/ 0 w 26"/>
                <a:gd name="T3" fmla="*/ 0 h 31"/>
                <a:gd name="T4" fmla="*/ 1 w 26"/>
                <a:gd name="T5" fmla="*/ 0 h 31"/>
                <a:gd name="T6" fmla="*/ 1 w 26"/>
                <a:gd name="T7" fmla="*/ 0 h 31"/>
                <a:gd name="T8" fmla="*/ 1 w 26"/>
                <a:gd name="T9" fmla="*/ 0 h 31"/>
                <a:gd name="T10" fmla="*/ 1 w 26"/>
                <a:gd name="T11" fmla="*/ 0 h 31"/>
                <a:gd name="T12" fmla="*/ 1 w 26"/>
                <a:gd name="T13" fmla="*/ 0 h 31"/>
                <a:gd name="T14" fmla="*/ 1 w 26"/>
                <a:gd name="T15" fmla="*/ 0 h 31"/>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31"/>
                <a:gd name="T26" fmla="*/ 26 w 26"/>
                <a:gd name="T27" fmla="*/ 31 h 3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31">
                  <a:moveTo>
                    <a:pt x="19" y="0"/>
                  </a:moveTo>
                  <a:lnTo>
                    <a:pt x="0" y="3"/>
                  </a:lnTo>
                  <a:lnTo>
                    <a:pt x="10" y="30"/>
                  </a:lnTo>
                  <a:lnTo>
                    <a:pt x="24" y="31"/>
                  </a:lnTo>
                  <a:lnTo>
                    <a:pt x="22" y="15"/>
                  </a:lnTo>
                  <a:lnTo>
                    <a:pt x="26" y="9"/>
                  </a:lnTo>
                  <a:lnTo>
                    <a:pt x="19" y="0"/>
                  </a:lnTo>
                  <a:close/>
                </a:path>
              </a:pathLst>
            </a:custGeom>
            <a:solidFill>
              <a:srgbClr val="F2D8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74" name="Freeform 31"/>
            <p:cNvSpPr>
              <a:spLocks/>
            </p:cNvSpPr>
            <p:nvPr/>
          </p:nvSpPr>
          <p:spPr bwMode="auto">
            <a:xfrm>
              <a:off x="4995" y="2929"/>
              <a:ext cx="24" cy="32"/>
            </a:xfrm>
            <a:custGeom>
              <a:avLst/>
              <a:gdLst>
                <a:gd name="T0" fmla="*/ 1 w 48"/>
                <a:gd name="T1" fmla="*/ 0 h 63"/>
                <a:gd name="T2" fmla="*/ 1 w 48"/>
                <a:gd name="T3" fmla="*/ 1 h 63"/>
                <a:gd name="T4" fmla="*/ 1 w 48"/>
                <a:gd name="T5" fmla="*/ 1 h 63"/>
                <a:gd name="T6" fmla="*/ 1 w 48"/>
                <a:gd name="T7" fmla="*/ 1 h 63"/>
                <a:gd name="T8" fmla="*/ 1 w 48"/>
                <a:gd name="T9" fmla="*/ 1 h 63"/>
                <a:gd name="T10" fmla="*/ 1 w 48"/>
                <a:gd name="T11" fmla="*/ 1 h 63"/>
                <a:gd name="T12" fmla="*/ 1 w 48"/>
                <a:gd name="T13" fmla="*/ 1 h 63"/>
                <a:gd name="T14" fmla="*/ 1 w 48"/>
                <a:gd name="T15" fmla="*/ 1 h 63"/>
                <a:gd name="T16" fmla="*/ 1 w 48"/>
                <a:gd name="T17" fmla="*/ 1 h 63"/>
                <a:gd name="T18" fmla="*/ 1 w 48"/>
                <a:gd name="T19" fmla="*/ 1 h 63"/>
                <a:gd name="T20" fmla="*/ 1 w 48"/>
                <a:gd name="T21" fmla="*/ 1 h 63"/>
                <a:gd name="T22" fmla="*/ 1 w 48"/>
                <a:gd name="T23" fmla="*/ 1 h 63"/>
                <a:gd name="T24" fmla="*/ 1 w 48"/>
                <a:gd name="T25" fmla="*/ 1 h 63"/>
                <a:gd name="T26" fmla="*/ 1 w 48"/>
                <a:gd name="T27" fmla="*/ 1 h 63"/>
                <a:gd name="T28" fmla="*/ 1 w 48"/>
                <a:gd name="T29" fmla="*/ 1 h 63"/>
                <a:gd name="T30" fmla="*/ 1 w 48"/>
                <a:gd name="T31" fmla="*/ 1 h 63"/>
                <a:gd name="T32" fmla="*/ 1 w 48"/>
                <a:gd name="T33" fmla="*/ 1 h 63"/>
                <a:gd name="T34" fmla="*/ 0 w 48"/>
                <a:gd name="T35" fmla="*/ 1 h 63"/>
                <a:gd name="T36" fmla="*/ 1 w 48"/>
                <a:gd name="T37" fmla="*/ 1 h 63"/>
                <a:gd name="T38" fmla="*/ 1 w 48"/>
                <a:gd name="T39" fmla="*/ 1 h 63"/>
                <a:gd name="T40" fmla="*/ 1 w 48"/>
                <a:gd name="T41" fmla="*/ 1 h 63"/>
                <a:gd name="T42" fmla="*/ 1 w 48"/>
                <a:gd name="T43" fmla="*/ 1 h 63"/>
                <a:gd name="T44" fmla="*/ 1 w 48"/>
                <a:gd name="T45" fmla="*/ 1 h 63"/>
                <a:gd name="T46" fmla="*/ 1 w 48"/>
                <a:gd name="T47" fmla="*/ 1 h 63"/>
                <a:gd name="T48" fmla="*/ 1 w 48"/>
                <a:gd name="T49" fmla="*/ 1 h 63"/>
                <a:gd name="T50" fmla="*/ 1 w 48"/>
                <a:gd name="T51" fmla="*/ 1 h 63"/>
                <a:gd name="T52" fmla="*/ 1 w 48"/>
                <a:gd name="T53" fmla="*/ 1 h 63"/>
                <a:gd name="T54" fmla="*/ 1 w 48"/>
                <a:gd name="T55" fmla="*/ 1 h 63"/>
                <a:gd name="T56" fmla="*/ 1 w 48"/>
                <a:gd name="T57" fmla="*/ 1 h 63"/>
                <a:gd name="T58" fmla="*/ 1 w 48"/>
                <a:gd name="T59" fmla="*/ 1 h 63"/>
                <a:gd name="T60" fmla="*/ 1 w 48"/>
                <a:gd name="T61" fmla="*/ 1 h 63"/>
                <a:gd name="T62" fmla="*/ 1 w 48"/>
                <a:gd name="T63" fmla="*/ 1 h 63"/>
                <a:gd name="T64" fmla="*/ 1 w 48"/>
                <a:gd name="T65" fmla="*/ 1 h 63"/>
                <a:gd name="T66" fmla="*/ 1 w 48"/>
                <a:gd name="T67" fmla="*/ 0 h 63"/>
                <a:gd name="T68" fmla="*/ 1 w 48"/>
                <a:gd name="T69" fmla="*/ 0 h 63"/>
                <a:gd name="T70" fmla="*/ 1 w 48"/>
                <a:gd name="T71" fmla="*/ 0 h 6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8"/>
                <a:gd name="T109" fmla="*/ 0 h 63"/>
                <a:gd name="T110" fmla="*/ 48 w 48"/>
                <a:gd name="T111" fmla="*/ 63 h 6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8" h="63">
                  <a:moveTo>
                    <a:pt x="34" y="0"/>
                  </a:moveTo>
                  <a:lnTo>
                    <a:pt x="21" y="10"/>
                  </a:lnTo>
                  <a:lnTo>
                    <a:pt x="26" y="12"/>
                  </a:lnTo>
                  <a:lnTo>
                    <a:pt x="27" y="12"/>
                  </a:lnTo>
                  <a:lnTo>
                    <a:pt x="30" y="15"/>
                  </a:lnTo>
                  <a:lnTo>
                    <a:pt x="32" y="18"/>
                  </a:lnTo>
                  <a:lnTo>
                    <a:pt x="33" y="25"/>
                  </a:lnTo>
                  <a:lnTo>
                    <a:pt x="28" y="25"/>
                  </a:lnTo>
                  <a:lnTo>
                    <a:pt x="19" y="16"/>
                  </a:lnTo>
                  <a:lnTo>
                    <a:pt x="10" y="24"/>
                  </a:lnTo>
                  <a:lnTo>
                    <a:pt x="4" y="38"/>
                  </a:lnTo>
                  <a:lnTo>
                    <a:pt x="3" y="39"/>
                  </a:lnTo>
                  <a:lnTo>
                    <a:pt x="2" y="42"/>
                  </a:lnTo>
                  <a:lnTo>
                    <a:pt x="1" y="46"/>
                  </a:lnTo>
                  <a:lnTo>
                    <a:pt x="0" y="50"/>
                  </a:lnTo>
                  <a:lnTo>
                    <a:pt x="1" y="52"/>
                  </a:lnTo>
                  <a:lnTo>
                    <a:pt x="4" y="55"/>
                  </a:lnTo>
                  <a:lnTo>
                    <a:pt x="11" y="60"/>
                  </a:lnTo>
                  <a:lnTo>
                    <a:pt x="20" y="63"/>
                  </a:lnTo>
                  <a:lnTo>
                    <a:pt x="24" y="62"/>
                  </a:lnTo>
                  <a:lnTo>
                    <a:pt x="30" y="57"/>
                  </a:lnTo>
                  <a:lnTo>
                    <a:pt x="38" y="52"/>
                  </a:lnTo>
                  <a:lnTo>
                    <a:pt x="42" y="44"/>
                  </a:lnTo>
                  <a:lnTo>
                    <a:pt x="42" y="40"/>
                  </a:lnTo>
                  <a:lnTo>
                    <a:pt x="43" y="32"/>
                  </a:lnTo>
                  <a:lnTo>
                    <a:pt x="46" y="22"/>
                  </a:lnTo>
                  <a:lnTo>
                    <a:pt x="48" y="14"/>
                  </a:lnTo>
                  <a:lnTo>
                    <a:pt x="47" y="11"/>
                  </a:lnTo>
                  <a:lnTo>
                    <a:pt x="45" y="8"/>
                  </a:lnTo>
                  <a:lnTo>
                    <a:pt x="40" y="3"/>
                  </a:lnTo>
                  <a:lnTo>
                    <a:pt x="34" y="0"/>
                  </a:lnTo>
                  <a:close/>
                </a:path>
              </a:pathLst>
            </a:custGeom>
            <a:solidFill>
              <a:srgbClr val="F2D8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75" name="Freeform 32"/>
            <p:cNvSpPr>
              <a:spLocks/>
            </p:cNvSpPr>
            <p:nvPr/>
          </p:nvSpPr>
          <p:spPr bwMode="auto">
            <a:xfrm>
              <a:off x="5014" y="2923"/>
              <a:ext cx="12" cy="34"/>
            </a:xfrm>
            <a:custGeom>
              <a:avLst/>
              <a:gdLst>
                <a:gd name="T0" fmla="*/ 0 w 24"/>
                <a:gd name="T1" fmla="*/ 1 h 68"/>
                <a:gd name="T2" fmla="*/ 1 w 24"/>
                <a:gd name="T3" fmla="*/ 1 h 68"/>
                <a:gd name="T4" fmla="*/ 1 w 24"/>
                <a:gd name="T5" fmla="*/ 1 h 68"/>
                <a:gd name="T6" fmla="*/ 1 w 24"/>
                <a:gd name="T7" fmla="*/ 1 h 68"/>
                <a:gd name="T8" fmla="*/ 1 w 24"/>
                <a:gd name="T9" fmla="*/ 1 h 68"/>
                <a:gd name="T10" fmla="*/ 1 w 24"/>
                <a:gd name="T11" fmla="*/ 1 h 68"/>
                <a:gd name="T12" fmla="*/ 1 w 24"/>
                <a:gd name="T13" fmla="*/ 1 h 68"/>
                <a:gd name="T14" fmla="*/ 1 w 24"/>
                <a:gd name="T15" fmla="*/ 1 h 68"/>
                <a:gd name="T16" fmla="*/ 1 w 24"/>
                <a:gd name="T17" fmla="*/ 1 h 68"/>
                <a:gd name="T18" fmla="*/ 1 w 24"/>
                <a:gd name="T19" fmla="*/ 1 h 68"/>
                <a:gd name="T20" fmla="*/ 1 w 24"/>
                <a:gd name="T21" fmla="*/ 1 h 68"/>
                <a:gd name="T22" fmla="*/ 1 w 24"/>
                <a:gd name="T23" fmla="*/ 1 h 68"/>
                <a:gd name="T24" fmla="*/ 1 w 24"/>
                <a:gd name="T25" fmla="*/ 1 h 68"/>
                <a:gd name="T26" fmla="*/ 1 w 24"/>
                <a:gd name="T27" fmla="*/ 1 h 68"/>
                <a:gd name="T28" fmla="*/ 1 w 24"/>
                <a:gd name="T29" fmla="*/ 1 h 68"/>
                <a:gd name="T30" fmla="*/ 1 w 24"/>
                <a:gd name="T31" fmla="*/ 1 h 68"/>
                <a:gd name="T32" fmla="*/ 1 w 24"/>
                <a:gd name="T33" fmla="*/ 1 h 68"/>
                <a:gd name="T34" fmla="*/ 1 w 24"/>
                <a:gd name="T35" fmla="*/ 1 h 68"/>
                <a:gd name="T36" fmla="*/ 1 w 24"/>
                <a:gd name="T37" fmla="*/ 1 h 68"/>
                <a:gd name="T38" fmla="*/ 1 w 24"/>
                <a:gd name="T39" fmla="*/ 1 h 68"/>
                <a:gd name="T40" fmla="*/ 1 w 24"/>
                <a:gd name="T41" fmla="*/ 0 h 68"/>
                <a:gd name="T42" fmla="*/ 1 w 24"/>
                <a:gd name="T43" fmla="*/ 0 h 68"/>
                <a:gd name="T44" fmla="*/ 1 w 24"/>
                <a:gd name="T45" fmla="*/ 1 h 68"/>
                <a:gd name="T46" fmla="*/ 1 w 24"/>
                <a:gd name="T47" fmla="*/ 1 h 68"/>
                <a:gd name="T48" fmla="*/ 0 w 24"/>
                <a:gd name="T49" fmla="*/ 1 h 68"/>
                <a:gd name="T50" fmla="*/ 0 w 24"/>
                <a:gd name="T51" fmla="*/ 1 h 68"/>
                <a:gd name="T52" fmla="*/ 0 w 24"/>
                <a:gd name="T53" fmla="*/ 1 h 6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4"/>
                <a:gd name="T82" fmla="*/ 0 h 68"/>
                <a:gd name="T83" fmla="*/ 24 w 24"/>
                <a:gd name="T84" fmla="*/ 68 h 6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4" h="68">
                  <a:moveTo>
                    <a:pt x="0" y="7"/>
                  </a:moveTo>
                  <a:lnTo>
                    <a:pt x="3" y="7"/>
                  </a:lnTo>
                  <a:lnTo>
                    <a:pt x="10" y="10"/>
                  </a:lnTo>
                  <a:lnTo>
                    <a:pt x="17" y="22"/>
                  </a:lnTo>
                  <a:lnTo>
                    <a:pt x="18" y="43"/>
                  </a:lnTo>
                  <a:lnTo>
                    <a:pt x="17" y="46"/>
                  </a:lnTo>
                  <a:lnTo>
                    <a:pt x="13" y="53"/>
                  </a:lnTo>
                  <a:lnTo>
                    <a:pt x="10" y="61"/>
                  </a:lnTo>
                  <a:lnTo>
                    <a:pt x="10" y="68"/>
                  </a:lnTo>
                  <a:lnTo>
                    <a:pt x="10" y="67"/>
                  </a:lnTo>
                  <a:lnTo>
                    <a:pt x="12" y="62"/>
                  </a:lnTo>
                  <a:lnTo>
                    <a:pt x="15" y="59"/>
                  </a:lnTo>
                  <a:lnTo>
                    <a:pt x="19" y="58"/>
                  </a:lnTo>
                  <a:lnTo>
                    <a:pt x="20" y="53"/>
                  </a:lnTo>
                  <a:lnTo>
                    <a:pt x="24" y="42"/>
                  </a:lnTo>
                  <a:lnTo>
                    <a:pt x="24" y="28"/>
                  </a:lnTo>
                  <a:lnTo>
                    <a:pt x="19" y="13"/>
                  </a:lnTo>
                  <a:lnTo>
                    <a:pt x="19" y="10"/>
                  </a:lnTo>
                  <a:lnTo>
                    <a:pt x="19" y="7"/>
                  </a:lnTo>
                  <a:lnTo>
                    <a:pt x="16" y="2"/>
                  </a:lnTo>
                  <a:lnTo>
                    <a:pt x="11" y="0"/>
                  </a:lnTo>
                  <a:lnTo>
                    <a:pt x="9" y="0"/>
                  </a:lnTo>
                  <a:lnTo>
                    <a:pt x="4" y="1"/>
                  </a:lnTo>
                  <a:lnTo>
                    <a:pt x="1" y="4"/>
                  </a:lnTo>
                  <a:lnTo>
                    <a:pt x="0" y="7"/>
                  </a:lnTo>
                  <a:close/>
                </a:path>
              </a:pathLst>
            </a:custGeom>
            <a:solidFill>
              <a:srgbClr val="FF594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76" name="Freeform 33"/>
            <p:cNvSpPr>
              <a:spLocks/>
            </p:cNvSpPr>
            <p:nvPr/>
          </p:nvSpPr>
          <p:spPr bwMode="auto">
            <a:xfrm>
              <a:off x="4934" y="2921"/>
              <a:ext cx="46" cy="117"/>
            </a:xfrm>
            <a:custGeom>
              <a:avLst/>
              <a:gdLst>
                <a:gd name="T0" fmla="*/ 0 w 92"/>
                <a:gd name="T1" fmla="*/ 0 h 233"/>
                <a:gd name="T2" fmla="*/ 1 w 92"/>
                <a:gd name="T3" fmla="*/ 1 h 233"/>
                <a:gd name="T4" fmla="*/ 1 w 92"/>
                <a:gd name="T5" fmla="*/ 1 h 233"/>
                <a:gd name="T6" fmla="*/ 1 w 92"/>
                <a:gd name="T7" fmla="*/ 1 h 233"/>
                <a:gd name="T8" fmla="*/ 1 w 92"/>
                <a:gd name="T9" fmla="*/ 1 h 233"/>
                <a:gd name="T10" fmla="*/ 1 w 92"/>
                <a:gd name="T11" fmla="*/ 1 h 233"/>
                <a:gd name="T12" fmla="*/ 1 w 92"/>
                <a:gd name="T13" fmla="*/ 1 h 233"/>
                <a:gd name="T14" fmla="*/ 1 w 92"/>
                <a:gd name="T15" fmla="*/ 1 h 233"/>
                <a:gd name="T16" fmla="*/ 1 w 92"/>
                <a:gd name="T17" fmla="*/ 1 h 233"/>
                <a:gd name="T18" fmla="*/ 1 w 92"/>
                <a:gd name="T19" fmla="*/ 1 h 233"/>
                <a:gd name="T20" fmla="*/ 1 w 92"/>
                <a:gd name="T21" fmla="*/ 1 h 233"/>
                <a:gd name="T22" fmla="*/ 1 w 92"/>
                <a:gd name="T23" fmla="*/ 1 h 233"/>
                <a:gd name="T24" fmla="*/ 1 w 92"/>
                <a:gd name="T25" fmla="*/ 1 h 233"/>
                <a:gd name="T26" fmla="*/ 1 w 92"/>
                <a:gd name="T27" fmla="*/ 1 h 233"/>
                <a:gd name="T28" fmla="*/ 1 w 92"/>
                <a:gd name="T29" fmla="*/ 1 h 233"/>
                <a:gd name="T30" fmla="*/ 1 w 92"/>
                <a:gd name="T31" fmla="*/ 1 h 233"/>
                <a:gd name="T32" fmla="*/ 1 w 92"/>
                <a:gd name="T33" fmla="*/ 1 h 233"/>
                <a:gd name="T34" fmla="*/ 1 w 92"/>
                <a:gd name="T35" fmla="*/ 1 h 233"/>
                <a:gd name="T36" fmla="*/ 1 w 92"/>
                <a:gd name="T37" fmla="*/ 1 h 233"/>
                <a:gd name="T38" fmla="*/ 1 w 92"/>
                <a:gd name="T39" fmla="*/ 1 h 233"/>
                <a:gd name="T40" fmla="*/ 1 w 92"/>
                <a:gd name="T41" fmla="*/ 1 h 233"/>
                <a:gd name="T42" fmla="*/ 1 w 92"/>
                <a:gd name="T43" fmla="*/ 1 h 233"/>
                <a:gd name="T44" fmla="*/ 1 w 92"/>
                <a:gd name="T45" fmla="*/ 1 h 233"/>
                <a:gd name="T46" fmla="*/ 1 w 92"/>
                <a:gd name="T47" fmla="*/ 1 h 233"/>
                <a:gd name="T48" fmla="*/ 1 w 92"/>
                <a:gd name="T49" fmla="*/ 1 h 233"/>
                <a:gd name="T50" fmla="*/ 1 w 92"/>
                <a:gd name="T51" fmla="*/ 1 h 233"/>
                <a:gd name="T52" fmla="*/ 1 w 92"/>
                <a:gd name="T53" fmla="*/ 1 h 233"/>
                <a:gd name="T54" fmla="*/ 1 w 92"/>
                <a:gd name="T55" fmla="*/ 1 h 233"/>
                <a:gd name="T56" fmla="*/ 1 w 92"/>
                <a:gd name="T57" fmla="*/ 1 h 233"/>
                <a:gd name="T58" fmla="*/ 1 w 92"/>
                <a:gd name="T59" fmla="*/ 1 h 233"/>
                <a:gd name="T60" fmla="*/ 0 w 92"/>
                <a:gd name="T61" fmla="*/ 0 h 233"/>
                <a:gd name="T62" fmla="*/ 0 w 92"/>
                <a:gd name="T63" fmla="*/ 0 h 23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2"/>
                <a:gd name="T97" fmla="*/ 0 h 233"/>
                <a:gd name="T98" fmla="*/ 92 w 92"/>
                <a:gd name="T99" fmla="*/ 233 h 23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2" h="233">
                  <a:moveTo>
                    <a:pt x="0" y="0"/>
                  </a:moveTo>
                  <a:lnTo>
                    <a:pt x="2" y="15"/>
                  </a:lnTo>
                  <a:lnTo>
                    <a:pt x="16" y="26"/>
                  </a:lnTo>
                  <a:lnTo>
                    <a:pt x="19" y="37"/>
                  </a:lnTo>
                  <a:lnTo>
                    <a:pt x="29" y="45"/>
                  </a:lnTo>
                  <a:lnTo>
                    <a:pt x="48" y="59"/>
                  </a:lnTo>
                  <a:lnTo>
                    <a:pt x="60" y="72"/>
                  </a:lnTo>
                  <a:lnTo>
                    <a:pt x="64" y="69"/>
                  </a:lnTo>
                  <a:lnTo>
                    <a:pt x="73" y="85"/>
                  </a:lnTo>
                  <a:lnTo>
                    <a:pt x="76" y="92"/>
                  </a:lnTo>
                  <a:lnTo>
                    <a:pt x="40" y="176"/>
                  </a:lnTo>
                  <a:lnTo>
                    <a:pt x="55" y="233"/>
                  </a:lnTo>
                  <a:lnTo>
                    <a:pt x="58" y="228"/>
                  </a:lnTo>
                  <a:lnTo>
                    <a:pt x="67" y="215"/>
                  </a:lnTo>
                  <a:lnTo>
                    <a:pt x="75" y="201"/>
                  </a:lnTo>
                  <a:lnTo>
                    <a:pt x="77" y="191"/>
                  </a:lnTo>
                  <a:lnTo>
                    <a:pt x="73" y="168"/>
                  </a:lnTo>
                  <a:lnTo>
                    <a:pt x="78" y="160"/>
                  </a:lnTo>
                  <a:lnTo>
                    <a:pt x="77" y="153"/>
                  </a:lnTo>
                  <a:lnTo>
                    <a:pt x="76" y="137"/>
                  </a:lnTo>
                  <a:lnTo>
                    <a:pt x="78" y="114"/>
                  </a:lnTo>
                  <a:lnTo>
                    <a:pt x="88" y="89"/>
                  </a:lnTo>
                  <a:lnTo>
                    <a:pt x="92" y="57"/>
                  </a:lnTo>
                  <a:lnTo>
                    <a:pt x="80" y="60"/>
                  </a:lnTo>
                  <a:lnTo>
                    <a:pt x="46" y="34"/>
                  </a:lnTo>
                  <a:lnTo>
                    <a:pt x="29" y="26"/>
                  </a:lnTo>
                  <a:lnTo>
                    <a:pt x="0" y="0"/>
                  </a:lnTo>
                  <a:close/>
                </a:path>
              </a:pathLst>
            </a:custGeom>
            <a:solidFill>
              <a:srgbClr val="A52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77" name="Freeform 34"/>
            <p:cNvSpPr>
              <a:spLocks/>
            </p:cNvSpPr>
            <p:nvPr/>
          </p:nvSpPr>
          <p:spPr bwMode="auto">
            <a:xfrm>
              <a:off x="4984" y="2962"/>
              <a:ext cx="22" cy="19"/>
            </a:xfrm>
            <a:custGeom>
              <a:avLst/>
              <a:gdLst>
                <a:gd name="T0" fmla="*/ 0 w 45"/>
                <a:gd name="T1" fmla="*/ 0 h 38"/>
                <a:gd name="T2" fmla="*/ 0 w 45"/>
                <a:gd name="T3" fmla="*/ 1 h 38"/>
                <a:gd name="T4" fmla="*/ 0 w 45"/>
                <a:gd name="T5" fmla="*/ 1 h 38"/>
                <a:gd name="T6" fmla="*/ 0 w 45"/>
                <a:gd name="T7" fmla="*/ 1 h 38"/>
                <a:gd name="T8" fmla="*/ 0 w 45"/>
                <a:gd name="T9" fmla="*/ 1 h 38"/>
                <a:gd name="T10" fmla="*/ 0 w 45"/>
                <a:gd name="T11" fmla="*/ 1 h 38"/>
                <a:gd name="T12" fmla="*/ 0 w 45"/>
                <a:gd name="T13" fmla="*/ 1 h 38"/>
                <a:gd name="T14" fmla="*/ 0 w 45"/>
                <a:gd name="T15" fmla="*/ 1 h 38"/>
                <a:gd name="T16" fmla="*/ 0 w 45"/>
                <a:gd name="T17" fmla="*/ 1 h 38"/>
                <a:gd name="T18" fmla="*/ 0 w 45"/>
                <a:gd name="T19" fmla="*/ 1 h 38"/>
                <a:gd name="T20" fmla="*/ 0 w 45"/>
                <a:gd name="T21" fmla="*/ 0 h 38"/>
                <a:gd name="T22" fmla="*/ 0 w 45"/>
                <a:gd name="T23" fmla="*/ 0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5"/>
                <a:gd name="T37" fmla="*/ 0 h 38"/>
                <a:gd name="T38" fmla="*/ 45 w 45"/>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5" h="38">
                  <a:moveTo>
                    <a:pt x="4" y="0"/>
                  </a:moveTo>
                  <a:lnTo>
                    <a:pt x="20" y="11"/>
                  </a:lnTo>
                  <a:lnTo>
                    <a:pt x="45" y="30"/>
                  </a:lnTo>
                  <a:lnTo>
                    <a:pt x="33" y="38"/>
                  </a:lnTo>
                  <a:lnTo>
                    <a:pt x="29" y="38"/>
                  </a:lnTo>
                  <a:lnTo>
                    <a:pt x="18" y="36"/>
                  </a:lnTo>
                  <a:lnTo>
                    <a:pt x="7" y="29"/>
                  </a:lnTo>
                  <a:lnTo>
                    <a:pt x="0" y="17"/>
                  </a:lnTo>
                  <a:lnTo>
                    <a:pt x="4" y="0"/>
                  </a:lnTo>
                  <a:close/>
                </a:path>
              </a:pathLst>
            </a:custGeom>
            <a:solidFill>
              <a:srgbClr val="F2D8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78" name="Freeform 35"/>
            <p:cNvSpPr>
              <a:spLocks/>
            </p:cNvSpPr>
            <p:nvPr/>
          </p:nvSpPr>
          <p:spPr bwMode="auto">
            <a:xfrm>
              <a:off x="4976" y="2972"/>
              <a:ext cx="20" cy="24"/>
            </a:xfrm>
            <a:custGeom>
              <a:avLst/>
              <a:gdLst>
                <a:gd name="T0" fmla="*/ 1 w 40"/>
                <a:gd name="T1" fmla="*/ 0 h 50"/>
                <a:gd name="T2" fmla="*/ 1 w 40"/>
                <a:gd name="T3" fmla="*/ 0 h 50"/>
                <a:gd name="T4" fmla="*/ 1 w 40"/>
                <a:gd name="T5" fmla="*/ 0 h 50"/>
                <a:gd name="T6" fmla="*/ 1 w 40"/>
                <a:gd name="T7" fmla="*/ 0 h 50"/>
                <a:gd name="T8" fmla="*/ 1 w 40"/>
                <a:gd name="T9" fmla="*/ 0 h 50"/>
                <a:gd name="T10" fmla="*/ 1 w 40"/>
                <a:gd name="T11" fmla="*/ 0 h 50"/>
                <a:gd name="T12" fmla="*/ 1 w 40"/>
                <a:gd name="T13" fmla="*/ 0 h 50"/>
                <a:gd name="T14" fmla="*/ 1 w 40"/>
                <a:gd name="T15" fmla="*/ 0 h 50"/>
                <a:gd name="T16" fmla="*/ 1 w 40"/>
                <a:gd name="T17" fmla="*/ 0 h 50"/>
                <a:gd name="T18" fmla="*/ 1 w 40"/>
                <a:gd name="T19" fmla="*/ 0 h 50"/>
                <a:gd name="T20" fmla="*/ 1 w 40"/>
                <a:gd name="T21" fmla="*/ 0 h 50"/>
                <a:gd name="T22" fmla="*/ 1 w 40"/>
                <a:gd name="T23" fmla="*/ 0 h 50"/>
                <a:gd name="T24" fmla="*/ 1 w 40"/>
                <a:gd name="T25" fmla="*/ 0 h 50"/>
                <a:gd name="T26" fmla="*/ 1 w 40"/>
                <a:gd name="T27" fmla="*/ 0 h 50"/>
                <a:gd name="T28" fmla="*/ 0 w 40"/>
                <a:gd name="T29" fmla="*/ 0 h 50"/>
                <a:gd name="T30" fmla="*/ 1 w 40"/>
                <a:gd name="T31" fmla="*/ 0 h 50"/>
                <a:gd name="T32" fmla="*/ 1 w 40"/>
                <a:gd name="T33" fmla="*/ 0 h 50"/>
                <a:gd name="T34" fmla="*/ 1 w 40"/>
                <a:gd name="T35" fmla="*/ 0 h 50"/>
                <a:gd name="T36" fmla="*/ 1 w 40"/>
                <a:gd name="T37" fmla="*/ 0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0"/>
                <a:gd name="T58" fmla="*/ 0 h 50"/>
                <a:gd name="T59" fmla="*/ 40 w 40"/>
                <a:gd name="T60" fmla="*/ 50 h 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0" h="50">
                  <a:moveTo>
                    <a:pt x="11" y="0"/>
                  </a:moveTo>
                  <a:lnTo>
                    <a:pt x="12" y="4"/>
                  </a:lnTo>
                  <a:lnTo>
                    <a:pt x="18" y="13"/>
                  </a:lnTo>
                  <a:lnTo>
                    <a:pt x="27" y="21"/>
                  </a:lnTo>
                  <a:lnTo>
                    <a:pt x="40" y="25"/>
                  </a:lnTo>
                  <a:lnTo>
                    <a:pt x="39" y="27"/>
                  </a:lnTo>
                  <a:lnTo>
                    <a:pt x="36" y="30"/>
                  </a:lnTo>
                  <a:lnTo>
                    <a:pt x="33" y="33"/>
                  </a:lnTo>
                  <a:lnTo>
                    <a:pt x="27" y="39"/>
                  </a:lnTo>
                  <a:lnTo>
                    <a:pt x="22" y="44"/>
                  </a:lnTo>
                  <a:lnTo>
                    <a:pt x="15" y="47"/>
                  </a:lnTo>
                  <a:lnTo>
                    <a:pt x="9" y="50"/>
                  </a:lnTo>
                  <a:lnTo>
                    <a:pt x="2" y="50"/>
                  </a:lnTo>
                  <a:lnTo>
                    <a:pt x="1" y="44"/>
                  </a:lnTo>
                  <a:lnTo>
                    <a:pt x="0" y="31"/>
                  </a:lnTo>
                  <a:lnTo>
                    <a:pt x="2" y="15"/>
                  </a:lnTo>
                  <a:lnTo>
                    <a:pt x="11" y="0"/>
                  </a:lnTo>
                  <a:close/>
                </a:path>
              </a:pathLst>
            </a:custGeom>
            <a:solidFill>
              <a:srgbClr val="D8FF7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79" name="Freeform 36"/>
            <p:cNvSpPr>
              <a:spLocks/>
            </p:cNvSpPr>
            <p:nvPr/>
          </p:nvSpPr>
          <p:spPr bwMode="auto">
            <a:xfrm>
              <a:off x="4972" y="2982"/>
              <a:ext cx="47" cy="80"/>
            </a:xfrm>
            <a:custGeom>
              <a:avLst/>
              <a:gdLst>
                <a:gd name="T0" fmla="*/ 1 w 94"/>
                <a:gd name="T1" fmla="*/ 0 h 160"/>
                <a:gd name="T2" fmla="*/ 1 w 94"/>
                <a:gd name="T3" fmla="*/ 1 h 160"/>
                <a:gd name="T4" fmla="*/ 1 w 94"/>
                <a:gd name="T5" fmla="*/ 1 h 160"/>
                <a:gd name="T6" fmla="*/ 1 w 94"/>
                <a:gd name="T7" fmla="*/ 1 h 160"/>
                <a:gd name="T8" fmla="*/ 1 w 94"/>
                <a:gd name="T9" fmla="*/ 1 h 160"/>
                <a:gd name="T10" fmla="*/ 1 w 94"/>
                <a:gd name="T11" fmla="*/ 1 h 160"/>
                <a:gd name="T12" fmla="*/ 1 w 94"/>
                <a:gd name="T13" fmla="*/ 1 h 160"/>
                <a:gd name="T14" fmla="*/ 1 w 94"/>
                <a:gd name="T15" fmla="*/ 1 h 160"/>
                <a:gd name="T16" fmla="*/ 1 w 94"/>
                <a:gd name="T17" fmla="*/ 1 h 160"/>
                <a:gd name="T18" fmla="*/ 1 w 94"/>
                <a:gd name="T19" fmla="*/ 1 h 160"/>
                <a:gd name="T20" fmla="*/ 1 w 94"/>
                <a:gd name="T21" fmla="*/ 1 h 160"/>
                <a:gd name="T22" fmla="*/ 1 w 94"/>
                <a:gd name="T23" fmla="*/ 1 h 160"/>
                <a:gd name="T24" fmla="*/ 1 w 94"/>
                <a:gd name="T25" fmla="*/ 1 h 160"/>
                <a:gd name="T26" fmla="*/ 0 w 94"/>
                <a:gd name="T27" fmla="*/ 1 h 160"/>
                <a:gd name="T28" fmla="*/ 1 w 94"/>
                <a:gd name="T29" fmla="*/ 1 h 160"/>
                <a:gd name="T30" fmla="*/ 1 w 94"/>
                <a:gd name="T31" fmla="*/ 1 h 160"/>
                <a:gd name="T32" fmla="*/ 1 w 94"/>
                <a:gd name="T33" fmla="*/ 1 h 160"/>
                <a:gd name="T34" fmla="*/ 1 w 94"/>
                <a:gd name="T35" fmla="*/ 1 h 160"/>
                <a:gd name="T36" fmla="*/ 1 w 94"/>
                <a:gd name="T37" fmla="*/ 1 h 160"/>
                <a:gd name="T38" fmla="*/ 1 w 94"/>
                <a:gd name="T39" fmla="*/ 1 h 160"/>
                <a:gd name="T40" fmla="*/ 1 w 94"/>
                <a:gd name="T41" fmla="*/ 1 h 160"/>
                <a:gd name="T42" fmla="*/ 1 w 94"/>
                <a:gd name="T43" fmla="*/ 1 h 160"/>
                <a:gd name="T44" fmla="*/ 1 w 94"/>
                <a:gd name="T45" fmla="*/ 1 h 160"/>
                <a:gd name="T46" fmla="*/ 1 w 94"/>
                <a:gd name="T47" fmla="*/ 1 h 160"/>
                <a:gd name="T48" fmla="*/ 1 w 94"/>
                <a:gd name="T49" fmla="*/ 1 h 160"/>
                <a:gd name="T50" fmla="*/ 1 w 94"/>
                <a:gd name="T51" fmla="*/ 1 h 160"/>
                <a:gd name="T52" fmla="*/ 1 w 94"/>
                <a:gd name="T53" fmla="*/ 1 h 160"/>
                <a:gd name="T54" fmla="*/ 1 w 94"/>
                <a:gd name="T55" fmla="*/ 1 h 160"/>
                <a:gd name="T56" fmla="*/ 1 w 94"/>
                <a:gd name="T57" fmla="*/ 1 h 160"/>
                <a:gd name="T58" fmla="*/ 1 w 94"/>
                <a:gd name="T59" fmla="*/ 1 h 160"/>
                <a:gd name="T60" fmla="*/ 1 w 94"/>
                <a:gd name="T61" fmla="*/ 1 h 160"/>
                <a:gd name="T62" fmla="*/ 1 w 94"/>
                <a:gd name="T63" fmla="*/ 1 h 160"/>
                <a:gd name="T64" fmla="*/ 1 w 94"/>
                <a:gd name="T65" fmla="*/ 1 h 160"/>
                <a:gd name="T66" fmla="*/ 1 w 94"/>
                <a:gd name="T67" fmla="*/ 1 h 160"/>
                <a:gd name="T68" fmla="*/ 1 w 94"/>
                <a:gd name="T69" fmla="*/ 1 h 160"/>
                <a:gd name="T70" fmla="*/ 1 w 94"/>
                <a:gd name="T71" fmla="*/ 0 h 160"/>
                <a:gd name="T72" fmla="*/ 1 w 94"/>
                <a:gd name="T73" fmla="*/ 0 h 16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4"/>
                <a:gd name="T112" fmla="*/ 0 h 160"/>
                <a:gd name="T113" fmla="*/ 94 w 94"/>
                <a:gd name="T114" fmla="*/ 160 h 16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4" h="160">
                  <a:moveTo>
                    <a:pt x="73" y="0"/>
                  </a:moveTo>
                  <a:lnTo>
                    <a:pt x="62" y="4"/>
                  </a:lnTo>
                  <a:lnTo>
                    <a:pt x="58" y="8"/>
                  </a:lnTo>
                  <a:lnTo>
                    <a:pt x="49" y="16"/>
                  </a:lnTo>
                  <a:lnTo>
                    <a:pt x="39" y="25"/>
                  </a:lnTo>
                  <a:lnTo>
                    <a:pt x="30" y="31"/>
                  </a:lnTo>
                  <a:lnTo>
                    <a:pt x="41" y="33"/>
                  </a:lnTo>
                  <a:lnTo>
                    <a:pt x="50" y="31"/>
                  </a:lnTo>
                  <a:lnTo>
                    <a:pt x="67" y="37"/>
                  </a:lnTo>
                  <a:lnTo>
                    <a:pt x="58" y="46"/>
                  </a:lnTo>
                  <a:lnTo>
                    <a:pt x="43" y="116"/>
                  </a:lnTo>
                  <a:lnTo>
                    <a:pt x="0" y="150"/>
                  </a:lnTo>
                  <a:lnTo>
                    <a:pt x="5" y="160"/>
                  </a:lnTo>
                  <a:lnTo>
                    <a:pt x="8" y="156"/>
                  </a:lnTo>
                  <a:lnTo>
                    <a:pt x="15" y="151"/>
                  </a:lnTo>
                  <a:lnTo>
                    <a:pt x="23" y="144"/>
                  </a:lnTo>
                  <a:lnTo>
                    <a:pt x="31" y="142"/>
                  </a:lnTo>
                  <a:lnTo>
                    <a:pt x="33" y="133"/>
                  </a:lnTo>
                  <a:lnTo>
                    <a:pt x="42" y="135"/>
                  </a:lnTo>
                  <a:lnTo>
                    <a:pt x="44" y="123"/>
                  </a:lnTo>
                  <a:lnTo>
                    <a:pt x="51" y="121"/>
                  </a:lnTo>
                  <a:lnTo>
                    <a:pt x="56" y="112"/>
                  </a:lnTo>
                  <a:lnTo>
                    <a:pt x="65" y="89"/>
                  </a:lnTo>
                  <a:lnTo>
                    <a:pt x="76" y="62"/>
                  </a:lnTo>
                  <a:lnTo>
                    <a:pt x="81" y="42"/>
                  </a:lnTo>
                  <a:lnTo>
                    <a:pt x="81" y="40"/>
                  </a:lnTo>
                  <a:lnTo>
                    <a:pt x="84" y="37"/>
                  </a:lnTo>
                  <a:lnTo>
                    <a:pt x="87" y="33"/>
                  </a:lnTo>
                  <a:lnTo>
                    <a:pt x="94" y="32"/>
                  </a:lnTo>
                  <a:lnTo>
                    <a:pt x="73" y="0"/>
                  </a:lnTo>
                  <a:close/>
                </a:path>
              </a:pathLst>
            </a:custGeom>
            <a:solidFill>
              <a:srgbClr val="A52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80" name="Freeform 37"/>
            <p:cNvSpPr>
              <a:spLocks/>
            </p:cNvSpPr>
            <p:nvPr/>
          </p:nvSpPr>
          <p:spPr bwMode="auto">
            <a:xfrm>
              <a:off x="4956" y="3059"/>
              <a:ext cx="19" cy="21"/>
            </a:xfrm>
            <a:custGeom>
              <a:avLst/>
              <a:gdLst>
                <a:gd name="T0" fmla="*/ 1 w 36"/>
                <a:gd name="T1" fmla="*/ 0 h 42"/>
                <a:gd name="T2" fmla="*/ 0 w 36"/>
                <a:gd name="T3" fmla="*/ 1 h 42"/>
                <a:gd name="T4" fmla="*/ 1 w 36"/>
                <a:gd name="T5" fmla="*/ 1 h 42"/>
                <a:gd name="T6" fmla="*/ 1 w 36"/>
                <a:gd name="T7" fmla="*/ 1 h 42"/>
                <a:gd name="T8" fmla="*/ 1 w 36"/>
                <a:gd name="T9" fmla="*/ 1 h 42"/>
                <a:gd name="T10" fmla="*/ 1 w 36"/>
                <a:gd name="T11" fmla="*/ 1 h 42"/>
                <a:gd name="T12" fmla="*/ 1 w 36"/>
                <a:gd name="T13" fmla="*/ 1 h 42"/>
                <a:gd name="T14" fmla="*/ 1 w 36"/>
                <a:gd name="T15" fmla="*/ 1 h 42"/>
                <a:gd name="T16" fmla="*/ 1 w 36"/>
                <a:gd name="T17" fmla="*/ 0 h 42"/>
                <a:gd name="T18" fmla="*/ 1 w 36"/>
                <a:gd name="T19" fmla="*/ 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
                <a:gd name="T31" fmla="*/ 0 h 42"/>
                <a:gd name="T32" fmla="*/ 36 w 36"/>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 h="42">
                  <a:moveTo>
                    <a:pt x="11" y="0"/>
                  </a:moveTo>
                  <a:lnTo>
                    <a:pt x="0" y="7"/>
                  </a:lnTo>
                  <a:lnTo>
                    <a:pt x="2" y="19"/>
                  </a:lnTo>
                  <a:lnTo>
                    <a:pt x="20" y="42"/>
                  </a:lnTo>
                  <a:lnTo>
                    <a:pt x="36" y="34"/>
                  </a:lnTo>
                  <a:lnTo>
                    <a:pt x="28" y="20"/>
                  </a:lnTo>
                  <a:lnTo>
                    <a:pt x="24" y="8"/>
                  </a:lnTo>
                  <a:lnTo>
                    <a:pt x="14" y="6"/>
                  </a:lnTo>
                  <a:lnTo>
                    <a:pt x="11" y="0"/>
                  </a:lnTo>
                  <a:close/>
                </a:path>
              </a:pathLst>
            </a:custGeom>
            <a:solidFill>
              <a:srgbClr val="F2D8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81" name="Freeform 38"/>
            <p:cNvSpPr>
              <a:spLocks/>
            </p:cNvSpPr>
            <p:nvPr/>
          </p:nvSpPr>
          <p:spPr bwMode="auto">
            <a:xfrm>
              <a:off x="4891" y="3011"/>
              <a:ext cx="64" cy="48"/>
            </a:xfrm>
            <a:custGeom>
              <a:avLst/>
              <a:gdLst>
                <a:gd name="T0" fmla="*/ 0 w 129"/>
                <a:gd name="T1" fmla="*/ 0 h 95"/>
                <a:gd name="T2" fmla="*/ 0 w 129"/>
                <a:gd name="T3" fmla="*/ 1 h 95"/>
                <a:gd name="T4" fmla="*/ 0 w 129"/>
                <a:gd name="T5" fmla="*/ 1 h 95"/>
                <a:gd name="T6" fmla="*/ 0 w 129"/>
                <a:gd name="T7" fmla="*/ 1 h 95"/>
                <a:gd name="T8" fmla="*/ 0 w 129"/>
                <a:gd name="T9" fmla="*/ 1 h 95"/>
                <a:gd name="T10" fmla="*/ 0 w 129"/>
                <a:gd name="T11" fmla="*/ 1 h 95"/>
                <a:gd name="T12" fmla="*/ 0 w 129"/>
                <a:gd name="T13" fmla="*/ 1 h 95"/>
                <a:gd name="T14" fmla="*/ 0 w 129"/>
                <a:gd name="T15" fmla="*/ 1 h 95"/>
                <a:gd name="T16" fmla="*/ 0 w 129"/>
                <a:gd name="T17" fmla="*/ 1 h 95"/>
                <a:gd name="T18" fmla="*/ 0 w 129"/>
                <a:gd name="T19" fmla="*/ 1 h 95"/>
                <a:gd name="T20" fmla="*/ 0 w 129"/>
                <a:gd name="T21" fmla="*/ 1 h 95"/>
                <a:gd name="T22" fmla="*/ 0 w 129"/>
                <a:gd name="T23" fmla="*/ 1 h 95"/>
                <a:gd name="T24" fmla="*/ 0 w 129"/>
                <a:gd name="T25" fmla="*/ 1 h 95"/>
                <a:gd name="T26" fmla="*/ 0 w 129"/>
                <a:gd name="T27" fmla="*/ 1 h 95"/>
                <a:gd name="T28" fmla="*/ 0 w 129"/>
                <a:gd name="T29" fmla="*/ 1 h 95"/>
                <a:gd name="T30" fmla="*/ 0 w 129"/>
                <a:gd name="T31" fmla="*/ 1 h 95"/>
                <a:gd name="T32" fmla="*/ 0 w 129"/>
                <a:gd name="T33" fmla="*/ 1 h 95"/>
                <a:gd name="T34" fmla="*/ 0 w 129"/>
                <a:gd name="T35" fmla="*/ 1 h 95"/>
                <a:gd name="T36" fmla="*/ 0 w 129"/>
                <a:gd name="T37" fmla="*/ 1 h 95"/>
                <a:gd name="T38" fmla="*/ 0 w 129"/>
                <a:gd name="T39" fmla="*/ 1 h 95"/>
                <a:gd name="T40" fmla="*/ 0 w 129"/>
                <a:gd name="T41" fmla="*/ 1 h 95"/>
                <a:gd name="T42" fmla="*/ 0 w 129"/>
                <a:gd name="T43" fmla="*/ 1 h 95"/>
                <a:gd name="T44" fmla="*/ 0 w 129"/>
                <a:gd name="T45" fmla="*/ 1 h 95"/>
                <a:gd name="T46" fmla="*/ 0 w 129"/>
                <a:gd name="T47" fmla="*/ 1 h 95"/>
                <a:gd name="T48" fmla="*/ 0 w 129"/>
                <a:gd name="T49" fmla="*/ 1 h 95"/>
                <a:gd name="T50" fmla="*/ 0 w 129"/>
                <a:gd name="T51" fmla="*/ 1 h 95"/>
                <a:gd name="T52" fmla="*/ 0 w 129"/>
                <a:gd name="T53" fmla="*/ 1 h 95"/>
                <a:gd name="T54" fmla="*/ 0 w 129"/>
                <a:gd name="T55" fmla="*/ 1 h 95"/>
                <a:gd name="T56" fmla="*/ 0 w 129"/>
                <a:gd name="T57" fmla="*/ 1 h 95"/>
                <a:gd name="T58" fmla="*/ 0 w 129"/>
                <a:gd name="T59" fmla="*/ 1 h 95"/>
                <a:gd name="T60" fmla="*/ 0 w 129"/>
                <a:gd name="T61" fmla="*/ 1 h 95"/>
                <a:gd name="T62" fmla="*/ 0 w 129"/>
                <a:gd name="T63" fmla="*/ 1 h 95"/>
                <a:gd name="T64" fmla="*/ 0 w 129"/>
                <a:gd name="T65" fmla="*/ 1 h 95"/>
                <a:gd name="T66" fmla="*/ 0 w 129"/>
                <a:gd name="T67" fmla="*/ 1 h 95"/>
                <a:gd name="T68" fmla="*/ 0 w 129"/>
                <a:gd name="T69" fmla="*/ 1 h 95"/>
                <a:gd name="T70" fmla="*/ 0 w 129"/>
                <a:gd name="T71" fmla="*/ 1 h 95"/>
                <a:gd name="T72" fmla="*/ 0 w 129"/>
                <a:gd name="T73" fmla="*/ 1 h 95"/>
                <a:gd name="T74" fmla="*/ 0 w 129"/>
                <a:gd name="T75" fmla="*/ 1 h 95"/>
                <a:gd name="T76" fmla="*/ 0 w 129"/>
                <a:gd name="T77" fmla="*/ 1 h 95"/>
                <a:gd name="T78" fmla="*/ 0 w 129"/>
                <a:gd name="T79" fmla="*/ 1 h 95"/>
                <a:gd name="T80" fmla="*/ 0 w 129"/>
                <a:gd name="T81" fmla="*/ 1 h 95"/>
                <a:gd name="T82" fmla="*/ 0 w 129"/>
                <a:gd name="T83" fmla="*/ 1 h 95"/>
                <a:gd name="T84" fmla="*/ 0 w 129"/>
                <a:gd name="T85" fmla="*/ 1 h 95"/>
                <a:gd name="T86" fmla="*/ 0 w 129"/>
                <a:gd name="T87" fmla="*/ 1 h 95"/>
                <a:gd name="T88" fmla="*/ 0 w 129"/>
                <a:gd name="T89" fmla="*/ 1 h 95"/>
                <a:gd name="T90" fmla="*/ 0 w 129"/>
                <a:gd name="T91" fmla="*/ 1 h 95"/>
                <a:gd name="T92" fmla="*/ 0 w 129"/>
                <a:gd name="T93" fmla="*/ 0 h 95"/>
                <a:gd name="T94" fmla="*/ 0 w 129"/>
                <a:gd name="T95" fmla="*/ 0 h 95"/>
                <a:gd name="T96" fmla="*/ 0 w 129"/>
                <a:gd name="T97" fmla="*/ 0 h 9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29"/>
                <a:gd name="T148" fmla="*/ 0 h 95"/>
                <a:gd name="T149" fmla="*/ 129 w 129"/>
                <a:gd name="T150" fmla="*/ 95 h 95"/>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29" h="95">
                  <a:moveTo>
                    <a:pt x="7" y="0"/>
                  </a:moveTo>
                  <a:lnTo>
                    <a:pt x="107" y="28"/>
                  </a:lnTo>
                  <a:lnTo>
                    <a:pt x="113" y="21"/>
                  </a:lnTo>
                  <a:lnTo>
                    <a:pt x="129" y="70"/>
                  </a:lnTo>
                  <a:lnTo>
                    <a:pt x="117" y="65"/>
                  </a:lnTo>
                  <a:lnTo>
                    <a:pt x="118" y="69"/>
                  </a:lnTo>
                  <a:lnTo>
                    <a:pt x="119" y="76"/>
                  </a:lnTo>
                  <a:lnTo>
                    <a:pt x="120" y="85"/>
                  </a:lnTo>
                  <a:lnTo>
                    <a:pt x="120" y="93"/>
                  </a:lnTo>
                  <a:lnTo>
                    <a:pt x="118" y="95"/>
                  </a:lnTo>
                  <a:lnTo>
                    <a:pt x="115" y="84"/>
                  </a:lnTo>
                  <a:lnTo>
                    <a:pt x="108" y="74"/>
                  </a:lnTo>
                  <a:lnTo>
                    <a:pt x="107" y="74"/>
                  </a:lnTo>
                  <a:lnTo>
                    <a:pt x="104" y="74"/>
                  </a:lnTo>
                  <a:lnTo>
                    <a:pt x="99" y="74"/>
                  </a:lnTo>
                  <a:lnTo>
                    <a:pt x="94" y="76"/>
                  </a:lnTo>
                  <a:lnTo>
                    <a:pt x="88" y="77"/>
                  </a:lnTo>
                  <a:lnTo>
                    <a:pt x="82" y="78"/>
                  </a:lnTo>
                  <a:lnTo>
                    <a:pt x="77" y="80"/>
                  </a:lnTo>
                  <a:lnTo>
                    <a:pt x="74" y="84"/>
                  </a:lnTo>
                  <a:lnTo>
                    <a:pt x="73" y="84"/>
                  </a:lnTo>
                  <a:lnTo>
                    <a:pt x="72" y="84"/>
                  </a:lnTo>
                  <a:lnTo>
                    <a:pt x="68" y="83"/>
                  </a:lnTo>
                  <a:lnTo>
                    <a:pt x="66" y="78"/>
                  </a:lnTo>
                  <a:lnTo>
                    <a:pt x="62" y="78"/>
                  </a:lnTo>
                  <a:lnTo>
                    <a:pt x="64" y="87"/>
                  </a:lnTo>
                  <a:lnTo>
                    <a:pt x="60" y="87"/>
                  </a:lnTo>
                  <a:lnTo>
                    <a:pt x="53" y="78"/>
                  </a:lnTo>
                  <a:lnTo>
                    <a:pt x="34" y="76"/>
                  </a:lnTo>
                  <a:lnTo>
                    <a:pt x="33" y="76"/>
                  </a:lnTo>
                  <a:lnTo>
                    <a:pt x="28" y="76"/>
                  </a:lnTo>
                  <a:lnTo>
                    <a:pt x="24" y="74"/>
                  </a:lnTo>
                  <a:lnTo>
                    <a:pt x="22" y="70"/>
                  </a:lnTo>
                  <a:lnTo>
                    <a:pt x="15" y="70"/>
                  </a:lnTo>
                  <a:lnTo>
                    <a:pt x="11" y="79"/>
                  </a:lnTo>
                  <a:lnTo>
                    <a:pt x="6" y="79"/>
                  </a:lnTo>
                  <a:lnTo>
                    <a:pt x="4" y="71"/>
                  </a:lnTo>
                  <a:lnTo>
                    <a:pt x="1" y="50"/>
                  </a:lnTo>
                  <a:lnTo>
                    <a:pt x="0" y="25"/>
                  </a:lnTo>
                  <a:lnTo>
                    <a:pt x="7" y="0"/>
                  </a:lnTo>
                  <a:close/>
                </a:path>
              </a:pathLst>
            </a:custGeom>
            <a:solidFill>
              <a:srgbClr val="A52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82" name="Freeform 39"/>
            <p:cNvSpPr>
              <a:spLocks/>
            </p:cNvSpPr>
            <p:nvPr/>
          </p:nvSpPr>
          <p:spPr bwMode="auto">
            <a:xfrm>
              <a:off x="4822" y="3016"/>
              <a:ext cx="62" cy="15"/>
            </a:xfrm>
            <a:custGeom>
              <a:avLst/>
              <a:gdLst>
                <a:gd name="T0" fmla="*/ 0 w 125"/>
                <a:gd name="T1" fmla="*/ 1 h 29"/>
                <a:gd name="T2" fmla="*/ 0 w 125"/>
                <a:gd name="T3" fmla="*/ 1 h 29"/>
                <a:gd name="T4" fmla="*/ 0 w 125"/>
                <a:gd name="T5" fmla="*/ 1 h 29"/>
                <a:gd name="T6" fmla="*/ 0 w 125"/>
                <a:gd name="T7" fmla="*/ 1 h 29"/>
                <a:gd name="T8" fmla="*/ 0 w 125"/>
                <a:gd name="T9" fmla="*/ 1 h 29"/>
                <a:gd name="T10" fmla="*/ 0 w 125"/>
                <a:gd name="T11" fmla="*/ 1 h 29"/>
                <a:gd name="T12" fmla="*/ 0 w 125"/>
                <a:gd name="T13" fmla="*/ 1 h 29"/>
                <a:gd name="T14" fmla="*/ 0 w 125"/>
                <a:gd name="T15" fmla="*/ 1 h 29"/>
                <a:gd name="T16" fmla="*/ 0 w 125"/>
                <a:gd name="T17" fmla="*/ 0 h 29"/>
                <a:gd name="T18" fmla="*/ 0 w 125"/>
                <a:gd name="T19" fmla="*/ 0 h 29"/>
                <a:gd name="T20" fmla="*/ 0 w 125"/>
                <a:gd name="T21" fmla="*/ 1 h 29"/>
                <a:gd name="T22" fmla="*/ 0 w 125"/>
                <a:gd name="T23" fmla="*/ 1 h 29"/>
                <a:gd name="T24" fmla="*/ 0 w 125"/>
                <a:gd name="T25" fmla="*/ 1 h 29"/>
                <a:gd name="T26" fmla="*/ 0 w 125"/>
                <a:gd name="T27" fmla="*/ 1 h 29"/>
                <a:gd name="T28" fmla="*/ 0 w 125"/>
                <a:gd name="T29" fmla="*/ 1 h 2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5"/>
                <a:gd name="T46" fmla="*/ 0 h 29"/>
                <a:gd name="T47" fmla="*/ 125 w 125"/>
                <a:gd name="T48" fmla="*/ 29 h 2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5" h="29">
                  <a:moveTo>
                    <a:pt x="0" y="20"/>
                  </a:moveTo>
                  <a:lnTo>
                    <a:pt x="5" y="20"/>
                  </a:lnTo>
                  <a:lnTo>
                    <a:pt x="16" y="17"/>
                  </a:lnTo>
                  <a:lnTo>
                    <a:pt x="33" y="16"/>
                  </a:lnTo>
                  <a:lnTo>
                    <a:pt x="53" y="13"/>
                  </a:lnTo>
                  <a:lnTo>
                    <a:pt x="74" y="10"/>
                  </a:lnTo>
                  <a:lnTo>
                    <a:pt x="95" y="7"/>
                  </a:lnTo>
                  <a:lnTo>
                    <a:pt x="112" y="3"/>
                  </a:lnTo>
                  <a:lnTo>
                    <a:pt x="125" y="0"/>
                  </a:lnTo>
                  <a:lnTo>
                    <a:pt x="120" y="17"/>
                  </a:lnTo>
                  <a:lnTo>
                    <a:pt x="109" y="25"/>
                  </a:lnTo>
                  <a:lnTo>
                    <a:pt x="6" y="29"/>
                  </a:lnTo>
                  <a:lnTo>
                    <a:pt x="0" y="20"/>
                  </a:lnTo>
                  <a:close/>
                </a:path>
              </a:pathLst>
            </a:custGeom>
            <a:solidFill>
              <a:srgbClr val="F2D8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0083" name="Freeform 40"/>
            <p:cNvSpPr>
              <a:spLocks/>
            </p:cNvSpPr>
            <p:nvPr/>
          </p:nvSpPr>
          <p:spPr bwMode="auto">
            <a:xfrm>
              <a:off x="4838" y="3034"/>
              <a:ext cx="46" cy="76"/>
            </a:xfrm>
            <a:custGeom>
              <a:avLst/>
              <a:gdLst>
                <a:gd name="T0" fmla="*/ 0 w 94"/>
                <a:gd name="T1" fmla="*/ 0 h 154"/>
                <a:gd name="T2" fmla="*/ 0 w 94"/>
                <a:gd name="T3" fmla="*/ 0 h 154"/>
                <a:gd name="T4" fmla="*/ 0 w 94"/>
                <a:gd name="T5" fmla="*/ 0 h 154"/>
                <a:gd name="T6" fmla="*/ 0 w 94"/>
                <a:gd name="T7" fmla="*/ 0 h 154"/>
                <a:gd name="T8" fmla="*/ 0 w 94"/>
                <a:gd name="T9" fmla="*/ 0 h 154"/>
                <a:gd name="T10" fmla="*/ 0 w 94"/>
                <a:gd name="T11" fmla="*/ 0 h 154"/>
                <a:gd name="T12" fmla="*/ 0 w 94"/>
                <a:gd name="T13" fmla="*/ 0 h 154"/>
                <a:gd name="T14" fmla="*/ 0 w 94"/>
                <a:gd name="T15" fmla="*/ 0 h 154"/>
                <a:gd name="T16" fmla="*/ 0 w 94"/>
                <a:gd name="T17" fmla="*/ 0 h 154"/>
                <a:gd name="T18" fmla="*/ 0 w 94"/>
                <a:gd name="T19" fmla="*/ 0 h 154"/>
                <a:gd name="T20" fmla="*/ 0 w 94"/>
                <a:gd name="T21" fmla="*/ 0 h 154"/>
                <a:gd name="T22" fmla="*/ 0 w 94"/>
                <a:gd name="T23" fmla="*/ 0 h 154"/>
                <a:gd name="T24" fmla="*/ 0 w 94"/>
                <a:gd name="T25" fmla="*/ 0 h 154"/>
                <a:gd name="T26" fmla="*/ 0 w 94"/>
                <a:gd name="T27" fmla="*/ 0 h 154"/>
                <a:gd name="T28" fmla="*/ 0 w 94"/>
                <a:gd name="T29" fmla="*/ 0 h 154"/>
                <a:gd name="T30" fmla="*/ 0 w 94"/>
                <a:gd name="T31" fmla="*/ 0 h 15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4"/>
                <a:gd name="T49" fmla="*/ 0 h 154"/>
                <a:gd name="T50" fmla="*/ 94 w 94"/>
                <a:gd name="T51" fmla="*/ 154 h 15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4" h="154">
                  <a:moveTo>
                    <a:pt x="89" y="0"/>
                  </a:moveTo>
                  <a:lnTo>
                    <a:pt x="0" y="146"/>
                  </a:lnTo>
                  <a:lnTo>
                    <a:pt x="5" y="154"/>
                  </a:lnTo>
                  <a:lnTo>
                    <a:pt x="7" y="151"/>
                  </a:lnTo>
                  <a:lnTo>
                    <a:pt x="15" y="143"/>
                  </a:lnTo>
                  <a:lnTo>
                    <a:pt x="26" y="132"/>
                  </a:lnTo>
                  <a:lnTo>
                    <a:pt x="38" y="117"/>
                  </a:lnTo>
                  <a:lnTo>
                    <a:pt x="52" y="98"/>
                  </a:lnTo>
                  <a:lnTo>
                    <a:pt x="65" y="78"/>
                  </a:lnTo>
                  <a:lnTo>
                    <a:pt x="76" y="55"/>
                  </a:lnTo>
                  <a:lnTo>
                    <a:pt x="84" y="32"/>
                  </a:lnTo>
                  <a:lnTo>
                    <a:pt x="94" y="32"/>
                  </a:lnTo>
                  <a:lnTo>
                    <a:pt x="89" y="0"/>
                  </a:lnTo>
                  <a:close/>
                </a:path>
              </a:pathLst>
            </a:custGeom>
            <a:solidFill>
              <a:srgbClr val="F2D8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6" name="Rectangle 4"/>
          <p:cNvSpPr>
            <a:spLocks noChangeArrowheads="1"/>
          </p:cNvSpPr>
          <p:nvPr/>
        </p:nvSpPr>
        <p:spPr bwMode="auto">
          <a:xfrm>
            <a:off x="0" y="533400"/>
            <a:ext cx="3068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指针</a:t>
            </a:r>
          </a:p>
        </p:txBody>
      </p:sp>
    </p:spTree>
    <p:extLst>
      <p:ext uri="{BB962C8B-B14F-4D97-AF65-F5344CB8AC3E}">
        <p14:creationId xmlns:p14="http://schemas.microsoft.com/office/powerpoint/2010/main" val="3416469149"/>
      </p:ext>
    </p:extLst>
  </p:cSld>
  <p:clrMapOvr>
    <a:masterClrMapping/>
  </p:clrMapOvr>
  <p:transition>
    <p:wedge/>
  </p:transition>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074" name="Text Box 3"/>
          <p:cNvSpPr txBox="1">
            <a:spLocks noChangeArrowheads="1"/>
          </p:cNvSpPr>
          <p:nvPr/>
        </p:nvSpPr>
        <p:spPr bwMode="auto">
          <a:xfrm>
            <a:off x="0" y="1905000"/>
            <a:ext cx="9144000" cy="4449763"/>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lgn="ctr">
                <a:solidFill>
                  <a:srgbClr val="000000"/>
                </a:solidFill>
                <a:prstDash val="sysDot"/>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spcBef>
                <a:spcPct val="20000"/>
              </a:spcBef>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 </a:t>
            </a:r>
            <a:r>
              <a:rPr kumimoji="1" lang="zh-CN" altLang="en-US" sz="2400" b="1" dirty="0">
                <a:solidFill>
                  <a:srgbClr val="C00000"/>
                </a:solidFill>
                <a:latin typeface="幼圆" pitchFamily="49" charset="-122"/>
                <a:ea typeface="幼圆" pitchFamily="49" charset="-122"/>
              </a:rPr>
              <a:t>◆函数指针</a:t>
            </a:r>
          </a:p>
          <a:p>
            <a:pPr eaLnBrk="1" hangingPunct="1">
              <a:spcBef>
                <a:spcPct val="20000"/>
              </a:spcBef>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   ★ 函数指针:    函数的入口地址(用函数名表示)</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    </a:t>
            </a:r>
            <a:r>
              <a:rPr kumimoji="1" lang="en-US" altLang="zh-CN" sz="2400" b="1" dirty="0" err="1">
                <a:solidFill>
                  <a:schemeClr val="tx2"/>
                </a:solidFill>
                <a:latin typeface="幼圆" pitchFamily="49" charset="-122"/>
                <a:ea typeface="幼圆" pitchFamily="49" charset="-122"/>
              </a:rPr>
              <a:t>int</a:t>
            </a:r>
            <a:r>
              <a:rPr kumimoji="1" lang="en-US" altLang="zh-CN" sz="2400" b="1" dirty="0">
                <a:solidFill>
                  <a:schemeClr val="tx2"/>
                </a:solidFill>
                <a:latin typeface="幼圆" pitchFamily="49" charset="-122"/>
                <a:ea typeface="幼圆" pitchFamily="49" charset="-122"/>
              </a:rPr>
              <a:t> max(</a:t>
            </a:r>
            <a:r>
              <a:rPr kumimoji="1" lang="en-US" altLang="zh-CN" sz="2400" b="1" dirty="0" err="1">
                <a:solidFill>
                  <a:schemeClr val="tx2"/>
                </a:solidFill>
                <a:latin typeface="幼圆" pitchFamily="49" charset="-122"/>
                <a:ea typeface="幼圆" pitchFamily="49" charset="-122"/>
              </a:rPr>
              <a:t>a,b</a:t>
            </a:r>
            <a:r>
              <a:rPr kumimoji="1" lang="en-US" altLang="zh-CN" sz="2400" b="1" dirty="0">
                <a:solidFill>
                  <a:schemeClr val="tx2"/>
                </a:solidFill>
                <a:latin typeface="幼圆" pitchFamily="49" charset="-122"/>
                <a:ea typeface="幼圆" pitchFamily="49" charset="-122"/>
              </a:rPr>
              <a:t>), (*p)( ); </a:t>
            </a:r>
          </a:p>
          <a:p>
            <a:pPr eaLnBrk="1" hangingPunct="1">
              <a:spcBef>
                <a:spcPct val="20000"/>
              </a:spcBef>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    指针变量</a:t>
            </a:r>
            <a:r>
              <a:rPr kumimoji="1" lang="en-US" altLang="zh-CN" sz="2400" b="1" dirty="0">
                <a:solidFill>
                  <a:schemeClr val="tx2"/>
                </a:solidFill>
                <a:latin typeface="幼圆" pitchFamily="49" charset="-122"/>
                <a:ea typeface="幼圆" pitchFamily="49" charset="-122"/>
              </a:rPr>
              <a:t>p</a:t>
            </a:r>
            <a:r>
              <a:rPr kumimoji="1" lang="zh-CN" altLang="en-US" sz="2400" b="1" dirty="0">
                <a:solidFill>
                  <a:schemeClr val="tx2"/>
                </a:solidFill>
                <a:latin typeface="幼圆" pitchFamily="49" charset="-122"/>
                <a:ea typeface="幼圆" pitchFamily="49" charset="-122"/>
              </a:rPr>
              <a:t>的基类型是 </a:t>
            </a:r>
            <a:r>
              <a:rPr kumimoji="1" lang="en-US" altLang="zh-CN" sz="2400" b="1" dirty="0" err="1">
                <a:solidFill>
                  <a:schemeClr val="tx2"/>
                </a:solidFill>
                <a:latin typeface="幼圆" pitchFamily="49" charset="-122"/>
                <a:ea typeface="幼圆" pitchFamily="49" charset="-122"/>
              </a:rPr>
              <a:t>int</a:t>
            </a:r>
            <a:r>
              <a:rPr kumimoji="1" lang="en-US" altLang="zh-CN" sz="2400" b="1" dirty="0">
                <a:solidFill>
                  <a:schemeClr val="tx2"/>
                </a:solidFill>
                <a:latin typeface="幼圆" pitchFamily="49" charset="-122"/>
                <a:ea typeface="幼圆" pitchFamily="49" charset="-122"/>
              </a:rPr>
              <a:t> ( )</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   </a:t>
            </a:r>
          </a:p>
          <a:p>
            <a:pPr eaLnBrk="1" hangingPunct="1">
              <a:spcBef>
                <a:spcPct val="20000"/>
              </a:spcBef>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a:t>
            </a:r>
            <a:r>
              <a:rPr kumimoji="1" lang="en-US" altLang="zh-CN" sz="2400" b="1" dirty="0">
                <a:solidFill>
                  <a:schemeClr val="tx2"/>
                </a:solidFill>
                <a:latin typeface="幼圆" pitchFamily="49" charset="-122"/>
                <a:ea typeface="幼圆" pitchFamily="49" charset="-122"/>
              </a:rPr>
              <a:t> </a:t>
            </a:r>
            <a:r>
              <a:rPr kumimoji="1" lang="zh-CN" altLang="en-US" sz="2400" b="1" dirty="0">
                <a:solidFill>
                  <a:schemeClr val="tx2"/>
                </a:solidFill>
                <a:latin typeface="幼圆" pitchFamily="49" charset="-122"/>
                <a:ea typeface="幼圆" pitchFamily="49" charset="-122"/>
              </a:rPr>
              <a:t>用函数指针调用函数</a:t>
            </a:r>
          </a:p>
          <a:p>
            <a:pPr eaLnBrk="1" hangingPunct="1">
              <a:spcBef>
                <a:spcPct val="20000"/>
              </a:spcBef>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     </a:t>
            </a:r>
            <a:r>
              <a:rPr kumimoji="1" lang="en-US" altLang="zh-CN" sz="2400" b="1" dirty="0">
                <a:solidFill>
                  <a:schemeClr val="tx2"/>
                </a:solidFill>
                <a:latin typeface="幼圆" pitchFamily="49" charset="-122"/>
                <a:ea typeface="幼圆" pitchFamily="49" charset="-122"/>
              </a:rPr>
              <a:t>p=max;</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     t=(*p)(</a:t>
            </a:r>
            <a:r>
              <a:rPr kumimoji="1" lang="en-US" altLang="zh-CN" sz="2400" b="1" dirty="0" err="1">
                <a:solidFill>
                  <a:schemeClr val="tx2"/>
                </a:solidFill>
                <a:latin typeface="幼圆" pitchFamily="49" charset="-122"/>
                <a:ea typeface="幼圆" pitchFamily="49" charset="-122"/>
              </a:rPr>
              <a:t>a,b</a:t>
            </a:r>
            <a:r>
              <a:rPr kumimoji="1" lang="en-US" altLang="zh-CN" sz="2400" b="1" dirty="0">
                <a:solidFill>
                  <a:schemeClr val="tx2"/>
                </a:solidFill>
                <a:latin typeface="幼圆" pitchFamily="49" charset="-122"/>
                <a:ea typeface="幼圆" pitchFamily="49" charset="-122"/>
              </a:rPr>
              <a:t>);   </a:t>
            </a:r>
            <a:r>
              <a:rPr kumimoji="1" lang="en-US" altLang="zh-CN" sz="2400" b="1" dirty="0">
                <a:solidFill>
                  <a:schemeClr val="tx2"/>
                </a:solidFill>
                <a:latin typeface="幼圆" pitchFamily="49" charset="-122"/>
                <a:ea typeface="幼圆" pitchFamily="49" charset="-122"/>
                <a:sym typeface="Symbol" pitchFamily="18" charset="2"/>
              </a:rPr>
              <a:t></a:t>
            </a:r>
            <a:r>
              <a:rPr kumimoji="1" lang="en-US" altLang="zh-CN" sz="2400" b="1" dirty="0">
                <a:solidFill>
                  <a:schemeClr val="tx2"/>
                </a:solidFill>
                <a:latin typeface="幼圆" pitchFamily="49" charset="-122"/>
                <a:ea typeface="幼圆" pitchFamily="49" charset="-122"/>
              </a:rPr>
              <a:t>  t=max(</a:t>
            </a:r>
            <a:r>
              <a:rPr kumimoji="1" lang="en-US" altLang="zh-CN" sz="2400" b="1" dirty="0" err="1">
                <a:solidFill>
                  <a:schemeClr val="tx2"/>
                </a:solidFill>
                <a:latin typeface="幼圆" pitchFamily="49" charset="-122"/>
                <a:ea typeface="幼圆" pitchFamily="49" charset="-122"/>
              </a:rPr>
              <a:t>a,b</a:t>
            </a:r>
            <a:r>
              <a:rPr kumimoji="1" lang="en-US" altLang="zh-CN" sz="2400" b="1" dirty="0">
                <a:solidFill>
                  <a:schemeClr val="tx2"/>
                </a:solidFill>
                <a:latin typeface="幼圆" pitchFamily="49" charset="-122"/>
                <a:ea typeface="幼圆" pitchFamily="49" charset="-122"/>
              </a:rPr>
              <a:t>); </a:t>
            </a:r>
          </a:p>
          <a:p>
            <a:pPr eaLnBrk="1" hangingPunct="1">
              <a:spcBef>
                <a:spcPct val="20000"/>
              </a:spcBef>
              <a:buClr>
                <a:schemeClr val="tx1"/>
              </a:buClr>
              <a:buSzPct val="60000"/>
              <a:buFont typeface="宋体" pitchFamily="2" charset="-122"/>
              <a:buNone/>
            </a:pPr>
            <a:endParaRPr kumimoji="1" lang="en-US" altLang="zh-CN" sz="2400" b="1" dirty="0">
              <a:solidFill>
                <a:schemeClr val="tx2"/>
              </a:solidFill>
              <a:latin typeface="幼圆" pitchFamily="49" charset="-122"/>
              <a:ea typeface="幼圆" pitchFamily="49" charset="-122"/>
            </a:endParaRPr>
          </a:p>
          <a:p>
            <a:pPr eaLnBrk="1" hangingPunct="1">
              <a:spcBef>
                <a:spcPct val="20000"/>
              </a:spcBef>
              <a:buClr>
                <a:schemeClr val="tx1"/>
              </a:buClr>
              <a:buSzPct val="60000"/>
              <a:buFont typeface="宋体" pitchFamily="2" charset="-122"/>
              <a:buNone/>
            </a:pPr>
            <a:endParaRPr kumimoji="1" lang="en-US" altLang="zh-CN" sz="2400" b="1" dirty="0">
              <a:solidFill>
                <a:schemeClr val="tx2"/>
              </a:solidFill>
              <a:latin typeface="幼圆" pitchFamily="49" charset="-122"/>
              <a:ea typeface="幼圆" pitchFamily="49" charset="-122"/>
            </a:endParaRPr>
          </a:p>
        </p:txBody>
      </p:sp>
      <p:grpSp>
        <p:nvGrpSpPr>
          <p:cNvPr id="2" name="Group 6"/>
          <p:cNvGrpSpPr>
            <a:grpSpLocks/>
          </p:cNvGrpSpPr>
          <p:nvPr/>
        </p:nvGrpSpPr>
        <p:grpSpPr bwMode="auto">
          <a:xfrm>
            <a:off x="4953000" y="3276600"/>
            <a:ext cx="4191000" cy="1752600"/>
            <a:chOff x="2498" y="2690"/>
            <a:chExt cx="1923" cy="1019"/>
          </a:xfrm>
        </p:grpSpPr>
        <p:sp>
          <p:nvSpPr>
            <p:cNvPr id="131077" name="Freeform 7"/>
            <p:cNvSpPr>
              <a:spLocks/>
            </p:cNvSpPr>
            <p:nvPr/>
          </p:nvSpPr>
          <p:spPr bwMode="auto">
            <a:xfrm>
              <a:off x="2769" y="2690"/>
              <a:ext cx="378" cy="1008"/>
            </a:xfrm>
            <a:custGeom>
              <a:avLst/>
              <a:gdLst>
                <a:gd name="T0" fmla="*/ 7 w 378"/>
                <a:gd name="T1" fmla="*/ 280 h 1008"/>
                <a:gd name="T2" fmla="*/ 7 w 378"/>
                <a:gd name="T3" fmla="*/ 342 h 1008"/>
                <a:gd name="T4" fmla="*/ 74 w 378"/>
                <a:gd name="T5" fmla="*/ 441 h 1008"/>
                <a:gd name="T6" fmla="*/ 86 w 378"/>
                <a:gd name="T7" fmla="*/ 399 h 1008"/>
                <a:gd name="T8" fmla="*/ 61 w 378"/>
                <a:gd name="T9" fmla="*/ 386 h 1008"/>
                <a:gd name="T10" fmla="*/ 84 w 378"/>
                <a:gd name="T11" fmla="*/ 273 h 1008"/>
                <a:gd name="T12" fmla="*/ 96 w 378"/>
                <a:gd name="T13" fmla="*/ 392 h 1008"/>
                <a:gd name="T14" fmla="*/ 82 w 378"/>
                <a:gd name="T15" fmla="*/ 436 h 1008"/>
                <a:gd name="T16" fmla="*/ 90 w 378"/>
                <a:gd name="T17" fmla="*/ 509 h 1008"/>
                <a:gd name="T18" fmla="*/ 107 w 378"/>
                <a:gd name="T19" fmla="*/ 979 h 1008"/>
                <a:gd name="T20" fmla="*/ 109 w 378"/>
                <a:gd name="T21" fmla="*/ 996 h 1008"/>
                <a:gd name="T22" fmla="*/ 145 w 378"/>
                <a:gd name="T23" fmla="*/ 1006 h 1008"/>
                <a:gd name="T24" fmla="*/ 163 w 378"/>
                <a:gd name="T25" fmla="*/ 981 h 1008"/>
                <a:gd name="T26" fmla="*/ 186 w 378"/>
                <a:gd name="T27" fmla="*/ 914 h 1008"/>
                <a:gd name="T28" fmla="*/ 186 w 378"/>
                <a:gd name="T29" fmla="*/ 547 h 1008"/>
                <a:gd name="T30" fmla="*/ 199 w 378"/>
                <a:gd name="T31" fmla="*/ 921 h 1008"/>
                <a:gd name="T32" fmla="*/ 216 w 378"/>
                <a:gd name="T33" fmla="*/ 981 h 1008"/>
                <a:gd name="T34" fmla="*/ 220 w 378"/>
                <a:gd name="T35" fmla="*/ 1008 h 1008"/>
                <a:gd name="T36" fmla="*/ 263 w 378"/>
                <a:gd name="T37" fmla="*/ 1002 h 1008"/>
                <a:gd name="T38" fmla="*/ 261 w 378"/>
                <a:gd name="T39" fmla="*/ 983 h 1008"/>
                <a:gd name="T40" fmla="*/ 289 w 378"/>
                <a:gd name="T41" fmla="*/ 557 h 1008"/>
                <a:gd name="T42" fmla="*/ 293 w 378"/>
                <a:gd name="T43" fmla="*/ 434 h 1008"/>
                <a:gd name="T44" fmla="*/ 282 w 378"/>
                <a:gd name="T45" fmla="*/ 401 h 1008"/>
                <a:gd name="T46" fmla="*/ 288 w 378"/>
                <a:gd name="T47" fmla="*/ 271 h 1008"/>
                <a:gd name="T48" fmla="*/ 324 w 378"/>
                <a:gd name="T49" fmla="*/ 309 h 1008"/>
                <a:gd name="T50" fmla="*/ 305 w 378"/>
                <a:gd name="T51" fmla="*/ 405 h 1008"/>
                <a:gd name="T52" fmla="*/ 293 w 378"/>
                <a:gd name="T53" fmla="*/ 434 h 1008"/>
                <a:gd name="T54" fmla="*/ 314 w 378"/>
                <a:gd name="T55" fmla="*/ 434 h 1008"/>
                <a:gd name="T56" fmla="*/ 370 w 378"/>
                <a:gd name="T57" fmla="*/ 332 h 1008"/>
                <a:gd name="T58" fmla="*/ 376 w 378"/>
                <a:gd name="T59" fmla="*/ 280 h 1008"/>
                <a:gd name="T60" fmla="*/ 291 w 378"/>
                <a:gd name="T61" fmla="*/ 178 h 1008"/>
                <a:gd name="T62" fmla="*/ 218 w 378"/>
                <a:gd name="T63" fmla="*/ 113 h 1008"/>
                <a:gd name="T64" fmla="*/ 234 w 378"/>
                <a:gd name="T65" fmla="*/ 75 h 1008"/>
                <a:gd name="T66" fmla="*/ 213 w 378"/>
                <a:gd name="T67" fmla="*/ 10 h 1008"/>
                <a:gd name="T68" fmla="*/ 203 w 378"/>
                <a:gd name="T69" fmla="*/ 0 h 1008"/>
                <a:gd name="T70" fmla="*/ 144 w 378"/>
                <a:gd name="T71" fmla="*/ 13 h 1008"/>
                <a:gd name="T72" fmla="*/ 132 w 378"/>
                <a:gd name="T73" fmla="*/ 84 h 1008"/>
                <a:gd name="T74" fmla="*/ 134 w 378"/>
                <a:gd name="T75" fmla="*/ 107 h 1008"/>
                <a:gd name="T76" fmla="*/ 153 w 378"/>
                <a:gd name="T77" fmla="*/ 148 h 1008"/>
                <a:gd name="T78" fmla="*/ 59 w 378"/>
                <a:gd name="T79" fmla="*/ 194 h 100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78"/>
                <a:gd name="T121" fmla="*/ 0 h 1008"/>
                <a:gd name="T122" fmla="*/ 378 w 378"/>
                <a:gd name="T123" fmla="*/ 1008 h 100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78" h="1008">
                  <a:moveTo>
                    <a:pt x="59" y="194"/>
                  </a:moveTo>
                  <a:lnTo>
                    <a:pt x="7" y="280"/>
                  </a:lnTo>
                  <a:lnTo>
                    <a:pt x="0" y="307"/>
                  </a:lnTo>
                  <a:lnTo>
                    <a:pt x="7" y="342"/>
                  </a:lnTo>
                  <a:lnTo>
                    <a:pt x="38" y="426"/>
                  </a:lnTo>
                  <a:lnTo>
                    <a:pt x="74" y="441"/>
                  </a:lnTo>
                  <a:lnTo>
                    <a:pt x="82" y="436"/>
                  </a:lnTo>
                  <a:lnTo>
                    <a:pt x="86" y="399"/>
                  </a:lnTo>
                  <a:lnTo>
                    <a:pt x="71" y="405"/>
                  </a:lnTo>
                  <a:lnTo>
                    <a:pt x="61" y="386"/>
                  </a:lnTo>
                  <a:lnTo>
                    <a:pt x="53" y="322"/>
                  </a:lnTo>
                  <a:lnTo>
                    <a:pt x="84" y="273"/>
                  </a:lnTo>
                  <a:lnTo>
                    <a:pt x="90" y="382"/>
                  </a:lnTo>
                  <a:lnTo>
                    <a:pt x="96" y="392"/>
                  </a:lnTo>
                  <a:lnTo>
                    <a:pt x="86" y="399"/>
                  </a:lnTo>
                  <a:lnTo>
                    <a:pt x="82" y="436"/>
                  </a:lnTo>
                  <a:lnTo>
                    <a:pt x="90" y="432"/>
                  </a:lnTo>
                  <a:lnTo>
                    <a:pt x="90" y="509"/>
                  </a:lnTo>
                  <a:lnTo>
                    <a:pt x="107" y="747"/>
                  </a:lnTo>
                  <a:lnTo>
                    <a:pt x="107" y="979"/>
                  </a:lnTo>
                  <a:lnTo>
                    <a:pt x="117" y="979"/>
                  </a:lnTo>
                  <a:lnTo>
                    <a:pt x="109" y="996"/>
                  </a:lnTo>
                  <a:lnTo>
                    <a:pt x="111" y="1006"/>
                  </a:lnTo>
                  <a:lnTo>
                    <a:pt x="145" y="1006"/>
                  </a:lnTo>
                  <a:lnTo>
                    <a:pt x="159" y="991"/>
                  </a:lnTo>
                  <a:lnTo>
                    <a:pt x="163" y="981"/>
                  </a:lnTo>
                  <a:lnTo>
                    <a:pt x="172" y="981"/>
                  </a:lnTo>
                  <a:lnTo>
                    <a:pt x="186" y="914"/>
                  </a:lnTo>
                  <a:lnTo>
                    <a:pt x="182" y="777"/>
                  </a:lnTo>
                  <a:lnTo>
                    <a:pt x="186" y="547"/>
                  </a:lnTo>
                  <a:lnTo>
                    <a:pt x="203" y="797"/>
                  </a:lnTo>
                  <a:lnTo>
                    <a:pt x="199" y="921"/>
                  </a:lnTo>
                  <a:lnTo>
                    <a:pt x="211" y="981"/>
                  </a:lnTo>
                  <a:lnTo>
                    <a:pt x="216" y="981"/>
                  </a:lnTo>
                  <a:lnTo>
                    <a:pt x="216" y="1002"/>
                  </a:lnTo>
                  <a:lnTo>
                    <a:pt x="220" y="1008"/>
                  </a:lnTo>
                  <a:lnTo>
                    <a:pt x="259" y="1006"/>
                  </a:lnTo>
                  <a:lnTo>
                    <a:pt x="263" y="1002"/>
                  </a:lnTo>
                  <a:lnTo>
                    <a:pt x="264" y="996"/>
                  </a:lnTo>
                  <a:lnTo>
                    <a:pt x="261" y="983"/>
                  </a:lnTo>
                  <a:lnTo>
                    <a:pt x="268" y="981"/>
                  </a:lnTo>
                  <a:lnTo>
                    <a:pt x="289" y="557"/>
                  </a:lnTo>
                  <a:lnTo>
                    <a:pt x="289" y="432"/>
                  </a:lnTo>
                  <a:lnTo>
                    <a:pt x="293" y="434"/>
                  </a:lnTo>
                  <a:lnTo>
                    <a:pt x="293" y="403"/>
                  </a:lnTo>
                  <a:lnTo>
                    <a:pt x="282" y="401"/>
                  </a:lnTo>
                  <a:lnTo>
                    <a:pt x="289" y="376"/>
                  </a:lnTo>
                  <a:lnTo>
                    <a:pt x="288" y="271"/>
                  </a:lnTo>
                  <a:lnTo>
                    <a:pt x="311" y="290"/>
                  </a:lnTo>
                  <a:lnTo>
                    <a:pt x="324" y="309"/>
                  </a:lnTo>
                  <a:lnTo>
                    <a:pt x="318" y="386"/>
                  </a:lnTo>
                  <a:lnTo>
                    <a:pt x="305" y="405"/>
                  </a:lnTo>
                  <a:lnTo>
                    <a:pt x="293" y="403"/>
                  </a:lnTo>
                  <a:lnTo>
                    <a:pt x="293" y="434"/>
                  </a:lnTo>
                  <a:lnTo>
                    <a:pt x="301" y="436"/>
                  </a:lnTo>
                  <a:lnTo>
                    <a:pt x="314" y="434"/>
                  </a:lnTo>
                  <a:lnTo>
                    <a:pt x="347" y="411"/>
                  </a:lnTo>
                  <a:lnTo>
                    <a:pt x="370" y="332"/>
                  </a:lnTo>
                  <a:lnTo>
                    <a:pt x="378" y="299"/>
                  </a:lnTo>
                  <a:lnTo>
                    <a:pt x="376" y="280"/>
                  </a:lnTo>
                  <a:lnTo>
                    <a:pt x="322" y="211"/>
                  </a:lnTo>
                  <a:lnTo>
                    <a:pt x="291" y="178"/>
                  </a:lnTo>
                  <a:lnTo>
                    <a:pt x="216" y="146"/>
                  </a:lnTo>
                  <a:lnTo>
                    <a:pt x="218" y="113"/>
                  </a:lnTo>
                  <a:lnTo>
                    <a:pt x="228" y="107"/>
                  </a:lnTo>
                  <a:lnTo>
                    <a:pt x="234" y="75"/>
                  </a:lnTo>
                  <a:lnTo>
                    <a:pt x="230" y="34"/>
                  </a:lnTo>
                  <a:lnTo>
                    <a:pt x="213" y="10"/>
                  </a:lnTo>
                  <a:lnTo>
                    <a:pt x="207" y="10"/>
                  </a:lnTo>
                  <a:lnTo>
                    <a:pt x="203" y="0"/>
                  </a:lnTo>
                  <a:lnTo>
                    <a:pt x="170" y="2"/>
                  </a:lnTo>
                  <a:lnTo>
                    <a:pt x="144" y="13"/>
                  </a:lnTo>
                  <a:lnTo>
                    <a:pt x="130" y="46"/>
                  </a:lnTo>
                  <a:lnTo>
                    <a:pt x="132" y="84"/>
                  </a:lnTo>
                  <a:lnTo>
                    <a:pt x="128" y="90"/>
                  </a:lnTo>
                  <a:lnTo>
                    <a:pt x="134" y="107"/>
                  </a:lnTo>
                  <a:lnTo>
                    <a:pt x="144" y="111"/>
                  </a:lnTo>
                  <a:lnTo>
                    <a:pt x="153" y="148"/>
                  </a:lnTo>
                  <a:lnTo>
                    <a:pt x="71" y="178"/>
                  </a:lnTo>
                  <a:lnTo>
                    <a:pt x="59" y="194"/>
                  </a:lnTo>
                  <a:close/>
                </a:path>
              </a:pathLst>
            </a:custGeom>
            <a:solidFill>
              <a:srgbClr val="DDDDDD">
                <a:alpha val="50195"/>
              </a:srgbClr>
            </a:solidFill>
            <a:ln w="0">
              <a:solidFill>
                <a:schemeClr val="folHlink"/>
              </a:solidFill>
              <a:prstDash val="solid"/>
              <a:round/>
              <a:headEnd/>
              <a:tailEnd/>
            </a:ln>
          </p:spPr>
          <p:txBody>
            <a:bodyPr/>
            <a:lstStyle/>
            <a:p>
              <a:endParaRPr lang="zh-CN" altLang="en-US"/>
            </a:p>
          </p:txBody>
        </p:sp>
        <p:sp>
          <p:nvSpPr>
            <p:cNvPr id="131078" name="Freeform 8"/>
            <p:cNvSpPr>
              <a:spLocks/>
            </p:cNvSpPr>
            <p:nvPr/>
          </p:nvSpPr>
          <p:spPr bwMode="auto">
            <a:xfrm>
              <a:off x="3381" y="2751"/>
              <a:ext cx="390" cy="949"/>
            </a:xfrm>
            <a:custGeom>
              <a:avLst/>
              <a:gdLst>
                <a:gd name="T0" fmla="*/ 232 w 390"/>
                <a:gd name="T1" fmla="*/ 0 h 949"/>
                <a:gd name="T2" fmla="*/ 246 w 390"/>
                <a:gd name="T3" fmla="*/ 4 h 949"/>
                <a:gd name="T4" fmla="*/ 246 w 390"/>
                <a:gd name="T5" fmla="*/ 8 h 949"/>
                <a:gd name="T6" fmla="*/ 251 w 390"/>
                <a:gd name="T7" fmla="*/ 8 h 949"/>
                <a:gd name="T8" fmla="*/ 265 w 390"/>
                <a:gd name="T9" fmla="*/ 27 h 949"/>
                <a:gd name="T10" fmla="*/ 267 w 390"/>
                <a:gd name="T11" fmla="*/ 33 h 949"/>
                <a:gd name="T12" fmla="*/ 269 w 390"/>
                <a:gd name="T13" fmla="*/ 41 h 949"/>
                <a:gd name="T14" fmla="*/ 271 w 390"/>
                <a:gd name="T15" fmla="*/ 46 h 949"/>
                <a:gd name="T16" fmla="*/ 271 w 390"/>
                <a:gd name="T17" fmla="*/ 54 h 949"/>
                <a:gd name="T18" fmla="*/ 269 w 390"/>
                <a:gd name="T19" fmla="*/ 62 h 949"/>
                <a:gd name="T20" fmla="*/ 267 w 390"/>
                <a:gd name="T21" fmla="*/ 66 h 949"/>
                <a:gd name="T22" fmla="*/ 263 w 390"/>
                <a:gd name="T23" fmla="*/ 71 h 949"/>
                <a:gd name="T24" fmla="*/ 259 w 390"/>
                <a:gd name="T25" fmla="*/ 94 h 949"/>
                <a:gd name="T26" fmla="*/ 253 w 390"/>
                <a:gd name="T27" fmla="*/ 100 h 949"/>
                <a:gd name="T28" fmla="*/ 248 w 390"/>
                <a:gd name="T29" fmla="*/ 139 h 949"/>
                <a:gd name="T30" fmla="*/ 319 w 390"/>
                <a:gd name="T31" fmla="*/ 190 h 949"/>
                <a:gd name="T32" fmla="*/ 344 w 390"/>
                <a:gd name="T33" fmla="*/ 354 h 949"/>
                <a:gd name="T34" fmla="*/ 284 w 390"/>
                <a:gd name="T35" fmla="*/ 480 h 949"/>
                <a:gd name="T36" fmla="*/ 274 w 390"/>
                <a:gd name="T37" fmla="*/ 480 h 949"/>
                <a:gd name="T38" fmla="*/ 271 w 390"/>
                <a:gd name="T39" fmla="*/ 503 h 949"/>
                <a:gd name="T40" fmla="*/ 259 w 390"/>
                <a:gd name="T41" fmla="*/ 511 h 949"/>
                <a:gd name="T42" fmla="*/ 257 w 390"/>
                <a:gd name="T43" fmla="*/ 523 h 949"/>
                <a:gd name="T44" fmla="*/ 365 w 390"/>
                <a:gd name="T45" fmla="*/ 906 h 949"/>
                <a:gd name="T46" fmla="*/ 376 w 390"/>
                <a:gd name="T47" fmla="*/ 922 h 949"/>
                <a:gd name="T48" fmla="*/ 390 w 390"/>
                <a:gd name="T49" fmla="*/ 935 h 949"/>
                <a:gd name="T50" fmla="*/ 386 w 390"/>
                <a:gd name="T51" fmla="*/ 945 h 949"/>
                <a:gd name="T52" fmla="*/ 334 w 390"/>
                <a:gd name="T53" fmla="*/ 941 h 949"/>
                <a:gd name="T54" fmla="*/ 330 w 390"/>
                <a:gd name="T55" fmla="*/ 930 h 949"/>
                <a:gd name="T56" fmla="*/ 301 w 390"/>
                <a:gd name="T57" fmla="*/ 928 h 949"/>
                <a:gd name="T58" fmla="*/ 301 w 390"/>
                <a:gd name="T59" fmla="*/ 906 h 949"/>
                <a:gd name="T60" fmla="*/ 272 w 390"/>
                <a:gd name="T61" fmla="*/ 910 h 949"/>
                <a:gd name="T62" fmla="*/ 150 w 390"/>
                <a:gd name="T63" fmla="*/ 553 h 949"/>
                <a:gd name="T64" fmla="*/ 132 w 390"/>
                <a:gd name="T65" fmla="*/ 720 h 949"/>
                <a:gd name="T66" fmla="*/ 138 w 390"/>
                <a:gd name="T67" fmla="*/ 747 h 949"/>
                <a:gd name="T68" fmla="*/ 136 w 390"/>
                <a:gd name="T69" fmla="*/ 841 h 949"/>
                <a:gd name="T70" fmla="*/ 152 w 390"/>
                <a:gd name="T71" fmla="*/ 895 h 949"/>
                <a:gd name="T72" fmla="*/ 148 w 390"/>
                <a:gd name="T73" fmla="*/ 899 h 949"/>
                <a:gd name="T74" fmla="*/ 144 w 390"/>
                <a:gd name="T75" fmla="*/ 926 h 949"/>
                <a:gd name="T76" fmla="*/ 127 w 390"/>
                <a:gd name="T77" fmla="*/ 949 h 949"/>
                <a:gd name="T78" fmla="*/ 92 w 390"/>
                <a:gd name="T79" fmla="*/ 949 h 949"/>
                <a:gd name="T80" fmla="*/ 84 w 390"/>
                <a:gd name="T81" fmla="*/ 930 h 949"/>
                <a:gd name="T82" fmla="*/ 98 w 390"/>
                <a:gd name="T83" fmla="*/ 899 h 949"/>
                <a:gd name="T84" fmla="*/ 75 w 390"/>
                <a:gd name="T85" fmla="*/ 893 h 949"/>
                <a:gd name="T86" fmla="*/ 29 w 390"/>
                <a:gd name="T87" fmla="*/ 467 h 949"/>
                <a:gd name="T88" fmla="*/ 17 w 390"/>
                <a:gd name="T89" fmla="*/ 438 h 949"/>
                <a:gd name="T90" fmla="*/ 11 w 390"/>
                <a:gd name="T91" fmla="*/ 436 h 949"/>
                <a:gd name="T92" fmla="*/ 0 w 390"/>
                <a:gd name="T93" fmla="*/ 357 h 949"/>
                <a:gd name="T94" fmla="*/ 69 w 390"/>
                <a:gd name="T95" fmla="*/ 146 h 949"/>
                <a:gd name="T96" fmla="*/ 175 w 390"/>
                <a:gd name="T97" fmla="*/ 127 h 949"/>
                <a:gd name="T98" fmla="*/ 175 w 390"/>
                <a:gd name="T99" fmla="*/ 98 h 949"/>
                <a:gd name="T100" fmla="*/ 167 w 390"/>
                <a:gd name="T101" fmla="*/ 91 h 949"/>
                <a:gd name="T102" fmla="*/ 165 w 390"/>
                <a:gd name="T103" fmla="*/ 79 h 949"/>
                <a:gd name="T104" fmla="*/ 163 w 390"/>
                <a:gd name="T105" fmla="*/ 62 h 949"/>
                <a:gd name="T106" fmla="*/ 163 w 390"/>
                <a:gd name="T107" fmla="*/ 54 h 949"/>
                <a:gd name="T108" fmla="*/ 165 w 390"/>
                <a:gd name="T109" fmla="*/ 48 h 949"/>
                <a:gd name="T110" fmla="*/ 165 w 390"/>
                <a:gd name="T111" fmla="*/ 41 h 949"/>
                <a:gd name="T112" fmla="*/ 167 w 390"/>
                <a:gd name="T113" fmla="*/ 33 h 949"/>
                <a:gd name="T114" fmla="*/ 175 w 390"/>
                <a:gd name="T115" fmla="*/ 21 h 949"/>
                <a:gd name="T116" fmla="*/ 213 w 390"/>
                <a:gd name="T117" fmla="*/ 2 h 949"/>
                <a:gd name="T118" fmla="*/ 223 w 390"/>
                <a:gd name="T119" fmla="*/ 0 h 949"/>
                <a:gd name="T120" fmla="*/ 232 w 390"/>
                <a:gd name="T121" fmla="*/ 0 h 94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90"/>
                <a:gd name="T184" fmla="*/ 0 h 949"/>
                <a:gd name="T185" fmla="*/ 390 w 390"/>
                <a:gd name="T186" fmla="*/ 949 h 94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90" h="949">
                  <a:moveTo>
                    <a:pt x="232" y="0"/>
                  </a:moveTo>
                  <a:lnTo>
                    <a:pt x="246" y="4"/>
                  </a:lnTo>
                  <a:lnTo>
                    <a:pt x="246" y="8"/>
                  </a:lnTo>
                  <a:lnTo>
                    <a:pt x="251" y="8"/>
                  </a:lnTo>
                  <a:lnTo>
                    <a:pt x="265" y="27"/>
                  </a:lnTo>
                  <a:lnTo>
                    <a:pt x="267" y="33"/>
                  </a:lnTo>
                  <a:lnTo>
                    <a:pt x="269" y="41"/>
                  </a:lnTo>
                  <a:lnTo>
                    <a:pt x="271" y="46"/>
                  </a:lnTo>
                  <a:lnTo>
                    <a:pt x="271" y="54"/>
                  </a:lnTo>
                  <a:lnTo>
                    <a:pt x="269" y="62"/>
                  </a:lnTo>
                  <a:lnTo>
                    <a:pt x="267" y="66"/>
                  </a:lnTo>
                  <a:lnTo>
                    <a:pt x="263" y="71"/>
                  </a:lnTo>
                  <a:lnTo>
                    <a:pt x="259" y="94"/>
                  </a:lnTo>
                  <a:lnTo>
                    <a:pt x="253" y="100"/>
                  </a:lnTo>
                  <a:lnTo>
                    <a:pt x="248" y="139"/>
                  </a:lnTo>
                  <a:lnTo>
                    <a:pt x="319" y="190"/>
                  </a:lnTo>
                  <a:lnTo>
                    <a:pt x="344" y="354"/>
                  </a:lnTo>
                  <a:lnTo>
                    <a:pt x="284" y="480"/>
                  </a:lnTo>
                  <a:lnTo>
                    <a:pt x="274" y="480"/>
                  </a:lnTo>
                  <a:lnTo>
                    <a:pt x="271" y="503"/>
                  </a:lnTo>
                  <a:lnTo>
                    <a:pt x="259" y="511"/>
                  </a:lnTo>
                  <a:lnTo>
                    <a:pt x="257" y="523"/>
                  </a:lnTo>
                  <a:lnTo>
                    <a:pt x="365" y="906"/>
                  </a:lnTo>
                  <a:lnTo>
                    <a:pt x="376" y="922"/>
                  </a:lnTo>
                  <a:lnTo>
                    <a:pt x="390" y="935"/>
                  </a:lnTo>
                  <a:lnTo>
                    <a:pt x="386" y="945"/>
                  </a:lnTo>
                  <a:lnTo>
                    <a:pt x="334" y="941"/>
                  </a:lnTo>
                  <a:lnTo>
                    <a:pt x="330" y="930"/>
                  </a:lnTo>
                  <a:lnTo>
                    <a:pt x="301" y="928"/>
                  </a:lnTo>
                  <a:lnTo>
                    <a:pt x="301" y="906"/>
                  </a:lnTo>
                  <a:lnTo>
                    <a:pt x="272" y="910"/>
                  </a:lnTo>
                  <a:lnTo>
                    <a:pt x="150" y="553"/>
                  </a:lnTo>
                  <a:lnTo>
                    <a:pt x="132" y="720"/>
                  </a:lnTo>
                  <a:lnTo>
                    <a:pt x="138" y="747"/>
                  </a:lnTo>
                  <a:lnTo>
                    <a:pt x="136" y="841"/>
                  </a:lnTo>
                  <a:lnTo>
                    <a:pt x="152" y="895"/>
                  </a:lnTo>
                  <a:lnTo>
                    <a:pt x="148" y="899"/>
                  </a:lnTo>
                  <a:lnTo>
                    <a:pt x="144" y="926"/>
                  </a:lnTo>
                  <a:lnTo>
                    <a:pt x="127" y="949"/>
                  </a:lnTo>
                  <a:lnTo>
                    <a:pt x="92" y="949"/>
                  </a:lnTo>
                  <a:lnTo>
                    <a:pt x="84" y="930"/>
                  </a:lnTo>
                  <a:lnTo>
                    <a:pt x="98" y="899"/>
                  </a:lnTo>
                  <a:lnTo>
                    <a:pt x="75" y="893"/>
                  </a:lnTo>
                  <a:lnTo>
                    <a:pt x="29" y="467"/>
                  </a:lnTo>
                  <a:lnTo>
                    <a:pt x="17" y="438"/>
                  </a:lnTo>
                  <a:lnTo>
                    <a:pt x="11" y="436"/>
                  </a:lnTo>
                  <a:lnTo>
                    <a:pt x="0" y="357"/>
                  </a:lnTo>
                  <a:lnTo>
                    <a:pt x="69" y="146"/>
                  </a:lnTo>
                  <a:lnTo>
                    <a:pt x="175" y="127"/>
                  </a:lnTo>
                  <a:lnTo>
                    <a:pt x="175" y="98"/>
                  </a:lnTo>
                  <a:lnTo>
                    <a:pt x="167" y="91"/>
                  </a:lnTo>
                  <a:lnTo>
                    <a:pt x="165" y="79"/>
                  </a:lnTo>
                  <a:lnTo>
                    <a:pt x="163" y="62"/>
                  </a:lnTo>
                  <a:lnTo>
                    <a:pt x="163" y="54"/>
                  </a:lnTo>
                  <a:lnTo>
                    <a:pt x="165" y="48"/>
                  </a:lnTo>
                  <a:lnTo>
                    <a:pt x="165" y="41"/>
                  </a:lnTo>
                  <a:lnTo>
                    <a:pt x="167" y="33"/>
                  </a:lnTo>
                  <a:lnTo>
                    <a:pt x="175" y="21"/>
                  </a:lnTo>
                  <a:lnTo>
                    <a:pt x="213" y="2"/>
                  </a:lnTo>
                  <a:lnTo>
                    <a:pt x="223" y="0"/>
                  </a:lnTo>
                  <a:lnTo>
                    <a:pt x="232" y="0"/>
                  </a:lnTo>
                  <a:close/>
                </a:path>
              </a:pathLst>
            </a:custGeom>
            <a:solidFill>
              <a:srgbClr val="DDDDDD">
                <a:alpha val="50195"/>
              </a:srgbClr>
            </a:solidFill>
            <a:ln w="0">
              <a:solidFill>
                <a:schemeClr val="folHlink"/>
              </a:solidFill>
              <a:prstDash val="solid"/>
              <a:round/>
              <a:headEnd/>
              <a:tailEnd/>
            </a:ln>
          </p:spPr>
          <p:txBody>
            <a:bodyPr/>
            <a:lstStyle/>
            <a:p>
              <a:endParaRPr lang="zh-CN" altLang="en-US"/>
            </a:p>
          </p:txBody>
        </p:sp>
        <p:sp>
          <p:nvSpPr>
            <p:cNvPr id="131079" name="Freeform 9"/>
            <p:cNvSpPr>
              <a:spLocks/>
            </p:cNvSpPr>
            <p:nvPr/>
          </p:nvSpPr>
          <p:spPr bwMode="auto">
            <a:xfrm>
              <a:off x="3080" y="2696"/>
              <a:ext cx="311" cy="998"/>
            </a:xfrm>
            <a:custGeom>
              <a:avLst/>
              <a:gdLst>
                <a:gd name="T0" fmla="*/ 0 w 311"/>
                <a:gd name="T1" fmla="*/ 284 h 998"/>
                <a:gd name="T2" fmla="*/ 0 w 311"/>
                <a:gd name="T3" fmla="*/ 347 h 998"/>
                <a:gd name="T4" fmla="*/ 9 w 311"/>
                <a:gd name="T5" fmla="*/ 353 h 998"/>
                <a:gd name="T6" fmla="*/ 7 w 311"/>
                <a:gd name="T7" fmla="*/ 370 h 998"/>
                <a:gd name="T8" fmla="*/ 7 w 311"/>
                <a:gd name="T9" fmla="*/ 380 h 998"/>
                <a:gd name="T10" fmla="*/ 36 w 311"/>
                <a:gd name="T11" fmla="*/ 405 h 998"/>
                <a:gd name="T12" fmla="*/ 38 w 311"/>
                <a:gd name="T13" fmla="*/ 522 h 998"/>
                <a:gd name="T14" fmla="*/ 59 w 311"/>
                <a:gd name="T15" fmla="*/ 539 h 998"/>
                <a:gd name="T16" fmla="*/ 72 w 311"/>
                <a:gd name="T17" fmla="*/ 775 h 998"/>
                <a:gd name="T18" fmla="*/ 61 w 311"/>
                <a:gd name="T19" fmla="*/ 942 h 998"/>
                <a:gd name="T20" fmla="*/ 71 w 311"/>
                <a:gd name="T21" fmla="*/ 948 h 998"/>
                <a:gd name="T22" fmla="*/ 65 w 311"/>
                <a:gd name="T23" fmla="*/ 977 h 998"/>
                <a:gd name="T24" fmla="*/ 71 w 311"/>
                <a:gd name="T25" fmla="*/ 996 h 998"/>
                <a:gd name="T26" fmla="*/ 117 w 311"/>
                <a:gd name="T27" fmla="*/ 996 h 998"/>
                <a:gd name="T28" fmla="*/ 122 w 311"/>
                <a:gd name="T29" fmla="*/ 990 h 998"/>
                <a:gd name="T30" fmla="*/ 122 w 311"/>
                <a:gd name="T31" fmla="*/ 946 h 998"/>
                <a:gd name="T32" fmla="*/ 132 w 311"/>
                <a:gd name="T33" fmla="*/ 937 h 998"/>
                <a:gd name="T34" fmla="*/ 155 w 311"/>
                <a:gd name="T35" fmla="*/ 585 h 998"/>
                <a:gd name="T36" fmla="*/ 176 w 311"/>
                <a:gd name="T37" fmla="*/ 810 h 998"/>
                <a:gd name="T38" fmla="*/ 180 w 311"/>
                <a:gd name="T39" fmla="*/ 881 h 998"/>
                <a:gd name="T40" fmla="*/ 201 w 311"/>
                <a:gd name="T41" fmla="*/ 954 h 998"/>
                <a:gd name="T42" fmla="*/ 197 w 311"/>
                <a:gd name="T43" fmla="*/ 992 h 998"/>
                <a:gd name="T44" fmla="*/ 205 w 311"/>
                <a:gd name="T45" fmla="*/ 998 h 998"/>
                <a:gd name="T46" fmla="*/ 251 w 311"/>
                <a:gd name="T47" fmla="*/ 998 h 998"/>
                <a:gd name="T48" fmla="*/ 251 w 311"/>
                <a:gd name="T49" fmla="*/ 975 h 998"/>
                <a:gd name="T50" fmla="*/ 241 w 311"/>
                <a:gd name="T51" fmla="*/ 952 h 998"/>
                <a:gd name="T52" fmla="*/ 249 w 311"/>
                <a:gd name="T53" fmla="*/ 948 h 998"/>
                <a:gd name="T54" fmla="*/ 243 w 311"/>
                <a:gd name="T55" fmla="*/ 537 h 998"/>
                <a:gd name="T56" fmla="*/ 270 w 311"/>
                <a:gd name="T57" fmla="*/ 526 h 998"/>
                <a:gd name="T58" fmla="*/ 266 w 311"/>
                <a:gd name="T59" fmla="*/ 426 h 998"/>
                <a:gd name="T60" fmla="*/ 311 w 311"/>
                <a:gd name="T61" fmla="*/ 328 h 998"/>
                <a:gd name="T62" fmla="*/ 301 w 311"/>
                <a:gd name="T63" fmla="*/ 242 h 998"/>
                <a:gd name="T64" fmla="*/ 270 w 311"/>
                <a:gd name="T65" fmla="*/ 165 h 998"/>
                <a:gd name="T66" fmla="*/ 192 w 311"/>
                <a:gd name="T67" fmla="*/ 134 h 998"/>
                <a:gd name="T68" fmla="*/ 190 w 311"/>
                <a:gd name="T69" fmla="*/ 103 h 998"/>
                <a:gd name="T70" fmla="*/ 199 w 311"/>
                <a:gd name="T71" fmla="*/ 96 h 998"/>
                <a:gd name="T72" fmla="*/ 207 w 311"/>
                <a:gd name="T73" fmla="*/ 50 h 998"/>
                <a:gd name="T74" fmla="*/ 188 w 311"/>
                <a:gd name="T75" fmla="*/ 9 h 998"/>
                <a:gd name="T76" fmla="*/ 144 w 311"/>
                <a:gd name="T77" fmla="*/ 0 h 998"/>
                <a:gd name="T78" fmla="*/ 119 w 311"/>
                <a:gd name="T79" fmla="*/ 9 h 998"/>
                <a:gd name="T80" fmla="*/ 96 w 311"/>
                <a:gd name="T81" fmla="*/ 52 h 998"/>
                <a:gd name="T82" fmla="*/ 113 w 311"/>
                <a:gd name="T83" fmla="*/ 101 h 998"/>
                <a:gd name="T84" fmla="*/ 119 w 311"/>
                <a:gd name="T85" fmla="*/ 103 h 998"/>
                <a:gd name="T86" fmla="*/ 119 w 311"/>
                <a:gd name="T87" fmla="*/ 123 h 998"/>
                <a:gd name="T88" fmla="*/ 109 w 311"/>
                <a:gd name="T89" fmla="*/ 134 h 998"/>
                <a:gd name="T90" fmla="*/ 26 w 311"/>
                <a:gd name="T91" fmla="*/ 163 h 998"/>
                <a:gd name="T92" fmla="*/ 11 w 311"/>
                <a:gd name="T93" fmla="*/ 205 h 998"/>
                <a:gd name="T94" fmla="*/ 0 w 311"/>
                <a:gd name="T95" fmla="*/ 284 h 99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11"/>
                <a:gd name="T145" fmla="*/ 0 h 998"/>
                <a:gd name="T146" fmla="*/ 311 w 311"/>
                <a:gd name="T147" fmla="*/ 998 h 99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11" h="998">
                  <a:moveTo>
                    <a:pt x="0" y="284"/>
                  </a:moveTo>
                  <a:lnTo>
                    <a:pt x="0" y="347"/>
                  </a:lnTo>
                  <a:lnTo>
                    <a:pt x="9" y="353"/>
                  </a:lnTo>
                  <a:lnTo>
                    <a:pt x="7" y="370"/>
                  </a:lnTo>
                  <a:lnTo>
                    <a:pt x="7" y="380"/>
                  </a:lnTo>
                  <a:lnTo>
                    <a:pt x="36" y="405"/>
                  </a:lnTo>
                  <a:lnTo>
                    <a:pt x="38" y="522"/>
                  </a:lnTo>
                  <a:lnTo>
                    <a:pt x="59" y="539"/>
                  </a:lnTo>
                  <a:lnTo>
                    <a:pt x="72" y="775"/>
                  </a:lnTo>
                  <a:lnTo>
                    <a:pt x="61" y="942"/>
                  </a:lnTo>
                  <a:lnTo>
                    <a:pt x="71" y="948"/>
                  </a:lnTo>
                  <a:lnTo>
                    <a:pt x="65" y="977"/>
                  </a:lnTo>
                  <a:lnTo>
                    <a:pt x="71" y="996"/>
                  </a:lnTo>
                  <a:lnTo>
                    <a:pt x="117" y="996"/>
                  </a:lnTo>
                  <a:lnTo>
                    <a:pt x="122" y="990"/>
                  </a:lnTo>
                  <a:lnTo>
                    <a:pt x="122" y="946"/>
                  </a:lnTo>
                  <a:lnTo>
                    <a:pt x="132" y="937"/>
                  </a:lnTo>
                  <a:lnTo>
                    <a:pt x="155" y="585"/>
                  </a:lnTo>
                  <a:lnTo>
                    <a:pt x="176" y="810"/>
                  </a:lnTo>
                  <a:lnTo>
                    <a:pt x="180" y="881"/>
                  </a:lnTo>
                  <a:lnTo>
                    <a:pt x="201" y="954"/>
                  </a:lnTo>
                  <a:lnTo>
                    <a:pt x="197" y="992"/>
                  </a:lnTo>
                  <a:lnTo>
                    <a:pt x="205" y="998"/>
                  </a:lnTo>
                  <a:lnTo>
                    <a:pt x="251" y="998"/>
                  </a:lnTo>
                  <a:lnTo>
                    <a:pt x="251" y="975"/>
                  </a:lnTo>
                  <a:lnTo>
                    <a:pt x="241" y="952"/>
                  </a:lnTo>
                  <a:lnTo>
                    <a:pt x="249" y="948"/>
                  </a:lnTo>
                  <a:lnTo>
                    <a:pt x="243" y="537"/>
                  </a:lnTo>
                  <a:lnTo>
                    <a:pt x="270" y="526"/>
                  </a:lnTo>
                  <a:lnTo>
                    <a:pt x="266" y="426"/>
                  </a:lnTo>
                  <a:lnTo>
                    <a:pt x="311" y="328"/>
                  </a:lnTo>
                  <a:lnTo>
                    <a:pt x="301" y="242"/>
                  </a:lnTo>
                  <a:lnTo>
                    <a:pt x="270" y="165"/>
                  </a:lnTo>
                  <a:lnTo>
                    <a:pt x="192" y="134"/>
                  </a:lnTo>
                  <a:lnTo>
                    <a:pt x="190" y="103"/>
                  </a:lnTo>
                  <a:lnTo>
                    <a:pt x="199" y="96"/>
                  </a:lnTo>
                  <a:lnTo>
                    <a:pt x="207" y="50"/>
                  </a:lnTo>
                  <a:lnTo>
                    <a:pt x="188" y="9"/>
                  </a:lnTo>
                  <a:lnTo>
                    <a:pt x="144" y="0"/>
                  </a:lnTo>
                  <a:lnTo>
                    <a:pt x="119" y="9"/>
                  </a:lnTo>
                  <a:lnTo>
                    <a:pt x="96" y="52"/>
                  </a:lnTo>
                  <a:lnTo>
                    <a:pt x="113" y="101"/>
                  </a:lnTo>
                  <a:lnTo>
                    <a:pt x="119" y="103"/>
                  </a:lnTo>
                  <a:lnTo>
                    <a:pt x="119" y="123"/>
                  </a:lnTo>
                  <a:lnTo>
                    <a:pt x="109" y="134"/>
                  </a:lnTo>
                  <a:lnTo>
                    <a:pt x="26" y="163"/>
                  </a:lnTo>
                  <a:lnTo>
                    <a:pt x="11" y="205"/>
                  </a:lnTo>
                  <a:lnTo>
                    <a:pt x="0" y="284"/>
                  </a:lnTo>
                  <a:close/>
                </a:path>
              </a:pathLst>
            </a:custGeom>
            <a:solidFill>
              <a:srgbClr val="DDDDDD">
                <a:alpha val="50195"/>
              </a:srgbClr>
            </a:solidFill>
            <a:ln w="0">
              <a:solidFill>
                <a:schemeClr val="folHlink"/>
              </a:solidFill>
              <a:prstDash val="solid"/>
              <a:round/>
              <a:headEnd/>
              <a:tailEnd/>
            </a:ln>
          </p:spPr>
          <p:txBody>
            <a:bodyPr/>
            <a:lstStyle/>
            <a:p>
              <a:endParaRPr lang="zh-CN" altLang="en-US"/>
            </a:p>
          </p:txBody>
        </p:sp>
        <p:sp>
          <p:nvSpPr>
            <p:cNvPr id="131080" name="Freeform 10"/>
            <p:cNvSpPr>
              <a:spLocks/>
            </p:cNvSpPr>
            <p:nvPr/>
          </p:nvSpPr>
          <p:spPr bwMode="auto">
            <a:xfrm>
              <a:off x="2498" y="2721"/>
              <a:ext cx="349" cy="977"/>
            </a:xfrm>
            <a:custGeom>
              <a:avLst/>
              <a:gdLst>
                <a:gd name="T0" fmla="*/ 326 w 349"/>
                <a:gd name="T1" fmla="*/ 155 h 977"/>
                <a:gd name="T2" fmla="*/ 259 w 349"/>
                <a:gd name="T3" fmla="*/ 121 h 977"/>
                <a:gd name="T4" fmla="*/ 265 w 349"/>
                <a:gd name="T5" fmla="*/ 69 h 977"/>
                <a:gd name="T6" fmla="*/ 269 w 349"/>
                <a:gd name="T7" fmla="*/ 34 h 977"/>
                <a:gd name="T8" fmla="*/ 213 w 349"/>
                <a:gd name="T9" fmla="*/ 0 h 977"/>
                <a:gd name="T10" fmla="*/ 198 w 349"/>
                <a:gd name="T11" fmla="*/ 7 h 977"/>
                <a:gd name="T12" fmla="*/ 152 w 349"/>
                <a:gd name="T13" fmla="*/ 126 h 977"/>
                <a:gd name="T14" fmla="*/ 111 w 349"/>
                <a:gd name="T15" fmla="*/ 167 h 977"/>
                <a:gd name="T16" fmla="*/ 0 w 349"/>
                <a:gd name="T17" fmla="*/ 314 h 977"/>
                <a:gd name="T18" fmla="*/ 94 w 349"/>
                <a:gd name="T19" fmla="*/ 453 h 977"/>
                <a:gd name="T20" fmla="*/ 71 w 349"/>
                <a:gd name="T21" fmla="*/ 737 h 977"/>
                <a:gd name="T22" fmla="*/ 148 w 349"/>
                <a:gd name="T23" fmla="*/ 789 h 977"/>
                <a:gd name="T24" fmla="*/ 180 w 349"/>
                <a:gd name="T25" fmla="*/ 960 h 977"/>
                <a:gd name="T26" fmla="*/ 217 w 349"/>
                <a:gd name="T27" fmla="*/ 977 h 977"/>
                <a:gd name="T28" fmla="*/ 207 w 349"/>
                <a:gd name="T29" fmla="*/ 898 h 977"/>
                <a:gd name="T30" fmla="*/ 203 w 349"/>
                <a:gd name="T31" fmla="*/ 865 h 977"/>
                <a:gd name="T32" fmla="*/ 194 w 349"/>
                <a:gd name="T33" fmla="*/ 750 h 977"/>
                <a:gd name="T34" fmla="*/ 209 w 349"/>
                <a:gd name="T35" fmla="*/ 773 h 977"/>
                <a:gd name="T36" fmla="*/ 209 w 349"/>
                <a:gd name="T37" fmla="*/ 862 h 977"/>
                <a:gd name="T38" fmla="*/ 228 w 349"/>
                <a:gd name="T39" fmla="*/ 908 h 977"/>
                <a:gd name="T40" fmla="*/ 278 w 349"/>
                <a:gd name="T41" fmla="*/ 969 h 977"/>
                <a:gd name="T42" fmla="*/ 282 w 349"/>
                <a:gd name="T43" fmla="*/ 927 h 977"/>
                <a:gd name="T44" fmla="*/ 251 w 349"/>
                <a:gd name="T45" fmla="*/ 856 h 977"/>
                <a:gd name="T46" fmla="*/ 263 w 349"/>
                <a:gd name="T47" fmla="*/ 706 h 977"/>
                <a:gd name="T48" fmla="*/ 305 w 349"/>
                <a:gd name="T49" fmla="*/ 460 h 977"/>
                <a:gd name="T50" fmla="*/ 311 w 349"/>
                <a:gd name="T51" fmla="*/ 472 h 977"/>
                <a:gd name="T52" fmla="*/ 307 w 349"/>
                <a:gd name="T53" fmla="*/ 541 h 977"/>
                <a:gd name="T54" fmla="*/ 336 w 349"/>
                <a:gd name="T55" fmla="*/ 522 h 977"/>
                <a:gd name="T56" fmla="*/ 340 w 349"/>
                <a:gd name="T57" fmla="*/ 482 h 977"/>
                <a:gd name="T58" fmla="*/ 345 w 349"/>
                <a:gd name="T59" fmla="*/ 410 h 977"/>
                <a:gd name="T60" fmla="*/ 342 w 349"/>
                <a:gd name="T61" fmla="*/ 278 h 977"/>
                <a:gd name="T62" fmla="*/ 332 w 349"/>
                <a:gd name="T63" fmla="*/ 163 h 97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49"/>
                <a:gd name="T97" fmla="*/ 0 h 977"/>
                <a:gd name="T98" fmla="*/ 349 w 349"/>
                <a:gd name="T99" fmla="*/ 977 h 97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49" h="977">
                  <a:moveTo>
                    <a:pt x="332" y="163"/>
                  </a:moveTo>
                  <a:lnTo>
                    <a:pt x="326" y="155"/>
                  </a:lnTo>
                  <a:lnTo>
                    <a:pt x="259" y="142"/>
                  </a:lnTo>
                  <a:lnTo>
                    <a:pt x="259" y="121"/>
                  </a:lnTo>
                  <a:lnTo>
                    <a:pt x="265" y="96"/>
                  </a:lnTo>
                  <a:lnTo>
                    <a:pt x="265" y="69"/>
                  </a:lnTo>
                  <a:lnTo>
                    <a:pt x="261" y="44"/>
                  </a:lnTo>
                  <a:lnTo>
                    <a:pt x="269" y="34"/>
                  </a:lnTo>
                  <a:lnTo>
                    <a:pt x="236" y="3"/>
                  </a:lnTo>
                  <a:lnTo>
                    <a:pt x="213" y="0"/>
                  </a:lnTo>
                  <a:lnTo>
                    <a:pt x="205" y="9"/>
                  </a:lnTo>
                  <a:lnTo>
                    <a:pt x="198" y="7"/>
                  </a:lnTo>
                  <a:lnTo>
                    <a:pt x="167" y="38"/>
                  </a:lnTo>
                  <a:lnTo>
                    <a:pt x="152" y="126"/>
                  </a:lnTo>
                  <a:lnTo>
                    <a:pt x="159" y="151"/>
                  </a:lnTo>
                  <a:lnTo>
                    <a:pt x="111" y="167"/>
                  </a:lnTo>
                  <a:lnTo>
                    <a:pt x="6" y="291"/>
                  </a:lnTo>
                  <a:lnTo>
                    <a:pt x="0" y="314"/>
                  </a:lnTo>
                  <a:lnTo>
                    <a:pt x="94" y="401"/>
                  </a:lnTo>
                  <a:lnTo>
                    <a:pt x="94" y="453"/>
                  </a:lnTo>
                  <a:lnTo>
                    <a:pt x="98" y="474"/>
                  </a:lnTo>
                  <a:lnTo>
                    <a:pt x="71" y="737"/>
                  </a:lnTo>
                  <a:lnTo>
                    <a:pt x="140" y="746"/>
                  </a:lnTo>
                  <a:lnTo>
                    <a:pt x="148" y="789"/>
                  </a:lnTo>
                  <a:lnTo>
                    <a:pt x="177" y="887"/>
                  </a:lnTo>
                  <a:lnTo>
                    <a:pt x="180" y="960"/>
                  </a:lnTo>
                  <a:lnTo>
                    <a:pt x="194" y="977"/>
                  </a:lnTo>
                  <a:lnTo>
                    <a:pt x="217" y="977"/>
                  </a:lnTo>
                  <a:lnTo>
                    <a:pt x="223" y="967"/>
                  </a:lnTo>
                  <a:lnTo>
                    <a:pt x="207" y="898"/>
                  </a:lnTo>
                  <a:lnTo>
                    <a:pt x="207" y="887"/>
                  </a:lnTo>
                  <a:lnTo>
                    <a:pt x="203" y="865"/>
                  </a:lnTo>
                  <a:lnTo>
                    <a:pt x="201" y="808"/>
                  </a:lnTo>
                  <a:lnTo>
                    <a:pt x="194" y="750"/>
                  </a:lnTo>
                  <a:lnTo>
                    <a:pt x="213" y="754"/>
                  </a:lnTo>
                  <a:lnTo>
                    <a:pt x="209" y="773"/>
                  </a:lnTo>
                  <a:lnTo>
                    <a:pt x="223" y="852"/>
                  </a:lnTo>
                  <a:lnTo>
                    <a:pt x="209" y="862"/>
                  </a:lnTo>
                  <a:lnTo>
                    <a:pt x="211" y="881"/>
                  </a:lnTo>
                  <a:lnTo>
                    <a:pt x="228" y="908"/>
                  </a:lnTo>
                  <a:lnTo>
                    <a:pt x="240" y="942"/>
                  </a:lnTo>
                  <a:lnTo>
                    <a:pt x="278" y="969"/>
                  </a:lnTo>
                  <a:lnTo>
                    <a:pt x="297" y="961"/>
                  </a:lnTo>
                  <a:lnTo>
                    <a:pt x="282" y="927"/>
                  </a:lnTo>
                  <a:lnTo>
                    <a:pt x="257" y="875"/>
                  </a:lnTo>
                  <a:lnTo>
                    <a:pt x="251" y="856"/>
                  </a:lnTo>
                  <a:lnTo>
                    <a:pt x="267" y="756"/>
                  </a:lnTo>
                  <a:lnTo>
                    <a:pt x="263" y="706"/>
                  </a:lnTo>
                  <a:lnTo>
                    <a:pt x="286" y="464"/>
                  </a:lnTo>
                  <a:lnTo>
                    <a:pt x="305" y="460"/>
                  </a:lnTo>
                  <a:lnTo>
                    <a:pt x="305" y="474"/>
                  </a:lnTo>
                  <a:lnTo>
                    <a:pt x="311" y="472"/>
                  </a:lnTo>
                  <a:lnTo>
                    <a:pt x="307" y="489"/>
                  </a:lnTo>
                  <a:lnTo>
                    <a:pt x="307" y="541"/>
                  </a:lnTo>
                  <a:lnTo>
                    <a:pt x="328" y="522"/>
                  </a:lnTo>
                  <a:lnTo>
                    <a:pt x="336" y="522"/>
                  </a:lnTo>
                  <a:lnTo>
                    <a:pt x="349" y="510"/>
                  </a:lnTo>
                  <a:lnTo>
                    <a:pt x="340" y="482"/>
                  </a:lnTo>
                  <a:lnTo>
                    <a:pt x="345" y="482"/>
                  </a:lnTo>
                  <a:lnTo>
                    <a:pt x="345" y="410"/>
                  </a:lnTo>
                  <a:lnTo>
                    <a:pt x="342" y="374"/>
                  </a:lnTo>
                  <a:lnTo>
                    <a:pt x="342" y="278"/>
                  </a:lnTo>
                  <a:lnTo>
                    <a:pt x="338" y="180"/>
                  </a:lnTo>
                  <a:lnTo>
                    <a:pt x="332" y="163"/>
                  </a:lnTo>
                  <a:close/>
                </a:path>
              </a:pathLst>
            </a:custGeom>
            <a:solidFill>
              <a:srgbClr val="DDDDDD">
                <a:alpha val="50195"/>
              </a:srgbClr>
            </a:solidFill>
            <a:ln w="0">
              <a:solidFill>
                <a:schemeClr val="folHlink"/>
              </a:solidFill>
              <a:prstDash val="solid"/>
              <a:round/>
              <a:headEnd/>
              <a:tailEnd/>
            </a:ln>
          </p:spPr>
          <p:txBody>
            <a:bodyPr/>
            <a:lstStyle/>
            <a:p>
              <a:endParaRPr lang="zh-CN" altLang="en-US"/>
            </a:p>
          </p:txBody>
        </p:sp>
        <p:sp>
          <p:nvSpPr>
            <p:cNvPr id="131081" name="Freeform 11"/>
            <p:cNvSpPr>
              <a:spLocks/>
            </p:cNvSpPr>
            <p:nvPr/>
          </p:nvSpPr>
          <p:spPr bwMode="auto">
            <a:xfrm>
              <a:off x="3913" y="2723"/>
              <a:ext cx="288" cy="967"/>
            </a:xfrm>
            <a:custGeom>
              <a:avLst/>
              <a:gdLst>
                <a:gd name="T0" fmla="*/ 44 w 288"/>
                <a:gd name="T1" fmla="*/ 401 h 967"/>
                <a:gd name="T2" fmla="*/ 15 w 288"/>
                <a:gd name="T3" fmla="*/ 372 h 967"/>
                <a:gd name="T4" fmla="*/ 0 w 288"/>
                <a:gd name="T5" fmla="*/ 341 h 967"/>
                <a:gd name="T6" fmla="*/ 15 w 288"/>
                <a:gd name="T7" fmla="*/ 209 h 967"/>
                <a:gd name="T8" fmla="*/ 27 w 288"/>
                <a:gd name="T9" fmla="*/ 176 h 967"/>
                <a:gd name="T10" fmla="*/ 103 w 288"/>
                <a:gd name="T11" fmla="*/ 142 h 967"/>
                <a:gd name="T12" fmla="*/ 115 w 288"/>
                <a:gd name="T13" fmla="*/ 128 h 967"/>
                <a:gd name="T14" fmla="*/ 105 w 288"/>
                <a:gd name="T15" fmla="*/ 84 h 967"/>
                <a:gd name="T16" fmla="*/ 111 w 288"/>
                <a:gd name="T17" fmla="*/ 69 h 967"/>
                <a:gd name="T18" fmla="*/ 109 w 288"/>
                <a:gd name="T19" fmla="*/ 63 h 967"/>
                <a:gd name="T20" fmla="*/ 115 w 288"/>
                <a:gd name="T21" fmla="*/ 42 h 967"/>
                <a:gd name="T22" fmla="*/ 113 w 288"/>
                <a:gd name="T23" fmla="*/ 28 h 967"/>
                <a:gd name="T24" fmla="*/ 126 w 288"/>
                <a:gd name="T25" fmla="*/ 9 h 967"/>
                <a:gd name="T26" fmla="*/ 159 w 288"/>
                <a:gd name="T27" fmla="*/ 0 h 967"/>
                <a:gd name="T28" fmla="*/ 190 w 288"/>
                <a:gd name="T29" fmla="*/ 5 h 967"/>
                <a:gd name="T30" fmla="*/ 215 w 288"/>
                <a:gd name="T31" fmla="*/ 32 h 967"/>
                <a:gd name="T32" fmla="*/ 211 w 288"/>
                <a:gd name="T33" fmla="*/ 86 h 967"/>
                <a:gd name="T34" fmla="*/ 197 w 288"/>
                <a:gd name="T35" fmla="*/ 115 h 967"/>
                <a:gd name="T36" fmla="*/ 194 w 288"/>
                <a:gd name="T37" fmla="*/ 117 h 967"/>
                <a:gd name="T38" fmla="*/ 194 w 288"/>
                <a:gd name="T39" fmla="*/ 142 h 967"/>
                <a:gd name="T40" fmla="*/ 249 w 288"/>
                <a:gd name="T41" fmla="*/ 168 h 967"/>
                <a:gd name="T42" fmla="*/ 255 w 288"/>
                <a:gd name="T43" fmla="*/ 168 h 967"/>
                <a:gd name="T44" fmla="*/ 282 w 288"/>
                <a:gd name="T45" fmla="*/ 176 h 967"/>
                <a:gd name="T46" fmla="*/ 288 w 288"/>
                <a:gd name="T47" fmla="*/ 284 h 967"/>
                <a:gd name="T48" fmla="*/ 280 w 288"/>
                <a:gd name="T49" fmla="*/ 326 h 967"/>
                <a:gd name="T50" fmla="*/ 261 w 288"/>
                <a:gd name="T51" fmla="*/ 391 h 967"/>
                <a:gd name="T52" fmla="*/ 243 w 288"/>
                <a:gd name="T53" fmla="*/ 395 h 967"/>
                <a:gd name="T54" fmla="*/ 240 w 288"/>
                <a:gd name="T55" fmla="*/ 485 h 967"/>
                <a:gd name="T56" fmla="*/ 180 w 288"/>
                <a:gd name="T57" fmla="*/ 762 h 967"/>
                <a:gd name="T58" fmla="*/ 170 w 288"/>
                <a:gd name="T59" fmla="*/ 929 h 967"/>
                <a:gd name="T60" fmla="*/ 163 w 288"/>
                <a:gd name="T61" fmla="*/ 931 h 967"/>
                <a:gd name="T62" fmla="*/ 203 w 288"/>
                <a:gd name="T63" fmla="*/ 954 h 967"/>
                <a:gd name="T64" fmla="*/ 205 w 288"/>
                <a:gd name="T65" fmla="*/ 959 h 967"/>
                <a:gd name="T66" fmla="*/ 203 w 288"/>
                <a:gd name="T67" fmla="*/ 967 h 967"/>
                <a:gd name="T68" fmla="*/ 165 w 288"/>
                <a:gd name="T69" fmla="*/ 967 h 967"/>
                <a:gd name="T70" fmla="*/ 132 w 288"/>
                <a:gd name="T71" fmla="*/ 963 h 967"/>
                <a:gd name="T72" fmla="*/ 98 w 288"/>
                <a:gd name="T73" fmla="*/ 959 h 967"/>
                <a:gd name="T74" fmla="*/ 94 w 288"/>
                <a:gd name="T75" fmla="*/ 925 h 967"/>
                <a:gd name="T76" fmla="*/ 84 w 288"/>
                <a:gd name="T77" fmla="*/ 923 h 967"/>
                <a:gd name="T78" fmla="*/ 94 w 288"/>
                <a:gd name="T79" fmla="*/ 892 h 967"/>
                <a:gd name="T80" fmla="*/ 99 w 288"/>
                <a:gd name="T81" fmla="*/ 840 h 967"/>
                <a:gd name="T82" fmla="*/ 96 w 288"/>
                <a:gd name="T83" fmla="*/ 792 h 967"/>
                <a:gd name="T84" fmla="*/ 82 w 288"/>
                <a:gd name="T85" fmla="*/ 933 h 967"/>
                <a:gd name="T86" fmla="*/ 71 w 288"/>
                <a:gd name="T87" fmla="*/ 934 h 967"/>
                <a:gd name="T88" fmla="*/ 78 w 288"/>
                <a:gd name="T89" fmla="*/ 950 h 967"/>
                <a:gd name="T90" fmla="*/ 88 w 288"/>
                <a:gd name="T91" fmla="*/ 958 h 967"/>
                <a:gd name="T92" fmla="*/ 90 w 288"/>
                <a:gd name="T93" fmla="*/ 963 h 967"/>
                <a:gd name="T94" fmla="*/ 88 w 288"/>
                <a:gd name="T95" fmla="*/ 967 h 967"/>
                <a:gd name="T96" fmla="*/ 34 w 288"/>
                <a:gd name="T97" fmla="*/ 967 h 967"/>
                <a:gd name="T98" fmla="*/ 25 w 288"/>
                <a:gd name="T99" fmla="*/ 954 h 967"/>
                <a:gd name="T100" fmla="*/ 25 w 288"/>
                <a:gd name="T101" fmla="*/ 936 h 967"/>
                <a:gd name="T102" fmla="*/ 15 w 288"/>
                <a:gd name="T103" fmla="*/ 934 h 967"/>
                <a:gd name="T104" fmla="*/ 17 w 288"/>
                <a:gd name="T105" fmla="*/ 739 h 967"/>
                <a:gd name="T106" fmla="*/ 34 w 288"/>
                <a:gd name="T107" fmla="*/ 539 h 967"/>
                <a:gd name="T108" fmla="*/ 38 w 288"/>
                <a:gd name="T109" fmla="*/ 428 h 967"/>
                <a:gd name="T110" fmla="*/ 44 w 288"/>
                <a:gd name="T111" fmla="*/ 401 h 96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88"/>
                <a:gd name="T169" fmla="*/ 0 h 967"/>
                <a:gd name="T170" fmla="*/ 288 w 288"/>
                <a:gd name="T171" fmla="*/ 967 h 967"/>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88" h="967">
                  <a:moveTo>
                    <a:pt x="44" y="401"/>
                  </a:moveTo>
                  <a:lnTo>
                    <a:pt x="15" y="372"/>
                  </a:lnTo>
                  <a:lnTo>
                    <a:pt x="0" y="341"/>
                  </a:lnTo>
                  <a:lnTo>
                    <a:pt x="15" y="209"/>
                  </a:lnTo>
                  <a:lnTo>
                    <a:pt x="27" y="176"/>
                  </a:lnTo>
                  <a:lnTo>
                    <a:pt x="103" y="142"/>
                  </a:lnTo>
                  <a:lnTo>
                    <a:pt x="115" y="128"/>
                  </a:lnTo>
                  <a:lnTo>
                    <a:pt x="105" y="84"/>
                  </a:lnTo>
                  <a:lnTo>
                    <a:pt x="111" y="69"/>
                  </a:lnTo>
                  <a:lnTo>
                    <a:pt x="109" y="63"/>
                  </a:lnTo>
                  <a:lnTo>
                    <a:pt x="115" y="42"/>
                  </a:lnTo>
                  <a:lnTo>
                    <a:pt x="113" y="28"/>
                  </a:lnTo>
                  <a:lnTo>
                    <a:pt x="126" y="9"/>
                  </a:lnTo>
                  <a:lnTo>
                    <a:pt x="159" y="0"/>
                  </a:lnTo>
                  <a:lnTo>
                    <a:pt x="190" y="5"/>
                  </a:lnTo>
                  <a:lnTo>
                    <a:pt x="215" y="32"/>
                  </a:lnTo>
                  <a:lnTo>
                    <a:pt x="211" y="86"/>
                  </a:lnTo>
                  <a:lnTo>
                    <a:pt x="197" y="115"/>
                  </a:lnTo>
                  <a:lnTo>
                    <a:pt x="194" y="117"/>
                  </a:lnTo>
                  <a:lnTo>
                    <a:pt x="194" y="142"/>
                  </a:lnTo>
                  <a:lnTo>
                    <a:pt x="249" y="168"/>
                  </a:lnTo>
                  <a:lnTo>
                    <a:pt x="255" y="168"/>
                  </a:lnTo>
                  <a:lnTo>
                    <a:pt x="282" y="176"/>
                  </a:lnTo>
                  <a:lnTo>
                    <a:pt x="288" y="284"/>
                  </a:lnTo>
                  <a:lnTo>
                    <a:pt x="280" y="326"/>
                  </a:lnTo>
                  <a:lnTo>
                    <a:pt x="261" y="391"/>
                  </a:lnTo>
                  <a:lnTo>
                    <a:pt x="243" y="395"/>
                  </a:lnTo>
                  <a:lnTo>
                    <a:pt x="240" y="485"/>
                  </a:lnTo>
                  <a:lnTo>
                    <a:pt x="180" y="762"/>
                  </a:lnTo>
                  <a:lnTo>
                    <a:pt x="170" y="929"/>
                  </a:lnTo>
                  <a:lnTo>
                    <a:pt x="163" y="931"/>
                  </a:lnTo>
                  <a:lnTo>
                    <a:pt x="203" y="954"/>
                  </a:lnTo>
                  <a:lnTo>
                    <a:pt x="205" y="959"/>
                  </a:lnTo>
                  <a:lnTo>
                    <a:pt x="203" y="967"/>
                  </a:lnTo>
                  <a:lnTo>
                    <a:pt x="165" y="967"/>
                  </a:lnTo>
                  <a:lnTo>
                    <a:pt x="132" y="963"/>
                  </a:lnTo>
                  <a:lnTo>
                    <a:pt x="98" y="959"/>
                  </a:lnTo>
                  <a:lnTo>
                    <a:pt x="94" y="925"/>
                  </a:lnTo>
                  <a:lnTo>
                    <a:pt x="84" y="923"/>
                  </a:lnTo>
                  <a:lnTo>
                    <a:pt x="94" y="892"/>
                  </a:lnTo>
                  <a:lnTo>
                    <a:pt x="99" y="840"/>
                  </a:lnTo>
                  <a:lnTo>
                    <a:pt x="96" y="792"/>
                  </a:lnTo>
                  <a:lnTo>
                    <a:pt x="82" y="933"/>
                  </a:lnTo>
                  <a:lnTo>
                    <a:pt x="71" y="934"/>
                  </a:lnTo>
                  <a:lnTo>
                    <a:pt x="78" y="950"/>
                  </a:lnTo>
                  <a:lnTo>
                    <a:pt x="88" y="958"/>
                  </a:lnTo>
                  <a:lnTo>
                    <a:pt x="90" y="963"/>
                  </a:lnTo>
                  <a:lnTo>
                    <a:pt x="88" y="967"/>
                  </a:lnTo>
                  <a:lnTo>
                    <a:pt x="34" y="967"/>
                  </a:lnTo>
                  <a:lnTo>
                    <a:pt x="25" y="954"/>
                  </a:lnTo>
                  <a:lnTo>
                    <a:pt x="25" y="936"/>
                  </a:lnTo>
                  <a:lnTo>
                    <a:pt x="15" y="934"/>
                  </a:lnTo>
                  <a:lnTo>
                    <a:pt x="17" y="739"/>
                  </a:lnTo>
                  <a:lnTo>
                    <a:pt x="34" y="539"/>
                  </a:lnTo>
                  <a:lnTo>
                    <a:pt x="38" y="428"/>
                  </a:lnTo>
                  <a:lnTo>
                    <a:pt x="44" y="401"/>
                  </a:lnTo>
                  <a:close/>
                </a:path>
              </a:pathLst>
            </a:custGeom>
            <a:solidFill>
              <a:srgbClr val="DDDDDD">
                <a:alpha val="50195"/>
              </a:srgbClr>
            </a:solidFill>
            <a:ln w="0">
              <a:solidFill>
                <a:schemeClr val="folHlink"/>
              </a:solidFill>
              <a:prstDash val="solid"/>
              <a:round/>
              <a:headEnd/>
              <a:tailEnd/>
            </a:ln>
          </p:spPr>
          <p:txBody>
            <a:bodyPr/>
            <a:lstStyle/>
            <a:p>
              <a:endParaRPr lang="zh-CN" altLang="en-US"/>
            </a:p>
          </p:txBody>
        </p:sp>
        <p:sp>
          <p:nvSpPr>
            <p:cNvPr id="131082" name="Freeform 12"/>
            <p:cNvSpPr>
              <a:spLocks/>
            </p:cNvSpPr>
            <p:nvPr/>
          </p:nvSpPr>
          <p:spPr bwMode="auto">
            <a:xfrm>
              <a:off x="3757" y="2748"/>
              <a:ext cx="217" cy="961"/>
            </a:xfrm>
            <a:custGeom>
              <a:avLst/>
              <a:gdLst>
                <a:gd name="T0" fmla="*/ 209 w 217"/>
                <a:gd name="T1" fmla="*/ 389 h 961"/>
                <a:gd name="T2" fmla="*/ 204 w 217"/>
                <a:gd name="T3" fmla="*/ 675 h 961"/>
                <a:gd name="T4" fmla="*/ 167 w 217"/>
                <a:gd name="T5" fmla="*/ 760 h 961"/>
                <a:gd name="T6" fmla="*/ 144 w 217"/>
                <a:gd name="T7" fmla="*/ 927 h 961"/>
                <a:gd name="T8" fmla="*/ 167 w 217"/>
                <a:gd name="T9" fmla="*/ 952 h 961"/>
                <a:gd name="T10" fmla="*/ 102 w 217"/>
                <a:gd name="T11" fmla="*/ 933 h 961"/>
                <a:gd name="T12" fmla="*/ 83 w 217"/>
                <a:gd name="T13" fmla="*/ 944 h 961"/>
                <a:gd name="T14" fmla="*/ 87 w 217"/>
                <a:gd name="T15" fmla="*/ 904 h 961"/>
                <a:gd name="T16" fmla="*/ 108 w 217"/>
                <a:gd name="T17" fmla="*/ 817 h 961"/>
                <a:gd name="T18" fmla="*/ 87 w 217"/>
                <a:gd name="T19" fmla="*/ 904 h 961"/>
                <a:gd name="T20" fmla="*/ 54 w 217"/>
                <a:gd name="T21" fmla="*/ 961 h 961"/>
                <a:gd name="T22" fmla="*/ 29 w 217"/>
                <a:gd name="T23" fmla="*/ 948 h 961"/>
                <a:gd name="T24" fmla="*/ 62 w 217"/>
                <a:gd name="T25" fmla="*/ 821 h 961"/>
                <a:gd name="T26" fmla="*/ 102 w 217"/>
                <a:gd name="T27" fmla="*/ 681 h 961"/>
                <a:gd name="T28" fmla="*/ 52 w 217"/>
                <a:gd name="T29" fmla="*/ 504 h 961"/>
                <a:gd name="T30" fmla="*/ 71 w 217"/>
                <a:gd name="T31" fmla="*/ 353 h 961"/>
                <a:gd name="T32" fmla="*/ 62 w 217"/>
                <a:gd name="T33" fmla="*/ 309 h 961"/>
                <a:gd name="T34" fmla="*/ 46 w 217"/>
                <a:gd name="T35" fmla="*/ 314 h 961"/>
                <a:gd name="T36" fmla="*/ 71 w 217"/>
                <a:gd name="T37" fmla="*/ 353 h 961"/>
                <a:gd name="T38" fmla="*/ 0 w 217"/>
                <a:gd name="T39" fmla="*/ 341 h 961"/>
                <a:gd name="T40" fmla="*/ 104 w 217"/>
                <a:gd name="T41" fmla="*/ 124 h 961"/>
                <a:gd name="T42" fmla="*/ 92 w 217"/>
                <a:gd name="T43" fmla="*/ 46 h 961"/>
                <a:gd name="T44" fmla="*/ 135 w 217"/>
                <a:gd name="T45" fmla="*/ 0 h 961"/>
                <a:gd name="T46" fmla="*/ 202 w 217"/>
                <a:gd name="T47" fmla="*/ 9 h 961"/>
                <a:gd name="T48" fmla="*/ 192 w 217"/>
                <a:gd name="T49" fmla="*/ 34 h 961"/>
                <a:gd name="T50" fmla="*/ 190 w 217"/>
                <a:gd name="T51" fmla="*/ 65 h 961"/>
                <a:gd name="T52" fmla="*/ 177 w 217"/>
                <a:gd name="T53" fmla="*/ 120 h 961"/>
                <a:gd name="T54" fmla="*/ 167 w 217"/>
                <a:gd name="T55" fmla="*/ 136 h 961"/>
                <a:gd name="T56" fmla="*/ 192 w 217"/>
                <a:gd name="T57" fmla="*/ 149 h 961"/>
                <a:gd name="T58" fmla="*/ 200 w 217"/>
                <a:gd name="T59" fmla="*/ 193 h 961"/>
                <a:gd name="T60" fmla="*/ 217 w 217"/>
                <a:gd name="T61" fmla="*/ 245 h 961"/>
                <a:gd name="T62" fmla="*/ 196 w 217"/>
                <a:gd name="T63" fmla="*/ 284 h 961"/>
                <a:gd name="T64" fmla="*/ 200 w 217"/>
                <a:gd name="T65" fmla="*/ 360 h 96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7"/>
                <a:gd name="T100" fmla="*/ 0 h 961"/>
                <a:gd name="T101" fmla="*/ 217 w 217"/>
                <a:gd name="T102" fmla="*/ 961 h 96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7" h="961">
                  <a:moveTo>
                    <a:pt x="200" y="360"/>
                  </a:moveTo>
                  <a:lnTo>
                    <a:pt x="209" y="389"/>
                  </a:lnTo>
                  <a:lnTo>
                    <a:pt x="217" y="435"/>
                  </a:lnTo>
                  <a:lnTo>
                    <a:pt x="204" y="675"/>
                  </a:lnTo>
                  <a:lnTo>
                    <a:pt x="177" y="677"/>
                  </a:lnTo>
                  <a:lnTo>
                    <a:pt x="167" y="760"/>
                  </a:lnTo>
                  <a:lnTo>
                    <a:pt x="129" y="890"/>
                  </a:lnTo>
                  <a:lnTo>
                    <a:pt x="144" y="927"/>
                  </a:lnTo>
                  <a:lnTo>
                    <a:pt x="171" y="946"/>
                  </a:lnTo>
                  <a:lnTo>
                    <a:pt x="167" y="952"/>
                  </a:lnTo>
                  <a:lnTo>
                    <a:pt x="127" y="952"/>
                  </a:lnTo>
                  <a:lnTo>
                    <a:pt x="102" y="933"/>
                  </a:lnTo>
                  <a:lnTo>
                    <a:pt x="98" y="944"/>
                  </a:lnTo>
                  <a:lnTo>
                    <a:pt x="83" y="944"/>
                  </a:lnTo>
                  <a:lnTo>
                    <a:pt x="79" y="933"/>
                  </a:lnTo>
                  <a:lnTo>
                    <a:pt x="87" y="904"/>
                  </a:lnTo>
                  <a:lnTo>
                    <a:pt x="96" y="888"/>
                  </a:lnTo>
                  <a:lnTo>
                    <a:pt x="108" y="817"/>
                  </a:lnTo>
                  <a:lnTo>
                    <a:pt x="87" y="877"/>
                  </a:lnTo>
                  <a:lnTo>
                    <a:pt x="87" y="904"/>
                  </a:lnTo>
                  <a:lnTo>
                    <a:pt x="79" y="933"/>
                  </a:lnTo>
                  <a:lnTo>
                    <a:pt x="54" y="961"/>
                  </a:lnTo>
                  <a:lnTo>
                    <a:pt x="37" y="961"/>
                  </a:lnTo>
                  <a:lnTo>
                    <a:pt x="29" y="948"/>
                  </a:lnTo>
                  <a:lnTo>
                    <a:pt x="58" y="881"/>
                  </a:lnTo>
                  <a:lnTo>
                    <a:pt x="62" y="821"/>
                  </a:lnTo>
                  <a:lnTo>
                    <a:pt x="81" y="723"/>
                  </a:lnTo>
                  <a:lnTo>
                    <a:pt x="102" y="681"/>
                  </a:lnTo>
                  <a:lnTo>
                    <a:pt x="77" y="681"/>
                  </a:lnTo>
                  <a:lnTo>
                    <a:pt x="52" y="504"/>
                  </a:lnTo>
                  <a:lnTo>
                    <a:pt x="48" y="418"/>
                  </a:lnTo>
                  <a:lnTo>
                    <a:pt x="71" y="353"/>
                  </a:lnTo>
                  <a:lnTo>
                    <a:pt x="58" y="314"/>
                  </a:lnTo>
                  <a:lnTo>
                    <a:pt x="62" y="309"/>
                  </a:lnTo>
                  <a:lnTo>
                    <a:pt x="52" y="274"/>
                  </a:lnTo>
                  <a:lnTo>
                    <a:pt x="46" y="314"/>
                  </a:lnTo>
                  <a:lnTo>
                    <a:pt x="58" y="314"/>
                  </a:lnTo>
                  <a:lnTo>
                    <a:pt x="71" y="353"/>
                  </a:lnTo>
                  <a:lnTo>
                    <a:pt x="14" y="357"/>
                  </a:lnTo>
                  <a:lnTo>
                    <a:pt x="0" y="341"/>
                  </a:lnTo>
                  <a:lnTo>
                    <a:pt x="29" y="167"/>
                  </a:lnTo>
                  <a:lnTo>
                    <a:pt x="104" y="124"/>
                  </a:lnTo>
                  <a:lnTo>
                    <a:pt x="110" y="103"/>
                  </a:lnTo>
                  <a:lnTo>
                    <a:pt x="92" y="46"/>
                  </a:lnTo>
                  <a:lnTo>
                    <a:pt x="92" y="36"/>
                  </a:lnTo>
                  <a:lnTo>
                    <a:pt x="135" y="0"/>
                  </a:lnTo>
                  <a:lnTo>
                    <a:pt x="181" y="0"/>
                  </a:lnTo>
                  <a:lnTo>
                    <a:pt x="202" y="9"/>
                  </a:lnTo>
                  <a:lnTo>
                    <a:pt x="202" y="23"/>
                  </a:lnTo>
                  <a:lnTo>
                    <a:pt x="192" y="34"/>
                  </a:lnTo>
                  <a:lnTo>
                    <a:pt x="192" y="59"/>
                  </a:lnTo>
                  <a:lnTo>
                    <a:pt x="190" y="65"/>
                  </a:lnTo>
                  <a:lnTo>
                    <a:pt x="192" y="82"/>
                  </a:lnTo>
                  <a:lnTo>
                    <a:pt x="177" y="120"/>
                  </a:lnTo>
                  <a:lnTo>
                    <a:pt x="167" y="122"/>
                  </a:lnTo>
                  <a:lnTo>
                    <a:pt x="167" y="136"/>
                  </a:lnTo>
                  <a:lnTo>
                    <a:pt x="183" y="140"/>
                  </a:lnTo>
                  <a:lnTo>
                    <a:pt x="192" y="149"/>
                  </a:lnTo>
                  <a:lnTo>
                    <a:pt x="196" y="157"/>
                  </a:lnTo>
                  <a:lnTo>
                    <a:pt x="200" y="193"/>
                  </a:lnTo>
                  <a:lnTo>
                    <a:pt x="206" y="213"/>
                  </a:lnTo>
                  <a:lnTo>
                    <a:pt x="217" y="245"/>
                  </a:lnTo>
                  <a:lnTo>
                    <a:pt x="209" y="264"/>
                  </a:lnTo>
                  <a:lnTo>
                    <a:pt x="196" y="284"/>
                  </a:lnTo>
                  <a:lnTo>
                    <a:pt x="192" y="312"/>
                  </a:lnTo>
                  <a:lnTo>
                    <a:pt x="200" y="360"/>
                  </a:lnTo>
                  <a:close/>
                </a:path>
              </a:pathLst>
            </a:custGeom>
            <a:solidFill>
              <a:srgbClr val="DDDDDD">
                <a:alpha val="50195"/>
              </a:srgbClr>
            </a:solidFill>
            <a:ln w="0">
              <a:solidFill>
                <a:schemeClr val="folHlink"/>
              </a:solidFill>
              <a:prstDash val="solid"/>
              <a:round/>
              <a:headEnd/>
              <a:tailEnd/>
            </a:ln>
          </p:spPr>
          <p:txBody>
            <a:bodyPr/>
            <a:lstStyle/>
            <a:p>
              <a:endParaRPr lang="zh-CN" altLang="en-US"/>
            </a:p>
          </p:txBody>
        </p:sp>
        <p:sp>
          <p:nvSpPr>
            <p:cNvPr id="131083" name="Freeform 13"/>
            <p:cNvSpPr>
              <a:spLocks/>
            </p:cNvSpPr>
            <p:nvPr/>
          </p:nvSpPr>
          <p:spPr bwMode="auto">
            <a:xfrm>
              <a:off x="4143" y="2742"/>
              <a:ext cx="278" cy="963"/>
            </a:xfrm>
            <a:custGeom>
              <a:avLst/>
              <a:gdLst>
                <a:gd name="T0" fmla="*/ 115 w 278"/>
                <a:gd name="T1" fmla="*/ 138 h 963"/>
                <a:gd name="T2" fmla="*/ 92 w 278"/>
                <a:gd name="T3" fmla="*/ 121 h 963"/>
                <a:gd name="T4" fmla="*/ 86 w 278"/>
                <a:gd name="T5" fmla="*/ 86 h 963"/>
                <a:gd name="T6" fmla="*/ 86 w 278"/>
                <a:gd name="T7" fmla="*/ 65 h 963"/>
                <a:gd name="T8" fmla="*/ 90 w 278"/>
                <a:gd name="T9" fmla="*/ 30 h 963"/>
                <a:gd name="T10" fmla="*/ 96 w 278"/>
                <a:gd name="T11" fmla="*/ 4 h 963"/>
                <a:gd name="T12" fmla="*/ 173 w 278"/>
                <a:gd name="T13" fmla="*/ 11 h 963"/>
                <a:gd name="T14" fmla="*/ 188 w 278"/>
                <a:gd name="T15" fmla="*/ 100 h 963"/>
                <a:gd name="T16" fmla="*/ 180 w 278"/>
                <a:gd name="T17" fmla="*/ 140 h 963"/>
                <a:gd name="T18" fmla="*/ 278 w 278"/>
                <a:gd name="T19" fmla="*/ 180 h 963"/>
                <a:gd name="T20" fmla="*/ 263 w 278"/>
                <a:gd name="T21" fmla="*/ 361 h 963"/>
                <a:gd name="T22" fmla="*/ 228 w 278"/>
                <a:gd name="T23" fmla="*/ 363 h 963"/>
                <a:gd name="T24" fmla="*/ 207 w 278"/>
                <a:gd name="T25" fmla="*/ 313 h 963"/>
                <a:gd name="T26" fmla="*/ 215 w 278"/>
                <a:gd name="T27" fmla="*/ 272 h 963"/>
                <a:gd name="T28" fmla="*/ 213 w 278"/>
                <a:gd name="T29" fmla="*/ 351 h 963"/>
                <a:gd name="T30" fmla="*/ 225 w 278"/>
                <a:gd name="T31" fmla="*/ 432 h 963"/>
                <a:gd name="T32" fmla="*/ 155 w 278"/>
                <a:gd name="T33" fmla="*/ 672 h 963"/>
                <a:gd name="T34" fmla="*/ 119 w 278"/>
                <a:gd name="T35" fmla="*/ 885 h 963"/>
                <a:gd name="T36" fmla="*/ 144 w 278"/>
                <a:gd name="T37" fmla="*/ 952 h 963"/>
                <a:gd name="T38" fmla="*/ 115 w 278"/>
                <a:gd name="T39" fmla="*/ 960 h 963"/>
                <a:gd name="T40" fmla="*/ 88 w 278"/>
                <a:gd name="T41" fmla="*/ 939 h 963"/>
                <a:gd name="T42" fmla="*/ 98 w 278"/>
                <a:gd name="T43" fmla="*/ 850 h 963"/>
                <a:gd name="T44" fmla="*/ 83 w 278"/>
                <a:gd name="T45" fmla="*/ 850 h 963"/>
                <a:gd name="T46" fmla="*/ 88 w 278"/>
                <a:gd name="T47" fmla="*/ 939 h 963"/>
                <a:gd name="T48" fmla="*/ 77 w 278"/>
                <a:gd name="T49" fmla="*/ 944 h 963"/>
                <a:gd name="T50" fmla="*/ 29 w 278"/>
                <a:gd name="T51" fmla="*/ 963 h 963"/>
                <a:gd name="T52" fmla="*/ 54 w 278"/>
                <a:gd name="T53" fmla="*/ 881 h 963"/>
                <a:gd name="T54" fmla="*/ 61 w 278"/>
                <a:gd name="T55" fmla="*/ 666 h 963"/>
                <a:gd name="T56" fmla="*/ 27 w 278"/>
                <a:gd name="T57" fmla="*/ 537 h 963"/>
                <a:gd name="T58" fmla="*/ 46 w 278"/>
                <a:gd name="T59" fmla="*/ 366 h 963"/>
                <a:gd name="T60" fmla="*/ 50 w 278"/>
                <a:gd name="T61" fmla="*/ 307 h 963"/>
                <a:gd name="T62" fmla="*/ 58 w 278"/>
                <a:gd name="T63" fmla="*/ 265 h 963"/>
                <a:gd name="T64" fmla="*/ 31 w 278"/>
                <a:gd name="T65" fmla="*/ 372 h 963"/>
                <a:gd name="T66" fmla="*/ 0 w 278"/>
                <a:gd name="T67" fmla="*/ 359 h 963"/>
                <a:gd name="T68" fmla="*/ 4 w 278"/>
                <a:gd name="T69" fmla="*/ 305 h 963"/>
                <a:gd name="T70" fmla="*/ 19 w 278"/>
                <a:gd name="T71" fmla="*/ 161 h 963"/>
                <a:gd name="T72" fmla="*/ 52 w 278"/>
                <a:gd name="T73" fmla="*/ 157 h 96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78"/>
                <a:gd name="T112" fmla="*/ 0 h 963"/>
                <a:gd name="T113" fmla="*/ 278 w 278"/>
                <a:gd name="T114" fmla="*/ 963 h 963"/>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78" h="963">
                  <a:moveTo>
                    <a:pt x="52" y="157"/>
                  </a:moveTo>
                  <a:lnTo>
                    <a:pt x="115" y="138"/>
                  </a:lnTo>
                  <a:lnTo>
                    <a:pt x="117" y="123"/>
                  </a:lnTo>
                  <a:lnTo>
                    <a:pt x="92" y="121"/>
                  </a:lnTo>
                  <a:lnTo>
                    <a:pt x="92" y="113"/>
                  </a:lnTo>
                  <a:lnTo>
                    <a:pt x="86" y="86"/>
                  </a:lnTo>
                  <a:lnTo>
                    <a:pt x="79" y="84"/>
                  </a:lnTo>
                  <a:lnTo>
                    <a:pt x="86" y="65"/>
                  </a:lnTo>
                  <a:lnTo>
                    <a:pt x="83" y="57"/>
                  </a:lnTo>
                  <a:lnTo>
                    <a:pt x="90" y="30"/>
                  </a:lnTo>
                  <a:lnTo>
                    <a:pt x="86" y="21"/>
                  </a:lnTo>
                  <a:lnTo>
                    <a:pt x="96" y="4"/>
                  </a:lnTo>
                  <a:lnTo>
                    <a:pt x="154" y="0"/>
                  </a:lnTo>
                  <a:lnTo>
                    <a:pt x="173" y="11"/>
                  </a:lnTo>
                  <a:lnTo>
                    <a:pt x="190" y="52"/>
                  </a:lnTo>
                  <a:lnTo>
                    <a:pt x="188" y="100"/>
                  </a:lnTo>
                  <a:lnTo>
                    <a:pt x="179" y="109"/>
                  </a:lnTo>
                  <a:lnTo>
                    <a:pt x="180" y="140"/>
                  </a:lnTo>
                  <a:lnTo>
                    <a:pt x="250" y="180"/>
                  </a:lnTo>
                  <a:lnTo>
                    <a:pt x="278" y="180"/>
                  </a:lnTo>
                  <a:lnTo>
                    <a:pt x="263" y="299"/>
                  </a:lnTo>
                  <a:lnTo>
                    <a:pt x="263" y="361"/>
                  </a:lnTo>
                  <a:lnTo>
                    <a:pt x="246" y="368"/>
                  </a:lnTo>
                  <a:lnTo>
                    <a:pt x="228" y="363"/>
                  </a:lnTo>
                  <a:lnTo>
                    <a:pt x="213" y="351"/>
                  </a:lnTo>
                  <a:lnTo>
                    <a:pt x="207" y="313"/>
                  </a:lnTo>
                  <a:lnTo>
                    <a:pt x="225" y="320"/>
                  </a:lnTo>
                  <a:lnTo>
                    <a:pt x="215" y="272"/>
                  </a:lnTo>
                  <a:lnTo>
                    <a:pt x="207" y="313"/>
                  </a:lnTo>
                  <a:lnTo>
                    <a:pt x="213" y="351"/>
                  </a:lnTo>
                  <a:lnTo>
                    <a:pt x="207" y="353"/>
                  </a:lnTo>
                  <a:lnTo>
                    <a:pt x="225" y="432"/>
                  </a:lnTo>
                  <a:lnTo>
                    <a:pt x="180" y="672"/>
                  </a:lnTo>
                  <a:lnTo>
                    <a:pt x="155" y="672"/>
                  </a:lnTo>
                  <a:lnTo>
                    <a:pt x="155" y="733"/>
                  </a:lnTo>
                  <a:lnTo>
                    <a:pt x="119" y="885"/>
                  </a:lnTo>
                  <a:lnTo>
                    <a:pt x="134" y="942"/>
                  </a:lnTo>
                  <a:lnTo>
                    <a:pt x="144" y="952"/>
                  </a:lnTo>
                  <a:lnTo>
                    <a:pt x="140" y="960"/>
                  </a:lnTo>
                  <a:lnTo>
                    <a:pt x="115" y="960"/>
                  </a:lnTo>
                  <a:lnTo>
                    <a:pt x="96" y="939"/>
                  </a:lnTo>
                  <a:lnTo>
                    <a:pt x="88" y="939"/>
                  </a:lnTo>
                  <a:lnTo>
                    <a:pt x="88" y="871"/>
                  </a:lnTo>
                  <a:lnTo>
                    <a:pt x="98" y="850"/>
                  </a:lnTo>
                  <a:lnTo>
                    <a:pt x="94" y="795"/>
                  </a:lnTo>
                  <a:lnTo>
                    <a:pt x="83" y="850"/>
                  </a:lnTo>
                  <a:lnTo>
                    <a:pt x="88" y="871"/>
                  </a:lnTo>
                  <a:lnTo>
                    <a:pt x="88" y="939"/>
                  </a:lnTo>
                  <a:lnTo>
                    <a:pt x="77" y="939"/>
                  </a:lnTo>
                  <a:lnTo>
                    <a:pt x="77" y="944"/>
                  </a:lnTo>
                  <a:lnTo>
                    <a:pt x="52" y="963"/>
                  </a:lnTo>
                  <a:lnTo>
                    <a:pt x="29" y="963"/>
                  </a:lnTo>
                  <a:lnTo>
                    <a:pt x="25" y="954"/>
                  </a:lnTo>
                  <a:lnTo>
                    <a:pt x="54" y="881"/>
                  </a:lnTo>
                  <a:lnTo>
                    <a:pt x="46" y="724"/>
                  </a:lnTo>
                  <a:lnTo>
                    <a:pt x="61" y="666"/>
                  </a:lnTo>
                  <a:lnTo>
                    <a:pt x="40" y="658"/>
                  </a:lnTo>
                  <a:lnTo>
                    <a:pt x="27" y="537"/>
                  </a:lnTo>
                  <a:lnTo>
                    <a:pt x="31" y="414"/>
                  </a:lnTo>
                  <a:lnTo>
                    <a:pt x="46" y="366"/>
                  </a:lnTo>
                  <a:lnTo>
                    <a:pt x="31" y="372"/>
                  </a:lnTo>
                  <a:lnTo>
                    <a:pt x="50" y="307"/>
                  </a:lnTo>
                  <a:lnTo>
                    <a:pt x="59" y="307"/>
                  </a:lnTo>
                  <a:lnTo>
                    <a:pt x="58" y="265"/>
                  </a:lnTo>
                  <a:lnTo>
                    <a:pt x="50" y="309"/>
                  </a:lnTo>
                  <a:lnTo>
                    <a:pt x="31" y="372"/>
                  </a:lnTo>
                  <a:lnTo>
                    <a:pt x="12" y="376"/>
                  </a:lnTo>
                  <a:lnTo>
                    <a:pt x="0" y="359"/>
                  </a:lnTo>
                  <a:lnTo>
                    <a:pt x="0" y="334"/>
                  </a:lnTo>
                  <a:lnTo>
                    <a:pt x="4" y="305"/>
                  </a:lnTo>
                  <a:lnTo>
                    <a:pt x="15" y="224"/>
                  </a:lnTo>
                  <a:lnTo>
                    <a:pt x="19" y="161"/>
                  </a:lnTo>
                  <a:lnTo>
                    <a:pt x="38" y="161"/>
                  </a:lnTo>
                  <a:lnTo>
                    <a:pt x="52" y="157"/>
                  </a:lnTo>
                  <a:close/>
                </a:path>
              </a:pathLst>
            </a:custGeom>
            <a:solidFill>
              <a:srgbClr val="DDDDDD">
                <a:alpha val="50195"/>
              </a:srgbClr>
            </a:solidFill>
            <a:ln w="0">
              <a:solidFill>
                <a:schemeClr val="folHlink"/>
              </a:solidFill>
              <a:prstDash val="solid"/>
              <a:round/>
              <a:headEnd/>
              <a:tailEnd/>
            </a:ln>
          </p:spPr>
          <p:txBody>
            <a:bodyPr/>
            <a:lstStyle/>
            <a:p>
              <a:endParaRPr lang="zh-CN" altLang="en-US"/>
            </a:p>
          </p:txBody>
        </p:sp>
      </p:grpSp>
      <p:sp>
        <p:nvSpPr>
          <p:cNvPr id="12" name="Rectangle 4"/>
          <p:cNvSpPr>
            <a:spLocks noChangeArrowheads="1"/>
          </p:cNvSpPr>
          <p:nvPr/>
        </p:nvSpPr>
        <p:spPr bwMode="auto">
          <a:xfrm>
            <a:off x="0" y="533400"/>
            <a:ext cx="3068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指针</a:t>
            </a:r>
          </a:p>
        </p:txBody>
      </p:sp>
    </p:spTree>
    <p:extLst>
      <p:ext uri="{BB962C8B-B14F-4D97-AF65-F5344CB8AC3E}">
        <p14:creationId xmlns:p14="http://schemas.microsoft.com/office/powerpoint/2010/main" val="4122691196"/>
      </p:ext>
    </p:extLst>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22" name="Text Box 3"/>
          <p:cNvSpPr txBox="1">
            <a:spLocks noChangeArrowheads="1"/>
          </p:cNvSpPr>
          <p:nvPr/>
        </p:nvSpPr>
        <p:spPr bwMode="auto">
          <a:xfrm>
            <a:off x="0" y="1447800"/>
            <a:ext cx="9144000" cy="4894263"/>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lgn="ctr">
                <a:solidFill>
                  <a:srgbClr val="000000"/>
                </a:solidFill>
                <a:prstDash val="sysDot"/>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zh-CN" altLang="en-US" sz="2400" b="1">
                <a:solidFill>
                  <a:srgbClr val="C00000"/>
                </a:solidFill>
                <a:latin typeface="幼圆" pitchFamily="49" charset="-122"/>
                <a:ea typeface="幼圆" pitchFamily="49" charset="-122"/>
              </a:rPr>
              <a:t>◆指针数组</a:t>
            </a:r>
            <a:endParaRPr kumimoji="1" lang="zh-CN" altLang="en-US" sz="2400" b="1">
              <a:solidFill>
                <a:srgbClr val="C00000"/>
              </a:solidFill>
              <a:latin typeface="幼圆" pitchFamily="49" charset="-122"/>
              <a:ea typeface="幼圆" pitchFamily="49" charset="-122"/>
              <a:cs typeface="Times New Roman" pitchFamily="18" charset="0"/>
            </a:endParaRP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char *a[3]={</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china</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beijing</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nanjing</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a[i] </a:t>
            </a:r>
            <a:r>
              <a:rPr kumimoji="1" lang="zh-CN" altLang="en-US" sz="2400" b="1">
                <a:solidFill>
                  <a:schemeClr val="tx2"/>
                </a:solidFill>
                <a:latin typeface="幼圆" pitchFamily="49" charset="-122"/>
                <a:ea typeface="幼圆" pitchFamily="49" charset="-122"/>
              </a:rPr>
              <a:t>存放第</a:t>
            </a:r>
            <a:r>
              <a:rPr kumimoji="1" lang="en-US" altLang="zh-CN" sz="2400" b="1">
                <a:solidFill>
                  <a:schemeClr val="tx2"/>
                </a:solidFill>
                <a:latin typeface="幼圆" pitchFamily="49" charset="-122"/>
                <a:ea typeface="幼圆" pitchFamily="49" charset="-122"/>
              </a:rPr>
              <a:t>i</a:t>
            </a:r>
            <a:r>
              <a:rPr kumimoji="1" lang="zh-CN" altLang="en-US" sz="2400" b="1">
                <a:solidFill>
                  <a:schemeClr val="tx2"/>
                </a:solidFill>
                <a:latin typeface="幼圆" pitchFamily="49" charset="-122"/>
                <a:ea typeface="幼圆" pitchFamily="49" charset="-122"/>
              </a:rPr>
              <a:t>个字符串的首地址.</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如：</a:t>
            </a:r>
            <a:r>
              <a:rPr kumimoji="1" lang="en-US" altLang="zh-CN" sz="2400" b="1">
                <a:solidFill>
                  <a:schemeClr val="tx2"/>
                </a:solidFill>
                <a:latin typeface="幼圆" pitchFamily="49" charset="-122"/>
                <a:ea typeface="幼圆" pitchFamily="49" charset="-122"/>
              </a:rPr>
              <a:t>a[1] </a:t>
            </a:r>
            <a:r>
              <a:rPr kumimoji="1" lang="zh-CN" altLang="en-US" sz="2400" b="1">
                <a:solidFill>
                  <a:schemeClr val="tx2"/>
                </a:solidFill>
                <a:latin typeface="幼圆" pitchFamily="49" charset="-122"/>
                <a:ea typeface="幼圆" pitchFamily="49" charset="-122"/>
              </a:rPr>
              <a:t>存放</a:t>
            </a:r>
            <a:r>
              <a:rPr kumimoji="1" lang="zh-CN" altLang="en-US"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beijing</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a:t>
            </a:r>
            <a:r>
              <a:rPr kumimoji="1" lang="zh-CN" altLang="en-US" sz="2400" b="1">
                <a:solidFill>
                  <a:schemeClr val="tx2"/>
                </a:solidFill>
                <a:latin typeface="幼圆" pitchFamily="49" charset="-122"/>
                <a:ea typeface="幼圆" pitchFamily="49" charset="-122"/>
              </a:rPr>
              <a:t>的首地址.</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用途: 处理多个字符串(如:排序、求最大(小)串等)</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main(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char *a[3]={</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china</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beijing</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nanjing</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int k;</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for(k=0;k&lt;3;k++)   printf(</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%s**</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,a[k]);</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r>
              <a:rPr kumimoji="1" lang="zh-CN" altLang="en-US" sz="2400" b="1">
                <a:solidFill>
                  <a:schemeClr val="tx2"/>
                </a:solidFill>
                <a:latin typeface="幼圆" pitchFamily="49" charset="-122"/>
                <a:ea typeface="幼圆" pitchFamily="49" charset="-122"/>
              </a:rPr>
              <a:t>输出： </a:t>
            </a:r>
            <a:r>
              <a:rPr kumimoji="1" lang="en-US" altLang="zh-CN" sz="2400" b="1">
                <a:solidFill>
                  <a:schemeClr val="tx2"/>
                </a:solidFill>
                <a:latin typeface="幼圆" pitchFamily="49" charset="-122"/>
                <a:ea typeface="幼圆" pitchFamily="49" charset="-122"/>
              </a:rPr>
              <a:t>china**beijing**nanjing **</a:t>
            </a:r>
            <a:endParaRPr kumimoji="1" lang="zh-CN" altLang="en-US" sz="2400" b="1">
              <a:solidFill>
                <a:schemeClr val="tx2"/>
              </a:solidFill>
              <a:latin typeface="幼圆" pitchFamily="49" charset="-122"/>
              <a:ea typeface="幼圆" pitchFamily="49" charset="-122"/>
            </a:endParaRPr>
          </a:p>
          <a:p>
            <a:pPr eaLnBrk="1" hangingPunct="1">
              <a:spcBef>
                <a:spcPct val="20000"/>
              </a:spcBef>
              <a:buClr>
                <a:schemeClr val="tx1"/>
              </a:buClr>
              <a:buSzPct val="60000"/>
              <a:buFont typeface="宋体" pitchFamily="2" charset="-122"/>
              <a:buNone/>
            </a:pPr>
            <a:endParaRPr kumimoji="1" lang="en-US" altLang="zh-CN" sz="2400" b="1">
              <a:solidFill>
                <a:schemeClr val="tx2"/>
              </a:solidFill>
              <a:latin typeface="幼圆" pitchFamily="49" charset="-122"/>
              <a:ea typeface="幼圆" pitchFamily="49" charset="-122"/>
            </a:endParaRPr>
          </a:p>
        </p:txBody>
      </p:sp>
      <p:sp>
        <p:nvSpPr>
          <p:cNvPr id="4" name="Rectangle 4"/>
          <p:cNvSpPr>
            <a:spLocks noChangeArrowheads="1"/>
          </p:cNvSpPr>
          <p:nvPr/>
        </p:nvSpPr>
        <p:spPr bwMode="auto">
          <a:xfrm>
            <a:off x="0" y="533400"/>
            <a:ext cx="3068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指针</a:t>
            </a:r>
          </a:p>
        </p:txBody>
      </p:sp>
    </p:spTree>
    <p:extLst>
      <p:ext uri="{BB962C8B-B14F-4D97-AF65-F5344CB8AC3E}">
        <p14:creationId xmlns:p14="http://schemas.microsoft.com/office/powerpoint/2010/main" val="1842139365"/>
      </p:ext>
    </p:extLst>
  </p:cSld>
  <p:clrMapOvr>
    <a:masterClrMapping/>
  </p:clrMapOvr>
  <p:transition>
    <p:wedg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文本框 7"/>
          <p:cNvSpPr txBox="1">
            <a:spLocks noChangeArrowheads="1"/>
          </p:cNvSpPr>
          <p:nvPr/>
        </p:nvSpPr>
        <p:spPr bwMode="auto">
          <a:xfrm>
            <a:off x="0" y="533400"/>
            <a:ext cx="25298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pPr>
            <a:r>
              <a:rPr lang="zh-CN" altLang="en-US" sz="2800" b="1" dirty="0">
                <a:solidFill>
                  <a:srgbClr val="C00000"/>
                </a:solidFill>
                <a:latin typeface="幼圆" pitchFamily="49" charset="-122"/>
                <a:ea typeface="幼圆" pitchFamily="49" charset="-122"/>
                <a:sym typeface="宋体" pitchFamily="2" charset="-122"/>
              </a:rPr>
              <a:t>指针要点总结 </a:t>
            </a:r>
          </a:p>
        </p:txBody>
      </p:sp>
      <p:sp>
        <p:nvSpPr>
          <p:cNvPr id="14342" name="文本框 7"/>
          <p:cNvSpPr txBox="1">
            <a:spLocks noChangeArrowheads="1"/>
          </p:cNvSpPr>
          <p:nvPr/>
        </p:nvSpPr>
        <p:spPr bwMode="auto">
          <a:xfrm>
            <a:off x="0" y="1398687"/>
            <a:ext cx="8923735"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pPr>
            <a:r>
              <a:rPr lang="en-US" altLang="zh-CN" b="1" dirty="0">
                <a:solidFill>
                  <a:srgbClr val="002060"/>
                </a:solidFill>
                <a:latin typeface="幼圆" pitchFamily="49" charset="-122"/>
                <a:ea typeface="幼圆" pitchFamily="49" charset="-122"/>
                <a:sym typeface="宋体" pitchFamily="2" charset="-122"/>
              </a:rPr>
              <a:t>1 </a:t>
            </a:r>
            <a:r>
              <a:rPr lang="zh-CN" altLang="en-US" b="1" dirty="0">
                <a:solidFill>
                  <a:srgbClr val="002060"/>
                </a:solidFill>
                <a:latin typeface="幼圆" pitchFamily="49" charset="-122"/>
                <a:ea typeface="幼圆" pitchFamily="49" charset="-122"/>
                <a:sym typeface="宋体" pitchFamily="2" charset="-122"/>
              </a:rPr>
              <a:t>指针就是地址，指向不同目标，定义形式不同；</a:t>
            </a:r>
          </a:p>
          <a:p>
            <a:pPr eaLnBrk="1" hangingPunct="1">
              <a:buFont typeface="Arial" pitchFamily="34" charset="0"/>
              <a:buNone/>
            </a:pPr>
            <a:r>
              <a:rPr lang="en-US" altLang="zh-CN" b="1" dirty="0">
                <a:solidFill>
                  <a:srgbClr val="002060"/>
                </a:solidFill>
                <a:latin typeface="幼圆" pitchFamily="49" charset="-122"/>
                <a:ea typeface="幼圆" pitchFamily="49" charset="-122"/>
                <a:sym typeface="宋体" pitchFamily="2" charset="-122"/>
              </a:rPr>
              <a:t>2 </a:t>
            </a:r>
            <a:r>
              <a:rPr lang="zh-CN" altLang="en-US" b="1" dirty="0">
                <a:solidFill>
                  <a:srgbClr val="002060"/>
                </a:solidFill>
                <a:latin typeface="幼圆" pitchFamily="49" charset="-122"/>
                <a:ea typeface="幼圆" pitchFamily="49" charset="-122"/>
                <a:sym typeface="宋体" pitchFamily="2" charset="-122"/>
              </a:rPr>
              <a:t>指针必须用地址类数据初始化（数组名，</a:t>
            </a:r>
            <a:r>
              <a:rPr lang="en-US" altLang="zh-CN" b="1" dirty="0">
                <a:solidFill>
                  <a:srgbClr val="002060"/>
                </a:solidFill>
                <a:latin typeface="幼圆" pitchFamily="49" charset="-122"/>
                <a:ea typeface="幼圆" pitchFamily="49" charset="-122"/>
                <a:sym typeface="宋体" pitchFamily="2" charset="-122"/>
              </a:rPr>
              <a:t>&amp;</a:t>
            </a:r>
            <a:r>
              <a:rPr lang="zh-CN" altLang="en-US" b="1" dirty="0">
                <a:solidFill>
                  <a:srgbClr val="002060"/>
                </a:solidFill>
                <a:latin typeface="幼圆" pitchFamily="49" charset="-122"/>
                <a:ea typeface="幼圆" pitchFamily="49" charset="-122"/>
                <a:sym typeface="宋体" pitchFamily="2" charset="-122"/>
              </a:rPr>
              <a:t>变量名，其他指针）</a:t>
            </a:r>
          </a:p>
          <a:p>
            <a:pPr eaLnBrk="1" hangingPunct="1">
              <a:buFont typeface="Arial" pitchFamily="34" charset="0"/>
              <a:buNone/>
            </a:pPr>
            <a:r>
              <a:rPr lang="en-US" altLang="zh-CN" b="1" dirty="0">
                <a:solidFill>
                  <a:srgbClr val="002060"/>
                </a:solidFill>
                <a:latin typeface="幼圆" pitchFamily="49" charset="-122"/>
                <a:ea typeface="幼圆" pitchFamily="49" charset="-122"/>
                <a:sym typeface="宋体" pitchFamily="2" charset="-122"/>
              </a:rPr>
              <a:t>3 </a:t>
            </a:r>
            <a:r>
              <a:rPr lang="zh-CN" altLang="en-US" b="1" dirty="0">
                <a:solidFill>
                  <a:srgbClr val="002060"/>
                </a:solidFill>
                <a:latin typeface="幼圆" pitchFamily="49" charset="-122"/>
                <a:ea typeface="幼圆" pitchFamily="49" charset="-122"/>
                <a:sym typeface="宋体" pitchFamily="2" charset="-122"/>
              </a:rPr>
              <a:t>指针指向变量，可以通过指针间接访问变量；</a:t>
            </a:r>
          </a:p>
          <a:p>
            <a:pPr eaLnBrk="1" hangingPunct="1">
              <a:buFont typeface="Arial" pitchFamily="34" charset="0"/>
              <a:buNone/>
            </a:pPr>
            <a:r>
              <a:rPr lang="en-US" altLang="zh-CN" b="1" dirty="0">
                <a:solidFill>
                  <a:srgbClr val="002060"/>
                </a:solidFill>
                <a:latin typeface="幼圆" pitchFamily="49" charset="-122"/>
                <a:ea typeface="幼圆" pitchFamily="49" charset="-122"/>
                <a:sym typeface="宋体" pitchFamily="2" charset="-122"/>
              </a:rPr>
              <a:t>4 </a:t>
            </a:r>
            <a:r>
              <a:rPr lang="zh-CN" altLang="en-US" b="1" dirty="0">
                <a:solidFill>
                  <a:srgbClr val="002060"/>
                </a:solidFill>
                <a:latin typeface="幼圆" pitchFamily="49" charset="-122"/>
                <a:ea typeface="幼圆" pitchFamily="49" charset="-122"/>
                <a:sym typeface="宋体" pitchFamily="2" charset="-122"/>
              </a:rPr>
              <a:t>指针指向一维数组，可以访问数组中所有元素，要点是</a:t>
            </a:r>
            <a:r>
              <a:rPr lang="en-US" altLang="zh-CN" b="1" dirty="0">
                <a:solidFill>
                  <a:srgbClr val="002060"/>
                </a:solidFill>
                <a:latin typeface="幼圆" pitchFamily="49" charset="-122"/>
                <a:ea typeface="幼圆" pitchFamily="49" charset="-122"/>
                <a:sym typeface="宋体" pitchFamily="2" charset="-122"/>
              </a:rPr>
              <a:t>p+1 </a:t>
            </a:r>
            <a:r>
              <a:rPr lang="zh-CN" altLang="en-US" b="1" dirty="0">
                <a:solidFill>
                  <a:srgbClr val="002060"/>
                </a:solidFill>
                <a:latin typeface="幼圆" pitchFamily="49" charset="-122"/>
                <a:ea typeface="幼圆" pitchFamily="49" charset="-122"/>
                <a:sym typeface="宋体" pitchFamily="2" charset="-122"/>
              </a:rPr>
              <a:t>指指针向后移动一个元素</a:t>
            </a:r>
          </a:p>
          <a:p>
            <a:pPr eaLnBrk="1" hangingPunct="1">
              <a:buFont typeface="Arial" pitchFamily="34" charset="0"/>
              <a:buNone/>
            </a:pPr>
            <a:r>
              <a:rPr lang="en-US" altLang="zh-CN" b="1" dirty="0">
                <a:solidFill>
                  <a:srgbClr val="002060"/>
                </a:solidFill>
                <a:latin typeface="幼圆" pitchFamily="49" charset="-122"/>
                <a:ea typeface="幼圆" pitchFamily="49" charset="-122"/>
                <a:sym typeface="宋体" pitchFamily="2" charset="-122"/>
              </a:rPr>
              <a:t>5 </a:t>
            </a:r>
            <a:r>
              <a:rPr lang="zh-CN" altLang="en-US" b="1" dirty="0">
                <a:solidFill>
                  <a:srgbClr val="002060"/>
                </a:solidFill>
                <a:latin typeface="幼圆" pitchFamily="49" charset="-122"/>
                <a:ea typeface="幼圆" pitchFamily="49" charset="-122"/>
                <a:sym typeface="宋体" pitchFamily="2" charset="-122"/>
              </a:rPr>
              <a:t>两个指针指向同一数组时，可以有关系运算，部分算术运算</a:t>
            </a:r>
          </a:p>
          <a:p>
            <a:pPr eaLnBrk="1" hangingPunct="1">
              <a:buFont typeface="Arial" pitchFamily="34" charset="0"/>
              <a:buNone/>
            </a:pPr>
            <a:r>
              <a:rPr lang="en-US" altLang="zh-CN" b="1" dirty="0">
                <a:solidFill>
                  <a:srgbClr val="002060"/>
                </a:solidFill>
                <a:latin typeface="幼圆" pitchFamily="49" charset="-122"/>
                <a:ea typeface="幼圆" pitchFamily="49" charset="-122"/>
                <a:sym typeface="宋体" pitchFamily="2" charset="-122"/>
              </a:rPr>
              <a:t>6 </a:t>
            </a:r>
            <a:r>
              <a:rPr lang="zh-CN" altLang="en-US" b="1" dirty="0">
                <a:solidFill>
                  <a:srgbClr val="002060"/>
                </a:solidFill>
                <a:latin typeface="幼圆" pitchFamily="49" charset="-122"/>
                <a:ea typeface="幼圆" pitchFamily="49" charset="-122"/>
                <a:sym typeface="宋体" pitchFamily="2" charset="-122"/>
              </a:rPr>
              <a:t>定义</a:t>
            </a:r>
            <a:r>
              <a:rPr lang="en-US" altLang="zh-CN" b="1" dirty="0" err="1">
                <a:solidFill>
                  <a:srgbClr val="002060"/>
                </a:solidFill>
                <a:latin typeface="幼圆" pitchFamily="49" charset="-122"/>
                <a:ea typeface="幼圆" pitchFamily="49" charset="-122"/>
                <a:sym typeface="宋体" pitchFamily="2" charset="-122"/>
              </a:rPr>
              <a:t>int</a:t>
            </a:r>
            <a:r>
              <a:rPr lang="en-US" altLang="zh-CN" b="1" dirty="0">
                <a:solidFill>
                  <a:srgbClr val="002060"/>
                </a:solidFill>
                <a:latin typeface="幼圆" pitchFamily="49" charset="-122"/>
                <a:ea typeface="幼圆" pitchFamily="49" charset="-122"/>
                <a:sym typeface="宋体" pitchFamily="2" charset="-122"/>
              </a:rPr>
              <a:t> a[10]</a:t>
            </a:r>
            <a:r>
              <a:rPr lang="zh-CN" altLang="en-US" b="1" dirty="0">
                <a:solidFill>
                  <a:srgbClr val="002060"/>
                </a:solidFill>
                <a:latin typeface="幼圆" pitchFamily="49" charset="-122"/>
                <a:ea typeface="幼圆" pitchFamily="49" charset="-122"/>
                <a:sym typeface="宋体" pitchFamily="2" charset="-122"/>
              </a:rPr>
              <a:t>后，</a:t>
            </a:r>
            <a:r>
              <a:rPr lang="en-US" altLang="zh-CN" b="1" dirty="0">
                <a:solidFill>
                  <a:srgbClr val="002060"/>
                </a:solidFill>
                <a:latin typeface="幼圆" pitchFamily="49" charset="-122"/>
                <a:ea typeface="幼圆" pitchFamily="49" charset="-122"/>
                <a:sym typeface="宋体" pitchFamily="2" charset="-122"/>
              </a:rPr>
              <a:t>a, a+1, </a:t>
            </a:r>
            <a:r>
              <a:rPr lang="en-US" altLang="zh-CN" b="1" dirty="0" err="1">
                <a:solidFill>
                  <a:srgbClr val="002060"/>
                </a:solidFill>
                <a:latin typeface="幼圆" pitchFamily="49" charset="-122"/>
                <a:ea typeface="幼圆" pitchFamily="49" charset="-122"/>
                <a:sym typeface="宋体" pitchFamily="2" charset="-122"/>
              </a:rPr>
              <a:t>a+I</a:t>
            </a:r>
            <a:r>
              <a:rPr lang="en-US" altLang="zh-CN" b="1" dirty="0">
                <a:solidFill>
                  <a:srgbClr val="002060"/>
                </a:solidFill>
                <a:latin typeface="幼圆" pitchFamily="49" charset="-122"/>
                <a:ea typeface="幼圆" pitchFamily="49" charset="-122"/>
                <a:sym typeface="宋体" pitchFamily="2" charset="-122"/>
              </a:rPr>
              <a:t>, *(</a:t>
            </a:r>
            <a:r>
              <a:rPr lang="en-US" altLang="zh-CN" b="1" dirty="0" err="1">
                <a:solidFill>
                  <a:srgbClr val="002060"/>
                </a:solidFill>
                <a:latin typeface="幼圆" pitchFamily="49" charset="-122"/>
                <a:ea typeface="幼圆" pitchFamily="49" charset="-122"/>
                <a:sym typeface="宋体" pitchFamily="2" charset="-122"/>
              </a:rPr>
              <a:t>a+i</a:t>
            </a:r>
            <a:r>
              <a:rPr lang="en-US" altLang="zh-CN" b="1" dirty="0">
                <a:solidFill>
                  <a:srgbClr val="002060"/>
                </a:solidFill>
                <a:latin typeface="幼圆" pitchFamily="49" charset="-122"/>
                <a:ea typeface="幼圆" pitchFamily="49" charset="-122"/>
                <a:sym typeface="宋体" pitchFamily="2" charset="-122"/>
              </a:rPr>
              <a:t>), a[</a:t>
            </a:r>
            <a:r>
              <a:rPr lang="en-US" altLang="zh-CN" b="1" dirty="0" err="1">
                <a:solidFill>
                  <a:srgbClr val="002060"/>
                </a:solidFill>
                <a:latin typeface="幼圆" pitchFamily="49" charset="-122"/>
                <a:ea typeface="幼圆" pitchFamily="49" charset="-122"/>
                <a:sym typeface="宋体" pitchFamily="2" charset="-122"/>
              </a:rPr>
              <a:t>i</a:t>
            </a:r>
            <a:r>
              <a:rPr lang="en-US" altLang="zh-CN" b="1" dirty="0">
                <a:solidFill>
                  <a:srgbClr val="002060"/>
                </a:solidFill>
                <a:latin typeface="幼圆" pitchFamily="49" charset="-122"/>
                <a:ea typeface="幼圆" pitchFamily="49" charset="-122"/>
                <a:sym typeface="宋体" pitchFamily="2" charset="-122"/>
              </a:rPr>
              <a:t>]</a:t>
            </a:r>
            <a:r>
              <a:rPr lang="zh-CN" altLang="en-US" b="1" dirty="0">
                <a:solidFill>
                  <a:srgbClr val="002060"/>
                </a:solidFill>
                <a:latin typeface="幼圆" pitchFamily="49" charset="-122"/>
                <a:ea typeface="幼圆" pitchFamily="49" charset="-122"/>
                <a:sym typeface="宋体" pitchFamily="2" charset="-122"/>
              </a:rPr>
              <a:t>的含义</a:t>
            </a:r>
          </a:p>
          <a:p>
            <a:pPr eaLnBrk="1" hangingPunct="1">
              <a:buFont typeface="Arial" pitchFamily="34" charset="0"/>
              <a:buNone/>
            </a:pPr>
            <a:r>
              <a:rPr lang="en-US" altLang="zh-CN" b="1" dirty="0">
                <a:solidFill>
                  <a:srgbClr val="002060"/>
                </a:solidFill>
                <a:latin typeface="幼圆" pitchFamily="49" charset="-122"/>
                <a:ea typeface="幼圆" pitchFamily="49" charset="-122"/>
                <a:sym typeface="宋体" pitchFamily="2" charset="-122"/>
              </a:rPr>
              <a:t>7 </a:t>
            </a:r>
            <a:r>
              <a:rPr lang="zh-CN" altLang="en-US" b="1" dirty="0">
                <a:solidFill>
                  <a:srgbClr val="002060"/>
                </a:solidFill>
                <a:latin typeface="幼圆" pitchFamily="49" charset="-122"/>
                <a:ea typeface="幼圆" pitchFamily="49" charset="-122"/>
                <a:sym typeface="宋体" pitchFamily="2" charset="-122"/>
              </a:rPr>
              <a:t>数组名是常量，不能做运算，</a:t>
            </a:r>
            <a:r>
              <a:rPr lang="en-US" altLang="zh-CN" b="1" dirty="0" err="1">
                <a:solidFill>
                  <a:srgbClr val="002060"/>
                </a:solidFill>
                <a:latin typeface="幼圆" pitchFamily="49" charset="-122"/>
                <a:ea typeface="幼圆" pitchFamily="49" charset="-122"/>
                <a:sym typeface="宋体" pitchFamily="2" charset="-122"/>
              </a:rPr>
              <a:t>int</a:t>
            </a:r>
            <a:r>
              <a:rPr lang="en-US" altLang="zh-CN" b="1" dirty="0">
                <a:solidFill>
                  <a:srgbClr val="002060"/>
                </a:solidFill>
                <a:latin typeface="幼圆" pitchFamily="49" charset="-122"/>
                <a:ea typeface="幼圆" pitchFamily="49" charset="-122"/>
                <a:sym typeface="宋体" pitchFamily="2" charset="-122"/>
              </a:rPr>
              <a:t> a[10], a++, a=p+3</a:t>
            </a:r>
            <a:r>
              <a:rPr lang="zh-CN" altLang="en-US" b="1" dirty="0">
                <a:solidFill>
                  <a:srgbClr val="002060"/>
                </a:solidFill>
                <a:latin typeface="幼圆" pitchFamily="49" charset="-122"/>
                <a:ea typeface="幼圆" pitchFamily="49" charset="-122"/>
                <a:sym typeface="宋体" pitchFamily="2" charset="-122"/>
              </a:rPr>
              <a:t>等是错的。</a:t>
            </a:r>
          </a:p>
          <a:p>
            <a:pPr eaLnBrk="1" hangingPunct="1">
              <a:buFont typeface="Arial" pitchFamily="34" charset="0"/>
              <a:buNone/>
            </a:pPr>
            <a:r>
              <a:rPr lang="en-US" altLang="zh-CN" b="1" dirty="0">
                <a:solidFill>
                  <a:srgbClr val="002060"/>
                </a:solidFill>
                <a:latin typeface="幼圆" pitchFamily="49" charset="-122"/>
                <a:ea typeface="幼圆" pitchFamily="49" charset="-122"/>
                <a:sym typeface="宋体" pitchFamily="2" charset="-122"/>
              </a:rPr>
              <a:t>8 </a:t>
            </a:r>
            <a:r>
              <a:rPr lang="zh-CN" altLang="en-US" b="1" dirty="0">
                <a:solidFill>
                  <a:srgbClr val="002060"/>
                </a:solidFill>
                <a:latin typeface="幼圆" pitchFamily="49" charset="-122"/>
                <a:ea typeface="幼圆" pitchFamily="49" charset="-122"/>
                <a:sym typeface="宋体" pitchFamily="2" charset="-122"/>
              </a:rPr>
              <a:t>字符数组</a:t>
            </a:r>
            <a:r>
              <a:rPr lang="en-US" altLang="zh-CN" b="1" dirty="0">
                <a:solidFill>
                  <a:srgbClr val="002060"/>
                </a:solidFill>
                <a:latin typeface="幼圆" pitchFamily="49" charset="-122"/>
                <a:ea typeface="幼圆" pitchFamily="49" charset="-122"/>
                <a:sym typeface="宋体" pitchFamily="2" charset="-122"/>
              </a:rPr>
              <a:t>char s[10]=“china”</a:t>
            </a:r>
            <a:r>
              <a:rPr lang="zh-CN" altLang="en-US" b="1" dirty="0">
                <a:solidFill>
                  <a:srgbClr val="002060"/>
                </a:solidFill>
                <a:latin typeface="幼圆" pitchFamily="49" charset="-122"/>
                <a:ea typeface="幼圆" pitchFamily="49" charset="-122"/>
                <a:sym typeface="宋体" pitchFamily="2" charset="-122"/>
              </a:rPr>
              <a:t>，正确；</a:t>
            </a:r>
          </a:p>
          <a:p>
            <a:pPr eaLnBrk="1" hangingPunct="1">
              <a:buFont typeface="Arial" pitchFamily="34" charset="0"/>
              <a:buNone/>
            </a:pPr>
            <a:r>
              <a:rPr lang="en-US" altLang="zh-CN" b="1" dirty="0">
                <a:solidFill>
                  <a:srgbClr val="002060"/>
                </a:solidFill>
                <a:latin typeface="幼圆" pitchFamily="49" charset="-122"/>
                <a:ea typeface="幼圆" pitchFamily="49" charset="-122"/>
                <a:sym typeface="宋体" pitchFamily="2" charset="-122"/>
              </a:rPr>
              <a:t>9 </a:t>
            </a:r>
            <a:r>
              <a:rPr lang="zh-CN" altLang="en-US" b="1" dirty="0">
                <a:solidFill>
                  <a:srgbClr val="002060"/>
                </a:solidFill>
                <a:latin typeface="幼圆" pitchFamily="49" charset="-122"/>
                <a:ea typeface="幼圆" pitchFamily="49" charset="-122"/>
                <a:sym typeface="宋体" pitchFamily="2" charset="-122"/>
              </a:rPr>
              <a:t>字符指针 </a:t>
            </a:r>
            <a:r>
              <a:rPr lang="en-US" altLang="zh-CN" b="1" dirty="0">
                <a:solidFill>
                  <a:srgbClr val="002060"/>
                </a:solidFill>
                <a:latin typeface="幼圆" pitchFamily="49" charset="-122"/>
                <a:ea typeface="幼圆" pitchFamily="49" charset="-122"/>
                <a:sym typeface="宋体" pitchFamily="2" charset="-122"/>
              </a:rPr>
              <a:t>char *s, s=“china</a:t>
            </a:r>
            <a:r>
              <a:rPr lang="zh-CN" altLang="en-US" b="1" dirty="0">
                <a:solidFill>
                  <a:srgbClr val="002060"/>
                </a:solidFill>
                <a:latin typeface="幼圆" pitchFamily="49" charset="-122"/>
                <a:ea typeface="幼圆" pitchFamily="49" charset="-122"/>
                <a:sym typeface="宋体" pitchFamily="2" charset="-122"/>
              </a:rPr>
              <a:t>”，指针</a:t>
            </a:r>
            <a:r>
              <a:rPr lang="en-US" altLang="zh-CN" b="1" dirty="0">
                <a:solidFill>
                  <a:srgbClr val="002060"/>
                </a:solidFill>
                <a:latin typeface="幼圆" pitchFamily="49" charset="-122"/>
                <a:ea typeface="幼圆" pitchFamily="49" charset="-122"/>
                <a:sym typeface="宋体" pitchFamily="2" charset="-122"/>
              </a:rPr>
              <a:t>s</a:t>
            </a:r>
            <a:r>
              <a:rPr lang="zh-CN" altLang="en-US" b="1" dirty="0">
                <a:solidFill>
                  <a:srgbClr val="002060"/>
                </a:solidFill>
                <a:latin typeface="幼圆" pitchFamily="49" charset="-122"/>
                <a:ea typeface="幼圆" pitchFamily="49" charset="-122"/>
                <a:sym typeface="宋体" pitchFamily="2" charset="-122"/>
              </a:rPr>
              <a:t>仅指向字符串首；</a:t>
            </a:r>
          </a:p>
          <a:p>
            <a:pPr eaLnBrk="1" hangingPunct="1">
              <a:buFont typeface="Arial" pitchFamily="34" charset="0"/>
              <a:buNone/>
            </a:pPr>
            <a:r>
              <a:rPr lang="en-US" altLang="zh-CN" b="1" dirty="0">
                <a:solidFill>
                  <a:srgbClr val="002060"/>
                </a:solidFill>
                <a:latin typeface="幼圆" pitchFamily="49" charset="-122"/>
                <a:ea typeface="幼圆" pitchFamily="49" charset="-122"/>
                <a:sym typeface="宋体" pitchFamily="2" charset="-122"/>
              </a:rPr>
              <a:t>10 </a:t>
            </a:r>
            <a:r>
              <a:rPr lang="zh-CN" altLang="en-US" b="1" dirty="0">
                <a:solidFill>
                  <a:srgbClr val="002060"/>
                </a:solidFill>
                <a:latin typeface="幼圆" pitchFamily="49" charset="-122"/>
                <a:ea typeface="幼圆" pitchFamily="49" charset="-122"/>
                <a:sym typeface="宋体" pitchFamily="2" charset="-122"/>
              </a:rPr>
              <a:t>字符串处理函数中的参数可以是指针名；</a:t>
            </a:r>
          </a:p>
          <a:p>
            <a:pPr eaLnBrk="1" hangingPunct="1">
              <a:buFont typeface="Arial" pitchFamily="34" charset="0"/>
              <a:buNone/>
            </a:pPr>
            <a:r>
              <a:rPr lang="en-US" altLang="zh-CN" b="1" dirty="0">
                <a:solidFill>
                  <a:srgbClr val="002060"/>
                </a:solidFill>
                <a:latin typeface="幼圆" pitchFamily="49" charset="-122"/>
                <a:ea typeface="幼圆" pitchFamily="49" charset="-122"/>
                <a:sym typeface="宋体" pitchFamily="2" charset="-122"/>
              </a:rPr>
              <a:t>11 </a:t>
            </a:r>
            <a:r>
              <a:rPr lang="zh-CN" altLang="en-US" b="1" dirty="0">
                <a:solidFill>
                  <a:srgbClr val="002060"/>
                </a:solidFill>
                <a:latin typeface="幼圆" pitchFamily="49" charset="-122"/>
                <a:ea typeface="幼圆" pitchFamily="49" charset="-122"/>
                <a:sym typeface="宋体" pitchFamily="2" charset="-122"/>
              </a:rPr>
              <a:t>指针数组必须用地址值初始化；</a:t>
            </a:r>
          </a:p>
          <a:p>
            <a:pPr eaLnBrk="1" hangingPunct="1">
              <a:buFont typeface="Arial" pitchFamily="34" charset="0"/>
              <a:buNone/>
            </a:pPr>
            <a:r>
              <a:rPr lang="en-US" altLang="zh-CN" b="1" dirty="0">
                <a:solidFill>
                  <a:srgbClr val="002060"/>
                </a:solidFill>
                <a:latin typeface="幼圆" pitchFamily="49" charset="-122"/>
                <a:ea typeface="幼圆" pitchFamily="49" charset="-122"/>
                <a:sym typeface="宋体" pitchFamily="2" charset="-122"/>
              </a:rPr>
              <a:t>12 </a:t>
            </a:r>
            <a:r>
              <a:rPr lang="zh-CN" altLang="en-US" b="1" dirty="0">
                <a:solidFill>
                  <a:srgbClr val="002060"/>
                </a:solidFill>
                <a:latin typeface="幼圆" pitchFamily="49" charset="-122"/>
                <a:ea typeface="幼圆" pitchFamily="49" charset="-122"/>
                <a:sym typeface="宋体" pitchFamily="2" charset="-122"/>
              </a:rPr>
              <a:t>行指针必须指向二维数组中的行，该指针加整数含义是指到后续的行（不是元素）</a:t>
            </a:r>
          </a:p>
          <a:p>
            <a:pPr eaLnBrk="1" hangingPunct="1">
              <a:buFont typeface="Arial" pitchFamily="34" charset="0"/>
              <a:buNone/>
            </a:pPr>
            <a:r>
              <a:rPr lang="en-US" altLang="zh-CN" b="1" dirty="0">
                <a:solidFill>
                  <a:srgbClr val="002060"/>
                </a:solidFill>
                <a:latin typeface="幼圆" pitchFamily="49" charset="-122"/>
                <a:ea typeface="幼圆" pitchFamily="49" charset="-122"/>
                <a:sym typeface="宋体" pitchFamily="2" charset="-122"/>
              </a:rPr>
              <a:t>13 </a:t>
            </a:r>
            <a:r>
              <a:rPr lang="zh-CN" altLang="en-US" b="1" dirty="0">
                <a:solidFill>
                  <a:srgbClr val="002060"/>
                </a:solidFill>
                <a:latin typeface="幼圆" pitchFamily="49" charset="-122"/>
                <a:ea typeface="幼圆" pitchFamily="49" charset="-122"/>
                <a:sym typeface="宋体" pitchFamily="2" charset="-122"/>
              </a:rPr>
              <a:t>二级指针，指针数组，二维数组是等价的（各种表达式）</a:t>
            </a:r>
          </a:p>
          <a:p>
            <a:pPr eaLnBrk="1" hangingPunct="1">
              <a:buFont typeface="Arial" pitchFamily="34" charset="0"/>
              <a:buNone/>
            </a:pPr>
            <a:r>
              <a:rPr lang="en-US" altLang="zh-CN" b="1" dirty="0">
                <a:solidFill>
                  <a:srgbClr val="002060"/>
                </a:solidFill>
                <a:latin typeface="幼圆" pitchFamily="49" charset="-122"/>
                <a:ea typeface="幼圆" pitchFamily="49" charset="-122"/>
                <a:sym typeface="宋体" pitchFamily="2" charset="-122"/>
              </a:rPr>
              <a:t>14 </a:t>
            </a:r>
            <a:r>
              <a:rPr lang="zh-CN" altLang="en-US" b="1" dirty="0">
                <a:solidFill>
                  <a:srgbClr val="002060"/>
                </a:solidFill>
                <a:latin typeface="幼圆" pitchFamily="49" charset="-122"/>
                <a:ea typeface="幼圆" pitchFamily="49" charset="-122"/>
                <a:sym typeface="宋体" pitchFamily="2" charset="-122"/>
              </a:rPr>
              <a:t>二维数组定义后 </a:t>
            </a:r>
            <a:r>
              <a:rPr lang="en-US" altLang="zh-CN" b="1" dirty="0" err="1">
                <a:solidFill>
                  <a:srgbClr val="002060"/>
                </a:solidFill>
                <a:latin typeface="幼圆" pitchFamily="49" charset="-122"/>
                <a:ea typeface="幼圆" pitchFamily="49" charset="-122"/>
                <a:sym typeface="宋体" pitchFamily="2" charset="-122"/>
              </a:rPr>
              <a:t>int</a:t>
            </a:r>
            <a:r>
              <a:rPr lang="en-US" altLang="zh-CN" b="1" dirty="0">
                <a:solidFill>
                  <a:srgbClr val="002060"/>
                </a:solidFill>
                <a:latin typeface="幼圆" pitchFamily="49" charset="-122"/>
                <a:ea typeface="幼圆" pitchFamily="49" charset="-122"/>
                <a:sym typeface="宋体" pitchFamily="2" charset="-122"/>
              </a:rPr>
              <a:t> a[3][4],</a:t>
            </a:r>
            <a:r>
              <a:rPr lang="zh-CN" altLang="en-US" b="1" dirty="0">
                <a:solidFill>
                  <a:srgbClr val="002060"/>
                </a:solidFill>
                <a:latin typeface="幼圆" pitchFamily="49" charset="-122"/>
                <a:ea typeface="幼圆" pitchFamily="49" charset="-122"/>
                <a:sym typeface="宋体" pitchFamily="2" charset="-122"/>
              </a:rPr>
              <a:t>正确判断如何代表地址，如何求元素的值</a:t>
            </a:r>
          </a:p>
          <a:p>
            <a:pPr eaLnBrk="1" hangingPunct="1">
              <a:buFont typeface="Arial" pitchFamily="34" charset="0"/>
              <a:buNone/>
            </a:pPr>
            <a:r>
              <a:rPr lang="en-US" altLang="zh-CN" b="1" dirty="0">
                <a:solidFill>
                  <a:srgbClr val="002060"/>
                </a:solidFill>
                <a:latin typeface="幼圆" pitchFamily="49" charset="-122"/>
                <a:ea typeface="幼圆" pitchFamily="49" charset="-122"/>
                <a:sym typeface="宋体" pitchFamily="2" charset="-122"/>
              </a:rPr>
              <a:t>15 </a:t>
            </a:r>
            <a:r>
              <a:rPr lang="zh-CN" altLang="en-US" b="1" dirty="0">
                <a:solidFill>
                  <a:srgbClr val="002060"/>
                </a:solidFill>
                <a:latin typeface="幼圆" pitchFamily="49" charset="-122"/>
                <a:ea typeface="幼圆" pitchFamily="49" charset="-122"/>
                <a:sym typeface="宋体" pitchFamily="2" charset="-122"/>
              </a:rPr>
              <a:t>指向函数的指针与返回指针的函数。看懂</a:t>
            </a:r>
            <a:r>
              <a:rPr lang="en-US" altLang="zh-CN" b="1" dirty="0" err="1">
                <a:solidFill>
                  <a:srgbClr val="002060"/>
                </a:solidFill>
                <a:latin typeface="幼圆" pitchFamily="49" charset="-122"/>
                <a:ea typeface="幼圆" pitchFamily="49" charset="-122"/>
                <a:sym typeface="宋体" pitchFamily="2" charset="-122"/>
              </a:rPr>
              <a:t>ppt</a:t>
            </a:r>
            <a:r>
              <a:rPr lang="zh-CN" altLang="en-US" b="1" dirty="0">
                <a:solidFill>
                  <a:srgbClr val="002060"/>
                </a:solidFill>
                <a:latin typeface="幼圆" pitchFamily="49" charset="-122"/>
                <a:ea typeface="幼圆" pitchFamily="49" charset="-122"/>
                <a:sym typeface="宋体" pitchFamily="2" charset="-122"/>
              </a:rPr>
              <a:t>中的程序。</a:t>
            </a:r>
          </a:p>
          <a:p>
            <a:pPr eaLnBrk="1" hangingPunct="1">
              <a:buFont typeface="Arial" pitchFamily="34" charset="0"/>
              <a:buNone/>
            </a:pPr>
            <a:r>
              <a:rPr lang="en-US" altLang="zh-CN" b="1" dirty="0">
                <a:solidFill>
                  <a:srgbClr val="002060"/>
                </a:solidFill>
                <a:latin typeface="幼圆" pitchFamily="49" charset="-122"/>
                <a:ea typeface="幼圆" pitchFamily="49" charset="-122"/>
                <a:sym typeface="宋体" pitchFamily="2" charset="-122"/>
              </a:rPr>
              <a:t>16 </a:t>
            </a:r>
            <a:r>
              <a:rPr lang="zh-CN" altLang="en-US" b="1" dirty="0">
                <a:solidFill>
                  <a:srgbClr val="002060"/>
                </a:solidFill>
                <a:latin typeface="幼圆" pitchFamily="49" charset="-122"/>
                <a:ea typeface="幼圆" pitchFamily="49" charset="-122"/>
                <a:sym typeface="宋体" pitchFamily="2" charset="-122"/>
              </a:rPr>
              <a:t>指针指向结构体变量，引用结构体成员有两种形式。</a:t>
            </a:r>
          </a:p>
          <a:p>
            <a:pPr eaLnBrk="1" hangingPunct="1">
              <a:buFont typeface="Arial" pitchFamily="34" charset="0"/>
              <a:buNone/>
            </a:pPr>
            <a:r>
              <a:rPr lang="en-US" altLang="zh-CN" b="1" dirty="0">
                <a:solidFill>
                  <a:srgbClr val="002060"/>
                </a:solidFill>
                <a:latin typeface="幼圆" pitchFamily="49" charset="-122"/>
                <a:ea typeface="幼圆" pitchFamily="49" charset="-122"/>
                <a:sym typeface="宋体" pitchFamily="2" charset="-122"/>
              </a:rPr>
              <a:t>17 </a:t>
            </a:r>
            <a:r>
              <a:rPr lang="zh-CN" altLang="en-US" b="1" dirty="0">
                <a:solidFill>
                  <a:srgbClr val="002060"/>
                </a:solidFill>
                <a:latin typeface="幼圆" pitchFamily="49" charset="-122"/>
                <a:ea typeface="幼圆" pitchFamily="49" charset="-122"/>
                <a:sym typeface="宋体" pitchFamily="2" charset="-122"/>
              </a:rPr>
              <a:t>指针可以赋空值</a:t>
            </a:r>
            <a:r>
              <a:rPr lang="en-US" altLang="zh-CN" b="1" dirty="0">
                <a:solidFill>
                  <a:srgbClr val="002060"/>
                </a:solidFill>
                <a:latin typeface="幼圆" pitchFamily="49" charset="-122"/>
                <a:ea typeface="幼圆" pitchFamily="49" charset="-122"/>
                <a:sym typeface="宋体" pitchFamily="2" charset="-122"/>
              </a:rPr>
              <a:t>NULL</a:t>
            </a:r>
          </a:p>
        </p:txBody>
      </p:sp>
    </p:spTree>
    <p:extLst>
      <p:ext uri="{BB962C8B-B14F-4D97-AF65-F5344CB8AC3E}">
        <p14:creationId xmlns:p14="http://schemas.microsoft.com/office/powerpoint/2010/main" val="235132411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270"/>
          <p:cNvGraphicFramePr>
            <a:graphicFrameLocks/>
          </p:cNvGraphicFramePr>
          <p:nvPr>
            <p:extLst>
              <p:ext uri="{D42A27DB-BD31-4B8C-83A1-F6EECF244321}">
                <p14:modId xmlns:p14="http://schemas.microsoft.com/office/powerpoint/2010/main" val="3624866414"/>
              </p:ext>
            </p:extLst>
          </p:nvPr>
        </p:nvGraphicFramePr>
        <p:xfrm>
          <a:off x="457200" y="1371600"/>
          <a:ext cx="7210425" cy="5211612"/>
        </p:xfrm>
        <a:graphic>
          <a:graphicData uri="http://schemas.openxmlformats.org/drawingml/2006/table">
            <a:tbl>
              <a:tblPr/>
              <a:tblGrid>
                <a:gridCol w="349250">
                  <a:extLst>
                    <a:ext uri="{9D8B030D-6E8A-4147-A177-3AD203B41FA5}">
                      <a16:colId xmlns:a16="http://schemas.microsoft.com/office/drawing/2014/main" val="20000"/>
                    </a:ext>
                  </a:extLst>
                </a:gridCol>
                <a:gridCol w="6861175">
                  <a:extLst>
                    <a:ext uri="{9D8B030D-6E8A-4147-A177-3AD203B41FA5}">
                      <a16:colId xmlns:a16="http://schemas.microsoft.com/office/drawing/2014/main" val="20001"/>
                    </a:ext>
                  </a:extLst>
                </a:gridCol>
              </a:tblGrid>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1</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计算机概述及数字化基础</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0"/>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2</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计算机三大平台</a:t>
                      </a:r>
                      <a:r>
                        <a:rPr kumimoji="0" lang="en-US" altLang="zh-CN" sz="2800" b="1" i="0" u="none" strike="noStrike" cap="none" normalizeH="0" baseline="0" dirty="0">
                          <a:ln>
                            <a:noFill/>
                          </a:ln>
                          <a:solidFill>
                            <a:schemeClr val="tx1"/>
                          </a:solidFill>
                          <a:effectLst/>
                          <a:latin typeface="Arial" charset="0"/>
                          <a:ea typeface="宋体" pitchFamily="2" charset="-122"/>
                        </a:rPr>
                        <a:t>——</a:t>
                      </a:r>
                      <a:r>
                        <a:rPr kumimoji="0" lang="zh-CN" altLang="en-US" sz="2800" b="1" i="0" u="none" strike="noStrike" cap="none" normalizeH="0" baseline="0" dirty="0">
                          <a:ln>
                            <a:noFill/>
                          </a:ln>
                          <a:solidFill>
                            <a:schemeClr val="tx1"/>
                          </a:solidFill>
                          <a:effectLst/>
                          <a:latin typeface="Arial" charset="0"/>
                          <a:ea typeface="宋体" pitchFamily="2" charset="-122"/>
                        </a:rPr>
                        <a:t>硬件、软件、网络</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3</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数据处理及数据库</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9482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4</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数据类型，运算符，表达式</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5</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流程控制</a:t>
                      </a:r>
                      <a:r>
                        <a:rPr kumimoji="0" lang="en-US" altLang="zh-CN" sz="2800" b="1" i="0" u="none" strike="noStrike" cap="none" normalizeH="0" baseline="0" dirty="0">
                          <a:ln>
                            <a:noFill/>
                          </a:ln>
                          <a:solidFill>
                            <a:schemeClr val="tx1"/>
                          </a:solidFill>
                          <a:effectLst/>
                          <a:latin typeface="Arial" charset="0"/>
                          <a:ea typeface="宋体" pitchFamily="2" charset="-122"/>
                        </a:rPr>
                        <a:t>——</a:t>
                      </a:r>
                      <a:r>
                        <a:rPr kumimoji="0" lang="zh-CN" altLang="en-US" sz="2800" b="1" i="0" u="none" strike="noStrike" cap="none" normalizeH="0" baseline="0" dirty="0">
                          <a:ln>
                            <a:noFill/>
                          </a:ln>
                          <a:solidFill>
                            <a:schemeClr val="tx1"/>
                          </a:solidFill>
                          <a:effectLst/>
                          <a:latin typeface="Arial" charset="0"/>
                          <a:ea typeface="宋体" pitchFamily="2" charset="-122"/>
                        </a:rPr>
                        <a:t>顺序、选择、循环</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4"/>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6</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数组</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5"/>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7</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函数</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8</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med" len="med"/>
                      <a:tailEnd type="none" w="med" len="med"/>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chemeClr val="tx1"/>
                          </a:solidFill>
                          <a:effectLst/>
                          <a:latin typeface="Arial" charset="0"/>
                          <a:ea typeface="宋体" pitchFamily="2" charset="-122"/>
                        </a:rPr>
                        <a:t>指针</a:t>
                      </a:r>
                      <a:endParaRPr kumimoji="0" lang="en-US" altLang="zh-CN" sz="2800" b="1" i="0" u="none" strike="noStrike" cap="none" normalizeH="0" baseline="0" dirty="0">
                        <a:ln>
                          <a:noFill/>
                        </a:ln>
                        <a:solidFill>
                          <a:schemeClr val="tx1"/>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med" len="med"/>
                      <a:tailEnd type="none" w="med" len="med"/>
                    </a:lnT>
                    <a:lnB w="12700" cap="flat" cmpd="sng" algn="ctr">
                      <a:solidFill>
                        <a:srgbClr val="99FF33"/>
                      </a:solidFill>
                      <a:prstDash val="solid"/>
                      <a:round/>
                      <a:headEnd type="none" w="sm" len="sm"/>
                      <a:tailEnd type="none" w="sm" len="sm"/>
                    </a:lnB>
                    <a:lnTlToBr>
                      <a:noFill/>
                    </a:lnTlToBr>
                    <a:lnBlToTr>
                      <a:noFill/>
                    </a:lnBlToTr>
                    <a:solidFill>
                      <a:schemeClr val="bg1"/>
                    </a:solidFill>
                  </a:tcPr>
                </a:tc>
                <a:extLst>
                  <a:ext uri="{0D108BD9-81ED-4DB2-BD59-A6C34878D82A}">
                    <a16:rowId xmlns:a16="http://schemas.microsoft.com/office/drawing/2014/main" val="10007"/>
                  </a:ext>
                </a:extLst>
              </a:tr>
              <a:tr h="57904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en-US" altLang="zh-CN" sz="3200" b="0" i="0" u="none" strike="noStrike" cap="none" normalizeH="0" baseline="0" dirty="0">
                          <a:ln>
                            <a:noFill/>
                          </a:ln>
                          <a:solidFill>
                            <a:schemeClr val="tx1"/>
                          </a:solidFill>
                          <a:effectLst>
                            <a:outerShdw blurRad="38100" dist="38100" dir="2700000" algn="tl">
                              <a:srgbClr val="010199"/>
                            </a:outerShdw>
                          </a:effectLst>
                          <a:latin typeface="Arial" charset="0"/>
                          <a:ea typeface="宋体" pitchFamily="2" charset="-122"/>
                        </a:rPr>
                        <a:t>9</a:t>
                      </a: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itchFamily="2" charset="2"/>
                        <a:buNone/>
                        <a:tabLst/>
                      </a:pPr>
                      <a:r>
                        <a:rPr kumimoji="0" lang="zh-CN" altLang="en-US" sz="2800" b="1" i="0" u="none" strike="noStrike" cap="none" normalizeH="0" baseline="0" dirty="0">
                          <a:ln>
                            <a:noFill/>
                          </a:ln>
                          <a:solidFill>
                            <a:srgbClr val="FF0000"/>
                          </a:solidFill>
                          <a:effectLst/>
                          <a:latin typeface="Arial" charset="0"/>
                          <a:ea typeface="宋体" pitchFamily="2" charset="-122"/>
                        </a:rPr>
                        <a:t>结构</a:t>
                      </a:r>
                      <a:endParaRPr kumimoji="0" lang="en-US" altLang="zh-CN" sz="2800" b="1" i="0" u="none" strike="noStrike" cap="none" normalizeH="0" baseline="0" dirty="0">
                        <a:ln>
                          <a:noFill/>
                        </a:ln>
                        <a:solidFill>
                          <a:srgbClr val="FF0000"/>
                        </a:solidFill>
                        <a:effectLst/>
                        <a:latin typeface="Arial" charset="0"/>
                        <a:ea typeface="宋体" pitchFamily="2" charset="-122"/>
                      </a:endParaRPr>
                    </a:p>
                  </a:txBody>
                  <a:tcPr marT="45694" marB="45694" horzOverflow="overflow">
                    <a:lnL w="12700" cap="flat" cmpd="sng" algn="ctr">
                      <a:solidFill>
                        <a:srgbClr val="99FF33"/>
                      </a:solidFill>
                      <a:prstDash val="solid"/>
                      <a:round/>
                      <a:headEnd type="none" w="sm" len="sm"/>
                      <a:tailEnd type="none" w="sm" len="sm"/>
                    </a:lnL>
                    <a:lnR w="12700" cap="flat" cmpd="sng" algn="ctr">
                      <a:solidFill>
                        <a:srgbClr val="99FF33"/>
                      </a:solidFill>
                      <a:prstDash val="solid"/>
                      <a:round/>
                      <a:headEnd type="none" w="sm" len="sm"/>
                      <a:tailEnd type="none" w="sm" len="sm"/>
                    </a:lnR>
                    <a:lnT w="12700" cap="flat" cmpd="sng" algn="ctr">
                      <a:solidFill>
                        <a:srgbClr val="99FF33"/>
                      </a:solidFill>
                      <a:prstDash val="solid"/>
                      <a:round/>
                      <a:headEnd type="none" w="sm" len="sm"/>
                      <a:tailEnd type="none" w="sm" len="sm"/>
                    </a:lnT>
                    <a:lnB w="12700" cap="flat" cmpd="sng" algn="ctr">
                      <a:solidFill>
                        <a:srgbClr val="99FF33"/>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sp>
        <p:nvSpPr>
          <p:cNvPr id="3" name="标题 1"/>
          <p:cNvSpPr>
            <a:spLocks noGrp="1"/>
          </p:cNvSpPr>
          <p:nvPr>
            <p:ph type="title"/>
          </p:nvPr>
        </p:nvSpPr>
        <p:spPr>
          <a:xfrm>
            <a:off x="838200" y="547688"/>
            <a:ext cx="7391400" cy="563562"/>
          </a:xfrm>
        </p:spPr>
        <p:txBody>
          <a:bodyPr/>
          <a:lstStyle/>
          <a:p>
            <a:r>
              <a:rPr lang="zh-CN" altLang="en-US" dirty="0">
                <a:latin typeface="隶书" pitchFamily="49" charset="-122"/>
                <a:ea typeface="隶书" pitchFamily="49" charset="-122"/>
              </a:rPr>
              <a:t>复习内容</a:t>
            </a:r>
          </a:p>
        </p:txBody>
      </p:sp>
    </p:spTree>
    <p:extLst>
      <p:ext uri="{BB962C8B-B14F-4D97-AF65-F5344CB8AC3E}">
        <p14:creationId xmlns:p14="http://schemas.microsoft.com/office/powerpoint/2010/main" val="2495641681"/>
      </p:ext>
    </p:extLst>
  </p:cSld>
  <p:clrMapOvr>
    <a:masterClrMapping/>
  </p:clrMapOvr>
  <p:transition spd="slow"/>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5170" name="Rectangle 3"/>
          <p:cNvSpPr>
            <a:spLocks noGrp="1" noChangeArrowheads="1"/>
          </p:cNvSpPr>
          <p:nvPr>
            <p:ph type="body" sz="half" idx="1"/>
          </p:nvPr>
        </p:nvSpPr>
        <p:spPr>
          <a:xfrm>
            <a:off x="0" y="1219200"/>
            <a:ext cx="8915400" cy="3121025"/>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rgbClr val="C00000"/>
                </a:solidFill>
                <a:latin typeface="幼圆" pitchFamily="49" charset="-122"/>
                <a:ea typeface="幼圆" pitchFamily="49" charset="-122"/>
              </a:rPr>
              <a:t>结构</a:t>
            </a:r>
          </a:p>
          <a:p>
            <a:pPr marL="457200" lvl="1"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定义结构类型、结构变量，结构占用的内存</a:t>
            </a:r>
          </a:p>
          <a:p>
            <a:pPr marL="457200" lvl="1"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与结构变量有关的运算符：访问结构成员的方法</a:t>
            </a:r>
          </a:p>
          <a:p>
            <a:pPr marL="457200" lvl="1"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结构与函数的关系:函数间传递结构</a:t>
            </a:r>
            <a:endParaRPr kumimoji="1" lang="en-US" altLang="zh-CN" sz="2400" b="1">
              <a:solidFill>
                <a:schemeClr val="tx2"/>
              </a:solidFill>
              <a:latin typeface="幼圆" pitchFamily="49" charset="-122"/>
              <a:ea typeface="幼圆" pitchFamily="49" charset="-122"/>
            </a:endParaRPr>
          </a:p>
          <a:p>
            <a:pPr marL="457200" lvl="1"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结构与数组的关系，结构数组</a:t>
            </a:r>
          </a:p>
          <a:p>
            <a:pPr marL="457200" lvl="1"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结构与指针的关系，结构指针与++、--运算的关系</a:t>
            </a:r>
          </a:p>
          <a:p>
            <a:pPr marL="457200" lvl="1"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p>
        </p:txBody>
      </p:sp>
      <p:sp>
        <p:nvSpPr>
          <p:cNvPr id="135171" name="Rectangle 4"/>
          <p:cNvSpPr>
            <a:spLocks noChangeArrowheads="1"/>
          </p:cNvSpPr>
          <p:nvPr/>
        </p:nvSpPr>
        <p:spPr bwMode="auto">
          <a:xfrm>
            <a:off x="0" y="4419600"/>
            <a:ext cx="4946650" cy="457200"/>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lgn="ctr">
                <a:solidFill>
                  <a:srgbClr val="000000"/>
                </a:solidFill>
                <a:prstDash val="sysDot"/>
                <a:miter lim="800000"/>
                <a:headEnd/>
                <a:tailEnd/>
              </a14:hiddenLine>
            </a:ext>
          </a:extLst>
        </p:spPr>
        <p:txBody>
          <a:bodyPr>
            <a:spAutoFit/>
          </a:bodyPr>
          <a:lstStyle/>
          <a:p>
            <a:pPr eaLnBrk="1" hangingPunct="1">
              <a:spcBef>
                <a:spcPct val="20000"/>
              </a:spcBef>
              <a:buClr>
                <a:schemeClr val="tx1"/>
              </a:buClr>
              <a:buSzPct val="60000"/>
              <a:buFont typeface="宋体" pitchFamily="2" charset="-122"/>
              <a:buNone/>
            </a:pPr>
            <a:r>
              <a:rPr kumimoji="1" lang="zh-CN" altLang="en-US" sz="2400" b="1">
                <a:solidFill>
                  <a:srgbClr val="C00000"/>
                </a:solidFill>
                <a:latin typeface="幼圆" pitchFamily="49" charset="-122"/>
                <a:ea typeface="幼圆" pitchFamily="49" charset="-122"/>
              </a:rPr>
              <a:t>联合</a:t>
            </a:r>
          </a:p>
        </p:txBody>
      </p:sp>
      <p:sp>
        <p:nvSpPr>
          <p:cNvPr id="135172" name="Rectangle 5"/>
          <p:cNvSpPr>
            <a:spLocks noChangeArrowheads="1"/>
          </p:cNvSpPr>
          <p:nvPr/>
        </p:nvSpPr>
        <p:spPr bwMode="auto">
          <a:xfrm>
            <a:off x="381000" y="5181600"/>
            <a:ext cx="8532813" cy="895350"/>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lgn="ctr">
                <a:solidFill>
                  <a:srgbClr val="000000"/>
                </a:solidFill>
                <a:prstDash val="sysDot"/>
                <a:miter lim="800000"/>
                <a:headEnd/>
                <a:tailEnd/>
              </a14:hiddenLine>
            </a:ext>
          </a:extLst>
        </p:spPr>
        <p:txBody>
          <a:bodyPr>
            <a:spAutoFit/>
          </a:bodyPr>
          <a:lstStyle/>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定义联合类型、联合变量，联合占用的内存</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访问联合成员的方法</a:t>
            </a:r>
          </a:p>
        </p:txBody>
      </p:sp>
      <p:sp>
        <p:nvSpPr>
          <p:cNvPr id="6" name="Rectangle 4"/>
          <p:cNvSpPr>
            <a:spLocks noChangeArrowheads="1"/>
          </p:cNvSpPr>
          <p:nvPr/>
        </p:nvSpPr>
        <p:spPr bwMode="auto">
          <a:xfrm>
            <a:off x="0" y="533400"/>
            <a:ext cx="3068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结构</a:t>
            </a:r>
          </a:p>
        </p:txBody>
      </p:sp>
    </p:spTree>
    <p:extLst>
      <p:ext uri="{BB962C8B-B14F-4D97-AF65-F5344CB8AC3E}">
        <p14:creationId xmlns:p14="http://schemas.microsoft.com/office/powerpoint/2010/main" val="3440242688"/>
      </p:ext>
    </p:extLst>
  </p:cSld>
  <p:clrMapOvr>
    <a:masterClrMapping/>
  </p:clrMapOvr>
  <p:transition>
    <p:wedge/>
  </p:transition>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6194" name="Text Box 3"/>
          <p:cNvSpPr txBox="1">
            <a:spLocks noChangeArrowheads="1"/>
          </p:cNvSpPr>
          <p:nvPr/>
        </p:nvSpPr>
        <p:spPr bwMode="auto">
          <a:xfrm>
            <a:off x="0" y="1447800"/>
            <a:ext cx="9144000" cy="3563938"/>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lgn="ctr">
                <a:solidFill>
                  <a:srgbClr val="000000"/>
                </a:solidFill>
                <a:prstDash val="sysDot"/>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●结构定义</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struct stu</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 int num;</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char name[10];</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 a={1001,</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li</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},b[5],*p=&amp;a;</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struct stu d, e[5], *q=e;</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zh-CN" altLang="en-US" sz="2400" b="1">
                <a:solidFill>
                  <a:srgbClr val="C00000"/>
                </a:solidFill>
                <a:latin typeface="幼圆" pitchFamily="49" charset="-122"/>
                <a:ea typeface="幼圆" pitchFamily="49" charset="-122"/>
              </a:rPr>
              <a:t>结构指针</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p=&amp;a.num;</a:t>
            </a:r>
            <a:r>
              <a:rPr kumimoji="1" lang="en-US" altLang="zh-CN" sz="2400" b="1">
                <a:solidFill>
                  <a:srgbClr val="FF0000"/>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  p</a:t>
            </a:r>
            <a:r>
              <a:rPr kumimoji="1" lang="zh-CN" altLang="en-US" sz="2400" b="1">
                <a:solidFill>
                  <a:schemeClr val="tx2"/>
                </a:solidFill>
                <a:latin typeface="幼圆" pitchFamily="49" charset="-122"/>
                <a:ea typeface="幼圆" pitchFamily="49" charset="-122"/>
              </a:rPr>
              <a:t>是结构型指针，而</a:t>
            </a:r>
            <a:r>
              <a:rPr kumimoji="1" lang="en-US" altLang="zh-CN" sz="2400" b="1">
                <a:solidFill>
                  <a:schemeClr val="tx2"/>
                </a:solidFill>
                <a:latin typeface="幼圆" pitchFamily="49" charset="-122"/>
                <a:ea typeface="幼圆" pitchFamily="49" charset="-122"/>
              </a:rPr>
              <a:t>a.num</a:t>
            </a:r>
            <a:r>
              <a:rPr kumimoji="1" lang="zh-CN" altLang="en-US" sz="2400" b="1">
                <a:solidFill>
                  <a:schemeClr val="tx2"/>
                </a:solidFill>
                <a:latin typeface="幼圆" pitchFamily="49" charset="-122"/>
                <a:ea typeface="幼圆" pitchFamily="49" charset="-122"/>
              </a:rPr>
              <a:t>是</a:t>
            </a:r>
            <a:r>
              <a:rPr kumimoji="1" lang="en-US" altLang="zh-CN" sz="2400" b="1">
                <a:solidFill>
                  <a:schemeClr val="tx2"/>
                </a:solidFill>
                <a:latin typeface="幼圆" pitchFamily="49" charset="-122"/>
                <a:ea typeface="幼圆" pitchFamily="49" charset="-122"/>
              </a:rPr>
              <a:t>int</a:t>
            </a:r>
            <a:r>
              <a:rPr kumimoji="1" lang="zh-CN" altLang="en-US" sz="2400" b="1">
                <a:solidFill>
                  <a:schemeClr val="tx2"/>
                </a:solidFill>
                <a:latin typeface="幼圆" pitchFamily="49" charset="-122"/>
                <a:ea typeface="幼圆" pitchFamily="49" charset="-122"/>
              </a:rPr>
              <a:t>型。</a:t>
            </a:r>
            <a:r>
              <a:rPr kumimoji="1" lang="zh-CN" altLang="en-US" sz="2400" b="1">
                <a:solidFill>
                  <a:schemeClr val="tx2"/>
                </a:solidFill>
                <a:latin typeface="Arial" pitchFamily="34" charset="0"/>
                <a:ea typeface="幼圆" pitchFamily="49" charset="-122"/>
              </a:rPr>
              <a:t> </a:t>
            </a:r>
            <a:endParaRPr kumimoji="1" lang="zh-CN" altLang="en-US" sz="2400" b="1">
              <a:solidFill>
                <a:schemeClr val="tx2"/>
              </a:solidFill>
              <a:latin typeface="幼圆" pitchFamily="49" charset="-122"/>
              <a:ea typeface="幼圆" pitchFamily="49" charset="-122"/>
            </a:endParaRPr>
          </a:p>
        </p:txBody>
      </p:sp>
      <p:grpSp>
        <p:nvGrpSpPr>
          <p:cNvPr id="2" name="Group 8"/>
          <p:cNvGrpSpPr>
            <a:grpSpLocks/>
          </p:cNvGrpSpPr>
          <p:nvPr/>
        </p:nvGrpSpPr>
        <p:grpSpPr bwMode="auto">
          <a:xfrm flipH="1">
            <a:off x="6096000" y="1066800"/>
            <a:ext cx="2819400" cy="2932113"/>
            <a:chOff x="3229" y="1699"/>
            <a:chExt cx="1972" cy="2116"/>
          </a:xfrm>
        </p:grpSpPr>
        <p:sp>
          <p:nvSpPr>
            <p:cNvPr id="136197" name="Freeform 9"/>
            <p:cNvSpPr>
              <a:spLocks/>
            </p:cNvSpPr>
            <p:nvPr/>
          </p:nvSpPr>
          <p:spPr bwMode="auto">
            <a:xfrm>
              <a:off x="3229" y="1699"/>
              <a:ext cx="1972" cy="2116"/>
            </a:xfrm>
            <a:custGeom>
              <a:avLst/>
              <a:gdLst>
                <a:gd name="T0" fmla="*/ 6 w 3943"/>
                <a:gd name="T1" fmla="*/ 1 h 4232"/>
                <a:gd name="T2" fmla="*/ 7 w 3943"/>
                <a:gd name="T3" fmla="*/ 1 h 4232"/>
                <a:gd name="T4" fmla="*/ 7 w 3943"/>
                <a:gd name="T5" fmla="*/ 2 h 4232"/>
                <a:gd name="T6" fmla="*/ 7 w 3943"/>
                <a:gd name="T7" fmla="*/ 2 h 4232"/>
                <a:gd name="T8" fmla="*/ 7 w 3943"/>
                <a:gd name="T9" fmla="*/ 3 h 4232"/>
                <a:gd name="T10" fmla="*/ 7 w 3943"/>
                <a:gd name="T11" fmla="*/ 3 h 4232"/>
                <a:gd name="T12" fmla="*/ 8 w 3943"/>
                <a:gd name="T13" fmla="*/ 4 h 4232"/>
                <a:gd name="T14" fmla="*/ 9 w 3943"/>
                <a:gd name="T15" fmla="*/ 5 h 4232"/>
                <a:gd name="T16" fmla="*/ 11 w 3943"/>
                <a:gd name="T17" fmla="*/ 6 h 4232"/>
                <a:gd name="T18" fmla="*/ 12 w 3943"/>
                <a:gd name="T19" fmla="*/ 6 h 4232"/>
                <a:gd name="T20" fmla="*/ 12 w 3943"/>
                <a:gd name="T21" fmla="*/ 7 h 4232"/>
                <a:gd name="T22" fmla="*/ 12 w 3943"/>
                <a:gd name="T23" fmla="*/ 7 h 4232"/>
                <a:gd name="T24" fmla="*/ 12 w 3943"/>
                <a:gd name="T25" fmla="*/ 8 h 4232"/>
                <a:gd name="T26" fmla="*/ 12 w 3943"/>
                <a:gd name="T27" fmla="*/ 9 h 4232"/>
                <a:gd name="T28" fmla="*/ 12 w 3943"/>
                <a:gd name="T29" fmla="*/ 10 h 4232"/>
                <a:gd name="T30" fmla="*/ 12 w 3943"/>
                <a:gd name="T31" fmla="*/ 11 h 4232"/>
                <a:gd name="T32" fmla="*/ 13 w 3943"/>
                <a:gd name="T33" fmla="*/ 11 h 4232"/>
                <a:gd name="T34" fmla="*/ 13 w 3943"/>
                <a:gd name="T35" fmla="*/ 11 h 4232"/>
                <a:gd name="T36" fmla="*/ 14 w 3943"/>
                <a:gd name="T37" fmla="*/ 12 h 4232"/>
                <a:gd name="T38" fmla="*/ 14 w 3943"/>
                <a:gd name="T39" fmla="*/ 12 h 4232"/>
                <a:gd name="T40" fmla="*/ 14 w 3943"/>
                <a:gd name="T41" fmla="*/ 12 h 4232"/>
                <a:gd name="T42" fmla="*/ 14 w 3943"/>
                <a:gd name="T43" fmla="*/ 13 h 4232"/>
                <a:gd name="T44" fmla="*/ 14 w 3943"/>
                <a:gd name="T45" fmla="*/ 13 h 4232"/>
                <a:gd name="T46" fmla="*/ 14 w 3943"/>
                <a:gd name="T47" fmla="*/ 14 h 4232"/>
                <a:gd name="T48" fmla="*/ 15 w 3943"/>
                <a:gd name="T49" fmla="*/ 14 h 4232"/>
                <a:gd name="T50" fmla="*/ 16 w 3943"/>
                <a:gd name="T51" fmla="*/ 14 h 4232"/>
                <a:gd name="T52" fmla="*/ 16 w 3943"/>
                <a:gd name="T53" fmla="*/ 15 h 4232"/>
                <a:gd name="T54" fmla="*/ 16 w 3943"/>
                <a:gd name="T55" fmla="*/ 16 h 4232"/>
                <a:gd name="T56" fmla="*/ 15 w 3943"/>
                <a:gd name="T57" fmla="*/ 16 h 4232"/>
                <a:gd name="T58" fmla="*/ 15 w 3943"/>
                <a:gd name="T59" fmla="*/ 17 h 4232"/>
                <a:gd name="T60" fmla="*/ 14 w 3943"/>
                <a:gd name="T61" fmla="*/ 17 h 4232"/>
                <a:gd name="T62" fmla="*/ 13 w 3943"/>
                <a:gd name="T63" fmla="*/ 17 h 4232"/>
                <a:gd name="T64" fmla="*/ 11 w 3943"/>
                <a:gd name="T65" fmla="*/ 17 h 4232"/>
                <a:gd name="T66" fmla="*/ 8 w 3943"/>
                <a:gd name="T67" fmla="*/ 16 h 4232"/>
                <a:gd name="T68" fmla="*/ 6 w 3943"/>
                <a:gd name="T69" fmla="*/ 16 h 4232"/>
                <a:gd name="T70" fmla="*/ 6 w 3943"/>
                <a:gd name="T71" fmla="*/ 16 h 4232"/>
                <a:gd name="T72" fmla="*/ 5 w 3943"/>
                <a:gd name="T73" fmla="*/ 16 h 4232"/>
                <a:gd name="T74" fmla="*/ 5 w 3943"/>
                <a:gd name="T75" fmla="*/ 16 h 4232"/>
                <a:gd name="T76" fmla="*/ 4 w 3943"/>
                <a:gd name="T77" fmla="*/ 16 h 4232"/>
                <a:gd name="T78" fmla="*/ 3 w 3943"/>
                <a:gd name="T79" fmla="*/ 15 h 4232"/>
                <a:gd name="T80" fmla="*/ 2 w 3943"/>
                <a:gd name="T81" fmla="*/ 15 h 4232"/>
                <a:gd name="T82" fmla="*/ 2 w 3943"/>
                <a:gd name="T83" fmla="*/ 14 h 4232"/>
                <a:gd name="T84" fmla="*/ 2 w 3943"/>
                <a:gd name="T85" fmla="*/ 12 h 4232"/>
                <a:gd name="T86" fmla="*/ 1 w 3943"/>
                <a:gd name="T87" fmla="*/ 10 h 4232"/>
                <a:gd name="T88" fmla="*/ 1 w 3943"/>
                <a:gd name="T89" fmla="*/ 9 h 4232"/>
                <a:gd name="T90" fmla="*/ 1 w 3943"/>
                <a:gd name="T91" fmla="*/ 9 h 4232"/>
                <a:gd name="T92" fmla="*/ 1 w 3943"/>
                <a:gd name="T93" fmla="*/ 9 h 4232"/>
                <a:gd name="T94" fmla="*/ 1 w 3943"/>
                <a:gd name="T95" fmla="*/ 7 h 4232"/>
                <a:gd name="T96" fmla="*/ 1 w 3943"/>
                <a:gd name="T97" fmla="*/ 5 h 4232"/>
                <a:gd name="T98" fmla="*/ 2 w 3943"/>
                <a:gd name="T99" fmla="*/ 3 h 4232"/>
                <a:gd name="T100" fmla="*/ 3 w 3943"/>
                <a:gd name="T101" fmla="*/ 3 h 4232"/>
                <a:gd name="T102" fmla="*/ 3 w 3943"/>
                <a:gd name="T103" fmla="*/ 3 h 4232"/>
                <a:gd name="T104" fmla="*/ 4 w 3943"/>
                <a:gd name="T105" fmla="*/ 3 h 4232"/>
                <a:gd name="T106" fmla="*/ 4 w 3943"/>
                <a:gd name="T107" fmla="*/ 3 h 4232"/>
                <a:gd name="T108" fmla="*/ 5 w 3943"/>
                <a:gd name="T109" fmla="*/ 2 h 4232"/>
                <a:gd name="T110" fmla="*/ 5 w 3943"/>
                <a:gd name="T111" fmla="*/ 1 h 4232"/>
                <a:gd name="T112" fmla="*/ 5 w 3943"/>
                <a:gd name="T113" fmla="*/ 1 h 4232"/>
                <a:gd name="T114" fmla="*/ 5 w 3943"/>
                <a:gd name="T115" fmla="*/ 1 h 423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943"/>
                <a:gd name="T175" fmla="*/ 0 h 4232"/>
                <a:gd name="T176" fmla="*/ 3943 w 3943"/>
                <a:gd name="T177" fmla="*/ 4232 h 423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943" h="4232">
                  <a:moveTo>
                    <a:pt x="1235" y="2"/>
                  </a:moveTo>
                  <a:lnTo>
                    <a:pt x="1264" y="0"/>
                  </a:lnTo>
                  <a:lnTo>
                    <a:pt x="1293" y="2"/>
                  </a:lnTo>
                  <a:lnTo>
                    <a:pt x="1319" y="6"/>
                  </a:lnTo>
                  <a:lnTo>
                    <a:pt x="1348" y="11"/>
                  </a:lnTo>
                  <a:lnTo>
                    <a:pt x="1374" y="19"/>
                  </a:lnTo>
                  <a:lnTo>
                    <a:pt x="1401" y="27"/>
                  </a:lnTo>
                  <a:lnTo>
                    <a:pt x="1426" y="38"/>
                  </a:lnTo>
                  <a:lnTo>
                    <a:pt x="1452" y="51"/>
                  </a:lnTo>
                  <a:lnTo>
                    <a:pt x="1477" y="63"/>
                  </a:lnTo>
                  <a:lnTo>
                    <a:pt x="1502" y="78"/>
                  </a:lnTo>
                  <a:lnTo>
                    <a:pt x="1524" y="93"/>
                  </a:lnTo>
                  <a:lnTo>
                    <a:pt x="1547" y="112"/>
                  </a:lnTo>
                  <a:lnTo>
                    <a:pt x="1566" y="129"/>
                  </a:lnTo>
                  <a:lnTo>
                    <a:pt x="1587" y="150"/>
                  </a:lnTo>
                  <a:lnTo>
                    <a:pt x="1606" y="173"/>
                  </a:lnTo>
                  <a:lnTo>
                    <a:pt x="1627" y="196"/>
                  </a:lnTo>
                  <a:lnTo>
                    <a:pt x="1637" y="205"/>
                  </a:lnTo>
                  <a:lnTo>
                    <a:pt x="1642" y="217"/>
                  </a:lnTo>
                  <a:lnTo>
                    <a:pt x="1644" y="226"/>
                  </a:lnTo>
                  <a:lnTo>
                    <a:pt x="1642" y="238"/>
                  </a:lnTo>
                  <a:lnTo>
                    <a:pt x="1637" y="249"/>
                  </a:lnTo>
                  <a:lnTo>
                    <a:pt x="1629" y="260"/>
                  </a:lnTo>
                  <a:lnTo>
                    <a:pt x="1620" y="272"/>
                  </a:lnTo>
                  <a:lnTo>
                    <a:pt x="1610" y="285"/>
                  </a:lnTo>
                  <a:lnTo>
                    <a:pt x="1599" y="299"/>
                  </a:lnTo>
                  <a:lnTo>
                    <a:pt x="1589" y="310"/>
                  </a:lnTo>
                  <a:lnTo>
                    <a:pt x="1580" y="325"/>
                  </a:lnTo>
                  <a:lnTo>
                    <a:pt x="1574" y="338"/>
                  </a:lnTo>
                  <a:lnTo>
                    <a:pt x="1570" y="354"/>
                  </a:lnTo>
                  <a:lnTo>
                    <a:pt x="1570" y="369"/>
                  </a:lnTo>
                  <a:lnTo>
                    <a:pt x="1572" y="384"/>
                  </a:lnTo>
                  <a:lnTo>
                    <a:pt x="1582" y="401"/>
                  </a:lnTo>
                  <a:lnTo>
                    <a:pt x="1578" y="416"/>
                  </a:lnTo>
                  <a:lnTo>
                    <a:pt x="1574" y="432"/>
                  </a:lnTo>
                  <a:lnTo>
                    <a:pt x="1572" y="449"/>
                  </a:lnTo>
                  <a:lnTo>
                    <a:pt x="1570" y="464"/>
                  </a:lnTo>
                  <a:lnTo>
                    <a:pt x="1566" y="481"/>
                  </a:lnTo>
                  <a:lnTo>
                    <a:pt x="1564" y="496"/>
                  </a:lnTo>
                  <a:lnTo>
                    <a:pt x="1563" y="511"/>
                  </a:lnTo>
                  <a:lnTo>
                    <a:pt x="1561" y="529"/>
                  </a:lnTo>
                  <a:lnTo>
                    <a:pt x="1557" y="544"/>
                  </a:lnTo>
                  <a:lnTo>
                    <a:pt x="1555" y="559"/>
                  </a:lnTo>
                  <a:lnTo>
                    <a:pt x="1551" y="576"/>
                  </a:lnTo>
                  <a:lnTo>
                    <a:pt x="1551" y="591"/>
                  </a:lnTo>
                  <a:lnTo>
                    <a:pt x="1547" y="606"/>
                  </a:lnTo>
                  <a:lnTo>
                    <a:pt x="1543" y="620"/>
                  </a:lnTo>
                  <a:lnTo>
                    <a:pt x="1542" y="635"/>
                  </a:lnTo>
                  <a:lnTo>
                    <a:pt x="1538" y="652"/>
                  </a:lnTo>
                  <a:lnTo>
                    <a:pt x="1566" y="662"/>
                  </a:lnTo>
                  <a:lnTo>
                    <a:pt x="1595" y="673"/>
                  </a:lnTo>
                  <a:lnTo>
                    <a:pt x="1625" y="684"/>
                  </a:lnTo>
                  <a:lnTo>
                    <a:pt x="1656" y="696"/>
                  </a:lnTo>
                  <a:lnTo>
                    <a:pt x="1684" y="705"/>
                  </a:lnTo>
                  <a:lnTo>
                    <a:pt x="1717" y="717"/>
                  </a:lnTo>
                  <a:lnTo>
                    <a:pt x="1747" y="728"/>
                  </a:lnTo>
                  <a:lnTo>
                    <a:pt x="1777" y="743"/>
                  </a:lnTo>
                  <a:lnTo>
                    <a:pt x="1806" y="755"/>
                  </a:lnTo>
                  <a:lnTo>
                    <a:pt x="1832" y="772"/>
                  </a:lnTo>
                  <a:lnTo>
                    <a:pt x="1859" y="791"/>
                  </a:lnTo>
                  <a:lnTo>
                    <a:pt x="1888" y="812"/>
                  </a:lnTo>
                  <a:lnTo>
                    <a:pt x="1912" y="833"/>
                  </a:lnTo>
                  <a:lnTo>
                    <a:pt x="1937" y="859"/>
                  </a:lnTo>
                  <a:lnTo>
                    <a:pt x="1960" y="888"/>
                  </a:lnTo>
                  <a:lnTo>
                    <a:pt x="1981" y="922"/>
                  </a:lnTo>
                  <a:lnTo>
                    <a:pt x="2015" y="973"/>
                  </a:lnTo>
                  <a:lnTo>
                    <a:pt x="2055" y="1021"/>
                  </a:lnTo>
                  <a:lnTo>
                    <a:pt x="2099" y="1059"/>
                  </a:lnTo>
                  <a:lnTo>
                    <a:pt x="2146" y="1095"/>
                  </a:lnTo>
                  <a:lnTo>
                    <a:pt x="2196" y="1126"/>
                  </a:lnTo>
                  <a:lnTo>
                    <a:pt x="2249" y="1152"/>
                  </a:lnTo>
                  <a:lnTo>
                    <a:pt x="2304" y="1175"/>
                  </a:lnTo>
                  <a:lnTo>
                    <a:pt x="2361" y="1198"/>
                  </a:lnTo>
                  <a:lnTo>
                    <a:pt x="2416" y="1217"/>
                  </a:lnTo>
                  <a:lnTo>
                    <a:pt x="2475" y="1236"/>
                  </a:lnTo>
                  <a:lnTo>
                    <a:pt x="2532" y="1255"/>
                  </a:lnTo>
                  <a:lnTo>
                    <a:pt x="2591" y="1274"/>
                  </a:lnTo>
                  <a:lnTo>
                    <a:pt x="2644" y="1295"/>
                  </a:lnTo>
                  <a:lnTo>
                    <a:pt x="2701" y="1318"/>
                  </a:lnTo>
                  <a:lnTo>
                    <a:pt x="2753" y="1342"/>
                  </a:lnTo>
                  <a:lnTo>
                    <a:pt x="2804" y="1373"/>
                  </a:lnTo>
                  <a:lnTo>
                    <a:pt x="2825" y="1378"/>
                  </a:lnTo>
                  <a:lnTo>
                    <a:pt x="2846" y="1386"/>
                  </a:lnTo>
                  <a:lnTo>
                    <a:pt x="2867" y="1392"/>
                  </a:lnTo>
                  <a:lnTo>
                    <a:pt x="2892" y="1399"/>
                  </a:lnTo>
                  <a:lnTo>
                    <a:pt x="2912" y="1407"/>
                  </a:lnTo>
                  <a:lnTo>
                    <a:pt x="2935" y="1414"/>
                  </a:lnTo>
                  <a:lnTo>
                    <a:pt x="2956" y="1422"/>
                  </a:lnTo>
                  <a:lnTo>
                    <a:pt x="2979" y="1435"/>
                  </a:lnTo>
                  <a:lnTo>
                    <a:pt x="2996" y="1445"/>
                  </a:lnTo>
                  <a:lnTo>
                    <a:pt x="3011" y="1458"/>
                  </a:lnTo>
                  <a:lnTo>
                    <a:pt x="3027" y="1473"/>
                  </a:lnTo>
                  <a:lnTo>
                    <a:pt x="3038" y="1491"/>
                  </a:lnTo>
                  <a:lnTo>
                    <a:pt x="3046" y="1510"/>
                  </a:lnTo>
                  <a:lnTo>
                    <a:pt x="3051" y="1532"/>
                  </a:lnTo>
                  <a:lnTo>
                    <a:pt x="3051" y="1555"/>
                  </a:lnTo>
                  <a:lnTo>
                    <a:pt x="3049" y="1586"/>
                  </a:lnTo>
                  <a:lnTo>
                    <a:pt x="3047" y="1597"/>
                  </a:lnTo>
                  <a:lnTo>
                    <a:pt x="3049" y="1610"/>
                  </a:lnTo>
                  <a:lnTo>
                    <a:pt x="3049" y="1622"/>
                  </a:lnTo>
                  <a:lnTo>
                    <a:pt x="3053" y="1635"/>
                  </a:lnTo>
                  <a:lnTo>
                    <a:pt x="3055" y="1646"/>
                  </a:lnTo>
                  <a:lnTo>
                    <a:pt x="3055" y="1660"/>
                  </a:lnTo>
                  <a:lnTo>
                    <a:pt x="3055" y="1673"/>
                  </a:lnTo>
                  <a:lnTo>
                    <a:pt x="3055" y="1686"/>
                  </a:lnTo>
                  <a:lnTo>
                    <a:pt x="3042" y="1696"/>
                  </a:lnTo>
                  <a:lnTo>
                    <a:pt x="3027" y="1707"/>
                  </a:lnTo>
                  <a:lnTo>
                    <a:pt x="3011" y="1719"/>
                  </a:lnTo>
                  <a:lnTo>
                    <a:pt x="3000" y="1732"/>
                  </a:lnTo>
                  <a:lnTo>
                    <a:pt x="2987" y="1745"/>
                  </a:lnTo>
                  <a:lnTo>
                    <a:pt x="2975" y="1759"/>
                  </a:lnTo>
                  <a:lnTo>
                    <a:pt x="2962" y="1772"/>
                  </a:lnTo>
                  <a:lnTo>
                    <a:pt x="2954" y="1787"/>
                  </a:lnTo>
                  <a:lnTo>
                    <a:pt x="2943" y="1802"/>
                  </a:lnTo>
                  <a:lnTo>
                    <a:pt x="2937" y="1818"/>
                  </a:lnTo>
                  <a:lnTo>
                    <a:pt x="2930" y="1835"/>
                  </a:lnTo>
                  <a:lnTo>
                    <a:pt x="2928" y="1852"/>
                  </a:lnTo>
                  <a:lnTo>
                    <a:pt x="2924" y="1867"/>
                  </a:lnTo>
                  <a:lnTo>
                    <a:pt x="2926" y="1888"/>
                  </a:lnTo>
                  <a:lnTo>
                    <a:pt x="2926" y="1905"/>
                  </a:lnTo>
                  <a:lnTo>
                    <a:pt x="2931" y="1928"/>
                  </a:lnTo>
                  <a:lnTo>
                    <a:pt x="2928" y="1972"/>
                  </a:lnTo>
                  <a:lnTo>
                    <a:pt x="2926" y="2015"/>
                  </a:lnTo>
                  <a:lnTo>
                    <a:pt x="2924" y="2061"/>
                  </a:lnTo>
                  <a:lnTo>
                    <a:pt x="2924" y="2106"/>
                  </a:lnTo>
                  <a:lnTo>
                    <a:pt x="2922" y="2150"/>
                  </a:lnTo>
                  <a:lnTo>
                    <a:pt x="2922" y="2196"/>
                  </a:lnTo>
                  <a:lnTo>
                    <a:pt x="2924" y="2241"/>
                  </a:lnTo>
                  <a:lnTo>
                    <a:pt x="2926" y="2287"/>
                  </a:lnTo>
                  <a:lnTo>
                    <a:pt x="2928" y="2331"/>
                  </a:lnTo>
                  <a:lnTo>
                    <a:pt x="2930" y="2376"/>
                  </a:lnTo>
                  <a:lnTo>
                    <a:pt x="2935" y="2420"/>
                  </a:lnTo>
                  <a:lnTo>
                    <a:pt x="2939" y="2464"/>
                  </a:lnTo>
                  <a:lnTo>
                    <a:pt x="2943" y="2506"/>
                  </a:lnTo>
                  <a:lnTo>
                    <a:pt x="2952" y="2551"/>
                  </a:lnTo>
                  <a:lnTo>
                    <a:pt x="2958" y="2593"/>
                  </a:lnTo>
                  <a:lnTo>
                    <a:pt x="2968" y="2637"/>
                  </a:lnTo>
                  <a:lnTo>
                    <a:pt x="2968" y="2643"/>
                  </a:lnTo>
                  <a:lnTo>
                    <a:pt x="2971" y="2650"/>
                  </a:lnTo>
                  <a:lnTo>
                    <a:pt x="2977" y="2658"/>
                  </a:lnTo>
                  <a:lnTo>
                    <a:pt x="2985" y="2667"/>
                  </a:lnTo>
                  <a:lnTo>
                    <a:pt x="2992" y="2673"/>
                  </a:lnTo>
                  <a:lnTo>
                    <a:pt x="3002" y="2681"/>
                  </a:lnTo>
                  <a:lnTo>
                    <a:pt x="3013" y="2686"/>
                  </a:lnTo>
                  <a:lnTo>
                    <a:pt x="3025" y="2694"/>
                  </a:lnTo>
                  <a:lnTo>
                    <a:pt x="3036" y="2700"/>
                  </a:lnTo>
                  <a:lnTo>
                    <a:pt x="3047" y="2703"/>
                  </a:lnTo>
                  <a:lnTo>
                    <a:pt x="3059" y="2709"/>
                  </a:lnTo>
                  <a:lnTo>
                    <a:pt x="3072" y="2717"/>
                  </a:lnTo>
                  <a:lnTo>
                    <a:pt x="3082" y="2721"/>
                  </a:lnTo>
                  <a:lnTo>
                    <a:pt x="3095" y="2726"/>
                  </a:lnTo>
                  <a:lnTo>
                    <a:pt x="3104" y="2730"/>
                  </a:lnTo>
                  <a:lnTo>
                    <a:pt x="3114" y="2738"/>
                  </a:lnTo>
                  <a:lnTo>
                    <a:pt x="3131" y="2743"/>
                  </a:lnTo>
                  <a:lnTo>
                    <a:pt x="3148" y="2751"/>
                  </a:lnTo>
                  <a:lnTo>
                    <a:pt x="3165" y="2757"/>
                  </a:lnTo>
                  <a:lnTo>
                    <a:pt x="3184" y="2766"/>
                  </a:lnTo>
                  <a:lnTo>
                    <a:pt x="3201" y="2770"/>
                  </a:lnTo>
                  <a:lnTo>
                    <a:pt x="3220" y="2780"/>
                  </a:lnTo>
                  <a:lnTo>
                    <a:pt x="3238" y="2783"/>
                  </a:lnTo>
                  <a:lnTo>
                    <a:pt x="3255" y="2793"/>
                  </a:lnTo>
                  <a:lnTo>
                    <a:pt x="3272" y="2797"/>
                  </a:lnTo>
                  <a:lnTo>
                    <a:pt x="3291" y="2806"/>
                  </a:lnTo>
                  <a:lnTo>
                    <a:pt x="3306" y="2810"/>
                  </a:lnTo>
                  <a:lnTo>
                    <a:pt x="3325" y="2819"/>
                  </a:lnTo>
                  <a:lnTo>
                    <a:pt x="3342" y="2825"/>
                  </a:lnTo>
                  <a:lnTo>
                    <a:pt x="3361" y="2833"/>
                  </a:lnTo>
                  <a:lnTo>
                    <a:pt x="3378" y="2840"/>
                  </a:lnTo>
                  <a:lnTo>
                    <a:pt x="3397" y="2848"/>
                  </a:lnTo>
                  <a:lnTo>
                    <a:pt x="3407" y="2848"/>
                  </a:lnTo>
                  <a:lnTo>
                    <a:pt x="3420" y="2850"/>
                  </a:lnTo>
                  <a:lnTo>
                    <a:pt x="3430" y="2852"/>
                  </a:lnTo>
                  <a:lnTo>
                    <a:pt x="3439" y="2857"/>
                  </a:lnTo>
                  <a:lnTo>
                    <a:pt x="3447" y="2861"/>
                  </a:lnTo>
                  <a:lnTo>
                    <a:pt x="3454" y="2869"/>
                  </a:lnTo>
                  <a:lnTo>
                    <a:pt x="3460" y="2875"/>
                  </a:lnTo>
                  <a:lnTo>
                    <a:pt x="3466" y="2882"/>
                  </a:lnTo>
                  <a:lnTo>
                    <a:pt x="3470" y="2892"/>
                  </a:lnTo>
                  <a:lnTo>
                    <a:pt x="3475" y="2901"/>
                  </a:lnTo>
                  <a:lnTo>
                    <a:pt x="3475" y="2909"/>
                  </a:lnTo>
                  <a:lnTo>
                    <a:pt x="3479" y="2922"/>
                  </a:lnTo>
                  <a:lnTo>
                    <a:pt x="3479" y="2932"/>
                  </a:lnTo>
                  <a:lnTo>
                    <a:pt x="3479" y="2945"/>
                  </a:lnTo>
                  <a:lnTo>
                    <a:pt x="3479" y="2958"/>
                  </a:lnTo>
                  <a:lnTo>
                    <a:pt x="3479" y="2972"/>
                  </a:lnTo>
                  <a:lnTo>
                    <a:pt x="3462" y="2977"/>
                  </a:lnTo>
                  <a:lnTo>
                    <a:pt x="3452" y="2987"/>
                  </a:lnTo>
                  <a:lnTo>
                    <a:pt x="3443" y="2998"/>
                  </a:lnTo>
                  <a:lnTo>
                    <a:pt x="3439" y="3013"/>
                  </a:lnTo>
                  <a:lnTo>
                    <a:pt x="3437" y="3029"/>
                  </a:lnTo>
                  <a:lnTo>
                    <a:pt x="3437" y="3044"/>
                  </a:lnTo>
                  <a:lnTo>
                    <a:pt x="3439" y="3061"/>
                  </a:lnTo>
                  <a:lnTo>
                    <a:pt x="3443" y="3082"/>
                  </a:lnTo>
                  <a:lnTo>
                    <a:pt x="3445" y="3099"/>
                  </a:lnTo>
                  <a:lnTo>
                    <a:pt x="3451" y="3120"/>
                  </a:lnTo>
                  <a:lnTo>
                    <a:pt x="3454" y="3137"/>
                  </a:lnTo>
                  <a:lnTo>
                    <a:pt x="3460" y="3156"/>
                  </a:lnTo>
                  <a:lnTo>
                    <a:pt x="3462" y="3173"/>
                  </a:lnTo>
                  <a:lnTo>
                    <a:pt x="3466" y="3192"/>
                  </a:lnTo>
                  <a:lnTo>
                    <a:pt x="3468" y="3209"/>
                  </a:lnTo>
                  <a:lnTo>
                    <a:pt x="3470" y="3224"/>
                  </a:lnTo>
                  <a:lnTo>
                    <a:pt x="3471" y="3240"/>
                  </a:lnTo>
                  <a:lnTo>
                    <a:pt x="3475" y="3257"/>
                  </a:lnTo>
                  <a:lnTo>
                    <a:pt x="3479" y="3272"/>
                  </a:lnTo>
                  <a:lnTo>
                    <a:pt x="3483" y="3289"/>
                  </a:lnTo>
                  <a:lnTo>
                    <a:pt x="3485" y="3306"/>
                  </a:lnTo>
                  <a:lnTo>
                    <a:pt x="3489" y="3321"/>
                  </a:lnTo>
                  <a:lnTo>
                    <a:pt x="3492" y="3337"/>
                  </a:lnTo>
                  <a:lnTo>
                    <a:pt x="3500" y="3352"/>
                  </a:lnTo>
                  <a:lnTo>
                    <a:pt x="3504" y="3365"/>
                  </a:lnTo>
                  <a:lnTo>
                    <a:pt x="3511" y="3378"/>
                  </a:lnTo>
                  <a:lnTo>
                    <a:pt x="3519" y="3388"/>
                  </a:lnTo>
                  <a:lnTo>
                    <a:pt x="3532" y="3399"/>
                  </a:lnTo>
                  <a:lnTo>
                    <a:pt x="3542" y="3407"/>
                  </a:lnTo>
                  <a:lnTo>
                    <a:pt x="3557" y="3414"/>
                  </a:lnTo>
                  <a:lnTo>
                    <a:pt x="3572" y="3420"/>
                  </a:lnTo>
                  <a:lnTo>
                    <a:pt x="3593" y="3424"/>
                  </a:lnTo>
                  <a:lnTo>
                    <a:pt x="3612" y="3433"/>
                  </a:lnTo>
                  <a:lnTo>
                    <a:pt x="3633" y="3441"/>
                  </a:lnTo>
                  <a:lnTo>
                    <a:pt x="3654" y="3447"/>
                  </a:lnTo>
                  <a:lnTo>
                    <a:pt x="3677" y="3456"/>
                  </a:lnTo>
                  <a:lnTo>
                    <a:pt x="3700" y="3460"/>
                  </a:lnTo>
                  <a:lnTo>
                    <a:pt x="3724" y="3466"/>
                  </a:lnTo>
                  <a:lnTo>
                    <a:pt x="3747" y="3470"/>
                  </a:lnTo>
                  <a:lnTo>
                    <a:pt x="3770" y="3477"/>
                  </a:lnTo>
                  <a:lnTo>
                    <a:pt x="3791" y="3481"/>
                  </a:lnTo>
                  <a:lnTo>
                    <a:pt x="3814" y="3487"/>
                  </a:lnTo>
                  <a:lnTo>
                    <a:pt x="3835" y="3496"/>
                  </a:lnTo>
                  <a:lnTo>
                    <a:pt x="3857" y="3506"/>
                  </a:lnTo>
                  <a:lnTo>
                    <a:pt x="3876" y="3513"/>
                  </a:lnTo>
                  <a:lnTo>
                    <a:pt x="3895" y="3527"/>
                  </a:lnTo>
                  <a:lnTo>
                    <a:pt x="3911" y="3540"/>
                  </a:lnTo>
                  <a:lnTo>
                    <a:pt x="3928" y="3559"/>
                  </a:lnTo>
                  <a:lnTo>
                    <a:pt x="3928" y="3586"/>
                  </a:lnTo>
                  <a:lnTo>
                    <a:pt x="3930" y="3614"/>
                  </a:lnTo>
                  <a:lnTo>
                    <a:pt x="3930" y="3643"/>
                  </a:lnTo>
                  <a:lnTo>
                    <a:pt x="3932" y="3671"/>
                  </a:lnTo>
                  <a:lnTo>
                    <a:pt x="3933" y="3698"/>
                  </a:lnTo>
                  <a:lnTo>
                    <a:pt x="3935" y="3728"/>
                  </a:lnTo>
                  <a:lnTo>
                    <a:pt x="3937" y="3755"/>
                  </a:lnTo>
                  <a:lnTo>
                    <a:pt x="3939" y="3785"/>
                  </a:lnTo>
                  <a:lnTo>
                    <a:pt x="3939" y="3812"/>
                  </a:lnTo>
                  <a:lnTo>
                    <a:pt x="3941" y="3840"/>
                  </a:lnTo>
                  <a:lnTo>
                    <a:pt x="3941" y="3867"/>
                  </a:lnTo>
                  <a:lnTo>
                    <a:pt x="3943" y="3895"/>
                  </a:lnTo>
                  <a:lnTo>
                    <a:pt x="3941" y="3922"/>
                  </a:lnTo>
                  <a:lnTo>
                    <a:pt x="3941" y="3949"/>
                  </a:lnTo>
                  <a:lnTo>
                    <a:pt x="3937" y="3975"/>
                  </a:lnTo>
                  <a:lnTo>
                    <a:pt x="3937" y="4002"/>
                  </a:lnTo>
                  <a:lnTo>
                    <a:pt x="3922" y="4010"/>
                  </a:lnTo>
                  <a:lnTo>
                    <a:pt x="3909" y="4015"/>
                  </a:lnTo>
                  <a:lnTo>
                    <a:pt x="3894" y="4021"/>
                  </a:lnTo>
                  <a:lnTo>
                    <a:pt x="3880" y="4027"/>
                  </a:lnTo>
                  <a:lnTo>
                    <a:pt x="3867" y="4029"/>
                  </a:lnTo>
                  <a:lnTo>
                    <a:pt x="3852" y="4034"/>
                  </a:lnTo>
                  <a:lnTo>
                    <a:pt x="3836" y="4036"/>
                  </a:lnTo>
                  <a:lnTo>
                    <a:pt x="3823" y="4040"/>
                  </a:lnTo>
                  <a:lnTo>
                    <a:pt x="3808" y="4042"/>
                  </a:lnTo>
                  <a:lnTo>
                    <a:pt x="3795" y="4044"/>
                  </a:lnTo>
                  <a:lnTo>
                    <a:pt x="3779" y="4048"/>
                  </a:lnTo>
                  <a:lnTo>
                    <a:pt x="3766" y="4051"/>
                  </a:lnTo>
                  <a:lnTo>
                    <a:pt x="3751" y="4055"/>
                  </a:lnTo>
                  <a:lnTo>
                    <a:pt x="3738" y="4061"/>
                  </a:lnTo>
                  <a:lnTo>
                    <a:pt x="3726" y="4068"/>
                  </a:lnTo>
                  <a:lnTo>
                    <a:pt x="3715" y="4078"/>
                  </a:lnTo>
                  <a:lnTo>
                    <a:pt x="3711" y="4097"/>
                  </a:lnTo>
                  <a:lnTo>
                    <a:pt x="3705" y="4114"/>
                  </a:lnTo>
                  <a:lnTo>
                    <a:pt x="3696" y="4131"/>
                  </a:lnTo>
                  <a:lnTo>
                    <a:pt x="3686" y="4150"/>
                  </a:lnTo>
                  <a:lnTo>
                    <a:pt x="3673" y="4165"/>
                  </a:lnTo>
                  <a:lnTo>
                    <a:pt x="3662" y="4181"/>
                  </a:lnTo>
                  <a:lnTo>
                    <a:pt x="3646" y="4194"/>
                  </a:lnTo>
                  <a:lnTo>
                    <a:pt x="3631" y="4209"/>
                  </a:lnTo>
                  <a:lnTo>
                    <a:pt x="3612" y="4217"/>
                  </a:lnTo>
                  <a:lnTo>
                    <a:pt x="3595" y="4224"/>
                  </a:lnTo>
                  <a:lnTo>
                    <a:pt x="3578" y="4228"/>
                  </a:lnTo>
                  <a:lnTo>
                    <a:pt x="3559" y="4232"/>
                  </a:lnTo>
                  <a:lnTo>
                    <a:pt x="3540" y="4230"/>
                  </a:lnTo>
                  <a:lnTo>
                    <a:pt x="3521" y="4226"/>
                  </a:lnTo>
                  <a:lnTo>
                    <a:pt x="3500" y="4221"/>
                  </a:lnTo>
                  <a:lnTo>
                    <a:pt x="3483" y="4211"/>
                  </a:lnTo>
                  <a:lnTo>
                    <a:pt x="3430" y="4194"/>
                  </a:lnTo>
                  <a:lnTo>
                    <a:pt x="3380" y="4179"/>
                  </a:lnTo>
                  <a:lnTo>
                    <a:pt x="3329" y="4167"/>
                  </a:lnTo>
                  <a:lnTo>
                    <a:pt x="3278" y="4156"/>
                  </a:lnTo>
                  <a:lnTo>
                    <a:pt x="3226" y="4146"/>
                  </a:lnTo>
                  <a:lnTo>
                    <a:pt x="3175" y="4137"/>
                  </a:lnTo>
                  <a:lnTo>
                    <a:pt x="3122" y="4129"/>
                  </a:lnTo>
                  <a:lnTo>
                    <a:pt x="3070" y="4124"/>
                  </a:lnTo>
                  <a:lnTo>
                    <a:pt x="3017" y="4118"/>
                  </a:lnTo>
                  <a:lnTo>
                    <a:pt x="2964" y="4114"/>
                  </a:lnTo>
                  <a:lnTo>
                    <a:pt x="2911" y="4110"/>
                  </a:lnTo>
                  <a:lnTo>
                    <a:pt x="2859" y="4107"/>
                  </a:lnTo>
                  <a:lnTo>
                    <a:pt x="2804" y="4103"/>
                  </a:lnTo>
                  <a:lnTo>
                    <a:pt x="2751" y="4101"/>
                  </a:lnTo>
                  <a:lnTo>
                    <a:pt x="2698" y="4099"/>
                  </a:lnTo>
                  <a:lnTo>
                    <a:pt x="2644" y="4097"/>
                  </a:lnTo>
                  <a:lnTo>
                    <a:pt x="2572" y="4084"/>
                  </a:lnTo>
                  <a:lnTo>
                    <a:pt x="2500" y="4072"/>
                  </a:lnTo>
                  <a:lnTo>
                    <a:pt x="2426" y="4061"/>
                  </a:lnTo>
                  <a:lnTo>
                    <a:pt x="2353" y="4048"/>
                  </a:lnTo>
                  <a:lnTo>
                    <a:pt x="2277" y="4036"/>
                  </a:lnTo>
                  <a:lnTo>
                    <a:pt x="2205" y="4025"/>
                  </a:lnTo>
                  <a:lnTo>
                    <a:pt x="2131" y="4015"/>
                  </a:lnTo>
                  <a:lnTo>
                    <a:pt x="2057" y="4008"/>
                  </a:lnTo>
                  <a:lnTo>
                    <a:pt x="1981" y="3998"/>
                  </a:lnTo>
                  <a:lnTo>
                    <a:pt x="1907" y="3992"/>
                  </a:lnTo>
                  <a:lnTo>
                    <a:pt x="1832" y="3985"/>
                  </a:lnTo>
                  <a:lnTo>
                    <a:pt x="1758" y="3981"/>
                  </a:lnTo>
                  <a:lnTo>
                    <a:pt x="1682" y="3977"/>
                  </a:lnTo>
                  <a:lnTo>
                    <a:pt x="1608" y="3975"/>
                  </a:lnTo>
                  <a:lnTo>
                    <a:pt x="1534" y="3975"/>
                  </a:lnTo>
                  <a:lnTo>
                    <a:pt x="1460" y="3979"/>
                  </a:lnTo>
                  <a:lnTo>
                    <a:pt x="1448" y="3985"/>
                  </a:lnTo>
                  <a:lnTo>
                    <a:pt x="1439" y="3992"/>
                  </a:lnTo>
                  <a:lnTo>
                    <a:pt x="1428" y="3998"/>
                  </a:lnTo>
                  <a:lnTo>
                    <a:pt x="1418" y="4006"/>
                  </a:lnTo>
                  <a:lnTo>
                    <a:pt x="1405" y="4011"/>
                  </a:lnTo>
                  <a:lnTo>
                    <a:pt x="1395" y="4019"/>
                  </a:lnTo>
                  <a:lnTo>
                    <a:pt x="1384" y="4027"/>
                  </a:lnTo>
                  <a:lnTo>
                    <a:pt x="1374" y="4034"/>
                  </a:lnTo>
                  <a:lnTo>
                    <a:pt x="1363" y="4042"/>
                  </a:lnTo>
                  <a:lnTo>
                    <a:pt x="1353" y="4051"/>
                  </a:lnTo>
                  <a:lnTo>
                    <a:pt x="1346" y="4059"/>
                  </a:lnTo>
                  <a:lnTo>
                    <a:pt x="1338" y="4068"/>
                  </a:lnTo>
                  <a:lnTo>
                    <a:pt x="1329" y="4076"/>
                  </a:lnTo>
                  <a:lnTo>
                    <a:pt x="1323" y="4086"/>
                  </a:lnTo>
                  <a:lnTo>
                    <a:pt x="1317" y="4095"/>
                  </a:lnTo>
                  <a:lnTo>
                    <a:pt x="1315" y="4107"/>
                  </a:lnTo>
                  <a:lnTo>
                    <a:pt x="1293" y="4105"/>
                  </a:lnTo>
                  <a:lnTo>
                    <a:pt x="1270" y="4101"/>
                  </a:lnTo>
                  <a:lnTo>
                    <a:pt x="1251" y="4097"/>
                  </a:lnTo>
                  <a:lnTo>
                    <a:pt x="1230" y="4089"/>
                  </a:lnTo>
                  <a:lnTo>
                    <a:pt x="1211" y="4080"/>
                  </a:lnTo>
                  <a:lnTo>
                    <a:pt x="1190" y="4072"/>
                  </a:lnTo>
                  <a:lnTo>
                    <a:pt x="1171" y="4061"/>
                  </a:lnTo>
                  <a:lnTo>
                    <a:pt x="1152" y="4051"/>
                  </a:lnTo>
                  <a:lnTo>
                    <a:pt x="1133" y="4040"/>
                  </a:lnTo>
                  <a:lnTo>
                    <a:pt x="1114" y="4029"/>
                  </a:lnTo>
                  <a:lnTo>
                    <a:pt x="1093" y="4019"/>
                  </a:lnTo>
                  <a:lnTo>
                    <a:pt x="1074" y="4010"/>
                  </a:lnTo>
                  <a:lnTo>
                    <a:pt x="1055" y="3998"/>
                  </a:lnTo>
                  <a:lnTo>
                    <a:pt x="1034" y="3991"/>
                  </a:lnTo>
                  <a:lnTo>
                    <a:pt x="1015" y="3985"/>
                  </a:lnTo>
                  <a:lnTo>
                    <a:pt x="994" y="3979"/>
                  </a:lnTo>
                  <a:lnTo>
                    <a:pt x="965" y="3966"/>
                  </a:lnTo>
                  <a:lnTo>
                    <a:pt x="935" y="3953"/>
                  </a:lnTo>
                  <a:lnTo>
                    <a:pt x="905" y="3939"/>
                  </a:lnTo>
                  <a:lnTo>
                    <a:pt x="876" y="3928"/>
                  </a:lnTo>
                  <a:lnTo>
                    <a:pt x="846" y="3914"/>
                  </a:lnTo>
                  <a:lnTo>
                    <a:pt x="815" y="3903"/>
                  </a:lnTo>
                  <a:lnTo>
                    <a:pt x="783" y="3890"/>
                  </a:lnTo>
                  <a:lnTo>
                    <a:pt x="754" y="3880"/>
                  </a:lnTo>
                  <a:lnTo>
                    <a:pt x="722" y="3867"/>
                  </a:lnTo>
                  <a:lnTo>
                    <a:pt x="692" y="3856"/>
                  </a:lnTo>
                  <a:lnTo>
                    <a:pt x="661" y="3844"/>
                  </a:lnTo>
                  <a:lnTo>
                    <a:pt x="631" y="3833"/>
                  </a:lnTo>
                  <a:lnTo>
                    <a:pt x="599" y="3821"/>
                  </a:lnTo>
                  <a:lnTo>
                    <a:pt x="570" y="3810"/>
                  </a:lnTo>
                  <a:lnTo>
                    <a:pt x="538" y="3799"/>
                  </a:lnTo>
                  <a:lnTo>
                    <a:pt x="511" y="3787"/>
                  </a:lnTo>
                  <a:lnTo>
                    <a:pt x="488" y="3783"/>
                  </a:lnTo>
                  <a:lnTo>
                    <a:pt x="469" y="3778"/>
                  </a:lnTo>
                  <a:lnTo>
                    <a:pt x="454" y="3770"/>
                  </a:lnTo>
                  <a:lnTo>
                    <a:pt x="443" y="3759"/>
                  </a:lnTo>
                  <a:lnTo>
                    <a:pt x="431" y="3743"/>
                  </a:lnTo>
                  <a:lnTo>
                    <a:pt x="426" y="3728"/>
                  </a:lnTo>
                  <a:lnTo>
                    <a:pt x="420" y="3709"/>
                  </a:lnTo>
                  <a:lnTo>
                    <a:pt x="418" y="3690"/>
                  </a:lnTo>
                  <a:lnTo>
                    <a:pt x="416" y="3669"/>
                  </a:lnTo>
                  <a:lnTo>
                    <a:pt x="416" y="3648"/>
                  </a:lnTo>
                  <a:lnTo>
                    <a:pt x="416" y="3626"/>
                  </a:lnTo>
                  <a:lnTo>
                    <a:pt x="416" y="3606"/>
                  </a:lnTo>
                  <a:lnTo>
                    <a:pt x="414" y="3586"/>
                  </a:lnTo>
                  <a:lnTo>
                    <a:pt x="414" y="3565"/>
                  </a:lnTo>
                  <a:lnTo>
                    <a:pt x="414" y="3546"/>
                  </a:lnTo>
                  <a:lnTo>
                    <a:pt x="412" y="3530"/>
                  </a:lnTo>
                  <a:lnTo>
                    <a:pt x="405" y="3462"/>
                  </a:lnTo>
                  <a:lnTo>
                    <a:pt x="399" y="3394"/>
                  </a:lnTo>
                  <a:lnTo>
                    <a:pt x="389" y="3327"/>
                  </a:lnTo>
                  <a:lnTo>
                    <a:pt x="382" y="3262"/>
                  </a:lnTo>
                  <a:lnTo>
                    <a:pt x="370" y="3194"/>
                  </a:lnTo>
                  <a:lnTo>
                    <a:pt x="361" y="3129"/>
                  </a:lnTo>
                  <a:lnTo>
                    <a:pt x="351" y="3061"/>
                  </a:lnTo>
                  <a:lnTo>
                    <a:pt x="340" y="2998"/>
                  </a:lnTo>
                  <a:lnTo>
                    <a:pt x="327" y="2932"/>
                  </a:lnTo>
                  <a:lnTo>
                    <a:pt x="313" y="2865"/>
                  </a:lnTo>
                  <a:lnTo>
                    <a:pt x="300" y="2800"/>
                  </a:lnTo>
                  <a:lnTo>
                    <a:pt x="287" y="2736"/>
                  </a:lnTo>
                  <a:lnTo>
                    <a:pt x="272" y="2671"/>
                  </a:lnTo>
                  <a:lnTo>
                    <a:pt x="258" y="2608"/>
                  </a:lnTo>
                  <a:lnTo>
                    <a:pt x="241" y="2544"/>
                  </a:lnTo>
                  <a:lnTo>
                    <a:pt x="226" y="2479"/>
                  </a:lnTo>
                  <a:lnTo>
                    <a:pt x="205" y="2479"/>
                  </a:lnTo>
                  <a:lnTo>
                    <a:pt x="190" y="2475"/>
                  </a:lnTo>
                  <a:lnTo>
                    <a:pt x="176" y="2466"/>
                  </a:lnTo>
                  <a:lnTo>
                    <a:pt x="167" y="2456"/>
                  </a:lnTo>
                  <a:lnTo>
                    <a:pt x="157" y="2441"/>
                  </a:lnTo>
                  <a:lnTo>
                    <a:pt x="154" y="2426"/>
                  </a:lnTo>
                  <a:lnTo>
                    <a:pt x="150" y="2407"/>
                  </a:lnTo>
                  <a:lnTo>
                    <a:pt x="148" y="2388"/>
                  </a:lnTo>
                  <a:lnTo>
                    <a:pt x="146" y="2365"/>
                  </a:lnTo>
                  <a:lnTo>
                    <a:pt x="146" y="2344"/>
                  </a:lnTo>
                  <a:lnTo>
                    <a:pt x="144" y="2323"/>
                  </a:lnTo>
                  <a:lnTo>
                    <a:pt x="142" y="2302"/>
                  </a:lnTo>
                  <a:lnTo>
                    <a:pt x="140" y="2281"/>
                  </a:lnTo>
                  <a:lnTo>
                    <a:pt x="138" y="2264"/>
                  </a:lnTo>
                  <a:lnTo>
                    <a:pt x="133" y="2245"/>
                  </a:lnTo>
                  <a:lnTo>
                    <a:pt x="129" y="2234"/>
                  </a:lnTo>
                  <a:lnTo>
                    <a:pt x="133" y="2221"/>
                  </a:lnTo>
                  <a:lnTo>
                    <a:pt x="140" y="2211"/>
                  </a:lnTo>
                  <a:lnTo>
                    <a:pt x="150" y="2200"/>
                  </a:lnTo>
                  <a:lnTo>
                    <a:pt x="163" y="2192"/>
                  </a:lnTo>
                  <a:lnTo>
                    <a:pt x="175" y="2183"/>
                  </a:lnTo>
                  <a:lnTo>
                    <a:pt x="190" y="2173"/>
                  </a:lnTo>
                  <a:lnTo>
                    <a:pt x="203" y="2164"/>
                  </a:lnTo>
                  <a:lnTo>
                    <a:pt x="216" y="2156"/>
                  </a:lnTo>
                  <a:lnTo>
                    <a:pt x="228" y="2145"/>
                  </a:lnTo>
                  <a:lnTo>
                    <a:pt x="239" y="2133"/>
                  </a:lnTo>
                  <a:lnTo>
                    <a:pt x="247" y="2124"/>
                  </a:lnTo>
                  <a:lnTo>
                    <a:pt x="252" y="2112"/>
                  </a:lnTo>
                  <a:lnTo>
                    <a:pt x="252" y="2099"/>
                  </a:lnTo>
                  <a:lnTo>
                    <a:pt x="249" y="2086"/>
                  </a:lnTo>
                  <a:lnTo>
                    <a:pt x="239" y="2068"/>
                  </a:lnTo>
                  <a:lnTo>
                    <a:pt x="226" y="2053"/>
                  </a:lnTo>
                  <a:lnTo>
                    <a:pt x="203" y="1998"/>
                  </a:lnTo>
                  <a:lnTo>
                    <a:pt x="182" y="1941"/>
                  </a:lnTo>
                  <a:lnTo>
                    <a:pt x="159" y="1886"/>
                  </a:lnTo>
                  <a:lnTo>
                    <a:pt x="137" y="1831"/>
                  </a:lnTo>
                  <a:lnTo>
                    <a:pt x="112" y="1776"/>
                  </a:lnTo>
                  <a:lnTo>
                    <a:pt x="91" y="1719"/>
                  </a:lnTo>
                  <a:lnTo>
                    <a:pt x="70" y="1662"/>
                  </a:lnTo>
                  <a:lnTo>
                    <a:pt x="53" y="1606"/>
                  </a:lnTo>
                  <a:lnTo>
                    <a:pt x="36" y="1548"/>
                  </a:lnTo>
                  <a:lnTo>
                    <a:pt x="21" y="1489"/>
                  </a:lnTo>
                  <a:lnTo>
                    <a:pt x="11" y="1432"/>
                  </a:lnTo>
                  <a:lnTo>
                    <a:pt x="3" y="1373"/>
                  </a:lnTo>
                  <a:lnTo>
                    <a:pt x="0" y="1312"/>
                  </a:lnTo>
                  <a:lnTo>
                    <a:pt x="3" y="1251"/>
                  </a:lnTo>
                  <a:lnTo>
                    <a:pt x="7" y="1190"/>
                  </a:lnTo>
                  <a:lnTo>
                    <a:pt x="21" y="1131"/>
                  </a:lnTo>
                  <a:lnTo>
                    <a:pt x="40" y="1078"/>
                  </a:lnTo>
                  <a:lnTo>
                    <a:pt x="60" y="1029"/>
                  </a:lnTo>
                  <a:lnTo>
                    <a:pt x="85" y="975"/>
                  </a:lnTo>
                  <a:lnTo>
                    <a:pt x="116" y="924"/>
                  </a:lnTo>
                  <a:lnTo>
                    <a:pt x="142" y="875"/>
                  </a:lnTo>
                  <a:lnTo>
                    <a:pt x="176" y="825"/>
                  </a:lnTo>
                  <a:lnTo>
                    <a:pt x="211" y="779"/>
                  </a:lnTo>
                  <a:lnTo>
                    <a:pt x="249" y="736"/>
                  </a:lnTo>
                  <a:lnTo>
                    <a:pt x="289" y="694"/>
                  </a:lnTo>
                  <a:lnTo>
                    <a:pt x="330" y="656"/>
                  </a:lnTo>
                  <a:lnTo>
                    <a:pt x="374" y="624"/>
                  </a:lnTo>
                  <a:lnTo>
                    <a:pt x="424" y="595"/>
                  </a:lnTo>
                  <a:lnTo>
                    <a:pt x="475" y="570"/>
                  </a:lnTo>
                  <a:lnTo>
                    <a:pt x="528" y="553"/>
                  </a:lnTo>
                  <a:lnTo>
                    <a:pt x="583" y="540"/>
                  </a:lnTo>
                  <a:lnTo>
                    <a:pt x="644" y="534"/>
                  </a:lnTo>
                  <a:lnTo>
                    <a:pt x="652" y="529"/>
                  </a:lnTo>
                  <a:lnTo>
                    <a:pt x="661" y="525"/>
                  </a:lnTo>
                  <a:lnTo>
                    <a:pt x="671" y="521"/>
                  </a:lnTo>
                  <a:lnTo>
                    <a:pt x="680" y="519"/>
                  </a:lnTo>
                  <a:lnTo>
                    <a:pt x="690" y="517"/>
                  </a:lnTo>
                  <a:lnTo>
                    <a:pt x="703" y="515"/>
                  </a:lnTo>
                  <a:lnTo>
                    <a:pt x="713" y="515"/>
                  </a:lnTo>
                  <a:lnTo>
                    <a:pt x="724" y="515"/>
                  </a:lnTo>
                  <a:lnTo>
                    <a:pt x="735" y="515"/>
                  </a:lnTo>
                  <a:lnTo>
                    <a:pt x="745" y="517"/>
                  </a:lnTo>
                  <a:lnTo>
                    <a:pt x="756" y="517"/>
                  </a:lnTo>
                  <a:lnTo>
                    <a:pt x="766" y="521"/>
                  </a:lnTo>
                  <a:lnTo>
                    <a:pt x="777" y="521"/>
                  </a:lnTo>
                  <a:lnTo>
                    <a:pt x="789" y="525"/>
                  </a:lnTo>
                  <a:lnTo>
                    <a:pt x="798" y="527"/>
                  </a:lnTo>
                  <a:lnTo>
                    <a:pt x="810" y="530"/>
                  </a:lnTo>
                  <a:lnTo>
                    <a:pt x="825" y="532"/>
                  </a:lnTo>
                  <a:lnTo>
                    <a:pt x="842" y="538"/>
                  </a:lnTo>
                  <a:lnTo>
                    <a:pt x="859" y="544"/>
                  </a:lnTo>
                  <a:lnTo>
                    <a:pt x="876" y="553"/>
                  </a:lnTo>
                  <a:lnTo>
                    <a:pt x="891" y="561"/>
                  </a:lnTo>
                  <a:lnTo>
                    <a:pt x="908" y="570"/>
                  </a:lnTo>
                  <a:lnTo>
                    <a:pt x="927" y="578"/>
                  </a:lnTo>
                  <a:lnTo>
                    <a:pt x="945" y="589"/>
                  </a:lnTo>
                  <a:lnTo>
                    <a:pt x="960" y="595"/>
                  </a:lnTo>
                  <a:lnTo>
                    <a:pt x="975" y="603"/>
                  </a:lnTo>
                  <a:lnTo>
                    <a:pt x="992" y="608"/>
                  </a:lnTo>
                  <a:lnTo>
                    <a:pt x="1009" y="612"/>
                  </a:lnTo>
                  <a:lnTo>
                    <a:pt x="1024" y="612"/>
                  </a:lnTo>
                  <a:lnTo>
                    <a:pt x="1042" y="612"/>
                  </a:lnTo>
                  <a:lnTo>
                    <a:pt x="1059" y="606"/>
                  </a:lnTo>
                  <a:lnTo>
                    <a:pt x="1076" y="599"/>
                  </a:lnTo>
                  <a:lnTo>
                    <a:pt x="1083" y="570"/>
                  </a:lnTo>
                  <a:lnTo>
                    <a:pt x="1087" y="546"/>
                  </a:lnTo>
                  <a:lnTo>
                    <a:pt x="1083" y="519"/>
                  </a:lnTo>
                  <a:lnTo>
                    <a:pt x="1080" y="494"/>
                  </a:lnTo>
                  <a:lnTo>
                    <a:pt x="1072" y="472"/>
                  </a:lnTo>
                  <a:lnTo>
                    <a:pt x="1064" y="447"/>
                  </a:lnTo>
                  <a:lnTo>
                    <a:pt x="1053" y="422"/>
                  </a:lnTo>
                  <a:lnTo>
                    <a:pt x="1043" y="401"/>
                  </a:lnTo>
                  <a:lnTo>
                    <a:pt x="1032" y="376"/>
                  </a:lnTo>
                  <a:lnTo>
                    <a:pt x="1024" y="352"/>
                  </a:lnTo>
                  <a:lnTo>
                    <a:pt x="1017" y="329"/>
                  </a:lnTo>
                  <a:lnTo>
                    <a:pt x="1015" y="306"/>
                  </a:lnTo>
                  <a:lnTo>
                    <a:pt x="1015" y="281"/>
                  </a:lnTo>
                  <a:lnTo>
                    <a:pt x="1023" y="257"/>
                  </a:lnTo>
                  <a:lnTo>
                    <a:pt x="1034" y="234"/>
                  </a:lnTo>
                  <a:lnTo>
                    <a:pt x="1053" y="209"/>
                  </a:lnTo>
                  <a:lnTo>
                    <a:pt x="1057" y="192"/>
                  </a:lnTo>
                  <a:lnTo>
                    <a:pt x="1061" y="175"/>
                  </a:lnTo>
                  <a:lnTo>
                    <a:pt x="1066" y="158"/>
                  </a:lnTo>
                  <a:lnTo>
                    <a:pt x="1074" y="145"/>
                  </a:lnTo>
                  <a:lnTo>
                    <a:pt x="1083" y="127"/>
                  </a:lnTo>
                  <a:lnTo>
                    <a:pt x="1095" y="114"/>
                  </a:lnTo>
                  <a:lnTo>
                    <a:pt x="1106" y="101"/>
                  </a:lnTo>
                  <a:lnTo>
                    <a:pt x="1120" y="87"/>
                  </a:lnTo>
                  <a:lnTo>
                    <a:pt x="1133" y="74"/>
                  </a:lnTo>
                  <a:lnTo>
                    <a:pt x="1146" y="63"/>
                  </a:lnTo>
                  <a:lnTo>
                    <a:pt x="1159" y="51"/>
                  </a:lnTo>
                  <a:lnTo>
                    <a:pt x="1177" y="40"/>
                  </a:lnTo>
                  <a:lnTo>
                    <a:pt x="1190" y="29"/>
                  </a:lnTo>
                  <a:lnTo>
                    <a:pt x="1205" y="19"/>
                  </a:lnTo>
                  <a:lnTo>
                    <a:pt x="1220" y="10"/>
                  </a:lnTo>
                  <a:lnTo>
                    <a:pt x="123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198" name="Freeform 10"/>
            <p:cNvSpPr>
              <a:spLocks/>
            </p:cNvSpPr>
            <p:nvPr/>
          </p:nvSpPr>
          <p:spPr bwMode="auto">
            <a:xfrm>
              <a:off x="3896" y="1861"/>
              <a:ext cx="88" cy="59"/>
            </a:xfrm>
            <a:custGeom>
              <a:avLst/>
              <a:gdLst>
                <a:gd name="T0" fmla="*/ 0 w 177"/>
                <a:gd name="T1" fmla="*/ 0 h 120"/>
                <a:gd name="T2" fmla="*/ 0 w 177"/>
                <a:gd name="T3" fmla="*/ 0 h 120"/>
                <a:gd name="T4" fmla="*/ 0 w 177"/>
                <a:gd name="T5" fmla="*/ 0 h 120"/>
                <a:gd name="T6" fmla="*/ 0 w 177"/>
                <a:gd name="T7" fmla="*/ 0 h 120"/>
                <a:gd name="T8" fmla="*/ 0 w 177"/>
                <a:gd name="T9" fmla="*/ 0 h 120"/>
                <a:gd name="T10" fmla="*/ 0 w 177"/>
                <a:gd name="T11" fmla="*/ 0 h 120"/>
                <a:gd name="T12" fmla="*/ 0 w 177"/>
                <a:gd name="T13" fmla="*/ 0 h 120"/>
                <a:gd name="T14" fmla="*/ 0 w 177"/>
                <a:gd name="T15" fmla="*/ 0 h 120"/>
                <a:gd name="T16" fmla="*/ 0 w 177"/>
                <a:gd name="T17" fmla="*/ 0 h 120"/>
                <a:gd name="T18" fmla="*/ 0 w 177"/>
                <a:gd name="T19" fmla="*/ 0 h 120"/>
                <a:gd name="T20" fmla="*/ 0 w 177"/>
                <a:gd name="T21" fmla="*/ 0 h 120"/>
                <a:gd name="T22" fmla="*/ 0 w 177"/>
                <a:gd name="T23" fmla="*/ 0 h 120"/>
                <a:gd name="T24" fmla="*/ 0 w 177"/>
                <a:gd name="T25" fmla="*/ 0 h 120"/>
                <a:gd name="T26" fmla="*/ 0 w 177"/>
                <a:gd name="T27" fmla="*/ 0 h 120"/>
                <a:gd name="T28" fmla="*/ 0 w 177"/>
                <a:gd name="T29" fmla="*/ 0 h 120"/>
                <a:gd name="T30" fmla="*/ 0 w 177"/>
                <a:gd name="T31" fmla="*/ 0 h 120"/>
                <a:gd name="T32" fmla="*/ 0 w 177"/>
                <a:gd name="T33" fmla="*/ 0 h 120"/>
                <a:gd name="T34" fmla="*/ 0 w 177"/>
                <a:gd name="T35" fmla="*/ 0 h 120"/>
                <a:gd name="T36" fmla="*/ 0 w 177"/>
                <a:gd name="T37" fmla="*/ 0 h 120"/>
                <a:gd name="T38" fmla="*/ 0 w 177"/>
                <a:gd name="T39" fmla="*/ 0 h 120"/>
                <a:gd name="T40" fmla="*/ 0 w 177"/>
                <a:gd name="T41" fmla="*/ 0 h 120"/>
                <a:gd name="T42" fmla="*/ 0 w 177"/>
                <a:gd name="T43" fmla="*/ 0 h 120"/>
                <a:gd name="T44" fmla="*/ 0 w 177"/>
                <a:gd name="T45" fmla="*/ 0 h 120"/>
                <a:gd name="T46" fmla="*/ 0 w 177"/>
                <a:gd name="T47" fmla="*/ 0 h 120"/>
                <a:gd name="T48" fmla="*/ 0 w 177"/>
                <a:gd name="T49" fmla="*/ 0 h 120"/>
                <a:gd name="T50" fmla="*/ 0 w 177"/>
                <a:gd name="T51" fmla="*/ 0 h 120"/>
                <a:gd name="T52" fmla="*/ 0 w 177"/>
                <a:gd name="T53" fmla="*/ 0 h 120"/>
                <a:gd name="T54" fmla="*/ 0 w 177"/>
                <a:gd name="T55" fmla="*/ 0 h 120"/>
                <a:gd name="T56" fmla="*/ 0 w 177"/>
                <a:gd name="T57" fmla="*/ 0 h 120"/>
                <a:gd name="T58" fmla="*/ 0 w 177"/>
                <a:gd name="T59" fmla="*/ 0 h 120"/>
                <a:gd name="T60" fmla="*/ 0 w 177"/>
                <a:gd name="T61" fmla="*/ 0 h 120"/>
                <a:gd name="T62" fmla="*/ 0 w 177"/>
                <a:gd name="T63" fmla="*/ 0 h 120"/>
                <a:gd name="T64" fmla="*/ 0 w 177"/>
                <a:gd name="T65" fmla="*/ 0 h 120"/>
                <a:gd name="T66" fmla="*/ 0 w 177"/>
                <a:gd name="T67" fmla="*/ 0 h 120"/>
                <a:gd name="T68" fmla="*/ 0 w 177"/>
                <a:gd name="T69" fmla="*/ 0 h 120"/>
                <a:gd name="T70" fmla="*/ 0 w 177"/>
                <a:gd name="T71" fmla="*/ 0 h 120"/>
                <a:gd name="T72" fmla="*/ 0 w 177"/>
                <a:gd name="T73" fmla="*/ 0 h 120"/>
                <a:gd name="T74" fmla="*/ 0 w 177"/>
                <a:gd name="T75" fmla="*/ 0 h 120"/>
                <a:gd name="T76" fmla="*/ 0 w 177"/>
                <a:gd name="T77" fmla="*/ 0 h 120"/>
                <a:gd name="T78" fmla="*/ 0 w 177"/>
                <a:gd name="T79" fmla="*/ 0 h 120"/>
                <a:gd name="T80" fmla="*/ 0 w 177"/>
                <a:gd name="T81" fmla="*/ 0 h 120"/>
                <a:gd name="T82" fmla="*/ 0 w 177"/>
                <a:gd name="T83" fmla="*/ 0 h 120"/>
                <a:gd name="T84" fmla="*/ 0 w 177"/>
                <a:gd name="T85" fmla="*/ 0 h 120"/>
                <a:gd name="T86" fmla="*/ 0 w 177"/>
                <a:gd name="T87" fmla="*/ 0 h 120"/>
                <a:gd name="T88" fmla="*/ 0 w 177"/>
                <a:gd name="T89" fmla="*/ 0 h 120"/>
                <a:gd name="T90" fmla="*/ 0 w 177"/>
                <a:gd name="T91" fmla="*/ 0 h 120"/>
                <a:gd name="T92" fmla="*/ 0 w 177"/>
                <a:gd name="T93" fmla="*/ 0 h 120"/>
                <a:gd name="T94" fmla="*/ 0 w 177"/>
                <a:gd name="T95" fmla="*/ 0 h 120"/>
                <a:gd name="T96" fmla="*/ 0 w 177"/>
                <a:gd name="T97" fmla="*/ 0 h 120"/>
                <a:gd name="T98" fmla="*/ 0 w 177"/>
                <a:gd name="T99" fmla="*/ 0 h 12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77"/>
                <a:gd name="T151" fmla="*/ 0 h 120"/>
                <a:gd name="T152" fmla="*/ 177 w 177"/>
                <a:gd name="T153" fmla="*/ 120 h 12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77" h="120">
                  <a:moveTo>
                    <a:pt x="132" y="0"/>
                  </a:moveTo>
                  <a:lnTo>
                    <a:pt x="141" y="4"/>
                  </a:lnTo>
                  <a:lnTo>
                    <a:pt x="151" y="10"/>
                  </a:lnTo>
                  <a:lnTo>
                    <a:pt x="158" y="17"/>
                  </a:lnTo>
                  <a:lnTo>
                    <a:pt x="166" y="25"/>
                  </a:lnTo>
                  <a:lnTo>
                    <a:pt x="170" y="33"/>
                  </a:lnTo>
                  <a:lnTo>
                    <a:pt x="175" y="42"/>
                  </a:lnTo>
                  <a:lnTo>
                    <a:pt x="175" y="50"/>
                  </a:lnTo>
                  <a:lnTo>
                    <a:pt x="177" y="59"/>
                  </a:lnTo>
                  <a:lnTo>
                    <a:pt x="172" y="67"/>
                  </a:lnTo>
                  <a:lnTo>
                    <a:pt x="160" y="76"/>
                  </a:lnTo>
                  <a:lnTo>
                    <a:pt x="153" y="78"/>
                  </a:lnTo>
                  <a:lnTo>
                    <a:pt x="143" y="82"/>
                  </a:lnTo>
                  <a:lnTo>
                    <a:pt x="130" y="82"/>
                  </a:lnTo>
                  <a:lnTo>
                    <a:pt x="118" y="84"/>
                  </a:lnTo>
                  <a:lnTo>
                    <a:pt x="111" y="86"/>
                  </a:lnTo>
                  <a:lnTo>
                    <a:pt x="103" y="88"/>
                  </a:lnTo>
                  <a:lnTo>
                    <a:pt x="96" y="90"/>
                  </a:lnTo>
                  <a:lnTo>
                    <a:pt x="90" y="91"/>
                  </a:lnTo>
                  <a:lnTo>
                    <a:pt x="80" y="93"/>
                  </a:lnTo>
                  <a:lnTo>
                    <a:pt x="73" y="95"/>
                  </a:lnTo>
                  <a:lnTo>
                    <a:pt x="67" y="99"/>
                  </a:lnTo>
                  <a:lnTo>
                    <a:pt x="59" y="101"/>
                  </a:lnTo>
                  <a:lnTo>
                    <a:pt x="52" y="103"/>
                  </a:lnTo>
                  <a:lnTo>
                    <a:pt x="44" y="105"/>
                  </a:lnTo>
                  <a:lnTo>
                    <a:pt x="37" y="107"/>
                  </a:lnTo>
                  <a:lnTo>
                    <a:pt x="31" y="110"/>
                  </a:lnTo>
                  <a:lnTo>
                    <a:pt x="23" y="112"/>
                  </a:lnTo>
                  <a:lnTo>
                    <a:pt x="14" y="114"/>
                  </a:lnTo>
                  <a:lnTo>
                    <a:pt x="8" y="116"/>
                  </a:lnTo>
                  <a:lnTo>
                    <a:pt x="0" y="120"/>
                  </a:lnTo>
                  <a:lnTo>
                    <a:pt x="0" y="105"/>
                  </a:lnTo>
                  <a:lnTo>
                    <a:pt x="2" y="93"/>
                  </a:lnTo>
                  <a:lnTo>
                    <a:pt x="8" y="82"/>
                  </a:lnTo>
                  <a:lnTo>
                    <a:pt x="16" y="72"/>
                  </a:lnTo>
                  <a:lnTo>
                    <a:pt x="23" y="59"/>
                  </a:lnTo>
                  <a:lnTo>
                    <a:pt x="33" y="50"/>
                  </a:lnTo>
                  <a:lnTo>
                    <a:pt x="37" y="36"/>
                  </a:lnTo>
                  <a:lnTo>
                    <a:pt x="44" y="27"/>
                  </a:lnTo>
                  <a:lnTo>
                    <a:pt x="48" y="33"/>
                  </a:lnTo>
                  <a:lnTo>
                    <a:pt x="52" y="40"/>
                  </a:lnTo>
                  <a:lnTo>
                    <a:pt x="57" y="44"/>
                  </a:lnTo>
                  <a:lnTo>
                    <a:pt x="63" y="48"/>
                  </a:lnTo>
                  <a:lnTo>
                    <a:pt x="75" y="46"/>
                  </a:lnTo>
                  <a:lnTo>
                    <a:pt x="88" y="42"/>
                  </a:lnTo>
                  <a:lnTo>
                    <a:pt x="99" y="33"/>
                  </a:lnTo>
                  <a:lnTo>
                    <a:pt x="111" y="23"/>
                  </a:lnTo>
                  <a:lnTo>
                    <a:pt x="120" y="10"/>
                  </a:lnTo>
                  <a:lnTo>
                    <a:pt x="132" y="0"/>
                  </a:lnTo>
                  <a:close/>
                </a:path>
              </a:pathLst>
            </a:custGeom>
            <a:solidFill>
              <a:srgbClr val="FFD6C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199" name="Freeform 11"/>
            <p:cNvSpPr>
              <a:spLocks/>
            </p:cNvSpPr>
            <p:nvPr/>
          </p:nvSpPr>
          <p:spPr bwMode="auto">
            <a:xfrm>
              <a:off x="3796" y="1902"/>
              <a:ext cx="182" cy="140"/>
            </a:xfrm>
            <a:custGeom>
              <a:avLst/>
              <a:gdLst>
                <a:gd name="T0" fmla="*/ 0 w 365"/>
                <a:gd name="T1" fmla="*/ 0 h 279"/>
                <a:gd name="T2" fmla="*/ 0 w 365"/>
                <a:gd name="T3" fmla="*/ 1 h 279"/>
                <a:gd name="T4" fmla="*/ 0 w 365"/>
                <a:gd name="T5" fmla="*/ 1 h 279"/>
                <a:gd name="T6" fmla="*/ 0 w 365"/>
                <a:gd name="T7" fmla="*/ 1 h 279"/>
                <a:gd name="T8" fmla="*/ 0 w 365"/>
                <a:gd name="T9" fmla="*/ 1 h 279"/>
                <a:gd name="T10" fmla="*/ 0 w 365"/>
                <a:gd name="T11" fmla="*/ 1 h 279"/>
                <a:gd name="T12" fmla="*/ 0 w 365"/>
                <a:gd name="T13" fmla="*/ 1 h 279"/>
                <a:gd name="T14" fmla="*/ 0 w 365"/>
                <a:gd name="T15" fmla="*/ 1 h 279"/>
                <a:gd name="T16" fmla="*/ 0 w 365"/>
                <a:gd name="T17" fmla="*/ 1 h 279"/>
                <a:gd name="T18" fmla="*/ 0 w 365"/>
                <a:gd name="T19" fmla="*/ 1 h 279"/>
                <a:gd name="T20" fmla="*/ 0 w 365"/>
                <a:gd name="T21" fmla="*/ 1 h 279"/>
                <a:gd name="T22" fmla="*/ 0 w 365"/>
                <a:gd name="T23" fmla="*/ 1 h 279"/>
                <a:gd name="T24" fmla="*/ 0 w 365"/>
                <a:gd name="T25" fmla="*/ 1 h 279"/>
                <a:gd name="T26" fmla="*/ 0 w 365"/>
                <a:gd name="T27" fmla="*/ 1 h 279"/>
                <a:gd name="T28" fmla="*/ 0 w 365"/>
                <a:gd name="T29" fmla="*/ 1 h 279"/>
                <a:gd name="T30" fmla="*/ 1 w 365"/>
                <a:gd name="T31" fmla="*/ 1 h 279"/>
                <a:gd name="T32" fmla="*/ 1 w 365"/>
                <a:gd name="T33" fmla="*/ 1 h 279"/>
                <a:gd name="T34" fmla="*/ 1 w 365"/>
                <a:gd name="T35" fmla="*/ 1 h 279"/>
                <a:gd name="T36" fmla="*/ 1 w 365"/>
                <a:gd name="T37" fmla="*/ 1 h 279"/>
                <a:gd name="T38" fmla="*/ 1 w 365"/>
                <a:gd name="T39" fmla="*/ 1 h 279"/>
                <a:gd name="T40" fmla="*/ 1 w 365"/>
                <a:gd name="T41" fmla="*/ 1 h 279"/>
                <a:gd name="T42" fmla="*/ 1 w 365"/>
                <a:gd name="T43" fmla="*/ 1 h 279"/>
                <a:gd name="T44" fmla="*/ 1 w 365"/>
                <a:gd name="T45" fmla="*/ 1 h 279"/>
                <a:gd name="T46" fmla="*/ 1 w 365"/>
                <a:gd name="T47" fmla="*/ 1 h 279"/>
                <a:gd name="T48" fmla="*/ 1 w 365"/>
                <a:gd name="T49" fmla="*/ 1 h 279"/>
                <a:gd name="T50" fmla="*/ 1 w 365"/>
                <a:gd name="T51" fmla="*/ 1 h 279"/>
                <a:gd name="T52" fmla="*/ 1 w 365"/>
                <a:gd name="T53" fmla="*/ 1 h 279"/>
                <a:gd name="T54" fmla="*/ 1 w 365"/>
                <a:gd name="T55" fmla="*/ 1 h 279"/>
                <a:gd name="T56" fmla="*/ 1 w 365"/>
                <a:gd name="T57" fmla="*/ 2 h 279"/>
                <a:gd name="T58" fmla="*/ 1 w 365"/>
                <a:gd name="T59" fmla="*/ 2 h 279"/>
                <a:gd name="T60" fmla="*/ 1 w 365"/>
                <a:gd name="T61" fmla="*/ 2 h 279"/>
                <a:gd name="T62" fmla="*/ 0 w 365"/>
                <a:gd name="T63" fmla="*/ 2 h 279"/>
                <a:gd name="T64" fmla="*/ 0 w 365"/>
                <a:gd name="T65" fmla="*/ 2 h 279"/>
                <a:gd name="T66" fmla="*/ 0 w 365"/>
                <a:gd name="T67" fmla="*/ 2 h 279"/>
                <a:gd name="T68" fmla="*/ 0 w 365"/>
                <a:gd name="T69" fmla="*/ 2 h 279"/>
                <a:gd name="T70" fmla="*/ 0 w 365"/>
                <a:gd name="T71" fmla="*/ 1 h 279"/>
                <a:gd name="T72" fmla="*/ 0 w 365"/>
                <a:gd name="T73" fmla="*/ 1 h 279"/>
                <a:gd name="T74" fmla="*/ 0 w 365"/>
                <a:gd name="T75" fmla="*/ 1 h 279"/>
                <a:gd name="T76" fmla="*/ 0 w 365"/>
                <a:gd name="T77" fmla="*/ 1 h 279"/>
                <a:gd name="T78" fmla="*/ 0 w 365"/>
                <a:gd name="T79" fmla="*/ 1 h 279"/>
                <a:gd name="T80" fmla="*/ 0 w 365"/>
                <a:gd name="T81" fmla="*/ 1 h 279"/>
                <a:gd name="T82" fmla="*/ 0 w 365"/>
                <a:gd name="T83" fmla="*/ 1 h 279"/>
                <a:gd name="T84" fmla="*/ 0 w 365"/>
                <a:gd name="T85" fmla="*/ 1 h 279"/>
                <a:gd name="T86" fmla="*/ 0 w 365"/>
                <a:gd name="T87" fmla="*/ 1 h 279"/>
                <a:gd name="T88" fmla="*/ 0 w 365"/>
                <a:gd name="T89" fmla="*/ 1 h 279"/>
                <a:gd name="T90" fmla="*/ 0 w 365"/>
                <a:gd name="T91" fmla="*/ 1 h 279"/>
                <a:gd name="T92" fmla="*/ 0 w 365"/>
                <a:gd name="T93" fmla="*/ 1 h 279"/>
                <a:gd name="T94" fmla="*/ 0 w 365"/>
                <a:gd name="T95" fmla="*/ 1 h 279"/>
                <a:gd name="T96" fmla="*/ 0 w 365"/>
                <a:gd name="T97" fmla="*/ 1 h 279"/>
                <a:gd name="T98" fmla="*/ 0 w 365"/>
                <a:gd name="T99" fmla="*/ 1 h 279"/>
                <a:gd name="T100" fmla="*/ 0 w 365"/>
                <a:gd name="T101" fmla="*/ 1 h 279"/>
                <a:gd name="T102" fmla="*/ 0 w 365"/>
                <a:gd name="T103" fmla="*/ 1 h 279"/>
                <a:gd name="T104" fmla="*/ 0 w 365"/>
                <a:gd name="T105" fmla="*/ 1 h 279"/>
                <a:gd name="T106" fmla="*/ 0 w 365"/>
                <a:gd name="T107" fmla="*/ 1 h 279"/>
                <a:gd name="T108" fmla="*/ 0 w 365"/>
                <a:gd name="T109" fmla="*/ 1 h 279"/>
                <a:gd name="T110" fmla="*/ 0 w 365"/>
                <a:gd name="T111" fmla="*/ 1 h 279"/>
                <a:gd name="T112" fmla="*/ 0 w 365"/>
                <a:gd name="T113" fmla="*/ 0 h 27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65"/>
                <a:gd name="T172" fmla="*/ 0 h 279"/>
                <a:gd name="T173" fmla="*/ 365 w 365"/>
                <a:gd name="T174" fmla="*/ 279 h 27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65" h="279">
                  <a:moveTo>
                    <a:pt x="42" y="0"/>
                  </a:moveTo>
                  <a:lnTo>
                    <a:pt x="53" y="0"/>
                  </a:lnTo>
                  <a:lnTo>
                    <a:pt x="64" y="6"/>
                  </a:lnTo>
                  <a:lnTo>
                    <a:pt x="74" y="11"/>
                  </a:lnTo>
                  <a:lnTo>
                    <a:pt x="83" y="19"/>
                  </a:lnTo>
                  <a:lnTo>
                    <a:pt x="91" y="25"/>
                  </a:lnTo>
                  <a:lnTo>
                    <a:pt x="101" y="32"/>
                  </a:lnTo>
                  <a:lnTo>
                    <a:pt x="104" y="34"/>
                  </a:lnTo>
                  <a:lnTo>
                    <a:pt x="110" y="34"/>
                  </a:lnTo>
                  <a:lnTo>
                    <a:pt x="118" y="34"/>
                  </a:lnTo>
                  <a:lnTo>
                    <a:pt x="125" y="36"/>
                  </a:lnTo>
                  <a:lnTo>
                    <a:pt x="123" y="40"/>
                  </a:lnTo>
                  <a:lnTo>
                    <a:pt x="121" y="42"/>
                  </a:lnTo>
                  <a:lnTo>
                    <a:pt x="118" y="42"/>
                  </a:lnTo>
                  <a:lnTo>
                    <a:pt x="116" y="44"/>
                  </a:lnTo>
                  <a:lnTo>
                    <a:pt x="116" y="47"/>
                  </a:lnTo>
                  <a:lnTo>
                    <a:pt x="129" y="45"/>
                  </a:lnTo>
                  <a:lnTo>
                    <a:pt x="142" y="47"/>
                  </a:lnTo>
                  <a:lnTo>
                    <a:pt x="150" y="51"/>
                  </a:lnTo>
                  <a:lnTo>
                    <a:pt x="160" y="59"/>
                  </a:lnTo>
                  <a:lnTo>
                    <a:pt x="167" y="65"/>
                  </a:lnTo>
                  <a:lnTo>
                    <a:pt x="175" y="74"/>
                  </a:lnTo>
                  <a:lnTo>
                    <a:pt x="182" y="84"/>
                  </a:lnTo>
                  <a:lnTo>
                    <a:pt x="190" y="95"/>
                  </a:lnTo>
                  <a:lnTo>
                    <a:pt x="196" y="103"/>
                  </a:lnTo>
                  <a:lnTo>
                    <a:pt x="205" y="110"/>
                  </a:lnTo>
                  <a:lnTo>
                    <a:pt x="213" y="118"/>
                  </a:lnTo>
                  <a:lnTo>
                    <a:pt x="222" y="123"/>
                  </a:lnTo>
                  <a:lnTo>
                    <a:pt x="234" y="125"/>
                  </a:lnTo>
                  <a:lnTo>
                    <a:pt x="247" y="125"/>
                  </a:lnTo>
                  <a:lnTo>
                    <a:pt x="262" y="123"/>
                  </a:lnTo>
                  <a:lnTo>
                    <a:pt x="281" y="118"/>
                  </a:lnTo>
                  <a:lnTo>
                    <a:pt x="289" y="108"/>
                  </a:lnTo>
                  <a:lnTo>
                    <a:pt x="298" y="97"/>
                  </a:lnTo>
                  <a:lnTo>
                    <a:pt x="304" y="87"/>
                  </a:lnTo>
                  <a:lnTo>
                    <a:pt x="312" y="76"/>
                  </a:lnTo>
                  <a:lnTo>
                    <a:pt x="319" y="65"/>
                  </a:lnTo>
                  <a:lnTo>
                    <a:pt x="331" y="57"/>
                  </a:lnTo>
                  <a:lnTo>
                    <a:pt x="336" y="55"/>
                  </a:lnTo>
                  <a:lnTo>
                    <a:pt x="344" y="55"/>
                  </a:lnTo>
                  <a:lnTo>
                    <a:pt x="352" y="53"/>
                  </a:lnTo>
                  <a:lnTo>
                    <a:pt x="363" y="57"/>
                  </a:lnTo>
                  <a:lnTo>
                    <a:pt x="365" y="70"/>
                  </a:lnTo>
                  <a:lnTo>
                    <a:pt x="365" y="84"/>
                  </a:lnTo>
                  <a:lnTo>
                    <a:pt x="365" y="97"/>
                  </a:lnTo>
                  <a:lnTo>
                    <a:pt x="365" y="114"/>
                  </a:lnTo>
                  <a:lnTo>
                    <a:pt x="361" y="127"/>
                  </a:lnTo>
                  <a:lnTo>
                    <a:pt x="359" y="142"/>
                  </a:lnTo>
                  <a:lnTo>
                    <a:pt x="355" y="156"/>
                  </a:lnTo>
                  <a:lnTo>
                    <a:pt x="353" y="171"/>
                  </a:lnTo>
                  <a:lnTo>
                    <a:pt x="348" y="184"/>
                  </a:lnTo>
                  <a:lnTo>
                    <a:pt x="342" y="198"/>
                  </a:lnTo>
                  <a:lnTo>
                    <a:pt x="334" y="209"/>
                  </a:lnTo>
                  <a:lnTo>
                    <a:pt x="329" y="222"/>
                  </a:lnTo>
                  <a:lnTo>
                    <a:pt x="321" y="232"/>
                  </a:lnTo>
                  <a:lnTo>
                    <a:pt x="315" y="241"/>
                  </a:lnTo>
                  <a:lnTo>
                    <a:pt x="306" y="251"/>
                  </a:lnTo>
                  <a:lnTo>
                    <a:pt x="298" y="260"/>
                  </a:lnTo>
                  <a:lnTo>
                    <a:pt x="289" y="264"/>
                  </a:lnTo>
                  <a:lnTo>
                    <a:pt x="281" y="270"/>
                  </a:lnTo>
                  <a:lnTo>
                    <a:pt x="274" y="274"/>
                  </a:lnTo>
                  <a:lnTo>
                    <a:pt x="266" y="277"/>
                  </a:lnTo>
                  <a:lnTo>
                    <a:pt x="256" y="279"/>
                  </a:lnTo>
                  <a:lnTo>
                    <a:pt x="249" y="279"/>
                  </a:lnTo>
                  <a:lnTo>
                    <a:pt x="239" y="279"/>
                  </a:lnTo>
                  <a:lnTo>
                    <a:pt x="232" y="279"/>
                  </a:lnTo>
                  <a:lnTo>
                    <a:pt x="220" y="276"/>
                  </a:lnTo>
                  <a:lnTo>
                    <a:pt x="211" y="274"/>
                  </a:lnTo>
                  <a:lnTo>
                    <a:pt x="201" y="268"/>
                  </a:lnTo>
                  <a:lnTo>
                    <a:pt x="192" y="262"/>
                  </a:lnTo>
                  <a:lnTo>
                    <a:pt x="182" y="255"/>
                  </a:lnTo>
                  <a:lnTo>
                    <a:pt x="173" y="247"/>
                  </a:lnTo>
                  <a:lnTo>
                    <a:pt x="163" y="236"/>
                  </a:lnTo>
                  <a:lnTo>
                    <a:pt x="154" y="226"/>
                  </a:lnTo>
                  <a:lnTo>
                    <a:pt x="150" y="217"/>
                  </a:lnTo>
                  <a:lnTo>
                    <a:pt x="146" y="207"/>
                  </a:lnTo>
                  <a:lnTo>
                    <a:pt x="142" y="198"/>
                  </a:lnTo>
                  <a:lnTo>
                    <a:pt x="139" y="188"/>
                  </a:lnTo>
                  <a:lnTo>
                    <a:pt x="135" y="177"/>
                  </a:lnTo>
                  <a:lnTo>
                    <a:pt x="133" y="169"/>
                  </a:lnTo>
                  <a:lnTo>
                    <a:pt x="131" y="158"/>
                  </a:lnTo>
                  <a:lnTo>
                    <a:pt x="129" y="148"/>
                  </a:lnTo>
                  <a:lnTo>
                    <a:pt x="125" y="137"/>
                  </a:lnTo>
                  <a:lnTo>
                    <a:pt x="121" y="127"/>
                  </a:lnTo>
                  <a:lnTo>
                    <a:pt x="118" y="120"/>
                  </a:lnTo>
                  <a:lnTo>
                    <a:pt x="114" y="114"/>
                  </a:lnTo>
                  <a:lnTo>
                    <a:pt x="108" y="104"/>
                  </a:lnTo>
                  <a:lnTo>
                    <a:pt x="102" y="101"/>
                  </a:lnTo>
                  <a:lnTo>
                    <a:pt x="97" y="95"/>
                  </a:lnTo>
                  <a:lnTo>
                    <a:pt x="89" y="93"/>
                  </a:lnTo>
                  <a:lnTo>
                    <a:pt x="85" y="103"/>
                  </a:lnTo>
                  <a:lnTo>
                    <a:pt x="87" y="114"/>
                  </a:lnTo>
                  <a:lnTo>
                    <a:pt x="87" y="123"/>
                  </a:lnTo>
                  <a:lnTo>
                    <a:pt x="91" y="133"/>
                  </a:lnTo>
                  <a:lnTo>
                    <a:pt x="93" y="142"/>
                  </a:lnTo>
                  <a:lnTo>
                    <a:pt x="93" y="152"/>
                  </a:lnTo>
                  <a:lnTo>
                    <a:pt x="91" y="161"/>
                  </a:lnTo>
                  <a:lnTo>
                    <a:pt x="87" y="173"/>
                  </a:lnTo>
                  <a:lnTo>
                    <a:pt x="76" y="169"/>
                  </a:lnTo>
                  <a:lnTo>
                    <a:pt x="66" y="163"/>
                  </a:lnTo>
                  <a:lnTo>
                    <a:pt x="53" y="156"/>
                  </a:lnTo>
                  <a:lnTo>
                    <a:pt x="44" y="150"/>
                  </a:lnTo>
                  <a:lnTo>
                    <a:pt x="32" y="137"/>
                  </a:lnTo>
                  <a:lnTo>
                    <a:pt x="25" y="127"/>
                  </a:lnTo>
                  <a:lnTo>
                    <a:pt x="15" y="114"/>
                  </a:lnTo>
                  <a:lnTo>
                    <a:pt x="9" y="101"/>
                  </a:lnTo>
                  <a:lnTo>
                    <a:pt x="4" y="87"/>
                  </a:lnTo>
                  <a:lnTo>
                    <a:pt x="0" y="72"/>
                  </a:lnTo>
                  <a:lnTo>
                    <a:pt x="0" y="57"/>
                  </a:lnTo>
                  <a:lnTo>
                    <a:pt x="2" y="44"/>
                  </a:lnTo>
                  <a:lnTo>
                    <a:pt x="6" y="30"/>
                  </a:lnTo>
                  <a:lnTo>
                    <a:pt x="13" y="19"/>
                  </a:lnTo>
                  <a:lnTo>
                    <a:pt x="26" y="7"/>
                  </a:lnTo>
                  <a:lnTo>
                    <a:pt x="42" y="0"/>
                  </a:lnTo>
                  <a:close/>
                </a:path>
              </a:pathLst>
            </a:custGeom>
            <a:solidFill>
              <a:srgbClr val="FFD6C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00" name="Freeform 12"/>
            <p:cNvSpPr>
              <a:spLocks/>
            </p:cNvSpPr>
            <p:nvPr/>
          </p:nvSpPr>
          <p:spPr bwMode="auto">
            <a:xfrm>
              <a:off x="4072" y="1949"/>
              <a:ext cx="67" cy="58"/>
            </a:xfrm>
            <a:custGeom>
              <a:avLst/>
              <a:gdLst>
                <a:gd name="T0" fmla="*/ 0 w 135"/>
                <a:gd name="T1" fmla="*/ 0 h 116"/>
                <a:gd name="T2" fmla="*/ 0 w 135"/>
                <a:gd name="T3" fmla="*/ 1 h 116"/>
                <a:gd name="T4" fmla="*/ 0 w 135"/>
                <a:gd name="T5" fmla="*/ 1 h 116"/>
                <a:gd name="T6" fmla="*/ 0 w 135"/>
                <a:gd name="T7" fmla="*/ 1 h 116"/>
                <a:gd name="T8" fmla="*/ 0 w 135"/>
                <a:gd name="T9" fmla="*/ 1 h 116"/>
                <a:gd name="T10" fmla="*/ 0 w 135"/>
                <a:gd name="T11" fmla="*/ 1 h 116"/>
                <a:gd name="T12" fmla="*/ 0 w 135"/>
                <a:gd name="T13" fmla="*/ 1 h 116"/>
                <a:gd name="T14" fmla="*/ 0 w 135"/>
                <a:gd name="T15" fmla="*/ 1 h 116"/>
                <a:gd name="T16" fmla="*/ 0 w 135"/>
                <a:gd name="T17" fmla="*/ 1 h 116"/>
                <a:gd name="T18" fmla="*/ 0 w 135"/>
                <a:gd name="T19" fmla="*/ 1 h 116"/>
                <a:gd name="T20" fmla="*/ 0 w 135"/>
                <a:gd name="T21" fmla="*/ 1 h 116"/>
                <a:gd name="T22" fmla="*/ 0 w 135"/>
                <a:gd name="T23" fmla="*/ 1 h 116"/>
                <a:gd name="T24" fmla="*/ 0 w 135"/>
                <a:gd name="T25" fmla="*/ 1 h 116"/>
                <a:gd name="T26" fmla="*/ 0 w 135"/>
                <a:gd name="T27" fmla="*/ 1 h 116"/>
                <a:gd name="T28" fmla="*/ 0 w 135"/>
                <a:gd name="T29" fmla="*/ 1 h 116"/>
                <a:gd name="T30" fmla="*/ 0 w 135"/>
                <a:gd name="T31" fmla="*/ 1 h 116"/>
                <a:gd name="T32" fmla="*/ 0 w 135"/>
                <a:gd name="T33" fmla="*/ 1 h 116"/>
                <a:gd name="T34" fmla="*/ 0 w 135"/>
                <a:gd name="T35" fmla="*/ 1 h 116"/>
                <a:gd name="T36" fmla="*/ 0 w 135"/>
                <a:gd name="T37" fmla="*/ 1 h 116"/>
                <a:gd name="T38" fmla="*/ 0 w 135"/>
                <a:gd name="T39" fmla="*/ 1 h 116"/>
                <a:gd name="T40" fmla="*/ 0 w 135"/>
                <a:gd name="T41" fmla="*/ 1 h 116"/>
                <a:gd name="T42" fmla="*/ 0 w 135"/>
                <a:gd name="T43" fmla="*/ 1 h 116"/>
                <a:gd name="T44" fmla="*/ 0 w 135"/>
                <a:gd name="T45" fmla="*/ 1 h 116"/>
                <a:gd name="T46" fmla="*/ 0 w 135"/>
                <a:gd name="T47" fmla="*/ 1 h 116"/>
                <a:gd name="T48" fmla="*/ 0 w 135"/>
                <a:gd name="T49" fmla="*/ 1 h 116"/>
                <a:gd name="T50" fmla="*/ 0 w 135"/>
                <a:gd name="T51" fmla="*/ 1 h 116"/>
                <a:gd name="T52" fmla="*/ 0 w 135"/>
                <a:gd name="T53" fmla="*/ 1 h 116"/>
                <a:gd name="T54" fmla="*/ 0 w 135"/>
                <a:gd name="T55" fmla="*/ 1 h 116"/>
                <a:gd name="T56" fmla="*/ 0 w 135"/>
                <a:gd name="T57" fmla="*/ 1 h 116"/>
                <a:gd name="T58" fmla="*/ 0 w 135"/>
                <a:gd name="T59" fmla="*/ 1 h 116"/>
                <a:gd name="T60" fmla="*/ 0 w 135"/>
                <a:gd name="T61" fmla="*/ 1 h 116"/>
                <a:gd name="T62" fmla="*/ 0 w 135"/>
                <a:gd name="T63" fmla="*/ 1 h 116"/>
                <a:gd name="T64" fmla="*/ 0 w 135"/>
                <a:gd name="T65" fmla="*/ 1 h 116"/>
                <a:gd name="T66" fmla="*/ 0 w 135"/>
                <a:gd name="T67" fmla="*/ 1 h 116"/>
                <a:gd name="T68" fmla="*/ 0 w 135"/>
                <a:gd name="T69" fmla="*/ 1 h 116"/>
                <a:gd name="T70" fmla="*/ 0 w 135"/>
                <a:gd name="T71" fmla="*/ 1 h 116"/>
                <a:gd name="T72" fmla="*/ 0 w 135"/>
                <a:gd name="T73" fmla="*/ 0 h 116"/>
                <a:gd name="T74" fmla="*/ 0 w 135"/>
                <a:gd name="T75" fmla="*/ 0 h 11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5"/>
                <a:gd name="T115" fmla="*/ 0 h 116"/>
                <a:gd name="T116" fmla="*/ 135 w 135"/>
                <a:gd name="T117" fmla="*/ 116 h 11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5" h="116">
                  <a:moveTo>
                    <a:pt x="8" y="0"/>
                  </a:moveTo>
                  <a:lnTo>
                    <a:pt x="15" y="6"/>
                  </a:lnTo>
                  <a:lnTo>
                    <a:pt x="23" y="11"/>
                  </a:lnTo>
                  <a:lnTo>
                    <a:pt x="33" y="19"/>
                  </a:lnTo>
                  <a:lnTo>
                    <a:pt x="40" y="27"/>
                  </a:lnTo>
                  <a:lnTo>
                    <a:pt x="46" y="34"/>
                  </a:lnTo>
                  <a:lnTo>
                    <a:pt x="55" y="40"/>
                  </a:lnTo>
                  <a:lnTo>
                    <a:pt x="63" y="48"/>
                  </a:lnTo>
                  <a:lnTo>
                    <a:pt x="71" y="55"/>
                  </a:lnTo>
                  <a:lnTo>
                    <a:pt x="76" y="63"/>
                  </a:lnTo>
                  <a:lnTo>
                    <a:pt x="86" y="68"/>
                  </a:lnTo>
                  <a:lnTo>
                    <a:pt x="93" y="76"/>
                  </a:lnTo>
                  <a:lnTo>
                    <a:pt x="101" y="84"/>
                  </a:lnTo>
                  <a:lnTo>
                    <a:pt x="109" y="91"/>
                  </a:lnTo>
                  <a:lnTo>
                    <a:pt x="116" y="99"/>
                  </a:lnTo>
                  <a:lnTo>
                    <a:pt x="126" y="106"/>
                  </a:lnTo>
                  <a:lnTo>
                    <a:pt x="135" y="116"/>
                  </a:lnTo>
                  <a:lnTo>
                    <a:pt x="128" y="112"/>
                  </a:lnTo>
                  <a:lnTo>
                    <a:pt x="122" y="108"/>
                  </a:lnTo>
                  <a:lnTo>
                    <a:pt x="112" y="105"/>
                  </a:lnTo>
                  <a:lnTo>
                    <a:pt x="107" y="103"/>
                  </a:lnTo>
                  <a:lnTo>
                    <a:pt x="99" y="97"/>
                  </a:lnTo>
                  <a:lnTo>
                    <a:pt x="91" y="95"/>
                  </a:lnTo>
                  <a:lnTo>
                    <a:pt x="82" y="91"/>
                  </a:lnTo>
                  <a:lnTo>
                    <a:pt x="76" y="89"/>
                  </a:lnTo>
                  <a:lnTo>
                    <a:pt x="67" y="84"/>
                  </a:lnTo>
                  <a:lnTo>
                    <a:pt x="59" y="80"/>
                  </a:lnTo>
                  <a:lnTo>
                    <a:pt x="50" y="76"/>
                  </a:lnTo>
                  <a:lnTo>
                    <a:pt x="42" y="72"/>
                  </a:lnTo>
                  <a:lnTo>
                    <a:pt x="29" y="63"/>
                  </a:lnTo>
                  <a:lnTo>
                    <a:pt x="17" y="53"/>
                  </a:lnTo>
                  <a:lnTo>
                    <a:pt x="6" y="42"/>
                  </a:lnTo>
                  <a:lnTo>
                    <a:pt x="0" y="30"/>
                  </a:lnTo>
                  <a:lnTo>
                    <a:pt x="0" y="21"/>
                  </a:lnTo>
                  <a:lnTo>
                    <a:pt x="0" y="13"/>
                  </a:lnTo>
                  <a:lnTo>
                    <a:pt x="2" y="6"/>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01" name="Freeform 13"/>
            <p:cNvSpPr>
              <a:spLocks/>
            </p:cNvSpPr>
            <p:nvPr/>
          </p:nvSpPr>
          <p:spPr bwMode="auto">
            <a:xfrm>
              <a:off x="3272" y="1996"/>
              <a:ext cx="413" cy="720"/>
            </a:xfrm>
            <a:custGeom>
              <a:avLst/>
              <a:gdLst>
                <a:gd name="T0" fmla="*/ 3 w 825"/>
                <a:gd name="T1" fmla="*/ 0 h 1441"/>
                <a:gd name="T2" fmla="*/ 4 w 825"/>
                <a:gd name="T3" fmla="*/ 0 h 1441"/>
                <a:gd name="T4" fmla="*/ 4 w 825"/>
                <a:gd name="T5" fmla="*/ 0 h 1441"/>
                <a:gd name="T6" fmla="*/ 3 w 825"/>
                <a:gd name="T7" fmla="*/ 0 h 1441"/>
                <a:gd name="T8" fmla="*/ 3 w 825"/>
                <a:gd name="T9" fmla="*/ 0 h 1441"/>
                <a:gd name="T10" fmla="*/ 3 w 825"/>
                <a:gd name="T11" fmla="*/ 0 h 1441"/>
                <a:gd name="T12" fmla="*/ 3 w 825"/>
                <a:gd name="T13" fmla="*/ 0 h 1441"/>
                <a:gd name="T14" fmla="*/ 3 w 825"/>
                <a:gd name="T15" fmla="*/ 0 h 1441"/>
                <a:gd name="T16" fmla="*/ 3 w 825"/>
                <a:gd name="T17" fmla="*/ 0 h 1441"/>
                <a:gd name="T18" fmla="*/ 3 w 825"/>
                <a:gd name="T19" fmla="*/ 0 h 1441"/>
                <a:gd name="T20" fmla="*/ 3 w 825"/>
                <a:gd name="T21" fmla="*/ 1 h 1441"/>
                <a:gd name="T22" fmla="*/ 3 w 825"/>
                <a:gd name="T23" fmla="*/ 1 h 1441"/>
                <a:gd name="T24" fmla="*/ 2 w 825"/>
                <a:gd name="T25" fmla="*/ 0 h 1441"/>
                <a:gd name="T26" fmla="*/ 3 w 825"/>
                <a:gd name="T27" fmla="*/ 1 h 1441"/>
                <a:gd name="T28" fmla="*/ 3 w 825"/>
                <a:gd name="T29" fmla="*/ 1 h 1441"/>
                <a:gd name="T30" fmla="*/ 2 w 825"/>
                <a:gd name="T31" fmla="*/ 1 h 1441"/>
                <a:gd name="T32" fmla="*/ 2 w 825"/>
                <a:gd name="T33" fmla="*/ 0 h 1441"/>
                <a:gd name="T34" fmla="*/ 2 w 825"/>
                <a:gd name="T35" fmla="*/ 1 h 1441"/>
                <a:gd name="T36" fmla="*/ 2 w 825"/>
                <a:gd name="T37" fmla="*/ 1 h 1441"/>
                <a:gd name="T38" fmla="*/ 2 w 825"/>
                <a:gd name="T39" fmla="*/ 1 h 1441"/>
                <a:gd name="T40" fmla="*/ 2 w 825"/>
                <a:gd name="T41" fmla="*/ 1 h 1441"/>
                <a:gd name="T42" fmla="*/ 2 w 825"/>
                <a:gd name="T43" fmla="*/ 1 h 1441"/>
                <a:gd name="T44" fmla="*/ 2 w 825"/>
                <a:gd name="T45" fmla="*/ 1 h 1441"/>
                <a:gd name="T46" fmla="*/ 2 w 825"/>
                <a:gd name="T47" fmla="*/ 1 h 1441"/>
                <a:gd name="T48" fmla="*/ 2 w 825"/>
                <a:gd name="T49" fmla="*/ 1 h 1441"/>
                <a:gd name="T50" fmla="*/ 2 w 825"/>
                <a:gd name="T51" fmla="*/ 1 h 1441"/>
                <a:gd name="T52" fmla="*/ 2 w 825"/>
                <a:gd name="T53" fmla="*/ 1 h 1441"/>
                <a:gd name="T54" fmla="*/ 2 w 825"/>
                <a:gd name="T55" fmla="*/ 2 h 1441"/>
                <a:gd name="T56" fmla="*/ 2 w 825"/>
                <a:gd name="T57" fmla="*/ 2 h 1441"/>
                <a:gd name="T58" fmla="*/ 2 w 825"/>
                <a:gd name="T59" fmla="*/ 2 h 1441"/>
                <a:gd name="T60" fmla="*/ 1 w 825"/>
                <a:gd name="T61" fmla="*/ 1 h 1441"/>
                <a:gd name="T62" fmla="*/ 1 w 825"/>
                <a:gd name="T63" fmla="*/ 2 h 1441"/>
                <a:gd name="T64" fmla="*/ 2 w 825"/>
                <a:gd name="T65" fmla="*/ 2 h 1441"/>
                <a:gd name="T66" fmla="*/ 2 w 825"/>
                <a:gd name="T67" fmla="*/ 2 h 1441"/>
                <a:gd name="T68" fmla="*/ 2 w 825"/>
                <a:gd name="T69" fmla="*/ 2 h 1441"/>
                <a:gd name="T70" fmla="*/ 1 w 825"/>
                <a:gd name="T71" fmla="*/ 2 h 1441"/>
                <a:gd name="T72" fmla="*/ 1 w 825"/>
                <a:gd name="T73" fmla="*/ 2 h 1441"/>
                <a:gd name="T74" fmla="*/ 2 w 825"/>
                <a:gd name="T75" fmla="*/ 3 h 1441"/>
                <a:gd name="T76" fmla="*/ 1 w 825"/>
                <a:gd name="T77" fmla="*/ 2 h 1441"/>
                <a:gd name="T78" fmla="*/ 1 w 825"/>
                <a:gd name="T79" fmla="*/ 2 h 1441"/>
                <a:gd name="T80" fmla="*/ 1 w 825"/>
                <a:gd name="T81" fmla="*/ 2 h 1441"/>
                <a:gd name="T82" fmla="*/ 2 w 825"/>
                <a:gd name="T83" fmla="*/ 3 h 1441"/>
                <a:gd name="T84" fmla="*/ 1 w 825"/>
                <a:gd name="T85" fmla="*/ 3 h 1441"/>
                <a:gd name="T86" fmla="*/ 1 w 825"/>
                <a:gd name="T87" fmla="*/ 3 h 1441"/>
                <a:gd name="T88" fmla="*/ 1 w 825"/>
                <a:gd name="T89" fmla="*/ 3 h 1441"/>
                <a:gd name="T90" fmla="*/ 2 w 825"/>
                <a:gd name="T91" fmla="*/ 4 h 1441"/>
                <a:gd name="T92" fmla="*/ 2 w 825"/>
                <a:gd name="T93" fmla="*/ 4 h 1441"/>
                <a:gd name="T94" fmla="*/ 1 w 825"/>
                <a:gd name="T95" fmla="*/ 4 h 1441"/>
                <a:gd name="T96" fmla="*/ 1 w 825"/>
                <a:gd name="T97" fmla="*/ 4 h 1441"/>
                <a:gd name="T98" fmla="*/ 1 w 825"/>
                <a:gd name="T99" fmla="*/ 4 h 1441"/>
                <a:gd name="T100" fmla="*/ 2 w 825"/>
                <a:gd name="T101" fmla="*/ 4 h 1441"/>
                <a:gd name="T102" fmla="*/ 1 w 825"/>
                <a:gd name="T103" fmla="*/ 4 h 1441"/>
                <a:gd name="T104" fmla="*/ 1 w 825"/>
                <a:gd name="T105" fmla="*/ 2 h 1441"/>
                <a:gd name="T106" fmla="*/ 1 w 825"/>
                <a:gd name="T107" fmla="*/ 2 h 1441"/>
                <a:gd name="T108" fmla="*/ 1 w 825"/>
                <a:gd name="T109" fmla="*/ 3 h 1441"/>
                <a:gd name="T110" fmla="*/ 1 w 825"/>
                <a:gd name="T111" fmla="*/ 5 h 1441"/>
                <a:gd name="T112" fmla="*/ 1 w 825"/>
                <a:gd name="T113" fmla="*/ 5 h 1441"/>
                <a:gd name="T114" fmla="*/ 1 w 825"/>
                <a:gd name="T115" fmla="*/ 4 h 1441"/>
                <a:gd name="T116" fmla="*/ 1 w 825"/>
                <a:gd name="T117" fmla="*/ 4 h 1441"/>
                <a:gd name="T118" fmla="*/ 1 w 825"/>
                <a:gd name="T119" fmla="*/ 3 h 1441"/>
                <a:gd name="T120" fmla="*/ 1 w 825"/>
                <a:gd name="T121" fmla="*/ 2 h 1441"/>
                <a:gd name="T122" fmla="*/ 2 w 825"/>
                <a:gd name="T123" fmla="*/ 0 h 144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825"/>
                <a:gd name="T187" fmla="*/ 0 h 1441"/>
                <a:gd name="T188" fmla="*/ 825 w 825"/>
                <a:gd name="T189" fmla="*/ 1441 h 144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825" h="1441">
                  <a:moveTo>
                    <a:pt x="595" y="0"/>
                  </a:moveTo>
                  <a:lnTo>
                    <a:pt x="611" y="0"/>
                  </a:lnTo>
                  <a:lnTo>
                    <a:pt x="626" y="0"/>
                  </a:lnTo>
                  <a:lnTo>
                    <a:pt x="641" y="0"/>
                  </a:lnTo>
                  <a:lnTo>
                    <a:pt x="658" y="2"/>
                  </a:lnTo>
                  <a:lnTo>
                    <a:pt x="675" y="2"/>
                  </a:lnTo>
                  <a:lnTo>
                    <a:pt x="692" y="2"/>
                  </a:lnTo>
                  <a:lnTo>
                    <a:pt x="707" y="2"/>
                  </a:lnTo>
                  <a:lnTo>
                    <a:pt x="725" y="4"/>
                  </a:lnTo>
                  <a:lnTo>
                    <a:pt x="740" y="4"/>
                  </a:lnTo>
                  <a:lnTo>
                    <a:pt x="757" y="6"/>
                  </a:lnTo>
                  <a:lnTo>
                    <a:pt x="770" y="10"/>
                  </a:lnTo>
                  <a:lnTo>
                    <a:pt x="784" y="13"/>
                  </a:lnTo>
                  <a:lnTo>
                    <a:pt x="793" y="19"/>
                  </a:lnTo>
                  <a:lnTo>
                    <a:pt x="806" y="29"/>
                  </a:lnTo>
                  <a:lnTo>
                    <a:pt x="816" y="38"/>
                  </a:lnTo>
                  <a:lnTo>
                    <a:pt x="825" y="52"/>
                  </a:lnTo>
                  <a:lnTo>
                    <a:pt x="820" y="59"/>
                  </a:lnTo>
                  <a:lnTo>
                    <a:pt x="816" y="69"/>
                  </a:lnTo>
                  <a:lnTo>
                    <a:pt x="814" y="80"/>
                  </a:lnTo>
                  <a:lnTo>
                    <a:pt x="814" y="90"/>
                  </a:lnTo>
                  <a:lnTo>
                    <a:pt x="812" y="101"/>
                  </a:lnTo>
                  <a:lnTo>
                    <a:pt x="810" y="112"/>
                  </a:lnTo>
                  <a:lnTo>
                    <a:pt x="808" y="122"/>
                  </a:lnTo>
                  <a:lnTo>
                    <a:pt x="806" y="133"/>
                  </a:lnTo>
                  <a:lnTo>
                    <a:pt x="797" y="128"/>
                  </a:lnTo>
                  <a:lnTo>
                    <a:pt x="791" y="124"/>
                  </a:lnTo>
                  <a:lnTo>
                    <a:pt x="784" y="122"/>
                  </a:lnTo>
                  <a:lnTo>
                    <a:pt x="776" y="120"/>
                  </a:lnTo>
                  <a:lnTo>
                    <a:pt x="761" y="116"/>
                  </a:lnTo>
                  <a:lnTo>
                    <a:pt x="747" y="116"/>
                  </a:lnTo>
                  <a:lnTo>
                    <a:pt x="740" y="114"/>
                  </a:lnTo>
                  <a:lnTo>
                    <a:pt x="734" y="112"/>
                  </a:lnTo>
                  <a:lnTo>
                    <a:pt x="725" y="112"/>
                  </a:lnTo>
                  <a:lnTo>
                    <a:pt x="719" y="110"/>
                  </a:lnTo>
                  <a:lnTo>
                    <a:pt x="704" y="105"/>
                  </a:lnTo>
                  <a:lnTo>
                    <a:pt x="692" y="99"/>
                  </a:lnTo>
                  <a:lnTo>
                    <a:pt x="688" y="112"/>
                  </a:lnTo>
                  <a:lnTo>
                    <a:pt x="690" y="126"/>
                  </a:lnTo>
                  <a:lnTo>
                    <a:pt x="692" y="135"/>
                  </a:lnTo>
                  <a:lnTo>
                    <a:pt x="700" y="148"/>
                  </a:lnTo>
                  <a:lnTo>
                    <a:pt x="707" y="156"/>
                  </a:lnTo>
                  <a:lnTo>
                    <a:pt x="713" y="167"/>
                  </a:lnTo>
                  <a:lnTo>
                    <a:pt x="719" y="177"/>
                  </a:lnTo>
                  <a:lnTo>
                    <a:pt x="725" y="188"/>
                  </a:lnTo>
                  <a:lnTo>
                    <a:pt x="711" y="185"/>
                  </a:lnTo>
                  <a:lnTo>
                    <a:pt x="702" y="175"/>
                  </a:lnTo>
                  <a:lnTo>
                    <a:pt x="694" y="169"/>
                  </a:lnTo>
                  <a:lnTo>
                    <a:pt x="690" y="166"/>
                  </a:lnTo>
                  <a:lnTo>
                    <a:pt x="683" y="162"/>
                  </a:lnTo>
                  <a:lnTo>
                    <a:pt x="677" y="162"/>
                  </a:lnTo>
                  <a:lnTo>
                    <a:pt x="681" y="175"/>
                  </a:lnTo>
                  <a:lnTo>
                    <a:pt x="685" y="190"/>
                  </a:lnTo>
                  <a:lnTo>
                    <a:pt x="688" y="196"/>
                  </a:lnTo>
                  <a:lnTo>
                    <a:pt x="690" y="202"/>
                  </a:lnTo>
                  <a:lnTo>
                    <a:pt x="692" y="211"/>
                  </a:lnTo>
                  <a:lnTo>
                    <a:pt x="694" y="219"/>
                  </a:lnTo>
                  <a:lnTo>
                    <a:pt x="681" y="211"/>
                  </a:lnTo>
                  <a:lnTo>
                    <a:pt x="669" y="202"/>
                  </a:lnTo>
                  <a:lnTo>
                    <a:pt x="658" y="192"/>
                  </a:lnTo>
                  <a:lnTo>
                    <a:pt x="650" y="181"/>
                  </a:lnTo>
                  <a:lnTo>
                    <a:pt x="641" y="169"/>
                  </a:lnTo>
                  <a:lnTo>
                    <a:pt x="630" y="160"/>
                  </a:lnTo>
                  <a:lnTo>
                    <a:pt x="618" y="152"/>
                  </a:lnTo>
                  <a:lnTo>
                    <a:pt x="607" y="150"/>
                  </a:lnTo>
                  <a:lnTo>
                    <a:pt x="611" y="162"/>
                  </a:lnTo>
                  <a:lnTo>
                    <a:pt x="616" y="175"/>
                  </a:lnTo>
                  <a:lnTo>
                    <a:pt x="618" y="188"/>
                  </a:lnTo>
                  <a:lnTo>
                    <a:pt x="622" y="202"/>
                  </a:lnTo>
                  <a:lnTo>
                    <a:pt x="622" y="215"/>
                  </a:lnTo>
                  <a:lnTo>
                    <a:pt x="624" y="228"/>
                  </a:lnTo>
                  <a:lnTo>
                    <a:pt x="624" y="236"/>
                  </a:lnTo>
                  <a:lnTo>
                    <a:pt x="626" y="244"/>
                  </a:lnTo>
                  <a:lnTo>
                    <a:pt x="626" y="251"/>
                  </a:lnTo>
                  <a:lnTo>
                    <a:pt x="628" y="261"/>
                  </a:lnTo>
                  <a:lnTo>
                    <a:pt x="616" y="259"/>
                  </a:lnTo>
                  <a:lnTo>
                    <a:pt x="609" y="253"/>
                  </a:lnTo>
                  <a:lnTo>
                    <a:pt x="601" y="247"/>
                  </a:lnTo>
                  <a:lnTo>
                    <a:pt x="595" y="244"/>
                  </a:lnTo>
                  <a:lnTo>
                    <a:pt x="591" y="253"/>
                  </a:lnTo>
                  <a:lnTo>
                    <a:pt x="590" y="264"/>
                  </a:lnTo>
                  <a:lnTo>
                    <a:pt x="590" y="276"/>
                  </a:lnTo>
                  <a:lnTo>
                    <a:pt x="591" y="287"/>
                  </a:lnTo>
                  <a:lnTo>
                    <a:pt x="593" y="299"/>
                  </a:lnTo>
                  <a:lnTo>
                    <a:pt x="597" y="310"/>
                  </a:lnTo>
                  <a:lnTo>
                    <a:pt x="601" y="318"/>
                  </a:lnTo>
                  <a:lnTo>
                    <a:pt x="607" y="329"/>
                  </a:lnTo>
                  <a:lnTo>
                    <a:pt x="595" y="321"/>
                  </a:lnTo>
                  <a:lnTo>
                    <a:pt x="588" y="314"/>
                  </a:lnTo>
                  <a:lnTo>
                    <a:pt x="578" y="308"/>
                  </a:lnTo>
                  <a:lnTo>
                    <a:pt x="572" y="301"/>
                  </a:lnTo>
                  <a:lnTo>
                    <a:pt x="565" y="293"/>
                  </a:lnTo>
                  <a:lnTo>
                    <a:pt x="557" y="287"/>
                  </a:lnTo>
                  <a:lnTo>
                    <a:pt x="552" y="280"/>
                  </a:lnTo>
                  <a:lnTo>
                    <a:pt x="546" y="274"/>
                  </a:lnTo>
                  <a:lnTo>
                    <a:pt x="538" y="264"/>
                  </a:lnTo>
                  <a:lnTo>
                    <a:pt x="534" y="259"/>
                  </a:lnTo>
                  <a:lnTo>
                    <a:pt x="527" y="251"/>
                  </a:lnTo>
                  <a:lnTo>
                    <a:pt x="523" y="244"/>
                  </a:lnTo>
                  <a:lnTo>
                    <a:pt x="517" y="236"/>
                  </a:lnTo>
                  <a:lnTo>
                    <a:pt x="512" y="228"/>
                  </a:lnTo>
                  <a:lnTo>
                    <a:pt x="508" y="221"/>
                  </a:lnTo>
                  <a:lnTo>
                    <a:pt x="502" y="215"/>
                  </a:lnTo>
                  <a:lnTo>
                    <a:pt x="502" y="223"/>
                  </a:lnTo>
                  <a:lnTo>
                    <a:pt x="502" y="230"/>
                  </a:lnTo>
                  <a:lnTo>
                    <a:pt x="504" y="240"/>
                  </a:lnTo>
                  <a:lnTo>
                    <a:pt x="508" y="251"/>
                  </a:lnTo>
                  <a:lnTo>
                    <a:pt x="508" y="261"/>
                  </a:lnTo>
                  <a:lnTo>
                    <a:pt x="512" y="270"/>
                  </a:lnTo>
                  <a:lnTo>
                    <a:pt x="512" y="280"/>
                  </a:lnTo>
                  <a:lnTo>
                    <a:pt x="515" y="291"/>
                  </a:lnTo>
                  <a:lnTo>
                    <a:pt x="519" y="301"/>
                  </a:lnTo>
                  <a:lnTo>
                    <a:pt x="521" y="310"/>
                  </a:lnTo>
                  <a:lnTo>
                    <a:pt x="525" y="318"/>
                  </a:lnTo>
                  <a:lnTo>
                    <a:pt x="529" y="329"/>
                  </a:lnTo>
                  <a:lnTo>
                    <a:pt x="531" y="337"/>
                  </a:lnTo>
                  <a:lnTo>
                    <a:pt x="534" y="346"/>
                  </a:lnTo>
                  <a:lnTo>
                    <a:pt x="536" y="354"/>
                  </a:lnTo>
                  <a:lnTo>
                    <a:pt x="538" y="363"/>
                  </a:lnTo>
                  <a:lnTo>
                    <a:pt x="527" y="358"/>
                  </a:lnTo>
                  <a:lnTo>
                    <a:pt x="517" y="354"/>
                  </a:lnTo>
                  <a:lnTo>
                    <a:pt x="508" y="350"/>
                  </a:lnTo>
                  <a:lnTo>
                    <a:pt x="498" y="342"/>
                  </a:lnTo>
                  <a:lnTo>
                    <a:pt x="489" y="333"/>
                  </a:lnTo>
                  <a:lnTo>
                    <a:pt x="479" y="325"/>
                  </a:lnTo>
                  <a:lnTo>
                    <a:pt x="472" y="316"/>
                  </a:lnTo>
                  <a:lnTo>
                    <a:pt x="466" y="306"/>
                  </a:lnTo>
                  <a:lnTo>
                    <a:pt x="458" y="295"/>
                  </a:lnTo>
                  <a:lnTo>
                    <a:pt x="451" y="283"/>
                  </a:lnTo>
                  <a:lnTo>
                    <a:pt x="445" y="272"/>
                  </a:lnTo>
                  <a:lnTo>
                    <a:pt x="439" y="261"/>
                  </a:lnTo>
                  <a:lnTo>
                    <a:pt x="434" y="249"/>
                  </a:lnTo>
                  <a:lnTo>
                    <a:pt x="430" y="240"/>
                  </a:lnTo>
                  <a:lnTo>
                    <a:pt x="426" y="228"/>
                  </a:lnTo>
                  <a:lnTo>
                    <a:pt x="422" y="221"/>
                  </a:lnTo>
                  <a:lnTo>
                    <a:pt x="415" y="236"/>
                  </a:lnTo>
                  <a:lnTo>
                    <a:pt x="413" y="251"/>
                  </a:lnTo>
                  <a:lnTo>
                    <a:pt x="411" y="264"/>
                  </a:lnTo>
                  <a:lnTo>
                    <a:pt x="413" y="280"/>
                  </a:lnTo>
                  <a:lnTo>
                    <a:pt x="417" y="293"/>
                  </a:lnTo>
                  <a:lnTo>
                    <a:pt x="422" y="308"/>
                  </a:lnTo>
                  <a:lnTo>
                    <a:pt x="426" y="321"/>
                  </a:lnTo>
                  <a:lnTo>
                    <a:pt x="436" y="337"/>
                  </a:lnTo>
                  <a:lnTo>
                    <a:pt x="441" y="348"/>
                  </a:lnTo>
                  <a:lnTo>
                    <a:pt x="449" y="363"/>
                  </a:lnTo>
                  <a:lnTo>
                    <a:pt x="456" y="377"/>
                  </a:lnTo>
                  <a:lnTo>
                    <a:pt x="464" y="390"/>
                  </a:lnTo>
                  <a:lnTo>
                    <a:pt x="470" y="403"/>
                  </a:lnTo>
                  <a:lnTo>
                    <a:pt x="476" y="418"/>
                  </a:lnTo>
                  <a:lnTo>
                    <a:pt x="479" y="434"/>
                  </a:lnTo>
                  <a:lnTo>
                    <a:pt x="485" y="449"/>
                  </a:lnTo>
                  <a:lnTo>
                    <a:pt x="476" y="441"/>
                  </a:lnTo>
                  <a:lnTo>
                    <a:pt x="468" y="434"/>
                  </a:lnTo>
                  <a:lnTo>
                    <a:pt x="460" y="426"/>
                  </a:lnTo>
                  <a:lnTo>
                    <a:pt x="453" y="418"/>
                  </a:lnTo>
                  <a:lnTo>
                    <a:pt x="443" y="411"/>
                  </a:lnTo>
                  <a:lnTo>
                    <a:pt x="436" y="403"/>
                  </a:lnTo>
                  <a:lnTo>
                    <a:pt x="426" y="394"/>
                  </a:lnTo>
                  <a:lnTo>
                    <a:pt x="418" y="388"/>
                  </a:lnTo>
                  <a:lnTo>
                    <a:pt x="409" y="380"/>
                  </a:lnTo>
                  <a:lnTo>
                    <a:pt x="401" y="373"/>
                  </a:lnTo>
                  <a:lnTo>
                    <a:pt x="394" y="363"/>
                  </a:lnTo>
                  <a:lnTo>
                    <a:pt x="388" y="356"/>
                  </a:lnTo>
                  <a:lnTo>
                    <a:pt x="382" y="346"/>
                  </a:lnTo>
                  <a:lnTo>
                    <a:pt x="377" y="337"/>
                  </a:lnTo>
                  <a:lnTo>
                    <a:pt x="373" y="327"/>
                  </a:lnTo>
                  <a:lnTo>
                    <a:pt x="369" y="318"/>
                  </a:lnTo>
                  <a:lnTo>
                    <a:pt x="363" y="327"/>
                  </a:lnTo>
                  <a:lnTo>
                    <a:pt x="360" y="337"/>
                  </a:lnTo>
                  <a:lnTo>
                    <a:pt x="358" y="344"/>
                  </a:lnTo>
                  <a:lnTo>
                    <a:pt x="358" y="354"/>
                  </a:lnTo>
                  <a:lnTo>
                    <a:pt x="358" y="363"/>
                  </a:lnTo>
                  <a:lnTo>
                    <a:pt x="361" y="371"/>
                  </a:lnTo>
                  <a:lnTo>
                    <a:pt x="365" y="379"/>
                  </a:lnTo>
                  <a:lnTo>
                    <a:pt x="369" y="386"/>
                  </a:lnTo>
                  <a:lnTo>
                    <a:pt x="380" y="399"/>
                  </a:lnTo>
                  <a:lnTo>
                    <a:pt x="392" y="415"/>
                  </a:lnTo>
                  <a:lnTo>
                    <a:pt x="405" y="428"/>
                  </a:lnTo>
                  <a:lnTo>
                    <a:pt x="417" y="443"/>
                  </a:lnTo>
                  <a:lnTo>
                    <a:pt x="426" y="456"/>
                  </a:lnTo>
                  <a:lnTo>
                    <a:pt x="436" y="470"/>
                  </a:lnTo>
                  <a:lnTo>
                    <a:pt x="436" y="479"/>
                  </a:lnTo>
                  <a:lnTo>
                    <a:pt x="437" y="487"/>
                  </a:lnTo>
                  <a:lnTo>
                    <a:pt x="437" y="494"/>
                  </a:lnTo>
                  <a:lnTo>
                    <a:pt x="437" y="504"/>
                  </a:lnTo>
                  <a:lnTo>
                    <a:pt x="426" y="496"/>
                  </a:lnTo>
                  <a:lnTo>
                    <a:pt x="415" y="493"/>
                  </a:lnTo>
                  <a:lnTo>
                    <a:pt x="405" y="485"/>
                  </a:lnTo>
                  <a:lnTo>
                    <a:pt x="394" y="477"/>
                  </a:lnTo>
                  <a:lnTo>
                    <a:pt x="382" y="468"/>
                  </a:lnTo>
                  <a:lnTo>
                    <a:pt x="373" y="460"/>
                  </a:lnTo>
                  <a:lnTo>
                    <a:pt x="363" y="451"/>
                  </a:lnTo>
                  <a:lnTo>
                    <a:pt x="356" y="441"/>
                  </a:lnTo>
                  <a:lnTo>
                    <a:pt x="346" y="430"/>
                  </a:lnTo>
                  <a:lnTo>
                    <a:pt x="337" y="422"/>
                  </a:lnTo>
                  <a:lnTo>
                    <a:pt x="329" y="411"/>
                  </a:lnTo>
                  <a:lnTo>
                    <a:pt x="322" y="401"/>
                  </a:lnTo>
                  <a:lnTo>
                    <a:pt x="314" y="390"/>
                  </a:lnTo>
                  <a:lnTo>
                    <a:pt x="308" y="380"/>
                  </a:lnTo>
                  <a:lnTo>
                    <a:pt x="302" y="373"/>
                  </a:lnTo>
                  <a:lnTo>
                    <a:pt x="297" y="363"/>
                  </a:lnTo>
                  <a:lnTo>
                    <a:pt x="293" y="371"/>
                  </a:lnTo>
                  <a:lnTo>
                    <a:pt x="291" y="379"/>
                  </a:lnTo>
                  <a:lnTo>
                    <a:pt x="289" y="386"/>
                  </a:lnTo>
                  <a:lnTo>
                    <a:pt x="289" y="394"/>
                  </a:lnTo>
                  <a:lnTo>
                    <a:pt x="289" y="403"/>
                  </a:lnTo>
                  <a:lnTo>
                    <a:pt x="293" y="411"/>
                  </a:lnTo>
                  <a:lnTo>
                    <a:pt x="297" y="418"/>
                  </a:lnTo>
                  <a:lnTo>
                    <a:pt x="301" y="426"/>
                  </a:lnTo>
                  <a:lnTo>
                    <a:pt x="302" y="434"/>
                  </a:lnTo>
                  <a:lnTo>
                    <a:pt x="306" y="441"/>
                  </a:lnTo>
                  <a:lnTo>
                    <a:pt x="312" y="449"/>
                  </a:lnTo>
                  <a:lnTo>
                    <a:pt x="318" y="456"/>
                  </a:lnTo>
                  <a:lnTo>
                    <a:pt x="322" y="462"/>
                  </a:lnTo>
                  <a:lnTo>
                    <a:pt x="327" y="470"/>
                  </a:lnTo>
                  <a:lnTo>
                    <a:pt x="333" y="477"/>
                  </a:lnTo>
                  <a:lnTo>
                    <a:pt x="337" y="485"/>
                  </a:lnTo>
                  <a:lnTo>
                    <a:pt x="341" y="493"/>
                  </a:lnTo>
                  <a:lnTo>
                    <a:pt x="342" y="500"/>
                  </a:lnTo>
                  <a:lnTo>
                    <a:pt x="344" y="508"/>
                  </a:lnTo>
                  <a:lnTo>
                    <a:pt x="346" y="515"/>
                  </a:lnTo>
                  <a:lnTo>
                    <a:pt x="346" y="523"/>
                  </a:lnTo>
                  <a:lnTo>
                    <a:pt x="346" y="531"/>
                  </a:lnTo>
                  <a:lnTo>
                    <a:pt x="342" y="538"/>
                  </a:lnTo>
                  <a:lnTo>
                    <a:pt x="341" y="546"/>
                  </a:lnTo>
                  <a:lnTo>
                    <a:pt x="350" y="555"/>
                  </a:lnTo>
                  <a:lnTo>
                    <a:pt x="358" y="567"/>
                  </a:lnTo>
                  <a:lnTo>
                    <a:pt x="360" y="571"/>
                  </a:lnTo>
                  <a:lnTo>
                    <a:pt x="361" y="578"/>
                  </a:lnTo>
                  <a:lnTo>
                    <a:pt x="361" y="584"/>
                  </a:lnTo>
                  <a:lnTo>
                    <a:pt x="363" y="591"/>
                  </a:lnTo>
                  <a:lnTo>
                    <a:pt x="354" y="584"/>
                  </a:lnTo>
                  <a:lnTo>
                    <a:pt x="344" y="578"/>
                  </a:lnTo>
                  <a:lnTo>
                    <a:pt x="335" y="569"/>
                  </a:lnTo>
                  <a:lnTo>
                    <a:pt x="325" y="563"/>
                  </a:lnTo>
                  <a:lnTo>
                    <a:pt x="316" y="555"/>
                  </a:lnTo>
                  <a:lnTo>
                    <a:pt x="306" y="548"/>
                  </a:lnTo>
                  <a:lnTo>
                    <a:pt x="297" y="540"/>
                  </a:lnTo>
                  <a:lnTo>
                    <a:pt x="289" y="533"/>
                  </a:lnTo>
                  <a:lnTo>
                    <a:pt x="280" y="525"/>
                  </a:lnTo>
                  <a:lnTo>
                    <a:pt x="270" y="515"/>
                  </a:lnTo>
                  <a:lnTo>
                    <a:pt x="263" y="506"/>
                  </a:lnTo>
                  <a:lnTo>
                    <a:pt x="255" y="498"/>
                  </a:lnTo>
                  <a:lnTo>
                    <a:pt x="247" y="489"/>
                  </a:lnTo>
                  <a:lnTo>
                    <a:pt x="240" y="479"/>
                  </a:lnTo>
                  <a:lnTo>
                    <a:pt x="234" y="470"/>
                  </a:lnTo>
                  <a:lnTo>
                    <a:pt x="230" y="462"/>
                  </a:lnTo>
                  <a:lnTo>
                    <a:pt x="217" y="462"/>
                  </a:lnTo>
                  <a:lnTo>
                    <a:pt x="207" y="462"/>
                  </a:lnTo>
                  <a:lnTo>
                    <a:pt x="209" y="472"/>
                  </a:lnTo>
                  <a:lnTo>
                    <a:pt x="213" y="481"/>
                  </a:lnTo>
                  <a:lnTo>
                    <a:pt x="215" y="491"/>
                  </a:lnTo>
                  <a:lnTo>
                    <a:pt x="219" y="502"/>
                  </a:lnTo>
                  <a:lnTo>
                    <a:pt x="221" y="510"/>
                  </a:lnTo>
                  <a:lnTo>
                    <a:pt x="226" y="519"/>
                  </a:lnTo>
                  <a:lnTo>
                    <a:pt x="230" y="527"/>
                  </a:lnTo>
                  <a:lnTo>
                    <a:pt x="234" y="536"/>
                  </a:lnTo>
                  <a:lnTo>
                    <a:pt x="240" y="542"/>
                  </a:lnTo>
                  <a:lnTo>
                    <a:pt x="244" y="552"/>
                  </a:lnTo>
                  <a:lnTo>
                    <a:pt x="247" y="559"/>
                  </a:lnTo>
                  <a:lnTo>
                    <a:pt x="253" y="567"/>
                  </a:lnTo>
                  <a:lnTo>
                    <a:pt x="259" y="574"/>
                  </a:lnTo>
                  <a:lnTo>
                    <a:pt x="266" y="582"/>
                  </a:lnTo>
                  <a:lnTo>
                    <a:pt x="270" y="588"/>
                  </a:lnTo>
                  <a:lnTo>
                    <a:pt x="280" y="595"/>
                  </a:lnTo>
                  <a:lnTo>
                    <a:pt x="285" y="601"/>
                  </a:lnTo>
                  <a:lnTo>
                    <a:pt x="293" y="605"/>
                  </a:lnTo>
                  <a:lnTo>
                    <a:pt x="301" y="610"/>
                  </a:lnTo>
                  <a:lnTo>
                    <a:pt x="310" y="616"/>
                  </a:lnTo>
                  <a:lnTo>
                    <a:pt x="318" y="620"/>
                  </a:lnTo>
                  <a:lnTo>
                    <a:pt x="329" y="626"/>
                  </a:lnTo>
                  <a:lnTo>
                    <a:pt x="337" y="629"/>
                  </a:lnTo>
                  <a:lnTo>
                    <a:pt x="350" y="635"/>
                  </a:lnTo>
                  <a:lnTo>
                    <a:pt x="342" y="641"/>
                  </a:lnTo>
                  <a:lnTo>
                    <a:pt x="333" y="647"/>
                  </a:lnTo>
                  <a:lnTo>
                    <a:pt x="323" y="650"/>
                  </a:lnTo>
                  <a:lnTo>
                    <a:pt x="316" y="652"/>
                  </a:lnTo>
                  <a:lnTo>
                    <a:pt x="304" y="650"/>
                  </a:lnTo>
                  <a:lnTo>
                    <a:pt x="295" y="648"/>
                  </a:lnTo>
                  <a:lnTo>
                    <a:pt x="283" y="643"/>
                  </a:lnTo>
                  <a:lnTo>
                    <a:pt x="274" y="637"/>
                  </a:lnTo>
                  <a:lnTo>
                    <a:pt x="261" y="628"/>
                  </a:lnTo>
                  <a:lnTo>
                    <a:pt x="247" y="618"/>
                  </a:lnTo>
                  <a:lnTo>
                    <a:pt x="234" y="607"/>
                  </a:lnTo>
                  <a:lnTo>
                    <a:pt x="223" y="597"/>
                  </a:lnTo>
                  <a:lnTo>
                    <a:pt x="211" y="582"/>
                  </a:lnTo>
                  <a:lnTo>
                    <a:pt x="200" y="571"/>
                  </a:lnTo>
                  <a:lnTo>
                    <a:pt x="190" y="559"/>
                  </a:lnTo>
                  <a:lnTo>
                    <a:pt x="185" y="546"/>
                  </a:lnTo>
                  <a:lnTo>
                    <a:pt x="181" y="565"/>
                  </a:lnTo>
                  <a:lnTo>
                    <a:pt x="181" y="584"/>
                  </a:lnTo>
                  <a:lnTo>
                    <a:pt x="183" y="601"/>
                  </a:lnTo>
                  <a:lnTo>
                    <a:pt x="190" y="618"/>
                  </a:lnTo>
                  <a:lnTo>
                    <a:pt x="196" y="633"/>
                  </a:lnTo>
                  <a:lnTo>
                    <a:pt x="207" y="650"/>
                  </a:lnTo>
                  <a:lnTo>
                    <a:pt x="219" y="666"/>
                  </a:lnTo>
                  <a:lnTo>
                    <a:pt x="234" y="681"/>
                  </a:lnTo>
                  <a:lnTo>
                    <a:pt x="245" y="694"/>
                  </a:lnTo>
                  <a:lnTo>
                    <a:pt x="261" y="711"/>
                  </a:lnTo>
                  <a:lnTo>
                    <a:pt x="274" y="725"/>
                  </a:lnTo>
                  <a:lnTo>
                    <a:pt x="287" y="740"/>
                  </a:lnTo>
                  <a:lnTo>
                    <a:pt x="301" y="755"/>
                  </a:lnTo>
                  <a:lnTo>
                    <a:pt x="312" y="770"/>
                  </a:lnTo>
                  <a:lnTo>
                    <a:pt x="322" y="785"/>
                  </a:lnTo>
                  <a:lnTo>
                    <a:pt x="331" y="802"/>
                  </a:lnTo>
                  <a:lnTo>
                    <a:pt x="316" y="795"/>
                  </a:lnTo>
                  <a:lnTo>
                    <a:pt x="302" y="789"/>
                  </a:lnTo>
                  <a:lnTo>
                    <a:pt x="287" y="780"/>
                  </a:lnTo>
                  <a:lnTo>
                    <a:pt x="274" y="770"/>
                  </a:lnTo>
                  <a:lnTo>
                    <a:pt x="259" y="761"/>
                  </a:lnTo>
                  <a:lnTo>
                    <a:pt x="245" y="751"/>
                  </a:lnTo>
                  <a:lnTo>
                    <a:pt x="230" y="740"/>
                  </a:lnTo>
                  <a:lnTo>
                    <a:pt x="219" y="728"/>
                  </a:lnTo>
                  <a:lnTo>
                    <a:pt x="204" y="715"/>
                  </a:lnTo>
                  <a:lnTo>
                    <a:pt x="190" y="704"/>
                  </a:lnTo>
                  <a:lnTo>
                    <a:pt x="179" y="690"/>
                  </a:lnTo>
                  <a:lnTo>
                    <a:pt x="167" y="677"/>
                  </a:lnTo>
                  <a:lnTo>
                    <a:pt x="154" y="662"/>
                  </a:lnTo>
                  <a:lnTo>
                    <a:pt x="145" y="647"/>
                  </a:lnTo>
                  <a:lnTo>
                    <a:pt x="133" y="631"/>
                  </a:lnTo>
                  <a:lnTo>
                    <a:pt x="126" y="618"/>
                  </a:lnTo>
                  <a:lnTo>
                    <a:pt x="126" y="641"/>
                  </a:lnTo>
                  <a:lnTo>
                    <a:pt x="131" y="664"/>
                  </a:lnTo>
                  <a:lnTo>
                    <a:pt x="137" y="686"/>
                  </a:lnTo>
                  <a:lnTo>
                    <a:pt x="148" y="707"/>
                  </a:lnTo>
                  <a:lnTo>
                    <a:pt x="160" y="726"/>
                  </a:lnTo>
                  <a:lnTo>
                    <a:pt x="173" y="747"/>
                  </a:lnTo>
                  <a:lnTo>
                    <a:pt x="187" y="766"/>
                  </a:lnTo>
                  <a:lnTo>
                    <a:pt x="204" y="785"/>
                  </a:lnTo>
                  <a:lnTo>
                    <a:pt x="217" y="802"/>
                  </a:lnTo>
                  <a:lnTo>
                    <a:pt x="232" y="823"/>
                  </a:lnTo>
                  <a:lnTo>
                    <a:pt x="245" y="840"/>
                  </a:lnTo>
                  <a:lnTo>
                    <a:pt x="261" y="861"/>
                  </a:lnTo>
                  <a:lnTo>
                    <a:pt x="270" y="879"/>
                  </a:lnTo>
                  <a:lnTo>
                    <a:pt x="283" y="899"/>
                  </a:lnTo>
                  <a:lnTo>
                    <a:pt x="289" y="918"/>
                  </a:lnTo>
                  <a:lnTo>
                    <a:pt x="297" y="941"/>
                  </a:lnTo>
                  <a:lnTo>
                    <a:pt x="285" y="932"/>
                  </a:lnTo>
                  <a:lnTo>
                    <a:pt x="276" y="926"/>
                  </a:lnTo>
                  <a:lnTo>
                    <a:pt x="266" y="918"/>
                  </a:lnTo>
                  <a:lnTo>
                    <a:pt x="257" y="911"/>
                  </a:lnTo>
                  <a:lnTo>
                    <a:pt x="247" y="903"/>
                  </a:lnTo>
                  <a:lnTo>
                    <a:pt x="238" y="896"/>
                  </a:lnTo>
                  <a:lnTo>
                    <a:pt x="230" y="888"/>
                  </a:lnTo>
                  <a:lnTo>
                    <a:pt x="221" y="880"/>
                  </a:lnTo>
                  <a:lnTo>
                    <a:pt x="213" y="871"/>
                  </a:lnTo>
                  <a:lnTo>
                    <a:pt x="204" y="863"/>
                  </a:lnTo>
                  <a:lnTo>
                    <a:pt x="194" y="854"/>
                  </a:lnTo>
                  <a:lnTo>
                    <a:pt x="187" y="846"/>
                  </a:lnTo>
                  <a:lnTo>
                    <a:pt x="177" y="837"/>
                  </a:lnTo>
                  <a:lnTo>
                    <a:pt x="167" y="827"/>
                  </a:lnTo>
                  <a:lnTo>
                    <a:pt x="158" y="818"/>
                  </a:lnTo>
                  <a:lnTo>
                    <a:pt x="148" y="810"/>
                  </a:lnTo>
                  <a:lnTo>
                    <a:pt x="145" y="829"/>
                  </a:lnTo>
                  <a:lnTo>
                    <a:pt x="147" y="846"/>
                  </a:lnTo>
                  <a:lnTo>
                    <a:pt x="152" y="865"/>
                  </a:lnTo>
                  <a:lnTo>
                    <a:pt x="162" y="882"/>
                  </a:lnTo>
                  <a:lnTo>
                    <a:pt x="171" y="898"/>
                  </a:lnTo>
                  <a:lnTo>
                    <a:pt x="185" y="915"/>
                  </a:lnTo>
                  <a:lnTo>
                    <a:pt x="200" y="928"/>
                  </a:lnTo>
                  <a:lnTo>
                    <a:pt x="215" y="945"/>
                  </a:lnTo>
                  <a:lnTo>
                    <a:pt x="230" y="958"/>
                  </a:lnTo>
                  <a:lnTo>
                    <a:pt x="247" y="972"/>
                  </a:lnTo>
                  <a:lnTo>
                    <a:pt x="263" y="985"/>
                  </a:lnTo>
                  <a:lnTo>
                    <a:pt x="280" y="1002"/>
                  </a:lnTo>
                  <a:lnTo>
                    <a:pt x="295" y="1017"/>
                  </a:lnTo>
                  <a:lnTo>
                    <a:pt x="310" y="1033"/>
                  </a:lnTo>
                  <a:lnTo>
                    <a:pt x="322" y="1048"/>
                  </a:lnTo>
                  <a:lnTo>
                    <a:pt x="333" y="1067"/>
                  </a:lnTo>
                  <a:lnTo>
                    <a:pt x="341" y="1072"/>
                  </a:lnTo>
                  <a:lnTo>
                    <a:pt x="346" y="1080"/>
                  </a:lnTo>
                  <a:lnTo>
                    <a:pt x="350" y="1091"/>
                  </a:lnTo>
                  <a:lnTo>
                    <a:pt x="350" y="1103"/>
                  </a:lnTo>
                  <a:lnTo>
                    <a:pt x="341" y="1099"/>
                  </a:lnTo>
                  <a:lnTo>
                    <a:pt x="331" y="1097"/>
                  </a:lnTo>
                  <a:lnTo>
                    <a:pt x="322" y="1093"/>
                  </a:lnTo>
                  <a:lnTo>
                    <a:pt x="314" y="1090"/>
                  </a:lnTo>
                  <a:lnTo>
                    <a:pt x="304" y="1084"/>
                  </a:lnTo>
                  <a:lnTo>
                    <a:pt x="295" y="1078"/>
                  </a:lnTo>
                  <a:lnTo>
                    <a:pt x="285" y="1072"/>
                  </a:lnTo>
                  <a:lnTo>
                    <a:pt x="278" y="1067"/>
                  </a:lnTo>
                  <a:lnTo>
                    <a:pt x="266" y="1061"/>
                  </a:lnTo>
                  <a:lnTo>
                    <a:pt x="259" y="1055"/>
                  </a:lnTo>
                  <a:lnTo>
                    <a:pt x="247" y="1048"/>
                  </a:lnTo>
                  <a:lnTo>
                    <a:pt x="240" y="1044"/>
                  </a:lnTo>
                  <a:lnTo>
                    <a:pt x="230" y="1040"/>
                  </a:lnTo>
                  <a:lnTo>
                    <a:pt x="221" y="1034"/>
                  </a:lnTo>
                  <a:lnTo>
                    <a:pt x="209" y="1031"/>
                  </a:lnTo>
                  <a:lnTo>
                    <a:pt x="200" y="1031"/>
                  </a:lnTo>
                  <a:lnTo>
                    <a:pt x="200" y="1034"/>
                  </a:lnTo>
                  <a:lnTo>
                    <a:pt x="204" y="1040"/>
                  </a:lnTo>
                  <a:lnTo>
                    <a:pt x="206" y="1044"/>
                  </a:lnTo>
                  <a:lnTo>
                    <a:pt x="207" y="1052"/>
                  </a:lnTo>
                  <a:lnTo>
                    <a:pt x="200" y="1052"/>
                  </a:lnTo>
                  <a:lnTo>
                    <a:pt x="194" y="1053"/>
                  </a:lnTo>
                  <a:lnTo>
                    <a:pt x="202" y="1063"/>
                  </a:lnTo>
                  <a:lnTo>
                    <a:pt x="209" y="1072"/>
                  </a:lnTo>
                  <a:lnTo>
                    <a:pt x="219" y="1082"/>
                  </a:lnTo>
                  <a:lnTo>
                    <a:pt x="228" y="1091"/>
                  </a:lnTo>
                  <a:lnTo>
                    <a:pt x="236" y="1099"/>
                  </a:lnTo>
                  <a:lnTo>
                    <a:pt x="247" y="1107"/>
                  </a:lnTo>
                  <a:lnTo>
                    <a:pt x="257" y="1116"/>
                  </a:lnTo>
                  <a:lnTo>
                    <a:pt x="266" y="1124"/>
                  </a:lnTo>
                  <a:lnTo>
                    <a:pt x="276" y="1133"/>
                  </a:lnTo>
                  <a:lnTo>
                    <a:pt x="285" y="1141"/>
                  </a:lnTo>
                  <a:lnTo>
                    <a:pt x="295" y="1148"/>
                  </a:lnTo>
                  <a:lnTo>
                    <a:pt x="304" y="1156"/>
                  </a:lnTo>
                  <a:lnTo>
                    <a:pt x="312" y="1166"/>
                  </a:lnTo>
                  <a:lnTo>
                    <a:pt x="322" y="1175"/>
                  </a:lnTo>
                  <a:lnTo>
                    <a:pt x="329" y="1185"/>
                  </a:lnTo>
                  <a:lnTo>
                    <a:pt x="337" y="1196"/>
                  </a:lnTo>
                  <a:lnTo>
                    <a:pt x="295" y="1179"/>
                  </a:lnTo>
                  <a:lnTo>
                    <a:pt x="257" y="1160"/>
                  </a:lnTo>
                  <a:lnTo>
                    <a:pt x="223" y="1135"/>
                  </a:lnTo>
                  <a:lnTo>
                    <a:pt x="194" y="1109"/>
                  </a:lnTo>
                  <a:lnTo>
                    <a:pt x="167" y="1076"/>
                  </a:lnTo>
                  <a:lnTo>
                    <a:pt x="145" y="1044"/>
                  </a:lnTo>
                  <a:lnTo>
                    <a:pt x="128" y="1008"/>
                  </a:lnTo>
                  <a:lnTo>
                    <a:pt x="112" y="970"/>
                  </a:lnTo>
                  <a:lnTo>
                    <a:pt x="97" y="928"/>
                  </a:lnTo>
                  <a:lnTo>
                    <a:pt x="88" y="888"/>
                  </a:lnTo>
                  <a:lnTo>
                    <a:pt x="80" y="846"/>
                  </a:lnTo>
                  <a:lnTo>
                    <a:pt x="76" y="802"/>
                  </a:lnTo>
                  <a:lnTo>
                    <a:pt x="74" y="761"/>
                  </a:lnTo>
                  <a:lnTo>
                    <a:pt x="74" y="717"/>
                  </a:lnTo>
                  <a:lnTo>
                    <a:pt x="74" y="677"/>
                  </a:lnTo>
                  <a:lnTo>
                    <a:pt x="80" y="637"/>
                  </a:lnTo>
                  <a:lnTo>
                    <a:pt x="82" y="629"/>
                  </a:lnTo>
                  <a:lnTo>
                    <a:pt x="84" y="624"/>
                  </a:lnTo>
                  <a:lnTo>
                    <a:pt x="86" y="614"/>
                  </a:lnTo>
                  <a:lnTo>
                    <a:pt x="88" y="607"/>
                  </a:lnTo>
                  <a:lnTo>
                    <a:pt x="86" y="597"/>
                  </a:lnTo>
                  <a:lnTo>
                    <a:pt x="84" y="590"/>
                  </a:lnTo>
                  <a:lnTo>
                    <a:pt x="80" y="582"/>
                  </a:lnTo>
                  <a:lnTo>
                    <a:pt x="76" y="576"/>
                  </a:lnTo>
                  <a:lnTo>
                    <a:pt x="48" y="631"/>
                  </a:lnTo>
                  <a:lnTo>
                    <a:pt x="31" y="686"/>
                  </a:lnTo>
                  <a:lnTo>
                    <a:pt x="21" y="742"/>
                  </a:lnTo>
                  <a:lnTo>
                    <a:pt x="23" y="799"/>
                  </a:lnTo>
                  <a:lnTo>
                    <a:pt x="29" y="852"/>
                  </a:lnTo>
                  <a:lnTo>
                    <a:pt x="42" y="905"/>
                  </a:lnTo>
                  <a:lnTo>
                    <a:pt x="59" y="960"/>
                  </a:lnTo>
                  <a:lnTo>
                    <a:pt x="82" y="1015"/>
                  </a:lnTo>
                  <a:lnTo>
                    <a:pt x="105" y="1069"/>
                  </a:lnTo>
                  <a:lnTo>
                    <a:pt x="131" y="1122"/>
                  </a:lnTo>
                  <a:lnTo>
                    <a:pt x="158" y="1175"/>
                  </a:lnTo>
                  <a:lnTo>
                    <a:pt x="185" y="1228"/>
                  </a:lnTo>
                  <a:lnTo>
                    <a:pt x="207" y="1282"/>
                  </a:lnTo>
                  <a:lnTo>
                    <a:pt x="230" y="1335"/>
                  </a:lnTo>
                  <a:lnTo>
                    <a:pt x="247" y="1388"/>
                  </a:lnTo>
                  <a:lnTo>
                    <a:pt x="263" y="1441"/>
                  </a:lnTo>
                  <a:lnTo>
                    <a:pt x="247" y="1432"/>
                  </a:lnTo>
                  <a:lnTo>
                    <a:pt x="234" y="1422"/>
                  </a:lnTo>
                  <a:lnTo>
                    <a:pt x="223" y="1411"/>
                  </a:lnTo>
                  <a:lnTo>
                    <a:pt x="213" y="1398"/>
                  </a:lnTo>
                  <a:lnTo>
                    <a:pt x="204" y="1384"/>
                  </a:lnTo>
                  <a:lnTo>
                    <a:pt x="194" y="1369"/>
                  </a:lnTo>
                  <a:lnTo>
                    <a:pt x="187" y="1354"/>
                  </a:lnTo>
                  <a:lnTo>
                    <a:pt x="181" y="1339"/>
                  </a:lnTo>
                  <a:lnTo>
                    <a:pt x="173" y="1321"/>
                  </a:lnTo>
                  <a:lnTo>
                    <a:pt x="167" y="1304"/>
                  </a:lnTo>
                  <a:lnTo>
                    <a:pt x="162" y="1285"/>
                  </a:lnTo>
                  <a:lnTo>
                    <a:pt x="156" y="1270"/>
                  </a:lnTo>
                  <a:lnTo>
                    <a:pt x="150" y="1253"/>
                  </a:lnTo>
                  <a:lnTo>
                    <a:pt x="145" y="1236"/>
                  </a:lnTo>
                  <a:lnTo>
                    <a:pt x="141" y="1221"/>
                  </a:lnTo>
                  <a:lnTo>
                    <a:pt x="135" y="1207"/>
                  </a:lnTo>
                  <a:lnTo>
                    <a:pt x="124" y="1186"/>
                  </a:lnTo>
                  <a:lnTo>
                    <a:pt x="112" y="1169"/>
                  </a:lnTo>
                  <a:lnTo>
                    <a:pt x="101" y="1150"/>
                  </a:lnTo>
                  <a:lnTo>
                    <a:pt x="93" y="1131"/>
                  </a:lnTo>
                  <a:lnTo>
                    <a:pt x="84" y="1110"/>
                  </a:lnTo>
                  <a:lnTo>
                    <a:pt x="76" y="1093"/>
                  </a:lnTo>
                  <a:lnTo>
                    <a:pt x="69" y="1072"/>
                  </a:lnTo>
                  <a:lnTo>
                    <a:pt x="61" y="1053"/>
                  </a:lnTo>
                  <a:lnTo>
                    <a:pt x="53" y="1033"/>
                  </a:lnTo>
                  <a:lnTo>
                    <a:pt x="48" y="1013"/>
                  </a:lnTo>
                  <a:lnTo>
                    <a:pt x="42" y="993"/>
                  </a:lnTo>
                  <a:lnTo>
                    <a:pt x="38" y="972"/>
                  </a:lnTo>
                  <a:lnTo>
                    <a:pt x="33" y="951"/>
                  </a:lnTo>
                  <a:lnTo>
                    <a:pt x="29" y="932"/>
                  </a:lnTo>
                  <a:lnTo>
                    <a:pt x="25" y="911"/>
                  </a:lnTo>
                  <a:lnTo>
                    <a:pt x="21" y="892"/>
                  </a:lnTo>
                  <a:lnTo>
                    <a:pt x="15" y="890"/>
                  </a:lnTo>
                  <a:lnTo>
                    <a:pt x="8" y="892"/>
                  </a:lnTo>
                  <a:lnTo>
                    <a:pt x="0" y="818"/>
                  </a:lnTo>
                  <a:lnTo>
                    <a:pt x="2" y="745"/>
                  </a:lnTo>
                  <a:lnTo>
                    <a:pt x="8" y="673"/>
                  </a:lnTo>
                  <a:lnTo>
                    <a:pt x="23" y="603"/>
                  </a:lnTo>
                  <a:lnTo>
                    <a:pt x="42" y="531"/>
                  </a:lnTo>
                  <a:lnTo>
                    <a:pt x="69" y="462"/>
                  </a:lnTo>
                  <a:lnTo>
                    <a:pt x="99" y="396"/>
                  </a:lnTo>
                  <a:lnTo>
                    <a:pt x="137" y="335"/>
                  </a:lnTo>
                  <a:lnTo>
                    <a:pt x="177" y="274"/>
                  </a:lnTo>
                  <a:lnTo>
                    <a:pt x="225" y="217"/>
                  </a:lnTo>
                  <a:lnTo>
                    <a:pt x="276" y="166"/>
                  </a:lnTo>
                  <a:lnTo>
                    <a:pt x="333" y="122"/>
                  </a:lnTo>
                  <a:lnTo>
                    <a:pt x="390" y="80"/>
                  </a:lnTo>
                  <a:lnTo>
                    <a:pt x="455" y="46"/>
                  </a:lnTo>
                  <a:lnTo>
                    <a:pt x="523" y="19"/>
                  </a:lnTo>
                  <a:lnTo>
                    <a:pt x="595" y="0"/>
                  </a:lnTo>
                  <a:close/>
                </a:path>
              </a:pathLst>
            </a:custGeom>
            <a:solidFill>
              <a:srgbClr val="F59E9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02" name="Freeform 14"/>
            <p:cNvSpPr>
              <a:spLocks/>
            </p:cNvSpPr>
            <p:nvPr/>
          </p:nvSpPr>
          <p:spPr bwMode="auto">
            <a:xfrm>
              <a:off x="3767" y="2038"/>
              <a:ext cx="147" cy="190"/>
            </a:xfrm>
            <a:custGeom>
              <a:avLst/>
              <a:gdLst>
                <a:gd name="T0" fmla="*/ 1 w 293"/>
                <a:gd name="T1" fmla="*/ 1 h 378"/>
                <a:gd name="T2" fmla="*/ 1 w 293"/>
                <a:gd name="T3" fmla="*/ 1 h 378"/>
                <a:gd name="T4" fmla="*/ 1 w 293"/>
                <a:gd name="T5" fmla="*/ 1 h 378"/>
                <a:gd name="T6" fmla="*/ 1 w 293"/>
                <a:gd name="T7" fmla="*/ 1 h 378"/>
                <a:gd name="T8" fmla="*/ 1 w 293"/>
                <a:gd name="T9" fmla="*/ 1 h 378"/>
                <a:gd name="T10" fmla="*/ 1 w 293"/>
                <a:gd name="T11" fmla="*/ 1 h 378"/>
                <a:gd name="T12" fmla="*/ 1 w 293"/>
                <a:gd name="T13" fmla="*/ 1 h 378"/>
                <a:gd name="T14" fmla="*/ 1 w 293"/>
                <a:gd name="T15" fmla="*/ 1 h 378"/>
                <a:gd name="T16" fmla="*/ 1 w 293"/>
                <a:gd name="T17" fmla="*/ 1 h 378"/>
                <a:gd name="T18" fmla="*/ 1 w 293"/>
                <a:gd name="T19" fmla="*/ 1 h 378"/>
                <a:gd name="T20" fmla="*/ 1 w 293"/>
                <a:gd name="T21" fmla="*/ 1 h 378"/>
                <a:gd name="T22" fmla="*/ 1 w 293"/>
                <a:gd name="T23" fmla="*/ 1 h 378"/>
                <a:gd name="T24" fmla="*/ 1 w 293"/>
                <a:gd name="T25" fmla="*/ 1 h 378"/>
                <a:gd name="T26" fmla="*/ 1 w 293"/>
                <a:gd name="T27" fmla="*/ 1 h 378"/>
                <a:gd name="T28" fmla="*/ 1 w 293"/>
                <a:gd name="T29" fmla="*/ 1 h 378"/>
                <a:gd name="T30" fmla="*/ 2 w 293"/>
                <a:gd name="T31" fmla="*/ 1 h 378"/>
                <a:gd name="T32" fmla="*/ 2 w 293"/>
                <a:gd name="T33" fmla="*/ 2 h 378"/>
                <a:gd name="T34" fmla="*/ 2 w 293"/>
                <a:gd name="T35" fmla="*/ 2 h 378"/>
                <a:gd name="T36" fmla="*/ 2 w 293"/>
                <a:gd name="T37" fmla="*/ 2 h 378"/>
                <a:gd name="T38" fmla="*/ 2 w 293"/>
                <a:gd name="T39" fmla="*/ 2 h 378"/>
                <a:gd name="T40" fmla="*/ 1 w 293"/>
                <a:gd name="T41" fmla="*/ 2 h 378"/>
                <a:gd name="T42" fmla="*/ 1 w 293"/>
                <a:gd name="T43" fmla="*/ 2 h 378"/>
                <a:gd name="T44" fmla="*/ 1 w 293"/>
                <a:gd name="T45" fmla="*/ 2 h 378"/>
                <a:gd name="T46" fmla="*/ 1 w 293"/>
                <a:gd name="T47" fmla="*/ 2 h 378"/>
                <a:gd name="T48" fmla="*/ 1 w 293"/>
                <a:gd name="T49" fmla="*/ 2 h 378"/>
                <a:gd name="T50" fmla="*/ 1 w 293"/>
                <a:gd name="T51" fmla="*/ 2 h 378"/>
                <a:gd name="T52" fmla="*/ 1 w 293"/>
                <a:gd name="T53" fmla="*/ 2 h 378"/>
                <a:gd name="T54" fmla="*/ 1 w 293"/>
                <a:gd name="T55" fmla="*/ 1 h 378"/>
                <a:gd name="T56" fmla="*/ 1 w 293"/>
                <a:gd name="T57" fmla="*/ 1 h 378"/>
                <a:gd name="T58" fmla="*/ 1 w 293"/>
                <a:gd name="T59" fmla="*/ 1 h 378"/>
                <a:gd name="T60" fmla="*/ 1 w 293"/>
                <a:gd name="T61" fmla="*/ 1 h 378"/>
                <a:gd name="T62" fmla="*/ 0 w 293"/>
                <a:gd name="T63" fmla="*/ 1 h 378"/>
                <a:gd name="T64" fmla="*/ 1 w 293"/>
                <a:gd name="T65" fmla="*/ 1 h 378"/>
                <a:gd name="T66" fmla="*/ 1 w 293"/>
                <a:gd name="T67" fmla="*/ 0 h 3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93"/>
                <a:gd name="T103" fmla="*/ 0 h 378"/>
                <a:gd name="T104" fmla="*/ 293 w 293"/>
                <a:gd name="T105" fmla="*/ 378 h 37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93" h="378">
                  <a:moveTo>
                    <a:pt x="26" y="0"/>
                  </a:moveTo>
                  <a:lnTo>
                    <a:pt x="34" y="5"/>
                  </a:lnTo>
                  <a:lnTo>
                    <a:pt x="38" y="13"/>
                  </a:lnTo>
                  <a:lnTo>
                    <a:pt x="42" y="24"/>
                  </a:lnTo>
                  <a:lnTo>
                    <a:pt x="45" y="36"/>
                  </a:lnTo>
                  <a:lnTo>
                    <a:pt x="47" y="49"/>
                  </a:lnTo>
                  <a:lnTo>
                    <a:pt x="47" y="62"/>
                  </a:lnTo>
                  <a:lnTo>
                    <a:pt x="49" y="74"/>
                  </a:lnTo>
                  <a:lnTo>
                    <a:pt x="51" y="89"/>
                  </a:lnTo>
                  <a:lnTo>
                    <a:pt x="53" y="100"/>
                  </a:lnTo>
                  <a:lnTo>
                    <a:pt x="57" y="112"/>
                  </a:lnTo>
                  <a:lnTo>
                    <a:pt x="61" y="123"/>
                  </a:lnTo>
                  <a:lnTo>
                    <a:pt x="68" y="135"/>
                  </a:lnTo>
                  <a:lnTo>
                    <a:pt x="74" y="142"/>
                  </a:lnTo>
                  <a:lnTo>
                    <a:pt x="87" y="152"/>
                  </a:lnTo>
                  <a:lnTo>
                    <a:pt x="101" y="156"/>
                  </a:lnTo>
                  <a:lnTo>
                    <a:pt x="118" y="161"/>
                  </a:lnTo>
                  <a:lnTo>
                    <a:pt x="127" y="169"/>
                  </a:lnTo>
                  <a:lnTo>
                    <a:pt x="137" y="175"/>
                  </a:lnTo>
                  <a:lnTo>
                    <a:pt x="148" y="182"/>
                  </a:lnTo>
                  <a:lnTo>
                    <a:pt x="159" y="188"/>
                  </a:lnTo>
                  <a:lnTo>
                    <a:pt x="169" y="194"/>
                  </a:lnTo>
                  <a:lnTo>
                    <a:pt x="180" y="199"/>
                  </a:lnTo>
                  <a:lnTo>
                    <a:pt x="190" y="205"/>
                  </a:lnTo>
                  <a:lnTo>
                    <a:pt x="203" y="211"/>
                  </a:lnTo>
                  <a:lnTo>
                    <a:pt x="213" y="215"/>
                  </a:lnTo>
                  <a:lnTo>
                    <a:pt x="224" y="220"/>
                  </a:lnTo>
                  <a:lnTo>
                    <a:pt x="234" y="224"/>
                  </a:lnTo>
                  <a:lnTo>
                    <a:pt x="247" y="230"/>
                  </a:lnTo>
                  <a:lnTo>
                    <a:pt x="256" y="234"/>
                  </a:lnTo>
                  <a:lnTo>
                    <a:pt x="270" y="239"/>
                  </a:lnTo>
                  <a:lnTo>
                    <a:pt x="281" y="243"/>
                  </a:lnTo>
                  <a:lnTo>
                    <a:pt x="293" y="249"/>
                  </a:lnTo>
                  <a:lnTo>
                    <a:pt x="293" y="258"/>
                  </a:lnTo>
                  <a:lnTo>
                    <a:pt x="289" y="270"/>
                  </a:lnTo>
                  <a:lnTo>
                    <a:pt x="285" y="283"/>
                  </a:lnTo>
                  <a:lnTo>
                    <a:pt x="281" y="296"/>
                  </a:lnTo>
                  <a:lnTo>
                    <a:pt x="274" y="310"/>
                  </a:lnTo>
                  <a:lnTo>
                    <a:pt x="270" y="323"/>
                  </a:lnTo>
                  <a:lnTo>
                    <a:pt x="262" y="336"/>
                  </a:lnTo>
                  <a:lnTo>
                    <a:pt x="255" y="350"/>
                  </a:lnTo>
                  <a:lnTo>
                    <a:pt x="243" y="359"/>
                  </a:lnTo>
                  <a:lnTo>
                    <a:pt x="234" y="367"/>
                  </a:lnTo>
                  <a:lnTo>
                    <a:pt x="224" y="374"/>
                  </a:lnTo>
                  <a:lnTo>
                    <a:pt x="213" y="378"/>
                  </a:lnTo>
                  <a:lnTo>
                    <a:pt x="201" y="378"/>
                  </a:lnTo>
                  <a:lnTo>
                    <a:pt x="190" y="374"/>
                  </a:lnTo>
                  <a:lnTo>
                    <a:pt x="182" y="369"/>
                  </a:lnTo>
                  <a:lnTo>
                    <a:pt x="177" y="365"/>
                  </a:lnTo>
                  <a:lnTo>
                    <a:pt x="171" y="359"/>
                  </a:lnTo>
                  <a:lnTo>
                    <a:pt x="167" y="353"/>
                  </a:lnTo>
                  <a:lnTo>
                    <a:pt x="150" y="331"/>
                  </a:lnTo>
                  <a:lnTo>
                    <a:pt x="131" y="312"/>
                  </a:lnTo>
                  <a:lnTo>
                    <a:pt x="114" y="291"/>
                  </a:lnTo>
                  <a:lnTo>
                    <a:pt x="97" y="272"/>
                  </a:lnTo>
                  <a:lnTo>
                    <a:pt x="78" y="249"/>
                  </a:lnTo>
                  <a:lnTo>
                    <a:pt x="63" y="228"/>
                  </a:lnTo>
                  <a:lnTo>
                    <a:pt x="47" y="205"/>
                  </a:lnTo>
                  <a:lnTo>
                    <a:pt x="34" y="184"/>
                  </a:lnTo>
                  <a:lnTo>
                    <a:pt x="21" y="161"/>
                  </a:lnTo>
                  <a:lnTo>
                    <a:pt x="11" y="139"/>
                  </a:lnTo>
                  <a:lnTo>
                    <a:pt x="4" y="116"/>
                  </a:lnTo>
                  <a:lnTo>
                    <a:pt x="2" y="93"/>
                  </a:lnTo>
                  <a:lnTo>
                    <a:pt x="0" y="70"/>
                  </a:lnTo>
                  <a:lnTo>
                    <a:pt x="4" y="45"/>
                  </a:lnTo>
                  <a:lnTo>
                    <a:pt x="11" y="23"/>
                  </a:lnTo>
                  <a:lnTo>
                    <a:pt x="26" y="0"/>
                  </a:lnTo>
                  <a:close/>
                </a:path>
              </a:pathLst>
            </a:custGeom>
            <a:solidFill>
              <a:srgbClr val="E6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03" name="Freeform 15"/>
            <p:cNvSpPr>
              <a:spLocks/>
            </p:cNvSpPr>
            <p:nvPr/>
          </p:nvSpPr>
          <p:spPr bwMode="auto">
            <a:xfrm>
              <a:off x="3835" y="2045"/>
              <a:ext cx="101" cy="81"/>
            </a:xfrm>
            <a:custGeom>
              <a:avLst/>
              <a:gdLst>
                <a:gd name="T0" fmla="*/ 1 w 201"/>
                <a:gd name="T1" fmla="*/ 0 h 162"/>
                <a:gd name="T2" fmla="*/ 1 w 201"/>
                <a:gd name="T3" fmla="*/ 1 h 162"/>
                <a:gd name="T4" fmla="*/ 1 w 201"/>
                <a:gd name="T5" fmla="*/ 1 h 162"/>
                <a:gd name="T6" fmla="*/ 1 w 201"/>
                <a:gd name="T7" fmla="*/ 1 h 162"/>
                <a:gd name="T8" fmla="*/ 1 w 201"/>
                <a:gd name="T9" fmla="*/ 1 h 162"/>
                <a:gd name="T10" fmla="*/ 1 w 201"/>
                <a:gd name="T11" fmla="*/ 1 h 162"/>
                <a:gd name="T12" fmla="*/ 1 w 201"/>
                <a:gd name="T13" fmla="*/ 1 h 162"/>
                <a:gd name="T14" fmla="*/ 1 w 201"/>
                <a:gd name="T15" fmla="*/ 1 h 162"/>
                <a:gd name="T16" fmla="*/ 1 w 201"/>
                <a:gd name="T17" fmla="*/ 1 h 162"/>
                <a:gd name="T18" fmla="*/ 1 w 201"/>
                <a:gd name="T19" fmla="*/ 1 h 162"/>
                <a:gd name="T20" fmla="*/ 1 w 201"/>
                <a:gd name="T21" fmla="*/ 1 h 162"/>
                <a:gd name="T22" fmla="*/ 1 w 201"/>
                <a:gd name="T23" fmla="*/ 1 h 162"/>
                <a:gd name="T24" fmla="*/ 1 w 201"/>
                <a:gd name="T25" fmla="*/ 1 h 162"/>
                <a:gd name="T26" fmla="*/ 1 w 201"/>
                <a:gd name="T27" fmla="*/ 1 h 162"/>
                <a:gd name="T28" fmla="*/ 1 w 201"/>
                <a:gd name="T29" fmla="*/ 1 h 162"/>
                <a:gd name="T30" fmla="*/ 1 w 201"/>
                <a:gd name="T31" fmla="*/ 1 h 162"/>
                <a:gd name="T32" fmla="*/ 1 w 201"/>
                <a:gd name="T33" fmla="*/ 1 h 162"/>
                <a:gd name="T34" fmla="*/ 1 w 201"/>
                <a:gd name="T35" fmla="*/ 1 h 162"/>
                <a:gd name="T36" fmla="*/ 1 w 201"/>
                <a:gd name="T37" fmla="*/ 1 h 162"/>
                <a:gd name="T38" fmla="*/ 1 w 201"/>
                <a:gd name="T39" fmla="*/ 1 h 162"/>
                <a:gd name="T40" fmla="*/ 1 w 201"/>
                <a:gd name="T41" fmla="*/ 1 h 162"/>
                <a:gd name="T42" fmla="*/ 1 w 201"/>
                <a:gd name="T43" fmla="*/ 1 h 162"/>
                <a:gd name="T44" fmla="*/ 1 w 201"/>
                <a:gd name="T45" fmla="*/ 1 h 162"/>
                <a:gd name="T46" fmla="*/ 1 w 201"/>
                <a:gd name="T47" fmla="*/ 1 h 162"/>
                <a:gd name="T48" fmla="*/ 1 w 201"/>
                <a:gd name="T49" fmla="*/ 1 h 162"/>
                <a:gd name="T50" fmla="*/ 1 w 201"/>
                <a:gd name="T51" fmla="*/ 1 h 162"/>
                <a:gd name="T52" fmla="*/ 1 w 201"/>
                <a:gd name="T53" fmla="*/ 1 h 162"/>
                <a:gd name="T54" fmla="*/ 1 w 201"/>
                <a:gd name="T55" fmla="*/ 1 h 162"/>
                <a:gd name="T56" fmla="*/ 1 w 201"/>
                <a:gd name="T57" fmla="*/ 1 h 162"/>
                <a:gd name="T58" fmla="*/ 1 w 201"/>
                <a:gd name="T59" fmla="*/ 1 h 162"/>
                <a:gd name="T60" fmla="*/ 1 w 201"/>
                <a:gd name="T61" fmla="*/ 1 h 162"/>
                <a:gd name="T62" fmla="*/ 1 w 201"/>
                <a:gd name="T63" fmla="*/ 1 h 162"/>
                <a:gd name="T64" fmla="*/ 1 w 201"/>
                <a:gd name="T65" fmla="*/ 1 h 162"/>
                <a:gd name="T66" fmla="*/ 1 w 201"/>
                <a:gd name="T67" fmla="*/ 1 h 162"/>
                <a:gd name="T68" fmla="*/ 1 w 201"/>
                <a:gd name="T69" fmla="*/ 1 h 162"/>
                <a:gd name="T70" fmla="*/ 1 w 201"/>
                <a:gd name="T71" fmla="*/ 1 h 162"/>
                <a:gd name="T72" fmla="*/ 1 w 201"/>
                <a:gd name="T73" fmla="*/ 1 h 162"/>
                <a:gd name="T74" fmla="*/ 1 w 201"/>
                <a:gd name="T75" fmla="*/ 1 h 162"/>
                <a:gd name="T76" fmla="*/ 1 w 201"/>
                <a:gd name="T77" fmla="*/ 1 h 162"/>
                <a:gd name="T78" fmla="*/ 1 w 201"/>
                <a:gd name="T79" fmla="*/ 1 h 162"/>
                <a:gd name="T80" fmla="*/ 1 w 201"/>
                <a:gd name="T81" fmla="*/ 1 h 162"/>
                <a:gd name="T82" fmla="*/ 1 w 201"/>
                <a:gd name="T83" fmla="*/ 1 h 162"/>
                <a:gd name="T84" fmla="*/ 1 w 201"/>
                <a:gd name="T85" fmla="*/ 1 h 162"/>
                <a:gd name="T86" fmla="*/ 1 w 201"/>
                <a:gd name="T87" fmla="*/ 1 h 162"/>
                <a:gd name="T88" fmla="*/ 1 w 201"/>
                <a:gd name="T89" fmla="*/ 1 h 162"/>
                <a:gd name="T90" fmla="*/ 1 w 201"/>
                <a:gd name="T91" fmla="*/ 1 h 162"/>
                <a:gd name="T92" fmla="*/ 1 w 201"/>
                <a:gd name="T93" fmla="*/ 1 h 162"/>
                <a:gd name="T94" fmla="*/ 0 w 201"/>
                <a:gd name="T95" fmla="*/ 1 h 162"/>
                <a:gd name="T96" fmla="*/ 0 w 201"/>
                <a:gd name="T97" fmla="*/ 1 h 162"/>
                <a:gd name="T98" fmla="*/ 0 w 201"/>
                <a:gd name="T99" fmla="*/ 1 h 162"/>
                <a:gd name="T100" fmla="*/ 1 w 201"/>
                <a:gd name="T101" fmla="*/ 1 h 162"/>
                <a:gd name="T102" fmla="*/ 1 w 201"/>
                <a:gd name="T103" fmla="*/ 1 h 162"/>
                <a:gd name="T104" fmla="*/ 1 w 201"/>
                <a:gd name="T105" fmla="*/ 1 h 162"/>
                <a:gd name="T106" fmla="*/ 1 w 201"/>
                <a:gd name="T107" fmla="*/ 1 h 162"/>
                <a:gd name="T108" fmla="*/ 1 w 201"/>
                <a:gd name="T109" fmla="*/ 0 h 162"/>
                <a:gd name="T110" fmla="*/ 1 w 201"/>
                <a:gd name="T111" fmla="*/ 0 h 1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01"/>
                <a:gd name="T169" fmla="*/ 0 h 162"/>
                <a:gd name="T170" fmla="*/ 201 w 201"/>
                <a:gd name="T171" fmla="*/ 162 h 162"/>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01" h="162">
                  <a:moveTo>
                    <a:pt x="11" y="0"/>
                  </a:moveTo>
                  <a:lnTo>
                    <a:pt x="23" y="6"/>
                  </a:lnTo>
                  <a:lnTo>
                    <a:pt x="34" y="13"/>
                  </a:lnTo>
                  <a:lnTo>
                    <a:pt x="45" y="21"/>
                  </a:lnTo>
                  <a:lnTo>
                    <a:pt x="57" y="27"/>
                  </a:lnTo>
                  <a:lnTo>
                    <a:pt x="68" y="32"/>
                  </a:lnTo>
                  <a:lnTo>
                    <a:pt x="82" y="38"/>
                  </a:lnTo>
                  <a:lnTo>
                    <a:pt x="93" y="44"/>
                  </a:lnTo>
                  <a:lnTo>
                    <a:pt x="104" y="49"/>
                  </a:lnTo>
                  <a:lnTo>
                    <a:pt x="116" y="53"/>
                  </a:lnTo>
                  <a:lnTo>
                    <a:pt x="127" y="57"/>
                  </a:lnTo>
                  <a:lnTo>
                    <a:pt x="139" y="63"/>
                  </a:lnTo>
                  <a:lnTo>
                    <a:pt x="152" y="67"/>
                  </a:lnTo>
                  <a:lnTo>
                    <a:pt x="163" y="72"/>
                  </a:lnTo>
                  <a:lnTo>
                    <a:pt x="175" y="76"/>
                  </a:lnTo>
                  <a:lnTo>
                    <a:pt x="188" y="80"/>
                  </a:lnTo>
                  <a:lnTo>
                    <a:pt x="201" y="86"/>
                  </a:lnTo>
                  <a:lnTo>
                    <a:pt x="198" y="93"/>
                  </a:lnTo>
                  <a:lnTo>
                    <a:pt x="198" y="103"/>
                  </a:lnTo>
                  <a:lnTo>
                    <a:pt x="194" y="112"/>
                  </a:lnTo>
                  <a:lnTo>
                    <a:pt x="194" y="120"/>
                  </a:lnTo>
                  <a:lnTo>
                    <a:pt x="188" y="126"/>
                  </a:lnTo>
                  <a:lnTo>
                    <a:pt x="186" y="133"/>
                  </a:lnTo>
                  <a:lnTo>
                    <a:pt x="182" y="139"/>
                  </a:lnTo>
                  <a:lnTo>
                    <a:pt x="178" y="145"/>
                  </a:lnTo>
                  <a:lnTo>
                    <a:pt x="171" y="150"/>
                  </a:lnTo>
                  <a:lnTo>
                    <a:pt x="163" y="156"/>
                  </a:lnTo>
                  <a:lnTo>
                    <a:pt x="154" y="158"/>
                  </a:lnTo>
                  <a:lnTo>
                    <a:pt x="144" y="162"/>
                  </a:lnTo>
                  <a:lnTo>
                    <a:pt x="135" y="162"/>
                  </a:lnTo>
                  <a:lnTo>
                    <a:pt x="125" y="162"/>
                  </a:lnTo>
                  <a:lnTo>
                    <a:pt x="114" y="160"/>
                  </a:lnTo>
                  <a:lnTo>
                    <a:pt x="104" y="158"/>
                  </a:lnTo>
                  <a:lnTo>
                    <a:pt x="93" y="154"/>
                  </a:lnTo>
                  <a:lnTo>
                    <a:pt x="83" y="150"/>
                  </a:lnTo>
                  <a:lnTo>
                    <a:pt x="74" y="145"/>
                  </a:lnTo>
                  <a:lnTo>
                    <a:pt x="66" y="141"/>
                  </a:lnTo>
                  <a:lnTo>
                    <a:pt x="57" y="133"/>
                  </a:lnTo>
                  <a:lnTo>
                    <a:pt x="49" y="129"/>
                  </a:lnTo>
                  <a:lnTo>
                    <a:pt x="42" y="122"/>
                  </a:lnTo>
                  <a:lnTo>
                    <a:pt x="34" y="116"/>
                  </a:lnTo>
                  <a:lnTo>
                    <a:pt x="23" y="103"/>
                  </a:lnTo>
                  <a:lnTo>
                    <a:pt x="15" y="89"/>
                  </a:lnTo>
                  <a:lnTo>
                    <a:pt x="9" y="82"/>
                  </a:lnTo>
                  <a:lnTo>
                    <a:pt x="5" y="76"/>
                  </a:lnTo>
                  <a:lnTo>
                    <a:pt x="4" y="67"/>
                  </a:lnTo>
                  <a:lnTo>
                    <a:pt x="2" y="61"/>
                  </a:lnTo>
                  <a:lnTo>
                    <a:pt x="0" y="53"/>
                  </a:lnTo>
                  <a:lnTo>
                    <a:pt x="0" y="44"/>
                  </a:lnTo>
                  <a:lnTo>
                    <a:pt x="0" y="36"/>
                  </a:lnTo>
                  <a:lnTo>
                    <a:pt x="2" y="30"/>
                  </a:lnTo>
                  <a:lnTo>
                    <a:pt x="2" y="23"/>
                  </a:lnTo>
                  <a:lnTo>
                    <a:pt x="4" y="13"/>
                  </a:lnTo>
                  <a:lnTo>
                    <a:pt x="5" y="6"/>
                  </a:lnTo>
                  <a:lnTo>
                    <a:pt x="11" y="0"/>
                  </a:lnTo>
                  <a:close/>
                </a:path>
              </a:pathLst>
            </a:custGeom>
            <a:solidFill>
              <a:srgbClr val="FFD6C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04" name="Freeform 16"/>
            <p:cNvSpPr>
              <a:spLocks/>
            </p:cNvSpPr>
            <p:nvPr/>
          </p:nvSpPr>
          <p:spPr bwMode="auto">
            <a:xfrm>
              <a:off x="3968" y="2058"/>
              <a:ext cx="70" cy="121"/>
            </a:xfrm>
            <a:custGeom>
              <a:avLst/>
              <a:gdLst>
                <a:gd name="T0" fmla="*/ 0 w 141"/>
                <a:gd name="T1" fmla="*/ 0 h 241"/>
                <a:gd name="T2" fmla="*/ 0 w 141"/>
                <a:gd name="T3" fmla="*/ 1 h 241"/>
                <a:gd name="T4" fmla="*/ 0 w 141"/>
                <a:gd name="T5" fmla="*/ 1 h 241"/>
                <a:gd name="T6" fmla="*/ 0 w 141"/>
                <a:gd name="T7" fmla="*/ 1 h 241"/>
                <a:gd name="T8" fmla="*/ 0 w 141"/>
                <a:gd name="T9" fmla="*/ 1 h 241"/>
                <a:gd name="T10" fmla="*/ 0 w 141"/>
                <a:gd name="T11" fmla="*/ 1 h 241"/>
                <a:gd name="T12" fmla="*/ 0 w 141"/>
                <a:gd name="T13" fmla="*/ 1 h 241"/>
                <a:gd name="T14" fmla="*/ 0 w 141"/>
                <a:gd name="T15" fmla="*/ 1 h 241"/>
                <a:gd name="T16" fmla="*/ 0 w 141"/>
                <a:gd name="T17" fmla="*/ 1 h 241"/>
                <a:gd name="T18" fmla="*/ 0 w 141"/>
                <a:gd name="T19" fmla="*/ 1 h 241"/>
                <a:gd name="T20" fmla="*/ 0 w 141"/>
                <a:gd name="T21" fmla="*/ 1 h 241"/>
                <a:gd name="T22" fmla="*/ 0 w 141"/>
                <a:gd name="T23" fmla="*/ 1 h 241"/>
                <a:gd name="T24" fmla="*/ 0 w 141"/>
                <a:gd name="T25" fmla="*/ 1 h 241"/>
                <a:gd name="T26" fmla="*/ 0 w 141"/>
                <a:gd name="T27" fmla="*/ 1 h 241"/>
                <a:gd name="T28" fmla="*/ 0 w 141"/>
                <a:gd name="T29" fmla="*/ 1 h 241"/>
                <a:gd name="T30" fmla="*/ 0 w 141"/>
                <a:gd name="T31" fmla="*/ 1 h 241"/>
                <a:gd name="T32" fmla="*/ 0 w 141"/>
                <a:gd name="T33" fmla="*/ 1 h 241"/>
                <a:gd name="T34" fmla="*/ 0 w 141"/>
                <a:gd name="T35" fmla="*/ 1 h 241"/>
                <a:gd name="T36" fmla="*/ 0 w 141"/>
                <a:gd name="T37" fmla="*/ 1 h 241"/>
                <a:gd name="T38" fmla="*/ 0 w 141"/>
                <a:gd name="T39" fmla="*/ 1 h 241"/>
                <a:gd name="T40" fmla="*/ 0 w 141"/>
                <a:gd name="T41" fmla="*/ 1 h 241"/>
                <a:gd name="T42" fmla="*/ 0 w 141"/>
                <a:gd name="T43" fmla="*/ 1 h 241"/>
                <a:gd name="T44" fmla="*/ 0 w 141"/>
                <a:gd name="T45" fmla="*/ 1 h 241"/>
                <a:gd name="T46" fmla="*/ 0 w 141"/>
                <a:gd name="T47" fmla="*/ 1 h 241"/>
                <a:gd name="T48" fmla="*/ 0 w 141"/>
                <a:gd name="T49" fmla="*/ 1 h 241"/>
                <a:gd name="T50" fmla="*/ 0 w 141"/>
                <a:gd name="T51" fmla="*/ 1 h 241"/>
                <a:gd name="T52" fmla="*/ 0 w 141"/>
                <a:gd name="T53" fmla="*/ 1 h 241"/>
                <a:gd name="T54" fmla="*/ 0 w 141"/>
                <a:gd name="T55" fmla="*/ 1 h 241"/>
                <a:gd name="T56" fmla="*/ 0 w 141"/>
                <a:gd name="T57" fmla="*/ 1 h 241"/>
                <a:gd name="T58" fmla="*/ 0 w 141"/>
                <a:gd name="T59" fmla="*/ 1 h 241"/>
                <a:gd name="T60" fmla="*/ 0 w 141"/>
                <a:gd name="T61" fmla="*/ 1 h 241"/>
                <a:gd name="T62" fmla="*/ 0 w 141"/>
                <a:gd name="T63" fmla="*/ 1 h 241"/>
                <a:gd name="T64" fmla="*/ 0 w 141"/>
                <a:gd name="T65" fmla="*/ 1 h 241"/>
                <a:gd name="T66" fmla="*/ 0 w 141"/>
                <a:gd name="T67" fmla="*/ 1 h 241"/>
                <a:gd name="T68" fmla="*/ 0 w 141"/>
                <a:gd name="T69" fmla="*/ 1 h 241"/>
                <a:gd name="T70" fmla="*/ 0 w 141"/>
                <a:gd name="T71" fmla="*/ 1 h 241"/>
                <a:gd name="T72" fmla="*/ 0 w 141"/>
                <a:gd name="T73" fmla="*/ 1 h 241"/>
                <a:gd name="T74" fmla="*/ 0 w 141"/>
                <a:gd name="T75" fmla="*/ 1 h 241"/>
                <a:gd name="T76" fmla="*/ 0 w 141"/>
                <a:gd name="T77" fmla="*/ 1 h 241"/>
                <a:gd name="T78" fmla="*/ 0 w 141"/>
                <a:gd name="T79" fmla="*/ 1 h 241"/>
                <a:gd name="T80" fmla="*/ 0 w 141"/>
                <a:gd name="T81" fmla="*/ 1 h 241"/>
                <a:gd name="T82" fmla="*/ 0 w 141"/>
                <a:gd name="T83" fmla="*/ 1 h 241"/>
                <a:gd name="T84" fmla="*/ 0 w 141"/>
                <a:gd name="T85" fmla="*/ 1 h 241"/>
                <a:gd name="T86" fmla="*/ 0 w 141"/>
                <a:gd name="T87" fmla="*/ 1 h 241"/>
                <a:gd name="T88" fmla="*/ 0 w 141"/>
                <a:gd name="T89" fmla="*/ 1 h 241"/>
                <a:gd name="T90" fmla="*/ 0 w 141"/>
                <a:gd name="T91" fmla="*/ 1 h 241"/>
                <a:gd name="T92" fmla="*/ 0 w 141"/>
                <a:gd name="T93" fmla="*/ 1 h 241"/>
                <a:gd name="T94" fmla="*/ 0 w 141"/>
                <a:gd name="T95" fmla="*/ 1 h 241"/>
                <a:gd name="T96" fmla="*/ 0 w 141"/>
                <a:gd name="T97" fmla="*/ 1 h 241"/>
                <a:gd name="T98" fmla="*/ 0 w 141"/>
                <a:gd name="T99" fmla="*/ 1 h 241"/>
                <a:gd name="T100" fmla="*/ 0 w 141"/>
                <a:gd name="T101" fmla="*/ 1 h 241"/>
                <a:gd name="T102" fmla="*/ 0 w 141"/>
                <a:gd name="T103" fmla="*/ 1 h 241"/>
                <a:gd name="T104" fmla="*/ 0 w 141"/>
                <a:gd name="T105" fmla="*/ 1 h 241"/>
                <a:gd name="T106" fmla="*/ 0 w 141"/>
                <a:gd name="T107" fmla="*/ 1 h 241"/>
                <a:gd name="T108" fmla="*/ 0 w 141"/>
                <a:gd name="T109" fmla="*/ 1 h 241"/>
                <a:gd name="T110" fmla="*/ 0 w 141"/>
                <a:gd name="T111" fmla="*/ 1 h 241"/>
                <a:gd name="T112" fmla="*/ 0 w 141"/>
                <a:gd name="T113" fmla="*/ 0 h 241"/>
                <a:gd name="T114" fmla="*/ 0 w 141"/>
                <a:gd name="T115" fmla="*/ 0 h 24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41"/>
                <a:gd name="T175" fmla="*/ 0 h 241"/>
                <a:gd name="T176" fmla="*/ 141 w 141"/>
                <a:gd name="T177" fmla="*/ 241 h 24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41" h="241">
                  <a:moveTo>
                    <a:pt x="23" y="0"/>
                  </a:moveTo>
                  <a:lnTo>
                    <a:pt x="34" y="3"/>
                  </a:lnTo>
                  <a:lnTo>
                    <a:pt x="44" y="9"/>
                  </a:lnTo>
                  <a:lnTo>
                    <a:pt x="53" y="13"/>
                  </a:lnTo>
                  <a:lnTo>
                    <a:pt x="65" y="21"/>
                  </a:lnTo>
                  <a:lnTo>
                    <a:pt x="72" y="26"/>
                  </a:lnTo>
                  <a:lnTo>
                    <a:pt x="80" y="32"/>
                  </a:lnTo>
                  <a:lnTo>
                    <a:pt x="87" y="40"/>
                  </a:lnTo>
                  <a:lnTo>
                    <a:pt x="95" y="49"/>
                  </a:lnTo>
                  <a:lnTo>
                    <a:pt x="101" y="59"/>
                  </a:lnTo>
                  <a:lnTo>
                    <a:pt x="106" y="68"/>
                  </a:lnTo>
                  <a:lnTo>
                    <a:pt x="112" y="80"/>
                  </a:lnTo>
                  <a:lnTo>
                    <a:pt x="118" y="93"/>
                  </a:lnTo>
                  <a:lnTo>
                    <a:pt x="124" y="104"/>
                  </a:lnTo>
                  <a:lnTo>
                    <a:pt x="127" y="116"/>
                  </a:lnTo>
                  <a:lnTo>
                    <a:pt x="133" y="129"/>
                  </a:lnTo>
                  <a:lnTo>
                    <a:pt x="137" y="142"/>
                  </a:lnTo>
                  <a:lnTo>
                    <a:pt x="137" y="156"/>
                  </a:lnTo>
                  <a:lnTo>
                    <a:pt x="139" y="167"/>
                  </a:lnTo>
                  <a:lnTo>
                    <a:pt x="141" y="180"/>
                  </a:lnTo>
                  <a:lnTo>
                    <a:pt x="141" y="194"/>
                  </a:lnTo>
                  <a:lnTo>
                    <a:pt x="141" y="205"/>
                  </a:lnTo>
                  <a:lnTo>
                    <a:pt x="141" y="218"/>
                  </a:lnTo>
                  <a:lnTo>
                    <a:pt x="141" y="230"/>
                  </a:lnTo>
                  <a:lnTo>
                    <a:pt x="141" y="241"/>
                  </a:lnTo>
                  <a:lnTo>
                    <a:pt x="127" y="237"/>
                  </a:lnTo>
                  <a:lnTo>
                    <a:pt x="118" y="233"/>
                  </a:lnTo>
                  <a:lnTo>
                    <a:pt x="108" y="228"/>
                  </a:lnTo>
                  <a:lnTo>
                    <a:pt x="99" y="222"/>
                  </a:lnTo>
                  <a:lnTo>
                    <a:pt x="89" y="214"/>
                  </a:lnTo>
                  <a:lnTo>
                    <a:pt x="80" y="209"/>
                  </a:lnTo>
                  <a:lnTo>
                    <a:pt x="72" y="201"/>
                  </a:lnTo>
                  <a:lnTo>
                    <a:pt x="65" y="195"/>
                  </a:lnTo>
                  <a:lnTo>
                    <a:pt x="57" y="188"/>
                  </a:lnTo>
                  <a:lnTo>
                    <a:pt x="47" y="178"/>
                  </a:lnTo>
                  <a:lnTo>
                    <a:pt x="40" y="171"/>
                  </a:lnTo>
                  <a:lnTo>
                    <a:pt x="32" y="165"/>
                  </a:lnTo>
                  <a:lnTo>
                    <a:pt x="25" y="157"/>
                  </a:lnTo>
                  <a:lnTo>
                    <a:pt x="15" y="152"/>
                  </a:lnTo>
                  <a:lnTo>
                    <a:pt x="8" y="144"/>
                  </a:lnTo>
                  <a:lnTo>
                    <a:pt x="0" y="140"/>
                  </a:lnTo>
                  <a:lnTo>
                    <a:pt x="2" y="131"/>
                  </a:lnTo>
                  <a:lnTo>
                    <a:pt x="4" y="123"/>
                  </a:lnTo>
                  <a:lnTo>
                    <a:pt x="4" y="114"/>
                  </a:lnTo>
                  <a:lnTo>
                    <a:pt x="4" y="104"/>
                  </a:lnTo>
                  <a:lnTo>
                    <a:pt x="4" y="95"/>
                  </a:lnTo>
                  <a:lnTo>
                    <a:pt x="4" y="85"/>
                  </a:lnTo>
                  <a:lnTo>
                    <a:pt x="4" y="76"/>
                  </a:lnTo>
                  <a:lnTo>
                    <a:pt x="4" y="66"/>
                  </a:lnTo>
                  <a:lnTo>
                    <a:pt x="4" y="57"/>
                  </a:lnTo>
                  <a:lnTo>
                    <a:pt x="4" y="47"/>
                  </a:lnTo>
                  <a:lnTo>
                    <a:pt x="4" y="38"/>
                  </a:lnTo>
                  <a:lnTo>
                    <a:pt x="6" y="30"/>
                  </a:lnTo>
                  <a:lnTo>
                    <a:pt x="8" y="21"/>
                  </a:lnTo>
                  <a:lnTo>
                    <a:pt x="11" y="13"/>
                  </a:lnTo>
                  <a:lnTo>
                    <a:pt x="15" y="5"/>
                  </a:lnTo>
                  <a:lnTo>
                    <a:pt x="23" y="0"/>
                  </a:lnTo>
                  <a:close/>
                </a:path>
              </a:pathLst>
            </a:custGeom>
            <a:solidFill>
              <a:srgbClr val="E6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05" name="Freeform 17"/>
            <p:cNvSpPr>
              <a:spLocks/>
            </p:cNvSpPr>
            <p:nvPr/>
          </p:nvSpPr>
          <p:spPr bwMode="auto">
            <a:xfrm>
              <a:off x="3980" y="2080"/>
              <a:ext cx="385" cy="431"/>
            </a:xfrm>
            <a:custGeom>
              <a:avLst/>
              <a:gdLst>
                <a:gd name="T0" fmla="*/ 2 w 770"/>
                <a:gd name="T1" fmla="*/ 1 h 862"/>
                <a:gd name="T2" fmla="*/ 3 w 770"/>
                <a:gd name="T3" fmla="*/ 2 h 862"/>
                <a:gd name="T4" fmla="*/ 3 w 770"/>
                <a:gd name="T5" fmla="*/ 3 h 862"/>
                <a:gd name="T6" fmla="*/ 3 w 770"/>
                <a:gd name="T7" fmla="*/ 3 h 862"/>
                <a:gd name="T8" fmla="*/ 3 w 770"/>
                <a:gd name="T9" fmla="*/ 3 h 862"/>
                <a:gd name="T10" fmla="*/ 3 w 770"/>
                <a:gd name="T11" fmla="*/ 4 h 862"/>
                <a:gd name="T12" fmla="*/ 3 w 770"/>
                <a:gd name="T13" fmla="*/ 4 h 862"/>
                <a:gd name="T14" fmla="*/ 3 w 770"/>
                <a:gd name="T15" fmla="*/ 4 h 862"/>
                <a:gd name="T16" fmla="*/ 3 w 770"/>
                <a:gd name="T17" fmla="*/ 4 h 862"/>
                <a:gd name="T18" fmla="*/ 3 w 770"/>
                <a:gd name="T19" fmla="*/ 4 h 862"/>
                <a:gd name="T20" fmla="*/ 3 w 770"/>
                <a:gd name="T21" fmla="*/ 4 h 862"/>
                <a:gd name="T22" fmla="*/ 3 w 770"/>
                <a:gd name="T23" fmla="*/ 3 h 862"/>
                <a:gd name="T24" fmla="*/ 3 w 770"/>
                <a:gd name="T25" fmla="*/ 3 h 862"/>
                <a:gd name="T26" fmla="*/ 2 w 770"/>
                <a:gd name="T27" fmla="*/ 3 h 862"/>
                <a:gd name="T28" fmla="*/ 2 w 770"/>
                <a:gd name="T29" fmla="*/ 3 h 862"/>
                <a:gd name="T30" fmla="*/ 3 w 770"/>
                <a:gd name="T31" fmla="*/ 3 h 862"/>
                <a:gd name="T32" fmla="*/ 3 w 770"/>
                <a:gd name="T33" fmla="*/ 3 h 862"/>
                <a:gd name="T34" fmla="*/ 2 w 770"/>
                <a:gd name="T35" fmla="*/ 3 h 862"/>
                <a:gd name="T36" fmla="*/ 2 w 770"/>
                <a:gd name="T37" fmla="*/ 3 h 862"/>
                <a:gd name="T38" fmla="*/ 2 w 770"/>
                <a:gd name="T39" fmla="*/ 3 h 862"/>
                <a:gd name="T40" fmla="*/ 2 w 770"/>
                <a:gd name="T41" fmla="*/ 3 h 862"/>
                <a:gd name="T42" fmla="*/ 2 w 770"/>
                <a:gd name="T43" fmla="*/ 3 h 862"/>
                <a:gd name="T44" fmla="*/ 2 w 770"/>
                <a:gd name="T45" fmla="*/ 3 h 862"/>
                <a:gd name="T46" fmla="*/ 2 w 770"/>
                <a:gd name="T47" fmla="*/ 3 h 862"/>
                <a:gd name="T48" fmla="*/ 2 w 770"/>
                <a:gd name="T49" fmla="*/ 3 h 862"/>
                <a:gd name="T50" fmla="*/ 2 w 770"/>
                <a:gd name="T51" fmla="*/ 3 h 862"/>
                <a:gd name="T52" fmla="*/ 2 w 770"/>
                <a:gd name="T53" fmla="*/ 2 h 862"/>
                <a:gd name="T54" fmla="*/ 2 w 770"/>
                <a:gd name="T55" fmla="*/ 2 h 862"/>
                <a:gd name="T56" fmla="*/ 2 w 770"/>
                <a:gd name="T57" fmla="*/ 2 h 862"/>
                <a:gd name="T58" fmla="*/ 2 w 770"/>
                <a:gd name="T59" fmla="*/ 2 h 862"/>
                <a:gd name="T60" fmla="*/ 2 w 770"/>
                <a:gd name="T61" fmla="*/ 2 h 862"/>
                <a:gd name="T62" fmla="*/ 2 w 770"/>
                <a:gd name="T63" fmla="*/ 2 h 862"/>
                <a:gd name="T64" fmla="*/ 2 w 770"/>
                <a:gd name="T65" fmla="*/ 2 h 862"/>
                <a:gd name="T66" fmla="*/ 2 w 770"/>
                <a:gd name="T67" fmla="*/ 2 h 862"/>
                <a:gd name="T68" fmla="*/ 2 w 770"/>
                <a:gd name="T69" fmla="*/ 3 h 862"/>
                <a:gd name="T70" fmla="*/ 2 w 770"/>
                <a:gd name="T71" fmla="*/ 2 h 862"/>
                <a:gd name="T72" fmla="*/ 2 w 770"/>
                <a:gd name="T73" fmla="*/ 2 h 862"/>
                <a:gd name="T74" fmla="*/ 2 w 770"/>
                <a:gd name="T75" fmla="*/ 2 h 862"/>
                <a:gd name="T76" fmla="*/ 2 w 770"/>
                <a:gd name="T77" fmla="*/ 2 h 862"/>
                <a:gd name="T78" fmla="*/ 2 w 770"/>
                <a:gd name="T79" fmla="*/ 2 h 862"/>
                <a:gd name="T80" fmla="*/ 2 w 770"/>
                <a:gd name="T81" fmla="*/ 1 h 862"/>
                <a:gd name="T82" fmla="*/ 2 w 770"/>
                <a:gd name="T83" fmla="*/ 1 h 862"/>
                <a:gd name="T84" fmla="*/ 1 w 770"/>
                <a:gd name="T85" fmla="*/ 1 h 862"/>
                <a:gd name="T86" fmla="*/ 1 w 770"/>
                <a:gd name="T87" fmla="*/ 1 h 862"/>
                <a:gd name="T88" fmla="*/ 1 w 770"/>
                <a:gd name="T89" fmla="*/ 2 h 862"/>
                <a:gd name="T90" fmla="*/ 1 w 770"/>
                <a:gd name="T91" fmla="*/ 2 h 862"/>
                <a:gd name="T92" fmla="*/ 1 w 770"/>
                <a:gd name="T93" fmla="*/ 3 h 862"/>
                <a:gd name="T94" fmla="*/ 1 w 770"/>
                <a:gd name="T95" fmla="*/ 3 h 862"/>
                <a:gd name="T96" fmla="*/ 1 w 770"/>
                <a:gd name="T97" fmla="*/ 2 h 862"/>
                <a:gd name="T98" fmla="*/ 1 w 770"/>
                <a:gd name="T99" fmla="*/ 2 h 862"/>
                <a:gd name="T100" fmla="*/ 1 w 770"/>
                <a:gd name="T101" fmla="*/ 2 h 862"/>
                <a:gd name="T102" fmla="*/ 1 w 770"/>
                <a:gd name="T103" fmla="*/ 2 h 862"/>
                <a:gd name="T104" fmla="*/ 1 w 770"/>
                <a:gd name="T105" fmla="*/ 1 h 862"/>
                <a:gd name="T106" fmla="*/ 1 w 770"/>
                <a:gd name="T107" fmla="*/ 1 h 8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770"/>
                <a:gd name="T163" fmla="*/ 0 h 862"/>
                <a:gd name="T164" fmla="*/ 770 w 770"/>
                <a:gd name="T165" fmla="*/ 862 h 86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770" h="862">
                  <a:moveTo>
                    <a:pt x="154" y="0"/>
                  </a:moveTo>
                  <a:lnTo>
                    <a:pt x="203" y="10"/>
                  </a:lnTo>
                  <a:lnTo>
                    <a:pt x="249" y="31"/>
                  </a:lnTo>
                  <a:lnTo>
                    <a:pt x="287" y="56"/>
                  </a:lnTo>
                  <a:lnTo>
                    <a:pt x="321" y="84"/>
                  </a:lnTo>
                  <a:lnTo>
                    <a:pt x="351" y="116"/>
                  </a:lnTo>
                  <a:lnTo>
                    <a:pt x="378" y="152"/>
                  </a:lnTo>
                  <a:lnTo>
                    <a:pt x="401" y="190"/>
                  </a:lnTo>
                  <a:lnTo>
                    <a:pt x="426" y="234"/>
                  </a:lnTo>
                  <a:lnTo>
                    <a:pt x="446" y="274"/>
                  </a:lnTo>
                  <a:lnTo>
                    <a:pt x="465" y="320"/>
                  </a:lnTo>
                  <a:lnTo>
                    <a:pt x="486" y="362"/>
                  </a:lnTo>
                  <a:lnTo>
                    <a:pt x="509" y="405"/>
                  </a:lnTo>
                  <a:lnTo>
                    <a:pt x="532" y="445"/>
                  </a:lnTo>
                  <a:lnTo>
                    <a:pt x="559" y="485"/>
                  </a:lnTo>
                  <a:lnTo>
                    <a:pt x="589" y="523"/>
                  </a:lnTo>
                  <a:lnTo>
                    <a:pt x="623" y="559"/>
                  </a:lnTo>
                  <a:lnTo>
                    <a:pt x="627" y="548"/>
                  </a:lnTo>
                  <a:lnTo>
                    <a:pt x="625" y="540"/>
                  </a:lnTo>
                  <a:lnTo>
                    <a:pt x="620" y="531"/>
                  </a:lnTo>
                  <a:lnTo>
                    <a:pt x="616" y="525"/>
                  </a:lnTo>
                  <a:lnTo>
                    <a:pt x="631" y="529"/>
                  </a:lnTo>
                  <a:lnTo>
                    <a:pt x="648" y="537"/>
                  </a:lnTo>
                  <a:lnTo>
                    <a:pt x="661" y="546"/>
                  </a:lnTo>
                  <a:lnTo>
                    <a:pt x="675" y="559"/>
                  </a:lnTo>
                  <a:lnTo>
                    <a:pt x="686" y="573"/>
                  </a:lnTo>
                  <a:lnTo>
                    <a:pt x="697" y="588"/>
                  </a:lnTo>
                  <a:lnTo>
                    <a:pt x="707" y="605"/>
                  </a:lnTo>
                  <a:lnTo>
                    <a:pt x="718" y="624"/>
                  </a:lnTo>
                  <a:lnTo>
                    <a:pt x="726" y="641"/>
                  </a:lnTo>
                  <a:lnTo>
                    <a:pt x="734" y="660"/>
                  </a:lnTo>
                  <a:lnTo>
                    <a:pt x="741" y="677"/>
                  </a:lnTo>
                  <a:lnTo>
                    <a:pt x="747" y="698"/>
                  </a:lnTo>
                  <a:lnTo>
                    <a:pt x="753" y="717"/>
                  </a:lnTo>
                  <a:lnTo>
                    <a:pt x="758" y="736"/>
                  </a:lnTo>
                  <a:lnTo>
                    <a:pt x="762" y="753"/>
                  </a:lnTo>
                  <a:lnTo>
                    <a:pt x="768" y="772"/>
                  </a:lnTo>
                  <a:lnTo>
                    <a:pt x="768" y="782"/>
                  </a:lnTo>
                  <a:lnTo>
                    <a:pt x="770" y="791"/>
                  </a:lnTo>
                  <a:lnTo>
                    <a:pt x="766" y="799"/>
                  </a:lnTo>
                  <a:lnTo>
                    <a:pt x="762" y="808"/>
                  </a:lnTo>
                  <a:lnTo>
                    <a:pt x="756" y="816"/>
                  </a:lnTo>
                  <a:lnTo>
                    <a:pt x="749" y="822"/>
                  </a:lnTo>
                  <a:lnTo>
                    <a:pt x="739" y="829"/>
                  </a:lnTo>
                  <a:lnTo>
                    <a:pt x="732" y="835"/>
                  </a:lnTo>
                  <a:lnTo>
                    <a:pt x="718" y="839"/>
                  </a:lnTo>
                  <a:lnTo>
                    <a:pt x="707" y="844"/>
                  </a:lnTo>
                  <a:lnTo>
                    <a:pt x="696" y="848"/>
                  </a:lnTo>
                  <a:lnTo>
                    <a:pt x="684" y="852"/>
                  </a:lnTo>
                  <a:lnTo>
                    <a:pt x="673" y="854"/>
                  </a:lnTo>
                  <a:lnTo>
                    <a:pt x="661" y="858"/>
                  </a:lnTo>
                  <a:lnTo>
                    <a:pt x="650" y="860"/>
                  </a:lnTo>
                  <a:lnTo>
                    <a:pt x="642" y="862"/>
                  </a:lnTo>
                  <a:lnTo>
                    <a:pt x="640" y="850"/>
                  </a:lnTo>
                  <a:lnTo>
                    <a:pt x="646" y="841"/>
                  </a:lnTo>
                  <a:lnTo>
                    <a:pt x="652" y="831"/>
                  </a:lnTo>
                  <a:lnTo>
                    <a:pt x="663" y="824"/>
                  </a:lnTo>
                  <a:lnTo>
                    <a:pt x="671" y="814"/>
                  </a:lnTo>
                  <a:lnTo>
                    <a:pt x="678" y="805"/>
                  </a:lnTo>
                  <a:lnTo>
                    <a:pt x="684" y="795"/>
                  </a:lnTo>
                  <a:lnTo>
                    <a:pt x="688" y="786"/>
                  </a:lnTo>
                  <a:lnTo>
                    <a:pt x="675" y="787"/>
                  </a:lnTo>
                  <a:lnTo>
                    <a:pt x="665" y="793"/>
                  </a:lnTo>
                  <a:lnTo>
                    <a:pt x="658" y="799"/>
                  </a:lnTo>
                  <a:lnTo>
                    <a:pt x="650" y="808"/>
                  </a:lnTo>
                  <a:lnTo>
                    <a:pt x="642" y="816"/>
                  </a:lnTo>
                  <a:lnTo>
                    <a:pt x="633" y="825"/>
                  </a:lnTo>
                  <a:lnTo>
                    <a:pt x="625" y="833"/>
                  </a:lnTo>
                  <a:lnTo>
                    <a:pt x="620" y="843"/>
                  </a:lnTo>
                  <a:lnTo>
                    <a:pt x="608" y="833"/>
                  </a:lnTo>
                  <a:lnTo>
                    <a:pt x="599" y="824"/>
                  </a:lnTo>
                  <a:lnTo>
                    <a:pt x="585" y="820"/>
                  </a:lnTo>
                  <a:lnTo>
                    <a:pt x="576" y="825"/>
                  </a:lnTo>
                  <a:lnTo>
                    <a:pt x="574" y="818"/>
                  </a:lnTo>
                  <a:lnTo>
                    <a:pt x="576" y="812"/>
                  </a:lnTo>
                  <a:lnTo>
                    <a:pt x="578" y="803"/>
                  </a:lnTo>
                  <a:lnTo>
                    <a:pt x="583" y="793"/>
                  </a:lnTo>
                  <a:lnTo>
                    <a:pt x="589" y="782"/>
                  </a:lnTo>
                  <a:lnTo>
                    <a:pt x="595" y="772"/>
                  </a:lnTo>
                  <a:lnTo>
                    <a:pt x="602" y="761"/>
                  </a:lnTo>
                  <a:lnTo>
                    <a:pt x="608" y="751"/>
                  </a:lnTo>
                  <a:lnTo>
                    <a:pt x="612" y="740"/>
                  </a:lnTo>
                  <a:lnTo>
                    <a:pt x="616" y="732"/>
                  </a:lnTo>
                  <a:lnTo>
                    <a:pt x="618" y="723"/>
                  </a:lnTo>
                  <a:lnTo>
                    <a:pt x="618" y="715"/>
                  </a:lnTo>
                  <a:lnTo>
                    <a:pt x="614" y="710"/>
                  </a:lnTo>
                  <a:lnTo>
                    <a:pt x="606" y="706"/>
                  </a:lnTo>
                  <a:lnTo>
                    <a:pt x="595" y="704"/>
                  </a:lnTo>
                  <a:lnTo>
                    <a:pt x="580" y="706"/>
                  </a:lnTo>
                  <a:lnTo>
                    <a:pt x="576" y="713"/>
                  </a:lnTo>
                  <a:lnTo>
                    <a:pt x="570" y="723"/>
                  </a:lnTo>
                  <a:lnTo>
                    <a:pt x="562" y="732"/>
                  </a:lnTo>
                  <a:lnTo>
                    <a:pt x="553" y="740"/>
                  </a:lnTo>
                  <a:lnTo>
                    <a:pt x="542" y="746"/>
                  </a:lnTo>
                  <a:lnTo>
                    <a:pt x="530" y="751"/>
                  </a:lnTo>
                  <a:lnTo>
                    <a:pt x="521" y="757"/>
                  </a:lnTo>
                  <a:lnTo>
                    <a:pt x="509" y="763"/>
                  </a:lnTo>
                  <a:lnTo>
                    <a:pt x="498" y="763"/>
                  </a:lnTo>
                  <a:lnTo>
                    <a:pt x="486" y="767"/>
                  </a:lnTo>
                  <a:lnTo>
                    <a:pt x="477" y="767"/>
                  </a:lnTo>
                  <a:lnTo>
                    <a:pt x="469" y="767"/>
                  </a:lnTo>
                  <a:lnTo>
                    <a:pt x="458" y="763"/>
                  </a:lnTo>
                  <a:lnTo>
                    <a:pt x="456" y="755"/>
                  </a:lnTo>
                  <a:lnTo>
                    <a:pt x="464" y="748"/>
                  </a:lnTo>
                  <a:lnTo>
                    <a:pt x="475" y="740"/>
                  </a:lnTo>
                  <a:lnTo>
                    <a:pt x="486" y="732"/>
                  </a:lnTo>
                  <a:lnTo>
                    <a:pt x="496" y="723"/>
                  </a:lnTo>
                  <a:lnTo>
                    <a:pt x="505" y="713"/>
                  </a:lnTo>
                  <a:lnTo>
                    <a:pt x="515" y="706"/>
                  </a:lnTo>
                  <a:lnTo>
                    <a:pt x="523" y="698"/>
                  </a:lnTo>
                  <a:lnTo>
                    <a:pt x="532" y="690"/>
                  </a:lnTo>
                  <a:lnTo>
                    <a:pt x="536" y="681"/>
                  </a:lnTo>
                  <a:lnTo>
                    <a:pt x="542" y="671"/>
                  </a:lnTo>
                  <a:lnTo>
                    <a:pt x="545" y="660"/>
                  </a:lnTo>
                  <a:lnTo>
                    <a:pt x="545" y="651"/>
                  </a:lnTo>
                  <a:lnTo>
                    <a:pt x="545" y="639"/>
                  </a:lnTo>
                  <a:lnTo>
                    <a:pt x="542" y="630"/>
                  </a:lnTo>
                  <a:lnTo>
                    <a:pt x="536" y="616"/>
                  </a:lnTo>
                  <a:lnTo>
                    <a:pt x="528" y="607"/>
                  </a:lnTo>
                  <a:lnTo>
                    <a:pt x="521" y="607"/>
                  </a:lnTo>
                  <a:lnTo>
                    <a:pt x="513" y="611"/>
                  </a:lnTo>
                  <a:lnTo>
                    <a:pt x="505" y="614"/>
                  </a:lnTo>
                  <a:lnTo>
                    <a:pt x="500" y="620"/>
                  </a:lnTo>
                  <a:lnTo>
                    <a:pt x="488" y="630"/>
                  </a:lnTo>
                  <a:lnTo>
                    <a:pt x="477" y="645"/>
                  </a:lnTo>
                  <a:lnTo>
                    <a:pt x="464" y="656"/>
                  </a:lnTo>
                  <a:lnTo>
                    <a:pt x="454" y="671"/>
                  </a:lnTo>
                  <a:lnTo>
                    <a:pt x="443" y="685"/>
                  </a:lnTo>
                  <a:lnTo>
                    <a:pt x="429" y="696"/>
                  </a:lnTo>
                  <a:lnTo>
                    <a:pt x="424" y="700"/>
                  </a:lnTo>
                  <a:lnTo>
                    <a:pt x="416" y="704"/>
                  </a:lnTo>
                  <a:lnTo>
                    <a:pt x="408" y="706"/>
                  </a:lnTo>
                  <a:lnTo>
                    <a:pt x="401" y="710"/>
                  </a:lnTo>
                  <a:lnTo>
                    <a:pt x="393" y="710"/>
                  </a:lnTo>
                  <a:lnTo>
                    <a:pt x="386" y="710"/>
                  </a:lnTo>
                  <a:lnTo>
                    <a:pt x="374" y="708"/>
                  </a:lnTo>
                  <a:lnTo>
                    <a:pt x="367" y="706"/>
                  </a:lnTo>
                  <a:lnTo>
                    <a:pt x="367" y="698"/>
                  </a:lnTo>
                  <a:lnTo>
                    <a:pt x="370" y="690"/>
                  </a:lnTo>
                  <a:lnTo>
                    <a:pt x="374" y="683"/>
                  </a:lnTo>
                  <a:lnTo>
                    <a:pt x="384" y="675"/>
                  </a:lnTo>
                  <a:lnTo>
                    <a:pt x="388" y="668"/>
                  </a:lnTo>
                  <a:lnTo>
                    <a:pt x="397" y="660"/>
                  </a:lnTo>
                  <a:lnTo>
                    <a:pt x="405" y="654"/>
                  </a:lnTo>
                  <a:lnTo>
                    <a:pt x="414" y="647"/>
                  </a:lnTo>
                  <a:lnTo>
                    <a:pt x="422" y="639"/>
                  </a:lnTo>
                  <a:lnTo>
                    <a:pt x="429" y="632"/>
                  </a:lnTo>
                  <a:lnTo>
                    <a:pt x="437" y="624"/>
                  </a:lnTo>
                  <a:lnTo>
                    <a:pt x="446" y="616"/>
                  </a:lnTo>
                  <a:lnTo>
                    <a:pt x="450" y="607"/>
                  </a:lnTo>
                  <a:lnTo>
                    <a:pt x="458" y="599"/>
                  </a:lnTo>
                  <a:lnTo>
                    <a:pt x="462" y="590"/>
                  </a:lnTo>
                  <a:lnTo>
                    <a:pt x="465" y="582"/>
                  </a:lnTo>
                  <a:lnTo>
                    <a:pt x="460" y="584"/>
                  </a:lnTo>
                  <a:lnTo>
                    <a:pt x="452" y="586"/>
                  </a:lnTo>
                  <a:lnTo>
                    <a:pt x="445" y="590"/>
                  </a:lnTo>
                  <a:lnTo>
                    <a:pt x="437" y="594"/>
                  </a:lnTo>
                  <a:lnTo>
                    <a:pt x="429" y="597"/>
                  </a:lnTo>
                  <a:lnTo>
                    <a:pt x="422" y="603"/>
                  </a:lnTo>
                  <a:lnTo>
                    <a:pt x="414" y="609"/>
                  </a:lnTo>
                  <a:lnTo>
                    <a:pt x="407" y="614"/>
                  </a:lnTo>
                  <a:lnTo>
                    <a:pt x="397" y="620"/>
                  </a:lnTo>
                  <a:lnTo>
                    <a:pt x="388" y="624"/>
                  </a:lnTo>
                  <a:lnTo>
                    <a:pt x="378" y="630"/>
                  </a:lnTo>
                  <a:lnTo>
                    <a:pt x="370" y="635"/>
                  </a:lnTo>
                  <a:lnTo>
                    <a:pt x="361" y="639"/>
                  </a:lnTo>
                  <a:lnTo>
                    <a:pt x="353" y="643"/>
                  </a:lnTo>
                  <a:lnTo>
                    <a:pt x="346" y="647"/>
                  </a:lnTo>
                  <a:lnTo>
                    <a:pt x="340" y="651"/>
                  </a:lnTo>
                  <a:lnTo>
                    <a:pt x="329" y="652"/>
                  </a:lnTo>
                  <a:lnTo>
                    <a:pt x="321" y="654"/>
                  </a:lnTo>
                  <a:lnTo>
                    <a:pt x="313" y="652"/>
                  </a:lnTo>
                  <a:lnTo>
                    <a:pt x="308" y="651"/>
                  </a:lnTo>
                  <a:lnTo>
                    <a:pt x="304" y="643"/>
                  </a:lnTo>
                  <a:lnTo>
                    <a:pt x="302" y="637"/>
                  </a:lnTo>
                  <a:lnTo>
                    <a:pt x="300" y="630"/>
                  </a:lnTo>
                  <a:lnTo>
                    <a:pt x="300" y="624"/>
                  </a:lnTo>
                  <a:lnTo>
                    <a:pt x="300" y="618"/>
                  </a:lnTo>
                  <a:lnTo>
                    <a:pt x="304" y="611"/>
                  </a:lnTo>
                  <a:lnTo>
                    <a:pt x="317" y="601"/>
                  </a:lnTo>
                  <a:lnTo>
                    <a:pt x="334" y="592"/>
                  </a:lnTo>
                  <a:lnTo>
                    <a:pt x="350" y="582"/>
                  </a:lnTo>
                  <a:lnTo>
                    <a:pt x="367" y="573"/>
                  </a:lnTo>
                  <a:lnTo>
                    <a:pt x="380" y="561"/>
                  </a:lnTo>
                  <a:lnTo>
                    <a:pt x="395" y="550"/>
                  </a:lnTo>
                  <a:lnTo>
                    <a:pt x="408" y="538"/>
                  </a:lnTo>
                  <a:lnTo>
                    <a:pt x="422" y="525"/>
                  </a:lnTo>
                  <a:lnTo>
                    <a:pt x="431" y="512"/>
                  </a:lnTo>
                  <a:lnTo>
                    <a:pt x="441" y="498"/>
                  </a:lnTo>
                  <a:lnTo>
                    <a:pt x="446" y="483"/>
                  </a:lnTo>
                  <a:lnTo>
                    <a:pt x="450" y="468"/>
                  </a:lnTo>
                  <a:lnTo>
                    <a:pt x="452" y="451"/>
                  </a:lnTo>
                  <a:lnTo>
                    <a:pt x="452" y="436"/>
                  </a:lnTo>
                  <a:lnTo>
                    <a:pt x="448" y="417"/>
                  </a:lnTo>
                  <a:lnTo>
                    <a:pt x="443" y="398"/>
                  </a:lnTo>
                  <a:lnTo>
                    <a:pt x="443" y="390"/>
                  </a:lnTo>
                  <a:lnTo>
                    <a:pt x="443" y="386"/>
                  </a:lnTo>
                  <a:lnTo>
                    <a:pt x="439" y="396"/>
                  </a:lnTo>
                  <a:lnTo>
                    <a:pt x="435" y="403"/>
                  </a:lnTo>
                  <a:lnTo>
                    <a:pt x="431" y="411"/>
                  </a:lnTo>
                  <a:lnTo>
                    <a:pt x="427" y="419"/>
                  </a:lnTo>
                  <a:lnTo>
                    <a:pt x="424" y="428"/>
                  </a:lnTo>
                  <a:lnTo>
                    <a:pt x="420" y="436"/>
                  </a:lnTo>
                  <a:lnTo>
                    <a:pt x="416" y="443"/>
                  </a:lnTo>
                  <a:lnTo>
                    <a:pt x="414" y="453"/>
                  </a:lnTo>
                  <a:lnTo>
                    <a:pt x="410" y="460"/>
                  </a:lnTo>
                  <a:lnTo>
                    <a:pt x="407" y="470"/>
                  </a:lnTo>
                  <a:lnTo>
                    <a:pt x="405" y="479"/>
                  </a:lnTo>
                  <a:lnTo>
                    <a:pt x="401" y="489"/>
                  </a:lnTo>
                  <a:lnTo>
                    <a:pt x="399" y="497"/>
                  </a:lnTo>
                  <a:lnTo>
                    <a:pt x="397" y="508"/>
                  </a:lnTo>
                  <a:lnTo>
                    <a:pt x="395" y="517"/>
                  </a:lnTo>
                  <a:lnTo>
                    <a:pt x="395" y="527"/>
                  </a:lnTo>
                  <a:lnTo>
                    <a:pt x="384" y="523"/>
                  </a:lnTo>
                  <a:lnTo>
                    <a:pt x="380" y="521"/>
                  </a:lnTo>
                  <a:lnTo>
                    <a:pt x="374" y="516"/>
                  </a:lnTo>
                  <a:lnTo>
                    <a:pt x="372" y="512"/>
                  </a:lnTo>
                  <a:lnTo>
                    <a:pt x="370" y="502"/>
                  </a:lnTo>
                  <a:lnTo>
                    <a:pt x="374" y="497"/>
                  </a:lnTo>
                  <a:lnTo>
                    <a:pt x="374" y="489"/>
                  </a:lnTo>
                  <a:lnTo>
                    <a:pt x="380" y="481"/>
                  </a:lnTo>
                  <a:lnTo>
                    <a:pt x="382" y="472"/>
                  </a:lnTo>
                  <a:lnTo>
                    <a:pt x="386" y="462"/>
                  </a:lnTo>
                  <a:lnTo>
                    <a:pt x="388" y="455"/>
                  </a:lnTo>
                  <a:lnTo>
                    <a:pt x="393" y="445"/>
                  </a:lnTo>
                  <a:lnTo>
                    <a:pt x="393" y="436"/>
                  </a:lnTo>
                  <a:lnTo>
                    <a:pt x="397" y="428"/>
                  </a:lnTo>
                  <a:lnTo>
                    <a:pt x="395" y="421"/>
                  </a:lnTo>
                  <a:lnTo>
                    <a:pt x="395" y="413"/>
                  </a:lnTo>
                  <a:lnTo>
                    <a:pt x="386" y="419"/>
                  </a:lnTo>
                  <a:lnTo>
                    <a:pt x="380" y="422"/>
                  </a:lnTo>
                  <a:lnTo>
                    <a:pt x="374" y="428"/>
                  </a:lnTo>
                  <a:lnTo>
                    <a:pt x="370" y="436"/>
                  </a:lnTo>
                  <a:lnTo>
                    <a:pt x="367" y="443"/>
                  </a:lnTo>
                  <a:lnTo>
                    <a:pt x="367" y="451"/>
                  </a:lnTo>
                  <a:lnTo>
                    <a:pt x="365" y="459"/>
                  </a:lnTo>
                  <a:lnTo>
                    <a:pt x="365" y="468"/>
                  </a:lnTo>
                  <a:lnTo>
                    <a:pt x="361" y="476"/>
                  </a:lnTo>
                  <a:lnTo>
                    <a:pt x="359" y="483"/>
                  </a:lnTo>
                  <a:lnTo>
                    <a:pt x="357" y="491"/>
                  </a:lnTo>
                  <a:lnTo>
                    <a:pt x="355" y="498"/>
                  </a:lnTo>
                  <a:lnTo>
                    <a:pt x="350" y="504"/>
                  </a:lnTo>
                  <a:lnTo>
                    <a:pt x="344" y="512"/>
                  </a:lnTo>
                  <a:lnTo>
                    <a:pt x="336" y="516"/>
                  </a:lnTo>
                  <a:lnTo>
                    <a:pt x="330" y="521"/>
                  </a:lnTo>
                  <a:lnTo>
                    <a:pt x="330" y="502"/>
                  </a:lnTo>
                  <a:lnTo>
                    <a:pt x="330" y="485"/>
                  </a:lnTo>
                  <a:lnTo>
                    <a:pt x="330" y="468"/>
                  </a:lnTo>
                  <a:lnTo>
                    <a:pt x="334" y="453"/>
                  </a:lnTo>
                  <a:lnTo>
                    <a:pt x="334" y="434"/>
                  </a:lnTo>
                  <a:lnTo>
                    <a:pt x="338" y="419"/>
                  </a:lnTo>
                  <a:lnTo>
                    <a:pt x="340" y="400"/>
                  </a:lnTo>
                  <a:lnTo>
                    <a:pt x="344" y="383"/>
                  </a:lnTo>
                  <a:lnTo>
                    <a:pt x="344" y="364"/>
                  </a:lnTo>
                  <a:lnTo>
                    <a:pt x="348" y="346"/>
                  </a:lnTo>
                  <a:lnTo>
                    <a:pt x="348" y="329"/>
                  </a:lnTo>
                  <a:lnTo>
                    <a:pt x="351" y="312"/>
                  </a:lnTo>
                  <a:lnTo>
                    <a:pt x="351" y="295"/>
                  </a:lnTo>
                  <a:lnTo>
                    <a:pt x="353" y="278"/>
                  </a:lnTo>
                  <a:lnTo>
                    <a:pt x="353" y="261"/>
                  </a:lnTo>
                  <a:lnTo>
                    <a:pt x="353" y="244"/>
                  </a:lnTo>
                  <a:lnTo>
                    <a:pt x="342" y="253"/>
                  </a:lnTo>
                  <a:lnTo>
                    <a:pt x="334" y="265"/>
                  </a:lnTo>
                  <a:lnTo>
                    <a:pt x="330" y="270"/>
                  </a:lnTo>
                  <a:lnTo>
                    <a:pt x="330" y="280"/>
                  </a:lnTo>
                  <a:lnTo>
                    <a:pt x="327" y="286"/>
                  </a:lnTo>
                  <a:lnTo>
                    <a:pt x="325" y="293"/>
                  </a:lnTo>
                  <a:lnTo>
                    <a:pt x="321" y="306"/>
                  </a:lnTo>
                  <a:lnTo>
                    <a:pt x="313" y="318"/>
                  </a:lnTo>
                  <a:lnTo>
                    <a:pt x="306" y="324"/>
                  </a:lnTo>
                  <a:lnTo>
                    <a:pt x="294" y="327"/>
                  </a:lnTo>
                  <a:lnTo>
                    <a:pt x="287" y="341"/>
                  </a:lnTo>
                  <a:lnTo>
                    <a:pt x="281" y="350"/>
                  </a:lnTo>
                  <a:lnTo>
                    <a:pt x="277" y="352"/>
                  </a:lnTo>
                  <a:lnTo>
                    <a:pt x="275" y="350"/>
                  </a:lnTo>
                  <a:lnTo>
                    <a:pt x="273" y="343"/>
                  </a:lnTo>
                  <a:lnTo>
                    <a:pt x="272" y="333"/>
                  </a:lnTo>
                  <a:lnTo>
                    <a:pt x="270" y="320"/>
                  </a:lnTo>
                  <a:lnTo>
                    <a:pt x="270" y="306"/>
                  </a:lnTo>
                  <a:lnTo>
                    <a:pt x="268" y="287"/>
                  </a:lnTo>
                  <a:lnTo>
                    <a:pt x="268" y="270"/>
                  </a:lnTo>
                  <a:lnTo>
                    <a:pt x="268" y="251"/>
                  </a:lnTo>
                  <a:lnTo>
                    <a:pt x="270" y="234"/>
                  </a:lnTo>
                  <a:lnTo>
                    <a:pt x="270" y="217"/>
                  </a:lnTo>
                  <a:lnTo>
                    <a:pt x="270" y="204"/>
                  </a:lnTo>
                  <a:lnTo>
                    <a:pt x="270" y="190"/>
                  </a:lnTo>
                  <a:lnTo>
                    <a:pt x="272" y="183"/>
                  </a:lnTo>
                  <a:lnTo>
                    <a:pt x="272" y="173"/>
                  </a:lnTo>
                  <a:lnTo>
                    <a:pt x="272" y="166"/>
                  </a:lnTo>
                  <a:lnTo>
                    <a:pt x="270" y="158"/>
                  </a:lnTo>
                  <a:lnTo>
                    <a:pt x="270" y="149"/>
                  </a:lnTo>
                  <a:lnTo>
                    <a:pt x="268" y="141"/>
                  </a:lnTo>
                  <a:lnTo>
                    <a:pt x="266" y="132"/>
                  </a:lnTo>
                  <a:lnTo>
                    <a:pt x="264" y="124"/>
                  </a:lnTo>
                  <a:lnTo>
                    <a:pt x="260" y="118"/>
                  </a:lnTo>
                  <a:lnTo>
                    <a:pt x="254" y="109"/>
                  </a:lnTo>
                  <a:lnTo>
                    <a:pt x="251" y="101"/>
                  </a:lnTo>
                  <a:lnTo>
                    <a:pt x="245" y="95"/>
                  </a:lnTo>
                  <a:lnTo>
                    <a:pt x="241" y="92"/>
                  </a:lnTo>
                  <a:lnTo>
                    <a:pt x="228" y="78"/>
                  </a:lnTo>
                  <a:lnTo>
                    <a:pt x="215" y="73"/>
                  </a:lnTo>
                  <a:lnTo>
                    <a:pt x="220" y="88"/>
                  </a:lnTo>
                  <a:lnTo>
                    <a:pt x="224" y="105"/>
                  </a:lnTo>
                  <a:lnTo>
                    <a:pt x="224" y="120"/>
                  </a:lnTo>
                  <a:lnTo>
                    <a:pt x="226" y="137"/>
                  </a:lnTo>
                  <a:lnTo>
                    <a:pt x="222" y="152"/>
                  </a:lnTo>
                  <a:lnTo>
                    <a:pt x="218" y="168"/>
                  </a:lnTo>
                  <a:lnTo>
                    <a:pt x="215" y="185"/>
                  </a:lnTo>
                  <a:lnTo>
                    <a:pt x="211" y="200"/>
                  </a:lnTo>
                  <a:lnTo>
                    <a:pt x="205" y="215"/>
                  </a:lnTo>
                  <a:lnTo>
                    <a:pt x="201" y="230"/>
                  </a:lnTo>
                  <a:lnTo>
                    <a:pt x="196" y="248"/>
                  </a:lnTo>
                  <a:lnTo>
                    <a:pt x="194" y="263"/>
                  </a:lnTo>
                  <a:lnTo>
                    <a:pt x="192" y="280"/>
                  </a:lnTo>
                  <a:lnTo>
                    <a:pt x="192" y="295"/>
                  </a:lnTo>
                  <a:lnTo>
                    <a:pt x="194" y="312"/>
                  </a:lnTo>
                  <a:lnTo>
                    <a:pt x="199" y="333"/>
                  </a:lnTo>
                  <a:lnTo>
                    <a:pt x="201" y="354"/>
                  </a:lnTo>
                  <a:lnTo>
                    <a:pt x="205" y="377"/>
                  </a:lnTo>
                  <a:lnTo>
                    <a:pt x="209" y="402"/>
                  </a:lnTo>
                  <a:lnTo>
                    <a:pt x="213" y="428"/>
                  </a:lnTo>
                  <a:lnTo>
                    <a:pt x="215" y="451"/>
                  </a:lnTo>
                  <a:lnTo>
                    <a:pt x="218" y="478"/>
                  </a:lnTo>
                  <a:lnTo>
                    <a:pt x="220" y="502"/>
                  </a:lnTo>
                  <a:lnTo>
                    <a:pt x="222" y="529"/>
                  </a:lnTo>
                  <a:lnTo>
                    <a:pt x="220" y="552"/>
                  </a:lnTo>
                  <a:lnTo>
                    <a:pt x="218" y="576"/>
                  </a:lnTo>
                  <a:lnTo>
                    <a:pt x="213" y="599"/>
                  </a:lnTo>
                  <a:lnTo>
                    <a:pt x="205" y="622"/>
                  </a:lnTo>
                  <a:lnTo>
                    <a:pt x="196" y="641"/>
                  </a:lnTo>
                  <a:lnTo>
                    <a:pt x="182" y="662"/>
                  </a:lnTo>
                  <a:lnTo>
                    <a:pt x="167" y="679"/>
                  </a:lnTo>
                  <a:lnTo>
                    <a:pt x="148" y="696"/>
                  </a:lnTo>
                  <a:lnTo>
                    <a:pt x="137" y="670"/>
                  </a:lnTo>
                  <a:lnTo>
                    <a:pt x="127" y="641"/>
                  </a:lnTo>
                  <a:lnTo>
                    <a:pt x="116" y="613"/>
                  </a:lnTo>
                  <a:lnTo>
                    <a:pt x="108" y="586"/>
                  </a:lnTo>
                  <a:lnTo>
                    <a:pt x="99" y="557"/>
                  </a:lnTo>
                  <a:lnTo>
                    <a:pt x="91" y="531"/>
                  </a:lnTo>
                  <a:lnTo>
                    <a:pt x="83" y="504"/>
                  </a:lnTo>
                  <a:lnTo>
                    <a:pt x="76" y="479"/>
                  </a:lnTo>
                  <a:lnTo>
                    <a:pt x="66" y="451"/>
                  </a:lnTo>
                  <a:lnTo>
                    <a:pt x="57" y="424"/>
                  </a:lnTo>
                  <a:lnTo>
                    <a:pt x="47" y="398"/>
                  </a:lnTo>
                  <a:lnTo>
                    <a:pt x="40" y="371"/>
                  </a:lnTo>
                  <a:lnTo>
                    <a:pt x="28" y="344"/>
                  </a:lnTo>
                  <a:lnTo>
                    <a:pt x="19" y="320"/>
                  </a:lnTo>
                  <a:lnTo>
                    <a:pt x="9" y="293"/>
                  </a:lnTo>
                  <a:lnTo>
                    <a:pt x="0" y="267"/>
                  </a:lnTo>
                  <a:lnTo>
                    <a:pt x="7" y="261"/>
                  </a:lnTo>
                  <a:lnTo>
                    <a:pt x="15" y="259"/>
                  </a:lnTo>
                  <a:lnTo>
                    <a:pt x="24" y="259"/>
                  </a:lnTo>
                  <a:lnTo>
                    <a:pt x="36" y="263"/>
                  </a:lnTo>
                  <a:lnTo>
                    <a:pt x="45" y="268"/>
                  </a:lnTo>
                  <a:lnTo>
                    <a:pt x="59" y="274"/>
                  </a:lnTo>
                  <a:lnTo>
                    <a:pt x="70" y="284"/>
                  </a:lnTo>
                  <a:lnTo>
                    <a:pt x="81" y="291"/>
                  </a:lnTo>
                  <a:lnTo>
                    <a:pt x="93" y="297"/>
                  </a:lnTo>
                  <a:lnTo>
                    <a:pt x="102" y="301"/>
                  </a:lnTo>
                  <a:lnTo>
                    <a:pt x="112" y="305"/>
                  </a:lnTo>
                  <a:lnTo>
                    <a:pt x="123" y="305"/>
                  </a:lnTo>
                  <a:lnTo>
                    <a:pt x="131" y="301"/>
                  </a:lnTo>
                  <a:lnTo>
                    <a:pt x="138" y="293"/>
                  </a:lnTo>
                  <a:lnTo>
                    <a:pt x="146" y="278"/>
                  </a:lnTo>
                  <a:lnTo>
                    <a:pt x="152" y="261"/>
                  </a:lnTo>
                  <a:lnTo>
                    <a:pt x="156" y="244"/>
                  </a:lnTo>
                  <a:lnTo>
                    <a:pt x="157" y="229"/>
                  </a:lnTo>
                  <a:lnTo>
                    <a:pt x="159" y="211"/>
                  </a:lnTo>
                  <a:lnTo>
                    <a:pt x="161" y="196"/>
                  </a:lnTo>
                  <a:lnTo>
                    <a:pt x="157" y="179"/>
                  </a:lnTo>
                  <a:lnTo>
                    <a:pt x="156" y="162"/>
                  </a:lnTo>
                  <a:lnTo>
                    <a:pt x="154" y="145"/>
                  </a:lnTo>
                  <a:lnTo>
                    <a:pt x="152" y="128"/>
                  </a:lnTo>
                  <a:lnTo>
                    <a:pt x="148" y="111"/>
                  </a:lnTo>
                  <a:lnTo>
                    <a:pt x="146" y="94"/>
                  </a:lnTo>
                  <a:lnTo>
                    <a:pt x="142" y="78"/>
                  </a:lnTo>
                  <a:lnTo>
                    <a:pt x="142" y="61"/>
                  </a:lnTo>
                  <a:lnTo>
                    <a:pt x="140" y="46"/>
                  </a:lnTo>
                  <a:lnTo>
                    <a:pt x="140" y="33"/>
                  </a:lnTo>
                  <a:lnTo>
                    <a:pt x="142" y="19"/>
                  </a:lnTo>
                  <a:lnTo>
                    <a:pt x="148" y="6"/>
                  </a:lnTo>
                  <a:lnTo>
                    <a:pt x="150" y="4"/>
                  </a:lnTo>
                  <a:lnTo>
                    <a:pt x="154" y="0"/>
                  </a:lnTo>
                  <a:close/>
                </a:path>
              </a:pathLst>
            </a:custGeom>
            <a:solidFill>
              <a:srgbClr val="E6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06" name="Freeform 18"/>
            <p:cNvSpPr>
              <a:spLocks/>
            </p:cNvSpPr>
            <p:nvPr/>
          </p:nvSpPr>
          <p:spPr bwMode="auto">
            <a:xfrm>
              <a:off x="3532" y="2110"/>
              <a:ext cx="514" cy="586"/>
            </a:xfrm>
            <a:custGeom>
              <a:avLst/>
              <a:gdLst>
                <a:gd name="T0" fmla="*/ 1 w 1029"/>
                <a:gd name="T1" fmla="*/ 0 h 1173"/>
                <a:gd name="T2" fmla="*/ 1 w 1029"/>
                <a:gd name="T3" fmla="*/ 0 h 1173"/>
                <a:gd name="T4" fmla="*/ 2 w 1029"/>
                <a:gd name="T5" fmla="*/ 0 h 1173"/>
                <a:gd name="T6" fmla="*/ 2 w 1029"/>
                <a:gd name="T7" fmla="*/ 0 h 1173"/>
                <a:gd name="T8" fmla="*/ 2 w 1029"/>
                <a:gd name="T9" fmla="*/ 1 h 1173"/>
                <a:gd name="T10" fmla="*/ 2 w 1029"/>
                <a:gd name="T11" fmla="*/ 1 h 1173"/>
                <a:gd name="T12" fmla="*/ 3 w 1029"/>
                <a:gd name="T13" fmla="*/ 1 h 1173"/>
                <a:gd name="T14" fmla="*/ 3 w 1029"/>
                <a:gd name="T15" fmla="*/ 1 h 1173"/>
                <a:gd name="T16" fmla="*/ 3 w 1029"/>
                <a:gd name="T17" fmla="*/ 1 h 1173"/>
                <a:gd name="T18" fmla="*/ 3 w 1029"/>
                <a:gd name="T19" fmla="*/ 2 h 1173"/>
                <a:gd name="T20" fmla="*/ 3 w 1029"/>
                <a:gd name="T21" fmla="*/ 2 h 1173"/>
                <a:gd name="T22" fmla="*/ 3 w 1029"/>
                <a:gd name="T23" fmla="*/ 3 h 1173"/>
                <a:gd name="T24" fmla="*/ 2 w 1029"/>
                <a:gd name="T25" fmla="*/ 2 h 1173"/>
                <a:gd name="T26" fmla="*/ 2 w 1029"/>
                <a:gd name="T27" fmla="*/ 2 h 1173"/>
                <a:gd name="T28" fmla="*/ 2 w 1029"/>
                <a:gd name="T29" fmla="*/ 2 h 1173"/>
                <a:gd name="T30" fmla="*/ 2 w 1029"/>
                <a:gd name="T31" fmla="*/ 1 h 1173"/>
                <a:gd name="T32" fmla="*/ 1 w 1029"/>
                <a:gd name="T33" fmla="*/ 0 h 1173"/>
                <a:gd name="T34" fmla="*/ 1 w 1029"/>
                <a:gd name="T35" fmla="*/ 1 h 1173"/>
                <a:gd name="T36" fmla="*/ 2 w 1029"/>
                <a:gd name="T37" fmla="*/ 2 h 1173"/>
                <a:gd name="T38" fmla="*/ 2 w 1029"/>
                <a:gd name="T39" fmla="*/ 3 h 1173"/>
                <a:gd name="T40" fmla="*/ 2 w 1029"/>
                <a:gd name="T41" fmla="*/ 3 h 1173"/>
                <a:gd name="T42" fmla="*/ 2 w 1029"/>
                <a:gd name="T43" fmla="*/ 3 h 1173"/>
                <a:gd name="T44" fmla="*/ 2 w 1029"/>
                <a:gd name="T45" fmla="*/ 3 h 1173"/>
                <a:gd name="T46" fmla="*/ 2 w 1029"/>
                <a:gd name="T47" fmla="*/ 3 h 1173"/>
                <a:gd name="T48" fmla="*/ 2 w 1029"/>
                <a:gd name="T49" fmla="*/ 3 h 1173"/>
                <a:gd name="T50" fmla="*/ 3 w 1029"/>
                <a:gd name="T51" fmla="*/ 3 h 1173"/>
                <a:gd name="T52" fmla="*/ 3 w 1029"/>
                <a:gd name="T53" fmla="*/ 4 h 1173"/>
                <a:gd name="T54" fmla="*/ 3 w 1029"/>
                <a:gd name="T55" fmla="*/ 4 h 1173"/>
                <a:gd name="T56" fmla="*/ 3 w 1029"/>
                <a:gd name="T57" fmla="*/ 4 h 1173"/>
                <a:gd name="T58" fmla="*/ 2 w 1029"/>
                <a:gd name="T59" fmla="*/ 4 h 1173"/>
                <a:gd name="T60" fmla="*/ 2 w 1029"/>
                <a:gd name="T61" fmla="*/ 4 h 1173"/>
                <a:gd name="T62" fmla="*/ 2 w 1029"/>
                <a:gd name="T63" fmla="*/ 3 h 1173"/>
                <a:gd name="T64" fmla="*/ 2 w 1029"/>
                <a:gd name="T65" fmla="*/ 3 h 1173"/>
                <a:gd name="T66" fmla="*/ 2 w 1029"/>
                <a:gd name="T67" fmla="*/ 3 h 1173"/>
                <a:gd name="T68" fmla="*/ 2 w 1029"/>
                <a:gd name="T69" fmla="*/ 3 h 1173"/>
                <a:gd name="T70" fmla="*/ 2 w 1029"/>
                <a:gd name="T71" fmla="*/ 3 h 1173"/>
                <a:gd name="T72" fmla="*/ 1 w 1029"/>
                <a:gd name="T73" fmla="*/ 3 h 1173"/>
                <a:gd name="T74" fmla="*/ 1 w 1029"/>
                <a:gd name="T75" fmla="*/ 3 h 1173"/>
                <a:gd name="T76" fmla="*/ 1 w 1029"/>
                <a:gd name="T77" fmla="*/ 3 h 1173"/>
                <a:gd name="T78" fmla="*/ 1 w 1029"/>
                <a:gd name="T79" fmla="*/ 3 h 1173"/>
                <a:gd name="T80" fmla="*/ 1 w 1029"/>
                <a:gd name="T81" fmla="*/ 3 h 1173"/>
                <a:gd name="T82" fmla="*/ 1 w 1029"/>
                <a:gd name="T83" fmla="*/ 3 h 1173"/>
                <a:gd name="T84" fmla="*/ 1 w 1029"/>
                <a:gd name="T85" fmla="*/ 3 h 1173"/>
                <a:gd name="T86" fmla="*/ 1 w 1029"/>
                <a:gd name="T87" fmla="*/ 3 h 1173"/>
                <a:gd name="T88" fmla="*/ 1 w 1029"/>
                <a:gd name="T89" fmla="*/ 3 h 1173"/>
                <a:gd name="T90" fmla="*/ 1 w 1029"/>
                <a:gd name="T91" fmla="*/ 3 h 1173"/>
                <a:gd name="T92" fmla="*/ 0 w 1029"/>
                <a:gd name="T93" fmla="*/ 2 h 1173"/>
                <a:gd name="T94" fmla="*/ 0 w 1029"/>
                <a:gd name="T95" fmla="*/ 2 h 1173"/>
                <a:gd name="T96" fmla="*/ 0 w 1029"/>
                <a:gd name="T97" fmla="*/ 1 h 1173"/>
                <a:gd name="T98" fmla="*/ 0 w 1029"/>
                <a:gd name="T99" fmla="*/ 2 h 1173"/>
                <a:gd name="T100" fmla="*/ 0 w 1029"/>
                <a:gd name="T101" fmla="*/ 2 h 1173"/>
                <a:gd name="T102" fmla="*/ 1 w 1029"/>
                <a:gd name="T103" fmla="*/ 2 h 1173"/>
                <a:gd name="T104" fmla="*/ 1 w 1029"/>
                <a:gd name="T105" fmla="*/ 2 h 1173"/>
                <a:gd name="T106" fmla="*/ 0 w 1029"/>
                <a:gd name="T107" fmla="*/ 1 h 1173"/>
                <a:gd name="T108" fmla="*/ 0 w 1029"/>
                <a:gd name="T109" fmla="*/ 1 h 1173"/>
                <a:gd name="T110" fmla="*/ 0 w 1029"/>
                <a:gd name="T111" fmla="*/ 1 h 1173"/>
                <a:gd name="T112" fmla="*/ 0 w 1029"/>
                <a:gd name="T113" fmla="*/ 2 h 1173"/>
                <a:gd name="T114" fmla="*/ 0 w 1029"/>
                <a:gd name="T115" fmla="*/ 3 h 1173"/>
                <a:gd name="T116" fmla="*/ 0 w 1029"/>
                <a:gd name="T117" fmla="*/ 2 h 1173"/>
                <a:gd name="T118" fmla="*/ 0 w 1029"/>
                <a:gd name="T119" fmla="*/ 1 h 1173"/>
                <a:gd name="T120" fmla="*/ 1 w 1029"/>
                <a:gd name="T121" fmla="*/ 0 h 117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029"/>
                <a:gd name="T184" fmla="*/ 0 h 1173"/>
                <a:gd name="T185" fmla="*/ 1029 w 1029"/>
                <a:gd name="T186" fmla="*/ 1173 h 117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029" h="1173">
                  <a:moveTo>
                    <a:pt x="361" y="0"/>
                  </a:moveTo>
                  <a:lnTo>
                    <a:pt x="375" y="2"/>
                  </a:lnTo>
                  <a:lnTo>
                    <a:pt x="388" y="10"/>
                  </a:lnTo>
                  <a:lnTo>
                    <a:pt x="398" y="16"/>
                  </a:lnTo>
                  <a:lnTo>
                    <a:pt x="407" y="27"/>
                  </a:lnTo>
                  <a:lnTo>
                    <a:pt x="411" y="36"/>
                  </a:lnTo>
                  <a:lnTo>
                    <a:pt x="419" y="50"/>
                  </a:lnTo>
                  <a:lnTo>
                    <a:pt x="426" y="61"/>
                  </a:lnTo>
                  <a:lnTo>
                    <a:pt x="432" y="74"/>
                  </a:lnTo>
                  <a:lnTo>
                    <a:pt x="436" y="86"/>
                  </a:lnTo>
                  <a:lnTo>
                    <a:pt x="443" y="99"/>
                  </a:lnTo>
                  <a:lnTo>
                    <a:pt x="449" y="109"/>
                  </a:lnTo>
                  <a:lnTo>
                    <a:pt x="458" y="122"/>
                  </a:lnTo>
                  <a:lnTo>
                    <a:pt x="468" y="130"/>
                  </a:lnTo>
                  <a:lnTo>
                    <a:pt x="481" y="139"/>
                  </a:lnTo>
                  <a:lnTo>
                    <a:pt x="496" y="147"/>
                  </a:lnTo>
                  <a:lnTo>
                    <a:pt x="514" y="152"/>
                  </a:lnTo>
                  <a:lnTo>
                    <a:pt x="525" y="158"/>
                  </a:lnTo>
                  <a:lnTo>
                    <a:pt x="536" y="166"/>
                  </a:lnTo>
                  <a:lnTo>
                    <a:pt x="546" y="173"/>
                  </a:lnTo>
                  <a:lnTo>
                    <a:pt x="559" y="185"/>
                  </a:lnTo>
                  <a:lnTo>
                    <a:pt x="569" y="194"/>
                  </a:lnTo>
                  <a:lnTo>
                    <a:pt x="580" y="204"/>
                  </a:lnTo>
                  <a:lnTo>
                    <a:pt x="590" y="215"/>
                  </a:lnTo>
                  <a:lnTo>
                    <a:pt x="603" y="227"/>
                  </a:lnTo>
                  <a:lnTo>
                    <a:pt x="612" y="236"/>
                  </a:lnTo>
                  <a:lnTo>
                    <a:pt x="624" y="247"/>
                  </a:lnTo>
                  <a:lnTo>
                    <a:pt x="635" y="257"/>
                  </a:lnTo>
                  <a:lnTo>
                    <a:pt x="647" y="266"/>
                  </a:lnTo>
                  <a:lnTo>
                    <a:pt x="658" y="274"/>
                  </a:lnTo>
                  <a:lnTo>
                    <a:pt x="670" y="284"/>
                  </a:lnTo>
                  <a:lnTo>
                    <a:pt x="681" y="289"/>
                  </a:lnTo>
                  <a:lnTo>
                    <a:pt x="692" y="297"/>
                  </a:lnTo>
                  <a:lnTo>
                    <a:pt x="706" y="280"/>
                  </a:lnTo>
                  <a:lnTo>
                    <a:pt x="719" y="268"/>
                  </a:lnTo>
                  <a:lnTo>
                    <a:pt x="734" y="261"/>
                  </a:lnTo>
                  <a:lnTo>
                    <a:pt x="747" y="257"/>
                  </a:lnTo>
                  <a:lnTo>
                    <a:pt x="761" y="253"/>
                  </a:lnTo>
                  <a:lnTo>
                    <a:pt x="774" y="255"/>
                  </a:lnTo>
                  <a:lnTo>
                    <a:pt x="784" y="259"/>
                  </a:lnTo>
                  <a:lnTo>
                    <a:pt x="795" y="266"/>
                  </a:lnTo>
                  <a:lnTo>
                    <a:pt x="805" y="274"/>
                  </a:lnTo>
                  <a:lnTo>
                    <a:pt x="812" y="285"/>
                  </a:lnTo>
                  <a:lnTo>
                    <a:pt x="818" y="297"/>
                  </a:lnTo>
                  <a:lnTo>
                    <a:pt x="824" y="312"/>
                  </a:lnTo>
                  <a:lnTo>
                    <a:pt x="827" y="327"/>
                  </a:lnTo>
                  <a:lnTo>
                    <a:pt x="827" y="344"/>
                  </a:lnTo>
                  <a:lnTo>
                    <a:pt x="825" y="360"/>
                  </a:lnTo>
                  <a:lnTo>
                    <a:pt x="822" y="381"/>
                  </a:lnTo>
                  <a:lnTo>
                    <a:pt x="822" y="403"/>
                  </a:lnTo>
                  <a:lnTo>
                    <a:pt x="825" y="426"/>
                  </a:lnTo>
                  <a:lnTo>
                    <a:pt x="829" y="451"/>
                  </a:lnTo>
                  <a:lnTo>
                    <a:pt x="835" y="476"/>
                  </a:lnTo>
                  <a:lnTo>
                    <a:pt x="841" y="498"/>
                  </a:lnTo>
                  <a:lnTo>
                    <a:pt x="848" y="521"/>
                  </a:lnTo>
                  <a:lnTo>
                    <a:pt x="854" y="546"/>
                  </a:lnTo>
                  <a:lnTo>
                    <a:pt x="863" y="571"/>
                  </a:lnTo>
                  <a:lnTo>
                    <a:pt x="867" y="592"/>
                  </a:lnTo>
                  <a:lnTo>
                    <a:pt x="873" y="616"/>
                  </a:lnTo>
                  <a:lnTo>
                    <a:pt x="877" y="639"/>
                  </a:lnTo>
                  <a:lnTo>
                    <a:pt x="881" y="664"/>
                  </a:lnTo>
                  <a:lnTo>
                    <a:pt x="879" y="687"/>
                  </a:lnTo>
                  <a:lnTo>
                    <a:pt x="877" y="709"/>
                  </a:lnTo>
                  <a:lnTo>
                    <a:pt x="873" y="734"/>
                  </a:lnTo>
                  <a:lnTo>
                    <a:pt x="867" y="757"/>
                  </a:lnTo>
                  <a:lnTo>
                    <a:pt x="858" y="757"/>
                  </a:lnTo>
                  <a:lnTo>
                    <a:pt x="850" y="757"/>
                  </a:lnTo>
                  <a:lnTo>
                    <a:pt x="844" y="757"/>
                  </a:lnTo>
                  <a:lnTo>
                    <a:pt x="841" y="755"/>
                  </a:lnTo>
                  <a:lnTo>
                    <a:pt x="827" y="770"/>
                  </a:lnTo>
                  <a:lnTo>
                    <a:pt x="818" y="782"/>
                  </a:lnTo>
                  <a:lnTo>
                    <a:pt x="805" y="789"/>
                  </a:lnTo>
                  <a:lnTo>
                    <a:pt x="793" y="793"/>
                  </a:lnTo>
                  <a:lnTo>
                    <a:pt x="780" y="791"/>
                  </a:lnTo>
                  <a:lnTo>
                    <a:pt x="766" y="787"/>
                  </a:lnTo>
                  <a:lnTo>
                    <a:pt x="753" y="780"/>
                  </a:lnTo>
                  <a:lnTo>
                    <a:pt x="742" y="772"/>
                  </a:lnTo>
                  <a:lnTo>
                    <a:pt x="728" y="761"/>
                  </a:lnTo>
                  <a:lnTo>
                    <a:pt x="715" y="749"/>
                  </a:lnTo>
                  <a:lnTo>
                    <a:pt x="702" y="738"/>
                  </a:lnTo>
                  <a:lnTo>
                    <a:pt x="692" y="727"/>
                  </a:lnTo>
                  <a:lnTo>
                    <a:pt x="681" y="715"/>
                  </a:lnTo>
                  <a:lnTo>
                    <a:pt x="673" y="704"/>
                  </a:lnTo>
                  <a:lnTo>
                    <a:pt x="664" y="696"/>
                  </a:lnTo>
                  <a:lnTo>
                    <a:pt x="658" y="690"/>
                  </a:lnTo>
                  <a:lnTo>
                    <a:pt x="647" y="660"/>
                  </a:lnTo>
                  <a:lnTo>
                    <a:pt x="637" y="628"/>
                  </a:lnTo>
                  <a:lnTo>
                    <a:pt x="626" y="597"/>
                  </a:lnTo>
                  <a:lnTo>
                    <a:pt x="616" y="565"/>
                  </a:lnTo>
                  <a:lnTo>
                    <a:pt x="605" y="533"/>
                  </a:lnTo>
                  <a:lnTo>
                    <a:pt x="595" y="502"/>
                  </a:lnTo>
                  <a:lnTo>
                    <a:pt x="584" y="472"/>
                  </a:lnTo>
                  <a:lnTo>
                    <a:pt x="573" y="443"/>
                  </a:lnTo>
                  <a:lnTo>
                    <a:pt x="559" y="413"/>
                  </a:lnTo>
                  <a:lnTo>
                    <a:pt x="546" y="382"/>
                  </a:lnTo>
                  <a:lnTo>
                    <a:pt x="533" y="354"/>
                  </a:lnTo>
                  <a:lnTo>
                    <a:pt x="519" y="327"/>
                  </a:lnTo>
                  <a:lnTo>
                    <a:pt x="500" y="299"/>
                  </a:lnTo>
                  <a:lnTo>
                    <a:pt x="483" y="274"/>
                  </a:lnTo>
                  <a:lnTo>
                    <a:pt x="466" y="249"/>
                  </a:lnTo>
                  <a:lnTo>
                    <a:pt x="447" y="228"/>
                  </a:lnTo>
                  <a:lnTo>
                    <a:pt x="439" y="228"/>
                  </a:lnTo>
                  <a:lnTo>
                    <a:pt x="438" y="228"/>
                  </a:lnTo>
                  <a:lnTo>
                    <a:pt x="457" y="257"/>
                  </a:lnTo>
                  <a:lnTo>
                    <a:pt x="474" y="291"/>
                  </a:lnTo>
                  <a:lnTo>
                    <a:pt x="485" y="324"/>
                  </a:lnTo>
                  <a:lnTo>
                    <a:pt x="496" y="360"/>
                  </a:lnTo>
                  <a:lnTo>
                    <a:pt x="504" y="392"/>
                  </a:lnTo>
                  <a:lnTo>
                    <a:pt x="510" y="428"/>
                  </a:lnTo>
                  <a:lnTo>
                    <a:pt x="516" y="464"/>
                  </a:lnTo>
                  <a:lnTo>
                    <a:pt x="521" y="502"/>
                  </a:lnTo>
                  <a:lnTo>
                    <a:pt x="525" y="536"/>
                  </a:lnTo>
                  <a:lnTo>
                    <a:pt x="529" y="573"/>
                  </a:lnTo>
                  <a:lnTo>
                    <a:pt x="535" y="609"/>
                  </a:lnTo>
                  <a:lnTo>
                    <a:pt x="544" y="645"/>
                  </a:lnTo>
                  <a:lnTo>
                    <a:pt x="552" y="679"/>
                  </a:lnTo>
                  <a:lnTo>
                    <a:pt x="565" y="713"/>
                  </a:lnTo>
                  <a:lnTo>
                    <a:pt x="580" y="747"/>
                  </a:lnTo>
                  <a:lnTo>
                    <a:pt x="599" y="780"/>
                  </a:lnTo>
                  <a:lnTo>
                    <a:pt x="603" y="789"/>
                  </a:lnTo>
                  <a:lnTo>
                    <a:pt x="609" y="797"/>
                  </a:lnTo>
                  <a:lnTo>
                    <a:pt x="614" y="806"/>
                  </a:lnTo>
                  <a:lnTo>
                    <a:pt x="620" y="816"/>
                  </a:lnTo>
                  <a:lnTo>
                    <a:pt x="626" y="824"/>
                  </a:lnTo>
                  <a:lnTo>
                    <a:pt x="631" y="833"/>
                  </a:lnTo>
                  <a:lnTo>
                    <a:pt x="635" y="841"/>
                  </a:lnTo>
                  <a:lnTo>
                    <a:pt x="643" y="848"/>
                  </a:lnTo>
                  <a:lnTo>
                    <a:pt x="649" y="854"/>
                  </a:lnTo>
                  <a:lnTo>
                    <a:pt x="656" y="862"/>
                  </a:lnTo>
                  <a:lnTo>
                    <a:pt x="664" y="865"/>
                  </a:lnTo>
                  <a:lnTo>
                    <a:pt x="671" y="869"/>
                  </a:lnTo>
                  <a:lnTo>
                    <a:pt x="679" y="869"/>
                  </a:lnTo>
                  <a:lnTo>
                    <a:pt x="689" y="871"/>
                  </a:lnTo>
                  <a:lnTo>
                    <a:pt x="698" y="869"/>
                  </a:lnTo>
                  <a:lnTo>
                    <a:pt x="711" y="869"/>
                  </a:lnTo>
                  <a:lnTo>
                    <a:pt x="713" y="879"/>
                  </a:lnTo>
                  <a:lnTo>
                    <a:pt x="713" y="892"/>
                  </a:lnTo>
                  <a:lnTo>
                    <a:pt x="704" y="892"/>
                  </a:lnTo>
                  <a:lnTo>
                    <a:pt x="696" y="892"/>
                  </a:lnTo>
                  <a:lnTo>
                    <a:pt x="687" y="892"/>
                  </a:lnTo>
                  <a:lnTo>
                    <a:pt x="679" y="896"/>
                  </a:lnTo>
                  <a:lnTo>
                    <a:pt x="670" y="900"/>
                  </a:lnTo>
                  <a:lnTo>
                    <a:pt x="662" y="903"/>
                  </a:lnTo>
                  <a:lnTo>
                    <a:pt x="652" y="907"/>
                  </a:lnTo>
                  <a:lnTo>
                    <a:pt x="645" y="911"/>
                  </a:lnTo>
                  <a:lnTo>
                    <a:pt x="643" y="922"/>
                  </a:lnTo>
                  <a:lnTo>
                    <a:pt x="639" y="932"/>
                  </a:lnTo>
                  <a:lnTo>
                    <a:pt x="633" y="941"/>
                  </a:lnTo>
                  <a:lnTo>
                    <a:pt x="631" y="953"/>
                  </a:lnTo>
                  <a:lnTo>
                    <a:pt x="658" y="941"/>
                  </a:lnTo>
                  <a:lnTo>
                    <a:pt x="687" y="934"/>
                  </a:lnTo>
                  <a:lnTo>
                    <a:pt x="715" y="932"/>
                  </a:lnTo>
                  <a:lnTo>
                    <a:pt x="742" y="936"/>
                  </a:lnTo>
                  <a:lnTo>
                    <a:pt x="768" y="939"/>
                  </a:lnTo>
                  <a:lnTo>
                    <a:pt x="795" y="947"/>
                  </a:lnTo>
                  <a:lnTo>
                    <a:pt x="820" y="958"/>
                  </a:lnTo>
                  <a:lnTo>
                    <a:pt x="846" y="972"/>
                  </a:lnTo>
                  <a:lnTo>
                    <a:pt x="869" y="983"/>
                  </a:lnTo>
                  <a:lnTo>
                    <a:pt x="894" y="1000"/>
                  </a:lnTo>
                  <a:lnTo>
                    <a:pt x="917" y="1016"/>
                  </a:lnTo>
                  <a:lnTo>
                    <a:pt x="941" y="1031"/>
                  </a:lnTo>
                  <a:lnTo>
                    <a:pt x="962" y="1046"/>
                  </a:lnTo>
                  <a:lnTo>
                    <a:pt x="985" y="1061"/>
                  </a:lnTo>
                  <a:lnTo>
                    <a:pt x="1006" y="1073"/>
                  </a:lnTo>
                  <a:lnTo>
                    <a:pt x="1029" y="1086"/>
                  </a:lnTo>
                  <a:lnTo>
                    <a:pt x="1016" y="1107"/>
                  </a:lnTo>
                  <a:lnTo>
                    <a:pt x="1000" y="1126"/>
                  </a:lnTo>
                  <a:lnTo>
                    <a:pt x="983" y="1141"/>
                  </a:lnTo>
                  <a:lnTo>
                    <a:pt x="966" y="1152"/>
                  </a:lnTo>
                  <a:lnTo>
                    <a:pt x="943" y="1160"/>
                  </a:lnTo>
                  <a:lnTo>
                    <a:pt x="924" y="1168"/>
                  </a:lnTo>
                  <a:lnTo>
                    <a:pt x="901" y="1171"/>
                  </a:lnTo>
                  <a:lnTo>
                    <a:pt x="881" y="1173"/>
                  </a:lnTo>
                  <a:lnTo>
                    <a:pt x="856" y="1171"/>
                  </a:lnTo>
                  <a:lnTo>
                    <a:pt x="833" y="1170"/>
                  </a:lnTo>
                  <a:lnTo>
                    <a:pt x="808" y="1164"/>
                  </a:lnTo>
                  <a:lnTo>
                    <a:pt x="787" y="1160"/>
                  </a:lnTo>
                  <a:lnTo>
                    <a:pt x="765" y="1152"/>
                  </a:lnTo>
                  <a:lnTo>
                    <a:pt x="742" y="1147"/>
                  </a:lnTo>
                  <a:lnTo>
                    <a:pt x="723" y="1139"/>
                  </a:lnTo>
                  <a:lnTo>
                    <a:pt x="704" y="1132"/>
                  </a:lnTo>
                  <a:lnTo>
                    <a:pt x="689" y="1126"/>
                  </a:lnTo>
                  <a:lnTo>
                    <a:pt x="675" y="1118"/>
                  </a:lnTo>
                  <a:lnTo>
                    <a:pt x="662" y="1107"/>
                  </a:lnTo>
                  <a:lnTo>
                    <a:pt x="649" y="1097"/>
                  </a:lnTo>
                  <a:lnTo>
                    <a:pt x="637" y="1084"/>
                  </a:lnTo>
                  <a:lnTo>
                    <a:pt x="626" y="1071"/>
                  </a:lnTo>
                  <a:lnTo>
                    <a:pt x="616" y="1057"/>
                  </a:lnTo>
                  <a:lnTo>
                    <a:pt x="607" y="1044"/>
                  </a:lnTo>
                  <a:lnTo>
                    <a:pt x="595" y="1033"/>
                  </a:lnTo>
                  <a:lnTo>
                    <a:pt x="586" y="1023"/>
                  </a:lnTo>
                  <a:lnTo>
                    <a:pt x="574" y="1014"/>
                  </a:lnTo>
                  <a:lnTo>
                    <a:pt x="565" y="1010"/>
                  </a:lnTo>
                  <a:lnTo>
                    <a:pt x="554" y="1008"/>
                  </a:lnTo>
                  <a:lnTo>
                    <a:pt x="542" y="1012"/>
                  </a:lnTo>
                  <a:lnTo>
                    <a:pt x="531" y="1017"/>
                  </a:lnTo>
                  <a:lnTo>
                    <a:pt x="519" y="1031"/>
                  </a:lnTo>
                  <a:lnTo>
                    <a:pt x="514" y="1021"/>
                  </a:lnTo>
                  <a:lnTo>
                    <a:pt x="510" y="1014"/>
                  </a:lnTo>
                  <a:lnTo>
                    <a:pt x="510" y="1004"/>
                  </a:lnTo>
                  <a:lnTo>
                    <a:pt x="510" y="995"/>
                  </a:lnTo>
                  <a:lnTo>
                    <a:pt x="510" y="987"/>
                  </a:lnTo>
                  <a:lnTo>
                    <a:pt x="514" y="978"/>
                  </a:lnTo>
                  <a:lnTo>
                    <a:pt x="517" y="968"/>
                  </a:lnTo>
                  <a:lnTo>
                    <a:pt x="521" y="958"/>
                  </a:lnTo>
                  <a:lnTo>
                    <a:pt x="525" y="949"/>
                  </a:lnTo>
                  <a:lnTo>
                    <a:pt x="529" y="939"/>
                  </a:lnTo>
                  <a:lnTo>
                    <a:pt x="533" y="930"/>
                  </a:lnTo>
                  <a:lnTo>
                    <a:pt x="538" y="920"/>
                  </a:lnTo>
                  <a:lnTo>
                    <a:pt x="540" y="911"/>
                  </a:lnTo>
                  <a:lnTo>
                    <a:pt x="546" y="901"/>
                  </a:lnTo>
                  <a:lnTo>
                    <a:pt x="550" y="892"/>
                  </a:lnTo>
                  <a:lnTo>
                    <a:pt x="554" y="884"/>
                  </a:lnTo>
                  <a:lnTo>
                    <a:pt x="548" y="879"/>
                  </a:lnTo>
                  <a:lnTo>
                    <a:pt x="542" y="882"/>
                  </a:lnTo>
                  <a:lnTo>
                    <a:pt x="540" y="886"/>
                  </a:lnTo>
                  <a:lnTo>
                    <a:pt x="540" y="894"/>
                  </a:lnTo>
                  <a:lnTo>
                    <a:pt x="533" y="894"/>
                  </a:lnTo>
                  <a:lnTo>
                    <a:pt x="523" y="894"/>
                  </a:lnTo>
                  <a:lnTo>
                    <a:pt x="517" y="894"/>
                  </a:lnTo>
                  <a:lnTo>
                    <a:pt x="512" y="892"/>
                  </a:lnTo>
                  <a:lnTo>
                    <a:pt x="504" y="896"/>
                  </a:lnTo>
                  <a:lnTo>
                    <a:pt x="496" y="903"/>
                  </a:lnTo>
                  <a:lnTo>
                    <a:pt x="487" y="909"/>
                  </a:lnTo>
                  <a:lnTo>
                    <a:pt x="481" y="915"/>
                  </a:lnTo>
                  <a:lnTo>
                    <a:pt x="472" y="919"/>
                  </a:lnTo>
                  <a:lnTo>
                    <a:pt x="462" y="924"/>
                  </a:lnTo>
                  <a:lnTo>
                    <a:pt x="453" y="928"/>
                  </a:lnTo>
                  <a:lnTo>
                    <a:pt x="445" y="932"/>
                  </a:lnTo>
                  <a:lnTo>
                    <a:pt x="434" y="932"/>
                  </a:lnTo>
                  <a:lnTo>
                    <a:pt x="424" y="934"/>
                  </a:lnTo>
                  <a:lnTo>
                    <a:pt x="413" y="936"/>
                  </a:lnTo>
                  <a:lnTo>
                    <a:pt x="403" y="938"/>
                  </a:lnTo>
                  <a:lnTo>
                    <a:pt x="394" y="938"/>
                  </a:lnTo>
                  <a:lnTo>
                    <a:pt x="384" y="938"/>
                  </a:lnTo>
                  <a:lnTo>
                    <a:pt x="373" y="938"/>
                  </a:lnTo>
                  <a:lnTo>
                    <a:pt x="365" y="939"/>
                  </a:lnTo>
                  <a:lnTo>
                    <a:pt x="367" y="930"/>
                  </a:lnTo>
                  <a:lnTo>
                    <a:pt x="371" y="920"/>
                  </a:lnTo>
                  <a:lnTo>
                    <a:pt x="377" y="911"/>
                  </a:lnTo>
                  <a:lnTo>
                    <a:pt x="384" y="903"/>
                  </a:lnTo>
                  <a:lnTo>
                    <a:pt x="390" y="894"/>
                  </a:lnTo>
                  <a:lnTo>
                    <a:pt x="398" y="886"/>
                  </a:lnTo>
                  <a:lnTo>
                    <a:pt x="405" y="879"/>
                  </a:lnTo>
                  <a:lnTo>
                    <a:pt x="415" y="871"/>
                  </a:lnTo>
                  <a:lnTo>
                    <a:pt x="422" y="863"/>
                  </a:lnTo>
                  <a:lnTo>
                    <a:pt x="430" y="856"/>
                  </a:lnTo>
                  <a:lnTo>
                    <a:pt x="439" y="848"/>
                  </a:lnTo>
                  <a:lnTo>
                    <a:pt x="449" y="843"/>
                  </a:lnTo>
                  <a:lnTo>
                    <a:pt x="458" y="837"/>
                  </a:lnTo>
                  <a:lnTo>
                    <a:pt x="468" y="833"/>
                  </a:lnTo>
                  <a:lnTo>
                    <a:pt x="476" y="829"/>
                  </a:lnTo>
                  <a:lnTo>
                    <a:pt x="485" y="825"/>
                  </a:lnTo>
                  <a:lnTo>
                    <a:pt x="483" y="816"/>
                  </a:lnTo>
                  <a:lnTo>
                    <a:pt x="481" y="810"/>
                  </a:lnTo>
                  <a:lnTo>
                    <a:pt x="477" y="805"/>
                  </a:lnTo>
                  <a:lnTo>
                    <a:pt x="474" y="801"/>
                  </a:lnTo>
                  <a:lnTo>
                    <a:pt x="466" y="797"/>
                  </a:lnTo>
                  <a:lnTo>
                    <a:pt x="458" y="793"/>
                  </a:lnTo>
                  <a:lnTo>
                    <a:pt x="451" y="791"/>
                  </a:lnTo>
                  <a:lnTo>
                    <a:pt x="443" y="789"/>
                  </a:lnTo>
                  <a:lnTo>
                    <a:pt x="434" y="787"/>
                  </a:lnTo>
                  <a:lnTo>
                    <a:pt x="426" y="785"/>
                  </a:lnTo>
                  <a:lnTo>
                    <a:pt x="417" y="782"/>
                  </a:lnTo>
                  <a:lnTo>
                    <a:pt x="411" y="780"/>
                  </a:lnTo>
                  <a:lnTo>
                    <a:pt x="398" y="772"/>
                  </a:lnTo>
                  <a:lnTo>
                    <a:pt x="390" y="761"/>
                  </a:lnTo>
                  <a:lnTo>
                    <a:pt x="379" y="763"/>
                  </a:lnTo>
                  <a:lnTo>
                    <a:pt x="373" y="772"/>
                  </a:lnTo>
                  <a:lnTo>
                    <a:pt x="369" y="780"/>
                  </a:lnTo>
                  <a:lnTo>
                    <a:pt x="369" y="791"/>
                  </a:lnTo>
                  <a:lnTo>
                    <a:pt x="367" y="803"/>
                  </a:lnTo>
                  <a:lnTo>
                    <a:pt x="367" y="816"/>
                  </a:lnTo>
                  <a:lnTo>
                    <a:pt x="365" y="827"/>
                  </a:lnTo>
                  <a:lnTo>
                    <a:pt x="361" y="839"/>
                  </a:lnTo>
                  <a:lnTo>
                    <a:pt x="337" y="825"/>
                  </a:lnTo>
                  <a:lnTo>
                    <a:pt x="310" y="810"/>
                  </a:lnTo>
                  <a:lnTo>
                    <a:pt x="287" y="791"/>
                  </a:lnTo>
                  <a:lnTo>
                    <a:pt x="263" y="772"/>
                  </a:lnTo>
                  <a:lnTo>
                    <a:pt x="238" y="749"/>
                  </a:lnTo>
                  <a:lnTo>
                    <a:pt x="219" y="727"/>
                  </a:lnTo>
                  <a:lnTo>
                    <a:pt x="198" y="702"/>
                  </a:lnTo>
                  <a:lnTo>
                    <a:pt x="181" y="677"/>
                  </a:lnTo>
                  <a:lnTo>
                    <a:pt x="164" y="651"/>
                  </a:lnTo>
                  <a:lnTo>
                    <a:pt x="152" y="622"/>
                  </a:lnTo>
                  <a:lnTo>
                    <a:pt x="141" y="592"/>
                  </a:lnTo>
                  <a:lnTo>
                    <a:pt x="135" y="565"/>
                  </a:lnTo>
                  <a:lnTo>
                    <a:pt x="133" y="533"/>
                  </a:lnTo>
                  <a:lnTo>
                    <a:pt x="135" y="506"/>
                  </a:lnTo>
                  <a:lnTo>
                    <a:pt x="141" y="476"/>
                  </a:lnTo>
                  <a:lnTo>
                    <a:pt x="152" y="449"/>
                  </a:lnTo>
                  <a:lnTo>
                    <a:pt x="158" y="462"/>
                  </a:lnTo>
                  <a:lnTo>
                    <a:pt x="164" y="476"/>
                  </a:lnTo>
                  <a:lnTo>
                    <a:pt x="169" y="491"/>
                  </a:lnTo>
                  <a:lnTo>
                    <a:pt x="175" y="506"/>
                  </a:lnTo>
                  <a:lnTo>
                    <a:pt x="179" y="521"/>
                  </a:lnTo>
                  <a:lnTo>
                    <a:pt x="187" y="536"/>
                  </a:lnTo>
                  <a:lnTo>
                    <a:pt x="192" y="552"/>
                  </a:lnTo>
                  <a:lnTo>
                    <a:pt x="198" y="565"/>
                  </a:lnTo>
                  <a:lnTo>
                    <a:pt x="204" y="578"/>
                  </a:lnTo>
                  <a:lnTo>
                    <a:pt x="211" y="592"/>
                  </a:lnTo>
                  <a:lnTo>
                    <a:pt x="217" y="605"/>
                  </a:lnTo>
                  <a:lnTo>
                    <a:pt x="225" y="620"/>
                  </a:lnTo>
                  <a:lnTo>
                    <a:pt x="234" y="633"/>
                  </a:lnTo>
                  <a:lnTo>
                    <a:pt x="242" y="645"/>
                  </a:lnTo>
                  <a:lnTo>
                    <a:pt x="251" y="658"/>
                  </a:lnTo>
                  <a:lnTo>
                    <a:pt x="265" y="670"/>
                  </a:lnTo>
                  <a:lnTo>
                    <a:pt x="272" y="670"/>
                  </a:lnTo>
                  <a:lnTo>
                    <a:pt x="278" y="673"/>
                  </a:lnTo>
                  <a:lnTo>
                    <a:pt x="284" y="677"/>
                  </a:lnTo>
                  <a:lnTo>
                    <a:pt x="291" y="687"/>
                  </a:lnTo>
                  <a:lnTo>
                    <a:pt x="295" y="690"/>
                  </a:lnTo>
                  <a:lnTo>
                    <a:pt x="301" y="698"/>
                  </a:lnTo>
                  <a:lnTo>
                    <a:pt x="306" y="702"/>
                  </a:lnTo>
                  <a:lnTo>
                    <a:pt x="316" y="704"/>
                  </a:lnTo>
                  <a:lnTo>
                    <a:pt x="308" y="673"/>
                  </a:lnTo>
                  <a:lnTo>
                    <a:pt x="303" y="645"/>
                  </a:lnTo>
                  <a:lnTo>
                    <a:pt x="295" y="618"/>
                  </a:lnTo>
                  <a:lnTo>
                    <a:pt x="287" y="592"/>
                  </a:lnTo>
                  <a:lnTo>
                    <a:pt x="278" y="563"/>
                  </a:lnTo>
                  <a:lnTo>
                    <a:pt x="270" y="535"/>
                  </a:lnTo>
                  <a:lnTo>
                    <a:pt x="263" y="508"/>
                  </a:lnTo>
                  <a:lnTo>
                    <a:pt x="255" y="481"/>
                  </a:lnTo>
                  <a:lnTo>
                    <a:pt x="247" y="453"/>
                  </a:lnTo>
                  <a:lnTo>
                    <a:pt x="242" y="426"/>
                  </a:lnTo>
                  <a:lnTo>
                    <a:pt x="238" y="398"/>
                  </a:lnTo>
                  <a:lnTo>
                    <a:pt x="234" y="369"/>
                  </a:lnTo>
                  <a:lnTo>
                    <a:pt x="228" y="341"/>
                  </a:lnTo>
                  <a:lnTo>
                    <a:pt x="228" y="310"/>
                  </a:lnTo>
                  <a:lnTo>
                    <a:pt x="228" y="280"/>
                  </a:lnTo>
                  <a:lnTo>
                    <a:pt x="232" y="251"/>
                  </a:lnTo>
                  <a:lnTo>
                    <a:pt x="202" y="284"/>
                  </a:lnTo>
                  <a:lnTo>
                    <a:pt x="173" y="322"/>
                  </a:lnTo>
                  <a:lnTo>
                    <a:pt x="149" y="360"/>
                  </a:lnTo>
                  <a:lnTo>
                    <a:pt x="126" y="400"/>
                  </a:lnTo>
                  <a:lnTo>
                    <a:pt x="105" y="439"/>
                  </a:lnTo>
                  <a:lnTo>
                    <a:pt x="88" y="483"/>
                  </a:lnTo>
                  <a:lnTo>
                    <a:pt x="72" y="525"/>
                  </a:lnTo>
                  <a:lnTo>
                    <a:pt x="61" y="571"/>
                  </a:lnTo>
                  <a:lnTo>
                    <a:pt x="52" y="614"/>
                  </a:lnTo>
                  <a:lnTo>
                    <a:pt x="46" y="658"/>
                  </a:lnTo>
                  <a:lnTo>
                    <a:pt x="42" y="704"/>
                  </a:lnTo>
                  <a:lnTo>
                    <a:pt x="44" y="749"/>
                  </a:lnTo>
                  <a:lnTo>
                    <a:pt x="48" y="793"/>
                  </a:lnTo>
                  <a:lnTo>
                    <a:pt x="55" y="839"/>
                  </a:lnTo>
                  <a:lnTo>
                    <a:pt x="69" y="882"/>
                  </a:lnTo>
                  <a:lnTo>
                    <a:pt x="86" y="928"/>
                  </a:lnTo>
                  <a:lnTo>
                    <a:pt x="76" y="930"/>
                  </a:lnTo>
                  <a:lnTo>
                    <a:pt x="71" y="932"/>
                  </a:lnTo>
                  <a:lnTo>
                    <a:pt x="63" y="932"/>
                  </a:lnTo>
                  <a:lnTo>
                    <a:pt x="59" y="934"/>
                  </a:lnTo>
                  <a:lnTo>
                    <a:pt x="33" y="867"/>
                  </a:lnTo>
                  <a:lnTo>
                    <a:pt x="15" y="803"/>
                  </a:lnTo>
                  <a:lnTo>
                    <a:pt x="4" y="736"/>
                  </a:lnTo>
                  <a:lnTo>
                    <a:pt x="0" y="673"/>
                  </a:lnTo>
                  <a:lnTo>
                    <a:pt x="2" y="609"/>
                  </a:lnTo>
                  <a:lnTo>
                    <a:pt x="12" y="546"/>
                  </a:lnTo>
                  <a:lnTo>
                    <a:pt x="25" y="483"/>
                  </a:lnTo>
                  <a:lnTo>
                    <a:pt x="46" y="422"/>
                  </a:lnTo>
                  <a:lnTo>
                    <a:pt x="71" y="362"/>
                  </a:lnTo>
                  <a:lnTo>
                    <a:pt x="99" y="305"/>
                  </a:lnTo>
                  <a:lnTo>
                    <a:pt x="133" y="247"/>
                  </a:lnTo>
                  <a:lnTo>
                    <a:pt x="171" y="194"/>
                  </a:lnTo>
                  <a:lnTo>
                    <a:pt x="213" y="139"/>
                  </a:lnTo>
                  <a:lnTo>
                    <a:pt x="261" y="90"/>
                  </a:lnTo>
                  <a:lnTo>
                    <a:pt x="308" y="42"/>
                  </a:lnTo>
                  <a:lnTo>
                    <a:pt x="361" y="0"/>
                  </a:lnTo>
                  <a:close/>
                </a:path>
              </a:pathLst>
            </a:custGeom>
            <a:solidFill>
              <a:srgbClr val="E6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07" name="Freeform 19"/>
            <p:cNvSpPr>
              <a:spLocks/>
            </p:cNvSpPr>
            <p:nvPr/>
          </p:nvSpPr>
          <p:spPr bwMode="auto">
            <a:xfrm>
              <a:off x="3371" y="2302"/>
              <a:ext cx="1338" cy="715"/>
            </a:xfrm>
            <a:custGeom>
              <a:avLst/>
              <a:gdLst>
                <a:gd name="T0" fmla="*/ 8 w 2675"/>
                <a:gd name="T1" fmla="*/ 0 h 1432"/>
                <a:gd name="T2" fmla="*/ 9 w 2675"/>
                <a:gd name="T3" fmla="*/ 0 h 1432"/>
                <a:gd name="T4" fmla="*/ 10 w 2675"/>
                <a:gd name="T5" fmla="*/ 0 h 1432"/>
                <a:gd name="T6" fmla="*/ 11 w 2675"/>
                <a:gd name="T7" fmla="*/ 1 h 1432"/>
                <a:gd name="T8" fmla="*/ 11 w 2675"/>
                <a:gd name="T9" fmla="*/ 1 h 1432"/>
                <a:gd name="T10" fmla="*/ 10 w 2675"/>
                <a:gd name="T11" fmla="*/ 1 h 1432"/>
                <a:gd name="T12" fmla="*/ 10 w 2675"/>
                <a:gd name="T13" fmla="*/ 1 h 1432"/>
                <a:gd name="T14" fmla="*/ 10 w 2675"/>
                <a:gd name="T15" fmla="*/ 2 h 1432"/>
                <a:gd name="T16" fmla="*/ 9 w 2675"/>
                <a:gd name="T17" fmla="*/ 2 h 1432"/>
                <a:gd name="T18" fmla="*/ 8 w 2675"/>
                <a:gd name="T19" fmla="*/ 3 h 1432"/>
                <a:gd name="T20" fmla="*/ 7 w 2675"/>
                <a:gd name="T21" fmla="*/ 3 h 1432"/>
                <a:gd name="T22" fmla="*/ 6 w 2675"/>
                <a:gd name="T23" fmla="*/ 4 h 1432"/>
                <a:gd name="T24" fmla="*/ 5 w 2675"/>
                <a:gd name="T25" fmla="*/ 4 h 1432"/>
                <a:gd name="T26" fmla="*/ 5 w 2675"/>
                <a:gd name="T27" fmla="*/ 5 h 1432"/>
                <a:gd name="T28" fmla="*/ 5 w 2675"/>
                <a:gd name="T29" fmla="*/ 5 h 1432"/>
                <a:gd name="T30" fmla="*/ 4 w 2675"/>
                <a:gd name="T31" fmla="*/ 5 h 1432"/>
                <a:gd name="T32" fmla="*/ 4 w 2675"/>
                <a:gd name="T33" fmla="*/ 5 h 1432"/>
                <a:gd name="T34" fmla="*/ 3 w 2675"/>
                <a:gd name="T35" fmla="*/ 5 h 1432"/>
                <a:gd name="T36" fmla="*/ 3 w 2675"/>
                <a:gd name="T37" fmla="*/ 5 h 1432"/>
                <a:gd name="T38" fmla="*/ 2 w 2675"/>
                <a:gd name="T39" fmla="*/ 4 h 1432"/>
                <a:gd name="T40" fmla="*/ 2 w 2675"/>
                <a:gd name="T41" fmla="*/ 4 h 1432"/>
                <a:gd name="T42" fmla="*/ 2 w 2675"/>
                <a:gd name="T43" fmla="*/ 4 h 1432"/>
                <a:gd name="T44" fmla="*/ 1 w 2675"/>
                <a:gd name="T45" fmla="*/ 4 h 1432"/>
                <a:gd name="T46" fmla="*/ 1 w 2675"/>
                <a:gd name="T47" fmla="*/ 3 h 1432"/>
                <a:gd name="T48" fmla="*/ 1 w 2675"/>
                <a:gd name="T49" fmla="*/ 3 h 1432"/>
                <a:gd name="T50" fmla="*/ 1 w 2675"/>
                <a:gd name="T51" fmla="*/ 3 h 1432"/>
                <a:gd name="T52" fmla="*/ 1 w 2675"/>
                <a:gd name="T53" fmla="*/ 3 h 1432"/>
                <a:gd name="T54" fmla="*/ 1 w 2675"/>
                <a:gd name="T55" fmla="*/ 3 h 1432"/>
                <a:gd name="T56" fmla="*/ 1 w 2675"/>
                <a:gd name="T57" fmla="*/ 3 h 1432"/>
                <a:gd name="T58" fmla="*/ 2 w 2675"/>
                <a:gd name="T59" fmla="*/ 3 h 1432"/>
                <a:gd name="T60" fmla="*/ 2 w 2675"/>
                <a:gd name="T61" fmla="*/ 2 h 1432"/>
                <a:gd name="T62" fmla="*/ 2 w 2675"/>
                <a:gd name="T63" fmla="*/ 2 h 1432"/>
                <a:gd name="T64" fmla="*/ 3 w 2675"/>
                <a:gd name="T65" fmla="*/ 2 h 1432"/>
                <a:gd name="T66" fmla="*/ 3 w 2675"/>
                <a:gd name="T67" fmla="*/ 2 h 1432"/>
                <a:gd name="T68" fmla="*/ 3 w 2675"/>
                <a:gd name="T69" fmla="*/ 2 h 1432"/>
                <a:gd name="T70" fmla="*/ 4 w 2675"/>
                <a:gd name="T71" fmla="*/ 3 h 1432"/>
                <a:gd name="T72" fmla="*/ 4 w 2675"/>
                <a:gd name="T73" fmla="*/ 3 h 1432"/>
                <a:gd name="T74" fmla="*/ 5 w 2675"/>
                <a:gd name="T75" fmla="*/ 3 h 1432"/>
                <a:gd name="T76" fmla="*/ 6 w 2675"/>
                <a:gd name="T77" fmla="*/ 3 h 1432"/>
                <a:gd name="T78" fmla="*/ 6 w 2675"/>
                <a:gd name="T79" fmla="*/ 3 h 1432"/>
                <a:gd name="T80" fmla="*/ 7 w 2675"/>
                <a:gd name="T81" fmla="*/ 3 h 1432"/>
                <a:gd name="T82" fmla="*/ 7 w 2675"/>
                <a:gd name="T83" fmla="*/ 3 h 1432"/>
                <a:gd name="T84" fmla="*/ 8 w 2675"/>
                <a:gd name="T85" fmla="*/ 2 h 1432"/>
                <a:gd name="T86" fmla="*/ 8 w 2675"/>
                <a:gd name="T87" fmla="*/ 2 h 1432"/>
                <a:gd name="T88" fmla="*/ 8 w 2675"/>
                <a:gd name="T89" fmla="*/ 2 h 1432"/>
                <a:gd name="T90" fmla="*/ 8 w 2675"/>
                <a:gd name="T91" fmla="*/ 2 h 1432"/>
                <a:gd name="T92" fmla="*/ 9 w 2675"/>
                <a:gd name="T93" fmla="*/ 2 h 1432"/>
                <a:gd name="T94" fmla="*/ 9 w 2675"/>
                <a:gd name="T95" fmla="*/ 2 h 1432"/>
                <a:gd name="T96" fmla="*/ 9 w 2675"/>
                <a:gd name="T97" fmla="*/ 2 h 1432"/>
                <a:gd name="T98" fmla="*/ 9 w 2675"/>
                <a:gd name="T99" fmla="*/ 1 h 1432"/>
                <a:gd name="T100" fmla="*/ 9 w 2675"/>
                <a:gd name="T101" fmla="*/ 1 h 1432"/>
                <a:gd name="T102" fmla="*/ 9 w 2675"/>
                <a:gd name="T103" fmla="*/ 1 h 1432"/>
                <a:gd name="T104" fmla="*/ 8 w 2675"/>
                <a:gd name="T105" fmla="*/ 1 h 1432"/>
                <a:gd name="T106" fmla="*/ 8 w 2675"/>
                <a:gd name="T107" fmla="*/ 0 h 1432"/>
                <a:gd name="T108" fmla="*/ 8 w 2675"/>
                <a:gd name="T109" fmla="*/ 0 h 1432"/>
                <a:gd name="T110" fmla="*/ 8 w 2675"/>
                <a:gd name="T111" fmla="*/ 0 h 1432"/>
                <a:gd name="T112" fmla="*/ 8 w 2675"/>
                <a:gd name="T113" fmla="*/ 0 h 1432"/>
                <a:gd name="T114" fmla="*/ 8 w 2675"/>
                <a:gd name="T115" fmla="*/ 0 h 143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675"/>
                <a:gd name="T175" fmla="*/ 0 h 1432"/>
                <a:gd name="T176" fmla="*/ 2675 w 2675"/>
                <a:gd name="T177" fmla="*/ 1432 h 143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675" h="1432">
                  <a:moveTo>
                    <a:pt x="1894" y="0"/>
                  </a:moveTo>
                  <a:lnTo>
                    <a:pt x="1943" y="14"/>
                  </a:lnTo>
                  <a:lnTo>
                    <a:pt x="1994" y="29"/>
                  </a:lnTo>
                  <a:lnTo>
                    <a:pt x="2044" y="42"/>
                  </a:lnTo>
                  <a:lnTo>
                    <a:pt x="2093" y="59"/>
                  </a:lnTo>
                  <a:lnTo>
                    <a:pt x="2143" y="74"/>
                  </a:lnTo>
                  <a:lnTo>
                    <a:pt x="2192" y="90"/>
                  </a:lnTo>
                  <a:lnTo>
                    <a:pt x="2242" y="105"/>
                  </a:lnTo>
                  <a:lnTo>
                    <a:pt x="2291" y="124"/>
                  </a:lnTo>
                  <a:lnTo>
                    <a:pt x="2339" y="141"/>
                  </a:lnTo>
                  <a:lnTo>
                    <a:pt x="2388" y="158"/>
                  </a:lnTo>
                  <a:lnTo>
                    <a:pt x="2436" y="177"/>
                  </a:lnTo>
                  <a:lnTo>
                    <a:pt x="2485" y="198"/>
                  </a:lnTo>
                  <a:lnTo>
                    <a:pt x="2531" y="217"/>
                  </a:lnTo>
                  <a:lnTo>
                    <a:pt x="2580" y="240"/>
                  </a:lnTo>
                  <a:lnTo>
                    <a:pt x="2628" y="261"/>
                  </a:lnTo>
                  <a:lnTo>
                    <a:pt x="2675" y="286"/>
                  </a:lnTo>
                  <a:lnTo>
                    <a:pt x="2660" y="305"/>
                  </a:lnTo>
                  <a:lnTo>
                    <a:pt x="2645" y="324"/>
                  </a:lnTo>
                  <a:lnTo>
                    <a:pt x="2626" y="343"/>
                  </a:lnTo>
                  <a:lnTo>
                    <a:pt x="2609" y="360"/>
                  </a:lnTo>
                  <a:lnTo>
                    <a:pt x="2588" y="377"/>
                  </a:lnTo>
                  <a:lnTo>
                    <a:pt x="2567" y="392"/>
                  </a:lnTo>
                  <a:lnTo>
                    <a:pt x="2544" y="409"/>
                  </a:lnTo>
                  <a:lnTo>
                    <a:pt x="2523" y="426"/>
                  </a:lnTo>
                  <a:lnTo>
                    <a:pt x="2500" y="440"/>
                  </a:lnTo>
                  <a:lnTo>
                    <a:pt x="2477" y="455"/>
                  </a:lnTo>
                  <a:lnTo>
                    <a:pt x="2453" y="468"/>
                  </a:lnTo>
                  <a:lnTo>
                    <a:pt x="2430" y="485"/>
                  </a:lnTo>
                  <a:lnTo>
                    <a:pt x="2405" y="498"/>
                  </a:lnTo>
                  <a:lnTo>
                    <a:pt x="2384" y="516"/>
                  </a:lnTo>
                  <a:lnTo>
                    <a:pt x="2363" y="531"/>
                  </a:lnTo>
                  <a:lnTo>
                    <a:pt x="2344" y="550"/>
                  </a:lnTo>
                  <a:lnTo>
                    <a:pt x="2278" y="592"/>
                  </a:lnTo>
                  <a:lnTo>
                    <a:pt x="2215" y="633"/>
                  </a:lnTo>
                  <a:lnTo>
                    <a:pt x="2150" y="675"/>
                  </a:lnTo>
                  <a:lnTo>
                    <a:pt x="2086" y="717"/>
                  </a:lnTo>
                  <a:lnTo>
                    <a:pt x="2021" y="757"/>
                  </a:lnTo>
                  <a:lnTo>
                    <a:pt x="1956" y="797"/>
                  </a:lnTo>
                  <a:lnTo>
                    <a:pt x="1892" y="837"/>
                  </a:lnTo>
                  <a:lnTo>
                    <a:pt x="1827" y="877"/>
                  </a:lnTo>
                  <a:lnTo>
                    <a:pt x="1761" y="917"/>
                  </a:lnTo>
                  <a:lnTo>
                    <a:pt x="1696" y="957"/>
                  </a:lnTo>
                  <a:lnTo>
                    <a:pt x="1629" y="997"/>
                  </a:lnTo>
                  <a:lnTo>
                    <a:pt x="1565" y="1036"/>
                  </a:lnTo>
                  <a:lnTo>
                    <a:pt x="1500" y="1076"/>
                  </a:lnTo>
                  <a:lnTo>
                    <a:pt x="1434" y="1118"/>
                  </a:lnTo>
                  <a:lnTo>
                    <a:pt x="1369" y="1160"/>
                  </a:lnTo>
                  <a:lnTo>
                    <a:pt x="1304" y="1204"/>
                  </a:lnTo>
                  <a:lnTo>
                    <a:pt x="1281" y="1217"/>
                  </a:lnTo>
                  <a:lnTo>
                    <a:pt x="1260" y="1232"/>
                  </a:lnTo>
                  <a:lnTo>
                    <a:pt x="1238" y="1248"/>
                  </a:lnTo>
                  <a:lnTo>
                    <a:pt x="1219" y="1265"/>
                  </a:lnTo>
                  <a:lnTo>
                    <a:pt x="1198" y="1278"/>
                  </a:lnTo>
                  <a:lnTo>
                    <a:pt x="1175" y="1295"/>
                  </a:lnTo>
                  <a:lnTo>
                    <a:pt x="1154" y="1310"/>
                  </a:lnTo>
                  <a:lnTo>
                    <a:pt x="1135" y="1325"/>
                  </a:lnTo>
                  <a:lnTo>
                    <a:pt x="1112" y="1339"/>
                  </a:lnTo>
                  <a:lnTo>
                    <a:pt x="1091" y="1354"/>
                  </a:lnTo>
                  <a:lnTo>
                    <a:pt x="1068" y="1367"/>
                  </a:lnTo>
                  <a:lnTo>
                    <a:pt x="1049" y="1382"/>
                  </a:lnTo>
                  <a:lnTo>
                    <a:pt x="1027" y="1394"/>
                  </a:lnTo>
                  <a:lnTo>
                    <a:pt x="1004" y="1407"/>
                  </a:lnTo>
                  <a:lnTo>
                    <a:pt x="981" y="1419"/>
                  </a:lnTo>
                  <a:lnTo>
                    <a:pt x="960" y="1432"/>
                  </a:lnTo>
                  <a:lnTo>
                    <a:pt x="930" y="1417"/>
                  </a:lnTo>
                  <a:lnTo>
                    <a:pt x="897" y="1403"/>
                  </a:lnTo>
                  <a:lnTo>
                    <a:pt x="867" y="1390"/>
                  </a:lnTo>
                  <a:lnTo>
                    <a:pt x="838" y="1377"/>
                  </a:lnTo>
                  <a:lnTo>
                    <a:pt x="808" y="1365"/>
                  </a:lnTo>
                  <a:lnTo>
                    <a:pt x="778" y="1354"/>
                  </a:lnTo>
                  <a:lnTo>
                    <a:pt x="747" y="1341"/>
                  </a:lnTo>
                  <a:lnTo>
                    <a:pt x="719" y="1329"/>
                  </a:lnTo>
                  <a:lnTo>
                    <a:pt x="688" y="1316"/>
                  </a:lnTo>
                  <a:lnTo>
                    <a:pt x="658" y="1305"/>
                  </a:lnTo>
                  <a:lnTo>
                    <a:pt x="627" y="1291"/>
                  </a:lnTo>
                  <a:lnTo>
                    <a:pt x="599" y="1278"/>
                  </a:lnTo>
                  <a:lnTo>
                    <a:pt x="568" y="1265"/>
                  </a:lnTo>
                  <a:lnTo>
                    <a:pt x="538" y="1251"/>
                  </a:lnTo>
                  <a:lnTo>
                    <a:pt x="509" y="1234"/>
                  </a:lnTo>
                  <a:lnTo>
                    <a:pt x="481" y="1221"/>
                  </a:lnTo>
                  <a:lnTo>
                    <a:pt x="452" y="1200"/>
                  </a:lnTo>
                  <a:lnTo>
                    <a:pt x="422" y="1185"/>
                  </a:lnTo>
                  <a:lnTo>
                    <a:pt x="392" y="1168"/>
                  </a:lnTo>
                  <a:lnTo>
                    <a:pt x="363" y="1156"/>
                  </a:lnTo>
                  <a:lnTo>
                    <a:pt x="331" y="1145"/>
                  </a:lnTo>
                  <a:lnTo>
                    <a:pt x="300" y="1132"/>
                  </a:lnTo>
                  <a:lnTo>
                    <a:pt x="268" y="1122"/>
                  </a:lnTo>
                  <a:lnTo>
                    <a:pt x="238" y="1113"/>
                  </a:lnTo>
                  <a:lnTo>
                    <a:pt x="205" y="1099"/>
                  </a:lnTo>
                  <a:lnTo>
                    <a:pt x="175" y="1090"/>
                  </a:lnTo>
                  <a:lnTo>
                    <a:pt x="144" y="1076"/>
                  </a:lnTo>
                  <a:lnTo>
                    <a:pt x="114" y="1067"/>
                  </a:lnTo>
                  <a:lnTo>
                    <a:pt x="84" y="1054"/>
                  </a:lnTo>
                  <a:lnTo>
                    <a:pt x="55" y="1038"/>
                  </a:lnTo>
                  <a:lnTo>
                    <a:pt x="28" y="1023"/>
                  </a:lnTo>
                  <a:lnTo>
                    <a:pt x="2" y="1006"/>
                  </a:lnTo>
                  <a:lnTo>
                    <a:pt x="0" y="995"/>
                  </a:lnTo>
                  <a:lnTo>
                    <a:pt x="2" y="987"/>
                  </a:lnTo>
                  <a:lnTo>
                    <a:pt x="2" y="979"/>
                  </a:lnTo>
                  <a:lnTo>
                    <a:pt x="8" y="974"/>
                  </a:lnTo>
                  <a:lnTo>
                    <a:pt x="13" y="968"/>
                  </a:lnTo>
                  <a:lnTo>
                    <a:pt x="23" y="964"/>
                  </a:lnTo>
                  <a:lnTo>
                    <a:pt x="30" y="959"/>
                  </a:lnTo>
                  <a:lnTo>
                    <a:pt x="42" y="955"/>
                  </a:lnTo>
                  <a:lnTo>
                    <a:pt x="49" y="949"/>
                  </a:lnTo>
                  <a:lnTo>
                    <a:pt x="61" y="943"/>
                  </a:lnTo>
                  <a:lnTo>
                    <a:pt x="72" y="938"/>
                  </a:lnTo>
                  <a:lnTo>
                    <a:pt x="82" y="932"/>
                  </a:lnTo>
                  <a:lnTo>
                    <a:pt x="91" y="924"/>
                  </a:lnTo>
                  <a:lnTo>
                    <a:pt x="103" y="917"/>
                  </a:lnTo>
                  <a:lnTo>
                    <a:pt x="110" y="907"/>
                  </a:lnTo>
                  <a:lnTo>
                    <a:pt x="120" y="898"/>
                  </a:lnTo>
                  <a:lnTo>
                    <a:pt x="144" y="882"/>
                  </a:lnTo>
                  <a:lnTo>
                    <a:pt x="171" y="867"/>
                  </a:lnTo>
                  <a:lnTo>
                    <a:pt x="196" y="852"/>
                  </a:lnTo>
                  <a:lnTo>
                    <a:pt x="222" y="837"/>
                  </a:lnTo>
                  <a:lnTo>
                    <a:pt x="247" y="820"/>
                  </a:lnTo>
                  <a:lnTo>
                    <a:pt x="274" y="805"/>
                  </a:lnTo>
                  <a:lnTo>
                    <a:pt x="300" y="787"/>
                  </a:lnTo>
                  <a:lnTo>
                    <a:pt x="327" y="772"/>
                  </a:lnTo>
                  <a:lnTo>
                    <a:pt x="352" y="757"/>
                  </a:lnTo>
                  <a:lnTo>
                    <a:pt x="378" y="742"/>
                  </a:lnTo>
                  <a:lnTo>
                    <a:pt x="403" y="725"/>
                  </a:lnTo>
                  <a:lnTo>
                    <a:pt x="430" y="713"/>
                  </a:lnTo>
                  <a:lnTo>
                    <a:pt x="456" y="700"/>
                  </a:lnTo>
                  <a:lnTo>
                    <a:pt x="483" y="689"/>
                  </a:lnTo>
                  <a:lnTo>
                    <a:pt x="509" y="679"/>
                  </a:lnTo>
                  <a:lnTo>
                    <a:pt x="536" y="673"/>
                  </a:lnTo>
                  <a:lnTo>
                    <a:pt x="553" y="683"/>
                  </a:lnTo>
                  <a:lnTo>
                    <a:pt x="572" y="694"/>
                  </a:lnTo>
                  <a:lnTo>
                    <a:pt x="589" y="704"/>
                  </a:lnTo>
                  <a:lnTo>
                    <a:pt x="610" y="715"/>
                  </a:lnTo>
                  <a:lnTo>
                    <a:pt x="629" y="721"/>
                  </a:lnTo>
                  <a:lnTo>
                    <a:pt x="648" y="728"/>
                  </a:lnTo>
                  <a:lnTo>
                    <a:pt x="671" y="736"/>
                  </a:lnTo>
                  <a:lnTo>
                    <a:pt x="692" y="744"/>
                  </a:lnTo>
                  <a:lnTo>
                    <a:pt x="713" y="749"/>
                  </a:lnTo>
                  <a:lnTo>
                    <a:pt x="734" y="755"/>
                  </a:lnTo>
                  <a:lnTo>
                    <a:pt x="755" y="761"/>
                  </a:lnTo>
                  <a:lnTo>
                    <a:pt x="778" y="768"/>
                  </a:lnTo>
                  <a:lnTo>
                    <a:pt x="798" y="776"/>
                  </a:lnTo>
                  <a:lnTo>
                    <a:pt x="819" y="786"/>
                  </a:lnTo>
                  <a:lnTo>
                    <a:pt x="840" y="793"/>
                  </a:lnTo>
                  <a:lnTo>
                    <a:pt x="861" y="805"/>
                  </a:lnTo>
                  <a:lnTo>
                    <a:pt x="901" y="812"/>
                  </a:lnTo>
                  <a:lnTo>
                    <a:pt x="941" y="820"/>
                  </a:lnTo>
                  <a:lnTo>
                    <a:pt x="981" y="825"/>
                  </a:lnTo>
                  <a:lnTo>
                    <a:pt x="1023" y="831"/>
                  </a:lnTo>
                  <a:lnTo>
                    <a:pt x="1063" y="835"/>
                  </a:lnTo>
                  <a:lnTo>
                    <a:pt x="1103" y="841"/>
                  </a:lnTo>
                  <a:lnTo>
                    <a:pt x="1143" y="846"/>
                  </a:lnTo>
                  <a:lnTo>
                    <a:pt x="1186" y="852"/>
                  </a:lnTo>
                  <a:lnTo>
                    <a:pt x="1226" y="856"/>
                  </a:lnTo>
                  <a:lnTo>
                    <a:pt x="1266" y="862"/>
                  </a:lnTo>
                  <a:lnTo>
                    <a:pt x="1306" y="871"/>
                  </a:lnTo>
                  <a:lnTo>
                    <a:pt x="1348" y="881"/>
                  </a:lnTo>
                  <a:lnTo>
                    <a:pt x="1386" y="890"/>
                  </a:lnTo>
                  <a:lnTo>
                    <a:pt x="1424" y="905"/>
                  </a:lnTo>
                  <a:lnTo>
                    <a:pt x="1462" y="921"/>
                  </a:lnTo>
                  <a:lnTo>
                    <a:pt x="1500" y="940"/>
                  </a:lnTo>
                  <a:lnTo>
                    <a:pt x="1529" y="917"/>
                  </a:lnTo>
                  <a:lnTo>
                    <a:pt x="1559" y="896"/>
                  </a:lnTo>
                  <a:lnTo>
                    <a:pt x="1589" y="873"/>
                  </a:lnTo>
                  <a:lnTo>
                    <a:pt x="1620" y="852"/>
                  </a:lnTo>
                  <a:lnTo>
                    <a:pt x="1652" y="829"/>
                  </a:lnTo>
                  <a:lnTo>
                    <a:pt x="1683" y="808"/>
                  </a:lnTo>
                  <a:lnTo>
                    <a:pt x="1715" y="786"/>
                  </a:lnTo>
                  <a:lnTo>
                    <a:pt x="1745" y="767"/>
                  </a:lnTo>
                  <a:lnTo>
                    <a:pt x="1778" y="746"/>
                  </a:lnTo>
                  <a:lnTo>
                    <a:pt x="1808" y="725"/>
                  </a:lnTo>
                  <a:lnTo>
                    <a:pt x="1839" y="706"/>
                  </a:lnTo>
                  <a:lnTo>
                    <a:pt x="1871" y="687"/>
                  </a:lnTo>
                  <a:lnTo>
                    <a:pt x="1901" y="666"/>
                  </a:lnTo>
                  <a:lnTo>
                    <a:pt x="1934" y="649"/>
                  </a:lnTo>
                  <a:lnTo>
                    <a:pt x="1966" y="630"/>
                  </a:lnTo>
                  <a:lnTo>
                    <a:pt x="1998" y="614"/>
                  </a:lnTo>
                  <a:lnTo>
                    <a:pt x="2010" y="616"/>
                  </a:lnTo>
                  <a:lnTo>
                    <a:pt x="2017" y="622"/>
                  </a:lnTo>
                  <a:lnTo>
                    <a:pt x="2021" y="630"/>
                  </a:lnTo>
                  <a:lnTo>
                    <a:pt x="2025" y="639"/>
                  </a:lnTo>
                  <a:lnTo>
                    <a:pt x="2025" y="649"/>
                  </a:lnTo>
                  <a:lnTo>
                    <a:pt x="2025" y="660"/>
                  </a:lnTo>
                  <a:lnTo>
                    <a:pt x="2023" y="671"/>
                  </a:lnTo>
                  <a:lnTo>
                    <a:pt x="2021" y="683"/>
                  </a:lnTo>
                  <a:lnTo>
                    <a:pt x="2036" y="671"/>
                  </a:lnTo>
                  <a:lnTo>
                    <a:pt x="2053" y="660"/>
                  </a:lnTo>
                  <a:lnTo>
                    <a:pt x="2070" y="649"/>
                  </a:lnTo>
                  <a:lnTo>
                    <a:pt x="2089" y="637"/>
                  </a:lnTo>
                  <a:lnTo>
                    <a:pt x="2108" y="626"/>
                  </a:lnTo>
                  <a:lnTo>
                    <a:pt x="2128" y="616"/>
                  </a:lnTo>
                  <a:lnTo>
                    <a:pt x="2147" y="603"/>
                  </a:lnTo>
                  <a:lnTo>
                    <a:pt x="2164" y="594"/>
                  </a:lnTo>
                  <a:lnTo>
                    <a:pt x="2179" y="578"/>
                  </a:lnTo>
                  <a:lnTo>
                    <a:pt x="2190" y="565"/>
                  </a:lnTo>
                  <a:lnTo>
                    <a:pt x="2200" y="548"/>
                  </a:lnTo>
                  <a:lnTo>
                    <a:pt x="2207" y="535"/>
                  </a:lnTo>
                  <a:lnTo>
                    <a:pt x="2209" y="517"/>
                  </a:lnTo>
                  <a:lnTo>
                    <a:pt x="2209" y="498"/>
                  </a:lnTo>
                  <a:lnTo>
                    <a:pt x="2204" y="478"/>
                  </a:lnTo>
                  <a:lnTo>
                    <a:pt x="2192" y="455"/>
                  </a:lnTo>
                  <a:lnTo>
                    <a:pt x="2179" y="434"/>
                  </a:lnTo>
                  <a:lnTo>
                    <a:pt x="2167" y="415"/>
                  </a:lnTo>
                  <a:lnTo>
                    <a:pt x="2154" y="396"/>
                  </a:lnTo>
                  <a:lnTo>
                    <a:pt x="2141" y="381"/>
                  </a:lnTo>
                  <a:lnTo>
                    <a:pt x="2126" y="363"/>
                  </a:lnTo>
                  <a:lnTo>
                    <a:pt x="2112" y="346"/>
                  </a:lnTo>
                  <a:lnTo>
                    <a:pt x="2097" y="333"/>
                  </a:lnTo>
                  <a:lnTo>
                    <a:pt x="2084" y="318"/>
                  </a:lnTo>
                  <a:lnTo>
                    <a:pt x="2067" y="301"/>
                  </a:lnTo>
                  <a:lnTo>
                    <a:pt x="2053" y="284"/>
                  </a:lnTo>
                  <a:lnTo>
                    <a:pt x="2040" y="267"/>
                  </a:lnTo>
                  <a:lnTo>
                    <a:pt x="2029" y="251"/>
                  </a:lnTo>
                  <a:lnTo>
                    <a:pt x="2017" y="230"/>
                  </a:lnTo>
                  <a:lnTo>
                    <a:pt x="2006" y="211"/>
                  </a:lnTo>
                  <a:lnTo>
                    <a:pt x="1998" y="189"/>
                  </a:lnTo>
                  <a:lnTo>
                    <a:pt x="1991" y="166"/>
                  </a:lnTo>
                  <a:lnTo>
                    <a:pt x="1991" y="151"/>
                  </a:lnTo>
                  <a:lnTo>
                    <a:pt x="1987" y="139"/>
                  </a:lnTo>
                  <a:lnTo>
                    <a:pt x="1979" y="128"/>
                  </a:lnTo>
                  <a:lnTo>
                    <a:pt x="1973" y="116"/>
                  </a:lnTo>
                  <a:lnTo>
                    <a:pt x="1962" y="105"/>
                  </a:lnTo>
                  <a:lnTo>
                    <a:pt x="1951" y="95"/>
                  </a:lnTo>
                  <a:lnTo>
                    <a:pt x="1941" y="84"/>
                  </a:lnTo>
                  <a:lnTo>
                    <a:pt x="1930" y="76"/>
                  </a:lnTo>
                  <a:lnTo>
                    <a:pt x="1918" y="67"/>
                  </a:lnTo>
                  <a:lnTo>
                    <a:pt x="1907" y="57"/>
                  </a:lnTo>
                  <a:lnTo>
                    <a:pt x="1897" y="48"/>
                  </a:lnTo>
                  <a:lnTo>
                    <a:pt x="1892" y="40"/>
                  </a:lnTo>
                  <a:lnTo>
                    <a:pt x="1886" y="29"/>
                  </a:lnTo>
                  <a:lnTo>
                    <a:pt x="1886" y="19"/>
                  </a:lnTo>
                  <a:lnTo>
                    <a:pt x="1888" y="10"/>
                  </a:lnTo>
                  <a:lnTo>
                    <a:pt x="1894" y="0"/>
                  </a:lnTo>
                  <a:close/>
                </a:path>
              </a:pathLst>
            </a:custGeom>
            <a:solidFill>
              <a:srgbClr val="FFF2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08" name="Freeform 20"/>
            <p:cNvSpPr>
              <a:spLocks/>
            </p:cNvSpPr>
            <p:nvPr/>
          </p:nvSpPr>
          <p:spPr bwMode="auto">
            <a:xfrm>
              <a:off x="3847" y="2334"/>
              <a:ext cx="37" cy="37"/>
            </a:xfrm>
            <a:custGeom>
              <a:avLst/>
              <a:gdLst>
                <a:gd name="T0" fmla="*/ 0 w 75"/>
                <a:gd name="T1" fmla="*/ 0 h 74"/>
                <a:gd name="T2" fmla="*/ 0 w 75"/>
                <a:gd name="T3" fmla="*/ 1 h 74"/>
                <a:gd name="T4" fmla="*/ 0 w 75"/>
                <a:gd name="T5" fmla="*/ 1 h 74"/>
                <a:gd name="T6" fmla="*/ 0 w 75"/>
                <a:gd name="T7" fmla="*/ 1 h 74"/>
                <a:gd name="T8" fmla="*/ 0 w 75"/>
                <a:gd name="T9" fmla="*/ 1 h 74"/>
                <a:gd name="T10" fmla="*/ 0 w 75"/>
                <a:gd name="T11" fmla="*/ 1 h 74"/>
                <a:gd name="T12" fmla="*/ 0 w 75"/>
                <a:gd name="T13" fmla="*/ 1 h 74"/>
                <a:gd name="T14" fmla="*/ 0 w 75"/>
                <a:gd name="T15" fmla="*/ 1 h 74"/>
                <a:gd name="T16" fmla="*/ 0 w 75"/>
                <a:gd name="T17" fmla="*/ 1 h 74"/>
                <a:gd name="T18" fmla="*/ 0 w 75"/>
                <a:gd name="T19" fmla="*/ 1 h 74"/>
                <a:gd name="T20" fmla="*/ 0 w 75"/>
                <a:gd name="T21" fmla="*/ 1 h 74"/>
                <a:gd name="T22" fmla="*/ 0 w 75"/>
                <a:gd name="T23" fmla="*/ 1 h 74"/>
                <a:gd name="T24" fmla="*/ 0 w 75"/>
                <a:gd name="T25" fmla="*/ 1 h 74"/>
                <a:gd name="T26" fmla="*/ 0 w 75"/>
                <a:gd name="T27" fmla="*/ 1 h 74"/>
                <a:gd name="T28" fmla="*/ 0 w 75"/>
                <a:gd name="T29" fmla="*/ 1 h 74"/>
                <a:gd name="T30" fmla="*/ 0 w 75"/>
                <a:gd name="T31" fmla="*/ 1 h 74"/>
                <a:gd name="T32" fmla="*/ 0 w 75"/>
                <a:gd name="T33" fmla="*/ 1 h 74"/>
                <a:gd name="T34" fmla="*/ 0 w 75"/>
                <a:gd name="T35" fmla="*/ 1 h 74"/>
                <a:gd name="T36" fmla="*/ 0 w 75"/>
                <a:gd name="T37" fmla="*/ 0 h 74"/>
                <a:gd name="T38" fmla="*/ 0 w 75"/>
                <a:gd name="T39" fmla="*/ 0 h 7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5"/>
                <a:gd name="T61" fmla="*/ 0 h 74"/>
                <a:gd name="T62" fmla="*/ 75 w 75"/>
                <a:gd name="T63" fmla="*/ 74 h 7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5" h="74">
                  <a:moveTo>
                    <a:pt x="0" y="0"/>
                  </a:moveTo>
                  <a:lnTo>
                    <a:pt x="12" y="9"/>
                  </a:lnTo>
                  <a:lnTo>
                    <a:pt x="27" y="21"/>
                  </a:lnTo>
                  <a:lnTo>
                    <a:pt x="35" y="25"/>
                  </a:lnTo>
                  <a:lnTo>
                    <a:pt x="42" y="29"/>
                  </a:lnTo>
                  <a:lnTo>
                    <a:pt x="48" y="34"/>
                  </a:lnTo>
                  <a:lnTo>
                    <a:pt x="58" y="40"/>
                  </a:lnTo>
                  <a:lnTo>
                    <a:pt x="61" y="46"/>
                  </a:lnTo>
                  <a:lnTo>
                    <a:pt x="67" y="55"/>
                  </a:lnTo>
                  <a:lnTo>
                    <a:pt x="71" y="63"/>
                  </a:lnTo>
                  <a:lnTo>
                    <a:pt x="75" y="74"/>
                  </a:lnTo>
                  <a:lnTo>
                    <a:pt x="63" y="67"/>
                  </a:lnTo>
                  <a:lnTo>
                    <a:pt x="52" y="61"/>
                  </a:lnTo>
                  <a:lnTo>
                    <a:pt x="40" y="53"/>
                  </a:lnTo>
                  <a:lnTo>
                    <a:pt x="31" y="49"/>
                  </a:lnTo>
                  <a:lnTo>
                    <a:pt x="18" y="36"/>
                  </a:lnTo>
                  <a:lnTo>
                    <a:pt x="8" y="27"/>
                  </a:lnTo>
                  <a:lnTo>
                    <a:pt x="2" y="1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09" name="Freeform 21"/>
            <p:cNvSpPr>
              <a:spLocks/>
            </p:cNvSpPr>
            <p:nvPr/>
          </p:nvSpPr>
          <p:spPr bwMode="auto">
            <a:xfrm>
              <a:off x="3697" y="2373"/>
              <a:ext cx="24" cy="30"/>
            </a:xfrm>
            <a:custGeom>
              <a:avLst/>
              <a:gdLst>
                <a:gd name="T0" fmla="*/ 1 w 48"/>
                <a:gd name="T1" fmla="*/ 0 h 61"/>
                <a:gd name="T2" fmla="*/ 1 w 48"/>
                <a:gd name="T3" fmla="*/ 0 h 61"/>
                <a:gd name="T4" fmla="*/ 1 w 48"/>
                <a:gd name="T5" fmla="*/ 0 h 61"/>
                <a:gd name="T6" fmla="*/ 1 w 48"/>
                <a:gd name="T7" fmla="*/ 0 h 61"/>
                <a:gd name="T8" fmla="*/ 1 w 48"/>
                <a:gd name="T9" fmla="*/ 0 h 61"/>
                <a:gd name="T10" fmla="*/ 1 w 48"/>
                <a:gd name="T11" fmla="*/ 0 h 61"/>
                <a:gd name="T12" fmla="*/ 1 w 48"/>
                <a:gd name="T13" fmla="*/ 0 h 61"/>
                <a:gd name="T14" fmla="*/ 1 w 48"/>
                <a:gd name="T15" fmla="*/ 0 h 61"/>
                <a:gd name="T16" fmla="*/ 1 w 48"/>
                <a:gd name="T17" fmla="*/ 0 h 61"/>
                <a:gd name="T18" fmla="*/ 1 w 48"/>
                <a:gd name="T19" fmla="*/ 0 h 61"/>
                <a:gd name="T20" fmla="*/ 1 w 48"/>
                <a:gd name="T21" fmla="*/ 0 h 61"/>
                <a:gd name="T22" fmla="*/ 1 w 48"/>
                <a:gd name="T23" fmla="*/ 0 h 61"/>
                <a:gd name="T24" fmla="*/ 1 w 48"/>
                <a:gd name="T25" fmla="*/ 0 h 61"/>
                <a:gd name="T26" fmla="*/ 0 w 48"/>
                <a:gd name="T27" fmla="*/ 0 h 61"/>
                <a:gd name="T28" fmla="*/ 0 w 48"/>
                <a:gd name="T29" fmla="*/ 0 h 61"/>
                <a:gd name="T30" fmla="*/ 1 w 48"/>
                <a:gd name="T31" fmla="*/ 0 h 61"/>
                <a:gd name="T32" fmla="*/ 1 w 48"/>
                <a:gd name="T33" fmla="*/ 0 h 61"/>
                <a:gd name="T34" fmla="*/ 1 w 48"/>
                <a:gd name="T35" fmla="*/ 0 h 6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61"/>
                <a:gd name="T56" fmla="*/ 48 w 48"/>
                <a:gd name="T57" fmla="*/ 61 h 6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61">
                  <a:moveTo>
                    <a:pt x="11" y="0"/>
                  </a:moveTo>
                  <a:lnTo>
                    <a:pt x="13" y="8"/>
                  </a:lnTo>
                  <a:lnTo>
                    <a:pt x="21" y="17"/>
                  </a:lnTo>
                  <a:lnTo>
                    <a:pt x="29" y="25"/>
                  </a:lnTo>
                  <a:lnTo>
                    <a:pt x="36" y="36"/>
                  </a:lnTo>
                  <a:lnTo>
                    <a:pt x="46" y="47"/>
                  </a:lnTo>
                  <a:lnTo>
                    <a:pt x="48" y="61"/>
                  </a:lnTo>
                  <a:lnTo>
                    <a:pt x="40" y="61"/>
                  </a:lnTo>
                  <a:lnTo>
                    <a:pt x="32" y="61"/>
                  </a:lnTo>
                  <a:lnTo>
                    <a:pt x="27" y="61"/>
                  </a:lnTo>
                  <a:lnTo>
                    <a:pt x="23" y="61"/>
                  </a:lnTo>
                  <a:lnTo>
                    <a:pt x="13" y="55"/>
                  </a:lnTo>
                  <a:lnTo>
                    <a:pt x="8" y="47"/>
                  </a:lnTo>
                  <a:lnTo>
                    <a:pt x="0" y="36"/>
                  </a:lnTo>
                  <a:lnTo>
                    <a:pt x="0" y="25"/>
                  </a:lnTo>
                  <a:lnTo>
                    <a:pt x="4" y="11"/>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10" name="Freeform 22"/>
            <p:cNvSpPr>
              <a:spLocks/>
            </p:cNvSpPr>
            <p:nvPr/>
          </p:nvSpPr>
          <p:spPr bwMode="auto">
            <a:xfrm>
              <a:off x="3873" y="2391"/>
              <a:ext cx="47" cy="44"/>
            </a:xfrm>
            <a:custGeom>
              <a:avLst/>
              <a:gdLst>
                <a:gd name="T0" fmla="*/ 0 w 95"/>
                <a:gd name="T1" fmla="*/ 0 h 88"/>
                <a:gd name="T2" fmla="*/ 0 w 95"/>
                <a:gd name="T3" fmla="*/ 1 h 88"/>
                <a:gd name="T4" fmla="*/ 0 w 95"/>
                <a:gd name="T5" fmla="*/ 1 h 88"/>
                <a:gd name="T6" fmla="*/ 0 w 95"/>
                <a:gd name="T7" fmla="*/ 1 h 88"/>
                <a:gd name="T8" fmla="*/ 0 w 95"/>
                <a:gd name="T9" fmla="*/ 1 h 88"/>
                <a:gd name="T10" fmla="*/ 0 w 95"/>
                <a:gd name="T11" fmla="*/ 1 h 88"/>
                <a:gd name="T12" fmla="*/ 0 w 95"/>
                <a:gd name="T13" fmla="*/ 1 h 88"/>
                <a:gd name="T14" fmla="*/ 0 w 95"/>
                <a:gd name="T15" fmla="*/ 1 h 88"/>
                <a:gd name="T16" fmla="*/ 0 w 95"/>
                <a:gd name="T17" fmla="*/ 1 h 88"/>
                <a:gd name="T18" fmla="*/ 0 w 95"/>
                <a:gd name="T19" fmla="*/ 1 h 88"/>
                <a:gd name="T20" fmla="*/ 0 w 95"/>
                <a:gd name="T21" fmla="*/ 1 h 88"/>
                <a:gd name="T22" fmla="*/ 0 w 95"/>
                <a:gd name="T23" fmla="*/ 1 h 88"/>
                <a:gd name="T24" fmla="*/ 0 w 95"/>
                <a:gd name="T25" fmla="*/ 1 h 88"/>
                <a:gd name="T26" fmla="*/ 0 w 95"/>
                <a:gd name="T27" fmla="*/ 1 h 88"/>
                <a:gd name="T28" fmla="*/ 0 w 95"/>
                <a:gd name="T29" fmla="*/ 1 h 88"/>
                <a:gd name="T30" fmla="*/ 0 w 95"/>
                <a:gd name="T31" fmla="*/ 1 h 88"/>
                <a:gd name="T32" fmla="*/ 0 w 95"/>
                <a:gd name="T33" fmla="*/ 1 h 88"/>
                <a:gd name="T34" fmla="*/ 0 w 95"/>
                <a:gd name="T35" fmla="*/ 1 h 88"/>
                <a:gd name="T36" fmla="*/ 0 w 95"/>
                <a:gd name="T37" fmla="*/ 1 h 88"/>
                <a:gd name="T38" fmla="*/ 0 w 95"/>
                <a:gd name="T39" fmla="*/ 1 h 88"/>
                <a:gd name="T40" fmla="*/ 0 w 95"/>
                <a:gd name="T41" fmla="*/ 1 h 88"/>
                <a:gd name="T42" fmla="*/ 0 w 95"/>
                <a:gd name="T43" fmla="*/ 1 h 88"/>
                <a:gd name="T44" fmla="*/ 0 w 95"/>
                <a:gd name="T45" fmla="*/ 1 h 88"/>
                <a:gd name="T46" fmla="*/ 0 w 95"/>
                <a:gd name="T47" fmla="*/ 1 h 88"/>
                <a:gd name="T48" fmla="*/ 0 w 95"/>
                <a:gd name="T49" fmla="*/ 0 h 88"/>
                <a:gd name="T50" fmla="*/ 0 w 95"/>
                <a:gd name="T51" fmla="*/ 0 h 8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95"/>
                <a:gd name="T79" fmla="*/ 0 h 88"/>
                <a:gd name="T80" fmla="*/ 95 w 95"/>
                <a:gd name="T81" fmla="*/ 88 h 8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95" h="88">
                  <a:moveTo>
                    <a:pt x="0" y="0"/>
                  </a:moveTo>
                  <a:lnTo>
                    <a:pt x="15" y="8"/>
                  </a:lnTo>
                  <a:lnTo>
                    <a:pt x="28" y="15"/>
                  </a:lnTo>
                  <a:lnTo>
                    <a:pt x="42" y="23"/>
                  </a:lnTo>
                  <a:lnTo>
                    <a:pt x="57" y="36"/>
                  </a:lnTo>
                  <a:lnTo>
                    <a:pt x="68" y="44"/>
                  </a:lnTo>
                  <a:lnTo>
                    <a:pt x="80" y="57"/>
                  </a:lnTo>
                  <a:lnTo>
                    <a:pt x="83" y="63"/>
                  </a:lnTo>
                  <a:lnTo>
                    <a:pt x="87" y="70"/>
                  </a:lnTo>
                  <a:lnTo>
                    <a:pt x="91" y="78"/>
                  </a:lnTo>
                  <a:lnTo>
                    <a:pt x="95" y="88"/>
                  </a:lnTo>
                  <a:lnTo>
                    <a:pt x="82" y="88"/>
                  </a:lnTo>
                  <a:lnTo>
                    <a:pt x="72" y="88"/>
                  </a:lnTo>
                  <a:lnTo>
                    <a:pt x="59" y="82"/>
                  </a:lnTo>
                  <a:lnTo>
                    <a:pt x="51" y="80"/>
                  </a:lnTo>
                  <a:lnTo>
                    <a:pt x="42" y="74"/>
                  </a:lnTo>
                  <a:lnTo>
                    <a:pt x="36" y="70"/>
                  </a:lnTo>
                  <a:lnTo>
                    <a:pt x="28" y="61"/>
                  </a:lnTo>
                  <a:lnTo>
                    <a:pt x="23" y="55"/>
                  </a:lnTo>
                  <a:lnTo>
                    <a:pt x="15" y="42"/>
                  </a:lnTo>
                  <a:lnTo>
                    <a:pt x="7" y="29"/>
                  </a:lnTo>
                  <a:lnTo>
                    <a:pt x="6" y="21"/>
                  </a:lnTo>
                  <a:lnTo>
                    <a:pt x="4" y="13"/>
                  </a:lnTo>
                  <a:lnTo>
                    <a:pt x="0" y="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11" name="Freeform 23"/>
            <p:cNvSpPr>
              <a:spLocks/>
            </p:cNvSpPr>
            <p:nvPr/>
          </p:nvSpPr>
          <p:spPr bwMode="auto">
            <a:xfrm>
              <a:off x="4418" y="2405"/>
              <a:ext cx="22" cy="35"/>
            </a:xfrm>
            <a:custGeom>
              <a:avLst/>
              <a:gdLst>
                <a:gd name="T0" fmla="*/ 0 w 46"/>
                <a:gd name="T1" fmla="*/ 0 h 68"/>
                <a:gd name="T2" fmla="*/ 0 w 46"/>
                <a:gd name="T3" fmla="*/ 1 h 68"/>
                <a:gd name="T4" fmla="*/ 0 w 46"/>
                <a:gd name="T5" fmla="*/ 1 h 68"/>
                <a:gd name="T6" fmla="*/ 0 w 46"/>
                <a:gd name="T7" fmla="*/ 1 h 68"/>
                <a:gd name="T8" fmla="*/ 0 w 46"/>
                <a:gd name="T9" fmla="*/ 1 h 68"/>
                <a:gd name="T10" fmla="*/ 0 w 46"/>
                <a:gd name="T11" fmla="*/ 1 h 68"/>
                <a:gd name="T12" fmla="*/ 0 w 46"/>
                <a:gd name="T13" fmla="*/ 1 h 68"/>
                <a:gd name="T14" fmla="*/ 0 w 46"/>
                <a:gd name="T15" fmla="*/ 1 h 68"/>
                <a:gd name="T16" fmla="*/ 0 w 46"/>
                <a:gd name="T17" fmla="*/ 1 h 68"/>
                <a:gd name="T18" fmla="*/ 0 w 46"/>
                <a:gd name="T19" fmla="*/ 1 h 68"/>
                <a:gd name="T20" fmla="*/ 0 w 46"/>
                <a:gd name="T21" fmla="*/ 1 h 68"/>
                <a:gd name="T22" fmla="*/ 0 w 46"/>
                <a:gd name="T23" fmla="*/ 1 h 68"/>
                <a:gd name="T24" fmla="*/ 0 w 46"/>
                <a:gd name="T25" fmla="*/ 1 h 68"/>
                <a:gd name="T26" fmla="*/ 0 w 46"/>
                <a:gd name="T27" fmla="*/ 1 h 68"/>
                <a:gd name="T28" fmla="*/ 0 w 46"/>
                <a:gd name="T29" fmla="*/ 0 h 68"/>
                <a:gd name="T30" fmla="*/ 0 w 46"/>
                <a:gd name="T31" fmla="*/ 0 h 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6"/>
                <a:gd name="T49" fmla="*/ 0 h 68"/>
                <a:gd name="T50" fmla="*/ 46 w 46"/>
                <a:gd name="T51" fmla="*/ 68 h 6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6" h="68">
                  <a:moveTo>
                    <a:pt x="10" y="0"/>
                  </a:moveTo>
                  <a:lnTo>
                    <a:pt x="14" y="7"/>
                  </a:lnTo>
                  <a:lnTo>
                    <a:pt x="19" y="17"/>
                  </a:lnTo>
                  <a:lnTo>
                    <a:pt x="23" y="24"/>
                  </a:lnTo>
                  <a:lnTo>
                    <a:pt x="31" y="32"/>
                  </a:lnTo>
                  <a:lnTo>
                    <a:pt x="35" y="39"/>
                  </a:lnTo>
                  <a:lnTo>
                    <a:pt x="38" y="49"/>
                  </a:lnTo>
                  <a:lnTo>
                    <a:pt x="40" y="59"/>
                  </a:lnTo>
                  <a:lnTo>
                    <a:pt x="46" y="68"/>
                  </a:lnTo>
                  <a:lnTo>
                    <a:pt x="33" y="60"/>
                  </a:lnTo>
                  <a:lnTo>
                    <a:pt x="21" y="49"/>
                  </a:lnTo>
                  <a:lnTo>
                    <a:pt x="10" y="38"/>
                  </a:lnTo>
                  <a:lnTo>
                    <a:pt x="2" y="26"/>
                  </a:lnTo>
                  <a:lnTo>
                    <a:pt x="0" y="11"/>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12" name="Freeform 24"/>
            <p:cNvSpPr>
              <a:spLocks/>
            </p:cNvSpPr>
            <p:nvPr/>
          </p:nvSpPr>
          <p:spPr bwMode="auto">
            <a:xfrm>
              <a:off x="3718" y="2419"/>
              <a:ext cx="19" cy="16"/>
            </a:xfrm>
            <a:custGeom>
              <a:avLst/>
              <a:gdLst>
                <a:gd name="T0" fmla="*/ 1 w 38"/>
                <a:gd name="T1" fmla="*/ 0 h 33"/>
                <a:gd name="T2" fmla="*/ 1 w 38"/>
                <a:gd name="T3" fmla="*/ 0 h 33"/>
                <a:gd name="T4" fmla="*/ 1 w 38"/>
                <a:gd name="T5" fmla="*/ 0 h 33"/>
                <a:gd name="T6" fmla="*/ 1 w 38"/>
                <a:gd name="T7" fmla="*/ 0 h 33"/>
                <a:gd name="T8" fmla="*/ 1 w 38"/>
                <a:gd name="T9" fmla="*/ 0 h 33"/>
                <a:gd name="T10" fmla="*/ 1 w 38"/>
                <a:gd name="T11" fmla="*/ 0 h 33"/>
                <a:gd name="T12" fmla="*/ 1 w 38"/>
                <a:gd name="T13" fmla="*/ 0 h 33"/>
                <a:gd name="T14" fmla="*/ 1 w 38"/>
                <a:gd name="T15" fmla="*/ 0 h 33"/>
                <a:gd name="T16" fmla="*/ 1 w 38"/>
                <a:gd name="T17" fmla="*/ 0 h 33"/>
                <a:gd name="T18" fmla="*/ 1 w 38"/>
                <a:gd name="T19" fmla="*/ 0 h 33"/>
                <a:gd name="T20" fmla="*/ 0 w 38"/>
                <a:gd name="T21" fmla="*/ 0 h 33"/>
                <a:gd name="T22" fmla="*/ 1 w 38"/>
                <a:gd name="T23" fmla="*/ 0 h 33"/>
                <a:gd name="T24" fmla="*/ 1 w 38"/>
                <a:gd name="T25" fmla="*/ 0 h 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8"/>
                <a:gd name="T40" fmla="*/ 0 h 33"/>
                <a:gd name="T41" fmla="*/ 38 w 38"/>
                <a:gd name="T42" fmla="*/ 33 h 3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8" h="33">
                  <a:moveTo>
                    <a:pt x="2" y="0"/>
                  </a:moveTo>
                  <a:lnTo>
                    <a:pt x="11" y="6"/>
                  </a:lnTo>
                  <a:lnTo>
                    <a:pt x="21" y="13"/>
                  </a:lnTo>
                  <a:lnTo>
                    <a:pt x="28" y="21"/>
                  </a:lnTo>
                  <a:lnTo>
                    <a:pt x="38" y="29"/>
                  </a:lnTo>
                  <a:lnTo>
                    <a:pt x="38" y="33"/>
                  </a:lnTo>
                  <a:lnTo>
                    <a:pt x="30" y="27"/>
                  </a:lnTo>
                  <a:lnTo>
                    <a:pt x="21" y="23"/>
                  </a:lnTo>
                  <a:lnTo>
                    <a:pt x="11" y="19"/>
                  </a:lnTo>
                  <a:lnTo>
                    <a:pt x="6" y="15"/>
                  </a:lnTo>
                  <a:lnTo>
                    <a:pt x="0" y="1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13" name="Freeform 25"/>
            <p:cNvSpPr>
              <a:spLocks/>
            </p:cNvSpPr>
            <p:nvPr/>
          </p:nvSpPr>
          <p:spPr bwMode="auto">
            <a:xfrm>
              <a:off x="3927" y="2433"/>
              <a:ext cx="38" cy="29"/>
            </a:xfrm>
            <a:custGeom>
              <a:avLst/>
              <a:gdLst>
                <a:gd name="T0" fmla="*/ 1 w 76"/>
                <a:gd name="T1" fmla="*/ 0 h 59"/>
                <a:gd name="T2" fmla="*/ 1 w 76"/>
                <a:gd name="T3" fmla="*/ 0 h 59"/>
                <a:gd name="T4" fmla="*/ 1 w 76"/>
                <a:gd name="T5" fmla="*/ 0 h 59"/>
                <a:gd name="T6" fmla="*/ 1 w 76"/>
                <a:gd name="T7" fmla="*/ 0 h 59"/>
                <a:gd name="T8" fmla="*/ 1 w 76"/>
                <a:gd name="T9" fmla="*/ 0 h 59"/>
                <a:gd name="T10" fmla="*/ 1 w 76"/>
                <a:gd name="T11" fmla="*/ 0 h 59"/>
                <a:gd name="T12" fmla="*/ 1 w 76"/>
                <a:gd name="T13" fmla="*/ 0 h 59"/>
                <a:gd name="T14" fmla="*/ 1 w 76"/>
                <a:gd name="T15" fmla="*/ 0 h 59"/>
                <a:gd name="T16" fmla="*/ 1 w 76"/>
                <a:gd name="T17" fmla="*/ 0 h 59"/>
                <a:gd name="T18" fmla="*/ 1 w 76"/>
                <a:gd name="T19" fmla="*/ 0 h 59"/>
                <a:gd name="T20" fmla="*/ 1 w 76"/>
                <a:gd name="T21" fmla="*/ 0 h 59"/>
                <a:gd name="T22" fmla="*/ 1 w 76"/>
                <a:gd name="T23" fmla="*/ 0 h 59"/>
                <a:gd name="T24" fmla="*/ 1 w 76"/>
                <a:gd name="T25" fmla="*/ 0 h 59"/>
                <a:gd name="T26" fmla="*/ 1 w 76"/>
                <a:gd name="T27" fmla="*/ 0 h 59"/>
                <a:gd name="T28" fmla="*/ 1 w 76"/>
                <a:gd name="T29" fmla="*/ 0 h 59"/>
                <a:gd name="T30" fmla="*/ 1 w 76"/>
                <a:gd name="T31" fmla="*/ 0 h 59"/>
                <a:gd name="T32" fmla="*/ 0 w 76"/>
                <a:gd name="T33" fmla="*/ 0 h 59"/>
                <a:gd name="T34" fmla="*/ 0 w 76"/>
                <a:gd name="T35" fmla="*/ 0 h 59"/>
                <a:gd name="T36" fmla="*/ 1 w 76"/>
                <a:gd name="T37" fmla="*/ 0 h 59"/>
                <a:gd name="T38" fmla="*/ 1 w 76"/>
                <a:gd name="T39" fmla="*/ 0 h 59"/>
                <a:gd name="T40" fmla="*/ 1 w 76"/>
                <a:gd name="T41" fmla="*/ 0 h 59"/>
                <a:gd name="T42" fmla="*/ 1 w 76"/>
                <a:gd name="T43" fmla="*/ 0 h 5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6"/>
                <a:gd name="T67" fmla="*/ 0 h 59"/>
                <a:gd name="T68" fmla="*/ 76 w 76"/>
                <a:gd name="T69" fmla="*/ 59 h 5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6" h="59">
                  <a:moveTo>
                    <a:pt x="19" y="0"/>
                  </a:moveTo>
                  <a:lnTo>
                    <a:pt x="25" y="5"/>
                  </a:lnTo>
                  <a:lnTo>
                    <a:pt x="33" y="13"/>
                  </a:lnTo>
                  <a:lnTo>
                    <a:pt x="40" y="17"/>
                  </a:lnTo>
                  <a:lnTo>
                    <a:pt x="48" y="24"/>
                  </a:lnTo>
                  <a:lnTo>
                    <a:pt x="53" y="30"/>
                  </a:lnTo>
                  <a:lnTo>
                    <a:pt x="61" y="36"/>
                  </a:lnTo>
                  <a:lnTo>
                    <a:pt x="67" y="43"/>
                  </a:lnTo>
                  <a:lnTo>
                    <a:pt x="76" y="53"/>
                  </a:lnTo>
                  <a:lnTo>
                    <a:pt x="63" y="57"/>
                  </a:lnTo>
                  <a:lnTo>
                    <a:pt x="50" y="59"/>
                  </a:lnTo>
                  <a:lnTo>
                    <a:pt x="36" y="59"/>
                  </a:lnTo>
                  <a:lnTo>
                    <a:pt x="23" y="57"/>
                  </a:lnTo>
                  <a:lnTo>
                    <a:pt x="14" y="51"/>
                  </a:lnTo>
                  <a:lnTo>
                    <a:pt x="8" y="45"/>
                  </a:lnTo>
                  <a:lnTo>
                    <a:pt x="2" y="40"/>
                  </a:lnTo>
                  <a:lnTo>
                    <a:pt x="0" y="32"/>
                  </a:lnTo>
                  <a:lnTo>
                    <a:pt x="0" y="24"/>
                  </a:lnTo>
                  <a:lnTo>
                    <a:pt x="2" y="17"/>
                  </a:lnTo>
                  <a:lnTo>
                    <a:pt x="10" y="7"/>
                  </a:lnTo>
                  <a:lnTo>
                    <a:pt x="1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14" name="Freeform 26"/>
            <p:cNvSpPr>
              <a:spLocks/>
            </p:cNvSpPr>
            <p:nvPr/>
          </p:nvSpPr>
          <p:spPr bwMode="auto">
            <a:xfrm>
              <a:off x="4507" y="2437"/>
              <a:ext cx="17" cy="36"/>
            </a:xfrm>
            <a:custGeom>
              <a:avLst/>
              <a:gdLst>
                <a:gd name="T0" fmla="*/ 1 w 34"/>
                <a:gd name="T1" fmla="*/ 0 h 73"/>
                <a:gd name="T2" fmla="*/ 1 w 34"/>
                <a:gd name="T3" fmla="*/ 0 h 73"/>
                <a:gd name="T4" fmla="*/ 1 w 34"/>
                <a:gd name="T5" fmla="*/ 0 h 73"/>
                <a:gd name="T6" fmla="*/ 1 w 34"/>
                <a:gd name="T7" fmla="*/ 0 h 73"/>
                <a:gd name="T8" fmla="*/ 1 w 34"/>
                <a:gd name="T9" fmla="*/ 0 h 73"/>
                <a:gd name="T10" fmla="*/ 1 w 34"/>
                <a:gd name="T11" fmla="*/ 0 h 73"/>
                <a:gd name="T12" fmla="*/ 1 w 34"/>
                <a:gd name="T13" fmla="*/ 0 h 73"/>
                <a:gd name="T14" fmla="*/ 1 w 34"/>
                <a:gd name="T15" fmla="*/ 0 h 73"/>
                <a:gd name="T16" fmla="*/ 1 w 34"/>
                <a:gd name="T17" fmla="*/ 0 h 73"/>
                <a:gd name="T18" fmla="*/ 1 w 34"/>
                <a:gd name="T19" fmla="*/ 0 h 73"/>
                <a:gd name="T20" fmla="*/ 1 w 34"/>
                <a:gd name="T21" fmla="*/ 0 h 73"/>
                <a:gd name="T22" fmla="*/ 1 w 34"/>
                <a:gd name="T23" fmla="*/ 0 h 73"/>
                <a:gd name="T24" fmla="*/ 1 w 34"/>
                <a:gd name="T25" fmla="*/ 0 h 73"/>
                <a:gd name="T26" fmla="*/ 0 w 34"/>
                <a:gd name="T27" fmla="*/ 0 h 73"/>
                <a:gd name="T28" fmla="*/ 0 w 34"/>
                <a:gd name="T29" fmla="*/ 0 h 73"/>
                <a:gd name="T30" fmla="*/ 0 w 34"/>
                <a:gd name="T31" fmla="*/ 0 h 73"/>
                <a:gd name="T32" fmla="*/ 1 w 34"/>
                <a:gd name="T33" fmla="*/ 0 h 73"/>
                <a:gd name="T34" fmla="*/ 1 w 34"/>
                <a:gd name="T35" fmla="*/ 0 h 73"/>
                <a:gd name="T36" fmla="*/ 1 w 34"/>
                <a:gd name="T37" fmla="*/ 0 h 73"/>
                <a:gd name="T38" fmla="*/ 1 w 34"/>
                <a:gd name="T39" fmla="*/ 0 h 7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4"/>
                <a:gd name="T61" fmla="*/ 0 h 73"/>
                <a:gd name="T62" fmla="*/ 34 w 34"/>
                <a:gd name="T63" fmla="*/ 73 h 7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4" h="73">
                  <a:moveTo>
                    <a:pt x="15" y="0"/>
                  </a:moveTo>
                  <a:lnTo>
                    <a:pt x="27" y="0"/>
                  </a:lnTo>
                  <a:lnTo>
                    <a:pt x="32" y="6"/>
                  </a:lnTo>
                  <a:lnTo>
                    <a:pt x="34" y="14"/>
                  </a:lnTo>
                  <a:lnTo>
                    <a:pt x="30" y="23"/>
                  </a:lnTo>
                  <a:lnTo>
                    <a:pt x="27" y="35"/>
                  </a:lnTo>
                  <a:lnTo>
                    <a:pt x="23" y="48"/>
                  </a:lnTo>
                  <a:lnTo>
                    <a:pt x="17" y="59"/>
                  </a:lnTo>
                  <a:lnTo>
                    <a:pt x="15" y="73"/>
                  </a:lnTo>
                  <a:lnTo>
                    <a:pt x="13" y="73"/>
                  </a:lnTo>
                  <a:lnTo>
                    <a:pt x="4" y="63"/>
                  </a:lnTo>
                  <a:lnTo>
                    <a:pt x="2" y="57"/>
                  </a:lnTo>
                  <a:lnTo>
                    <a:pt x="0" y="48"/>
                  </a:lnTo>
                  <a:lnTo>
                    <a:pt x="0" y="38"/>
                  </a:lnTo>
                  <a:lnTo>
                    <a:pt x="0" y="27"/>
                  </a:lnTo>
                  <a:lnTo>
                    <a:pt x="2" y="17"/>
                  </a:lnTo>
                  <a:lnTo>
                    <a:pt x="6" y="6"/>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15" name="Freeform 27"/>
            <p:cNvSpPr>
              <a:spLocks/>
            </p:cNvSpPr>
            <p:nvPr/>
          </p:nvSpPr>
          <p:spPr bwMode="auto">
            <a:xfrm>
              <a:off x="3887" y="2441"/>
              <a:ext cx="42" cy="37"/>
            </a:xfrm>
            <a:custGeom>
              <a:avLst/>
              <a:gdLst>
                <a:gd name="T0" fmla="*/ 0 w 84"/>
                <a:gd name="T1" fmla="*/ 0 h 72"/>
                <a:gd name="T2" fmla="*/ 1 w 84"/>
                <a:gd name="T3" fmla="*/ 1 h 72"/>
                <a:gd name="T4" fmla="*/ 1 w 84"/>
                <a:gd name="T5" fmla="*/ 1 h 72"/>
                <a:gd name="T6" fmla="*/ 1 w 84"/>
                <a:gd name="T7" fmla="*/ 1 h 72"/>
                <a:gd name="T8" fmla="*/ 1 w 84"/>
                <a:gd name="T9" fmla="*/ 1 h 72"/>
                <a:gd name="T10" fmla="*/ 1 w 84"/>
                <a:gd name="T11" fmla="*/ 1 h 72"/>
                <a:gd name="T12" fmla="*/ 1 w 84"/>
                <a:gd name="T13" fmla="*/ 1 h 72"/>
                <a:gd name="T14" fmla="*/ 1 w 84"/>
                <a:gd name="T15" fmla="*/ 1 h 72"/>
                <a:gd name="T16" fmla="*/ 1 w 84"/>
                <a:gd name="T17" fmla="*/ 1 h 72"/>
                <a:gd name="T18" fmla="*/ 1 w 84"/>
                <a:gd name="T19" fmla="*/ 1 h 72"/>
                <a:gd name="T20" fmla="*/ 1 w 84"/>
                <a:gd name="T21" fmla="*/ 1 h 72"/>
                <a:gd name="T22" fmla="*/ 1 w 84"/>
                <a:gd name="T23" fmla="*/ 1 h 72"/>
                <a:gd name="T24" fmla="*/ 1 w 84"/>
                <a:gd name="T25" fmla="*/ 1 h 72"/>
                <a:gd name="T26" fmla="*/ 1 w 84"/>
                <a:gd name="T27" fmla="*/ 1 h 72"/>
                <a:gd name="T28" fmla="*/ 1 w 84"/>
                <a:gd name="T29" fmla="*/ 1 h 72"/>
                <a:gd name="T30" fmla="*/ 1 w 84"/>
                <a:gd name="T31" fmla="*/ 1 h 72"/>
                <a:gd name="T32" fmla="*/ 1 w 84"/>
                <a:gd name="T33" fmla="*/ 1 h 72"/>
                <a:gd name="T34" fmla="*/ 1 w 84"/>
                <a:gd name="T35" fmla="*/ 1 h 72"/>
                <a:gd name="T36" fmla="*/ 0 w 84"/>
                <a:gd name="T37" fmla="*/ 0 h 72"/>
                <a:gd name="T38" fmla="*/ 0 w 84"/>
                <a:gd name="T39" fmla="*/ 0 h 7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4"/>
                <a:gd name="T61" fmla="*/ 0 h 72"/>
                <a:gd name="T62" fmla="*/ 84 w 84"/>
                <a:gd name="T63" fmla="*/ 72 h 7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4" h="72">
                  <a:moveTo>
                    <a:pt x="0" y="0"/>
                  </a:moveTo>
                  <a:lnTo>
                    <a:pt x="10" y="4"/>
                  </a:lnTo>
                  <a:lnTo>
                    <a:pt x="23" y="13"/>
                  </a:lnTo>
                  <a:lnTo>
                    <a:pt x="33" y="23"/>
                  </a:lnTo>
                  <a:lnTo>
                    <a:pt x="44" y="32"/>
                  </a:lnTo>
                  <a:lnTo>
                    <a:pt x="54" y="40"/>
                  </a:lnTo>
                  <a:lnTo>
                    <a:pt x="63" y="51"/>
                  </a:lnTo>
                  <a:lnTo>
                    <a:pt x="73" y="61"/>
                  </a:lnTo>
                  <a:lnTo>
                    <a:pt x="84" y="70"/>
                  </a:lnTo>
                  <a:lnTo>
                    <a:pt x="71" y="72"/>
                  </a:lnTo>
                  <a:lnTo>
                    <a:pt x="59" y="70"/>
                  </a:lnTo>
                  <a:lnTo>
                    <a:pt x="46" y="61"/>
                  </a:lnTo>
                  <a:lnTo>
                    <a:pt x="35" y="49"/>
                  </a:lnTo>
                  <a:lnTo>
                    <a:pt x="27" y="42"/>
                  </a:lnTo>
                  <a:lnTo>
                    <a:pt x="23" y="36"/>
                  </a:lnTo>
                  <a:lnTo>
                    <a:pt x="16" y="26"/>
                  </a:lnTo>
                  <a:lnTo>
                    <a:pt x="12" y="23"/>
                  </a:lnTo>
                  <a:lnTo>
                    <a:pt x="4" y="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16" name="Freeform 28"/>
            <p:cNvSpPr>
              <a:spLocks/>
            </p:cNvSpPr>
            <p:nvPr/>
          </p:nvSpPr>
          <p:spPr bwMode="auto">
            <a:xfrm>
              <a:off x="3581" y="2451"/>
              <a:ext cx="119" cy="179"/>
            </a:xfrm>
            <a:custGeom>
              <a:avLst/>
              <a:gdLst>
                <a:gd name="T0" fmla="*/ 0 w 238"/>
                <a:gd name="T1" fmla="*/ 0 h 357"/>
                <a:gd name="T2" fmla="*/ 1 w 238"/>
                <a:gd name="T3" fmla="*/ 1 h 357"/>
                <a:gd name="T4" fmla="*/ 1 w 238"/>
                <a:gd name="T5" fmla="*/ 1 h 357"/>
                <a:gd name="T6" fmla="*/ 1 w 238"/>
                <a:gd name="T7" fmla="*/ 1 h 357"/>
                <a:gd name="T8" fmla="*/ 1 w 238"/>
                <a:gd name="T9" fmla="*/ 1 h 357"/>
                <a:gd name="T10" fmla="*/ 1 w 238"/>
                <a:gd name="T11" fmla="*/ 1 h 357"/>
                <a:gd name="T12" fmla="*/ 1 w 238"/>
                <a:gd name="T13" fmla="*/ 1 h 357"/>
                <a:gd name="T14" fmla="*/ 1 w 238"/>
                <a:gd name="T15" fmla="*/ 1 h 357"/>
                <a:gd name="T16" fmla="*/ 1 w 238"/>
                <a:gd name="T17" fmla="*/ 1 h 357"/>
                <a:gd name="T18" fmla="*/ 1 w 238"/>
                <a:gd name="T19" fmla="*/ 1 h 357"/>
                <a:gd name="T20" fmla="*/ 1 w 238"/>
                <a:gd name="T21" fmla="*/ 1 h 357"/>
                <a:gd name="T22" fmla="*/ 1 w 238"/>
                <a:gd name="T23" fmla="*/ 1 h 357"/>
                <a:gd name="T24" fmla="*/ 1 w 238"/>
                <a:gd name="T25" fmla="*/ 1 h 357"/>
                <a:gd name="T26" fmla="*/ 1 w 238"/>
                <a:gd name="T27" fmla="*/ 1 h 357"/>
                <a:gd name="T28" fmla="*/ 1 w 238"/>
                <a:gd name="T29" fmla="*/ 1 h 357"/>
                <a:gd name="T30" fmla="*/ 1 w 238"/>
                <a:gd name="T31" fmla="*/ 1 h 357"/>
                <a:gd name="T32" fmla="*/ 1 w 238"/>
                <a:gd name="T33" fmla="*/ 1 h 357"/>
                <a:gd name="T34" fmla="*/ 1 w 238"/>
                <a:gd name="T35" fmla="*/ 1 h 357"/>
                <a:gd name="T36" fmla="*/ 1 w 238"/>
                <a:gd name="T37" fmla="*/ 1 h 357"/>
                <a:gd name="T38" fmla="*/ 1 w 238"/>
                <a:gd name="T39" fmla="*/ 1 h 357"/>
                <a:gd name="T40" fmla="*/ 1 w 238"/>
                <a:gd name="T41" fmla="*/ 1 h 357"/>
                <a:gd name="T42" fmla="*/ 1 w 238"/>
                <a:gd name="T43" fmla="*/ 1 h 357"/>
                <a:gd name="T44" fmla="*/ 1 w 238"/>
                <a:gd name="T45" fmla="*/ 1 h 357"/>
                <a:gd name="T46" fmla="*/ 1 w 238"/>
                <a:gd name="T47" fmla="*/ 1 h 357"/>
                <a:gd name="T48" fmla="*/ 1 w 238"/>
                <a:gd name="T49" fmla="*/ 1 h 357"/>
                <a:gd name="T50" fmla="*/ 1 w 238"/>
                <a:gd name="T51" fmla="*/ 1 h 357"/>
                <a:gd name="T52" fmla="*/ 1 w 238"/>
                <a:gd name="T53" fmla="*/ 1 h 357"/>
                <a:gd name="T54" fmla="*/ 1 w 238"/>
                <a:gd name="T55" fmla="*/ 1 h 357"/>
                <a:gd name="T56" fmla="*/ 1 w 238"/>
                <a:gd name="T57" fmla="*/ 1 h 357"/>
                <a:gd name="T58" fmla="*/ 1 w 238"/>
                <a:gd name="T59" fmla="*/ 2 h 357"/>
                <a:gd name="T60" fmla="*/ 1 w 238"/>
                <a:gd name="T61" fmla="*/ 2 h 357"/>
                <a:gd name="T62" fmla="*/ 1 w 238"/>
                <a:gd name="T63" fmla="*/ 2 h 357"/>
                <a:gd name="T64" fmla="*/ 1 w 238"/>
                <a:gd name="T65" fmla="*/ 2 h 357"/>
                <a:gd name="T66" fmla="*/ 1 w 238"/>
                <a:gd name="T67" fmla="*/ 2 h 357"/>
                <a:gd name="T68" fmla="*/ 1 w 238"/>
                <a:gd name="T69" fmla="*/ 2 h 357"/>
                <a:gd name="T70" fmla="*/ 1 w 238"/>
                <a:gd name="T71" fmla="*/ 2 h 357"/>
                <a:gd name="T72" fmla="*/ 1 w 238"/>
                <a:gd name="T73" fmla="*/ 2 h 357"/>
                <a:gd name="T74" fmla="*/ 1 w 238"/>
                <a:gd name="T75" fmla="*/ 2 h 357"/>
                <a:gd name="T76" fmla="*/ 1 w 238"/>
                <a:gd name="T77" fmla="*/ 2 h 357"/>
                <a:gd name="T78" fmla="*/ 1 w 238"/>
                <a:gd name="T79" fmla="*/ 2 h 357"/>
                <a:gd name="T80" fmla="*/ 1 w 238"/>
                <a:gd name="T81" fmla="*/ 2 h 357"/>
                <a:gd name="T82" fmla="*/ 1 w 238"/>
                <a:gd name="T83" fmla="*/ 2 h 357"/>
                <a:gd name="T84" fmla="*/ 1 w 238"/>
                <a:gd name="T85" fmla="*/ 2 h 357"/>
                <a:gd name="T86" fmla="*/ 1 w 238"/>
                <a:gd name="T87" fmla="*/ 2 h 357"/>
                <a:gd name="T88" fmla="*/ 1 w 238"/>
                <a:gd name="T89" fmla="*/ 2 h 357"/>
                <a:gd name="T90" fmla="*/ 1 w 238"/>
                <a:gd name="T91" fmla="*/ 2 h 357"/>
                <a:gd name="T92" fmla="*/ 1 w 238"/>
                <a:gd name="T93" fmla="*/ 1 h 357"/>
                <a:gd name="T94" fmla="*/ 1 w 238"/>
                <a:gd name="T95" fmla="*/ 1 h 357"/>
                <a:gd name="T96" fmla="*/ 1 w 238"/>
                <a:gd name="T97" fmla="*/ 1 h 357"/>
                <a:gd name="T98" fmla="*/ 1 w 238"/>
                <a:gd name="T99" fmla="*/ 1 h 357"/>
                <a:gd name="T100" fmla="*/ 1 w 238"/>
                <a:gd name="T101" fmla="*/ 1 h 357"/>
                <a:gd name="T102" fmla="*/ 1 w 238"/>
                <a:gd name="T103" fmla="*/ 1 h 357"/>
                <a:gd name="T104" fmla="*/ 1 w 238"/>
                <a:gd name="T105" fmla="*/ 1 h 357"/>
                <a:gd name="T106" fmla="*/ 1 w 238"/>
                <a:gd name="T107" fmla="*/ 1 h 357"/>
                <a:gd name="T108" fmla="*/ 1 w 238"/>
                <a:gd name="T109" fmla="*/ 1 h 357"/>
                <a:gd name="T110" fmla="*/ 0 w 238"/>
                <a:gd name="T111" fmla="*/ 1 h 357"/>
                <a:gd name="T112" fmla="*/ 0 w 238"/>
                <a:gd name="T113" fmla="*/ 0 h 357"/>
                <a:gd name="T114" fmla="*/ 0 w 238"/>
                <a:gd name="T115" fmla="*/ 0 h 35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38"/>
                <a:gd name="T175" fmla="*/ 0 h 357"/>
                <a:gd name="T176" fmla="*/ 238 w 238"/>
                <a:gd name="T177" fmla="*/ 357 h 35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38" h="357">
                  <a:moveTo>
                    <a:pt x="0" y="0"/>
                  </a:moveTo>
                  <a:lnTo>
                    <a:pt x="8" y="7"/>
                  </a:lnTo>
                  <a:lnTo>
                    <a:pt x="15" y="17"/>
                  </a:lnTo>
                  <a:lnTo>
                    <a:pt x="23" y="25"/>
                  </a:lnTo>
                  <a:lnTo>
                    <a:pt x="31" y="38"/>
                  </a:lnTo>
                  <a:lnTo>
                    <a:pt x="36" y="47"/>
                  </a:lnTo>
                  <a:lnTo>
                    <a:pt x="44" y="61"/>
                  </a:lnTo>
                  <a:lnTo>
                    <a:pt x="50" y="74"/>
                  </a:lnTo>
                  <a:lnTo>
                    <a:pt x="57" y="89"/>
                  </a:lnTo>
                  <a:lnTo>
                    <a:pt x="63" y="101"/>
                  </a:lnTo>
                  <a:lnTo>
                    <a:pt x="69" y="116"/>
                  </a:lnTo>
                  <a:lnTo>
                    <a:pt x="74" y="129"/>
                  </a:lnTo>
                  <a:lnTo>
                    <a:pt x="82" y="142"/>
                  </a:lnTo>
                  <a:lnTo>
                    <a:pt x="89" y="156"/>
                  </a:lnTo>
                  <a:lnTo>
                    <a:pt x="95" y="169"/>
                  </a:lnTo>
                  <a:lnTo>
                    <a:pt x="103" y="182"/>
                  </a:lnTo>
                  <a:lnTo>
                    <a:pt x="112" y="196"/>
                  </a:lnTo>
                  <a:lnTo>
                    <a:pt x="107" y="198"/>
                  </a:lnTo>
                  <a:lnTo>
                    <a:pt x="103" y="199"/>
                  </a:lnTo>
                  <a:lnTo>
                    <a:pt x="108" y="209"/>
                  </a:lnTo>
                  <a:lnTo>
                    <a:pt x="122" y="213"/>
                  </a:lnTo>
                  <a:lnTo>
                    <a:pt x="126" y="215"/>
                  </a:lnTo>
                  <a:lnTo>
                    <a:pt x="131" y="218"/>
                  </a:lnTo>
                  <a:lnTo>
                    <a:pt x="133" y="222"/>
                  </a:lnTo>
                  <a:lnTo>
                    <a:pt x="133" y="232"/>
                  </a:lnTo>
                  <a:lnTo>
                    <a:pt x="141" y="236"/>
                  </a:lnTo>
                  <a:lnTo>
                    <a:pt x="148" y="241"/>
                  </a:lnTo>
                  <a:lnTo>
                    <a:pt x="156" y="245"/>
                  </a:lnTo>
                  <a:lnTo>
                    <a:pt x="166" y="255"/>
                  </a:lnTo>
                  <a:lnTo>
                    <a:pt x="171" y="258"/>
                  </a:lnTo>
                  <a:lnTo>
                    <a:pt x="179" y="268"/>
                  </a:lnTo>
                  <a:lnTo>
                    <a:pt x="188" y="275"/>
                  </a:lnTo>
                  <a:lnTo>
                    <a:pt x="196" y="285"/>
                  </a:lnTo>
                  <a:lnTo>
                    <a:pt x="202" y="293"/>
                  </a:lnTo>
                  <a:lnTo>
                    <a:pt x="207" y="300"/>
                  </a:lnTo>
                  <a:lnTo>
                    <a:pt x="213" y="308"/>
                  </a:lnTo>
                  <a:lnTo>
                    <a:pt x="219" y="319"/>
                  </a:lnTo>
                  <a:lnTo>
                    <a:pt x="224" y="327"/>
                  </a:lnTo>
                  <a:lnTo>
                    <a:pt x="228" y="338"/>
                  </a:lnTo>
                  <a:lnTo>
                    <a:pt x="232" y="348"/>
                  </a:lnTo>
                  <a:lnTo>
                    <a:pt x="238" y="357"/>
                  </a:lnTo>
                  <a:lnTo>
                    <a:pt x="211" y="342"/>
                  </a:lnTo>
                  <a:lnTo>
                    <a:pt x="188" y="325"/>
                  </a:lnTo>
                  <a:lnTo>
                    <a:pt x="164" y="308"/>
                  </a:lnTo>
                  <a:lnTo>
                    <a:pt x="143" y="289"/>
                  </a:lnTo>
                  <a:lnTo>
                    <a:pt x="124" y="268"/>
                  </a:lnTo>
                  <a:lnTo>
                    <a:pt x="105" y="245"/>
                  </a:lnTo>
                  <a:lnTo>
                    <a:pt x="86" y="222"/>
                  </a:lnTo>
                  <a:lnTo>
                    <a:pt x="72" y="199"/>
                  </a:lnTo>
                  <a:lnTo>
                    <a:pt x="55" y="175"/>
                  </a:lnTo>
                  <a:lnTo>
                    <a:pt x="42" y="150"/>
                  </a:lnTo>
                  <a:lnTo>
                    <a:pt x="31" y="123"/>
                  </a:lnTo>
                  <a:lnTo>
                    <a:pt x="21" y="101"/>
                  </a:lnTo>
                  <a:lnTo>
                    <a:pt x="12" y="74"/>
                  </a:lnTo>
                  <a:lnTo>
                    <a:pt x="6" y="47"/>
                  </a:lnTo>
                  <a:lnTo>
                    <a:pt x="0" y="25"/>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17" name="Freeform 29"/>
            <p:cNvSpPr>
              <a:spLocks/>
            </p:cNvSpPr>
            <p:nvPr/>
          </p:nvSpPr>
          <p:spPr bwMode="auto">
            <a:xfrm>
              <a:off x="4556" y="2458"/>
              <a:ext cx="37" cy="64"/>
            </a:xfrm>
            <a:custGeom>
              <a:avLst/>
              <a:gdLst>
                <a:gd name="T0" fmla="*/ 1 w 72"/>
                <a:gd name="T1" fmla="*/ 0 h 129"/>
                <a:gd name="T2" fmla="*/ 1 w 72"/>
                <a:gd name="T3" fmla="*/ 0 h 129"/>
                <a:gd name="T4" fmla="*/ 1 w 72"/>
                <a:gd name="T5" fmla="*/ 0 h 129"/>
                <a:gd name="T6" fmla="*/ 1 w 72"/>
                <a:gd name="T7" fmla="*/ 0 h 129"/>
                <a:gd name="T8" fmla="*/ 1 w 72"/>
                <a:gd name="T9" fmla="*/ 0 h 129"/>
                <a:gd name="T10" fmla="*/ 1 w 72"/>
                <a:gd name="T11" fmla="*/ 0 h 129"/>
                <a:gd name="T12" fmla="*/ 1 w 72"/>
                <a:gd name="T13" fmla="*/ 0 h 129"/>
                <a:gd name="T14" fmla="*/ 1 w 72"/>
                <a:gd name="T15" fmla="*/ 0 h 129"/>
                <a:gd name="T16" fmla="*/ 1 w 72"/>
                <a:gd name="T17" fmla="*/ 0 h 129"/>
                <a:gd name="T18" fmla="*/ 1 w 72"/>
                <a:gd name="T19" fmla="*/ 0 h 129"/>
                <a:gd name="T20" fmla="*/ 1 w 72"/>
                <a:gd name="T21" fmla="*/ 0 h 129"/>
                <a:gd name="T22" fmla="*/ 1 w 72"/>
                <a:gd name="T23" fmla="*/ 0 h 129"/>
                <a:gd name="T24" fmla="*/ 0 w 72"/>
                <a:gd name="T25" fmla="*/ 0 h 129"/>
                <a:gd name="T26" fmla="*/ 1 w 72"/>
                <a:gd name="T27" fmla="*/ 0 h 129"/>
                <a:gd name="T28" fmla="*/ 1 w 72"/>
                <a:gd name="T29" fmla="*/ 0 h 129"/>
                <a:gd name="T30" fmla="*/ 1 w 72"/>
                <a:gd name="T31" fmla="*/ 0 h 129"/>
                <a:gd name="T32" fmla="*/ 1 w 72"/>
                <a:gd name="T33" fmla="*/ 0 h 129"/>
                <a:gd name="T34" fmla="*/ 1 w 72"/>
                <a:gd name="T35" fmla="*/ 0 h 129"/>
                <a:gd name="T36" fmla="*/ 1 w 72"/>
                <a:gd name="T37" fmla="*/ 0 h 129"/>
                <a:gd name="T38" fmla="*/ 1 w 72"/>
                <a:gd name="T39" fmla="*/ 0 h 129"/>
                <a:gd name="T40" fmla="*/ 1 w 72"/>
                <a:gd name="T41" fmla="*/ 0 h 129"/>
                <a:gd name="T42" fmla="*/ 1 w 72"/>
                <a:gd name="T43" fmla="*/ 0 h 129"/>
                <a:gd name="T44" fmla="*/ 1 w 72"/>
                <a:gd name="T45" fmla="*/ 0 h 129"/>
                <a:gd name="T46" fmla="*/ 1 w 72"/>
                <a:gd name="T47" fmla="*/ 0 h 129"/>
                <a:gd name="T48" fmla="*/ 1 w 72"/>
                <a:gd name="T49" fmla="*/ 0 h 129"/>
                <a:gd name="T50" fmla="*/ 1 w 72"/>
                <a:gd name="T51" fmla="*/ 0 h 12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2"/>
                <a:gd name="T79" fmla="*/ 0 h 129"/>
                <a:gd name="T80" fmla="*/ 72 w 72"/>
                <a:gd name="T81" fmla="*/ 129 h 12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2" h="129">
                  <a:moveTo>
                    <a:pt x="72" y="0"/>
                  </a:moveTo>
                  <a:lnTo>
                    <a:pt x="72" y="8"/>
                  </a:lnTo>
                  <a:lnTo>
                    <a:pt x="72" y="15"/>
                  </a:lnTo>
                  <a:lnTo>
                    <a:pt x="68" y="25"/>
                  </a:lnTo>
                  <a:lnTo>
                    <a:pt x="66" y="34"/>
                  </a:lnTo>
                  <a:lnTo>
                    <a:pt x="59" y="44"/>
                  </a:lnTo>
                  <a:lnTo>
                    <a:pt x="53" y="55"/>
                  </a:lnTo>
                  <a:lnTo>
                    <a:pt x="47" y="67"/>
                  </a:lnTo>
                  <a:lnTo>
                    <a:pt x="40" y="78"/>
                  </a:lnTo>
                  <a:lnTo>
                    <a:pt x="28" y="89"/>
                  </a:lnTo>
                  <a:lnTo>
                    <a:pt x="17" y="103"/>
                  </a:lnTo>
                  <a:lnTo>
                    <a:pt x="7" y="116"/>
                  </a:lnTo>
                  <a:lnTo>
                    <a:pt x="0" y="129"/>
                  </a:lnTo>
                  <a:lnTo>
                    <a:pt x="4" y="116"/>
                  </a:lnTo>
                  <a:lnTo>
                    <a:pt x="7" y="103"/>
                  </a:lnTo>
                  <a:lnTo>
                    <a:pt x="13" y="91"/>
                  </a:lnTo>
                  <a:lnTo>
                    <a:pt x="21" y="82"/>
                  </a:lnTo>
                  <a:lnTo>
                    <a:pt x="26" y="70"/>
                  </a:lnTo>
                  <a:lnTo>
                    <a:pt x="34" y="61"/>
                  </a:lnTo>
                  <a:lnTo>
                    <a:pt x="40" y="51"/>
                  </a:lnTo>
                  <a:lnTo>
                    <a:pt x="49" y="44"/>
                  </a:lnTo>
                  <a:lnTo>
                    <a:pt x="55" y="32"/>
                  </a:lnTo>
                  <a:lnTo>
                    <a:pt x="61" y="21"/>
                  </a:lnTo>
                  <a:lnTo>
                    <a:pt x="66" y="12"/>
                  </a:lnTo>
                  <a:lnTo>
                    <a:pt x="7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18" name="Freeform 30"/>
            <p:cNvSpPr>
              <a:spLocks/>
            </p:cNvSpPr>
            <p:nvPr/>
          </p:nvSpPr>
          <p:spPr bwMode="auto">
            <a:xfrm>
              <a:off x="4531" y="2469"/>
              <a:ext cx="22" cy="48"/>
            </a:xfrm>
            <a:custGeom>
              <a:avLst/>
              <a:gdLst>
                <a:gd name="T0" fmla="*/ 1 w 43"/>
                <a:gd name="T1" fmla="*/ 0 h 97"/>
                <a:gd name="T2" fmla="*/ 1 w 43"/>
                <a:gd name="T3" fmla="*/ 0 h 97"/>
                <a:gd name="T4" fmla="*/ 1 w 43"/>
                <a:gd name="T5" fmla="*/ 0 h 97"/>
                <a:gd name="T6" fmla="*/ 1 w 43"/>
                <a:gd name="T7" fmla="*/ 0 h 97"/>
                <a:gd name="T8" fmla="*/ 1 w 43"/>
                <a:gd name="T9" fmla="*/ 0 h 97"/>
                <a:gd name="T10" fmla="*/ 1 w 43"/>
                <a:gd name="T11" fmla="*/ 0 h 97"/>
                <a:gd name="T12" fmla="*/ 1 w 43"/>
                <a:gd name="T13" fmla="*/ 0 h 97"/>
                <a:gd name="T14" fmla="*/ 1 w 43"/>
                <a:gd name="T15" fmla="*/ 0 h 97"/>
                <a:gd name="T16" fmla="*/ 1 w 43"/>
                <a:gd name="T17" fmla="*/ 0 h 97"/>
                <a:gd name="T18" fmla="*/ 1 w 43"/>
                <a:gd name="T19" fmla="*/ 0 h 97"/>
                <a:gd name="T20" fmla="*/ 1 w 43"/>
                <a:gd name="T21" fmla="*/ 0 h 97"/>
                <a:gd name="T22" fmla="*/ 1 w 43"/>
                <a:gd name="T23" fmla="*/ 0 h 97"/>
                <a:gd name="T24" fmla="*/ 1 w 43"/>
                <a:gd name="T25" fmla="*/ 0 h 97"/>
                <a:gd name="T26" fmla="*/ 1 w 43"/>
                <a:gd name="T27" fmla="*/ 0 h 97"/>
                <a:gd name="T28" fmla="*/ 1 w 43"/>
                <a:gd name="T29" fmla="*/ 0 h 97"/>
                <a:gd name="T30" fmla="*/ 1 w 43"/>
                <a:gd name="T31" fmla="*/ 0 h 97"/>
                <a:gd name="T32" fmla="*/ 0 w 43"/>
                <a:gd name="T33" fmla="*/ 0 h 97"/>
                <a:gd name="T34" fmla="*/ 1 w 43"/>
                <a:gd name="T35" fmla="*/ 0 h 97"/>
                <a:gd name="T36" fmla="*/ 1 w 43"/>
                <a:gd name="T37" fmla="*/ 0 h 97"/>
                <a:gd name="T38" fmla="*/ 1 w 43"/>
                <a:gd name="T39" fmla="*/ 0 h 97"/>
                <a:gd name="T40" fmla="*/ 1 w 43"/>
                <a:gd name="T41" fmla="*/ 0 h 97"/>
                <a:gd name="T42" fmla="*/ 1 w 43"/>
                <a:gd name="T43" fmla="*/ 0 h 97"/>
                <a:gd name="T44" fmla="*/ 1 w 43"/>
                <a:gd name="T45" fmla="*/ 0 h 97"/>
                <a:gd name="T46" fmla="*/ 1 w 43"/>
                <a:gd name="T47" fmla="*/ 0 h 97"/>
                <a:gd name="T48" fmla="*/ 1 w 43"/>
                <a:gd name="T49" fmla="*/ 0 h 97"/>
                <a:gd name="T50" fmla="*/ 1 w 43"/>
                <a:gd name="T51" fmla="*/ 0 h 97"/>
                <a:gd name="T52" fmla="*/ 1 w 43"/>
                <a:gd name="T53" fmla="*/ 0 h 97"/>
                <a:gd name="T54" fmla="*/ 1 w 43"/>
                <a:gd name="T55" fmla="*/ 0 h 9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3"/>
                <a:gd name="T85" fmla="*/ 0 h 97"/>
                <a:gd name="T86" fmla="*/ 43 w 43"/>
                <a:gd name="T87" fmla="*/ 97 h 9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3" h="97">
                  <a:moveTo>
                    <a:pt x="24" y="0"/>
                  </a:moveTo>
                  <a:lnTo>
                    <a:pt x="30" y="0"/>
                  </a:lnTo>
                  <a:lnTo>
                    <a:pt x="38" y="4"/>
                  </a:lnTo>
                  <a:lnTo>
                    <a:pt x="41" y="6"/>
                  </a:lnTo>
                  <a:lnTo>
                    <a:pt x="43" y="11"/>
                  </a:lnTo>
                  <a:lnTo>
                    <a:pt x="43" y="15"/>
                  </a:lnTo>
                  <a:lnTo>
                    <a:pt x="43" y="25"/>
                  </a:lnTo>
                  <a:lnTo>
                    <a:pt x="41" y="32"/>
                  </a:lnTo>
                  <a:lnTo>
                    <a:pt x="39" y="42"/>
                  </a:lnTo>
                  <a:lnTo>
                    <a:pt x="32" y="49"/>
                  </a:lnTo>
                  <a:lnTo>
                    <a:pt x="28" y="59"/>
                  </a:lnTo>
                  <a:lnTo>
                    <a:pt x="20" y="66"/>
                  </a:lnTo>
                  <a:lnTo>
                    <a:pt x="17" y="76"/>
                  </a:lnTo>
                  <a:lnTo>
                    <a:pt x="9" y="84"/>
                  </a:lnTo>
                  <a:lnTo>
                    <a:pt x="5" y="89"/>
                  </a:lnTo>
                  <a:lnTo>
                    <a:pt x="1" y="93"/>
                  </a:lnTo>
                  <a:lnTo>
                    <a:pt x="0" y="97"/>
                  </a:lnTo>
                  <a:lnTo>
                    <a:pt x="1" y="84"/>
                  </a:lnTo>
                  <a:lnTo>
                    <a:pt x="5" y="70"/>
                  </a:lnTo>
                  <a:lnTo>
                    <a:pt x="7" y="63"/>
                  </a:lnTo>
                  <a:lnTo>
                    <a:pt x="9" y="57"/>
                  </a:lnTo>
                  <a:lnTo>
                    <a:pt x="9" y="47"/>
                  </a:lnTo>
                  <a:lnTo>
                    <a:pt x="13" y="42"/>
                  </a:lnTo>
                  <a:lnTo>
                    <a:pt x="15" y="30"/>
                  </a:lnTo>
                  <a:lnTo>
                    <a:pt x="19" y="19"/>
                  </a:lnTo>
                  <a:lnTo>
                    <a:pt x="19" y="8"/>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19" name="Freeform 31"/>
            <p:cNvSpPr>
              <a:spLocks/>
            </p:cNvSpPr>
            <p:nvPr/>
          </p:nvSpPr>
          <p:spPr bwMode="auto">
            <a:xfrm>
              <a:off x="4594" y="2473"/>
              <a:ext cx="32" cy="30"/>
            </a:xfrm>
            <a:custGeom>
              <a:avLst/>
              <a:gdLst>
                <a:gd name="T0" fmla="*/ 1 w 63"/>
                <a:gd name="T1" fmla="*/ 0 h 60"/>
                <a:gd name="T2" fmla="*/ 1 w 63"/>
                <a:gd name="T3" fmla="*/ 0 h 60"/>
                <a:gd name="T4" fmla="*/ 1 w 63"/>
                <a:gd name="T5" fmla="*/ 1 h 60"/>
                <a:gd name="T6" fmla="*/ 1 w 63"/>
                <a:gd name="T7" fmla="*/ 1 h 60"/>
                <a:gd name="T8" fmla="*/ 1 w 63"/>
                <a:gd name="T9" fmla="*/ 1 h 60"/>
                <a:gd name="T10" fmla="*/ 1 w 63"/>
                <a:gd name="T11" fmla="*/ 1 h 60"/>
                <a:gd name="T12" fmla="*/ 1 w 63"/>
                <a:gd name="T13" fmla="*/ 1 h 60"/>
                <a:gd name="T14" fmla="*/ 1 w 63"/>
                <a:gd name="T15" fmla="*/ 1 h 60"/>
                <a:gd name="T16" fmla="*/ 1 w 63"/>
                <a:gd name="T17" fmla="*/ 1 h 60"/>
                <a:gd name="T18" fmla="*/ 1 w 63"/>
                <a:gd name="T19" fmla="*/ 1 h 60"/>
                <a:gd name="T20" fmla="*/ 1 w 63"/>
                <a:gd name="T21" fmla="*/ 1 h 60"/>
                <a:gd name="T22" fmla="*/ 1 w 63"/>
                <a:gd name="T23" fmla="*/ 1 h 60"/>
                <a:gd name="T24" fmla="*/ 1 w 63"/>
                <a:gd name="T25" fmla="*/ 1 h 60"/>
                <a:gd name="T26" fmla="*/ 1 w 63"/>
                <a:gd name="T27" fmla="*/ 1 h 60"/>
                <a:gd name="T28" fmla="*/ 0 w 63"/>
                <a:gd name="T29" fmla="*/ 1 h 60"/>
                <a:gd name="T30" fmla="*/ 1 w 63"/>
                <a:gd name="T31" fmla="*/ 1 h 60"/>
                <a:gd name="T32" fmla="*/ 1 w 63"/>
                <a:gd name="T33" fmla="*/ 1 h 60"/>
                <a:gd name="T34" fmla="*/ 1 w 63"/>
                <a:gd name="T35" fmla="*/ 1 h 60"/>
                <a:gd name="T36" fmla="*/ 1 w 63"/>
                <a:gd name="T37" fmla="*/ 1 h 60"/>
                <a:gd name="T38" fmla="*/ 1 w 63"/>
                <a:gd name="T39" fmla="*/ 1 h 60"/>
                <a:gd name="T40" fmla="*/ 1 w 63"/>
                <a:gd name="T41" fmla="*/ 1 h 60"/>
                <a:gd name="T42" fmla="*/ 1 w 63"/>
                <a:gd name="T43" fmla="*/ 1 h 60"/>
                <a:gd name="T44" fmla="*/ 1 w 63"/>
                <a:gd name="T45" fmla="*/ 0 h 60"/>
                <a:gd name="T46" fmla="*/ 1 w 63"/>
                <a:gd name="T47" fmla="*/ 0 h 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3"/>
                <a:gd name="T73" fmla="*/ 0 h 60"/>
                <a:gd name="T74" fmla="*/ 63 w 63"/>
                <a:gd name="T75" fmla="*/ 60 h 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3" h="60">
                  <a:moveTo>
                    <a:pt x="40" y="0"/>
                  </a:moveTo>
                  <a:lnTo>
                    <a:pt x="47" y="0"/>
                  </a:lnTo>
                  <a:lnTo>
                    <a:pt x="55" y="3"/>
                  </a:lnTo>
                  <a:lnTo>
                    <a:pt x="59" y="7"/>
                  </a:lnTo>
                  <a:lnTo>
                    <a:pt x="63" y="11"/>
                  </a:lnTo>
                  <a:lnTo>
                    <a:pt x="63" y="20"/>
                  </a:lnTo>
                  <a:lnTo>
                    <a:pt x="59" y="30"/>
                  </a:lnTo>
                  <a:lnTo>
                    <a:pt x="53" y="36"/>
                  </a:lnTo>
                  <a:lnTo>
                    <a:pt x="46" y="39"/>
                  </a:lnTo>
                  <a:lnTo>
                    <a:pt x="40" y="43"/>
                  </a:lnTo>
                  <a:lnTo>
                    <a:pt x="32" y="47"/>
                  </a:lnTo>
                  <a:lnTo>
                    <a:pt x="21" y="51"/>
                  </a:lnTo>
                  <a:lnTo>
                    <a:pt x="13" y="55"/>
                  </a:lnTo>
                  <a:lnTo>
                    <a:pt x="8" y="58"/>
                  </a:lnTo>
                  <a:lnTo>
                    <a:pt x="0" y="60"/>
                  </a:lnTo>
                  <a:lnTo>
                    <a:pt x="4" y="53"/>
                  </a:lnTo>
                  <a:lnTo>
                    <a:pt x="8" y="45"/>
                  </a:lnTo>
                  <a:lnTo>
                    <a:pt x="13" y="36"/>
                  </a:lnTo>
                  <a:lnTo>
                    <a:pt x="19" y="30"/>
                  </a:lnTo>
                  <a:lnTo>
                    <a:pt x="23" y="22"/>
                  </a:lnTo>
                  <a:lnTo>
                    <a:pt x="28" y="13"/>
                  </a:lnTo>
                  <a:lnTo>
                    <a:pt x="34" y="5"/>
                  </a:lnTo>
                  <a:lnTo>
                    <a:pt x="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20" name="Freeform 32"/>
            <p:cNvSpPr>
              <a:spLocks/>
            </p:cNvSpPr>
            <p:nvPr/>
          </p:nvSpPr>
          <p:spPr bwMode="auto">
            <a:xfrm>
              <a:off x="3942" y="2475"/>
              <a:ext cx="381" cy="206"/>
            </a:xfrm>
            <a:custGeom>
              <a:avLst/>
              <a:gdLst>
                <a:gd name="T0" fmla="*/ 2 w 760"/>
                <a:gd name="T1" fmla="*/ 0 h 413"/>
                <a:gd name="T2" fmla="*/ 2 w 760"/>
                <a:gd name="T3" fmla="*/ 0 h 413"/>
                <a:gd name="T4" fmla="*/ 2 w 760"/>
                <a:gd name="T5" fmla="*/ 0 h 413"/>
                <a:gd name="T6" fmla="*/ 2 w 760"/>
                <a:gd name="T7" fmla="*/ 0 h 413"/>
                <a:gd name="T8" fmla="*/ 2 w 760"/>
                <a:gd name="T9" fmla="*/ 0 h 413"/>
                <a:gd name="T10" fmla="*/ 3 w 760"/>
                <a:gd name="T11" fmla="*/ 0 h 413"/>
                <a:gd name="T12" fmla="*/ 3 w 760"/>
                <a:gd name="T13" fmla="*/ 0 h 413"/>
                <a:gd name="T14" fmla="*/ 3 w 760"/>
                <a:gd name="T15" fmla="*/ 0 h 413"/>
                <a:gd name="T16" fmla="*/ 3 w 760"/>
                <a:gd name="T17" fmla="*/ 0 h 413"/>
                <a:gd name="T18" fmla="*/ 3 w 760"/>
                <a:gd name="T19" fmla="*/ 0 h 413"/>
                <a:gd name="T20" fmla="*/ 3 w 760"/>
                <a:gd name="T21" fmla="*/ 0 h 413"/>
                <a:gd name="T22" fmla="*/ 3 w 760"/>
                <a:gd name="T23" fmla="*/ 0 h 413"/>
                <a:gd name="T24" fmla="*/ 3 w 760"/>
                <a:gd name="T25" fmla="*/ 0 h 413"/>
                <a:gd name="T26" fmla="*/ 3 w 760"/>
                <a:gd name="T27" fmla="*/ 0 h 413"/>
                <a:gd name="T28" fmla="*/ 3 w 760"/>
                <a:gd name="T29" fmla="*/ 1 h 413"/>
                <a:gd name="T30" fmla="*/ 3 w 760"/>
                <a:gd name="T31" fmla="*/ 1 h 413"/>
                <a:gd name="T32" fmla="*/ 3 w 760"/>
                <a:gd name="T33" fmla="*/ 1 h 413"/>
                <a:gd name="T34" fmla="*/ 3 w 760"/>
                <a:gd name="T35" fmla="*/ 1 h 413"/>
                <a:gd name="T36" fmla="*/ 3 w 760"/>
                <a:gd name="T37" fmla="*/ 1 h 413"/>
                <a:gd name="T38" fmla="*/ 3 w 760"/>
                <a:gd name="T39" fmla="*/ 1 h 413"/>
                <a:gd name="T40" fmla="*/ 3 w 760"/>
                <a:gd name="T41" fmla="*/ 1 h 413"/>
                <a:gd name="T42" fmla="*/ 3 w 760"/>
                <a:gd name="T43" fmla="*/ 1 h 413"/>
                <a:gd name="T44" fmla="*/ 2 w 760"/>
                <a:gd name="T45" fmla="*/ 1 h 413"/>
                <a:gd name="T46" fmla="*/ 2 w 760"/>
                <a:gd name="T47" fmla="*/ 1 h 413"/>
                <a:gd name="T48" fmla="*/ 2 w 760"/>
                <a:gd name="T49" fmla="*/ 1 h 413"/>
                <a:gd name="T50" fmla="*/ 2 w 760"/>
                <a:gd name="T51" fmla="*/ 1 h 413"/>
                <a:gd name="T52" fmla="*/ 2 w 760"/>
                <a:gd name="T53" fmla="*/ 1 h 413"/>
                <a:gd name="T54" fmla="*/ 1 w 760"/>
                <a:gd name="T55" fmla="*/ 1 h 413"/>
                <a:gd name="T56" fmla="*/ 1 w 760"/>
                <a:gd name="T57" fmla="*/ 1 h 413"/>
                <a:gd name="T58" fmla="*/ 1 w 760"/>
                <a:gd name="T59" fmla="*/ 1 h 413"/>
                <a:gd name="T60" fmla="*/ 1 w 760"/>
                <a:gd name="T61" fmla="*/ 0 h 413"/>
                <a:gd name="T62" fmla="*/ 1 w 760"/>
                <a:gd name="T63" fmla="*/ 0 h 413"/>
                <a:gd name="T64" fmla="*/ 1 w 760"/>
                <a:gd name="T65" fmla="*/ 0 h 413"/>
                <a:gd name="T66" fmla="*/ 1 w 760"/>
                <a:gd name="T67" fmla="*/ 0 h 413"/>
                <a:gd name="T68" fmla="*/ 0 w 760"/>
                <a:gd name="T69" fmla="*/ 0 h 413"/>
                <a:gd name="T70" fmla="*/ 1 w 760"/>
                <a:gd name="T71" fmla="*/ 0 h 413"/>
                <a:gd name="T72" fmla="*/ 1 w 760"/>
                <a:gd name="T73" fmla="*/ 0 h 413"/>
                <a:gd name="T74" fmla="*/ 1 w 760"/>
                <a:gd name="T75" fmla="*/ 0 h 413"/>
                <a:gd name="T76" fmla="*/ 1 w 760"/>
                <a:gd name="T77" fmla="*/ 0 h 413"/>
                <a:gd name="T78" fmla="*/ 1 w 760"/>
                <a:gd name="T79" fmla="*/ 0 h 413"/>
                <a:gd name="T80" fmla="*/ 1 w 760"/>
                <a:gd name="T81" fmla="*/ 0 h 413"/>
                <a:gd name="T82" fmla="*/ 1 w 760"/>
                <a:gd name="T83" fmla="*/ 0 h 413"/>
                <a:gd name="T84" fmla="*/ 1 w 760"/>
                <a:gd name="T85" fmla="*/ 0 h 413"/>
                <a:gd name="T86" fmla="*/ 1 w 760"/>
                <a:gd name="T87" fmla="*/ 0 h 413"/>
                <a:gd name="T88" fmla="*/ 2 w 760"/>
                <a:gd name="T89" fmla="*/ 0 h 413"/>
                <a:gd name="T90" fmla="*/ 2 w 760"/>
                <a:gd name="T91" fmla="*/ 0 h 41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760"/>
                <a:gd name="T139" fmla="*/ 0 h 413"/>
                <a:gd name="T140" fmla="*/ 760 w 760"/>
                <a:gd name="T141" fmla="*/ 413 h 41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760" h="413">
                  <a:moveTo>
                    <a:pt x="289" y="0"/>
                  </a:moveTo>
                  <a:lnTo>
                    <a:pt x="308" y="6"/>
                  </a:lnTo>
                  <a:lnTo>
                    <a:pt x="330" y="14"/>
                  </a:lnTo>
                  <a:lnTo>
                    <a:pt x="349" y="23"/>
                  </a:lnTo>
                  <a:lnTo>
                    <a:pt x="370" y="33"/>
                  </a:lnTo>
                  <a:lnTo>
                    <a:pt x="391" y="44"/>
                  </a:lnTo>
                  <a:lnTo>
                    <a:pt x="410" y="55"/>
                  </a:lnTo>
                  <a:lnTo>
                    <a:pt x="433" y="67"/>
                  </a:lnTo>
                  <a:lnTo>
                    <a:pt x="454" y="78"/>
                  </a:lnTo>
                  <a:lnTo>
                    <a:pt x="473" y="90"/>
                  </a:lnTo>
                  <a:lnTo>
                    <a:pt x="494" y="99"/>
                  </a:lnTo>
                  <a:lnTo>
                    <a:pt x="515" y="111"/>
                  </a:lnTo>
                  <a:lnTo>
                    <a:pt x="538" y="122"/>
                  </a:lnTo>
                  <a:lnTo>
                    <a:pt x="559" y="130"/>
                  </a:lnTo>
                  <a:lnTo>
                    <a:pt x="581" y="139"/>
                  </a:lnTo>
                  <a:lnTo>
                    <a:pt x="606" y="145"/>
                  </a:lnTo>
                  <a:lnTo>
                    <a:pt x="629" y="152"/>
                  </a:lnTo>
                  <a:lnTo>
                    <a:pt x="642" y="154"/>
                  </a:lnTo>
                  <a:lnTo>
                    <a:pt x="657" y="160"/>
                  </a:lnTo>
                  <a:lnTo>
                    <a:pt x="675" y="166"/>
                  </a:lnTo>
                  <a:lnTo>
                    <a:pt x="690" y="173"/>
                  </a:lnTo>
                  <a:lnTo>
                    <a:pt x="705" y="179"/>
                  </a:lnTo>
                  <a:lnTo>
                    <a:pt x="718" y="189"/>
                  </a:lnTo>
                  <a:lnTo>
                    <a:pt x="732" y="198"/>
                  </a:lnTo>
                  <a:lnTo>
                    <a:pt x="745" y="209"/>
                  </a:lnTo>
                  <a:lnTo>
                    <a:pt x="753" y="219"/>
                  </a:lnTo>
                  <a:lnTo>
                    <a:pt x="758" y="228"/>
                  </a:lnTo>
                  <a:lnTo>
                    <a:pt x="760" y="240"/>
                  </a:lnTo>
                  <a:lnTo>
                    <a:pt x="760" y="251"/>
                  </a:lnTo>
                  <a:lnTo>
                    <a:pt x="754" y="263"/>
                  </a:lnTo>
                  <a:lnTo>
                    <a:pt x="745" y="274"/>
                  </a:lnTo>
                  <a:lnTo>
                    <a:pt x="728" y="284"/>
                  </a:lnTo>
                  <a:lnTo>
                    <a:pt x="709" y="295"/>
                  </a:lnTo>
                  <a:lnTo>
                    <a:pt x="692" y="306"/>
                  </a:lnTo>
                  <a:lnTo>
                    <a:pt x="675" y="322"/>
                  </a:lnTo>
                  <a:lnTo>
                    <a:pt x="656" y="333"/>
                  </a:lnTo>
                  <a:lnTo>
                    <a:pt x="640" y="348"/>
                  </a:lnTo>
                  <a:lnTo>
                    <a:pt x="623" y="360"/>
                  </a:lnTo>
                  <a:lnTo>
                    <a:pt x="606" y="373"/>
                  </a:lnTo>
                  <a:lnTo>
                    <a:pt x="589" y="384"/>
                  </a:lnTo>
                  <a:lnTo>
                    <a:pt x="572" y="396"/>
                  </a:lnTo>
                  <a:lnTo>
                    <a:pt x="553" y="402"/>
                  </a:lnTo>
                  <a:lnTo>
                    <a:pt x="536" y="409"/>
                  </a:lnTo>
                  <a:lnTo>
                    <a:pt x="519" y="411"/>
                  </a:lnTo>
                  <a:lnTo>
                    <a:pt x="500" y="413"/>
                  </a:lnTo>
                  <a:lnTo>
                    <a:pt x="483" y="409"/>
                  </a:lnTo>
                  <a:lnTo>
                    <a:pt x="464" y="403"/>
                  </a:lnTo>
                  <a:lnTo>
                    <a:pt x="443" y="396"/>
                  </a:lnTo>
                  <a:lnTo>
                    <a:pt x="424" y="382"/>
                  </a:lnTo>
                  <a:lnTo>
                    <a:pt x="397" y="371"/>
                  </a:lnTo>
                  <a:lnTo>
                    <a:pt x="370" y="360"/>
                  </a:lnTo>
                  <a:lnTo>
                    <a:pt x="344" y="346"/>
                  </a:lnTo>
                  <a:lnTo>
                    <a:pt x="319" y="337"/>
                  </a:lnTo>
                  <a:lnTo>
                    <a:pt x="291" y="324"/>
                  </a:lnTo>
                  <a:lnTo>
                    <a:pt x="264" y="314"/>
                  </a:lnTo>
                  <a:lnTo>
                    <a:pt x="237" y="303"/>
                  </a:lnTo>
                  <a:lnTo>
                    <a:pt x="211" y="291"/>
                  </a:lnTo>
                  <a:lnTo>
                    <a:pt x="184" y="280"/>
                  </a:lnTo>
                  <a:lnTo>
                    <a:pt x="157" y="268"/>
                  </a:lnTo>
                  <a:lnTo>
                    <a:pt x="131" y="257"/>
                  </a:lnTo>
                  <a:lnTo>
                    <a:pt x="106" y="244"/>
                  </a:lnTo>
                  <a:lnTo>
                    <a:pt x="79" y="230"/>
                  </a:lnTo>
                  <a:lnTo>
                    <a:pt x="55" y="219"/>
                  </a:lnTo>
                  <a:lnTo>
                    <a:pt x="32" y="206"/>
                  </a:lnTo>
                  <a:lnTo>
                    <a:pt x="9" y="194"/>
                  </a:lnTo>
                  <a:lnTo>
                    <a:pt x="7" y="183"/>
                  </a:lnTo>
                  <a:lnTo>
                    <a:pt x="5" y="171"/>
                  </a:lnTo>
                  <a:lnTo>
                    <a:pt x="2" y="162"/>
                  </a:lnTo>
                  <a:lnTo>
                    <a:pt x="0" y="152"/>
                  </a:lnTo>
                  <a:lnTo>
                    <a:pt x="0" y="139"/>
                  </a:lnTo>
                  <a:lnTo>
                    <a:pt x="5" y="132"/>
                  </a:lnTo>
                  <a:lnTo>
                    <a:pt x="9" y="126"/>
                  </a:lnTo>
                  <a:lnTo>
                    <a:pt x="17" y="122"/>
                  </a:lnTo>
                  <a:lnTo>
                    <a:pt x="24" y="118"/>
                  </a:lnTo>
                  <a:lnTo>
                    <a:pt x="38" y="116"/>
                  </a:lnTo>
                  <a:lnTo>
                    <a:pt x="53" y="109"/>
                  </a:lnTo>
                  <a:lnTo>
                    <a:pt x="66" y="99"/>
                  </a:lnTo>
                  <a:lnTo>
                    <a:pt x="81" y="92"/>
                  </a:lnTo>
                  <a:lnTo>
                    <a:pt x="98" y="84"/>
                  </a:lnTo>
                  <a:lnTo>
                    <a:pt x="112" y="76"/>
                  </a:lnTo>
                  <a:lnTo>
                    <a:pt x="129" y="69"/>
                  </a:lnTo>
                  <a:lnTo>
                    <a:pt x="144" y="61"/>
                  </a:lnTo>
                  <a:lnTo>
                    <a:pt x="161" y="55"/>
                  </a:lnTo>
                  <a:lnTo>
                    <a:pt x="176" y="46"/>
                  </a:lnTo>
                  <a:lnTo>
                    <a:pt x="192" y="40"/>
                  </a:lnTo>
                  <a:lnTo>
                    <a:pt x="209" y="33"/>
                  </a:lnTo>
                  <a:lnTo>
                    <a:pt x="224" y="27"/>
                  </a:lnTo>
                  <a:lnTo>
                    <a:pt x="241" y="19"/>
                  </a:lnTo>
                  <a:lnTo>
                    <a:pt x="256" y="14"/>
                  </a:lnTo>
                  <a:lnTo>
                    <a:pt x="272" y="6"/>
                  </a:lnTo>
                  <a:lnTo>
                    <a:pt x="28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21" name="Freeform 33"/>
            <p:cNvSpPr>
              <a:spLocks/>
            </p:cNvSpPr>
            <p:nvPr/>
          </p:nvSpPr>
          <p:spPr bwMode="auto">
            <a:xfrm>
              <a:off x="3870" y="2478"/>
              <a:ext cx="862" cy="599"/>
            </a:xfrm>
            <a:custGeom>
              <a:avLst/>
              <a:gdLst>
                <a:gd name="T0" fmla="*/ 6 w 1725"/>
                <a:gd name="T1" fmla="*/ 1 h 1198"/>
                <a:gd name="T2" fmla="*/ 6 w 1725"/>
                <a:gd name="T3" fmla="*/ 1 h 1198"/>
                <a:gd name="T4" fmla="*/ 6 w 1725"/>
                <a:gd name="T5" fmla="*/ 1 h 1198"/>
                <a:gd name="T6" fmla="*/ 6 w 1725"/>
                <a:gd name="T7" fmla="*/ 1 h 1198"/>
                <a:gd name="T8" fmla="*/ 6 w 1725"/>
                <a:gd name="T9" fmla="*/ 1 h 1198"/>
                <a:gd name="T10" fmla="*/ 6 w 1725"/>
                <a:gd name="T11" fmla="*/ 1 h 1198"/>
                <a:gd name="T12" fmla="*/ 6 w 1725"/>
                <a:gd name="T13" fmla="*/ 1 h 1198"/>
                <a:gd name="T14" fmla="*/ 5 w 1725"/>
                <a:gd name="T15" fmla="*/ 1 h 1198"/>
                <a:gd name="T16" fmla="*/ 5 w 1725"/>
                <a:gd name="T17" fmla="*/ 2 h 1198"/>
                <a:gd name="T18" fmla="*/ 5 w 1725"/>
                <a:gd name="T19" fmla="*/ 2 h 1198"/>
                <a:gd name="T20" fmla="*/ 4 w 1725"/>
                <a:gd name="T21" fmla="*/ 2 h 1198"/>
                <a:gd name="T22" fmla="*/ 3 w 1725"/>
                <a:gd name="T23" fmla="*/ 3 h 1198"/>
                <a:gd name="T24" fmla="*/ 3 w 1725"/>
                <a:gd name="T25" fmla="*/ 3 h 1198"/>
                <a:gd name="T26" fmla="*/ 2 w 1725"/>
                <a:gd name="T27" fmla="*/ 3 h 1198"/>
                <a:gd name="T28" fmla="*/ 2 w 1725"/>
                <a:gd name="T29" fmla="*/ 4 h 1198"/>
                <a:gd name="T30" fmla="*/ 1 w 1725"/>
                <a:gd name="T31" fmla="*/ 4 h 1198"/>
                <a:gd name="T32" fmla="*/ 1 w 1725"/>
                <a:gd name="T33" fmla="*/ 4 h 1198"/>
                <a:gd name="T34" fmla="*/ 1 w 1725"/>
                <a:gd name="T35" fmla="*/ 4 h 1198"/>
                <a:gd name="T36" fmla="*/ 1 w 1725"/>
                <a:gd name="T37" fmla="*/ 5 h 1198"/>
                <a:gd name="T38" fmla="*/ 0 w 1725"/>
                <a:gd name="T39" fmla="*/ 5 h 1198"/>
                <a:gd name="T40" fmla="*/ 0 w 1725"/>
                <a:gd name="T41" fmla="*/ 5 h 1198"/>
                <a:gd name="T42" fmla="*/ 0 w 1725"/>
                <a:gd name="T43" fmla="*/ 5 h 1198"/>
                <a:gd name="T44" fmla="*/ 0 w 1725"/>
                <a:gd name="T45" fmla="*/ 5 h 1198"/>
                <a:gd name="T46" fmla="*/ 0 w 1725"/>
                <a:gd name="T47" fmla="*/ 5 h 1198"/>
                <a:gd name="T48" fmla="*/ 0 w 1725"/>
                <a:gd name="T49" fmla="*/ 5 h 1198"/>
                <a:gd name="T50" fmla="*/ 0 w 1725"/>
                <a:gd name="T51" fmla="*/ 5 h 1198"/>
                <a:gd name="T52" fmla="*/ 0 w 1725"/>
                <a:gd name="T53" fmla="*/ 5 h 1198"/>
                <a:gd name="T54" fmla="*/ 0 w 1725"/>
                <a:gd name="T55" fmla="*/ 5 h 1198"/>
                <a:gd name="T56" fmla="*/ 0 w 1725"/>
                <a:gd name="T57" fmla="*/ 5 h 1198"/>
                <a:gd name="T58" fmla="*/ 0 w 1725"/>
                <a:gd name="T59" fmla="*/ 5 h 1198"/>
                <a:gd name="T60" fmla="*/ 0 w 1725"/>
                <a:gd name="T61" fmla="*/ 5 h 1198"/>
                <a:gd name="T62" fmla="*/ 0 w 1725"/>
                <a:gd name="T63" fmla="*/ 5 h 1198"/>
                <a:gd name="T64" fmla="*/ 0 w 1725"/>
                <a:gd name="T65" fmla="*/ 4 h 1198"/>
                <a:gd name="T66" fmla="*/ 0 w 1725"/>
                <a:gd name="T67" fmla="*/ 4 h 1198"/>
                <a:gd name="T68" fmla="*/ 0 w 1725"/>
                <a:gd name="T69" fmla="*/ 4 h 1198"/>
                <a:gd name="T70" fmla="*/ 1 w 1725"/>
                <a:gd name="T71" fmla="*/ 4 h 1198"/>
                <a:gd name="T72" fmla="*/ 1 w 1725"/>
                <a:gd name="T73" fmla="*/ 4 h 1198"/>
                <a:gd name="T74" fmla="*/ 1 w 1725"/>
                <a:gd name="T75" fmla="*/ 4 h 1198"/>
                <a:gd name="T76" fmla="*/ 2 w 1725"/>
                <a:gd name="T77" fmla="*/ 3 h 1198"/>
                <a:gd name="T78" fmla="*/ 2 w 1725"/>
                <a:gd name="T79" fmla="*/ 3 h 1198"/>
                <a:gd name="T80" fmla="*/ 2 w 1725"/>
                <a:gd name="T81" fmla="*/ 3 h 1198"/>
                <a:gd name="T82" fmla="*/ 3 w 1725"/>
                <a:gd name="T83" fmla="*/ 3 h 1198"/>
                <a:gd name="T84" fmla="*/ 3 w 1725"/>
                <a:gd name="T85" fmla="*/ 2 h 1198"/>
                <a:gd name="T86" fmla="*/ 4 w 1725"/>
                <a:gd name="T87" fmla="*/ 2 h 1198"/>
                <a:gd name="T88" fmla="*/ 4 w 1725"/>
                <a:gd name="T89" fmla="*/ 2 h 1198"/>
                <a:gd name="T90" fmla="*/ 4 w 1725"/>
                <a:gd name="T91" fmla="*/ 2 h 1198"/>
                <a:gd name="T92" fmla="*/ 5 w 1725"/>
                <a:gd name="T93" fmla="*/ 1 h 1198"/>
                <a:gd name="T94" fmla="*/ 5 w 1725"/>
                <a:gd name="T95" fmla="*/ 1 h 1198"/>
                <a:gd name="T96" fmla="*/ 6 w 1725"/>
                <a:gd name="T97" fmla="*/ 1 h 1198"/>
                <a:gd name="T98" fmla="*/ 6 w 1725"/>
                <a:gd name="T99" fmla="*/ 1 h 1198"/>
                <a:gd name="T100" fmla="*/ 6 w 1725"/>
                <a:gd name="T101" fmla="*/ 0 h 119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25"/>
                <a:gd name="T154" fmla="*/ 0 h 1198"/>
                <a:gd name="T155" fmla="*/ 1725 w 1725"/>
                <a:gd name="T156" fmla="*/ 1198 h 119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25" h="1198">
                  <a:moveTo>
                    <a:pt x="1696" y="0"/>
                  </a:moveTo>
                  <a:lnTo>
                    <a:pt x="1713" y="17"/>
                  </a:lnTo>
                  <a:lnTo>
                    <a:pt x="1723" y="36"/>
                  </a:lnTo>
                  <a:lnTo>
                    <a:pt x="1725" y="53"/>
                  </a:lnTo>
                  <a:lnTo>
                    <a:pt x="1723" y="70"/>
                  </a:lnTo>
                  <a:lnTo>
                    <a:pt x="1713" y="87"/>
                  </a:lnTo>
                  <a:lnTo>
                    <a:pt x="1702" y="103"/>
                  </a:lnTo>
                  <a:lnTo>
                    <a:pt x="1685" y="118"/>
                  </a:lnTo>
                  <a:lnTo>
                    <a:pt x="1666" y="135"/>
                  </a:lnTo>
                  <a:lnTo>
                    <a:pt x="1641" y="150"/>
                  </a:lnTo>
                  <a:lnTo>
                    <a:pt x="1618" y="163"/>
                  </a:lnTo>
                  <a:lnTo>
                    <a:pt x="1595" y="179"/>
                  </a:lnTo>
                  <a:lnTo>
                    <a:pt x="1573" y="194"/>
                  </a:lnTo>
                  <a:lnTo>
                    <a:pt x="1548" y="207"/>
                  </a:lnTo>
                  <a:lnTo>
                    <a:pt x="1529" y="220"/>
                  </a:lnTo>
                  <a:lnTo>
                    <a:pt x="1510" y="236"/>
                  </a:lnTo>
                  <a:lnTo>
                    <a:pt x="1495" y="251"/>
                  </a:lnTo>
                  <a:lnTo>
                    <a:pt x="1422" y="291"/>
                  </a:lnTo>
                  <a:lnTo>
                    <a:pt x="1354" y="333"/>
                  </a:lnTo>
                  <a:lnTo>
                    <a:pt x="1284" y="376"/>
                  </a:lnTo>
                  <a:lnTo>
                    <a:pt x="1215" y="420"/>
                  </a:lnTo>
                  <a:lnTo>
                    <a:pt x="1145" y="464"/>
                  </a:lnTo>
                  <a:lnTo>
                    <a:pt x="1076" y="508"/>
                  </a:lnTo>
                  <a:lnTo>
                    <a:pt x="1008" y="553"/>
                  </a:lnTo>
                  <a:lnTo>
                    <a:pt x="939" y="599"/>
                  </a:lnTo>
                  <a:lnTo>
                    <a:pt x="871" y="643"/>
                  </a:lnTo>
                  <a:lnTo>
                    <a:pt x="802" y="688"/>
                  </a:lnTo>
                  <a:lnTo>
                    <a:pt x="734" y="732"/>
                  </a:lnTo>
                  <a:lnTo>
                    <a:pt x="667" y="776"/>
                  </a:lnTo>
                  <a:lnTo>
                    <a:pt x="599" y="819"/>
                  </a:lnTo>
                  <a:lnTo>
                    <a:pt x="531" y="863"/>
                  </a:lnTo>
                  <a:lnTo>
                    <a:pt x="462" y="905"/>
                  </a:lnTo>
                  <a:lnTo>
                    <a:pt x="396" y="947"/>
                  </a:lnTo>
                  <a:lnTo>
                    <a:pt x="375" y="964"/>
                  </a:lnTo>
                  <a:lnTo>
                    <a:pt x="356" y="979"/>
                  </a:lnTo>
                  <a:lnTo>
                    <a:pt x="335" y="994"/>
                  </a:lnTo>
                  <a:lnTo>
                    <a:pt x="314" y="1009"/>
                  </a:lnTo>
                  <a:lnTo>
                    <a:pt x="293" y="1025"/>
                  </a:lnTo>
                  <a:lnTo>
                    <a:pt x="270" y="1040"/>
                  </a:lnTo>
                  <a:lnTo>
                    <a:pt x="249" y="1055"/>
                  </a:lnTo>
                  <a:lnTo>
                    <a:pt x="228" y="1070"/>
                  </a:lnTo>
                  <a:lnTo>
                    <a:pt x="204" y="1084"/>
                  </a:lnTo>
                  <a:lnTo>
                    <a:pt x="181" y="1099"/>
                  </a:lnTo>
                  <a:lnTo>
                    <a:pt x="158" y="1112"/>
                  </a:lnTo>
                  <a:lnTo>
                    <a:pt x="137" y="1127"/>
                  </a:lnTo>
                  <a:lnTo>
                    <a:pt x="112" y="1141"/>
                  </a:lnTo>
                  <a:lnTo>
                    <a:pt x="91" y="1156"/>
                  </a:lnTo>
                  <a:lnTo>
                    <a:pt x="69" y="1171"/>
                  </a:lnTo>
                  <a:lnTo>
                    <a:pt x="50" y="1188"/>
                  </a:lnTo>
                  <a:lnTo>
                    <a:pt x="38" y="1184"/>
                  </a:lnTo>
                  <a:lnTo>
                    <a:pt x="29" y="1188"/>
                  </a:lnTo>
                  <a:lnTo>
                    <a:pt x="19" y="1194"/>
                  </a:lnTo>
                  <a:lnTo>
                    <a:pt x="12" y="1198"/>
                  </a:lnTo>
                  <a:lnTo>
                    <a:pt x="2" y="1177"/>
                  </a:lnTo>
                  <a:lnTo>
                    <a:pt x="0" y="1162"/>
                  </a:lnTo>
                  <a:lnTo>
                    <a:pt x="2" y="1144"/>
                  </a:lnTo>
                  <a:lnTo>
                    <a:pt x="12" y="1131"/>
                  </a:lnTo>
                  <a:lnTo>
                    <a:pt x="21" y="1114"/>
                  </a:lnTo>
                  <a:lnTo>
                    <a:pt x="34" y="1101"/>
                  </a:lnTo>
                  <a:lnTo>
                    <a:pt x="50" y="1089"/>
                  </a:lnTo>
                  <a:lnTo>
                    <a:pt x="69" y="1078"/>
                  </a:lnTo>
                  <a:lnTo>
                    <a:pt x="88" y="1065"/>
                  </a:lnTo>
                  <a:lnTo>
                    <a:pt x="107" y="1053"/>
                  </a:lnTo>
                  <a:lnTo>
                    <a:pt x="126" y="1040"/>
                  </a:lnTo>
                  <a:lnTo>
                    <a:pt x="145" y="1030"/>
                  </a:lnTo>
                  <a:lnTo>
                    <a:pt x="164" y="1019"/>
                  </a:lnTo>
                  <a:lnTo>
                    <a:pt x="179" y="1008"/>
                  </a:lnTo>
                  <a:lnTo>
                    <a:pt x="194" y="996"/>
                  </a:lnTo>
                  <a:lnTo>
                    <a:pt x="205" y="987"/>
                  </a:lnTo>
                  <a:lnTo>
                    <a:pt x="247" y="956"/>
                  </a:lnTo>
                  <a:lnTo>
                    <a:pt x="289" y="928"/>
                  </a:lnTo>
                  <a:lnTo>
                    <a:pt x="331" y="897"/>
                  </a:lnTo>
                  <a:lnTo>
                    <a:pt x="373" y="871"/>
                  </a:lnTo>
                  <a:lnTo>
                    <a:pt x="415" y="842"/>
                  </a:lnTo>
                  <a:lnTo>
                    <a:pt x="458" y="814"/>
                  </a:lnTo>
                  <a:lnTo>
                    <a:pt x="498" y="785"/>
                  </a:lnTo>
                  <a:lnTo>
                    <a:pt x="542" y="759"/>
                  </a:lnTo>
                  <a:lnTo>
                    <a:pt x="584" y="730"/>
                  </a:lnTo>
                  <a:lnTo>
                    <a:pt x="628" y="701"/>
                  </a:lnTo>
                  <a:lnTo>
                    <a:pt x="669" y="675"/>
                  </a:lnTo>
                  <a:lnTo>
                    <a:pt x="711" y="646"/>
                  </a:lnTo>
                  <a:lnTo>
                    <a:pt x="753" y="618"/>
                  </a:lnTo>
                  <a:lnTo>
                    <a:pt x="797" y="591"/>
                  </a:lnTo>
                  <a:lnTo>
                    <a:pt x="839" y="565"/>
                  </a:lnTo>
                  <a:lnTo>
                    <a:pt x="882" y="538"/>
                  </a:lnTo>
                  <a:lnTo>
                    <a:pt x="936" y="508"/>
                  </a:lnTo>
                  <a:lnTo>
                    <a:pt x="987" y="477"/>
                  </a:lnTo>
                  <a:lnTo>
                    <a:pt x="1038" y="447"/>
                  </a:lnTo>
                  <a:lnTo>
                    <a:pt x="1091" y="416"/>
                  </a:lnTo>
                  <a:lnTo>
                    <a:pt x="1141" y="382"/>
                  </a:lnTo>
                  <a:lnTo>
                    <a:pt x="1194" y="352"/>
                  </a:lnTo>
                  <a:lnTo>
                    <a:pt x="1245" y="317"/>
                  </a:lnTo>
                  <a:lnTo>
                    <a:pt x="1297" y="283"/>
                  </a:lnTo>
                  <a:lnTo>
                    <a:pt x="1346" y="249"/>
                  </a:lnTo>
                  <a:lnTo>
                    <a:pt x="1398" y="213"/>
                  </a:lnTo>
                  <a:lnTo>
                    <a:pt x="1449" y="177"/>
                  </a:lnTo>
                  <a:lnTo>
                    <a:pt x="1498" y="143"/>
                  </a:lnTo>
                  <a:lnTo>
                    <a:pt x="1548" y="106"/>
                  </a:lnTo>
                  <a:lnTo>
                    <a:pt x="1597" y="70"/>
                  </a:lnTo>
                  <a:lnTo>
                    <a:pt x="1647" y="34"/>
                  </a:lnTo>
                  <a:lnTo>
                    <a:pt x="1696" y="0"/>
                  </a:lnTo>
                  <a:close/>
                </a:path>
              </a:pathLst>
            </a:custGeom>
            <a:solidFill>
              <a:srgbClr val="FFFF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22" name="Freeform 34"/>
            <p:cNvSpPr>
              <a:spLocks/>
            </p:cNvSpPr>
            <p:nvPr/>
          </p:nvSpPr>
          <p:spPr bwMode="auto">
            <a:xfrm>
              <a:off x="4351" y="2499"/>
              <a:ext cx="107" cy="83"/>
            </a:xfrm>
            <a:custGeom>
              <a:avLst/>
              <a:gdLst>
                <a:gd name="T0" fmla="*/ 1 w 213"/>
                <a:gd name="T1" fmla="*/ 0 h 165"/>
                <a:gd name="T2" fmla="*/ 1 w 213"/>
                <a:gd name="T3" fmla="*/ 1 h 165"/>
                <a:gd name="T4" fmla="*/ 1 w 213"/>
                <a:gd name="T5" fmla="*/ 1 h 165"/>
                <a:gd name="T6" fmla="*/ 1 w 213"/>
                <a:gd name="T7" fmla="*/ 1 h 165"/>
                <a:gd name="T8" fmla="*/ 1 w 213"/>
                <a:gd name="T9" fmla="*/ 1 h 165"/>
                <a:gd name="T10" fmla="*/ 1 w 213"/>
                <a:gd name="T11" fmla="*/ 1 h 165"/>
                <a:gd name="T12" fmla="*/ 1 w 213"/>
                <a:gd name="T13" fmla="*/ 1 h 165"/>
                <a:gd name="T14" fmla="*/ 1 w 213"/>
                <a:gd name="T15" fmla="*/ 1 h 165"/>
                <a:gd name="T16" fmla="*/ 1 w 213"/>
                <a:gd name="T17" fmla="*/ 1 h 165"/>
                <a:gd name="T18" fmla="*/ 1 w 213"/>
                <a:gd name="T19" fmla="*/ 1 h 165"/>
                <a:gd name="T20" fmla="*/ 1 w 213"/>
                <a:gd name="T21" fmla="*/ 1 h 165"/>
                <a:gd name="T22" fmla="*/ 1 w 213"/>
                <a:gd name="T23" fmla="*/ 1 h 165"/>
                <a:gd name="T24" fmla="*/ 1 w 213"/>
                <a:gd name="T25" fmla="*/ 1 h 165"/>
                <a:gd name="T26" fmla="*/ 1 w 213"/>
                <a:gd name="T27" fmla="*/ 1 h 165"/>
                <a:gd name="T28" fmla="*/ 1 w 213"/>
                <a:gd name="T29" fmla="*/ 1 h 165"/>
                <a:gd name="T30" fmla="*/ 1 w 213"/>
                <a:gd name="T31" fmla="*/ 1 h 165"/>
                <a:gd name="T32" fmla="*/ 1 w 213"/>
                <a:gd name="T33" fmla="*/ 1 h 165"/>
                <a:gd name="T34" fmla="*/ 1 w 213"/>
                <a:gd name="T35" fmla="*/ 1 h 165"/>
                <a:gd name="T36" fmla="*/ 1 w 213"/>
                <a:gd name="T37" fmla="*/ 1 h 165"/>
                <a:gd name="T38" fmla="*/ 1 w 213"/>
                <a:gd name="T39" fmla="*/ 1 h 165"/>
                <a:gd name="T40" fmla="*/ 1 w 213"/>
                <a:gd name="T41" fmla="*/ 1 h 165"/>
                <a:gd name="T42" fmla="*/ 1 w 213"/>
                <a:gd name="T43" fmla="*/ 1 h 165"/>
                <a:gd name="T44" fmla="*/ 1 w 213"/>
                <a:gd name="T45" fmla="*/ 1 h 165"/>
                <a:gd name="T46" fmla="*/ 1 w 213"/>
                <a:gd name="T47" fmla="*/ 1 h 165"/>
                <a:gd name="T48" fmla="*/ 1 w 213"/>
                <a:gd name="T49" fmla="*/ 1 h 165"/>
                <a:gd name="T50" fmla="*/ 1 w 213"/>
                <a:gd name="T51" fmla="*/ 1 h 165"/>
                <a:gd name="T52" fmla="*/ 1 w 213"/>
                <a:gd name="T53" fmla="*/ 1 h 165"/>
                <a:gd name="T54" fmla="*/ 1 w 213"/>
                <a:gd name="T55" fmla="*/ 1 h 165"/>
                <a:gd name="T56" fmla="*/ 1 w 213"/>
                <a:gd name="T57" fmla="*/ 1 h 165"/>
                <a:gd name="T58" fmla="*/ 1 w 213"/>
                <a:gd name="T59" fmla="*/ 1 h 165"/>
                <a:gd name="T60" fmla="*/ 1 w 213"/>
                <a:gd name="T61" fmla="*/ 1 h 165"/>
                <a:gd name="T62" fmla="*/ 0 w 213"/>
                <a:gd name="T63" fmla="*/ 1 h 165"/>
                <a:gd name="T64" fmla="*/ 1 w 213"/>
                <a:gd name="T65" fmla="*/ 1 h 165"/>
                <a:gd name="T66" fmla="*/ 1 w 213"/>
                <a:gd name="T67" fmla="*/ 1 h 165"/>
                <a:gd name="T68" fmla="*/ 1 w 213"/>
                <a:gd name="T69" fmla="*/ 1 h 165"/>
                <a:gd name="T70" fmla="*/ 1 w 213"/>
                <a:gd name="T71" fmla="*/ 1 h 165"/>
                <a:gd name="T72" fmla="*/ 1 w 213"/>
                <a:gd name="T73" fmla="*/ 1 h 165"/>
                <a:gd name="T74" fmla="*/ 1 w 213"/>
                <a:gd name="T75" fmla="*/ 1 h 165"/>
                <a:gd name="T76" fmla="*/ 1 w 213"/>
                <a:gd name="T77" fmla="*/ 1 h 165"/>
                <a:gd name="T78" fmla="*/ 1 w 213"/>
                <a:gd name="T79" fmla="*/ 1 h 16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13"/>
                <a:gd name="T121" fmla="*/ 0 h 165"/>
                <a:gd name="T122" fmla="*/ 213 w 213"/>
                <a:gd name="T123" fmla="*/ 165 h 16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13" h="165">
                  <a:moveTo>
                    <a:pt x="99" y="4"/>
                  </a:moveTo>
                  <a:lnTo>
                    <a:pt x="109" y="0"/>
                  </a:lnTo>
                  <a:lnTo>
                    <a:pt x="120" y="0"/>
                  </a:lnTo>
                  <a:lnTo>
                    <a:pt x="133" y="2"/>
                  </a:lnTo>
                  <a:lnTo>
                    <a:pt x="147" y="9"/>
                  </a:lnTo>
                  <a:lnTo>
                    <a:pt x="160" y="15"/>
                  </a:lnTo>
                  <a:lnTo>
                    <a:pt x="171" y="25"/>
                  </a:lnTo>
                  <a:lnTo>
                    <a:pt x="183" y="34"/>
                  </a:lnTo>
                  <a:lnTo>
                    <a:pt x="194" y="45"/>
                  </a:lnTo>
                  <a:lnTo>
                    <a:pt x="200" y="57"/>
                  </a:lnTo>
                  <a:lnTo>
                    <a:pt x="207" y="68"/>
                  </a:lnTo>
                  <a:lnTo>
                    <a:pt x="209" y="80"/>
                  </a:lnTo>
                  <a:lnTo>
                    <a:pt x="213" y="91"/>
                  </a:lnTo>
                  <a:lnTo>
                    <a:pt x="209" y="101"/>
                  </a:lnTo>
                  <a:lnTo>
                    <a:pt x="204" y="110"/>
                  </a:lnTo>
                  <a:lnTo>
                    <a:pt x="194" y="118"/>
                  </a:lnTo>
                  <a:lnTo>
                    <a:pt x="181" y="125"/>
                  </a:lnTo>
                  <a:lnTo>
                    <a:pt x="183" y="116"/>
                  </a:lnTo>
                  <a:lnTo>
                    <a:pt x="183" y="112"/>
                  </a:lnTo>
                  <a:lnTo>
                    <a:pt x="183" y="106"/>
                  </a:lnTo>
                  <a:lnTo>
                    <a:pt x="181" y="102"/>
                  </a:lnTo>
                  <a:lnTo>
                    <a:pt x="177" y="95"/>
                  </a:lnTo>
                  <a:lnTo>
                    <a:pt x="173" y="87"/>
                  </a:lnTo>
                  <a:lnTo>
                    <a:pt x="168" y="82"/>
                  </a:lnTo>
                  <a:lnTo>
                    <a:pt x="164" y="76"/>
                  </a:lnTo>
                  <a:lnTo>
                    <a:pt x="152" y="63"/>
                  </a:lnTo>
                  <a:lnTo>
                    <a:pt x="143" y="53"/>
                  </a:lnTo>
                  <a:lnTo>
                    <a:pt x="143" y="57"/>
                  </a:lnTo>
                  <a:lnTo>
                    <a:pt x="145" y="63"/>
                  </a:lnTo>
                  <a:lnTo>
                    <a:pt x="147" y="72"/>
                  </a:lnTo>
                  <a:lnTo>
                    <a:pt x="152" y="80"/>
                  </a:lnTo>
                  <a:lnTo>
                    <a:pt x="154" y="85"/>
                  </a:lnTo>
                  <a:lnTo>
                    <a:pt x="158" y="95"/>
                  </a:lnTo>
                  <a:lnTo>
                    <a:pt x="160" y="102"/>
                  </a:lnTo>
                  <a:lnTo>
                    <a:pt x="164" y="110"/>
                  </a:lnTo>
                  <a:lnTo>
                    <a:pt x="166" y="123"/>
                  </a:lnTo>
                  <a:lnTo>
                    <a:pt x="162" y="137"/>
                  </a:lnTo>
                  <a:lnTo>
                    <a:pt x="156" y="142"/>
                  </a:lnTo>
                  <a:lnTo>
                    <a:pt x="152" y="148"/>
                  </a:lnTo>
                  <a:lnTo>
                    <a:pt x="143" y="150"/>
                  </a:lnTo>
                  <a:lnTo>
                    <a:pt x="133" y="154"/>
                  </a:lnTo>
                  <a:lnTo>
                    <a:pt x="131" y="142"/>
                  </a:lnTo>
                  <a:lnTo>
                    <a:pt x="128" y="129"/>
                  </a:lnTo>
                  <a:lnTo>
                    <a:pt x="120" y="118"/>
                  </a:lnTo>
                  <a:lnTo>
                    <a:pt x="112" y="108"/>
                  </a:lnTo>
                  <a:lnTo>
                    <a:pt x="101" y="99"/>
                  </a:lnTo>
                  <a:lnTo>
                    <a:pt x="90" y="95"/>
                  </a:lnTo>
                  <a:lnTo>
                    <a:pt x="78" y="93"/>
                  </a:lnTo>
                  <a:lnTo>
                    <a:pt x="67" y="95"/>
                  </a:lnTo>
                  <a:lnTo>
                    <a:pt x="72" y="102"/>
                  </a:lnTo>
                  <a:lnTo>
                    <a:pt x="78" y="114"/>
                  </a:lnTo>
                  <a:lnTo>
                    <a:pt x="80" y="123"/>
                  </a:lnTo>
                  <a:lnTo>
                    <a:pt x="80" y="135"/>
                  </a:lnTo>
                  <a:lnTo>
                    <a:pt x="74" y="142"/>
                  </a:lnTo>
                  <a:lnTo>
                    <a:pt x="67" y="152"/>
                  </a:lnTo>
                  <a:lnTo>
                    <a:pt x="57" y="158"/>
                  </a:lnTo>
                  <a:lnTo>
                    <a:pt x="48" y="165"/>
                  </a:lnTo>
                  <a:lnTo>
                    <a:pt x="34" y="152"/>
                  </a:lnTo>
                  <a:lnTo>
                    <a:pt x="27" y="140"/>
                  </a:lnTo>
                  <a:lnTo>
                    <a:pt x="17" y="127"/>
                  </a:lnTo>
                  <a:lnTo>
                    <a:pt x="12" y="116"/>
                  </a:lnTo>
                  <a:lnTo>
                    <a:pt x="4" y="102"/>
                  </a:lnTo>
                  <a:lnTo>
                    <a:pt x="2" y="89"/>
                  </a:lnTo>
                  <a:lnTo>
                    <a:pt x="0" y="76"/>
                  </a:lnTo>
                  <a:lnTo>
                    <a:pt x="2" y="66"/>
                  </a:lnTo>
                  <a:lnTo>
                    <a:pt x="2" y="55"/>
                  </a:lnTo>
                  <a:lnTo>
                    <a:pt x="8" y="47"/>
                  </a:lnTo>
                  <a:lnTo>
                    <a:pt x="13" y="40"/>
                  </a:lnTo>
                  <a:lnTo>
                    <a:pt x="21" y="34"/>
                  </a:lnTo>
                  <a:lnTo>
                    <a:pt x="31" y="28"/>
                  </a:lnTo>
                  <a:lnTo>
                    <a:pt x="44" y="26"/>
                  </a:lnTo>
                  <a:lnTo>
                    <a:pt x="52" y="26"/>
                  </a:lnTo>
                  <a:lnTo>
                    <a:pt x="59" y="26"/>
                  </a:lnTo>
                  <a:lnTo>
                    <a:pt x="69" y="26"/>
                  </a:lnTo>
                  <a:lnTo>
                    <a:pt x="80" y="30"/>
                  </a:lnTo>
                  <a:lnTo>
                    <a:pt x="74" y="19"/>
                  </a:lnTo>
                  <a:lnTo>
                    <a:pt x="80" y="13"/>
                  </a:lnTo>
                  <a:lnTo>
                    <a:pt x="90" y="7"/>
                  </a:lnTo>
                  <a:lnTo>
                    <a:pt x="99" y="4"/>
                  </a:lnTo>
                  <a:close/>
                </a:path>
              </a:pathLst>
            </a:custGeom>
            <a:solidFill>
              <a:srgbClr val="FFD6C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23" name="Freeform 35"/>
            <p:cNvSpPr>
              <a:spLocks/>
            </p:cNvSpPr>
            <p:nvPr/>
          </p:nvSpPr>
          <p:spPr bwMode="auto">
            <a:xfrm>
              <a:off x="4028" y="2508"/>
              <a:ext cx="101" cy="63"/>
            </a:xfrm>
            <a:custGeom>
              <a:avLst/>
              <a:gdLst>
                <a:gd name="T0" fmla="*/ 1 w 201"/>
                <a:gd name="T1" fmla="*/ 0 h 125"/>
                <a:gd name="T2" fmla="*/ 1 w 201"/>
                <a:gd name="T3" fmla="*/ 1 h 125"/>
                <a:gd name="T4" fmla="*/ 1 w 201"/>
                <a:gd name="T5" fmla="*/ 1 h 125"/>
                <a:gd name="T6" fmla="*/ 1 w 201"/>
                <a:gd name="T7" fmla="*/ 1 h 125"/>
                <a:gd name="T8" fmla="*/ 1 w 201"/>
                <a:gd name="T9" fmla="*/ 1 h 125"/>
                <a:gd name="T10" fmla="*/ 1 w 201"/>
                <a:gd name="T11" fmla="*/ 1 h 125"/>
                <a:gd name="T12" fmla="*/ 1 w 201"/>
                <a:gd name="T13" fmla="*/ 1 h 125"/>
                <a:gd name="T14" fmla="*/ 1 w 201"/>
                <a:gd name="T15" fmla="*/ 1 h 125"/>
                <a:gd name="T16" fmla="*/ 1 w 201"/>
                <a:gd name="T17" fmla="*/ 1 h 125"/>
                <a:gd name="T18" fmla="*/ 1 w 201"/>
                <a:gd name="T19" fmla="*/ 1 h 125"/>
                <a:gd name="T20" fmla="*/ 1 w 201"/>
                <a:gd name="T21" fmla="*/ 1 h 125"/>
                <a:gd name="T22" fmla="*/ 1 w 201"/>
                <a:gd name="T23" fmla="*/ 1 h 125"/>
                <a:gd name="T24" fmla="*/ 1 w 201"/>
                <a:gd name="T25" fmla="*/ 1 h 125"/>
                <a:gd name="T26" fmla="*/ 1 w 201"/>
                <a:gd name="T27" fmla="*/ 1 h 125"/>
                <a:gd name="T28" fmla="*/ 1 w 201"/>
                <a:gd name="T29" fmla="*/ 1 h 125"/>
                <a:gd name="T30" fmla="*/ 1 w 201"/>
                <a:gd name="T31" fmla="*/ 1 h 125"/>
                <a:gd name="T32" fmla="*/ 1 w 201"/>
                <a:gd name="T33" fmla="*/ 1 h 125"/>
                <a:gd name="T34" fmla="*/ 1 w 201"/>
                <a:gd name="T35" fmla="*/ 1 h 125"/>
                <a:gd name="T36" fmla="*/ 1 w 201"/>
                <a:gd name="T37" fmla="*/ 1 h 125"/>
                <a:gd name="T38" fmla="*/ 1 w 201"/>
                <a:gd name="T39" fmla="*/ 1 h 125"/>
                <a:gd name="T40" fmla="*/ 1 w 201"/>
                <a:gd name="T41" fmla="*/ 1 h 125"/>
                <a:gd name="T42" fmla="*/ 1 w 201"/>
                <a:gd name="T43" fmla="*/ 1 h 125"/>
                <a:gd name="T44" fmla="*/ 1 w 201"/>
                <a:gd name="T45" fmla="*/ 1 h 125"/>
                <a:gd name="T46" fmla="*/ 1 w 201"/>
                <a:gd name="T47" fmla="*/ 1 h 125"/>
                <a:gd name="T48" fmla="*/ 1 w 201"/>
                <a:gd name="T49" fmla="*/ 1 h 125"/>
                <a:gd name="T50" fmla="*/ 1 w 201"/>
                <a:gd name="T51" fmla="*/ 1 h 125"/>
                <a:gd name="T52" fmla="*/ 1 w 201"/>
                <a:gd name="T53" fmla="*/ 1 h 125"/>
                <a:gd name="T54" fmla="*/ 1 w 201"/>
                <a:gd name="T55" fmla="*/ 1 h 125"/>
                <a:gd name="T56" fmla="*/ 0 w 201"/>
                <a:gd name="T57" fmla="*/ 1 h 125"/>
                <a:gd name="T58" fmla="*/ 1 w 201"/>
                <a:gd name="T59" fmla="*/ 1 h 125"/>
                <a:gd name="T60" fmla="*/ 1 w 201"/>
                <a:gd name="T61" fmla="*/ 1 h 125"/>
                <a:gd name="T62" fmla="*/ 1 w 201"/>
                <a:gd name="T63" fmla="*/ 1 h 125"/>
                <a:gd name="T64" fmla="*/ 1 w 201"/>
                <a:gd name="T65" fmla="*/ 1 h 125"/>
                <a:gd name="T66" fmla="*/ 1 w 201"/>
                <a:gd name="T67" fmla="*/ 1 h 125"/>
                <a:gd name="T68" fmla="*/ 1 w 201"/>
                <a:gd name="T69" fmla="*/ 1 h 125"/>
                <a:gd name="T70" fmla="*/ 1 w 201"/>
                <a:gd name="T71" fmla="*/ 1 h 125"/>
                <a:gd name="T72" fmla="*/ 1 w 201"/>
                <a:gd name="T73" fmla="*/ 1 h 125"/>
                <a:gd name="T74" fmla="*/ 1 w 201"/>
                <a:gd name="T75" fmla="*/ 1 h 125"/>
                <a:gd name="T76" fmla="*/ 1 w 201"/>
                <a:gd name="T77" fmla="*/ 1 h 125"/>
                <a:gd name="T78" fmla="*/ 1 w 201"/>
                <a:gd name="T79" fmla="*/ 1 h 125"/>
                <a:gd name="T80" fmla="*/ 1 w 201"/>
                <a:gd name="T81" fmla="*/ 1 h 125"/>
                <a:gd name="T82" fmla="*/ 1 w 201"/>
                <a:gd name="T83" fmla="*/ 1 h 125"/>
                <a:gd name="T84" fmla="*/ 1 w 201"/>
                <a:gd name="T85" fmla="*/ 1 h 125"/>
                <a:gd name="T86" fmla="*/ 1 w 201"/>
                <a:gd name="T87" fmla="*/ 1 h 125"/>
                <a:gd name="T88" fmla="*/ 1 w 201"/>
                <a:gd name="T89" fmla="*/ 0 h 125"/>
                <a:gd name="T90" fmla="*/ 1 w 201"/>
                <a:gd name="T91" fmla="*/ 0 h 12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01"/>
                <a:gd name="T139" fmla="*/ 0 h 125"/>
                <a:gd name="T140" fmla="*/ 201 w 201"/>
                <a:gd name="T141" fmla="*/ 125 h 12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01" h="125">
                  <a:moveTo>
                    <a:pt x="177" y="0"/>
                  </a:moveTo>
                  <a:lnTo>
                    <a:pt x="186" y="4"/>
                  </a:lnTo>
                  <a:lnTo>
                    <a:pt x="194" y="8"/>
                  </a:lnTo>
                  <a:lnTo>
                    <a:pt x="197" y="11"/>
                  </a:lnTo>
                  <a:lnTo>
                    <a:pt x="201" y="15"/>
                  </a:lnTo>
                  <a:lnTo>
                    <a:pt x="199" y="25"/>
                  </a:lnTo>
                  <a:lnTo>
                    <a:pt x="190" y="36"/>
                  </a:lnTo>
                  <a:lnTo>
                    <a:pt x="182" y="40"/>
                  </a:lnTo>
                  <a:lnTo>
                    <a:pt x="177" y="44"/>
                  </a:lnTo>
                  <a:lnTo>
                    <a:pt x="169" y="47"/>
                  </a:lnTo>
                  <a:lnTo>
                    <a:pt x="161" y="51"/>
                  </a:lnTo>
                  <a:lnTo>
                    <a:pt x="152" y="55"/>
                  </a:lnTo>
                  <a:lnTo>
                    <a:pt x="144" y="59"/>
                  </a:lnTo>
                  <a:lnTo>
                    <a:pt x="135" y="65"/>
                  </a:lnTo>
                  <a:lnTo>
                    <a:pt x="127" y="68"/>
                  </a:lnTo>
                  <a:lnTo>
                    <a:pt x="118" y="70"/>
                  </a:lnTo>
                  <a:lnTo>
                    <a:pt x="110" y="74"/>
                  </a:lnTo>
                  <a:lnTo>
                    <a:pt x="101" y="78"/>
                  </a:lnTo>
                  <a:lnTo>
                    <a:pt x="93" y="82"/>
                  </a:lnTo>
                  <a:lnTo>
                    <a:pt x="80" y="89"/>
                  </a:lnTo>
                  <a:lnTo>
                    <a:pt x="72" y="97"/>
                  </a:lnTo>
                  <a:lnTo>
                    <a:pt x="62" y="99"/>
                  </a:lnTo>
                  <a:lnTo>
                    <a:pt x="53" y="104"/>
                  </a:lnTo>
                  <a:lnTo>
                    <a:pt x="43" y="112"/>
                  </a:lnTo>
                  <a:lnTo>
                    <a:pt x="36" y="118"/>
                  </a:lnTo>
                  <a:lnTo>
                    <a:pt x="26" y="122"/>
                  </a:lnTo>
                  <a:lnTo>
                    <a:pt x="17" y="125"/>
                  </a:lnTo>
                  <a:lnTo>
                    <a:pt x="7" y="122"/>
                  </a:lnTo>
                  <a:lnTo>
                    <a:pt x="0" y="118"/>
                  </a:lnTo>
                  <a:lnTo>
                    <a:pt x="11" y="110"/>
                  </a:lnTo>
                  <a:lnTo>
                    <a:pt x="21" y="104"/>
                  </a:lnTo>
                  <a:lnTo>
                    <a:pt x="34" y="97"/>
                  </a:lnTo>
                  <a:lnTo>
                    <a:pt x="45" y="91"/>
                  </a:lnTo>
                  <a:lnTo>
                    <a:pt x="57" y="82"/>
                  </a:lnTo>
                  <a:lnTo>
                    <a:pt x="70" y="74"/>
                  </a:lnTo>
                  <a:lnTo>
                    <a:pt x="81" y="66"/>
                  </a:lnTo>
                  <a:lnTo>
                    <a:pt x="93" y="59"/>
                  </a:lnTo>
                  <a:lnTo>
                    <a:pt x="104" y="51"/>
                  </a:lnTo>
                  <a:lnTo>
                    <a:pt x="116" y="44"/>
                  </a:lnTo>
                  <a:lnTo>
                    <a:pt x="127" y="36"/>
                  </a:lnTo>
                  <a:lnTo>
                    <a:pt x="139" y="28"/>
                  </a:lnTo>
                  <a:lnTo>
                    <a:pt x="148" y="21"/>
                  </a:lnTo>
                  <a:lnTo>
                    <a:pt x="158" y="13"/>
                  </a:lnTo>
                  <a:lnTo>
                    <a:pt x="167" y="6"/>
                  </a:lnTo>
                  <a:lnTo>
                    <a:pt x="17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24" name="Freeform 36"/>
            <p:cNvSpPr>
              <a:spLocks/>
            </p:cNvSpPr>
            <p:nvPr/>
          </p:nvSpPr>
          <p:spPr bwMode="auto">
            <a:xfrm>
              <a:off x="4025" y="2515"/>
              <a:ext cx="32" cy="19"/>
            </a:xfrm>
            <a:custGeom>
              <a:avLst/>
              <a:gdLst>
                <a:gd name="T0" fmla="*/ 0 w 65"/>
                <a:gd name="T1" fmla="*/ 0 h 38"/>
                <a:gd name="T2" fmla="*/ 0 w 65"/>
                <a:gd name="T3" fmla="*/ 1 h 38"/>
                <a:gd name="T4" fmla="*/ 0 w 65"/>
                <a:gd name="T5" fmla="*/ 1 h 38"/>
                <a:gd name="T6" fmla="*/ 0 w 65"/>
                <a:gd name="T7" fmla="*/ 1 h 38"/>
                <a:gd name="T8" fmla="*/ 0 w 65"/>
                <a:gd name="T9" fmla="*/ 1 h 38"/>
                <a:gd name="T10" fmla="*/ 0 w 65"/>
                <a:gd name="T11" fmla="*/ 1 h 38"/>
                <a:gd name="T12" fmla="*/ 0 w 65"/>
                <a:gd name="T13" fmla="*/ 1 h 38"/>
                <a:gd name="T14" fmla="*/ 0 w 65"/>
                <a:gd name="T15" fmla="*/ 1 h 38"/>
                <a:gd name="T16" fmla="*/ 0 w 65"/>
                <a:gd name="T17" fmla="*/ 1 h 38"/>
                <a:gd name="T18" fmla="*/ 0 w 65"/>
                <a:gd name="T19" fmla="*/ 1 h 38"/>
                <a:gd name="T20" fmla="*/ 0 w 65"/>
                <a:gd name="T21" fmla="*/ 1 h 38"/>
                <a:gd name="T22" fmla="*/ 0 w 65"/>
                <a:gd name="T23" fmla="*/ 1 h 38"/>
                <a:gd name="T24" fmla="*/ 0 w 65"/>
                <a:gd name="T25" fmla="*/ 1 h 38"/>
                <a:gd name="T26" fmla="*/ 0 w 65"/>
                <a:gd name="T27" fmla="*/ 1 h 38"/>
                <a:gd name="T28" fmla="*/ 0 w 65"/>
                <a:gd name="T29" fmla="*/ 1 h 38"/>
                <a:gd name="T30" fmla="*/ 0 w 65"/>
                <a:gd name="T31" fmla="*/ 1 h 38"/>
                <a:gd name="T32" fmla="*/ 0 w 65"/>
                <a:gd name="T33" fmla="*/ 1 h 38"/>
                <a:gd name="T34" fmla="*/ 0 w 65"/>
                <a:gd name="T35" fmla="*/ 0 h 38"/>
                <a:gd name="T36" fmla="*/ 0 w 65"/>
                <a:gd name="T37" fmla="*/ 0 h 3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5"/>
                <a:gd name="T58" fmla="*/ 0 h 38"/>
                <a:gd name="T59" fmla="*/ 65 w 65"/>
                <a:gd name="T60" fmla="*/ 38 h 3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5" h="38">
                  <a:moveTo>
                    <a:pt x="51" y="0"/>
                  </a:moveTo>
                  <a:lnTo>
                    <a:pt x="59" y="2"/>
                  </a:lnTo>
                  <a:lnTo>
                    <a:pt x="63" y="4"/>
                  </a:lnTo>
                  <a:lnTo>
                    <a:pt x="65" y="8"/>
                  </a:lnTo>
                  <a:lnTo>
                    <a:pt x="65" y="14"/>
                  </a:lnTo>
                  <a:lnTo>
                    <a:pt x="59" y="15"/>
                  </a:lnTo>
                  <a:lnTo>
                    <a:pt x="51" y="19"/>
                  </a:lnTo>
                  <a:lnTo>
                    <a:pt x="42" y="25"/>
                  </a:lnTo>
                  <a:lnTo>
                    <a:pt x="34" y="29"/>
                  </a:lnTo>
                  <a:lnTo>
                    <a:pt x="23" y="31"/>
                  </a:lnTo>
                  <a:lnTo>
                    <a:pt x="13" y="34"/>
                  </a:lnTo>
                  <a:lnTo>
                    <a:pt x="6" y="36"/>
                  </a:lnTo>
                  <a:lnTo>
                    <a:pt x="4" y="38"/>
                  </a:lnTo>
                  <a:lnTo>
                    <a:pt x="0" y="38"/>
                  </a:lnTo>
                  <a:lnTo>
                    <a:pt x="11" y="27"/>
                  </a:lnTo>
                  <a:lnTo>
                    <a:pt x="25" y="19"/>
                  </a:lnTo>
                  <a:lnTo>
                    <a:pt x="38" y="10"/>
                  </a:lnTo>
                  <a:lnTo>
                    <a:pt x="5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25" name="Freeform 37"/>
            <p:cNvSpPr>
              <a:spLocks/>
            </p:cNvSpPr>
            <p:nvPr/>
          </p:nvSpPr>
          <p:spPr bwMode="auto">
            <a:xfrm>
              <a:off x="4071" y="2526"/>
              <a:ext cx="90" cy="60"/>
            </a:xfrm>
            <a:custGeom>
              <a:avLst/>
              <a:gdLst>
                <a:gd name="T0" fmla="*/ 0 w 181"/>
                <a:gd name="T1" fmla="*/ 0 h 120"/>
                <a:gd name="T2" fmla="*/ 0 w 181"/>
                <a:gd name="T3" fmla="*/ 1 h 120"/>
                <a:gd name="T4" fmla="*/ 0 w 181"/>
                <a:gd name="T5" fmla="*/ 1 h 120"/>
                <a:gd name="T6" fmla="*/ 0 w 181"/>
                <a:gd name="T7" fmla="*/ 1 h 120"/>
                <a:gd name="T8" fmla="*/ 0 w 181"/>
                <a:gd name="T9" fmla="*/ 1 h 120"/>
                <a:gd name="T10" fmla="*/ 0 w 181"/>
                <a:gd name="T11" fmla="*/ 1 h 120"/>
                <a:gd name="T12" fmla="*/ 0 w 181"/>
                <a:gd name="T13" fmla="*/ 1 h 120"/>
                <a:gd name="T14" fmla="*/ 0 w 181"/>
                <a:gd name="T15" fmla="*/ 1 h 120"/>
                <a:gd name="T16" fmla="*/ 0 w 181"/>
                <a:gd name="T17" fmla="*/ 1 h 120"/>
                <a:gd name="T18" fmla="*/ 0 w 181"/>
                <a:gd name="T19" fmla="*/ 1 h 120"/>
                <a:gd name="T20" fmla="*/ 0 w 181"/>
                <a:gd name="T21" fmla="*/ 1 h 120"/>
                <a:gd name="T22" fmla="*/ 0 w 181"/>
                <a:gd name="T23" fmla="*/ 1 h 120"/>
                <a:gd name="T24" fmla="*/ 0 w 181"/>
                <a:gd name="T25" fmla="*/ 1 h 120"/>
                <a:gd name="T26" fmla="*/ 0 w 181"/>
                <a:gd name="T27" fmla="*/ 1 h 120"/>
                <a:gd name="T28" fmla="*/ 0 w 181"/>
                <a:gd name="T29" fmla="*/ 1 h 120"/>
                <a:gd name="T30" fmla="*/ 0 w 181"/>
                <a:gd name="T31" fmla="*/ 1 h 120"/>
                <a:gd name="T32" fmla="*/ 0 w 181"/>
                <a:gd name="T33" fmla="*/ 1 h 120"/>
                <a:gd name="T34" fmla="*/ 0 w 181"/>
                <a:gd name="T35" fmla="*/ 1 h 120"/>
                <a:gd name="T36" fmla="*/ 0 w 181"/>
                <a:gd name="T37" fmla="*/ 1 h 120"/>
                <a:gd name="T38" fmla="*/ 0 w 181"/>
                <a:gd name="T39" fmla="*/ 1 h 120"/>
                <a:gd name="T40" fmla="*/ 0 w 181"/>
                <a:gd name="T41" fmla="*/ 1 h 120"/>
                <a:gd name="T42" fmla="*/ 0 w 181"/>
                <a:gd name="T43" fmla="*/ 1 h 120"/>
                <a:gd name="T44" fmla="*/ 0 w 181"/>
                <a:gd name="T45" fmla="*/ 1 h 120"/>
                <a:gd name="T46" fmla="*/ 0 w 181"/>
                <a:gd name="T47" fmla="*/ 1 h 120"/>
                <a:gd name="T48" fmla="*/ 0 w 181"/>
                <a:gd name="T49" fmla="*/ 1 h 120"/>
                <a:gd name="T50" fmla="*/ 0 w 181"/>
                <a:gd name="T51" fmla="*/ 1 h 120"/>
                <a:gd name="T52" fmla="*/ 0 w 181"/>
                <a:gd name="T53" fmla="*/ 1 h 120"/>
                <a:gd name="T54" fmla="*/ 0 w 181"/>
                <a:gd name="T55" fmla="*/ 1 h 120"/>
                <a:gd name="T56" fmla="*/ 0 w 181"/>
                <a:gd name="T57" fmla="*/ 1 h 120"/>
                <a:gd name="T58" fmla="*/ 0 w 181"/>
                <a:gd name="T59" fmla="*/ 1 h 120"/>
                <a:gd name="T60" fmla="*/ 0 w 181"/>
                <a:gd name="T61" fmla="*/ 1 h 120"/>
                <a:gd name="T62" fmla="*/ 0 w 181"/>
                <a:gd name="T63" fmla="*/ 1 h 120"/>
                <a:gd name="T64" fmla="*/ 0 w 181"/>
                <a:gd name="T65" fmla="*/ 1 h 120"/>
                <a:gd name="T66" fmla="*/ 0 w 181"/>
                <a:gd name="T67" fmla="*/ 1 h 120"/>
                <a:gd name="T68" fmla="*/ 0 w 181"/>
                <a:gd name="T69" fmla="*/ 1 h 120"/>
                <a:gd name="T70" fmla="*/ 0 w 181"/>
                <a:gd name="T71" fmla="*/ 1 h 120"/>
                <a:gd name="T72" fmla="*/ 0 w 181"/>
                <a:gd name="T73" fmla="*/ 1 h 120"/>
                <a:gd name="T74" fmla="*/ 0 w 181"/>
                <a:gd name="T75" fmla="*/ 1 h 120"/>
                <a:gd name="T76" fmla="*/ 0 w 181"/>
                <a:gd name="T77" fmla="*/ 1 h 120"/>
                <a:gd name="T78" fmla="*/ 0 w 181"/>
                <a:gd name="T79" fmla="*/ 1 h 120"/>
                <a:gd name="T80" fmla="*/ 0 w 181"/>
                <a:gd name="T81" fmla="*/ 0 h 120"/>
                <a:gd name="T82" fmla="*/ 0 w 181"/>
                <a:gd name="T83" fmla="*/ 0 h 12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81"/>
                <a:gd name="T127" fmla="*/ 0 h 120"/>
                <a:gd name="T128" fmla="*/ 181 w 181"/>
                <a:gd name="T129" fmla="*/ 120 h 12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81" h="120">
                  <a:moveTo>
                    <a:pt x="152" y="0"/>
                  </a:moveTo>
                  <a:lnTo>
                    <a:pt x="164" y="4"/>
                  </a:lnTo>
                  <a:lnTo>
                    <a:pt x="171" y="10"/>
                  </a:lnTo>
                  <a:lnTo>
                    <a:pt x="177" y="13"/>
                  </a:lnTo>
                  <a:lnTo>
                    <a:pt x="181" y="19"/>
                  </a:lnTo>
                  <a:lnTo>
                    <a:pt x="177" y="29"/>
                  </a:lnTo>
                  <a:lnTo>
                    <a:pt x="168" y="38"/>
                  </a:lnTo>
                  <a:lnTo>
                    <a:pt x="162" y="42"/>
                  </a:lnTo>
                  <a:lnTo>
                    <a:pt x="154" y="46"/>
                  </a:lnTo>
                  <a:lnTo>
                    <a:pt x="147" y="49"/>
                  </a:lnTo>
                  <a:lnTo>
                    <a:pt x="139" y="55"/>
                  </a:lnTo>
                  <a:lnTo>
                    <a:pt x="130" y="59"/>
                  </a:lnTo>
                  <a:lnTo>
                    <a:pt x="122" y="63"/>
                  </a:lnTo>
                  <a:lnTo>
                    <a:pt x="112" y="67"/>
                  </a:lnTo>
                  <a:lnTo>
                    <a:pt x="105" y="72"/>
                  </a:lnTo>
                  <a:lnTo>
                    <a:pt x="95" y="76"/>
                  </a:lnTo>
                  <a:lnTo>
                    <a:pt x="86" y="80"/>
                  </a:lnTo>
                  <a:lnTo>
                    <a:pt x="78" y="86"/>
                  </a:lnTo>
                  <a:lnTo>
                    <a:pt x="71" y="91"/>
                  </a:lnTo>
                  <a:lnTo>
                    <a:pt x="57" y="99"/>
                  </a:lnTo>
                  <a:lnTo>
                    <a:pt x="48" y="110"/>
                  </a:lnTo>
                  <a:lnTo>
                    <a:pt x="38" y="118"/>
                  </a:lnTo>
                  <a:lnTo>
                    <a:pt x="25" y="120"/>
                  </a:lnTo>
                  <a:lnTo>
                    <a:pt x="10" y="118"/>
                  </a:lnTo>
                  <a:lnTo>
                    <a:pt x="0" y="110"/>
                  </a:lnTo>
                  <a:lnTo>
                    <a:pt x="8" y="103"/>
                  </a:lnTo>
                  <a:lnTo>
                    <a:pt x="19" y="95"/>
                  </a:lnTo>
                  <a:lnTo>
                    <a:pt x="31" y="87"/>
                  </a:lnTo>
                  <a:lnTo>
                    <a:pt x="42" y="82"/>
                  </a:lnTo>
                  <a:lnTo>
                    <a:pt x="52" y="74"/>
                  </a:lnTo>
                  <a:lnTo>
                    <a:pt x="65" y="68"/>
                  </a:lnTo>
                  <a:lnTo>
                    <a:pt x="74" y="63"/>
                  </a:lnTo>
                  <a:lnTo>
                    <a:pt x="88" y="59"/>
                  </a:lnTo>
                  <a:lnTo>
                    <a:pt x="97" y="51"/>
                  </a:lnTo>
                  <a:lnTo>
                    <a:pt x="107" y="46"/>
                  </a:lnTo>
                  <a:lnTo>
                    <a:pt x="116" y="38"/>
                  </a:lnTo>
                  <a:lnTo>
                    <a:pt x="128" y="32"/>
                  </a:lnTo>
                  <a:lnTo>
                    <a:pt x="133" y="25"/>
                  </a:lnTo>
                  <a:lnTo>
                    <a:pt x="141" y="17"/>
                  </a:lnTo>
                  <a:lnTo>
                    <a:pt x="147" y="8"/>
                  </a:lnTo>
                  <a:lnTo>
                    <a:pt x="15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26" name="Freeform 38"/>
            <p:cNvSpPr>
              <a:spLocks/>
            </p:cNvSpPr>
            <p:nvPr/>
          </p:nvSpPr>
          <p:spPr bwMode="auto">
            <a:xfrm>
              <a:off x="4514" y="2526"/>
              <a:ext cx="19" cy="24"/>
            </a:xfrm>
            <a:custGeom>
              <a:avLst/>
              <a:gdLst>
                <a:gd name="T0" fmla="*/ 1 w 38"/>
                <a:gd name="T1" fmla="*/ 0 h 48"/>
                <a:gd name="T2" fmla="*/ 1 w 38"/>
                <a:gd name="T3" fmla="*/ 0 h 48"/>
                <a:gd name="T4" fmla="*/ 1 w 38"/>
                <a:gd name="T5" fmla="*/ 0 h 48"/>
                <a:gd name="T6" fmla="*/ 1 w 38"/>
                <a:gd name="T7" fmla="*/ 1 h 48"/>
                <a:gd name="T8" fmla="*/ 1 w 38"/>
                <a:gd name="T9" fmla="*/ 1 h 48"/>
                <a:gd name="T10" fmla="*/ 1 w 38"/>
                <a:gd name="T11" fmla="*/ 1 h 48"/>
                <a:gd name="T12" fmla="*/ 1 w 38"/>
                <a:gd name="T13" fmla="*/ 1 h 48"/>
                <a:gd name="T14" fmla="*/ 1 w 38"/>
                <a:gd name="T15" fmla="*/ 1 h 48"/>
                <a:gd name="T16" fmla="*/ 1 w 38"/>
                <a:gd name="T17" fmla="*/ 1 h 48"/>
                <a:gd name="T18" fmla="*/ 1 w 38"/>
                <a:gd name="T19" fmla="*/ 1 h 48"/>
                <a:gd name="T20" fmla="*/ 1 w 38"/>
                <a:gd name="T21" fmla="*/ 1 h 48"/>
                <a:gd name="T22" fmla="*/ 1 w 38"/>
                <a:gd name="T23" fmla="*/ 1 h 48"/>
                <a:gd name="T24" fmla="*/ 1 w 38"/>
                <a:gd name="T25" fmla="*/ 1 h 48"/>
                <a:gd name="T26" fmla="*/ 1 w 38"/>
                <a:gd name="T27" fmla="*/ 1 h 48"/>
                <a:gd name="T28" fmla="*/ 1 w 38"/>
                <a:gd name="T29" fmla="*/ 1 h 48"/>
                <a:gd name="T30" fmla="*/ 0 w 38"/>
                <a:gd name="T31" fmla="*/ 1 h 48"/>
                <a:gd name="T32" fmla="*/ 1 w 38"/>
                <a:gd name="T33" fmla="*/ 1 h 48"/>
                <a:gd name="T34" fmla="*/ 1 w 38"/>
                <a:gd name="T35" fmla="*/ 1 h 48"/>
                <a:gd name="T36" fmla="*/ 1 w 38"/>
                <a:gd name="T37" fmla="*/ 1 h 48"/>
                <a:gd name="T38" fmla="*/ 1 w 38"/>
                <a:gd name="T39" fmla="*/ 1 h 48"/>
                <a:gd name="T40" fmla="*/ 1 w 38"/>
                <a:gd name="T41" fmla="*/ 0 h 48"/>
                <a:gd name="T42" fmla="*/ 1 w 38"/>
                <a:gd name="T43" fmla="*/ 0 h 4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8"/>
                <a:gd name="T67" fmla="*/ 0 h 48"/>
                <a:gd name="T68" fmla="*/ 38 w 38"/>
                <a:gd name="T69" fmla="*/ 48 h 4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8" h="48">
                  <a:moveTo>
                    <a:pt x="25" y="0"/>
                  </a:moveTo>
                  <a:lnTo>
                    <a:pt x="27" y="0"/>
                  </a:lnTo>
                  <a:lnTo>
                    <a:pt x="33" y="0"/>
                  </a:lnTo>
                  <a:lnTo>
                    <a:pt x="27" y="8"/>
                  </a:lnTo>
                  <a:lnTo>
                    <a:pt x="25" y="19"/>
                  </a:lnTo>
                  <a:lnTo>
                    <a:pt x="25" y="23"/>
                  </a:lnTo>
                  <a:lnTo>
                    <a:pt x="27" y="27"/>
                  </a:lnTo>
                  <a:lnTo>
                    <a:pt x="31" y="29"/>
                  </a:lnTo>
                  <a:lnTo>
                    <a:pt x="38" y="29"/>
                  </a:lnTo>
                  <a:lnTo>
                    <a:pt x="31" y="36"/>
                  </a:lnTo>
                  <a:lnTo>
                    <a:pt x="23" y="42"/>
                  </a:lnTo>
                  <a:lnTo>
                    <a:pt x="17" y="44"/>
                  </a:lnTo>
                  <a:lnTo>
                    <a:pt x="14" y="48"/>
                  </a:lnTo>
                  <a:lnTo>
                    <a:pt x="6" y="46"/>
                  </a:lnTo>
                  <a:lnTo>
                    <a:pt x="2" y="42"/>
                  </a:lnTo>
                  <a:lnTo>
                    <a:pt x="0" y="32"/>
                  </a:lnTo>
                  <a:lnTo>
                    <a:pt x="4" y="21"/>
                  </a:lnTo>
                  <a:lnTo>
                    <a:pt x="6" y="13"/>
                  </a:lnTo>
                  <a:lnTo>
                    <a:pt x="12" y="10"/>
                  </a:lnTo>
                  <a:lnTo>
                    <a:pt x="17" y="4"/>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27" name="Freeform 39"/>
            <p:cNvSpPr>
              <a:spLocks/>
            </p:cNvSpPr>
            <p:nvPr/>
          </p:nvSpPr>
          <p:spPr bwMode="auto">
            <a:xfrm>
              <a:off x="4103" y="2544"/>
              <a:ext cx="93" cy="65"/>
            </a:xfrm>
            <a:custGeom>
              <a:avLst/>
              <a:gdLst>
                <a:gd name="T0" fmla="*/ 1 w 186"/>
                <a:gd name="T1" fmla="*/ 0 h 129"/>
                <a:gd name="T2" fmla="*/ 1 w 186"/>
                <a:gd name="T3" fmla="*/ 1 h 129"/>
                <a:gd name="T4" fmla="*/ 1 w 186"/>
                <a:gd name="T5" fmla="*/ 1 h 129"/>
                <a:gd name="T6" fmla="*/ 1 w 186"/>
                <a:gd name="T7" fmla="*/ 1 h 129"/>
                <a:gd name="T8" fmla="*/ 1 w 186"/>
                <a:gd name="T9" fmla="*/ 1 h 129"/>
                <a:gd name="T10" fmla="*/ 1 w 186"/>
                <a:gd name="T11" fmla="*/ 1 h 129"/>
                <a:gd name="T12" fmla="*/ 1 w 186"/>
                <a:gd name="T13" fmla="*/ 1 h 129"/>
                <a:gd name="T14" fmla="*/ 1 w 186"/>
                <a:gd name="T15" fmla="*/ 1 h 129"/>
                <a:gd name="T16" fmla="*/ 1 w 186"/>
                <a:gd name="T17" fmla="*/ 1 h 129"/>
                <a:gd name="T18" fmla="*/ 1 w 186"/>
                <a:gd name="T19" fmla="*/ 1 h 129"/>
                <a:gd name="T20" fmla="*/ 1 w 186"/>
                <a:gd name="T21" fmla="*/ 1 h 129"/>
                <a:gd name="T22" fmla="*/ 1 w 186"/>
                <a:gd name="T23" fmla="*/ 1 h 129"/>
                <a:gd name="T24" fmla="*/ 1 w 186"/>
                <a:gd name="T25" fmla="*/ 1 h 129"/>
                <a:gd name="T26" fmla="*/ 1 w 186"/>
                <a:gd name="T27" fmla="*/ 1 h 129"/>
                <a:gd name="T28" fmla="*/ 1 w 186"/>
                <a:gd name="T29" fmla="*/ 1 h 129"/>
                <a:gd name="T30" fmla="*/ 1 w 186"/>
                <a:gd name="T31" fmla="*/ 1 h 129"/>
                <a:gd name="T32" fmla="*/ 1 w 186"/>
                <a:gd name="T33" fmla="*/ 1 h 129"/>
                <a:gd name="T34" fmla="*/ 1 w 186"/>
                <a:gd name="T35" fmla="*/ 1 h 129"/>
                <a:gd name="T36" fmla="*/ 1 w 186"/>
                <a:gd name="T37" fmla="*/ 1 h 129"/>
                <a:gd name="T38" fmla="*/ 1 w 186"/>
                <a:gd name="T39" fmla="*/ 1 h 129"/>
                <a:gd name="T40" fmla="*/ 1 w 186"/>
                <a:gd name="T41" fmla="*/ 1 h 129"/>
                <a:gd name="T42" fmla="*/ 1 w 186"/>
                <a:gd name="T43" fmla="*/ 1 h 129"/>
                <a:gd name="T44" fmla="*/ 1 w 186"/>
                <a:gd name="T45" fmla="*/ 1 h 129"/>
                <a:gd name="T46" fmla="*/ 1 w 186"/>
                <a:gd name="T47" fmla="*/ 1 h 129"/>
                <a:gd name="T48" fmla="*/ 1 w 186"/>
                <a:gd name="T49" fmla="*/ 1 h 129"/>
                <a:gd name="T50" fmla="*/ 1 w 186"/>
                <a:gd name="T51" fmla="*/ 1 h 129"/>
                <a:gd name="T52" fmla="*/ 1 w 186"/>
                <a:gd name="T53" fmla="*/ 1 h 129"/>
                <a:gd name="T54" fmla="*/ 1 w 186"/>
                <a:gd name="T55" fmla="*/ 1 h 129"/>
                <a:gd name="T56" fmla="*/ 0 w 186"/>
                <a:gd name="T57" fmla="*/ 1 h 129"/>
                <a:gd name="T58" fmla="*/ 1 w 186"/>
                <a:gd name="T59" fmla="*/ 1 h 129"/>
                <a:gd name="T60" fmla="*/ 1 w 186"/>
                <a:gd name="T61" fmla="*/ 1 h 129"/>
                <a:gd name="T62" fmla="*/ 1 w 186"/>
                <a:gd name="T63" fmla="*/ 1 h 129"/>
                <a:gd name="T64" fmla="*/ 1 w 186"/>
                <a:gd name="T65" fmla="*/ 1 h 129"/>
                <a:gd name="T66" fmla="*/ 1 w 186"/>
                <a:gd name="T67" fmla="*/ 1 h 129"/>
                <a:gd name="T68" fmla="*/ 1 w 186"/>
                <a:gd name="T69" fmla="*/ 1 h 129"/>
                <a:gd name="T70" fmla="*/ 1 w 186"/>
                <a:gd name="T71" fmla="*/ 1 h 129"/>
                <a:gd name="T72" fmla="*/ 1 w 186"/>
                <a:gd name="T73" fmla="*/ 1 h 129"/>
                <a:gd name="T74" fmla="*/ 1 w 186"/>
                <a:gd name="T75" fmla="*/ 1 h 129"/>
                <a:gd name="T76" fmla="*/ 1 w 186"/>
                <a:gd name="T77" fmla="*/ 1 h 129"/>
                <a:gd name="T78" fmla="*/ 1 w 186"/>
                <a:gd name="T79" fmla="*/ 1 h 129"/>
                <a:gd name="T80" fmla="*/ 1 w 186"/>
                <a:gd name="T81" fmla="*/ 1 h 129"/>
                <a:gd name="T82" fmla="*/ 1 w 186"/>
                <a:gd name="T83" fmla="*/ 1 h 129"/>
                <a:gd name="T84" fmla="*/ 1 w 186"/>
                <a:gd name="T85" fmla="*/ 1 h 129"/>
                <a:gd name="T86" fmla="*/ 1 w 186"/>
                <a:gd name="T87" fmla="*/ 1 h 129"/>
                <a:gd name="T88" fmla="*/ 1 w 186"/>
                <a:gd name="T89" fmla="*/ 0 h 129"/>
                <a:gd name="T90" fmla="*/ 1 w 186"/>
                <a:gd name="T91" fmla="*/ 0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86"/>
                <a:gd name="T139" fmla="*/ 0 h 129"/>
                <a:gd name="T140" fmla="*/ 186 w 186"/>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86" h="129">
                  <a:moveTo>
                    <a:pt x="160" y="0"/>
                  </a:moveTo>
                  <a:lnTo>
                    <a:pt x="165" y="2"/>
                  </a:lnTo>
                  <a:lnTo>
                    <a:pt x="171" y="6"/>
                  </a:lnTo>
                  <a:lnTo>
                    <a:pt x="175" y="10"/>
                  </a:lnTo>
                  <a:lnTo>
                    <a:pt x="181" y="13"/>
                  </a:lnTo>
                  <a:lnTo>
                    <a:pt x="184" y="19"/>
                  </a:lnTo>
                  <a:lnTo>
                    <a:pt x="186" y="27"/>
                  </a:lnTo>
                  <a:lnTo>
                    <a:pt x="182" y="32"/>
                  </a:lnTo>
                  <a:lnTo>
                    <a:pt x="179" y="38"/>
                  </a:lnTo>
                  <a:lnTo>
                    <a:pt x="171" y="46"/>
                  </a:lnTo>
                  <a:lnTo>
                    <a:pt x="162" y="51"/>
                  </a:lnTo>
                  <a:lnTo>
                    <a:pt x="154" y="55"/>
                  </a:lnTo>
                  <a:lnTo>
                    <a:pt x="146" y="59"/>
                  </a:lnTo>
                  <a:lnTo>
                    <a:pt x="139" y="61"/>
                  </a:lnTo>
                  <a:lnTo>
                    <a:pt x="131" y="65"/>
                  </a:lnTo>
                  <a:lnTo>
                    <a:pt x="124" y="69"/>
                  </a:lnTo>
                  <a:lnTo>
                    <a:pt x="116" y="72"/>
                  </a:lnTo>
                  <a:lnTo>
                    <a:pt x="108" y="76"/>
                  </a:lnTo>
                  <a:lnTo>
                    <a:pt x="99" y="82"/>
                  </a:lnTo>
                  <a:lnTo>
                    <a:pt x="91" y="86"/>
                  </a:lnTo>
                  <a:lnTo>
                    <a:pt x="84" y="89"/>
                  </a:lnTo>
                  <a:lnTo>
                    <a:pt x="76" y="93"/>
                  </a:lnTo>
                  <a:lnTo>
                    <a:pt x="70" y="99"/>
                  </a:lnTo>
                  <a:lnTo>
                    <a:pt x="59" y="109"/>
                  </a:lnTo>
                  <a:lnTo>
                    <a:pt x="51" y="120"/>
                  </a:lnTo>
                  <a:lnTo>
                    <a:pt x="38" y="124"/>
                  </a:lnTo>
                  <a:lnTo>
                    <a:pt x="25" y="129"/>
                  </a:lnTo>
                  <a:lnTo>
                    <a:pt x="11" y="129"/>
                  </a:lnTo>
                  <a:lnTo>
                    <a:pt x="0" y="126"/>
                  </a:lnTo>
                  <a:lnTo>
                    <a:pt x="8" y="114"/>
                  </a:lnTo>
                  <a:lnTo>
                    <a:pt x="15" y="105"/>
                  </a:lnTo>
                  <a:lnTo>
                    <a:pt x="25" y="95"/>
                  </a:lnTo>
                  <a:lnTo>
                    <a:pt x="34" y="88"/>
                  </a:lnTo>
                  <a:lnTo>
                    <a:pt x="44" y="78"/>
                  </a:lnTo>
                  <a:lnTo>
                    <a:pt x="53" y="70"/>
                  </a:lnTo>
                  <a:lnTo>
                    <a:pt x="65" y="63"/>
                  </a:lnTo>
                  <a:lnTo>
                    <a:pt x="76" y="57"/>
                  </a:lnTo>
                  <a:lnTo>
                    <a:pt x="85" y="50"/>
                  </a:lnTo>
                  <a:lnTo>
                    <a:pt x="97" y="42"/>
                  </a:lnTo>
                  <a:lnTo>
                    <a:pt x="108" y="36"/>
                  </a:lnTo>
                  <a:lnTo>
                    <a:pt x="118" y="29"/>
                  </a:lnTo>
                  <a:lnTo>
                    <a:pt x="127" y="21"/>
                  </a:lnTo>
                  <a:lnTo>
                    <a:pt x="139" y="13"/>
                  </a:lnTo>
                  <a:lnTo>
                    <a:pt x="148" y="6"/>
                  </a:lnTo>
                  <a:lnTo>
                    <a:pt x="16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28" name="Freeform 40"/>
            <p:cNvSpPr>
              <a:spLocks/>
            </p:cNvSpPr>
            <p:nvPr/>
          </p:nvSpPr>
          <p:spPr bwMode="auto">
            <a:xfrm>
              <a:off x="4139" y="2562"/>
              <a:ext cx="101" cy="70"/>
            </a:xfrm>
            <a:custGeom>
              <a:avLst/>
              <a:gdLst>
                <a:gd name="T0" fmla="*/ 1 w 202"/>
                <a:gd name="T1" fmla="*/ 0 h 139"/>
                <a:gd name="T2" fmla="*/ 1 w 202"/>
                <a:gd name="T3" fmla="*/ 0 h 139"/>
                <a:gd name="T4" fmla="*/ 1 w 202"/>
                <a:gd name="T5" fmla="*/ 1 h 139"/>
                <a:gd name="T6" fmla="*/ 1 w 202"/>
                <a:gd name="T7" fmla="*/ 1 h 139"/>
                <a:gd name="T8" fmla="*/ 1 w 202"/>
                <a:gd name="T9" fmla="*/ 1 h 139"/>
                <a:gd name="T10" fmla="*/ 1 w 202"/>
                <a:gd name="T11" fmla="*/ 1 h 139"/>
                <a:gd name="T12" fmla="*/ 1 w 202"/>
                <a:gd name="T13" fmla="*/ 1 h 139"/>
                <a:gd name="T14" fmla="*/ 1 w 202"/>
                <a:gd name="T15" fmla="*/ 1 h 139"/>
                <a:gd name="T16" fmla="*/ 1 w 202"/>
                <a:gd name="T17" fmla="*/ 1 h 139"/>
                <a:gd name="T18" fmla="*/ 1 w 202"/>
                <a:gd name="T19" fmla="*/ 1 h 139"/>
                <a:gd name="T20" fmla="*/ 1 w 202"/>
                <a:gd name="T21" fmla="*/ 1 h 139"/>
                <a:gd name="T22" fmla="*/ 1 w 202"/>
                <a:gd name="T23" fmla="*/ 1 h 139"/>
                <a:gd name="T24" fmla="*/ 1 w 202"/>
                <a:gd name="T25" fmla="*/ 1 h 139"/>
                <a:gd name="T26" fmla="*/ 1 w 202"/>
                <a:gd name="T27" fmla="*/ 1 h 139"/>
                <a:gd name="T28" fmla="*/ 1 w 202"/>
                <a:gd name="T29" fmla="*/ 1 h 139"/>
                <a:gd name="T30" fmla="*/ 1 w 202"/>
                <a:gd name="T31" fmla="*/ 1 h 139"/>
                <a:gd name="T32" fmla="*/ 1 w 202"/>
                <a:gd name="T33" fmla="*/ 1 h 139"/>
                <a:gd name="T34" fmla="*/ 1 w 202"/>
                <a:gd name="T35" fmla="*/ 1 h 139"/>
                <a:gd name="T36" fmla="*/ 1 w 202"/>
                <a:gd name="T37" fmla="*/ 1 h 139"/>
                <a:gd name="T38" fmla="*/ 1 w 202"/>
                <a:gd name="T39" fmla="*/ 1 h 139"/>
                <a:gd name="T40" fmla="*/ 1 w 202"/>
                <a:gd name="T41" fmla="*/ 1 h 139"/>
                <a:gd name="T42" fmla="*/ 1 w 202"/>
                <a:gd name="T43" fmla="*/ 1 h 139"/>
                <a:gd name="T44" fmla="*/ 1 w 202"/>
                <a:gd name="T45" fmla="*/ 1 h 139"/>
                <a:gd name="T46" fmla="*/ 1 w 202"/>
                <a:gd name="T47" fmla="*/ 1 h 139"/>
                <a:gd name="T48" fmla="*/ 1 w 202"/>
                <a:gd name="T49" fmla="*/ 1 h 139"/>
                <a:gd name="T50" fmla="*/ 1 w 202"/>
                <a:gd name="T51" fmla="*/ 1 h 139"/>
                <a:gd name="T52" fmla="*/ 1 w 202"/>
                <a:gd name="T53" fmla="*/ 1 h 139"/>
                <a:gd name="T54" fmla="*/ 1 w 202"/>
                <a:gd name="T55" fmla="*/ 1 h 139"/>
                <a:gd name="T56" fmla="*/ 1 w 202"/>
                <a:gd name="T57" fmla="*/ 1 h 139"/>
                <a:gd name="T58" fmla="*/ 1 w 202"/>
                <a:gd name="T59" fmla="*/ 1 h 139"/>
                <a:gd name="T60" fmla="*/ 0 w 202"/>
                <a:gd name="T61" fmla="*/ 1 h 139"/>
                <a:gd name="T62" fmla="*/ 1 w 202"/>
                <a:gd name="T63" fmla="*/ 1 h 139"/>
                <a:gd name="T64" fmla="*/ 1 w 202"/>
                <a:gd name="T65" fmla="*/ 1 h 139"/>
                <a:gd name="T66" fmla="*/ 1 w 202"/>
                <a:gd name="T67" fmla="*/ 1 h 139"/>
                <a:gd name="T68" fmla="*/ 1 w 202"/>
                <a:gd name="T69" fmla="*/ 1 h 139"/>
                <a:gd name="T70" fmla="*/ 1 w 202"/>
                <a:gd name="T71" fmla="*/ 1 h 139"/>
                <a:gd name="T72" fmla="*/ 1 w 202"/>
                <a:gd name="T73" fmla="*/ 1 h 139"/>
                <a:gd name="T74" fmla="*/ 1 w 202"/>
                <a:gd name="T75" fmla="*/ 1 h 139"/>
                <a:gd name="T76" fmla="*/ 1 w 202"/>
                <a:gd name="T77" fmla="*/ 1 h 139"/>
                <a:gd name="T78" fmla="*/ 1 w 202"/>
                <a:gd name="T79" fmla="*/ 1 h 139"/>
                <a:gd name="T80" fmla="*/ 1 w 202"/>
                <a:gd name="T81" fmla="*/ 1 h 139"/>
                <a:gd name="T82" fmla="*/ 1 w 202"/>
                <a:gd name="T83" fmla="*/ 1 h 139"/>
                <a:gd name="T84" fmla="*/ 1 w 202"/>
                <a:gd name="T85" fmla="*/ 1 h 139"/>
                <a:gd name="T86" fmla="*/ 1 w 202"/>
                <a:gd name="T87" fmla="*/ 1 h 139"/>
                <a:gd name="T88" fmla="*/ 1 w 202"/>
                <a:gd name="T89" fmla="*/ 1 h 139"/>
                <a:gd name="T90" fmla="*/ 1 w 202"/>
                <a:gd name="T91" fmla="*/ 1 h 139"/>
                <a:gd name="T92" fmla="*/ 1 w 202"/>
                <a:gd name="T93" fmla="*/ 1 h 139"/>
                <a:gd name="T94" fmla="*/ 1 w 202"/>
                <a:gd name="T95" fmla="*/ 1 h 139"/>
                <a:gd name="T96" fmla="*/ 1 w 202"/>
                <a:gd name="T97" fmla="*/ 1 h 139"/>
                <a:gd name="T98" fmla="*/ 1 w 202"/>
                <a:gd name="T99" fmla="*/ 1 h 139"/>
                <a:gd name="T100" fmla="*/ 1 w 202"/>
                <a:gd name="T101" fmla="*/ 0 h 139"/>
                <a:gd name="T102" fmla="*/ 1 w 202"/>
                <a:gd name="T103" fmla="*/ 0 h 13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02"/>
                <a:gd name="T157" fmla="*/ 0 h 139"/>
                <a:gd name="T158" fmla="*/ 202 w 202"/>
                <a:gd name="T159" fmla="*/ 139 h 13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02" h="139">
                  <a:moveTo>
                    <a:pt x="160" y="0"/>
                  </a:moveTo>
                  <a:lnTo>
                    <a:pt x="169" y="0"/>
                  </a:lnTo>
                  <a:lnTo>
                    <a:pt x="179" y="2"/>
                  </a:lnTo>
                  <a:lnTo>
                    <a:pt x="185" y="4"/>
                  </a:lnTo>
                  <a:lnTo>
                    <a:pt x="192" y="6"/>
                  </a:lnTo>
                  <a:lnTo>
                    <a:pt x="198" y="12"/>
                  </a:lnTo>
                  <a:lnTo>
                    <a:pt x="202" y="19"/>
                  </a:lnTo>
                  <a:lnTo>
                    <a:pt x="196" y="23"/>
                  </a:lnTo>
                  <a:lnTo>
                    <a:pt x="192" y="31"/>
                  </a:lnTo>
                  <a:lnTo>
                    <a:pt x="183" y="38"/>
                  </a:lnTo>
                  <a:lnTo>
                    <a:pt x="171" y="48"/>
                  </a:lnTo>
                  <a:lnTo>
                    <a:pt x="166" y="52"/>
                  </a:lnTo>
                  <a:lnTo>
                    <a:pt x="158" y="55"/>
                  </a:lnTo>
                  <a:lnTo>
                    <a:pt x="150" y="59"/>
                  </a:lnTo>
                  <a:lnTo>
                    <a:pt x="143" y="63"/>
                  </a:lnTo>
                  <a:lnTo>
                    <a:pt x="129" y="73"/>
                  </a:lnTo>
                  <a:lnTo>
                    <a:pt x="116" y="82"/>
                  </a:lnTo>
                  <a:lnTo>
                    <a:pt x="107" y="86"/>
                  </a:lnTo>
                  <a:lnTo>
                    <a:pt x="99" y="90"/>
                  </a:lnTo>
                  <a:lnTo>
                    <a:pt x="93" y="95"/>
                  </a:lnTo>
                  <a:lnTo>
                    <a:pt x="90" y="99"/>
                  </a:lnTo>
                  <a:lnTo>
                    <a:pt x="78" y="109"/>
                  </a:lnTo>
                  <a:lnTo>
                    <a:pt x="71" y="120"/>
                  </a:lnTo>
                  <a:lnTo>
                    <a:pt x="63" y="124"/>
                  </a:lnTo>
                  <a:lnTo>
                    <a:pt x="53" y="130"/>
                  </a:lnTo>
                  <a:lnTo>
                    <a:pt x="44" y="133"/>
                  </a:lnTo>
                  <a:lnTo>
                    <a:pt x="36" y="137"/>
                  </a:lnTo>
                  <a:lnTo>
                    <a:pt x="27" y="137"/>
                  </a:lnTo>
                  <a:lnTo>
                    <a:pt x="17" y="139"/>
                  </a:lnTo>
                  <a:lnTo>
                    <a:pt x="8" y="137"/>
                  </a:lnTo>
                  <a:lnTo>
                    <a:pt x="0" y="135"/>
                  </a:lnTo>
                  <a:lnTo>
                    <a:pt x="2" y="126"/>
                  </a:lnTo>
                  <a:lnTo>
                    <a:pt x="8" y="118"/>
                  </a:lnTo>
                  <a:lnTo>
                    <a:pt x="13" y="111"/>
                  </a:lnTo>
                  <a:lnTo>
                    <a:pt x="19" y="103"/>
                  </a:lnTo>
                  <a:lnTo>
                    <a:pt x="27" y="95"/>
                  </a:lnTo>
                  <a:lnTo>
                    <a:pt x="33" y="90"/>
                  </a:lnTo>
                  <a:lnTo>
                    <a:pt x="40" y="86"/>
                  </a:lnTo>
                  <a:lnTo>
                    <a:pt x="50" y="82"/>
                  </a:lnTo>
                  <a:lnTo>
                    <a:pt x="55" y="74"/>
                  </a:lnTo>
                  <a:lnTo>
                    <a:pt x="63" y="69"/>
                  </a:lnTo>
                  <a:lnTo>
                    <a:pt x="71" y="63"/>
                  </a:lnTo>
                  <a:lnTo>
                    <a:pt x="80" y="59"/>
                  </a:lnTo>
                  <a:lnTo>
                    <a:pt x="88" y="53"/>
                  </a:lnTo>
                  <a:lnTo>
                    <a:pt x="95" y="50"/>
                  </a:lnTo>
                  <a:lnTo>
                    <a:pt x="103" y="46"/>
                  </a:lnTo>
                  <a:lnTo>
                    <a:pt x="110" y="40"/>
                  </a:lnTo>
                  <a:lnTo>
                    <a:pt x="126" y="31"/>
                  </a:lnTo>
                  <a:lnTo>
                    <a:pt x="139" y="21"/>
                  </a:lnTo>
                  <a:lnTo>
                    <a:pt x="148" y="10"/>
                  </a:lnTo>
                  <a:lnTo>
                    <a:pt x="16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29" name="Freeform 41"/>
            <p:cNvSpPr>
              <a:spLocks/>
            </p:cNvSpPr>
            <p:nvPr/>
          </p:nvSpPr>
          <p:spPr bwMode="auto">
            <a:xfrm>
              <a:off x="4184" y="2576"/>
              <a:ext cx="91" cy="78"/>
            </a:xfrm>
            <a:custGeom>
              <a:avLst/>
              <a:gdLst>
                <a:gd name="T0" fmla="*/ 1 w 182"/>
                <a:gd name="T1" fmla="*/ 0 h 156"/>
                <a:gd name="T2" fmla="*/ 1 w 182"/>
                <a:gd name="T3" fmla="*/ 1 h 156"/>
                <a:gd name="T4" fmla="*/ 1 w 182"/>
                <a:gd name="T5" fmla="*/ 1 h 156"/>
                <a:gd name="T6" fmla="*/ 1 w 182"/>
                <a:gd name="T7" fmla="*/ 1 h 156"/>
                <a:gd name="T8" fmla="*/ 1 w 182"/>
                <a:gd name="T9" fmla="*/ 1 h 156"/>
                <a:gd name="T10" fmla="*/ 1 w 182"/>
                <a:gd name="T11" fmla="*/ 1 h 156"/>
                <a:gd name="T12" fmla="*/ 1 w 182"/>
                <a:gd name="T13" fmla="*/ 1 h 156"/>
                <a:gd name="T14" fmla="*/ 1 w 182"/>
                <a:gd name="T15" fmla="*/ 1 h 156"/>
                <a:gd name="T16" fmla="*/ 1 w 182"/>
                <a:gd name="T17" fmla="*/ 1 h 156"/>
                <a:gd name="T18" fmla="*/ 1 w 182"/>
                <a:gd name="T19" fmla="*/ 1 h 156"/>
                <a:gd name="T20" fmla="*/ 1 w 182"/>
                <a:gd name="T21" fmla="*/ 1 h 156"/>
                <a:gd name="T22" fmla="*/ 1 w 182"/>
                <a:gd name="T23" fmla="*/ 1 h 156"/>
                <a:gd name="T24" fmla="*/ 1 w 182"/>
                <a:gd name="T25" fmla="*/ 1 h 156"/>
                <a:gd name="T26" fmla="*/ 1 w 182"/>
                <a:gd name="T27" fmla="*/ 1 h 156"/>
                <a:gd name="T28" fmla="*/ 1 w 182"/>
                <a:gd name="T29" fmla="*/ 1 h 156"/>
                <a:gd name="T30" fmla="*/ 1 w 182"/>
                <a:gd name="T31" fmla="*/ 1 h 156"/>
                <a:gd name="T32" fmla="*/ 1 w 182"/>
                <a:gd name="T33" fmla="*/ 1 h 156"/>
                <a:gd name="T34" fmla="*/ 1 w 182"/>
                <a:gd name="T35" fmla="*/ 1 h 156"/>
                <a:gd name="T36" fmla="*/ 1 w 182"/>
                <a:gd name="T37" fmla="*/ 1 h 156"/>
                <a:gd name="T38" fmla="*/ 1 w 182"/>
                <a:gd name="T39" fmla="*/ 1 h 156"/>
                <a:gd name="T40" fmla="*/ 1 w 182"/>
                <a:gd name="T41" fmla="*/ 1 h 156"/>
                <a:gd name="T42" fmla="*/ 1 w 182"/>
                <a:gd name="T43" fmla="*/ 1 h 156"/>
                <a:gd name="T44" fmla="*/ 1 w 182"/>
                <a:gd name="T45" fmla="*/ 1 h 156"/>
                <a:gd name="T46" fmla="*/ 1 w 182"/>
                <a:gd name="T47" fmla="*/ 1 h 156"/>
                <a:gd name="T48" fmla="*/ 1 w 182"/>
                <a:gd name="T49" fmla="*/ 1 h 156"/>
                <a:gd name="T50" fmla="*/ 1 w 182"/>
                <a:gd name="T51" fmla="*/ 1 h 156"/>
                <a:gd name="T52" fmla="*/ 1 w 182"/>
                <a:gd name="T53" fmla="*/ 1 h 156"/>
                <a:gd name="T54" fmla="*/ 1 w 182"/>
                <a:gd name="T55" fmla="*/ 1 h 156"/>
                <a:gd name="T56" fmla="*/ 1 w 182"/>
                <a:gd name="T57" fmla="*/ 1 h 156"/>
                <a:gd name="T58" fmla="*/ 1 w 182"/>
                <a:gd name="T59" fmla="*/ 1 h 156"/>
                <a:gd name="T60" fmla="*/ 0 w 182"/>
                <a:gd name="T61" fmla="*/ 1 h 156"/>
                <a:gd name="T62" fmla="*/ 1 w 182"/>
                <a:gd name="T63" fmla="*/ 1 h 156"/>
                <a:gd name="T64" fmla="*/ 1 w 182"/>
                <a:gd name="T65" fmla="*/ 1 h 156"/>
                <a:gd name="T66" fmla="*/ 1 w 182"/>
                <a:gd name="T67" fmla="*/ 1 h 156"/>
                <a:gd name="T68" fmla="*/ 1 w 182"/>
                <a:gd name="T69" fmla="*/ 1 h 156"/>
                <a:gd name="T70" fmla="*/ 1 w 182"/>
                <a:gd name="T71" fmla="*/ 1 h 156"/>
                <a:gd name="T72" fmla="*/ 1 w 182"/>
                <a:gd name="T73" fmla="*/ 1 h 156"/>
                <a:gd name="T74" fmla="*/ 1 w 182"/>
                <a:gd name="T75" fmla="*/ 1 h 156"/>
                <a:gd name="T76" fmla="*/ 1 w 182"/>
                <a:gd name="T77" fmla="*/ 1 h 156"/>
                <a:gd name="T78" fmla="*/ 1 w 182"/>
                <a:gd name="T79" fmla="*/ 1 h 156"/>
                <a:gd name="T80" fmla="*/ 1 w 182"/>
                <a:gd name="T81" fmla="*/ 1 h 156"/>
                <a:gd name="T82" fmla="*/ 1 w 182"/>
                <a:gd name="T83" fmla="*/ 1 h 156"/>
                <a:gd name="T84" fmla="*/ 1 w 182"/>
                <a:gd name="T85" fmla="*/ 1 h 156"/>
                <a:gd name="T86" fmla="*/ 1 w 182"/>
                <a:gd name="T87" fmla="*/ 1 h 156"/>
                <a:gd name="T88" fmla="*/ 1 w 182"/>
                <a:gd name="T89" fmla="*/ 1 h 156"/>
                <a:gd name="T90" fmla="*/ 1 w 182"/>
                <a:gd name="T91" fmla="*/ 1 h 156"/>
                <a:gd name="T92" fmla="*/ 1 w 182"/>
                <a:gd name="T93" fmla="*/ 1 h 156"/>
                <a:gd name="T94" fmla="*/ 1 w 182"/>
                <a:gd name="T95" fmla="*/ 1 h 156"/>
                <a:gd name="T96" fmla="*/ 1 w 182"/>
                <a:gd name="T97" fmla="*/ 1 h 156"/>
                <a:gd name="T98" fmla="*/ 1 w 182"/>
                <a:gd name="T99" fmla="*/ 1 h 156"/>
                <a:gd name="T100" fmla="*/ 1 w 182"/>
                <a:gd name="T101" fmla="*/ 0 h 156"/>
                <a:gd name="T102" fmla="*/ 1 w 182"/>
                <a:gd name="T103" fmla="*/ 0 h 15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2"/>
                <a:gd name="T157" fmla="*/ 0 h 156"/>
                <a:gd name="T158" fmla="*/ 182 w 182"/>
                <a:gd name="T159" fmla="*/ 156 h 15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2" h="156">
                  <a:moveTo>
                    <a:pt x="140" y="0"/>
                  </a:moveTo>
                  <a:lnTo>
                    <a:pt x="148" y="2"/>
                  </a:lnTo>
                  <a:lnTo>
                    <a:pt x="155" y="4"/>
                  </a:lnTo>
                  <a:lnTo>
                    <a:pt x="161" y="5"/>
                  </a:lnTo>
                  <a:lnTo>
                    <a:pt x="169" y="9"/>
                  </a:lnTo>
                  <a:lnTo>
                    <a:pt x="176" y="15"/>
                  </a:lnTo>
                  <a:lnTo>
                    <a:pt x="182" y="23"/>
                  </a:lnTo>
                  <a:lnTo>
                    <a:pt x="182" y="30"/>
                  </a:lnTo>
                  <a:lnTo>
                    <a:pt x="178" y="38"/>
                  </a:lnTo>
                  <a:lnTo>
                    <a:pt x="173" y="45"/>
                  </a:lnTo>
                  <a:lnTo>
                    <a:pt x="167" y="55"/>
                  </a:lnTo>
                  <a:lnTo>
                    <a:pt x="159" y="61"/>
                  </a:lnTo>
                  <a:lnTo>
                    <a:pt x="152" y="66"/>
                  </a:lnTo>
                  <a:lnTo>
                    <a:pt x="142" y="72"/>
                  </a:lnTo>
                  <a:lnTo>
                    <a:pt x="133" y="80"/>
                  </a:lnTo>
                  <a:lnTo>
                    <a:pt x="121" y="83"/>
                  </a:lnTo>
                  <a:lnTo>
                    <a:pt x="112" y="91"/>
                  </a:lnTo>
                  <a:lnTo>
                    <a:pt x="102" y="97"/>
                  </a:lnTo>
                  <a:lnTo>
                    <a:pt x="93" y="104"/>
                  </a:lnTo>
                  <a:lnTo>
                    <a:pt x="81" y="110"/>
                  </a:lnTo>
                  <a:lnTo>
                    <a:pt x="72" y="116"/>
                  </a:lnTo>
                  <a:lnTo>
                    <a:pt x="62" y="123"/>
                  </a:lnTo>
                  <a:lnTo>
                    <a:pt x="53" y="129"/>
                  </a:lnTo>
                  <a:lnTo>
                    <a:pt x="43" y="135"/>
                  </a:lnTo>
                  <a:lnTo>
                    <a:pt x="38" y="142"/>
                  </a:lnTo>
                  <a:lnTo>
                    <a:pt x="30" y="148"/>
                  </a:lnTo>
                  <a:lnTo>
                    <a:pt x="26" y="156"/>
                  </a:lnTo>
                  <a:lnTo>
                    <a:pt x="20" y="150"/>
                  </a:lnTo>
                  <a:lnTo>
                    <a:pt x="15" y="148"/>
                  </a:lnTo>
                  <a:lnTo>
                    <a:pt x="7" y="146"/>
                  </a:lnTo>
                  <a:lnTo>
                    <a:pt x="0" y="146"/>
                  </a:lnTo>
                  <a:lnTo>
                    <a:pt x="1" y="137"/>
                  </a:lnTo>
                  <a:lnTo>
                    <a:pt x="7" y="129"/>
                  </a:lnTo>
                  <a:lnTo>
                    <a:pt x="11" y="120"/>
                  </a:lnTo>
                  <a:lnTo>
                    <a:pt x="19" y="114"/>
                  </a:lnTo>
                  <a:lnTo>
                    <a:pt x="26" y="106"/>
                  </a:lnTo>
                  <a:lnTo>
                    <a:pt x="34" y="102"/>
                  </a:lnTo>
                  <a:lnTo>
                    <a:pt x="43" y="95"/>
                  </a:lnTo>
                  <a:lnTo>
                    <a:pt x="53" y="91"/>
                  </a:lnTo>
                  <a:lnTo>
                    <a:pt x="60" y="83"/>
                  </a:lnTo>
                  <a:lnTo>
                    <a:pt x="70" y="80"/>
                  </a:lnTo>
                  <a:lnTo>
                    <a:pt x="79" y="74"/>
                  </a:lnTo>
                  <a:lnTo>
                    <a:pt x="89" y="70"/>
                  </a:lnTo>
                  <a:lnTo>
                    <a:pt x="97" y="64"/>
                  </a:lnTo>
                  <a:lnTo>
                    <a:pt x="106" y="59"/>
                  </a:lnTo>
                  <a:lnTo>
                    <a:pt x="114" y="53"/>
                  </a:lnTo>
                  <a:lnTo>
                    <a:pt x="121" y="47"/>
                  </a:lnTo>
                  <a:lnTo>
                    <a:pt x="129" y="36"/>
                  </a:lnTo>
                  <a:lnTo>
                    <a:pt x="136" y="24"/>
                  </a:lnTo>
                  <a:lnTo>
                    <a:pt x="140" y="11"/>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30" name="Freeform 42"/>
            <p:cNvSpPr>
              <a:spLocks/>
            </p:cNvSpPr>
            <p:nvPr/>
          </p:nvSpPr>
          <p:spPr bwMode="auto">
            <a:xfrm>
              <a:off x="3901" y="2622"/>
              <a:ext cx="26" cy="24"/>
            </a:xfrm>
            <a:custGeom>
              <a:avLst/>
              <a:gdLst>
                <a:gd name="T0" fmla="*/ 0 w 51"/>
                <a:gd name="T1" fmla="*/ 0 h 48"/>
                <a:gd name="T2" fmla="*/ 1 w 51"/>
                <a:gd name="T3" fmla="*/ 1 h 48"/>
                <a:gd name="T4" fmla="*/ 1 w 51"/>
                <a:gd name="T5" fmla="*/ 1 h 48"/>
                <a:gd name="T6" fmla="*/ 1 w 51"/>
                <a:gd name="T7" fmla="*/ 1 h 48"/>
                <a:gd name="T8" fmla="*/ 1 w 51"/>
                <a:gd name="T9" fmla="*/ 1 h 48"/>
                <a:gd name="T10" fmla="*/ 1 w 51"/>
                <a:gd name="T11" fmla="*/ 1 h 48"/>
                <a:gd name="T12" fmla="*/ 1 w 51"/>
                <a:gd name="T13" fmla="*/ 1 h 48"/>
                <a:gd name="T14" fmla="*/ 1 w 51"/>
                <a:gd name="T15" fmla="*/ 1 h 48"/>
                <a:gd name="T16" fmla="*/ 1 w 51"/>
                <a:gd name="T17" fmla="*/ 1 h 48"/>
                <a:gd name="T18" fmla="*/ 1 w 51"/>
                <a:gd name="T19" fmla="*/ 1 h 48"/>
                <a:gd name="T20" fmla="*/ 1 w 51"/>
                <a:gd name="T21" fmla="*/ 1 h 48"/>
                <a:gd name="T22" fmla="*/ 0 w 51"/>
                <a:gd name="T23" fmla="*/ 1 h 48"/>
                <a:gd name="T24" fmla="*/ 0 w 51"/>
                <a:gd name="T25" fmla="*/ 0 h 48"/>
                <a:gd name="T26" fmla="*/ 0 w 51"/>
                <a:gd name="T27" fmla="*/ 0 h 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1"/>
                <a:gd name="T43" fmla="*/ 0 h 48"/>
                <a:gd name="T44" fmla="*/ 51 w 51"/>
                <a:gd name="T45" fmla="*/ 48 h 4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1" h="48">
                  <a:moveTo>
                    <a:pt x="0" y="0"/>
                  </a:moveTo>
                  <a:lnTo>
                    <a:pt x="7" y="2"/>
                  </a:lnTo>
                  <a:lnTo>
                    <a:pt x="17" y="8"/>
                  </a:lnTo>
                  <a:lnTo>
                    <a:pt x="25" y="15"/>
                  </a:lnTo>
                  <a:lnTo>
                    <a:pt x="34" y="23"/>
                  </a:lnTo>
                  <a:lnTo>
                    <a:pt x="44" y="32"/>
                  </a:lnTo>
                  <a:lnTo>
                    <a:pt x="51" y="48"/>
                  </a:lnTo>
                  <a:lnTo>
                    <a:pt x="42" y="42"/>
                  </a:lnTo>
                  <a:lnTo>
                    <a:pt x="30" y="36"/>
                  </a:lnTo>
                  <a:lnTo>
                    <a:pt x="21" y="29"/>
                  </a:lnTo>
                  <a:lnTo>
                    <a:pt x="9" y="23"/>
                  </a:lnTo>
                  <a:lnTo>
                    <a:pt x="0" y="1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31" name="Freeform 43"/>
            <p:cNvSpPr>
              <a:spLocks/>
            </p:cNvSpPr>
            <p:nvPr/>
          </p:nvSpPr>
          <p:spPr bwMode="auto">
            <a:xfrm>
              <a:off x="3864" y="2622"/>
              <a:ext cx="808" cy="1065"/>
            </a:xfrm>
            <a:custGeom>
              <a:avLst/>
              <a:gdLst>
                <a:gd name="T0" fmla="*/ 7 w 1616"/>
                <a:gd name="T1" fmla="*/ 1 h 2129"/>
                <a:gd name="T2" fmla="*/ 7 w 1616"/>
                <a:gd name="T3" fmla="*/ 2 h 2129"/>
                <a:gd name="T4" fmla="*/ 7 w 1616"/>
                <a:gd name="T5" fmla="*/ 3 h 2129"/>
                <a:gd name="T6" fmla="*/ 7 w 1616"/>
                <a:gd name="T7" fmla="*/ 3 h 2129"/>
                <a:gd name="T8" fmla="*/ 7 w 1616"/>
                <a:gd name="T9" fmla="*/ 4 h 2129"/>
                <a:gd name="T10" fmla="*/ 7 w 1616"/>
                <a:gd name="T11" fmla="*/ 4 h 2129"/>
                <a:gd name="T12" fmla="*/ 7 w 1616"/>
                <a:gd name="T13" fmla="*/ 4 h 2129"/>
                <a:gd name="T14" fmla="*/ 6 w 1616"/>
                <a:gd name="T15" fmla="*/ 4 h 2129"/>
                <a:gd name="T16" fmla="*/ 6 w 1616"/>
                <a:gd name="T17" fmla="*/ 3 h 2129"/>
                <a:gd name="T18" fmla="*/ 6 w 1616"/>
                <a:gd name="T19" fmla="*/ 3 h 2129"/>
                <a:gd name="T20" fmla="*/ 6 w 1616"/>
                <a:gd name="T21" fmla="*/ 3 h 2129"/>
                <a:gd name="T22" fmla="*/ 5 w 1616"/>
                <a:gd name="T23" fmla="*/ 2 h 2129"/>
                <a:gd name="T24" fmla="*/ 5 w 1616"/>
                <a:gd name="T25" fmla="*/ 2 h 2129"/>
                <a:gd name="T26" fmla="*/ 5 w 1616"/>
                <a:gd name="T27" fmla="*/ 2 h 2129"/>
                <a:gd name="T28" fmla="*/ 4 w 1616"/>
                <a:gd name="T29" fmla="*/ 3 h 2129"/>
                <a:gd name="T30" fmla="*/ 3 w 1616"/>
                <a:gd name="T31" fmla="*/ 3 h 2129"/>
                <a:gd name="T32" fmla="*/ 3 w 1616"/>
                <a:gd name="T33" fmla="*/ 4 h 2129"/>
                <a:gd name="T34" fmla="*/ 3 w 1616"/>
                <a:gd name="T35" fmla="*/ 5 h 2129"/>
                <a:gd name="T36" fmla="*/ 3 w 1616"/>
                <a:gd name="T37" fmla="*/ 6 h 2129"/>
                <a:gd name="T38" fmla="*/ 3 w 1616"/>
                <a:gd name="T39" fmla="*/ 6 h 2129"/>
                <a:gd name="T40" fmla="*/ 3 w 1616"/>
                <a:gd name="T41" fmla="*/ 7 h 2129"/>
                <a:gd name="T42" fmla="*/ 3 w 1616"/>
                <a:gd name="T43" fmla="*/ 7 h 2129"/>
                <a:gd name="T44" fmla="*/ 2 w 1616"/>
                <a:gd name="T45" fmla="*/ 8 h 2129"/>
                <a:gd name="T46" fmla="*/ 2 w 1616"/>
                <a:gd name="T47" fmla="*/ 8 h 2129"/>
                <a:gd name="T48" fmla="*/ 1 w 1616"/>
                <a:gd name="T49" fmla="*/ 8 h 2129"/>
                <a:gd name="T50" fmla="*/ 1 w 1616"/>
                <a:gd name="T51" fmla="*/ 9 h 2129"/>
                <a:gd name="T52" fmla="*/ 1 w 1616"/>
                <a:gd name="T53" fmla="*/ 9 h 2129"/>
                <a:gd name="T54" fmla="*/ 1 w 1616"/>
                <a:gd name="T55" fmla="*/ 9 h 2129"/>
                <a:gd name="T56" fmla="*/ 1 w 1616"/>
                <a:gd name="T57" fmla="*/ 8 h 2129"/>
                <a:gd name="T58" fmla="*/ 1 w 1616"/>
                <a:gd name="T59" fmla="*/ 8 h 2129"/>
                <a:gd name="T60" fmla="*/ 1 w 1616"/>
                <a:gd name="T61" fmla="*/ 7 h 2129"/>
                <a:gd name="T62" fmla="*/ 1 w 1616"/>
                <a:gd name="T63" fmla="*/ 7 h 2129"/>
                <a:gd name="T64" fmla="*/ 1 w 1616"/>
                <a:gd name="T65" fmla="*/ 6 h 2129"/>
                <a:gd name="T66" fmla="*/ 1 w 1616"/>
                <a:gd name="T67" fmla="*/ 5 h 2129"/>
                <a:gd name="T68" fmla="*/ 1 w 1616"/>
                <a:gd name="T69" fmla="*/ 4 h 2129"/>
                <a:gd name="T70" fmla="*/ 1 w 1616"/>
                <a:gd name="T71" fmla="*/ 4 h 2129"/>
                <a:gd name="T72" fmla="*/ 2 w 1616"/>
                <a:gd name="T73" fmla="*/ 4 h 2129"/>
                <a:gd name="T74" fmla="*/ 2 w 1616"/>
                <a:gd name="T75" fmla="*/ 4 h 2129"/>
                <a:gd name="T76" fmla="*/ 3 w 1616"/>
                <a:gd name="T77" fmla="*/ 3 h 2129"/>
                <a:gd name="T78" fmla="*/ 3 w 1616"/>
                <a:gd name="T79" fmla="*/ 3 h 2129"/>
                <a:gd name="T80" fmla="*/ 4 w 1616"/>
                <a:gd name="T81" fmla="*/ 2 h 2129"/>
                <a:gd name="T82" fmla="*/ 4 w 1616"/>
                <a:gd name="T83" fmla="*/ 2 h 2129"/>
                <a:gd name="T84" fmla="*/ 5 w 1616"/>
                <a:gd name="T85" fmla="*/ 2 h 2129"/>
                <a:gd name="T86" fmla="*/ 5 w 1616"/>
                <a:gd name="T87" fmla="*/ 1 h 2129"/>
                <a:gd name="T88" fmla="*/ 6 w 1616"/>
                <a:gd name="T89" fmla="*/ 1 h 2129"/>
                <a:gd name="T90" fmla="*/ 6 w 1616"/>
                <a:gd name="T91" fmla="*/ 1 h 2129"/>
                <a:gd name="T92" fmla="*/ 6 w 1616"/>
                <a:gd name="T93" fmla="*/ 1 h 2129"/>
                <a:gd name="T94" fmla="*/ 6 w 1616"/>
                <a:gd name="T95" fmla="*/ 1 h 2129"/>
                <a:gd name="T96" fmla="*/ 6 w 1616"/>
                <a:gd name="T97" fmla="*/ 1 h 2129"/>
                <a:gd name="T98" fmla="*/ 6 w 1616"/>
                <a:gd name="T99" fmla="*/ 1 h 2129"/>
                <a:gd name="T100" fmla="*/ 6 w 1616"/>
                <a:gd name="T101" fmla="*/ 1 h 2129"/>
                <a:gd name="T102" fmla="*/ 6 w 1616"/>
                <a:gd name="T103" fmla="*/ 1 h 2129"/>
                <a:gd name="T104" fmla="*/ 6 w 1616"/>
                <a:gd name="T105" fmla="*/ 1 h 2129"/>
                <a:gd name="T106" fmla="*/ 6 w 1616"/>
                <a:gd name="T107" fmla="*/ 1 h 2129"/>
                <a:gd name="T108" fmla="*/ 6 w 1616"/>
                <a:gd name="T109" fmla="*/ 1 h 2129"/>
                <a:gd name="T110" fmla="*/ 6 w 1616"/>
                <a:gd name="T111" fmla="*/ 1 h 2129"/>
                <a:gd name="T112" fmla="*/ 7 w 1616"/>
                <a:gd name="T113" fmla="*/ 1 h 212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616"/>
                <a:gd name="T172" fmla="*/ 0 h 2129"/>
                <a:gd name="T173" fmla="*/ 1616 w 1616"/>
                <a:gd name="T174" fmla="*/ 2129 h 212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616" h="2129">
                  <a:moveTo>
                    <a:pt x="1564" y="0"/>
                  </a:moveTo>
                  <a:lnTo>
                    <a:pt x="1572" y="46"/>
                  </a:lnTo>
                  <a:lnTo>
                    <a:pt x="1580" y="95"/>
                  </a:lnTo>
                  <a:lnTo>
                    <a:pt x="1584" y="143"/>
                  </a:lnTo>
                  <a:lnTo>
                    <a:pt x="1589" y="192"/>
                  </a:lnTo>
                  <a:lnTo>
                    <a:pt x="1591" y="240"/>
                  </a:lnTo>
                  <a:lnTo>
                    <a:pt x="1593" y="289"/>
                  </a:lnTo>
                  <a:lnTo>
                    <a:pt x="1595" y="338"/>
                  </a:lnTo>
                  <a:lnTo>
                    <a:pt x="1597" y="390"/>
                  </a:lnTo>
                  <a:lnTo>
                    <a:pt x="1597" y="437"/>
                  </a:lnTo>
                  <a:lnTo>
                    <a:pt x="1597" y="489"/>
                  </a:lnTo>
                  <a:lnTo>
                    <a:pt x="1597" y="538"/>
                  </a:lnTo>
                  <a:lnTo>
                    <a:pt x="1601" y="589"/>
                  </a:lnTo>
                  <a:lnTo>
                    <a:pt x="1601" y="637"/>
                  </a:lnTo>
                  <a:lnTo>
                    <a:pt x="1604" y="686"/>
                  </a:lnTo>
                  <a:lnTo>
                    <a:pt x="1608" y="736"/>
                  </a:lnTo>
                  <a:lnTo>
                    <a:pt x="1616" y="787"/>
                  </a:lnTo>
                  <a:lnTo>
                    <a:pt x="1616" y="795"/>
                  </a:lnTo>
                  <a:lnTo>
                    <a:pt x="1616" y="804"/>
                  </a:lnTo>
                  <a:lnTo>
                    <a:pt x="1614" y="812"/>
                  </a:lnTo>
                  <a:lnTo>
                    <a:pt x="1612" y="821"/>
                  </a:lnTo>
                  <a:lnTo>
                    <a:pt x="1610" y="829"/>
                  </a:lnTo>
                  <a:lnTo>
                    <a:pt x="1608" y="837"/>
                  </a:lnTo>
                  <a:lnTo>
                    <a:pt x="1608" y="844"/>
                  </a:lnTo>
                  <a:lnTo>
                    <a:pt x="1610" y="856"/>
                  </a:lnTo>
                  <a:lnTo>
                    <a:pt x="1589" y="848"/>
                  </a:lnTo>
                  <a:lnTo>
                    <a:pt x="1568" y="840"/>
                  </a:lnTo>
                  <a:lnTo>
                    <a:pt x="1547" y="831"/>
                  </a:lnTo>
                  <a:lnTo>
                    <a:pt x="1528" y="821"/>
                  </a:lnTo>
                  <a:lnTo>
                    <a:pt x="1507" y="810"/>
                  </a:lnTo>
                  <a:lnTo>
                    <a:pt x="1488" y="799"/>
                  </a:lnTo>
                  <a:lnTo>
                    <a:pt x="1468" y="783"/>
                  </a:lnTo>
                  <a:lnTo>
                    <a:pt x="1450" y="770"/>
                  </a:lnTo>
                  <a:lnTo>
                    <a:pt x="1430" y="753"/>
                  </a:lnTo>
                  <a:lnTo>
                    <a:pt x="1412" y="738"/>
                  </a:lnTo>
                  <a:lnTo>
                    <a:pt x="1393" y="722"/>
                  </a:lnTo>
                  <a:lnTo>
                    <a:pt x="1378" y="705"/>
                  </a:lnTo>
                  <a:lnTo>
                    <a:pt x="1361" y="688"/>
                  </a:lnTo>
                  <a:lnTo>
                    <a:pt x="1348" y="671"/>
                  </a:lnTo>
                  <a:lnTo>
                    <a:pt x="1334" y="654"/>
                  </a:lnTo>
                  <a:lnTo>
                    <a:pt x="1323" y="637"/>
                  </a:lnTo>
                  <a:lnTo>
                    <a:pt x="1323" y="612"/>
                  </a:lnTo>
                  <a:lnTo>
                    <a:pt x="1321" y="589"/>
                  </a:lnTo>
                  <a:lnTo>
                    <a:pt x="1315" y="568"/>
                  </a:lnTo>
                  <a:lnTo>
                    <a:pt x="1310" y="549"/>
                  </a:lnTo>
                  <a:lnTo>
                    <a:pt x="1298" y="530"/>
                  </a:lnTo>
                  <a:lnTo>
                    <a:pt x="1287" y="515"/>
                  </a:lnTo>
                  <a:lnTo>
                    <a:pt x="1272" y="502"/>
                  </a:lnTo>
                  <a:lnTo>
                    <a:pt x="1258" y="491"/>
                  </a:lnTo>
                  <a:lnTo>
                    <a:pt x="1239" y="481"/>
                  </a:lnTo>
                  <a:lnTo>
                    <a:pt x="1220" y="473"/>
                  </a:lnTo>
                  <a:lnTo>
                    <a:pt x="1199" y="468"/>
                  </a:lnTo>
                  <a:lnTo>
                    <a:pt x="1180" y="468"/>
                  </a:lnTo>
                  <a:lnTo>
                    <a:pt x="1160" y="468"/>
                  </a:lnTo>
                  <a:lnTo>
                    <a:pt x="1139" y="473"/>
                  </a:lnTo>
                  <a:lnTo>
                    <a:pt x="1120" y="481"/>
                  </a:lnTo>
                  <a:lnTo>
                    <a:pt x="1099" y="491"/>
                  </a:lnTo>
                  <a:lnTo>
                    <a:pt x="1036" y="498"/>
                  </a:lnTo>
                  <a:lnTo>
                    <a:pt x="975" y="513"/>
                  </a:lnTo>
                  <a:lnTo>
                    <a:pt x="916" y="534"/>
                  </a:lnTo>
                  <a:lnTo>
                    <a:pt x="863" y="565"/>
                  </a:lnTo>
                  <a:lnTo>
                    <a:pt x="812" y="597"/>
                  </a:lnTo>
                  <a:lnTo>
                    <a:pt x="762" y="637"/>
                  </a:lnTo>
                  <a:lnTo>
                    <a:pt x="718" y="683"/>
                  </a:lnTo>
                  <a:lnTo>
                    <a:pt x="680" y="732"/>
                  </a:lnTo>
                  <a:lnTo>
                    <a:pt x="644" y="781"/>
                  </a:lnTo>
                  <a:lnTo>
                    <a:pt x="616" y="837"/>
                  </a:lnTo>
                  <a:lnTo>
                    <a:pt x="591" y="894"/>
                  </a:lnTo>
                  <a:lnTo>
                    <a:pt x="572" y="954"/>
                  </a:lnTo>
                  <a:lnTo>
                    <a:pt x="559" y="1013"/>
                  </a:lnTo>
                  <a:lnTo>
                    <a:pt x="553" y="1078"/>
                  </a:lnTo>
                  <a:lnTo>
                    <a:pt x="553" y="1143"/>
                  </a:lnTo>
                  <a:lnTo>
                    <a:pt x="562" y="1207"/>
                  </a:lnTo>
                  <a:lnTo>
                    <a:pt x="559" y="1241"/>
                  </a:lnTo>
                  <a:lnTo>
                    <a:pt x="561" y="1276"/>
                  </a:lnTo>
                  <a:lnTo>
                    <a:pt x="561" y="1310"/>
                  </a:lnTo>
                  <a:lnTo>
                    <a:pt x="562" y="1346"/>
                  </a:lnTo>
                  <a:lnTo>
                    <a:pt x="566" y="1380"/>
                  </a:lnTo>
                  <a:lnTo>
                    <a:pt x="570" y="1414"/>
                  </a:lnTo>
                  <a:lnTo>
                    <a:pt x="574" y="1449"/>
                  </a:lnTo>
                  <a:lnTo>
                    <a:pt x="578" y="1485"/>
                  </a:lnTo>
                  <a:lnTo>
                    <a:pt x="580" y="1517"/>
                  </a:lnTo>
                  <a:lnTo>
                    <a:pt x="582" y="1551"/>
                  </a:lnTo>
                  <a:lnTo>
                    <a:pt x="583" y="1584"/>
                  </a:lnTo>
                  <a:lnTo>
                    <a:pt x="585" y="1618"/>
                  </a:lnTo>
                  <a:lnTo>
                    <a:pt x="582" y="1650"/>
                  </a:lnTo>
                  <a:lnTo>
                    <a:pt x="580" y="1681"/>
                  </a:lnTo>
                  <a:lnTo>
                    <a:pt x="574" y="1713"/>
                  </a:lnTo>
                  <a:lnTo>
                    <a:pt x="568" y="1747"/>
                  </a:lnTo>
                  <a:lnTo>
                    <a:pt x="536" y="1768"/>
                  </a:lnTo>
                  <a:lnTo>
                    <a:pt x="505" y="1791"/>
                  </a:lnTo>
                  <a:lnTo>
                    <a:pt x="473" y="1812"/>
                  </a:lnTo>
                  <a:lnTo>
                    <a:pt x="443" y="1835"/>
                  </a:lnTo>
                  <a:lnTo>
                    <a:pt x="408" y="1856"/>
                  </a:lnTo>
                  <a:lnTo>
                    <a:pt x="376" y="1880"/>
                  </a:lnTo>
                  <a:lnTo>
                    <a:pt x="344" y="1903"/>
                  </a:lnTo>
                  <a:lnTo>
                    <a:pt x="312" y="1928"/>
                  </a:lnTo>
                  <a:lnTo>
                    <a:pt x="281" y="1951"/>
                  </a:lnTo>
                  <a:lnTo>
                    <a:pt x="249" y="1973"/>
                  </a:lnTo>
                  <a:lnTo>
                    <a:pt x="216" y="1998"/>
                  </a:lnTo>
                  <a:lnTo>
                    <a:pt x="188" y="2023"/>
                  </a:lnTo>
                  <a:lnTo>
                    <a:pt x="158" y="2048"/>
                  </a:lnTo>
                  <a:lnTo>
                    <a:pt x="131" y="2074"/>
                  </a:lnTo>
                  <a:lnTo>
                    <a:pt x="102" y="2103"/>
                  </a:lnTo>
                  <a:lnTo>
                    <a:pt x="80" y="2129"/>
                  </a:lnTo>
                  <a:lnTo>
                    <a:pt x="68" y="2120"/>
                  </a:lnTo>
                  <a:lnTo>
                    <a:pt x="62" y="2110"/>
                  </a:lnTo>
                  <a:lnTo>
                    <a:pt x="57" y="2101"/>
                  </a:lnTo>
                  <a:lnTo>
                    <a:pt x="53" y="2091"/>
                  </a:lnTo>
                  <a:lnTo>
                    <a:pt x="49" y="2080"/>
                  </a:lnTo>
                  <a:lnTo>
                    <a:pt x="49" y="2070"/>
                  </a:lnTo>
                  <a:lnTo>
                    <a:pt x="49" y="2059"/>
                  </a:lnTo>
                  <a:lnTo>
                    <a:pt x="49" y="2049"/>
                  </a:lnTo>
                  <a:lnTo>
                    <a:pt x="49" y="2038"/>
                  </a:lnTo>
                  <a:lnTo>
                    <a:pt x="49" y="2027"/>
                  </a:lnTo>
                  <a:lnTo>
                    <a:pt x="49" y="2013"/>
                  </a:lnTo>
                  <a:lnTo>
                    <a:pt x="49" y="2002"/>
                  </a:lnTo>
                  <a:lnTo>
                    <a:pt x="45" y="1991"/>
                  </a:lnTo>
                  <a:lnTo>
                    <a:pt x="43" y="1977"/>
                  </a:lnTo>
                  <a:lnTo>
                    <a:pt x="40" y="1966"/>
                  </a:lnTo>
                  <a:lnTo>
                    <a:pt x="34" y="1954"/>
                  </a:lnTo>
                  <a:lnTo>
                    <a:pt x="32" y="1897"/>
                  </a:lnTo>
                  <a:lnTo>
                    <a:pt x="28" y="1838"/>
                  </a:lnTo>
                  <a:lnTo>
                    <a:pt x="24" y="1780"/>
                  </a:lnTo>
                  <a:lnTo>
                    <a:pt x="23" y="1722"/>
                  </a:lnTo>
                  <a:lnTo>
                    <a:pt x="17" y="1664"/>
                  </a:lnTo>
                  <a:lnTo>
                    <a:pt x="15" y="1607"/>
                  </a:lnTo>
                  <a:lnTo>
                    <a:pt x="13" y="1548"/>
                  </a:lnTo>
                  <a:lnTo>
                    <a:pt x="9" y="1491"/>
                  </a:lnTo>
                  <a:lnTo>
                    <a:pt x="5" y="1432"/>
                  </a:lnTo>
                  <a:lnTo>
                    <a:pt x="4" y="1375"/>
                  </a:lnTo>
                  <a:lnTo>
                    <a:pt x="2" y="1316"/>
                  </a:lnTo>
                  <a:lnTo>
                    <a:pt x="2" y="1260"/>
                  </a:lnTo>
                  <a:lnTo>
                    <a:pt x="0" y="1202"/>
                  </a:lnTo>
                  <a:lnTo>
                    <a:pt x="2" y="1145"/>
                  </a:lnTo>
                  <a:lnTo>
                    <a:pt x="5" y="1089"/>
                  </a:lnTo>
                  <a:lnTo>
                    <a:pt x="9" y="1034"/>
                  </a:lnTo>
                  <a:lnTo>
                    <a:pt x="32" y="1013"/>
                  </a:lnTo>
                  <a:lnTo>
                    <a:pt x="57" y="996"/>
                  </a:lnTo>
                  <a:lnTo>
                    <a:pt x="80" y="977"/>
                  </a:lnTo>
                  <a:lnTo>
                    <a:pt x="106" y="960"/>
                  </a:lnTo>
                  <a:lnTo>
                    <a:pt x="131" y="943"/>
                  </a:lnTo>
                  <a:lnTo>
                    <a:pt x="156" y="928"/>
                  </a:lnTo>
                  <a:lnTo>
                    <a:pt x="182" y="911"/>
                  </a:lnTo>
                  <a:lnTo>
                    <a:pt x="209" y="897"/>
                  </a:lnTo>
                  <a:lnTo>
                    <a:pt x="232" y="880"/>
                  </a:lnTo>
                  <a:lnTo>
                    <a:pt x="258" y="865"/>
                  </a:lnTo>
                  <a:lnTo>
                    <a:pt x="283" y="848"/>
                  </a:lnTo>
                  <a:lnTo>
                    <a:pt x="310" y="833"/>
                  </a:lnTo>
                  <a:lnTo>
                    <a:pt x="334" y="816"/>
                  </a:lnTo>
                  <a:lnTo>
                    <a:pt x="361" y="799"/>
                  </a:lnTo>
                  <a:lnTo>
                    <a:pt x="386" y="781"/>
                  </a:lnTo>
                  <a:lnTo>
                    <a:pt x="412" y="764"/>
                  </a:lnTo>
                  <a:lnTo>
                    <a:pt x="450" y="740"/>
                  </a:lnTo>
                  <a:lnTo>
                    <a:pt x="486" y="715"/>
                  </a:lnTo>
                  <a:lnTo>
                    <a:pt x="524" y="690"/>
                  </a:lnTo>
                  <a:lnTo>
                    <a:pt x="562" y="664"/>
                  </a:lnTo>
                  <a:lnTo>
                    <a:pt x="601" y="637"/>
                  </a:lnTo>
                  <a:lnTo>
                    <a:pt x="639" y="612"/>
                  </a:lnTo>
                  <a:lnTo>
                    <a:pt x="677" y="586"/>
                  </a:lnTo>
                  <a:lnTo>
                    <a:pt x="715" y="561"/>
                  </a:lnTo>
                  <a:lnTo>
                    <a:pt x="751" y="534"/>
                  </a:lnTo>
                  <a:lnTo>
                    <a:pt x="791" y="508"/>
                  </a:lnTo>
                  <a:lnTo>
                    <a:pt x="827" y="483"/>
                  </a:lnTo>
                  <a:lnTo>
                    <a:pt x="865" y="458"/>
                  </a:lnTo>
                  <a:lnTo>
                    <a:pt x="903" y="435"/>
                  </a:lnTo>
                  <a:lnTo>
                    <a:pt x="941" y="414"/>
                  </a:lnTo>
                  <a:lnTo>
                    <a:pt x="979" y="392"/>
                  </a:lnTo>
                  <a:lnTo>
                    <a:pt x="1017" y="373"/>
                  </a:lnTo>
                  <a:lnTo>
                    <a:pt x="1040" y="350"/>
                  </a:lnTo>
                  <a:lnTo>
                    <a:pt x="1066" y="329"/>
                  </a:lnTo>
                  <a:lnTo>
                    <a:pt x="1089" y="310"/>
                  </a:lnTo>
                  <a:lnTo>
                    <a:pt x="1118" y="293"/>
                  </a:lnTo>
                  <a:lnTo>
                    <a:pt x="1142" y="274"/>
                  </a:lnTo>
                  <a:lnTo>
                    <a:pt x="1169" y="257"/>
                  </a:lnTo>
                  <a:lnTo>
                    <a:pt x="1198" y="241"/>
                  </a:lnTo>
                  <a:lnTo>
                    <a:pt x="1226" y="226"/>
                  </a:lnTo>
                  <a:lnTo>
                    <a:pt x="1253" y="207"/>
                  </a:lnTo>
                  <a:lnTo>
                    <a:pt x="1281" y="192"/>
                  </a:lnTo>
                  <a:lnTo>
                    <a:pt x="1308" y="177"/>
                  </a:lnTo>
                  <a:lnTo>
                    <a:pt x="1334" y="160"/>
                  </a:lnTo>
                  <a:lnTo>
                    <a:pt x="1361" y="143"/>
                  </a:lnTo>
                  <a:lnTo>
                    <a:pt x="1388" y="126"/>
                  </a:lnTo>
                  <a:lnTo>
                    <a:pt x="1414" y="107"/>
                  </a:lnTo>
                  <a:lnTo>
                    <a:pt x="1441" y="87"/>
                  </a:lnTo>
                  <a:lnTo>
                    <a:pt x="1441" y="95"/>
                  </a:lnTo>
                  <a:lnTo>
                    <a:pt x="1441" y="101"/>
                  </a:lnTo>
                  <a:lnTo>
                    <a:pt x="1437" y="108"/>
                  </a:lnTo>
                  <a:lnTo>
                    <a:pt x="1433" y="118"/>
                  </a:lnTo>
                  <a:lnTo>
                    <a:pt x="1426" y="124"/>
                  </a:lnTo>
                  <a:lnTo>
                    <a:pt x="1418" y="131"/>
                  </a:lnTo>
                  <a:lnTo>
                    <a:pt x="1410" y="141"/>
                  </a:lnTo>
                  <a:lnTo>
                    <a:pt x="1401" y="148"/>
                  </a:lnTo>
                  <a:lnTo>
                    <a:pt x="1391" y="154"/>
                  </a:lnTo>
                  <a:lnTo>
                    <a:pt x="1382" y="160"/>
                  </a:lnTo>
                  <a:lnTo>
                    <a:pt x="1371" y="167"/>
                  </a:lnTo>
                  <a:lnTo>
                    <a:pt x="1363" y="173"/>
                  </a:lnTo>
                  <a:lnTo>
                    <a:pt x="1353" y="179"/>
                  </a:lnTo>
                  <a:lnTo>
                    <a:pt x="1346" y="184"/>
                  </a:lnTo>
                  <a:lnTo>
                    <a:pt x="1338" y="190"/>
                  </a:lnTo>
                  <a:lnTo>
                    <a:pt x="1336" y="194"/>
                  </a:lnTo>
                  <a:lnTo>
                    <a:pt x="1334" y="200"/>
                  </a:lnTo>
                  <a:lnTo>
                    <a:pt x="1338" y="202"/>
                  </a:lnTo>
                  <a:lnTo>
                    <a:pt x="1344" y="202"/>
                  </a:lnTo>
                  <a:lnTo>
                    <a:pt x="1355" y="202"/>
                  </a:lnTo>
                  <a:lnTo>
                    <a:pt x="1361" y="200"/>
                  </a:lnTo>
                  <a:lnTo>
                    <a:pt x="1367" y="200"/>
                  </a:lnTo>
                  <a:lnTo>
                    <a:pt x="1374" y="198"/>
                  </a:lnTo>
                  <a:lnTo>
                    <a:pt x="1384" y="198"/>
                  </a:lnTo>
                  <a:lnTo>
                    <a:pt x="1397" y="192"/>
                  </a:lnTo>
                  <a:lnTo>
                    <a:pt x="1410" y="184"/>
                  </a:lnTo>
                  <a:lnTo>
                    <a:pt x="1424" y="179"/>
                  </a:lnTo>
                  <a:lnTo>
                    <a:pt x="1437" y="173"/>
                  </a:lnTo>
                  <a:lnTo>
                    <a:pt x="1450" y="165"/>
                  </a:lnTo>
                  <a:lnTo>
                    <a:pt x="1462" y="158"/>
                  </a:lnTo>
                  <a:lnTo>
                    <a:pt x="1473" y="150"/>
                  </a:lnTo>
                  <a:lnTo>
                    <a:pt x="1483" y="143"/>
                  </a:lnTo>
                  <a:lnTo>
                    <a:pt x="1490" y="131"/>
                  </a:lnTo>
                  <a:lnTo>
                    <a:pt x="1500" y="122"/>
                  </a:lnTo>
                  <a:lnTo>
                    <a:pt x="1506" y="110"/>
                  </a:lnTo>
                  <a:lnTo>
                    <a:pt x="1511" y="99"/>
                  </a:lnTo>
                  <a:lnTo>
                    <a:pt x="1513" y="84"/>
                  </a:lnTo>
                  <a:lnTo>
                    <a:pt x="1517" y="70"/>
                  </a:lnTo>
                  <a:lnTo>
                    <a:pt x="1517" y="55"/>
                  </a:lnTo>
                  <a:lnTo>
                    <a:pt x="1519" y="38"/>
                  </a:lnTo>
                  <a:lnTo>
                    <a:pt x="1528" y="27"/>
                  </a:lnTo>
                  <a:lnTo>
                    <a:pt x="1540" y="17"/>
                  </a:lnTo>
                  <a:lnTo>
                    <a:pt x="1551" y="8"/>
                  </a:lnTo>
                  <a:lnTo>
                    <a:pt x="1564" y="0"/>
                  </a:lnTo>
                  <a:close/>
                </a:path>
              </a:pathLst>
            </a:custGeom>
            <a:solidFill>
              <a:srgbClr val="FFE6B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32" name="Freeform 44"/>
            <p:cNvSpPr>
              <a:spLocks/>
            </p:cNvSpPr>
            <p:nvPr/>
          </p:nvSpPr>
          <p:spPr bwMode="auto">
            <a:xfrm>
              <a:off x="3419" y="2625"/>
              <a:ext cx="46" cy="36"/>
            </a:xfrm>
            <a:custGeom>
              <a:avLst/>
              <a:gdLst>
                <a:gd name="T0" fmla="*/ 1 w 91"/>
                <a:gd name="T1" fmla="*/ 0 h 72"/>
                <a:gd name="T2" fmla="*/ 1 w 91"/>
                <a:gd name="T3" fmla="*/ 1 h 72"/>
                <a:gd name="T4" fmla="*/ 1 w 91"/>
                <a:gd name="T5" fmla="*/ 1 h 72"/>
                <a:gd name="T6" fmla="*/ 1 w 91"/>
                <a:gd name="T7" fmla="*/ 1 h 72"/>
                <a:gd name="T8" fmla="*/ 1 w 91"/>
                <a:gd name="T9" fmla="*/ 1 h 72"/>
                <a:gd name="T10" fmla="*/ 1 w 91"/>
                <a:gd name="T11" fmla="*/ 1 h 72"/>
                <a:gd name="T12" fmla="*/ 1 w 91"/>
                <a:gd name="T13" fmla="*/ 1 h 72"/>
                <a:gd name="T14" fmla="*/ 1 w 91"/>
                <a:gd name="T15" fmla="*/ 1 h 72"/>
                <a:gd name="T16" fmla="*/ 1 w 91"/>
                <a:gd name="T17" fmla="*/ 1 h 72"/>
                <a:gd name="T18" fmla="*/ 1 w 91"/>
                <a:gd name="T19" fmla="*/ 1 h 72"/>
                <a:gd name="T20" fmla="*/ 1 w 91"/>
                <a:gd name="T21" fmla="*/ 1 h 72"/>
                <a:gd name="T22" fmla="*/ 1 w 91"/>
                <a:gd name="T23" fmla="*/ 1 h 72"/>
                <a:gd name="T24" fmla="*/ 1 w 91"/>
                <a:gd name="T25" fmla="*/ 1 h 72"/>
                <a:gd name="T26" fmla="*/ 1 w 91"/>
                <a:gd name="T27" fmla="*/ 1 h 72"/>
                <a:gd name="T28" fmla="*/ 1 w 91"/>
                <a:gd name="T29" fmla="*/ 1 h 72"/>
                <a:gd name="T30" fmla="*/ 1 w 91"/>
                <a:gd name="T31" fmla="*/ 1 h 72"/>
                <a:gd name="T32" fmla="*/ 1 w 91"/>
                <a:gd name="T33" fmla="*/ 1 h 72"/>
                <a:gd name="T34" fmla="*/ 1 w 91"/>
                <a:gd name="T35" fmla="*/ 1 h 72"/>
                <a:gd name="T36" fmla="*/ 1 w 91"/>
                <a:gd name="T37" fmla="*/ 1 h 72"/>
                <a:gd name="T38" fmla="*/ 1 w 91"/>
                <a:gd name="T39" fmla="*/ 1 h 72"/>
                <a:gd name="T40" fmla="*/ 1 w 91"/>
                <a:gd name="T41" fmla="*/ 1 h 72"/>
                <a:gd name="T42" fmla="*/ 1 w 91"/>
                <a:gd name="T43" fmla="*/ 1 h 72"/>
                <a:gd name="T44" fmla="*/ 1 w 91"/>
                <a:gd name="T45" fmla="*/ 1 h 72"/>
                <a:gd name="T46" fmla="*/ 0 w 91"/>
                <a:gd name="T47" fmla="*/ 1 h 72"/>
                <a:gd name="T48" fmla="*/ 1 w 91"/>
                <a:gd name="T49" fmla="*/ 0 h 72"/>
                <a:gd name="T50" fmla="*/ 1 w 91"/>
                <a:gd name="T51" fmla="*/ 0 h 7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91"/>
                <a:gd name="T79" fmla="*/ 0 h 72"/>
                <a:gd name="T80" fmla="*/ 91 w 91"/>
                <a:gd name="T81" fmla="*/ 72 h 7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91" h="72">
                  <a:moveTo>
                    <a:pt x="2" y="0"/>
                  </a:moveTo>
                  <a:lnTo>
                    <a:pt x="7" y="5"/>
                  </a:lnTo>
                  <a:lnTo>
                    <a:pt x="15" y="9"/>
                  </a:lnTo>
                  <a:lnTo>
                    <a:pt x="25" y="13"/>
                  </a:lnTo>
                  <a:lnTo>
                    <a:pt x="34" y="17"/>
                  </a:lnTo>
                  <a:lnTo>
                    <a:pt x="42" y="23"/>
                  </a:lnTo>
                  <a:lnTo>
                    <a:pt x="51" y="26"/>
                  </a:lnTo>
                  <a:lnTo>
                    <a:pt x="61" y="32"/>
                  </a:lnTo>
                  <a:lnTo>
                    <a:pt x="68" y="40"/>
                  </a:lnTo>
                  <a:lnTo>
                    <a:pt x="74" y="45"/>
                  </a:lnTo>
                  <a:lnTo>
                    <a:pt x="82" y="53"/>
                  </a:lnTo>
                  <a:lnTo>
                    <a:pt x="87" y="62"/>
                  </a:lnTo>
                  <a:lnTo>
                    <a:pt x="91" y="72"/>
                  </a:lnTo>
                  <a:lnTo>
                    <a:pt x="80" y="68"/>
                  </a:lnTo>
                  <a:lnTo>
                    <a:pt x="70" y="68"/>
                  </a:lnTo>
                  <a:lnTo>
                    <a:pt x="61" y="64"/>
                  </a:lnTo>
                  <a:lnTo>
                    <a:pt x="51" y="62"/>
                  </a:lnTo>
                  <a:lnTo>
                    <a:pt x="42" y="57"/>
                  </a:lnTo>
                  <a:lnTo>
                    <a:pt x="34" y="53"/>
                  </a:lnTo>
                  <a:lnTo>
                    <a:pt x="25" y="47"/>
                  </a:lnTo>
                  <a:lnTo>
                    <a:pt x="21" y="42"/>
                  </a:lnTo>
                  <a:lnTo>
                    <a:pt x="9" y="32"/>
                  </a:lnTo>
                  <a:lnTo>
                    <a:pt x="4" y="23"/>
                  </a:lnTo>
                  <a:lnTo>
                    <a:pt x="0" y="11"/>
                  </a:lnTo>
                  <a:lnTo>
                    <a:pt x="2" y="0"/>
                  </a:lnTo>
                  <a:close/>
                </a:path>
              </a:pathLst>
            </a:custGeom>
            <a:solidFill>
              <a:srgbClr val="E084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33" name="Freeform 45"/>
            <p:cNvSpPr>
              <a:spLocks/>
            </p:cNvSpPr>
            <p:nvPr/>
          </p:nvSpPr>
          <p:spPr bwMode="auto">
            <a:xfrm>
              <a:off x="4035" y="2654"/>
              <a:ext cx="43" cy="50"/>
            </a:xfrm>
            <a:custGeom>
              <a:avLst/>
              <a:gdLst>
                <a:gd name="T0" fmla="*/ 0 w 88"/>
                <a:gd name="T1" fmla="*/ 0 h 99"/>
                <a:gd name="T2" fmla="*/ 0 w 88"/>
                <a:gd name="T3" fmla="*/ 1 h 99"/>
                <a:gd name="T4" fmla="*/ 0 w 88"/>
                <a:gd name="T5" fmla="*/ 1 h 99"/>
                <a:gd name="T6" fmla="*/ 0 w 88"/>
                <a:gd name="T7" fmla="*/ 1 h 99"/>
                <a:gd name="T8" fmla="*/ 0 w 88"/>
                <a:gd name="T9" fmla="*/ 1 h 99"/>
                <a:gd name="T10" fmla="*/ 0 w 88"/>
                <a:gd name="T11" fmla="*/ 1 h 99"/>
                <a:gd name="T12" fmla="*/ 0 w 88"/>
                <a:gd name="T13" fmla="*/ 1 h 99"/>
                <a:gd name="T14" fmla="*/ 0 w 88"/>
                <a:gd name="T15" fmla="*/ 1 h 99"/>
                <a:gd name="T16" fmla="*/ 0 w 88"/>
                <a:gd name="T17" fmla="*/ 1 h 99"/>
                <a:gd name="T18" fmla="*/ 0 w 88"/>
                <a:gd name="T19" fmla="*/ 1 h 99"/>
                <a:gd name="T20" fmla="*/ 0 w 88"/>
                <a:gd name="T21" fmla="*/ 1 h 99"/>
                <a:gd name="T22" fmla="*/ 0 w 88"/>
                <a:gd name="T23" fmla="*/ 1 h 99"/>
                <a:gd name="T24" fmla="*/ 0 w 88"/>
                <a:gd name="T25" fmla="*/ 1 h 99"/>
                <a:gd name="T26" fmla="*/ 0 w 88"/>
                <a:gd name="T27" fmla="*/ 1 h 99"/>
                <a:gd name="T28" fmla="*/ 0 w 88"/>
                <a:gd name="T29" fmla="*/ 1 h 99"/>
                <a:gd name="T30" fmla="*/ 0 w 88"/>
                <a:gd name="T31" fmla="*/ 1 h 99"/>
                <a:gd name="T32" fmla="*/ 0 w 88"/>
                <a:gd name="T33" fmla="*/ 1 h 99"/>
                <a:gd name="T34" fmla="*/ 0 w 88"/>
                <a:gd name="T35" fmla="*/ 1 h 99"/>
                <a:gd name="T36" fmla="*/ 0 w 88"/>
                <a:gd name="T37" fmla="*/ 1 h 99"/>
                <a:gd name="T38" fmla="*/ 0 w 88"/>
                <a:gd name="T39" fmla="*/ 1 h 99"/>
                <a:gd name="T40" fmla="*/ 0 w 88"/>
                <a:gd name="T41" fmla="*/ 1 h 99"/>
                <a:gd name="T42" fmla="*/ 0 w 88"/>
                <a:gd name="T43" fmla="*/ 1 h 99"/>
                <a:gd name="T44" fmla="*/ 0 w 88"/>
                <a:gd name="T45" fmla="*/ 1 h 99"/>
                <a:gd name="T46" fmla="*/ 0 w 88"/>
                <a:gd name="T47" fmla="*/ 1 h 99"/>
                <a:gd name="T48" fmla="*/ 0 w 88"/>
                <a:gd name="T49" fmla="*/ 1 h 99"/>
                <a:gd name="T50" fmla="*/ 0 w 88"/>
                <a:gd name="T51" fmla="*/ 1 h 99"/>
                <a:gd name="T52" fmla="*/ 0 w 88"/>
                <a:gd name="T53" fmla="*/ 1 h 99"/>
                <a:gd name="T54" fmla="*/ 0 w 88"/>
                <a:gd name="T55" fmla="*/ 1 h 99"/>
                <a:gd name="T56" fmla="*/ 0 w 88"/>
                <a:gd name="T57" fmla="*/ 0 h 99"/>
                <a:gd name="T58" fmla="*/ 0 w 88"/>
                <a:gd name="T59" fmla="*/ 0 h 9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8"/>
                <a:gd name="T91" fmla="*/ 0 h 99"/>
                <a:gd name="T92" fmla="*/ 88 w 88"/>
                <a:gd name="T93" fmla="*/ 99 h 9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8" h="99">
                  <a:moveTo>
                    <a:pt x="46" y="0"/>
                  </a:moveTo>
                  <a:lnTo>
                    <a:pt x="57" y="2"/>
                  </a:lnTo>
                  <a:lnTo>
                    <a:pt x="67" y="3"/>
                  </a:lnTo>
                  <a:lnTo>
                    <a:pt x="72" y="9"/>
                  </a:lnTo>
                  <a:lnTo>
                    <a:pt x="80" y="13"/>
                  </a:lnTo>
                  <a:lnTo>
                    <a:pt x="86" y="22"/>
                  </a:lnTo>
                  <a:lnTo>
                    <a:pt x="88" y="36"/>
                  </a:lnTo>
                  <a:lnTo>
                    <a:pt x="86" y="43"/>
                  </a:lnTo>
                  <a:lnTo>
                    <a:pt x="80" y="53"/>
                  </a:lnTo>
                  <a:lnTo>
                    <a:pt x="72" y="62"/>
                  </a:lnTo>
                  <a:lnTo>
                    <a:pt x="65" y="74"/>
                  </a:lnTo>
                  <a:lnTo>
                    <a:pt x="53" y="80"/>
                  </a:lnTo>
                  <a:lnTo>
                    <a:pt x="44" y="87"/>
                  </a:lnTo>
                  <a:lnTo>
                    <a:pt x="30" y="93"/>
                  </a:lnTo>
                  <a:lnTo>
                    <a:pt x="23" y="99"/>
                  </a:lnTo>
                  <a:lnTo>
                    <a:pt x="13" y="97"/>
                  </a:lnTo>
                  <a:lnTo>
                    <a:pt x="8" y="97"/>
                  </a:lnTo>
                  <a:lnTo>
                    <a:pt x="4" y="93"/>
                  </a:lnTo>
                  <a:lnTo>
                    <a:pt x="0" y="89"/>
                  </a:lnTo>
                  <a:lnTo>
                    <a:pt x="0" y="80"/>
                  </a:lnTo>
                  <a:lnTo>
                    <a:pt x="2" y="72"/>
                  </a:lnTo>
                  <a:lnTo>
                    <a:pt x="8" y="61"/>
                  </a:lnTo>
                  <a:lnTo>
                    <a:pt x="17" y="49"/>
                  </a:lnTo>
                  <a:lnTo>
                    <a:pt x="21" y="42"/>
                  </a:lnTo>
                  <a:lnTo>
                    <a:pt x="27" y="36"/>
                  </a:lnTo>
                  <a:lnTo>
                    <a:pt x="29" y="26"/>
                  </a:lnTo>
                  <a:lnTo>
                    <a:pt x="32" y="21"/>
                  </a:lnTo>
                  <a:lnTo>
                    <a:pt x="40" y="9"/>
                  </a:lnTo>
                  <a:lnTo>
                    <a:pt x="46" y="0"/>
                  </a:lnTo>
                  <a:close/>
                </a:path>
              </a:pathLst>
            </a:custGeom>
            <a:solidFill>
              <a:srgbClr val="E6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34" name="Freeform 46"/>
            <p:cNvSpPr>
              <a:spLocks/>
            </p:cNvSpPr>
            <p:nvPr/>
          </p:nvSpPr>
          <p:spPr bwMode="auto">
            <a:xfrm>
              <a:off x="3532" y="2668"/>
              <a:ext cx="114" cy="50"/>
            </a:xfrm>
            <a:custGeom>
              <a:avLst/>
              <a:gdLst>
                <a:gd name="T0" fmla="*/ 1 w 228"/>
                <a:gd name="T1" fmla="*/ 0 h 101"/>
                <a:gd name="T2" fmla="*/ 1 w 228"/>
                <a:gd name="T3" fmla="*/ 0 h 101"/>
                <a:gd name="T4" fmla="*/ 1 w 228"/>
                <a:gd name="T5" fmla="*/ 0 h 101"/>
                <a:gd name="T6" fmla="*/ 1 w 228"/>
                <a:gd name="T7" fmla="*/ 0 h 101"/>
                <a:gd name="T8" fmla="*/ 1 w 228"/>
                <a:gd name="T9" fmla="*/ 0 h 101"/>
                <a:gd name="T10" fmla="*/ 1 w 228"/>
                <a:gd name="T11" fmla="*/ 0 h 101"/>
                <a:gd name="T12" fmla="*/ 1 w 228"/>
                <a:gd name="T13" fmla="*/ 0 h 101"/>
                <a:gd name="T14" fmla="*/ 1 w 228"/>
                <a:gd name="T15" fmla="*/ 0 h 101"/>
                <a:gd name="T16" fmla="*/ 1 w 228"/>
                <a:gd name="T17" fmla="*/ 0 h 101"/>
                <a:gd name="T18" fmla="*/ 1 w 228"/>
                <a:gd name="T19" fmla="*/ 0 h 101"/>
                <a:gd name="T20" fmla="*/ 1 w 228"/>
                <a:gd name="T21" fmla="*/ 0 h 101"/>
                <a:gd name="T22" fmla="*/ 1 w 228"/>
                <a:gd name="T23" fmla="*/ 0 h 101"/>
                <a:gd name="T24" fmla="*/ 1 w 228"/>
                <a:gd name="T25" fmla="*/ 0 h 101"/>
                <a:gd name="T26" fmla="*/ 1 w 228"/>
                <a:gd name="T27" fmla="*/ 0 h 101"/>
                <a:gd name="T28" fmla="*/ 1 w 228"/>
                <a:gd name="T29" fmla="*/ 0 h 101"/>
                <a:gd name="T30" fmla="*/ 1 w 228"/>
                <a:gd name="T31" fmla="*/ 0 h 101"/>
                <a:gd name="T32" fmla="*/ 1 w 228"/>
                <a:gd name="T33" fmla="*/ 0 h 101"/>
                <a:gd name="T34" fmla="*/ 1 w 228"/>
                <a:gd name="T35" fmla="*/ 0 h 101"/>
                <a:gd name="T36" fmla="*/ 1 w 228"/>
                <a:gd name="T37" fmla="*/ 0 h 101"/>
                <a:gd name="T38" fmla="*/ 1 w 228"/>
                <a:gd name="T39" fmla="*/ 0 h 101"/>
                <a:gd name="T40" fmla="*/ 1 w 228"/>
                <a:gd name="T41" fmla="*/ 0 h 101"/>
                <a:gd name="T42" fmla="*/ 1 w 228"/>
                <a:gd name="T43" fmla="*/ 0 h 101"/>
                <a:gd name="T44" fmla="*/ 1 w 228"/>
                <a:gd name="T45" fmla="*/ 0 h 101"/>
                <a:gd name="T46" fmla="*/ 1 w 228"/>
                <a:gd name="T47" fmla="*/ 0 h 101"/>
                <a:gd name="T48" fmla="*/ 1 w 228"/>
                <a:gd name="T49" fmla="*/ 0 h 101"/>
                <a:gd name="T50" fmla="*/ 1 w 228"/>
                <a:gd name="T51" fmla="*/ 0 h 101"/>
                <a:gd name="T52" fmla="*/ 1 w 228"/>
                <a:gd name="T53" fmla="*/ 0 h 101"/>
                <a:gd name="T54" fmla="*/ 1 w 228"/>
                <a:gd name="T55" fmla="*/ 0 h 101"/>
                <a:gd name="T56" fmla="*/ 1 w 228"/>
                <a:gd name="T57" fmla="*/ 0 h 101"/>
                <a:gd name="T58" fmla="*/ 1 w 228"/>
                <a:gd name="T59" fmla="*/ 0 h 101"/>
                <a:gd name="T60" fmla="*/ 0 w 228"/>
                <a:gd name="T61" fmla="*/ 0 h 101"/>
                <a:gd name="T62" fmla="*/ 1 w 228"/>
                <a:gd name="T63" fmla="*/ 0 h 101"/>
                <a:gd name="T64" fmla="*/ 1 w 228"/>
                <a:gd name="T65" fmla="*/ 0 h 101"/>
                <a:gd name="T66" fmla="*/ 1 w 228"/>
                <a:gd name="T67" fmla="*/ 0 h 101"/>
                <a:gd name="T68" fmla="*/ 1 w 228"/>
                <a:gd name="T69" fmla="*/ 0 h 101"/>
                <a:gd name="T70" fmla="*/ 1 w 228"/>
                <a:gd name="T71" fmla="*/ 0 h 101"/>
                <a:gd name="T72" fmla="*/ 1 w 228"/>
                <a:gd name="T73" fmla="*/ 0 h 101"/>
                <a:gd name="T74" fmla="*/ 1 w 228"/>
                <a:gd name="T75" fmla="*/ 0 h 101"/>
                <a:gd name="T76" fmla="*/ 1 w 228"/>
                <a:gd name="T77" fmla="*/ 0 h 101"/>
                <a:gd name="T78" fmla="*/ 1 w 228"/>
                <a:gd name="T79" fmla="*/ 0 h 101"/>
                <a:gd name="T80" fmla="*/ 1 w 228"/>
                <a:gd name="T81" fmla="*/ 0 h 101"/>
                <a:gd name="T82" fmla="*/ 1 w 228"/>
                <a:gd name="T83" fmla="*/ 0 h 101"/>
                <a:gd name="T84" fmla="*/ 1 w 228"/>
                <a:gd name="T85" fmla="*/ 0 h 101"/>
                <a:gd name="T86" fmla="*/ 1 w 228"/>
                <a:gd name="T87" fmla="*/ 0 h 101"/>
                <a:gd name="T88" fmla="*/ 1 w 228"/>
                <a:gd name="T89" fmla="*/ 0 h 101"/>
                <a:gd name="T90" fmla="*/ 1 w 228"/>
                <a:gd name="T91" fmla="*/ 0 h 101"/>
                <a:gd name="T92" fmla="*/ 1 w 228"/>
                <a:gd name="T93" fmla="*/ 0 h 101"/>
                <a:gd name="T94" fmla="*/ 1 w 228"/>
                <a:gd name="T95" fmla="*/ 0 h 101"/>
                <a:gd name="T96" fmla="*/ 1 w 228"/>
                <a:gd name="T97" fmla="*/ 0 h 101"/>
                <a:gd name="T98" fmla="*/ 1 w 228"/>
                <a:gd name="T99" fmla="*/ 0 h 10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28"/>
                <a:gd name="T151" fmla="*/ 0 h 101"/>
                <a:gd name="T152" fmla="*/ 228 w 228"/>
                <a:gd name="T153" fmla="*/ 101 h 10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28" h="101">
                  <a:moveTo>
                    <a:pt x="188" y="0"/>
                  </a:moveTo>
                  <a:lnTo>
                    <a:pt x="198" y="0"/>
                  </a:lnTo>
                  <a:lnTo>
                    <a:pt x="207" y="0"/>
                  </a:lnTo>
                  <a:lnTo>
                    <a:pt x="217" y="0"/>
                  </a:lnTo>
                  <a:lnTo>
                    <a:pt x="228" y="0"/>
                  </a:lnTo>
                  <a:lnTo>
                    <a:pt x="228" y="2"/>
                  </a:lnTo>
                  <a:lnTo>
                    <a:pt x="228" y="6"/>
                  </a:lnTo>
                  <a:lnTo>
                    <a:pt x="221" y="10"/>
                  </a:lnTo>
                  <a:lnTo>
                    <a:pt x="211" y="12"/>
                  </a:lnTo>
                  <a:lnTo>
                    <a:pt x="204" y="14"/>
                  </a:lnTo>
                  <a:lnTo>
                    <a:pt x="196" y="17"/>
                  </a:lnTo>
                  <a:lnTo>
                    <a:pt x="188" y="21"/>
                  </a:lnTo>
                  <a:lnTo>
                    <a:pt x="181" y="25"/>
                  </a:lnTo>
                  <a:lnTo>
                    <a:pt x="173" y="29"/>
                  </a:lnTo>
                  <a:lnTo>
                    <a:pt x="166" y="33"/>
                  </a:lnTo>
                  <a:lnTo>
                    <a:pt x="158" y="36"/>
                  </a:lnTo>
                  <a:lnTo>
                    <a:pt x="150" y="40"/>
                  </a:lnTo>
                  <a:lnTo>
                    <a:pt x="143" y="42"/>
                  </a:lnTo>
                  <a:lnTo>
                    <a:pt x="135" y="46"/>
                  </a:lnTo>
                  <a:lnTo>
                    <a:pt x="126" y="50"/>
                  </a:lnTo>
                  <a:lnTo>
                    <a:pt x="120" y="54"/>
                  </a:lnTo>
                  <a:lnTo>
                    <a:pt x="112" y="57"/>
                  </a:lnTo>
                  <a:lnTo>
                    <a:pt x="105" y="61"/>
                  </a:lnTo>
                  <a:lnTo>
                    <a:pt x="92" y="67"/>
                  </a:lnTo>
                  <a:lnTo>
                    <a:pt x="78" y="73"/>
                  </a:lnTo>
                  <a:lnTo>
                    <a:pt x="65" y="76"/>
                  </a:lnTo>
                  <a:lnTo>
                    <a:pt x="53" y="82"/>
                  </a:lnTo>
                  <a:lnTo>
                    <a:pt x="38" y="86"/>
                  </a:lnTo>
                  <a:lnTo>
                    <a:pt x="27" y="92"/>
                  </a:lnTo>
                  <a:lnTo>
                    <a:pt x="12" y="95"/>
                  </a:lnTo>
                  <a:lnTo>
                    <a:pt x="0" y="101"/>
                  </a:lnTo>
                  <a:lnTo>
                    <a:pt x="8" y="93"/>
                  </a:lnTo>
                  <a:lnTo>
                    <a:pt x="17" y="86"/>
                  </a:lnTo>
                  <a:lnTo>
                    <a:pt x="27" y="80"/>
                  </a:lnTo>
                  <a:lnTo>
                    <a:pt x="36" y="74"/>
                  </a:lnTo>
                  <a:lnTo>
                    <a:pt x="46" y="69"/>
                  </a:lnTo>
                  <a:lnTo>
                    <a:pt x="57" y="63"/>
                  </a:lnTo>
                  <a:lnTo>
                    <a:pt x="69" y="59"/>
                  </a:lnTo>
                  <a:lnTo>
                    <a:pt x="78" y="55"/>
                  </a:lnTo>
                  <a:lnTo>
                    <a:pt x="92" y="48"/>
                  </a:lnTo>
                  <a:lnTo>
                    <a:pt x="105" y="42"/>
                  </a:lnTo>
                  <a:lnTo>
                    <a:pt x="112" y="38"/>
                  </a:lnTo>
                  <a:lnTo>
                    <a:pt x="120" y="36"/>
                  </a:lnTo>
                  <a:lnTo>
                    <a:pt x="126" y="33"/>
                  </a:lnTo>
                  <a:lnTo>
                    <a:pt x="135" y="31"/>
                  </a:lnTo>
                  <a:lnTo>
                    <a:pt x="149" y="23"/>
                  </a:lnTo>
                  <a:lnTo>
                    <a:pt x="162" y="17"/>
                  </a:lnTo>
                  <a:lnTo>
                    <a:pt x="175" y="8"/>
                  </a:lnTo>
                  <a:lnTo>
                    <a:pt x="18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35" name="Freeform 47"/>
            <p:cNvSpPr>
              <a:spLocks/>
            </p:cNvSpPr>
            <p:nvPr/>
          </p:nvSpPr>
          <p:spPr bwMode="auto">
            <a:xfrm>
              <a:off x="4064" y="2682"/>
              <a:ext cx="100" cy="70"/>
            </a:xfrm>
            <a:custGeom>
              <a:avLst/>
              <a:gdLst>
                <a:gd name="T0" fmla="*/ 1 w 200"/>
                <a:gd name="T1" fmla="*/ 0 h 140"/>
                <a:gd name="T2" fmla="*/ 1 w 200"/>
                <a:gd name="T3" fmla="*/ 1 h 140"/>
                <a:gd name="T4" fmla="*/ 1 w 200"/>
                <a:gd name="T5" fmla="*/ 1 h 140"/>
                <a:gd name="T6" fmla="*/ 1 w 200"/>
                <a:gd name="T7" fmla="*/ 1 h 140"/>
                <a:gd name="T8" fmla="*/ 1 w 200"/>
                <a:gd name="T9" fmla="*/ 1 h 140"/>
                <a:gd name="T10" fmla="*/ 1 w 200"/>
                <a:gd name="T11" fmla="*/ 1 h 140"/>
                <a:gd name="T12" fmla="*/ 1 w 200"/>
                <a:gd name="T13" fmla="*/ 1 h 140"/>
                <a:gd name="T14" fmla="*/ 1 w 200"/>
                <a:gd name="T15" fmla="*/ 1 h 140"/>
                <a:gd name="T16" fmla="*/ 1 w 200"/>
                <a:gd name="T17" fmla="*/ 1 h 140"/>
                <a:gd name="T18" fmla="*/ 1 w 200"/>
                <a:gd name="T19" fmla="*/ 1 h 140"/>
                <a:gd name="T20" fmla="*/ 1 w 200"/>
                <a:gd name="T21" fmla="*/ 1 h 140"/>
                <a:gd name="T22" fmla="*/ 1 w 200"/>
                <a:gd name="T23" fmla="*/ 1 h 140"/>
                <a:gd name="T24" fmla="*/ 1 w 200"/>
                <a:gd name="T25" fmla="*/ 1 h 140"/>
                <a:gd name="T26" fmla="*/ 1 w 200"/>
                <a:gd name="T27" fmla="*/ 1 h 140"/>
                <a:gd name="T28" fmla="*/ 1 w 200"/>
                <a:gd name="T29" fmla="*/ 1 h 140"/>
                <a:gd name="T30" fmla="*/ 1 w 200"/>
                <a:gd name="T31" fmla="*/ 1 h 140"/>
                <a:gd name="T32" fmla="*/ 1 w 200"/>
                <a:gd name="T33" fmla="*/ 1 h 140"/>
                <a:gd name="T34" fmla="*/ 1 w 200"/>
                <a:gd name="T35" fmla="*/ 1 h 140"/>
                <a:gd name="T36" fmla="*/ 1 w 200"/>
                <a:gd name="T37" fmla="*/ 1 h 140"/>
                <a:gd name="T38" fmla="*/ 1 w 200"/>
                <a:gd name="T39" fmla="*/ 1 h 140"/>
                <a:gd name="T40" fmla="*/ 1 w 200"/>
                <a:gd name="T41" fmla="*/ 1 h 140"/>
                <a:gd name="T42" fmla="*/ 1 w 200"/>
                <a:gd name="T43" fmla="*/ 1 h 140"/>
                <a:gd name="T44" fmla="*/ 1 w 200"/>
                <a:gd name="T45" fmla="*/ 1 h 140"/>
                <a:gd name="T46" fmla="*/ 1 w 200"/>
                <a:gd name="T47" fmla="*/ 1 h 140"/>
                <a:gd name="T48" fmla="*/ 1 w 200"/>
                <a:gd name="T49" fmla="*/ 1 h 140"/>
                <a:gd name="T50" fmla="*/ 1 w 200"/>
                <a:gd name="T51" fmla="*/ 1 h 140"/>
                <a:gd name="T52" fmla="*/ 1 w 200"/>
                <a:gd name="T53" fmla="*/ 1 h 140"/>
                <a:gd name="T54" fmla="*/ 1 w 200"/>
                <a:gd name="T55" fmla="*/ 1 h 140"/>
                <a:gd name="T56" fmla="*/ 1 w 200"/>
                <a:gd name="T57" fmla="*/ 1 h 140"/>
                <a:gd name="T58" fmla="*/ 1 w 200"/>
                <a:gd name="T59" fmla="*/ 1 h 140"/>
                <a:gd name="T60" fmla="*/ 1 w 200"/>
                <a:gd name="T61" fmla="*/ 1 h 140"/>
                <a:gd name="T62" fmla="*/ 1 w 200"/>
                <a:gd name="T63" fmla="*/ 1 h 140"/>
                <a:gd name="T64" fmla="*/ 1 w 200"/>
                <a:gd name="T65" fmla="*/ 1 h 140"/>
                <a:gd name="T66" fmla="*/ 1 w 200"/>
                <a:gd name="T67" fmla="*/ 1 h 140"/>
                <a:gd name="T68" fmla="*/ 1 w 200"/>
                <a:gd name="T69" fmla="*/ 1 h 140"/>
                <a:gd name="T70" fmla="*/ 1 w 200"/>
                <a:gd name="T71" fmla="*/ 1 h 140"/>
                <a:gd name="T72" fmla="*/ 1 w 200"/>
                <a:gd name="T73" fmla="*/ 1 h 140"/>
                <a:gd name="T74" fmla="*/ 1 w 200"/>
                <a:gd name="T75" fmla="*/ 1 h 140"/>
                <a:gd name="T76" fmla="*/ 1 w 200"/>
                <a:gd name="T77" fmla="*/ 1 h 140"/>
                <a:gd name="T78" fmla="*/ 1 w 200"/>
                <a:gd name="T79" fmla="*/ 1 h 140"/>
                <a:gd name="T80" fmla="*/ 1 w 200"/>
                <a:gd name="T81" fmla="*/ 1 h 140"/>
                <a:gd name="T82" fmla="*/ 1 w 200"/>
                <a:gd name="T83" fmla="*/ 1 h 140"/>
                <a:gd name="T84" fmla="*/ 1 w 200"/>
                <a:gd name="T85" fmla="*/ 1 h 140"/>
                <a:gd name="T86" fmla="*/ 1 w 200"/>
                <a:gd name="T87" fmla="*/ 1 h 140"/>
                <a:gd name="T88" fmla="*/ 1 w 200"/>
                <a:gd name="T89" fmla="*/ 1 h 140"/>
                <a:gd name="T90" fmla="*/ 1 w 200"/>
                <a:gd name="T91" fmla="*/ 1 h 140"/>
                <a:gd name="T92" fmla="*/ 0 w 200"/>
                <a:gd name="T93" fmla="*/ 1 h 140"/>
                <a:gd name="T94" fmla="*/ 1 w 200"/>
                <a:gd name="T95" fmla="*/ 1 h 140"/>
                <a:gd name="T96" fmla="*/ 1 w 200"/>
                <a:gd name="T97" fmla="*/ 1 h 140"/>
                <a:gd name="T98" fmla="*/ 1 w 200"/>
                <a:gd name="T99" fmla="*/ 1 h 140"/>
                <a:gd name="T100" fmla="*/ 1 w 200"/>
                <a:gd name="T101" fmla="*/ 1 h 140"/>
                <a:gd name="T102" fmla="*/ 1 w 200"/>
                <a:gd name="T103" fmla="*/ 1 h 140"/>
                <a:gd name="T104" fmla="*/ 1 w 200"/>
                <a:gd name="T105" fmla="*/ 1 h 140"/>
                <a:gd name="T106" fmla="*/ 1 w 200"/>
                <a:gd name="T107" fmla="*/ 1 h 140"/>
                <a:gd name="T108" fmla="*/ 1 w 200"/>
                <a:gd name="T109" fmla="*/ 1 h 140"/>
                <a:gd name="T110" fmla="*/ 1 w 200"/>
                <a:gd name="T111" fmla="*/ 1 h 140"/>
                <a:gd name="T112" fmla="*/ 1 w 200"/>
                <a:gd name="T113" fmla="*/ 1 h 140"/>
                <a:gd name="T114" fmla="*/ 1 w 200"/>
                <a:gd name="T115" fmla="*/ 1 h 140"/>
                <a:gd name="T116" fmla="*/ 1 w 200"/>
                <a:gd name="T117" fmla="*/ 1 h 140"/>
                <a:gd name="T118" fmla="*/ 1 w 200"/>
                <a:gd name="T119" fmla="*/ 1 h 140"/>
                <a:gd name="T120" fmla="*/ 1 w 200"/>
                <a:gd name="T121" fmla="*/ 0 h 140"/>
                <a:gd name="T122" fmla="*/ 1 w 200"/>
                <a:gd name="T123" fmla="*/ 0 h 140"/>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00"/>
                <a:gd name="T187" fmla="*/ 0 h 140"/>
                <a:gd name="T188" fmla="*/ 200 w 200"/>
                <a:gd name="T189" fmla="*/ 140 h 140"/>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00" h="140">
                  <a:moveTo>
                    <a:pt x="87" y="0"/>
                  </a:moveTo>
                  <a:lnTo>
                    <a:pt x="99" y="2"/>
                  </a:lnTo>
                  <a:lnTo>
                    <a:pt x="110" y="7"/>
                  </a:lnTo>
                  <a:lnTo>
                    <a:pt x="118" y="15"/>
                  </a:lnTo>
                  <a:lnTo>
                    <a:pt x="129" y="23"/>
                  </a:lnTo>
                  <a:lnTo>
                    <a:pt x="137" y="30"/>
                  </a:lnTo>
                  <a:lnTo>
                    <a:pt x="146" y="40"/>
                  </a:lnTo>
                  <a:lnTo>
                    <a:pt x="154" y="51"/>
                  </a:lnTo>
                  <a:lnTo>
                    <a:pt x="162" y="61"/>
                  </a:lnTo>
                  <a:lnTo>
                    <a:pt x="169" y="70"/>
                  </a:lnTo>
                  <a:lnTo>
                    <a:pt x="177" y="82"/>
                  </a:lnTo>
                  <a:lnTo>
                    <a:pt x="186" y="89"/>
                  </a:lnTo>
                  <a:lnTo>
                    <a:pt x="200" y="97"/>
                  </a:lnTo>
                  <a:lnTo>
                    <a:pt x="184" y="97"/>
                  </a:lnTo>
                  <a:lnTo>
                    <a:pt x="173" y="95"/>
                  </a:lnTo>
                  <a:lnTo>
                    <a:pt x="158" y="89"/>
                  </a:lnTo>
                  <a:lnTo>
                    <a:pt x="146" y="85"/>
                  </a:lnTo>
                  <a:lnTo>
                    <a:pt x="133" y="80"/>
                  </a:lnTo>
                  <a:lnTo>
                    <a:pt x="120" y="78"/>
                  </a:lnTo>
                  <a:lnTo>
                    <a:pt x="112" y="76"/>
                  </a:lnTo>
                  <a:lnTo>
                    <a:pt x="106" y="76"/>
                  </a:lnTo>
                  <a:lnTo>
                    <a:pt x="97" y="76"/>
                  </a:lnTo>
                  <a:lnTo>
                    <a:pt x="91" y="78"/>
                  </a:lnTo>
                  <a:lnTo>
                    <a:pt x="99" y="83"/>
                  </a:lnTo>
                  <a:lnTo>
                    <a:pt x="105" y="91"/>
                  </a:lnTo>
                  <a:lnTo>
                    <a:pt x="106" y="97"/>
                  </a:lnTo>
                  <a:lnTo>
                    <a:pt x="110" y="106"/>
                  </a:lnTo>
                  <a:lnTo>
                    <a:pt x="112" y="114"/>
                  </a:lnTo>
                  <a:lnTo>
                    <a:pt x="114" y="123"/>
                  </a:lnTo>
                  <a:lnTo>
                    <a:pt x="118" y="133"/>
                  </a:lnTo>
                  <a:lnTo>
                    <a:pt x="127" y="140"/>
                  </a:lnTo>
                  <a:lnTo>
                    <a:pt x="118" y="139"/>
                  </a:lnTo>
                  <a:lnTo>
                    <a:pt x="110" y="137"/>
                  </a:lnTo>
                  <a:lnTo>
                    <a:pt x="103" y="135"/>
                  </a:lnTo>
                  <a:lnTo>
                    <a:pt x="95" y="133"/>
                  </a:lnTo>
                  <a:lnTo>
                    <a:pt x="87" y="129"/>
                  </a:lnTo>
                  <a:lnTo>
                    <a:pt x="78" y="125"/>
                  </a:lnTo>
                  <a:lnTo>
                    <a:pt x="70" y="120"/>
                  </a:lnTo>
                  <a:lnTo>
                    <a:pt x="63" y="116"/>
                  </a:lnTo>
                  <a:lnTo>
                    <a:pt x="53" y="110"/>
                  </a:lnTo>
                  <a:lnTo>
                    <a:pt x="46" y="104"/>
                  </a:lnTo>
                  <a:lnTo>
                    <a:pt x="38" y="99"/>
                  </a:lnTo>
                  <a:lnTo>
                    <a:pt x="29" y="93"/>
                  </a:lnTo>
                  <a:lnTo>
                    <a:pt x="21" y="87"/>
                  </a:lnTo>
                  <a:lnTo>
                    <a:pt x="13" y="83"/>
                  </a:lnTo>
                  <a:lnTo>
                    <a:pt x="8" y="78"/>
                  </a:lnTo>
                  <a:lnTo>
                    <a:pt x="0" y="74"/>
                  </a:lnTo>
                  <a:lnTo>
                    <a:pt x="8" y="64"/>
                  </a:lnTo>
                  <a:lnTo>
                    <a:pt x="15" y="59"/>
                  </a:lnTo>
                  <a:lnTo>
                    <a:pt x="27" y="55"/>
                  </a:lnTo>
                  <a:lnTo>
                    <a:pt x="38" y="55"/>
                  </a:lnTo>
                  <a:lnTo>
                    <a:pt x="38" y="49"/>
                  </a:lnTo>
                  <a:lnTo>
                    <a:pt x="36" y="45"/>
                  </a:lnTo>
                  <a:lnTo>
                    <a:pt x="44" y="40"/>
                  </a:lnTo>
                  <a:lnTo>
                    <a:pt x="49" y="36"/>
                  </a:lnTo>
                  <a:lnTo>
                    <a:pt x="55" y="28"/>
                  </a:lnTo>
                  <a:lnTo>
                    <a:pt x="61" y="23"/>
                  </a:lnTo>
                  <a:lnTo>
                    <a:pt x="67" y="15"/>
                  </a:lnTo>
                  <a:lnTo>
                    <a:pt x="72" y="7"/>
                  </a:lnTo>
                  <a:lnTo>
                    <a:pt x="78" y="2"/>
                  </a:lnTo>
                  <a:lnTo>
                    <a:pt x="87" y="0"/>
                  </a:lnTo>
                  <a:close/>
                </a:path>
              </a:pathLst>
            </a:custGeom>
            <a:solidFill>
              <a:srgbClr val="FFD6C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36" name="Freeform 48"/>
            <p:cNvSpPr>
              <a:spLocks/>
            </p:cNvSpPr>
            <p:nvPr/>
          </p:nvSpPr>
          <p:spPr bwMode="auto">
            <a:xfrm>
              <a:off x="3472" y="2693"/>
              <a:ext cx="190" cy="129"/>
            </a:xfrm>
            <a:custGeom>
              <a:avLst/>
              <a:gdLst>
                <a:gd name="T0" fmla="*/ 1 w 381"/>
                <a:gd name="T1" fmla="*/ 1 h 256"/>
                <a:gd name="T2" fmla="*/ 1 w 381"/>
                <a:gd name="T3" fmla="*/ 1 h 256"/>
                <a:gd name="T4" fmla="*/ 1 w 381"/>
                <a:gd name="T5" fmla="*/ 1 h 256"/>
                <a:gd name="T6" fmla="*/ 1 w 381"/>
                <a:gd name="T7" fmla="*/ 1 h 256"/>
                <a:gd name="T8" fmla="*/ 1 w 381"/>
                <a:gd name="T9" fmla="*/ 1 h 256"/>
                <a:gd name="T10" fmla="*/ 1 w 381"/>
                <a:gd name="T11" fmla="*/ 1 h 256"/>
                <a:gd name="T12" fmla="*/ 0 w 381"/>
                <a:gd name="T13" fmla="*/ 1 h 256"/>
                <a:gd name="T14" fmla="*/ 0 w 381"/>
                <a:gd name="T15" fmla="*/ 1 h 256"/>
                <a:gd name="T16" fmla="*/ 0 w 381"/>
                <a:gd name="T17" fmla="*/ 1 h 256"/>
                <a:gd name="T18" fmla="*/ 0 w 381"/>
                <a:gd name="T19" fmla="*/ 1 h 256"/>
                <a:gd name="T20" fmla="*/ 0 w 381"/>
                <a:gd name="T21" fmla="*/ 1 h 256"/>
                <a:gd name="T22" fmla="*/ 0 w 381"/>
                <a:gd name="T23" fmla="*/ 1 h 256"/>
                <a:gd name="T24" fmla="*/ 0 w 381"/>
                <a:gd name="T25" fmla="*/ 1 h 256"/>
                <a:gd name="T26" fmla="*/ 0 w 381"/>
                <a:gd name="T27" fmla="*/ 1 h 256"/>
                <a:gd name="T28" fmla="*/ 0 w 381"/>
                <a:gd name="T29" fmla="*/ 1 h 256"/>
                <a:gd name="T30" fmla="*/ 0 w 381"/>
                <a:gd name="T31" fmla="*/ 1 h 256"/>
                <a:gd name="T32" fmla="*/ 0 w 381"/>
                <a:gd name="T33" fmla="*/ 1 h 256"/>
                <a:gd name="T34" fmla="*/ 0 w 381"/>
                <a:gd name="T35" fmla="*/ 1 h 256"/>
                <a:gd name="T36" fmla="*/ 0 w 381"/>
                <a:gd name="T37" fmla="*/ 1 h 256"/>
                <a:gd name="T38" fmla="*/ 0 w 381"/>
                <a:gd name="T39" fmla="*/ 1 h 256"/>
                <a:gd name="T40" fmla="*/ 0 w 381"/>
                <a:gd name="T41" fmla="*/ 1 h 256"/>
                <a:gd name="T42" fmla="*/ 0 w 381"/>
                <a:gd name="T43" fmla="*/ 1 h 256"/>
                <a:gd name="T44" fmla="*/ 0 w 381"/>
                <a:gd name="T45" fmla="*/ 1 h 256"/>
                <a:gd name="T46" fmla="*/ 0 w 381"/>
                <a:gd name="T47" fmla="*/ 1 h 256"/>
                <a:gd name="T48" fmla="*/ 0 w 381"/>
                <a:gd name="T49" fmla="*/ 1 h 256"/>
                <a:gd name="T50" fmla="*/ 0 w 381"/>
                <a:gd name="T51" fmla="*/ 1 h 256"/>
                <a:gd name="T52" fmla="*/ 0 w 381"/>
                <a:gd name="T53" fmla="*/ 1 h 256"/>
                <a:gd name="T54" fmla="*/ 0 w 381"/>
                <a:gd name="T55" fmla="*/ 1 h 256"/>
                <a:gd name="T56" fmla="*/ 1 w 381"/>
                <a:gd name="T57" fmla="*/ 1 h 256"/>
                <a:gd name="T58" fmla="*/ 1 w 381"/>
                <a:gd name="T59" fmla="*/ 1 h 256"/>
                <a:gd name="T60" fmla="*/ 1 w 381"/>
                <a:gd name="T61" fmla="*/ 1 h 256"/>
                <a:gd name="T62" fmla="*/ 1 w 381"/>
                <a:gd name="T63" fmla="*/ 0 h 25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81"/>
                <a:gd name="T97" fmla="*/ 0 h 256"/>
                <a:gd name="T98" fmla="*/ 381 w 381"/>
                <a:gd name="T99" fmla="*/ 256 h 25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81" h="256">
                  <a:moveTo>
                    <a:pt x="381" y="0"/>
                  </a:moveTo>
                  <a:lnTo>
                    <a:pt x="377" y="5"/>
                  </a:lnTo>
                  <a:lnTo>
                    <a:pt x="371" y="11"/>
                  </a:lnTo>
                  <a:lnTo>
                    <a:pt x="366" y="19"/>
                  </a:lnTo>
                  <a:lnTo>
                    <a:pt x="358" y="24"/>
                  </a:lnTo>
                  <a:lnTo>
                    <a:pt x="348" y="30"/>
                  </a:lnTo>
                  <a:lnTo>
                    <a:pt x="339" y="36"/>
                  </a:lnTo>
                  <a:lnTo>
                    <a:pt x="327" y="41"/>
                  </a:lnTo>
                  <a:lnTo>
                    <a:pt x="318" y="47"/>
                  </a:lnTo>
                  <a:lnTo>
                    <a:pt x="305" y="51"/>
                  </a:lnTo>
                  <a:lnTo>
                    <a:pt x="291" y="57"/>
                  </a:lnTo>
                  <a:lnTo>
                    <a:pt x="280" y="62"/>
                  </a:lnTo>
                  <a:lnTo>
                    <a:pt x="269" y="70"/>
                  </a:lnTo>
                  <a:lnTo>
                    <a:pt x="255" y="74"/>
                  </a:lnTo>
                  <a:lnTo>
                    <a:pt x="246" y="81"/>
                  </a:lnTo>
                  <a:lnTo>
                    <a:pt x="236" y="87"/>
                  </a:lnTo>
                  <a:lnTo>
                    <a:pt x="229" y="95"/>
                  </a:lnTo>
                  <a:lnTo>
                    <a:pt x="219" y="98"/>
                  </a:lnTo>
                  <a:lnTo>
                    <a:pt x="212" y="102"/>
                  </a:lnTo>
                  <a:lnTo>
                    <a:pt x="204" y="108"/>
                  </a:lnTo>
                  <a:lnTo>
                    <a:pt x="196" y="114"/>
                  </a:lnTo>
                  <a:lnTo>
                    <a:pt x="189" y="117"/>
                  </a:lnTo>
                  <a:lnTo>
                    <a:pt x="179" y="123"/>
                  </a:lnTo>
                  <a:lnTo>
                    <a:pt x="172" y="129"/>
                  </a:lnTo>
                  <a:lnTo>
                    <a:pt x="166" y="137"/>
                  </a:lnTo>
                  <a:lnTo>
                    <a:pt x="156" y="140"/>
                  </a:lnTo>
                  <a:lnTo>
                    <a:pt x="151" y="146"/>
                  </a:lnTo>
                  <a:lnTo>
                    <a:pt x="143" y="152"/>
                  </a:lnTo>
                  <a:lnTo>
                    <a:pt x="135" y="159"/>
                  </a:lnTo>
                  <a:lnTo>
                    <a:pt x="120" y="171"/>
                  </a:lnTo>
                  <a:lnTo>
                    <a:pt x="109" y="182"/>
                  </a:lnTo>
                  <a:lnTo>
                    <a:pt x="94" y="192"/>
                  </a:lnTo>
                  <a:lnTo>
                    <a:pt x="80" y="203"/>
                  </a:lnTo>
                  <a:lnTo>
                    <a:pt x="69" y="213"/>
                  </a:lnTo>
                  <a:lnTo>
                    <a:pt x="56" y="222"/>
                  </a:lnTo>
                  <a:lnTo>
                    <a:pt x="40" y="230"/>
                  </a:lnTo>
                  <a:lnTo>
                    <a:pt x="27" y="239"/>
                  </a:lnTo>
                  <a:lnTo>
                    <a:pt x="14" y="249"/>
                  </a:lnTo>
                  <a:lnTo>
                    <a:pt x="0" y="256"/>
                  </a:lnTo>
                  <a:lnTo>
                    <a:pt x="8" y="243"/>
                  </a:lnTo>
                  <a:lnTo>
                    <a:pt x="16" y="230"/>
                  </a:lnTo>
                  <a:lnTo>
                    <a:pt x="25" y="218"/>
                  </a:lnTo>
                  <a:lnTo>
                    <a:pt x="37" y="207"/>
                  </a:lnTo>
                  <a:lnTo>
                    <a:pt x="44" y="194"/>
                  </a:lnTo>
                  <a:lnTo>
                    <a:pt x="54" y="186"/>
                  </a:lnTo>
                  <a:lnTo>
                    <a:pt x="63" y="175"/>
                  </a:lnTo>
                  <a:lnTo>
                    <a:pt x="75" y="165"/>
                  </a:lnTo>
                  <a:lnTo>
                    <a:pt x="90" y="150"/>
                  </a:lnTo>
                  <a:lnTo>
                    <a:pt x="109" y="137"/>
                  </a:lnTo>
                  <a:lnTo>
                    <a:pt x="126" y="123"/>
                  </a:lnTo>
                  <a:lnTo>
                    <a:pt x="145" y="110"/>
                  </a:lnTo>
                  <a:lnTo>
                    <a:pt x="164" y="98"/>
                  </a:lnTo>
                  <a:lnTo>
                    <a:pt x="183" y="87"/>
                  </a:lnTo>
                  <a:lnTo>
                    <a:pt x="204" y="78"/>
                  </a:lnTo>
                  <a:lnTo>
                    <a:pt x="223" y="68"/>
                  </a:lnTo>
                  <a:lnTo>
                    <a:pt x="244" y="57"/>
                  </a:lnTo>
                  <a:lnTo>
                    <a:pt x="265" y="49"/>
                  </a:lnTo>
                  <a:lnTo>
                    <a:pt x="284" y="40"/>
                  </a:lnTo>
                  <a:lnTo>
                    <a:pt x="305" y="32"/>
                  </a:lnTo>
                  <a:lnTo>
                    <a:pt x="322" y="24"/>
                  </a:lnTo>
                  <a:lnTo>
                    <a:pt x="343" y="15"/>
                  </a:lnTo>
                  <a:lnTo>
                    <a:pt x="362" y="7"/>
                  </a:lnTo>
                  <a:lnTo>
                    <a:pt x="38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37" name="Freeform 49"/>
            <p:cNvSpPr>
              <a:spLocks/>
            </p:cNvSpPr>
            <p:nvPr/>
          </p:nvSpPr>
          <p:spPr bwMode="auto">
            <a:xfrm>
              <a:off x="4181" y="2700"/>
              <a:ext cx="105" cy="62"/>
            </a:xfrm>
            <a:custGeom>
              <a:avLst/>
              <a:gdLst>
                <a:gd name="T0" fmla="*/ 0 w 211"/>
                <a:gd name="T1" fmla="*/ 0 h 124"/>
                <a:gd name="T2" fmla="*/ 0 w 211"/>
                <a:gd name="T3" fmla="*/ 0 h 124"/>
                <a:gd name="T4" fmla="*/ 0 w 211"/>
                <a:gd name="T5" fmla="*/ 0 h 124"/>
                <a:gd name="T6" fmla="*/ 0 w 211"/>
                <a:gd name="T7" fmla="*/ 1 h 124"/>
                <a:gd name="T8" fmla="*/ 0 w 211"/>
                <a:gd name="T9" fmla="*/ 1 h 124"/>
                <a:gd name="T10" fmla="*/ 0 w 211"/>
                <a:gd name="T11" fmla="*/ 1 h 124"/>
                <a:gd name="T12" fmla="*/ 0 w 211"/>
                <a:gd name="T13" fmla="*/ 1 h 124"/>
                <a:gd name="T14" fmla="*/ 0 w 211"/>
                <a:gd name="T15" fmla="*/ 1 h 124"/>
                <a:gd name="T16" fmla="*/ 0 w 211"/>
                <a:gd name="T17" fmla="*/ 1 h 124"/>
                <a:gd name="T18" fmla="*/ 0 w 211"/>
                <a:gd name="T19" fmla="*/ 1 h 124"/>
                <a:gd name="T20" fmla="*/ 0 w 211"/>
                <a:gd name="T21" fmla="*/ 1 h 124"/>
                <a:gd name="T22" fmla="*/ 0 w 211"/>
                <a:gd name="T23" fmla="*/ 1 h 124"/>
                <a:gd name="T24" fmla="*/ 0 w 211"/>
                <a:gd name="T25" fmla="*/ 1 h 124"/>
                <a:gd name="T26" fmla="*/ 0 w 211"/>
                <a:gd name="T27" fmla="*/ 1 h 124"/>
                <a:gd name="T28" fmla="*/ 0 w 211"/>
                <a:gd name="T29" fmla="*/ 1 h 124"/>
                <a:gd name="T30" fmla="*/ 0 w 211"/>
                <a:gd name="T31" fmla="*/ 1 h 124"/>
                <a:gd name="T32" fmla="*/ 0 w 211"/>
                <a:gd name="T33" fmla="*/ 1 h 124"/>
                <a:gd name="T34" fmla="*/ 0 w 211"/>
                <a:gd name="T35" fmla="*/ 1 h 124"/>
                <a:gd name="T36" fmla="*/ 0 w 211"/>
                <a:gd name="T37" fmla="*/ 1 h 124"/>
                <a:gd name="T38" fmla="*/ 0 w 211"/>
                <a:gd name="T39" fmla="*/ 1 h 124"/>
                <a:gd name="T40" fmla="*/ 0 w 211"/>
                <a:gd name="T41" fmla="*/ 1 h 124"/>
                <a:gd name="T42" fmla="*/ 0 w 211"/>
                <a:gd name="T43" fmla="*/ 1 h 124"/>
                <a:gd name="T44" fmla="*/ 0 w 211"/>
                <a:gd name="T45" fmla="*/ 1 h 124"/>
                <a:gd name="T46" fmla="*/ 0 w 211"/>
                <a:gd name="T47" fmla="*/ 1 h 124"/>
                <a:gd name="T48" fmla="*/ 0 w 211"/>
                <a:gd name="T49" fmla="*/ 1 h 124"/>
                <a:gd name="T50" fmla="*/ 0 w 211"/>
                <a:gd name="T51" fmla="*/ 1 h 124"/>
                <a:gd name="T52" fmla="*/ 0 w 211"/>
                <a:gd name="T53" fmla="*/ 1 h 124"/>
                <a:gd name="T54" fmla="*/ 0 w 211"/>
                <a:gd name="T55" fmla="*/ 1 h 124"/>
                <a:gd name="T56" fmla="*/ 0 w 211"/>
                <a:gd name="T57" fmla="*/ 1 h 124"/>
                <a:gd name="T58" fmla="*/ 0 w 211"/>
                <a:gd name="T59" fmla="*/ 1 h 124"/>
                <a:gd name="T60" fmla="*/ 0 w 211"/>
                <a:gd name="T61" fmla="*/ 1 h 124"/>
                <a:gd name="T62" fmla="*/ 0 w 211"/>
                <a:gd name="T63" fmla="*/ 1 h 124"/>
                <a:gd name="T64" fmla="*/ 0 w 211"/>
                <a:gd name="T65" fmla="*/ 1 h 124"/>
                <a:gd name="T66" fmla="*/ 0 w 211"/>
                <a:gd name="T67" fmla="*/ 1 h 124"/>
                <a:gd name="T68" fmla="*/ 0 w 211"/>
                <a:gd name="T69" fmla="*/ 0 h 124"/>
                <a:gd name="T70" fmla="*/ 0 w 211"/>
                <a:gd name="T71" fmla="*/ 0 h 12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11"/>
                <a:gd name="T109" fmla="*/ 0 h 124"/>
                <a:gd name="T110" fmla="*/ 211 w 211"/>
                <a:gd name="T111" fmla="*/ 124 h 12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11" h="124">
                  <a:moveTo>
                    <a:pt x="201" y="0"/>
                  </a:moveTo>
                  <a:lnTo>
                    <a:pt x="207" y="0"/>
                  </a:lnTo>
                  <a:lnTo>
                    <a:pt x="211" y="0"/>
                  </a:lnTo>
                  <a:lnTo>
                    <a:pt x="198" y="8"/>
                  </a:lnTo>
                  <a:lnTo>
                    <a:pt x="186" y="17"/>
                  </a:lnTo>
                  <a:lnTo>
                    <a:pt x="175" y="25"/>
                  </a:lnTo>
                  <a:lnTo>
                    <a:pt x="161" y="34"/>
                  </a:lnTo>
                  <a:lnTo>
                    <a:pt x="148" y="42"/>
                  </a:lnTo>
                  <a:lnTo>
                    <a:pt x="135" y="49"/>
                  </a:lnTo>
                  <a:lnTo>
                    <a:pt x="122" y="57"/>
                  </a:lnTo>
                  <a:lnTo>
                    <a:pt x="108" y="65"/>
                  </a:lnTo>
                  <a:lnTo>
                    <a:pt x="95" y="70"/>
                  </a:lnTo>
                  <a:lnTo>
                    <a:pt x="82" y="78"/>
                  </a:lnTo>
                  <a:lnTo>
                    <a:pt x="66" y="84"/>
                  </a:lnTo>
                  <a:lnTo>
                    <a:pt x="55" y="91"/>
                  </a:lnTo>
                  <a:lnTo>
                    <a:pt x="40" y="99"/>
                  </a:lnTo>
                  <a:lnTo>
                    <a:pt x="26" y="106"/>
                  </a:lnTo>
                  <a:lnTo>
                    <a:pt x="13" y="114"/>
                  </a:lnTo>
                  <a:lnTo>
                    <a:pt x="0" y="124"/>
                  </a:lnTo>
                  <a:lnTo>
                    <a:pt x="9" y="110"/>
                  </a:lnTo>
                  <a:lnTo>
                    <a:pt x="21" y="101"/>
                  </a:lnTo>
                  <a:lnTo>
                    <a:pt x="32" y="89"/>
                  </a:lnTo>
                  <a:lnTo>
                    <a:pt x="45" y="82"/>
                  </a:lnTo>
                  <a:lnTo>
                    <a:pt x="57" y="72"/>
                  </a:lnTo>
                  <a:lnTo>
                    <a:pt x="70" y="65"/>
                  </a:lnTo>
                  <a:lnTo>
                    <a:pt x="84" y="57"/>
                  </a:lnTo>
                  <a:lnTo>
                    <a:pt x="97" y="51"/>
                  </a:lnTo>
                  <a:lnTo>
                    <a:pt x="108" y="42"/>
                  </a:lnTo>
                  <a:lnTo>
                    <a:pt x="123" y="38"/>
                  </a:lnTo>
                  <a:lnTo>
                    <a:pt x="135" y="30"/>
                  </a:lnTo>
                  <a:lnTo>
                    <a:pt x="150" y="25"/>
                  </a:lnTo>
                  <a:lnTo>
                    <a:pt x="161" y="19"/>
                  </a:lnTo>
                  <a:lnTo>
                    <a:pt x="175" y="11"/>
                  </a:lnTo>
                  <a:lnTo>
                    <a:pt x="188" y="6"/>
                  </a:lnTo>
                  <a:lnTo>
                    <a:pt x="20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38" name="Freeform 50"/>
            <p:cNvSpPr>
              <a:spLocks/>
            </p:cNvSpPr>
            <p:nvPr/>
          </p:nvSpPr>
          <p:spPr bwMode="auto">
            <a:xfrm>
              <a:off x="4549" y="2721"/>
              <a:ext cx="69" cy="36"/>
            </a:xfrm>
            <a:custGeom>
              <a:avLst/>
              <a:gdLst>
                <a:gd name="T0" fmla="*/ 1 w 138"/>
                <a:gd name="T1" fmla="*/ 0 h 72"/>
                <a:gd name="T2" fmla="*/ 1 w 138"/>
                <a:gd name="T3" fmla="*/ 1 h 72"/>
                <a:gd name="T4" fmla="*/ 1 w 138"/>
                <a:gd name="T5" fmla="*/ 1 h 72"/>
                <a:gd name="T6" fmla="*/ 1 w 138"/>
                <a:gd name="T7" fmla="*/ 1 h 72"/>
                <a:gd name="T8" fmla="*/ 1 w 138"/>
                <a:gd name="T9" fmla="*/ 1 h 72"/>
                <a:gd name="T10" fmla="*/ 1 w 138"/>
                <a:gd name="T11" fmla="*/ 1 h 72"/>
                <a:gd name="T12" fmla="*/ 1 w 138"/>
                <a:gd name="T13" fmla="*/ 1 h 72"/>
                <a:gd name="T14" fmla="*/ 1 w 138"/>
                <a:gd name="T15" fmla="*/ 1 h 72"/>
                <a:gd name="T16" fmla="*/ 1 w 138"/>
                <a:gd name="T17" fmla="*/ 1 h 72"/>
                <a:gd name="T18" fmla="*/ 1 w 138"/>
                <a:gd name="T19" fmla="*/ 1 h 72"/>
                <a:gd name="T20" fmla="*/ 1 w 138"/>
                <a:gd name="T21" fmla="*/ 1 h 72"/>
                <a:gd name="T22" fmla="*/ 1 w 138"/>
                <a:gd name="T23" fmla="*/ 1 h 72"/>
                <a:gd name="T24" fmla="*/ 1 w 138"/>
                <a:gd name="T25" fmla="*/ 1 h 72"/>
                <a:gd name="T26" fmla="*/ 1 w 138"/>
                <a:gd name="T27" fmla="*/ 1 h 72"/>
                <a:gd name="T28" fmla="*/ 1 w 138"/>
                <a:gd name="T29" fmla="*/ 1 h 72"/>
                <a:gd name="T30" fmla="*/ 1 w 138"/>
                <a:gd name="T31" fmla="*/ 1 h 72"/>
                <a:gd name="T32" fmla="*/ 1 w 138"/>
                <a:gd name="T33" fmla="*/ 1 h 72"/>
                <a:gd name="T34" fmla="*/ 1 w 138"/>
                <a:gd name="T35" fmla="*/ 1 h 72"/>
                <a:gd name="T36" fmla="*/ 1 w 138"/>
                <a:gd name="T37" fmla="*/ 1 h 72"/>
                <a:gd name="T38" fmla="*/ 1 w 138"/>
                <a:gd name="T39" fmla="*/ 1 h 72"/>
                <a:gd name="T40" fmla="*/ 1 w 138"/>
                <a:gd name="T41" fmla="*/ 1 h 72"/>
                <a:gd name="T42" fmla="*/ 1 w 138"/>
                <a:gd name="T43" fmla="*/ 1 h 72"/>
                <a:gd name="T44" fmla="*/ 0 w 138"/>
                <a:gd name="T45" fmla="*/ 1 h 72"/>
                <a:gd name="T46" fmla="*/ 1 w 138"/>
                <a:gd name="T47" fmla="*/ 1 h 72"/>
                <a:gd name="T48" fmla="*/ 1 w 138"/>
                <a:gd name="T49" fmla="*/ 1 h 72"/>
                <a:gd name="T50" fmla="*/ 1 w 138"/>
                <a:gd name="T51" fmla="*/ 1 h 72"/>
                <a:gd name="T52" fmla="*/ 1 w 138"/>
                <a:gd name="T53" fmla="*/ 1 h 72"/>
                <a:gd name="T54" fmla="*/ 1 w 138"/>
                <a:gd name="T55" fmla="*/ 1 h 72"/>
                <a:gd name="T56" fmla="*/ 1 w 138"/>
                <a:gd name="T57" fmla="*/ 1 h 72"/>
                <a:gd name="T58" fmla="*/ 1 w 138"/>
                <a:gd name="T59" fmla="*/ 1 h 72"/>
                <a:gd name="T60" fmla="*/ 1 w 138"/>
                <a:gd name="T61" fmla="*/ 1 h 72"/>
                <a:gd name="T62" fmla="*/ 1 w 138"/>
                <a:gd name="T63" fmla="*/ 1 h 72"/>
                <a:gd name="T64" fmla="*/ 1 w 138"/>
                <a:gd name="T65" fmla="*/ 1 h 72"/>
                <a:gd name="T66" fmla="*/ 1 w 138"/>
                <a:gd name="T67" fmla="*/ 1 h 72"/>
                <a:gd name="T68" fmla="*/ 1 w 138"/>
                <a:gd name="T69" fmla="*/ 1 h 72"/>
                <a:gd name="T70" fmla="*/ 1 w 138"/>
                <a:gd name="T71" fmla="*/ 1 h 72"/>
                <a:gd name="T72" fmla="*/ 1 w 138"/>
                <a:gd name="T73" fmla="*/ 1 h 72"/>
                <a:gd name="T74" fmla="*/ 1 w 138"/>
                <a:gd name="T75" fmla="*/ 1 h 72"/>
                <a:gd name="T76" fmla="*/ 1 w 138"/>
                <a:gd name="T77" fmla="*/ 0 h 72"/>
                <a:gd name="T78" fmla="*/ 1 w 138"/>
                <a:gd name="T79" fmla="*/ 0 h 72"/>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38"/>
                <a:gd name="T121" fmla="*/ 0 h 72"/>
                <a:gd name="T122" fmla="*/ 138 w 138"/>
                <a:gd name="T123" fmla="*/ 72 h 72"/>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38" h="72">
                  <a:moveTo>
                    <a:pt x="123" y="0"/>
                  </a:moveTo>
                  <a:lnTo>
                    <a:pt x="131" y="2"/>
                  </a:lnTo>
                  <a:lnTo>
                    <a:pt x="137" y="9"/>
                  </a:lnTo>
                  <a:lnTo>
                    <a:pt x="137" y="17"/>
                  </a:lnTo>
                  <a:lnTo>
                    <a:pt x="138" y="26"/>
                  </a:lnTo>
                  <a:lnTo>
                    <a:pt x="138" y="34"/>
                  </a:lnTo>
                  <a:lnTo>
                    <a:pt x="138" y="42"/>
                  </a:lnTo>
                  <a:lnTo>
                    <a:pt x="131" y="43"/>
                  </a:lnTo>
                  <a:lnTo>
                    <a:pt x="121" y="45"/>
                  </a:lnTo>
                  <a:lnTo>
                    <a:pt x="112" y="47"/>
                  </a:lnTo>
                  <a:lnTo>
                    <a:pt x="104" y="49"/>
                  </a:lnTo>
                  <a:lnTo>
                    <a:pt x="95" y="51"/>
                  </a:lnTo>
                  <a:lnTo>
                    <a:pt x="85" y="55"/>
                  </a:lnTo>
                  <a:lnTo>
                    <a:pt x="76" y="55"/>
                  </a:lnTo>
                  <a:lnTo>
                    <a:pt x="68" y="59"/>
                  </a:lnTo>
                  <a:lnTo>
                    <a:pt x="59" y="59"/>
                  </a:lnTo>
                  <a:lnTo>
                    <a:pt x="49" y="61"/>
                  </a:lnTo>
                  <a:lnTo>
                    <a:pt x="41" y="62"/>
                  </a:lnTo>
                  <a:lnTo>
                    <a:pt x="32" y="64"/>
                  </a:lnTo>
                  <a:lnTo>
                    <a:pt x="22" y="66"/>
                  </a:lnTo>
                  <a:lnTo>
                    <a:pt x="15" y="68"/>
                  </a:lnTo>
                  <a:lnTo>
                    <a:pt x="7" y="68"/>
                  </a:lnTo>
                  <a:lnTo>
                    <a:pt x="0" y="72"/>
                  </a:lnTo>
                  <a:lnTo>
                    <a:pt x="5" y="66"/>
                  </a:lnTo>
                  <a:lnTo>
                    <a:pt x="11" y="61"/>
                  </a:lnTo>
                  <a:lnTo>
                    <a:pt x="19" y="57"/>
                  </a:lnTo>
                  <a:lnTo>
                    <a:pt x="28" y="53"/>
                  </a:lnTo>
                  <a:lnTo>
                    <a:pt x="36" y="49"/>
                  </a:lnTo>
                  <a:lnTo>
                    <a:pt x="43" y="45"/>
                  </a:lnTo>
                  <a:lnTo>
                    <a:pt x="51" y="42"/>
                  </a:lnTo>
                  <a:lnTo>
                    <a:pt x="59" y="38"/>
                  </a:lnTo>
                  <a:lnTo>
                    <a:pt x="68" y="32"/>
                  </a:lnTo>
                  <a:lnTo>
                    <a:pt x="76" y="28"/>
                  </a:lnTo>
                  <a:lnTo>
                    <a:pt x="83" y="24"/>
                  </a:lnTo>
                  <a:lnTo>
                    <a:pt x="91" y="21"/>
                  </a:lnTo>
                  <a:lnTo>
                    <a:pt x="99" y="15"/>
                  </a:lnTo>
                  <a:lnTo>
                    <a:pt x="108" y="11"/>
                  </a:lnTo>
                  <a:lnTo>
                    <a:pt x="116" y="5"/>
                  </a:lnTo>
                  <a:lnTo>
                    <a:pt x="1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39" name="Freeform 51"/>
            <p:cNvSpPr>
              <a:spLocks/>
            </p:cNvSpPr>
            <p:nvPr/>
          </p:nvSpPr>
          <p:spPr bwMode="auto">
            <a:xfrm>
              <a:off x="3714" y="2726"/>
              <a:ext cx="16" cy="11"/>
            </a:xfrm>
            <a:custGeom>
              <a:avLst/>
              <a:gdLst>
                <a:gd name="T0" fmla="*/ 0 w 33"/>
                <a:gd name="T1" fmla="*/ 0 h 23"/>
                <a:gd name="T2" fmla="*/ 0 w 33"/>
                <a:gd name="T3" fmla="*/ 0 h 23"/>
                <a:gd name="T4" fmla="*/ 0 w 33"/>
                <a:gd name="T5" fmla="*/ 0 h 23"/>
                <a:gd name="T6" fmla="*/ 0 w 33"/>
                <a:gd name="T7" fmla="*/ 0 h 23"/>
                <a:gd name="T8" fmla="*/ 0 w 33"/>
                <a:gd name="T9" fmla="*/ 0 h 23"/>
                <a:gd name="T10" fmla="*/ 0 w 33"/>
                <a:gd name="T11" fmla="*/ 0 h 23"/>
                <a:gd name="T12" fmla="*/ 0 w 33"/>
                <a:gd name="T13" fmla="*/ 0 h 23"/>
                <a:gd name="T14" fmla="*/ 0 w 33"/>
                <a:gd name="T15" fmla="*/ 0 h 23"/>
                <a:gd name="T16" fmla="*/ 0 w 33"/>
                <a:gd name="T17" fmla="*/ 0 h 23"/>
                <a:gd name="T18" fmla="*/ 0 w 33"/>
                <a:gd name="T19" fmla="*/ 0 h 23"/>
                <a:gd name="T20" fmla="*/ 0 w 33"/>
                <a:gd name="T21" fmla="*/ 0 h 23"/>
                <a:gd name="T22" fmla="*/ 0 w 33"/>
                <a:gd name="T23" fmla="*/ 0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23"/>
                <a:gd name="T38" fmla="*/ 33 w 33"/>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23">
                  <a:moveTo>
                    <a:pt x="33" y="0"/>
                  </a:moveTo>
                  <a:lnTo>
                    <a:pt x="29" y="12"/>
                  </a:lnTo>
                  <a:lnTo>
                    <a:pt x="23" y="19"/>
                  </a:lnTo>
                  <a:lnTo>
                    <a:pt x="16" y="23"/>
                  </a:lnTo>
                  <a:lnTo>
                    <a:pt x="10" y="19"/>
                  </a:lnTo>
                  <a:lnTo>
                    <a:pt x="0" y="15"/>
                  </a:lnTo>
                  <a:lnTo>
                    <a:pt x="2" y="8"/>
                  </a:lnTo>
                  <a:lnTo>
                    <a:pt x="6" y="4"/>
                  </a:lnTo>
                  <a:lnTo>
                    <a:pt x="12" y="2"/>
                  </a:lnTo>
                  <a:lnTo>
                    <a:pt x="19" y="0"/>
                  </a:lnTo>
                  <a:lnTo>
                    <a:pt x="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40" name="Freeform 52"/>
            <p:cNvSpPr>
              <a:spLocks/>
            </p:cNvSpPr>
            <p:nvPr/>
          </p:nvSpPr>
          <p:spPr bwMode="auto">
            <a:xfrm>
              <a:off x="3681" y="2744"/>
              <a:ext cx="10" cy="13"/>
            </a:xfrm>
            <a:custGeom>
              <a:avLst/>
              <a:gdLst>
                <a:gd name="T0" fmla="*/ 0 w 21"/>
                <a:gd name="T1" fmla="*/ 0 h 27"/>
                <a:gd name="T2" fmla="*/ 0 w 21"/>
                <a:gd name="T3" fmla="*/ 0 h 27"/>
                <a:gd name="T4" fmla="*/ 0 w 21"/>
                <a:gd name="T5" fmla="*/ 0 h 27"/>
                <a:gd name="T6" fmla="*/ 0 w 21"/>
                <a:gd name="T7" fmla="*/ 0 h 27"/>
                <a:gd name="T8" fmla="*/ 0 w 21"/>
                <a:gd name="T9" fmla="*/ 0 h 27"/>
                <a:gd name="T10" fmla="*/ 0 w 21"/>
                <a:gd name="T11" fmla="*/ 0 h 27"/>
                <a:gd name="T12" fmla="*/ 0 w 21"/>
                <a:gd name="T13" fmla="*/ 0 h 27"/>
                <a:gd name="T14" fmla="*/ 0 w 21"/>
                <a:gd name="T15" fmla="*/ 0 h 27"/>
                <a:gd name="T16" fmla="*/ 0 w 21"/>
                <a:gd name="T17" fmla="*/ 0 h 27"/>
                <a:gd name="T18" fmla="*/ 0 w 21"/>
                <a:gd name="T19" fmla="*/ 0 h 27"/>
                <a:gd name="T20" fmla="*/ 0 w 21"/>
                <a:gd name="T21" fmla="*/ 0 h 27"/>
                <a:gd name="T22" fmla="*/ 0 w 21"/>
                <a:gd name="T23" fmla="*/ 0 h 27"/>
                <a:gd name="T24" fmla="*/ 0 w 21"/>
                <a:gd name="T25" fmla="*/ 0 h 27"/>
                <a:gd name="T26" fmla="*/ 0 w 21"/>
                <a:gd name="T27" fmla="*/ 0 h 2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
                <a:gd name="T43" fmla="*/ 0 h 27"/>
                <a:gd name="T44" fmla="*/ 21 w 21"/>
                <a:gd name="T45" fmla="*/ 27 h 2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 h="27">
                  <a:moveTo>
                    <a:pt x="21" y="0"/>
                  </a:moveTo>
                  <a:lnTo>
                    <a:pt x="19" y="10"/>
                  </a:lnTo>
                  <a:lnTo>
                    <a:pt x="17" y="17"/>
                  </a:lnTo>
                  <a:lnTo>
                    <a:pt x="13" y="21"/>
                  </a:lnTo>
                  <a:lnTo>
                    <a:pt x="9" y="25"/>
                  </a:lnTo>
                  <a:lnTo>
                    <a:pt x="4" y="25"/>
                  </a:lnTo>
                  <a:lnTo>
                    <a:pt x="2" y="27"/>
                  </a:lnTo>
                  <a:lnTo>
                    <a:pt x="0" y="21"/>
                  </a:lnTo>
                  <a:lnTo>
                    <a:pt x="4" y="14"/>
                  </a:lnTo>
                  <a:lnTo>
                    <a:pt x="5" y="10"/>
                  </a:lnTo>
                  <a:lnTo>
                    <a:pt x="9" y="4"/>
                  </a:lnTo>
                  <a:lnTo>
                    <a:pt x="13" y="2"/>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41" name="Freeform 53"/>
            <p:cNvSpPr>
              <a:spLocks/>
            </p:cNvSpPr>
            <p:nvPr/>
          </p:nvSpPr>
          <p:spPr bwMode="auto">
            <a:xfrm>
              <a:off x="3750" y="2753"/>
              <a:ext cx="23" cy="17"/>
            </a:xfrm>
            <a:custGeom>
              <a:avLst/>
              <a:gdLst>
                <a:gd name="T0" fmla="*/ 1 w 45"/>
                <a:gd name="T1" fmla="*/ 0 h 35"/>
                <a:gd name="T2" fmla="*/ 1 w 45"/>
                <a:gd name="T3" fmla="*/ 0 h 35"/>
                <a:gd name="T4" fmla="*/ 1 w 45"/>
                <a:gd name="T5" fmla="*/ 0 h 35"/>
                <a:gd name="T6" fmla="*/ 1 w 45"/>
                <a:gd name="T7" fmla="*/ 0 h 35"/>
                <a:gd name="T8" fmla="*/ 1 w 45"/>
                <a:gd name="T9" fmla="*/ 0 h 35"/>
                <a:gd name="T10" fmla="*/ 1 w 45"/>
                <a:gd name="T11" fmla="*/ 0 h 35"/>
                <a:gd name="T12" fmla="*/ 1 w 45"/>
                <a:gd name="T13" fmla="*/ 0 h 35"/>
                <a:gd name="T14" fmla="*/ 1 w 45"/>
                <a:gd name="T15" fmla="*/ 0 h 35"/>
                <a:gd name="T16" fmla="*/ 1 w 45"/>
                <a:gd name="T17" fmla="*/ 0 h 35"/>
                <a:gd name="T18" fmla="*/ 0 w 45"/>
                <a:gd name="T19" fmla="*/ 0 h 35"/>
                <a:gd name="T20" fmla="*/ 1 w 45"/>
                <a:gd name="T21" fmla="*/ 0 h 35"/>
                <a:gd name="T22" fmla="*/ 1 w 45"/>
                <a:gd name="T23" fmla="*/ 0 h 35"/>
                <a:gd name="T24" fmla="*/ 1 w 45"/>
                <a:gd name="T25" fmla="*/ 0 h 35"/>
                <a:gd name="T26" fmla="*/ 1 w 45"/>
                <a:gd name="T27" fmla="*/ 0 h 35"/>
                <a:gd name="T28" fmla="*/ 1 w 45"/>
                <a:gd name="T29" fmla="*/ 0 h 3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5"/>
                <a:gd name="T46" fmla="*/ 0 h 35"/>
                <a:gd name="T47" fmla="*/ 45 w 45"/>
                <a:gd name="T48" fmla="*/ 35 h 3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5" h="35">
                  <a:moveTo>
                    <a:pt x="32" y="0"/>
                  </a:moveTo>
                  <a:lnTo>
                    <a:pt x="41" y="0"/>
                  </a:lnTo>
                  <a:lnTo>
                    <a:pt x="45" y="4"/>
                  </a:lnTo>
                  <a:lnTo>
                    <a:pt x="43" y="8"/>
                  </a:lnTo>
                  <a:lnTo>
                    <a:pt x="38" y="14"/>
                  </a:lnTo>
                  <a:lnTo>
                    <a:pt x="28" y="19"/>
                  </a:lnTo>
                  <a:lnTo>
                    <a:pt x="19" y="25"/>
                  </a:lnTo>
                  <a:lnTo>
                    <a:pt x="7" y="31"/>
                  </a:lnTo>
                  <a:lnTo>
                    <a:pt x="1" y="35"/>
                  </a:lnTo>
                  <a:lnTo>
                    <a:pt x="0" y="31"/>
                  </a:lnTo>
                  <a:lnTo>
                    <a:pt x="7" y="19"/>
                  </a:lnTo>
                  <a:lnTo>
                    <a:pt x="19" y="12"/>
                  </a:lnTo>
                  <a:lnTo>
                    <a:pt x="24" y="6"/>
                  </a:lnTo>
                  <a:lnTo>
                    <a:pt x="3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42" name="Freeform 54"/>
            <p:cNvSpPr>
              <a:spLocks/>
            </p:cNvSpPr>
            <p:nvPr/>
          </p:nvSpPr>
          <p:spPr bwMode="auto">
            <a:xfrm>
              <a:off x="4516" y="2765"/>
              <a:ext cx="114" cy="24"/>
            </a:xfrm>
            <a:custGeom>
              <a:avLst/>
              <a:gdLst>
                <a:gd name="T0" fmla="*/ 1 w 228"/>
                <a:gd name="T1" fmla="*/ 0 h 50"/>
                <a:gd name="T2" fmla="*/ 1 w 228"/>
                <a:gd name="T3" fmla="*/ 0 h 50"/>
                <a:gd name="T4" fmla="*/ 1 w 228"/>
                <a:gd name="T5" fmla="*/ 0 h 50"/>
                <a:gd name="T6" fmla="*/ 1 w 228"/>
                <a:gd name="T7" fmla="*/ 0 h 50"/>
                <a:gd name="T8" fmla="*/ 1 w 228"/>
                <a:gd name="T9" fmla="*/ 0 h 50"/>
                <a:gd name="T10" fmla="*/ 1 w 228"/>
                <a:gd name="T11" fmla="*/ 0 h 50"/>
                <a:gd name="T12" fmla="*/ 1 w 228"/>
                <a:gd name="T13" fmla="*/ 0 h 50"/>
                <a:gd name="T14" fmla="*/ 1 w 228"/>
                <a:gd name="T15" fmla="*/ 0 h 50"/>
                <a:gd name="T16" fmla="*/ 1 w 228"/>
                <a:gd name="T17" fmla="*/ 0 h 50"/>
                <a:gd name="T18" fmla="*/ 1 w 228"/>
                <a:gd name="T19" fmla="*/ 0 h 50"/>
                <a:gd name="T20" fmla="*/ 1 w 228"/>
                <a:gd name="T21" fmla="*/ 0 h 50"/>
                <a:gd name="T22" fmla="*/ 1 w 228"/>
                <a:gd name="T23" fmla="*/ 0 h 50"/>
                <a:gd name="T24" fmla="*/ 1 w 228"/>
                <a:gd name="T25" fmla="*/ 0 h 50"/>
                <a:gd name="T26" fmla="*/ 1 w 228"/>
                <a:gd name="T27" fmla="*/ 0 h 50"/>
                <a:gd name="T28" fmla="*/ 1 w 228"/>
                <a:gd name="T29" fmla="*/ 0 h 50"/>
                <a:gd name="T30" fmla="*/ 1 w 228"/>
                <a:gd name="T31" fmla="*/ 0 h 50"/>
                <a:gd name="T32" fmla="*/ 1 w 228"/>
                <a:gd name="T33" fmla="*/ 0 h 50"/>
                <a:gd name="T34" fmla="*/ 1 w 228"/>
                <a:gd name="T35" fmla="*/ 0 h 50"/>
                <a:gd name="T36" fmla="*/ 1 w 228"/>
                <a:gd name="T37" fmla="*/ 0 h 50"/>
                <a:gd name="T38" fmla="*/ 1 w 228"/>
                <a:gd name="T39" fmla="*/ 0 h 50"/>
                <a:gd name="T40" fmla="*/ 1 w 228"/>
                <a:gd name="T41" fmla="*/ 0 h 50"/>
                <a:gd name="T42" fmla="*/ 1 w 228"/>
                <a:gd name="T43" fmla="*/ 0 h 50"/>
                <a:gd name="T44" fmla="*/ 1 w 228"/>
                <a:gd name="T45" fmla="*/ 0 h 50"/>
                <a:gd name="T46" fmla="*/ 1 w 228"/>
                <a:gd name="T47" fmla="*/ 0 h 50"/>
                <a:gd name="T48" fmla="*/ 1 w 228"/>
                <a:gd name="T49" fmla="*/ 0 h 50"/>
                <a:gd name="T50" fmla="*/ 1 w 228"/>
                <a:gd name="T51" fmla="*/ 0 h 50"/>
                <a:gd name="T52" fmla="*/ 1 w 228"/>
                <a:gd name="T53" fmla="*/ 0 h 50"/>
                <a:gd name="T54" fmla="*/ 1 w 228"/>
                <a:gd name="T55" fmla="*/ 0 h 50"/>
                <a:gd name="T56" fmla="*/ 0 w 228"/>
                <a:gd name="T57" fmla="*/ 0 h 50"/>
                <a:gd name="T58" fmla="*/ 1 w 228"/>
                <a:gd name="T59" fmla="*/ 0 h 50"/>
                <a:gd name="T60" fmla="*/ 1 w 228"/>
                <a:gd name="T61" fmla="*/ 0 h 50"/>
                <a:gd name="T62" fmla="*/ 1 w 228"/>
                <a:gd name="T63" fmla="*/ 0 h 50"/>
                <a:gd name="T64" fmla="*/ 1 w 228"/>
                <a:gd name="T65" fmla="*/ 0 h 50"/>
                <a:gd name="T66" fmla="*/ 1 w 228"/>
                <a:gd name="T67" fmla="*/ 0 h 50"/>
                <a:gd name="T68" fmla="*/ 1 w 228"/>
                <a:gd name="T69" fmla="*/ 0 h 50"/>
                <a:gd name="T70" fmla="*/ 1 w 228"/>
                <a:gd name="T71" fmla="*/ 0 h 50"/>
                <a:gd name="T72" fmla="*/ 1 w 228"/>
                <a:gd name="T73" fmla="*/ 0 h 50"/>
                <a:gd name="T74" fmla="*/ 1 w 228"/>
                <a:gd name="T75" fmla="*/ 0 h 50"/>
                <a:gd name="T76" fmla="*/ 1 w 228"/>
                <a:gd name="T77" fmla="*/ 0 h 50"/>
                <a:gd name="T78" fmla="*/ 1 w 228"/>
                <a:gd name="T79" fmla="*/ 0 h 50"/>
                <a:gd name="T80" fmla="*/ 1 w 228"/>
                <a:gd name="T81" fmla="*/ 0 h 50"/>
                <a:gd name="T82" fmla="*/ 1 w 228"/>
                <a:gd name="T83" fmla="*/ 0 h 50"/>
                <a:gd name="T84" fmla="*/ 1 w 228"/>
                <a:gd name="T85" fmla="*/ 0 h 50"/>
                <a:gd name="T86" fmla="*/ 1 w 228"/>
                <a:gd name="T87" fmla="*/ 0 h 50"/>
                <a:gd name="T88" fmla="*/ 1 w 228"/>
                <a:gd name="T89" fmla="*/ 0 h 50"/>
                <a:gd name="T90" fmla="*/ 1 w 228"/>
                <a:gd name="T91" fmla="*/ 0 h 5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28"/>
                <a:gd name="T139" fmla="*/ 0 h 50"/>
                <a:gd name="T140" fmla="*/ 228 w 228"/>
                <a:gd name="T141" fmla="*/ 50 h 5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28" h="50">
                  <a:moveTo>
                    <a:pt x="190" y="0"/>
                  </a:moveTo>
                  <a:lnTo>
                    <a:pt x="196" y="2"/>
                  </a:lnTo>
                  <a:lnTo>
                    <a:pt x="205" y="12"/>
                  </a:lnTo>
                  <a:lnTo>
                    <a:pt x="211" y="17"/>
                  </a:lnTo>
                  <a:lnTo>
                    <a:pt x="215" y="25"/>
                  </a:lnTo>
                  <a:lnTo>
                    <a:pt x="221" y="33"/>
                  </a:lnTo>
                  <a:lnTo>
                    <a:pt x="226" y="40"/>
                  </a:lnTo>
                  <a:lnTo>
                    <a:pt x="228" y="48"/>
                  </a:lnTo>
                  <a:lnTo>
                    <a:pt x="228" y="50"/>
                  </a:lnTo>
                  <a:lnTo>
                    <a:pt x="224" y="48"/>
                  </a:lnTo>
                  <a:lnTo>
                    <a:pt x="219" y="46"/>
                  </a:lnTo>
                  <a:lnTo>
                    <a:pt x="211" y="40"/>
                  </a:lnTo>
                  <a:lnTo>
                    <a:pt x="204" y="34"/>
                  </a:lnTo>
                  <a:lnTo>
                    <a:pt x="194" y="29"/>
                  </a:lnTo>
                  <a:lnTo>
                    <a:pt x="186" y="25"/>
                  </a:lnTo>
                  <a:lnTo>
                    <a:pt x="175" y="23"/>
                  </a:lnTo>
                  <a:lnTo>
                    <a:pt x="166" y="23"/>
                  </a:lnTo>
                  <a:lnTo>
                    <a:pt x="152" y="23"/>
                  </a:lnTo>
                  <a:lnTo>
                    <a:pt x="139" y="23"/>
                  </a:lnTo>
                  <a:lnTo>
                    <a:pt x="126" y="25"/>
                  </a:lnTo>
                  <a:lnTo>
                    <a:pt x="112" y="29"/>
                  </a:lnTo>
                  <a:lnTo>
                    <a:pt x="95" y="31"/>
                  </a:lnTo>
                  <a:lnTo>
                    <a:pt x="82" y="33"/>
                  </a:lnTo>
                  <a:lnTo>
                    <a:pt x="65" y="34"/>
                  </a:lnTo>
                  <a:lnTo>
                    <a:pt x="51" y="38"/>
                  </a:lnTo>
                  <a:lnTo>
                    <a:pt x="36" y="38"/>
                  </a:lnTo>
                  <a:lnTo>
                    <a:pt x="23" y="40"/>
                  </a:lnTo>
                  <a:lnTo>
                    <a:pt x="12" y="42"/>
                  </a:lnTo>
                  <a:lnTo>
                    <a:pt x="0" y="44"/>
                  </a:lnTo>
                  <a:lnTo>
                    <a:pt x="10" y="36"/>
                  </a:lnTo>
                  <a:lnTo>
                    <a:pt x="21" y="33"/>
                  </a:lnTo>
                  <a:lnTo>
                    <a:pt x="32" y="31"/>
                  </a:lnTo>
                  <a:lnTo>
                    <a:pt x="44" y="27"/>
                  </a:lnTo>
                  <a:lnTo>
                    <a:pt x="55" y="25"/>
                  </a:lnTo>
                  <a:lnTo>
                    <a:pt x="69" y="23"/>
                  </a:lnTo>
                  <a:lnTo>
                    <a:pt x="80" y="21"/>
                  </a:lnTo>
                  <a:lnTo>
                    <a:pt x="93" y="21"/>
                  </a:lnTo>
                  <a:lnTo>
                    <a:pt x="105" y="19"/>
                  </a:lnTo>
                  <a:lnTo>
                    <a:pt x="116" y="17"/>
                  </a:lnTo>
                  <a:lnTo>
                    <a:pt x="129" y="17"/>
                  </a:lnTo>
                  <a:lnTo>
                    <a:pt x="143" y="15"/>
                  </a:lnTo>
                  <a:lnTo>
                    <a:pt x="154" y="12"/>
                  </a:lnTo>
                  <a:lnTo>
                    <a:pt x="166" y="8"/>
                  </a:lnTo>
                  <a:lnTo>
                    <a:pt x="179" y="4"/>
                  </a:lnTo>
                  <a:lnTo>
                    <a:pt x="1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43" name="Freeform 55"/>
            <p:cNvSpPr>
              <a:spLocks/>
            </p:cNvSpPr>
            <p:nvPr/>
          </p:nvSpPr>
          <p:spPr bwMode="auto">
            <a:xfrm>
              <a:off x="3413" y="2768"/>
              <a:ext cx="68" cy="39"/>
            </a:xfrm>
            <a:custGeom>
              <a:avLst/>
              <a:gdLst>
                <a:gd name="T0" fmla="*/ 1 w 136"/>
                <a:gd name="T1" fmla="*/ 0 h 78"/>
                <a:gd name="T2" fmla="*/ 1 w 136"/>
                <a:gd name="T3" fmla="*/ 1 h 78"/>
                <a:gd name="T4" fmla="*/ 1 w 136"/>
                <a:gd name="T5" fmla="*/ 1 h 78"/>
                <a:gd name="T6" fmla="*/ 1 w 136"/>
                <a:gd name="T7" fmla="*/ 1 h 78"/>
                <a:gd name="T8" fmla="*/ 1 w 136"/>
                <a:gd name="T9" fmla="*/ 1 h 78"/>
                <a:gd name="T10" fmla="*/ 1 w 136"/>
                <a:gd name="T11" fmla="*/ 1 h 78"/>
                <a:gd name="T12" fmla="*/ 1 w 136"/>
                <a:gd name="T13" fmla="*/ 1 h 78"/>
                <a:gd name="T14" fmla="*/ 1 w 136"/>
                <a:gd name="T15" fmla="*/ 1 h 78"/>
                <a:gd name="T16" fmla="*/ 1 w 136"/>
                <a:gd name="T17" fmla="*/ 1 h 78"/>
                <a:gd name="T18" fmla="*/ 1 w 136"/>
                <a:gd name="T19" fmla="*/ 1 h 78"/>
                <a:gd name="T20" fmla="*/ 1 w 136"/>
                <a:gd name="T21" fmla="*/ 1 h 78"/>
                <a:gd name="T22" fmla="*/ 1 w 136"/>
                <a:gd name="T23" fmla="*/ 1 h 78"/>
                <a:gd name="T24" fmla="*/ 1 w 136"/>
                <a:gd name="T25" fmla="*/ 1 h 78"/>
                <a:gd name="T26" fmla="*/ 1 w 136"/>
                <a:gd name="T27" fmla="*/ 1 h 78"/>
                <a:gd name="T28" fmla="*/ 1 w 136"/>
                <a:gd name="T29" fmla="*/ 1 h 78"/>
                <a:gd name="T30" fmla="*/ 1 w 136"/>
                <a:gd name="T31" fmla="*/ 1 h 78"/>
                <a:gd name="T32" fmla="*/ 0 w 136"/>
                <a:gd name="T33" fmla="*/ 1 h 78"/>
                <a:gd name="T34" fmla="*/ 1 w 136"/>
                <a:gd name="T35" fmla="*/ 1 h 78"/>
                <a:gd name="T36" fmla="*/ 1 w 136"/>
                <a:gd name="T37" fmla="*/ 1 h 78"/>
                <a:gd name="T38" fmla="*/ 1 w 136"/>
                <a:gd name="T39" fmla="*/ 1 h 78"/>
                <a:gd name="T40" fmla="*/ 1 w 136"/>
                <a:gd name="T41" fmla="*/ 1 h 78"/>
                <a:gd name="T42" fmla="*/ 1 w 136"/>
                <a:gd name="T43" fmla="*/ 1 h 78"/>
                <a:gd name="T44" fmla="*/ 1 w 136"/>
                <a:gd name="T45" fmla="*/ 1 h 78"/>
                <a:gd name="T46" fmla="*/ 1 w 136"/>
                <a:gd name="T47" fmla="*/ 1 h 78"/>
                <a:gd name="T48" fmla="*/ 1 w 136"/>
                <a:gd name="T49" fmla="*/ 1 h 78"/>
                <a:gd name="T50" fmla="*/ 1 w 136"/>
                <a:gd name="T51" fmla="*/ 1 h 78"/>
                <a:gd name="T52" fmla="*/ 1 w 136"/>
                <a:gd name="T53" fmla="*/ 1 h 78"/>
                <a:gd name="T54" fmla="*/ 1 w 136"/>
                <a:gd name="T55" fmla="*/ 1 h 78"/>
                <a:gd name="T56" fmla="*/ 1 w 136"/>
                <a:gd name="T57" fmla="*/ 1 h 78"/>
                <a:gd name="T58" fmla="*/ 1 w 136"/>
                <a:gd name="T59" fmla="*/ 1 h 78"/>
                <a:gd name="T60" fmla="*/ 1 w 136"/>
                <a:gd name="T61" fmla="*/ 0 h 78"/>
                <a:gd name="T62" fmla="*/ 1 w 136"/>
                <a:gd name="T63" fmla="*/ 0 h 7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36"/>
                <a:gd name="T97" fmla="*/ 0 h 78"/>
                <a:gd name="T98" fmla="*/ 136 w 136"/>
                <a:gd name="T99" fmla="*/ 78 h 7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36" h="78">
                  <a:moveTo>
                    <a:pt x="136" y="0"/>
                  </a:moveTo>
                  <a:lnTo>
                    <a:pt x="131" y="4"/>
                  </a:lnTo>
                  <a:lnTo>
                    <a:pt x="125" y="13"/>
                  </a:lnTo>
                  <a:lnTo>
                    <a:pt x="117" y="21"/>
                  </a:lnTo>
                  <a:lnTo>
                    <a:pt x="112" y="28"/>
                  </a:lnTo>
                  <a:lnTo>
                    <a:pt x="104" y="36"/>
                  </a:lnTo>
                  <a:lnTo>
                    <a:pt x="95" y="44"/>
                  </a:lnTo>
                  <a:lnTo>
                    <a:pt x="87" y="49"/>
                  </a:lnTo>
                  <a:lnTo>
                    <a:pt x="81" y="57"/>
                  </a:lnTo>
                  <a:lnTo>
                    <a:pt x="70" y="64"/>
                  </a:lnTo>
                  <a:lnTo>
                    <a:pt x="60" y="72"/>
                  </a:lnTo>
                  <a:lnTo>
                    <a:pt x="49" y="74"/>
                  </a:lnTo>
                  <a:lnTo>
                    <a:pt x="38" y="78"/>
                  </a:lnTo>
                  <a:lnTo>
                    <a:pt x="28" y="76"/>
                  </a:lnTo>
                  <a:lnTo>
                    <a:pt x="17" y="74"/>
                  </a:lnTo>
                  <a:lnTo>
                    <a:pt x="7" y="66"/>
                  </a:lnTo>
                  <a:lnTo>
                    <a:pt x="0" y="57"/>
                  </a:lnTo>
                  <a:lnTo>
                    <a:pt x="7" y="53"/>
                  </a:lnTo>
                  <a:lnTo>
                    <a:pt x="20" y="55"/>
                  </a:lnTo>
                  <a:lnTo>
                    <a:pt x="22" y="47"/>
                  </a:lnTo>
                  <a:lnTo>
                    <a:pt x="28" y="42"/>
                  </a:lnTo>
                  <a:lnTo>
                    <a:pt x="36" y="36"/>
                  </a:lnTo>
                  <a:lnTo>
                    <a:pt x="45" y="32"/>
                  </a:lnTo>
                  <a:lnTo>
                    <a:pt x="55" y="26"/>
                  </a:lnTo>
                  <a:lnTo>
                    <a:pt x="66" y="23"/>
                  </a:lnTo>
                  <a:lnTo>
                    <a:pt x="78" y="21"/>
                  </a:lnTo>
                  <a:lnTo>
                    <a:pt x="91" y="17"/>
                  </a:lnTo>
                  <a:lnTo>
                    <a:pt x="104" y="13"/>
                  </a:lnTo>
                  <a:lnTo>
                    <a:pt x="116" y="9"/>
                  </a:lnTo>
                  <a:lnTo>
                    <a:pt x="127" y="4"/>
                  </a:lnTo>
                  <a:lnTo>
                    <a:pt x="13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44" name="Freeform 56"/>
            <p:cNvSpPr>
              <a:spLocks/>
            </p:cNvSpPr>
            <p:nvPr/>
          </p:nvSpPr>
          <p:spPr bwMode="auto">
            <a:xfrm>
              <a:off x="3608" y="2768"/>
              <a:ext cx="51" cy="58"/>
            </a:xfrm>
            <a:custGeom>
              <a:avLst/>
              <a:gdLst>
                <a:gd name="T0" fmla="*/ 0 w 103"/>
                <a:gd name="T1" fmla="*/ 0 h 116"/>
                <a:gd name="T2" fmla="*/ 0 w 103"/>
                <a:gd name="T3" fmla="*/ 1 h 116"/>
                <a:gd name="T4" fmla="*/ 0 w 103"/>
                <a:gd name="T5" fmla="*/ 1 h 116"/>
                <a:gd name="T6" fmla="*/ 0 w 103"/>
                <a:gd name="T7" fmla="*/ 1 h 116"/>
                <a:gd name="T8" fmla="*/ 0 w 103"/>
                <a:gd name="T9" fmla="*/ 1 h 116"/>
                <a:gd name="T10" fmla="*/ 0 w 103"/>
                <a:gd name="T11" fmla="*/ 1 h 116"/>
                <a:gd name="T12" fmla="*/ 0 w 103"/>
                <a:gd name="T13" fmla="*/ 1 h 116"/>
                <a:gd name="T14" fmla="*/ 0 w 103"/>
                <a:gd name="T15" fmla="*/ 1 h 116"/>
                <a:gd name="T16" fmla="*/ 0 w 103"/>
                <a:gd name="T17" fmla="*/ 1 h 116"/>
                <a:gd name="T18" fmla="*/ 0 w 103"/>
                <a:gd name="T19" fmla="*/ 1 h 116"/>
                <a:gd name="T20" fmla="*/ 0 w 103"/>
                <a:gd name="T21" fmla="*/ 1 h 116"/>
                <a:gd name="T22" fmla="*/ 0 w 103"/>
                <a:gd name="T23" fmla="*/ 1 h 116"/>
                <a:gd name="T24" fmla="*/ 0 w 103"/>
                <a:gd name="T25" fmla="*/ 1 h 116"/>
                <a:gd name="T26" fmla="*/ 0 w 103"/>
                <a:gd name="T27" fmla="*/ 1 h 116"/>
                <a:gd name="T28" fmla="*/ 0 w 103"/>
                <a:gd name="T29" fmla="*/ 1 h 116"/>
                <a:gd name="T30" fmla="*/ 0 w 103"/>
                <a:gd name="T31" fmla="*/ 1 h 116"/>
                <a:gd name="T32" fmla="*/ 0 w 103"/>
                <a:gd name="T33" fmla="*/ 1 h 116"/>
                <a:gd name="T34" fmla="*/ 0 w 103"/>
                <a:gd name="T35" fmla="*/ 1 h 116"/>
                <a:gd name="T36" fmla="*/ 0 w 103"/>
                <a:gd name="T37" fmla="*/ 1 h 116"/>
                <a:gd name="T38" fmla="*/ 0 w 103"/>
                <a:gd name="T39" fmla="*/ 1 h 116"/>
                <a:gd name="T40" fmla="*/ 0 w 103"/>
                <a:gd name="T41" fmla="*/ 1 h 116"/>
                <a:gd name="T42" fmla="*/ 0 w 103"/>
                <a:gd name="T43" fmla="*/ 1 h 116"/>
                <a:gd name="T44" fmla="*/ 0 w 103"/>
                <a:gd name="T45" fmla="*/ 1 h 116"/>
                <a:gd name="T46" fmla="*/ 0 w 103"/>
                <a:gd name="T47" fmla="*/ 1 h 116"/>
                <a:gd name="T48" fmla="*/ 0 w 103"/>
                <a:gd name="T49" fmla="*/ 1 h 116"/>
                <a:gd name="T50" fmla="*/ 0 w 103"/>
                <a:gd name="T51" fmla="*/ 1 h 116"/>
                <a:gd name="T52" fmla="*/ 0 w 103"/>
                <a:gd name="T53" fmla="*/ 0 h 116"/>
                <a:gd name="T54" fmla="*/ 0 w 103"/>
                <a:gd name="T55" fmla="*/ 0 h 11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03"/>
                <a:gd name="T85" fmla="*/ 0 h 116"/>
                <a:gd name="T86" fmla="*/ 103 w 103"/>
                <a:gd name="T87" fmla="*/ 116 h 11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03" h="116">
                  <a:moveTo>
                    <a:pt x="103" y="0"/>
                  </a:moveTo>
                  <a:lnTo>
                    <a:pt x="99" y="6"/>
                  </a:lnTo>
                  <a:lnTo>
                    <a:pt x="94" y="17"/>
                  </a:lnTo>
                  <a:lnTo>
                    <a:pt x="86" y="28"/>
                  </a:lnTo>
                  <a:lnTo>
                    <a:pt x="76" y="42"/>
                  </a:lnTo>
                  <a:lnTo>
                    <a:pt x="65" y="53"/>
                  </a:lnTo>
                  <a:lnTo>
                    <a:pt x="54" y="66"/>
                  </a:lnTo>
                  <a:lnTo>
                    <a:pt x="44" y="80"/>
                  </a:lnTo>
                  <a:lnTo>
                    <a:pt x="33" y="93"/>
                  </a:lnTo>
                  <a:lnTo>
                    <a:pt x="21" y="101"/>
                  </a:lnTo>
                  <a:lnTo>
                    <a:pt x="14" y="108"/>
                  </a:lnTo>
                  <a:lnTo>
                    <a:pt x="6" y="112"/>
                  </a:lnTo>
                  <a:lnTo>
                    <a:pt x="2" y="116"/>
                  </a:lnTo>
                  <a:lnTo>
                    <a:pt x="0" y="112"/>
                  </a:lnTo>
                  <a:lnTo>
                    <a:pt x="0" y="106"/>
                  </a:lnTo>
                  <a:lnTo>
                    <a:pt x="6" y="95"/>
                  </a:lnTo>
                  <a:lnTo>
                    <a:pt x="17" y="78"/>
                  </a:lnTo>
                  <a:lnTo>
                    <a:pt x="27" y="66"/>
                  </a:lnTo>
                  <a:lnTo>
                    <a:pt x="36" y="57"/>
                  </a:lnTo>
                  <a:lnTo>
                    <a:pt x="44" y="45"/>
                  </a:lnTo>
                  <a:lnTo>
                    <a:pt x="54" y="36"/>
                  </a:lnTo>
                  <a:lnTo>
                    <a:pt x="63" y="23"/>
                  </a:lnTo>
                  <a:lnTo>
                    <a:pt x="76" y="13"/>
                  </a:lnTo>
                  <a:lnTo>
                    <a:pt x="82" y="9"/>
                  </a:lnTo>
                  <a:lnTo>
                    <a:pt x="88" y="6"/>
                  </a:lnTo>
                  <a:lnTo>
                    <a:pt x="95" y="2"/>
                  </a:lnTo>
                  <a:lnTo>
                    <a:pt x="10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45" name="Freeform 57"/>
            <p:cNvSpPr>
              <a:spLocks/>
            </p:cNvSpPr>
            <p:nvPr/>
          </p:nvSpPr>
          <p:spPr bwMode="auto">
            <a:xfrm>
              <a:off x="3838" y="2768"/>
              <a:ext cx="18" cy="12"/>
            </a:xfrm>
            <a:custGeom>
              <a:avLst/>
              <a:gdLst>
                <a:gd name="T0" fmla="*/ 0 w 37"/>
                <a:gd name="T1" fmla="*/ 0 h 23"/>
                <a:gd name="T2" fmla="*/ 0 w 37"/>
                <a:gd name="T3" fmla="*/ 0 h 23"/>
                <a:gd name="T4" fmla="*/ 0 w 37"/>
                <a:gd name="T5" fmla="*/ 1 h 23"/>
                <a:gd name="T6" fmla="*/ 0 w 37"/>
                <a:gd name="T7" fmla="*/ 1 h 23"/>
                <a:gd name="T8" fmla="*/ 0 w 37"/>
                <a:gd name="T9" fmla="*/ 1 h 23"/>
                <a:gd name="T10" fmla="*/ 0 w 37"/>
                <a:gd name="T11" fmla="*/ 1 h 23"/>
                <a:gd name="T12" fmla="*/ 0 w 37"/>
                <a:gd name="T13" fmla="*/ 1 h 23"/>
                <a:gd name="T14" fmla="*/ 0 w 37"/>
                <a:gd name="T15" fmla="*/ 1 h 23"/>
                <a:gd name="T16" fmla="*/ 0 w 37"/>
                <a:gd name="T17" fmla="*/ 1 h 23"/>
                <a:gd name="T18" fmla="*/ 0 w 37"/>
                <a:gd name="T19" fmla="*/ 1 h 23"/>
                <a:gd name="T20" fmla="*/ 0 w 37"/>
                <a:gd name="T21" fmla="*/ 1 h 23"/>
                <a:gd name="T22" fmla="*/ 0 w 37"/>
                <a:gd name="T23" fmla="*/ 1 h 23"/>
                <a:gd name="T24" fmla="*/ 0 w 37"/>
                <a:gd name="T25" fmla="*/ 0 h 23"/>
                <a:gd name="T26" fmla="*/ 0 w 37"/>
                <a:gd name="T27" fmla="*/ 0 h 2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7"/>
                <a:gd name="T43" fmla="*/ 0 h 23"/>
                <a:gd name="T44" fmla="*/ 37 w 37"/>
                <a:gd name="T45" fmla="*/ 23 h 2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7" h="23">
                  <a:moveTo>
                    <a:pt x="6" y="0"/>
                  </a:moveTo>
                  <a:lnTo>
                    <a:pt x="14" y="0"/>
                  </a:lnTo>
                  <a:lnTo>
                    <a:pt x="19" y="4"/>
                  </a:lnTo>
                  <a:lnTo>
                    <a:pt x="27" y="4"/>
                  </a:lnTo>
                  <a:lnTo>
                    <a:pt x="37" y="6"/>
                  </a:lnTo>
                  <a:lnTo>
                    <a:pt x="31" y="15"/>
                  </a:lnTo>
                  <a:lnTo>
                    <a:pt x="23" y="21"/>
                  </a:lnTo>
                  <a:lnTo>
                    <a:pt x="14" y="23"/>
                  </a:lnTo>
                  <a:lnTo>
                    <a:pt x="6" y="19"/>
                  </a:lnTo>
                  <a:lnTo>
                    <a:pt x="0" y="15"/>
                  </a:lnTo>
                  <a:lnTo>
                    <a:pt x="0" y="11"/>
                  </a:lnTo>
                  <a:lnTo>
                    <a:pt x="0" y="6"/>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46" name="Freeform 58"/>
            <p:cNvSpPr>
              <a:spLocks/>
            </p:cNvSpPr>
            <p:nvPr/>
          </p:nvSpPr>
          <p:spPr bwMode="auto">
            <a:xfrm>
              <a:off x="3841" y="2786"/>
              <a:ext cx="139" cy="96"/>
            </a:xfrm>
            <a:custGeom>
              <a:avLst/>
              <a:gdLst>
                <a:gd name="T0" fmla="*/ 1 w 280"/>
                <a:gd name="T1" fmla="*/ 0 h 192"/>
                <a:gd name="T2" fmla="*/ 1 w 280"/>
                <a:gd name="T3" fmla="*/ 0 h 192"/>
                <a:gd name="T4" fmla="*/ 1 w 280"/>
                <a:gd name="T5" fmla="*/ 0 h 192"/>
                <a:gd name="T6" fmla="*/ 1 w 280"/>
                <a:gd name="T7" fmla="*/ 1 h 192"/>
                <a:gd name="T8" fmla="*/ 1 w 280"/>
                <a:gd name="T9" fmla="*/ 1 h 192"/>
                <a:gd name="T10" fmla="*/ 0 w 280"/>
                <a:gd name="T11" fmla="*/ 1 h 192"/>
                <a:gd name="T12" fmla="*/ 0 w 280"/>
                <a:gd name="T13" fmla="*/ 1 h 192"/>
                <a:gd name="T14" fmla="*/ 0 w 280"/>
                <a:gd name="T15" fmla="*/ 1 h 192"/>
                <a:gd name="T16" fmla="*/ 0 w 280"/>
                <a:gd name="T17" fmla="*/ 1 h 192"/>
                <a:gd name="T18" fmla="*/ 0 w 280"/>
                <a:gd name="T19" fmla="*/ 1 h 192"/>
                <a:gd name="T20" fmla="*/ 0 w 280"/>
                <a:gd name="T21" fmla="*/ 1 h 192"/>
                <a:gd name="T22" fmla="*/ 0 w 280"/>
                <a:gd name="T23" fmla="*/ 1 h 192"/>
                <a:gd name="T24" fmla="*/ 0 w 280"/>
                <a:gd name="T25" fmla="*/ 1 h 192"/>
                <a:gd name="T26" fmla="*/ 0 w 280"/>
                <a:gd name="T27" fmla="*/ 1 h 192"/>
                <a:gd name="T28" fmla="*/ 0 w 280"/>
                <a:gd name="T29" fmla="*/ 1 h 192"/>
                <a:gd name="T30" fmla="*/ 0 w 280"/>
                <a:gd name="T31" fmla="*/ 1 h 192"/>
                <a:gd name="T32" fmla="*/ 0 w 280"/>
                <a:gd name="T33" fmla="*/ 1 h 192"/>
                <a:gd name="T34" fmla="*/ 0 w 280"/>
                <a:gd name="T35" fmla="*/ 1 h 192"/>
                <a:gd name="T36" fmla="*/ 0 w 280"/>
                <a:gd name="T37" fmla="*/ 1 h 192"/>
                <a:gd name="T38" fmla="*/ 0 w 280"/>
                <a:gd name="T39" fmla="*/ 1 h 192"/>
                <a:gd name="T40" fmla="*/ 0 w 280"/>
                <a:gd name="T41" fmla="*/ 1 h 192"/>
                <a:gd name="T42" fmla="*/ 0 w 280"/>
                <a:gd name="T43" fmla="*/ 1 h 192"/>
                <a:gd name="T44" fmla="*/ 0 w 280"/>
                <a:gd name="T45" fmla="*/ 1 h 192"/>
                <a:gd name="T46" fmla="*/ 0 w 280"/>
                <a:gd name="T47" fmla="*/ 1 h 192"/>
                <a:gd name="T48" fmla="*/ 0 w 280"/>
                <a:gd name="T49" fmla="*/ 1 h 192"/>
                <a:gd name="T50" fmla="*/ 0 w 280"/>
                <a:gd name="T51" fmla="*/ 1 h 192"/>
                <a:gd name="T52" fmla="*/ 0 w 280"/>
                <a:gd name="T53" fmla="*/ 1 h 192"/>
                <a:gd name="T54" fmla="*/ 0 w 280"/>
                <a:gd name="T55" fmla="*/ 1 h 192"/>
                <a:gd name="T56" fmla="*/ 0 w 280"/>
                <a:gd name="T57" fmla="*/ 1 h 192"/>
                <a:gd name="T58" fmla="*/ 0 w 280"/>
                <a:gd name="T59" fmla="*/ 1 h 192"/>
                <a:gd name="T60" fmla="*/ 0 w 280"/>
                <a:gd name="T61" fmla="*/ 1 h 192"/>
                <a:gd name="T62" fmla="*/ 0 w 280"/>
                <a:gd name="T63" fmla="*/ 1 h 192"/>
                <a:gd name="T64" fmla="*/ 0 w 280"/>
                <a:gd name="T65" fmla="*/ 1 h 192"/>
                <a:gd name="T66" fmla="*/ 0 w 280"/>
                <a:gd name="T67" fmla="*/ 1 h 192"/>
                <a:gd name="T68" fmla="*/ 0 w 280"/>
                <a:gd name="T69" fmla="*/ 1 h 192"/>
                <a:gd name="T70" fmla="*/ 1 w 280"/>
                <a:gd name="T71" fmla="*/ 0 h 192"/>
                <a:gd name="T72" fmla="*/ 1 w 280"/>
                <a:gd name="T73" fmla="*/ 0 h 19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80"/>
                <a:gd name="T112" fmla="*/ 0 h 192"/>
                <a:gd name="T113" fmla="*/ 280 w 280"/>
                <a:gd name="T114" fmla="*/ 192 h 19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80" h="192">
                  <a:moveTo>
                    <a:pt x="259" y="0"/>
                  </a:moveTo>
                  <a:lnTo>
                    <a:pt x="268" y="0"/>
                  </a:lnTo>
                  <a:lnTo>
                    <a:pt x="280" y="0"/>
                  </a:lnTo>
                  <a:lnTo>
                    <a:pt x="280" y="2"/>
                  </a:lnTo>
                  <a:lnTo>
                    <a:pt x="263" y="13"/>
                  </a:lnTo>
                  <a:lnTo>
                    <a:pt x="245" y="27"/>
                  </a:lnTo>
                  <a:lnTo>
                    <a:pt x="226" y="38"/>
                  </a:lnTo>
                  <a:lnTo>
                    <a:pt x="209" y="51"/>
                  </a:lnTo>
                  <a:lnTo>
                    <a:pt x="190" y="63"/>
                  </a:lnTo>
                  <a:lnTo>
                    <a:pt x="173" y="74"/>
                  </a:lnTo>
                  <a:lnTo>
                    <a:pt x="156" y="85"/>
                  </a:lnTo>
                  <a:lnTo>
                    <a:pt x="139" y="99"/>
                  </a:lnTo>
                  <a:lnTo>
                    <a:pt x="120" y="108"/>
                  </a:lnTo>
                  <a:lnTo>
                    <a:pt x="103" y="120"/>
                  </a:lnTo>
                  <a:lnTo>
                    <a:pt x="86" y="131"/>
                  </a:lnTo>
                  <a:lnTo>
                    <a:pt x="69" y="143"/>
                  </a:lnTo>
                  <a:lnTo>
                    <a:pt x="52" y="154"/>
                  </a:lnTo>
                  <a:lnTo>
                    <a:pt x="34" y="165"/>
                  </a:lnTo>
                  <a:lnTo>
                    <a:pt x="17" y="179"/>
                  </a:lnTo>
                  <a:lnTo>
                    <a:pt x="0" y="192"/>
                  </a:lnTo>
                  <a:lnTo>
                    <a:pt x="13" y="175"/>
                  </a:lnTo>
                  <a:lnTo>
                    <a:pt x="27" y="160"/>
                  </a:lnTo>
                  <a:lnTo>
                    <a:pt x="40" y="146"/>
                  </a:lnTo>
                  <a:lnTo>
                    <a:pt x="55" y="131"/>
                  </a:lnTo>
                  <a:lnTo>
                    <a:pt x="71" y="116"/>
                  </a:lnTo>
                  <a:lnTo>
                    <a:pt x="86" y="103"/>
                  </a:lnTo>
                  <a:lnTo>
                    <a:pt x="101" y="89"/>
                  </a:lnTo>
                  <a:lnTo>
                    <a:pt x="120" y="76"/>
                  </a:lnTo>
                  <a:lnTo>
                    <a:pt x="135" y="63"/>
                  </a:lnTo>
                  <a:lnTo>
                    <a:pt x="150" y="51"/>
                  </a:lnTo>
                  <a:lnTo>
                    <a:pt x="167" y="40"/>
                  </a:lnTo>
                  <a:lnTo>
                    <a:pt x="187" y="30"/>
                  </a:lnTo>
                  <a:lnTo>
                    <a:pt x="204" y="21"/>
                  </a:lnTo>
                  <a:lnTo>
                    <a:pt x="223" y="13"/>
                  </a:lnTo>
                  <a:lnTo>
                    <a:pt x="240" y="4"/>
                  </a:lnTo>
                  <a:lnTo>
                    <a:pt x="25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47" name="Freeform 59"/>
            <p:cNvSpPr>
              <a:spLocks/>
            </p:cNvSpPr>
            <p:nvPr/>
          </p:nvSpPr>
          <p:spPr bwMode="auto">
            <a:xfrm>
              <a:off x="3680" y="2796"/>
              <a:ext cx="57" cy="65"/>
            </a:xfrm>
            <a:custGeom>
              <a:avLst/>
              <a:gdLst>
                <a:gd name="T0" fmla="*/ 1 w 114"/>
                <a:gd name="T1" fmla="*/ 0 h 129"/>
                <a:gd name="T2" fmla="*/ 1 w 114"/>
                <a:gd name="T3" fmla="*/ 1 h 129"/>
                <a:gd name="T4" fmla="*/ 1 w 114"/>
                <a:gd name="T5" fmla="*/ 1 h 129"/>
                <a:gd name="T6" fmla="*/ 1 w 114"/>
                <a:gd name="T7" fmla="*/ 1 h 129"/>
                <a:gd name="T8" fmla="*/ 1 w 114"/>
                <a:gd name="T9" fmla="*/ 1 h 129"/>
                <a:gd name="T10" fmla="*/ 1 w 114"/>
                <a:gd name="T11" fmla="*/ 1 h 129"/>
                <a:gd name="T12" fmla="*/ 1 w 114"/>
                <a:gd name="T13" fmla="*/ 1 h 129"/>
                <a:gd name="T14" fmla="*/ 1 w 114"/>
                <a:gd name="T15" fmla="*/ 1 h 129"/>
                <a:gd name="T16" fmla="*/ 1 w 114"/>
                <a:gd name="T17" fmla="*/ 1 h 129"/>
                <a:gd name="T18" fmla="*/ 1 w 114"/>
                <a:gd name="T19" fmla="*/ 1 h 129"/>
                <a:gd name="T20" fmla="*/ 1 w 114"/>
                <a:gd name="T21" fmla="*/ 1 h 129"/>
                <a:gd name="T22" fmla="*/ 1 w 114"/>
                <a:gd name="T23" fmla="*/ 1 h 129"/>
                <a:gd name="T24" fmla="*/ 1 w 114"/>
                <a:gd name="T25" fmla="*/ 1 h 129"/>
                <a:gd name="T26" fmla="*/ 1 w 114"/>
                <a:gd name="T27" fmla="*/ 1 h 129"/>
                <a:gd name="T28" fmla="*/ 1 w 114"/>
                <a:gd name="T29" fmla="*/ 1 h 129"/>
                <a:gd name="T30" fmla="*/ 1 w 114"/>
                <a:gd name="T31" fmla="*/ 1 h 129"/>
                <a:gd name="T32" fmla="*/ 0 w 114"/>
                <a:gd name="T33" fmla="*/ 1 h 129"/>
                <a:gd name="T34" fmla="*/ 1 w 114"/>
                <a:gd name="T35" fmla="*/ 1 h 129"/>
                <a:gd name="T36" fmla="*/ 1 w 114"/>
                <a:gd name="T37" fmla="*/ 1 h 129"/>
                <a:gd name="T38" fmla="*/ 1 w 114"/>
                <a:gd name="T39" fmla="*/ 1 h 129"/>
                <a:gd name="T40" fmla="*/ 1 w 114"/>
                <a:gd name="T41" fmla="*/ 1 h 129"/>
                <a:gd name="T42" fmla="*/ 1 w 114"/>
                <a:gd name="T43" fmla="*/ 1 h 129"/>
                <a:gd name="T44" fmla="*/ 1 w 114"/>
                <a:gd name="T45" fmla="*/ 1 h 129"/>
                <a:gd name="T46" fmla="*/ 1 w 114"/>
                <a:gd name="T47" fmla="*/ 1 h 129"/>
                <a:gd name="T48" fmla="*/ 1 w 114"/>
                <a:gd name="T49" fmla="*/ 1 h 129"/>
                <a:gd name="T50" fmla="*/ 1 w 114"/>
                <a:gd name="T51" fmla="*/ 1 h 129"/>
                <a:gd name="T52" fmla="*/ 1 w 114"/>
                <a:gd name="T53" fmla="*/ 1 h 129"/>
                <a:gd name="T54" fmla="*/ 1 w 114"/>
                <a:gd name="T55" fmla="*/ 1 h 129"/>
                <a:gd name="T56" fmla="*/ 1 w 114"/>
                <a:gd name="T57" fmla="*/ 1 h 129"/>
                <a:gd name="T58" fmla="*/ 1 w 114"/>
                <a:gd name="T59" fmla="*/ 1 h 129"/>
                <a:gd name="T60" fmla="*/ 1 w 114"/>
                <a:gd name="T61" fmla="*/ 1 h 129"/>
                <a:gd name="T62" fmla="*/ 1 w 114"/>
                <a:gd name="T63" fmla="*/ 1 h 129"/>
                <a:gd name="T64" fmla="*/ 1 w 114"/>
                <a:gd name="T65" fmla="*/ 0 h 129"/>
                <a:gd name="T66" fmla="*/ 1 w 114"/>
                <a:gd name="T67" fmla="*/ 0 h 1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4"/>
                <a:gd name="T103" fmla="*/ 0 h 129"/>
                <a:gd name="T104" fmla="*/ 114 w 114"/>
                <a:gd name="T105" fmla="*/ 129 h 1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4" h="129">
                  <a:moveTo>
                    <a:pt x="114" y="0"/>
                  </a:moveTo>
                  <a:lnTo>
                    <a:pt x="108" y="8"/>
                  </a:lnTo>
                  <a:lnTo>
                    <a:pt x="103" y="17"/>
                  </a:lnTo>
                  <a:lnTo>
                    <a:pt x="97" y="25"/>
                  </a:lnTo>
                  <a:lnTo>
                    <a:pt x="91" y="32"/>
                  </a:lnTo>
                  <a:lnTo>
                    <a:pt x="84" y="40"/>
                  </a:lnTo>
                  <a:lnTo>
                    <a:pt x="74" y="47"/>
                  </a:lnTo>
                  <a:lnTo>
                    <a:pt x="66" y="57"/>
                  </a:lnTo>
                  <a:lnTo>
                    <a:pt x="61" y="65"/>
                  </a:lnTo>
                  <a:lnTo>
                    <a:pt x="51" y="72"/>
                  </a:lnTo>
                  <a:lnTo>
                    <a:pt x="44" y="80"/>
                  </a:lnTo>
                  <a:lnTo>
                    <a:pt x="34" y="87"/>
                  </a:lnTo>
                  <a:lnTo>
                    <a:pt x="28" y="97"/>
                  </a:lnTo>
                  <a:lnTo>
                    <a:pt x="21" y="105"/>
                  </a:lnTo>
                  <a:lnTo>
                    <a:pt x="11" y="112"/>
                  </a:lnTo>
                  <a:lnTo>
                    <a:pt x="6" y="120"/>
                  </a:lnTo>
                  <a:lnTo>
                    <a:pt x="0" y="129"/>
                  </a:lnTo>
                  <a:lnTo>
                    <a:pt x="4" y="120"/>
                  </a:lnTo>
                  <a:lnTo>
                    <a:pt x="7" y="110"/>
                  </a:lnTo>
                  <a:lnTo>
                    <a:pt x="11" y="101"/>
                  </a:lnTo>
                  <a:lnTo>
                    <a:pt x="17" y="93"/>
                  </a:lnTo>
                  <a:lnTo>
                    <a:pt x="23" y="84"/>
                  </a:lnTo>
                  <a:lnTo>
                    <a:pt x="30" y="74"/>
                  </a:lnTo>
                  <a:lnTo>
                    <a:pt x="38" y="66"/>
                  </a:lnTo>
                  <a:lnTo>
                    <a:pt x="45" y="59"/>
                  </a:lnTo>
                  <a:lnTo>
                    <a:pt x="53" y="49"/>
                  </a:lnTo>
                  <a:lnTo>
                    <a:pt x="61" y="40"/>
                  </a:lnTo>
                  <a:lnTo>
                    <a:pt x="68" y="32"/>
                  </a:lnTo>
                  <a:lnTo>
                    <a:pt x="78" y="25"/>
                  </a:lnTo>
                  <a:lnTo>
                    <a:pt x="85" y="17"/>
                  </a:lnTo>
                  <a:lnTo>
                    <a:pt x="95" y="11"/>
                  </a:lnTo>
                  <a:lnTo>
                    <a:pt x="104" y="4"/>
                  </a:lnTo>
                  <a:lnTo>
                    <a:pt x="1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48" name="Freeform 60"/>
            <p:cNvSpPr>
              <a:spLocks/>
            </p:cNvSpPr>
            <p:nvPr/>
          </p:nvSpPr>
          <p:spPr bwMode="auto">
            <a:xfrm>
              <a:off x="4010" y="2796"/>
              <a:ext cx="20" cy="12"/>
            </a:xfrm>
            <a:custGeom>
              <a:avLst/>
              <a:gdLst>
                <a:gd name="T0" fmla="*/ 1 w 40"/>
                <a:gd name="T1" fmla="*/ 0 h 25"/>
                <a:gd name="T2" fmla="*/ 1 w 40"/>
                <a:gd name="T3" fmla="*/ 0 h 25"/>
                <a:gd name="T4" fmla="*/ 1 w 40"/>
                <a:gd name="T5" fmla="*/ 0 h 25"/>
                <a:gd name="T6" fmla="*/ 1 w 40"/>
                <a:gd name="T7" fmla="*/ 0 h 25"/>
                <a:gd name="T8" fmla="*/ 1 w 40"/>
                <a:gd name="T9" fmla="*/ 0 h 25"/>
                <a:gd name="T10" fmla="*/ 1 w 40"/>
                <a:gd name="T11" fmla="*/ 0 h 25"/>
                <a:gd name="T12" fmla="*/ 1 w 40"/>
                <a:gd name="T13" fmla="*/ 0 h 25"/>
                <a:gd name="T14" fmla="*/ 1 w 40"/>
                <a:gd name="T15" fmla="*/ 0 h 25"/>
                <a:gd name="T16" fmla="*/ 1 w 40"/>
                <a:gd name="T17" fmla="*/ 0 h 25"/>
                <a:gd name="T18" fmla="*/ 0 w 40"/>
                <a:gd name="T19" fmla="*/ 0 h 25"/>
                <a:gd name="T20" fmla="*/ 1 w 40"/>
                <a:gd name="T21" fmla="*/ 0 h 25"/>
                <a:gd name="T22" fmla="*/ 1 w 40"/>
                <a:gd name="T23" fmla="*/ 0 h 25"/>
                <a:gd name="T24" fmla="*/ 1 w 40"/>
                <a:gd name="T25" fmla="*/ 0 h 25"/>
                <a:gd name="T26" fmla="*/ 1 w 40"/>
                <a:gd name="T27" fmla="*/ 0 h 25"/>
                <a:gd name="T28" fmla="*/ 1 w 40"/>
                <a:gd name="T29" fmla="*/ 0 h 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0"/>
                <a:gd name="T46" fmla="*/ 0 h 25"/>
                <a:gd name="T47" fmla="*/ 40 w 40"/>
                <a:gd name="T48" fmla="*/ 25 h 2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0" h="25">
                  <a:moveTo>
                    <a:pt x="34" y="0"/>
                  </a:moveTo>
                  <a:lnTo>
                    <a:pt x="36" y="0"/>
                  </a:lnTo>
                  <a:lnTo>
                    <a:pt x="40" y="0"/>
                  </a:lnTo>
                  <a:lnTo>
                    <a:pt x="40" y="2"/>
                  </a:lnTo>
                  <a:lnTo>
                    <a:pt x="40" y="8"/>
                  </a:lnTo>
                  <a:lnTo>
                    <a:pt x="30" y="9"/>
                  </a:lnTo>
                  <a:lnTo>
                    <a:pt x="21" y="17"/>
                  </a:lnTo>
                  <a:lnTo>
                    <a:pt x="13" y="21"/>
                  </a:lnTo>
                  <a:lnTo>
                    <a:pt x="3" y="25"/>
                  </a:lnTo>
                  <a:lnTo>
                    <a:pt x="0" y="25"/>
                  </a:lnTo>
                  <a:lnTo>
                    <a:pt x="5" y="15"/>
                  </a:lnTo>
                  <a:lnTo>
                    <a:pt x="13" y="9"/>
                  </a:lnTo>
                  <a:lnTo>
                    <a:pt x="22" y="4"/>
                  </a:lnTo>
                  <a:lnTo>
                    <a:pt x="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49" name="Freeform 61"/>
            <p:cNvSpPr>
              <a:spLocks/>
            </p:cNvSpPr>
            <p:nvPr/>
          </p:nvSpPr>
          <p:spPr bwMode="auto">
            <a:xfrm>
              <a:off x="4538" y="2800"/>
              <a:ext cx="27" cy="13"/>
            </a:xfrm>
            <a:custGeom>
              <a:avLst/>
              <a:gdLst>
                <a:gd name="T0" fmla="*/ 1 w 53"/>
                <a:gd name="T1" fmla="*/ 1 h 26"/>
                <a:gd name="T2" fmla="*/ 1 w 53"/>
                <a:gd name="T3" fmla="*/ 0 h 26"/>
                <a:gd name="T4" fmla="*/ 1 w 53"/>
                <a:gd name="T5" fmla="*/ 0 h 26"/>
                <a:gd name="T6" fmla="*/ 1 w 53"/>
                <a:gd name="T7" fmla="*/ 0 h 26"/>
                <a:gd name="T8" fmla="*/ 1 w 53"/>
                <a:gd name="T9" fmla="*/ 1 h 26"/>
                <a:gd name="T10" fmla="*/ 1 w 53"/>
                <a:gd name="T11" fmla="*/ 1 h 26"/>
                <a:gd name="T12" fmla="*/ 1 w 53"/>
                <a:gd name="T13" fmla="*/ 1 h 26"/>
                <a:gd name="T14" fmla="*/ 1 w 53"/>
                <a:gd name="T15" fmla="*/ 1 h 26"/>
                <a:gd name="T16" fmla="*/ 1 w 53"/>
                <a:gd name="T17" fmla="*/ 1 h 26"/>
                <a:gd name="T18" fmla="*/ 1 w 53"/>
                <a:gd name="T19" fmla="*/ 1 h 26"/>
                <a:gd name="T20" fmla="*/ 1 w 53"/>
                <a:gd name="T21" fmla="*/ 1 h 26"/>
                <a:gd name="T22" fmla="*/ 1 w 53"/>
                <a:gd name="T23" fmla="*/ 1 h 26"/>
                <a:gd name="T24" fmla="*/ 1 w 53"/>
                <a:gd name="T25" fmla="*/ 1 h 26"/>
                <a:gd name="T26" fmla="*/ 0 w 53"/>
                <a:gd name="T27" fmla="*/ 1 h 26"/>
                <a:gd name="T28" fmla="*/ 1 w 53"/>
                <a:gd name="T29" fmla="*/ 1 h 26"/>
                <a:gd name="T30" fmla="*/ 1 w 53"/>
                <a:gd name="T31" fmla="*/ 1 h 2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3"/>
                <a:gd name="T49" fmla="*/ 0 h 26"/>
                <a:gd name="T50" fmla="*/ 53 w 53"/>
                <a:gd name="T51" fmla="*/ 26 h 2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3" h="26">
                  <a:moveTo>
                    <a:pt x="2" y="1"/>
                  </a:moveTo>
                  <a:lnTo>
                    <a:pt x="9" y="0"/>
                  </a:lnTo>
                  <a:lnTo>
                    <a:pt x="21" y="0"/>
                  </a:lnTo>
                  <a:lnTo>
                    <a:pt x="30" y="0"/>
                  </a:lnTo>
                  <a:lnTo>
                    <a:pt x="40" y="3"/>
                  </a:lnTo>
                  <a:lnTo>
                    <a:pt x="49" y="13"/>
                  </a:lnTo>
                  <a:lnTo>
                    <a:pt x="53" y="26"/>
                  </a:lnTo>
                  <a:lnTo>
                    <a:pt x="47" y="26"/>
                  </a:lnTo>
                  <a:lnTo>
                    <a:pt x="40" y="26"/>
                  </a:lnTo>
                  <a:lnTo>
                    <a:pt x="34" y="24"/>
                  </a:lnTo>
                  <a:lnTo>
                    <a:pt x="26" y="24"/>
                  </a:lnTo>
                  <a:lnTo>
                    <a:pt x="15" y="20"/>
                  </a:lnTo>
                  <a:lnTo>
                    <a:pt x="5" y="17"/>
                  </a:lnTo>
                  <a:lnTo>
                    <a:pt x="0" y="9"/>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50" name="Freeform 62"/>
            <p:cNvSpPr>
              <a:spLocks/>
            </p:cNvSpPr>
            <p:nvPr/>
          </p:nvSpPr>
          <p:spPr bwMode="auto">
            <a:xfrm>
              <a:off x="3500" y="2805"/>
              <a:ext cx="32" cy="24"/>
            </a:xfrm>
            <a:custGeom>
              <a:avLst/>
              <a:gdLst>
                <a:gd name="T0" fmla="*/ 1 w 63"/>
                <a:gd name="T1" fmla="*/ 0 h 49"/>
                <a:gd name="T2" fmla="*/ 1 w 63"/>
                <a:gd name="T3" fmla="*/ 0 h 49"/>
                <a:gd name="T4" fmla="*/ 1 w 63"/>
                <a:gd name="T5" fmla="*/ 0 h 49"/>
                <a:gd name="T6" fmla="*/ 1 w 63"/>
                <a:gd name="T7" fmla="*/ 0 h 49"/>
                <a:gd name="T8" fmla="*/ 1 w 63"/>
                <a:gd name="T9" fmla="*/ 0 h 49"/>
                <a:gd name="T10" fmla="*/ 1 w 63"/>
                <a:gd name="T11" fmla="*/ 0 h 49"/>
                <a:gd name="T12" fmla="*/ 1 w 63"/>
                <a:gd name="T13" fmla="*/ 0 h 49"/>
                <a:gd name="T14" fmla="*/ 1 w 63"/>
                <a:gd name="T15" fmla="*/ 0 h 49"/>
                <a:gd name="T16" fmla="*/ 1 w 63"/>
                <a:gd name="T17" fmla="*/ 0 h 49"/>
                <a:gd name="T18" fmla="*/ 1 w 63"/>
                <a:gd name="T19" fmla="*/ 0 h 49"/>
                <a:gd name="T20" fmla="*/ 1 w 63"/>
                <a:gd name="T21" fmla="*/ 0 h 49"/>
                <a:gd name="T22" fmla="*/ 1 w 63"/>
                <a:gd name="T23" fmla="*/ 0 h 49"/>
                <a:gd name="T24" fmla="*/ 1 w 63"/>
                <a:gd name="T25" fmla="*/ 0 h 49"/>
                <a:gd name="T26" fmla="*/ 0 w 63"/>
                <a:gd name="T27" fmla="*/ 0 h 49"/>
                <a:gd name="T28" fmla="*/ 1 w 63"/>
                <a:gd name="T29" fmla="*/ 0 h 49"/>
                <a:gd name="T30" fmla="*/ 1 w 63"/>
                <a:gd name="T31" fmla="*/ 0 h 49"/>
                <a:gd name="T32" fmla="*/ 1 w 63"/>
                <a:gd name="T33" fmla="*/ 0 h 49"/>
                <a:gd name="T34" fmla="*/ 1 w 63"/>
                <a:gd name="T35" fmla="*/ 0 h 49"/>
                <a:gd name="T36" fmla="*/ 1 w 63"/>
                <a:gd name="T37" fmla="*/ 0 h 49"/>
                <a:gd name="T38" fmla="*/ 1 w 63"/>
                <a:gd name="T39" fmla="*/ 0 h 49"/>
                <a:gd name="T40" fmla="*/ 1 w 63"/>
                <a:gd name="T41" fmla="*/ 0 h 49"/>
                <a:gd name="T42" fmla="*/ 1 w 63"/>
                <a:gd name="T43" fmla="*/ 0 h 49"/>
                <a:gd name="T44" fmla="*/ 1 w 63"/>
                <a:gd name="T45" fmla="*/ 0 h 49"/>
                <a:gd name="T46" fmla="*/ 1 w 63"/>
                <a:gd name="T47" fmla="*/ 0 h 4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3"/>
                <a:gd name="T73" fmla="*/ 0 h 49"/>
                <a:gd name="T74" fmla="*/ 63 w 63"/>
                <a:gd name="T75" fmla="*/ 49 h 4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3" h="49">
                  <a:moveTo>
                    <a:pt x="59" y="0"/>
                  </a:moveTo>
                  <a:lnTo>
                    <a:pt x="63" y="8"/>
                  </a:lnTo>
                  <a:lnTo>
                    <a:pt x="63" y="17"/>
                  </a:lnTo>
                  <a:lnTo>
                    <a:pt x="59" y="23"/>
                  </a:lnTo>
                  <a:lnTo>
                    <a:pt x="58" y="30"/>
                  </a:lnTo>
                  <a:lnTo>
                    <a:pt x="50" y="34"/>
                  </a:lnTo>
                  <a:lnTo>
                    <a:pt x="42" y="40"/>
                  </a:lnTo>
                  <a:lnTo>
                    <a:pt x="33" y="44"/>
                  </a:lnTo>
                  <a:lnTo>
                    <a:pt x="25" y="48"/>
                  </a:lnTo>
                  <a:lnTo>
                    <a:pt x="16" y="48"/>
                  </a:lnTo>
                  <a:lnTo>
                    <a:pt x="10" y="49"/>
                  </a:lnTo>
                  <a:lnTo>
                    <a:pt x="4" y="48"/>
                  </a:lnTo>
                  <a:lnTo>
                    <a:pt x="2" y="48"/>
                  </a:lnTo>
                  <a:lnTo>
                    <a:pt x="0" y="42"/>
                  </a:lnTo>
                  <a:lnTo>
                    <a:pt x="6" y="34"/>
                  </a:lnTo>
                  <a:lnTo>
                    <a:pt x="10" y="29"/>
                  </a:lnTo>
                  <a:lnTo>
                    <a:pt x="16" y="25"/>
                  </a:lnTo>
                  <a:lnTo>
                    <a:pt x="23" y="17"/>
                  </a:lnTo>
                  <a:lnTo>
                    <a:pt x="37" y="13"/>
                  </a:lnTo>
                  <a:lnTo>
                    <a:pt x="42" y="6"/>
                  </a:lnTo>
                  <a:lnTo>
                    <a:pt x="50" y="4"/>
                  </a:lnTo>
                  <a:lnTo>
                    <a:pt x="56" y="4"/>
                  </a:lnTo>
                  <a:lnTo>
                    <a:pt x="5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51" name="Freeform 63"/>
            <p:cNvSpPr>
              <a:spLocks/>
            </p:cNvSpPr>
            <p:nvPr/>
          </p:nvSpPr>
          <p:spPr bwMode="auto">
            <a:xfrm>
              <a:off x="4592" y="2804"/>
              <a:ext cx="12" cy="8"/>
            </a:xfrm>
            <a:custGeom>
              <a:avLst/>
              <a:gdLst>
                <a:gd name="T0" fmla="*/ 0 w 25"/>
                <a:gd name="T1" fmla="*/ 0 h 17"/>
                <a:gd name="T2" fmla="*/ 0 w 25"/>
                <a:gd name="T3" fmla="*/ 0 h 17"/>
                <a:gd name="T4" fmla="*/ 0 w 25"/>
                <a:gd name="T5" fmla="*/ 0 h 17"/>
                <a:gd name="T6" fmla="*/ 0 w 25"/>
                <a:gd name="T7" fmla="*/ 0 h 17"/>
                <a:gd name="T8" fmla="*/ 0 w 25"/>
                <a:gd name="T9" fmla="*/ 0 h 17"/>
                <a:gd name="T10" fmla="*/ 0 w 25"/>
                <a:gd name="T11" fmla="*/ 0 h 17"/>
                <a:gd name="T12" fmla="*/ 0 w 25"/>
                <a:gd name="T13" fmla="*/ 0 h 17"/>
                <a:gd name="T14" fmla="*/ 0 w 25"/>
                <a:gd name="T15" fmla="*/ 0 h 17"/>
                <a:gd name="T16" fmla="*/ 0 w 25"/>
                <a:gd name="T17" fmla="*/ 0 h 17"/>
                <a:gd name="T18" fmla="*/ 0 w 25"/>
                <a:gd name="T19" fmla="*/ 0 h 17"/>
                <a:gd name="T20" fmla="*/ 0 w 25"/>
                <a:gd name="T21" fmla="*/ 0 h 17"/>
                <a:gd name="T22" fmla="*/ 0 w 25"/>
                <a:gd name="T23" fmla="*/ 0 h 17"/>
                <a:gd name="T24" fmla="*/ 0 w 25"/>
                <a:gd name="T25" fmla="*/ 0 h 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5"/>
                <a:gd name="T40" fmla="*/ 0 h 17"/>
                <a:gd name="T41" fmla="*/ 25 w 25"/>
                <a:gd name="T42" fmla="*/ 17 h 1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5" h="17">
                  <a:moveTo>
                    <a:pt x="2" y="2"/>
                  </a:moveTo>
                  <a:lnTo>
                    <a:pt x="8" y="0"/>
                  </a:lnTo>
                  <a:lnTo>
                    <a:pt x="14" y="4"/>
                  </a:lnTo>
                  <a:lnTo>
                    <a:pt x="17" y="10"/>
                  </a:lnTo>
                  <a:lnTo>
                    <a:pt x="25" y="17"/>
                  </a:lnTo>
                  <a:lnTo>
                    <a:pt x="23" y="17"/>
                  </a:lnTo>
                  <a:lnTo>
                    <a:pt x="17" y="13"/>
                  </a:lnTo>
                  <a:lnTo>
                    <a:pt x="12" y="10"/>
                  </a:lnTo>
                  <a:lnTo>
                    <a:pt x="6" y="6"/>
                  </a:lnTo>
                  <a:lnTo>
                    <a:pt x="0" y="4"/>
                  </a:lnTo>
                  <a:lnTo>
                    <a:pt x="0" y="2"/>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52" name="Freeform 64"/>
            <p:cNvSpPr>
              <a:spLocks/>
            </p:cNvSpPr>
            <p:nvPr/>
          </p:nvSpPr>
          <p:spPr bwMode="auto">
            <a:xfrm>
              <a:off x="3972" y="2811"/>
              <a:ext cx="33" cy="22"/>
            </a:xfrm>
            <a:custGeom>
              <a:avLst/>
              <a:gdLst>
                <a:gd name="T0" fmla="*/ 1 w 66"/>
                <a:gd name="T1" fmla="*/ 0 h 44"/>
                <a:gd name="T2" fmla="*/ 1 w 66"/>
                <a:gd name="T3" fmla="*/ 1 h 44"/>
                <a:gd name="T4" fmla="*/ 1 w 66"/>
                <a:gd name="T5" fmla="*/ 1 h 44"/>
                <a:gd name="T6" fmla="*/ 1 w 66"/>
                <a:gd name="T7" fmla="*/ 1 h 44"/>
                <a:gd name="T8" fmla="*/ 1 w 66"/>
                <a:gd name="T9" fmla="*/ 1 h 44"/>
                <a:gd name="T10" fmla="*/ 1 w 66"/>
                <a:gd name="T11" fmla="*/ 1 h 44"/>
                <a:gd name="T12" fmla="*/ 1 w 66"/>
                <a:gd name="T13" fmla="*/ 1 h 44"/>
                <a:gd name="T14" fmla="*/ 1 w 66"/>
                <a:gd name="T15" fmla="*/ 1 h 44"/>
                <a:gd name="T16" fmla="*/ 1 w 66"/>
                <a:gd name="T17" fmla="*/ 1 h 44"/>
                <a:gd name="T18" fmla="*/ 0 w 66"/>
                <a:gd name="T19" fmla="*/ 1 h 44"/>
                <a:gd name="T20" fmla="*/ 1 w 66"/>
                <a:gd name="T21" fmla="*/ 1 h 44"/>
                <a:gd name="T22" fmla="*/ 1 w 66"/>
                <a:gd name="T23" fmla="*/ 1 h 44"/>
                <a:gd name="T24" fmla="*/ 1 w 66"/>
                <a:gd name="T25" fmla="*/ 1 h 44"/>
                <a:gd name="T26" fmla="*/ 1 w 66"/>
                <a:gd name="T27" fmla="*/ 1 h 44"/>
                <a:gd name="T28" fmla="*/ 1 w 66"/>
                <a:gd name="T29" fmla="*/ 1 h 44"/>
                <a:gd name="T30" fmla="*/ 1 w 66"/>
                <a:gd name="T31" fmla="*/ 1 h 44"/>
                <a:gd name="T32" fmla="*/ 1 w 66"/>
                <a:gd name="T33" fmla="*/ 1 h 44"/>
                <a:gd name="T34" fmla="*/ 1 w 66"/>
                <a:gd name="T35" fmla="*/ 0 h 44"/>
                <a:gd name="T36" fmla="*/ 1 w 66"/>
                <a:gd name="T37" fmla="*/ 0 h 4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44"/>
                <a:gd name="T59" fmla="*/ 66 w 66"/>
                <a:gd name="T60" fmla="*/ 44 h 4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44">
                  <a:moveTo>
                    <a:pt x="66" y="0"/>
                  </a:moveTo>
                  <a:lnTo>
                    <a:pt x="58" y="6"/>
                  </a:lnTo>
                  <a:lnTo>
                    <a:pt x="53" y="14"/>
                  </a:lnTo>
                  <a:lnTo>
                    <a:pt x="41" y="21"/>
                  </a:lnTo>
                  <a:lnTo>
                    <a:pt x="30" y="29"/>
                  </a:lnTo>
                  <a:lnTo>
                    <a:pt x="22" y="31"/>
                  </a:lnTo>
                  <a:lnTo>
                    <a:pt x="15" y="36"/>
                  </a:lnTo>
                  <a:lnTo>
                    <a:pt x="7" y="40"/>
                  </a:lnTo>
                  <a:lnTo>
                    <a:pt x="1" y="44"/>
                  </a:lnTo>
                  <a:lnTo>
                    <a:pt x="0" y="44"/>
                  </a:lnTo>
                  <a:lnTo>
                    <a:pt x="5" y="36"/>
                  </a:lnTo>
                  <a:lnTo>
                    <a:pt x="13" y="31"/>
                  </a:lnTo>
                  <a:lnTo>
                    <a:pt x="22" y="23"/>
                  </a:lnTo>
                  <a:lnTo>
                    <a:pt x="30" y="19"/>
                  </a:lnTo>
                  <a:lnTo>
                    <a:pt x="39" y="14"/>
                  </a:lnTo>
                  <a:lnTo>
                    <a:pt x="49" y="10"/>
                  </a:lnTo>
                  <a:lnTo>
                    <a:pt x="57" y="4"/>
                  </a:lnTo>
                  <a:lnTo>
                    <a:pt x="6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53" name="Freeform 65"/>
            <p:cNvSpPr>
              <a:spLocks/>
            </p:cNvSpPr>
            <p:nvPr/>
          </p:nvSpPr>
          <p:spPr bwMode="auto">
            <a:xfrm>
              <a:off x="3818" y="2811"/>
              <a:ext cx="263" cy="161"/>
            </a:xfrm>
            <a:custGeom>
              <a:avLst/>
              <a:gdLst>
                <a:gd name="T0" fmla="*/ 2 w 526"/>
                <a:gd name="T1" fmla="*/ 0 h 322"/>
                <a:gd name="T2" fmla="*/ 3 w 526"/>
                <a:gd name="T3" fmla="*/ 1 h 322"/>
                <a:gd name="T4" fmla="*/ 3 w 526"/>
                <a:gd name="T5" fmla="*/ 1 h 322"/>
                <a:gd name="T6" fmla="*/ 3 w 526"/>
                <a:gd name="T7" fmla="*/ 1 h 322"/>
                <a:gd name="T8" fmla="*/ 3 w 526"/>
                <a:gd name="T9" fmla="*/ 1 h 322"/>
                <a:gd name="T10" fmla="*/ 2 w 526"/>
                <a:gd name="T11" fmla="*/ 1 h 322"/>
                <a:gd name="T12" fmla="*/ 2 w 526"/>
                <a:gd name="T13" fmla="*/ 1 h 322"/>
                <a:gd name="T14" fmla="*/ 2 w 526"/>
                <a:gd name="T15" fmla="*/ 1 h 322"/>
                <a:gd name="T16" fmla="*/ 2 w 526"/>
                <a:gd name="T17" fmla="*/ 1 h 322"/>
                <a:gd name="T18" fmla="*/ 2 w 526"/>
                <a:gd name="T19" fmla="*/ 1 h 322"/>
                <a:gd name="T20" fmla="*/ 2 w 526"/>
                <a:gd name="T21" fmla="*/ 1 h 322"/>
                <a:gd name="T22" fmla="*/ 2 w 526"/>
                <a:gd name="T23" fmla="*/ 1 h 322"/>
                <a:gd name="T24" fmla="*/ 2 w 526"/>
                <a:gd name="T25" fmla="*/ 1 h 322"/>
                <a:gd name="T26" fmla="*/ 2 w 526"/>
                <a:gd name="T27" fmla="*/ 1 h 322"/>
                <a:gd name="T28" fmla="*/ 2 w 526"/>
                <a:gd name="T29" fmla="*/ 1 h 322"/>
                <a:gd name="T30" fmla="*/ 1 w 526"/>
                <a:gd name="T31" fmla="*/ 1 h 322"/>
                <a:gd name="T32" fmla="*/ 1 w 526"/>
                <a:gd name="T33" fmla="*/ 1 h 322"/>
                <a:gd name="T34" fmla="*/ 1 w 526"/>
                <a:gd name="T35" fmla="*/ 2 h 322"/>
                <a:gd name="T36" fmla="*/ 1 w 526"/>
                <a:gd name="T37" fmla="*/ 2 h 322"/>
                <a:gd name="T38" fmla="*/ 1 w 526"/>
                <a:gd name="T39" fmla="*/ 2 h 322"/>
                <a:gd name="T40" fmla="*/ 1 w 526"/>
                <a:gd name="T41" fmla="*/ 2 h 322"/>
                <a:gd name="T42" fmla="*/ 1 w 526"/>
                <a:gd name="T43" fmla="*/ 2 h 322"/>
                <a:gd name="T44" fmla="*/ 1 w 526"/>
                <a:gd name="T45" fmla="*/ 2 h 322"/>
                <a:gd name="T46" fmla="*/ 1 w 526"/>
                <a:gd name="T47" fmla="*/ 2 h 322"/>
                <a:gd name="T48" fmla="*/ 1 w 526"/>
                <a:gd name="T49" fmla="*/ 2 h 322"/>
                <a:gd name="T50" fmla="*/ 1 w 526"/>
                <a:gd name="T51" fmla="*/ 2 h 322"/>
                <a:gd name="T52" fmla="*/ 1 w 526"/>
                <a:gd name="T53" fmla="*/ 2 h 322"/>
                <a:gd name="T54" fmla="*/ 1 w 526"/>
                <a:gd name="T55" fmla="*/ 2 h 322"/>
                <a:gd name="T56" fmla="*/ 1 w 526"/>
                <a:gd name="T57" fmla="*/ 2 h 322"/>
                <a:gd name="T58" fmla="*/ 1 w 526"/>
                <a:gd name="T59" fmla="*/ 2 h 322"/>
                <a:gd name="T60" fmla="*/ 1 w 526"/>
                <a:gd name="T61" fmla="*/ 2 h 322"/>
                <a:gd name="T62" fmla="*/ 1 w 526"/>
                <a:gd name="T63" fmla="*/ 1 h 322"/>
                <a:gd name="T64" fmla="*/ 1 w 526"/>
                <a:gd name="T65" fmla="*/ 1 h 322"/>
                <a:gd name="T66" fmla="*/ 1 w 526"/>
                <a:gd name="T67" fmla="*/ 1 h 322"/>
                <a:gd name="T68" fmla="*/ 1 w 526"/>
                <a:gd name="T69" fmla="*/ 1 h 322"/>
                <a:gd name="T70" fmla="*/ 2 w 526"/>
                <a:gd name="T71" fmla="*/ 1 h 322"/>
                <a:gd name="T72" fmla="*/ 2 w 526"/>
                <a:gd name="T73" fmla="*/ 1 h 322"/>
                <a:gd name="T74" fmla="*/ 2 w 526"/>
                <a:gd name="T75" fmla="*/ 1 h 322"/>
                <a:gd name="T76" fmla="*/ 2 w 526"/>
                <a:gd name="T77" fmla="*/ 1 h 322"/>
                <a:gd name="T78" fmla="*/ 2 w 526"/>
                <a:gd name="T79" fmla="*/ 1 h 322"/>
                <a:gd name="T80" fmla="*/ 2 w 526"/>
                <a:gd name="T81" fmla="*/ 0 h 3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26"/>
                <a:gd name="T124" fmla="*/ 0 h 322"/>
                <a:gd name="T125" fmla="*/ 526 w 526"/>
                <a:gd name="T126" fmla="*/ 322 h 3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26" h="322">
                  <a:moveTo>
                    <a:pt x="496" y="0"/>
                  </a:moveTo>
                  <a:lnTo>
                    <a:pt x="501" y="0"/>
                  </a:lnTo>
                  <a:lnTo>
                    <a:pt x="507" y="0"/>
                  </a:lnTo>
                  <a:lnTo>
                    <a:pt x="513" y="2"/>
                  </a:lnTo>
                  <a:lnTo>
                    <a:pt x="517" y="4"/>
                  </a:lnTo>
                  <a:lnTo>
                    <a:pt x="521" y="10"/>
                  </a:lnTo>
                  <a:lnTo>
                    <a:pt x="526" y="14"/>
                  </a:lnTo>
                  <a:lnTo>
                    <a:pt x="522" y="19"/>
                  </a:lnTo>
                  <a:lnTo>
                    <a:pt x="519" y="27"/>
                  </a:lnTo>
                  <a:lnTo>
                    <a:pt x="513" y="33"/>
                  </a:lnTo>
                  <a:lnTo>
                    <a:pt x="505" y="40"/>
                  </a:lnTo>
                  <a:lnTo>
                    <a:pt x="498" y="44"/>
                  </a:lnTo>
                  <a:lnTo>
                    <a:pt x="490" y="50"/>
                  </a:lnTo>
                  <a:lnTo>
                    <a:pt x="481" y="55"/>
                  </a:lnTo>
                  <a:lnTo>
                    <a:pt x="473" y="61"/>
                  </a:lnTo>
                  <a:lnTo>
                    <a:pt x="463" y="67"/>
                  </a:lnTo>
                  <a:lnTo>
                    <a:pt x="456" y="71"/>
                  </a:lnTo>
                  <a:lnTo>
                    <a:pt x="446" y="76"/>
                  </a:lnTo>
                  <a:lnTo>
                    <a:pt x="439" y="84"/>
                  </a:lnTo>
                  <a:lnTo>
                    <a:pt x="429" y="88"/>
                  </a:lnTo>
                  <a:lnTo>
                    <a:pt x="422" y="94"/>
                  </a:lnTo>
                  <a:lnTo>
                    <a:pt x="414" y="99"/>
                  </a:lnTo>
                  <a:lnTo>
                    <a:pt x="405" y="105"/>
                  </a:lnTo>
                  <a:lnTo>
                    <a:pt x="393" y="116"/>
                  </a:lnTo>
                  <a:lnTo>
                    <a:pt x="384" y="126"/>
                  </a:lnTo>
                  <a:lnTo>
                    <a:pt x="361" y="133"/>
                  </a:lnTo>
                  <a:lnTo>
                    <a:pt x="338" y="145"/>
                  </a:lnTo>
                  <a:lnTo>
                    <a:pt x="319" y="156"/>
                  </a:lnTo>
                  <a:lnTo>
                    <a:pt x="298" y="170"/>
                  </a:lnTo>
                  <a:lnTo>
                    <a:pt x="279" y="183"/>
                  </a:lnTo>
                  <a:lnTo>
                    <a:pt x="258" y="196"/>
                  </a:lnTo>
                  <a:lnTo>
                    <a:pt x="239" y="211"/>
                  </a:lnTo>
                  <a:lnTo>
                    <a:pt x="220" y="229"/>
                  </a:lnTo>
                  <a:lnTo>
                    <a:pt x="201" y="242"/>
                  </a:lnTo>
                  <a:lnTo>
                    <a:pt x="180" y="255"/>
                  </a:lnTo>
                  <a:lnTo>
                    <a:pt x="161" y="268"/>
                  </a:lnTo>
                  <a:lnTo>
                    <a:pt x="142" y="282"/>
                  </a:lnTo>
                  <a:lnTo>
                    <a:pt x="119" y="293"/>
                  </a:lnTo>
                  <a:lnTo>
                    <a:pt x="100" y="305"/>
                  </a:lnTo>
                  <a:lnTo>
                    <a:pt x="79" y="314"/>
                  </a:lnTo>
                  <a:lnTo>
                    <a:pt x="58" y="322"/>
                  </a:lnTo>
                  <a:lnTo>
                    <a:pt x="49" y="318"/>
                  </a:lnTo>
                  <a:lnTo>
                    <a:pt x="41" y="314"/>
                  </a:lnTo>
                  <a:lnTo>
                    <a:pt x="36" y="308"/>
                  </a:lnTo>
                  <a:lnTo>
                    <a:pt x="30" y="305"/>
                  </a:lnTo>
                  <a:lnTo>
                    <a:pt x="22" y="301"/>
                  </a:lnTo>
                  <a:lnTo>
                    <a:pt x="15" y="297"/>
                  </a:lnTo>
                  <a:lnTo>
                    <a:pt x="7" y="295"/>
                  </a:lnTo>
                  <a:lnTo>
                    <a:pt x="0" y="299"/>
                  </a:lnTo>
                  <a:lnTo>
                    <a:pt x="3" y="289"/>
                  </a:lnTo>
                  <a:lnTo>
                    <a:pt x="13" y="284"/>
                  </a:lnTo>
                  <a:lnTo>
                    <a:pt x="19" y="280"/>
                  </a:lnTo>
                  <a:lnTo>
                    <a:pt x="28" y="278"/>
                  </a:lnTo>
                  <a:lnTo>
                    <a:pt x="36" y="272"/>
                  </a:lnTo>
                  <a:lnTo>
                    <a:pt x="47" y="272"/>
                  </a:lnTo>
                  <a:lnTo>
                    <a:pt x="57" y="272"/>
                  </a:lnTo>
                  <a:lnTo>
                    <a:pt x="68" y="272"/>
                  </a:lnTo>
                  <a:lnTo>
                    <a:pt x="79" y="268"/>
                  </a:lnTo>
                  <a:lnTo>
                    <a:pt x="89" y="268"/>
                  </a:lnTo>
                  <a:lnTo>
                    <a:pt x="100" y="265"/>
                  </a:lnTo>
                  <a:lnTo>
                    <a:pt x="110" y="263"/>
                  </a:lnTo>
                  <a:lnTo>
                    <a:pt x="119" y="257"/>
                  </a:lnTo>
                  <a:lnTo>
                    <a:pt x="131" y="251"/>
                  </a:lnTo>
                  <a:lnTo>
                    <a:pt x="140" y="242"/>
                  </a:lnTo>
                  <a:lnTo>
                    <a:pt x="150" y="232"/>
                  </a:lnTo>
                  <a:lnTo>
                    <a:pt x="169" y="217"/>
                  </a:lnTo>
                  <a:lnTo>
                    <a:pt x="192" y="202"/>
                  </a:lnTo>
                  <a:lnTo>
                    <a:pt x="212" y="185"/>
                  </a:lnTo>
                  <a:lnTo>
                    <a:pt x="233" y="170"/>
                  </a:lnTo>
                  <a:lnTo>
                    <a:pt x="254" y="156"/>
                  </a:lnTo>
                  <a:lnTo>
                    <a:pt x="275" y="141"/>
                  </a:lnTo>
                  <a:lnTo>
                    <a:pt x="296" y="126"/>
                  </a:lnTo>
                  <a:lnTo>
                    <a:pt x="317" y="113"/>
                  </a:lnTo>
                  <a:lnTo>
                    <a:pt x="338" y="99"/>
                  </a:lnTo>
                  <a:lnTo>
                    <a:pt x="359" y="84"/>
                  </a:lnTo>
                  <a:lnTo>
                    <a:pt x="380" y="69"/>
                  </a:lnTo>
                  <a:lnTo>
                    <a:pt x="403" y="55"/>
                  </a:lnTo>
                  <a:lnTo>
                    <a:pt x="424" y="40"/>
                  </a:lnTo>
                  <a:lnTo>
                    <a:pt x="446" y="27"/>
                  </a:lnTo>
                  <a:lnTo>
                    <a:pt x="471" y="14"/>
                  </a:lnTo>
                  <a:lnTo>
                    <a:pt x="49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54" name="Freeform 66"/>
            <p:cNvSpPr>
              <a:spLocks/>
            </p:cNvSpPr>
            <p:nvPr/>
          </p:nvSpPr>
          <p:spPr bwMode="auto">
            <a:xfrm>
              <a:off x="3329" y="2825"/>
              <a:ext cx="502" cy="237"/>
            </a:xfrm>
            <a:custGeom>
              <a:avLst/>
              <a:gdLst>
                <a:gd name="T0" fmla="*/ 1 w 1004"/>
                <a:gd name="T1" fmla="*/ 1 h 473"/>
                <a:gd name="T2" fmla="*/ 1 w 1004"/>
                <a:gd name="T3" fmla="*/ 1 h 473"/>
                <a:gd name="T4" fmla="*/ 2 w 1004"/>
                <a:gd name="T5" fmla="*/ 1 h 473"/>
                <a:gd name="T6" fmla="*/ 2 w 1004"/>
                <a:gd name="T7" fmla="*/ 1 h 473"/>
                <a:gd name="T8" fmla="*/ 3 w 1004"/>
                <a:gd name="T9" fmla="*/ 1 h 473"/>
                <a:gd name="T10" fmla="*/ 3 w 1004"/>
                <a:gd name="T11" fmla="*/ 2 h 473"/>
                <a:gd name="T12" fmla="*/ 4 w 1004"/>
                <a:gd name="T13" fmla="*/ 2 h 473"/>
                <a:gd name="T14" fmla="*/ 4 w 1004"/>
                <a:gd name="T15" fmla="*/ 2 h 473"/>
                <a:gd name="T16" fmla="*/ 4 w 1004"/>
                <a:gd name="T17" fmla="*/ 2 h 473"/>
                <a:gd name="T18" fmla="*/ 4 w 1004"/>
                <a:gd name="T19" fmla="*/ 2 h 473"/>
                <a:gd name="T20" fmla="*/ 4 w 1004"/>
                <a:gd name="T21" fmla="*/ 2 h 473"/>
                <a:gd name="T22" fmla="*/ 4 w 1004"/>
                <a:gd name="T23" fmla="*/ 2 h 473"/>
                <a:gd name="T24" fmla="*/ 4 w 1004"/>
                <a:gd name="T25" fmla="*/ 2 h 473"/>
                <a:gd name="T26" fmla="*/ 4 w 1004"/>
                <a:gd name="T27" fmla="*/ 2 h 473"/>
                <a:gd name="T28" fmla="*/ 4 w 1004"/>
                <a:gd name="T29" fmla="*/ 2 h 473"/>
                <a:gd name="T30" fmla="*/ 4 w 1004"/>
                <a:gd name="T31" fmla="*/ 2 h 473"/>
                <a:gd name="T32" fmla="*/ 4 w 1004"/>
                <a:gd name="T33" fmla="*/ 2 h 473"/>
                <a:gd name="T34" fmla="*/ 4 w 1004"/>
                <a:gd name="T35" fmla="*/ 2 h 473"/>
                <a:gd name="T36" fmla="*/ 4 w 1004"/>
                <a:gd name="T37" fmla="*/ 2 h 473"/>
                <a:gd name="T38" fmla="*/ 4 w 1004"/>
                <a:gd name="T39" fmla="*/ 2 h 473"/>
                <a:gd name="T40" fmla="*/ 3 w 1004"/>
                <a:gd name="T41" fmla="*/ 2 h 473"/>
                <a:gd name="T42" fmla="*/ 3 w 1004"/>
                <a:gd name="T43" fmla="*/ 2 h 473"/>
                <a:gd name="T44" fmla="*/ 2 w 1004"/>
                <a:gd name="T45" fmla="*/ 1 h 473"/>
                <a:gd name="T46" fmla="*/ 2 w 1004"/>
                <a:gd name="T47" fmla="*/ 1 h 473"/>
                <a:gd name="T48" fmla="*/ 2 w 1004"/>
                <a:gd name="T49" fmla="*/ 1 h 473"/>
                <a:gd name="T50" fmla="*/ 1 w 1004"/>
                <a:gd name="T51" fmla="*/ 1 h 473"/>
                <a:gd name="T52" fmla="*/ 1 w 1004"/>
                <a:gd name="T53" fmla="*/ 1 h 473"/>
                <a:gd name="T54" fmla="*/ 1 w 1004"/>
                <a:gd name="T55" fmla="*/ 1 h 473"/>
                <a:gd name="T56" fmla="*/ 1 w 1004"/>
                <a:gd name="T57" fmla="*/ 1 h 473"/>
                <a:gd name="T58" fmla="*/ 1 w 1004"/>
                <a:gd name="T59" fmla="*/ 1 h 473"/>
                <a:gd name="T60" fmla="*/ 1 w 1004"/>
                <a:gd name="T61" fmla="*/ 1 h 473"/>
                <a:gd name="T62" fmla="*/ 0 w 1004"/>
                <a:gd name="T63" fmla="*/ 1 h 473"/>
                <a:gd name="T64" fmla="*/ 0 w 1004"/>
                <a:gd name="T65" fmla="*/ 1 h 473"/>
                <a:gd name="T66" fmla="*/ 1 w 1004"/>
                <a:gd name="T67" fmla="*/ 1 h 473"/>
                <a:gd name="T68" fmla="*/ 1 w 1004"/>
                <a:gd name="T69" fmla="*/ 1 h 473"/>
                <a:gd name="T70" fmla="*/ 1 w 1004"/>
                <a:gd name="T71" fmla="*/ 0 h 47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004"/>
                <a:gd name="T109" fmla="*/ 0 h 473"/>
                <a:gd name="T110" fmla="*/ 1004 w 1004"/>
                <a:gd name="T111" fmla="*/ 473 h 47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004" h="473">
                  <a:moveTo>
                    <a:pt x="34" y="0"/>
                  </a:moveTo>
                  <a:lnTo>
                    <a:pt x="93" y="23"/>
                  </a:lnTo>
                  <a:lnTo>
                    <a:pt x="156" y="47"/>
                  </a:lnTo>
                  <a:lnTo>
                    <a:pt x="219" y="70"/>
                  </a:lnTo>
                  <a:lnTo>
                    <a:pt x="282" y="97"/>
                  </a:lnTo>
                  <a:lnTo>
                    <a:pt x="342" y="120"/>
                  </a:lnTo>
                  <a:lnTo>
                    <a:pt x="405" y="146"/>
                  </a:lnTo>
                  <a:lnTo>
                    <a:pt x="466" y="173"/>
                  </a:lnTo>
                  <a:lnTo>
                    <a:pt x="529" y="201"/>
                  </a:lnTo>
                  <a:lnTo>
                    <a:pt x="590" y="228"/>
                  </a:lnTo>
                  <a:lnTo>
                    <a:pt x="651" y="257"/>
                  </a:lnTo>
                  <a:lnTo>
                    <a:pt x="709" y="285"/>
                  </a:lnTo>
                  <a:lnTo>
                    <a:pt x="770" y="315"/>
                  </a:lnTo>
                  <a:lnTo>
                    <a:pt x="829" y="346"/>
                  </a:lnTo>
                  <a:lnTo>
                    <a:pt x="888" y="380"/>
                  </a:lnTo>
                  <a:lnTo>
                    <a:pt x="945" y="414"/>
                  </a:lnTo>
                  <a:lnTo>
                    <a:pt x="1004" y="450"/>
                  </a:lnTo>
                  <a:lnTo>
                    <a:pt x="997" y="458"/>
                  </a:lnTo>
                  <a:lnTo>
                    <a:pt x="991" y="464"/>
                  </a:lnTo>
                  <a:lnTo>
                    <a:pt x="983" y="468"/>
                  </a:lnTo>
                  <a:lnTo>
                    <a:pt x="978" y="471"/>
                  </a:lnTo>
                  <a:lnTo>
                    <a:pt x="962" y="473"/>
                  </a:lnTo>
                  <a:lnTo>
                    <a:pt x="949" y="471"/>
                  </a:lnTo>
                  <a:lnTo>
                    <a:pt x="940" y="468"/>
                  </a:lnTo>
                  <a:lnTo>
                    <a:pt x="932" y="464"/>
                  </a:lnTo>
                  <a:lnTo>
                    <a:pt x="924" y="458"/>
                  </a:lnTo>
                  <a:lnTo>
                    <a:pt x="915" y="454"/>
                  </a:lnTo>
                  <a:lnTo>
                    <a:pt x="905" y="447"/>
                  </a:lnTo>
                  <a:lnTo>
                    <a:pt x="898" y="443"/>
                  </a:lnTo>
                  <a:lnTo>
                    <a:pt x="890" y="437"/>
                  </a:lnTo>
                  <a:lnTo>
                    <a:pt x="882" y="431"/>
                  </a:lnTo>
                  <a:lnTo>
                    <a:pt x="873" y="426"/>
                  </a:lnTo>
                  <a:lnTo>
                    <a:pt x="865" y="420"/>
                  </a:lnTo>
                  <a:lnTo>
                    <a:pt x="858" y="414"/>
                  </a:lnTo>
                  <a:lnTo>
                    <a:pt x="848" y="411"/>
                  </a:lnTo>
                  <a:lnTo>
                    <a:pt x="841" y="405"/>
                  </a:lnTo>
                  <a:lnTo>
                    <a:pt x="833" y="401"/>
                  </a:lnTo>
                  <a:lnTo>
                    <a:pt x="825" y="399"/>
                  </a:lnTo>
                  <a:lnTo>
                    <a:pt x="818" y="399"/>
                  </a:lnTo>
                  <a:lnTo>
                    <a:pt x="770" y="373"/>
                  </a:lnTo>
                  <a:lnTo>
                    <a:pt x="723" y="348"/>
                  </a:lnTo>
                  <a:lnTo>
                    <a:pt x="673" y="325"/>
                  </a:lnTo>
                  <a:lnTo>
                    <a:pt x="626" y="306"/>
                  </a:lnTo>
                  <a:lnTo>
                    <a:pt x="576" y="285"/>
                  </a:lnTo>
                  <a:lnTo>
                    <a:pt x="527" y="268"/>
                  </a:lnTo>
                  <a:lnTo>
                    <a:pt x="477" y="253"/>
                  </a:lnTo>
                  <a:lnTo>
                    <a:pt x="428" y="236"/>
                  </a:lnTo>
                  <a:lnTo>
                    <a:pt x="377" y="220"/>
                  </a:lnTo>
                  <a:lnTo>
                    <a:pt x="325" y="203"/>
                  </a:lnTo>
                  <a:lnTo>
                    <a:pt x="276" y="190"/>
                  </a:lnTo>
                  <a:lnTo>
                    <a:pt x="228" y="175"/>
                  </a:lnTo>
                  <a:lnTo>
                    <a:pt x="179" y="160"/>
                  </a:lnTo>
                  <a:lnTo>
                    <a:pt x="130" y="144"/>
                  </a:lnTo>
                  <a:lnTo>
                    <a:pt x="82" y="129"/>
                  </a:lnTo>
                  <a:lnTo>
                    <a:pt x="38" y="114"/>
                  </a:lnTo>
                  <a:lnTo>
                    <a:pt x="34" y="104"/>
                  </a:lnTo>
                  <a:lnTo>
                    <a:pt x="31" y="97"/>
                  </a:lnTo>
                  <a:lnTo>
                    <a:pt x="25" y="87"/>
                  </a:lnTo>
                  <a:lnTo>
                    <a:pt x="21" y="80"/>
                  </a:lnTo>
                  <a:lnTo>
                    <a:pt x="15" y="72"/>
                  </a:lnTo>
                  <a:lnTo>
                    <a:pt x="12" y="65"/>
                  </a:lnTo>
                  <a:lnTo>
                    <a:pt x="8" y="55"/>
                  </a:lnTo>
                  <a:lnTo>
                    <a:pt x="4" y="49"/>
                  </a:lnTo>
                  <a:lnTo>
                    <a:pt x="0" y="42"/>
                  </a:lnTo>
                  <a:lnTo>
                    <a:pt x="0" y="34"/>
                  </a:lnTo>
                  <a:lnTo>
                    <a:pt x="0" y="26"/>
                  </a:lnTo>
                  <a:lnTo>
                    <a:pt x="4" y="21"/>
                  </a:lnTo>
                  <a:lnTo>
                    <a:pt x="6" y="15"/>
                  </a:lnTo>
                  <a:lnTo>
                    <a:pt x="14" y="9"/>
                  </a:lnTo>
                  <a:lnTo>
                    <a:pt x="21" y="4"/>
                  </a:lnTo>
                  <a:lnTo>
                    <a:pt x="34" y="0"/>
                  </a:lnTo>
                  <a:close/>
                </a:path>
              </a:pathLst>
            </a:custGeom>
            <a:solidFill>
              <a:srgbClr val="FFFF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55" name="Freeform 67"/>
            <p:cNvSpPr>
              <a:spLocks/>
            </p:cNvSpPr>
            <p:nvPr/>
          </p:nvSpPr>
          <p:spPr bwMode="auto">
            <a:xfrm>
              <a:off x="4366" y="2825"/>
              <a:ext cx="56" cy="13"/>
            </a:xfrm>
            <a:custGeom>
              <a:avLst/>
              <a:gdLst>
                <a:gd name="T0" fmla="*/ 1 w 112"/>
                <a:gd name="T1" fmla="*/ 0 h 25"/>
                <a:gd name="T2" fmla="*/ 1 w 112"/>
                <a:gd name="T3" fmla="*/ 1 h 25"/>
                <a:gd name="T4" fmla="*/ 1 w 112"/>
                <a:gd name="T5" fmla="*/ 1 h 25"/>
                <a:gd name="T6" fmla="*/ 1 w 112"/>
                <a:gd name="T7" fmla="*/ 1 h 25"/>
                <a:gd name="T8" fmla="*/ 1 w 112"/>
                <a:gd name="T9" fmla="*/ 1 h 25"/>
                <a:gd name="T10" fmla="*/ 1 w 112"/>
                <a:gd name="T11" fmla="*/ 1 h 25"/>
                <a:gd name="T12" fmla="*/ 1 w 112"/>
                <a:gd name="T13" fmla="*/ 1 h 25"/>
                <a:gd name="T14" fmla="*/ 1 w 112"/>
                <a:gd name="T15" fmla="*/ 1 h 25"/>
                <a:gd name="T16" fmla="*/ 1 w 112"/>
                <a:gd name="T17" fmla="*/ 1 h 25"/>
                <a:gd name="T18" fmla="*/ 1 w 112"/>
                <a:gd name="T19" fmla="*/ 1 h 25"/>
                <a:gd name="T20" fmla="*/ 1 w 112"/>
                <a:gd name="T21" fmla="*/ 1 h 25"/>
                <a:gd name="T22" fmla="*/ 0 w 112"/>
                <a:gd name="T23" fmla="*/ 1 h 25"/>
                <a:gd name="T24" fmla="*/ 0 w 112"/>
                <a:gd name="T25" fmla="*/ 1 h 25"/>
                <a:gd name="T26" fmla="*/ 0 w 112"/>
                <a:gd name="T27" fmla="*/ 1 h 25"/>
                <a:gd name="T28" fmla="*/ 1 w 112"/>
                <a:gd name="T29" fmla="*/ 1 h 25"/>
                <a:gd name="T30" fmla="*/ 1 w 112"/>
                <a:gd name="T31" fmla="*/ 1 h 25"/>
                <a:gd name="T32" fmla="*/ 1 w 112"/>
                <a:gd name="T33" fmla="*/ 1 h 25"/>
                <a:gd name="T34" fmla="*/ 1 w 112"/>
                <a:gd name="T35" fmla="*/ 1 h 25"/>
                <a:gd name="T36" fmla="*/ 1 w 112"/>
                <a:gd name="T37" fmla="*/ 1 h 25"/>
                <a:gd name="T38" fmla="*/ 1 w 112"/>
                <a:gd name="T39" fmla="*/ 1 h 25"/>
                <a:gd name="T40" fmla="*/ 1 w 112"/>
                <a:gd name="T41" fmla="*/ 1 h 25"/>
                <a:gd name="T42" fmla="*/ 1 w 112"/>
                <a:gd name="T43" fmla="*/ 0 h 25"/>
                <a:gd name="T44" fmla="*/ 1 w 112"/>
                <a:gd name="T45" fmla="*/ 0 h 2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2"/>
                <a:gd name="T70" fmla="*/ 0 h 25"/>
                <a:gd name="T71" fmla="*/ 112 w 112"/>
                <a:gd name="T72" fmla="*/ 25 h 2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2" h="25">
                  <a:moveTo>
                    <a:pt x="98" y="0"/>
                  </a:moveTo>
                  <a:lnTo>
                    <a:pt x="104" y="2"/>
                  </a:lnTo>
                  <a:lnTo>
                    <a:pt x="112" y="6"/>
                  </a:lnTo>
                  <a:lnTo>
                    <a:pt x="112" y="9"/>
                  </a:lnTo>
                  <a:lnTo>
                    <a:pt x="97" y="11"/>
                  </a:lnTo>
                  <a:lnTo>
                    <a:pt x="83" y="13"/>
                  </a:lnTo>
                  <a:lnTo>
                    <a:pt x="68" y="15"/>
                  </a:lnTo>
                  <a:lnTo>
                    <a:pt x="55" y="17"/>
                  </a:lnTo>
                  <a:lnTo>
                    <a:pt x="40" y="17"/>
                  </a:lnTo>
                  <a:lnTo>
                    <a:pt x="26" y="21"/>
                  </a:lnTo>
                  <a:lnTo>
                    <a:pt x="13" y="21"/>
                  </a:lnTo>
                  <a:lnTo>
                    <a:pt x="0" y="25"/>
                  </a:lnTo>
                  <a:lnTo>
                    <a:pt x="0" y="23"/>
                  </a:lnTo>
                  <a:lnTo>
                    <a:pt x="11" y="15"/>
                  </a:lnTo>
                  <a:lnTo>
                    <a:pt x="22" y="11"/>
                  </a:lnTo>
                  <a:lnTo>
                    <a:pt x="36" y="9"/>
                  </a:lnTo>
                  <a:lnTo>
                    <a:pt x="47" y="7"/>
                  </a:lnTo>
                  <a:lnTo>
                    <a:pt x="59" y="6"/>
                  </a:lnTo>
                  <a:lnTo>
                    <a:pt x="72" y="4"/>
                  </a:lnTo>
                  <a:lnTo>
                    <a:pt x="85" y="2"/>
                  </a:lnTo>
                  <a:lnTo>
                    <a:pt x="9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56" name="Freeform 68"/>
            <p:cNvSpPr>
              <a:spLocks/>
            </p:cNvSpPr>
            <p:nvPr/>
          </p:nvSpPr>
          <p:spPr bwMode="auto">
            <a:xfrm>
              <a:off x="4594" y="2828"/>
              <a:ext cx="10" cy="7"/>
            </a:xfrm>
            <a:custGeom>
              <a:avLst/>
              <a:gdLst>
                <a:gd name="T0" fmla="*/ 1 w 19"/>
                <a:gd name="T1" fmla="*/ 0 h 13"/>
                <a:gd name="T2" fmla="*/ 1 w 19"/>
                <a:gd name="T3" fmla="*/ 1 h 13"/>
                <a:gd name="T4" fmla="*/ 1 w 19"/>
                <a:gd name="T5" fmla="*/ 1 h 13"/>
                <a:gd name="T6" fmla="*/ 1 w 19"/>
                <a:gd name="T7" fmla="*/ 1 h 13"/>
                <a:gd name="T8" fmla="*/ 1 w 19"/>
                <a:gd name="T9" fmla="*/ 1 h 13"/>
                <a:gd name="T10" fmla="*/ 1 w 19"/>
                <a:gd name="T11" fmla="*/ 1 h 13"/>
                <a:gd name="T12" fmla="*/ 1 w 19"/>
                <a:gd name="T13" fmla="*/ 1 h 13"/>
                <a:gd name="T14" fmla="*/ 1 w 19"/>
                <a:gd name="T15" fmla="*/ 1 h 13"/>
                <a:gd name="T16" fmla="*/ 0 w 19"/>
                <a:gd name="T17" fmla="*/ 1 h 13"/>
                <a:gd name="T18" fmla="*/ 1 w 19"/>
                <a:gd name="T19" fmla="*/ 0 h 13"/>
                <a:gd name="T20" fmla="*/ 1 w 19"/>
                <a:gd name="T21" fmla="*/ 0 h 1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
                <a:gd name="T34" fmla="*/ 0 h 13"/>
                <a:gd name="T35" fmla="*/ 19 w 19"/>
                <a:gd name="T36" fmla="*/ 13 h 1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 h="13">
                  <a:moveTo>
                    <a:pt x="4" y="0"/>
                  </a:moveTo>
                  <a:lnTo>
                    <a:pt x="9" y="3"/>
                  </a:lnTo>
                  <a:lnTo>
                    <a:pt x="19" y="5"/>
                  </a:lnTo>
                  <a:lnTo>
                    <a:pt x="19" y="9"/>
                  </a:lnTo>
                  <a:lnTo>
                    <a:pt x="17" y="11"/>
                  </a:lnTo>
                  <a:lnTo>
                    <a:pt x="13" y="13"/>
                  </a:lnTo>
                  <a:lnTo>
                    <a:pt x="8" y="9"/>
                  </a:lnTo>
                  <a:lnTo>
                    <a:pt x="4" y="7"/>
                  </a:lnTo>
                  <a:lnTo>
                    <a:pt x="0"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57" name="Freeform 69"/>
            <p:cNvSpPr>
              <a:spLocks/>
            </p:cNvSpPr>
            <p:nvPr/>
          </p:nvSpPr>
          <p:spPr bwMode="auto">
            <a:xfrm>
              <a:off x="3833" y="2831"/>
              <a:ext cx="13" cy="11"/>
            </a:xfrm>
            <a:custGeom>
              <a:avLst/>
              <a:gdLst>
                <a:gd name="T0" fmla="*/ 0 w 27"/>
                <a:gd name="T1" fmla="*/ 0 h 21"/>
                <a:gd name="T2" fmla="*/ 0 w 27"/>
                <a:gd name="T3" fmla="*/ 0 h 21"/>
                <a:gd name="T4" fmla="*/ 0 w 27"/>
                <a:gd name="T5" fmla="*/ 0 h 21"/>
                <a:gd name="T6" fmla="*/ 0 w 27"/>
                <a:gd name="T7" fmla="*/ 0 h 21"/>
                <a:gd name="T8" fmla="*/ 0 w 27"/>
                <a:gd name="T9" fmla="*/ 0 h 21"/>
                <a:gd name="T10" fmla="*/ 0 w 27"/>
                <a:gd name="T11" fmla="*/ 1 h 21"/>
                <a:gd name="T12" fmla="*/ 0 w 27"/>
                <a:gd name="T13" fmla="*/ 1 h 21"/>
                <a:gd name="T14" fmla="*/ 0 w 27"/>
                <a:gd name="T15" fmla="*/ 1 h 21"/>
                <a:gd name="T16" fmla="*/ 0 w 27"/>
                <a:gd name="T17" fmla="*/ 1 h 21"/>
                <a:gd name="T18" fmla="*/ 0 w 27"/>
                <a:gd name="T19" fmla="*/ 1 h 21"/>
                <a:gd name="T20" fmla="*/ 0 w 27"/>
                <a:gd name="T21" fmla="*/ 1 h 21"/>
                <a:gd name="T22" fmla="*/ 0 w 27"/>
                <a:gd name="T23" fmla="*/ 1 h 21"/>
                <a:gd name="T24" fmla="*/ 0 w 27"/>
                <a:gd name="T25" fmla="*/ 1 h 21"/>
                <a:gd name="T26" fmla="*/ 0 w 27"/>
                <a:gd name="T27" fmla="*/ 0 h 21"/>
                <a:gd name="T28" fmla="*/ 0 w 27"/>
                <a:gd name="T29" fmla="*/ 0 h 2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
                <a:gd name="T46" fmla="*/ 0 h 21"/>
                <a:gd name="T47" fmla="*/ 27 w 27"/>
                <a:gd name="T48" fmla="*/ 21 h 2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 h="21">
                  <a:moveTo>
                    <a:pt x="15" y="0"/>
                  </a:moveTo>
                  <a:lnTo>
                    <a:pt x="17" y="0"/>
                  </a:lnTo>
                  <a:lnTo>
                    <a:pt x="21" y="0"/>
                  </a:lnTo>
                  <a:lnTo>
                    <a:pt x="23" y="0"/>
                  </a:lnTo>
                  <a:lnTo>
                    <a:pt x="27" y="0"/>
                  </a:lnTo>
                  <a:lnTo>
                    <a:pt x="27" y="4"/>
                  </a:lnTo>
                  <a:lnTo>
                    <a:pt x="19" y="8"/>
                  </a:lnTo>
                  <a:lnTo>
                    <a:pt x="11" y="12"/>
                  </a:lnTo>
                  <a:lnTo>
                    <a:pt x="6" y="15"/>
                  </a:lnTo>
                  <a:lnTo>
                    <a:pt x="0" y="21"/>
                  </a:lnTo>
                  <a:lnTo>
                    <a:pt x="0" y="17"/>
                  </a:lnTo>
                  <a:lnTo>
                    <a:pt x="6" y="10"/>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58" name="Freeform 70"/>
            <p:cNvSpPr>
              <a:spLocks/>
            </p:cNvSpPr>
            <p:nvPr/>
          </p:nvSpPr>
          <p:spPr bwMode="auto">
            <a:xfrm>
              <a:off x="3753" y="2840"/>
              <a:ext cx="75" cy="54"/>
            </a:xfrm>
            <a:custGeom>
              <a:avLst/>
              <a:gdLst>
                <a:gd name="T0" fmla="*/ 1 w 150"/>
                <a:gd name="T1" fmla="*/ 0 h 109"/>
                <a:gd name="T2" fmla="*/ 1 w 150"/>
                <a:gd name="T3" fmla="*/ 0 h 109"/>
                <a:gd name="T4" fmla="*/ 1 w 150"/>
                <a:gd name="T5" fmla="*/ 0 h 109"/>
                <a:gd name="T6" fmla="*/ 1 w 150"/>
                <a:gd name="T7" fmla="*/ 0 h 109"/>
                <a:gd name="T8" fmla="*/ 1 w 150"/>
                <a:gd name="T9" fmla="*/ 0 h 109"/>
                <a:gd name="T10" fmla="*/ 1 w 150"/>
                <a:gd name="T11" fmla="*/ 0 h 109"/>
                <a:gd name="T12" fmla="*/ 1 w 150"/>
                <a:gd name="T13" fmla="*/ 0 h 109"/>
                <a:gd name="T14" fmla="*/ 1 w 150"/>
                <a:gd name="T15" fmla="*/ 0 h 109"/>
                <a:gd name="T16" fmla="*/ 1 w 150"/>
                <a:gd name="T17" fmla="*/ 0 h 109"/>
                <a:gd name="T18" fmla="*/ 1 w 150"/>
                <a:gd name="T19" fmla="*/ 0 h 109"/>
                <a:gd name="T20" fmla="*/ 1 w 150"/>
                <a:gd name="T21" fmla="*/ 0 h 109"/>
                <a:gd name="T22" fmla="*/ 1 w 150"/>
                <a:gd name="T23" fmla="*/ 0 h 109"/>
                <a:gd name="T24" fmla="*/ 1 w 150"/>
                <a:gd name="T25" fmla="*/ 0 h 109"/>
                <a:gd name="T26" fmla="*/ 1 w 150"/>
                <a:gd name="T27" fmla="*/ 0 h 109"/>
                <a:gd name="T28" fmla="*/ 1 w 150"/>
                <a:gd name="T29" fmla="*/ 0 h 109"/>
                <a:gd name="T30" fmla="*/ 1 w 150"/>
                <a:gd name="T31" fmla="*/ 0 h 109"/>
                <a:gd name="T32" fmla="*/ 1 w 150"/>
                <a:gd name="T33" fmla="*/ 0 h 109"/>
                <a:gd name="T34" fmla="*/ 1 w 150"/>
                <a:gd name="T35" fmla="*/ 0 h 109"/>
                <a:gd name="T36" fmla="*/ 1 w 150"/>
                <a:gd name="T37" fmla="*/ 0 h 109"/>
                <a:gd name="T38" fmla="*/ 1 w 150"/>
                <a:gd name="T39" fmla="*/ 0 h 109"/>
                <a:gd name="T40" fmla="*/ 1 w 150"/>
                <a:gd name="T41" fmla="*/ 0 h 109"/>
                <a:gd name="T42" fmla="*/ 0 w 150"/>
                <a:gd name="T43" fmla="*/ 0 h 109"/>
                <a:gd name="T44" fmla="*/ 1 w 150"/>
                <a:gd name="T45" fmla="*/ 0 h 109"/>
                <a:gd name="T46" fmla="*/ 1 w 150"/>
                <a:gd name="T47" fmla="*/ 0 h 109"/>
                <a:gd name="T48" fmla="*/ 1 w 150"/>
                <a:gd name="T49" fmla="*/ 0 h 109"/>
                <a:gd name="T50" fmla="*/ 1 w 150"/>
                <a:gd name="T51" fmla="*/ 0 h 109"/>
                <a:gd name="T52" fmla="*/ 1 w 150"/>
                <a:gd name="T53" fmla="*/ 0 h 109"/>
                <a:gd name="T54" fmla="*/ 1 w 150"/>
                <a:gd name="T55" fmla="*/ 0 h 109"/>
                <a:gd name="T56" fmla="*/ 1 w 150"/>
                <a:gd name="T57" fmla="*/ 0 h 109"/>
                <a:gd name="T58" fmla="*/ 1 w 150"/>
                <a:gd name="T59" fmla="*/ 0 h 109"/>
                <a:gd name="T60" fmla="*/ 1 w 150"/>
                <a:gd name="T61" fmla="*/ 0 h 109"/>
                <a:gd name="T62" fmla="*/ 1 w 150"/>
                <a:gd name="T63" fmla="*/ 0 h 109"/>
                <a:gd name="T64" fmla="*/ 1 w 150"/>
                <a:gd name="T65" fmla="*/ 0 h 10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0"/>
                <a:gd name="T100" fmla="*/ 0 h 109"/>
                <a:gd name="T101" fmla="*/ 150 w 150"/>
                <a:gd name="T102" fmla="*/ 109 h 10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0" h="109">
                  <a:moveTo>
                    <a:pt x="105" y="0"/>
                  </a:moveTo>
                  <a:lnTo>
                    <a:pt x="114" y="6"/>
                  </a:lnTo>
                  <a:lnTo>
                    <a:pt x="126" y="6"/>
                  </a:lnTo>
                  <a:lnTo>
                    <a:pt x="130" y="4"/>
                  </a:lnTo>
                  <a:lnTo>
                    <a:pt x="135" y="0"/>
                  </a:lnTo>
                  <a:lnTo>
                    <a:pt x="143" y="0"/>
                  </a:lnTo>
                  <a:lnTo>
                    <a:pt x="150" y="0"/>
                  </a:lnTo>
                  <a:lnTo>
                    <a:pt x="150" y="4"/>
                  </a:lnTo>
                  <a:lnTo>
                    <a:pt x="143" y="10"/>
                  </a:lnTo>
                  <a:lnTo>
                    <a:pt x="133" y="14"/>
                  </a:lnTo>
                  <a:lnTo>
                    <a:pt x="126" y="19"/>
                  </a:lnTo>
                  <a:lnTo>
                    <a:pt x="120" y="25"/>
                  </a:lnTo>
                  <a:lnTo>
                    <a:pt x="107" y="37"/>
                  </a:lnTo>
                  <a:lnTo>
                    <a:pt x="93" y="46"/>
                  </a:lnTo>
                  <a:lnTo>
                    <a:pt x="82" y="54"/>
                  </a:lnTo>
                  <a:lnTo>
                    <a:pt x="71" y="63"/>
                  </a:lnTo>
                  <a:lnTo>
                    <a:pt x="57" y="71"/>
                  </a:lnTo>
                  <a:lnTo>
                    <a:pt x="46" y="78"/>
                  </a:lnTo>
                  <a:lnTo>
                    <a:pt x="34" y="86"/>
                  </a:lnTo>
                  <a:lnTo>
                    <a:pt x="23" y="94"/>
                  </a:lnTo>
                  <a:lnTo>
                    <a:pt x="10" y="99"/>
                  </a:lnTo>
                  <a:lnTo>
                    <a:pt x="0" y="109"/>
                  </a:lnTo>
                  <a:lnTo>
                    <a:pt x="4" y="99"/>
                  </a:lnTo>
                  <a:lnTo>
                    <a:pt x="12" y="92"/>
                  </a:lnTo>
                  <a:lnTo>
                    <a:pt x="17" y="84"/>
                  </a:lnTo>
                  <a:lnTo>
                    <a:pt x="27" y="76"/>
                  </a:lnTo>
                  <a:lnTo>
                    <a:pt x="38" y="63"/>
                  </a:lnTo>
                  <a:lnTo>
                    <a:pt x="53" y="50"/>
                  </a:lnTo>
                  <a:lnTo>
                    <a:pt x="65" y="37"/>
                  </a:lnTo>
                  <a:lnTo>
                    <a:pt x="78" y="23"/>
                  </a:lnTo>
                  <a:lnTo>
                    <a:pt x="92" y="10"/>
                  </a:lnTo>
                  <a:lnTo>
                    <a:pt x="10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59" name="Freeform 71"/>
            <p:cNvSpPr>
              <a:spLocks/>
            </p:cNvSpPr>
            <p:nvPr/>
          </p:nvSpPr>
          <p:spPr bwMode="auto">
            <a:xfrm>
              <a:off x="4320" y="2854"/>
              <a:ext cx="24" cy="13"/>
            </a:xfrm>
            <a:custGeom>
              <a:avLst/>
              <a:gdLst>
                <a:gd name="T0" fmla="*/ 0 w 50"/>
                <a:gd name="T1" fmla="*/ 0 h 27"/>
                <a:gd name="T2" fmla="*/ 0 w 50"/>
                <a:gd name="T3" fmla="*/ 0 h 27"/>
                <a:gd name="T4" fmla="*/ 0 w 50"/>
                <a:gd name="T5" fmla="*/ 0 h 27"/>
                <a:gd name="T6" fmla="*/ 0 w 50"/>
                <a:gd name="T7" fmla="*/ 0 h 27"/>
                <a:gd name="T8" fmla="*/ 0 w 50"/>
                <a:gd name="T9" fmla="*/ 0 h 27"/>
                <a:gd name="T10" fmla="*/ 0 w 50"/>
                <a:gd name="T11" fmla="*/ 0 h 27"/>
                <a:gd name="T12" fmla="*/ 0 w 50"/>
                <a:gd name="T13" fmla="*/ 0 h 27"/>
                <a:gd name="T14" fmla="*/ 0 w 50"/>
                <a:gd name="T15" fmla="*/ 0 h 27"/>
                <a:gd name="T16" fmla="*/ 0 w 50"/>
                <a:gd name="T17" fmla="*/ 0 h 27"/>
                <a:gd name="T18" fmla="*/ 0 w 50"/>
                <a:gd name="T19" fmla="*/ 0 h 27"/>
                <a:gd name="T20" fmla="*/ 0 w 50"/>
                <a:gd name="T21" fmla="*/ 0 h 27"/>
                <a:gd name="T22" fmla="*/ 0 w 50"/>
                <a:gd name="T23" fmla="*/ 0 h 27"/>
                <a:gd name="T24" fmla="*/ 0 w 50"/>
                <a:gd name="T25" fmla="*/ 0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
                <a:gd name="T40" fmla="*/ 0 h 27"/>
                <a:gd name="T41" fmla="*/ 50 w 50"/>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 h="27">
                  <a:moveTo>
                    <a:pt x="38" y="0"/>
                  </a:moveTo>
                  <a:lnTo>
                    <a:pt x="44" y="0"/>
                  </a:lnTo>
                  <a:lnTo>
                    <a:pt x="50" y="0"/>
                  </a:lnTo>
                  <a:lnTo>
                    <a:pt x="38" y="8"/>
                  </a:lnTo>
                  <a:lnTo>
                    <a:pt x="27" y="17"/>
                  </a:lnTo>
                  <a:lnTo>
                    <a:pt x="14" y="21"/>
                  </a:lnTo>
                  <a:lnTo>
                    <a:pt x="0" y="27"/>
                  </a:lnTo>
                  <a:lnTo>
                    <a:pt x="0" y="23"/>
                  </a:lnTo>
                  <a:lnTo>
                    <a:pt x="10" y="15"/>
                  </a:lnTo>
                  <a:lnTo>
                    <a:pt x="18" y="9"/>
                  </a:lnTo>
                  <a:lnTo>
                    <a:pt x="27" y="4"/>
                  </a:lnTo>
                  <a:lnTo>
                    <a:pt x="3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60" name="Freeform 72"/>
            <p:cNvSpPr>
              <a:spLocks/>
            </p:cNvSpPr>
            <p:nvPr/>
          </p:nvSpPr>
          <p:spPr bwMode="auto">
            <a:xfrm>
              <a:off x="3575" y="2856"/>
              <a:ext cx="9" cy="8"/>
            </a:xfrm>
            <a:custGeom>
              <a:avLst/>
              <a:gdLst>
                <a:gd name="T0" fmla="*/ 1 w 17"/>
                <a:gd name="T1" fmla="*/ 0 h 17"/>
                <a:gd name="T2" fmla="*/ 1 w 17"/>
                <a:gd name="T3" fmla="*/ 0 h 17"/>
                <a:gd name="T4" fmla="*/ 1 w 17"/>
                <a:gd name="T5" fmla="*/ 0 h 17"/>
                <a:gd name="T6" fmla="*/ 1 w 17"/>
                <a:gd name="T7" fmla="*/ 0 h 17"/>
                <a:gd name="T8" fmla="*/ 1 w 17"/>
                <a:gd name="T9" fmla="*/ 0 h 17"/>
                <a:gd name="T10" fmla="*/ 1 w 17"/>
                <a:gd name="T11" fmla="*/ 0 h 17"/>
                <a:gd name="T12" fmla="*/ 1 w 17"/>
                <a:gd name="T13" fmla="*/ 0 h 17"/>
                <a:gd name="T14" fmla="*/ 1 w 17"/>
                <a:gd name="T15" fmla="*/ 0 h 17"/>
                <a:gd name="T16" fmla="*/ 1 w 17"/>
                <a:gd name="T17" fmla="*/ 0 h 17"/>
                <a:gd name="T18" fmla="*/ 0 w 17"/>
                <a:gd name="T19" fmla="*/ 0 h 17"/>
                <a:gd name="T20" fmla="*/ 1 w 17"/>
                <a:gd name="T21" fmla="*/ 0 h 17"/>
                <a:gd name="T22" fmla="*/ 1 w 17"/>
                <a:gd name="T23" fmla="*/ 0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
                <a:gd name="T37" fmla="*/ 0 h 17"/>
                <a:gd name="T38" fmla="*/ 17 w 17"/>
                <a:gd name="T39" fmla="*/ 17 h 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 h="17">
                  <a:moveTo>
                    <a:pt x="4" y="4"/>
                  </a:moveTo>
                  <a:lnTo>
                    <a:pt x="7" y="0"/>
                  </a:lnTo>
                  <a:lnTo>
                    <a:pt x="11" y="2"/>
                  </a:lnTo>
                  <a:lnTo>
                    <a:pt x="13" y="5"/>
                  </a:lnTo>
                  <a:lnTo>
                    <a:pt x="17" y="9"/>
                  </a:lnTo>
                  <a:lnTo>
                    <a:pt x="17" y="13"/>
                  </a:lnTo>
                  <a:lnTo>
                    <a:pt x="17" y="17"/>
                  </a:lnTo>
                  <a:lnTo>
                    <a:pt x="11" y="13"/>
                  </a:lnTo>
                  <a:lnTo>
                    <a:pt x="4" y="11"/>
                  </a:lnTo>
                  <a:lnTo>
                    <a:pt x="0" y="5"/>
                  </a:lnTo>
                  <a:lnTo>
                    <a:pt x="4"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61" name="Freeform 73"/>
            <p:cNvSpPr>
              <a:spLocks/>
            </p:cNvSpPr>
            <p:nvPr/>
          </p:nvSpPr>
          <p:spPr bwMode="auto">
            <a:xfrm>
              <a:off x="3795" y="2889"/>
              <a:ext cx="93" cy="68"/>
            </a:xfrm>
            <a:custGeom>
              <a:avLst/>
              <a:gdLst>
                <a:gd name="T0" fmla="*/ 1 w 186"/>
                <a:gd name="T1" fmla="*/ 0 h 135"/>
                <a:gd name="T2" fmla="*/ 1 w 186"/>
                <a:gd name="T3" fmla="*/ 0 h 135"/>
                <a:gd name="T4" fmla="*/ 1 w 186"/>
                <a:gd name="T5" fmla="*/ 0 h 135"/>
                <a:gd name="T6" fmla="*/ 1 w 186"/>
                <a:gd name="T7" fmla="*/ 1 h 135"/>
                <a:gd name="T8" fmla="*/ 1 w 186"/>
                <a:gd name="T9" fmla="*/ 1 h 135"/>
                <a:gd name="T10" fmla="*/ 1 w 186"/>
                <a:gd name="T11" fmla="*/ 1 h 135"/>
                <a:gd name="T12" fmla="*/ 1 w 186"/>
                <a:gd name="T13" fmla="*/ 1 h 135"/>
                <a:gd name="T14" fmla="*/ 1 w 186"/>
                <a:gd name="T15" fmla="*/ 1 h 135"/>
                <a:gd name="T16" fmla="*/ 1 w 186"/>
                <a:gd name="T17" fmla="*/ 1 h 135"/>
                <a:gd name="T18" fmla="*/ 1 w 186"/>
                <a:gd name="T19" fmla="*/ 1 h 135"/>
                <a:gd name="T20" fmla="*/ 1 w 186"/>
                <a:gd name="T21" fmla="*/ 1 h 135"/>
                <a:gd name="T22" fmla="*/ 1 w 186"/>
                <a:gd name="T23" fmla="*/ 1 h 135"/>
                <a:gd name="T24" fmla="*/ 1 w 186"/>
                <a:gd name="T25" fmla="*/ 1 h 135"/>
                <a:gd name="T26" fmla="*/ 1 w 186"/>
                <a:gd name="T27" fmla="*/ 1 h 135"/>
                <a:gd name="T28" fmla="*/ 1 w 186"/>
                <a:gd name="T29" fmla="*/ 1 h 135"/>
                <a:gd name="T30" fmla="*/ 1 w 186"/>
                <a:gd name="T31" fmla="*/ 1 h 135"/>
                <a:gd name="T32" fmla="*/ 1 w 186"/>
                <a:gd name="T33" fmla="*/ 1 h 135"/>
                <a:gd name="T34" fmla="*/ 1 w 186"/>
                <a:gd name="T35" fmla="*/ 1 h 135"/>
                <a:gd name="T36" fmla="*/ 1 w 186"/>
                <a:gd name="T37" fmla="*/ 1 h 135"/>
                <a:gd name="T38" fmla="*/ 1 w 186"/>
                <a:gd name="T39" fmla="*/ 1 h 135"/>
                <a:gd name="T40" fmla="*/ 1 w 186"/>
                <a:gd name="T41" fmla="*/ 1 h 135"/>
                <a:gd name="T42" fmla="*/ 1 w 186"/>
                <a:gd name="T43" fmla="*/ 1 h 135"/>
                <a:gd name="T44" fmla="*/ 1 w 186"/>
                <a:gd name="T45" fmla="*/ 1 h 135"/>
                <a:gd name="T46" fmla="*/ 0 w 186"/>
                <a:gd name="T47" fmla="*/ 1 h 135"/>
                <a:gd name="T48" fmla="*/ 1 w 186"/>
                <a:gd name="T49" fmla="*/ 1 h 135"/>
                <a:gd name="T50" fmla="*/ 1 w 186"/>
                <a:gd name="T51" fmla="*/ 1 h 135"/>
                <a:gd name="T52" fmla="*/ 1 w 186"/>
                <a:gd name="T53" fmla="*/ 1 h 135"/>
                <a:gd name="T54" fmla="*/ 1 w 186"/>
                <a:gd name="T55" fmla="*/ 1 h 135"/>
                <a:gd name="T56" fmla="*/ 1 w 186"/>
                <a:gd name="T57" fmla="*/ 1 h 135"/>
                <a:gd name="T58" fmla="*/ 1 w 186"/>
                <a:gd name="T59" fmla="*/ 1 h 135"/>
                <a:gd name="T60" fmla="*/ 1 w 186"/>
                <a:gd name="T61" fmla="*/ 1 h 135"/>
                <a:gd name="T62" fmla="*/ 1 w 186"/>
                <a:gd name="T63" fmla="*/ 1 h 135"/>
                <a:gd name="T64" fmla="*/ 1 w 186"/>
                <a:gd name="T65" fmla="*/ 1 h 135"/>
                <a:gd name="T66" fmla="*/ 1 w 186"/>
                <a:gd name="T67" fmla="*/ 1 h 135"/>
                <a:gd name="T68" fmla="*/ 1 w 186"/>
                <a:gd name="T69" fmla="*/ 1 h 135"/>
                <a:gd name="T70" fmla="*/ 1 w 186"/>
                <a:gd name="T71" fmla="*/ 1 h 135"/>
                <a:gd name="T72" fmla="*/ 1 w 186"/>
                <a:gd name="T73" fmla="*/ 1 h 135"/>
                <a:gd name="T74" fmla="*/ 1 w 186"/>
                <a:gd name="T75" fmla="*/ 1 h 135"/>
                <a:gd name="T76" fmla="*/ 1 w 186"/>
                <a:gd name="T77" fmla="*/ 1 h 135"/>
                <a:gd name="T78" fmla="*/ 1 w 186"/>
                <a:gd name="T79" fmla="*/ 1 h 135"/>
                <a:gd name="T80" fmla="*/ 1 w 186"/>
                <a:gd name="T81" fmla="*/ 1 h 135"/>
                <a:gd name="T82" fmla="*/ 1 w 186"/>
                <a:gd name="T83" fmla="*/ 1 h 135"/>
                <a:gd name="T84" fmla="*/ 1 w 186"/>
                <a:gd name="T85" fmla="*/ 0 h 135"/>
                <a:gd name="T86" fmla="*/ 1 w 186"/>
                <a:gd name="T87" fmla="*/ 0 h 13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86"/>
                <a:gd name="T133" fmla="*/ 0 h 135"/>
                <a:gd name="T134" fmla="*/ 186 w 186"/>
                <a:gd name="T135" fmla="*/ 135 h 13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86" h="135">
                  <a:moveTo>
                    <a:pt x="177" y="0"/>
                  </a:moveTo>
                  <a:lnTo>
                    <a:pt x="182" y="0"/>
                  </a:lnTo>
                  <a:lnTo>
                    <a:pt x="186" y="0"/>
                  </a:lnTo>
                  <a:lnTo>
                    <a:pt x="177" y="10"/>
                  </a:lnTo>
                  <a:lnTo>
                    <a:pt x="167" y="17"/>
                  </a:lnTo>
                  <a:lnTo>
                    <a:pt x="156" y="27"/>
                  </a:lnTo>
                  <a:lnTo>
                    <a:pt x="148" y="36"/>
                  </a:lnTo>
                  <a:lnTo>
                    <a:pt x="135" y="42"/>
                  </a:lnTo>
                  <a:lnTo>
                    <a:pt x="125" y="50"/>
                  </a:lnTo>
                  <a:lnTo>
                    <a:pt x="112" y="57"/>
                  </a:lnTo>
                  <a:lnTo>
                    <a:pt x="103" y="65"/>
                  </a:lnTo>
                  <a:lnTo>
                    <a:pt x="89" y="73"/>
                  </a:lnTo>
                  <a:lnTo>
                    <a:pt x="80" y="80"/>
                  </a:lnTo>
                  <a:lnTo>
                    <a:pt x="68" y="88"/>
                  </a:lnTo>
                  <a:lnTo>
                    <a:pt x="59" y="95"/>
                  </a:lnTo>
                  <a:lnTo>
                    <a:pt x="47" y="103"/>
                  </a:lnTo>
                  <a:lnTo>
                    <a:pt x="38" y="112"/>
                  </a:lnTo>
                  <a:lnTo>
                    <a:pt x="30" y="124"/>
                  </a:lnTo>
                  <a:lnTo>
                    <a:pt x="23" y="135"/>
                  </a:lnTo>
                  <a:lnTo>
                    <a:pt x="15" y="131"/>
                  </a:lnTo>
                  <a:lnTo>
                    <a:pt x="9" y="128"/>
                  </a:lnTo>
                  <a:lnTo>
                    <a:pt x="6" y="124"/>
                  </a:lnTo>
                  <a:lnTo>
                    <a:pt x="4" y="120"/>
                  </a:lnTo>
                  <a:lnTo>
                    <a:pt x="0" y="112"/>
                  </a:lnTo>
                  <a:lnTo>
                    <a:pt x="2" y="107"/>
                  </a:lnTo>
                  <a:lnTo>
                    <a:pt x="4" y="99"/>
                  </a:lnTo>
                  <a:lnTo>
                    <a:pt x="9" y="93"/>
                  </a:lnTo>
                  <a:lnTo>
                    <a:pt x="19" y="86"/>
                  </a:lnTo>
                  <a:lnTo>
                    <a:pt x="30" y="82"/>
                  </a:lnTo>
                  <a:lnTo>
                    <a:pt x="42" y="73"/>
                  </a:lnTo>
                  <a:lnTo>
                    <a:pt x="55" y="63"/>
                  </a:lnTo>
                  <a:lnTo>
                    <a:pt x="68" y="55"/>
                  </a:lnTo>
                  <a:lnTo>
                    <a:pt x="84" y="48"/>
                  </a:lnTo>
                  <a:lnTo>
                    <a:pt x="95" y="40"/>
                  </a:lnTo>
                  <a:lnTo>
                    <a:pt x="106" y="33"/>
                  </a:lnTo>
                  <a:lnTo>
                    <a:pt x="114" y="23"/>
                  </a:lnTo>
                  <a:lnTo>
                    <a:pt x="122" y="15"/>
                  </a:lnTo>
                  <a:lnTo>
                    <a:pt x="127" y="14"/>
                  </a:lnTo>
                  <a:lnTo>
                    <a:pt x="135" y="12"/>
                  </a:lnTo>
                  <a:lnTo>
                    <a:pt x="143" y="10"/>
                  </a:lnTo>
                  <a:lnTo>
                    <a:pt x="150" y="10"/>
                  </a:lnTo>
                  <a:lnTo>
                    <a:pt x="163" y="4"/>
                  </a:lnTo>
                  <a:lnTo>
                    <a:pt x="17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62" name="Freeform 74"/>
            <p:cNvSpPr>
              <a:spLocks/>
            </p:cNvSpPr>
            <p:nvPr/>
          </p:nvSpPr>
          <p:spPr bwMode="auto">
            <a:xfrm>
              <a:off x="4364" y="2889"/>
              <a:ext cx="69" cy="99"/>
            </a:xfrm>
            <a:custGeom>
              <a:avLst/>
              <a:gdLst>
                <a:gd name="T0" fmla="*/ 1 w 137"/>
                <a:gd name="T1" fmla="*/ 0 h 198"/>
                <a:gd name="T2" fmla="*/ 1 w 137"/>
                <a:gd name="T3" fmla="*/ 0 h 198"/>
                <a:gd name="T4" fmla="*/ 1 w 137"/>
                <a:gd name="T5" fmla="*/ 1 h 198"/>
                <a:gd name="T6" fmla="*/ 1 w 137"/>
                <a:gd name="T7" fmla="*/ 1 h 198"/>
                <a:gd name="T8" fmla="*/ 1 w 137"/>
                <a:gd name="T9" fmla="*/ 1 h 198"/>
                <a:gd name="T10" fmla="*/ 1 w 137"/>
                <a:gd name="T11" fmla="*/ 1 h 198"/>
                <a:gd name="T12" fmla="*/ 1 w 137"/>
                <a:gd name="T13" fmla="*/ 1 h 198"/>
                <a:gd name="T14" fmla="*/ 1 w 137"/>
                <a:gd name="T15" fmla="*/ 1 h 198"/>
                <a:gd name="T16" fmla="*/ 1 w 137"/>
                <a:gd name="T17" fmla="*/ 1 h 198"/>
                <a:gd name="T18" fmla="*/ 1 w 137"/>
                <a:gd name="T19" fmla="*/ 1 h 198"/>
                <a:gd name="T20" fmla="*/ 1 w 137"/>
                <a:gd name="T21" fmla="*/ 1 h 198"/>
                <a:gd name="T22" fmla="*/ 1 w 137"/>
                <a:gd name="T23" fmla="*/ 1 h 198"/>
                <a:gd name="T24" fmla="*/ 1 w 137"/>
                <a:gd name="T25" fmla="*/ 1 h 198"/>
                <a:gd name="T26" fmla="*/ 1 w 137"/>
                <a:gd name="T27" fmla="*/ 1 h 198"/>
                <a:gd name="T28" fmla="*/ 1 w 137"/>
                <a:gd name="T29" fmla="*/ 1 h 198"/>
                <a:gd name="T30" fmla="*/ 1 w 137"/>
                <a:gd name="T31" fmla="*/ 1 h 198"/>
                <a:gd name="T32" fmla="*/ 1 w 137"/>
                <a:gd name="T33" fmla="*/ 1 h 198"/>
                <a:gd name="T34" fmla="*/ 1 w 137"/>
                <a:gd name="T35" fmla="*/ 1 h 198"/>
                <a:gd name="T36" fmla="*/ 1 w 137"/>
                <a:gd name="T37" fmla="*/ 1 h 198"/>
                <a:gd name="T38" fmla="*/ 1 w 137"/>
                <a:gd name="T39" fmla="*/ 1 h 198"/>
                <a:gd name="T40" fmla="*/ 1 w 137"/>
                <a:gd name="T41" fmla="*/ 1 h 198"/>
                <a:gd name="T42" fmla="*/ 1 w 137"/>
                <a:gd name="T43" fmla="*/ 1 h 198"/>
                <a:gd name="T44" fmla="*/ 1 w 137"/>
                <a:gd name="T45" fmla="*/ 1 h 198"/>
                <a:gd name="T46" fmla="*/ 1 w 137"/>
                <a:gd name="T47" fmla="*/ 1 h 198"/>
                <a:gd name="T48" fmla="*/ 1 w 137"/>
                <a:gd name="T49" fmla="*/ 1 h 198"/>
                <a:gd name="T50" fmla="*/ 1 w 137"/>
                <a:gd name="T51" fmla="*/ 1 h 198"/>
                <a:gd name="T52" fmla="*/ 1 w 137"/>
                <a:gd name="T53" fmla="*/ 1 h 198"/>
                <a:gd name="T54" fmla="*/ 1 w 137"/>
                <a:gd name="T55" fmla="*/ 1 h 198"/>
                <a:gd name="T56" fmla="*/ 1 w 137"/>
                <a:gd name="T57" fmla="*/ 1 h 198"/>
                <a:gd name="T58" fmla="*/ 1 w 137"/>
                <a:gd name="T59" fmla="*/ 1 h 198"/>
                <a:gd name="T60" fmla="*/ 1 w 137"/>
                <a:gd name="T61" fmla="*/ 1 h 198"/>
                <a:gd name="T62" fmla="*/ 1 w 137"/>
                <a:gd name="T63" fmla="*/ 1 h 198"/>
                <a:gd name="T64" fmla="*/ 1 w 137"/>
                <a:gd name="T65" fmla="*/ 1 h 198"/>
                <a:gd name="T66" fmla="*/ 0 w 137"/>
                <a:gd name="T67" fmla="*/ 1 h 198"/>
                <a:gd name="T68" fmla="*/ 1 w 137"/>
                <a:gd name="T69" fmla="*/ 1 h 198"/>
                <a:gd name="T70" fmla="*/ 1 w 137"/>
                <a:gd name="T71" fmla="*/ 1 h 198"/>
                <a:gd name="T72" fmla="*/ 1 w 137"/>
                <a:gd name="T73" fmla="*/ 1 h 198"/>
                <a:gd name="T74" fmla="*/ 1 w 137"/>
                <a:gd name="T75" fmla="*/ 1 h 198"/>
                <a:gd name="T76" fmla="*/ 1 w 137"/>
                <a:gd name="T77" fmla="*/ 1 h 198"/>
                <a:gd name="T78" fmla="*/ 1 w 137"/>
                <a:gd name="T79" fmla="*/ 1 h 198"/>
                <a:gd name="T80" fmla="*/ 1 w 137"/>
                <a:gd name="T81" fmla="*/ 1 h 198"/>
                <a:gd name="T82" fmla="*/ 1 w 137"/>
                <a:gd name="T83" fmla="*/ 1 h 198"/>
                <a:gd name="T84" fmla="*/ 1 w 137"/>
                <a:gd name="T85" fmla="*/ 1 h 198"/>
                <a:gd name="T86" fmla="*/ 1 w 137"/>
                <a:gd name="T87" fmla="*/ 1 h 198"/>
                <a:gd name="T88" fmla="*/ 1 w 137"/>
                <a:gd name="T89" fmla="*/ 0 h 198"/>
                <a:gd name="T90" fmla="*/ 1 w 137"/>
                <a:gd name="T91" fmla="*/ 0 h 19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7"/>
                <a:gd name="T139" fmla="*/ 0 h 198"/>
                <a:gd name="T140" fmla="*/ 137 w 137"/>
                <a:gd name="T141" fmla="*/ 198 h 198"/>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7" h="198">
                  <a:moveTo>
                    <a:pt x="102" y="0"/>
                  </a:moveTo>
                  <a:lnTo>
                    <a:pt x="110" y="0"/>
                  </a:lnTo>
                  <a:lnTo>
                    <a:pt x="120" y="4"/>
                  </a:lnTo>
                  <a:lnTo>
                    <a:pt x="127" y="8"/>
                  </a:lnTo>
                  <a:lnTo>
                    <a:pt x="137" y="15"/>
                  </a:lnTo>
                  <a:lnTo>
                    <a:pt x="125" y="19"/>
                  </a:lnTo>
                  <a:lnTo>
                    <a:pt x="116" y="25"/>
                  </a:lnTo>
                  <a:lnTo>
                    <a:pt x="106" y="31"/>
                  </a:lnTo>
                  <a:lnTo>
                    <a:pt x="97" y="38"/>
                  </a:lnTo>
                  <a:lnTo>
                    <a:pt x="85" y="46"/>
                  </a:lnTo>
                  <a:lnTo>
                    <a:pt x="78" y="55"/>
                  </a:lnTo>
                  <a:lnTo>
                    <a:pt x="70" y="63"/>
                  </a:lnTo>
                  <a:lnTo>
                    <a:pt x="63" y="74"/>
                  </a:lnTo>
                  <a:lnTo>
                    <a:pt x="55" y="82"/>
                  </a:lnTo>
                  <a:lnTo>
                    <a:pt x="49" y="93"/>
                  </a:lnTo>
                  <a:lnTo>
                    <a:pt x="44" y="103"/>
                  </a:lnTo>
                  <a:lnTo>
                    <a:pt x="42" y="114"/>
                  </a:lnTo>
                  <a:lnTo>
                    <a:pt x="38" y="124"/>
                  </a:lnTo>
                  <a:lnTo>
                    <a:pt x="38" y="135"/>
                  </a:lnTo>
                  <a:lnTo>
                    <a:pt x="38" y="145"/>
                  </a:lnTo>
                  <a:lnTo>
                    <a:pt x="40" y="156"/>
                  </a:lnTo>
                  <a:lnTo>
                    <a:pt x="32" y="156"/>
                  </a:lnTo>
                  <a:lnTo>
                    <a:pt x="30" y="160"/>
                  </a:lnTo>
                  <a:lnTo>
                    <a:pt x="26" y="164"/>
                  </a:lnTo>
                  <a:lnTo>
                    <a:pt x="26" y="171"/>
                  </a:lnTo>
                  <a:lnTo>
                    <a:pt x="26" y="175"/>
                  </a:lnTo>
                  <a:lnTo>
                    <a:pt x="28" y="185"/>
                  </a:lnTo>
                  <a:lnTo>
                    <a:pt x="28" y="190"/>
                  </a:lnTo>
                  <a:lnTo>
                    <a:pt x="30" y="198"/>
                  </a:lnTo>
                  <a:lnTo>
                    <a:pt x="17" y="185"/>
                  </a:lnTo>
                  <a:lnTo>
                    <a:pt x="11" y="173"/>
                  </a:lnTo>
                  <a:lnTo>
                    <a:pt x="4" y="158"/>
                  </a:lnTo>
                  <a:lnTo>
                    <a:pt x="2" y="145"/>
                  </a:lnTo>
                  <a:lnTo>
                    <a:pt x="0" y="130"/>
                  </a:lnTo>
                  <a:lnTo>
                    <a:pt x="2" y="112"/>
                  </a:lnTo>
                  <a:lnTo>
                    <a:pt x="4" y="97"/>
                  </a:lnTo>
                  <a:lnTo>
                    <a:pt x="11" y="82"/>
                  </a:lnTo>
                  <a:lnTo>
                    <a:pt x="17" y="67"/>
                  </a:lnTo>
                  <a:lnTo>
                    <a:pt x="25" y="52"/>
                  </a:lnTo>
                  <a:lnTo>
                    <a:pt x="34" y="38"/>
                  </a:lnTo>
                  <a:lnTo>
                    <a:pt x="45" y="27"/>
                  </a:lnTo>
                  <a:lnTo>
                    <a:pt x="57" y="15"/>
                  </a:lnTo>
                  <a:lnTo>
                    <a:pt x="70" y="8"/>
                  </a:lnTo>
                  <a:lnTo>
                    <a:pt x="85" y="2"/>
                  </a:lnTo>
                  <a:lnTo>
                    <a:pt x="102" y="0"/>
                  </a:lnTo>
                  <a:close/>
                </a:path>
              </a:pathLst>
            </a:custGeom>
            <a:solidFill>
              <a:srgbClr val="D9996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63" name="Freeform 75"/>
            <p:cNvSpPr>
              <a:spLocks/>
            </p:cNvSpPr>
            <p:nvPr/>
          </p:nvSpPr>
          <p:spPr bwMode="auto">
            <a:xfrm>
              <a:off x="4610" y="2894"/>
              <a:ext cx="8" cy="40"/>
            </a:xfrm>
            <a:custGeom>
              <a:avLst/>
              <a:gdLst>
                <a:gd name="T0" fmla="*/ 0 w 17"/>
                <a:gd name="T1" fmla="*/ 0 h 80"/>
                <a:gd name="T2" fmla="*/ 0 w 17"/>
                <a:gd name="T3" fmla="*/ 1 h 80"/>
                <a:gd name="T4" fmla="*/ 0 w 17"/>
                <a:gd name="T5" fmla="*/ 1 h 80"/>
                <a:gd name="T6" fmla="*/ 0 w 17"/>
                <a:gd name="T7" fmla="*/ 1 h 80"/>
                <a:gd name="T8" fmla="*/ 0 w 17"/>
                <a:gd name="T9" fmla="*/ 1 h 80"/>
                <a:gd name="T10" fmla="*/ 0 w 17"/>
                <a:gd name="T11" fmla="*/ 1 h 80"/>
                <a:gd name="T12" fmla="*/ 0 w 17"/>
                <a:gd name="T13" fmla="*/ 1 h 80"/>
                <a:gd name="T14" fmla="*/ 0 w 17"/>
                <a:gd name="T15" fmla="*/ 1 h 80"/>
                <a:gd name="T16" fmla="*/ 0 w 17"/>
                <a:gd name="T17" fmla="*/ 1 h 80"/>
                <a:gd name="T18" fmla="*/ 0 w 17"/>
                <a:gd name="T19" fmla="*/ 1 h 80"/>
                <a:gd name="T20" fmla="*/ 0 w 17"/>
                <a:gd name="T21" fmla="*/ 1 h 80"/>
                <a:gd name="T22" fmla="*/ 0 w 17"/>
                <a:gd name="T23" fmla="*/ 1 h 80"/>
                <a:gd name="T24" fmla="*/ 0 w 17"/>
                <a:gd name="T25" fmla="*/ 1 h 80"/>
                <a:gd name="T26" fmla="*/ 0 w 17"/>
                <a:gd name="T27" fmla="*/ 1 h 80"/>
                <a:gd name="T28" fmla="*/ 0 w 17"/>
                <a:gd name="T29" fmla="*/ 1 h 80"/>
                <a:gd name="T30" fmla="*/ 0 w 17"/>
                <a:gd name="T31" fmla="*/ 1 h 80"/>
                <a:gd name="T32" fmla="*/ 0 w 17"/>
                <a:gd name="T33" fmla="*/ 1 h 80"/>
                <a:gd name="T34" fmla="*/ 0 w 17"/>
                <a:gd name="T35" fmla="*/ 1 h 80"/>
                <a:gd name="T36" fmla="*/ 0 w 17"/>
                <a:gd name="T37" fmla="*/ 1 h 80"/>
                <a:gd name="T38" fmla="*/ 0 w 17"/>
                <a:gd name="T39" fmla="*/ 0 h 80"/>
                <a:gd name="T40" fmla="*/ 0 w 17"/>
                <a:gd name="T41" fmla="*/ 0 h 8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7"/>
                <a:gd name="T64" fmla="*/ 0 h 80"/>
                <a:gd name="T65" fmla="*/ 17 w 17"/>
                <a:gd name="T66" fmla="*/ 80 h 8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7" h="80">
                  <a:moveTo>
                    <a:pt x="2" y="0"/>
                  </a:moveTo>
                  <a:lnTo>
                    <a:pt x="8" y="2"/>
                  </a:lnTo>
                  <a:lnTo>
                    <a:pt x="12" y="7"/>
                  </a:lnTo>
                  <a:lnTo>
                    <a:pt x="14" y="15"/>
                  </a:lnTo>
                  <a:lnTo>
                    <a:pt x="17" y="24"/>
                  </a:lnTo>
                  <a:lnTo>
                    <a:pt x="17" y="30"/>
                  </a:lnTo>
                  <a:lnTo>
                    <a:pt x="17" y="40"/>
                  </a:lnTo>
                  <a:lnTo>
                    <a:pt x="17" y="45"/>
                  </a:lnTo>
                  <a:lnTo>
                    <a:pt x="17" y="53"/>
                  </a:lnTo>
                  <a:lnTo>
                    <a:pt x="17" y="66"/>
                  </a:lnTo>
                  <a:lnTo>
                    <a:pt x="17" y="80"/>
                  </a:lnTo>
                  <a:lnTo>
                    <a:pt x="16" y="80"/>
                  </a:lnTo>
                  <a:lnTo>
                    <a:pt x="10" y="66"/>
                  </a:lnTo>
                  <a:lnTo>
                    <a:pt x="6" y="53"/>
                  </a:lnTo>
                  <a:lnTo>
                    <a:pt x="4" y="45"/>
                  </a:lnTo>
                  <a:lnTo>
                    <a:pt x="2" y="40"/>
                  </a:lnTo>
                  <a:lnTo>
                    <a:pt x="0" y="30"/>
                  </a:lnTo>
                  <a:lnTo>
                    <a:pt x="0" y="24"/>
                  </a:lnTo>
                  <a:lnTo>
                    <a:pt x="0" y="9"/>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64" name="Freeform 76"/>
            <p:cNvSpPr>
              <a:spLocks/>
            </p:cNvSpPr>
            <p:nvPr/>
          </p:nvSpPr>
          <p:spPr bwMode="auto">
            <a:xfrm>
              <a:off x="4584" y="2901"/>
              <a:ext cx="6" cy="12"/>
            </a:xfrm>
            <a:custGeom>
              <a:avLst/>
              <a:gdLst>
                <a:gd name="T0" fmla="*/ 1 w 11"/>
                <a:gd name="T1" fmla="*/ 0 h 25"/>
                <a:gd name="T2" fmla="*/ 1 w 11"/>
                <a:gd name="T3" fmla="*/ 0 h 25"/>
                <a:gd name="T4" fmla="*/ 1 w 11"/>
                <a:gd name="T5" fmla="*/ 0 h 25"/>
                <a:gd name="T6" fmla="*/ 1 w 11"/>
                <a:gd name="T7" fmla="*/ 0 h 25"/>
                <a:gd name="T8" fmla="*/ 1 w 11"/>
                <a:gd name="T9" fmla="*/ 0 h 25"/>
                <a:gd name="T10" fmla="*/ 1 w 11"/>
                <a:gd name="T11" fmla="*/ 0 h 25"/>
                <a:gd name="T12" fmla="*/ 1 w 11"/>
                <a:gd name="T13" fmla="*/ 0 h 25"/>
                <a:gd name="T14" fmla="*/ 0 w 11"/>
                <a:gd name="T15" fmla="*/ 0 h 25"/>
                <a:gd name="T16" fmla="*/ 1 w 11"/>
                <a:gd name="T17" fmla="*/ 0 h 25"/>
                <a:gd name="T18" fmla="*/ 1 w 11"/>
                <a:gd name="T19" fmla="*/ 0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
                <a:gd name="T31" fmla="*/ 0 h 25"/>
                <a:gd name="T32" fmla="*/ 11 w 11"/>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 h="25">
                  <a:moveTo>
                    <a:pt x="4" y="0"/>
                  </a:moveTo>
                  <a:lnTo>
                    <a:pt x="11" y="10"/>
                  </a:lnTo>
                  <a:lnTo>
                    <a:pt x="11" y="25"/>
                  </a:lnTo>
                  <a:lnTo>
                    <a:pt x="10" y="25"/>
                  </a:lnTo>
                  <a:lnTo>
                    <a:pt x="8" y="25"/>
                  </a:lnTo>
                  <a:lnTo>
                    <a:pt x="6" y="19"/>
                  </a:lnTo>
                  <a:lnTo>
                    <a:pt x="4" y="15"/>
                  </a:lnTo>
                  <a:lnTo>
                    <a:pt x="0" y="4"/>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65" name="Freeform 77"/>
            <p:cNvSpPr>
              <a:spLocks/>
            </p:cNvSpPr>
            <p:nvPr/>
          </p:nvSpPr>
          <p:spPr bwMode="auto">
            <a:xfrm>
              <a:off x="3728" y="2906"/>
              <a:ext cx="45" cy="25"/>
            </a:xfrm>
            <a:custGeom>
              <a:avLst/>
              <a:gdLst>
                <a:gd name="T0" fmla="*/ 1 w 89"/>
                <a:gd name="T1" fmla="*/ 0 h 50"/>
                <a:gd name="T2" fmla="*/ 1 w 89"/>
                <a:gd name="T3" fmla="*/ 1 h 50"/>
                <a:gd name="T4" fmla="*/ 1 w 89"/>
                <a:gd name="T5" fmla="*/ 1 h 50"/>
                <a:gd name="T6" fmla="*/ 1 w 89"/>
                <a:gd name="T7" fmla="*/ 1 h 50"/>
                <a:gd name="T8" fmla="*/ 1 w 89"/>
                <a:gd name="T9" fmla="*/ 1 h 50"/>
                <a:gd name="T10" fmla="*/ 1 w 89"/>
                <a:gd name="T11" fmla="*/ 1 h 50"/>
                <a:gd name="T12" fmla="*/ 1 w 89"/>
                <a:gd name="T13" fmla="*/ 1 h 50"/>
                <a:gd name="T14" fmla="*/ 1 w 89"/>
                <a:gd name="T15" fmla="*/ 1 h 50"/>
                <a:gd name="T16" fmla="*/ 1 w 89"/>
                <a:gd name="T17" fmla="*/ 1 h 50"/>
                <a:gd name="T18" fmla="*/ 1 w 89"/>
                <a:gd name="T19" fmla="*/ 1 h 50"/>
                <a:gd name="T20" fmla="*/ 1 w 89"/>
                <a:gd name="T21" fmla="*/ 1 h 50"/>
                <a:gd name="T22" fmla="*/ 1 w 89"/>
                <a:gd name="T23" fmla="*/ 1 h 50"/>
                <a:gd name="T24" fmla="*/ 0 w 89"/>
                <a:gd name="T25" fmla="*/ 1 h 50"/>
                <a:gd name="T26" fmla="*/ 0 w 89"/>
                <a:gd name="T27" fmla="*/ 1 h 50"/>
                <a:gd name="T28" fmla="*/ 1 w 89"/>
                <a:gd name="T29" fmla="*/ 1 h 50"/>
                <a:gd name="T30" fmla="*/ 1 w 89"/>
                <a:gd name="T31" fmla="*/ 1 h 50"/>
                <a:gd name="T32" fmla="*/ 1 w 89"/>
                <a:gd name="T33" fmla="*/ 1 h 50"/>
                <a:gd name="T34" fmla="*/ 1 w 89"/>
                <a:gd name="T35" fmla="*/ 1 h 50"/>
                <a:gd name="T36" fmla="*/ 1 w 89"/>
                <a:gd name="T37" fmla="*/ 1 h 50"/>
                <a:gd name="T38" fmla="*/ 1 w 89"/>
                <a:gd name="T39" fmla="*/ 1 h 50"/>
                <a:gd name="T40" fmla="*/ 1 w 89"/>
                <a:gd name="T41" fmla="*/ 1 h 50"/>
                <a:gd name="T42" fmla="*/ 1 w 89"/>
                <a:gd name="T43" fmla="*/ 0 h 50"/>
                <a:gd name="T44" fmla="*/ 1 w 89"/>
                <a:gd name="T45" fmla="*/ 0 h 5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9"/>
                <a:gd name="T70" fmla="*/ 0 h 50"/>
                <a:gd name="T71" fmla="*/ 89 w 89"/>
                <a:gd name="T72" fmla="*/ 50 h 5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9" h="50">
                  <a:moveTo>
                    <a:pt x="89" y="0"/>
                  </a:moveTo>
                  <a:lnTo>
                    <a:pt x="83" y="14"/>
                  </a:lnTo>
                  <a:lnTo>
                    <a:pt x="76" y="27"/>
                  </a:lnTo>
                  <a:lnTo>
                    <a:pt x="66" y="39"/>
                  </a:lnTo>
                  <a:lnTo>
                    <a:pt x="59" y="48"/>
                  </a:lnTo>
                  <a:lnTo>
                    <a:pt x="53" y="48"/>
                  </a:lnTo>
                  <a:lnTo>
                    <a:pt x="45" y="50"/>
                  </a:lnTo>
                  <a:lnTo>
                    <a:pt x="38" y="50"/>
                  </a:lnTo>
                  <a:lnTo>
                    <a:pt x="32" y="50"/>
                  </a:lnTo>
                  <a:lnTo>
                    <a:pt x="23" y="48"/>
                  </a:lnTo>
                  <a:lnTo>
                    <a:pt x="15" y="48"/>
                  </a:lnTo>
                  <a:lnTo>
                    <a:pt x="7" y="44"/>
                  </a:lnTo>
                  <a:lnTo>
                    <a:pt x="0" y="42"/>
                  </a:lnTo>
                  <a:lnTo>
                    <a:pt x="0" y="40"/>
                  </a:lnTo>
                  <a:lnTo>
                    <a:pt x="11" y="35"/>
                  </a:lnTo>
                  <a:lnTo>
                    <a:pt x="23" y="31"/>
                  </a:lnTo>
                  <a:lnTo>
                    <a:pt x="34" y="27"/>
                  </a:lnTo>
                  <a:lnTo>
                    <a:pt x="45" y="25"/>
                  </a:lnTo>
                  <a:lnTo>
                    <a:pt x="57" y="19"/>
                  </a:lnTo>
                  <a:lnTo>
                    <a:pt x="68" y="16"/>
                  </a:lnTo>
                  <a:lnTo>
                    <a:pt x="78" y="8"/>
                  </a:lnTo>
                  <a:lnTo>
                    <a:pt x="8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66" name="Freeform 78"/>
            <p:cNvSpPr>
              <a:spLocks/>
            </p:cNvSpPr>
            <p:nvPr/>
          </p:nvSpPr>
          <p:spPr bwMode="auto">
            <a:xfrm>
              <a:off x="4587" y="2924"/>
              <a:ext cx="21" cy="46"/>
            </a:xfrm>
            <a:custGeom>
              <a:avLst/>
              <a:gdLst>
                <a:gd name="T0" fmla="*/ 1 w 42"/>
                <a:gd name="T1" fmla="*/ 0 h 91"/>
                <a:gd name="T2" fmla="*/ 1 w 42"/>
                <a:gd name="T3" fmla="*/ 1 h 91"/>
                <a:gd name="T4" fmla="*/ 1 w 42"/>
                <a:gd name="T5" fmla="*/ 1 h 91"/>
                <a:gd name="T6" fmla="*/ 1 w 42"/>
                <a:gd name="T7" fmla="*/ 1 h 91"/>
                <a:gd name="T8" fmla="*/ 1 w 42"/>
                <a:gd name="T9" fmla="*/ 1 h 91"/>
                <a:gd name="T10" fmla="*/ 1 w 42"/>
                <a:gd name="T11" fmla="*/ 1 h 91"/>
                <a:gd name="T12" fmla="*/ 1 w 42"/>
                <a:gd name="T13" fmla="*/ 1 h 91"/>
                <a:gd name="T14" fmla="*/ 1 w 42"/>
                <a:gd name="T15" fmla="*/ 1 h 91"/>
                <a:gd name="T16" fmla="*/ 1 w 42"/>
                <a:gd name="T17" fmla="*/ 1 h 91"/>
                <a:gd name="T18" fmla="*/ 1 w 42"/>
                <a:gd name="T19" fmla="*/ 1 h 91"/>
                <a:gd name="T20" fmla="*/ 1 w 42"/>
                <a:gd name="T21" fmla="*/ 1 h 91"/>
                <a:gd name="T22" fmla="*/ 1 w 42"/>
                <a:gd name="T23" fmla="*/ 1 h 91"/>
                <a:gd name="T24" fmla="*/ 1 w 42"/>
                <a:gd name="T25" fmla="*/ 1 h 91"/>
                <a:gd name="T26" fmla="*/ 1 w 42"/>
                <a:gd name="T27" fmla="*/ 1 h 91"/>
                <a:gd name="T28" fmla="*/ 1 w 42"/>
                <a:gd name="T29" fmla="*/ 1 h 91"/>
                <a:gd name="T30" fmla="*/ 0 w 42"/>
                <a:gd name="T31" fmla="*/ 1 h 91"/>
                <a:gd name="T32" fmla="*/ 0 w 42"/>
                <a:gd name="T33" fmla="*/ 1 h 91"/>
                <a:gd name="T34" fmla="*/ 0 w 42"/>
                <a:gd name="T35" fmla="*/ 1 h 91"/>
                <a:gd name="T36" fmla="*/ 1 w 42"/>
                <a:gd name="T37" fmla="*/ 1 h 91"/>
                <a:gd name="T38" fmla="*/ 1 w 42"/>
                <a:gd name="T39" fmla="*/ 1 h 91"/>
                <a:gd name="T40" fmla="*/ 1 w 42"/>
                <a:gd name="T41" fmla="*/ 0 h 91"/>
                <a:gd name="T42" fmla="*/ 1 w 42"/>
                <a:gd name="T43" fmla="*/ 0 h 9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
                <a:gd name="T67" fmla="*/ 0 h 91"/>
                <a:gd name="T68" fmla="*/ 42 w 42"/>
                <a:gd name="T69" fmla="*/ 91 h 9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 h="91">
                  <a:moveTo>
                    <a:pt x="11" y="0"/>
                  </a:moveTo>
                  <a:lnTo>
                    <a:pt x="17" y="11"/>
                  </a:lnTo>
                  <a:lnTo>
                    <a:pt x="23" y="21"/>
                  </a:lnTo>
                  <a:lnTo>
                    <a:pt x="26" y="32"/>
                  </a:lnTo>
                  <a:lnTo>
                    <a:pt x="30" y="43"/>
                  </a:lnTo>
                  <a:lnTo>
                    <a:pt x="32" y="55"/>
                  </a:lnTo>
                  <a:lnTo>
                    <a:pt x="36" y="66"/>
                  </a:lnTo>
                  <a:lnTo>
                    <a:pt x="38" y="78"/>
                  </a:lnTo>
                  <a:lnTo>
                    <a:pt x="42" y="91"/>
                  </a:lnTo>
                  <a:lnTo>
                    <a:pt x="32" y="87"/>
                  </a:lnTo>
                  <a:lnTo>
                    <a:pt x="24" y="81"/>
                  </a:lnTo>
                  <a:lnTo>
                    <a:pt x="17" y="74"/>
                  </a:lnTo>
                  <a:lnTo>
                    <a:pt x="11" y="64"/>
                  </a:lnTo>
                  <a:lnTo>
                    <a:pt x="7" y="55"/>
                  </a:lnTo>
                  <a:lnTo>
                    <a:pt x="4" y="47"/>
                  </a:lnTo>
                  <a:lnTo>
                    <a:pt x="0" y="38"/>
                  </a:lnTo>
                  <a:lnTo>
                    <a:pt x="0" y="30"/>
                  </a:lnTo>
                  <a:lnTo>
                    <a:pt x="0" y="21"/>
                  </a:lnTo>
                  <a:lnTo>
                    <a:pt x="2" y="13"/>
                  </a:lnTo>
                  <a:lnTo>
                    <a:pt x="5" y="5"/>
                  </a:lnTo>
                  <a:lnTo>
                    <a:pt x="1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67" name="Freeform 79"/>
            <p:cNvSpPr>
              <a:spLocks/>
            </p:cNvSpPr>
            <p:nvPr/>
          </p:nvSpPr>
          <p:spPr bwMode="auto">
            <a:xfrm>
              <a:off x="4409" y="2940"/>
              <a:ext cx="105" cy="92"/>
            </a:xfrm>
            <a:custGeom>
              <a:avLst/>
              <a:gdLst>
                <a:gd name="T0" fmla="*/ 1 w 209"/>
                <a:gd name="T1" fmla="*/ 0 h 182"/>
                <a:gd name="T2" fmla="*/ 1 w 209"/>
                <a:gd name="T3" fmla="*/ 0 h 182"/>
                <a:gd name="T4" fmla="*/ 1 w 209"/>
                <a:gd name="T5" fmla="*/ 1 h 182"/>
                <a:gd name="T6" fmla="*/ 1 w 209"/>
                <a:gd name="T7" fmla="*/ 1 h 182"/>
                <a:gd name="T8" fmla="*/ 1 w 209"/>
                <a:gd name="T9" fmla="*/ 1 h 182"/>
                <a:gd name="T10" fmla="*/ 1 w 209"/>
                <a:gd name="T11" fmla="*/ 1 h 182"/>
                <a:gd name="T12" fmla="*/ 1 w 209"/>
                <a:gd name="T13" fmla="*/ 1 h 182"/>
                <a:gd name="T14" fmla="*/ 1 w 209"/>
                <a:gd name="T15" fmla="*/ 1 h 182"/>
                <a:gd name="T16" fmla="*/ 1 w 209"/>
                <a:gd name="T17" fmla="*/ 1 h 182"/>
                <a:gd name="T18" fmla="*/ 1 w 209"/>
                <a:gd name="T19" fmla="*/ 1 h 182"/>
                <a:gd name="T20" fmla="*/ 1 w 209"/>
                <a:gd name="T21" fmla="*/ 1 h 182"/>
                <a:gd name="T22" fmla="*/ 1 w 209"/>
                <a:gd name="T23" fmla="*/ 1 h 182"/>
                <a:gd name="T24" fmla="*/ 1 w 209"/>
                <a:gd name="T25" fmla="*/ 1 h 182"/>
                <a:gd name="T26" fmla="*/ 1 w 209"/>
                <a:gd name="T27" fmla="*/ 1 h 182"/>
                <a:gd name="T28" fmla="*/ 1 w 209"/>
                <a:gd name="T29" fmla="*/ 1 h 182"/>
                <a:gd name="T30" fmla="*/ 1 w 209"/>
                <a:gd name="T31" fmla="*/ 1 h 182"/>
                <a:gd name="T32" fmla="*/ 1 w 209"/>
                <a:gd name="T33" fmla="*/ 1 h 182"/>
                <a:gd name="T34" fmla="*/ 1 w 209"/>
                <a:gd name="T35" fmla="*/ 1 h 182"/>
                <a:gd name="T36" fmla="*/ 1 w 209"/>
                <a:gd name="T37" fmla="*/ 1 h 182"/>
                <a:gd name="T38" fmla="*/ 1 w 209"/>
                <a:gd name="T39" fmla="*/ 1 h 182"/>
                <a:gd name="T40" fmla="*/ 1 w 209"/>
                <a:gd name="T41" fmla="*/ 1 h 182"/>
                <a:gd name="T42" fmla="*/ 1 w 209"/>
                <a:gd name="T43" fmla="*/ 1 h 182"/>
                <a:gd name="T44" fmla="*/ 1 w 209"/>
                <a:gd name="T45" fmla="*/ 1 h 182"/>
                <a:gd name="T46" fmla="*/ 1 w 209"/>
                <a:gd name="T47" fmla="*/ 1 h 182"/>
                <a:gd name="T48" fmla="*/ 1 w 209"/>
                <a:gd name="T49" fmla="*/ 1 h 182"/>
                <a:gd name="T50" fmla="*/ 1 w 209"/>
                <a:gd name="T51" fmla="*/ 1 h 182"/>
                <a:gd name="T52" fmla="*/ 1 w 209"/>
                <a:gd name="T53" fmla="*/ 1 h 182"/>
                <a:gd name="T54" fmla="*/ 1 w 209"/>
                <a:gd name="T55" fmla="*/ 1 h 182"/>
                <a:gd name="T56" fmla="*/ 1 w 209"/>
                <a:gd name="T57" fmla="*/ 1 h 182"/>
                <a:gd name="T58" fmla="*/ 1 w 209"/>
                <a:gd name="T59" fmla="*/ 1 h 182"/>
                <a:gd name="T60" fmla="*/ 1 w 209"/>
                <a:gd name="T61" fmla="*/ 1 h 182"/>
                <a:gd name="T62" fmla="*/ 1 w 209"/>
                <a:gd name="T63" fmla="*/ 1 h 182"/>
                <a:gd name="T64" fmla="*/ 1 w 209"/>
                <a:gd name="T65" fmla="*/ 1 h 182"/>
                <a:gd name="T66" fmla="*/ 0 w 209"/>
                <a:gd name="T67" fmla="*/ 1 h 182"/>
                <a:gd name="T68" fmla="*/ 0 w 209"/>
                <a:gd name="T69" fmla="*/ 1 h 182"/>
                <a:gd name="T70" fmla="*/ 1 w 209"/>
                <a:gd name="T71" fmla="*/ 1 h 182"/>
                <a:gd name="T72" fmla="*/ 1 w 209"/>
                <a:gd name="T73" fmla="*/ 1 h 182"/>
                <a:gd name="T74" fmla="*/ 1 w 209"/>
                <a:gd name="T75" fmla="*/ 1 h 182"/>
                <a:gd name="T76" fmla="*/ 1 w 209"/>
                <a:gd name="T77" fmla="*/ 1 h 182"/>
                <a:gd name="T78" fmla="*/ 1 w 209"/>
                <a:gd name="T79" fmla="*/ 1 h 182"/>
                <a:gd name="T80" fmla="*/ 1 w 209"/>
                <a:gd name="T81" fmla="*/ 1 h 182"/>
                <a:gd name="T82" fmla="*/ 1 w 209"/>
                <a:gd name="T83" fmla="*/ 1 h 18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09"/>
                <a:gd name="T127" fmla="*/ 0 h 182"/>
                <a:gd name="T128" fmla="*/ 209 w 209"/>
                <a:gd name="T129" fmla="*/ 182 h 182"/>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09" h="182">
                  <a:moveTo>
                    <a:pt x="99" y="4"/>
                  </a:moveTo>
                  <a:lnTo>
                    <a:pt x="109" y="0"/>
                  </a:lnTo>
                  <a:lnTo>
                    <a:pt x="120" y="0"/>
                  </a:lnTo>
                  <a:lnTo>
                    <a:pt x="129" y="0"/>
                  </a:lnTo>
                  <a:lnTo>
                    <a:pt x="139" y="4"/>
                  </a:lnTo>
                  <a:lnTo>
                    <a:pt x="147" y="6"/>
                  </a:lnTo>
                  <a:lnTo>
                    <a:pt x="156" y="9"/>
                  </a:lnTo>
                  <a:lnTo>
                    <a:pt x="164" y="13"/>
                  </a:lnTo>
                  <a:lnTo>
                    <a:pt x="169" y="19"/>
                  </a:lnTo>
                  <a:lnTo>
                    <a:pt x="175" y="27"/>
                  </a:lnTo>
                  <a:lnTo>
                    <a:pt x="171" y="36"/>
                  </a:lnTo>
                  <a:lnTo>
                    <a:pt x="164" y="42"/>
                  </a:lnTo>
                  <a:lnTo>
                    <a:pt x="156" y="46"/>
                  </a:lnTo>
                  <a:lnTo>
                    <a:pt x="143" y="49"/>
                  </a:lnTo>
                  <a:lnTo>
                    <a:pt x="128" y="55"/>
                  </a:lnTo>
                  <a:lnTo>
                    <a:pt x="118" y="57"/>
                  </a:lnTo>
                  <a:lnTo>
                    <a:pt x="110" y="61"/>
                  </a:lnTo>
                  <a:lnTo>
                    <a:pt x="103" y="65"/>
                  </a:lnTo>
                  <a:lnTo>
                    <a:pt x="95" y="68"/>
                  </a:lnTo>
                  <a:lnTo>
                    <a:pt x="88" y="72"/>
                  </a:lnTo>
                  <a:lnTo>
                    <a:pt x="80" y="76"/>
                  </a:lnTo>
                  <a:lnTo>
                    <a:pt x="71" y="78"/>
                  </a:lnTo>
                  <a:lnTo>
                    <a:pt x="65" y="82"/>
                  </a:lnTo>
                  <a:lnTo>
                    <a:pt x="71" y="89"/>
                  </a:lnTo>
                  <a:lnTo>
                    <a:pt x="80" y="99"/>
                  </a:lnTo>
                  <a:lnTo>
                    <a:pt x="86" y="104"/>
                  </a:lnTo>
                  <a:lnTo>
                    <a:pt x="93" y="108"/>
                  </a:lnTo>
                  <a:lnTo>
                    <a:pt x="101" y="110"/>
                  </a:lnTo>
                  <a:lnTo>
                    <a:pt x="109" y="112"/>
                  </a:lnTo>
                  <a:lnTo>
                    <a:pt x="116" y="112"/>
                  </a:lnTo>
                  <a:lnTo>
                    <a:pt x="124" y="112"/>
                  </a:lnTo>
                  <a:lnTo>
                    <a:pt x="139" y="108"/>
                  </a:lnTo>
                  <a:lnTo>
                    <a:pt x="152" y="99"/>
                  </a:lnTo>
                  <a:lnTo>
                    <a:pt x="160" y="93"/>
                  </a:lnTo>
                  <a:lnTo>
                    <a:pt x="166" y="87"/>
                  </a:lnTo>
                  <a:lnTo>
                    <a:pt x="173" y="82"/>
                  </a:lnTo>
                  <a:lnTo>
                    <a:pt x="183" y="76"/>
                  </a:lnTo>
                  <a:lnTo>
                    <a:pt x="192" y="74"/>
                  </a:lnTo>
                  <a:lnTo>
                    <a:pt x="206" y="68"/>
                  </a:lnTo>
                  <a:lnTo>
                    <a:pt x="206" y="76"/>
                  </a:lnTo>
                  <a:lnTo>
                    <a:pt x="207" y="85"/>
                  </a:lnTo>
                  <a:lnTo>
                    <a:pt x="207" y="97"/>
                  </a:lnTo>
                  <a:lnTo>
                    <a:pt x="209" y="108"/>
                  </a:lnTo>
                  <a:lnTo>
                    <a:pt x="206" y="118"/>
                  </a:lnTo>
                  <a:lnTo>
                    <a:pt x="202" y="127"/>
                  </a:lnTo>
                  <a:lnTo>
                    <a:pt x="194" y="135"/>
                  </a:lnTo>
                  <a:lnTo>
                    <a:pt x="185" y="139"/>
                  </a:lnTo>
                  <a:lnTo>
                    <a:pt x="185" y="150"/>
                  </a:lnTo>
                  <a:lnTo>
                    <a:pt x="183" y="162"/>
                  </a:lnTo>
                  <a:lnTo>
                    <a:pt x="175" y="171"/>
                  </a:lnTo>
                  <a:lnTo>
                    <a:pt x="169" y="182"/>
                  </a:lnTo>
                  <a:lnTo>
                    <a:pt x="158" y="177"/>
                  </a:lnTo>
                  <a:lnTo>
                    <a:pt x="148" y="171"/>
                  </a:lnTo>
                  <a:lnTo>
                    <a:pt x="139" y="167"/>
                  </a:lnTo>
                  <a:lnTo>
                    <a:pt x="129" y="163"/>
                  </a:lnTo>
                  <a:lnTo>
                    <a:pt x="116" y="160"/>
                  </a:lnTo>
                  <a:lnTo>
                    <a:pt x="107" y="156"/>
                  </a:lnTo>
                  <a:lnTo>
                    <a:pt x="95" y="152"/>
                  </a:lnTo>
                  <a:lnTo>
                    <a:pt x="84" y="148"/>
                  </a:lnTo>
                  <a:lnTo>
                    <a:pt x="72" y="144"/>
                  </a:lnTo>
                  <a:lnTo>
                    <a:pt x="63" y="139"/>
                  </a:lnTo>
                  <a:lnTo>
                    <a:pt x="52" y="135"/>
                  </a:lnTo>
                  <a:lnTo>
                    <a:pt x="40" y="131"/>
                  </a:lnTo>
                  <a:lnTo>
                    <a:pt x="31" y="127"/>
                  </a:lnTo>
                  <a:lnTo>
                    <a:pt x="21" y="123"/>
                  </a:lnTo>
                  <a:lnTo>
                    <a:pt x="12" y="120"/>
                  </a:lnTo>
                  <a:lnTo>
                    <a:pt x="4" y="116"/>
                  </a:lnTo>
                  <a:lnTo>
                    <a:pt x="0" y="104"/>
                  </a:lnTo>
                  <a:lnTo>
                    <a:pt x="0" y="93"/>
                  </a:lnTo>
                  <a:lnTo>
                    <a:pt x="0" y="82"/>
                  </a:lnTo>
                  <a:lnTo>
                    <a:pt x="0" y="68"/>
                  </a:lnTo>
                  <a:lnTo>
                    <a:pt x="10" y="68"/>
                  </a:lnTo>
                  <a:lnTo>
                    <a:pt x="21" y="70"/>
                  </a:lnTo>
                  <a:lnTo>
                    <a:pt x="29" y="74"/>
                  </a:lnTo>
                  <a:lnTo>
                    <a:pt x="40" y="78"/>
                  </a:lnTo>
                  <a:lnTo>
                    <a:pt x="40" y="66"/>
                  </a:lnTo>
                  <a:lnTo>
                    <a:pt x="44" y="55"/>
                  </a:lnTo>
                  <a:lnTo>
                    <a:pt x="50" y="46"/>
                  </a:lnTo>
                  <a:lnTo>
                    <a:pt x="57" y="36"/>
                  </a:lnTo>
                  <a:lnTo>
                    <a:pt x="67" y="25"/>
                  </a:lnTo>
                  <a:lnTo>
                    <a:pt x="76" y="17"/>
                  </a:lnTo>
                  <a:lnTo>
                    <a:pt x="88" y="9"/>
                  </a:lnTo>
                  <a:lnTo>
                    <a:pt x="99" y="4"/>
                  </a:lnTo>
                  <a:close/>
                </a:path>
              </a:pathLst>
            </a:custGeom>
            <a:solidFill>
              <a:srgbClr val="FFD6C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68" name="Freeform 80"/>
            <p:cNvSpPr>
              <a:spLocks/>
            </p:cNvSpPr>
            <p:nvPr/>
          </p:nvSpPr>
          <p:spPr bwMode="auto">
            <a:xfrm>
              <a:off x="4566" y="2942"/>
              <a:ext cx="8" cy="10"/>
            </a:xfrm>
            <a:custGeom>
              <a:avLst/>
              <a:gdLst>
                <a:gd name="T0" fmla="*/ 1 w 15"/>
                <a:gd name="T1" fmla="*/ 0 h 19"/>
                <a:gd name="T2" fmla="*/ 1 w 15"/>
                <a:gd name="T3" fmla="*/ 0 h 19"/>
                <a:gd name="T4" fmla="*/ 1 w 15"/>
                <a:gd name="T5" fmla="*/ 1 h 19"/>
                <a:gd name="T6" fmla="*/ 1 w 15"/>
                <a:gd name="T7" fmla="*/ 1 h 19"/>
                <a:gd name="T8" fmla="*/ 1 w 15"/>
                <a:gd name="T9" fmla="*/ 1 h 19"/>
                <a:gd name="T10" fmla="*/ 1 w 15"/>
                <a:gd name="T11" fmla="*/ 1 h 19"/>
                <a:gd name="T12" fmla="*/ 1 w 15"/>
                <a:gd name="T13" fmla="*/ 1 h 19"/>
                <a:gd name="T14" fmla="*/ 1 w 15"/>
                <a:gd name="T15" fmla="*/ 1 h 19"/>
                <a:gd name="T16" fmla="*/ 1 w 15"/>
                <a:gd name="T17" fmla="*/ 1 h 19"/>
                <a:gd name="T18" fmla="*/ 0 w 15"/>
                <a:gd name="T19" fmla="*/ 1 h 19"/>
                <a:gd name="T20" fmla="*/ 1 w 15"/>
                <a:gd name="T21" fmla="*/ 0 h 19"/>
                <a:gd name="T22" fmla="*/ 1 w 15"/>
                <a:gd name="T23" fmla="*/ 0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19"/>
                <a:gd name="T38" fmla="*/ 15 w 15"/>
                <a:gd name="T39" fmla="*/ 19 h 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19">
                  <a:moveTo>
                    <a:pt x="6" y="0"/>
                  </a:moveTo>
                  <a:lnTo>
                    <a:pt x="9" y="0"/>
                  </a:lnTo>
                  <a:lnTo>
                    <a:pt x="15" y="5"/>
                  </a:lnTo>
                  <a:lnTo>
                    <a:pt x="11" y="11"/>
                  </a:lnTo>
                  <a:lnTo>
                    <a:pt x="11" y="19"/>
                  </a:lnTo>
                  <a:lnTo>
                    <a:pt x="9" y="19"/>
                  </a:lnTo>
                  <a:lnTo>
                    <a:pt x="7" y="19"/>
                  </a:lnTo>
                  <a:lnTo>
                    <a:pt x="6" y="15"/>
                  </a:lnTo>
                  <a:lnTo>
                    <a:pt x="2" y="9"/>
                  </a:lnTo>
                  <a:lnTo>
                    <a:pt x="0" y="4"/>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69" name="Freeform 81"/>
            <p:cNvSpPr>
              <a:spLocks/>
            </p:cNvSpPr>
            <p:nvPr/>
          </p:nvSpPr>
          <p:spPr bwMode="auto">
            <a:xfrm>
              <a:off x="3399" y="2954"/>
              <a:ext cx="432" cy="696"/>
            </a:xfrm>
            <a:custGeom>
              <a:avLst/>
              <a:gdLst>
                <a:gd name="T0" fmla="*/ 1 w 865"/>
                <a:gd name="T1" fmla="*/ 1 h 1391"/>
                <a:gd name="T2" fmla="*/ 2 w 865"/>
                <a:gd name="T3" fmla="*/ 1 h 1391"/>
                <a:gd name="T4" fmla="*/ 2 w 865"/>
                <a:gd name="T5" fmla="*/ 1 h 1391"/>
                <a:gd name="T6" fmla="*/ 1 w 865"/>
                <a:gd name="T7" fmla="*/ 1 h 1391"/>
                <a:gd name="T8" fmla="*/ 1 w 865"/>
                <a:gd name="T9" fmla="*/ 1 h 1391"/>
                <a:gd name="T10" fmla="*/ 2 w 865"/>
                <a:gd name="T11" fmla="*/ 2 h 1391"/>
                <a:gd name="T12" fmla="*/ 2 w 865"/>
                <a:gd name="T13" fmla="*/ 2 h 1391"/>
                <a:gd name="T14" fmla="*/ 2 w 865"/>
                <a:gd name="T15" fmla="*/ 2 h 1391"/>
                <a:gd name="T16" fmla="*/ 1 w 865"/>
                <a:gd name="T17" fmla="*/ 2 h 1391"/>
                <a:gd name="T18" fmla="*/ 1 w 865"/>
                <a:gd name="T19" fmla="*/ 2 h 1391"/>
                <a:gd name="T20" fmla="*/ 2 w 865"/>
                <a:gd name="T21" fmla="*/ 2 h 1391"/>
                <a:gd name="T22" fmla="*/ 2 w 865"/>
                <a:gd name="T23" fmla="*/ 2 h 1391"/>
                <a:gd name="T24" fmla="*/ 2 w 865"/>
                <a:gd name="T25" fmla="*/ 2 h 1391"/>
                <a:gd name="T26" fmla="*/ 2 w 865"/>
                <a:gd name="T27" fmla="*/ 2 h 1391"/>
                <a:gd name="T28" fmla="*/ 1 w 865"/>
                <a:gd name="T29" fmla="*/ 2 h 1391"/>
                <a:gd name="T30" fmla="*/ 1 w 865"/>
                <a:gd name="T31" fmla="*/ 2 h 1391"/>
                <a:gd name="T32" fmla="*/ 1 w 865"/>
                <a:gd name="T33" fmla="*/ 2 h 1391"/>
                <a:gd name="T34" fmla="*/ 2 w 865"/>
                <a:gd name="T35" fmla="*/ 3 h 1391"/>
                <a:gd name="T36" fmla="*/ 2 w 865"/>
                <a:gd name="T37" fmla="*/ 3 h 1391"/>
                <a:gd name="T38" fmla="*/ 1 w 865"/>
                <a:gd name="T39" fmla="*/ 3 h 1391"/>
                <a:gd name="T40" fmla="*/ 0 w 865"/>
                <a:gd name="T41" fmla="*/ 2 h 1391"/>
                <a:gd name="T42" fmla="*/ 1 w 865"/>
                <a:gd name="T43" fmla="*/ 3 h 1391"/>
                <a:gd name="T44" fmla="*/ 2 w 865"/>
                <a:gd name="T45" fmla="*/ 3 h 1391"/>
                <a:gd name="T46" fmla="*/ 2 w 865"/>
                <a:gd name="T47" fmla="*/ 3 h 1391"/>
                <a:gd name="T48" fmla="*/ 1 w 865"/>
                <a:gd name="T49" fmla="*/ 3 h 1391"/>
                <a:gd name="T50" fmla="*/ 1 w 865"/>
                <a:gd name="T51" fmla="*/ 3 h 1391"/>
                <a:gd name="T52" fmla="*/ 1 w 865"/>
                <a:gd name="T53" fmla="*/ 3 h 1391"/>
                <a:gd name="T54" fmla="*/ 2 w 865"/>
                <a:gd name="T55" fmla="*/ 4 h 1391"/>
                <a:gd name="T56" fmla="*/ 2 w 865"/>
                <a:gd name="T57" fmla="*/ 4 h 1391"/>
                <a:gd name="T58" fmla="*/ 1 w 865"/>
                <a:gd name="T59" fmla="*/ 3 h 1391"/>
                <a:gd name="T60" fmla="*/ 1 w 865"/>
                <a:gd name="T61" fmla="*/ 3 h 1391"/>
                <a:gd name="T62" fmla="*/ 1 w 865"/>
                <a:gd name="T63" fmla="*/ 4 h 1391"/>
                <a:gd name="T64" fmla="*/ 2 w 865"/>
                <a:gd name="T65" fmla="*/ 4 h 1391"/>
                <a:gd name="T66" fmla="*/ 2 w 865"/>
                <a:gd name="T67" fmla="*/ 4 h 1391"/>
                <a:gd name="T68" fmla="*/ 3 w 865"/>
                <a:gd name="T69" fmla="*/ 4 h 1391"/>
                <a:gd name="T70" fmla="*/ 2 w 865"/>
                <a:gd name="T71" fmla="*/ 4 h 1391"/>
                <a:gd name="T72" fmla="*/ 1 w 865"/>
                <a:gd name="T73" fmla="*/ 4 h 1391"/>
                <a:gd name="T74" fmla="*/ 1 w 865"/>
                <a:gd name="T75" fmla="*/ 4 h 1391"/>
                <a:gd name="T76" fmla="*/ 2 w 865"/>
                <a:gd name="T77" fmla="*/ 4 h 1391"/>
                <a:gd name="T78" fmla="*/ 2 w 865"/>
                <a:gd name="T79" fmla="*/ 5 h 1391"/>
                <a:gd name="T80" fmla="*/ 2 w 865"/>
                <a:gd name="T81" fmla="*/ 4 h 1391"/>
                <a:gd name="T82" fmla="*/ 1 w 865"/>
                <a:gd name="T83" fmla="*/ 4 h 1391"/>
                <a:gd name="T84" fmla="*/ 2 w 865"/>
                <a:gd name="T85" fmla="*/ 5 h 1391"/>
                <a:gd name="T86" fmla="*/ 3 w 865"/>
                <a:gd name="T87" fmla="*/ 5 h 1391"/>
                <a:gd name="T88" fmla="*/ 2 w 865"/>
                <a:gd name="T89" fmla="*/ 5 h 1391"/>
                <a:gd name="T90" fmla="*/ 1 w 865"/>
                <a:gd name="T91" fmla="*/ 5 h 1391"/>
                <a:gd name="T92" fmla="*/ 1 w 865"/>
                <a:gd name="T93" fmla="*/ 5 h 1391"/>
                <a:gd name="T94" fmla="*/ 2 w 865"/>
                <a:gd name="T95" fmla="*/ 5 h 1391"/>
                <a:gd name="T96" fmla="*/ 2 w 865"/>
                <a:gd name="T97" fmla="*/ 5 h 1391"/>
                <a:gd name="T98" fmla="*/ 1 w 865"/>
                <a:gd name="T99" fmla="*/ 5 h 1391"/>
                <a:gd name="T100" fmla="*/ 1 w 865"/>
                <a:gd name="T101" fmla="*/ 5 h 1391"/>
                <a:gd name="T102" fmla="*/ 0 w 865"/>
                <a:gd name="T103" fmla="*/ 5 h 1391"/>
                <a:gd name="T104" fmla="*/ 1 w 865"/>
                <a:gd name="T105" fmla="*/ 5 h 1391"/>
                <a:gd name="T106" fmla="*/ 2 w 865"/>
                <a:gd name="T107" fmla="*/ 6 h 1391"/>
                <a:gd name="T108" fmla="*/ 2 w 865"/>
                <a:gd name="T109" fmla="*/ 6 h 1391"/>
                <a:gd name="T110" fmla="*/ 1 w 865"/>
                <a:gd name="T111" fmla="*/ 5 h 1391"/>
                <a:gd name="T112" fmla="*/ 0 w 865"/>
                <a:gd name="T113" fmla="*/ 4 h 1391"/>
                <a:gd name="T114" fmla="*/ 0 w 865"/>
                <a:gd name="T115" fmla="*/ 2 h 1391"/>
                <a:gd name="T116" fmla="*/ 0 w 865"/>
                <a:gd name="T117" fmla="*/ 0 h 139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865"/>
                <a:gd name="T178" fmla="*/ 0 h 1391"/>
                <a:gd name="T179" fmla="*/ 865 w 865"/>
                <a:gd name="T180" fmla="*/ 1391 h 1391"/>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865" h="1391">
                  <a:moveTo>
                    <a:pt x="0" y="0"/>
                  </a:moveTo>
                  <a:lnTo>
                    <a:pt x="49" y="7"/>
                  </a:lnTo>
                  <a:lnTo>
                    <a:pt x="97" y="19"/>
                  </a:lnTo>
                  <a:lnTo>
                    <a:pt x="146" y="28"/>
                  </a:lnTo>
                  <a:lnTo>
                    <a:pt x="196" y="41"/>
                  </a:lnTo>
                  <a:lnTo>
                    <a:pt x="243" y="55"/>
                  </a:lnTo>
                  <a:lnTo>
                    <a:pt x="291" y="70"/>
                  </a:lnTo>
                  <a:lnTo>
                    <a:pt x="338" y="85"/>
                  </a:lnTo>
                  <a:lnTo>
                    <a:pt x="388" y="102"/>
                  </a:lnTo>
                  <a:lnTo>
                    <a:pt x="432" y="117"/>
                  </a:lnTo>
                  <a:lnTo>
                    <a:pt x="479" y="138"/>
                  </a:lnTo>
                  <a:lnTo>
                    <a:pt x="525" y="157"/>
                  </a:lnTo>
                  <a:lnTo>
                    <a:pt x="570" y="180"/>
                  </a:lnTo>
                  <a:lnTo>
                    <a:pt x="616" y="199"/>
                  </a:lnTo>
                  <a:lnTo>
                    <a:pt x="662" y="224"/>
                  </a:lnTo>
                  <a:lnTo>
                    <a:pt x="705" y="247"/>
                  </a:lnTo>
                  <a:lnTo>
                    <a:pt x="751" y="273"/>
                  </a:lnTo>
                  <a:lnTo>
                    <a:pt x="719" y="262"/>
                  </a:lnTo>
                  <a:lnTo>
                    <a:pt x="686" y="252"/>
                  </a:lnTo>
                  <a:lnTo>
                    <a:pt x="656" y="243"/>
                  </a:lnTo>
                  <a:lnTo>
                    <a:pt x="624" y="233"/>
                  </a:lnTo>
                  <a:lnTo>
                    <a:pt x="593" y="220"/>
                  </a:lnTo>
                  <a:lnTo>
                    <a:pt x="561" y="211"/>
                  </a:lnTo>
                  <a:lnTo>
                    <a:pt x="529" y="199"/>
                  </a:lnTo>
                  <a:lnTo>
                    <a:pt x="496" y="190"/>
                  </a:lnTo>
                  <a:lnTo>
                    <a:pt x="464" y="180"/>
                  </a:lnTo>
                  <a:lnTo>
                    <a:pt x="430" y="171"/>
                  </a:lnTo>
                  <a:lnTo>
                    <a:pt x="397" y="161"/>
                  </a:lnTo>
                  <a:lnTo>
                    <a:pt x="365" y="157"/>
                  </a:lnTo>
                  <a:lnTo>
                    <a:pt x="331" y="152"/>
                  </a:lnTo>
                  <a:lnTo>
                    <a:pt x="299" y="148"/>
                  </a:lnTo>
                  <a:lnTo>
                    <a:pt x="264" y="148"/>
                  </a:lnTo>
                  <a:lnTo>
                    <a:pt x="232" y="148"/>
                  </a:lnTo>
                  <a:lnTo>
                    <a:pt x="259" y="165"/>
                  </a:lnTo>
                  <a:lnTo>
                    <a:pt x="289" y="180"/>
                  </a:lnTo>
                  <a:lnTo>
                    <a:pt x="318" y="193"/>
                  </a:lnTo>
                  <a:lnTo>
                    <a:pt x="350" y="209"/>
                  </a:lnTo>
                  <a:lnTo>
                    <a:pt x="380" y="220"/>
                  </a:lnTo>
                  <a:lnTo>
                    <a:pt x="413" y="233"/>
                  </a:lnTo>
                  <a:lnTo>
                    <a:pt x="445" y="245"/>
                  </a:lnTo>
                  <a:lnTo>
                    <a:pt x="479" y="258"/>
                  </a:lnTo>
                  <a:lnTo>
                    <a:pt x="512" y="270"/>
                  </a:lnTo>
                  <a:lnTo>
                    <a:pt x="544" y="281"/>
                  </a:lnTo>
                  <a:lnTo>
                    <a:pt x="576" y="292"/>
                  </a:lnTo>
                  <a:lnTo>
                    <a:pt x="610" y="306"/>
                  </a:lnTo>
                  <a:lnTo>
                    <a:pt x="643" y="317"/>
                  </a:lnTo>
                  <a:lnTo>
                    <a:pt x="673" y="332"/>
                  </a:lnTo>
                  <a:lnTo>
                    <a:pt x="705" y="346"/>
                  </a:lnTo>
                  <a:lnTo>
                    <a:pt x="738" y="363"/>
                  </a:lnTo>
                  <a:lnTo>
                    <a:pt x="707" y="359"/>
                  </a:lnTo>
                  <a:lnTo>
                    <a:pt x="677" y="353"/>
                  </a:lnTo>
                  <a:lnTo>
                    <a:pt x="647" y="346"/>
                  </a:lnTo>
                  <a:lnTo>
                    <a:pt x="616" y="340"/>
                  </a:lnTo>
                  <a:lnTo>
                    <a:pt x="584" y="330"/>
                  </a:lnTo>
                  <a:lnTo>
                    <a:pt x="553" y="323"/>
                  </a:lnTo>
                  <a:lnTo>
                    <a:pt x="521" y="313"/>
                  </a:lnTo>
                  <a:lnTo>
                    <a:pt x="491" y="306"/>
                  </a:lnTo>
                  <a:lnTo>
                    <a:pt x="460" y="296"/>
                  </a:lnTo>
                  <a:lnTo>
                    <a:pt x="428" y="287"/>
                  </a:lnTo>
                  <a:lnTo>
                    <a:pt x="396" y="279"/>
                  </a:lnTo>
                  <a:lnTo>
                    <a:pt x="365" y="271"/>
                  </a:lnTo>
                  <a:lnTo>
                    <a:pt x="333" y="264"/>
                  </a:lnTo>
                  <a:lnTo>
                    <a:pt x="302" y="260"/>
                  </a:lnTo>
                  <a:lnTo>
                    <a:pt x="272" y="256"/>
                  </a:lnTo>
                  <a:lnTo>
                    <a:pt x="240" y="256"/>
                  </a:lnTo>
                  <a:lnTo>
                    <a:pt x="255" y="273"/>
                  </a:lnTo>
                  <a:lnTo>
                    <a:pt x="274" y="289"/>
                  </a:lnTo>
                  <a:lnTo>
                    <a:pt x="295" y="300"/>
                  </a:lnTo>
                  <a:lnTo>
                    <a:pt x="318" y="313"/>
                  </a:lnTo>
                  <a:lnTo>
                    <a:pt x="338" y="323"/>
                  </a:lnTo>
                  <a:lnTo>
                    <a:pt x="363" y="334"/>
                  </a:lnTo>
                  <a:lnTo>
                    <a:pt x="388" y="342"/>
                  </a:lnTo>
                  <a:lnTo>
                    <a:pt x="415" y="351"/>
                  </a:lnTo>
                  <a:lnTo>
                    <a:pt x="437" y="359"/>
                  </a:lnTo>
                  <a:lnTo>
                    <a:pt x="464" y="365"/>
                  </a:lnTo>
                  <a:lnTo>
                    <a:pt x="491" y="372"/>
                  </a:lnTo>
                  <a:lnTo>
                    <a:pt x="517" y="378"/>
                  </a:lnTo>
                  <a:lnTo>
                    <a:pt x="544" y="385"/>
                  </a:lnTo>
                  <a:lnTo>
                    <a:pt x="569" y="391"/>
                  </a:lnTo>
                  <a:lnTo>
                    <a:pt x="593" y="399"/>
                  </a:lnTo>
                  <a:lnTo>
                    <a:pt x="618" y="408"/>
                  </a:lnTo>
                  <a:lnTo>
                    <a:pt x="624" y="412"/>
                  </a:lnTo>
                  <a:lnTo>
                    <a:pt x="633" y="416"/>
                  </a:lnTo>
                  <a:lnTo>
                    <a:pt x="639" y="418"/>
                  </a:lnTo>
                  <a:lnTo>
                    <a:pt x="647" y="422"/>
                  </a:lnTo>
                  <a:lnTo>
                    <a:pt x="654" y="425"/>
                  </a:lnTo>
                  <a:lnTo>
                    <a:pt x="662" y="429"/>
                  </a:lnTo>
                  <a:lnTo>
                    <a:pt x="669" y="433"/>
                  </a:lnTo>
                  <a:lnTo>
                    <a:pt x="677" y="437"/>
                  </a:lnTo>
                  <a:lnTo>
                    <a:pt x="685" y="439"/>
                  </a:lnTo>
                  <a:lnTo>
                    <a:pt x="692" y="443"/>
                  </a:lnTo>
                  <a:lnTo>
                    <a:pt x="700" y="444"/>
                  </a:lnTo>
                  <a:lnTo>
                    <a:pt x="707" y="448"/>
                  </a:lnTo>
                  <a:lnTo>
                    <a:pt x="713" y="452"/>
                  </a:lnTo>
                  <a:lnTo>
                    <a:pt x="723" y="454"/>
                  </a:lnTo>
                  <a:lnTo>
                    <a:pt x="730" y="458"/>
                  </a:lnTo>
                  <a:lnTo>
                    <a:pt x="738" y="462"/>
                  </a:lnTo>
                  <a:lnTo>
                    <a:pt x="704" y="458"/>
                  </a:lnTo>
                  <a:lnTo>
                    <a:pt x="673" y="454"/>
                  </a:lnTo>
                  <a:lnTo>
                    <a:pt x="641" y="448"/>
                  </a:lnTo>
                  <a:lnTo>
                    <a:pt x="610" y="443"/>
                  </a:lnTo>
                  <a:lnTo>
                    <a:pt x="578" y="435"/>
                  </a:lnTo>
                  <a:lnTo>
                    <a:pt x="546" y="425"/>
                  </a:lnTo>
                  <a:lnTo>
                    <a:pt x="515" y="418"/>
                  </a:lnTo>
                  <a:lnTo>
                    <a:pt x="485" y="410"/>
                  </a:lnTo>
                  <a:lnTo>
                    <a:pt x="453" y="401"/>
                  </a:lnTo>
                  <a:lnTo>
                    <a:pt x="420" y="391"/>
                  </a:lnTo>
                  <a:lnTo>
                    <a:pt x="388" y="384"/>
                  </a:lnTo>
                  <a:lnTo>
                    <a:pt x="358" y="376"/>
                  </a:lnTo>
                  <a:lnTo>
                    <a:pt x="323" y="368"/>
                  </a:lnTo>
                  <a:lnTo>
                    <a:pt x="291" y="363"/>
                  </a:lnTo>
                  <a:lnTo>
                    <a:pt x="259" y="357"/>
                  </a:lnTo>
                  <a:lnTo>
                    <a:pt x="224" y="355"/>
                  </a:lnTo>
                  <a:lnTo>
                    <a:pt x="255" y="372"/>
                  </a:lnTo>
                  <a:lnTo>
                    <a:pt x="285" y="391"/>
                  </a:lnTo>
                  <a:lnTo>
                    <a:pt x="318" y="408"/>
                  </a:lnTo>
                  <a:lnTo>
                    <a:pt x="354" y="423"/>
                  </a:lnTo>
                  <a:lnTo>
                    <a:pt x="388" y="437"/>
                  </a:lnTo>
                  <a:lnTo>
                    <a:pt x="424" y="452"/>
                  </a:lnTo>
                  <a:lnTo>
                    <a:pt x="462" y="463"/>
                  </a:lnTo>
                  <a:lnTo>
                    <a:pt x="500" y="477"/>
                  </a:lnTo>
                  <a:lnTo>
                    <a:pt x="534" y="488"/>
                  </a:lnTo>
                  <a:lnTo>
                    <a:pt x="572" y="501"/>
                  </a:lnTo>
                  <a:lnTo>
                    <a:pt x="608" y="513"/>
                  </a:lnTo>
                  <a:lnTo>
                    <a:pt x="647" y="526"/>
                  </a:lnTo>
                  <a:lnTo>
                    <a:pt x="681" y="538"/>
                  </a:lnTo>
                  <a:lnTo>
                    <a:pt x="715" y="553"/>
                  </a:lnTo>
                  <a:lnTo>
                    <a:pt x="747" y="568"/>
                  </a:lnTo>
                  <a:lnTo>
                    <a:pt x="780" y="585"/>
                  </a:lnTo>
                  <a:lnTo>
                    <a:pt x="780" y="591"/>
                  </a:lnTo>
                  <a:lnTo>
                    <a:pt x="780" y="595"/>
                  </a:lnTo>
                  <a:lnTo>
                    <a:pt x="742" y="587"/>
                  </a:lnTo>
                  <a:lnTo>
                    <a:pt x="705" y="581"/>
                  </a:lnTo>
                  <a:lnTo>
                    <a:pt x="669" y="574"/>
                  </a:lnTo>
                  <a:lnTo>
                    <a:pt x="635" y="564"/>
                  </a:lnTo>
                  <a:lnTo>
                    <a:pt x="601" y="555"/>
                  </a:lnTo>
                  <a:lnTo>
                    <a:pt x="567" y="545"/>
                  </a:lnTo>
                  <a:lnTo>
                    <a:pt x="532" y="536"/>
                  </a:lnTo>
                  <a:lnTo>
                    <a:pt x="500" y="526"/>
                  </a:lnTo>
                  <a:lnTo>
                    <a:pt x="464" y="515"/>
                  </a:lnTo>
                  <a:lnTo>
                    <a:pt x="430" y="507"/>
                  </a:lnTo>
                  <a:lnTo>
                    <a:pt x="396" y="498"/>
                  </a:lnTo>
                  <a:lnTo>
                    <a:pt x="361" y="488"/>
                  </a:lnTo>
                  <a:lnTo>
                    <a:pt x="325" y="481"/>
                  </a:lnTo>
                  <a:lnTo>
                    <a:pt x="289" y="475"/>
                  </a:lnTo>
                  <a:lnTo>
                    <a:pt x="255" y="471"/>
                  </a:lnTo>
                  <a:lnTo>
                    <a:pt x="219" y="467"/>
                  </a:lnTo>
                  <a:lnTo>
                    <a:pt x="249" y="482"/>
                  </a:lnTo>
                  <a:lnTo>
                    <a:pt x="281" y="498"/>
                  </a:lnTo>
                  <a:lnTo>
                    <a:pt x="314" y="513"/>
                  </a:lnTo>
                  <a:lnTo>
                    <a:pt x="348" y="528"/>
                  </a:lnTo>
                  <a:lnTo>
                    <a:pt x="378" y="541"/>
                  </a:lnTo>
                  <a:lnTo>
                    <a:pt x="413" y="555"/>
                  </a:lnTo>
                  <a:lnTo>
                    <a:pt x="445" y="568"/>
                  </a:lnTo>
                  <a:lnTo>
                    <a:pt x="481" y="581"/>
                  </a:lnTo>
                  <a:lnTo>
                    <a:pt x="513" y="593"/>
                  </a:lnTo>
                  <a:lnTo>
                    <a:pt x="548" y="608"/>
                  </a:lnTo>
                  <a:lnTo>
                    <a:pt x="580" y="621"/>
                  </a:lnTo>
                  <a:lnTo>
                    <a:pt x="616" y="636"/>
                  </a:lnTo>
                  <a:lnTo>
                    <a:pt x="648" y="650"/>
                  </a:lnTo>
                  <a:lnTo>
                    <a:pt x="683" y="665"/>
                  </a:lnTo>
                  <a:lnTo>
                    <a:pt x="715" y="682"/>
                  </a:lnTo>
                  <a:lnTo>
                    <a:pt x="749" y="699"/>
                  </a:lnTo>
                  <a:lnTo>
                    <a:pt x="749" y="703"/>
                  </a:lnTo>
                  <a:lnTo>
                    <a:pt x="711" y="697"/>
                  </a:lnTo>
                  <a:lnTo>
                    <a:pt x="675" y="692"/>
                  </a:lnTo>
                  <a:lnTo>
                    <a:pt x="639" y="684"/>
                  </a:lnTo>
                  <a:lnTo>
                    <a:pt x="603" y="676"/>
                  </a:lnTo>
                  <a:lnTo>
                    <a:pt x="567" y="667"/>
                  </a:lnTo>
                  <a:lnTo>
                    <a:pt x="534" y="659"/>
                  </a:lnTo>
                  <a:lnTo>
                    <a:pt x="500" y="648"/>
                  </a:lnTo>
                  <a:lnTo>
                    <a:pt x="466" y="636"/>
                  </a:lnTo>
                  <a:lnTo>
                    <a:pt x="432" y="625"/>
                  </a:lnTo>
                  <a:lnTo>
                    <a:pt x="397" y="614"/>
                  </a:lnTo>
                  <a:lnTo>
                    <a:pt x="363" y="600"/>
                  </a:lnTo>
                  <a:lnTo>
                    <a:pt x="331" y="591"/>
                  </a:lnTo>
                  <a:lnTo>
                    <a:pt x="299" y="577"/>
                  </a:lnTo>
                  <a:lnTo>
                    <a:pt x="266" y="568"/>
                  </a:lnTo>
                  <a:lnTo>
                    <a:pt x="234" y="557"/>
                  </a:lnTo>
                  <a:lnTo>
                    <a:pt x="202" y="549"/>
                  </a:lnTo>
                  <a:lnTo>
                    <a:pt x="228" y="572"/>
                  </a:lnTo>
                  <a:lnTo>
                    <a:pt x="257" y="593"/>
                  </a:lnTo>
                  <a:lnTo>
                    <a:pt x="285" y="612"/>
                  </a:lnTo>
                  <a:lnTo>
                    <a:pt x="318" y="631"/>
                  </a:lnTo>
                  <a:lnTo>
                    <a:pt x="350" y="646"/>
                  </a:lnTo>
                  <a:lnTo>
                    <a:pt x="382" y="659"/>
                  </a:lnTo>
                  <a:lnTo>
                    <a:pt x="415" y="674"/>
                  </a:lnTo>
                  <a:lnTo>
                    <a:pt x="451" y="690"/>
                  </a:lnTo>
                  <a:lnTo>
                    <a:pt x="483" y="701"/>
                  </a:lnTo>
                  <a:lnTo>
                    <a:pt x="517" y="714"/>
                  </a:lnTo>
                  <a:lnTo>
                    <a:pt x="550" y="726"/>
                  </a:lnTo>
                  <a:lnTo>
                    <a:pt x="584" y="743"/>
                  </a:lnTo>
                  <a:lnTo>
                    <a:pt x="616" y="758"/>
                  </a:lnTo>
                  <a:lnTo>
                    <a:pt x="650" y="773"/>
                  </a:lnTo>
                  <a:lnTo>
                    <a:pt x="681" y="790"/>
                  </a:lnTo>
                  <a:lnTo>
                    <a:pt x="713" y="811"/>
                  </a:lnTo>
                  <a:lnTo>
                    <a:pt x="713" y="815"/>
                  </a:lnTo>
                  <a:lnTo>
                    <a:pt x="677" y="811"/>
                  </a:lnTo>
                  <a:lnTo>
                    <a:pt x="643" y="806"/>
                  </a:lnTo>
                  <a:lnTo>
                    <a:pt x="610" y="798"/>
                  </a:lnTo>
                  <a:lnTo>
                    <a:pt x="580" y="789"/>
                  </a:lnTo>
                  <a:lnTo>
                    <a:pt x="548" y="777"/>
                  </a:lnTo>
                  <a:lnTo>
                    <a:pt x="515" y="768"/>
                  </a:lnTo>
                  <a:lnTo>
                    <a:pt x="485" y="754"/>
                  </a:lnTo>
                  <a:lnTo>
                    <a:pt x="454" y="743"/>
                  </a:lnTo>
                  <a:lnTo>
                    <a:pt x="422" y="730"/>
                  </a:lnTo>
                  <a:lnTo>
                    <a:pt x="392" y="716"/>
                  </a:lnTo>
                  <a:lnTo>
                    <a:pt x="359" y="705"/>
                  </a:lnTo>
                  <a:lnTo>
                    <a:pt x="329" y="695"/>
                  </a:lnTo>
                  <a:lnTo>
                    <a:pt x="295" y="686"/>
                  </a:lnTo>
                  <a:lnTo>
                    <a:pt x="262" y="678"/>
                  </a:lnTo>
                  <a:lnTo>
                    <a:pt x="230" y="673"/>
                  </a:lnTo>
                  <a:lnTo>
                    <a:pt x="198" y="669"/>
                  </a:lnTo>
                  <a:lnTo>
                    <a:pt x="221" y="692"/>
                  </a:lnTo>
                  <a:lnTo>
                    <a:pt x="247" y="712"/>
                  </a:lnTo>
                  <a:lnTo>
                    <a:pt x="276" y="731"/>
                  </a:lnTo>
                  <a:lnTo>
                    <a:pt x="306" y="749"/>
                  </a:lnTo>
                  <a:lnTo>
                    <a:pt x="335" y="764"/>
                  </a:lnTo>
                  <a:lnTo>
                    <a:pt x="369" y="779"/>
                  </a:lnTo>
                  <a:lnTo>
                    <a:pt x="401" y="794"/>
                  </a:lnTo>
                  <a:lnTo>
                    <a:pt x="435" y="808"/>
                  </a:lnTo>
                  <a:lnTo>
                    <a:pt x="468" y="819"/>
                  </a:lnTo>
                  <a:lnTo>
                    <a:pt x="502" y="830"/>
                  </a:lnTo>
                  <a:lnTo>
                    <a:pt x="534" y="842"/>
                  </a:lnTo>
                  <a:lnTo>
                    <a:pt x="570" y="857"/>
                  </a:lnTo>
                  <a:lnTo>
                    <a:pt x="603" y="868"/>
                  </a:lnTo>
                  <a:lnTo>
                    <a:pt x="637" y="885"/>
                  </a:lnTo>
                  <a:lnTo>
                    <a:pt x="667" y="901"/>
                  </a:lnTo>
                  <a:lnTo>
                    <a:pt x="700" y="920"/>
                  </a:lnTo>
                  <a:lnTo>
                    <a:pt x="705" y="922"/>
                  </a:lnTo>
                  <a:lnTo>
                    <a:pt x="713" y="925"/>
                  </a:lnTo>
                  <a:lnTo>
                    <a:pt x="723" y="927"/>
                  </a:lnTo>
                  <a:lnTo>
                    <a:pt x="730" y="931"/>
                  </a:lnTo>
                  <a:lnTo>
                    <a:pt x="738" y="933"/>
                  </a:lnTo>
                  <a:lnTo>
                    <a:pt x="745" y="937"/>
                  </a:lnTo>
                  <a:lnTo>
                    <a:pt x="753" y="941"/>
                  </a:lnTo>
                  <a:lnTo>
                    <a:pt x="762" y="946"/>
                  </a:lnTo>
                  <a:lnTo>
                    <a:pt x="770" y="948"/>
                  </a:lnTo>
                  <a:lnTo>
                    <a:pt x="778" y="952"/>
                  </a:lnTo>
                  <a:lnTo>
                    <a:pt x="785" y="956"/>
                  </a:lnTo>
                  <a:lnTo>
                    <a:pt x="793" y="963"/>
                  </a:lnTo>
                  <a:lnTo>
                    <a:pt x="799" y="967"/>
                  </a:lnTo>
                  <a:lnTo>
                    <a:pt x="804" y="973"/>
                  </a:lnTo>
                  <a:lnTo>
                    <a:pt x="810" y="981"/>
                  </a:lnTo>
                  <a:lnTo>
                    <a:pt x="816" y="988"/>
                  </a:lnTo>
                  <a:lnTo>
                    <a:pt x="780" y="977"/>
                  </a:lnTo>
                  <a:lnTo>
                    <a:pt x="745" y="963"/>
                  </a:lnTo>
                  <a:lnTo>
                    <a:pt x="709" y="950"/>
                  </a:lnTo>
                  <a:lnTo>
                    <a:pt x="673" y="937"/>
                  </a:lnTo>
                  <a:lnTo>
                    <a:pt x="637" y="920"/>
                  </a:lnTo>
                  <a:lnTo>
                    <a:pt x="603" y="904"/>
                  </a:lnTo>
                  <a:lnTo>
                    <a:pt x="567" y="891"/>
                  </a:lnTo>
                  <a:lnTo>
                    <a:pt x="531" y="878"/>
                  </a:lnTo>
                  <a:lnTo>
                    <a:pt x="494" y="861"/>
                  </a:lnTo>
                  <a:lnTo>
                    <a:pt x="460" y="849"/>
                  </a:lnTo>
                  <a:lnTo>
                    <a:pt x="426" y="838"/>
                  </a:lnTo>
                  <a:lnTo>
                    <a:pt x="392" y="828"/>
                  </a:lnTo>
                  <a:lnTo>
                    <a:pt x="356" y="821"/>
                  </a:lnTo>
                  <a:lnTo>
                    <a:pt x="321" y="815"/>
                  </a:lnTo>
                  <a:lnTo>
                    <a:pt x="287" y="813"/>
                  </a:lnTo>
                  <a:lnTo>
                    <a:pt x="255" y="815"/>
                  </a:lnTo>
                  <a:lnTo>
                    <a:pt x="287" y="832"/>
                  </a:lnTo>
                  <a:lnTo>
                    <a:pt x="323" y="847"/>
                  </a:lnTo>
                  <a:lnTo>
                    <a:pt x="359" y="865"/>
                  </a:lnTo>
                  <a:lnTo>
                    <a:pt x="396" y="882"/>
                  </a:lnTo>
                  <a:lnTo>
                    <a:pt x="432" y="897"/>
                  </a:lnTo>
                  <a:lnTo>
                    <a:pt x="468" y="912"/>
                  </a:lnTo>
                  <a:lnTo>
                    <a:pt x="504" y="927"/>
                  </a:lnTo>
                  <a:lnTo>
                    <a:pt x="542" y="944"/>
                  </a:lnTo>
                  <a:lnTo>
                    <a:pt x="578" y="960"/>
                  </a:lnTo>
                  <a:lnTo>
                    <a:pt x="614" y="975"/>
                  </a:lnTo>
                  <a:lnTo>
                    <a:pt x="650" y="990"/>
                  </a:lnTo>
                  <a:lnTo>
                    <a:pt x="686" y="1009"/>
                  </a:lnTo>
                  <a:lnTo>
                    <a:pt x="723" y="1026"/>
                  </a:lnTo>
                  <a:lnTo>
                    <a:pt x="759" y="1047"/>
                  </a:lnTo>
                  <a:lnTo>
                    <a:pt x="795" y="1066"/>
                  </a:lnTo>
                  <a:lnTo>
                    <a:pt x="829" y="1089"/>
                  </a:lnTo>
                  <a:lnTo>
                    <a:pt x="797" y="1079"/>
                  </a:lnTo>
                  <a:lnTo>
                    <a:pt x="764" y="1070"/>
                  </a:lnTo>
                  <a:lnTo>
                    <a:pt x="732" y="1058"/>
                  </a:lnTo>
                  <a:lnTo>
                    <a:pt x="700" y="1049"/>
                  </a:lnTo>
                  <a:lnTo>
                    <a:pt x="667" y="1036"/>
                  </a:lnTo>
                  <a:lnTo>
                    <a:pt x="635" y="1026"/>
                  </a:lnTo>
                  <a:lnTo>
                    <a:pt x="603" y="1013"/>
                  </a:lnTo>
                  <a:lnTo>
                    <a:pt x="570" y="1003"/>
                  </a:lnTo>
                  <a:lnTo>
                    <a:pt x="534" y="990"/>
                  </a:lnTo>
                  <a:lnTo>
                    <a:pt x="504" y="981"/>
                  </a:lnTo>
                  <a:lnTo>
                    <a:pt x="468" y="969"/>
                  </a:lnTo>
                  <a:lnTo>
                    <a:pt x="437" y="962"/>
                  </a:lnTo>
                  <a:lnTo>
                    <a:pt x="401" y="952"/>
                  </a:lnTo>
                  <a:lnTo>
                    <a:pt x="369" y="944"/>
                  </a:lnTo>
                  <a:lnTo>
                    <a:pt x="335" y="937"/>
                  </a:lnTo>
                  <a:lnTo>
                    <a:pt x="302" y="933"/>
                  </a:lnTo>
                  <a:lnTo>
                    <a:pt x="335" y="954"/>
                  </a:lnTo>
                  <a:lnTo>
                    <a:pt x="369" y="973"/>
                  </a:lnTo>
                  <a:lnTo>
                    <a:pt x="405" y="992"/>
                  </a:lnTo>
                  <a:lnTo>
                    <a:pt x="441" y="1011"/>
                  </a:lnTo>
                  <a:lnTo>
                    <a:pt x="477" y="1026"/>
                  </a:lnTo>
                  <a:lnTo>
                    <a:pt x="513" y="1043"/>
                  </a:lnTo>
                  <a:lnTo>
                    <a:pt x="550" y="1060"/>
                  </a:lnTo>
                  <a:lnTo>
                    <a:pt x="589" y="1077"/>
                  </a:lnTo>
                  <a:lnTo>
                    <a:pt x="624" y="1093"/>
                  </a:lnTo>
                  <a:lnTo>
                    <a:pt x="660" y="1110"/>
                  </a:lnTo>
                  <a:lnTo>
                    <a:pt x="696" y="1125"/>
                  </a:lnTo>
                  <a:lnTo>
                    <a:pt x="732" y="1144"/>
                  </a:lnTo>
                  <a:lnTo>
                    <a:pt x="766" y="1161"/>
                  </a:lnTo>
                  <a:lnTo>
                    <a:pt x="801" y="1182"/>
                  </a:lnTo>
                  <a:lnTo>
                    <a:pt x="833" y="1205"/>
                  </a:lnTo>
                  <a:lnTo>
                    <a:pt x="865" y="1228"/>
                  </a:lnTo>
                  <a:lnTo>
                    <a:pt x="823" y="1214"/>
                  </a:lnTo>
                  <a:lnTo>
                    <a:pt x="783" y="1201"/>
                  </a:lnTo>
                  <a:lnTo>
                    <a:pt x="743" y="1188"/>
                  </a:lnTo>
                  <a:lnTo>
                    <a:pt x="704" y="1173"/>
                  </a:lnTo>
                  <a:lnTo>
                    <a:pt x="664" y="1155"/>
                  </a:lnTo>
                  <a:lnTo>
                    <a:pt x="624" y="1140"/>
                  </a:lnTo>
                  <a:lnTo>
                    <a:pt x="584" y="1125"/>
                  </a:lnTo>
                  <a:lnTo>
                    <a:pt x="544" y="1110"/>
                  </a:lnTo>
                  <a:lnTo>
                    <a:pt x="504" y="1093"/>
                  </a:lnTo>
                  <a:lnTo>
                    <a:pt x="464" y="1077"/>
                  </a:lnTo>
                  <a:lnTo>
                    <a:pt x="424" y="1062"/>
                  </a:lnTo>
                  <a:lnTo>
                    <a:pt x="386" y="1047"/>
                  </a:lnTo>
                  <a:lnTo>
                    <a:pt x="344" y="1032"/>
                  </a:lnTo>
                  <a:lnTo>
                    <a:pt x="304" y="1020"/>
                  </a:lnTo>
                  <a:lnTo>
                    <a:pt x="264" y="1007"/>
                  </a:lnTo>
                  <a:lnTo>
                    <a:pt x="224" y="998"/>
                  </a:lnTo>
                  <a:lnTo>
                    <a:pt x="257" y="1013"/>
                  </a:lnTo>
                  <a:lnTo>
                    <a:pt x="289" y="1030"/>
                  </a:lnTo>
                  <a:lnTo>
                    <a:pt x="321" y="1047"/>
                  </a:lnTo>
                  <a:lnTo>
                    <a:pt x="356" y="1064"/>
                  </a:lnTo>
                  <a:lnTo>
                    <a:pt x="388" y="1079"/>
                  </a:lnTo>
                  <a:lnTo>
                    <a:pt x="424" y="1096"/>
                  </a:lnTo>
                  <a:lnTo>
                    <a:pt x="456" y="1112"/>
                  </a:lnTo>
                  <a:lnTo>
                    <a:pt x="491" y="1129"/>
                  </a:lnTo>
                  <a:lnTo>
                    <a:pt x="525" y="1142"/>
                  </a:lnTo>
                  <a:lnTo>
                    <a:pt x="559" y="1159"/>
                  </a:lnTo>
                  <a:lnTo>
                    <a:pt x="593" y="1174"/>
                  </a:lnTo>
                  <a:lnTo>
                    <a:pt x="629" y="1192"/>
                  </a:lnTo>
                  <a:lnTo>
                    <a:pt x="662" y="1207"/>
                  </a:lnTo>
                  <a:lnTo>
                    <a:pt x="696" y="1224"/>
                  </a:lnTo>
                  <a:lnTo>
                    <a:pt x="730" y="1241"/>
                  </a:lnTo>
                  <a:lnTo>
                    <a:pt x="764" y="1262"/>
                  </a:lnTo>
                  <a:lnTo>
                    <a:pt x="728" y="1254"/>
                  </a:lnTo>
                  <a:lnTo>
                    <a:pt x="694" y="1247"/>
                  </a:lnTo>
                  <a:lnTo>
                    <a:pt x="660" y="1237"/>
                  </a:lnTo>
                  <a:lnTo>
                    <a:pt x="629" y="1228"/>
                  </a:lnTo>
                  <a:lnTo>
                    <a:pt x="595" y="1214"/>
                  </a:lnTo>
                  <a:lnTo>
                    <a:pt x="563" y="1203"/>
                  </a:lnTo>
                  <a:lnTo>
                    <a:pt x="531" y="1190"/>
                  </a:lnTo>
                  <a:lnTo>
                    <a:pt x="500" y="1176"/>
                  </a:lnTo>
                  <a:lnTo>
                    <a:pt x="468" y="1161"/>
                  </a:lnTo>
                  <a:lnTo>
                    <a:pt x="437" y="1148"/>
                  </a:lnTo>
                  <a:lnTo>
                    <a:pt x="405" y="1133"/>
                  </a:lnTo>
                  <a:lnTo>
                    <a:pt x="375" y="1121"/>
                  </a:lnTo>
                  <a:lnTo>
                    <a:pt x="342" y="1106"/>
                  </a:lnTo>
                  <a:lnTo>
                    <a:pt x="312" y="1095"/>
                  </a:lnTo>
                  <a:lnTo>
                    <a:pt x="280" y="1085"/>
                  </a:lnTo>
                  <a:lnTo>
                    <a:pt x="247" y="1076"/>
                  </a:lnTo>
                  <a:lnTo>
                    <a:pt x="245" y="1087"/>
                  </a:lnTo>
                  <a:lnTo>
                    <a:pt x="249" y="1098"/>
                  </a:lnTo>
                  <a:lnTo>
                    <a:pt x="245" y="1102"/>
                  </a:lnTo>
                  <a:lnTo>
                    <a:pt x="240" y="1102"/>
                  </a:lnTo>
                  <a:lnTo>
                    <a:pt x="243" y="1112"/>
                  </a:lnTo>
                  <a:lnTo>
                    <a:pt x="247" y="1125"/>
                  </a:lnTo>
                  <a:lnTo>
                    <a:pt x="283" y="1138"/>
                  </a:lnTo>
                  <a:lnTo>
                    <a:pt x="319" y="1152"/>
                  </a:lnTo>
                  <a:lnTo>
                    <a:pt x="358" y="1167"/>
                  </a:lnTo>
                  <a:lnTo>
                    <a:pt x="394" y="1182"/>
                  </a:lnTo>
                  <a:lnTo>
                    <a:pt x="430" y="1195"/>
                  </a:lnTo>
                  <a:lnTo>
                    <a:pt x="468" y="1211"/>
                  </a:lnTo>
                  <a:lnTo>
                    <a:pt x="504" y="1224"/>
                  </a:lnTo>
                  <a:lnTo>
                    <a:pt x="542" y="1241"/>
                  </a:lnTo>
                  <a:lnTo>
                    <a:pt x="578" y="1254"/>
                  </a:lnTo>
                  <a:lnTo>
                    <a:pt x="614" y="1271"/>
                  </a:lnTo>
                  <a:lnTo>
                    <a:pt x="650" y="1287"/>
                  </a:lnTo>
                  <a:lnTo>
                    <a:pt x="686" y="1306"/>
                  </a:lnTo>
                  <a:lnTo>
                    <a:pt x="723" y="1323"/>
                  </a:lnTo>
                  <a:lnTo>
                    <a:pt x="759" y="1344"/>
                  </a:lnTo>
                  <a:lnTo>
                    <a:pt x="795" y="1365"/>
                  </a:lnTo>
                  <a:lnTo>
                    <a:pt x="829" y="1389"/>
                  </a:lnTo>
                  <a:lnTo>
                    <a:pt x="829" y="1391"/>
                  </a:lnTo>
                  <a:lnTo>
                    <a:pt x="787" y="1378"/>
                  </a:lnTo>
                  <a:lnTo>
                    <a:pt x="745" y="1366"/>
                  </a:lnTo>
                  <a:lnTo>
                    <a:pt x="704" y="1353"/>
                  </a:lnTo>
                  <a:lnTo>
                    <a:pt x="664" y="1340"/>
                  </a:lnTo>
                  <a:lnTo>
                    <a:pt x="622" y="1327"/>
                  </a:lnTo>
                  <a:lnTo>
                    <a:pt x="580" y="1313"/>
                  </a:lnTo>
                  <a:lnTo>
                    <a:pt x="540" y="1300"/>
                  </a:lnTo>
                  <a:lnTo>
                    <a:pt x="500" y="1287"/>
                  </a:lnTo>
                  <a:lnTo>
                    <a:pt x="456" y="1271"/>
                  </a:lnTo>
                  <a:lnTo>
                    <a:pt x="415" y="1258"/>
                  </a:lnTo>
                  <a:lnTo>
                    <a:pt x="375" y="1243"/>
                  </a:lnTo>
                  <a:lnTo>
                    <a:pt x="335" y="1230"/>
                  </a:lnTo>
                  <a:lnTo>
                    <a:pt x="291" y="1214"/>
                  </a:lnTo>
                  <a:lnTo>
                    <a:pt x="249" y="1201"/>
                  </a:lnTo>
                  <a:lnTo>
                    <a:pt x="209" y="1188"/>
                  </a:lnTo>
                  <a:lnTo>
                    <a:pt x="169" y="1176"/>
                  </a:lnTo>
                  <a:lnTo>
                    <a:pt x="160" y="1100"/>
                  </a:lnTo>
                  <a:lnTo>
                    <a:pt x="152" y="1024"/>
                  </a:lnTo>
                  <a:lnTo>
                    <a:pt x="143" y="950"/>
                  </a:lnTo>
                  <a:lnTo>
                    <a:pt x="133" y="876"/>
                  </a:lnTo>
                  <a:lnTo>
                    <a:pt x="122" y="802"/>
                  </a:lnTo>
                  <a:lnTo>
                    <a:pt x="112" y="728"/>
                  </a:lnTo>
                  <a:lnTo>
                    <a:pt x="101" y="654"/>
                  </a:lnTo>
                  <a:lnTo>
                    <a:pt x="91" y="581"/>
                  </a:lnTo>
                  <a:lnTo>
                    <a:pt x="80" y="507"/>
                  </a:lnTo>
                  <a:lnTo>
                    <a:pt x="67" y="435"/>
                  </a:lnTo>
                  <a:lnTo>
                    <a:pt x="55" y="361"/>
                  </a:lnTo>
                  <a:lnTo>
                    <a:pt x="44" y="289"/>
                  </a:lnTo>
                  <a:lnTo>
                    <a:pt x="32" y="216"/>
                  </a:lnTo>
                  <a:lnTo>
                    <a:pt x="21" y="144"/>
                  </a:lnTo>
                  <a:lnTo>
                    <a:pt x="10" y="72"/>
                  </a:lnTo>
                  <a:lnTo>
                    <a:pt x="0" y="0"/>
                  </a:lnTo>
                  <a:close/>
                </a:path>
              </a:pathLst>
            </a:custGeom>
            <a:solidFill>
              <a:srgbClr val="E6B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70" name="Freeform 82"/>
            <p:cNvSpPr>
              <a:spLocks/>
            </p:cNvSpPr>
            <p:nvPr/>
          </p:nvSpPr>
          <p:spPr bwMode="auto">
            <a:xfrm>
              <a:off x="4044" y="2990"/>
              <a:ext cx="79" cy="84"/>
            </a:xfrm>
            <a:custGeom>
              <a:avLst/>
              <a:gdLst>
                <a:gd name="T0" fmla="*/ 1 w 158"/>
                <a:gd name="T1" fmla="*/ 0 h 167"/>
                <a:gd name="T2" fmla="*/ 1 w 158"/>
                <a:gd name="T3" fmla="*/ 0 h 167"/>
                <a:gd name="T4" fmla="*/ 1 w 158"/>
                <a:gd name="T5" fmla="*/ 0 h 167"/>
                <a:gd name="T6" fmla="*/ 1 w 158"/>
                <a:gd name="T7" fmla="*/ 1 h 167"/>
                <a:gd name="T8" fmla="*/ 1 w 158"/>
                <a:gd name="T9" fmla="*/ 1 h 167"/>
                <a:gd name="T10" fmla="*/ 1 w 158"/>
                <a:gd name="T11" fmla="*/ 1 h 167"/>
                <a:gd name="T12" fmla="*/ 1 w 158"/>
                <a:gd name="T13" fmla="*/ 1 h 167"/>
                <a:gd name="T14" fmla="*/ 1 w 158"/>
                <a:gd name="T15" fmla="*/ 1 h 167"/>
                <a:gd name="T16" fmla="*/ 1 w 158"/>
                <a:gd name="T17" fmla="*/ 1 h 167"/>
                <a:gd name="T18" fmla="*/ 1 w 158"/>
                <a:gd name="T19" fmla="*/ 1 h 167"/>
                <a:gd name="T20" fmla="*/ 1 w 158"/>
                <a:gd name="T21" fmla="*/ 1 h 167"/>
                <a:gd name="T22" fmla="*/ 1 w 158"/>
                <a:gd name="T23" fmla="*/ 1 h 167"/>
                <a:gd name="T24" fmla="*/ 1 w 158"/>
                <a:gd name="T25" fmla="*/ 1 h 167"/>
                <a:gd name="T26" fmla="*/ 1 w 158"/>
                <a:gd name="T27" fmla="*/ 1 h 167"/>
                <a:gd name="T28" fmla="*/ 1 w 158"/>
                <a:gd name="T29" fmla="*/ 1 h 167"/>
                <a:gd name="T30" fmla="*/ 1 w 158"/>
                <a:gd name="T31" fmla="*/ 1 h 167"/>
                <a:gd name="T32" fmla="*/ 1 w 158"/>
                <a:gd name="T33" fmla="*/ 1 h 167"/>
                <a:gd name="T34" fmla="*/ 1 w 158"/>
                <a:gd name="T35" fmla="*/ 1 h 167"/>
                <a:gd name="T36" fmla="*/ 0 w 158"/>
                <a:gd name="T37" fmla="*/ 1 h 167"/>
                <a:gd name="T38" fmla="*/ 0 w 158"/>
                <a:gd name="T39" fmla="*/ 1 h 167"/>
                <a:gd name="T40" fmla="*/ 1 w 158"/>
                <a:gd name="T41" fmla="*/ 1 h 167"/>
                <a:gd name="T42" fmla="*/ 1 w 158"/>
                <a:gd name="T43" fmla="*/ 1 h 167"/>
                <a:gd name="T44" fmla="*/ 1 w 158"/>
                <a:gd name="T45" fmla="*/ 1 h 167"/>
                <a:gd name="T46" fmla="*/ 1 w 158"/>
                <a:gd name="T47" fmla="*/ 1 h 167"/>
                <a:gd name="T48" fmla="*/ 1 w 158"/>
                <a:gd name="T49" fmla="*/ 1 h 167"/>
                <a:gd name="T50" fmla="*/ 1 w 158"/>
                <a:gd name="T51" fmla="*/ 1 h 167"/>
                <a:gd name="T52" fmla="*/ 1 w 158"/>
                <a:gd name="T53" fmla="*/ 1 h 167"/>
                <a:gd name="T54" fmla="*/ 1 w 158"/>
                <a:gd name="T55" fmla="*/ 1 h 167"/>
                <a:gd name="T56" fmla="*/ 1 w 158"/>
                <a:gd name="T57" fmla="*/ 1 h 167"/>
                <a:gd name="T58" fmla="*/ 1 w 158"/>
                <a:gd name="T59" fmla="*/ 1 h 167"/>
                <a:gd name="T60" fmla="*/ 1 w 158"/>
                <a:gd name="T61" fmla="*/ 1 h 167"/>
                <a:gd name="T62" fmla="*/ 1 w 158"/>
                <a:gd name="T63" fmla="*/ 1 h 167"/>
                <a:gd name="T64" fmla="*/ 1 w 158"/>
                <a:gd name="T65" fmla="*/ 1 h 167"/>
                <a:gd name="T66" fmla="*/ 1 w 158"/>
                <a:gd name="T67" fmla="*/ 1 h 167"/>
                <a:gd name="T68" fmla="*/ 1 w 158"/>
                <a:gd name="T69" fmla="*/ 1 h 167"/>
                <a:gd name="T70" fmla="*/ 1 w 158"/>
                <a:gd name="T71" fmla="*/ 1 h 167"/>
                <a:gd name="T72" fmla="*/ 1 w 158"/>
                <a:gd name="T73" fmla="*/ 1 h 167"/>
                <a:gd name="T74" fmla="*/ 1 w 158"/>
                <a:gd name="T75" fmla="*/ 1 h 167"/>
                <a:gd name="T76" fmla="*/ 1 w 158"/>
                <a:gd name="T77" fmla="*/ 1 h 167"/>
                <a:gd name="T78" fmla="*/ 1 w 158"/>
                <a:gd name="T79" fmla="*/ 1 h 167"/>
                <a:gd name="T80" fmla="*/ 1 w 158"/>
                <a:gd name="T81" fmla="*/ 0 h 167"/>
                <a:gd name="T82" fmla="*/ 1 w 158"/>
                <a:gd name="T83" fmla="*/ 0 h 16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58"/>
                <a:gd name="T127" fmla="*/ 0 h 167"/>
                <a:gd name="T128" fmla="*/ 158 w 158"/>
                <a:gd name="T129" fmla="*/ 167 h 16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58" h="167">
                  <a:moveTo>
                    <a:pt x="150" y="0"/>
                  </a:moveTo>
                  <a:lnTo>
                    <a:pt x="154" y="0"/>
                  </a:lnTo>
                  <a:lnTo>
                    <a:pt x="158" y="0"/>
                  </a:lnTo>
                  <a:lnTo>
                    <a:pt x="146" y="11"/>
                  </a:lnTo>
                  <a:lnTo>
                    <a:pt x="137" y="23"/>
                  </a:lnTo>
                  <a:lnTo>
                    <a:pt x="127" y="36"/>
                  </a:lnTo>
                  <a:lnTo>
                    <a:pt x="118" y="49"/>
                  </a:lnTo>
                  <a:lnTo>
                    <a:pt x="108" y="63"/>
                  </a:lnTo>
                  <a:lnTo>
                    <a:pt x="99" y="76"/>
                  </a:lnTo>
                  <a:lnTo>
                    <a:pt x="88" y="89"/>
                  </a:lnTo>
                  <a:lnTo>
                    <a:pt x="78" y="102"/>
                  </a:lnTo>
                  <a:lnTo>
                    <a:pt x="69" y="112"/>
                  </a:lnTo>
                  <a:lnTo>
                    <a:pt x="61" y="121"/>
                  </a:lnTo>
                  <a:lnTo>
                    <a:pt x="51" y="129"/>
                  </a:lnTo>
                  <a:lnTo>
                    <a:pt x="42" y="139"/>
                  </a:lnTo>
                  <a:lnTo>
                    <a:pt x="30" y="144"/>
                  </a:lnTo>
                  <a:lnTo>
                    <a:pt x="21" y="152"/>
                  </a:lnTo>
                  <a:lnTo>
                    <a:pt x="10" y="159"/>
                  </a:lnTo>
                  <a:lnTo>
                    <a:pt x="0" y="167"/>
                  </a:lnTo>
                  <a:lnTo>
                    <a:pt x="0" y="158"/>
                  </a:lnTo>
                  <a:lnTo>
                    <a:pt x="4" y="148"/>
                  </a:lnTo>
                  <a:lnTo>
                    <a:pt x="8" y="137"/>
                  </a:lnTo>
                  <a:lnTo>
                    <a:pt x="13" y="129"/>
                  </a:lnTo>
                  <a:lnTo>
                    <a:pt x="17" y="118"/>
                  </a:lnTo>
                  <a:lnTo>
                    <a:pt x="25" y="108"/>
                  </a:lnTo>
                  <a:lnTo>
                    <a:pt x="32" y="101"/>
                  </a:lnTo>
                  <a:lnTo>
                    <a:pt x="40" y="93"/>
                  </a:lnTo>
                  <a:lnTo>
                    <a:pt x="44" y="85"/>
                  </a:lnTo>
                  <a:lnTo>
                    <a:pt x="51" y="76"/>
                  </a:lnTo>
                  <a:lnTo>
                    <a:pt x="55" y="70"/>
                  </a:lnTo>
                  <a:lnTo>
                    <a:pt x="63" y="64"/>
                  </a:lnTo>
                  <a:lnTo>
                    <a:pt x="76" y="51"/>
                  </a:lnTo>
                  <a:lnTo>
                    <a:pt x="91" y="40"/>
                  </a:lnTo>
                  <a:lnTo>
                    <a:pt x="97" y="34"/>
                  </a:lnTo>
                  <a:lnTo>
                    <a:pt x="105" y="28"/>
                  </a:lnTo>
                  <a:lnTo>
                    <a:pt x="112" y="23"/>
                  </a:lnTo>
                  <a:lnTo>
                    <a:pt x="120" y="17"/>
                  </a:lnTo>
                  <a:lnTo>
                    <a:pt x="127" y="13"/>
                  </a:lnTo>
                  <a:lnTo>
                    <a:pt x="135" y="7"/>
                  </a:lnTo>
                  <a:lnTo>
                    <a:pt x="143" y="4"/>
                  </a:lnTo>
                  <a:lnTo>
                    <a:pt x="1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71" name="Freeform 83"/>
            <p:cNvSpPr>
              <a:spLocks/>
            </p:cNvSpPr>
            <p:nvPr/>
          </p:nvSpPr>
          <p:spPr bwMode="auto">
            <a:xfrm>
              <a:off x="4211" y="2998"/>
              <a:ext cx="128" cy="263"/>
            </a:xfrm>
            <a:custGeom>
              <a:avLst/>
              <a:gdLst>
                <a:gd name="T0" fmla="*/ 1 w 254"/>
                <a:gd name="T1" fmla="*/ 1 h 525"/>
                <a:gd name="T2" fmla="*/ 1 w 254"/>
                <a:gd name="T3" fmla="*/ 1 h 525"/>
                <a:gd name="T4" fmla="*/ 1 w 254"/>
                <a:gd name="T5" fmla="*/ 1 h 525"/>
                <a:gd name="T6" fmla="*/ 1 w 254"/>
                <a:gd name="T7" fmla="*/ 1 h 525"/>
                <a:gd name="T8" fmla="*/ 1 w 254"/>
                <a:gd name="T9" fmla="*/ 1 h 525"/>
                <a:gd name="T10" fmla="*/ 1 w 254"/>
                <a:gd name="T11" fmla="*/ 1 h 525"/>
                <a:gd name="T12" fmla="*/ 1 w 254"/>
                <a:gd name="T13" fmla="*/ 1 h 525"/>
                <a:gd name="T14" fmla="*/ 1 w 254"/>
                <a:gd name="T15" fmla="*/ 1 h 525"/>
                <a:gd name="T16" fmla="*/ 1 w 254"/>
                <a:gd name="T17" fmla="*/ 1 h 525"/>
                <a:gd name="T18" fmla="*/ 1 w 254"/>
                <a:gd name="T19" fmla="*/ 1 h 525"/>
                <a:gd name="T20" fmla="*/ 1 w 254"/>
                <a:gd name="T21" fmla="*/ 2 h 525"/>
                <a:gd name="T22" fmla="*/ 1 w 254"/>
                <a:gd name="T23" fmla="*/ 2 h 525"/>
                <a:gd name="T24" fmla="*/ 1 w 254"/>
                <a:gd name="T25" fmla="*/ 2 h 525"/>
                <a:gd name="T26" fmla="*/ 1 w 254"/>
                <a:gd name="T27" fmla="*/ 2 h 525"/>
                <a:gd name="T28" fmla="*/ 1 w 254"/>
                <a:gd name="T29" fmla="*/ 2 h 525"/>
                <a:gd name="T30" fmla="*/ 1 w 254"/>
                <a:gd name="T31" fmla="*/ 2 h 525"/>
                <a:gd name="T32" fmla="*/ 1 w 254"/>
                <a:gd name="T33" fmla="*/ 3 h 525"/>
                <a:gd name="T34" fmla="*/ 1 w 254"/>
                <a:gd name="T35" fmla="*/ 2 h 525"/>
                <a:gd name="T36" fmla="*/ 1 w 254"/>
                <a:gd name="T37" fmla="*/ 2 h 525"/>
                <a:gd name="T38" fmla="*/ 1 w 254"/>
                <a:gd name="T39" fmla="*/ 2 h 525"/>
                <a:gd name="T40" fmla="*/ 1 w 254"/>
                <a:gd name="T41" fmla="*/ 2 h 525"/>
                <a:gd name="T42" fmla="*/ 1 w 254"/>
                <a:gd name="T43" fmla="*/ 2 h 525"/>
                <a:gd name="T44" fmla="*/ 1 w 254"/>
                <a:gd name="T45" fmla="*/ 2 h 525"/>
                <a:gd name="T46" fmla="*/ 1 w 254"/>
                <a:gd name="T47" fmla="*/ 2 h 525"/>
                <a:gd name="T48" fmla="*/ 0 w 254"/>
                <a:gd name="T49" fmla="*/ 2 h 525"/>
                <a:gd name="T50" fmla="*/ 1 w 254"/>
                <a:gd name="T51" fmla="*/ 1 h 525"/>
                <a:gd name="T52" fmla="*/ 1 w 254"/>
                <a:gd name="T53" fmla="*/ 1 h 525"/>
                <a:gd name="T54" fmla="*/ 1 w 254"/>
                <a:gd name="T55" fmla="*/ 1 h 525"/>
                <a:gd name="T56" fmla="*/ 1 w 254"/>
                <a:gd name="T57" fmla="*/ 1 h 525"/>
                <a:gd name="T58" fmla="*/ 1 w 254"/>
                <a:gd name="T59" fmla="*/ 1 h 525"/>
                <a:gd name="T60" fmla="*/ 1 w 254"/>
                <a:gd name="T61" fmla="*/ 1 h 525"/>
                <a:gd name="T62" fmla="*/ 1 w 254"/>
                <a:gd name="T63" fmla="*/ 1 h 525"/>
                <a:gd name="T64" fmla="*/ 1 w 254"/>
                <a:gd name="T65" fmla="*/ 0 h 52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54"/>
                <a:gd name="T100" fmla="*/ 0 h 525"/>
                <a:gd name="T101" fmla="*/ 254 w 254"/>
                <a:gd name="T102" fmla="*/ 525 h 52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54" h="525">
                  <a:moveTo>
                    <a:pt x="207" y="0"/>
                  </a:moveTo>
                  <a:lnTo>
                    <a:pt x="226" y="9"/>
                  </a:lnTo>
                  <a:lnTo>
                    <a:pt x="243" y="19"/>
                  </a:lnTo>
                  <a:lnTo>
                    <a:pt x="251" y="28"/>
                  </a:lnTo>
                  <a:lnTo>
                    <a:pt x="254" y="40"/>
                  </a:lnTo>
                  <a:lnTo>
                    <a:pt x="253" y="51"/>
                  </a:lnTo>
                  <a:lnTo>
                    <a:pt x="247" y="61"/>
                  </a:lnTo>
                  <a:lnTo>
                    <a:pt x="239" y="72"/>
                  </a:lnTo>
                  <a:lnTo>
                    <a:pt x="230" y="85"/>
                  </a:lnTo>
                  <a:lnTo>
                    <a:pt x="216" y="95"/>
                  </a:lnTo>
                  <a:lnTo>
                    <a:pt x="205" y="108"/>
                  </a:lnTo>
                  <a:lnTo>
                    <a:pt x="194" y="120"/>
                  </a:lnTo>
                  <a:lnTo>
                    <a:pt x="180" y="131"/>
                  </a:lnTo>
                  <a:lnTo>
                    <a:pt x="169" y="144"/>
                  </a:lnTo>
                  <a:lnTo>
                    <a:pt x="161" y="158"/>
                  </a:lnTo>
                  <a:lnTo>
                    <a:pt x="156" y="171"/>
                  </a:lnTo>
                  <a:lnTo>
                    <a:pt x="154" y="184"/>
                  </a:lnTo>
                  <a:lnTo>
                    <a:pt x="140" y="203"/>
                  </a:lnTo>
                  <a:lnTo>
                    <a:pt x="131" y="224"/>
                  </a:lnTo>
                  <a:lnTo>
                    <a:pt x="123" y="243"/>
                  </a:lnTo>
                  <a:lnTo>
                    <a:pt x="118" y="266"/>
                  </a:lnTo>
                  <a:lnTo>
                    <a:pt x="112" y="287"/>
                  </a:lnTo>
                  <a:lnTo>
                    <a:pt x="110" y="308"/>
                  </a:lnTo>
                  <a:lnTo>
                    <a:pt x="108" y="329"/>
                  </a:lnTo>
                  <a:lnTo>
                    <a:pt x="108" y="352"/>
                  </a:lnTo>
                  <a:lnTo>
                    <a:pt x="108" y="373"/>
                  </a:lnTo>
                  <a:lnTo>
                    <a:pt x="110" y="395"/>
                  </a:lnTo>
                  <a:lnTo>
                    <a:pt x="110" y="416"/>
                  </a:lnTo>
                  <a:lnTo>
                    <a:pt x="114" y="439"/>
                  </a:lnTo>
                  <a:lnTo>
                    <a:pt x="116" y="460"/>
                  </a:lnTo>
                  <a:lnTo>
                    <a:pt x="118" y="481"/>
                  </a:lnTo>
                  <a:lnTo>
                    <a:pt x="118" y="504"/>
                  </a:lnTo>
                  <a:lnTo>
                    <a:pt x="121" y="525"/>
                  </a:lnTo>
                  <a:lnTo>
                    <a:pt x="110" y="517"/>
                  </a:lnTo>
                  <a:lnTo>
                    <a:pt x="99" y="509"/>
                  </a:lnTo>
                  <a:lnTo>
                    <a:pt x="89" y="500"/>
                  </a:lnTo>
                  <a:lnTo>
                    <a:pt x="81" y="490"/>
                  </a:lnTo>
                  <a:lnTo>
                    <a:pt x="72" y="479"/>
                  </a:lnTo>
                  <a:lnTo>
                    <a:pt x="64" y="468"/>
                  </a:lnTo>
                  <a:lnTo>
                    <a:pt x="57" y="454"/>
                  </a:lnTo>
                  <a:lnTo>
                    <a:pt x="51" y="441"/>
                  </a:lnTo>
                  <a:lnTo>
                    <a:pt x="45" y="426"/>
                  </a:lnTo>
                  <a:lnTo>
                    <a:pt x="40" y="412"/>
                  </a:lnTo>
                  <a:lnTo>
                    <a:pt x="34" y="397"/>
                  </a:lnTo>
                  <a:lnTo>
                    <a:pt x="28" y="384"/>
                  </a:lnTo>
                  <a:lnTo>
                    <a:pt x="21" y="369"/>
                  </a:lnTo>
                  <a:lnTo>
                    <a:pt x="15" y="355"/>
                  </a:lnTo>
                  <a:lnTo>
                    <a:pt x="9" y="344"/>
                  </a:lnTo>
                  <a:lnTo>
                    <a:pt x="3" y="333"/>
                  </a:lnTo>
                  <a:lnTo>
                    <a:pt x="0" y="306"/>
                  </a:lnTo>
                  <a:lnTo>
                    <a:pt x="2" y="277"/>
                  </a:lnTo>
                  <a:lnTo>
                    <a:pt x="3" y="251"/>
                  </a:lnTo>
                  <a:lnTo>
                    <a:pt x="9" y="226"/>
                  </a:lnTo>
                  <a:lnTo>
                    <a:pt x="15" y="203"/>
                  </a:lnTo>
                  <a:lnTo>
                    <a:pt x="24" y="181"/>
                  </a:lnTo>
                  <a:lnTo>
                    <a:pt x="36" y="158"/>
                  </a:lnTo>
                  <a:lnTo>
                    <a:pt x="51" y="137"/>
                  </a:lnTo>
                  <a:lnTo>
                    <a:pt x="64" y="116"/>
                  </a:lnTo>
                  <a:lnTo>
                    <a:pt x="81" y="97"/>
                  </a:lnTo>
                  <a:lnTo>
                    <a:pt x="99" y="78"/>
                  </a:lnTo>
                  <a:lnTo>
                    <a:pt x="118" y="61"/>
                  </a:lnTo>
                  <a:lnTo>
                    <a:pt x="138" y="44"/>
                  </a:lnTo>
                  <a:lnTo>
                    <a:pt x="159" y="28"/>
                  </a:lnTo>
                  <a:lnTo>
                    <a:pt x="182" y="13"/>
                  </a:lnTo>
                  <a:lnTo>
                    <a:pt x="207" y="0"/>
                  </a:lnTo>
                  <a:close/>
                </a:path>
              </a:pathLst>
            </a:custGeom>
            <a:solidFill>
              <a:srgbClr val="F59E9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72" name="Freeform 84"/>
            <p:cNvSpPr>
              <a:spLocks/>
            </p:cNvSpPr>
            <p:nvPr/>
          </p:nvSpPr>
          <p:spPr bwMode="auto">
            <a:xfrm>
              <a:off x="4543" y="3017"/>
              <a:ext cx="147" cy="174"/>
            </a:xfrm>
            <a:custGeom>
              <a:avLst/>
              <a:gdLst>
                <a:gd name="T0" fmla="*/ 0 w 295"/>
                <a:gd name="T1" fmla="*/ 1 h 348"/>
                <a:gd name="T2" fmla="*/ 0 w 295"/>
                <a:gd name="T3" fmla="*/ 1 h 348"/>
                <a:gd name="T4" fmla="*/ 0 w 295"/>
                <a:gd name="T5" fmla="*/ 1 h 348"/>
                <a:gd name="T6" fmla="*/ 0 w 295"/>
                <a:gd name="T7" fmla="*/ 1 h 348"/>
                <a:gd name="T8" fmla="*/ 0 w 295"/>
                <a:gd name="T9" fmla="*/ 1 h 348"/>
                <a:gd name="T10" fmla="*/ 1 w 295"/>
                <a:gd name="T11" fmla="*/ 1 h 348"/>
                <a:gd name="T12" fmla="*/ 1 w 295"/>
                <a:gd name="T13" fmla="*/ 2 h 348"/>
                <a:gd name="T14" fmla="*/ 1 w 295"/>
                <a:gd name="T15" fmla="*/ 2 h 348"/>
                <a:gd name="T16" fmla="*/ 1 w 295"/>
                <a:gd name="T17" fmla="*/ 2 h 348"/>
                <a:gd name="T18" fmla="*/ 1 w 295"/>
                <a:gd name="T19" fmla="*/ 2 h 348"/>
                <a:gd name="T20" fmla="*/ 0 w 295"/>
                <a:gd name="T21" fmla="*/ 2 h 348"/>
                <a:gd name="T22" fmla="*/ 0 w 295"/>
                <a:gd name="T23" fmla="*/ 2 h 348"/>
                <a:gd name="T24" fmla="*/ 0 w 295"/>
                <a:gd name="T25" fmla="*/ 2 h 348"/>
                <a:gd name="T26" fmla="*/ 0 w 295"/>
                <a:gd name="T27" fmla="*/ 2 h 348"/>
                <a:gd name="T28" fmla="*/ 0 w 295"/>
                <a:gd name="T29" fmla="*/ 2 h 348"/>
                <a:gd name="T30" fmla="*/ 0 w 295"/>
                <a:gd name="T31" fmla="*/ 2 h 348"/>
                <a:gd name="T32" fmla="*/ 0 w 295"/>
                <a:gd name="T33" fmla="*/ 2 h 348"/>
                <a:gd name="T34" fmla="*/ 0 w 295"/>
                <a:gd name="T35" fmla="*/ 2 h 348"/>
                <a:gd name="T36" fmla="*/ 0 w 295"/>
                <a:gd name="T37" fmla="*/ 2 h 348"/>
                <a:gd name="T38" fmla="*/ 0 w 295"/>
                <a:gd name="T39" fmla="*/ 1 h 348"/>
                <a:gd name="T40" fmla="*/ 0 w 295"/>
                <a:gd name="T41" fmla="*/ 1 h 348"/>
                <a:gd name="T42" fmla="*/ 0 w 295"/>
                <a:gd name="T43" fmla="*/ 1 h 348"/>
                <a:gd name="T44" fmla="*/ 0 w 295"/>
                <a:gd name="T45" fmla="*/ 1 h 348"/>
                <a:gd name="T46" fmla="*/ 0 w 295"/>
                <a:gd name="T47" fmla="*/ 1 h 348"/>
                <a:gd name="T48" fmla="*/ 0 w 295"/>
                <a:gd name="T49" fmla="*/ 1 h 348"/>
                <a:gd name="T50" fmla="*/ 0 w 295"/>
                <a:gd name="T51" fmla="*/ 1 h 348"/>
                <a:gd name="T52" fmla="*/ 0 w 295"/>
                <a:gd name="T53" fmla="*/ 1 h 348"/>
                <a:gd name="T54" fmla="*/ 0 w 295"/>
                <a:gd name="T55" fmla="*/ 1 h 348"/>
                <a:gd name="T56" fmla="*/ 0 w 295"/>
                <a:gd name="T57" fmla="*/ 1 h 348"/>
                <a:gd name="T58" fmla="*/ 0 w 295"/>
                <a:gd name="T59" fmla="*/ 1 h 348"/>
                <a:gd name="T60" fmla="*/ 0 w 295"/>
                <a:gd name="T61" fmla="*/ 1 h 348"/>
                <a:gd name="T62" fmla="*/ 0 w 295"/>
                <a:gd name="T63" fmla="*/ 1 h 348"/>
                <a:gd name="T64" fmla="*/ 0 w 295"/>
                <a:gd name="T65" fmla="*/ 1 h 348"/>
                <a:gd name="T66" fmla="*/ 0 w 295"/>
                <a:gd name="T67" fmla="*/ 1 h 348"/>
                <a:gd name="T68" fmla="*/ 0 w 295"/>
                <a:gd name="T69" fmla="*/ 1 h 348"/>
                <a:gd name="T70" fmla="*/ 0 w 295"/>
                <a:gd name="T71" fmla="*/ 2 h 348"/>
                <a:gd name="T72" fmla="*/ 0 w 295"/>
                <a:gd name="T73" fmla="*/ 2 h 348"/>
                <a:gd name="T74" fmla="*/ 0 w 295"/>
                <a:gd name="T75" fmla="*/ 2 h 348"/>
                <a:gd name="T76" fmla="*/ 0 w 295"/>
                <a:gd name="T77" fmla="*/ 2 h 348"/>
                <a:gd name="T78" fmla="*/ 0 w 295"/>
                <a:gd name="T79" fmla="*/ 2 h 348"/>
                <a:gd name="T80" fmla="*/ 0 w 295"/>
                <a:gd name="T81" fmla="*/ 1 h 348"/>
                <a:gd name="T82" fmla="*/ 0 w 295"/>
                <a:gd name="T83" fmla="*/ 1 h 348"/>
                <a:gd name="T84" fmla="*/ 0 w 295"/>
                <a:gd name="T85" fmla="*/ 1 h 348"/>
                <a:gd name="T86" fmla="*/ 0 w 295"/>
                <a:gd name="T87" fmla="*/ 1 h 348"/>
                <a:gd name="T88" fmla="*/ 0 w 295"/>
                <a:gd name="T89" fmla="*/ 1 h 348"/>
                <a:gd name="T90" fmla="*/ 0 w 295"/>
                <a:gd name="T91" fmla="*/ 1 h 348"/>
                <a:gd name="T92" fmla="*/ 0 w 295"/>
                <a:gd name="T93" fmla="*/ 1 h 348"/>
                <a:gd name="T94" fmla="*/ 0 w 295"/>
                <a:gd name="T95" fmla="*/ 1 h 348"/>
                <a:gd name="T96" fmla="*/ 0 w 295"/>
                <a:gd name="T97" fmla="*/ 1 h 348"/>
                <a:gd name="T98" fmla="*/ 0 w 295"/>
                <a:gd name="T99" fmla="*/ 1 h 348"/>
                <a:gd name="T100" fmla="*/ 0 w 295"/>
                <a:gd name="T101" fmla="*/ 1 h 348"/>
                <a:gd name="T102" fmla="*/ 0 w 295"/>
                <a:gd name="T103" fmla="*/ 1 h 348"/>
                <a:gd name="T104" fmla="*/ 0 w 295"/>
                <a:gd name="T105" fmla="*/ 1 h 348"/>
                <a:gd name="T106" fmla="*/ 0 w 295"/>
                <a:gd name="T107" fmla="*/ 1 h 348"/>
                <a:gd name="T108" fmla="*/ 0 w 295"/>
                <a:gd name="T109" fmla="*/ 1 h 348"/>
                <a:gd name="T110" fmla="*/ 0 w 295"/>
                <a:gd name="T111" fmla="*/ 1 h 348"/>
                <a:gd name="T112" fmla="*/ 0 w 295"/>
                <a:gd name="T113" fmla="*/ 0 h 348"/>
                <a:gd name="T114" fmla="*/ 0 w 295"/>
                <a:gd name="T115" fmla="*/ 0 h 34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95"/>
                <a:gd name="T175" fmla="*/ 0 h 348"/>
                <a:gd name="T176" fmla="*/ 295 w 295"/>
                <a:gd name="T177" fmla="*/ 348 h 34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95" h="348">
                  <a:moveTo>
                    <a:pt x="71" y="0"/>
                  </a:moveTo>
                  <a:lnTo>
                    <a:pt x="88" y="15"/>
                  </a:lnTo>
                  <a:lnTo>
                    <a:pt x="109" y="30"/>
                  </a:lnTo>
                  <a:lnTo>
                    <a:pt x="130" y="47"/>
                  </a:lnTo>
                  <a:lnTo>
                    <a:pt x="149" y="66"/>
                  </a:lnTo>
                  <a:lnTo>
                    <a:pt x="168" y="85"/>
                  </a:lnTo>
                  <a:lnTo>
                    <a:pt x="187" y="106"/>
                  </a:lnTo>
                  <a:lnTo>
                    <a:pt x="204" y="125"/>
                  </a:lnTo>
                  <a:lnTo>
                    <a:pt x="221" y="148"/>
                  </a:lnTo>
                  <a:lnTo>
                    <a:pt x="234" y="169"/>
                  </a:lnTo>
                  <a:lnTo>
                    <a:pt x="247" y="192"/>
                  </a:lnTo>
                  <a:lnTo>
                    <a:pt x="259" y="215"/>
                  </a:lnTo>
                  <a:lnTo>
                    <a:pt x="272" y="238"/>
                  </a:lnTo>
                  <a:lnTo>
                    <a:pt x="280" y="262"/>
                  </a:lnTo>
                  <a:lnTo>
                    <a:pt x="287" y="285"/>
                  </a:lnTo>
                  <a:lnTo>
                    <a:pt x="291" y="312"/>
                  </a:lnTo>
                  <a:lnTo>
                    <a:pt x="295" y="338"/>
                  </a:lnTo>
                  <a:lnTo>
                    <a:pt x="285" y="346"/>
                  </a:lnTo>
                  <a:lnTo>
                    <a:pt x="272" y="348"/>
                  </a:lnTo>
                  <a:lnTo>
                    <a:pt x="259" y="344"/>
                  </a:lnTo>
                  <a:lnTo>
                    <a:pt x="246" y="338"/>
                  </a:lnTo>
                  <a:lnTo>
                    <a:pt x="236" y="331"/>
                  </a:lnTo>
                  <a:lnTo>
                    <a:pt x="232" y="323"/>
                  </a:lnTo>
                  <a:lnTo>
                    <a:pt x="230" y="319"/>
                  </a:lnTo>
                  <a:lnTo>
                    <a:pt x="232" y="316"/>
                  </a:lnTo>
                  <a:lnTo>
                    <a:pt x="236" y="312"/>
                  </a:lnTo>
                  <a:lnTo>
                    <a:pt x="244" y="312"/>
                  </a:lnTo>
                  <a:lnTo>
                    <a:pt x="244" y="310"/>
                  </a:lnTo>
                  <a:lnTo>
                    <a:pt x="244" y="308"/>
                  </a:lnTo>
                  <a:lnTo>
                    <a:pt x="232" y="304"/>
                  </a:lnTo>
                  <a:lnTo>
                    <a:pt x="223" y="300"/>
                  </a:lnTo>
                  <a:lnTo>
                    <a:pt x="213" y="296"/>
                  </a:lnTo>
                  <a:lnTo>
                    <a:pt x="206" y="295"/>
                  </a:lnTo>
                  <a:lnTo>
                    <a:pt x="196" y="289"/>
                  </a:lnTo>
                  <a:lnTo>
                    <a:pt x="190" y="285"/>
                  </a:lnTo>
                  <a:lnTo>
                    <a:pt x="183" y="281"/>
                  </a:lnTo>
                  <a:lnTo>
                    <a:pt x="179" y="276"/>
                  </a:lnTo>
                  <a:lnTo>
                    <a:pt x="173" y="270"/>
                  </a:lnTo>
                  <a:lnTo>
                    <a:pt x="169" y="264"/>
                  </a:lnTo>
                  <a:lnTo>
                    <a:pt x="166" y="255"/>
                  </a:lnTo>
                  <a:lnTo>
                    <a:pt x="166" y="247"/>
                  </a:lnTo>
                  <a:lnTo>
                    <a:pt x="164" y="236"/>
                  </a:lnTo>
                  <a:lnTo>
                    <a:pt x="164" y="226"/>
                  </a:lnTo>
                  <a:lnTo>
                    <a:pt x="164" y="213"/>
                  </a:lnTo>
                  <a:lnTo>
                    <a:pt x="168" y="200"/>
                  </a:lnTo>
                  <a:lnTo>
                    <a:pt x="164" y="192"/>
                  </a:lnTo>
                  <a:lnTo>
                    <a:pt x="164" y="184"/>
                  </a:lnTo>
                  <a:lnTo>
                    <a:pt x="160" y="177"/>
                  </a:lnTo>
                  <a:lnTo>
                    <a:pt x="156" y="169"/>
                  </a:lnTo>
                  <a:lnTo>
                    <a:pt x="147" y="156"/>
                  </a:lnTo>
                  <a:lnTo>
                    <a:pt x="137" y="144"/>
                  </a:lnTo>
                  <a:lnTo>
                    <a:pt x="128" y="131"/>
                  </a:lnTo>
                  <a:lnTo>
                    <a:pt x="116" y="120"/>
                  </a:lnTo>
                  <a:lnTo>
                    <a:pt x="107" y="106"/>
                  </a:lnTo>
                  <a:lnTo>
                    <a:pt x="99" y="93"/>
                  </a:lnTo>
                  <a:lnTo>
                    <a:pt x="93" y="103"/>
                  </a:lnTo>
                  <a:lnTo>
                    <a:pt x="93" y="112"/>
                  </a:lnTo>
                  <a:lnTo>
                    <a:pt x="93" y="122"/>
                  </a:lnTo>
                  <a:lnTo>
                    <a:pt x="97" y="133"/>
                  </a:lnTo>
                  <a:lnTo>
                    <a:pt x="101" y="143"/>
                  </a:lnTo>
                  <a:lnTo>
                    <a:pt x="103" y="154"/>
                  </a:lnTo>
                  <a:lnTo>
                    <a:pt x="107" y="165"/>
                  </a:lnTo>
                  <a:lnTo>
                    <a:pt x="111" y="175"/>
                  </a:lnTo>
                  <a:lnTo>
                    <a:pt x="101" y="179"/>
                  </a:lnTo>
                  <a:lnTo>
                    <a:pt x="97" y="186"/>
                  </a:lnTo>
                  <a:lnTo>
                    <a:pt x="99" y="196"/>
                  </a:lnTo>
                  <a:lnTo>
                    <a:pt x="103" y="209"/>
                  </a:lnTo>
                  <a:lnTo>
                    <a:pt x="107" y="220"/>
                  </a:lnTo>
                  <a:lnTo>
                    <a:pt x="111" y="232"/>
                  </a:lnTo>
                  <a:lnTo>
                    <a:pt x="111" y="245"/>
                  </a:lnTo>
                  <a:lnTo>
                    <a:pt x="111" y="257"/>
                  </a:lnTo>
                  <a:lnTo>
                    <a:pt x="101" y="258"/>
                  </a:lnTo>
                  <a:lnTo>
                    <a:pt x="93" y="260"/>
                  </a:lnTo>
                  <a:lnTo>
                    <a:pt x="84" y="264"/>
                  </a:lnTo>
                  <a:lnTo>
                    <a:pt x="76" y="266"/>
                  </a:lnTo>
                  <a:lnTo>
                    <a:pt x="67" y="268"/>
                  </a:lnTo>
                  <a:lnTo>
                    <a:pt x="57" y="270"/>
                  </a:lnTo>
                  <a:lnTo>
                    <a:pt x="48" y="272"/>
                  </a:lnTo>
                  <a:lnTo>
                    <a:pt x="38" y="272"/>
                  </a:lnTo>
                  <a:lnTo>
                    <a:pt x="34" y="260"/>
                  </a:lnTo>
                  <a:lnTo>
                    <a:pt x="31" y="249"/>
                  </a:lnTo>
                  <a:lnTo>
                    <a:pt x="25" y="239"/>
                  </a:lnTo>
                  <a:lnTo>
                    <a:pt x="21" y="230"/>
                  </a:lnTo>
                  <a:lnTo>
                    <a:pt x="15" y="219"/>
                  </a:lnTo>
                  <a:lnTo>
                    <a:pt x="10" y="209"/>
                  </a:lnTo>
                  <a:lnTo>
                    <a:pt x="6" y="198"/>
                  </a:lnTo>
                  <a:lnTo>
                    <a:pt x="4" y="188"/>
                  </a:lnTo>
                  <a:lnTo>
                    <a:pt x="0" y="179"/>
                  </a:lnTo>
                  <a:lnTo>
                    <a:pt x="0" y="169"/>
                  </a:lnTo>
                  <a:lnTo>
                    <a:pt x="0" y="160"/>
                  </a:lnTo>
                  <a:lnTo>
                    <a:pt x="4" y="154"/>
                  </a:lnTo>
                  <a:lnTo>
                    <a:pt x="8" y="146"/>
                  </a:lnTo>
                  <a:lnTo>
                    <a:pt x="15" y="139"/>
                  </a:lnTo>
                  <a:lnTo>
                    <a:pt x="25" y="133"/>
                  </a:lnTo>
                  <a:lnTo>
                    <a:pt x="38" y="129"/>
                  </a:lnTo>
                  <a:lnTo>
                    <a:pt x="38" y="122"/>
                  </a:lnTo>
                  <a:lnTo>
                    <a:pt x="38" y="114"/>
                  </a:lnTo>
                  <a:lnTo>
                    <a:pt x="38" y="106"/>
                  </a:lnTo>
                  <a:lnTo>
                    <a:pt x="40" y="99"/>
                  </a:lnTo>
                  <a:lnTo>
                    <a:pt x="40" y="91"/>
                  </a:lnTo>
                  <a:lnTo>
                    <a:pt x="40" y="84"/>
                  </a:lnTo>
                  <a:lnTo>
                    <a:pt x="42" y="76"/>
                  </a:lnTo>
                  <a:lnTo>
                    <a:pt x="44" y="70"/>
                  </a:lnTo>
                  <a:lnTo>
                    <a:pt x="48" y="55"/>
                  </a:lnTo>
                  <a:lnTo>
                    <a:pt x="50" y="42"/>
                  </a:lnTo>
                  <a:lnTo>
                    <a:pt x="52" y="30"/>
                  </a:lnTo>
                  <a:lnTo>
                    <a:pt x="53" y="21"/>
                  </a:lnTo>
                  <a:lnTo>
                    <a:pt x="46" y="17"/>
                  </a:lnTo>
                  <a:lnTo>
                    <a:pt x="44" y="13"/>
                  </a:lnTo>
                  <a:lnTo>
                    <a:pt x="44" y="11"/>
                  </a:lnTo>
                  <a:lnTo>
                    <a:pt x="48" y="8"/>
                  </a:lnTo>
                  <a:lnTo>
                    <a:pt x="52" y="4"/>
                  </a:lnTo>
                  <a:lnTo>
                    <a:pt x="57" y="2"/>
                  </a:lnTo>
                  <a:lnTo>
                    <a:pt x="63" y="0"/>
                  </a:lnTo>
                  <a:lnTo>
                    <a:pt x="71" y="0"/>
                  </a:lnTo>
                  <a:close/>
                </a:path>
              </a:pathLst>
            </a:custGeom>
            <a:solidFill>
              <a:srgbClr val="E6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73" name="Freeform 85"/>
            <p:cNvSpPr>
              <a:spLocks/>
            </p:cNvSpPr>
            <p:nvPr/>
          </p:nvSpPr>
          <p:spPr bwMode="auto">
            <a:xfrm>
              <a:off x="4512" y="3019"/>
              <a:ext cx="32" cy="47"/>
            </a:xfrm>
            <a:custGeom>
              <a:avLst/>
              <a:gdLst>
                <a:gd name="T0" fmla="*/ 1 w 64"/>
                <a:gd name="T1" fmla="*/ 1 h 93"/>
                <a:gd name="T2" fmla="*/ 1 w 64"/>
                <a:gd name="T3" fmla="*/ 0 h 93"/>
                <a:gd name="T4" fmla="*/ 1 w 64"/>
                <a:gd name="T5" fmla="*/ 1 h 93"/>
                <a:gd name="T6" fmla="*/ 1 w 64"/>
                <a:gd name="T7" fmla="*/ 1 h 93"/>
                <a:gd name="T8" fmla="*/ 1 w 64"/>
                <a:gd name="T9" fmla="*/ 1 h 93"/>
                <a:gd name="T10" fmla="*/ 1 w 64"/>
                <a:gd name="T11" fmla="*/ 1 h 93"/>
                <a:gd name="T12" fmla="*/ 1 w 64"/>
                <a:gd name="T13" fmla="*/ 1 h 93"/>
                <a:gd name="T14" fmla="*/ 1 w 64"/>
                <a:gd name="T15" fmla="*/ 1 h 93"/>
                <a:gd name="T16" fmla="*/ 1 w 64"/>
                <a:gd name="T17" fmla="*/ 1 h 93"/>
                <a:gd name="T18" fmla="*/ 1 w 64"/>
                <a:gd name="T19" fmla="*/ 1 h 93"/>
                <a:gd name="T20" fmla="*/ 1 w 64"/>
                <a:gd name="T21" fmla="*/ 1 h 93"/>
                <a:gd name="T22" fmla="*/ 1 w 64"/>
                <a:gd name="T23" fmla="*/ 1 h 93"/>
                <a:gd name="T24" fmla="*/ 1 w 64"/>
                <a:gd name="T25" fmla="*/ 1 h 93"/>
                <a:gd name="T26" fmla="*/ 1 w 64"/>
                <a:gd name="T27" fmla="*/ 1 h 93"/>
                <a:gd name="T28" fmla="*/ 1 w 64"/>
                <a:gd name="T29" fmla="*/ 1 h 93"/>
                <a:gd name="T30" fmla="*/ 1 w 64"/>
                <a:gd name="T31" fmla="*/ 1 h 93"/>
                <a:gd name="T32" fmla="*/ 1 w 64"/>
                <a:gd name="T33" fmla="*/ 1 h 93"/>
                <a:gd name="T34" fmla="*/ 1 w 64"/>
                <a:gd name="T35" fmla="*/ 1 h 93"/>
                <a:gd name="T36" fmla="*/ 1 w 64"/>
                <a:gd name="T37" fmla="*/ 1 h 93"/>
                <a:gd name="T38" fmla="*/ 1 w 64"/>
                <a:gd name="T39" fmla="*/ 1 h 93"/>
                <a:gd name="T40" fmla="*/ 1 w 64"/>
                <a:gd name="T41" fmla="*/ 1 h 93"/>
                <a:gd name="T42" fmla="*/ 0 w 64"/>
                <a:gd name="T43" fmla="*/ 1 h 93"/>
                <a:gd name="T44" fmla="*/ 0 w 64"/>
                <a:gd name="T45" fmla="*/ 1 h 93"/>
                <a:gd name="T46" fmla="*/ 0 w 64"/>
                <a:gd name="T47" fmla="*/ 1 h 93"/>
                <a:gd name="T48" fmla="*/ 0 w 64"/>
                <a:gd name="T49" fmla="*/ 1 h 93"/>
                <a:gd name="T50" fmla="*/ 1 w 64"/>
                <a:gd name="T51" fmla="*/ 1 h 93"/>
                <a:gd name="T52" fmla="*/ 1 w 64"/>
                <a:gd name="T53" fmla="*/ 1 h 93"/>
                <a:gd name="T54" fmla="*/ 1 w 64"/>
                <a:gd name="T55" fmla="*/ 1 h 93"/>
                <a:gd name="T56" fmla="*/ 1 w 64"/>
                <a:gd name="T57" fmla="*/ 1 h 93"/>
                <a:gd name="T58" fmla="*/ 1 w 64"/>
                <a:gd name="T59" fmla="*/ 1 h 93"/>
                <a:gd name="T60" fmla="*/ 1 w 64"/>
                <a:gd name="T61" fmla="*/ 1 h 93"/>
                <a:gd name="T62" fmla="*/ 1 w 64"/>
                <a:gd name="T63" fmla="*/ 1 h 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4"/>
                <a:gd name="T97" fmla="*/ 0 h 93"/>
                <a:gd name="T98" fmla="*/ 64 w 64"/>
                <a:gd name="T99" fmla="*/ 93 h 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4" h="93">
                  <a:moveTo>
                    <a:pt x="28" y="2"/>
                  </a:moveTo>
                  <a:lnTo>
                    <a:pt x="36" y="0"/>
                  </a:lnTo>
                  <a:lnTo>
                    <a:pt x="43" y="2"/>
                  </a:lnTo>
                  <a:lnTo>
                    <a:pt x="51" y="5"/>
                  </a:lnTo>
                  <a:lnTo>
                    <a:pt x="57" y="13"/>
                  </a:lnTo>
                  <a:lnTo>
                    <a:pt x="58" y="23"/>
                  </a:lnTo>
                  <a:lnTo>
                    <a:pt x="62" y="32"/>
                  </a:lnTo>
                  <a:lnTo>
                    <a:pt x="62" y="43"/>
                  </a:lnTo>
                  <a:lnTo>
                    <a:pt x="64" y="53"/>
                  </a:lnTo>
                  <a:lnTo>
                    <a:pt x="62" y="62"/>
                  </a:lnTo>
                  <a:lnTo>
                    <a:pt x="60" y="74"/>
                  </a:lnTo>
                  <a:lnTo>
                    <a:pt x="57" y="80"/>
                  </a:lnTo>
                  <a:lnTo>
                    <a:pt x="53" y="89"/>
                  </a:lnTo>
                  <a:lnTo>
                    <a:pt x="45" y="91"/>
                  </a:lnTo>
                  <a:lnTo>
                    <a:pt x="39" y="93"/>
                  </a:lnTo>
                  <a:lnTo>
                    <a:pt x="34" y="89"/>
                  </a:lnTo>
                  <a:lnTo>
                    <a:pt x="28" y="83"/>
                  </a:lnTo>
                  <a:lnTo>
                    <a:pt x="19" y="85"/>
                  </a:lnTo>
                  <a:lnTo>
                    <a:pt x="13" y="85"/>
                  </a:lnTo>
                  <a:lnTo>
                    <a:pt x="7" y="85"/>
                  </a:lnTo>
                  <a:lnTo>
                    <a:pt x="3" y="81"/>
                  </a:lnTo>
                  <a:lnTo>
                    <a:pt x="0" y="72"/>
                  </a:lnTo>
                  <a:lnTo>
                    <a:pt x="0" y="61"/>
                  </a:lnTo>
                  <a:lnTo>
                    <a:pt x="0" y="51"/>
                  </a:lnTo>
                  <a:lnTo>
                    <a:pt x="0" y="43"/>
                  </a:lnTo>
                  <a:lnTo>
                    <a:pt x="3" y="36"/>
                  </a:lnTo>
                  <a:lnTo>
                    <a:pt x="7" y="26"/>
                  </a:lnTo>
                  <a:lnTo>
                    <a:pt x="11" y="17"/>
                  </a:lnTo>
                  <a:lnTo>
                    <a:pt x="17" y="11"/>
                  </a:lnTo>
                  <a:lnTo>
                    <a:pt x="20" y="4"/>
                  </a:lnTo>
                  <a:lnTo>
                    <a:pt x="28" y="2"/>
                  </a:lnTo>
                  <a:close/>
                </a:path>
              </a:pathLst>
            </a:custGeom>
            <a:solidFill>
              <a:srgbClr val="E6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74" name="Freeform 86"/>
            <p:cNvSpPr>
              <a:spLocks/>
            </p:cNvSpPr>
            <p:nvPr/>
          </p:nvSpPr>
          <p:spPr bwMode="auto">
            <a:xfrm>
              <a:off x="4126" y="3025"/>
              <a:ext cx="8" cy="23"/>
            </a:xfrm>
            <a:custGeom>
              <a:avLst/>
              <a:gdLst>
                <a:gd name="T0" fmla="*/ 0 w 17"/>
                <a:gd name="T1" fmla="*/ 0 h 46"/>
                <a:gd name="T2" fmla="*/ 0 w 17"/>
                <a:gd name="T3" fmla="*/ 1 h 46"/>
                <a:gd name="T4" fmla="*/ 0 w 17"/>
                <a:gd name="T5" fmla="*/ 1 h 46"/>
                <a:gd name="T6" fmla="*/ 0 w 17"/>
                <a:gd name="T7" fmla="*/ 1 h 46"/>
                <a:gd name="T8" fmla="*/ 0 w 17"/>
                <a:gd name="T9" fmla="*/ 1 h 46"/>
                <a:gd name="T10" fmla="*/ 0 w 17"/>
                <a:gd name="T11" fmla="*/ 1 h 46"/>
                <a:gd name="T12" fmla="*/ 0 w 17"/>
                <a:gd name="T13" fmla="*/ 1 h 46"/>
                <a:gd name="T14" fmla="*/ 0 w 17"/>
                <a:gd name="T15" fmla="*/ 1 h 46"/>
                <a:gd name="T16" fmla="*/ 0 w 17"/>
                <a:gd name="T17" fmla="*/ 1 h 46"/>
                <a:gd name="T18" fmla="*/ 0 w 17"/>
                <a:gd name="T19" fmla="*/ 1 h 46"/>
                <a:gd name="T20" fmla="*/ 0 w 17"/>
                <a:gd name="T21" fmla="*/ 1 h 46"/>
                <a:gd name="T22" fmla="*/ 0 w 17"/>
                <a:gd name="T23" fmla="*/ 1 h 46"/>
                <a:gd name="T24" fmla="*/ 0 w 17"/>
                <a:gd name="T25" fmla="*/ 1 h 46"/>
                <a:gd name="T26" fmla="*/ 0 w 17"/>
                <a:gd name="T27" fmla="*/ 0 h 46"/>
                <a:gd name="T28" fmla="*/ 0 w 17"/>
                <a:gd name="T29" fmla="*/ 0 h 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
                <a:gd name="T46" fmla="*/ 0 h 46"/>
                <a:gd name="T47" fmla="*/ 17 w 17"/>
                <a:gd name="T48" fmla="*/ 46 h 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 h="46">
                  <a:moveTo>
                    <a:pt x="13" y="0"/>
                  </a:moveTo>
                  <a:lnTo>
                    <a:pt x="17" y="10"/>
                  </a:lnTo>
                  <a:lnTo>
                    <a:pt x="13" y="23"/>
                  </a:lnTo>
                  <a:lnTo>
                    <a:pt x="9" y="27"/>
                  </a:lnTo>
                  <a:lnTo>
                    <a:pt x="7" y="32"/>
                  </a:lnTo>
                  <a:lnTo>
                    <a:pt x="7" y="40"/>
                  </a:lnTo>
                  <a:lnTo>
                    <a:pt x="9" y="46"/>
                  </a:lnTo>
                  <a:lnTo>
                    <a:pt x="5" y="46"/>
                  </a:lnTo>
                  <a:lnTo>
                    <a:pt x="1" y="40"/>
                  </a:lnTo>
                  <a:lnTo>
                    <a:pt x="0" y="32"/>
                  </a:lnTo>
                  <a:lnTo>
                    <a:pt x="0" y="27"/>
                  </a:lnTo>
                  <a:lnTo>
                    <a:pt x="0" y="23"/>
                  </a:lnTo>
                  <a:lnTo>
                    <a:pt x="1" y="10"/>
                  </a:lnTo>
                  <a:lnTo>
                    <a:pt x="1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75" name="Freeform 87"/>
            <p:cNvSpPr>
              <a:spLocks/>
            </p:cNvSpPr>
            <p:nvPr/>
          </p:nvSpPr>
          <p:spPr bwMode="auto">
            <a:xfrm>
              <a:off x="4398" y="3032"/>
              <a:ext cx="82" cy="70"/>
            </a:xfrm>
            <a:custGeom>
              <a:avLst/>
              <a:gdLst>
                <a:gd name="T0" fmla="*/ 0 w 166"/>
                <a:gd name="T1" fmla="*/ 0 h 141"/>
                <a:gd name="T2" fmla="*/ 0 w 166"/>
                <a:gd name="T3" fmla="*/ 0 h 141"/>
                <a:gd name="T4" fmla="*/ 0 w 166"/>
                <a:gd name="T5" fmla="*/ 0 h 141"/>
                <a:gd name="T6" fmla="*/ 0 w 166"/>
                <a:gd name="T7" fmla="*/ 0 h 141"/>
                <a:gd name="T8" fmla="*/ 0 w 166"/>
                <a:gd name="T9" fmla="*/ 0 h 141"/>
                <a:gd name="T10" fmla="*/ 0 w 166"/>
                <a:gd name="T11" fmla="*/ 0 h 141"/>
                <a:gd name="T12" fmla="*/ 0 w 166"/>
                <a:gd name="T13" fmla="*/ 0 h 141"/>
                <a:gd name="T14" fmla="*/ 0 w 166"/>
                <a:gd name="T15" fmla="*/ 0 h 141"/>
                <a:gd name="T16" fmla="*/ 0 w 166"/>
                <a:gd name="T17" fmla="*/ 0 h 141"/>
                <a:gd name="T18" fmla="*/ 0 w 166"/>
                <a:gd name="T19" fmla="*/ 0 h 141"/>
                <a:gd name="T20" fmla="*/ 0 w 166"/>
                <a:gd name="T21" fmla="*/ 0 h 141"/>
                <a:gd name="T22" fmla="*/ 0 w 166"/>
                <a:gd name="T23" fmla="*/ 0 h 141"/>
                <a:gd name="T24" fmla="*/ 0 w 166"/>
                <a:gd name="T25" fmla="*/ 0 h 141"/>
                <a:gd name="T26" fmla="*/ 0 w 166"/>
                <a:gd name="T27" fmla="*/ 0 h 141"/>
                <a:gd name="T28" fmla="*/ 0 w 166"/>
                <a:gd name="T29" fmla="*/ 0 h 141"/>
                <a:gd name="T30" fmla="*/ 0 w 166"/>
                <a:gd name="T31" fmla="*/ 0 h 141"/>
                <a:gd name="T32" fmla="*/ 0 w 166"/>
                <a:gd name="T33" fmla="*/ 0 h 141"/>
                <a:gd name="T34" fmla="*/ 0 w 166"/>
                <a:gd name="T35" fmla="*/ 0 h 141"/>
                <a:gd name="T36" fmla="*/ 0 w 166"/>
                <a:gd name="T37" fmla="*/ 0 h 141"/>
                <a:gd name="T38" fmla="*/ 0 w 166"/>
                <a:gd name="T39" fmla="*/ 0 h 141"/>
                <a:gd name="T40" fmla="*/ 0 w 166"/>
                <a:gd name="T41" fmla="*/ 0 h 141"/>
                <a:gd name="T42" fmla="*/ 0 w 166"/>
                <a:gd name="T43" fmla="*/ 0 h 141"/>
                <a:gd name="T44" fmla="*/ 0 w 166"/>
                <a:gd name="T45" fmla="*/ 0 h 141"/>
                <a:gd name="T46" fmla="*/ 0 w 166"/>
                <a:gd name="T47" fmla="*/ 0 h 141"/>
                <a:gd name="T48" fmla="*/ 0 w 166"/>
                <a:gd name="T49" fmla="*/ 0 h 141"/>
                <a:gd name="T50" fmla="*/ 0 w 166"/>
                <a:gd name="T51" fmla="*/ 0 h 141"/>
                <a:gd name="T52" fmla="*/ 0 w 166"/>
                <a:gd name="T53" fmla="*/ 0 h 141"/>
                <a:gd name="T54" fmla="*/ 0 w 166"/>
                <a:gd name="T55" fmla="*/ 0 h 141"/>
                <a:gd name="T56" fmla="*/ 0 w 166"/>
                <a:gd name="T57" fmla="*/ 0 h 141"/>
                <a:gd name="T58" fmla="*/ 0 w 166"/>
                <a:gd name="T59" fmla="*/ 0 h 141"/>
                <a:gd name="T60" fmla="*/ 0 w 166"/>
                <a:gd name="T61" fmla="*/ 0 h 141"/>
                <a:gd name="T62" fmla="*/ 0 w 166"/>
                <a:gd name="T63" fmla="*/ 0 h 141"/>
                <a:gd name="T64" fmla="*/ 0 w 166"/>
                <a:gd name="T65" fmla="*/ 0 h 141"/>
                <a:gd name="T66" fmla="*/ 0 w 166"/>
                <a:gd name="T67" fmla="*/ 0 h 141"/>
                <a:gd name="T68" fmla="*/ 0 w 166"/>
                <a:gd name="T69" fmla="*/ 0 h 141"/>
                <a:gd name="T70" fmla="*/ 0 w 166"/>
                <a:gd name="T71" fmla="*/ 0 h 141"/>
                <a:gd name="T72" fmla="*/ 0 w 166"/>
                <a:gd name="T73" fmla="*/ 0 h 141"/>
                <a:gd name="T74" fmla="*/ 0 w 166"/>
                <a:gd name="T75" fmla="*/ 0 h 141"/>
                <a:gd name="T76" fmla="*/ 0 w 166"/>
                <a:gd name="T77" fmla="*/ 0 h 141"/>
                <a:gd name="T78" fmla="*/ 0 w 166"/>
                <a:gd name="T79" fmla="*/ 0 h 141"/>
                <a:gd name="T80" fmla="*/ 0 w 166"/>
                <a:gd name="T81" fmla="*/ 0 h 141"/>
                <a:gd name="T82" fmla="*/ 0 w 166"/>
                <a:gd name="T83" fmla="*/ 0 h 141"/>
                <a:gd name="T84" fmla="*/ 0 w 166"/>
                <a:gd name="T85" fmla="*/ 0 h 141"/>
                <a:gd name="T86" fmla="*/ 0 w 166"/>
                <a:gd name="T87" fmla="*/ 0 h 141"/>
                <a:gd name="T88" fmla="*/ 0 w 166"/>
                <a:gd name="T89" fmla="*/ 0 h 141"/>
                <a:gd name="T90" fmla="*/ 0 w 166"/>
                <a:gd name="T91" fmla="*/ 0 h 14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66"/>
                <a:gd name="T139" fmla="*/ 0 h 141"/>
                <a:gd name="T140" fmla="*/ 166 w 166"/>
                <a:gd name="T141" fmla="*/ 141 h 14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66" h="141">
                  <a:moveTo>
                    <a:pt x="42" y="0"/>
                  </a:moveTo>
                  <a:lnTo>
                    <a:pt x="52" y="4"/>
                  </a:lnTo>
                  <a:lnTo>
                    <a:pt x="63" y="14"/>
                  </a:lnTo>
                  <a:lnTo>
                    <a:pt x="69" y="23"/>
                  </a:lnTo>
                  <a:lnTo>
                    <a:pt x="75" y="33"/>
                  </a:lnTo>
                  <a:lnTo>
                    <a:pt x="84" y="27"/>
                  </a:lnTo>
                  <a:lnTo>
                    <a:pt x="94" y="27"/>
                  </a:lnTo>
                  <a:lnTo>
                    <a:pt x="105" y="29"/>
                  </a:lnTo>
                  <a:lnTo>
                    <a:pt x="116" y="38"/>
                  </a:lnTo>
                  <a:lnTo>
                    <a:pt x="130" y="42"/>
                  </a:lnTo>
                  <a:lnTo>
                    <a:pt x="141" y="50"/>
                  </a:lnTo>
                  <a:lnTo>
                    <a:pt x="152" y="56"/>
                  </a:lnTo>
                  <a:lnTo>
                    <a:pt x="166" y="59"/>
                  </a:lnTo>
                  <a:lnTo>
                    <a:pt x="162" y="71"/>
                  </a:lnTo>
                  <a:lnTo>
                    <a:pt x="154" y="84"/>
                  </a:lnTo>
                  <a:lnTo>
                    <a:pt x="143" y="95"/>
                  </a:lnTo>
                  <a:lnTo>
                    <a:pt x="130" y="101"/>
                  </a:lnTo>
                  <a:lnTo>
                    <a:pt x="130" y="109"/>
                  </a:lnTo>
                  <a:lnTo>
                    <a:pt x="130" y="120"/>
                  </a:lnTo>
                  <a:lnTo>
                    <a:pt x="130" y="130"/>
                  </a:lnTo>
                  <a:lnTo>
                    <a:pt x="130" y="141"/>
                  </a:lnTo>
                  <a:lnTo>
                    <a:pt x="122" y="137"/>
                  </a:lnTo>
                  <a:lnTo>
                    <a:pt x="116" y="135"/>
                  </a:lnTo>
                  <a:lnTo>
                    <a:pt x="107" y="132"/>
                  </a:lnTo>
                  <a:lnTo>
                    <a:pt x="101" y="130"/>
                  </a:lnTo>
                  <a:lnTo>
                    <a:pt x="94" y="124"/>
                  </a:lnTo>
                  <a:lnTo>
                    <a:pt x="86" y="120"/>
                  </a:lnTo>
                  <a:lnTo>
                    <a:pt x="76" y="116"/>
                  </a:lnTo>
                  <a:lnTo>
                    <a:pt x="71" y="113"/>
                  </a:lnTo>
                  <a:lnTo>
                    <a:pt x="63" y="105"/>
                  </a:lnTo>
                  <a:lnTo>
                    <a:pt x="54" y="101"/>
                  </a:lnTo>
                  <a:lnTo>
                    <a:pt x="46" y="94"/>
                  </a:lnTo>
                  <a:lnTo>
                    <a:pt x="40" y="88"/>
                  </a:lnTo>
                  <a:lnTo>
                    <a:pt x="27" y="76"/>
                  </a:lnTo>
                  <a:lnTo>
                    <a:pt x="16" y="65"/>
                  </a:lnTo>
                  <a:lnTo>
                    <a:pt x="8" y="54"/>
                  </a:lnTo>
                  <a:lnTo>
                    <a:pt x="4" y="44"/>
                  </a:lnTo>
                  <a:lnTo>
                    <a:pt x="0" y="35"/>
                  </a:lnTo>
                  <a:lnTo>
                    <a:pt x="2" y="27"/>
                  </a:lnTo>
                  <a:lnTo>
                    <a:pt x="6" y="18"/>
                  </a:lnTo>
                  <a:lnTo>
                    <a:pt x="14" y="12"/>
                  </a:lnTo>
                  <a:lnTo>
                    <a:pt x="19" y="6"/>
                  </a:lnTo>
                  <a:lnTo>
                    <a:pt x="25" y="4"/>
                  </a:lnTo>
                  <a:lnTo>
                    <a:pt x="31" y="2"/>
                  </a:lnTo>
                  <a:lnTo>
                    <a:pt x="42" y="0"/>
                  </a:lnTo>
                  <a:close/>
                </a:path>
              </a:pathLst>
            </a:custGeom>
            <a:solidFill>
              <a:srgbClr val="E6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76" name="Freeform 88"/>
            <p:cNvSpPr>
              <a:spLocks/>
            </p:cNvSpPr>
            <p:nvPr/>
          </p:nvSpPr>
          <p:spPr bwMode="auto">
            <a:xfrm>
              <a:off x="4308" y="3064"/>
              <a:ext cx="200" cy="228"/>
            </a:xfrm>
            <a:custGeom>
              <a:avLst/>
              <a:gdLst>
                <a:gd name="T0" fmla="*/ 1 w 399"/>
                <a:gd name="T1" fmla="*/ 1 h 456"/>
                <a:gd name="T2" fmla="*/ 1 w 399"/>
                <a:gd name="T3" fmla="*/ 1 h 456"/>
                <a:gd name="T4" fmla="*/ 1 w 399"/>
                <a:gd name="T5" fmla="*/ 1 h 456"/>
                <a:gd name="T6" fmla="*/ 1 w 399"/>
                <a:gd name="T7" fmla="*/ 1 h 456"/>
                <a:gd name="T8" fmla="*/ 2 w 399"/>
                <a:gd name="T9" fmla="*/ 1 h 456"/>
                <a:gd name="T10" fmla="*/ 2 w 399"/>
                <a:gd name="T11" fmla="*/ 1 h 456"/>
                <a:gd name="T12" fmla="*/ 2 w 399"/>
                <a:gd name="T13" fmla="*/ 1 h 456"/>
                <a:gd name="T14" fmla="*/ 2 w 399"/>
                <a:gd name="T15" fmla="*/ 1 h 456"/>
                <a:gd name="T16" fmla="*/ 2 w 399"/>
                <a:gd name="T17" fmla="*/ 1 h 456"/>
                <a:gd name="T18" fmla="*/ 2 w 399"/>
                <a:gd name="T19" fmla="*/ 1 h 456"/>
                <a:gd name="T20" fmla="*/ 2 w 399"/>
                <a:gd name="T21" fmla="*/ 2 h 456"/>
                <a:gd name="T22" fmla="*/ 2 w 399"/>
                <a:gd name="T23" fmla="*/ 2 h 456"/>
                <a:gd name="T24" fmla="*/ 2 w 399"/>
                <a:gd name="T25" fmla="*/ 1 h 456"/>
                <a:gd name="T26" fmla="*/ 2 w 399"/>
                <a:gd name="T27" fmla="*/ 1 h 456"/>
                <a:gd name="T28" fmla="*/ 2 w 399"/>
                <a:gd name="T29" fmla="*/ 1 h 456"/>
                <a:gd name="T30" fmla="*/ 1 w 399"/>
                <a:gd name="T31" fmla="*/ 1 h 456"/>
                <a:gd name="T32" fmla="*/ 1 w 399"/>
                <a:gd name="T33" fmla="*/ 1 h 456"/>
                <a:gd name="T34" fmla="*/ 1 w 399"/>
                <a:gd name="T35" fmla="*/ 1 h 456"/>
                <a:gd name="T36" fmla="*/ 1 w 399"/>
                <a:gd name="T37" fmla="*/ 1 h 456"/>
                <a:gd name="T38" fmla="*/ 2 w 399"/>
                <a:gd name="T39" fmla="*/ 2 h 456"/>
                <a:gd name="T40" fmla="*/ 2 w 399"/>
                <a:gd name="T41" fmla="*/ 2 h 456"/>
                <a:gd name="T42" fmla="*/ 2 w 399"/>
                <a:gd name="T43" fmla="*/ 2 h 456"/>
                <a:gd name="T44" fmla="*/ 2 w 399"/>
                <a:gd name="T45" fmla="*/ 2 h 456"/>
                <a:gd name="T46" fmla="*/ 2 w 399"/>
                <a:gd name="T47" fmla="*/ 2 h 456"/>
                <a:gd name="T48" fmla="*/ 2 w 399"/>
                <a:gd name="T49" fmla="*/ 2 h 456"/>
                <a:gd name="T50" fmla="*/ 2 w 399"/>
                <a:gd name="T51" fmla="*/ 2 h 456"/>
                <a:gd name="T52" fmla="*/ 2 w 399"/>
                <a:gd name="T53" fmla="*/ 2 h 456"/>
                <a:gd name="T54" fmla="*/ 1 w 399"/>
                <a:gd name="T55" fmla="*/ 2 h 456"/>
                <a:gd name="T56" fmla="*/ 1 w 399"/>
                <a:gd name="T57" fmla="*/ 2 h 456"/>
                <a:gd name="T58" fmla="*/ 1 w 399"/>
                <a:gd name="T59" fmla="*/ 2 h 456"/>
                <a:gd name="T60" fmla="*/ 1 w 399"/>
                <a:gd name="T61" fmla="*/ 2 h 456"/>
                <a:gd name="T62" fmla="*/ 1 w 399"/>
                <a:gd name="T63" fmla="*/ 2 h 456"/>
                <a:gd name="T64" fmla="*/ 1 w 399"/>
                <a:gd name="T65" fmla="*/ 2 h 456"/>
                <a:gd name="T66" fmla="*/ 1 w 399"/>
                <a:gd name="T67" fmla="*/ 2 h 456"/>
                <a:gd name="T68" fmla="*/ 1 w 399"/>
                <a:gd name="T69" fmla="*/ 1 h 456"/>
                <a:gd name="T70" fmla="*/ 1 w 399"/>
                <a:gd name="T71" fmla="*/ 1 h 456"/>
                <a:gd name="T72" fmla="*/ 1 w 399"/>
                <a:gd name="T73" fmla="*/ 1 h 456"/>
                <a:gd name="T74" fmla="*/ 1 w 399"/>
                <a:gd name="T75" fmla="*/ 1 h 456"/>
                <a:gd name="T76" fmla="*/ 1 w 399"/>
                <a:gd name="T77" fmla="*/ 1 h 456"/>
                <a:gd name="T78" fmla="*/ 1 w 399"/>
                <a:gd name="T79" fmla="*/ 1 h 456"/>
                <a:gd name="T80" fmla="*/ 1 w 399"/>
                <a:gd name="T81" fmla="*/ 1 h 456"/>
                <a:gd name="T82" fmla="*/ 1 w 399"/>
                <a:gd name="T83" fmla="*/ 1 h 456"/>
                <a:gd name="T84" fmla="*/ 0 w 399"/>
                <a:gd name="T85" fmla="*/ 1 h 456"/>
                <a:gd name="T86" fmla="*/ 1 w 399"/>
                <a:gd name="T87" fmla="*/ 1 h 456"/>
                <a:gd name="T88" fmla="*/ 1 w 399"/>
                <a:gd name="T89" fmla="*/ 1 h 456"/>
                <a:gd name="T90" fmla="*/ 1 w 399"/>
                <a:gd name="T91" fmla="*/ 1 h 456"/>
                <a:gd name="T92" fmla="*/ 1 w 399"/>
                <a:gd name="T93" fmla="*/ 1 h 456"/>
                <a:gd name="T94" fmla="*/ 1 w 399"/>
                <a:gd name="T95" fmla="*/ 1 h 456"/>
                <a:gd name="T96" fmla="*/ 1 w 399"/>
                <a:gd name="T97" fmla="*/ 0 h 45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399"/>
                <a:gd name="T148" fmla="*/ 0 h 456"/>
                <a:gd name="T149" fmla="*/ 399 w 399"/>
                <a:gd name="T150" fmla="*/ 456 h 45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399" h="456">
                  <a:moveTo>
                    <a:pt x="106" y="0"/>
                  </a:moveTo>
                  <a:lnTo>
                    <a:pt x="121" y="0"/>
                  </a:lnTo>
                  <a:lnTo>
                    <a:pt x="137" y="4"/>
                  </a:lnTo>
                  <a:lnTo>
                    <a:pt x="150" y="8"/>
                  </a:lnTo>
                  <a:lnTo>
                    <a:pt x="163" y="15"/>
                  </a:lnTo>
                  <a:lnTo>
                    <a:pt x="175" y="23"/>
                  </a:lnTo>
                  <a:lnTo>
                    <a:pt x="186" y="32"/>
                  </a:lnTo>
                  <a:lnTo>
                    <a:pt x="197" y="42"/>
                  </a:lnTo>
                  <a:lnTo>
                    <a:pt x="207" y="53"/>
                  </a:lnTo>
                  <a:lnTo>
                    <a:pt x="216" y="65"/>
                  </a:lnTo>
                  <a:lnTo>
                    <a:pt x="228" y="76"/>
                  </a:lnTo>
                  <a:lnTo>
                    <a:pt x="237" y="88"/>
                  </a:lnTo>
                  <a:lnTo>
                    <a:pt x="247" y="99"/>
                  </a:lnTo>
                  <a:lnTo>
                    <a:pt x="256" y="108"/>
                  </a:lnTo>
                  <a:lnTo>
                    <a:pt x="268" y="118"/>
                  </a:lnTo>
                  <a:lnTo>
                    <a:pt x="279" y="126"/>
                  </a:lnTo>
                  <a:lnTo>
                    <a:pt x="292" y="135"/>
                  </a:lnTo>
                  <a:lnTo>
                    <a:pt x="291" y="127"/>
                  </a:lnTo>
                  <a:lnTo>
                    <a:pt x="289" y="124"/>
                  </a:lnTo>
                  <a:lnTo>
                    <a:pt x="308" y="108"/>
                  </a:lnTo>
                  <a:lnTo>
                    <a:pt x="325" y="103"/>
                  </a:lnTo>
                  <a:lnTo>
                    <a:pt x="340" y="103"/>
                  </a:lnTo>
                  <a:lnTo>
                    <a:pt x="355" y="108"/>
                  </a:lnTo>
                  <a:lnTo>
                    <a:pt x="367" y="118"/>
                  </a:lnTo>
                  <a:lnTo>
                    <a:pt x="378" y="131"/>
                  </a:lnTo>
                  <a:lnTo>
                    <a:pt x="386" y="146"/>
                  </a:lnTo>
                  <a:lnTo>
                    <a:pt x="393" y="165"/>
                  </a:lnTo>
                  <a:lnTo>
                    <a:pt x="397" y="184"/>
                  </a:lnTo>
                  <a:lnTo>
                    <a:pt x="399" y="205"/>
                  </a:lnTo>
                  <a:lnTo>
                    <a:pt x="397" y="224"/>
                  </a:lnTo>
                  <a:lnTo>
                    <a:pt x="397" y="243"/>
                  </a:lnTo>
                  <a:lnTo>
                    <a:pt x="391" y="261"/>
                  </a:lnTo>
                  <a:lnTo>
                    <a:pt x="386" y="274"/>
                  </a:lnTo>
                  <a:lnTo>
                    <a:pt x="376" y="285"/>
                  </a:lnTo>
                  <a:lnTo>
                    <a:pt x="367" y="293"/>
                  </a:lnTo>
                  <a:lnTo>
                    <a:pt x="357" y="280"/>
                  </a:lnTo>
                  <a:lnTo>
                    <a:pt x="348" y="268"/>
                  </a:lnTo>
                  <a:lnTo>
                    <a:pt x="340" y="255"/>
                  </a:lnTo>
                  <a:lnTo>
                    <a:pt x="330" y="243"/>
                  </a:lnTo>
                  <a:lnTo>
                    <a:pt x="321" y="232"/>
                  </a:lnTo>
                  <a:lnTo>
                    <a:pt x="313" y="219"/>
                  </a:lnTo>
                  <a:lnTo>
                    <a:pt x="304" y="209"/>
                  </a:lnTo>
                  <a:lnTo>
                    <a:pt x="296" y="198"/>
                  </a:lnTo>
                  <a:lnTo>
                    <a:pt x="285" y="186"/>
                  </a:lnTo>
                  <a:lnTo>
                    <a:pt x="275" y="177"/>
                  </a:lnTo>
                  <a:lnTo>
                    <a:pt x="264" y="165"/>
                  </a:lnTo>
                  <a:lnTo>
                    <a:pt x="254" y="158"/>
                  </a:lnTo>
                  <a:lnTo>
                    <a:pt x="243" y="148"/>
                  </a:lnTo>
                  <a:lnTo>
                    <a:pt x="232" y="141"/>
                  </a:lnTo>
                  <a:lnTo>
                    <a:pt x="218" y="133"/>
                  </a:lnTo>
                  <a:lnTo>
                    <a:pt x="207" y="127"/>
                  </a:lnTo>
                  <a:lnTo>
                    <a:pt x="211" y="148"/>
                  </a:lnTo>
                  <a:lnTo>
                    <a:pt x="218" y="167"/>
                  </a:lnTo>
                  <a:lnTo>
                    <a:pt x="224" y="188"/>
                  </a:lnTo>
                  <a:lnTo>
                    <a:pt x="232" y="207"/>
                  </a:lnTo>
                  <a:lnTo>
                    <a:pt x="241" y="226"/>
                  </a:lnTo>
                  <a:lnTo>
                    <a:pt x="249" y="245"/>
                  </a:lnTo>
                  <a:lnTo>
                    <a:pt x="258" y="264"/>
                  </a:lnTo>
                  <a:lnTo>
                    <a:pt x="270" y="283"/>
                  </a:lnTo>
                  <a:lnTo>
                    <a:pt x="281" y="300"/>
                  </a:lnTo>
                  <a:lnTo>
                    <a:pt x="292" y="319"/>
                  </a:lnTo>
                  <a:lnTo>
                    <a:pt x="304" y="337"/>
                  </a:lnTo>
                  <a:lnTo>
                    <a:pt x="317" y="357"/>
                  </a:lnTo>
                  <a:lnTo>
                    <a:pt x="330" y="375"/>
                  </a:lnTo>
                  <a:lnTo>
                    <a:pt x="344" y="394"/>
                  </a:lnTo>
                  <a:lnTo>
                    <a:pt x="357" y="411"/>
                  </a:lnTo>
                  <a:lnTo>
                    <a:pt x="374" y="430"/>
                  </a:lnTo>
                  <a:lnTo>
                    <a:pt x="370" y="432"/>
                  </a:lnTo>
                  <a:lnTo>
                    <a:pt x="370" y="434"/>
                  </a:lnTo>
                  <a:lnTo>
                    <a:pt x="361" y="435"/>
                  </a:lnTo>
                  <a:lnTo>
                    <a:pt x="353" y="439"/>
                  </a:lnTo>
                  <a:lnTo>
                    <a:pt x="346" y="443"/>
                  </a:lnTo>
                  <a:lnTo>
                    <a:pt x="338" y="447"/>
                  </a:lnTo>
                  <a:lnTo>
                    <a:pt x="330" y="451"/>
                  </a:lnTo>
                  <a:lnTo>
                    <a:pt x="321" y="453"/>
                  </a:lnTo>
                  <a:lnTo>
                    <a:pt x="313" y="454"/>
                  </a:lnTo>
                  <a:lnTo>
                    <a:pt x="308" y="456"/>
                  </a:lnTo>
                  <a:lnTo>
                    <a:pt x="298" y="456"/>
                  </a:lnTo>
                  <a:lnTo>
                    <a:pt x="291" y="456"/>
                  </a:lnTo>
                  <a:lnTo>
                    <a:pt x="281" y="454"/>
                  </a:lnTo>
                  <a:lnTo>
                    <a:pt x="273" y="453"/>
                  </a:lnTo>
                  <a:lnTo>
                    <a:pt x="264" y="449"/>
                  </a:lnTo>
                  <a:lnTo>
                    <a:pt x="256" y="445"/>
                  </a:lnTo>
                  <a:lnTo>
                    <a:pt x="249" y="439"/>
                  </a:lnTo>
                  <a:lnTo>
                    <a:pt x="241" y="434"/>
                  </a:lnTo>
                  <a:lnTo>
                    <a:pt x="222" y="430"/>
                  </a:lnTo>
                  <a:lnTo>
                    <a:pt x="209" y="424"/>
                  </a:lnTo>
                  <a:lnTo>
                    <a:pt x="197" y="416"/>
                  </a:lnTo>
                  <a:lnTo>
                    <a:pt x="188" y="407"/>
                  </a:lnTo>
                  <a:lnTo>
                    <a:pt x="180" y="394"/>
                  </a:lnTo>
                  <a:lnTo>
                    <a:pt x="176" y="384"/>
                  </a:lnTo>
                  <a:lnTo>
                    <a:pt x="173" y="371"/>
                  </a:lnTo>
                  <a:lnTo>
                    <a:pt x="169" y="357"/>
                  </a:lnTo>
                  <a:lnTo>
                    <a:pt x="163" y="344"/>
                  </a:lnTo>
                  <a:lnTo>
                    <a:pt x="159" y="331"/>
                  </a:lnTo>
                  <a:lnTo>
                    <a:pt x="154" y="319"/>
                  </a:lnTo>
                  <a:lnTo>
                    <a:pt x="148" y="310"/>
                  </a:lnTo>
                  <a:lnTo>
                    <a:pt x="138" y="300"/>
                  </a:lnTo>
                  <a:lnTo>
                    <a:pt x="127" y="295"/>
                  </a:lnTo>
                  <a:lnTo>
                    <a:pt x="112" y="291"/>
                  </a:lnTo>
                  <a:lnTo>
                    <a:pt x="97" y="291"/>
                  </a:lnTo>
                  <a:lnTo>
                    <a:pt x="91" y="278"/>
                  </a:lnTo>
                  <a:lnTo>
                    <a:pt x="89" y="268"/>
                  </a:lnTo>
                  <a:lnTo>
                    <a:pt x="85" y="255"/>
                  </a:lnTo>
                  <a:lnTo>
                    <a:pt x="85" y="245"/>
                  </a:lnTo>
                  <a:lnTo>
                    <a:pt x="81" y="234"/>
                  </a:lnTo>
                  <a:lnTo>
                    <a:pt x="81" y="223"/>
                  </a:lnTo>
                  <a:lnTo>
                    <a:pt x="81" y="211"/>
                  </a:lnTo>
                  <a:lnTo>
                    <a:pt x="83" y="200"/>
                  </a:lnTo>
                  <a:lnTo>
                    <a:pt x="83" y="188"/>
                  </a:lnTo>
                  <a:lnTo>
                    <a:pt x="83" y="175"/>
                  </a:lnTo>
                  <a:lnTo>
                    <a:pt x="83" y="164"/>
                  </a:lnTo>
                  <a:lnTo>
                    <a:pt x="85" y="152"/>
                  </a:lnTo>
                  <a:lnTo>
                    <a:pt x="85" y="141"/>
                  </a:lnTo>
                  <a:lnTo>
                    <a:pt x="85" y="129"/>
                  </a:lnTo>
                  <a:lnTo>
                    <a:pt x="85" y="118"/>
                  </a:lnTo>
                  <a:lnTo>
                    <a:pt x="87" y="107"/>
                  </a:lnTo>
                  <a:lnTo>
                    <a:pt x="79" y="114"/>
                  </a:lnTo>
                  <a:lnTo>
                    <a:pt x="72" y="122"/>
                  </a:lnTo>
                  <a:lnTo>
                    <a:pt x="62" y="129"/>
                  </a:lnTo>
                  <a:lnTo>
                    <a:pt x="57" y="141"/>
                  </a:lnTo>
                  <a:lnTo>
                    <a:pt x="47" y="150"/>
                  </a:lnTo>
                  <a:lnTo>
                    <a:pt x="40" y="160"/>
                  </a:lnTo>
                  <a:lnTo>
                    <a:pt x="32" y="167"/>
                  </a:lnTo>
                  <a:lnTo>
                    <a:pt x="24" y="175"/>
                  </a:lnTo>
                  <a:lnTo>
                    <a:pt x="11" y="183"/>
                  </a:lnTo>
                  <a:lnTo>
                    <a:pt x="3" y="183"/>
                  </a:lnTo>
                  <a:lnTo>
                    <a:pt x="0" y="175"/>
                  </a:lnTo>
                  <a:lnTo>
                    <a:pt x="0" y="167"/>
                  </a:lnTo>
                  <a:lnTo>
                    <a:pt x="0" y="154"/>
                  </a:lnTo>
                  <a:lnTo>
                    <a:pt x="5" y="137"/>
                  </a:lnTo>
                  <a:lnTo>
                    <a:pt x="7" y="126"/>
                  </a:lnTo>
                  <a:lnTo>
                    <a:pt x="11" y="116"/>
                  </a:lnTo>
                  <a:lnTo>
                    <a:pt x="15" y="107"/>
                  </a:lnTo>
                  <a:lnTo>
                    <a:pt x="21" y="99"/>
                  </a:lnTo>
                  <a:lnTo>
                    <a:pt x="24" y="89"/>
                  </a:lnTo>
                  <a:lnTo>
                    <a:pt x="32" y="80"/>
                  </a:lnTo>
                  <a:lnTo>
                    <a:pt x="36" y="72"/>
                  </a:lnTo>
                  <a:lnTo>
                    <a:pt x="45" y="63"/>
                  </a:lnTo>
                  <a:lnTo>
                    <a:pt x="51" y="55"/>
                  </a:lnTo>
                  <a:lnTo>
                    <a:pt x="59" y="48"/>
                  </a:lnTo>
                  <a:lnTo>
                    <a:pt x="66" y="40"/>
                  </a:lnTo>
                  <a:lnTo>
                    <a:pt x="74" y="30"/>
                  </a:lnTo>
                  <a:lnTo>
                    <a:pt x="81" y="23"/>
                  </a:lnTo>
                  <a:lnTo>
                    <a:pt x="89" y="15"/>
                  </a:lnTo>
                  <a:lnTo>
                    <a:pt x="98" y="8"/>
                  </a:lnTo>
                  <a:lnTo>
                    <a:pt x="106" y="0"/>
                  </a:lnTo>
                  <a:close/>
                </a:path>
              </a:pathLst>
            </a:custGeom>
            <a:solidFill>
              <a:srgbClr val="E6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77" name="Freeform 89"/>
            <p:cNvSpPr>
              <a:spLocks/>
            </p:cNvSpPr>
            <p:nvPr/>
          </p:nvSpPr>
          <p:spPr bwMode="auto">
            <a:xfrm>
              <a:off x="4324" y="3068"/>
              <a:ext cx="567" cy="302"/>
            </a:xfrm>
            <a:custGeom>
              <a:avLst/>
              <a:gdLst>
                <a:gd name="T0" fmla="*/ 4 w 1133"/>
                <a:gd name="T1" fmla="*/ 1 h 604"/>
                <a:gd name="T2" fmla="*/ 4 w 1133"/>
                <a:gd name="T3" fmla="*/ 1 h 604"/>
                <a:gd name="T4" fmla="*/ 5 w 1133"/>
                <a:gd name="T5" fmla="*/ 1 h 604"/>
                <a:gd name="T6" fmla="*/ 5 w 1133"/>
                <a:gd name="T7" fmla="*/ 1 h 604"/>
                <a:gd name="T8" fmla="*/ 5 w 1133"/>
                <a:gd name="T9" fmla="*/ 1 h 604"/>
                <a:gd name="T10" fmla="*/ 5 w 1133"/>
                <a:gd name="T11" fmla="*/ 1 h 604"/>
                <a:gd name="T12" fmla="*/ 4 w 1133"/>
                <a:gd name="T13" fmla="*/ 1 h 604"/>
                <a:gd name="T14" fmla="*/ 4 w 1133"/>
                <a:gd name="T15" fmla="*/ 2 h 604"/>
                <a:gd name="T16" fmla="*/ 4 w 1133"/>
                <a:gd name="T17" fmla="*/ 2 h 604"/>
                <a:gd name="T18" fmla="*/ 4 w 1133"/>
                <a:gd name="T19" fmla="*/ 2 h 604"/>
                <a:gd name="T20" fmla="*/ 3 w 1133"/>
                <a:gd name="T21" fmla="*/ 2 h 604"/>
                <a:gd name="T22" fmla="*/ 3 w 1133"/>
                <a:gd name="T23" fmla="*/ 2 h 604"/>
                <a:gd name="T24" fmla="*/ 3 w 1133"/>
                <a:gd name="T25" fmla="*/ 3 h 604"/>
                <a:gd name="T26" fmla="*/ 2 w 1133"/>
                <a:gd name="T27" fmla="*/ 3 h 604"/>
                <a:gd name="T28" fmla="*/ 2 w 1133"/>
                <a:gd name="T29" fmla="*/ 3 h 604"/>
                <a:gd name="T30" fmla="*/ 1 w 1133"/>
                <a:gd name="T31" fmla="*/ 3 h 604"/>
                <a:gd name="T32" fmla="*/ 1 w 1133"/>
                <a:gd name="T33" fmla="*/ 3 h 604"/>
                <a:gd name="T34" fmla="*/ 1 w 1133"/>
                <a:gd name="T35" fmla="*/ 2 h 604"/>
                <a:gd name="T36" fmla="*/ 1 w 1133"/>
                <a:gd name="T37" fmla="*/ 2 h 604"/>
                <a:gd name="T38" fmla="*/ 1 w 1133"/>
                <a:gd name="T39" fmla="*/ 2 h 604"/>
                <a:gd name="T40" fmla="*/ 1 w 1133"/>
                <a:gd name="T41" fmla="*/ 2 h 604"/>
                <a:gd name="T42" fmla="*/ 2 w 1133"/>
                <a:gd name="T43" fmla="*/ 3 h 604"/>
                <a:gd name="T44" fmla="*/ 2 w 1133"/>
                <a:gd name="T45" fmla="*/ 3 h 604"/>
                <a:gd name="T46" fmla="*/ 2 w 1133"/>
                <a:gd name="T47" fmla="*/ 2 h 604"/>
                <a:gd name="T48" fmla="*/ 3 w 1133"/>
                <a:gd name="T49" fmla="*/ 2 h 604"/>
                <a:gd name="T50" fmla="*/ 2 w 1133"/>
                <a:gd name="T51" fmla="*/ 2 h 604"/>
                <a:gd name="T52" fmla="*/ 2 w 1133"/>
                <a:gd name="T53" fmla="*/ 2 h 604"/>
                <a:gd name="T54" fmla="*/ 2 w 1133"/>
                <a:gd name="T55" fmla="*/ 2 h 604"/>
                <a:gd name="T56" fmla="*/ 2 w 1133"/>
                <a:gd name="T57" fmla="*/ 2 h 604"/>
                <a:gd name="T58" fmla="*/ 2 w 1133"/>
                <a:gd name="T59" fmla="*/ 1 h 604"/>
                <a:gd name="T60" fmla="*/ 3 w 1133"/>
                <a:gd name="T61" fmla="*/ 1 h 604"/>
                <a:gd name="T62" fmla="*/ 3 w 1133"/>
                <a:gd name="T63" fmla="*/ 2 h 604"/>
                <a:gd name="T64" fmla="*/ 3 w 1133"/>
                <a:gd name="T65" fmla="*/ 2 h 604"/>
                <a:gd name="T66" fmla="*/ 4 w 1133"/>
                <a:gd name="T67" fmla="*/ 2 h 604"/>
                <a:gd name="T68" fmla="*/ 4 w 1133"/>
                <a:gd name="T69" fmla="*/ 2 h 604"/>
                <a:gd name="T70" fmla="*/ 4 w 1133"/>
                <a:gd name="T71" fmla="*/ 1 h 604"/>
                <a:gd name="T72" fmla="*/ 4 w 1133"/>
                <a:gd name="T73" fmla="*/ 1 h 604"/>
                <a:gd name="T74" fmla="*/ 4 w 1133"/>
                <a:gd name="T75" fmla="*/ 1 h 604"/>
                <a:gd name="T76" fmla="*/ 4 w 1133"/>
                <a:gd name="T77" fmla="*/ 1 h 604"/>
                <a:gd name="T78" fmla="*/ 4 w 1133"/>
                <a:gd name="T79" fmla="*/ 1 h 604"/>
                <a:gd name="T80" fmla="*/ 4 w 1133"/>
                <a:gd name="T81" fmla="*/ 1 h 604"/>
                <a:gd name="T82" fmla="*/ 4 w 1133"/>
                <a:gd name="T83" fmla="*/ 1 h 604"/>
                <a:gd name="T84" fmla="*/ 4 w 1133"/>
                <a:gd name="T85" fmla="*/ 1 h 604"/>
                <a:gd name="T86" fmla="*/ 4 w 1133"/>
                <a:gd name="T87" fmla="*/ 1 h 604"/>
                <a:gd name="T88" fmla="*/ 4 w 1133"/>
                <a:gd name="T89" fmla="*/ 1 h 604"/>
                <a:gd name="T90" fmla="*/ 4 w 1133"/>
                <a:gd name="T91" fmla="*/ 1 h 604"/>
                <a:gd name="T92" fmla="*/ 4 w 1133"/>
                <a:gd name="T93" fmla="*/ 1 h 604"/>
                <a:gd name="T94" fmla="*/ 4 w 1133"/>
                <a:gd name="T95" fmla="*/ 1 h 604"/>
                <a:gd name="T96" fmla="*/ 3 w 1133"/>
                <a:gd name="T97" fmla="*/ 1 h 604"/>
                <a:gd name="T98" fmla="*/ 3 w 1133"/>
                <a:gd name="T99" fmla="*/ 1 h 604"/>
                <a:gd name="T100" fmla="*/ 3 w 1133"/>
                <a:gd name="T101" fmla="*/ 1 h 604"/>
                <a:gd name="T102" fmla="*/ 4 w 1133"/>
                <a:gd name="T103" fmla="*/ 0 h 60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133"/>
                <a:gd name="T157" fmla="*/ 0 h 604"/>
                <a:gd name="T158" fmla="*/ 1133 w 1133"/>
                <a:gd name="T159" fmla="*/ 604 h 60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133" h="604">
                  <a:moveTo>
                    <a:pt x="793" y="0"/>
                  </a:moveTo>
                  <a:lnTo>
                    <a:pt x="814" y="5"/>
                  </a:lnTo>
                  <a:lnTo>
                    <a:pt x="833" y="15"/>
                  </a:lnTo>
                  <a:lnTo>
                    <a:pt x="854" y="22"/>
                  </a:lnTo>
                  <a:lnTo>
                    <a:pt x="875" y="32"/>
                  </a:lnTo>
                  <a:lnTo>
                    <a:pt x="894" y="42"/>
                  </a:lnTo>
                  <a:lnTo>
                    <a:pt x="914" y="51"/>
                  </a:lnTo>
                  <a:lnTo>
                    <a:pt x="934" y="61"/>
                  </a:lnTo>
                  <a:lnTo>
                    <a:pt x="954" y="72"/>
                  </a:lnTo>
                  <a:lnTo>
                    <a:pt x="975" y="78"/>
                  </a:lnTo>
                  <a:lnTo>
                    <a:pt x="994" y="85"/>
                  </a:lnTo>
                  <a:lnTo>
                    <a:pt x="1017" y="93"/>
                  </a:lnTo>
                  <a:lnTo>
                    <a:pt x="1038" y="100"/>
                  </a:lnTo>
                  <a:lnTo>
                    <a:pt x="1061" y="106"/>
                  </a:lnTo>
                  <a:lnTo>
                    <a:pt x="1084" y="112"/>
                  </a:lnTo>
                  <a:lnTo>
                    <a:pt x="1107" y="116"/>
                  </a:lnTo>
                  <a:lnTo>
                    <a:pt x="1133" y="119"/>
                  </a:lnTo>
                  <a:lnTo>
                    <a:pt x="1131" y="127"/>
                  </a:lnTo>
                  <a:lnTo>
                    <a:pt x="1127" y="135"/>
                  </a:lnTo>
                  <a:lnTo>
                    <a:pt x="1124" y="144"/>
                  </a:lnTo>
                  <a:lnTo>
                    <a:pt x="1122" y="152"/>
                  </a:lnTo>
                  <a:lnTo>
                    <a:pt x="1118" y="157"/>
                  </a:lnTo>
                  <a:lnTo>
                    <a:pt x="1114" y="167"/>
                  </a:lnTo>
                  <a:lnTo>
                    <a:pt x="1110" y="175"/>
                  </a:lnTo>
                  <a:lnTo>
                    <a:pt x="1110" y="184"/>
                  </a:lnTo>
                  <a:lnTo>
                    <a:pt x="1097" y="180"/>
                  </a:lnTo>
                  <a:lnTo>
                    <a:pt x="1086" y="180"/>
                  </a:lnTo>
                  <a:lnTo>
                    <a:pt x="1072" y="180"/>
                  </a:lnTo>
                  <a:lnTo>
                    <a:pt x="1059" y="184"/>
                  </a:lnTo>
                  <a:lnTo>
                    <a:pt x="1044" y="190"/>
                  </a:lnTo>
                  <a:lnTo>
                    <a:pt x="1030" y="197"/>
                  </a:lnTo>
                  <a:lnTo>
                    <a:pt x="1017" y="205"/>
                  </a:lnTo>
                  <a:lnTo>
                    <a:pt x="1004" y="216"/>
                  </a:lnTo>
                  <a:lnTo>
                    <a:pt x="991" y="226"/>
                  </a:lnTo>
                  <a:lnTo>
                    <a:pt x="977" y="237"/>
                  </a:lnTo>
                  <a:lnTo>
                    <a:pt x="964" y="249"/>
                  </a:lnTo>
                  <a:lnTo>
                    <a:pt x="953" y="260"/>
                  </a:lnTo>
                  <a:lnTo>
                    <a:pt x="941" y="273"/>
                  </a:lnTo>
                  <a:lnTo>
                    <a:pt x="930" y="285"/>
                  </a:lnTo>
                  <a:lnTo>
                    <a:pt x="918" y="296"/>
                  </a:lnTo>
                  <a:lnTo>
                    <a:pt x="911" y="308"/>
                  </a:lnTo>
                  <a:lnTo>
                    <a:pt x="899" y="319"/>
                  </a:lnTo>
                  <a:lnTo>
                    <a:pt x="890" y="329"/>
                  </a:lnTo>
                  <a:lnTo>
                    <a:pt x="878" y="338"/>
                  </a:lnTo>
                  <a:lnTo>
                    <a:pt x="869" y="348"/>
                  </a:lnTo>
                  <a:lnTo>
                    <a:pt x="857" y="355"/>
                  </a:lnTo>
                  <a:lnTo>
                    <a:pt x="848" y="363"/>
                  </a:lnTo>
                  <a:lnTo>
                    <a:pt x="837" y="368"/>
                  </a:lnTo>
                  <a:lnTo>
                    <a:pt x="827" y="376"/>
                  </a:lnTo>
                  <a:lnTo>
                    <a:pt x="816" y="380"/>
                  </a:lnTo>
                  <a:lnTo>
                    <a:pt x="802" y="386"/>
                  </a:lnTo>
                  <a:lnTo>
                    <a:pt x="791" y="391"/>
                  </a:lnTo>
                  <a:lnTo>
                    <a:pt x="779" y="397"/>
                  </a:lnTo>
                  <a:lnTo>
                    <a:pt x="768" y="403"/>
                  </a:lnTo>
                  <a:lnTo>
                    <a:pt x="757" y="408"/>
                  </a:lnTo>
                  <a:lnTo>
                    <a:pt x="745" y="418"/>
                  </a:lnTo>
                  <a:lnTo>
                    <a:pt x="736" y="426"/>
                  </a:lnTo>
                  <a:lnTo>
                    <a:pt x="715" y="433"/>
                  </a:lnTo>
                  <a:lnTo>
                    <a:pt x="696" y="445"/>
                  </a:lnTo>
                  <a:lnTo>
                    <a:pt x="675" y="458"/>
                  </a:lnTo>
                  <a:lnTo>
                    <a:pt x="656" y="469"/>
                  </a:lnTo>
                  <a:lnTo>
                    <a:pt x="637" y="481"/>
                  </a:lnTo>
                  <a:lnTo>
                    <a:pt x="618" y="494"/>
                  </a:lnTo>
                  <a:lnTo>
                    <a:pt x="599" y="507"/>
                  </a:lnTo>
                  <a:lnTo>
                    <a:pt x="580" y="521"/>
                  </a:lnTo>
                  <a:lnTo>
                    <a:pt x="561" y="530"/>
                  </a:lnTo>
                  <a:lnTo>
                    <a:pt x="542" y="543"/>
                  </a:lnTo>
                  <a:lnTo>
                    <a:pt x="523" y="555"/>
                  </a:lnTo>
                  <a:lnTo>
                    <a:pt x="504" y="566"/>
                  </a:lnTo>
                  <a:lnTo>
                    <a:pt x="485" y="576"/>
                  </a:lnTo>
                  <a:lnTo>
                    <a:pt x="466" y="587"/>
                  </a:lnTo>
                  <a:lnTo>
                    <a:pt x="447" y="595"/>
                  </a:lnTo>
                  <a:lnTo>
                    <a:pt x="430" y="604"/>
                  </a:lnTo>
                  <a:lnTo>
                    <a:pt x="401" y="597"/>
                  </a:lnTo>
                  <a:lnTo>
                    <a:pt x="375" y="589"/>
                  </a:lnTo>
                  <a:lnTo>
                    <a:pt x="348" y="583"/>
                  </a:lnTo>
                  <a:lnTo>
                    <a:pt x="319" y="578"/>
                  </a:lnTo>
                  <a:lnTo>
                    <a:pt x="293" y="570"/>
                  </a:lnTo>
                  <a:lnTo>
                    <a:pt x="266" y="564"/>
                  </a:lnTo>
                  <a:lnTo>
                    <a:pt x="240" y="557"/>
                  </a:lnTo>
                  <a:lnTo>
                    <a:pt x="213" y="551"/>
                  </a:lnTo>
                  <a:lnTo>
                    <a:pt x="184" y="543"/>
                  </a:lnTo>
                  <a:lnTo>
                    <a:pt x="160" y="536"/>
                  </a:lnTo>
                  <a:lnTo>
                    <a:pt x="131" y="530"/>
                  </a:lnTo>
                  <a:lnTo>
                    <a:pt x="106" y="522"/>
                  </a:lnTo>
                  <a:lnTo>
                    <a:pt x="78" y="515"/>
                  </a:lnTo>
                  <a:lnTo>
                    <a:pt x="53" y="507"/>
                  </a:lnTo>
                  <a:lnTo>
                    <a:pt x="25" y="498"/>
                  </a:lnTo>
                  <a:lnTo>
                    <a:pt x="0" y="490"/>
                  </a:lnTo>
                  <a:lnTo>
                    <a:pt x="6" y="479"/>
                  </a:lnTo>
                  <a:lnTo>
                    <a:pt x="15" y="471"/>
                  </a:lnTo>
                  <a:lnTo>
                    <a:pt x="27" y="465"/>
                  </a:lnTo>
                  <a:lnTo>
                    <a:pt x="38" y="464"/>
                  </a:lnTo>
                  <a:lnTo>
                    <a:pt x="49" y="462"/>
                  </a:lnTo>
                  <a:lnTo>
                    <a:pt x="66" y="465"/>
                  </a:lnTo>
                  <a:lnTo>
                    <a:pt x="82" y="467"/>
                  </a:lnTo>
                  <a:lnTo>
                    <a:pt x="97" y="471"/>
                  </a:lnTo>
                  <a:lnTo>
                    <a:pt x="112" y="475"/>
                  </a:lnTo>
                  <a:lnTo>
                    <a:pt x="129" y="481"/>
                  </a:lnTo>
                  <a:lnTo>
                    <a:pt x="144" y="484"/>
                  </a:lnTo>
                  <a:lnTo>
                    <a:pt x="160" y="488"/>
                  </a:lnTo>
                  <a:lnTo>
                    <a:pt x="175" y="492"/>
                  </a:lnTo>
                  <a:lnTo>
                    <a:pt x="190" y="494"/>
                  </a:lnTo>
                  <a:lnTo>
                    <a:pt x="205" y="496"/>
                  </a:lnTo>
                  <a:lnTo>
                    <a:pt x="221" y="498"/>
                  </a:lnTo>
                  <a:lnTo>
                    <a:pt x="238" y="500"/>
                  </a:lnTo>
                  <a:lnTo>
                    <a:pt x="259" y="507"/>
                  </a:lnTo>
                  <a:lnTo>
                    <a:pt x="278" y="511"/>
                  </a:lnTo>
                  <a:lnTo>
                    <a:pt x="298" y="521"/>
                  </a:lnTo>
                  <a:lnTo>
                    <a:pt x="319" y="526"/>
                  </a:lnTo>
                  <a:lnTo>
                    <a:pt x="342" y="534"/>
                  </a:lnTo>
                  <a:lnTo>
                    <a:pt x="363" y="540"/>
                  </a:lnTo>
                  <a:lnTo>
                    <a:pt x="386" y="543"/>
                  </a:lnTo>
                  <a:lnTo>
                    <a:pt x="405" y="545"/>
                  </a:lnTo>
                  <a:lnTo>
                    <a:pt x="426" y="545"/>
                  </a:lnTo>
                  <a:lnTo>
                    <a:pt x="445" y="542"/>
                  </a:lnTo>
                  <a:lnTo>
                    <a:pt x="464" y="538"/>
                  </a:lnTo>
                  <a:lnTo>
                    <a:pt x="477" y="528"/>
                  </a:lnTo>
                  <a:lnTo>
                    <a:pt x="494" y="515"/>
                  </a:lnTo>
                  <a:lnTo>
                    <a:pt x="506" y="496"/>
                  </a:lnTo>
                  <a:lnTo>
                    <a:pt x="517" y="475"/>
                  </a:lnTo>
                  <a:lnTo>
                    <a:pt x="511" y="462"/>
                  </a:lnTo>
                  <a:lnTo>
                    <a:pt x="515" y="452"/>
                  </a:lnTo>
                  <a:lnTo>
                    <a:pt x="523" y="441"/>
                  </a:lnTo>
                  <a:lnTo>
                    <a:pt x="527" y="431"/>
                  </a:lnTo>
                  <a:lnTo>
                    <a:pt x="517" y="424"/>
                  </a:lnTo>
                  <a:lnTo>
                    <a:pt x="506" y="418"/>
                  </a:lnTo>
                  <a:lnTo>
                    <a:pt x="494" y="412"/>
                  </a:lnTo>
                  <a:lnTo>
                    <a:pt x="485" y="408"/>
                  </a:lnTo>
                  <a:lnTo>
                    <a:pt x="471" y="403"/>
                  </a:lnTo>
                  <a:lnTo>
                    <a:pt x="462" y="399"/>
                  </a:lnTo>
                  <a:lnTo>
                    <a:pt x="451" y="393"/>
                  </a:lnTo>
                  <a:lnTo>
                    <a:pt x="441" y="389"/>
                  </a:lnTo>
                  <a:lnTo>
                    <a:pt x="428" y="382"/>
                  </a:lnTo>
                  <a:lnTo>
                    <a:pt x="418" y="378"/>
                  </a:lnTo>
                  <a:lnTo>
                    <a:pt x="409" y="372"/>
                  </a:lnTo>
                  <a:lnTo>
                    <a:pt x="401" y="367"/>
                  </a:lnTo>
                  <a:lnTo>
                    <a:pt x="392" y="359"/>
                  </a:lnTo>
                  <a:lnTo>
                    <a:pt x="386" y="353"/>
                  </a:lnTo>
                  <a:lnTo>
                    <a:pt x="380" y="346"/>
                  </a:lnTo>
                  <a:lnTo>
                    <a:pt x="378" y="336"/>
                  </a:lnTo>
                  <a:lnTo>
                    <a:pt x="392" y="325"/>
                  </a:lnTo>
                  <a:lnTo>
                    <a:pt x="405" y="313"/>
                  </a:lnTo>
                  <a:lnTo>
                    <a:pt x="420" y="300"/>
                  </a:lnTo>
                  <a:lnTo>
                    <a:pt x="435" y="291"/>
                  </a:lnTo>
                  <a:lnTo>
                    <a:pt x="449" y="279"/>
                  </a:lnTo>
                  <a:lnTo>
                    <a:pt x="464" y="270"/>
                  </a:lnTo>
                  <a:lnTo>
                    <a:pt x="477" y="258"/>
                  </a:lnTo>
                  <a:lnTo>
                    <a:pt x="494" y="253"/>
                  </a:lnTo>
                  <a:lnTo>
                    <a:pt x="508" y="243"/>
                  </a:lnTo>
                  <a:lnTo>
                    <a:pt x="523" y="239"/>
                  </a:lnTo>
                  <a:lnTo>
                    <a:pt x="538" y="235"/>
                  </a:lnTo>
                  <a:lnTo>
                    <a:pt x="553" y="237"/>
                  </a:lnTo>
                  <a:lnTo>
                    <a:pt x="568" y="237"/>
                  </a:lnTo>
                  <a:lnTo>
                    <a:pt x="584" y="245"/>
                  </a:lnTo>
                  <a:lnTo>
                    <a:pt x="599" y="254"/>
                  </a:lnTo>
                  <a:lnTo>
                    <a:pt x="614" y="270"/>
                  </a:lnTo>
                  <a:lnTo>
                    <a:pt x="629" y="272"/>
                  </a:lnTo>
                  <a:lnTo>
                    <a:pt x="646" y="279"/>
                  </a:lnTo>
                  <a:lnTo>
                    <a:pt x="662" y="287"/>
                  </a:lnTo>
                  <a:lnTo>
                    <a:pt x="681" y="296"/>
                  </a:lnTo>
                  <a:lnTo>
                    <a:pt x="696" y="304"/>
                  </a:lnTo>
                  <a:lnTo>
                    <a:pt x="715" y="313"/>
                  </a:lnTo>
                  <a:lnTo>
                    <a:pt x="732" y="323"/>
                  </a:lnTo>
                  <a:lnTo>
                    <a:pt x="751" y="332"/>
                  </a:lnTo>
                  <a:lnTo>
                    <a:pt x="766" y="336"/>
                  </a:lnTo>
                  <a:lnTo>
                    <a:pt x="783" y="342"/>
                  </a:lnTo>
                  <a:lnTo>
                    <a:pt x="799" y="344"/>
                  </a:lnTo>
                  <a:lnTo>
                    <a:pt x="816" y="344"/>
                  </a:lnTo>
                  <a:lnTo>
                    <a:pt x="829" y="338"/>
                  </a:lnTo>
                  <a:lnTo>
                    <a:pt x="842" y="330"/>
                  </a:lnTo>
                  <a:lnTo>
                    <a:pt x="854" y="317"/>
                  </a:lnTo>
                  <a:lnTo>
                    <a:pt x="865" y="300"/>
                  </a:lnTo>
                  <a:lnTo>
                    <a:pt x="871" y="292"/>
                  </a:lnTo>
                  <a:lnTo>
                    <a:pt x="878" y="283"/>
                  </a:lnTo>
                  <a:lnTo>
                    <a:pt x="882" y="273"/>
                  </a:lnTo>
                  <a:lnTo>
                    <a:pt x="890" y="266"/>
                  </a:lnTo>
                  <a:lnTo>
                    <a:pt x="895" y="256"/>
                  </a:lnTo>
                  <a:lnTo>
                    <a:pt x="901" y="247"/>
                  </a:lnTo>
                  <a:lnTo>
                    <a:pt x="909" y="237"/>
                  </a:lnTo>
                  <a:lnTo>
                    <a:pt x="914" y="230"/>
                  </a:lnTo>
                  <a:lnTo>
                    <a:pt x="920" y="220"/>
                  </a:lnTo>
                  <a:lnTo>
                    <a:pt x="926" y="211"/>
                  </a:lnTo>
                  <a:lnTo>
                    <a:pt x="932" y="201"/>
                  </a:lnTo>
                  <a:lnTo>
                    <a:pt x="935" y="192"/>
                  </a:lnTo>
                  <a:lnTo>
                    <a:pt x="941" y="182"/>
                  </a:lnTo>
                  <a:lnTo>
                    <a:pt x="945" y="173"/>
                  </a:lnTo>
                  <a:lnTo>
                    <a:pt x="949" y="163"/>
                  </a:lnTo>
                  <a:lnTo>
                    <a:pt x="954" y="156"/>
                  </a:lnTo>
                  <a:lnTo>
                    <a:pt x="941" y="163"/>
                  </a:lnTo>
                  <a:lnTo>
                    <a:pt x="928" y="173"/>
                  </a:lnTo>
                  <a:lnTo>
                    <a:pt x="914" y="180"/>
                  </a:lnTo>
                  <a:lnTo>
                    <a:pt x="903" y="190"/>
                  </a:lnTo>
                  <a:lnTo>
                    <a:pt x="888" y="194"/>
                  </a:lnTo>
                  <a:lnTo>
                    <a:pt x="875" y="199"/>
                  </a:lnTo>
                  <a:lnTo>
                    <a:pt x="867" y="201"/>
                  </a:lnTo>
                  <a:lnTo>
                    <a:pt x="859" y="203"/>
                  </a:lnTo>
                  <a:lnTo>
                    <a:pt x="852" y="205"/>
                  </a:lnTo>
                  <a:lnTo>
                    <a:pt x="846" y="207"/>
                  </a:lnTo>
                  <a:lnTo>
                    <a:pt x="846" y="199"/>
                  </a:lnTo>
                  <a:lnTo>
                    <a:pt x="848" y="192"/>
                  </a:lnTo>
                  <a:lnTo>
                    <a:pt x="848" y="184"/>
                  </a:lnTo>
                  <a:lnTo>
                    <a:pt x="852" y="178"/>
                  </a:lnTo>
                  <a:lnTo>
                    <a:pt x="859" y="165"/>
                  </a:lnTo>
                  <a:lnTo>
                    <a:pt x="869" y="154"/>
                  </a:lnTo>
                  <a:lnTo>
                    <a:pt x="878" y="140"/>
                  </a:lnTo>
                  <a:lnTo>
                    <a:pt x="888" y="127"/>
                  </a:lnTo>
                  <a:lnTo>
                    <a:pt x="892" y="121"/>
                  </a:lnTo>
                  <a:lnTo>
                    <a:pt x="895" y="114"/>
                  </a:lnTo>
                  <a:lnTo>
                    <a:pt x="899" y="106"/>
                  </a:lnTo>
                  <a:lnTo>
                    <a:pt x="905" y="99"/>
                  </a:lnTo>
                  <a:lnTo>
                    <a:pt x="894" y="100"/>
                  </a:lnTo>
                  <a:lnTo>
                    <a:pt x="882" y="106"/>
                  </a:lnTo>
                  <a:lnTo>
                    <a:pt x="869" y="114"/>
                  </a:lnTo>
                  <a:lnTo>
                    <a:pt x="856" y="121"/>
                  </a:lnTo>
                  <a:lnTo>
                    <a:pt x="848" y="127"/>
                  </a:lnTo>
                  <a:lnTo>
                    <a:pt x="838" y="131"/>
                  </a:lnTo>
                  <a:lnTo>
                    <a:pt x="833" y="135"/>
                  </a:lnTo>
                  <a:lnTo>
                    <a:pt x="825" y="138"/>
                  </a:lnTo>
                  <a:lnTo>
                    <a:pt x="812" y="144"/>
                  </a:lnTo>
                  <a:lnTo>
                    <a:pt x="800" y="148"/>
                  </a:lnTo>
                  <a:lnTo>
                    <a:pt x="793" y="148"/>
                  </a:lnTo>
                  <a:lnTo>
                    <a:pt x="787" y="148"/>
                  </a:lnTo>
                  <a:lnTo>
                    <a:pt x="783" y="144"/>
                  </a:lnTo>
                  <a:lnTo>
                    <a:pt x="781" y="140"/>
                  </a:lnTo>
                  <a:lnTo>
                    <a:pt x="779" y="135"/>
                  </a:lnTo>
                  <a:lnTo>
                    <a:pt x="781" y="127"/>
                  </a:lnTo>
                  <a:lnTo>
                    <a:pt x="785" y="116"/>
                  </a:lnTo>
                  <a:lnTo>
                    <a:pt x="791" y="104"/>
                  </a:lnTo>
                  <a:lnTo>
                    <a:pt x="802" y="93"/>
                  </a:lnTo>
                  <a:lnTo>
                    <a:pt x="812" y="83"/>
                  </a:lnTo>
                  <a:lnTo>
                    <a:pt x="812" y="78"/>
                  </a:lnTo>
                  <a:lnTo>
                    <a:pt x="816" y="70"/>
                  </a:lnTo>
                  <a:lnTo>
                    <a:pt x="818" y="62"/>
                  </a:lnTo>
                  <a:lnTo>
                    <a:pt x="819" y="55"/>
                  </a:lnTo>
                  <a:lnTo>
                    <a:pt x="812" y="57"/>
                  </a:lnTo>
                  <a:lnTo>
                    <a:pt x="804" y="61"/>
                  </a:lnTo>
                  <a:lnTo>
                    <a:pt x="795" y="64"/>
                  </a:lnTo>
                  <a:lnTo>
                    <a:pt x="785" y="68"/>
                  </a:lnTo>
                  <a:lnTo>
                    <a:pt x="776" y="70"/>
                  </a:lnTo>
                  <a:lnTo>
                    <a:pt x="766" y="74"/>
                  </a:lnTo>
                  <a:lnTo>
                    <a:pt x="757" y="78"/>
                  </a:lnTo>
                  <a:lnTo>
                    <a:pt x="749" y="81"/>
                  </a:lnTo>
                  <a:lnTo>
                    <a:pt x="736" y="80"/>
                  </a:lnTo>
                  <a:lnTo>
                    <a:pt x="728" y="80"/>
                  </a:lnTo>
                  <a:lnTo>
                    <a:pt x="722" y="78"/>
                  </a:lnTo>
                  <a:lnTo>
                    <a:pt x="719" y="74"/>
                  </a:lnTo>
                  <a:lnTo>
                    <a:pt x="717" y="68"/>
                  </a:lnTo>
                  <a:lnTo>
                    <a:pt x="722" y="59"/>
                  </a:lnTo>
                  <a:lnTo>
                    <a:pt x="724" y="53"/>
                  </a:lnTo>
                  <a:lnTo>
                    <a:pt x="730" y="47"/>
                  </a:lnTo>
                  <a:lnTo>
                    <a:pt x="736" y="42"/>
                  </a:lnTo>
                  <a:lnTo>
                    <a:pt x="745" y="36"/>
                  </a:lnTo>
                  <a:lnTo>
                    <a:pt x="755" y="24"/>
                  </a:lnTo>
                  <a:lnTo>
                    <a:pt x="766" y="15"/>
                  </a:lnTo>
                  <a:lnTo>
                    <a:pt x="772" y="9"/>
                  </a:lnTo>
                  <a:lnTo>
                    <a:pt x="779" y="5"/>
                  </a:lnTo>
                  <a:lnTo>
                    <a:pt x="785" y="2"/>
                  </a:lnTo>
                  <a:lnTo>
                    <a:pt x="793" y="0"/>
                  </a:lnTo>
                  <a:close/>
                </a:path>
              </a:pathLst>
            </a:custGeom>
            <a:solidFill>
              <a:srgbClr val="FFF2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78" name="Freeform 90"/>
            <p:cNvSpPr>
              <a:spLocks/>
            </p:cNvSpPr>
            <p:nvPr/>
          </p:nvSpPr>
          <p:spPr bwMode="auto">
            <a:xfrm>
              <a:off x="4046" y="3086"/>
              <a:ext cx="37" cy="164"/>
            </a:xfrm>
            <a:custGeom>
              <a:avLst/>
              <a:gdLst>
                <a:gd name="T0" fmla="*/ 1 w 74"/>
                <a:gd name="T1" fmla="*/ 0 h 329"/>
                <a:gd name="T2" fmla="*/ 1 w 74"/>
                <a:gd name="T3" fmla="*/ 0 h 329"/>
                <a:gd name="T4" fmla="*/ 1 w 74"/>
                <a:gd name="T5" fmla="*/ 0 h 329"/>
                <a:gd name="T6" fmla="*/ 1 w 74"/>
                <a:gd name="T7" fmla="*/ 0 h 329"/>
                <a:gd name="T8" fmla="*/ 1 w 74"/>
                <a:gd name="T9" fmla="*/ 0 h 329"/>
                <a:gd name="T10" fmla="*/ 1 w 74"/>
                <a:gd name="T11" fmla="*/ 0 h 329"/>
                <a:gd name="T12" fmla="*/ 1 w 74"/>
                <a:gd name="T13" fmla="*/ 0 h 329"/>
                <a:gd name="T14" fmla="*/ 1 w 74"/>
                <a:gd name="T15" fmla="*/ 0 h 329"/>
                <a:gd name="T16" fmla="*/ 1 w 74"/>
                <a:gd name="T17" fmla="*/ 0 h 329"/>
                <a:gd name="T18" fmla="*/ 1 w 74"/>
                <a:gd name="T19" fmla="*/ 0 h 329"/>
                <a:gd name="T20" fmla="*/ 1 w 74"/>
                <a:gd name="T21" fmla="*/ 0 h 329"/>
                <a:gd name="T22" fmla="*/ 1 w 74"/>
                <a:gd name="T23" fmla="*/ 0 h 329"/>
                <a:gd name="T24" fmla="*/ 1 w 74"/>
                <a:gd name="T25" fmla="*/ 0 h 329"/>
                <a:gd name="T26" fmla="*/ 1 w 74"/>
                <a:gd name="T27" fmla="*/ 1 h 329"/>
                <a:gd name="T28" fmla="*/ 1 w 74"/>
                <a:gd name="T29" fmla="*/ 1 h 329"/>
                <a:gd name="T30" fmla="*/ 1 w 74"/>
                <a:gd name="T31" fmla="*/ 1 h 329"/>
                <a:gd name="T32" fmla="*/ 1 w 74"/>
                <a:gd name="T33" fmla="*/ 1 h 329"/>
                <a:gd name="T34" fmla="*/ 1 w 74"/>
                <a:gd name="T35" fmla="*/ 1 h 329"/>
                <a:gd name="T36" fmla="*/ 1 w 74"/>
                <a:gd name="T37" fmla="*/ 1 h 329"/>
                <a:gd name="T38" fmla="*/ 1 w 74"/>
                <a:gd name="T39" fmla="*/ 1 h 329"/>
                <a:gd name="T40" fmla="*/ 1 w 74"/>
                <a:gd name="T41" fmla="*/ 1 h 329"/>
                <a:gd name="T42" fmla="*/ 1 w 74"/>
                <a:gd name="T43" fmla="*/ 1 h 329"/>
                <a:gd name="T44" fmla="*/ 1 w 74"/>
                <a:gd name="T45" fmla="*/ 1 h 329"/>
                <a:gd name="T46" fmla="*/ 0 w 74"/>
                <a:gd name="T47" fmla="*/ 1 h 329"/>
                <a:gd name="T48" fmla="*/ 0 w 74"/>
                <a:gd name="T49" fmla="*/ 1 h 329"/>
                <a:gd name="T50" fmla="*/ 0 w 74"/>
                <a:gd name="T51" fmla="*/ 0 h 329"/>
                <a:gd name="T52" fmla="*/ 0 w 74"/>
                <a:gd name="T53" fmla="*/ 0 h 329"/>
                <a:gd name="T54" fmla="*/ 0 w 74"/>
                <a:gd name="T55" fmla="*/ 0 h 329"/>
                <a:gd name="T56" fmla="*/ 0 w 74"/>
                <a:gd name="T57" fmla="*/ 0 h 329"/>
                <a:gd name="T58" fmla="*/ 0 w 74"/>
                <a:gd name="T59" fmla="*/ 0 h 329"/>
                <a:gd name="T60" fmla="*/ 1 w 74"/>
                <a:gd name="T61" fmla="*/ 0 h 329"/>
                <a:gd name="T62" fmla="*/ 1 w 74"/>
                <a:gd name="T63" fmla="*/ 0 h 329"/>
                <a:gd name="T64" fmla="*/ 1 w 74"/>
                <a:gd name="T65" fmla="*/ 0 h 329"/>
                <a:gd name="T66" fmla="*/ 1 w 74"/>
                <a:gd name="T67" fmla="*/ 0 h 329"/>
                <a:gd name="T68" fmla="*/ 1 w 74"/>
                <a:gd name="T69" fmla="*/ 0 h 329"/>
                <a:gd name="T70" fmla="*/ 1 w 74"/>
                <a:gd name="T71" fmla="*/ 0 h 329"/>
                <a:gd name="T72" fmla="*/ 1 w 74"/>
                <a:gd name="T73" fmla="*/ 0 h 329"/>
                <a:gd name="T74" fmla="*/ 1 w 74"/>
                <a:gd name="T75" fmla="*/ 0 h 329"/>
                <a:gd name="T76" fmla="*/ 1 w 74"/>
                <a:gd name="T77" fmla="*/ 0 h 329"/>
                <a:gd name="T78" fmla="*/ 1 w 74"/>
                <a:gd name="T79" fmla="*/ 0 h 329"/>
                <a:gd name="T80" fmla="*/ 1 w 74"/>
                <a:gd name="T81" fmla="*/ 0 h 329"/>
                <a:gd name="T82" fmla="*/ 1 w 74"/>
                <a:gd name="T83" fmla="*/ 0 h 329"/>
                <a:gd name="T84" fmla="*/ 1 w 74"/>
                <a:gd name="T85" fmla="*/ 0 h 329"/>
                <a:gd name="T86" fmla="*/ 1 w 74"/>
                <a:gd name="T87" fmla="*/ 0 h 329"/>
                <a:gd name="T88" fmla="*/ 1 w 74"/>
                <a:gd name="T89" fmla="*/ 0 h 329"/>
                <a:gd name="T90" fmla="*/ 1 w 74"/>
                <a:gd name="T91" fmla="*/ 0 h 329"/>
                <a:gd name="T92" fmla="*/ 1 w 74"/>
                <a:gd name="T93" fmla="*/ 0 h 329"/>
                <a:gd name="T94" fmla="*/ 1 w 74"/>
                <a:gd name="T95" fmla="*/ 0 h 329"/>
                <a:gd name="T96" fmla="*/ 1 w 74"/>
                <a:gd name="T97" fmla="*/ 0 h 329"/>
                <a:gd name="T98" fmla="*/ 1 w 74"/>
                <a:gd name="T99" fmla="*/ 0 h 329"/>
                <a:gd name="T100" fmla="*/ 1 w 74"/>
                <a:gd name="T101" fmla="*/ 0 h 329"/>
                <a:gd name="T102" fmla="*/ 1 w 74"/>
                <a:gd name="T103" fmla="*/ 0 h 32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74"/>
                <a:gd name="T157" fmla="*/ 0 h 329"/>
                <a:gd name="T158" fmla="*/ 74 w 74"/>
                <a:gd name="T159" fmla="*/ 329 h 32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74" h="329">
                  <a:moveTo>
                    <a:pt x="74" y="0"/>
                  </a:moveTo>
                  <a:lnTo>
                    <a:pt x="70" y="19"/>
                  </a:lnTo>
                  <a:lnTo>
                    <a:pt x="65" y="38"/>
                  </a:lnTo>
                  <a:lnTo>
                    <a:pt x="61" y="59"/>
                  </a:lnTo>
                  <a:lnTo>
                    <a:pt x="57" y="78"/>
                  </a:lnTo>
                  <a:lnTo>
                    <a:pt x="53" y="99"/>
                  </a:lnTo>
                  <a:lnTo>
                    <a:pt x="49" y="118"/>
                  </a:lnTo>
                  <a:lnTo>
                    <a:pt x="45" y="139"/>
                  </a:lnTo>
                  <a:lnTo>
                    <a:pt x="42" y="161"/>
                  </a:lnTo>
                  <a:lnTo>
                    <a:pt x="38" y="180"/>
                  </a:lnTo>
                  <a:lnTo>
                    <a:pt x="34" y="201"/>
                  </a:lnTo>
                  <a:lnTo>
                    <a:pt x="30" y="222"/>
                  </a:lnTo>
                  <a:lnTo>
                    <a:pt x="25" y="243"/>
                  </a:lnTo>
                  <a:lnTo>
                    <a:pt x="21" y="264"/>
                  </a:lnTo>
                  <a:lnTo>
                    <a:pt x="19" y="285"/>
                  </a:lnTo>
                  <a:lnTo>
                    <a:pt x="17" y="306"/>
                  </a:lnTo>
                  <a:lnTo>
                    <a:pt x="13" y="329"/>
                  </a:lnTo>
                  <a:lnTo>
                    <a:pt x="9" y="319"/>
                  </a:lnTo>
                  <a:lnTo>
                    <a:pt x="7" y="313"/>
                  </a:lnTo>
                  <a:lnTo>
                    <a:pt x="6" y="306"/>
                  </a:lnTo>
                  <a:lnTo>
                    <a:pt x="4" y="298"/>
                  </a:lnTo>
                  <a:lnTo>
                    <a:pt x="4" y="289"/>
                  </a:lnTo>
                  <a:lnTo>
                    <a:pt x="2" y="279"/>
                  </a:lnTo>
                  <a:lnTo>
                    <a:pt x="0" y="270"/>
                  </a:lnTo>
                  <a:lnTo>
                    <a:pt x="0" y="262"/>
                  </a:lnTo>
                  <a:lnTo>
                    <a:pt x="0" y="251"/>
                  </a:lnTo>
                  <a:lnTo>
                    <a:pt x="0" y="241"/>
                  </a:lnTo>
                  <a:lnTo>
                    <a:pt x="0" y="230"/>
                  </a:lnTo>
                  <a:lnTo>
                    <a:pt x="0" y="220"/>
                  </a:lnTo>
                  <a:lnTo>
                    <a:pt x="0" y="209"/>
                  </a:lnTo>
                  <a:lnTo>
                    <a:pt x="2" y="198"/>
                  </a:lnTo>
                  <a:lnTo>
                    <a:pt x="4" y="188"/>
                  </a:lnTo>
                  <a:lnTo>
                    <a:pt x="4" y="179"/>
                  </a:lnTo>
                  <a:lnTo>
                    <a:pt x="4" y="167"/>
                  </a:lnTo>
                  <a:lnTo>
                    <a:pt x="6" y="158"/>
                  </a:lnTo>
                  <a:lnTo>
                    <a:pt x="6" y="146"/>
                  </a:lnTo>
                  <a:lnTo>
                    <a:pt x="7" y="137"/>
                  </a:lnTo>
                  <a:lnTo>
                    <a:pt x="7" y="127"/>
                  </a:lnTo>
                  <a:lnTo>
                    <a:pt x="7" y="118"/>
                  </a:lnTo>
                  <a:lnTo>
                    <a:pt x="7" y="110"/>
                  </a:lnTo>
                  <a:lnTo>
                    <a:pt x="9" y="104"/>
                  </a:lnTo>
                  <a:lnTo>
                    <a:pt x="9" y="95"/>
                  </a:lnTo>
                  <a:lnTo>
                    <a:pt x="11" y="85"/>
                  </a:lnTo>
                  <a:lnTo>
                    <a:pt x="13" y="78"/>
                  </a:lnTo>
                  <a:lnTo>
                    <a:pt x="17" y="72"/>
                  </a:lnTo>
                  <a:lnTo>
                    <a:pt x="25" y="59"/>
                  </a:lnTo>
                  <a:lnTo>
                    <a:pt x="36" y="45"/>
                  </a:lnTo>
                  <a:lnTo>
                    <a:pt x="45" y="34"/>
                  </a:lnTo>
                  <a:lnTo>
                    <a:pt x="57" y="23"/>
                  </a:lnTo>
                  <a:lnTo>
                    <a:pt x="65" y="9"/>
                  </a:lnTo>
                  <a:lnTo>
                    <a:pt x="7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79" name="Freeform 91"/>
            <p:cNvSpPr>
              <a:spLocks/>
            </p:cNvSpPr>
            <p:nvPr/>
          </p:nvSpPr>
          <p:spPr bwMode="auto">
            <a:xfrm>
              <a:off x="3901" y="3121"/>
              <a:ext cx="15" cy="11"/>
            </a:xfrm>
            <a:custGeom>
              <a:avLst/>
              <a:gdLst>
                <a:gd name="T0" fmla="*/ 1 w 28"/>
                <a:gd name="T1" fmla="*/ 0 h 23"/>
                <a:gd name="T2" fmla="*/ 1 w 28"/>
                <a:gd name="T3" fmla="*/ 0 h 23"/>
                <a:gd name="T4" fmla="*/ 1 w 28"/>
                <a:gd name="T5" fmla="*/ 0 h 23"/>
                <a:gd name="T6" fmla="*/ 1 w 28"/>
                <a:gd name="T7" fmla="*/ 0 h 23"/>
                <a:gd name="T8" fmla="*/ 1 w 28"/>
                <a:gd name="T9" fmla="*/ 0 h 23"/>
                <a:gd name="T10" fmla="*/ 1 w 28"/>
                <a:gd name="T11" fmla="*/ 0 h 23"/>
                <a:gd name="T12" fmla="*/ 0 w 28"/>
                <a:gd name="T13" fmla="*/ 0 h 23"/>
                <a:gd name="T14" fmla="*/ 1 w 28"/>
                <a:gd name="T15" fmla="*/ 0 h 23"/>
                <a:gd name="T16" fmla="*/ 1 w 28"/>
                <a:gd name="T17" fmla="*/ 0 h 23"/>
                <a:gd name="T18" fmla="*/ 1 w 28"/>
                <a:gd name="T19" fmla="*/ 0 h 23"/>
                <a:gd name="T20" fmla="*/ 1 w 28"/>
                <a:gd name="T21" fmla="*/ 0 h 23"/>
                <a:gd name="T22" fmla="*/ 1 w 28"/>
                <a:gd name="T23" fmla="*/ 0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8"/>
                <a:gd name="T37" fmla="*/ 0 h 23"/>
                <a:gd name="T38" fmla="*/ 28 w 28"/>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8" h="23">
                  <a:moveTo>
                    <a:pt x="23" y="0"/>
                  </a:moveTo>
                  <a:lnTo>
                    <a:pt x="25" y="0"/>
                  </a:lnTo>
                  <a:lnTo>
                    <a:pt x="28" y="0"/>
                  </a:lnTo>
                  <a:lnTo>
                    <a:pt x="23" y="8"/>
                  </a:lnTo>
                  <a:lnTo>
                    <a:pt x="15" y="13"/>
                  </a:lnTo>
                  <a:lnTo>
                    <a:pt x="6" y="17"/>
                  </a:lnTo>
                  <a:lnTo>
                    <a:pt x="0" y="23"/>
                  </a:lnTo>
                  <a:lnTo>
                    <a:pt x="2" y="15"/>
                  </a:lnTo>
                  <a:lnTo>
                    <a:pt x="9" y="10"/>
                  </a:lnTo>
                  <a:lnTo>
                    <a:pt x="15" y="4"/>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80" name="Freeform 92"/>
            <p:cNvSpPr>
              <a:spLocks/>
            </p:cNvSpPr>
            <p:nvPr/>
          </p:nvSpPr>
          <p:spPr bwMode="auto">
            <a:xfrm>
              <a:off x="3904" y="3121"/>
              <a:ext cx="51" cy="93"/>
            </a:xfrm>
            <a:custGeom>
              <a:avLst/>
              <a:gdLst>
                <a:gd name="T0" fmla="*/ 1 w 100"/>
                <a:gd name="T1" fmla="*/ 0 h 186"/>
                <a:gd name="T2" fmla="*/ 1 w 100"/>
                <a:gd name="T3" fmla="*/ 1 h 186"/>
                <a:gd name="T4" fmla="*/ 1 w 100"/>
                <a:gd name="T5" fmla="*/ 1 h 186"/>
                <a:gd name="T6" fmla="*/ 1 w 100"/>
                <a:gd name="T7" fmla="*/ 1 h 186"/>
                <a:gd name="T8" fmla="*/ 1 w 100"/>
                <a:gd name="T9" fmla="*/ 1 h 186"/>
                <a:gd name="T10" fmla="*/ 1 w 100"/>
                <a:gd name="T11" fmla="*/ 1 h 186"/>
                <a:gd name="T12" fmla="*/ 1 w 100"/>
                <a:gd name="T13" fmla="*/ 1 h 186"/>
                <a:gd name="T14" fmla="*/ 1 w 100"/>
                <a:gd name="T15" fmla="*/ 1 h 186"/>
                <a:gd name="T16" fmla="*/ 1 w 100"/>
                <a:gd name="T17" fmla="*/ 1 h 186"/>
                <a:gd name="T18" fmla="*/ 1 w 100"/>
                <a:gd name="T19" fmla="*/ 1 h 186"/>
                <a:gd name="T20" fmla="*/ 1 w 100"/>
                <a:gd name="T21" fmla="*/ 1 h 186"/>
                <a:gd name="T22" fmla="*/ 1 w 100"/>
                <a:gd name="T23" fmla="*/ 1 h 186"/>
                <a:gd name="T24" fmla="*/ 1 w 100"/>
                <a:gd name="T25" fmla="*/ 1 h 186"/>
                <a:gd name="T26" fmla="*/ 1 w 100"/>
                <a:gd name="T27" fmla="*/ 1 h 186"/>
                <a:gd name="T28" fmla="*/ 1 w 100"/>
                <a:gd name="T29" fmla="*/ 1 h 186"/>
                <a:gd name="T30" fmla="*/ 1 w 100"/>
                <a:gd name="T31" fmla="*/ 1 h 186"/>
                <a:gd name="T32" fmla="*/ 0 w 100"/>
                <a:gd name="T33" fmla="*/ 1 h 186"/>
                <a:gd name="T34" fmla="*/ 0 w 100"/>
                <a:gd name="T35" fmla="*/ 1 h 186"/>
                <a:gd name="T36" fmla="*/ 0 w 100"/>
                <a:gd name="T37" fmla="*/ 1 h 186"/>
                <a:gd name="T38" fmla="*/ 1 w 100"/>
                <a:gd name="T39" fmla="*/ 1 h 186"/>
                <a:gd name="T40" fmla="*/ 1 w 100"/>
                <a:gd name="T41" fmla="*/ 1 h 186"/>
                <a:gd name="T42" fmla="*/ 1 w 100"/>
                <a:gd name="T43" fmla="*/ 1 h 186"/>
                <a:gd name="T44" fmla="*/ 1 w 100"/>
                <a:gd name="T45" fmla="*/ 1 h 186"/>
                <a:gd name="T46" fmla="*/ 1 w 100"/>
                <a:gd name="T47" fmla="*/ 1 h 186"/>
                <a:gd name="T48" fmla="*/ 1 w 100"/>
                <a:gd name="T49" fmla="*/ 1 h 186"/>
                <a:gd name="T50" fmla="*/ 1 w 100"/>
                <a:gd name="T51" fmla="*/ 1 h 186"/>
                <a:gd name="T52" fmla="*/ 1 w 100"/>
                <a:gd name="T53" fmla="*/ 1 h 186"/>
                <a:gd name="T54" fmla="*/ 1 w 100"/>
                <a:gd name="T55" fmla="*/ 1 h 186"/>
                <a:gd name="T56" fmla="*/ 1 w 100"/>
                <a:gd name="T57" fmla="*/ 1 h 186"/>
                <a:gd name="T58" fmla="*/ 1 w 100"/>
                <a:gd name="T59" fmla="*/ 1 h 186"/>
                <a:gd name="T60" fmla="*/ 1 w 100"/>
                <a:gd name="T61" fmla="*/ 1 h 186"/>
                <a:gd name="T62" fmla="*/ 1 w 100"/>
                <a:gd name="T63" fmla="*/ 1 h 186"/>
                <a:gd name="T64" fmla="*/ 1 w 100"/>
                <a:gd name="T65" fmla="*/ 0 h 186"/>
                <a:gd name="T66" fmla="*/ 1 w 100"/>
                <a:gd name="T67" fmla="*/ 0 h 18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00"/>
                <a:gd name="T103" fmla="*/ 0 h 186"/>
                <a:gd name="T104" fmla="*/ 100 w 100"/>
                <a:gd name="T105" fmla="*/ 186 h 18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00" h="186">
                  <a:moveTo>
                    <a:pt x="100" y="0"/>
                  </a:moveTo>
                  <a:lnTo>
                    <a:pt x="95" y="12"/>
                  </a:lnTo>
                  <a:lnTo>
                    <a:pt x="87" y="23"/>
                  </a:lnTo>
                  <a:lnTo>
                    <a:pt x="81" y="34"/>
                  </a:lnTo>
                  <a:lnTo>
                    <a:pt x="74" y="48"/>
                  </a:lnTo>
                  <a:lnTo>
                    <a:pt x="66" y="59"/>
                  </a:lnTo>
                  <a:lnTo>
                    <a:pt x="59" y="72"/>
                  </a:lnTo>
                  <a:lnTo>
                    <a:pt x="53" y="84"/>
                  </a:lnTo>
                  <a:lnTo>
                    <a:pt x="45" y="97"/>
                  </a:lnTo>
                  <a:lnTo>
                    <a:pt x="39" y="105"/>
                  </a:lnTo>
                  <a:lnTo>
                    <a:pt x="36" y="114"/>
                  </a:lnTo>
                  <a:lnTo>
                    <a:pt x="30" y="124"/>
                  </a:lnTo>
                  <a:lnTo>
                    <a:pt x="26" y="133"/>
                  </a:lnTo>
                  <a:lnTo>
                    <a:pt x="19" y="147"/>
                  </a:lnTo>
                  <a:lnTo>
                    <a:pt x="11" y="160"/>
                  </a:lnTo>
                  <a:lnTo>
                    <a:pt x="3" y="173"/>
                  </a:lnTo>
                  <a:lnTo>
                    <a:pt x="0" y="186"/>
                  </a:lnTo>
                  <a:lnTo>
                    <a:pt x="0" y="173"/>
                  </a:lnTo>
                  <a:lnTo>
                    <a:pt x="0" y="162"/>
                  </a:lnTo>
                  <a:lnTo>
                    <a:pt x="3" y="150"/>
                  </a:lnTo>
                  <a:lnTo>
                    <a:pt x="7" y="139"/>
                  </a:lnTo>
                  <a:lnTo>
                    <a:pt x="11" y="128"/>
                  </a:lnTo>
                  <a:lnTo>
                    <a:pt x="19" y="116"/>
                  </a:lnTo>
                  <a:lnTo>
                    <a:pt x="24" y="105"/>
                  </a:lnTo>
                  <a:lnTo>
                    <a:pt x="32" y="95"/>
                  </a:lnTo>
                  <a:lnTo>
                    <a:pt x="39" y="82"/>
                  </a:lnTo>
                  <a:lnTo>
                    <a:pt x="47" y="69"/>
                  </a:lnTo>
                  <a:lnTo>
                    <a:pt x="57" y="57"/>
                  </a:lnTo>
                  <a:lnTo>
                    <a:pt x="66" y="48"/>
                  </a:lnTo>
                  <a:lnTo>
                    <a:pt x="76" y="34"/>
                  </a:lnTo>
                  <a:lnTo>
                    <a:pt x="85" y="23"/>
                  </a:lnTo>
                  <a:lnTo>
                    <a:pt x="93" y="12"/>
                  </a:lnTo>
                  <a:lnTo>
                    <a:pt x="10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81" name="Freeform 93"/>
            <p:cNvSpPr>
              <a:spLocks/>
            </p:cNvSpPr>
            <p:nvPr/>
          </p:nvSpPr>
          <p:spPr bwMode="auto">
            <a:xfrm>
              <a:off x="3900" y="3128"/>
              <a:ext cx="31" cy="42"/>
            </a:xfrm>
            <a:custGeom>
              <a:avLst/>
              <a:gdLst>
                <a:gd name="T0" fmla="*/ 1 w 61"/>
                <a:gd name="T1" fmla="*/ 0 h 84"/>
                <a:gd name="T2" fmla="*/ 1 w 61"/>
                <a:gd name="T3" fmla="*/ 0 h 84"/>
                <a:gd name="T4" fmla="*/ 1 w 61"/>
                <a:gd name="T5" fmla="*/ 0 h 84"/>
                <a:gd name="T6" fmla="*/ 1 w 61"/>
                <a:gd name="T7" fmla="*/ 1 h 84"/>
                <a:gd name="T8" fmla="*/ 1 w 61"/>
                <a:gd name="T9" fmla="*/ 1 h 84"/>
                <a:gd name="T10" fmla="*/ 1 w 61"/>
                <a:gd name="T11" fmla="*/ 1 h 84"/>
                <a:gd name="T12" fmla="*/ 1 w 61"/>
                <a:gd name="T13" fmla="*/ 1 h 84"/>
                <a:gd name="T14" fmla="*/ 1 w 61"/>
                <a:gd name="T15" fmla="*/ 1 h 84"/>
                <a:gd name="T16" fmla="*/ 1 w 61"/>
                <a:gd name="T17" fmla="*/ 1 h 84"/>
                <a:gd name="T18" fmla="*/ 1 w 61"/>
                <a:gd name="T19" fmla="*/ 1 h 84"/>
                <a:gd name="T20" fmla="*/ 1 w 61"/>
                <a:gd name="T21" fmla="*/ 1 h 84"/>
                <a:gd name="T22" fmla="*/ 1 w 61"/>
                <a:gd name="T23" fmla="*/ 1 h 84"/>
                <a:gd name="T24" fmla="*/ 1 w 61"/>
                <a:gd name="T25" fmla="*/ 1 h 84"/>
                <a:gd name="T26" fmla="*/ 1 w 61"/>
                <a:gd name="T27" fmla="*/ 1 h 84"/>
                <a:gd name="T28" fmla="*/ 0 w 61"/>
                <a:gd name="T29" fmla="*/ 1 h 84"/>
                <a:gd name="T30" fmla="*/ 1 w 61"/>
                <a:gd name="T31" fmla="*/ 1 h 84"/>
                <a:gd name="T32" fmla="*/ 1 w 61"/>
                <a:gd name="T33" fmla="*/ 1 h 84"/>
                <a:gd name="T34" fmla="*/ 1 w 61"/>
                <a:gd name="T35" fmla="*/ 1 h 84"/>
                <a:gd name="T36" fmla="*/ 1 w 61"/>
                <a:gd name="T37" fmla="*/ 1 h 84"/>
                <a:gd name="T38" fmla="*/ 1 w 61"/>
                <a:gd name="T39" fmla="*/ 1 h 84"/>
                <a:gd name="T40" fmla="*/ 1 w 61"/>
                <a:gd name="T41" fmla="*/ 1 h 84"/>
                <a:gd name="T42" fmla="*/ 1 w 61"/>
                <a:gd name="T43" fmla="*/ 0 h 84"/>
                <a:gd name="T44" fmla="*/ 1 w 61"/>
                <a:gd name="T45" fmla="*/ 0 h 8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1"/>
                <a:gd name="T70" fmla="*/ 0 h 84"/>
                <a:gd name="T71" fmla="*/ 61 w 61"/>
                <a:gd name="T72" fmla="*/ 84 h 8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1" h="84">
                  <a:moveTo>
                    <a:pt x="49" y="0"/>
                  </a:moveTo>
                  <a:lnTo>
                    <a:pt x="57" y="0"/>
                  </a:lnTo>
                  <a:lnTo>
                    <a:pt x="61" y="0"/>
                  </a:lnTo>
                  <a:lnTo>
                    <a:pt x="53" y="12"/>
                  </a:lnTo>
                  <a:lnTo>
                    <a:pt x="47" y="21"/>
                  </a:lnTo>
                  <a:lnTo>
                    <a:pt x="40" y="33"/>
                  </a:lnTo>
                  <a:lnTo>
                    <a:pt x="34" y="44"/>
                  </a:lnTo>
                  <a:lnTo>
                    <a:pt x="27" y="52"/>
                  </a:lnTo>
                  <a:lnTo>
                    <a:pt x="21" y="63"/>
                  </a:lnTo>
                  <a:lnTo>
                    <a:pt x="13" y="73"/>
                  </a:lnTo>
                  <a:lnTo>
                    <a:pt x="11" y="84"/>
                  </a:lnTo>
                  <a:lnTo>
                    <a:pt x="8" y="84"/>
                  </a:lnTo>
                  <a:lnTo>
                    <a:pt x="4" y="76"/>
                  </a:lnTo>
                  <a:lnTo>
                    <a:pt x="2" y="69"/>
                  </a:lnTo>
                  <a:lnTo>
                    <a:pt x="0" y="61"/>
                  </a:lnTo>
                  <a:lnTo>
                    <a:pt x="2" y="56"/>
                  </a:lnTo>
                  <a:lnTo>
                    <a:pt x="4" y="42"/>
                  </a:lnTo>
                  <a:lnTo>
                    <a:pt x="8" y="31"/>
                  </a:lnTo>
                  <a:lnTo>
                    <a:pt x="15" y="19"/>
                  </a:lnTo>
                  <a:lnTo>
                    <a:pt x="25" y="12"/>
                  </a:lnTo>
                  <a:lnTo>
                    <a:pt x="36" y="2"/>
                  </a:lnTo>
                  <a:lnTo>
                    <a:pt x="4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82" name="Freeform 94"/>
            <p:cNvSpPr>
              <a:spLocks/>
            </p:cNvSpPr>
            <p:nvPr/>
          </p:nvSpPr>
          <p:spPr bwMode="auto">
            <a:xfrm>
              <a:off x="4574" y="3128"/>
              <a:ext cx="364" cy="284"/>
            </a:xfrm>
            <a:custGeom>
              <a:avLst/>
              <a:gdLst>
                <a:gd name="T0" fmla="*/ 3 w 726"/>
                <a:gd name="T1" fmla="*/ 0 h 569"/>
                <a:gd name="T2" fmla="*/ 3 w 726"/>
                <a:gd name="T3" fmla="*/ 0 h 569"/>
                <a:gd name="T4" fmla="*/ 3 w 726"/>
                <a:gd name="T5" fmla="*/ 0 h 569"/>
                <a:gd name="T6" fmla="*/ 3 w 726"/>
                <a:gd name="T7" fmla="*/ 0 h 569"/>
                <a:gd name="T8" fmla="*/ 3 w 726"/>
                <a:gd name="T9" fmla="*/ 0 h 569"/>
                <a:gd name="T10" fmla="*/ 3 w 726"/>
                <a:gd name="T11" fmla="*/ 0 h 569"/>
                <a:gd name="T12" fmla="*/ 3 w 726"/>
                <a:gd name="T13" fmla="*/ 0 h 569"/>
                <a:gd name="T14" fmla="*/ 3 w 726"/>
                <a:gd name="T15" fmla="*/ 0 h 569"/>
                <a:gd name="T16" fmla="*/ 3 w 726"/>
                <a:gd name="T17" fmla="*/ 0 h 569"/>
                <a:gd name="T18" fmla="*/ 2 w 726"/>
                <a:gd name="T19" fmla="*/ 0 h 569"/>
                <a:gd name="T20" fmla="*/ 2 w 726"/>
                <a:gd name="T21" fmla="*/ 1 h 569"/>
                <a:gd name="T22" fmla="*/ 2 w 726"/>
                <a:gd name="T23" fmla="*/ 1 h 569"/>
                <a:gd name="T24" fmla="*/ 2 w 726"/>
                <a:gd name="T25" fmla="*/ 1 h 569"/>
                <a:gd name="T26" fmla="*/ 1 w 726"/>
                <a:gd name="T27" fmla="*/ 1 h 569"/>
                <a:gd name="T28" fmla="*/ 1 w 726"/>
                <a:gd name="T29" fmla="*/ 1 h 569"/>
                <a:gd name="T30" fmla="*/ 1 w 726"/>
                <a:gd name="T31" fmla="*/ 2 h 569"/>
                <a:gd name="T32" fmla="*/ 1 w 726"/>
                <a:gd name="T33" fmla="*/ 2 h 569"/>
                <a:gd name="T34" fmla="*/ 1 w 726"/>
                <a:gd name="T35" fmla="*/ 2 h 569"/>
                <a:gd name="T36" fmla="*/ 0 w 726"/>
                <a:gd name="T37" fmla="*/ 2 h 569"/>
                <a:gd name="T38" fmla="*/ 1 w 726"/>
                <a:gd name="T39" fmla="*/ 2 h 569"/>
                <a:gd name="T40" fmla="*/ 1 w 726"/>
                <a:gd name="T41" fmla="*/ 1 h 569"/>
                <a:gd name="T42" fmla="*/ 1 w 726"/>
                <a:gd name="T43" fmla="*/ 1 h 569"/>
                <a:gd name="T44" fmla="*/ 1 w 726"/>
                <a:gd name="T45" fmla="*/ 1 h 569"/>
                <a:gd name="T46" fmla="*/ 1 w 726"/>
                <a:gd name="T47" fmla="*/ 1 h 569"/>
                <a:gd name="T48" fmla="*/ 1 w 726"/>
                <a:gd name="T49" fmla="*/ 1 h 569"/>
                <a:gd name="T50" fmla="*/ 1 w 726"/>
                <a:gd name="T51" fmla="*/ 1 h 569"/>
                <a:gd name="T52" fmla="*/ 2 w 726"/>
                <a:gd name="T53" fmla="*/ 1 h 569"/>
                <a:gd name="T54" fmla="*/ 2 w 726"/>
                <a:gd name="T55" fmla="*/ 1 h 569"/>
                <a:gd name="T56" fmla="*/ 2 w 726"/>
                <a:gd name="T57" fmla="*/ 0 h 569"/>
                <a:gd name="T58" fmla="*/ 3 w 726"/>
                <a:gd name="T59" fmla="*/ 0 h 569"/>
                <a:gd name="T60" fmla="*/ 3 w 726"/>
                <a:gd name="T61" fmla="*/ 0 h 569"/>
                <a:gd name="T62" fmla="*/ 3 w 726"/>
                <a:gd name="T63" fmla="*/ 0 h 569"/>
                <a:gd name="T64" fmla="*/ 3 w 726"/>
                <a:gd name="T65" fmla="*/ 0 h 56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26"/>
                <a:gd name="T100" fmla="*/ 0 h 569"/>
                <a:gd name="T101" fmla="*/ 726 w 726"/>
                <a:gd name="T102" fmla="*/ 569 h 56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26" h="569">
                  <a:moveTo>
                    <a:pt x="707" y="0"/>
                  </a:moveTo>
                  <a:lnTo>
                    <a:pt x="717" y="12"/>
                  </a:lnTo>
                  <a:lnTo>
                    <a:pt x="724" y="23"/>
                  </a:lnTo>
                  <a:lnTo>
                    <a:pt x="726" y="35"/>
                  </a:lnTo>
                  <a:lnTo>
                    <a:pt x="724" y="48"/>
                  </a:lnTo>
                  <a:lnTo>
                    <a:pt x="719" y="57"/>
                  </a:lnTo>
                  <a:lnTo>
                    <a:pt x="711" y="71"/>
                  </a:lnTo>
                  <a:lnTo>
                    <a:pt x="700" y="82"/>
                  </a:lnTo>
                  <a:lnTo>
                    <a:pt x="690" y="94"/>
                  </a:lnTo>
                  <a:lnTo>
                    <a:pt x="673" y="105"/>
                  </a:lnTo>
                  <a:lnTo>
                    <a:pt x="660" y="115"/>
                  </a:lnTo>
                  <a:lnTo>
                    <a:pt x="643" y="126"/>
                  </a:lnTo>
                  <a:lnTo>
                    <a:pt x="627" y="137"/>
                  </a:lnTo>
                  <a:lnTo>
                    <a:pt x="612" y="147"/>
                  </a:lnTo>
                  <a:lnTo>
                    <a:pt x="599" y="158"/>
                  </a:lnTo>
                  <a:lnTo>
                    <a:pt x="588" y="168"/>
                  </a:lnTo>
                  <a:lnTo>
                    <a:pt x="576" y="179"/>
                  </a:lnTo>
                  <a:lnTo>
                    <a:pt x="544" y="204"/>
                  </a:lnTo>
                  <a:lnTo>
                    <a:pt x="510" y="230"/>
                  </a:lnTo>
                  <a:lnTo>
                    <a:pt x="477" y="253"/>
                  </a:lnTo>
                  <a:lnTo>
                    <a:pt x="443" y="278"/>
                  </a:lnTo>
                  <a:lnTo>
                    <a:pt x="409" y="301"/>
                  </a:lnTo>
                  <a:lnTo>
                    <a:pt x="376" y="324"/>
                  </a:lnTo>
                  <a:lnTo>
                    <a:pt x="342" y="346"/>
                  </a:lnTo>
                  <a:lnTo>
                    <a:pt x="310" y="369"/>
                  </a:lnTo>
                  <a:lnTo>
                    <a:pt x="276" y="392"/>
                  </a:lnTo>
                  <a:lnTo>
                    <a:pt x="241" y="415"/>
                  </a:lnTo>
                  <a:lnTo>
                    <a:pt x="209" y="438"/>
                  </a:lnTo>
                  <a:lnTo>
                    <a:pt x="177" y="464"/>
                  </a:lnTo>
                  <a:lnTo>
                    <a:pt x="144" y="487"/>
                  </a:lnTo>
                  <a:lnTo>
                    <a:pt x="112" y="514"/>
                  </a:lnTo>
                  <a:lnTo>
                    <a:pt x="82" y="540"/>
                  </a:lnTo>
                  <a:lnTo>
                    <a:pt x="53" y="569"/>
                  </a:lnTo>
                  <a:lnTo>
                    <a:pt x="34" y="563"/>
                  </a:lnTo>
                  <a:lnTo>
                    <a:pt x="21" y="559"/>
                  </a:lnTo>
                  <a:lnTo>
                    <a:pt x="10" y="554"/>
                  </a:lnTo>
                  <a:lnTo>
                    <a:pt x="4" y="548"/>
                  </a:lnTo>
                  <a:lnTo>
                    <a:pt x="0" y="540"/>
                  </a:lnTo>
                  <a:lnTo>
                    <a:pt x="0" y="533"/>
                  </a:lnTo>
                  <a:lnTo>
                    <a:pt x="4" y="525"/>
                  </a:lnTo>
                  <a:lnTo>
                    <a:pt x="8" y="518"/>
                  </a:lnTo>
                  <a:lnTo>
                    <a:pt x="13" y="510"/>
                  </a:lnTo>
                  <a:lnTo>
                    <a:pt x="21" y="502"/>
                  </a:lnTo>
                  <a:lnTo>
                    <a:pt x="30" y="495"/>
                  </a:lnTo>
                  <a:lnTo>
                    <a:pt x="40" y="487"/>
                  </a:lnTo>
                  <a:lnTo>
                    <a:pt x="51" y="478"/>
                  </a:lnTo>
                  <a:lnTo>
                    <a:pt x="61" y="472"/>
                  </a:lnTo>
                  <a:lnTo>
                    <a:pt x="70" y="464"/>
                  </a:lnTo>
                  <a:lnTo>
                    <a:pt x="82" y="461"/>
                  </a:lnTo>
                  <a:lnTo>
                    <a:pt x="120" y="428"/>
                  </a:lnTo>
                  <a:lnTo>
                    <a:pt x="160" y="402"/>
                  </a:lnTo>
                  <a:lnTo>
                    <a:pt x="200" y="373"/>
                  </a:lnTo>
                  <a:lnTo>
                    <a:pt x="240" y="345"/>
                  </a:lnTo>
                  <a:lnTo>
                    <a:pt x="279" y="316"/>
                  </a:lnTo>
                  <a:lnTo>
                    <a:pt x="319" y="289"/>
                  </a:lnTo>
                  <a:lnTo>
                    <a:pt x="359" y="261"/>
                  </a:lnTo>
                  <a:lnTo>
                    <a:pt x="399" y="234"/>
                  </a:lnTo>
                  <a:lnTo>
                    <a:pt x="439" y="204"/>
                  </a:lnTo>
                  <a:lnTo>
                    <a:pt x="479" y="177"/>
                  </a:lnTo>
                  <a:lnTo>
                    <a:pt x="517" y="149"/>
                  </a:lnTo>
                  <a:lnTo>
                    <a:pt x="557" y="120"/>
                  </a:lnTo>
                  <a:lnTo>
                    <a:pt x="595" y="90"/>
                  </a:lnTo>
                  <a:lnTo>
                    <a:pt x="633" y="61"/>
                  </a:lnTo>
                  <a:lnTo>
                    <a:pt x="669" y="29"/>
                  </a:lnTo>
                  <a:lnTo>
                    <a:pt x="707" y="0"/>
                  </a:lnTo>
                  <a:close/>
                </a:path>
              </a:pathLst>
            </a:custGeom>
            <a:solidFill>
              <a:srgbClr val="FFFF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83" name="Freeform 95"/>
            <p:cNvSpPr>
              <a:spLocks/>
            </p:cNvSpPr>
            <p:nvPr/>
          </p:nvSpPr>
          <p:spPr bwMode="auto">
            <a:xfrm>
              <a:off x="4312" y="3171"/>
              <a:ext cx="51" cy="106"/>
            </a:xfrm>
            <a:custGeom>
              <a:avLst/>
              <a:gdLst>
                <a:gd name="T0" fmla="*/ 0 w 103"/>
                <a:gd name="T1" fmla="*/ 0 h 211"/>
                <a:gd name="T2" fmla="*/ 0 w 103"/>
                <a:gd name="T3" fmla="*/ 1 h 211"/>
                <a:gd name="T4" fmla="*/ 0 w 103"/>
                <a:gd name="T5" fmla="*/ 1 h 211"/>
                <a:gd name="T6" fmla="*/ 0 w 103"/>
                <a:gd name="T7" fmla="*/ 1 h 211"/>
                <a:gd name="T8" fmla="*/ 0 w 103"/>
                <a:gd name="T9" fmla="*/ 1 h 211"/>
                <a:gd name="T10" fmla="*/ 0 w 103"/>
                <a:gd name="T11" fmla="*/ 1 h 211"/>
                <a:gd name="T12" fmla="*/ 0 w 103"/>
                <a:gd name="T13" fmla="*/ 1 h 211"/>
                <a:gd name="T14" fmla="*/ 0 w 103"/>
                <a:gd name="T15" fmla="*/ 1 h 211"/>
                <a:gd name="T16" fmla="*/ 0 w 103"/>
                <a:gd name="T17" fmla="*/ 1 h 211"/>
                <a:gd name="T18" fmla="*/ 0 w 103"/>
                <a:gd name="T19" fmla="*/ 1 h 211"/>
                <a:gd name="T20" fmla="*/ 0 w 103"/>
                <a:gd name="T21" fmla="*/ 1 h 211"/>
                <a:gd name="T22" fmla="*/ 0 w 103"/>
                <a:gd name="T23" fmla="*/ 1 h 211"/>
                <a:gd name="T24" fmla="*/ 0 w 103"/>
                <a:gd name="T25" fmla="*/ 1 h 211"/>
                <a:gd name="T26" fmla="*/ 0 w 103"/>
                <a:gd name="T27" fmla="*/ 1 h 211"/>
                <a:gd name="T28" fmla="*/ 0 w 103"/>
                <a:gd name="T29" fmla="*/ 1 h 211"/>
                <a:gd name="T30" fmla="*/ 0 w 103"/>
                <a:gd name="T31" fmla="*/ 1 h 211"/>
                <a:gd name="T32" fmla="*/ 0 w 103"/>
                <a:gd name="T33" fmla="*/ 1 h 211"/>
                <a:gd name="T34" fmla="*/ 0 w 103"/>
                <a:gd name="T35" fmla="*/ 1 h 211"/>
                <a:gd name="T36" fmla="*/ 0 w 103"/>
                <a:gd name="T37" fmla="*/ 1 h 211"/>
                <a:gd name="T38" fmla="*/ 0 w 103"/>
                <a:gd name="T39" fmla="*/ 1 h 211"/>
                <a:gd name="T40" fmla="*/ 0 w 103"/>
                <a:gd name="T41" fmla="*/ 1 h 211"/>
                <a:gd name="T42" fmla="*/ 0 w 103"/>
                <a:gd name="T43" fmla="*/ 1 h 211"/>
                <a:gd name="T44" fmla="*/ 0 w 103"/>
                <a:gd name="T45" fmla="*/ 1 h 211"/>
                <a:gd name="T46" fmla="*/ 0 w 103"/>
                <a:gd name="T47" fmla="*/ 1 h 211"/>
                <a:gd name="T48" fmla="*/ 0 w 103"/>
                <a:gd name="T49" fmla="*/ 1 h 211"/>
                <a:gd name="T50" fmla="*/ 0 w 103"/>
                <a:gd name="T51" fmla="*/ 1 h 211"/>
                <a:gd name="T52" fmla="*/ 0 w 103"/>
                <a:gd name="T53" fmla="*/ 1 h 211"/>
                <a:gd name="T54" fmla="*/ 0 w 103"/>
                <a:gd name="T55" fmla="*/ 1 h 211"/>
                <a:gd name="T56" fmla="*/ 0 w 103"/>
                <a:gd name="T57" fmla="*/ 1 h 211"/>
                <a:gd name="T58" fmla="*/ 0 w 103"/>
                <a:gd name="T59" fmla="*/ 1 h 211"/>
                <a:gd name="T60" fmla="*/ 0 w 103"/>
                <a:gd name="T61" fmla="*/ 1 h 211"/>
                <a:gd name="T62" fmla="*/ 0 w 103"/>
                <a:gd name="T63" fmla="*/ 1 h 211"/>
                <a:gd name="T64" fmla="*/ 0 w 103"/>
                <a:gd name="T65" fmla="*/ 0 h 211"/>
                <a:gd name="T66" fmla="*/ 0 w 103"/>
                <a:gd name="T67" fmla="*/ 0 h 21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03"/>
                <a:gd name="T103" fmla="*/ 0 h 211"/>
                <a:gd name="T104" fmla="*/ 103 w 103"/>
                <a:gd name="T105" fmla="*/ 211 h 21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03" h="211">
                  <a:moveTo>
                    <a:pt x="6" y="0"/>
                  </a:moveTo>
                  <a:lnTo>
                    <a:pt x="12" y="11"/>
                  </a:lnTo>
                  <a:lnTo>
                    <a:pt x="19" y="23"/>
                  </a:lnTo>
                  <a:lnTo>
                    <a:pt x="25" y="36"/>
                  </a:lnTo>
                  <a:lnTo>
                    <a:pt x="33" y="47"/>
                  </a:lnTo>
                  <a:lnTo>
                    <a:pt x="38" y="59"/>
                  </a:lnTo>
                  <a:lnTo>
                    <a:pt x="44" y="74"/>
                  </a:lnTo>
                  <a:lnTo>
                    <a:pt x="52" y="87"/>
                  </a:lnTo>
                  <a:lnTo>
                    <a:pt x="57" y="103"/>
                  </a:lnTo>
                  <a:lnTo>
                    <a:pt x="61" y="116"/>
                  </a:lnTo>
                  <a:lnTo>
                    <a:pt x="69" y="129"/>
                  </a:lnTo>
                  <a:lnTo>
                    <a:pt x="72" y="142"/>
                  </a:lnTo>
                  <a:lnTo>
                    <a:pt x="78" y="158"/>
                  </a:lnTo>
                  <a:lnTo>
                    <a:pt x="84" y="171"/>
                  </a:lnTo>
                  <a:lnTo>
                    <a:pt x="91" y="184"/>
                  </a:lnTo>
                  <a:lnTo>
                    <a:pt x="95" y="198"/>
                  </a:lnTo>
                  <a:lnTo>
                    <a:pt x="103" y="211"/>
                  </a:lnTo>
                  <a:lnTo>
                    <a:pt x="95" y="198"/>
                  </a:lnTo>
                  <a:lnTo>
                    <a:pt x="88" y="186"/>
                  </a:lnTo>
                  <a:lnTo>
                    <a:pt x="78" y="175"/>
                  </a:lnTo>
                  <a:lnTo>
                    <a:pt x="69" y="161"/>
                  </a:lnTo>
                  <a:lnTo>
                    <a:pt x="59" y="148"/>
                  </a:lnTo>
                  <a:lnTo>
                    <a:pt x="50" y="135"/>
                  </a:lnTo>
                  <a:lnTo>
                    <a:pt x="40" y="122"/>
                  </a:lnTo>
                  <a:lnTo>
                    <a:pt x="33" y="110"/>
                  </a:lnTo>
                  <a:lnTo>
                    <a:pt x="23" y="95"/>
                  </a:lnTo>
                  <a:lnTo>
                    <a:pt x="15" y="82"/>
                  </a:lnTo>
                  <a:lnTo>
                    <a:pt x="8" y="68"/>
                  </a:lnTo>
                  <a:lnTo>
                    <a:pt x="4" y="55"/>
                  </a:lnTo>
                  <a:lnTo>
                    <a:pt x="0" y="40"/>
                  </a:lnTo>
                  <a:lnTo>
                    <a:pt x="0" y="27"/>
                  </a:lnTo>
                  <a:lnTo>
                    <a:pt x="0" y="13"/>
                  </a:lnTo>
                  <a:lnTo>
                    <a:pt x="6" y="0"/>
                  </a:lnTo>
                  <a:close/>
                </a:path>
              </a:pathLst>
            </a:custGeom>
            <a:solidFill>
              <a:srgbClr val="BFC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84" name="Freeform 96"/>
            <p:cNvSpPr>
              <a:spLocks/>
            </p:cNvSpPr>
            <p:nvPr/>
          </p:nvSpPr>
          <p:spPr bwMode="auto">
            <a:xfrm>
              <a:off x="4704" y="3171"/>
              <a:ext cx="32" cy="50"/>
            </a:xfrm>
            <a:custGeom>
              <a:avLst/>
              <a:gdLst>
                <a:gd name="T0" fmla="*/ 1 w 64"/>
                <a:gd name="T1" fmla="*/ 0 h 99"/>
                <a:gd name="T2" fmla="*/ 1 w 64"/>
                <a:gd name="T3" fmla="*/ 1 h 99"/>
                <a:gd name="T4" fmla="*/ 1 w 64"/>
                <a:gd name="T5" fmla="*/ 1 h 99"/>
                <a:gd name="T6" fmla="*/ 1 w 64"/>
                <a:gd name="T7" fmla="*/ 1 h 99"/>
                <a:gd name="T8" fmla="*/ 1 w 64"/>
                <a:gd name="T9" fmla="*/ 1 h 99"/>
                <a:gd name="T10" fmla="*/ 1 w 64"/>
                <a:gd name="T11" fmla="*/ 1 h 99"/>
                <a:gd name="T12" fmla="*/ 1 w 64"/>
                <a:gd name="T13" fmla="*/ 1 h 99"/>
                <a:gd name="T14" fmla="*/ 1 w 64"/>
                <a:gd name="T15" fmla="*/ 1 h 99"/>
                <a:gd name="T16" fmla="*/ 1 w 64"/>
                <a:gd name="T17" fmla="*/ 1 h 99"/>
                <a:gd name="T18" fmla="*/ 1 w 64"/>
                <a:gd name="T19" fmla="*/ 1 h 99"/>
                <a:gd name="T20" fmla="*/ 1 w 64"/>
                <a:gd name="T21" fmla="*/ 1 h 99"/>
                <a:gd name="T22" fmla="*/ 1 w 64"/>
                <a:gd name="T23" fmla="*/ 1 h 99"/>
                <a:gd name="T24" fmla="*/ 1 w 64"/>
                <a:gd name="T25" fmla="*/ 1 h 99"/>
                <a:gd name="T26" fmla="*/ 1 w 64"/>
                <a:gd name="T27" fmla="*/ 1 h 99"/>
                <a:gd name="T28" fmla="*/ 1 w 64"/>
                <a:gd name="T29" fmla="*/ 1 h 99"/>
                <a:gd name="T30" fmla="*/ 1 w 64"/>
                <a:gd name="T31" fmla="*/ 1 h 99"/>
                <a:gd name="T32" fmla="*/ 1 w 64"/>
                <a:gd name="T33" fmla="*/ 1 h 99"/>
                <a:gd name="T34" fmla="*/ 1 w 64"/>
                <a:gd name="T35" fmla="*/ 1 h 99"/>
                <a:gd name="T36" fmla="*/ 0 w 64"/>
                <a:gd name="T37" fmla="*/ 1 h 99"/>
                <a:gd name="T38" fmla="*/ 1 w 64"/>
                <a:gd name="T39" fmla="*/ 1 h 99"/>
                <a:gd name="T40" fmla="*/ 1 w 64"/>
                <a:gd name="T41" fmla="*/ 1 h 99"/>
                <a:gd name="T42" fmla="*/ 1 w 64"/>
                <a:gd name="T43" fmla="*/ 1 h 99"/>
                <a:gd name="T44" fmla="*/ 1 w 64"/>
                <a:gd name="T45" fmla="*/ 1 h 99"/>
                <a:gd name="T46" fmla="*/ 1 w 64"/>
                <a:gd name="T47" fmla="*/ 1 h 99"/>
                <a:gd name="T48" fmla="*/ 1 w 64"/>
                <a:gd name="T49" fmla="*/ 1 h 99"/>
                <a:gd name="T50" fmla="*/ 1 w 64"/>
                <a:gd name="T51" fmla="*/ 1 h 99"/>
                <a:gd name="T52" fmla="*/ 1 w 64"/>
                <a:gd name="T53" fmla="*/ 0 h 99"/>
                <a:gd name="T54" fmla="*/ 1 w 64"/>
                <a:gd name="T55" fmla="*/ 0 h 9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4"/>
                <a:gd name="T85" fmla="*/ 0 h 99"/>
                <a:gd name="T86" fmla="*/ 64 w 64"/>
                <a:gd name="T87" fmla="*/ 99 h 99"/>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4" h="99">
                  <a:moveTo>
                    <a:pt x="57" y="0"/>
                  </a:moveTo>
                  <a:lnTo>
                    <a:pt x="57" y="4"/>
                  </a:lnTo>
                  <a:lnTo>
                    <a:pt x="60" y="13"/>
                  </a:lnTo>
                  <a:lnTo>
                    <a:pt x="60" y="21"/>
                  </a:lnTo>
                  <a:lnTo>
                    <a:pt x="62" y="30"/>
                  </a:lnTo>
                  <a:lnTo>
                    <a:pt x="62" y="42"/>
                  </a:lnTo>
                  <a:lnTo>
                    <a:pt x="64" y="53"/>
                  </a:lnTo>
                  <a:lnTo>
                    <a:pt x="64" y="63"/>
                  </a:lnTo>
                  <a:lnTo>
                    <a:pt x="64" y="76"/>
                  </a:lnTo>
                  <a:lnTo>
                    <a:pt x="60" y="82"/>
                  </a:lnTo>
                  <a:lnTo>
                    <a:pt x="59" y="89"/>
                  </a:lnTo>
                  <a:lnTo>
                    <a:pt x="55" y="93"/>
                  </a:lnTo>
                  <a:lnTo>
                    <a:pt x="51" y="99"/>
                  </a:lnTo>
                  <a:lnTo>
                    <a:pt x="43" y="97"/>
                  </a:lnTo>
                  <a:lnTo>
                    <a:pt x="34" y="93"/>
                  </a:lnTo>
                  <a:lnTo>
                    <a:pt x="26" y="87"/>
                  </a:lnTo>
                  <a:lnTo>
                    <a:pt x="15" y="78"/>
                  </a:lnTo>
                  <a:lnTo>
                    <a:pt x="3" y="66"/>
                  </a:lnTo>
                  <a:lnTo>
                    <a:pt x="0" y="53"/>
                  </a:lnTo>
                  <a:lnTo>
                    <a:pt x="3" y="42"/>
                  </a:lnTo>
                  <a:lnTo>
                    <a:pt x="9" y="32"/>
                  </a:lnTo>
                  <a:lnTo>
                    <a:pt x="17" y="23"/>
                  </a:lnTo>
                  <a:lnTo>
                    <a:pt x="30" y="13"/>
                  </a:lnTo>
                  <a:lnTo>
                    <a:pt x="36" y="9"/>
                  </a:lnTo>
                  <a:lnTo>
                    <a:pt x="43" y="6"/>
                  </a:lnTo>
                  <a:lnTo>
                    <a:pt x="51" y="2"/>
                  </a:lnTo>
                  <a:lnTo>
                    <a:pt x="57" y="0"/>
                  </a:lnTo>
                  <a:close/>
                </a:path>
              </a:pathLst>
            </a:custGeom>
            <a:solidFill>
              <a:srgbClr val="FFD6C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85" name="Freeform 97"/>
            <p:cNvSpPr>
              <a:spLocks/>
            </p:cNvSpPr>
            <p:nvPr/>
          </p:nvSpPr>
          <p:spPr bwMode="auto">
            <a:xfrm>
              <a:off x="4090" y="3185"/>
              <a:ext cx="8" cy="29"/>
            </a:xfrm>
            <a:custGeom>
              <a:avLst/>
              <a:gdLst>
                <a:gd name="T0" fmla="*/ 0 w 17"/>
                <a:gd name="T1" fmla="*/ 0 h 58"/>
                <a:gd name="T2" fmla="*/ 0 w 17"/>
                <a:gd name="T3" fmla="*/ 1 h 58"/>
                <a:gd name="T4" fmla="*/ 0 w 17"/>
                <a:gd name="T5" fmla="*/ 1 h 58"/>
                <a:gd name="T6" fmla="*/ 0 w 17"/>
                <a:gd name="T7" fmla="*/ 1 h 58"/>
                <a:gd name="T8" fmla="*/ 0 w 17"/>
                <a:gd name="T9" fmla="*/ 1 h 58"/>
                <a:gd name="T10" fmla="*/ 0 w 17"/>
                <a:gd name="T11" fmla="*/ 1 h 58"/>
                <a:gd name="T12" fmla="*/ 0 w 17"/>
                <a:gd name="T13" fmla="*/ 1 h 58"/>
                <a:gd name="T14" fmla="*/ 0 w 17"/>
                <a:gd name="T15" fmla="*/ 1 h 58"/>
                <a:gd name="T16" fmla="*/ 0 w 17"/>
                <a:gd name="T17" fmla="*/ 1 h 58"/>
                <a:gd name="T18" fmla="*/ 0 w 17"/>
                <a:gd name="T19" fmla="*/ 1 h 58"/>
                <a:gd name="T20" fmla="*/ 0 w 17"/>
                <a:gd name="T21" fmla="*/ 1 h 58"/>
                <a:gd name="T22" fmla="*/ 0 w 17"/>
                <a:gd name="T23" fmla="*/ 1 h 58"/>
                <a:gd name="T24" fmla="*/ 0 w 17"/>
                <a:gd name="T25" fmla="*/ 1 h 58"/>
                <a:gd name="T26" fmla="*/ 0 w 17"/>
                <a:gd name="T27" fmla="*/ 1 h 58"/>
                <a:gd name="T28" fmla="*/ 0 w 17"/>
                <a:gd name="T29" fmla="*/ 1 h 58"/>
                <a:gd name="T30" fmla="*/ 0 w 17"/>
                <a:gd name="T31" fmla="*/ 1 h 58"/>
                <a:gd name="T32" fmla="*/ 0 w 17"/>
                <a:gd name="T33" fmla="*/ 1 h 58"/>
                <a:gd name="T34" fmla="*/ 0 w 17"/>
                <a:gd name="T35" fmla="*/ 1 h 58"/>
                <a:gd name="T36" fmla="*/ 0 w 17"/>
                <a:gd name="T37" fmla="*/ 0 h 58"/>
                <a:gd name="T38" fmla="*/ 0 w 17"/>
                <a:gd name="T39" fmla="*/ 0 h 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
                <a:gd name="T61" fmla="*/ 0 h 58"/>
                <a:gd name="T62" fmla="*/ 17 w 17"/>
                <a:gd name="T63" fmla="*/ 58 h 5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 h="58">
                  <a:moveTo>
                    <a:pt x="17" y="0"/>
                  </a:moveTo>
                  <a:lnTo>
                    <a:pt x="16" y="5"/>
                  </a:lnTo>
                  <a:lnTo>
                    <a:pt x="16" y="13"/>
                  </a:lnTo>
                  <a:lnTo>
                    <a:pt x="16" y="20"/>
                  </a:lnTo>
                  <a:lnTo>
                    <a:pt x="16" y="26"/>
                  </a:lnTo>
                  <a:lnTo>
                    <a:pt x="14" y="39"/>
                  </a:lnTo>
                  <a:lnTo>
                    <a:pt x="14" y="49"/>
                  </a:lnTo>
                  <a:lnTo>
                    <a:pt x="10" y="55"/>
                  </a:lnTo>
                  <a:lnTo>
                    <a:pt x="8" y="58"/>
                  </a:lnTo>
                  <a:lnTo>
                    <a:pt x="4" y="58"/>
                  </a:lnTo>
                  <a:lnTo>
                    <a:pt x="2" y="57"/>
                  </a:lnTo>
                  <a:lnTo>
                    <a:pt x="0" y="51"/>
                  </a:lnTo>
                  <a:lnTo>
                    <a:pt x="0" y="45"/>
                  </a:lnTo>
                  <a:lnTo>
                    <a:pt x="0" y="36"/>
                  </a:lnTo>
                  <a:lnTo>
                    <a:pt x="2" y="26"/>
                  </a:lnTo>
                  <a:lnTo>
                    <a:pt x="4" y="15"/>
                  </a:lnTo>
                  <a:lnTo>
                    <a:pt x="10" y="3"/>
                  </a:lnTo>
                  <a:lnTo>
                    <a:pt x="14" y="1"/>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86" name="Freeform 98"/>
            <p:cNvSpPr>
              <a:spLocks/>
            </p:cNvSpPr>
            <p:nvPr/>
          </p:nvSpPr>
          <p:spPr bwMode="auto">
            <a:xfrm>
              <a:off x="4601" y="3214"/>
              <a:ext cx="21" cy="14"/>
            </a:xfrm>
            <a:custGeom>
              <a:avLst/>
              <a:gdLst>
                <a:gd name="T0" fmla="*/ 1 w 42"/>
                <a:gd name="T1" fmla="*/ 0 h 27"/>
                <a:gd name="T2" fmla="*/ 1 w 42"/>
                <a:gd name="T3" fmla="*/ 1 h 27"/>
                <a:gd name="T4" fmla="*/ 1 w 42"/>
                <a:gd name="T5" fmla="*/ 1 h 27"/>
                <a:gd name="T6" fmla="*/ 1 w 42"/>
                <a:gd name="T7" fmla="*/ 1 h 27"/>
                <a:gd name="T8" fmla="*/ 1 w 42"/>
                <a:gd name="T9" fmla="*/ 1 h 27"/>
                <a:gd name="T10" fmla="*/ 1 w 42"/>
                <a:gd name="T11" fmla="*/ 1 h 27"/>
                <a:gd name="T12" fmla="*/ 1 w 42"/>
                <a:gd name="T13" fmla="*/ 1 h 27"/>
                <a:gd name="T14" fmla="*/ 1 w 42"/>
                <a:gd name="T15" fmla="*/ 1 h 27"/>
                <a:gd name="T16" fmla="*/ 0 w 42"/>
                <a:gd name="T17" fmla="*/ 1 h 27"/>
                <a:gd name="T18" fmla="*/ 0 w 42"/>
                <a:gd name="T19" fmla="*/ 1 h 27"/>
                <a:gd name="T20" fmla="*/ 1 w 42"/>
                <a:gd name="T21" fmla="*/ 1 h 27"/>
                <a:gd name="T22" fmla="*/ 1 w 42"/>
                <a:gd name="T23" fmla="*/ 1 h 27"/>
                <a:gd name="T24" fmla="*/ 1 w 42"/>
                <a:gd name="T25" fmla="*/ 1 h 27"/>
                <a:gd name="T26" fmla="*/ 1 w 42"/>
                <a:gd name="T27" fmla="*/ 1 h 27"/>
                <a:gd name="T28" fmla="*/ 1 w 42"/>
                <a:gd name="T29" fmla="*/ 0 h 27"/>
                <a:gd name="T30" fmla="*/ 1 w 42"/>
                <a:gd name="T31" fmla="*/ 0 h 2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2"/>
                <a:gd name="T49" fmla="*/ 0 h 27"/>
                <a:gd name="T50" fmla="*/ 42 w 42"/>
                <a:gd name="T51" fmla="*/ 27 h 2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2" h="27">
                  <a:moveTo>
                    <a:pt x="42" y="0"/>
                  </a:moveTo>
                  <a:lnTo>
                    <a:pt x="42" y="6"/>
                  </a:lnTo>
                  <a:lnTo>
                    <a:pt x="40" y="14"/>
                  </a:lnTo>
                  <a:lnTo>
                    <a:pt x="33" y="18"/>
                  </a:lnTo>
                  <a:lnTo>
                    <a:pt x="29" y="23"/>
                  </a:lnTo>
                  <a:lnTo>
                    <a:pt x="17" y="25"/>
                  </a:lnTo>
                  <a:lnTo>
                    <a:pt x="10" y="27"/>
                  </a:lnTo>
                  <a:lnTo>
                    <a:pt x="2" y="27"/>
                  </a:lnTo>
                  <a:lnTo>
                    <a:pt x="0" y="27"/>
                  </a:lnTo>
                  <a:lnTo>
                    <a:pt x="0" y="23"/>
                  </a:lnTo>
                  <a:lnTo>
                    <a:pt x="4" y="18"/>
                  </a:lnTo>
                  <a:lnTo>
                    <a:pt x="12" y="14"/>
                  </a:lnTo>
                  <a:lnTo>
                    <a:pt x="21" y="8"/>
                  </a:lnTo>
                  <a:lnTo>
                    <a:pt x="31" y="4"/>
                  </a:ln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87" name="Freeform 99"/>
            <p:cNvSpPr>
              <a:spLocks/>
            </p:cNvSpPr>
            <p:nvPr/>
          </p:nvSpPr>
          <p:spPr bwMode="auto">
            <a:xfrm>
              <a:off x="4558" y="3214"/>
              <a:ext cx="384" cy="486"/>
            </a:xfrm>
            <a:custGeom>
              <a:avLst/>
              <a:gdLst>
                <a:gd name="T0" fmla="*/ 3 w 768"/>
                <a:gd name="T1" fmla="*/ 1 h 972"/>
                <a:gd name="T2" fmla="*/ 3 w 768"/>
                <a:gd name="T3" fmla="*/ 1 h 972"/>
                <a:gd name="T4" fmla="*/ 3 w 768"/>
                <a:gd name="T5" fmla="*/ 1 h 972"/>
                <a:gd name="T6" fmla="*/ 3 w 768"/>
                <a:gd name="T7" fmla="*/ 1 h 972"/>
                <a:gd name="T8" fmla="*/ 3 w 768"/>
                <a:gd name="T9" fmla="*/ 1 h 972"/>
                <a:gd name="T10" fmla="*/ 3 w 768"/>
                <a:gd name="T11" fmla="*/ 2 h 972"/>
                <a:gd name="T12" fmla="*/ 3 w 768"/>
                <a:gd name="T13" fmla="*/ 2 h 972"/>
                <a:gd name="T14" fmla="*/ 3 w 768"/>
                <a:gd name="T15" fmla="*/ 2 h 972"/>
                <a:gd name="T16" fmla="*/ 3 w 768"/>
                <a:gd name="T17" fmla="*/ 2 h 972"/>
                <a:gd name="T18" fmla="*/ 3 w 768"/>
                <a:gd name="T19" fmla="*/ 2 h 972"/>
                <a:gd name="T20" fmla="*/ 3 w 768"/>
                <a:gd name="T21" fmla="*/ 2 h 972"/>
                <a:gd name="T22" fmla="*/ 3 w 768"/>
                <a:gd name="T23" fmla="*/ 2 h 972"/>
                <a:gd name="T24" fmla="*/ 3 w 768"/>
                <a:gd name="T25" fmla="*/ 2 h 972"/>
                <a:gd name="T26" fmla="*/ 3 w 768"/>
                <a:gd name="T27" fmla="*/ 1 h 972"/>
                <a:gd name="T28" fmla="*/ 3 w 768"/>
                <a:gd name="T29" fmla="*/ 1 h 972"/>
                <a:gd name="T30" fmla="*/ 3 w 768"/>
                <a:gd name="T31" fmla="*/ 1 h 972"/>
                <a:gd name="T32" fmla="*/ 3 w 768"/>
                <a:gd name="T33" fmla="*/ 1 h 972"/>
                <a:gd name="T34" fmla="*/ 3 w 768"/>
                <a:gd name="T35" fmla="*/ 2 h 972"/>
                <a:gd name="T36" fmla="*/ 2 w 768"/>
                <a:gd name="T37" fmla="*/ 2 h 972"/>
                <a:gd name="T38" fmla="*/ 2 w 768"/>
                <a:gd name="T39" fmla="*/ 2 h 972"/>
                <a:gd name="T40" fmla="*/ 2 w 768"/>
                <a:gd name="T41" fmla="*/ 2 h 972"/>
                <a:gd name="T42" fmla="*/ 2 w 768"/>
                <a:gd name="T43" fmla="*/ 2 h 972"/>
                <a:gd name="T44" fmla="*/ 2 w 768"/>
                <a:gd name="T45" fmla="*/ 2 h 972"/>
                <a:gd name="T46" fmla="*/ 2 w 768"/>
                <a:gd name="T47" fmla="*/ 3 h 972"/>
                <a:gd name="T48" fmla="*/ 2 w 768"/>
                <a:gd name="T49" fmla="*/ 3 h 972"/>
                <a:gd name="T50" fmla="*/ 2 w 768"/>
                <a:gd name="T51" fmla="*/ 3 h 972"/>
                <a:gd name="T52" fmla="*/ 2 w 768"/>
                <a:gd name="T53" fmla="*/ 4 h 972"/>
                <a:gd name="T54" fmla="*/ 2 w 768"/>
                <a:gd name="T55" fmla="*/ 4 h 972"/>
                <a:gd name="T56" fmla="*/ 2 w 768"/>
                <a:gd name="T57" fmla="*/ 4 h 972"/>
                <a:gd name="T58" fmla="*/ 1 w 768"/>
                <a:gd name="T59" fmla="*/ 4 h 972"/>
                <a:gd name="T60" fmla="*/ 1 w 768"/>
                <a:gd name="T61" fmla="*/ 4 h 972"/>
                <a:gd name="T62" fmla="*/ 1 w 768"/>
                <a:gd name="T63" fmla="*/ 4 h 972"/>
                <a:gd name="T64" fmla="*/ 1 w 768"/>
                <a:gd name="T65" fmla="*/ 4 h 972"/>
                <a:gd name="T66" fmla="*/ 1 w 768"/>
                <a:gd name="T67" fmla="*/ 4 h 972"/>
                <a:gd name="T68" fmla="*/ 1 w 768"/>
                <a:gd name="T69" fmla="*/ 4 h 972"/>
                <a:gd name="T70" fmla="*/ 1 w 768"/>
                <a:gd name="T71" fmla="*/ 4 h 972"/>
                <a:gd name="T72" fmla="*/ 1 w 768"/>
                <a:gd name="T73" fmla="*/ 4 h 972"/>
                <a:gd name="T74" fmla="*/ 1 w 768"/>
                <a:gd name="T75" fmla="*/ 4 h 972"/>
                <a:gd name="T76" fmla="*/ 1 w 768"/>
                <a:gd name="T77" fmla="*/ 3 h 972"/>
                <a:gd name="T78" fmla="*/ 1 w 768"/>
                <a:gd name="T79" fmla="*/ 3 h 972"/>
                <a:gd name="T80" fmla="*/ 0 w 768"/>
                <a:gd name="T81" fmla="*/ 3 h 972"/>
                <a:gd name="T82" fmla="*/ 1 w 768"/>
                <a:gd name="T83" fmla="*/ 3 h 972"/>
                <a:gd name="T84" fmla="*/ 1 w 768"/>
                <a:gd name="T85" fmla="*/ 2 h 972"/>
                <a:gd name="T86" fmla="*/ 1 w 768"/>
                <a:gd name="T87" fmla="*/ 2 h 972"/>
                <a:gd name="T88" fmla="*/ 1 w 768"/>
                <a:gd name="T89" fmla="*/ 2 h 972"/>
                <a:gd name="T90" fmla="*/ 1 w 768"/>
                <a:gd name="T91" fmla="*/ 2 h 972"/>
                <a:gd name="T92" fmla="*/ 2 w 768"/>
                <a:gd name="T93" fmla="*/ 2 h 972"/>
                <a:gd name="T94" fmla="*/ 2 w 768"/>
                <a:gd name="T95" fmla="*/ 2 h 972"/>
                <a:gd name="T96" fmla="*/ 2 w 768"/>
                <a:gd name="T97" fmla="*/ 1 h 972"/>
                <a:gd name="T98" fmla="*/ 2 w 768"/>
                <a:gd name="T99" fmla="*/ 1 h 972"/>
                <a:gd name="T100" fmla="*/ 2 w 768"/>
                <a:gd name="T101" fmla="*/ 1 h 972"/>
                <a:gd name="T102" fmla="*/ 2 w 768"/>
                <a:gd name="T103" fmla="*/ 1 h 972"/>
                <a:gd name="T104" fmla="*/ 2 w 768"/>
                <a:gd name="T105" fmla="*/ 1 h 972"/>
                <a:gd name="T106" fmla="*/ 3 w 768"/>
                <a:gd name="T107" fmla="*/ 1 h 972"/>
                <a:gd name="T108" fmla="*/ 3 w 768"/>
                <a:gd name="T109" fmla="*/ 1 h 972"/>
                <a:gd name="T110" fmla="*/ 3 w 768"/>
                <a:gd name="T111" fmla="*/ 1 h 972"/>
                <a:gd name="T112" fmla="*/ 3 w 768"/>
                <a:gd name="T113" fmla="*/ 1 h 972"/>
                <a:gd name="T114" fmla="*/ 3 w 768"/>
                <a:gd name="T115" fmla="*/ 1 h 97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68"/>
                <a:gd name="T175" fmla="*/ 0 h 972"/>
                <a:gd name="T176" fmla="*/ 768 w 768"/>
                <a:gd name="T177" fmla="*/ 972 h 97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68" h="972">
                  <a:moveTo>
                    <a:pt x="709" y="0"/>
                  </a:moveTo>
                  <a:lnTo>
                    <a:pt x="720" y="8"/>
                  </a:lnTo>
                  <a:lnTo>
                    <a:pt x="732" y="18"/>
                  </a:lnTo>
                  <a:lnTo>
                    <a:pt x="737" y="31"/>
                  </a:lnTo>
                  <a:lnTo>
                    <a:pt x="745" y="46"/>
                  </a:lnTo>
                  <a:lnTo>
                    <a:pt x="749" y="61"/>
                  </a:lnTo>
                  <a:lnTo>
                    <a:pt x="753" y="76"/>
                  </a:lnTo>
                  <a:lnTo>
                    <a:pt x="755" y="94"/>
                  </a:lnTo>
                  <a:lnTo>
                    <a:pt x="756" y="113"/>
                  </a:lnTo>
                  <a:lnTo>
                    <a:pt x="756" y="130"/>
                  </a:lnTo>
                  <a:lnTo>
                    <a:pt x="758" y="149"/>
                  </a:lnTo>
                  <a:lnTo>
                    <a:pt x="758" y="168"/>
                  </a:lnTo>
                  <a:lnTo>
                    <a:pt x="758" y="189"/>
                  </a:lnTo>
                  <a:lnTo>
                    <a:pt x="758" y="206"/>
                  </a:lnTo>
                  <a:lnTo>
                    <a:pt x="762" y="223"/>
                  </a:lnTo>
                  <a:lnTo>
                    <a:pt x="762" y="240"/>
                  </a:lnTo>
                  <a:lnTo>
                    <a:pt x="768" y="257"/>
                  </a:lnTo>
                  <a:lnTo>
                    <a:pt x="768" y="265"/>
                  </a:lnTo>
                  <a:lnTo>
                    <a:pt x="766" y="276"/>
                  </a:lnTo>
                  <a:lnTo>
                    <a:pt x="762" y="284"/>
                  </a:lnTo>
                  <a:lnTo>
                    <a:pt x="758" y="291"/>
                  </a:lnTo>
                  <a:lnTo>
                    <a:pt x="753" y="295"/>
                  </a:lnTo>
                  <a:lnTo>
                    <a:pt x="749" y="295"/>
                  </a:lnTo>
                  <a:lnTo>
                    <a:pt x="745" y="291"/>
                  </a:lnTo>
                  <a:lnTo>
                    <a:pt x="745" y="288"/>
                  </a:lnTo>
                  <a:lnTo>
                    <a:pt x="743" y="282"/>
                  </a:lnTo>
                  <a:lnTo>
                    <a:pt x="743" y="276"/>
                  </a:lnTo>
                  <a:lnTo>
                    <a:pt x="734" y="282"/>
                  </a:lnTo>
                  <a:lnTo>
                    <a:pt x="730" y="289"/>
                  </a:lnTo>
                  <a:lnTo>
                    <a:pt x="726" y="297"/>
                  </a:lnTo>
                  <a:lnTo>
                    <a:pt x="726" y="307"/>
                  </a:lnTo>
                  <a:lnTo>
                    <a:pt x="722" y="316"/>
                  </a:lnTo>
                  <a:lnTo>
                    <a:pt x="722" y="326"/>
                  </a:lnTo>
                  <a:lnTo>
                    <a:pt x="716" y="333"/>
                  </a:lnTo>
                  <a:lnTo>
                    <a:pt x="709" y="341"/>
                  </a:lnTo>
                  <a:lnTo>
                    <a:pt x="707" y="322"/>
                  </a:lnTo>
                  <a:lnTo>
                    <a:pt x="705" y="307"/>
                  </a:lnTo>
                  <a:lnTo>
                    <a:pt x="699" y="288"/>
                  </a:lnTo>
                  <a:lnTo>
                    <a:pt x="694" y="272"/>
                  </a:lnTo>
                  <a:lnTo>
                    <a:pt x="684" y="255"/>
                  </a:lnTo>
                  <a:lnTo>
                    <a:pt x="677" y="242"/>
                  </a:lnTo>
                  <a:lnTo>
                    <a:pt x="665" y="229"/>
                  </a:lnTo>
                  <a:lnTo>
                    <a:pt x="656" y="219"/>
                  </a:lnTo>
                  <a:lnTo>
                    <a:pt x="642" y="210"/>
                  </a:lnTo>
                  <a:lnTo>
                    <a:pt x="629" y="206"/>
                  </a:lnTo>
                  <a:lnTo>
                    <a:pt x="614" y="202"/>
                  </a:lnTo>
                  <a:lnTo>
                    <a:pt x="600" y="202"/>
                  </a:lnTo>
                  <a:lnTo>
                    <a:pt x="583" y="206"/>
                  </a:lnTo>
                  <a:lnTo>
                    <a:pt x="570" y="215"/>
                  </a:lnTo>
                  <a:lnTo>
                    <a:pt x="555" y="229"/>
                  </a:lnTo>
                  <a:lnTo>
                    <a:pt x="540" y="248"/>
                  </a:lnTo>
                  <a:lnTo>
                    <a:pt x="538" y="253"/>
                  </a:lnTo>
                  <a:lnTo>
                    <a:pt x="536" y="259"/>
                  </a:lnTo>
                  <a:lnTo>
                    <a:pt x="532" y="263"/>
                  </a:lnTo>
                  <a:lnTo>
                    <a:pt x="530" y="269"/>
                  </a:lnTo>
                  <a:lnTo>
                    <a:pt x="521" y="274"/>
                  </a:lnTo>
                  <a:lnTo>
                    <a:pt x="511" y="278"/>
                  </a:lnTo>
                  <a:lnTo>
                    <a:pt x="500" y="278"/>
                  </a:lnTo>
                  <a:lnTo>
                    <a:pt x="490" y="282"/>
                  </a:lnTo>
                  <a:lnTo>
                    <a:pt x="483" y="288"/>
                  </a:lnTo>
                  <a:lnTo>
                    <a:pt x="479" y="295"/>
                  </a:lnTo>
                  <a:lnTo>
                    <a:pt x="446" y="307"/>
                  </a:lnTo>
                  <a:lnTo>
                    <a:pt x="420" y="322"/>
                  </a:lnTo>
                  <a:lnTo>
                    <a:pt x="393" y="341"/>
                  </a:lnTo>
                  <a:lnTo>
                    <a:pt x="374" y="365"/>
                  </a:lnTo>
                  <a:lnTo>
                    <a:pt x="355" y="390"/>
                  </a:lnTo>
                  <a:lnTo>
                    <a:pt x="340" y="417"/>
                  </a:lnTo>
                  <a:lnTo>
                    <a:pt x="327" y="445"/>
                  </a:lnTo>
                  <a:lnTo>
                    <a:pt x="317" y="478"/>
                  </a:lnTo>
                  <a:lnTo>
                    <a:pt x="308" y="508"/>
                  </a:lnTo>
                  <a:lnTo>
                    <a:pt x="300" y="542"/>
                  </a:lnTo>
                  <a:lnTo>
                    <a:pt x="294" y="573"/>
                  </a:lnTo>
                  <a:lnTo>
                    <a:pt x="291" y="609"/>
                  </a:lnTo>
                  <a:lnTo>
                    <a:pt x="287" y="641"/>
                  </a:lnTo>
                  <a:lnTo>
                    <a:pt x="285" y="673"/>
                  </a:lnTo>
                  <a:lnTo>
                    <a:pt x="281" y="704"/>
                  </a:lnTo>
                  <a:lnTo>
                    <a:pt x="281" y="734"/>
                  </a:lnTo>
                  <a:lnTo>
                    <a:pt x="277" y="746"/>
                  </a:lnTo>
                  <a:lnTo>
                    <a:pt x="281" y="757"/>
                  </a:lnTo>
                  <a:lnTo>
                    <a:pt x="285" y="769"/>
                  </a:lnTo>
                  <a:lnTo>
                    <a:pt x="289" y="780"/>
                  </a:lnTo>
                  <a:lnTo>
                    <a:pt x="294" y="788"/>
                  </a:lnTo>
                  <a:lnTo>
                    <a:pt x="300" y="799"/>
                  </a:lnTo>
                  <a:lnTo>
                    <a:pt x="304" y="810"/>
                  </a:lnTo>
                  <a:lnTo>
                    <a:pt x="306" y="824"/>
                  </a:lnTo>
                  <a:lnTo>
                    <a:pt x="294" y="824"/>
                  </a:lnTo>
                  <a:lnTo>
                    <a:pt x="285" y="831"/>
                  </a:lnTo>
                  <a:lnTo>
                    <a:pt x="275" y="843"/>
                  </a:lnTo>
                  <a:lnTo>
                    <a:pt x="266" y="856"/>
                  </a:lnTo>
                  <a:lnTo>
                    <a:pt x="254" y="869"/>
                  </a:lnTo>
                  <a:lnTo>
                    <a:pt x="241" y="883"/>
                  </a:lnTo>
                  <a:lnTo>
                    <a:pt x="234" y="886"/>
                  </a:lnTo>
                  <a:lnTo>
                    <a:pt x="226" y="892"/>
                  </a:lnTo>
                  <a:lnTo>
                    <a:pt x="215" y="894"/>
                  </a:lnTo>
                  <a:lnTo>
                    <a:pt x="205" y="898"/>
                  </a:lnTo>
                  <a:lnTo>
                    <a:pt x="192" y="905"/>
                  </a:lnTo>
                  <a:lnTo>
                    <a:pt x="178" y="915"/>
                  </a:lnTo>
                  <a:lnTo>
                    <a:pt x="161" y="923"/>
                  </a:lnTo>
                  <a:lnTo>
                    <a:pt x="146" y="934"/>
                  </a:lnTo>
                  <a:lnTo>
                    <a:pt x="129" y="943"/>
                  </a:lnTo>
                  <a:lnTo>
                    <a:pt x="114" y="953"/>
                  </a:lnTo>
                  <a:lnTo>
                    <a:pt x="99" y="959"/>
                  </a:lnTo>
                  <a:lnTo>
                    <a:pt x="83" y="968"/>
                  </a:lnTo>
                  <a:lnTo>
                    <a:pt x="66" y="970"/>
                  </a:lnTo>
                  <a:lnTo>
                    <a:pt x="53" y="972"/>
                  </a:lnTo>
                  <a:lnTo>
                    <a:pt x="40" y="968"/>
                  </a:lnTo>
                  <a:lnTo>
                    <a:pt x="30" y="964"/>
                  </a:lnTo>
                  <a:lnTo>
                    <a:pt x="22" y="955"/>
                  </a:lnTo>
                  <a:lnTo>
                    <a:pt x="17" y="942"/>
                  </a:lnTo>
                  <a:lnTo>
                    <a:pt x="15" y="921"/>
                  </a:lnTo>
                  <a:lnTo>
                    <a:pt x="17" y="898"/>
                  </a:lnTo>
                  <a:lnTo>
                    <a:pt x="17" y="871"/>
                  </a:lnTo>
                  <a:lnTo>
                    <a:pt x="17" y="846"/>
                  </a:lnTo>
                  <a:lnTo>
                    <a:pt x="15" y="820"/>
                  </a:lnTo>
                  <a:lnTo>
                    <a:pt x="13" y="795"/>
                  </a:lnTo>
                  <a:lnTo>
                    <a:pt x="11" y="769"/>
                  </a:lnTo>
                  <a:lnTo>
                    <a:pt x="9" y="744"/>
                  </a:lnTo>
                  <a:lnTo>
                    <a:pt x="7" y="717"/>
                  </a:lnTo>
                  <a:lnTo>
                    <a:pt x="5" y="691"/>
                  </a:lnTo>
                  <a:lnTo>
                    <a:pt x="3" y="664"/>
                  </a:lnTo>
                  <a:lnTo>
                    <a:pt x="2" y="639"/>
                  </a:lnTo>
                  <a:lnTo>
                    <a:pt x="0" y="613"/>
                  </a:lnTo>
                  <a:lnTo>
                    <a:pt x="0" y="588"/>
                  </a:lnTo>
                  <a:lnTo>
                    <a:pt x="0" y="565"/>
                  </a:lnTo>
                  <a:lnTo>
                    <a:pt x="2" y="540"/>
                  </a:lnTo>
                  <a:lnTo>
                    <a:pt x="3" y="518"/>
                  </a:lnTo>
                  <a:lnTo>
                    <a:pt x="9" y="497"/>
                  </a:lnTo>
                  <a:lnTo>
                    <a:pt x="26" y="489"/>
                  </a:lnTo>
                  <a:lnTo>
                    <a:pt x="45" y="481"/>
                  </a:lnTo>
                  <a:lnTo>
                    <a:pt x="64" y="470"/>
                  </a:lnTo>
                  <a:lnTo>
                    <a:pt x="83" y="461"/>
                  </a:lnTo>
                  <a:lnTo>
                    <a:pt x="99" y="447"/>
                  </a:lnTo>
                  <a:lnTo>
                    <a:pt x="116" y="434"/>
                  </a:lnTo>
                  <a:lnTo>
                    <a:pt x="133" y="419"/>
                  </a:lnTo>
                  <a:lnTo>
                    <a:pt x="152" y="405"/>
                  </a:lnTo>
                  <a:lnTo>
                    <a:pt x="169" y="390"/>
                  </a:lnTo>
                  <a:lnTo>
                    <a:pt x="186" y="375"/>
                  </a:lnTo>
                  <a:lnTo>
                    <a:pt x="203" y="358"/>
                  </a:lnTo>
                  <a:lnTo>
                    <a:pt x="222" y="345"/>
                  </a:lnTo>
                  <a:lnTo>
                    <a:pt x="239" y="327"/>
                  </a:lnTo>
                  <a:lnTo>
                    <a:pt x="258" y="316"/>
                  </a:lnTo>
                  <a:lnTo>
                    <a:pt x="279" y="303"/>
                  </a:lnTo>
                  <a:lnTo>
                    <a:pt x="300" y="291"/>
                  </a:lnTo>
                  <a:lnTo>
                    <a:pt x="311" y="282"/>
                  </a:lnTo>
                  <a:lnTo>
                    <a:pt x="325" y="272"/>
                  </a:lnTo>
                  <a:lnTo>
                    <a:pt x="338" y="259"/>
                  </a:lnTo>
                  <a:lnTo>
                    <a:pt x="351" y="250"/>
                  </a:lnTo>
                  <a:lnTo>
                    <a:pt x="363" y="236"/>
                  </a:lnTo>
                  <a:lnTo>
                    <a:pt x="378" y="223"/>
                  </a:lnTo>
                  <a:lnTo>
                    <a:pt x="389" y="210"/>
                  </a:lnTo>
                  <a:lnTo>
                    <a:pt x="405" y="198"/>
                  </a:lnTo>
                  <a:lnTo>
                    <a:pt x="416" y="185"/>
                  </a:lnTo>
                  <a:lnTo>
                    <a:pt x="429" y="175"/>
                  </a:lnTo>
                  <a:lnTo>
                    <a:pt x="443" y="164"/>
                  </a:lnTo>
                  <a:lnTo>
                    <a:pt x="456" y="156"/>
                  </a:lnTo>
                  <a:lnTo>
                    <a:pt x="467" y="149"/>
                  </a:lnTo>
                  <a:lnTo>
                    <a:pt x="483" y="147"/>
                  </a:lnTo>
                  <a:lnTo>
                    <a:pt x="494" y="143"/>
                  </a:lnTo>
                  <a:lnTo>
                    <a:pt x="509" y="147"/>
                  </a:lnTo>
                  <a:lnTo>
                    <a:pt x="521" y="135"/>
                  </a:lnTo>
                  <a:lnTo>
                    <a:pt x="532" y="126"/>
                  </a:lnTo>
                  <a:lnTo>
                    <a:pt x="543" y="116"/>
                  </a:lnTo>
                  <a:lnTo>
                    <a:pt x="557" y="107"/>
                  </a:lnTo>
                  <a:lnTo>
                    <a:pt x="570" y="97"/>
                  </a:lnTo>
                  <a:lnTo>
                    <a:pt x="583" y="86"/>
                  </a:lnTo>
                  <a:lnTo>
                    <a:pt x="595" y="76"/>
                  </a:lnTo>
                  <a:lnTo>
                    <a:pt x="608" y="67"/>
                  </a:lnTo>
                  <a:lnTo>
                    <a:pt x="620" y="56"/>
                  </a:lnTo>
                  <a:lnTo>
                    <a:pt x="633" y="46"/>
                  </a:lnTo>
                  <a:lnTo>
                    <a:pt x="644" y="37"/>
                  </a:lnTo>
                  <a:lnTo>
                    <a:pt x="658" y="27"/>
                  </a:lnTo>
                  <a:lnTo>
                    <a:pt x="669" y="19"/>
                  </a:lnTo>
                  <a:lnTo>
                    <a:pt x="682" y="12"/>
                  </a:lnTo>
                  <a:lnTo>
                    <a:pt x="696" y="4"/>
                  </a:lnTo>
                  <a:lnTo>
                    <a:pt x="709" y="0"/>
                  </a:lnTo>
                  <a:close/>
                </a:path>
              </a:pathLst>
            </a:custGeom>
            <a:solidFill>
              <a:srgbClr val="F2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88" name="Freeform 100"/>
            <p:cNvSpPr>
              <a:spLocks/>
            </p:cNvSpPr>
            <p:nvPr/>
          </p:nvSpPr>
          <p:spPr bwMode="auto">
            <a:xfrm>
              <a:off x="3904" y="3232"/>
              <a:ext cx="21" cy="45"/>
            </a:xfrm>
            <a:custGeom>
              <a:avLst/>
              <a:gdLst>
                <a:gd name="T0" fmla="*/ 1 w 41"/>
                <a:gd name="T1" fmla="*/ 0 h 89"/>
                <a:gd name="T2" fmla="*/ 1 w 41"/>
                <a:gd name="T3" fmla="*/ 1 h 89"/>
                <a:gd name="T4" fmla="*/ 1 w 41"/>
                <a:gd name="T5" fmla="*/ 1 h 89"/>
                <a:gd name="T6" fmla="*/ 1 w 41"/>
                <a:gd name="T7" fmla="*/ 1 h 89"/>
                <a:gd name="T8" fmla="*/ 1 w 41"/>
                <a:gd name="T9" fmla="*/ 1 h 89"/>
                <a:gd name="T10" fmla="*/ 1 w 41"/>
                <a:gd name="T11" fmla="*/ 1 h 89"/>
                <a:gd name="T12" fmla="*/ 1 w 41"/>
                <a:gd name="T13" fmla="*/ 1 h 89"/>
                <a:gd name="T14" fmla="*/ 1 w 41"/>
                <a:gd name="T15" fmla="*/ 1 h 89"/>
                <a:gd name="T16" fmla="*/ 1 w 41"/>
                <a:gd name="T17" fmla="*/ 1 h 89"/>
                <a:gd name="T18" fmla="*/ 1 w 41"/>
                <a:gd name="T19" fmla="*/ 1 h 89"/>
                <a:gd name="T20" fmla="*/ 1 w 41"/>
                <a:gd name="T21" fmla="*/ 1 h 89"/>
                <a:gd name="T22" fmla="*/ 1 w 41"/>
                <a:gd name="T23" fmla="*/ 1 h 89"/>
                <a:gd name="T24" fmla="*/ 1 w 41"/>
                <a:gd name="T25" fmla="*/ 1 h 89"/>
                <a:gd name="T26" fmla="*/ 1 w 41"/>
                <a:gd name="T27" fmla="*/ 1 h 89"/>
                <a:gd name="T28" fmla="*/ 1 w 41"/>
                <a:gd name="T29" fmla="*/ 1 h 89"/>
                <a:gd name="T30" fmla="*/ 0 w 41"/>
                <a:gd name="T31" fmla="*/ 1 h 89"/>
                <a:gd name="T32" fmla="*/ 0 w 41"/>
                <a:gd name="T33" fmla="*/ 1 h 89"/>
                <a:gd name="T34" fmla="*/ 0 w 41"/>
                <a:gd name="T35" fmla="*/ 1 h 89"/>
                <a:gd name="T36" fmla="*/ 1 w 41"/>
                <a:gd name="T37" fmla="*/ 1 h 89"/>
                <a:gd name="T38" fmla="*/ 1 w 41"/>
                <a:gd name="T39" fmla="*/ 1 h 89"/>
                <a:gd name="T40" fmla="*/ 1 w 41"/>
                <a:gd name="T41" fmla="*/ 1 h 89"/>
                <a:gd name="T42" fmla="*/ 1 w 41"/>
                <a:gd name="T43" fmla="*/ 1 h 89"/>
                <a:gd name="T44" fmla="*/ 1 w 41"/>
                <a:gd name="T45" fmla="*/ 1 h 89"/>
                <a:gd name="T46" fmla="*/ 1 w 41"/>
                <a:gd name="T47" fmla="*/ 1 h 89"/>
                <a:gd name="T48" fmla="*/ 1 w 41"/>
                <a:gd name="T49" fmla="*/ 0 h 89"/>
                <a:gd name="T50" fmla="*/ 1 w 41"/>
                <a:gd name="T51" fmla="*/ 0 h 8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1"/>
                <a:gd name="T79" fmla="*/ 0 h 89"/>
                <a:gd name="T80" fmla="*/ 41 w 41"/>
                <a:gd name="T81" fmla="*/ 89 h 8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1" h="89">
                  <a:moveTo>
                    <a:pt x="41" y="0"/>
                  </a:moveTo>
                  <a:lnTo>
                    <a:pt x="39" y="3"/>
                  </a:lnTo>
                  <a:lnTo>
                    <a:pt x="39" y="11"/>
                  </a:lnTo>
                  <a:lnTo>
                    <a:pt x="38" y="19"/>
                  </a:lnTo>
                  <a:lnTo>
                    <a:pt x="36" y="26"/>
                  </a:lnTo>
                  <a:lnTo>
                    <a:pt x="34" y="36"/>
                  </a:lnTo>
                  <a:lnTo>
                    <a:pt x="32" y="43"/>
                  </a:lnTo>
                  <a:lnTo>
                    <a:pt x="28" y="53"/>
                  </a:lnTo>
                  <a:lnTo>
                    <a:pt x="26" y="60"/>
                  </a:lnTo>
                  <a:lnTo>
                    <a:pt x="22" y="70"/>
                  </a:lnTo>
                  <a:lnTo>
                    <a:pt x="19" y="79"/>
                  </a:lnTo>
                  <a:lnTo>
                    <a:pt x="15" y="85"/>
                  </a:lnTo>
                  <a:lnTo>
                    <a:pt x="9" y="89"/>
                  </a:lnTo>
                  <a:lnTo>
                    <a:pt x="5" y="89"/>
                  </a:lnTo>
                  <a:lnTo>
                    <a:pt x="1" y="81"/>
                  </a:lnTo>
                  <a:lnTo>
                    <a:pt x="0" y="74"/>
                  </a:lnTo>
                  <a:lnTo>
                    <a:pt x="0" y="66"/>
                  </a:lnTo>
                  <a:lnTo>
                    <a:pt x="0" y="55"/>
                  </a:lnTo>
                  <a:lnTo>
                    <a:pt x="3" y="43"/>
                  </a:lnTo>
                  <a:lnTo>
                    <a:pt x="5" y="36"/>
                  </a:lnTo>
                  <a:lnTo>
                    <a:pt x="11" y="30"/>
                  </a:lnTo>
                  <a:lnTo>
                    <a:pt x="17" y="22"/>
                  </a:lnTo>
                  <a:lnTo>
                    <a:pt x="22" y="19"/>
                  </a:lnTo>
                  <a:lnTo>
                    <a:pt x="34" y="7"/>
                  </a:lnTo>
                  <a:lnTo>
                    <a:pt x="4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89" name="Freeform 101"/>
            <p:cNvSpPr>
              <a:spLocks/>
            </p:cNvSpPr>
            <p:nvPr/>
          </p:nvSpPr>
          <p:spPr bwMode="auto">
            <a:xfrm>
              <a:off x="4618" y="3232"/>
              <a:ext cx="36" cy="24"/>
            </a:xfrm>
            <a:custGeom>
              <a:avLst/>
              <a:gdLst>
                <a:gd name="T0" fmla="*/ 0 w 73"/>
                <a:gd name="T1" fmla="*/ 0 h 47"/>
                <a:gd name="T2" fmla="*/ 0 w 73"/>
                <a:gd name="T3" fmla="*/ 0 h 47"/>
                <a:gd name="T4" fmla="*/ 0 w 73"/>
                <a:gd name="T5" fmla="*/ 0 h 47"/>
                <a:gd name="T6" fmla="*/ 0 w 73"/>
                <a:gd name="T7" fmla="*/ 1 h 47"/>
                <a:gd name="T8" fmla="*/ 0 w 73"/>
                <a:gd name="T9" fmla="*/ 1 h 47"/>
                <a:gd name="T10" fmla="*/ 0 w 73"/>
                <a:gd name="T11" fmla="*/ 1 h 47"/>
                <a:gd name="T12" fmla="*/ 0 w 73"/>
                <a:gd name="T13" fmla="*/ 1 h 47"/>
                <a:gd name="T14" fmla="*/ 0 w 73"/>
                <a:gd name="T15" fmla="*/ 1 h 47"/>
                <a:gd name="T16" fmla="*/ 0 w 73"/>
                <a:gd name="T17" fmla="*/ 1 h 47"/>
                <a:gd name="T18" fmla="*/ 0 w 73"/>
                <a:gd name="T19" fmla="*/ 1 h 47"/>
                <a:gd name="T20" fmla="*/ 0 w 73"/>
                <a:gd name="T21" fmla="*/ 1 h 47"/>
                <a:gd name="T22" fmla="*/ 0 w 73"/>
                <a:gd name="T23" fmla="*/ 1 h 47"/>
                <a:gd name="T24" fmla="*/ 0 w 73"/>
                <a:gd name="T25" fmla="*/ 1 h 47"/>
                <a:gd name="T26" fmla="*/ 0 w 73"/>
                <a:gd name="T27" fmla="*/ 1 h 47"/>
                <a:gd name="T28" fmla="*/ 0 w 73"/>
                <a:gd name="T29" fmla="*/ 1 h 47"/>
                <a:gd name="T30" fmla="*/ 0 w 73"/>
                <a:gd name="T31" fmla="*/ 0 h 47"/>
                <a:gd name="T32" fmla="*/ 0 w 73"/>
                <a:gd name="T33" fmla="*/ 0 h 47"/>
                <a:gd name="T34" fmla="*/ 0 w 73"/>
                <a:gd name="T35" fmla="*/ 0 h 4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3"/>
                <a:gd name="T55" fmla="*/ 0 h 47"/>
                <a:gd name="T56" fmla="*/ 73 w 73"/>
                <a:gd name="T57" fmla="*/ 47 h 4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3" h="47">
                  <a:moveTo>
                    <a:pt x="63" y="0"/>
                  </a:moveTo>
                  <a:lnTo>
                    <a:pt x="69" y="0"/>
                  </a:lnTo>
                  <a:lnTo>
                    <a:pt x="73" y="0"/>
                  </a:lnTo>
                  <a:lnTo>
                    <a:pt x="61" y="11"/>
                  </a:lnTo>
                  <a:lnTo>
                    <a:pt x="50" y="20"/>
                  </a:lnTo>
                  <a:lnTo>
                    <a:pt x="37" y="28"/>
                  </a:lnTo>
                  <a:lnTo>
                    <a:pt x="25" y="36"/>
                  </a:lnTo>
                  <a:lnTo>
                    <a:pt x="14" y="41"/>
                  </a:lnTo>
                  <a:lnTo>
                    <a:pt x="0" y="47"/>
                  </a:lnTo>
                  <a:lnTo>
                    <a:pt x="8" y="38"/>
                  </a:lnTo>
                  <a:lnTo>
                    <a:pt x="16" y="30"/>
                  </a:lnTo>
                  <a:lnTo>
                    <a:pt x="23" y="20"/>
                  </a:lnTo>
                  <a:lnTo>
                    <a:pt x="31" y="15"/>
                  </a:lnTo>
                  <a:lnTo>
                    <a:pt x="37" y="9"/>
                  </a:lnTo>
                  <a:lnTo>
                    <a:pt x="46" y="3"/>
                  </a:lnTo>
                  <a:lnTo>
                    <a:pt x="54" y="0"/>
                  </a:lnTo>
                  <a:lnTo>
                    <a:pt x="6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90" name="Freeform 102"/>
            <p:cNvSpPr>
              <a:spLocks/>
            </p:cNvSpPr>
            <p:nvPr/>
          </p:nvSpPr>
          <p:spPr bwMode="auto">
            <a:xfrm>
              <a:off x="4652" y="3242"/>
              <a:ext cx="38" cy="32"/>
            </a:xfrm>
            <a:custGeom>
              <a:avLst/>
              <a:gdLst>
                <a:gd name="T0" fmla="*/ 1 w 76"/>
                <a:gd name="T1" fmla="*/ 0 h 64"/>
                <a:gd name="T2" fmla="*/ 1 w 76"/>
                <a:gd name="T3" fmla="*/ 1 h 64"/>
                <a:gd name="T4" fmla="*/ 1 w 76"/>
                <a:gd name="T5" fmla="*/ 1 h 64"/>
                <a:gd name="T6" fmla="*/ 1 w 76"/>
                <a:gd name="T7" fmla="*/ 1 h 64"/>
                <a:gd name="T8" fmla="*/ 1 w 76"/>
                <a:gd name="T9" fmla="*/ 1 h 64"/>
                <a:gd name="T10" fmla="*/ 1 w 76"/>
                <a:gd name="T11" fmla="*/ 1 h 64"/>
                <a:gd name="T12" fmla="*/ 1 w 76"/>
                <a:gd name="T13" fmla="*/ 1 h 64"/>
                <a:gd name="T14" fmla="*/ 1 w 76"/>
                <a:gd name="T15" fmla="*/ 1 h 64"/>
                <a:gd name="T16" fmla="*/ 1 w 76"/>
                <a:gd name="T17" fmla="*/ 1 h 64"/>
                <a:gd name="T18" fmla="*/ 1 w 76"/>
                <a:gd name="T19" fmla="*/ 1 h 64"/>
                <a:gd name="T20" fmla="*/ 1 w 76"/>
                <a:gd name="T21" fmla="*/ 1 h 64"/>
                <a:gd name="T22" fmla="*/ 1 w 76"/>
                <a:gd name="T23" fmla="*/ 1 h 64"/>
                <a:gd name="T24" fmla="*/ 1 w 76"/>
                <a:gd name="T25" fmla="*/ 1 h 64"/>
                <a:gd name="T26" fmla="*/ 1 w 76"/>
                <a:gd name="T27" fmla="*/ 1 h 64"/>
                <a:gd name="T28" fmla="*/ 0 w 76"/>
                <a:gd name="T29" fmla="*/ 1 h 64"/>
                <a:gd name="T30" fmla="*/ 0 w 76"/>
                <a:gd name="T31" fmla="*/ 1 h 64"/>
                <a:gd name="T32" fmla="*/ 1 w 76"/>
                <a:gd name="T33" fmla="*/ 1 h 64"/>
                <a:gd name="T34" fmla="*/ 1 w 76"/>
                <a:gd name="T35" fmla="*/ 1 h 64"/>
                <a:gd name="T36" fmla="*/ 1 w 76"/>
                <a:gd name="T37" fmla="*/ 1 h 64"/>
                <a:gd name="T38" fmla="*/ 1 w 76"/>
                <a:gd name="T39" fmla="*/ 1 h 64"/>
                <a:gd name="T40" fmla="*/ 1 w 76"/>
                <a:gd name="T41" fmla="*/ 1 h 64"/>
                <a:gd name="T42" fmla="*/ 1 w 76"/>
                <a:gd name="T43" fmla="*/ 1 h 64"/>
                <a:gd name="T44" fmla="*/ 1 w 76"/>
                <a:gd name="T45" fmla="*/ 0 h 64"/>
                <a:gd name="T46" fmla="*/ 1 w 76"/>
                <a:gd name="T47" fmla="*/ 0 h 6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6"/>
                <a:gd name="T73" fmla="*/ 0 h 64"/>
                <a:gd name="T74" fmla="*/ 76 w 76"/>
                <a:gd name="T75" fmla="*/ 64 h 6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6" h="64">
                  <a:moveTo>
                    <a:pt x="38" y="0"/>
                  </a:moveTo>
                  <a:lnTo>
                    <a:pt x="53" y="1"/>
                  </a:lnTo>
                  <a:lnTo>
                    <a:pt x="63" y="7"/>
                  </a:lnTo>
                  <a:lnTo>
                    <a:pt x="72" y="11"/>
                  </a:lnTo>
                  <a:lnTo>
                    <a:pt x="76" y="15"/>
                  </a:lnTo>
                  <a:lnTo>
                    <a:pt x="76" y="22"/>
                  </a:lnTo>
                  <a:lnTo>
                    <a:pt x="68" y="32"/>
                  </a:lnTo>
                  <a:lnTo>
                    <a:pt x="61" y="36"/>
                  </a:lnTo>
                  <a:lnTo>
                    <a:pt x="53" y="40"/>
                  </a:lnTo>
                  <a:lnTo>
                    <a:pt x="44" y="43"/>
                  </a:lnTo>
                  <a:lnTo>
                    <a:pt x="34" y="47"/>
                  </a:lnTo>
                  <a:lnTo>
                    <a:pt x="23" y="51"/>
                  </a:lnTo>
                  <a:lnTo>
                    <a:pt x="15" y="57"/>
                  </a:lnTo>
                  <a:lnTo>
                    <a:pt x="6" y="60"/>
                  </a:lnTo>
                  <a:lnTo>
                    <a:pt x="0" y="64"/>
                  </a:lnTo>
                  <a:lnTo>
                    <a:pt x="0" y="51"/>
                  </a:lnTo>
                  <a:lnTo>
                    <a:pt x="6" y="43"/>
                  </a:lnTo>
                  <a:lnTo>
                    <a:pt x="11" y="34"/>
                  </a:lnTo>
                  <a:lnTo>
                    <a:pt x="23" y="28"/>
                  </a:lnTo>
                  <a:lnTo>
                    <a:pt x="27" y="20"/>
                  </a:lnTo>
                  <a:lnTo>
                    <a:pt x="32" y="15"/>
                  </a:lnTo>
                  <a:lnTo>
                    <a:pt x="36" y="7"/>
                  </a:lnTo>
                  <a:lnTo>
                    <a:pt x="3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91" name="Freeform 103"/>
            <p:cNvSpPr>
              <a:spLocks/>
            </p:cNvSpPr>
            <p:nvPr/>
          </p:nvSpPr>
          <p:spPr bwMode="auto">
            <a:xfrm>
              <a:off x="4005" y="3247"/>
              <a:ext cx="15" cy="61"/>
            </a:xfrm>
            <a:custGeom>
              <a:avLst/>
              <a:gdLst>
                <a:gd name="T0" fmla="*/ 0 w 31"/>
                <a:gd name="T1" fmla="*/ 0 h 124"/>
                <a:gd name="T2" fmla="*/ 0 w 31"/>
                <a:gd name="T3" fmla="*/ 0 h 124"/>
                <a:gd name="T4" fmla="*/ 0 w 31"/>
                <a:gd name="T5" fmla="*/ 0 h 124"/>
                <a:gd name="T6" fmla="*/ 0 w 31"/>
                <a:gd name="T7" fmla="*/ 0 h 124"/>
                <a:gd name="T8" fmla="*/ 0 w 31"/>
                <a:gd name="T9" fmla="*/ 0 h 124"/>
                <a:gd name="T10" fmla="*/ 0 w 31"/>
                <a:gd name="T11" fmla="*/ 0 h 124"/>
                <a:gd name="T12" fmla="*/ 0 w 31"/>
                <a:gd name="T13" fmla="*/ 0 h 124"/>
                <a:gd name="T14" fmla="*/ 0 w 31"/>
                <a:gd name="T15" fmla="*/ 0 h 124"/>
                <a:gd name="T16" fmla="*/ 0 w 31"/>
                <a:gd name="T17" fmla="*/ 0 h 124"/>
                <a:gd name="T18" fmla="*/ 0 w 31"/>
                <a:gd name="T19" fmla="*/ 0 h 124"/>
                <a:gd name="T20" fmla="*/ 0 w 31"/>
                <a:gd name="T21" fmla="*/ 0 h 124"/>
                <a:gd name="T22" fmla="*/ 0 w 31"/>
                <a:gd name="T23" fmla="*/ 0 h 124"/>
                <a:gd name="T24" fmla="*/ 0 w 31"/>
                <a:gd name="T25" fmla="*/ 0 h 124"/>
                <a:gd name="T26" fmla="*/ 0 w 31"/>
                <a:gd name="T27" fmla="*/ 0 h 124"/>
                <a:gd name="T28" fmla="*/ 0 w 31"/>
                <a:gd name="T29" fmla="*/ 0 h 124"/>
                <a:gd name="T30" fmla="*/ 0 w 31"/>
                <a:gd name="T31" fmla="*/ 0 h 124"/>
                <a:gd name="T32" fmla="*/ 0 w 31"/>
                <a:gd name="T33" fmla="*/ 0 h 124"/>
                <a:gd name="T34" fmla="*/ 0 w 31"/>
                <a:gd name="T35" fmla="*/ 0 h 124"/>
                <a:gd name="T36" fmla="*/ 0 w 31"/>
                <a:gd name="T37" fmla="*/ 0 h 124"/>
                <a:gd name="T38" fmla="*/ 0 w 31"/>
                <a:gd name="T39" fmla="*/ 0 h 124"/>
                <a:gd name="T40" fmla="*/ 0 w 31"/>
                <a:gd name="T41" fmla="*/ 0 h 124"/>
                <a:gd name="T42" fmla="*/ 0 w 31"/>
                <a:gd name="T43" fmla="*/ 0 h 124"/>
                <a:gd name="T44" fmla="*/ 0 w 31"/>
                <a:gd name="T45" fmla="*/ 0 h 124"/>
                <a:gd name="T46" fmla="*/ 0 w 31"/>
                <a:gd name="T47" fmla="*/ 0 h 124"/>
                <a:gd name="T48" fmla="*/ 0 w 31"/>
                <a:gd name="T49" fmla="*/ 0 h 124"/>
                <a:gd name="T50" fmla="*/ 0 w 31"/>
                <a:gd name="T51" fmla="*/ 0 h 1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1"/>
                <a:gd name="T79" fmla="*/ 0 h 124"/>
                <a:gd name="T80" fmla="*/ 31 w 31"/>
                <a:gd name="T81" fmla="*/ 124 h 12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1" h="124">
                  <a:moveTo>
                    <a:pt x="21" y="0"/>
                  </a:moveTo>
                  <a:lnTo>
                    <a:pt x="21" y="8"/>
                  </a:lnTo>
                  <a:lnTo>
                    <a:pt x="21" y="15"/>
                  </a:lnTo>
                  <a:lnTo>
                    <a:pt x="23" y="25"/>
                  </a:lnTo>
                  <a:lnTo>
                    <a:pt x="23" y="34"/>
                  </a:lnTo>
                  <a:lnTo>
                    <a:pt x="23" y="44"/>
                  </a:lnTo>
                  <a:lnTo>
                    <a:pt x="25" y="55"/>
                  </a:lnTo>
                  <a:lnTo>
                    <a:pt x="25" y="65"/>
                  </a:lnTo>
                  <a:lnTo>
                    <a:pt x="27" y="74"/>
                  </a:lnTo>
                  <a:lnTo>
                    <a:pt x="27" y="88"/>
                  </a:lnTo>
                  <a:lnTo>
                    <a:pt x="29" y="99"/>
                  </a:lnTo>
                  <a:lnTo>
                    <a:pt x="29" y="110"/>
                  </a:lnTo>
                  <a:lnTo>
                    <a:pt x="31" y="124"/>
                  </a:lnTo>
                  <a:lnTo>
                    <a:pt x="21" y="118"/>
                  </a:lnTo>
                  <a:lnTo>
                    <a:pt x="13" y="116"/>
                  </a:lnTo>
                  <a:lnTo>
                    <a:pt x="10" y="110"/>
                  </a:lnTo>
                  <a:lnTo>
                    <a:pt x="8" y="107"/>
                  </a:lnTo>
                  <a:lnTo>
                    <a:pt x="0" y="93"/>
                  </a:lnTo>
                  <a:lnTo>
                    <a:pt x="0" y="82"/>
                  </a:lnTo>
                  <a:lnTo>
                    <a:pt x="0" y="67"/>
                  </a:lnTo>
                  <a:lnTo>
                    <a:pt x="4" y="53"/>
                  </a:lnTo>
                  <a:lnTo>
                    <a:pt x="10" y="38"/>
                  </a:lnTo>
                  <a:lnTo>
                    <a:pt x="13" y="25"/>
                  </a:lnTo>
                  <a:lnTo>
                    <a:pt x="17" y="11"/>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92" name="Freeform 104"/>
            <p:cNvSpPr>
              <a:spLocks/>
            </p:cNvSpPr>
            <p:nvPr/>
          </p:nvSpPr>
          <p:spPr bwMode="auto">
            <a:xfrm>
              <a:off x="4880" y="3250"/>
              <a:ext cx="10" cy="11"/>
            </a:xfrm>
            <a:custGeom>
              <a:avLst/>
              <a:gdLst>
                <a:gd name="T0" fmla="*/ 0 w 21"/>
                <a:gd name="T1" fmla="*/ 0 h 21"/>
                <a:gd name="T2" fmla="*/ 0 w 21"/>
                <a:gd name="T3" fmla="*/ 1 h 21"/>
                <a:gd name="T4" fmla="*/ 0 w 21"/>
                <a:gd name="T5" fmla="*/ 1 h 21"/>
                <a:gd name="T6" fmla="*/ 0 w 21"/>
                <a:gd name="T7" fmla="*/ 1 h 21"/>
                <a:gd name="T8" fmla="*/ 0 w 21"/>
                <a:gd name="T9" fmla="*/ 1 h 21"/>
                <a:gd name="T10" fmla="*/ 0 w 21"/>
                <a:gd name="T11" fmla="*/ 1 h 21"/>
                <a:gd name="T12" fmla="*/ 0 w 21"/>
                <a:gd name="T13" fmla="*/ 1 h 21"/>
                <a:gd name="T14" fmla="*/ 0 w 21"/>
                <a:gd name="T15" fmla="*/ 1 h 21"/>
                <a:gd name="T16" fmla="*/ 0 w 21"/>
                <a:gd name="T17" fmla="*/ 0 h 21"/>
                <a:gd name="T18" fmla="*/ 0 w 21"/>
                <a:gd name="T19" fmla="*/ 0 h 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
                <a:gd name="T31" fmla="*/ 0 h 21"/>
                <a:gd name="T32" fmla="*/ 21 w 21"/>
                <a:gd name="T33" fmla="*/ 21 h 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 h="21">
                  <a:moveTo>
                    <a:pt x="19" y="0"/>
                  </a:moveTo>
                  <a:lnTo>
                    <a:pt x="21" y="7"/>
                  </a:lnTo>
                  <a:lnTo>
                    <a:pt x="17" y="15"/>
                  </a:lnTo>
                  <a:lnTo>
                    <a:pt x="10" y="21"/>
                  </a:lnTo>
                  <a:lnTo>
                    <a:pt x="0" y="21"/>
                  </a:lnTo>
                  <a:lnTo>
                    <a:pt x="0" y="13"/>
                  </a:lnTo>
                  <a:lnTo>
                    <a:pt x="6" y="7"/>
                  </a:lnTo>
                  <a:lnTo>
                    <a:pt x="14" y="3"/>
                  </a:lnTo>
                  <a:lnTo>
                    <a:pt x="1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93" name="Freeform 105"/>
            <p:cNvSpPr>
              <a:spLocks/>
            </p:cNvSpPr>
            <p:nvPr/>
          </p:nvSpPr>
          <p:spPr bwMode="auto">
            <a:xfrm>
              <a:off x="4904" y="3256"/>
              <a:ext cx="8" cy="36"/>
            </a:xfrm>
            <a:custGeom>
              <a:avLst/>
              <a:gdLst>
                <a:gd name="T0" fmla="*/ 1 w 15"/>
                <a:gd name="T1" fmla="*/ 0 h 72"/>
                <a:gd name="T2" fmla="*/ 1 w 15"/>
                <a:gd name="T3" fmla="*/ 1 h 72"/>
                <a:gd name="T4" fmla="*/ 1 w 15"/>
                <a:gd name="T5" fmla="*/ 1 h 72"/>
                <a:gd name="T6" fmla="*/ 1 w 15"/>
                <a:gd name="T7" fmla="*/ 1 h 72"/>
                <a:gd name="T8" fmla="*/ 1 w 15"/>
                <a:gd name="T9" fmla="*/ 1 h 72"/>
                <a:gd name="T10" fmla="*/ 1 w 15"/>
                <a:gd name="T11" fmla="*/ 1 h 72"/>
                <a:gd name="T12" fmla="*/ 1 w 15"/>
                <a:gd name="T13" fmla="*/ 1 h 72"/>
                <a:gd name="T14" fmla="*/ 1 w 15"/>
                <a:gd name="T15" fmla="*/ 1 h 72"/>
                <a:gd name="T16" fmla="*/ 1 w 15"/>
                <a:gd name="T17" fmla="*/ 1 h 72"/>
                <a:gd name="T18" fmla="*/ 1 w 15"/>
                <a:gd name="T19" fmla="*/ 1 h 72"/>
                <a:gd name="T20" fmla="*/ 1 w 15"/>
                <a:gd name="T21" fmla="*/ 1 h 72"/>
                <a:gd name="T22" fmla="*/ 1 w 15"/>
                <a:gd name="T23" fmla="*/ 1 h 72"/>
                <a:gd name="T24" fmla="*/ 1 w 15"/>
                <a:gd name="T25" fmla="*/ 1 h 72"/>
                <a:gd name="T26" fmla="*/ 0 w 15"/>
                <a:gd name="T27" fmla="*/ 1 h 72"/>
                <a:gd name="T28" fmla="*/ 0 w 15"/>
                <a:gd name="T29" fmla="*/ 1 h 72"/>
                <a:gd name="T30" fmla="*/ 0 w 15"/>
                <a:gd name="T31" fmla="*/ 1 h 72"/>
                <a:gd name="T32" fmla="*/ 0 w 15"/>
                <a:gd name="T33" fmla="*/ 1 h 72"/>
                <a:gd name="T34" fmla="*/ 0 w 15"/>
                <a:gd name="T35" fmla="*/ 1 h 72"/>
                <a:gd name="T36" fmla="*/ 1 w 15"/>
                <a:gd name="T37" fmla="*/ 0 h 72"/>
                <a:gd name="T38" fmla="*/ 1 w 15"/>
                <a:gd name="T39" fmla="*/ 0 h 7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5"/>
                <a:gd name="T61" fmla="*/ 0 h 72"/>
                <a:gd name="T62" fmla="*/ 15 w 15"/>
                <a:gd name="T63" fmla="*/ 72 h 7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5" h="72">
                  <a:moveTo>
                    <a:pt x="4" y="0"/>
                  </a:moveTo>
                  <a:lnTo>
                    <a:pt x="4" y="8"/>
                  </a:lnTo>
                  <a:lnTo>
                    <a:pt x="5" y="17"/>
                  </a:lnTo>
                  <a:lnTo>
                    <a:pt x="7" y="25"/>
                  </a:lnTo>
                  <a:lnTo>
                    <a:pt x="9" y="34"/>
                  </a:lnTo>
                  <a:lnTo>
                    <a:pt x="11" y="42"/>
                  </a:lnTo>
                  <a:lnTo>
                    <a:pt x="13" y="51"/>
                  </a:lnTo>
                  <a:lnTo>
                    <a:pt x="13" y="61"/>
                  </a:lnTo>
                  <a:lnTo>
                    <a:pt x="15" y="72"/>
                  </a:lnTo>
                  <a:lnTo>
                    <a:pt x="11" y="72"/>
                  </a:lnTo>
                  <a:lnTo>
                    <a:pt x="7" y="72"/>
                  </a:lnTo>
                  <a:lnTo>
                    <a:pt x="4" y="63"/>
                  </a:lnTo>
                  <a:lnTo>
                    <a:pt x="4" y="53"/>
                  </a:lnTo>
                  <a:lnTo>
                    <a:pt x="0" y="44"/>
                  </a:lnTo>
                  <a:lnTo>
                    <a:pt x="0" y="36"/>
                  </a:lnTo>
                  <a:lnTo>
                    <a:pt x="0" y="27"/>
                  </a:lnTo>
                  <a:lnTo>
                    <a:pt x="0" y="17"/>
                  </a:lnTo>
                  <a:lnTo>
                    <a:pt x="0" y="8"/>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94" name="Freeform 106"/>
            <p:cNvSpPr>
              <a:spLocks/>
            </p:cNvSpPr>
            <p:nvPr/>
          </p:nvSpPr>
          <p:spPr bwMode="auto">
            <a:xfrm>
              <a:off x="4058" y="3259"/>
              <a:ext cx="24" cy="123"/>
            </a:xfrm>
            <a:custGeom>
              <a:avLst/>
              <a:gdLst>
                <a:gd name="T0" fmla="*/ 1 w 47"/>
                <a:gd name="T1" fmla="*/ 0 h 245"/>
                <a:gd name="T2" fmla="*/ 1 w 47"/>
                <a:gd name="T3" fmla="*/ 1 h 245"/>
                <a:gd name="T4" fmla="*/ 1 w 47"/>
                <a:gd name="T5" fmla="*/ 1 h 245"/>
                <a:gd name="T6" fmla="*/ 1 w 47"/>
                <a:gd name="T7" fmla="*/ 1 h 245"/>
                <a:gd name="T8" fmla="*/ 1 w 47"/>
                <a:gd name="T9" fmla="*/ 1 h 245"/>
                <a:gd name="T10" fmla="*/ 1 w 47"/>
                <a:gd name="T11" fmla="*/ 1 h 245"/>
                <a:gd name="T12" fmla="*/ 1 w 47"/>
                <a:gd name="T13" fmla="*/ 1 h 245"/>
                <a:gd name="T14" fmla="*/ 1 w 47"/>
                <a:gd name="T15" fmla="*/ 1 h 245"/>
                <a:gd name="T16" fmla="*/ 1 w 47"/>
                <a:gd name="T17" fmla="*/ 1 h 245"/>
                <a:gd name="T18" fmla="*/ 1 w 47"/>
                <a:gd name="T19" fmla="*/ 1 h 245"/>
                <a:gd name="T20" fmla="*/ 1 w 47"/>
                <a:gd name="T21" fmla="*/ 1 h 245"/>
                <a:gd name="T22" fmla="*/ 1 w 47"/>
                <a:gd name="T23" fmla="*/ 1 h 245"/>
                <a:gd name="T24" fmla="*/ 1 w 47"/>
                <a:gd name="T25" fmla="*/ 1 h 245"/>
                <a:gd name="T26" fmla="*/ 1 w 47"/>
                <a:gd name="T27" fmla="*/ 1 h 245"/>
                <a:gd name="T28" fmla="*/ 1 w 47"/>
                <a:gd name="T29" fmla="*/ 1 h 245"/>
                <a:gd name="T30" fmla="*/ 1 w 47"/>
                <a:gd name="T31" fmla="*/ 1 h 245"/>
                <a:gd name="T32" fmla="*/ 1 w 47"/>
                <a:gd name="T33" fmla="*/ 1 h 245"/>
                <a:gd name="T34" fmla="*/ 1 w 47"/>
                <a:gd name="T35" fmla="*/ 1 h 245"/>
                <a:gd name="T36" fmla="*/ 1 w 47"/>
                <a:gd name="T37" fmla="*/ 1 h 245"/>
                <a:gd name="T38" fmla="*/ 1 w 47"/>
                <a:gd name="T39" fmla="*/ 1 h 245"/>
                <a:gd name="T40" fmla="*/ 1 w 47"/>
                <a:gd name="T41" fmla="*/ 1 h 245"/>
                <a:gd name="T42" fmla="*/ 1 w 47"/>
                <a:gd name="T43" fmla="*/ 1 h 245"/>
                <a:gd name="T44" fmla="*/ 1 w 47"/>
                <a:gd name="T45" fmla="*/ 1 h 245"/>
                <a:gd name="T46" fmla="*/ 1 w 47"/>
                <a:gd name="T47" fmla="*/ 1 h 245"/>
                <a:gd name="T48" fmla="*/ 1 w 47"/>
                <a:gd name="T49" fmla="*/ 1 h 245"/>
                <a:gd name="T50" fmla="*/ 1 w 47"/>
                <a:gd name="T51" fmla="*/ 1 h 245"/>
                <a:gd name="T52" fmla="*/ 1 w 47"/>
                <a:gd name="T53" fmla="*/ 1 h 245"/>
                <a:gd name="T54" fmla="*/ 1 w 47"/>
                <a:gd name="T55" fmla="*/ 1 h 245"/>
                <a:gd name="T56" fmla="*/ 1 w 47"/>
                <a:gd name="T57" fmla="*/ 1 h 245"/>
                <a:gd name="T58" fmla="*/ 1 w 47"/>
                <a:gd name="T59" fmla="*/ 1 h 245"/>
                <a:gd name="T60" fmla="*/ 1 w 47"/>
                <a:gd name="T61" fmla="*/ 1 h 245"/>
                <a:gd name="T62" fmla="*/ 1 w 47"/>
                <a:gd name="T63" fmla="*/ 1 h 245"/>
                <a:gd name="T64" fmla="*/ 1 w 47"/>
                <a:gd name="T65" fmla="*/ 1 h 245"/>
                <a:gd name="T66" fmla="*/ 1 w 47"/>
                <a:gd name="T67" fmla="*/ 1 h 245"/>
                <a:gd name="T68" fmla="*/ 1 w 47"/>
                <a:gd name="T69" fmla="*/ 1 h 245"/>
                <a:gd name="T70" fmla="*/ 1 w 47"/>
                <a:gd name="T71" fmla="*/ 1 h 245"/>
                <a:gd name="T72" fmla="*/ 1 w 47"/>
                <a:gd name="T73" fmla="*/ 1 h 245"/>
                <a:gd name="T74" fmla="*/ 1 w 47"/>
                <a:gd name="T75" fmla="*/ 1 h 245"/>
                <a:gd name="T76" fmla="*/ 0 w 47"/>
                <a:gd name="T77" fmla="*/ 1 h 245"/>
                <a:gd name="T78" fmla="*/ 0 w 47"/>
                <a:gd name="T79" fmla="*/ 1 h 245"/>
                <a:gd name="T80" fmla="*/ 1 w 47"/>
                <a:gd name="T81" fmla="*/ 1 h 245"/>
                <a:gd name="T82" fmla="*/ 1 w 47"/>
                <a:gd name="T83" fmla="*/ 1 h 245"/>
                <a:gd name="T84" fmla="*/ 1 w 47"/>
                <a:gd name="T85" fmla="*/ 1 h 245"/>
                <a:gd name="T86" fmla="*/ 1 w 47"/>
                <a:gd name="T87" fmla="*/ 1 h 245"/>
                <a:gd name="T88" fmla="*/ 1 w 47"/>
                <a:gd name="T89" fmla="*/ 1 h 245"/>
                <a:gd name="T90" fmla="*/ 1 w 47"/>
                <a:gd name="T91" fmla="*/ 1 h 245"/>
                <a:gd name="T92" fmla="*/ 1 w 47"/>
                <a:gd name="T93" fmla="*/ 1 h 245"/>
                <a:gd name="T94" fmla="*/ 1 w 47"/>
                <a:gd name="T95" fmla="*/ 1 h 245"/>
                <a:gd name="T96" fmla="*/ 1 w 47"/>
                <a:gd name="T97" fmla="*/ 0 h 245"/>
                <a:gd name="T98" fmla="*/ 1 w 47"/>
                <a:gd name="T99" fmla="*/ 0 h 24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7"/>
                <a:gd name="T151" fmla="*/ 0 h 245"/>
                <a:gd name="T152" fmla="*/ 47 w 47"/>
                <a:gd name="T153" fmla="*/ 245 h 24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7" h="245">
                  <a:moveTo>
                    <a:pt x="20" y="0"/>
                  </a:moveTo>
                  <a:lnTo>
                    <a:pt x="20" y="11"/>
                  </a:lnTo>
                  <a:lnTo>
                    <a:pt x="22" y="23"/>
                  </a:lnTo>
                  <a:lnTo>
                    <a:pt x="22" y="32"/>
                  </a:lnTo>
                  <a:lnTo>
                    <a:pt x="24" y="45"/>
                  </a:lnTo>
                  <a:lnTo>
                    <a:pt x="26" y="55"/>
                  </a:lnTo>
                  <a:lnTo>
                    <a:pt x="26" y="66"/>
                  </a:lnTo>
                  <a:lnTo>
                    <a:pt x="28" y="76"/>
                  </a:lnTo>
                  <a:lnTo>
                    <a:pt x="30" y="89"/>
                  </a:lnTo>
                  <a:lnTo>
                    <a:pt x="30" y="97"/>
                  </a:lnTo>
                  <a:lnTo>
                    <a:pt x="32" y="106"/>
                  </a:lnTo>
                  <a:lnTo>
                    <a:pt x="32" y="116"/>
                  </a:lnTo>
                  <a:lnTo>
                    <a:pt x="34" y="127"/>
                  </a:lnTo>
                  <a:lnTo>
                    <a:pt x="34" y="135"/>
                  </a:lnTo>
                  <a:lnTo>
                    <a:pt x="36" y="146"/>
                  </a:lnTo>
                  <a:lnTo>
                    <a:pt x="36" y="156"/>
                  </a:lnTo>
                  <a:lnTo>
                    <a:pt x="40" y="165"/>
                  </a:lnTo>
                  <a:lnTo>
                    <a:pt x="40" y="175"/>
                  </a:lnTo>
                  <a:lnTo>
                    <a:pt x="40" y="184"/>
                  </a:lnTo>
                  <a:lnTo>
                    <a:pt x="41" y="194"/>
                  </a:lnTo>
                  <a:lnTo>
                    <a:pt x="43" y="205"/>
                  </a:lnTo>
                  <a:lnTo>
                    <a:pt x="43" y="215"/>
                  </a:lnTo>
                  <a:lnTo>
                    <a:pt x="45" y="224"/>
                  </a:lnTo>
                  <a:lnTo>
                    <a:pt x="45" y="234"/>
                  </a:lnTo>
                  <a:lnTo>
                    <a:pt x="47" y="245"/>
                  </a:lnTo>
                  <a:lnTo>
                    <a:pt x="40" y="232"/>
                  </a:lnTo>
                  <a:lnTo>
                    <a:pt x="34" y="222"/>
                  </a:lnTo>
                  <a:lnTo>
                    <a:pt x="28" y="211"/>
                  </a:lnTo>
                  <a:lnTo>
                    <a:pt x="24" y="199"/>
                  </a:lnTo>
                  <a:lnTo>
                    <a:pt x="20" y="188"/>
                  </a:lnTo>
                  <a:lnTo>
                    <a:pt x="17" y="177"/>
                  </a:lnTo>
                  <a:lnTo>
                    <a:pt x="13" y="165"/>
                  </a:lnTo>
                  <a:lnTo>
                    <a:pt x="11" y="154"/>
                  </a:lnTo>
                  <a:lnTo>
                    <a:pt x="7" y="142"/>
                  </a:lnTo>
                  <a:lnTo>
                    <a:pt x="5" y="135"/>
                  </a:lnTo>
                  <a:lnTo>
                    <a:pt x="3" y="123"/>
                  </a:lnTo>
                  <a:lnTo>
                    <a:pt x="3" y="114"/>
                  </a:lnTo>
                  <a:lnTo>
                    <a:pt x="1" y="102"/>
                  </a:lnTo>
                  <a:lnTo>
                    <a:pt x="0" y="93"/>
                  </a:lnTo>
                  <a:lnTo>
                    <a:pt x="0" y="85"/>
                  </a:lnTo>
                  <a:lnTo>
                    <a:pt x="1" y="76"/>
                  </a:lnTo>
                  <a:lnTo>
                    <a:pt x="1" y="64"/>
                  </a:lnTo>
                  <a:lnTo>
                    <a:pt x="1" y="55"/>
                  </a:lnTo>
                  <a:lnTo>
                    <a:pt x="3" y="45"/>
                  </a:lnTo>
                  <a:lnTo>
                    <a:pt x="7" y="36"/>
                  </a:lnTo>
                  <a:lnTo>
                    <a:pt x="9" y="26"/>
                  </a:lnTo>
                  <a:lnTo>
                    <a:pt x="11" y="17"/>
                  </a:lnTo>
                  <a:lnTo>
                    <a:pt x="15" y="9"/>
                  </a:lnTo>
                  <a:lnTo>
                    <a:pt x="2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95" name="Freeform 107"/>
            <p:cNvSpPr>
              <a:spLocks/>
            </p:cNvSpPr>
            <p:nvPr/>
          </p:nvSpPr>
          <p:spPr bwMode="auto">
            <a:xfrm>
              <a:off x="4494" y="3290"/>
              <a:ext cx="45" cy="39"/>
            </a:xfrm>
            <a:custGeom>
              <a:avLst/>
              <a:gdLst>
                <a:gd name="T0" fmla="*/ 0 w 92"/>
                <a:gd name="T1" fmla="*/ 1 h 77"/>
                <a:gd name="T2" fmla="*/ 0 w 92"/>
                <a:gd name="T3" fmla="*/ 0 h 77"/>
                <a:gd name="T4" fmla="*/ 0 w 92"/>
                <a:gd name="T5" fmla="*/ 0 h 77"/>
                <a:gd name="T6" fmla="*/ 0 w 92"/>
                <a:gd name="T7" fmla="*/ 0 h 77"/>
                <a:gd name="T8" fmla="*/ 0 w 92"/>
                <a:gd name="T9" fmla="*/ 1 h 77"/>
                <a:gd name="T10" fmla="*/ 0 w 92"/>
                <a:gd name="T11" fmla="*/ 1 h 77"/>
                <a:gd name="T12" fmla="*/ 0 w 92"/>
                <a:gd name="T13" fmla="*/ 1 h 77"/>
                <a:gd name="T14" fmla="*/ 0 w 92"/>
                <a:gd name="T15" fmla="*/ 1 h 77"/>
                <a:gd name="T16" fmla="*/ 0 w 92"/>
                <a:gd name="T17" fmla="*/ 1 h 77"/>
                <a:gd name="T18" fmla="*/ 0 w 92"/>
                <a:gd name="T19" fmla="*/ 1 h 77"/>
                <a:gd name="T20" fmla="*/ 0 w 92"/>
                <a:gd name="T21" fmla="*/ 1 h 77"/>
                <a:gd name="T22" fmla="*/ 0 w 92"/>
                <a:gd name="T23" fmla="*/ 1 h 77"/>
                <a:gd name="T24" fmla="*/ 0 w 92"/>
                <a:gd name="T25" fmla="*/ 1 h 77"/>
                <a:gd name="T26" fmla="*/ 0 w 92"/>
                <a:gd name="T27" fmla="*/ 1 h 77"/>
                <a:gd name="T28" fmla="*/ 0 w 92"/>
                <a:gd name="T29" fmla="*/ 1 h 77"/>
                <a:gd name="T30" fmla="*/ 0 w 92"/>
                <a:gd name="T31" fmla="*/ 1 h 77"/>
                <a:gd name="T32" fmla="*/ 0 w 92"/>
                <a:gd name="T33" fmla="*/ 1 h 77"/>
                <a:gd name="T34" fmla="*/ 0 w 92"/>
                <a:gd name="T35" fmla="*/ 1 h 77"/>
                <a:gd name="T36" fmla="*/ 0 w 92"/>
                <a:gd name="T37" fmla="*/ 1 h 77"/>
                <a:gd name="T38" fmla="*/ 0 w 92"/>
                <a:gd name="T39" fmla="*/ 1 h 77"/>
                <a:gd name="T40" fmla="*/ 0 w 92"/>
                <a:gd name="T41" fmla="*/ 1 h 77"/>
                <a:gd name="T42" fmla="*/ 0 w 92"/>
                <a:gd name="T43" fmla="*/ 1 h 77"/>
                <a:gd name="T44" fmla="*/ 0 w 92"/>
                <a:gd name="T45" fmla="*/ 1 h 77"/>
                <a:gd name="T46" fmla="*/ 0 w 92"/>
                <a:gd name="T47" fmla="*/ 1 h 77"/>
                <a:gd name="T48" fmla="*/ 0 w 92"/>
                <a:gd name="T49" fmla="*/ 1 h 77"/>
                <a:gd name="T50" fmla="*/ 0 w 92"/>
                <a:gd name="T51" fmla="*/ 1 h 77"/>
                <a:gd name="T52" fmla="*/ 0 w 92"/>
                <a:gd name="T53" fmla="*/ 1 h 77"/>
                <a:gd name="T54" fmla="*/ 0 w 92"/>
                <a:gd name="T55" fmla="*/ 1 h 77"/>
                <a:gd name="T56" fmla="*/ 0 w 92"/>
                <a:gd name="T57" fmla="*/ 1 h 77"/>
                <a:gd name="T58" fmla="*/ 0 w 92"/>
                <a:gd name="T59" fmla="*/ 1 h 7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2"/>
                <a:gd name="T91" fmla="*/ 0 h 77"/>
                <a:gd name="T92" fmla="*/ 92 w 92"/>
                <a:gd name="T93" fmla="*/ 77 h 7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2" h="77">
                  <a:moveTo>
                    <a:pt x="29" y="3"/>
                  </a:moveTo>
                  <a:lnTo>
                    <a:pt x="40" y="0"/>
                  </a:lnTo>
                  <a:lnTo>
                    <a:pt x="50" y="0"/>
                  </a:lnTo>
                  <a:lnTo>
                    <a:pt x="57" y="0"/>
                  </a:lnTo>
                  <a:lnTo>
                    <a:pt x="67" y="3"/>
                  </a:lnTo>
                  <a:lnTo>
                    <a:pt x="80" y="9"/>
                  </a:lnTo>
                  <a:lnTo>
                    <a:pt x="88" y="19"/>
                  </a:lnTo>
                  <a:lnTo>
                    <a:pt x="90" y="26"/>
                  </a:lnTo>
                  <a:lnTo>
                    <a:pt x="92" y="34"/>
                  </a:lnTo>
                  <a:lnTo>
                    <a:pt x="90" y="43"/>
                  </a:lnTo>
                  <a:lnTo>
                    <a:pt x="88" y="53"/>
                  </a:lnTo>
                  <a:lnTo>
                    <a:pt x="82" y="58"/>
                  </a:lnTo>
                  <a:lnTo>
                    <a:pt x="78" y="66"/>
                  </a:lnTo>
                  <a:lnTo>
                    <a:pt x="73" y="72"/>
                  </a:lnTo>
                  <a:lnTo>
                    <a:pt x="65" y="77"/>
                  </a:lnTo>
                  <a:lnTo>
                    <a:pt x="54" y="77"/>
                  </a:lnTo>
                  <a:lnTo>
                    <a:pt x="40" y="76"/>
                  </a:lnTo>
                  <a:lnTo>
                    <a:pt x="33" y="72"/>
                  </a:lnTo>
                  <a:lnTo>
                    <a:pt x="25" y="70"/>
                  </a:lnTo>
                  <a:lnTo>
                    <a:pt x="17" y="64"/>
                  </a:lnTo>
                  <a:lnTo>
                    <a:pt x="10" y="58"/>
                  </a:lnTo>
                  <a:lnTo>
                    <a:pt x="2" y="53"/>
                  </a:lnTo>
                  <a:lnTo>
                    <a:pt x="0" y="49"/>
                  </a:lnTo>
                  <a:lnTo>
                    <a:pt x="0" y="39"/>
                  </a:lnTo>
                  <a:lnTo>
                    <a:pt x="4" y="32"/>
                  </a:lnTo>
                  <a:lnTo>
                    <a:pt x="8" y="22"/>
                  </a:lnTo>
                  <a:lnTo>
                    <a:pt x="14" y="15"/>
                  </a:lnTo>
                  <a:lnTo>
                    <a:pt x="21" y="9"/>
                  </a:lnTo>
                  <a:lnTo>
                    <a:pt x="29" y="3"/>
                  </a:lnTo>
                  <a:close/>
                </a:path>
              </a:pathLst>
            </a:custGeom>
            <a:solidFill>
              <a:srgbClr val="FFD6C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96" name="Freeform 108"/>
            <p:cNvSpPr>
              <a:spLocks/>
            </p:cNvSpPr>
            <p:nvPr/>
          </p:nvSpPr>
          <p:spPr bwMode="auto">
            <a:xfrm>
              <a:off x="3912" y="3295"/>
              <a:ext cx="13" cy="114"/>
            </a:xfrm>
            <a:custGeom>
              <a:avLst/>
              <a:gdLst>
                <a:gd name="T0" fmla="*/ 1 w 26"/>
                <a:gd name="T1" fmla="*/ 0 h 228"/>
                <a:gd name="T2" fmla="*/ 1 w 26"/>
                <a:gd name="T3" fmla="*/ 1 h 228"/>
                <a:gd name="T4" fmla="*/ 1 w 26"/>
                <a:gd name="T5" fmla="*/ 1 h 228"/>
                <a:gd name="T6" fmla="*/ 1 w 26"/>
                <a:gd name="T7" fmla="*/ 1 h 228"/>
                <a:gd name="T8" fmla="*/ 1 w 26"/>
                <a:gd name="T9" fmla="*/ 1 h 228"/>
                <a:gd name="T10" fmla="*/ 1 w 26"/>
                <a:gd name="T11" fmla="*/ 1 h 228"/>
                <a:gd name="T12" fmla="*/ 1 w 26"/>
                <a:gd name="T13" fmla="*/ 1 h 228"/>
                <a:gd name="T14" fmla="*/ 1 w 26"/>
                <a:gd name="T15" fmla="*/ 1 h 228"/>
                <a:gd name="T16" fmla="*/ 1 w 26"/>
                <a:gd name="T17" fmla="*/ 1 h 228"/>
                <a:gd name="T18" fmla="*/ 1 w 26"/>
                <a:gd name="T19" fmla="*/ 1 h 228"/>
                <a:gd name="T20" fmla="*/ 1 w 26"/>
                <a:gd name="T21" fmla="*/ 1 h 228"/>
                <a:gd name="T22" fmla="*/ 1 w 26"/>
                <a:gd name="T23" fmla="*/ 1 h 228"/>
                <a:gd name="T24" fmla="*/ 1 w 26"/>
                <a:gd name="T25" fmla="*/ 1 h 228"/>
                <a:gd name="T26" fmla="*/ 1 w 26"/>
                <a:gd name="T27" fmla="*/ 1 h 228"/>
                <a:gd name="T28" fmla="*/ 1 w 26"/>
                <a:gd name="T29" fmla="*/ 1 h 228"/>
                <a:gd name="T30" fmla="*/ 1 w 26"/>
                <a:gd name="T31" fmla="*/ 1 h 228"/>
                <a:gd name="T32" fmla="*/ 1 w 26"/>
                <a:gd name="T33" fmla="*/ 1 h 228"/>
                <a:gd name="T34" fmla="*/ 1 w 26"/>
                <a:gd name="T35" fmla="*/ 1 h 228"/>
                <a:gd name="T36" fmla="*/ 1 w 26"/>
                <a:gd name="T37" fmla="*/ 1 h 228"/>
                <a:gd name="T38" fmla="*/ 1 w 26"/>
                <a:gd name="T39" fmla="*/ 1 h 228"/>
                <a:gd name="T40" fmla="*/ 1 w 26"/>
                <a:gd name="T41" fmla="*/ 1 h 228"/>
                <a:gd name="T42" fmla="*/ 1 w 26"/>
                <a:gd name="T43" fmla="*/ 1 h 228"/>
                <a:gd name="T44" fmla="*/ 1 w 26"/>
                <a:gd name="T45" fmla="*/ 1 h 228"/>
                <a:gd name="T46" fmla="*/ 1 w 26"/>
                <a:gd name="T47" fmla="*/ 1 h 228"/>
                <a:gd name="T48" fmla="*/ 1 w 26"/>
                <a:gd name="T49" fmla="*/ 1 h 228"/>
                <a:gd name="T50" fmla="*/ 1 w 26"/>
                <a:gd name="T51" fmla="*/ 1 h 228"/>
                <a:gd name="T52" fmla="*/ 0 w 26"/>
                <a:gd name="T53" fmla="*/ 1 h 228"/>
                <a:gd name="T54" fmla="*/ 0 w 26"/>
                <a:gd name="T55" fmla="*/ 1 h 228"/>
                <a:gd name="T56" fmla="*/ 0 w 26"/>
                <a:gd name="T57" fmla="*/ 1 h 228"/>
                <a:gd name="T58" fmla="*/ 0 w 26"/>
                <a:gd name="T59" fmla="*/ 1 h 228"/>
                <a:gd name="T60" fmla="*/ 1 w 26"/>
                <a:gd name="T61" fmla="*/ 1 h 228"/>
                <a:gd name="T62" fmla="*/ 1 w 26"/>
                <a:gd name="T63" fmla="*/ 1 h 228"/>
                <a:gd name="T64" fmla="*/ 1 w 26"/>
                <a:gd name="T65" fmla="*/ 1 h 228"/>
                <a:gd name="T66" fmla="*/ 1 w 26"/>
                <a:gd name="T67" fmla="*/ 1 h 228"/>
                <a:gd name="T68" fmla="*/ 1 w 26"/>
                <a:gd name="T69" fmla="*/ 1 h 228"/>
                <a:gd name="T70" fmla="*/ 1 w 26"/>
                <a:gd name="T71" fmla="*/ 1 h 228"/>
                <a:gd name="T72" fmla="*/ 1 w 26"/>
                <a:gd name="T73" fmla="*/ 1 h 228"/>
                <a:gd name="T74" fmla="*/ 1 w 26"/>
                <a:gd name="T75" fmla="*/ 1 h 228"/>
                <a:gd name="T76" fmla="*/ 1 w 26"/>
                <a:gd name="T77" fmla="*/ 1 h 228"/>
                <a:gd name="T78" fmla="*/ 1 w 26"/>
                <a:gd name="T79" fmla="*/ 1 h 228"/>
                <a:gd name="T80" fmla="*/ 1 w 26"/>
                <a:gd name="T81" fmla="*/ 1 h 228"/>
                <a:gd name="T82" fmla="*/ 1 w 26"/>
                <a:gd name="T83" fmla="*/ 1 h 228"/>
                <a:gd name="T84" fmla="*/ 1 w 26"/>
                <a:gd name="T85" fmla="*/ 1 h 228"/>
                <a:gd name="T86" fmla="*/ 1 w 26"/>
                <a:gd name="T87" fmla="*/ 1 h 228"/>
                <a:gd name="T88" fmla="*/ 1 w 26"/>
                <a:gd name="T89" fmla="*/ 0 h 228"/>
                <a:gd name="T90" fmla="*/ 1 w 26"/>
                <a:gd name="T91" fmla="*/ 0 h 22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6"/>
                <a:gd name="T139" fmla="*/ 0 h 228"/>
                <a:gd name="T140" fmla="*/ 26 w 26"/>
                <a:gd name="T141" fmla="*/ 228 h 228"/>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6" h="228">
                  <a:moveTo>
                    <a:pt x="26" y="0"/>
                  </a:moveTo>
                  <a:lnTo>
                    <a:pt x="24" y="13"/>
                  </a:lnTo>
                  <a:lnTo>
                    <a:pt x="24" y="29"/>
                  </a:lnTo>
                  <a:lnTo>
                    <a:pt x="24" y="34"/>
                  </a:lnTo>
                  <a:lnTo>
                    <a:pt x="24" y="44"/>
                  </a:lnTo>
                  <a:lnTo>
                    <a:pt x="24" y="49"/>
                  </a:lnTo>
                  <a:lnTo>
                    <a:pt x="24" y="57"/>
                  </a:lnTo>
                  <a:lnTo>
                    <a:pt x="23" y="65"/>
                  </a:lnTo>
                  <a:lnTo>
                    <a:pt x="23" y="72"/>
                  </a:lnTo>
                  <a:lnTo>
                    <a:pt x="21" y="80"/>
                  </a:lnTo>
                  <a:lnTo>
                    <a:pt x="21" y="89"/>
                  </a:lnTo>
                  <a:lnTo>
                    <a:pt x="21" y="97"/>
                  </a:lnTo>
                  <a:lnTo>
                    <a:pt x="21" y="105"/>
                  </a:lnTo>
                  <a:lnTo>
                    <a:pt x="21" y="112"/>
                  </a:lnTo>
                  <a:lnTo>
                    <a:pt x="21" y="120"/>
                  </a:lnTo>
                  <a:lnTo>
                    <a:pt x="17" y="133"/>
                  </a:lnTo>
                  <a:lnTo>
                    <a:pt x="15" y="146"/>
                  </a:lnTo>
                  <a:lnTo>
                    <a:pt x="13" y="160"/>
                  </a:lnTo>
                  <a:lnTo>
                    <a:pt x="13" y="175"/>
                  </a:lnTo>
                  <a:lnTo>
                    <a:pt x="11" y="186"/>
                  </a:lnTo>
                  <a:lnTo>
                    <a:pt x="11" y="202"/>
                  </a:lnTo>
                  <a:lnTo>
                    <a:pt x="11" y="215"/>
                  </a:lnTo>
                  <a:lnTo>
                    <a:pt x="11" y="228"/>
                  </a:lnTo>
                  <a:lnTo>
                    <a:pt x="7" y="215"/>
                  </a:lnTo>
                  <a:lnTo>
                    <a:pt x="4" y="202"/>
                  </a:lnTo>
                  <a:lnTo>
                    <a:pt x="2" y="188"/>
                  </a:lnTo>
                  <a:lnTo>
                    <a:pt x="0" y="177"/>
                  </a:lnTo>
                  <a:lnTo>
                    <a:pt x="0" y="164"/>
                  </a:lnTo>
                  <a:lnTo>
                    <a:pt x="0" y="150"/>
                  </a:lnTo>
                  <a:lnTo>
                    <a:pt x="0" y="137"/>
                  </a:lnTo>
                  <a:lnTo>
                    <a:pt x="2" y="126"/>
                  </a:lnTo>
                  <a:lnTo>
                    <a:pt x="2" y="116"/>
                  </a:lnTo>
                  <a:lnTo>
                    <a:pt x="2" y="108"/>
                  </a:lnTo>
                  <a:lnTo>
                    <a:pt x="4" y="101"/>
                  </a:lnTo>
                  <a:lnTo>
                    <a:pt x="4" y="93"/>
                  </a:lnTo>
                  <a:lnTo>
                    <a:pt x="4" y="86"/>
                  </a:lnTo>
                  <a:lnTo>
                    <a:pt x="5" y="76"/>
                  </a:lnTo>
                  <a:lnTo>
                    <a:pt x="7" y="68"/>
                  </a:lnTo>
                  <a:lnTo>
                    <a:pt x="9" y="61"/>
                  </a:lnTo>
                  <a:lnTo>
                    <a:pt x="9" y="53"/>
                  </a:lnTo>
                  <a:lnTo>
                    <a:pt x="13" y="44"/>
                  </a:lnTo>
                  <a:lnTo>
                    <a:pt x="13" y="36"/>
                  </a:lnTo>
                  <a:lnTo>
                    <a:pt x="17" y="29"/>
                  </a:lnTo>
                  <a:lnTo>
                    <a:pt x="21" y="13"/>
                  </a:lnTo>
                  <a:lnTo>
                    <a:pt x="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97" name="Freeform 109"/>
            <p:cNvSpPr>
              <a:spLocks/>
            </p:cNvSpPr>
            <p:nvPr/>
          </p:nvSpPr>
          <p:spPr bwMode="auto">
            <a:xfrm>
              <a:off x="4226" y="3317"/>
              <a:ext cx="336" cy="123"/>
            </a:xfrm>
            <a:custGeom>
              <a:avLst/>
              <a:gdLst>
                <a:gd name="T0" fmla="*/ 0 w 673"/>
                <a:gd name="T1" fmla="*/ 0 h 247"/>
                <a:gd name="T2" fmla="*/ 0 w 673"/>
                <a:gd name="T3" fmla="*/ 0 h 247"/>
                <a:gd name="T4" fmla="*/ 0 w 673"/>
                <a:gd name="T5" fmla="*/ 0 h 247"/>
                <a:gd name="T6" fmla="*/ 0 w 673"/>
                <a:gd name="T7" fmla="*/ 0 h 247"/>
                <a:gd name="T8" fmla="*/ 0 w 673"/>
                <a:gd name="T9" fmla="*/ 0 h 247"/>
                <a:gd name="T10" fmla="*/ 0 w 673"/>
                <a:gd name="T11" fmla="*/ 0 h 247"/>
                <a:gd name="T12" fmla="*/ 1 w 673"/>
                <a:gd name="T13" fmla="*/ 0 h 247"/>
                <a:gd name="T14" fmla="*/ 1 w 673"/>
                <a:gd name="T15" fmla="*/ 0 h 247"/>
                <a:gd name="T16" fmla="*/ 1 w 673"/>
                <a:gd name="T17" fmla="*/ 0 h 247"/>
                <a:gd name="T18" fmla="*/ 1 w 673"/>
                <a:gd name="T19" fmla="*/ 0 h 247"/>
                <a:gd name="T20" fmla="*/ 1 w 673"/>
                <a:gd name="T21" fmla="*/ 0 h 247"/>
                <a:gd name="T22" fmla="*/ 1 w 673"/>
                <a:gd name="T23" fmla="*/ 0 h 247"/>
                <a:gd name="T24" fmla="*/ 1 w 673"/>
                <a:gd name="T25" fmla="*/ 0 h 247"/>
                <a:gd name="T26" fmla="*/ 2 w 673"/>
                <a:gd name="T27" fmla="*/ 0 h 247"/>
                <a:gd name="T28" fmla="*/ 2 w 673"/>
                <a:gd name="T29" fmla="*/ 0 h 247"/>
                <a:gd name="T30" fmla="*/ 2 w 673"/>
                <a:gd name="T31" fmla="*/ 0 h 247"/>
                <a:gd name="T32" fmla="*/ 2 w 673"/>
                <a:gd name="T33" fmla="*/ 0 h 247"/>
                <a:gd name="T34" fmla="*/ 2 w 673"/>
                <a:gd name="T35" fmla="*/ 0 h 247"/>
                <a:gd name="T36" fmla="*/ 2 w 673"/>
                <a:gd name="T37" fmla="*/ 0 h 247"/>
                <a:gd name="T38" fmla="*/ 2 w 673"/>
                <a:gd name="T39" fmla="*/ 0 h 247"/>
                <a:gd name="T40" fmla="*/ 2 w 673"/>
                <a:gd name="T41" fmla="*/ 0 h 247"/>
                <a:gd name="T42" fmla="*/ 2 w 673"/>
                <a:gd name="T43" fmla="*/ 0 h 247"/>
                <a:gd name="T44" fmla="*/ 2 w 673"/>
                <a:gd name="T45" fmla="*/ 0 h 247"/>
                <a:gd name="T46" fmla="*/ 1 w 673"/>
                <a:gd name="T47" fmla="*/ 0 h 247"/>
                <a:gd name="T48" fmla="*/ 1 w 673"/>
                <a:gd name="T49" fmla="*/ 0 h 247"/>
                <a:gd name="T50" fmla="*/ 1 w 673"/>
                <a:gd name="T51" fmla="*/ 0 h 247"/>
                <a:gd name="T52" fmla="*/ 0 w 673"/>
                <a:gd name="T53" fmla="*/ 0 h 247"/>
                <a:gd name="T54" fmla="*/ 0 w 673"/>
                <a:gd name="T55" fmla="*/ 0 h 247"/>
                <a:gd name="T56" fmla="*/ 0 w 673"/>
                <a:gd name="T57" fmla="*/ 0 h 247"/>
                <a:gd name="T58" fmla="*/ 0 w 673"/>
                <a:gd name="T59" fmla="*/ 0 h 247"/>
                <a:gd name="T60" fmla="*/ 0 w 673"/>
                <a:gd name="T61" fmla="*/ 0 h 247"/>
                <a:gd name="T62" fmla="*/ 0 w 673"/>
                <a:gd name="T63" fmla="*/ 0 h 247"/>
                <a:gd name="T64" fmla="*/ 0 w 673"/>
                <a:gd name="T65" fmla="*/ 0 h 247"/>
                <a:gd name="T66" fmla="*/ 0 w 673"/>
                <a:gd name="T67" fmla="*/ 0 h 247"/>
                <a:gd name="T68" fmla="*/ 0 w 673"/>
                <a:gd name="T69" fmla="*/ 0 h 24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73"/>
                <a:gd name="T106" fmla="*/ 0 h 247"/>
                <a:gd name="T107" fmla="*/ 673 w 673"/>
                <a:gd name="T108" fmla="*/ 247 h 24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73" h="247">
                  <a:moveTo>
                    <a:pt x="40" y="0"/>
                  </a:moveTo>
                  <a:lnTo>
                    <a:pt x="59" y="0"/>
                  </a:lnTo>
                  <a:lnTo>
                    <a:pt x="76" y="2"/>
                  </a:lnTo>
                  <a:lnTo>
                    <a:pt x="95" y="4"/>
                  </a:lnTo>
                  <a:lnTo>
                    <a:pt x="112" y="9"/>
                  </a:lnTo>
                  <a:lnTo>
                    <a:pt x="130" y="11"/>
                  </a:lnTo>
                  <a:lnTo>
                    <a:pt x="149" y="15"/>
                  </a:lnTo>
                  <a:lnTo>
                    <a:pt x="166" y="19"/>
                  </a:lnTo>
                  <a:lnTo>
                    <a:pt x="185" y="24"/>
                  </a:lnTo>
                  <a:lnTo>
                    <a:pt x="202" y="28"/>
                  </a:lnTo>
                  <a:lnTo>
                    <a:pt x="219" y="34"/>
                  </a:lnTo>
                  <a:lnTo>
                    <a:pt x="236" y="40"/>
                  </a:lnTo>
                  <a:lnTo>
                    <a:pt x="253" y="45"/>
                  </a:lnTo>
                  <a:lnTo>
                    <a:pt x="268" y="51"/>
                  </a:lnTo>
                  <a:lnTo>
                    <a:pt x="284" y="59"/>
                  </a:lnTo>
                  <a:lnTo>
                    <a:pt x="299" y="66"/>
                  </a:lnTo>
                  <a:lnTo>
                    <a:pt x="314" y="74"/>
                  </a:lnTo>
                  <a:lnTo>
                    <a:pt x="335" y="76"/>
                  </a:lnTo>
                  <a:lnTo>
                    <a:pt x="356" y="82"/>
                  </a:lnTo>
                  <a:lnTo>
                    <a:pt x="377" y="85"/>
                  </a:lnTo>
                  <a:lnTo>
                    <a:pt x="398" y="93"/>
                  </a:lnTo>
                  <a:lnTo>
                    <a:pt x="420" y="99"/>
                  </a:lnTo>
                  <a:lnTo>
                    <a:pt x="441" y="104"/>
                  </a:lnTo>
                  <a:lnTo>
                    <a:pt x="462" y="112"/>
                  </a:lnTo>
                  <a:lnTo>
                    <a:pt x="483" y="118"/>
                  </a:lnTo>
                  <a:lnTo>
                    <a:pt x="504" y="123"/>
                  </a:lnTo>
                  <a:lnTo>
                    <a:pt x="525" y="129"/>
                  </a:lnTo>
                  <a:lnTo>
                    <a:pt x="546" y="135"/>
                  </a:lnTo>
                  <a:lnTo>
                    <a:pt x="567" y="140"/>
                  </a:lnTo>
                  <a:lnTo>
                    <a:pt x="588" y="144"/>
                  </a:lnTo>
                  <a:lnTo>
                    <a:pt x="609" y="148"/>
                  </a:lnTo>
                  <a:lnTo>
                    <a:pt x="630" y="152"/>
                  </a:lnTo>
                  <a:lnTo>
                    <a:pt x="652" y="156"/>
                  </a:lnTo>
                  <a:lnTo>
                    <a:pt x="660" y="161"/>
                  </a:lnTo>
                  <a:lnTo>
                    <a:pt x="666" y="167"/>
                  </a:lnTo>
                  <a:lnTo>
                    <a:pt x="668" y="175"/>
                  </a:lnTo>
                  <a:lnTo>
                    <a:pt x="671" y="182"/>
                  </a:lnTo>
                  <a:lnTo>
                    <a:pt x="673" y="196"/>
                  </a:lnTo>
                  <a:lnTo>
                    <a:pt x="669" y="211"/>
                  </a:lnTo>
                  <a:lnTo>
                    <a:pt x="662" y="220"/>
                  </a:lnTo>
                  <a:lnTo>
                    <a:pt x="654" y="232"/>
                  </a:lnTo>
                  <a:lnTo>
                    <a:pt x="643" y="239"/>
                  </a:lnTo>
                  <a:lnTo>
                    <a:pt x="630" y="247"/>
                  </a:lnTo>
                  <a:lnTo>
                    <a:pt x="592" y="230"/>
                  </a:lnTo>
                  <a:lnTo>
                    <a:pt x="553" y="217"/>
                  </a:lnTo>
                  <a:lnTo>
                    <a:pt x="515" y="203"/>
                  </a:lnTo>
                  <a:lnTo>
                    <a:pt x="477" y="192"/>
                  </a:lnTo>
                  <a:lnTo>
                    <a:pt x="438" y="178"/>
                  </a:lnTo>
                  <a:lnTo>
                    <a:pt x="399" y="167"/>
                  </a:lnTo>
                  <a:lnTo>
                    <a:pt x="360" y="158"/>
                  </a:lnTo>
                  <a:lnTo>
                    <a:pt x="322" y="146"/>
                  </a:lnTo>
                  <a:lnTo>
                    <a:pt x="282" y="135"/>
                  </a:lnTo>
                  <a:lnTo>
                    <a:pt x="242" y="121"/>
                  </a:lnTo>
                  <a:lnTo>
                    <a:pt x="204" y="110"/>
                  </a:lnTo>
                  <a:lnTo>
                    <a:pt x="166" y="99"/>
                  </a:lnTo>
                  <a:lnTo>
                    <a:pt x="130" y="83"/>
                  </a:lnTo>
                  <a:lnTo>
                    <a:pt x="93" y="70"/>
                  </a:lnTo>
                  <a:lnTo>
                    <a:pt x="57" y="53"/>
                  </a:lnTo>
                  <a:lnTo>
                    <a:pt x="25" y="38"/>
                  </a:lnTo>
                  <a:lnTo>
                    <a:pt x="15" y="45"/>
                  </a:lnTo>
                  <a:lnTo>
                    <a:pt x="10" y="49"/>
                  </a:lnTo>
                  <a:lnTo>
                    <a:pt x="6" y="51"/>
                  </a:lnTo>
                  <a:lnTo>
                    <a:pt x="2" y="53"/>
                  </a:lnTo>
                  <a:lnTo>
                    <a:pt x="0" y="47"/>
                  </a:lnTo>
                  <a:lnTo>
                    <a:pt x="2" y="38"/>
                  </a:lnTo>
                  <a:lnTo>
                    <a:pt x="6" y="24"/>
                  </a:lnTo>
                  <a:lnTo>
                    <a:pt x="15" y="13"/>
                  </a:lnTo>
                  <a:lnTo>
                    <a:pt x="27" y="4"/>
                  </a:lnTo>
                  <a:lnTo>
                    <a:pt x="40" y="0"/>
                  </a:lnTo>
                  <a:close/>
                </a:path>
              </a:pathLst>
            </a:custGeom>
            <a:solidFill>
              <a:srgbClr val="FFFF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98" name="Freeform 110"/>
            <p:cNvSpPr>
              <a:spLocks/>
            </p:cNvSpPr>
            <p:nvPr/>
          </p:nvSpPr>
          <p:spPr bwMode="auto">
            <a:xfrm>
              <a:off x="4045" y="3334"/>
              <a:ext cx="11" cy="31"/>
            </a:xfrm>
            <a:custGeom>
              <a:avLst/>
              <a:gdLst>
                <a:gd name="T0" fmla="*/ 0 w 23"/>
                <a:gd name="T1" fmla="*/ 0 h 63"/>
                <a:gd name="T2" fmla="*/ 0 w 23"/>
                <a:gd name="T3" fmla="*/ 0 h 63"/>
                <a:gd name="T4" fmla="*/ 0 w 23"/>
                <a:gd name="T5" fmla="*/ 0 h 63"/>
                <a:gd name="T6" fmla="*/ 0 w 23"/>
                <a:gd name="T7" fmla="*/ 0 h 63"/>
                <a:gd name="T8" fmla="*/ 0 w 23"/>
                <a:gd name="T9" fmla="*/ 0 h 63"/>
                <a:gd name="T10" fmla="*/ 0 w 23"/>
                <a:gd name="T11" fmla="*/ 0 h 63"/>
                <a:gd name="T12" fmla="*/ 0 w 23"/>
                <a:gd name="T13" fmla="*/ 0 h 63"/>
                <a:gd name="T14" fmla="*/ 0 w 23"/>
                <a:gd name="T15" fmla="*/ 0 h 63"/>
                <a:gd name="T16" fmla="*/ 0 w 23"/>
                <a:gd name="T17" fmla="*/ 0 h 63"/>
                <a:gd name="T18" fmla="*/ 0 w 23"/>
                <a:gd name="T19" fmla="*/ 0 h 63"/>
                <a:gd name="T20" fmla="*/ 0 w 23"/>
                <a:gd name="T21" fmla="*/ 0 h 63"/>
                <a:gd name="T22" fmla="*/ 0 w 23"/>
                <a:gd name="T23" fmla="*/ 0 h 63"/>
                <a:gd name="T24" fmla="*/ 0 w 23"/>
                <a:gd name="T25" fmla="*/ 0 h 63"/>
                <a:gd name="T26" fmla="*/ 0 w 23"/>
                <a:gd name="T27" fmla="*/ 0 h 63"/>
                <a:gd name="T28" fmla="*/ 0 w 23"/>
                <a:gd name="T29" fmla="*/ 0 h 63"/>
                <a:gd name="T30" fmla="*/ 0 w 23"/>
                <a:gd name="T31" fmla="*/ 0 h 63"/>
                <a:gd name="T32" fmla="*/ 0 w 23"/>
                <a:gd name="T33" fmla="*/ 0 h 63"/>
                <a:gd name="T34" fmla="*/ 0 w 23"/>
                <a:gd name="T35" fmla="*/ 0 h 6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3"/>
                <a:gd name="T55" fmla="*/ 0 h 63"/>
                <a:gd name="T56" fmla="*/ 23 w 23"/>
                <a:gd name="T57" fmla="*/ 63 h 6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3" h="63">
                  <a:moveTo>
                    <a:pt x="6" y="0"/>
                  </a:moveTo>
                  <a:lnTo>
                    <a:pt x="8" y="8"/>
                  </a:lnTo>
                  <a:lnTo>
                    <a:pt x="11" y="15"/>
                  </a:lnTo>
                  <a:lnTo>
                    <a:pt x="13" y="23"/>
                  </a:lnTo>
                  <a:lnTo>
                    <a:pt x="13" y="30"/>
                  </a:lnTo>
                  <a:lnTo>
                    <a:pt x="13" y="38"/>
                  </a:lnTo>
                  <a:lnTo>
                    <a:pt x="15" y="48"/>
                  </a:lnTo>
                  <a:lnTo>
                    <a:pt x="19" y="55"/>
                  </a:lnTo>
                  <a:lnTo>
                    <a:pt x="23" y="63"/>
                  </a:lnTo>
                  <a:lnTo>
                    <a:pt x="13" y="61"/>
                  </a:lnTo>
                  <a:lnTo>
                    <a:pt x="6" y="57"/>
                  </a:lnTo>
                  <a:lnTo>
                    <a:pt x="2" y="53"/>
                  </a:lnTo>
                  <a:lnTo>
                    <a:pt x="2" y="49"/>
                  </a:lnTo>
                  <a:lnTo>
                    <a:pt x="0" y="36"/>
                  </a:lnTo>
                  <a:lnTo>
                    <a:pt x="0" y="23"/>
                  </a:lnTo>
                  <a:lnTo>
                    <a:pt x="2" y="1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299" name="Freeform 111"/>
            <p:cNvSpPr>
              <a:spLocks/>
            </p:cNvSpPr>
            <p:nvPr/>
          </p:nvSpPr>
          <p:spPr bwMode="auto">
            <a:xfrm>
              <a:off x="4777" y="3343"/>
              <a:ext cx="9" cy="8"/>
            </a:xfrm>
            <a:custGeom>
              <a:avLst/>
              <a:gdLst>
                <a:gd name="T0" fmla="*/ 1 w 17"/>
                <a:gd name="T1" fmla="*/ 0 h 17"/>
                <a:gd name="T2" fmla="*/ 1 w 17"/>
                <a:gd name="T3" fmla="*/ 0 h 17"/>
                <a:gd name="T4" fmla="*/ 1 w 17"/>
                <a:gd name="T5" fmla="*/ 0 h 17"/>
                <a:gd name="T6" fmla="*/ 1 w 17"/>
                <a:gd name="T7" fmla="*/ 0 h 17"/>
                <a:gd name="T8" fmla="*/ 1 w 17"/>
                <a:gd name="T9" fmla="*/ 0 h 17"/>
                <a:gd name="T10" fmla="*/ 0 w 17"/>
                <a:gd name="T11" fmla="*/ 0 h 17"/>
                <a:gd name="T12" fmla="*/ 1 w 17"/>
                <a:gd name="T13" fmla="*/ 0 h 17"/>
                <a:gd name="T14" fmla="*/ 1 w 17"/>
                <a:gd name="T15" fmla="*/ 0 h 17"/>
                <a:gd name="T16" fmla="*/ 1 w 17"/>
                <a:gd name="T17" fmla="*/ 0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
                <a:gd name="T28" fmla="*/ 0 h 17"/>
                <a:gd name="T29" fmla="*/ 17 w 17"/>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 h="17">
                  <a:moveTo>
                    <a:pt x="15" y="0"/>
                  </a:moveTo>
                  <a:lnTo>
                    <a:pt x="17" y="2"/>
                  </a:lnTo>
                  <a:lnTo>
                    <a:pt x="13" y="6"/>
                  </a:lnTo>
                  <a:lnTo>
                    <a:pt x="8" y="12"/>
                  </a:lnTo>
                  <a:lnTo>
                    <a:pt x="4" y="17"/>
                  </a:lnTo>
                  <a:lnTo>
                    <a:pt x="0" y="17"/>
                  </a:lnTo>
                  <a:lnTo>
                    <a:pt x="9" y="6"/>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00" name="Freeform 112"/>
            <p:cNvSpPr>
              <a:spLocks/>
            </p:cNvSpPr>
            <p:nvPr/>
          </p:nvSpPr>
          <p:spPr bwMode="auto">
            <a:xfrm>
              <a:off x="4846" y="3342"/>
              <a:ext cx="48" cy="53"/>
            </a:xfrm>
            <a:custGeom>
              <a:avLst/>
              <a:gdLst>
                <a:gd name="T0" fmla="*/ 1 w 95"/>
                <a:gd name="T1" fmla="*/ 0 h 107"/>
                <a:gd name="T2" fmla="*/ 1 w 95"/>
                <a:gd name="T3" fmla="*/ 0 h 107"/>
                <a:gd name="T4" fmla="*/ 1 w 95"/>
                <a:gd name="T5" fmla="*/ 0 h 107"/>
                <a:gd name="T6" fmla="*/ 1 w 95"/>
                <a:gd name="T7" fmla="*/ 0 h 107"/>
                <a:gd name="T8" fmla="*/ 1 w 95"/>
                <a:gd name="T9" fmla="*/ 0 h 107"/>
                <a:gd name="T10" fmla="*/ 1 w 95"/>
                <a:gd name="T11" fmla="*/ 0 h 107"/>
                <a:gd name="T12" fmla="*/ 1 w 95"/>
                <a:gd name="T13" fmla="*/ 0 h 107"/>
                <a:gd name="T14" fmla="*/ 1 w 95"/>
                <a:gd name="T15" fmla="*/ 0 h 107"/>
                <a:gd name="T16" fmla="*/ 1 w 95"/>
                <a:gd name="T17" fmla="*/ 0 h 107"/>
                <a:gd name="T18" fmla="*/ 1 w 95"/>
                <a:gd name="T19" fmla="*/ 0 h 107"/>
                <a:gd name="T20" fmla="*/ 1 w 95"/>
                <a:gd name="T21" fmla="*/ 0 h 107"/>
                <a:gd name="T22" fmla="*/ 1 w 95"/>
                <a:gd name="T23" fmla="*/ 0 h 107"/>
                <a:gd name="T24" fmla="*/ 1 w 95"/>
                <a:gd name="T25" fmla="*/ 0 h 107"/>
                <a:gd name="T26" fmla="*/ 1 w 95"/>
                <a:gd name="T27" fmla="*/ 0 h 107"/>
                <a:gd name="T28" fmla="*/ 1 w 95"/>
                <a:gd name="T29" fmla="*/ 0 h 107"/>
                <a:gd name="T30" fmla="*/ 1 w 95"/>
                <a:gd name="T31" fmla="*/ 0 h 107"/>
                <a:gd name="T32" fmla="*/ 1 w 95"/>
                <a:gd name="T33" fmla="*/ 0 h 107"/>
                <a:gd name="T34" fmla="*/ 1 w 95"/>
                <a:gd name="T35" fmla="*/ 0 h 107"/>
                <a:gd name="T36" fmla="*/ 1 w 95"/>
                <a:gd name="T37" fmla="*/ 0 h 107"/>
                <a:gd name="T38" fmla="*/ 1 w 95"/>
                <a:gd name="T39" fmla="*/ 0 h 107"/>
                <a:gd name="T40" fmla="*/ 1 w 95"/>
                <a:gd name="T41" fmla="*/ 0 h 107"/>
                <a:gd name="T42" fmla="*/ 1 w 95"/>
                <a:gd name="T43" fmla="*/ 0 h 107"/>
                <a:gd name="T44" fmla="*/ 1 w 95"/>
                <a:gd name="T45" fmla="*/ 0 h 107"/>
                <a:gd name="T46" fmla="*/ 1 w 95"/>
                <a:gd name="T47" fmla="*/ 0 h 107"/>
                <a:gd name="T48" fmla="*/ 1 w 95"/>
                <a:gd name="T49" fmla="*/ 0 h 107"/>
                <a:gd name="T50" fmla="*/ 1 w 95"/>
                <a:gd name="T51" fmla="*/ 0 h 107"/>
                <a:gd name="T52" fmla="*/ 1 w 95"/>
                <a:gd name="T53" fmla="*/ 0 h 107"/>
                <a:gd name="T54" fmla="*/ 1 w 95"/>
                <a:gd name="T55" fmla="*/ 0 h 107"/>
                <a:gd name="T56" fmla="*/ 1 w 95"/>
                <a:gd name="T57" fmla="*/ 0 h 107"/>
                <a:gd name="T58" fmla="*/ 1 w 95"/>
                <a:gd name="T59" fmla="*/ 0 h 107"/>
                <a:gd name="T60" fmla="*/ 1 w 95"/>
                <a:gd name="T61" fmla="*/ 0 h 107"/>
                <a:gd name="T62" fmla="*/ 1 w 95"/>
                <a:gd name="T63" fmla="*/ 0 h 107"/>
                <a:gd name="T64" fmla="*/ 1 w 95"/>
                <a:gd name="T65" fmla="*/ 0 h 107"/>
                <a:gd name="T66" fmla="*/ 1 w 95"/>
                <a:gd name="T67" fmla="*/ 0 h 107"/>
                <a:gd name="T68" fmla="*/ 1 w 95"/>
                <a:gd name="T69" fmla="*/ 0 h 107"/>
                <a:gd name="T70" fmla="*/ 1 w 95"/>
                <a:gd name="T71" fmla="*/ 0 h 107"/>
                <a:gd name="T72" fmla="*/ 1 w 95"/>
                <a:gd name="T73" fmla="*/ 0 h 107"/>
                <a:gd name="T74" fmla="*/ 0 w 95"/>
                <a:gd name="T75" fmla="*/ 0 h 107"/>
                <a:gd name="T76" fmla="*/ 0 w 95"/>
                <a:gd name="T77" fmla="*/ 0 h 107"/>
                <a:gd name="T78" fmla="*/ 0 w 95"/>
                <a:gd name="T79" fmla="*/ 0 h 107"/>
                <a:gd name="T80" fmla="*/ 1 w 95"/>
                <a:gd name="T81" fmla="*/ 0 h 107"/>
                <a:gd name="T82" fmla="*/ 1 w 95"/>
                <a:gd name="T83" fmla="*/ 0 h 107"/>
                <a:gd name="T84" fmla="*/ 1 w 95"/>
                <a:gd name="T85" fmla="*/ 0 h 107"/>
                <a:gd name="T86" fmla="*/ 1 w 95"/>
                <a:gd name="T87" fmla="*/ 0 h 10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95"/>
                <a:gd name="T133" fmla="*/ 0 h 107"/>
                <a:gd name="T134" fmla="*/ 95 w 95"/>
                <a:gd name="T135" fmla="*/ 107 h 10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95" h="107">
                  <a:moveTo>
                    <a:pt x="21" y="2"/>
                  </a:moveTo>
                  <a:lnTo>
                    <a:pt x="26" y="0"/>
                  </a:lnTo>
                  <a:lnTo>
                    <a:pt x="36" y="2"/>
                  </a:lnTo>
                  <a:lnTo>
                    <a:pt x="42" y="2"/>
                  </a:lnTo>
                  <a:lnTo>
                    <a:pt x="49" y="6"/>
                  </a:lnTo>
                  <a:lnTo>
                    <a:pt x="57" y="14"/>
                  </a:lnTo>
                  <a:lnTo>
                    <a:pt x="63" y="23"/>
                  </a:lnTo>
                  <a:lnTo>
                    <a:pt x="61" y="31"/>
                  </a:lnTo>
                  <a:lnTo>
                    <a:pt x="57" y="38"/>
                  </a:lnTo>
                  <a:lnTo>
                    <a:pt x="53" y="40"/>
                  </a:lnTo>
                  <a:lnTo>
                    <a:pt x="45" y="46"/>
                  </a:lnTo>
                  <a:lnTo>
                    <a:pt x="38" y="48"/>
                  </a:lnTo>
                  <a:lnTo>
                    <a:pt x="30" y="50"/>
                  </a:lnTo>
                  <a:lnTo>
                    <a:pt x="36" y="59"/>
                  </a:lnTo>
                  <a:lnTo>
                    <a:pt x="44" y="63"/>
                  </a:lnTo>
                  <a:lnTo>
                    <a:pt x="51" y="65"/>
                  </a:lnTo>
                  <a:lnTo>
                    <a:pt x="59" y="65"/>
                  </a:lnTo>
                  <a:lnTo>
                    <a:pt x="66" y="63"/>
                  </a:lnTo>
                  <a:lnTo>
                    <a:pt x="76" y="61"/>
                  </a:lnTo>
                  <a:lnTo>
                    <a:pt x="83" y="57"/>
                  </a:lnTo>
                  <a:lnTo>
                    <a:pt x="95" y="57"/>
                  </a:lnTo>
                  <a:lnTo>
                    <a:pt x="93" y="69"/>
                  </a:lnTo>
                  <a:lnTo>
                    <a:pt x="89" y="82"/>
                  </a:lnTo>
                  <a:lnTo>
                    <a:pt x="83" y="86"/>
                  </a:lnTo>
                  <a:lnTo>
                    <a:pt x="83" y="91"/>
                  </a:lnTo>
                  <a:lnTo>
                    <a:pt x="80" y="99"/>
                  </a:lnTo>
                  <a:lnTo>
                    <a:pt x="82" y="107"/>
                  </a:lnTo>
                  <a:lnTo>
                    <a:pt x="70" y="107"/>
                  </a:lnTo>
                  <a:lnTo>
                    <a:pt x="59" y="107"/>
                  </a:lnTo>
                  <a:lnTo>
                    <a:pt x="49" y="103"/>
                  </a:lnTo>
                  <a:lnTo>
                    <a:pt x="40" y="99"/>
                  </a:lnTo>
                  <a:lnTo>
                    <a:pt x="30" y="93"/>
                  </a:lnTo>
                  <a:lnTo>
                    <a:pt x="21" y="88"/>
                  </a:lnTo>
                  <a:lnTo>
                    <a:pt x="13" y="80"/>
                  </a:lnTo>
                  <a:lnTo>
                    <a:pt x="9" y="72"/>
                  </a:lnTo>
                  <a:lnTo>
                    <a:pt x="4" y="63"/>
                  </a:lnTo>
                  <a:lnTo>
                    <a:pt x="2" y="53"/>
                  </a:lnTo>
                  <a:lnTo>
                    <a:pt x="0" y="44"/>
                  </a:lnTo>
                  <a:lnTo>
                    <a:pt x="0" y="36"/>
                  </a:lnTo>
                  <a:lnTo>
                    <a:pt x="0" y="27"/>
                  </a:lnTo>
                  <a:lnTo>
                    <a:pt x="5" y="17"/>
                  </a:lnTo>
                  <a:lnTo>
                    <a:pt x="11" y="10"/>
                  </a:lnTo>
                  <a:lnTo>
                    <a:pt x="21" y="2"/>
                  </a:lnTo>
                  <a:close/>
                </a:path>
              </a:pathLst>
            </a:custGeom>
            <a:solidFill>
              <a:srgbClr val="FFD6C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01" name="Freeform 113"/>
            <p:cNvSpPr>
              <a:spLocks/>
            </p:cNvSpPr>
            <p:nvPr/>
          </p:nvSpPr>
          <p:spPr bwMode="auto">
            <a:xfrm>
              <a:off x="4011" y="3360"/>
              <a:ext cx="19" cy="49"/>
            </a:xfrm>
            <a:custGeom>
              <a:avLst/>
              <a:gdLst>
                <a:gd name="T0" fmla="*/ 1 w 38"/>
                <a:gd name="T1" fmla="*/ 0 h 99"/>
                <a:gd name="T2" fmla="*/ 1 w 38"/>
                <a:gd name="T3" fmla="*/ 0 h 99"/>
                <a:gd name="T4" fmla="*/ 1 w 38"/>
                <a:gd name="T5" fmla="*/ 0 h 99"/>
                <a:gd name="T6" fmla="*/ 1 w 38"/>
                <a:gd name="T7" fmla="*/ 0 h 99"/>
                <a:gd name="T8" fmla="*/ 1 w 38"/>
                <a:gd name="T9" fmla="*/ 0 h 99"/>
                <a:gd name="T10" fmla="*/ 1 w 38"/>
                <a:gd name="T11" fmla="*/ 0 h 99"/>
                <a:gd name="T12" fmla="*/ 1 w 38"/>
                <a:gd name="T13" fmla="*/ 0 h 99"/>
                <a:gd name="T14" fmla="*/ 1 w 38"/>
                <a:gd name="T15" fmla="*/ 0 h 99"/>
                <a:gd name="T16" fmla="*/ 1 w 38"/>
                <a:gd name="T17" fmla="*/ 0 h 99"/>
                <a:gd name="T18" fmla="*/ 1 w 38"/>
                <a:gd name="T19" fmla="*/ 0 h 99"/>
                <a:gd name="T20" fmla="*/ 1 w 38"/>
                <a:gd name="T21" fmla="*/ 0 h 99"/>
                <a:gd name="T22" fmla="*/ 1 w 38"/>
                <a:gd name="T23" fmla="*/ 0 h 99"/>
                <a:gd name="T24" fmla="*/ 1 w 38"/>
                <a:gd name="T25" fmla="*/ 0 h 99"/>
                <a:gd name="T26" fmla="*/ 1 w 38"/>
                <a:gd name="T27" fmla="*/ 0 h 99"/>
                <a:gd name="T28" fmla="*/ 1 w 38"/>
                <a:gd name="T29" fmla="*/ 0 h 99"/>
                <a:gd name="T30" fmla="*/ 1 w 38"/>
                <a:gd name="T31" fmla="*/ 0 h 99"/>
                <a:gd name="T32" fmla="*/ 1 w 38"/>
                <a:gd name="T33" fmla="*/ 0 h 99"/>
                <a:gd name="T34" fmla="*/ 1 w 38"/>
                <a:gd name="T35" fmla="*/ 0 h 99"/>
                <a:gd name="T36" fmla="*/ 1 w 38"/>
                <a:gd name="T37" fmla="*/ 0 h 99"/>
                <a:gd name="T38" fmla="*/ 0 w 38"/>
                <a:gd name="T39" fmla="*/ 0 h 99"/>
                <a:gd name="T40" fmla="*/ 1 w 38"/>
                <a:gd name="T41" fmla="*/ 0 h 99"/>
                <a:gd name="T42" fmla="*/ 1 w 38"/>
                <a:gd name="T43" fmla="*/ 0 h 99"/>
                <a:gd name="T44" fmla="*/ 1 w 38"/>
                <a:gd name="T45" fmla="*/ 0 h 99"/>
                <a:gd name="T46" fmla="*/ 1 w 38"/>
                <a:gd name="T47" fmla="*/ 0 h 9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8"/>
                <a:gd name="T73" fmla="*/ 0 h 99"/>
                <a:gd name="T74" fmla="*/ 38 w 38"/>
                <a:gd name="T75" fmla="*/ 99 h 9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8" h="99">
                  <a:moveTo>
                    <a:pt x="9" y="0"/>
                  </a:moveTo>
                  <a:lnTo>
                    <a:pt x="15" y="0"/>
                  </a:lnTo>
                  <a:lnTo>
                    <a:pt x="20" y="0"/>
                  </a:lnTo>
                  <a:lnTo>
                    <a:pt x="24" y="4"/>
                  </a:lnTo>
                  <a:lnTo>
                    <a:pt x="30" y="8"/>
                  </a:lnTo>
                  <a:lnTo>
                    <a:pt x="36" y="17"/>
                  </a:lnTo>
                  <a:lnTo>
                    <a:pt x="38" y="31"/>
                  </a:lnTo>
                  <a:lnTo>
                    <a:pt x="36" y="38"/>
                  </a:lnTo>
                  <a:lnTo>
                    <a:pt x="34" y="48"/>
                  </a:lnTo>
                  <a:lnTo>
                    <a:pt x="32" y="55"/>
                  </a:lnTo>
                  <a:lnTo>
                    <a:pt x="32" y="67"/>
                  </a:lnTo>
                  <a:lnTo>
                    <a:pt x="28" y="74"/>
                  </a:lnTo>
                  <a:lnTo>
                    <a:pt x="28" y="84"/>
                  </a:lnTo>
                  <a:lnTo>
                    <a:pt x="24" y="92"/>
                  </a:lnTo>
                  <a:lnTo>
                    <a:pt x="24" y="99"/>
                  </a:lnTo>
                  <a:lnTo>
                    <a:pt x="15" y="88"/>
                  </a:lnTo>
                  <a:lnTo>
                    <a:pt x="9" y="76"/>
                  </a:lnTo>
                  <a:lnTo>
                    <a:pt x="3" y="61"/>
                  </a:lnTo>
                  <a:lnTo>
                    <a:pt x="1" y="48"/>
                  </a:lnTo>
                  <a:lnTo>
                    <a:pt x="0" y="33"/>
                  </a:lnTo>
                  <a:lnTo>
                    <a:pt x="1" y="21"/>
                  </a:lnTo>
                  <a:lnTo>
                    <a:pt x="3" y="10"/>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02" name="Freeform 114"/>
            <p:cNvSpPr>
              <a:spLocks/>
            </p:cNvSpPr>
            <p:nvPr/>
          </p:nvSpPr>
          <p:spPr bwMode="auto">
            <a:xfrm>
              <a:off x="4254" y="3370"/>
              <a:ext cx="247" cy="315"/>
            </a:xfrm>
            <a:custGeom>
              <a:avLst/>
              <a:gdLst>
                <a:gd name="T0" fmla="*/ 0 w 495"/>
                <a:gd name="T1" fmla="*/ 1 h 630"/>
                <a:gd name="T2" fmla="*/ 0 w 495"/>
                <a:gd name="T3" fmla="*/ 1 h 630"/>
                <a:gd name="T4" fmla="*/ 0 w 495"/>
                <a:gd name="T5" fmla="*/ 1 h 630"/>
                <a:gd name="T6" fmla="*/ 1 w 495"/>
                <a:gd name="T7" fmla="*/ 1 h 630"/>
                <a:gd name="T8" fmla="*/ 1 w 495"/>
                <a:gd name="T9" fmla="*/ 1 h 630"/>
                <a:gd name="T10" fmla="*/ 0 w 495"/>
                <a:gd name="T11" fmla="*/ 1 h 630"/>
                <a:gd name="T12" fmla="*/ 0 w 495"/>
                <a:gd name="T13" fmla="*/ 1 h 630"/>
                <a:gd name="T14" fmla="*/ 0 w 495"/>
                <a:gd name="T15" fmla="*/ 1 h 630"/>
                <a:gd name="T16" fmla="*/ 0 w 495"/>
                <a:gd name="T17" fmla="*/ 1 h 630"/>
                <a:gd name="T18" fmla="*/ 0 w 495"/>
                <a:gd name="T19" fmla="*/ 1 h 630"/>
                <a:gd name="T20" fmla="*/ 1 w 495"/>
                <a:gd name="T21" fmla="*/ 1 h 630"/>
                <a:gd name="T22" fmla="*/ 1 w 495"/>
                <a:gd name="T23" fmla="*/ 2 h 630"/>
                <a:gd name="T24" fmla="*/ 1 w 495"/>
                <a:gd name="T25" fmla="*/ 2 h 630"/>
                <a:gd name="T26" fmla="*/ 1 w 495"/>
                <a:gd name="T27" fmla="*/ 1 h 630"/>
                <a:gd name="T28" fmla="*/ 0 w 495"/>
                <a:gd name="T29" fmla="*/ 1 h 630"/>
                <a:gd name="T30" fmla="*/ 0 w 495"/>
                <a:gd name="T31" fmla="*/ 1 h 630"/>
                <a:gd name="T32" fmla="*/ 0 w 495"/>
                <a:gd name="T33" fmla="*/ 1 h 630"/>
                <a:gd name="T34" fmla="*/ 0 w 495"/>
                <a:gd name="T35" fmla="*/ 1 h 630"/>
                <a:gd name="T36" fmla="*/ 0 w 495"/>
                <a:gd name="T37" fmla="*/ 2 h 630"/>
                <a:gd name="T38" fmla="*/ 1 w 495"/>
                <a:gd name="T39" fmla="*/ 2 h 630"/>
                <a:gd name="T40" fmla="*/ 1 w 495"/>
                <a:gd name="T41" fmla="*/ 2 h 630"/>
                <a:gd name="T42" fmla="*/ 1 w 495"/>
                <a:gd name="T43" fmla="*/ 2 h 630"/>
                <a:gd name="T44" fmla="*/ 1 w 495"/>
                <a:gd name="T45" fmla="*/ 2 h 630"/>
                <a:gd name="T46" fmla="*/ 1 w 495"/>
                <a:gd name="T47" fmla="*/ 2 h 630"/>
                <a:gd name="T48" fmla="*/ 1 w 495"/>
                <a:gd name="T49" fmla="*/ 2 h 630"/>
                <a:gd name="T50" fmla="*/ 0 w 495"/>
                <a:gd name="T51" fmla="*/ 2 h 630"/>
                <a:gd name="T52" fmla="*/ 0 w 495"/>
                <a:gd name="T53" fmla="*/ 2 h 630"/>
                <a:gd name="T54" fmla="*/ 0 w 495"/>
                <a:gd name="T55" fmla="*/ 2 h 630"/>
                <a:gd name="T56" fmla="*/ 0 w 495"/>
                <a:gd name="T57" fmla="*/ 2 h 630"/>
                <a:gd name="T58" fmla="*/ 1 w 495"/>
                <a:gd name="T59" fmla="*/ 2 h 630"/>
                <a:gd name="T60" fmla="*/ 1 w 495"/>
                <a:gd name="T61" fmla="*/ 2 h 630"/>
                <a:gd name="T62" fmla="*/ 1 w 495"/>
                <a:gd name="T63" fmla="*/ 2 h 630"/>
                <a:gd name="T64" fmla="*/ 1 w 495"/>
                <a:gd name="T65" fmla="*/ 2 h 630"/>
                <a:gd name="T66" fmla="*/ 1 w 495"/>
                <a:gd name="T67" fmla="*/ 2 h 630"/>
                <a:gd name="T68" fmla="*/ 1 w 495"/>
                <a:gd name="T69" fmla="*/ 2 h 630"/>
                <a:gd name="T70" fmla="*/ 1 w 495"/>
                <a:gd name="T71" fmla="*/ 2 h 630"/>
                <a:gd name="T72" fmla="*/ 1 w 495"/>
                <a:gd name="T73" fmla="*/ 2 h 630"/>
                <a:gd name="T74" fmla="*/ 0 w 495"/>
                <a:gd name="T75" fmla="*/ 2 h 630"/>
                <a:gd name="T76" fmla="*/ 0 w 495"/>
                <a:gd name="T77" fmla="*/ 2 h 630"/>
                <a:gd name="T78" fmla="*/ 0 w 495"/>
                <a:gd name="T79" fmla="*/ 2 h 630"/>
                <a:gd name="T80" fmla="*/ 1 w 495"/>
                <a:gd name="T81" fmla="*/ 2 h 630"/>
                <a:gd name="T82" fmla="*/ 1 w 495"/>
                <a:gd name="T83" fmla="*/ 2 h 630"/>
                <a:gd name="T84" fmla="*/ 1 w 495"/>
                <a:gd name="T85" fmla="*/ 3 h 630"/>
                <a:gd name="T86" fmla="*/ 1 w 495"/>
                <a:gd name="T87" fmla="*/ 3 h 630"/>
                <a:gd name="T88" fmla="*/ 1 w 495"/>
                <a:gd name="T89" fmla="*/ 2 h 630"/>
                <a:gd name="T90" fmla="*/ 0 w 495"/>
                <a:gd name="T91" fmla="*/ 2 h 630"/>
                <a:gd name="T92" fmla="*/ 0 w 495"/>
                <a:gd name="T93" fmla="*/ 2 h 630"/>
                <a:gd name="T94" fmla="*/ 1 w 495"/>
                <a:gd name="T95" fmla="*/ 3 h 630"/>
                <a:gd name="T96" fmla="*/ 1 w 495"/>
                <a:gd name="T97" fmla="*/ 3 h 630"/>
                <a:gd name="T98" fmla="*/ 1 w 495"/>
                <a:gd name="T99" fmla="*/ 3 h 630"/>
                <a:gd name="T100" fmla="*/ 1 w 495"/>
                <a:gd name="T101" fmla="*/ 3 h 630"/>
                <a:gd name="T102" fmla="*/ 1 w 495"/>
                <a:gd name="T103" fmla="*/ 3 h 630"/>
                <a:gd name="T104" fmla="*/ 0 w 495"/>
                <a:gd name="T105" fmla="*/ 3 h 630"/>
                <a:gd name="T106" fmla="*/ 0 w 495"/>
                <a:gd name="T107" fmla="*/ 3 h 630"/>
                <a:gd name="T108" fmla="*/ 0 w 495"/>
                <a:gd name="T109" fmla="*/ 2 h 630"/>
                <a:gd name="T110" fmla="*/ 0 w 495"/>
                <a:gd name="T111" fmla="*/ 2 h 630"/>
                <a:gd name="T112" fmla="*/ 0 w 495"/>
                <a:gd name="T113" fmla="*/ 1 h 630"/>
                <a:gd name="T114" fmla="*/ 0 w 495"/>
                <a:gd name="T115" fmla="*/ 1 h 630"/>
                <a:gd name="T116" fmla="*/ 0 w 495"/>
                <a:gd name="T117" fmla="*/ 0 h 63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95"/>
                <a:gd name="T178" fmla="*/ 0 h 630"/>
                <a:gd name="T179" fmla="*/ 495 w 495"/>
                <a:gd name="T180" fmla="*/ 630 h 63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95" h="630">
                  <a:moveTo>
                    <a:pt x="0" y="0"/>
                  </a:moveTo>
                  <a:lnTo>
                    <a:pt x="19" y="4"/>
                  </a:lnTo>
                  <a:lnTo>
                    <a:pt x="38" y="10"/>
                  </a:lnTo>
                  <a:lnTo>
                    <a:pt x="57" y="19"/>
                  </a:lnTo>
                  <a:lnTo>
                    <a:pt x="78" y="27"/>
                  </a:lnTo>
                  <a:lnTo>
                    <a:pt x="95" y="34"/>
                  </a:lnTo>
                  <a:lnTo>
                    <a:pt x="114" y="44"/>
                  </a:lnTo>
                  <a:lnTo>
                    <a:pt x="131" y="53"/>
                  </a:lnTo>
                  <a:lnTo>
                    <a:pt x="152" y="63"/>
                  </a:lnTo>
                  <a:lnTo>
                    <a:pt x="169" y="71"/>
                  </a:lnTo>
                  <a:lnTo>
                    <a:pt x="188" y="80"/>
                  </a:lnTo>
                  <a:lnTo>
                    <a:pt x="207" y="90"/>
                  </a:lnTo>
                  <a:lnTo>
                    <a:pt x="225" y="99"/>
                  </a:lnTo>
                  <a:lnTo>
                    <a:pt x="244" y="107"/>
                  </a:lnTo>
                  <a:lnTo>
                    <a:pt x="263" y="114"/>
                  </a:lnTo>
                  <a:lnTo>
                    <a:pt x="284" y="122"/>
                  </a:lnTo>
                  <a:lnTo>
                    <a:pt x="303" y="131"/>
                  </a:lnTo>
                  <a:lnTo>
                    <a:pt x="289" y="131"/>
                  </a:lnTo>
                  <a:lnTo>
                    <a:pt x="278" y="133"/>
                  </a:lnTo>
                  <a:lnTo>
                    <a:pt x="265" y="131"/>
                  </a:lnTo>
                  <a:lnTo>
                    <a:pt x="253" y="131"/>
                  </a:lnTo>
                  <a:lnTo>
                    <a:pt x="240" y="130"/>
                  </a:lnTo>
                  <a:lnTo>
                    <a:pt x="228" y="128"/>
                  </a:lnTo>
                  <a:lnTo>
                    <a:pt x="215" y="126"/>
                  </a:lnTo>
                  <a:lnTo>
                    <a:pt x="204" y="122"/>
                  </a:lnTo>
                  <a:lnTo>
                    <a:pt x="190" y="118"/>
                  </a:lnTo>
                  <a:lnTo>
                    <a:pt x="179" y="116"/>
                  </a:lnTo>
                  <a:lnTo>
                    <a:pt x="166" y="112"/>
                  </a:lnTo>
                  <a:lnTo>
                    <a:pt x="154" y="111"/>
                  </a:lnTo>
                  <a:lnTo>
                    <a:pt x="141" y="109"/>
                  </a:lnTo>
                  <a:lnTo>
                    <a:pt x="130" y="107"/>
                  </a:lnTo>
                  <a:lnTo>
                    <a:pt x="118" y="107"/>
                  </a:lnTo>
                  <a:lnTo>
                    <a:pt x="105" y="109"/>
                  </a:lnTo>
                  <a:lnTo>
                    <a:pt x="122" y="124"/>
                  </a:lnTo>
                  <a:lnTo>
                    <a:pt x="141" y="137"/>
                  </a:lnTo>
                  <a:lnTo>
                    <a:pt x="162" y="149"/>
                  </a:lnTo>
                  <a:lnTo>
                    <a:pt x="183" y="160"/>
                  </a:lnTo>
                  <a:lnTo>
                    <a:pt x="204" y="168"/>
                  </a:lnTo>
                  <a:lnTo>
                    <a:pt x="227" y="177"/>
                  </a:lnTo>
                  <a:lnTo>
                    <a:pt x="251" y="185"/>
                  </a:lnTo>
                  <a:lnTo>
                    <a:pt x="274" y="192"/>
                  </a:lnTo>
                  <a:lnTo>
                    <a:pt x="297" y="198"/>
                  </a:lnTo>
                  <a:lnTo>
                    <a:pt x="320" y="207"/>
                  </a:lnTo>
                  <a:lnTo>
                    <a:pt x="342" y="215"/>
                  </a:lnTo>
                  <a:lnTo>
                    <a:pt x="367" y="226"/>
                  </a:lnTo>
                  <a:lnTo>
                    <a:pt x="388" y="236"/>
                  </a:lnTo>
                  <a:lnTo>
                    <a:pt x="409" y="249"/>
                  </a:lnTo>
                  <a:lnTo>
                    <a:pt x="430" y="266"/>
                  </a:lnTo>
                  <a:lnTo>
                    <a:pt x="449" y="287"/>
                  </a:lnTo>
                  <a:lnTo>
                    <a:pt x="449" y="289"/>
                  </a:lnTo>
                  <a:lnTo>
                    <a:pt x="447" y="289"/>
                  </a:lnTo>
                  <a:lnTo>
                    <a:pt x="424" y="282"/>
                  </a:lnTo>
                  <a:lnTo>
                    <a:pt x="403" y="274"/>
                  </a:lnTo>
                  <a:lnTo>
                    <a:pt x="381" y="266"/>
                  </a:lnTo>
                  <a:lnTo>
                    <a:pt x="358" y="259"/>
                  </a:lnTo>
                  <a:lnTo>
                    <a:pt x="337" y="251"/>
                  </a:lnTo>
                  <a:lnTo>
                    <a:pt x="314" y="244"/>
                  </a:lnTo>
                  <a:lnTo>
                    <a:pt x="291" y="234"/>
                  </a:lnTo>
                  <a:lnTo>
                    <a:pt x="270" y="228"/>
                  </a:lnTo>
                  <a:lnTo>
                    <a:pt x="247" y="221"/>
                  </a:lnTo>
                  <a:lnTo>
                    <a:pt x="225" y="211"/>
                  </a:lnTo>
                  <a:lnTo>
                    <a:pt x="204" y="206"/>
                  </a:lnTo>
                  <a:lnTo>
                    <a:pt x="181" y="198"/>
                  </a:lnTo>
                  <a:lnTo>
                    <a:pt x="158" y="192"/>
                  </a:lnTo>
                  <a:lnTo>
                    <a:pt x="135" y="187"/>
                  </a:lnTo>
                  <a:lnTo>
                    <a:pt x="111" y="183"/>
                  </a:lnTo>
                  <a:lnTo>
                    <a:pt x="88" y="179"/>
                  </a:lnTo>
                  <a:lnTo>
                    <a:pt x="95" y="194"/>
                  </a:lnTo>
                  <a:lnTo>
                    <a:pt x="105" y="209"/>
                  </a:lnTo>
                  <a:lnTo>
                    <a:pt x="116" y="221"/>
                  </a:lnTo>
                  <a:lnTo>
                    <a:pt x="131" y="234"/>
                  </a:lnTo>
                  <a:lnTo>
                    <a:pt x="145" y="242"/>
                  </a:lnTo>
                  <a:lnTo>
                    <a:pt x="162" y="251"/>
                  </a:lnTo>
                  <a:lnTo>
                    <a:pt x="181" y="257"/>
                  </a:lnTo>
                  <a:lnTo>
                    <a:pt x="202" y="264"/>
                  </a:lnTo>
                  <a:lnTo>
                    <a:pt x="221" y="270"/>
                  </a:lnTo>
                  <a:lnTo>
                    <a:pt x="240" y="274"/>
                  </a:lnTo>
                  <a:lnTo>
                    <a:pt x="261" y="280"/>
                  </a:lnTo>
                  <a:lnTo>
                    <a:pt x="280" y="289"/>
                  </a:lnTo>
                  <a:lnTo>
                    <a:pt x="299" y="293"/>
                  </a:lnTo>
                  <a:lnTo>
                    <a:pt x="318" y="301"/>
                  </a:lnTo>
                  <a:lnTo>
                    <a:pt x="335" y="310"/>
                  </a:lnTo>
                  <a:lnTo>
                    <a:pt x="352" y="322"/>
                  </a:lnTo>
                  <a:lnTo>
                    <a:pt x="363" y="327"/>
                  </a:lnTo>
                  <a:lnTo>
                    <a:pt x="377" y="333"/>
                  </a:lnTo>
                  <a:lnTo>
                    <a:pt x="386" y="341"/>
                  </a:lnTo>
                  <a:lnTo>
                    <a:pt x="400" y="348"/>
                  </a:lnTo>
                  <a:lnTo>
                    <a:pt x="409" y="356"/>
                  </a:lnTo>
                  <a:lnTo>
                    <a:pt x="419" y="363"/>
                  </a:lnTo>
                  <a:lnTo>
                    <a:pt x="430" y="371"/>
                  </a:lnTo>
                  <a:lnTo>
                    <a:pt x="443" y="380"/>
                  </a:lnTo>
                  <a:lnTo>
                    <a:pt x="422" y="379"/>
                  </a:lnTo>
                  <a:lnTo>
                    <a:pt x="403" y="379"/>
                  </a:lnTo>
                  <a:lnTo>
                    <a:pt x="384" y="373"/>
                  </a:lnTo>
                  <a:lnTo>
                    <a:pt x="365" y="369"/>
                  </a:lnTo>
                  <a:lnTo>
                    <a:pt x="346" y="360"/>
                  </a:lnTo>
                  <a:lnTo>
                    <a:pt x="327" y="354"/>
                  </a:lnTo>
                  <a:lnTo>
                    <a:pt x="306" y="346"/>
                  </a:lnTo>
                  <a:lnTo>
                    <a:pt x="287" y="341"/>
                  </a:lnTo>
                  <a:lnTo>
                    <a:pt x="268" y="333"/>
                  </a:lnTo>
                  <a:lnTo>
                    <a:pt x="249" y="323"/>
                  </a:lnTo>
                  <a:lnTo>
                    <a:pt x="230" y="318"/>
                  </a:lnTo>
                  <a:lnTo>
                    <a:pt x="213" y="314"/>
                  </a:lnTo>
                  <a:lnTo>
                    <a:pt x="194" y="308"/>
                  </a:lnTo>
                  <a:lnTo>
                    <a:pt x="177" y="306"/>
                  </a:lnTo>
                  <a:lnTo>
                    <a:pt x="160" y="306"/>
                  </a:lnTo>
                  <a:lnTo>
                    <a:pt x="145" y="312"/>
                  </a:lnTo>
                  <a:lnTo>
                    <a:pt x="149" y="322"/>
                  </a:lnTo>
                  <a:lnTo>
                    <a:pt x="156" y="331"/>
                  </a:lnTo>
                  <a:lnTo>
                    <a:pt x="164" y="339"/>
                  </a:lnTo>
                  <a:lnTo>
                    <a:pt x="175" y="346"/>
                  </a:lnTo>
                  <a:lnTo>
                    <a:pt x="188" y="352"/>
                  </a:lnTo>
                  <a:lnTo>
                    <a:pt x="202" y="360"/>
                  </a:lnTo>
                  <a:lnTo>
                    <a:pt x="215" y="365"/>
                  </a:lnTo>
                  <a:lnTo>
                    <a:pt x="230" y="369"/>
                  </a:lnTo>
                  <a:lnTo>
                    <a:pt x="244" y="373"/>
                  </a:lnTo>
                  <a:lnTo>
                    <a:pt x="261" y="379"/>
                  </a:lnTo>
                  <a:lnTo>
                    <a:pt x="274" y="382"/>
                  </a:lnTo>
                  <a:lnTo>
                    <a:pt x="289" y="386"/>
                  </a:lnTo>
                  <a:lnTo>
                    <a:pt x="303" y="392"/>
                  </a:lnTo>
                  <a:lnTo>
                    <a:pt x="318" y="399"/>
                  </a:lnTo>
                  <a:lnTo>
                    <a:pt x="329" y="405"/>
                  </a:lnTo>
                  <a:lnTo>
                    <a:pt x="342" y="413"/>
                  </a:lnTo>
                  <a:lnTo>
                    <a:pt x="350" y="418"/>
                  </a:lnTo>
                  <a:lnTo>
                    <a:pt x="360" y="422"/>
                  </a:lnTo>
                  <a:lnTo>
                    <a:pt x="369" y="428"/>
                  </a:lnTo>
                  <a:lnTo>
                    <a:pt x="379" y="434"/>
                  </a:lnTo>
                  <a:lnTo>
                    <a:pt x="386" y="438"/>
                  </a:lnTo>
                  <a:lnTo>
                    <a:pt x="396" y="443"/>
                  </a:lnTo>
                  <a:lnTo>
                    <a:pt x="405" y="447"/>
                  </a:lnTo>
                  <a:lnTo>
                    <a:pt x="417" y="453"/>
                  </a:lnTo>
                  <a:lnTo>
                    <a:pt x="426" y="457"/>
                  </a:lnTo>
                  <a:lnTo>
                    <a:pt x="434" y="460"/>
                  </a:lnTo>
                  <a:lnTo>
                    <a:pt x="443" y="464"/>
                  </a:lnTo>
                  <a:lnTo>
                    <a:pt x="455" y="468"/>
                  </a:lnTo>
                  <a:lnTo>
                    <a:pt x="464" y="472"/>
                  </a:lnTo>
                  <a:lnTo>
                    <a:pt x="476" y="476"/>
                  </a:lnTo>
                  <a:lnTo>
                    <a:pt x="483" y="481"/>
                  </a:lnTo>
                  <a:lnTo>
                    <a:pt x="495" y="485"/>
                  </a:lnTo>
                  <a:lnTo>
                    <a:pt x="472" y="479"/>
                  </a:lnTo>
                  <a:lnTo>
                    <a:pt x="449" y="476"/>
                  </a:lnTo>
                  <a:lnTo>
                    <a:pt x="426" y="468"/>
                  </a:lnTo>
                  <a:lnTo>
                    <a:pt x="405" y="462"/>
                  </a:lnTo>
                  <a:lnTo>
                    <a:pt x="381" y="455"/>
                  </a:lnTo>
                  <a:lnTo>
                    <a:pt x="360" y="447"/>
                  </a:lnTo>
                  <a:lnTo>
                    <a:pt x="337" y="439"/>
                  </a:lnTo>
                  <a:lnTo>
                    <a:pt x="314" y="432"/>
                  </a:lnTo>
                  <a:lnTo>
                    <a:pt x="291" y="424"/>
                  </a:lnTo>
                  <a:lnTo>
                    <a:pt x="268" y="417"/>
                  </a:lnTo>
                  <a:lnTo>
                    <a:pt x="246" y="409"/>
                  </a:lnTo>
                  <a:lnTo>
                    <a:pt x="223" y="403"/>
                  </a:lnTo>
                  <a:lnTo>
                    <a:pt x="198" y="396"/>
                  </a:lnTo>
                  <a:lnTo>
                    <a:pt x="175" y="392"/>
                  </a:lnTo>
                  <a:lnTo>
                    <a:pt x="154" y="388"/>
                  </a:lnTo>
                  <a:lnTo>
                    <a:pt x="131" y="386"/>
                  </a:lnTo>
                  <a:lnTo>
                    <a:pt x="149" y="399"/>
                  </a:lnTo>
                  <a:lnTo>
                    <a:pt x="169" y="411"/>
                  </a:lnTo>
                  <a:lnTo>
                    <a:pt x="190" y="422"/>
                  </a:lnTo>
                  <a:lnTo>
                    <a:pt x="211" y="432"/>
                  </a:lnTo>
                  <a:lnTo>
                    <a:pt x="234" y="441"/>
                  </a:lnTo>
                  <a:lnTo>
                    <a:pt x="257" y="449"/>
                  </a:lnTo>
                  <a:lnTo>
                    <a:pt x="278" y="458"/>
                  </a:lnTo>
                  <a:lnTo>
                    <a:pt x="301" y="468"/>
                  </a:lnTo>
                  <a:lnTo>
                    <a:pt x="322" y="474"/>
                  </a:lnTo>
                  <a:lnTo>
                    <a:pt x="344" y="481"/>
                  </a:lnTo>
                  <a:lnTo>
                    <a:pt x="365" y="491"/>
                  </a:lnTo>
                  <a:lnTo>
                    <a:pt x="388" y="498"/>
                  </a:lnTo>
                  <a:lnTo>
                    <a:pt x="409" y="508"/>
                  </a:lnTo>
                  <a:lnTo>
                    <a:pt x="430" y="519"/>
                  </a:lnTo>
                  <a:lnTo>
                    <a:pt x="451" y="531"/>
                  </a:lnTo>
                  <a:lnTo>
                    <a:pt x="472" y="544"/>
                  </a:lnTo>
                  <a:lnTo>
                    <a:pt x="453" y="538"/>
                  </a:lnTo>
                  <a:lnTo>
                    <a:pt x="434" y="534"/>
                  </a:lnTo>
                  <a:lnTo>
                    <a:pt x="417" y="531"/>
                  </a:lnTo>
                  <a:lnTo>
                    <a:pt x="400" y="527"/>
                  </a:lnTo>
                  <a:lnTo>
                    <a:pt x="381" y="521"/>
                  </a:lnTo>
                  <a:lnTo>
                    <a:pt x="362" y="515"/>
                  </a:lnTo>
                  <a:lnTo>
                    <a:pt x="342" y="510"/>
                  </a:lnTo>
                  <a:lnTo>
                    <a:pt x="325" y="504"/>
                  </a:lnTo>
                  <a:lnTo>
                    <a:pt x="306" y="498"/>
                  </a:lnTo>
                  <a:lnTo>
                    <a:pt x="287" y="491"/>
                  </a:lnTo>
                  <a:lnTo>
                    <a:pt x="268" y="485"/>
                  </a:lnTo>
                  <a:lnTo>
                    <a:pt x="249" y="479"/>
                  </a:lnTo>
                  <a:lnTo>
                    <a:pt x="228" y="472"/>
                  </a:lnTo>
                  <a:lnTo>
                    <a:pt x="211" y="466"/>
                  </a:lnTo>
                  <a:lnTo>
                    <a:pt x="194" y="458"/>
                  </a:lnTo>
                  <a:lnTo>
                    <a:pt x="175" y="455"/>
                  </a:lnTo>
                  <a:lnTo>
                    <a:pt x="188" y="470"/>
                  </a:lnTo>
                  <a:lnTo>
                    <a:pt x="207" y="485"/>
                  </a:lnTo>
                  <a:lnTo>
                    <a:pt x="223" y="496"/>
                  </a:lnTo>
                  <a:lnTo>
                    <a:pt x="244" y="508"/>
                  </a:lnTo>
                  <a:lnTo>
                    <a:pt x="261" y="517"/>
                  </a:lnTo>
                  <a:lnTo>
                    <a:pt x="282" y="525"/>
                  </a:lnTo>
                  <a:lnTo>
                    <a:pt x="301" y="534"/>
                  </a:lnTo>
                  <a:lnTo>
                    <a:pt x="323" y="542"/>
                  </a:lnTo>
                  <a:lnTo>
                    <a:pt x="341" y="548"/>
                  </a:lnTo>
                  <a:lnTo>
                    <a:pt x="362" y="557"/>
                  </a:lnTo>
                  <a:lnTo>
                    <a:pt x="381" y="565"/>
                  </a:lnTo>
                  <a:lnTo>
                    <a:pt x="400" y="574"/>
                  </a:lnTo>
                  <a:lnTo>
                    <a:pt x="417" y="584"/>
                  </a:lnTo>
                  <a:lnTo>
                    <a:pt x="436" y="597"/>
                  </a:lnTo>
                  <a:lnTo>
                    <a:pt x="453" y="611"/>
                  </a:lnTo>
                  <a:lnTo>
                    <a:pt x="470" y="630"/>
                  </a:lnTo>
                  <a:lnTo>
                    <a:pt x="443" y="618"/>
                  </a:lnTo>
                  <a:lnTo>
                    <a:pt x="419" y="611"/>
                  </a:lnTo>
                  <a:lnTo>
                    <a:pt x="392" y="603"/>
                  </a:lnTo>
                  <a:lnTo>
                    <a:pt x="365" y="595"/>
                  </a:lnTo>
                  <a:lnTo>
                    <a:pt x="337" y="588"/>
                  </a:lnTo>
                  <a:lnTo>
                    <a:pt x="310" y="580"/>
                  </a:lnTo>
                  <a:lnTo>
                    <a:pt x="284" y="574"/>
                  </a:lnTo>
                  <a:lnTo>
                    <a:pt x="257" y="567"/>
                  </a:lnTo>
                  <a:lnTo>
                    <a:pt x="228" y="557"/>
                  </a:lnTo>
                  <a:lnTo>
                    <a:pt x="200" y="550"/>
                  </a:lnTo>
                  <a:lnTo>
                    <a:pt x="173" y="538"/>
                  </a:lnTo>
                  <a:lnTo>
                    <a:pt x="149" y="531"/>
                  </a:lnTo>
                  <a:lnTo>
                    <a:pt x="126" y="517"/>
                  </a:lnTo>
                  <a:lnTo>
                    <a:pt x="103" y="504"/>
                  </a:lnTo>
                  <a:lnTo>
                    <a:pt x="82" y="489"/>
                  </a:lnTo>
                  <a:lnTo>
                    <a:pt x="63" y="472"/>
                  </a:lnTo>
                  <a:lnTo>
                    <a:pt x="55" y="443"/>
                  </a:lnTo>
                  <a:lnTo>
                    <a:pt x="52" y="413"/>
                  </a:lnTo>
                  <a:lnTo>
                    <a:pt x="46" y="384"/>
                  </a:lnTo>
                  <a:lnTo>
                    <a:pt x="42" y="356"/>
                  </a:lnTo>
                  <a:lnTo>
                    <a:pt x="38" y="323"/>
                  </a:lnTo>
                  <a:lnTo>
                    <a:pt x="36" y="295"/>
                  </a:lnTo>
                  <a:lnTo>
                    <a:pt x="33" y="264"/>
                  </a:lnTo>
                  <a:lnTo>
                    <a:pt x="31" y="234"/>
                  </a:lnTo>
                  <a:lnTo>
                    <a:pt x="27" y="204"/>
                  </a:lnTo>
                  <a:lnTo>
                    <a:pt x="25" y="175"/>
                  </a:lnTo>
                  <a:lnTo>
                    <a:pt x="21" y="145"/>
                  </a:lnTo>
                  <a:lnTo>
                    <a:pt x="19" y="114"/>
                  </a:lnTo>
                  <a:lnTo>
                    <a:pt x="14" y="86"/>
                  </a:lnTo>
                  <a:lnTo>
                    <a:pt x="10" y="55"/>
                  </a:lnTo>
                  <a:lnTo>
                    <a:pt x="4" y="29"/>
                  </a:lnTo>
                  <a:lnTo>
                    <a:pt x="0" y="0"/>
                  </a:lnTo>
                  <a:close/>
                </a:path>
              </a:pathLst>
            </a:custGeom>
            <a:solidFill>
              <a:srgbClr val="E6B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03" name="Freeform 115"/>
            <p:cNvSpPr>
              <a:spLocks/>
            </p:cNvSpPr>
            <p:nvPr/>
          </p:nvSpPr>
          <p:spPr bwMode="auto">
            <a:xfrm>
              <a:off x="3945" y="3384"/>
              <a:ext cx="10" cy="14"/>
            </a:xfrm>
            <a:custGeom>
              <a:avLst/>
              <a:gdLst>
                <a:gd name="T0" fmla="*/ 1 w 19"/>
                <a:gd name="T1" fmla="*/ 0 h 26"/>
                <a:gd name="T2" fmla="*/ 1 w 19"/>
                <a:gd name="T3" fmla="*/ 0 h 26"/>
                <a:gd name="T4" fmla="*/ 1 w 19"/>
                <a:gd name="T5" fmla="*/ 1 h 26"/>
                <a:gd name="T6" fmla="*/ 1 w 19"/>
                <a:gd name="T7" fmla="*/ 1 h 26"/>
                <a:gd name="T8" fmla="*/ 1 w 19"/>
                <a:gd name="T9" fmla="*/ 1 h 26"/>
                <a:gd name="T10" fmla="*/ 1 w 19"/>
                <a:gd name="T11" fmla="*/ 1 h 26"/>
                <a:gd name="T12" fmla="*/ 1 w 19"/>
                <a:gd name="T13" fmla="*/ 1 h 26"/>
                <a:gd name="T14" fmla="*/ 1 w 19"/>
                <a:gd name="T15" fmla="*/ 1 h 26"/>
                <a:gd name="T16" fmla="*/ 1 w 19"/>
                <a:gd name="T17" fmla="*/ 1 h 26"/>
                <a:gd name="T18" fmla="*/ 0 w 19"/>
                <a:gd name="T19" fmla="*/ 1 h 26"/>
                <a:gd name="T20" fmla="*/ 1 w 19"/>
                <a:gd name="T21" fmla="*/ 0 h 26"/>
                <a:gd name="T22" fmla="*/ 1 w 19"/>
                <a:gd name="T23" fmla="*/ 0 h 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26"/>
                <a:gd name="T38" fmla="*/ 19 w 19"/>
                <a:gd name="T39" fmla="*/ 26 h 2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26">
                  <a:moveTo>
                    <a:pt x="4" y="0"/>
                  </a:moveTo>
                  <a:lnTo>
                    <a:pt x="14" y="0"/>
                  </a:lnTo>
                  <a:lnTo>
                    <a:pt x="17" y="9"/>
                  </a:lnTo>
                  <a:lnTo>
                    <a:pt x="17" y="17"/>
                  </a:lnTo>
                  <a:lnTo>
                    <a:pt x="19" y="23"/>
                  </a:lnTo>
                  <a:lnTo>
                    <a:pt x="17" y="26"/>
                  </a:lnTo>
                  <a:lnTo>
                    <a:pt x="8" y="23"/>
                  </a:lnTo>
                  <a:lnTo>
                    <a:pt x="4" y="13"/>
                  </a:lnTo>
                  <a:lnTo>
                    <a:pt x="0" y="4"/>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04" name="Freeform 116"/>
            <p:cNvSpPr>
              <a:spLocks/>
            </p:cNvSpPr>
            <p:nvPr/>
          </p:nvSpPr>
          <p:spPr bwMode="auto">
            <a:xfrm>
              <a:off x="4046" y="3391"/>
              <a:ext cx="39" cy="109"/>
            </a:xfrm>
            <a:custGeom>
              <a:avLst/>
              <a:gdLst>
                <a:gd name="T0" fmla="*/ 1 w 78"/>
                <a:gd name="T1" fmla="*/ 0 h 219"/>
                <a:gd name="T2" fmla="*/ 1 w 78"/>
                <a:gd name="T3" fmla="*/ 0 h 219"/>
                <a:gd name="T4" fmla="*/ 1 w 78"/>
                <a:gd name="T5" fmla="*/ 0 h 219"/>
                <a:gd name="T6" fmla="*/ 1 w 78"/>
                <a:gd name="T7" fmla="*/ 0 h 219"/>
                <a:gd name="T8" fmla="*/ 1 w 78"/>
                <a:gd name="T9" fmla="*/ 0 h 219"/>
                <a:gd name="T10" fmla="*/ 1 w 78"/>
                <a:gd name="T11" fmla="*/ 0 h 219"/>
                <a:gd name="T12" fmla="*/ 1 w 78"/>
                <a:gd name="T13" fmla="*/ 0 h 219"/>
                <a:gd name="T14" fmla="*/ 1 w 78"/>
                <a:gd name="T15" fmla="*/ 0 h 219"/>
                <a:gd name="T16" fmla="*/ 1 w 78"/>
                <a:gd name="T17" fmla="*/ 0 h 219"/>
                <a:gd name="T18" fmla="*/ 1 w 78"/>
                <a:gd name="T19" fmla="*/ 0 h 219"/>
                <a:gd name="T20" fmla="*/ 1 w 78"/>
                <a:gd name="T21" fmla="*/ 0 h 219"/>
                <a:gd name="T22" fmla="*/ 1 w 78"/>
                <a:gd name="T23" fmla="*/ 0 h 219"/>
                <a:gd name="T24" fmla="*/ 1 w 78"/>
                <a:gd name="T25" fmla="*/ 0 h 219"/>
                <a:gd name="T26" fmla="*/ 1 w 78"/>
                <a:gd name="T27" fmla="*/ 0 h 219"/>
                <a:gd name="T28" fmla="*/ 1 w 78"/>
                <a:gd name="T29" fmla="*/ 0 h 219"/>
                <a:gd name="T30" fmla="*/ 1 w 78"/>
                <a:gd name="T31" fmla="*/ 0 h 219"/>
                <a:gd name="T32" fmla="*/ 1 w 78"/>
                <a:gd name="T33" fmla="*/ 0 h 219"/>
                <a:gd name="T34" fmla="*/ 1 w 78"/>
                <a:gd name="T35" fmla="*/ 0 h 219"/>
                <a:gd name="T36" fmla="*/ 1 w 78"/>
                <a:gd name="T37" fmla="*/ 0 h 219"/>
                <a:gd name="T38" fmla="*/ 1 w 78"/>
                <a:gd name="T39" fmla="*/ 0 h 219"/>
                <a:gd name="T40" fmla="*/ 1 w 78"/>
                <a:gd name="T41" fmla="*/ 0 h 219"/>
                <a:gd name="T42" fmla="*/ 1 w 78"/>
                <a:gd name="T43" fmla="*/ 0 h 219"/>
                <a:gd name="T44" fmla="*/ 1 w 78"/>
                <a:gd name="T45" fmla="*/ 0 h 219"/>
                <a:gd name="T46" fmla="*/ 1 w 78"/>
                <a:gd name="T47" fmla="*/ 0 h 219"/>
                <a:gd name="T48" fmla="*/ 1 w 78"/>
                <a:gd name="T49" fmla="*/ 0 h 219"/>
                <a:gd name="T50" fmla="*/ 1 w 78"/>
                <a:gd name="T51" fmla="*/ 0 h 219"/>
                <a:gd name="T52" fmla="*/ 1 w 78"/>
                <a:gd name="T53" fmla="*/ 0 h 219"/>
                <a:gd name="T54" fmla="*/ 1 w 78"/>
                <a:gd name="T55" fmla="*/ 0 h 219"/>
                <a:gd name="T56" fmla="*/ 1 w 78"/>
                <a:gd name="T57" fmla="*/ 0 h 219"/>
                <a:gd name="T58" fmla="*/ 1 w 78"/>
                <a:gd name="T59" fmla="*/ 0 h 219"/>
                <a:gd name="T60" fmla="*/ 1 w 78"/>
                <a:gd name="T61" fmla="*/ 0 h 219"/>
                <a:gd name="T62" fmla="*/ 1 w 78"/>
                <a:gd name="T63" fmla="*/ 0 h 219"/>
                <a:gd name="T64" fmla="*/ 0 w 78"/>
                <a:gd name="T65" fmla="*/ 0 h 219"/>
                <a:gd name="T66" fmla="*/ 0 w 78"/>
                <a:gd name="T67" fmla="*/ 0 h 219"/>
                <a:gd name="T68" fmla="*/ 1 w 78"/>
                <a:gd name="T69" fmla="*/ 0 h 219"/>
                <a:gd name="T70" fmla="*/ 1 w 78"/>
                <a:gd name="T71" fmla="*/ 0 h 219"/>
                <a:gd name="T72" fmla="*/ 1 w 78"/>
                <a:gd name="T73" fmla="*/ 0 h 219"/>
                <a:gd name="T74" fmla="*/ 1 w 78"/>
                <a:gd name="T75" fmla="*/ 0 h 219"/>
                <a:gd name="T76" fmla="*/ 1 w 78"/>
                <a:gd name="T77" fmla="*/ 0 h 219"/>
                <a:gd name="T78" fmla="*/ 1 w 78"/>
                <a:gd name="T79" fmla="*/ 0 h 219"/>
                <a:gd name="T80" fmla="*/ 1 w 78"/>
                <a:gd name="T81" fmla="*/ 0 h 219"/>
                <a:gd name="T82" fmla="*/ 1 w 78"/>
                <a:gd name="T83" fmla="*/ 0 h 21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78"/>
                <a:gd name="T127" fmla="*/ 0 h 219"/>
                <a:gd name="T128" fmla="*/ 78 w 78"/>
                <a:gd name="T129" fmla="*/ 219 h 21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78" h="219">
                  <a:moveTo>
                    <a:pt x="17" y="0"/>
                  </a:moveTo>
                  <a:lnTo>
                    <a:pt x="21" y="11"/>
                  </a:lnTo>
                  <a:lnTo>
                    <a:pt x="26" y="23"/>
                  </a:lnTo>
                  <a:lnTo>
                    <a:pt x="30" y="36"/>
                  </a:lnTo>
                  <a:lnTo>
                    <a:pt x="34" y="49"/>
                  </a:lnTo>
                  <a:lnTo>
                    <a:pt x="38" y="63"/>
                  </a:lnTo>
                  <a:lnTo>
                    <a:pt x="40" y="76"/>
                  </a:lnTo>
                  <a:lnTo>
                    <a:pt x="44" y="89"/>
                  </a:lnTo>
                  <a:lnTo>
                    <a:pt x="47" y="107"/>
                  </a:lnTo>
                  <a:lnTo>
                    <a:pt x="47" y="120"/>
                  </a:lnTo>
                  <a:lnTo>
                    <a:pt x="51" y="135"/>
                  </a:lnTo>
                  <a:lnTo>
                    <a:pt x="51" y="148"/>
                  </a:lnTo>
                  <a:lnTo>
                    <a:pt x="57" y="164"/>
                  </a:lnTo>
                  <a:lnTo>
                    <a:pt x="59" y="177"/>
                  </a:lnTo>
                  <a:lnTo>
                    <a:pt x="65" y="190"/>
                  </a:lnTo>
                  <a:lnTo>
                    <a:pt x="70" y="203"/>
                  </a:lnTo>
                  <a:lnTo>
                    <a:pt x="78" y="219"/>
                  </a:lnTo>
                  <a:lnTo>
                    <a:pt x="66" y="217"/>
                  </a:lnTo>
                  <a:lnTo>
                    <a:pt x="59" y="215"/>
                  </a:lnTo>
                  <a:lnTo>
                    <a:pt x="51" y="209"/>
                  </a:lnTo>
                  <a:lnTo>
                    <a:pt x="47" y="202"/>
                  </a:lnTo>
                  <a:lnTo>
                    <a:pt x="42" y="192"/>
                  </a:lnTo>
                  <a:lnTo>
                    <a:pt x="38" y="184"/>
                  </a:lnTo>
                  <a:lnTo>
                    <a:pt x="34" y="173"/>
                  </a:lnTo>
                  <a:lnTo>
                    <a:pt x="32" y="162"/>
                  </a:lnTo>
                  <a:lnTo>
                    <a:pt x="28" y="148"/>
                  </a:lnTo>
                  <a:lnTo>
                    <a:pt x="25" y="137"/>
                  </a:lnTo>
                  <a:lnTo>
                    <a:pt x="23" y="126"/>
                  </a:lnTo>
                  <a:lnTo>
                    <a:pt x="21" y="112"/>
                  </a:lnTo>
                  <a:lnTo>
                    <a:pt x="15" y="101"/>
                  </a:lnTo>
                  <a:lnTo>
                    <a:pt x="11" y="89"/>
                  </a:lnTo>
                  <a:lnTo>
                    <a:pt x="6" y="82"/>
                  </a:lnTo>
                  <a:lnTo>
                    <a:pt x="0" y="76"/>
                  </a:lnTo>
                  <a:lnTo>
                    <a:pt x="0" y="65"/>
                  </a:lnTo>
                  <a:lnTo>
                    <a:pt x="2" y="55"/>
                  </a:lnTo>
                  <a:lnTo>
                    <a:pt x="4" y="46"/>
                  </a:lnTo>
                  <a:lnTo>
                    <a:pt x="6" y="36"/>
                  </a:lnTo>
                  <a:lnTo>
                    <a:pt x="7" y="25"/>
                  </a:lnTo>
                  <a:lnTo>
                    <a:pt x="11" y="15"/>
                  </a:lnTo>
                  <a:lnTo>
                    <a:pt x="11" y="8"/>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05" name="Freeform 117"/>
            <p:cNvSpPr>
              <a:spLocks/>
            </p:cNvSpPr>
            <p:nvPr/>
          </p:nvSpPr>
          <p:spPr bwMode="auto">
            <a:xfrm>
              <a:off x="4082" y="3395"/>
              <a:ext cx="3" cy="21"/>
            </a:xfrm>
            <a:custGeom>
              <a:avLst/>
              <a:gdLst>
                <a:gd name="T0" fmla="*/ 1 w 6"/>
                <a:gd name="T1" fmla="*/ 0 h 41"/>
                <a:gd name="T2" fmla="*/ 1 w 6"/>
                <a:gd name="T3" fmla="*/ 1 h 41"/>
                <a:gd name="T4" fmla="*/ 1 w 6"/>
                <a:gd name="T5" fmla="*/ 1 h 41"/>
                <a:gd name="T6" fmla="*/ 1 w 6"/>
                <a:gd name="T7" fmla="*/ 1 h 41"/>
                <a:gd name="T8" fmla="*/ 1 w 6"/>
                <a:gd name="T9" fmla="*/ 1 h 41"/>
                <a:gd name="T10" fmla="*/ 1 w 6"/>
                <a:gd name="T11" fmla="*/ 1 h 41"/>
                <a:gd name="T12" fmla="*/ 0 w 6"/>
                <a:gd name="T13" fmla="*/ 1 h 41"/>
                <a:gd name="T14" fmla="*/ 0 w 6"/>
                <a:gd name="T15" fmla="*/ 1 h 41"/>
                <a:gd name="T16" fmla="*/ 0 w 6"/>
                <a:gd name="T17" fmla="*/ 1 h 41"/>
                <a:gd name="T18" fmla="*/ 0 w 6"/>
                <a:gd name="T19" fmla="*/ 1 h 41"/>
                <a:gd name="T20" fmla="*/ 0 w 6"/>
                <a:gd name="T21" fmla="*/ 1 h 41"/>
                <a:gd name="T22" fmla="*/ 0 w 6"/>
                <a:gd name="T23" fmla="*/ 1 h 41"/>
                <a:gd name="T24" fmla="*/ 1 w 6"/>
                <a:gd name="T25" fmla="*/ 0 h 41"/>
                <a:gd name="T26" fmla="*/ 1 w 6"/>
                <a:gd name="T27" fmla="*/ 0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
                <a:gd name="T43" fmla="*/ 0 h 41"/>
                <a:gd name="T44" fmla="*/ 6 w 6"/>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 h="41">
                  <a:moveTo>
                    <a:pt x="2" y="0"/>
                  </a:moveTo>
                  <a:lnTo>
                    <a:pt x="4" y="9"/>
                  </a:lnTo>
                  <a:lnTo>
                    <a:pt x="6" y="19"/>
                  </a:lnTo>
                  <a:lnTo>
                    <a:pt x="2" y="28"/>
                  </a:lnTo>
                  <a:lnTo>
                    <a:pt x="2" y="41"/>
                  </a:lnTo>
                  <a:lnTo>
                    <a:pt x="0" y="41"/>
                  </a:lnTo>
                  <a:lnTo>
                    <a:pt x="0" y="36"/>
                  </a:lnTo>
                  <a:lnTo>
                    <a:pt x="0" y="30"/>
                  </a:lnTo>
                  <a:lnTo>
                    <a:pt x="0" y="24"/>
                  </a:lnTo>
                  <a:lnTo>
                    <a:pt x="0" y="19"/>
                  </a:lnTo>
                  <a:lnTo>
                    <a:pt x="0" y="9"/>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06" name="Freeform 118"/>
            <p:cNvSpPr>
              <a:spLocks/>
            </p:cNvSpPr>
            <p:nvPr/>
          </p:nvSpPr>
          <p:spPr bwMode="auto">
            <a:xfrm>
              <a:off x="4635" y="3395"/>
              <a:ext cx="57" cy="78"/>
            </a:xfrm>
            <a:custGeom>
              <a:avLst/>
              <a:gdLst>
                <a:gd name="T0" fmla="*/ 1 w 114"/>
                <a:gd name="T1" fmla="*/ 0 h 156"/>
                <a:gd name="T2" fmla="*/ 1 w 114"/>
                <a:gd name="T3" fmla="*/ 1 h 156"/>
                <a:gd name="T4" fmla="*/ 1 w 114"/>
                <a:gd name="T5" fmla="*/ 1 h 156"/>
                <a:gd name="T6" fmla="*/ 1 w 114"/>
                <a:gd name="T7" fmla="*/ 1 h 156"/>
                <a:gd name="T8" fmla="*/ 1 w 114"/>
                <a:gd name="T9" fmla="*/ 1 h 156"/>
                <a:gd name="T10" fmla="*/ 1 w 114"/>
                <a:gd name="T11" fmla="*/ 1 h 156"/>
                <a:gd name="T12" fmla="*/ 1 w 114"/>
                <a:gd name="T13" fmla="*/ 1 h 156"/>
                <a:gd name="T14" fmla="*/ 1 w 114"/>
                <a:gd name="T15" fmla="*/ 1 h 156"/>
                <a:gd name="T16" fmla="*/ 1 w 114"/>
                <a:gd name="T17" fmla="*/ 1 h 156"/>
                <a:gd name="T18" fmla="*/ 1 w 114"/>
                <a:gd name="T19" fmla="*/ 1 h 156"/>
                <a:gd name="T20" fmla="*/ 1 w 114"/>
                <a:gd name="T21" fmla="*/ 1 h 156"/>
                <a:gd name="T22" fmla="*/ 1 w 114"/>
                <a:gd name="T23" fmla="*/ 1 h 156"/>
                <a:gd name="T24" fmla="*/ 1 w 114"/>
                <a:gd name="T25" fmla="*/ 1 h 156"/>
                <a:gd name="T26" fmla="*/ 1 w 114"/>
                <a:gd name="T27" fmla="*/ 1 h 156"/>
                <a:gd name="T28" fmla="*/ 1 w 114"/>
                <a:gd name="T29" fmla="*/ 1 h 156"/>
                <a:gd name="T30" fmla="*/ 1 w 114"/>
                <a:gd name="T31" fmla="*/ 1 h 156"/>
                <a:gd name="T32" fmla="*/ 0 w 114"/>
                <a:gd name="T33" fmla="*/ 1 h 156"/>
                <a:gd name="T34" fmla="*/ 1 w 114"/>
                <a:gd name="T35" fmla="*/ 1 h 156"/>
                <a:gd name="T36" fmla="*/ 1 w 114"/>
                <a:gd name="T37" fmla="*/ 1 h 156"/>
                <a:gd name="T38" fmla="*/ 1 w 114"/>
                <a:gd name="T39" fmla="*/ 1 h 156"/>
                <a:gd name="T40" fmla="*/ 1 w 114"/>
                <a:gd name="T41" fmla="*/ 1 h 156"/>
                <a:gd name="T42" fmla="*/ 1 w 114"/>
                <a:gd name="T43" fmla="*/ 1 h 156"/>
                <a:gd name="T44" fmla="*/ 1 w 114"/>
                <a:gd name="T45" fmla="*/ 1 h 156"/>
                <a:gd name="T46" fmla="*/ 1 w 114"/>
                <a:gd name="T47" fmla="*/ 1 h 156"/>
                <a:gd name="T48" fmla="*/ 1 w 114"/>
                <a:gd name="T49" fmla="*/ 1 h 156"/>
                <a:gd name="T50" fmla="*/ 1 w 114"/>
                <a:gd name="T51" fmla="*/ 1 h 156"/>
                <a:gd name="T52" fmla="*/ 1 w 114"/>
                <a:gd name="T53" fmla="*/ 1 h 156"/>
                <a:gd name="T54" fmla="*/ 1 w 114"/>
                <a:gd name="T55" fmla="*/ 1 h 156"/>
                <a:gd name="T56" fmla="*/ 1 w 114"/>
                <a:gd name="T57" fmla="*/ 1 h 156"/>
                <a:gd name="T58" fmla="*/ 1 w 114"/>
                <a:gd name="T59" fmla="*/ 1 h 156"/>
                <a:gd name="T60" fmla="*/ 1 w 114"/>
                <a:gd name="T61" fmla="*/ 0 h 156"/>
                <a:gd name="T62" fmla="*/ 1 w 114"/>
                <a:gd name="T63" fmla="*/ 0 h 15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14"/>
                <a:gd name="T97" fmla="*/ 0 h 156"/>
                <a:gd name="T98" fmla="*/ 114 w 114"/>
                <a:gd name="T99" fmla="*/ 156 h 15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14" h="156">
                  <a:moveTo>
                    <a:pt x="114" y="0"/>
                  </a:moveTo>
                  <a:lnTo>
                    <a:pt x="108" y="13"/>
                  </a:lnTo>
                  <a:lnTo>
                    <a:pt x="106" y="28"/>
                  </a:lnTo>
                  <a:lnTo>
                    <a:pt x="102" y="34"/>
                  </a:lnTo>
                  <a:lnTo>
                    <a:pt x="100" y="41"/>
                  </a:lnTo>
                  <a:lnTo>
                    <a:pt x="95" y="49"/>
                  </a:lnTo>
                  <a:lnTo>
                    <a:pt x="93" y="57"/>
                  </a:lnTo>
                  <a:lnTo>
                    <a:pt x="83" y="70"/>
                  </a:lnTo>
                  <a:lnTo>
                    <a:pt x="74" y="83"/>
                  </a:lnTo>
                  <a:lnTo>
                    <a:pt x="64" y="97"/>
                  </a:lnTo>
                  <a:lnTo>
                    <a:pt x="55" y="110"/>
                  </a:lnTo>
                  <a:lnTo>
                    <a:pt x="47" y="116"/>
                  </a:lnTo>
                  <a:lnTo>
                    <a:pt x="40" y="121"/>
                  </a:lnTo>
                  <a:lnTo>
                    <a:pt x="32" y="127"/>
                  </a:lnTo>
                  <a:lnTo>
                    <a:pt x="24" y="133"/>
                  </a:lnTo>
                  <a:lnTo>
                    <a:pt x="11" y="144"/>
                  </a:lnTo>
                  <a:lnTo>
                    <a:pt x="0" y="156"/>
                  </a:lnTo>
                  <a:lnTo>
                    <a:pt x="2" y="148"/>
                  </a:lnTo>
                  <a:lnTo>
                    <a:pt x="3" y="140"/>
                  </a:lnTo>
                  <a:lnTo>
                    <a:pt x="7" y="133"/>
                  </a:lnTo>
                  <a:lnTo>
                    <a:pt x="11" y="127"/>
                  </a:lnTo>
                  <a:lnTo>
                    <a:pt x="19" y="114"/>
                  </a:lnTo>
                  <a:lnTo>
                    <a:pt x="28" y="104"/>
                  </a:lnTo>
                  <a:lnTo>
                    <a:pt x="38" y="89"/>
                  </a:lnTo>
                  <a:lnTo>
                    <a:pt x="49" y="78"/>
                  </a:lnTo>
                  <a:lnTo>
                    <a:pt x="61" y="64"/>
                  </a:lnTo>
                  <a:lnTo>
                    <a:pt x="72" y="53"/>
                  </a:lnTo>
                  <a:lnTo>
                    <a:pt x="81" y="40"/>
                  </a:lnTo>
                  <a:lnTo>
                    <a:pt x="93" y="28"/>
                  </a:lnTo>
                  <a:lnTo>
                    <a:pt x="102" y="13"/>
                  </a:lnTo>
                  <a:lnTo>
                    <a:pt x="1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07" name="Freeform 119"/>
            <p:cNvSpPr>
              <a:spLocks/>
            </p:cNvSpPr>
            <p:nvPr/>
          </p:nvSpPr>
          <p:spPr bwMode="auto">
            <a:xfrm>
              <a:off x="4904" y="3395"/>
              <a:ext cx="125" cy="99"/>
            </a:xfrm>
            <a:custGeom>
              <a:avLst/>
              <a:gdLst>
                <a:gd name="T0" fmla="*/ 1 w 249"/>
                <a:gd name="T1" fmla="*/ 0 h 197"/>
                <a:gd name="T2" fmla="*/ 1 w 249"/>
                <a:gd name="T3" fmla="*/ 0 h 197"/>
                <a:gd name="T4" fmla="*/ 1 w 249"/>
                <a:gd name="T5" fmla="*/ 1 h 197"/>
                <a:gd name="T6" fmla="*/ 1 w 249"/>
                <a:gd name="T7" fmla="*/ 1 h 197"/>
                <a:gd name="T8" fmla="*/ 1 w 249"/>
                <a:gd name="T9" fmla="*/ 1 h 197"/>
                <a:gd name="T10" fmla="*/ 1 w 249"/>
                <a:gd name="T11" fmla="*/ 1 h 197"/>
                <a:gd name="T12" fmla="*/ 1 w 249"/>
                <a:gd name="T13" fmla="*/ 1 h 197"/>
                <a:gd name="T14" fmla="*/ 1 w 249"/>
                <a:gd name="T15" fmla="*/ 1 h 197"/>
                <a:gd name="T16" fmla="*/ 1 w 249"/>
                <a:gd name="T17" fmla="*/ 1 h 197"/>
                <a:gd name="T18" fmla="*/ 1 w 249"/>
                <a:gd name="T19" fmla="*/ 1 h 197"/>
                <a:gd name="T20" fmla="*/ 1 w 249"/>
                <a:gd name="T21" fmla="*/ 1 h 197"/>
                <a:gd name="T22" fmla="*/ 1 w 249"/>
                <a:gd name="T23" fmla="*/ 1 h 197"/>
                <a:gd name="T24" fmla="*/ 1 w 249"/>
                <a:gd name="T25" fmla="*/ 1 h 197"/>
                <a:gd name="T26" fmla="*/ 1 w 249"/>
                <a:gd name="T27" fmla="*/ 1 h 197"/>
                <a:gd name="T28" fmla="*/ 1 w 249"/>
                <a:gd name="T29" fmla="*/ 1 h 197"/>
                <a:gd name="T30" fmla="*/ 1 w 249"/>
                <a:gd name="T31" fmla="*/ 1 h 197"/>
                <a:gd name="T32" fmla="*/ 1 w 249"/>
                <a:gd name="T33" fmla="*/ 1 h 197"/>
                <a:gd name="T34" fmla="*/ 1 w 249"/>
                <a:gd name="T35" fmla="*/ 1 h 197"/>
                <a:gd name="T36" fmla="*/ 1 w 249"/>
                <a:gd name="T37" fmla="*/ 1 h 197"/>
                <a:gd name="T38" fmla="*/ 1 w 249"/>
                <a:gd name="T39" fmla="*/ 1 h 197"/>
                <a:gd name="T40" fmla="*/ 1 w 249"/>
                <a:gd name="T41" fmla="*/ 1 h 197"/>
                <a:gd name="T42" fmla="*/ 1 w 249"/>
                <a:gd name="T43" fmla="*/ 1 h 197"/>
                <a:gd name="T44" fmla="*/ 1 w 249"/>
                <a:gd name="T45" fmla="*/ 1 h 197"/>
                <a:gd name="T46" fmla="*/ 1 w 249"/>
                <a:gd name="T47" fmla="*/ 1 h 197"/>
                <a:gd name="T48" fmla="*/ 1 w 249"/>
                <a:gd name="T49" fmla="*/ 1 h 197"/>
                <a:gd name="T50" fmla="*/ 1 w 249"/>
                <a:gd name="T51" fmla="*/ 1 h 197"/>
                <a:gd name="T52" fmla="*/ 1 w 249"/>
                <a:gd name="T53" fmla="*/ 1 h 197"/>
                <a:gd name="T54" fmla="*/ 1 w 249"/>
                <a:gd name="T55" fmla="*/ 1 h 197"/>
                <a:gd name="T56" fmla="*/ 1 w 249"/>
                <a:gd name="T57" fmla="*/ 1 h 197"/>
                <a:gd name="T58" fmla="*/ 1 w 249"/>
                <a:gd name="T59" fmla="*/ 1 h 197"/>
                <a:gd name="T60" fmla="*/ 1 w 249"/>
                <a:gd name="T61" fmla="*/ 1 h 197"/>
                <a:gd name="T62" fmla="*/ 1 w 249"/>
                <a:gd name="T63" fmla="*/ 1 h 197"/>
                <a:gd name="T64" fmla="*/ 1 w 249"/>
                <a:gd name="T65" fmla="*/ 1 h 197"/>
                <a:gd name="T66" fmla="*/ 1 w 249"/>
                <a:gd name="T67" fmla="*/ 1 h 197"/>
                <a:gd name="T68" fmla="*/ 1 w 249"/>
                <a:gd name="T69" fmla="*/ 1 h 197"/>
                <a:gd name="T70" fmla="*/ 1 w 249"/>
                <a:gd name="T71" fmla="*/ 1 h 197"/>
                <a:gd name="T72" fmla="*/ 1 w 249"/>
                <a:gd name="T73" fmla="*/ 1 h 197"/>
                <a:gd name="T74" fmla="*/ 1 w 249"/>
                <a:gd name="T75" fmla="*/ 1 h 197"/>
                <a:gd name="T76" fmla="*/ 1 w 249"/>
                <a:gd name="T77" fmla="*/ 1 h 197"/>
                <a:gd name="T78" fmla="*/ 1 w 249"/>
                <a:gd name="T79" fmla="*/ 1 h 197"/>
                <a:gd name="T80" fmla="*/ 1 w 249"/>
                <a:gd name="T81" fmla="*/ 1 h 197"/>
                <a:gd name="T82" fmla="*/ 1 w 249"/>
                <a:gd name="T83" fmla="*/ 1 h 197"/>
                <a:gd name="T84" fmla="*/ 1 w 249"/>
                <a:gd name="T85" fmla="*/ 1 h 197"/>
                <a:gd name="T86" fmla="*/ 1 w 249"/>
                <a:gd name="T87" fmla="*/ 1 h 197"/>
                <a:gd name="T88" fmla="*/ 1 w 249"/>
                <a:gd name="T89" fmla="*/ 1 h 197"/>
                <a:gd name="T90" fmla="*/ 1 w 249"/>
                <a:gd name="T91" fmla="*/ 1 h 197"/>
                <a:gd name="T92" fmla="*/ 1 w 249"/>
                <a:gd name="T93" fmla="*/ 1 h 197"/>
                <a:gd name="T94" fmla="*/ 1 w 249"/>
                <a:gd name="T95" fmla="*/ 1 h 197"/>
                <a:gd name="T96" fmla="*/ 1 w 249"/>
                <a:gd name="T97" fmla="*/ 1 h 197"/>
                <a:gd name="T98" fmla="*/ 0 w 249"/>
                <a:gd name="T99" fmla="*/ 1 h 197"/>
                <a:gd name="T100" fmla="*/ 0 w 249"/>
                <a:gd name="T101" fmla="*/ 1 h 197"/>
                <a:gd name="T102" fmla="*/ 0 w 249"/>
                <a:gd name="T103" fmla="*/ 1 h 197"/>
                <a:gd name="T104" fmla="*/ 0 w 249"/>
                <a:gd name="T105" fmla="*/ 1 h 197"/>
                <a:gd name="T106" fmla="*/ 0 w 249"/>
                <a:gd name="T107" fmla="*/ 1 h 197"/>
                <a:gd name="T108" fmla="*/ 1 w 249"/>
                <a:gd name="T109" fmla="*/ 1 h 197"/>
                <a:gd name="T110" fmla="*/ 1 w 249"/>
                <a:gd name="T111" fmla="*/ 1 h 197"/>
                <a:gd name="T112" fmla="*/ 1 w 249"/>
                <a:gd name="T113" fmla="*/ 1 h 197"/>
                <a:gd name="T114" fmla="*/ 1 w 249"/>
                <a:gd name="T115" fmla="*/ 1 h 197"/>
                <a:gd name="T116" fmla="*/ 1 w 249"/>
                <a:gd name="T117" fmla="*/ 0 h 197"/>
                <a:gd name="T118" fmla="*/ 1 w 249"/>
                <a:gd name="T119" fmla="*/ 0 h 19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49"/>
                <a:gd name="T181" fmla="*/ 0 h 197"/>
                <a:gd name="T182" fmla="*/ 249 w 249"/>
                <a:gd name="T183" fmla="*/ 197 h 19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49" h="197">
                  <a:moveTo>
                    <a:pt x="17" y="0"/>
                  </a:moveTo>
                  <a:lnTo>
                    <a:pt x="38" y="0"/>
                  </a:lnTo>
                  <a:lnTo>
                    <a:pt x="57" y="3"/>
                  </a:lnTo>
                  <a:lnTo>
                    <a:pt x="74" y="9"/>
                  </a:lnTo>
                  <a:lnTo>
                    <a:pt x="91" y="19"/>
                  </a:lnTo>
                  <a:lnTo>
                    <a:pt x="104" y="28"/>
                  </a:lnTo>
                  <a:lnTo>
                    <a:pt x="120" y="41"/>
                  </a:lnTo>
                  <a:lnTo>
                    <a:pt x="131" y="55"/>
                  </a:lnTo>
                  <a:lnTo>
                    <a:pt x="144" y="72"/>
                  </a:lnTo>
                  <a:lnTo>
                    <a:pt x="156" y="87"/>
                  </a:lnTo>
                  <a:lnTo>
                    <a:pt x="169" y="102"/>
                  </a:lnTo>
                  <a:lnTo>
                    <a:pt x="180" y="118"/>
                  </a:lnTo>
                  <a:lnTo>
                    <a:pt x="192" y="135"/>
                  </a:lnTo>
                  <a:lnTo>
                    <a:pt x="205" y="150"/>
                  </a:lnTo>
                  <a:lnTo>
                    <a:pt x="218" y="167"/>
                  </a:lnTo>
                  <a:lnTo>
                    <a:pt x="232" y="180"/>
                  </a:lnTo>
                  <a:lnTo>
                    <a:pt x="249" y="197"/>
                  </a:lnTo>
                  <a:lnTo>
                    <a:pt x="236" y="197"/>
                  </a:lnTo>
                  <a:lnTo>
                    <a:pt x="224" y="197"/>
                  </a:lnTo>
                  <a:lnTo>
                    <a:pt x="213" y="197"/>
                  </a:lnTo>
                  <a:lnTo>
                    <a:pt x="203" y="195"/>
                  </a:lnTo>
                  <a:lnTo>
                    <a:pt x="192" y="192"/>
                  </a:lnTo>
                  <a:lnTo>
                    <a:pt x="182" y="188"/>
                  </a:lnTo>
                  <a:lnTo>
                    <a:pt x="171" y="180"/>
                  </a:lnTo>
                  <a:lnTo>
                    <a:pt x="161" y="176"/>
                  </a:lnTo>
                  <a:lnTo>
                    <a:pt x="150" y="167"/>
                  </a:lnTo>
                  <a:lnTo>
                    <a:pt x="142" y="159"/>
                  </a:lnTo>
                  <a:lnTo>
                    <a:pt x="131" y="150"/>
                  </a:lnTo>
                  <a:lnTo>
                    <a:pt x="121" y="142"/>
                  </a:lnTo>
                  <a:lnTo>
                    <a:pt x="110" y="133"/>
                  </a:lnTo>
                  <a:lnTo>
                    <a:pt x="102" y="125"/>
                  </a:lnTo>
                  <a:lnTo>
                    <a:pt x="91" y="118"/>
                  </a:lnTo>
                  <a:lnTo>
                    <a:pt x="83" y="110"/>
                  </a:lnTo>
                  <a:lnTo>
                    <a:pt x="80" y="118"/>
                  </a:lnTo>
                  <a:lnTo>
                    <a:pt x="76" y="127"/>
                  </a:lnTo>
                  <a:lnTo>
                    <a:pt x="70" y="135"/>
                  </a:lnTo>
                  <a:lnTo>
                    <a:pt x="68" y="140"/>
                  </a:lnTo>
                  <a:lnTo>
                    <a:pt x="61" y="148"/>
                  </a:lnTo>
                  <a:lnTo>
                    <a:pt x="53" y="154"/>
                  </a:lnTo>
                  <a:lnTo>
                    <a:pt x="45" y="154"/>
                  </a:lnTo>
                  <a:lnTo>
                    <a:pt x="38" y="152"/>
                  </a:lnTo>
                  <a:lnTo>
                    <a:pt x="30" y="144"/>
                  </a:lnTo>
                  <a:lnTo>
                    <a:pt x="24" y="135"/>
                  </a:lnTo>
                  <a:lnTo>
                    <a:pt x="19" y="127"/>
                  </a:lnTo>
                  <a:lnTo>
                    <a:pt x="15" y="119"/>
                  </a:lnTo>
                  <a:lnTo>
                    <a:pt x="11" y="110"/>
                  </a:lnTo>
                  <a:lnTo>
                    <a:pt x="7" y="102"/>
                  </a:lnTo>
                  <a:lnTo>
                    <a:pt x="4" y="91"/>
                  </a:lnTo>
                  <a:lnTo>
                    <a:pt x="4" y="83"/>
                  </a:lnTo>
                  <a:lnTo>
                    <a:pt x="0" y="72"/>
                  </a:lnTo>
                  <a:lnTo>
                    <a:pt x="0" y="64"/>
                  </a:lnTo>
                  <a:lnTo>
                    <a:pt x="0" y="55"/>
                  </a:lnTo>
                  <a:lnTo>
                    <a:pt x="0" y="45"/>
                  </a:lnTo>
                  <a:lnTo>
                    <a:pt x="0" y="36"/>
                  </a:lnTo>
                  <a:lnTo>
                    <a:pt x="2" y="28"/>
                  </a:lnTo>
                  <a:lnTo>
                    <a:pt x="4" y="19"/>
                  </a:lnTo>
                  <a:lnTo>
                    <a:pt x="7" y="11"/>
                  </a:lnTo>
                  <a:lnTo>
                    <a:pt x="11" y="3"/>
                  </a:lnTo>
                  <a:lnTo>
                    <a:pt x="17" y="0"/>
                  </a:lnTo>
                  <a:close/>
                </a:path>
              </a:pathLst>
            </a:custGeom>
            <a:solidFill>
              <a:srgbClr val="E6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08" name="Freeform 120"/>
            <p:cNvSpPr>
              <a:spLocks/>
            </p:cNvSpPr>
            <p:nvPr/>
          </p:nvSpPr>
          <p:spPr bwMode="auto">
            <a:xfrm>
              <a:off x="4777" y="3406"/>
              <a:ext cx="121" cy="166"/>
            </a:xfrm>
            <a:custGeom>
              <a:avLst/>
              <a:gdLst>
                <a:gd name="T0" fmla="*/ 1 w 241"/>
                <a:gd name="T1" fmla="*/ 0 h 331"/>
                <a:gd name="T2" fmla="*/ 1 w 241"/>
                <a:gd name="T3" fmla="*/ 0 h 331"/>
                <a:gd name="T4" fmla="*/ 1 w 241"/>
                <a:gd name="T5" fmla="*/ 1 h 331"/>
                <a:gd name="T6" fmla="*/ 1 w 241"/>
                <a:gd name="T7" fmla="*/ 1 h 331"/>
                <a:gd name="T8" fmla="*/ 1 w 241"/>
                <a:gd name="T9" fmla="*/ 1 h 331"/>
                <a:gd name="T10" fmla="*/ 1 w 241"/>
                <a:gd name="T11" fmla="*/ 1 h 331"/>
                <a:gd name="T12" fmla="*/ 1 w 241"/>
                <a:gd name="T13" fmla="*/ 1 h 331"/>
                <a:gd name="T14" fmla="*/ 1 w 241"/>
                <a:gd name="T15" fmla="*/ 1 h 331"/>
                <a:gd name="T16" fmla="*/ 1 w 241"/>
                <a:gd name="T17" fmla="*/ 1 h 331"/>
                <a:gd name="T18" fmla="*/ 1 w 241"/>
                <a:gd name="T19" fmla="*/ 1 h 331"/>
                <a:gd name="T20" fmla="*/ 1 w 241"/>
                <a:gd name="T21" fmla="*/ 1 h 331"/>
                <a:gd name="T22" fmla="*/ 1 w 241"/>
                <a:gd name="T23" fmla="*/ 1 h 331"/>
                <a:gd name="T24" fmla="*/ 1 w 241"/>
                <a:gd name="T25" fmla="*/ 1 h 331"/>
                <a:gd name="T26" fmla="*/ 1 w 241"/>
                <a:gd name="T27" fmla="*/ 1 h 331"/>
                <a:gd name="T28" fmla="*/ 1 w 241"/>
                <a:gd name="T29" fmla="*/ 1 h 331"/>
                <a:gd name="T30" fmla="*/ 1 w 241"/>
                <a:gd name="T31" fmla="*/ 1 h 331"/>
                <a:gd name="T32" fmla="*/ 1 w 241"/>
                <a:gd name="T33" fmla="*/ 1 h 331"/>
                <a:gd name="T34" fmla="*/ 1 w 241"/>
                <a:gd name="T35" fmla="*/ 1 h 331"/>
                <a:gd name="T36" fmla="*/ 1 w 241"/>
                <a:gd name="T37" fmla="*/ 1 h 331"/>
                <a:gd name="T38" fmla="*/ 1 w 241"/>
                <a:gd name="T39" fmla="*/ 1 h 331"/>
                <a:gd name="T40" fmla="*/ 1 w 241"/>
                <a:gd name="T41" fmla="*/ 1 h 331"/>
                <a:gd name="T42" fmla="*/ 1 w 241"/>
                <a:gd name="T43" fmla="*/ 1 h 331"/>
                <a:gd name="T44" fmla="*/ 1 w 241"/>
                <a:gd name="T45" fmla="*/ 1 h 331"/>
                <a:gd name="T46" fmla="*/ 1 w 241"/>
                <a:gd name="T47" fmla="*/ 1 h 331"/>
                <a:gd name="T48" fmla="*/ 1 w 241"/>
                <a:gd name="T49" fmla="*/ 1 h 331"/>
                <a:gd name="T50" fmla="*/ 1 w 241"/>
                <a:gd name="T51" fmla="*/ 1 h 331"/>
                <a:gd name="T52" fmla="*/ 1 w 241"/>
                <a:gd name="T53" fmla="*/ 1 h 331"/>
                <a:gd name="T54" fmla="*/ 1 w 241"/>
                <a:gd name="T55" fmla="*/ 1 h 331"/>
                <a:gd name="T56" fmla="*/ 1 w 241"/>
                <a:gd name="T57" fmla="*/ 1 h 331"/>
                <a:gd name="T58" fmla="*/ 1 w 241"/>
                <a:gd name="T59" fmla="*/ 1 h 331"/>
                <a:gd name="T60" fmla="*/ 1 w 241"/>
                <a:gd name="T61" fmla="*/ 1 h 331"/>
                <a:gd name="T62" fmla="*/ 1 w 241"/>
                <a:gd name="T63" fmla="*/ 1 h 331"/>
                <a:gd name="T64" fmla="*/ 1 w 241"/>
                <a:gd name="T65" fmla="*/ 1 h 331"/>
                <a:gd name="T66" fmla="*/ 1 w 241"/>
                <a:gd name="T67" fmla="*/ 1 h 331"/>
                <a:gd name="T68" fmla="*/ 1 w 241"/>
                <a:gd name="T69" fmla="*/ 1 h 331"/>
                <a:gd name="T70" fmla="*/ 1 w 241"/>
                <a:gd name="T71" fmla="*/ 2 h 331"/>
                <a:gd name="T72" fmla="*/ 1 w 241"/>
                <a:gd name="T73" fmla="*/ 2 h 331"/>
                <a:gd name="T74" fmla="*/ 1 w 241"/>
                <a:gd name="T75" fmla="*/ 2 h 331"/>
                <a:gd name="T76" fmla="*/ 1 w 241"/>
                <a:gd name="T77" fmla="*/ 2 h 331"/>
                <a:gd name="T78" fmla="*/ 1 w 241"/>
                <a:gd name="T79" fmla="*/ 2 h 331"/>
                <a:gd name="T80" fmla="*/ 1 w 241"/>
                <a:gd name="T81" fmla="*/ 2 h 331"/>
                <a:gd name="T82" fmla="*/ 1 w 241"/>
                <a:gd name="T83" fmla="*/ 2 h 331"/>
                <a:gd name="T84" fmla="*/ 1 w 241"/>
                <a:gd name="T85" fmla="*/ 2 h 331"/>
                <a:gd name="T86" fmla="*/ 1 w 241"/>
                <a:gd name="T87" fmla="*/ 2 h 331"/>
                <a:gd name="T88" fmla="*/ 1 w 241"/>
                <a:gd name="T89" fmla="*/ 2 h 331"/>
                <a:gd name="T90" fmla="*/ 1 w 241"/>
                <a:gd name="T91" fmla="*/ 2 h 331"/>
                <a:gd name="T92" fmla="*/ 1 w 241"/>
                <a:gd name="T93" fmla="*/ 1 h 331"/>
                <a:gd name="T94" fmla="*/ 0 w 241"/>
                <a:gd name="T95" fmla="*/ 1 h 331"/>
                <a:gd name="T96" fmla="*/ 1 w 241"/>
                <a:gd name="T97" fmla="*/ 1 h 331"/>
                <a:gd name="T98" fmla="*/ 1 w 241"/>
                <a:gd name="T99" fmla="*/ 1 h 331"/>
                <a:gd name="T100" fmla="*/ 1 w 241"/>
                <a:gd name="T101" fmla="*/ 1 h 331"/>
                <a:gd name="T102" fmla="*/ 1 w 241"/>
                <a:gd name="T103" fmla="*/ 1 h 331"/>
                <a:gd name="T104" fmla="*/ 1 w 241"/>
                <a:gd name="T105" fmla="*/ 1 h 331"/>
                <a:gd name="T106" fmla="*/ 1 w 241"/>
                <a:gd name="T107" fmla="*/ 1 h 331"/>
                <a:gd name="T108" fmla="*/ 1 w 241"/>
                <a:gd name="T109" fmla="*/ 1 h 331"/>
                <a:gd name="T110" fmla="*/ 1 w 241"/>
                <a:gd name="T111" fmla="*/ 0 h 331"/>
                <a:gd name="T112" fmla="*/ 1 w 241"/>
                <a:gd name="T113" fmla="*/ 0 h 33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1"/>
                <a:gd name="T172" fmla="*/ 0 h 331"/>
                <a:gd name="T173" fmla="*/ 241 w 241"/>
                <a:gd name="T174" fmla="*/ 331 h 33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1" h="331">
                  <a:moveTo>
                    <a:pt x="110" y="0"/>
                  </a:moveTo>
                  <a:lnTo>
                    <a:pt x="116" y="0"/>
                  </a:lnTo>
                  <a:lnTo>
                    <a:pt x="125" y="0"/>
                  </a:lnTo>
                  <a:lnTo>
                    <a:pt x="133" y="0"/>
                  </a:lnTo>
                  <a:lnTo>
                    <a:pt x="143" y="2"/>
                  </a:lnTo>
                  <a:lnTo>
                    <a:pt x="150" y="2"/>
                  </a:lnTo>
                  <a:lnTo>
                    <a:pt x="160" y="6"/>
                  </a:lnTo>
                  <a:lnTo>
                    <a:pt x="169" y="8"/>
                  </a:lnTo>
                  <a:lnTo>
                    <a:pt x="179" y="12"/>
                  </a:lnTo>
                  <a:lnTo>
                    <a:pt x="184" y="16"/>
                  </a:lnTo>
                  <a:lnTo>
                    <a:pt x="192" y="19"/>
                  </a:lnTo>
                  <a:lnTo>
                    <a:pt x="198" y="23"/>
                  </a:lnTo>
                  <a:lnTo>
                    <a:pt x="203" y="29"/>
                  </a:lnTo>
                  <a:lnTo>
                    <a:pt x="205" y="35"/>
                  </a:lnTo>
                  <a:lnTo>
                    <a:pt x="209" y="42"/>
                  </a:lnTo>
                  <a:lnTo>
                    <a:pt x="209" y="50"/>
                  </a:lnTo>
                  <a:lnTo>
                    <a:pt x="211" y="61"/>
                  </a:lnTo>
                  <a:lnTo>
                    <a:pt x="202" y="59"/>
                  </a:lnTo>
                  <a:lnTo>
                    <a:pt x="194" y="59"/>
                  </a:lnTo>
                  <a:lnTo>
                    <a:pt x="188" y="59"/>
                  </a:lnTo>
                  <a:lnTo>
                    <a:pt x="183" y="59"/>
                  </a:lnTo>
                  <a:lnTo>
                    <a:pt x="169" y="56"/>
                  </a:lnTo>
                  <a:lnTo>
                    <a:pt x="156" y="59"/>
                  </a:lnTo>
                  <a:lnTo>
                    <a:pt x="165" y="67"/>
                  </a:lnTo>
                  <a:lnTo>
                    <a:pt x="177" y="78"/>
                  </a:lnTo>
                  <a:lnTo>
                    <a:pt x="188" y="92"/>
                  </a:lnTo>
                  <a:lnTo>
                    <a:pt x="200" y="105"/>
                  </a:lnTo>
                  <a:lnTo>
                    <a:pt x="205" y="92"/>
                  </a:lnTo>
                  <a:lnTo>
                    <a:pt x="209" y="82"/>
                  </a:lnTo>
                  <a:lnTo>
                    <a:pt x="213" y="77"/>
                  </a:lnTo>
                  <a:lnTo>
                    <a:pt x="217" y="75"/>
                  </a:lnTo>
                  <a:lnTo>
                    <a:pt x="222" y="73"/>
                  </a:lnTo>
                  <a:lnTo>
                    <a:pt x="230" y="82"/>
                  </a:lnTo>
                  <a:lnTo>
                    <a:pt x="232" y="86"/>
                  </a:lnTo>
                  <a:lnTo>
                    <a:pt x="236" y="92"/>
                  </a:lnTo>
                  <a:lnTo>
                    <a:pt x="236" y="97"/>
                  </a:lnTo>
                  <a:lnTo>
                    <a:pt x="240" y="105"/>
                  </a:lnTo>
                  <a:lnTo>
                    <a:pt x="241" y="113"/>
                  </a:lnTo>
                  <a:lnTo>
                    <a:pt x="241" y="122"/>
                  </a:lnTo>
                  <a:lnTo>
                    <a:pt x="241" y="132"/>
                  </a:lnTo>
                  <a:lnTo>
                    <a:pt x="241" y="139"/>
                  </a:lnTo>
                  <a:lnTo>
                    <a:pt x="240" y="149"/>
                  </a:lnTo>
                  <a:lnTo>
                    <a:pt x="238" y="158"/>
                  </a:lnTo>
                  <a:lnTo>
                    <a:pt x="234" y="166"/>
                  </a:lnTo>
                  <a:lnTo>
                    <a:pt x="232" y="173"/>
                  </a:lnTo>
                  <a:lnTo>
                    <a:pt x="226" y="181"/>
                  </a:lnTo>
                  <a:lnTo>
                    <a:pt x="221" y="187"/>
                  </a:lnTo>
                  <a:lnTo>
                    <a:pt x="215" y="192"/>
                  </a:lnTo>
                  <a:lnTo>
                    <a:pt x="207" y="198"/>
                  </a:lnTo>
                  <a:lnTo>
                    <a:pt x="200" y="196"/>
                  </a:lnTo>
                  <a:lnTo>
                    <a:pt x="192" y="194"/>
                  </a:lnTo>
                  <a:lnTo>
                    <a:pt x="183" y="189"/>
                  </a:lnTo>
                  <a:lnTo>
                    <a:pt x="177" y="185"/>
                  </a:lnTo>
                  <a:lnTo>
                    <a:pt x="169" y="177"/>
                  </a:lnTo>
                  <a:lnTo>
                    <a:pt x="160" y="172"/>
                  </a:lnTo>
                  <a:lnTo>
                    <a:pt x="152" y="162"/>
                  </a:lnTo>
                  <a:lnTo>
                    <a:pt x="146" y="158"/>
                  </a:lnTo>
                  <a:lnTo>
                    <a:pt x="133" y="149"/>
                  </a:lnTo>
                  <a:lnTo>
                    <a:pt x="122" y="151"/>
                  </a:lnTo>
                  <a:lnTo>
                    <a:pt x="118" y="154"/>
                  </a:lnTo>
                  <a:lnTo>
                    <a:pt x="116" y="164"/>
                  </a:lnTo>
                  <a:lnTo>
                    <a:pt x="114" y="175"/>
                  </a:lnTo>
                  <a:lnTo>
                    <a:pt x="114" y="194"/>
                  </a:lnTo>
                  <a:lnTo>
                    <a:pt x="114" y="202"/>
                  </a:lnTo>
                  <a:lnTo>
                    <a:pt x="116" y="212"/>
                  </a:lnTo>
                  <a:lnTo>
                    <a:pt x="120" y="219"/>
                  </a:lnTo>
                  <a:lnTo>
                    <a:pt x="125" y="229"/>
                  </a:lnTo>
                  <a:lnTo>
                    <a:pt x="131" y="234"/>
                  </a:lnTo>
                  <a:lnTo>
                    <a:pt x="139" y="242"/>
                  </a:lnTo>
                  <a:lnTo>
                    <a:pt x="146" y="248"/>
                  </a:lnTo>
                  <a:lnTo>
                    <a:pt x="154" y="257"/>
                  </a:lnTo>
                  <a:lnTo>
                    <a:pt x="160" y="261"/>
                  </a:lnTo>
                  <a:lnTo>
                    <a:pt x="169" y="269"/>
                  </a:lnTo>
                  <a:lnTo>
                    <a:pt x="175" y="274"/>
                  </a:lnTo>
                  <a:lnTo>
                    <a:pt x="183" y="284"/>
                  </a:lnTo>
                  <a:lnTo>
                    <a:pt x="188" y="289"/>
                  </a:lnTo>
                  <a:lnTo>
                    <a:pt x="196" y="297"/>
                  </a:lnTo>
                  <a:lnTo>
                    <a:pt x="200" y="307"/>
                  </a:lnTo>
                  <a:lnTo>
                    <a:pt x="205" y="314"/>
                  </a:lnTo>
                  <a:lnTo>
                    <a:pt x="215" y="314"/>
                  </a:lnTo>
                  <a:lnTo>
                    <a:pt x="224" y="316"/>
                  </a:lnTo>
                  <a:lnTo>
                    <a:pt x="232" y="322"/>
                  </a:lnTo>
                  <a:lnTo>
                    <a:pt x="234" y="331"/>
                  </a:lnTo>
                  <a:lnTo>
                    <a:pt x="207" y="331"/>
                  </a:lnTo>
                  <a:lnTo>
                    <a:pt x="181" y="331"/>
                  </a:lnTo>
                  <a:lnTo>
                    <a:pt x="154" y="327"/>
                  </a:lnTo>
                  <a:lnTo>
                    <a:pt x="129" y="322"/>
                  </a:lnTo>
                  <a:lnTo>
                    <a:pt x="106" y="312"/>
                  </a:lnTo>
                  <a:lnTo>
                    <a:pt x="84" y="301"/>
                  </a:lnTo>
                  <a:lnTo>
                    <a:pt x="63" y="289"/>
                  </a:lnTo>
                  <a:lnTo>
                    <a:pt x="46" y="274"/>
                  </a:lnTo>
                  <a:lnTo>
                    <a:pt x="27" y="257"/>
                  </a:lnTo>
                  <a:lnTo>
                    <a:pt x="15" y="238"/>
                  </a:lnTo>
                  <a:lnTo>
                    <a:pt x="6" y="219"/>
                  </a:lnTo>
                  <a:lnTo>
                    <a:pt x="2" y="198"/>
                  </a:lnTo>
                  <a:lnTo>
                    <a:pt x="0" y="173"/>
                  </a:lnTo>
                  <a:lnTo>
                    <a:pt x="4" y="149"/>
                  </a:lnTo>
                  <a:lnTo>
                    <a:pt x="13" y="122"/>
                  </a:lnTo>
                  <a:lnTo>
                    <a:pt x="29" y="97"/>
                  </a:lnTo>
                  <a:lnTo>
                    <a:pt x="30" y="90"/>
                  </a:lnTo>
                  <a:lnTo>
                    <a:pt x="34" y="82"/>
                  </a:lnTo>
                  <a:lnTo>
                    <a:pt x="38" y="73"/>
                  </a:lnTo>
                  <a:lnTo>
                    <a:pt x="42" y="65"/>
                  </a:lnTo>
                  <a:lnTo>
                    <a:pt x="46" y="58"/>
                  </a:lnTo>
                  <a:lnTo>
                    <a:pt x="49" y="50"/>
                  </a:lnTo>
                  <a:lnTo>
                    <a:pt x="53" y="42"/>
                  </a:lnTo>
                  <a:lnTo>
                    <a:pt x="57" y="37"/>
                  </a:lnTo>
                  <a:lnTo>
                    <a:pt x="67" y="21"/>
                  </a:lnTo>
                  <a:lnTo>
                    <a:pt x="78" y="12"/>
                  </a:lnTo>
                  <a:lnTo>
                    <a:pt x="86" y="6"/>
                  </a:lnTo>
                  <a:lnTo>
                    <a:pt x="91" y="4"/>
                  </a:lnTo>
                  <a:lnTo>
                    <a:pt x="99" y="0"/>
                  </a:lnTo>
                  <a:lnTo>
                    <a:pt x="110" y="0"/>
                  </a:lnTo>
                  <a:close/>
                </a:path>
              </a:pathLst>
            </a:custGeom>
            <a:solidFill>
              <a:srgbClr val="E6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09" name="Freeform 121"/>
            <p:cNvSpPr>
              <a:spLocks/>
            </p:cNvSpPr>
            <p:nvPr/>
          </p:nvSpPr>
          <p:spPr bwMode="auto">
            <a:xfrm>
              <a:off x="4731" y="3412"/>
              <a:ext cx="46" cy="68"/>
            </a:xfrm>
            <a:custGeom>
              <a:avLst/>
              <a:gdLst>
                <a:gd name="T0" fmla="*/ 1 w 91"/>
                <a:gd name="T1" fmla="*/ 0 h 137"/>
                <a:gd name="T2" fmla="*/ 1 w 91"/>
                <a:gd name="T3" fmla="*/ 0 h 137"/>
                <a:gd name="T4" fmla="*/ 1 w 91"/>
                <a:gd name="T5" fmla="*/ 0 h 137"/>
                <a:gd name="T6" fmla="*/ 1 w 91"/>
                <a:gd name="T7" fmla="*/ 0 h 137"/>
                <a:gd name="T8" fmla="*/ 1 w 91"/>
                <a:gd name="T9" fmla="*/ 0 h 137"/>
                <a:gd name="T10" fmla="*/ 1 w 91"/>
                <a:gd name="T11" fmla="*/ 0 h 137"/>
                <a:gd name="T12" fmla="*/ 1 w 91"/>
                <a:gd name="T13" fmla="*/ 0 h 137"/>
                <a:gd name="T14" fmla="*/ 1 w 91"/>
                <a:gd name="T15" fmla="*/ 0 h 137"/>
                <a:gd name="T16" fmla="*/ 1 w 91"/>
                <a:gd name="T17" fmla="*/ 0 h 137"/>
                <a:gd name="T18" fmla="*/ 1 w 91"/>
                <a:gd name="T19" fmla="*/ 0 h 137"/>
                <a:gd name="T20" fmla="*/ 1 w 91"/>
                <a:gd name="T21" fmla="*/ 0 h 137"/>
                <a:gd name="T22" fmla="*/ 1 w 91"/>
                <a:gd name="T23" fmla="*/ 0 h 137"/>
                <a:gd name="T24" fmla="*/ 1 w 91"/>
                <a:gd name="T25" fmla="*/ 0 h 137"/>
                <a:gd name="T26" fmla="*/ 1 w 91"/>
                <a:gd name="T27" fmla="*/ 0 h 137"/>
                <a:gd name="T28" fmla="*/ 1 w 91"/>
                <a:gd name="T29" fmla="*/ 0 h 137"/>
                <a:gd name="T30" fmla="*/ 1 w 91"/>
                <a:gd name="T31" fmla="*/ 0 h 137"/>
                <a:gd name="T32" fmla="*/ 1 w 91"/>
                <a:gd name="T33" fmla="*/ 0 h 137"/>
                <a:gd name="T34" fmla="*/ 1 w 91"/>
                <a:gd name="T35" fmla="*/ 0 h 137"/>
                <a:gd name="T36" fmla="*/ 0 w 91"/>
                <a:gd name="T37" fmla="*/ 0 h 137"/>
                <a:gd name="T38" fmla="*/ 0 w 91"/>
                <a:gd name="T39" fmla="*/ 0 h 137"/>
                <a:gd name="T40" fmla="*/ 0 w 91"/>
                <a:gd name="T41" fmla="*/ 0 h 137"/>
                <a:gd name="T42" fmla="*/ 1 w 91"/>
                <a:gd name="T43" fmla="*/ 0 h 137"/>
                <a:gd name="T44" fmla="*/ 1 w 91"/>
                <a:gd name="T45" fmla="*/ 0 h 137"/>
                <a:gd name="T46" fmla="*/ 1 w 91"/>
                <a:gd name="T47" fmla="*/ 0 h 137"/>
                <a:gd name="T48" fmla="*/ 1 w 91"/>
                <a:gd name="T49" fmla="*/ 0 h 137"/>
                <a:gd name="T50" fmla="*/ 1 w 91"/>
                <a:gd name="T51" fmla="*/ 0 h 137"/>
                <a:gd name="T52" fmla="*/ 1 w 91"/>
                <a:gd name="T53" fmla="*/ 0 h 137"/>
                <a:gd name="T54" fmla="*/ 1 w 91"/>
                <a:gd name="T55" fmla="*/ 0 h 137"/>
                <a:gd name="T56" fmla="*/ 1 w 91"/>
                <a:gd name="T57" fmla="*/ 0 h 137"/>
                <a:gd name="T58" fmla="*/ 1 w 91"/>
                <a:gd name="T59" fmla="*/ 0 h 137"/>
                <a:gd name="T60" fmla="*/ 1 w 91"/>
                <a:gd name="T61" fmla="*/ 0 h 137"/>
                <a:gd name="T62" fmla="*/ 1 w 91"/>
                <a:gd name="T63" fmla="*/ 0 h 137"/>
                <a:gd name="T64" fmla="*/ 1 w 91"/>
                <a:gd name="T65" fmla="*/ 0 h 137"/>
                <a:gd name="T66" fmla="*/ 1 w 91"/>
                <a:gd name="T67" fmla="*/ 0 h 13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91"/>
                <a:gd name="T103" fmla="*/ 0 h 137"/>
                <a:gd name="T104" fmla="*/ 91 w 91"/>
                <a:gd name="T105" fmla="*/ 137 h 13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91" h="137">
                  <a:moveTo>
                    <a:pt x="59" y="0"/>
                  </a:moveTo>
                  <a:lnTo>
                    <a:pt x="68" y="2"/>
                  </a:lnTo>
                  <a:lnTo>
                    <a:pt x="76" y="4"/>
                  </a:lnTo>
                  <a:lnTo>
                    <a:pt x="81" y="7"/>
                  </a:lnTo>
                  <a:lnTo>
                    <a:pt x="87" y="11"/>
                  </a:lnTo>
                  <a:lnTo>
                    <a:pt x="91" y="21"/>
                  </a:lnTo>
                  <a:lnTo>
                    <a:pt x="91" y="34"/>
                  </a:lnTo>
                  <a:lnTo>
                    <a:pt x="83" y="44"/>
                  </a:lnTo>
                  <a:lnTo>
                    <a:pt x="76" y="57"/>
                  </a:lnTo>
                  <a:lnTo>
                    <a:pt x="64" y="70"/>
                  </a:lnTo>
                  <a:lnTo>
                    <a:pt x="55" y="84"/>
                  </a:lnTo>
                  <a:lnTo>
                    <a:pt x="42" y="97"/>
                  </a:lnTo>
                  <a:lnTo>
                    <a:pt x="34" y="110"/>
                  </a:lnTo>
                  <a:lnTo>
                    <a:pt x="26" y="123"/>
                  </a:lnTo>
                  <a:lnTo>
                    <a:pt x="24" y="137"/>
                  </a:lnTo>
                  <a:lnTo>
                    <a:pt x="13" y="133"/>
                  </a:lnTo>
                  <a:lnTo>
                    <a:pt x="5" y="127"/>
                  </a:lnTo>
                  <a:lnTo>
                    <a:pt x="2" y="118"/>
                  </a:lnTo>
                  <a:lnTo>
                    <a:pt x="0" y="108"/>
                  </a:lnTo>
                  <a:lnTo>
                    <a:pt x="0" y="101"/>
                  </a:lnTo>
                  <a:lnTo>
                    <a:pt x="0" y="93"/>
                  </a:lnTo>
                  <a:lnTo>
                    <a:pt x="2" y="87"/>
                  </a:lnTo>
                  <a:lnTo>
                    <a:pt x="4" y="80"/>
                  </a:lnTo>
                  <a:lnTo>
                    <a:pt x="5" y="72"/>
                  </a:lnTo>
                  <a:lnTo>
                    <a:pt x="7" y="65"/>
                  </a:lnTo>
                  <a:lnTo>
                    <a:pt x="11" y="57"/>
                  </a:lnTo>
                  <a:lnTo>
                    <a:pt x="15" y="53"/>
                  </a:lnTo>
                  <a:lnTo>
                    <a:pt x="19" y="44"/>
                  </a:lnTo>
                  <a:lnTo>
                    <a:pt x="24" y="34"/>
                  </a:lnTo>
                  <a:lnTo>
                    <a:pt x="30" y="27"/>
                  </a:lnTo>
                  <a:lnTo>
                    <a:pt x="38" y="21"/>
                  </a:lnTo>
                  <a:lnTo>
                    <a:pt x="47" y="7"/>
                  </a:lnTo>
                  <a:lnTo>
                    <a:pt x="59" y="0"/>
                  </a:lnTo>
                  <a:close/>
                </a:path>
              </a:pathLst>
            </a:custGeom>
            <a:solidFill>
              <a:srgbClr val="F59E9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10" name="Freeform 122"/>
            <p:cNvSpPr>
              <a:spLocks/>
            </p:cNvSpPr>
            <p:nvPr/>
          </p:nvSpPr>
          <p:spPr bwMode="auto">
            <a:xfrm>
              <a:off x="4082" y="3430"/>
              <a:ext cx="29" cy="66"/>
            </a:xfrm>
            <a:custGeom>
              <a:avLst/>
              <a:gdLst>
                <a:gd name="T0" fmla="*/ 1 w 57"/>
                <a:gd name="T1" fmla="*/ 0 h 131"/>
                <a:gd name="T2" fmla="*/ 1 w 57"/>
                <a:gd name="T3" fmla="*/ 1 h 131"/>
                <a:gd name="T4" fmla="*/ 1 w 57"/>
                <a:gd name="T5" fmla="*/ 1 h 131"/>
                <a:gd name="T6" fmla="*/ 1 w 57"/>
                <a:gd name="T7" fmla="*/ 1 h 131"/>
                <a:gd name="T8" fmla="*/ 1 w 57"/>
                <a:gd name="T9" fmla="*/ 1 h 131"/>
                <a:gd name="T10" fmla="*/ 1 w 57"/>
                <a:gd name="T11" fmla="*/ 1 h 131"/>
                <a:gd name="T12" fmla="*/ 1 w 57"/>
                <a:gd name="T13" fmla="*/ 1 h 131"/>
                <a:gd name="T14" fmla="*/ 1 w 57"/>
                <a:gd name="T15" fmla="*/ 1 h 131"/>
                <a:gd name="T16" fmla="*/ 1 w 57"/>
                <a:gd name="T17" fmla="*/ 1 h 131"/>
                <a:gd name="T18" fmla="*/ 1 w 57"/>
                <a:gd name="T19" fmla="*/ 1 h 131"/>
                <a:gd name="T20" fmla="*/ 1 w 57"/>
                <a:gd name="T21" fmla="*/ 1 h 131"/>
                <a:gd name="T22" fmla="*/ 1 w 57"/>
                <a:gd name="T23" fmla="*/ 1 h 131"/>
                <a:gd name="T24" fmla="*/ 1 w 57"/>
                <a:gd name="T25" fmla="*/ 1 h 131"/>
                <a:gd name="T26" fmla="*/ 1 w 57"/>
                <a:gd name="T27" fmla="*/ 1 h 131"/>
                <a:gd name="T28" fmla="*/ 1 w 57"/>
                <a:gd name="T29" fmla="*/ 1 h 131"/>
                <a:gd name="T30" fmla="*/ 1 w 57"/>
                <a:gd name="T31" fmla="*/ 1 h 131"/>
                <a:gd name="T32" fmla="*/ 1 w 57"/>
                <a:gd name="T33" fmla="*/ 1 h 131"/>
                <a:gd name="T34" fmla="*/ 1 w 57"/>
                <a:gd name="T35" fmla="*/ 1 h 131"/>
                <a:gd name="T36" fmla="*/ 1 w 57"/>
                <a:gd name="T37" fmla="*/ 1 h 131"/>
                <a:gd name="T38" fmla="*/ 1 w 57"/>
                <a:gd name="T39" fmla="*/ 1 h 131"/>
                <a:gd name="T40" fmla="*/ 1 w 57"/>
                <a:gd name="T41" fmla="*/ 1 h 131"/>
                <a:gd name="T42" fmla="*/ 1 w 57"/>
                <a:gd name="T43" fmla="*/ 1 h 131"/>
                <a:gd name="T44" fmla="*/ 1 w 57"/>
                <a:gd name="T45" fmla="*/ 1 h 131"/>
                <a:gd name="T46" fmla="*/ 0 w 57"/>
                <a:gd name="T47" fmla="*/ 1 h 131"/>
                <a:gd name="T48" fmla="*/ 0 w 57"/>
                <a:gd name="T49" fmla="*/ 1 h 131"/>
                <a:gd name="T50" fmla="*/ 1 w 57"/>
                <a:gd name="T51" fmla="*/ 1 h 131"/>
                <a:gd name="T52" fmla="*/ 1 w 57"/>
                <a:gd name="T53" fmla="*/ 1 h 131"/>
                <a:gd name="T54" fmla="*/ 1 w 57"/>
                <a:gd name="T55" fmla="*/ 1 h 131"/>
                <a:gd name="T56" fmla="*/ 1 w 57"/>
                <a:gd name="T57" fmla="*/ 1 h 131"/>
                <a:gd name="T58" fmla="*/ 1 w 57"/>
                <a:gd name="T59" fmla="*/ 1 h 131"/>
                <a:gd name="T60" fmla="*/ 1 w 57"/>
                <a:gd name="T61" fmla="*/ 1 h 131"/>
                <a:gd name="T62" fmla="*/ 1 w 57"/>
                <a:gd name="T63" fmla="*/ 1 h 131"/>
                <a:gd name="T64" fmla="*/ 1 w 57"/>
                <a:gd name="T65" fmla="*/ 1 h 131"/>
                <a:gd name="T66" fmla="*/ 1 w 57"/>
                <a:gd name="T67" fmla="*/ 1 h 131"/>
                <a:gd name="T68" fmla="*/ 1 w 57"/>
                <a:gd name="T69" fmla="*/ 1 h 131"/>
                <a:gd name="T70" fmla="*/ 1 w 57"/>
                <a:gd name="T71" fmla="*/ 1 h 131"/>
                <a:gd name="T72" fmla="*/ 1 w 57"/>
                <a:gd name="T73" fmla="*/ 1 h 131"/>
                <a:gd name="T74" fmla="*/ 1 w 57"/>
                <a:gd name="T75" fmla="*/ 1 h 131"/>
                <a:gd name="T76" fmla="*/ 1 w 57"/>
                <a:gd name="T77" fmla="*/ 1 h 131"/>
                <a:gd name="T78" fmla="*/ 1 w 57"/>
                <a:gd name="T79" fmla="*/ 0 h 131"/>
                <a:gd name="T80" fmla="*/ 1 w 57"/>
                <a:gd name="T81" fmla="*/ 0 h 13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7"/>
                <a:gd name="T124" fmla="*/ 0 h 131"/>
                <a:gd name="T125" fmla="*/ 57 w 57"/>
                <a:gd name="T126" fmla="*/ 131 h 131"/>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7" h="131">
                  <a:moveTo>
                    <a:pt x="38" y="0"/>
                  </a:moveTo>
                  <a:lnTo>
                    <a:pt x="42" y="8"/>
                  </a:lnTo>
                  <a:lnTo>
                    <a:pt x="44" y="17"/>
                  </a:lnTo>
                  <a:lnTo>
                    <a:pt x="48" y="25"/>
                  </a:lnTo>
                  <a:lnTo>
                    <a:pt x="51" y="36"/>
                  </a:lnTo>
                  <a:lnTo>
                    <a:pt x="51" y="46"/>
                  </a:lnTo>
                  <a:lnTo>
                    <a:pt x="55" y="57"/>
                  </a:lnTo>
                  <a:lnTo>
                    <a:pt x="55" y="65"/>
                  </a:lnTo>
                  <a:lnTo>
                    <a:pt x="57" y="76"/>
                  </a:lnTo>
                  <a:lnTo>
                    <a:pt x="55" y="84"/>
                  </a:lnTo>
                  <a:lnTo>
                    <a:pt x="55" y="93"/>
                  </a:lnTo>
                  <a:lnTo>
                    <a:pt x="51" y="101"/>
                  </a:lnTo>
                  <a:lnTo>
                    <a:pt x="48" y="110"/>
                  </a:lnTo>
                  <a:lnTo>
                    <a:pt x="40" y="114"/>
                  </a:lnTo>
                  <a:lnTo>
                    <a:pt x="34" y="122"/>
                  </a:lnTo>
                  <a:lnTo>
                    <a:pt x="23" y="125"/>
                  </a:lnTo>
                  <a:lnTo>
                    <a:pt x="12" y="131"/>
                  </a:lnTo>
                  <a:lnTo>
                    <a:pt x="10" y="120"/>
                  </a:lnTo>
                  <a:lnTo>
                    <a:pt x="8" y="108"/>
                  </a:lnTo>
                  <a:lnTo>
                    <a:pt x="8" y="97"/>
                  </a:lnTo>
                  <a:lnTo>
                    <a:pt x="6" y="87"/>
                  </a:lnTo>
                  <a:lnTo>
                    <a:pt x="2" y="74"/>
                  </a:lnTo>
                  <a:lnTo>
                    <a:pt x="2" y="65"/>
                  </a:lnTo>
                  <a:lnTo>
                    <a:pt x="0" y="55"/>
                  </a:lnTo>
                  <a:lnTo>
                    <a:pt x="0" y="46"/>
                  </a:lnTo>
                  <a:lnTo>
                    <a:pt x="2" y="46"/>
                  </a:lnTo>
                  <a:lnTo>
                    <a:pt x="6" y="53"/>
                  </a:lnTo>
                  <a:lnTo>
                    <a:pt x="8" y="61"/>
                  </a:lnTo>
                  <a:lnTo>
                    <a:pt x="12" y="65"/>
                  </a:lnTo>
                  <a:lnTo>
                    <a:pt x="15" y="68"/>
                  </a:lnTo>
                  <a:lnTo>
                    <a:pt x="23" y="65"/>
                  </a:lnTo>
                  <a:lnTo>
                    <a:pt x="29" y="57"/>
                  </a:lnTo>
                  <a:lnTo>
                    <a:pt x="31" y="48"/>
                  </a:lnTo>
                  <a:lnTo>
                    <a:pt x="34" y="42"/>
                  </a:lnTo>
                  <a:lnTo>
                    <a:pt x="34" y="34"/>
                  </a:lnTo>
                  <a:lnTo>
                    <a:pt x="38" y="29"/>
                  </a:lnTo>
                  <a:lnTo>
                    <a:pt x="38" y="21"/>
                  </a:lnTo>
                  <a:lnTo>
                    <a:pt x="38" y="11"/>
                  </a:lnTo>
                  <a:lnTo>
                    <a:pt x="38" y="4"/>
                  </a:lnTo>
                  <a:lnTo>
                    <a:pt x="3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11" name="Freeform 123"/>
            <p:cNvSpPr>
              <a:spLocks/>
            </p:cNvSpPr>
            <p:nvPr/>
          </p:nvSpPr>
          <p:spPr bwMode="auto">
            <a:xfrm>
              <a:off x="4907" y="3436"/>
              <a:ext cx="233" cy="177"/>
            </a:xfrm>
            <a:custGeom>
              <a:avLst/>
              <a:gdLst>
                <a:gd name="T0" fmla="*/ 2 w 466"/>
                <a:gd name="T1" fmla="*/ 1 h 354"/>
                <a:gd name="T2" fmla="*/ 2 w 466"/>
                <a:gd name="T3" fmla="*/ 1 h 354"/>
                <a:gd name="T4" fmla="*/ 2 w 466"/>
                <a:gd name="T5" fmla="*/ 1 h 354"/>
                <a:gd name="T6" fmla="*/ 2 w 466"/>
                <a:gd name="T7" fmla="*/ 1 h 354"/>
                <a:gd name="T8" fmla="*/ 2 w 466"/>
                <a:gd name="T9" fmla="*/ 1 h 354"/>
                <a:gd name="T10" fmla="*/ 2 w 466"/>
                <a:gd name="T11" fmla="*/ 1 h 354"/>
                <a:gd name="T12" fmla="*/ 2 w 466"/>
                <a:gd name="T13" fmla="*/ 1 h 354"/>
                <a:gd name="T14" fmla="*/ 2 w 466"/>
                <a:gd name="T15" fmla="*/ 1 h 354"/>
                <a:gd name="T16" fmla="*/ 2 w 466"/>
                <a:gd name="T17" fmla="*/ 1 h 354"/>
                <a:gd name="T18" fmla="*/ 2 w 466"/>
                <a:gd name="T19" fmla="*/ 1 h 354"/>
                <a:gd name="T20" fmla="*/ 2 w 466"/>
                <a:gd name="T21" fmla="*/ 1 h 354"/>
                <a:gd name="T22" fmla="*/ 2 w 466"/>
                <a:gd name="T23" fmla="*/ 1 h 354"/>
                <a:gd name="T24" fmla="*/ 2 w 466"/>
                <a:gd name="T25" fmla="*/ 1 h 354"/>
                <a:gd name="T26" fmla="*/ 2 w 466"/>
                <a:gd name="T27" fmla="*/ 1 h 354"/>
                <a:gd name="T28" fmla="*/ 2 w 466"/>
                <a:gd name="T29" fmla="*/ 2 h 354"/>
                <a:gd name="T30" fmla="*/ 2 w 466"/>
                <a:gd name="T31" fmla="*/ 2 h 354"/>
                <a:gd name="T32" fmla="*/ 1 w 466"/>
                <a:gd name="T33" fmla="*/ 2 h 354"/>
                <a:gd name="T34" fmla="*/ 1 w 466"/>
                <a:gd name="T35" fmla="*/ 2 h 354"/>
                <a:gd name="T36" fmla="*/ 1 w 466"/>
                <a:gd name="T37" fmla="*/ 2 h 354"/>
                <a:gd name="T38" fmla="*/ 1 w 466"/>
                <a:gd name="T39" fmla="*/ 2 h 354"/>
                <a:gd name="T40" fmla="*/ 1 w 466"/>
                <a:gd name="T41" fmla="*/ 2 h 354"/>
                <a:gd name="T42" fmla="*/ 1 w 466"/>
                <a:gd name="T43" fmla="*/ 2 h 354"/>
                <a:gd name="T44" fmla="*/ 1 w 466"/>
                <a:gd name="T45" fmla="*/ 2 h 354"/>
                <a:gd name="T46" fmla="*/ 1 w 466"/>
                <a:gd name="T47" fmla="*/ 2 h 354"/>
                <a:gd name="T48" fmla="*/ 1 w 466"/>
                <a:gd name="T49" fmla="*/ 2 h 354"/>
                <a:gd name="T50" fmla="*/ 1 w 466"/>
                <a:gd name="T51" fmla="*/ 2 h 354"/>
                <a:gd name="T52" fmla="*/ 1 w 466"/>
                <a:gd name="T53" fmla="*/ 1 h 354"/>
                <a:gd name="T54" fmla="*/ 1 w 466"/>
                <a:gd name="T55" fmla="*/ 1 h 354"/>
                <a:gd name="T56" fmla="*/ 0 w 466"/>
                <a:gd name="T57" fmla="*/ 1 h 354"/>
                <a:gd name="T58" fmla="*/ 0 w 466"/>
                <a:gd name="T59" fmla="*/ 1 h 354"/>
                <a:gd name="T60" fmla="*/ 1 w 466"/>
                <a:gd name="T61" fmla="*/ 1 h 354"/>
                <a:gd name="T62" fmla="*/ 1 w 466"/>
                <a:gd name="T63" fmla="*/ 1 h 354"/>
                <a:gd name="T64" fmla="*/ 1 w 466"/>
                <a:gd name="T65" fmla="*/ 1 h 354"/>
                <a:gd name="T66" fmla="*/ 1 w 466"/>
                <a:gd name="T67" fmla="*/ 1 h 354"/>
                <a:gd name="T68" fmla="*/ 1 w 466"/>
                <a:gd name="T69" fmla="*/ 1 h 354"/>
                <a:gd name="T70" fmla="*/ 1 w 466"/>
                <a:gd name="T71" fmla="*/ 1 h 354"/>
                <a:gd name="T72" fmla="*/ 1 w 466"/>
                <a:gd name="T73" fmla="*/ 1 h 354"/>
                <a:gd name="T74" fmla="*/ 1 w 466"/>
                <a:gd name="T75" fmla="*/ 1 h 354"/>
                <a:gd name="T76" fmla="*/ 1 w 466"/>
                <a:gd name="T77" fmla="*/ 1 h 354"/>
                <a:gd name="T78" fmla="*/ 1 w 466"/>
                <a:gd name="T79" fmla="*/ 1 h 354"/>
                <a:gd name="T80" fmla="*/ 1 w 466"/>
                <a:gd name="T81" fmla="*/ 1 h 354"/>
                <a:gd name="T82" fmla="*/ 1 w 466"/>
                <a:gd name="T83" fmla="*/ 1 h 354"/>
                <a:gd name="T84" fmla="*/ 1 w 466"/>
                <a:gd name="T85" fmla="*/ 1 h 354"/>
                <a:gd name="T86" fmla="*/ 2 w 466"/>
                <a:gd name="T87" fmla="*/ 1 h 354"/>
                <a:gd name="T88" fmla="*/ 2 w 466"/>
                <a:gd name="T89" fmla="*/ 1 h 354"/>
                <a:gd name="T90" fmla="*/ 2 w 466"/>
                <a:gd name="T91" fmla="*/ 1 h 354"/>
                <a:gd name="T92" fmla="*/ 2 w 466"/>
                <a:gd name="T93" fmla="*/ 1 h 354"/>
                <a:gd name="T94" fmla="*/ 2 w 466"/>
                <a:gd name="T95" fmla="*/ 1 h 354"/>
                <a:gd name="T96" fmla="*/ 2 w 466"/>
                <a:gd name="T97" fmla="*/ 1 h 354"/>
                <a:gd name="T98" fmla="*/ 2 w 466"/>
                <a:gd name="T99" fmla="*/ 1 h 354"/>
                <a:gd name="T100" fmla="*/ 2 w 466"/>
                <a:gd name="T101" fmla="*/ 1 h 354"/>
                <a:gd name="T102" fmla="*/ 2 w 466"/>
                <a:gd name="T103" fmla="*/ 1 h 354"/>
                <a:gd name="T104" fmla="*/ 1 w 466"/>
                <a:gd name="T105" fmla="*/ 1 h 354"/>
                <a:gd name="T106" fmla="*/ 1 w 466"/>
                <a:gd name="T107" fmla="*/ 1 h 354"/>
                <a:gd name="T108" fmla="*/ 1 w 466"/>
                <a:gd name="T109" fmla="*/ 1 h 354"/>
                <a:gd name="T110" fmla="*/ 1 w 466"/>
                <a:gd name="T111" fmla="*/ 1 h 354"/>
                <a:gd name="T112" fmla="*/ 1 w 466"/>
                <a:gd name="T113" fmla="*/ 1 h 354"/>
                <a:gd name="T114" fmla="*/ 1 w 466"/>
                <a:gd name="T115" fmla="*/ 1 h 354"/>
                <a:gd name="T116" fmla="*/ 1 w 466"/>
                <a:gd name="T117" fmla="*/ 0 h 35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466"/>
                <a:gd name="T178" fmla="*/ 0 h 354"/>
                <a:gd name="T179" fmla="*/ 466 w 466"/>
                <a:gd name="T180" fmla="*/ 354 h 35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466" h="354">
                  <a:moveTo>
                    <a:pt x="250" y="0"/>
                  </a:moveTo>
                  <a:lnTo>
                    <a:pt x="263" y="2"/>
                  </a:lnTo>
                  <a:lnTo>
                    <a:pt x="276" y="6"/>
                  </a:lnTo>
                  <a:lnTo>
                    <a:pt x="289" y="12"/>
                  </a:lnTo>
                  <a:lnTo>
                    <a:pt x="305" y="18"/>
                  </a:lnTo>
                  <a:lnTo>
                    <a:pt x="318" y="23"/>
                  </a:lnTo>
                  <a:lnTo>
                    <a:pt x="331" y="31"/>
                  </a:lnTo>
                  <a:lnTo>
                    <a:pt x="345" y="37"/>
                  </a:lnTo>
                  <a:lnTo>
                    <a:pt x="360" y="46"/>
                  </a:lnTo>
                  <a:lnTo>
                    <a:pt x="371" y="52"/>
                  </a:lnTo>
                  <a:lnTo>
                    <a:pt x="386" y="59"/>
                  </a:lnTo>
                  <a:lnTo>
                    <a:pt x="398" y="65"/>
                  </a:lnTo>
                  <a:lnTo>
                    <a:pt x="413" y="73"/>
                  </a:lnTo>
                  <a:lnTo>
                    <a:pt x="424" y="78"/>
                  </a:lnTo>
                  <a:lnTo>
                    <a:pt x="440" y="86"/>
                  </a:lnTo>
                  <a:lnTo>
                    <a:pt x="451" y="90"/>
                  </a:lnTo>
                  <a:lnTo>
                    <a:pt x="466" y="97"/>
                  </a:lnTo>
                  <a:lnTo>
                    <a:pt x="459" y="111"/>
                  </a:lnTo>
                  <a:lnTo>
                    <a:pt x="451" y="124"/>
                  </a:lnTo>
                  <a:lnTo>
                    <a:pt x="442" y="137"/>
                  </a:lnTo>
                  <a:lnTo>
                    <a:pt x="432" y="151"/>
                  </a:lnTo>
                  <a:lnTo>
                    <a:pt x="419" y="164"/>
                  </a:lnTo>
                  <a:lnTo>
                    <a:pt x="407" y="177"/>
                  </a:lnTo>
                  <a:lnTo>
                    <a:pt x="394" y="191"/>
                  </a:lnTo>
                  <a:lnTo>
                    <a:pt x="381" y="206"/>
                  </a:lnTo>
                  <a:lnTo>
                    <a:pt x="366" y="217"/>
                  </a:lnTo>
                  <a:lnTo>
                    <a:pt x="350" y="230"/>
                  </a:lnTo>
                  <a:lnTo>
                    <a:pt x="335" y="244"/>
                  </a:lnTo>
                  <a:lnTo>
                    <a:pt x="322" y="257"/>
                  </a:lnTo>
                  <a:lnTo>
                    <a:pt x="307" y="270"/>
                  </a:lnTo>
                  <a:lnTo>
                    <a:pt x="293" y="284"/>
                  </a:lnTo>
                  <a:lnTo>
                    <a:pt x="280" y="297"/>
                  </a:lnTo>
                  <a:lnTo>
                    <a:pt x="270" y="312"/>
                  </a:lnTo>
                  <a:lnTo>
                    <a:pt x="255" y="327"/>
                  </a:lnTo>
                  <a:lnTo>
                    <a:pt x="240" y="337"/>
                  </a:lnTo>
                  <a:lnTo>
                    <a:pt x="225" y="345"/>
                  </a:lnTo>
                  <a:lnTo>
                    <a:pt x="208" y="352"/>
                  </a:lnTo>
                  <a:lnTo>
                    <a:pt x="191" y="352"/>
                  </a:lnTo>
                  <a:lnTo>
                    <a:pt x="173" y="354"/>
                  </a:lnTo>
                  <a:lnTo>
                    <a:pt x="156" y="350"/>
                  </a:lnTo>
                  <a:lnTo>
                    <a:pt x="139" y="348"/>
                  </a:lnTo>
                  <a:lnTo>
                    <a:pt x="120" y="341"/>
                  </a:lnTo>
                  <a:lnTo>
                    <a:pt x="103" y="335"/>
                  </a:lnTo>
                  <a:lnTo>
                    <a:pt x="84" y="327"/>
                  </a:lnTo>
                  <a:lnTo>
                    <a:pt x="69" y="322"/>
                  </a:lnTo>
                  <a:lnTo>
                    <a:pt x="50" y="314"/>
                  </a:lnTo>
                  <a:lnTo>
                    <a:pt x="35" y="305"/>
                  </a:lnTo>
                  <a:lnTo>
                    <a:pt x="18" y="299"/>
                  </a:lnTo>
                  <a:lnTo>
                    <a:pt x="2" y="295"/>
                  </a:lnTo>
                  <a:lnTo>
                    <a:pt x="8" y="282"/>
                  </a:lnTo>
                  <a:lnTo>
                    <a:pt x="12" y="274"/>
                  </a:lnTo>
                  <a:lnTo>
                    <a:pt x="12" y="261"/>
                  </a:lnTo>
                  <a:lnTo>
                    <a:pt x="12" y="251"/>
                  </a:lnTo>
                  <a:lnTo>
                    <a:pt x="10" y="242"/>
                  </a:lnTo>
                  <a:lnTo>
                    <a:pt x="8" y="232"/>
                  </a:lnTo>
                  <a:lnTo>
                    <a:pt x="4" y="221"/>
                  </a:lnTo>
                  <a:lnTo>
                    <a:pt x="2" y="211"/>
                  </a:lnTo>
                  <a:lnTo>
                    <a:pt x="0" y="202"/>
                  </a:lnTo>
                  <a:lnTo>
                    <a:pt x="0" y="192"/>
                  </a:lnTo>
                  <a:lnTo>
                    <a:pt x="0" y="181"/>
                  </a:lnTo>
                  <a:lnTo>
                    <a:pt x="4" y="173"/>
                  </a:lnTo>
                  <a:lnTo>
                    <a:pt x="10" y="166"/>
                  </a:lnTo>
                  <a:lnTo>
                    <a:pt x="19" y="158"/>
                  </a:lnTo>
                  <a:lnTo>
                    <a:pt x="33" y="149"/>
                  </a:lnTo>
                  <a:lnTo>
                    <a:pt x="52" y="143"/>
                  </a:lnTo>
                  <a:lnTo>
                    <a:pt x="61" y="132"/>
                  </a:lnTo>
                  <a:lnTo>
                    <a:pt x="71" y="126"/>
                  </a:lnTo>
                  <a:lnTo>
                    <a:pt x="80" y="122"/>
                  </a:lnTo>
                  <a:lnTo>
                    <a:pt x="92" y="122"/>
                  </a:lnTo>
                  <a:lnTo>
                    <a:pt x="101" y="122"/>
                  </a:lnTo>
                  <a:lnTo>
                    <a:pt x="111" y="126"/>
                  </a:lnTo>
                  <a:lnTo>
                    <a:pt x="120" y="130"/>
                  </a:lnTo>
                  <a:lnTo>
                    <a:pt x="130" y="135"/>
                  </a:lnTo>
                  <a:lnTo>
                    <a:pt x="137" y="139"/>
                  </a:lnTo>
                  <a:lnTo>
                    <a:pt x="149" y="143"/>
                  </a:lnTo>
                  <a:lnTo>
                    <a:pt x="158" y="149"/>
                  </a:lnTo>
                  <a:lnTo>
                    <a:pt x="168" y="154"/>
                  </a:lnTo>
                  <a:lnTo>
                    <a:pt x="177" y="158"/>
                  </a:lnTo>
                  <a:lnTo>
                    <a:pt x="189" y="162"/>
                  </a:lnTo>
                  <a:lnTo>
                    <a:pt x="200" y="162"/>
                  </a:lnTo>
                  <a:lnTo>
                    <a:pt x="212" y="162"/>
                  </a:lnTo>
                  <a:lnTo>
                    <a:pt x="217" y="175"/>
                  </a:lnTo>
                  <a:lnTo>
                    <a:pt x="225" y="185"/>
                  </a:lnTo>
                  <a:lnTo>
                    <a:pt x="231" y="191"/>
                  </a:lnTo>
                  <a:lnTo>
                    <a:pt x="240" y="194"/>
                  </a:lnTo>
                  <a:lnTo>
                    <a:pt x="246" y="192"/>
                  </a:lnTo>
                  <a:lnTo>
                    <a:pt x="253" y="192"/>
                  </a:lnTo>
                  <a:lnTo>
                    <a:pt x="263" y="187"/>
                  </a:lnTo>
                  <a:lnTo>
                    <a:pt x="270" y="181"/>
                  </a:lnTo>
                  <a:lnTo>
                    <a:pt x="278" y="172"/>
                  </a:lnTo>
                  <a:lnTo>
                    <a:pt x="286" y="164"/>
                  </a:lnTo>
                  <a:lnTo>
                    <a:pt x="293" y="156"/>
                  </a:lnTo>
                  <a:lnTo>
                    <a:pt x="303" y="149"/>
                  </a:lnTo>
                  <a:lnTo>
                    <a:pt x="312" y="139"/>
                  </a:lnTo>
                  <a:lnTo>
                    <a:pt x="324" y="133"/>
                  </a:lnTo>
                  <a:lnTo>
                    <a:pt x="333" y="128"/>
                  </a:lnTo>
                  <a:lnTo>
                    <a:pt x="345" y="126"/>
                  </a:lnTo>
                  <a:lnTo>
                    <a:pt x="337" y="118"/>
                  </a:lnTo>
                  <a:lnTo>
                    <a:pt x="327" y="113"/>
                  </a:lnTo>
                  <a:lnTo>
                    <a:pt x="316" y="105"/>
                  </a:lnTo>
                  <a:lnTo>
                    <a:pt x="303" y="99"/>
                  </a:lnTo>
                  <a:lnTo>
                    <a:pt x="289" y="90"/>
                  </a:lnTo>
                  <a:lnTo>
                    <a:pt x="274" y="84"/>
                  </a:lnTo>
                  <a:lnTo>
                    <a:pt x="263" y="76"/>
                  </a:lnTo>
                  <a:lnTo>
                    <a:pt x="250" y="71"/>
                  </a:lnTo>
                  <a:lnTo>
                    <a:pt x="242" y="65"/>
                  </a:lnTo>
                  <a:lnTo>
                    <a:pt x="234" y="61"/>
                  </a:lnTo>
                  <a:lnTo>
                    <a:pt x="229" y="56"/>
                  </a:lnTo>
                  <a:lnTo>
                    <a:pt x="225" y="52"/>
                  </a:lnTo>
                  <a:lnTo>
                    <a:pt x="217" y="42"/>
                  </a:lnTo>
                  <a:lnTo>
                    <a:pt x="213" y="35"/>
                  </a:lnTo>
                  <a:lnTo>
                    <a:pt x="213" y="25"/>
                  </a:lnTo>
                  <a:lnTo>
                    <a:pt x="219" y="16"/>
                  </a:lnTo>
                  <a:lnTo>
                    <a:pt x="223" y="12"/>
                  </a:lnTo>
                  <a:lnTo>
                    <a:pt x="231" y="8"/>
                  </a:lnTo>
                  <a:lnTo>
                    <a:pt x="238" y="4"/>
                  </a:lnTo>
                  <a:lnTo>
                    <a:pt x="250" y="0"/>
                  </a:lnTo>
                  <a:close/>
                </a:path>
              </a:pathLst>
            </a:custGeom>
            <a:solidFill>
              <a:srgbClr val="FFFF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12" name="Freeform 124"/>
            <p:cNvSpPr>
              <a:spLocks/>
            </p:cNvSpPr>
            <p:nvPr/>
          </p:nvSpPr>
          <p:spPr bwMode="auto">
            <a:xfrm>
              <a:off x="3912" y="3439"/>
              <a:ext cx="14" cy="80"/>
            </a:xfrm>
            <a:custGeom>
              <a:avLst/>
              <a:gdLst>
                <a:gd name="T0" fmla="*/ 1 w 28"/>
                <a:gd name="T1" fmla="*/ 0 h 162"/>
                <a:gd name="T2" fmla="*/ 1 w 28"/>
                <a:gd name="T3" fmla="*/ 0 h 162"/>
                <a:gd name="T4" fmla="*/ 1 w 28"/>
                <a:gd name="T5" fmla="*/ 0 h 162"/>
                <a:gd name="T6" fmla="*/ 1 w 28"/>
                <a:gd name="T7" fmla="*/ 0 h 162"/>
                <a:gd name="T8" fmla="*/ 1 w 28"/>
                <a:gd name="T9" fmla="*/ 0 h 162"/>
                <a:gd name="T10" fmla="*/ 1 w 28"/>
                <a:gd name="T11" fmla="*/ 0 h 162"/>
                <a:gd name="T12" fmla="*/ 1 w 28"/>
                <a:gd name="T13" fmla="*/ 0 h 162"/>
                <a:gd name="T14" fmla="*/ 1 w 28"/>
                <a:gd name="T15" fmla="*/ 0 h 162"/>
                <a:gd name="T16" fmla="*/ 1 w 28"/>
                <a:gd name="T17" fmla="*/ 0 h 162"/>
                <a:gd name="T18" fmla="*/ 1 w 28"/>
                <a:gd name="T19" fmla="*/ 0 h 162"/>
                <a:gd name="T20" fmla="*/ 1 w 28"/>
                <a:gd name="T21" fmla="*/ 0 h 162"/>
                <a:gd name="T22" fmla="*/ 1 w 28"/>
                <a:gd name="T23" fmla="*/ 0 h 162"/>
                <a:gd name="T24" fmla="*/ 1 w 28"/>
                <a:gd name="T25" fmla="*/ 0 h 162"/>
                <a:gd name="T26" fmla="*/ 1 w 28"/>
                <a:gd name="T27" fmla="*/ 0 h 162"/>
                <a:gd name="T28" fmla="*/ 1 w 28"/>
                <a:gd name="T29" fmla="*/ 0 h 162"/>
                <a:gd name="T30" fmla="*/ 1 w 28"/>
                <a:gd name="T31" fmla="*/ 0 h 162"/>
                <a:gd name="T32" fmla="*/ 1 w 28"/>
                <a:gd name="T33" fmla="*/ 0 h 162"/>
                <a:gd name="T34" fmla="*/ 1 w 28"/>
                <a:gd name="T35" fmla="*/ 0 h 162"/>
                <a:gd name="T36" fmla="*/ 1 w 28"/>
                <a:gd name="T37" fmla="*/ 0 h 162"/>
                <a:gd name="T38" fmla="*/ 1 w 28"/>
                <a:gd name="T39" fmla="*/ 0 h 162"/>
                <a:gd name="T40" fmla="*/ 1 w 28"/>
                <a:gd name="T41" fmla="*/ 0 h 162"/>
                <a:gd name="T42" fmla="*/ 0 w 28"/>
                <a:gd name="T43" fmla="*/ 0 h 162"/>
                <a:gd name="T44" fmla="*/ 0 w 28"/>
                <a:gd name="T45" fmla="*/ 0 h 162"/>
                <a:gd name="T46" fmla="*/ 0 w 28"/>
                <a:gd name="T47" fmla="*/ 0 h 162"/>
                <a:gd name="T48" fmla="*/ 1 w 28"/>
                <a:gd name="T49" fmla="*/ 0 h 162"/>
                <a:gd name="T50" fmla="*/ 1 w 28"/>
                <a:gd name="T51" fmla="*/ 0 h 162"/>
                <a:gd name="T52" fmla="*/ 1 w 28"/>
                <a:gd name="T53" fmla="*/ 0 h 162"/>
                <a:gd name="T54" fmla="*/ 1 w 28"/>
                <a:gd name="T55" fmla="*/ 0 h 162"/>
                <a:gd name="T56" fmla="*/ 1 w 28"/>
                <a:gd name="T57" fmla="*/ 0 h 162"/>
                <a:gd name="T58" fmla="*/ 1 w 28"/>
                <a:gd name="T59" fmla="*/ 0 h 162"/>
                <a:gd name="T60" fmla="*/ 1 w 28"/>
                <a:gd name="T61" fmla="*/ 0 h 162"/>
                <a:gd name="T62" fmla="*/ 1 w 28"/>
                <a:gd name="T63" fmla="*/ 0 h 162"/>
                <a:gd name="T64" fmla="*/ 1 w 28"/>
                <a:gd name="T65" fmla="*/ 0 h 162"/>
                <a:gd name="T66" fmla="*/ 1 w 28"/>
                <a:gd name="T67" fmla="*/ 0 h 1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8"/>
                <a:gd name="T103" fmla="*/ 0 h 162"/>
                <a:gd name="T104" fmla="*/ 28 w 28"/>
                <a:gd name="T105" fmla="*/ 162 h 16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8" h="162">
                  <a:moveTo>
                    <a:pt x="26" y="0"/>
                  </a:moveTo>
                  <a:lnTo>
                    <a:pt x="26" y="8"/>
                  </a:lnTo>
                  <a:lnTo>
                    <a:pt x="28" y="21"/>
                  </a:lnTo>
                  <a:lnTo>
                    <a:pt x="28" y="31"/>
                  </a:lnTo>
                  <a:lnTo>
                    <a:pt x="28" y="42"/>
                  </a:lnTo>
                  <a:lnTo>
                    <a:pt x="24" y="51"/>
                  </a:lnTo>
                  <a:lnTo>
                    <a:pt x="24" y="61"/>
                  </a:lnTo>
                  <a:lnTo>
                    <a:pt x="21" y="72"/>
                  </a:lnTo>
                  <a:lnTo>
                    <a:pt x="21" y="84"/>
                  </a:lnTo>
                  <a:lnTo>
                    <a:pt x="17" y="93"/>
                  </a:lnTo>
                  <a:lnTo>
                    <a:pt x="15" y="103"/>
                  </a:lnTo>
                  <a:lnTo>
                    <a:pt x="13" y="112"/>
                  </a:lnTo>
                  <a:lnTo>
                    <a:pt x="11" y="124"/>
                  </a:lnTo>
                  <a:lnTo>
                    <a:pt x="9" y="131"/>
                  </a:lnTo>
                  <a:lnTo>
                    <a:pt x="9" y="143"/>
                  </a:lnTo>
                  <a:lnTo>
                    <a:pt x="9" y="152"/>
                  </a:lnTo>
                  <a:lnTo>
                    <a:pt x="11" y="162"/>
                  </a:lnTo>
                  <a:lnTo>
                    <a:pt x="7" y="152"/>
                  </a:lnTo>
                  <a:lnTo>
                    <a:pt x="4" y="143"/>
                  </a:lnTo>
                  <a:lnTo>
                    <a:pt x="2" y="133"/>
                  </a:lnTo>
                  <a:lnTo>
                    <a:pt x="2" y="124"/>
                  </a:lnTo>
                  <a:lnTo>
                    <a:pt x="0" y="114"/>
                  </a:lnTo>
                  <a:lnTo>
                    <a:pt x="0" y="105"/>
                  </a:lnTo>
                  <a:lnTo>
                    <a:pt x="0" y="93"/>
                  </a:lnTo>
                  <a:lnTo>
                    <a:pt x="4" y="84"/>
                  </a:lnTo>
                  <a:lnTo>
                    <a:pt x="4" y="72"/>
                  </a:lnTo>
                  <a:lnTo>
                    <a:pt x="7" y="61"/>
                  </a:lnTo>
                  <a:lnTo>
                    <a:pt x="9" y="50"/>
                  </a:lnTo>
                  <a:lnTo>
                    <a:pt x="13" y="40"/>
                  </a:lnTo>
                  <a:lnTo>
                    <a:pt x="17" y="27"/>
                  </a:lnTo>
                  <a:lnTo>
                    <a:pt x="19" y="17"/>
                  </a:lnTo>
                  <a:lnTo>
                    <a:pt x="23" y="8"/>
                  </a:lnTo>
                  <a:lnTo>
                    <a:pt x="2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13" name="Freeform 125"/>
            <p:cNvSpPr>
              <a:spLocks/>
            </p:cNvSpPr>
            <p:nvPr/>
          </p:nvSpPr>
          <p:spPr bwMode="auto">
            <a:xfrm>
              <a:off x="3950" y="3456"/>
              <a:ext cx="15" cy="115"/>
            </a:xfrm>
            <a:custGeom>
              <a:avLst/>
              <a:gdLst>
                <a:gd name="T0" fmla="*/ 1 w 30"/>
                <a:gd name="T1" fmla="*/ 0 h 230"/>
                <a:gd name="T2" fmla="*/ 1 w 30"/>
                <a:gd name="T3" fmla="*/ 1 h 230"/>
                <a:gd name="T4" fmla="*/ 1 w 30"/>
                <a:gd name="T5" fmla="*/ 1 h 230"/>
                <a:gd name="T6" fmla="*/ 1 w 30"/>
                <a:gd name="T7" fmla="*/ 1 h 230"/>
                <a:gd name="T8" fmla="*/ 1 w 30"/>
                <a:gd name="T9" fmla="*/ 1 h 230"/>
                <a:gd name="T10" fmla="*/ 1 w 30"/>
                <a:gd name="T11" fmla="*/ 1 h 230"/>
                <a:gd name="T12" fmla="*/ 1 w 30"/>
                <a:gd name="T13" fmla="*/ 1 h 230"/>
                <a:gd name="T14" fmla="*/ 1 w 30"/>
                <a:gd name="T15" fmla="*/ 1 h 230"/>
                <a:gd name="T16" fmla="*/ 1 w 30"/>
                <a:gd name="T17" fmla="*/ 1 h 230"/>
                <a:gd name="T18" fmla="*/ 1 w 30"/>
                <a:gd name="T19" fmla="*/ 1 h 230"/>
                <a:gd name="T20" fmla="*/ 1 w 30"/>
                <a:gd name="T21" fmla="*/ 1 h 230"/>
                <a:gd name="T22" fmla="*/ 1 w 30"/>
                <a:gd name="T23" fmla="*/ 1 h 230"/>
                <a:gd name="T24" fmla="*/ 1 w 30"/>
                <a:gd name="T25" fmla="*/ 1 h 230"/>
                <a:gd name="T26" fmla="*/ 1 w 30"/>
                <a:gd name="T27" fmla="*/ 1 h 230"/>
                <a:gd name="T28" fmla="*/ 1 w 30"/>
                <a:gd name="T29" fmla="*/ 1 h 230"/>
                <a:gd name="T30" fmla="*/ 1 w 30"/>
                <a:gd name="T31" fmla="*/ 1 h 230"/>
                <a:gd name="T32" fmla="*/ 1 w 30"/>
                <a:gd name="T33" fmla="*/ 1 h 230"/>
                <a:gd name="T34" fmla="*/ 1 w 30"/>
                <a:gd name="T35" fmla="*/ 1 h 230"/>
                <a:gd name="T36" fmla="*/ 1 w 30"/>
                <a:gd name="T37" fmla="*/ 1 h 230"/>
                <a:gd name="T38" fmla="*/ 1 w 30"/>
                <a:gd name="T39" fmla="*/ 1 h 230"/>
                <a:gd name="T40" fmla="*/ 1 w 30"/>
                <a:gd name="T41" fmla="*/ 1 h 230"/>
                <a:gd name="T42" fmla="*/ 1 w 30"/>
                <a:gd name="T43" fmla="*/ 1 h 230"/>
                <a:gd name="T44" fmla="*/ 1 w 30"/>
                <a:gd name="T45" fmla="*/ 1 h 230"/>
                <a:gd name="T46" fmla="*/ 1 w 30"/>
                <a:gd name="T47" fmla="*/ 1 h 230"/>
                <a:gd name="T48" fmla="*/ 1 w 30"/>
                <a:gd name="T49" fmla="*/ 1 h 230"/>
                <a:gd name="T50" fmla="*/ 1 w 30"/>
                <a:gd name="T51" fmla="*/ 1 h 230"/>
                <a:gd name="T52" fmla="*/ 1 w 30"/>
                <a:gd name="T53" fmla="*/ 1 h 230"/>
                <a:gd name="T54" fmla="*/ 1 w 30"/>
                <a:gd name="T55" fmla="*/ 1 h 230"/>
                <a:gd name="T56" fmla="*/ 1 w 30"/>
                <a:gd name="T57" fmla="*/ 1 h 230"/>
                <a:gd name="T58" fmla="*/ 1 w 30"/>
                <a:gd name="T59" fmla="*/ 1 h 230"/>
                <a:gd name="T60" fmla="*/ 1 w 30"/>
                <a:gd name="T61" fmla="*/ 1 h 230"/>
                <a:gd name="T62" fmla="*/ 1 w 30"/>
                <a:gd name="T63" fmla="*/ 1 h 230"/>
                <a:gd name="T64" fmla="*/ 1 w 30"/>
                <a:gd name="T65" fmla="*/ 1 h 230"/>
                <a:gd name="T66" fmla="*/ 1 w 30"/>
                <a:gd name="T67" fmla="*/ 1 h 230"/>
                <a:gd name="T68" fmla="*/ 1 w 30"/>
                <a:gd name="T69" fmla="*/ 1 h 230"/>
                <a:gd name="T70" fmla="*/ 1 w 30"/>
                <a:gd name="T71" fmla="*/ 1 h 230"/>
                <a:gd name="T72" fmla="*/ 1 w 30"/>
                <a:gd name="T73" fmla="*/ 1 h 230"/>
                <a:gd name="T74" fmla="*/ 1 w 30"/>
                <a:gd name="T75" fmla="*/ 1 h 230"/>
                <a:gd name="T76" fmla="*/ 0 w 30"/>
                <a:gd name="T77" fmla="*/ 1 h 230"/>
                <a:gd name="T78" fmla="*/ 0 w 30"/>
                <a:gd name="T79" fmla="*/ 1 h 230"/>
                <a:gd name="T80" fmla="*/ 0 w 30"/>
                <a:gd name="T81" fmla="*/ 1 h 230"/>
                <a:gd name="T82" fmla="*/ 0 w 30"/>
                <a:gd name="T83" fmla="*/ 1 h 230"/>
                <a:gd name="T84" fmla="*/ 0 w 30"/>
                <a:gd name="T85" fmla="*/ 1 h 230"/>
                <a:gd name="T86" fmla="*/ 0 w 30"/>
                <a:gd name="T87" fmla="*/ 1 h 230"/>
                <a:gd name="T88" fmla="*/ 0 w 30"/>
                <a:gd name="T89" fmla="*/ 1 h 230"/>
                <a:gd name="T90" fmla="*/ 0 w 30"/>
                <a:gd name="T91" fmla="*/ 1 h 230"/>
                <a:gd name="T92" fmla="*/ 1 w 30"/>
                <a:gd name="T93" fmla="*/ 1 h 230"/>
                <a:gd name="T94" fmla="*/ 1 w 30"/>
                <a:gd name="T95" fmla="*/ 1 h 230"/>
                <a:gd name="T96" fmla="*/ 1 w 30"/>
                <a:gd name="T97" fmla="*/ 0 h 230"/>
                <a:gd name="T98" fmla="*/ 1 w 30"/>
                <a:gd name="T99" fmla="*/ 0 h 230"/>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0"/>
                <a:gd name="T151" fmla="*/ 0 h 230"/>
                <a:gd name="T152" fmla="*/ 30 w 30"/>
                <a:gd name="T153" fmla="*/ 230 h 230"/>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0" h="230">
                  <a:moveTo>
                    <a:pt x="9" y="0"/>
                  </a:moveTo>
                  <a:lnTo>
                    <a:pt x="11" y="10"/>
                  </a:lnTo>
                  <a:lnTo>
                    <a:pt x="11" y="17"/>
                  </a:lnTo>
                  <a:lnTo>
                    <a:pt x="13" y="27"/>
                  </a:lnTo>
                  <a:lnTo>
                    <a:pt x="17" y="36"/>
                  </a:lnTo>
                  <a:lnTo>
                    <a:pt x="17" y="46"/>
                  </a:lnTo>
                  <a:lnTo>
                    <a:pt x="17" y="57"/>
                  </a:lnTo>
                  <a:lnTo>
                    <a:pt x="17" y="69"/>
                  </a:lnTo>
                  <a:lnTo>
                    <a:pt x="19" y="80"/>
                  </a:lnTo>
                  <a:lnTo>
                    <a:pt x="19" y="88"/>
                  </a:lnTo>
                  <a:lnTo>
                    <a:pt x="19" y="97"/>
                  </a:lnTo>
                  <a:lnTo>
                    <a:pt x="19" y="107"/>
                  </a:lnTo>
                  <a:lnTo>
                    <a:pt x="19" y="116"/>
                  </a:lnTo>
                  <a:lnTo>
                    <a:pt x="19" y="126"/>
                  </a:lnTo>
                  <a:lnTo>
                    <a:pt x="19" y="135"/>
                  </a:lnTo>
                  <a:lnTo>
                    <a:pt x="19" y="145"/>
                  </a:lnTo>
                  <a:lnTo>
                    <a:pt x="21" y="154"/>
                  </a:lnTo>
                  <a:lnTo>
                    <a:pt x="21" y="164"/>
                  </a:lnTo>
                  <a:lnTo>
                    <a:pt x="21" y="173"/>
                  </a:lnTo>
                  <a:lnTo>
                    <a:pt x="21" y="183"/>
                  </a:lnTo>
                  <a:lnTo>
                    <a:pt x="23" y="194"/>
                  </a:lnTo>
                  <a:lnTo>
                    <a:pt x="23" y="202"/>
                  </a:lnTo>
                  <a:lnTo>
                    <a:pt x="26" y="211"/>
                  </a:lnTo>
                  <a:lnTo>
                    <a:pt x="26" y="221"/>
                  </a:lnTo>
                  <a:lnTo>
                    <a:pt x="30" y="230"/>
                  </a:lnTo>
                  <a:lnTo>
                    <a:pt x="26" y="221"/>
                  </a:lnTo>
                  <a:lnTo>
                    <a:pt x="25" y="213"/>
                  </a:lnTo>
                  <a:lnTo>
                    <a:pt x="21" y="206"/>
                  </a:lnTo>
                  <a:lnTo>
                    <a:pt x="21" y="198"/>
                  </a:lnTo>
                  <a:lnTo>
                    <a:pt x="17" y="189"/>
                  </a:lnTo>
                  <a:lnTo>
                    <a:pt x="15" y="179"/>
                  </a:lnTo>
                  <a:lnTo>
                    <a:pt x="11" y="171"/>
                  </a:lnTo>
                  <a:lnTo>
                    <a:pt x="11" y="162"/>
                  </a:lnTo>
                  <a:lnTo>
                    <a:pt x="7" y="152"/>
                  </a:lnTo>
                  <a:lnTo>
                    <a:pt x="7" y="143"/>
                  </a:lnTo>
                  <a:lnTo>
                    <a:pt x="4" y="133"/>
                  </a:lnTo>
                  <a:lnTo>
                    <a:pt x="4" y="124"/>
                  </a:lnTo>
                  <a:lnTo>
                    <a:pt x="2" y="113"/>
                  </a:lnTo>
                  <a:lnTo>
                    <a:pt x="0" y="105"/>
                  </a:lnTo>
                  <a:lnTo>
                    <a:pt x="0" y="95"/>
                  </a:lnTo>
                  <a:lnTo>
                    <a:pt x="0" y="86"/>
                  </a:lnTo>
                  <a:lnTo>
                    <a:pt x="0" y="74"/>
                  </a:lnTo>
                  <a:lnTo>
                    <a:pt x="0" y="63"/>
                  </a:lnTo>
                  <a:lnTo>
                    <a:pt x="0" y="54"/>
                  </a:lnTo>
                  <a:lnTo>
                    <a:pt x="0" y="42"/>
                  </a:lnTo>
                  <a:lnTo>
                    <a:pt x="0" y="31"/>
                  </a:lnTo>
                  <a:lnTo>
                    <a:pt x="4" y="21"/>
                  </a:lnTo>
                  <a:lnTo>
                    <a:pt x="6" y="10"/>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14" name="Freeform 126"/>
            <p:cNvSpPr>
              <a:spLocks/>
            </p:cNvSpPr>
            <p:nvPr/>
          </p:nvSpPr>
          <p:spPr bwMode="auto">
            <a:xfrm>
              <a:off x="3983" y="3456"/>
              <a:ext cx="23" cy="112"/>
            </a:xfrm>
            <a:custGeom>
              <a:avLst/>
              <a:gdLst>
                <a:gd name="T0" fmla="*/ 1 w 46"/>
                <a:gd name="T1" fmla="*/ 0 h 225"/>
                <a:gd name="T2" fmla="*/ 1 w 46"/>
                <a:gd name="T3" fmla="*/ 0 h 225"/>
                <a:gd name="T4" fmla="*/ 1 w 46"/>
                <a:gd name="T5" fmla="*/ 0 h 225"/>
                <a:gd name="T6" fmla="*/ 1 w 46"/>
                <a:gd name="T7" fmla="*/ 0 h 225"/>
                <a:gd name="T8" fmla="*/ 1 w 46"/>
                <a:gd name="T9" fmla="*/ 0 h 225"/>
                <a:gd name="T10" fmla="*/ 1 w 46"/>
                <a:gd name="T11" fmla="*/ 0 h 225"/>
                <a:gd name="T12" fmla="*/ 1 w 46"/>
                <a:gd name="T13" fmla="*/ 0 h 225"/>
                <a:gd name="T14" fmla="*/ 1 w 46"/>
                <a:gd name="T15" fmla="*/ 0 h 225"/>
                <a:gd name="T16" fmla="*/ 1 w 46"/>
                <a:gd name="T17" fmla="*/ 0 h 225"/>
                <a:gd name="T18" fmla="*/ 1 w 46"/>
                <a:gd name="T19" fmla="*/ 0 h 225"/>
                <a:gd name="T20" fmla="*/ 1 w 46"/>
                <a:gd name="T21" fmla="*/ 0 h 225"/>
                <a:gd name="T22" fmla="*/ 1 w 46"/>
                <a:gd name="T23" fmla="*/ 0 h 225"/>
                <a:gd name="T24" fmla="*/ 1 w 46"/>
                <a:gd name="T25" fmla="*/ 0 h 225"/>
                <a:gd name="T26" fmla="*/ 1 w 46"/>
                <a:gd name="T27" fmla="*/ 0 h 225"/>
                <a:gd name="T28" fmla="*/ 1 w 46"/>
                <a:gd name="T29" fmla="*/ 0 h 225"/>
                <a:gd name="T30" fmla="*/ 1 w 46"/>
                <a:gd name="T31" fmla="*/ 0 h 225"/>
                <a:gd name="T32" fmla="*/ 1 w 46"/>
                <a:gd name="T33" fmla="*/ 0 h 225"/>
                <a:gd name="T34" fmla="*/ 1 w 46"/>
                <a:gd name="T35" fmla="*/ 0 h 225"/>
                <a:gd name="T36" fmla="*/ 1 w 46"/>
                <a:gd name="T37" fmla="*/ 0 h 225"/>
                <a:gd name="T38" fmla="*/ 1 w 46"/>
                <a:gd name="T39" fmla="*/ 0 h 225"/>
                <a:gd name="T40" fmla="*/ 1 w 46"/>
                <a:gd name="T41" fmla="*/ 0 h 225"/>
                <a:gd name="T42" fmla="*/ 1 w 46"/>
                <a:gd name="T43" fmla="*/ 0 h 225"/>
                <a:gd name="T44" fmla="*/ 1 w 46"/>
                <a:gd name="T45" fmla="*/ 0 h 225"/>
                <a:gd name="T46" fmla="*/ 1 w 46"/>
                <a:gd name="T47" fmla="*/ 0 h 225"/>
                <a:gd name="T48" fmla="*/ 1 w 46"/>
                <a:gd name="T49" fmla="*/ 0 h 225"/>
                <a:gd name="T50" fmla="*/ 1 w 46"/>
                <a:gd name="T51" fmla="*/ 0 h 225"/>
                <a:gd name="T52" fmla="*/ 0 w 46"/>
                <a:gd name="T53" fmla="*/ 0 h 225"/>
                <a:gd name="T54" fmla="*/ 0 w 46"/>
                <a:gd name="T55" fmla="*/ 0 h 225"/>
                <a:gd name="T56" fmla="*/ 1 w 46"/>
                <a:gd name="T57" fmla="*/ 0 h 225"/>
                <a:gd name="T58" fmla="*/ 1 w 46"/>
                <a:gd name="T59" fmla="*/ 0 h 225"/>
                <a:gd name="T60" fmla="*/ 1 w 46"/>
                <a:gd name="T61" fmla="*/ 0 h 225"/>
                <a:gd name="T62" fmla="*/ 1 w 46"/>
                <a:gd name="T63" fmla="*/ 0 h 225"/>
                <a:gd name="T64" fmla="*/ 1 w 46"/>
                <a:gd name="T65" fmla="*/ 0 h 225"/>
                <a:gd name="T66" fmla="*/ 1 w 46"/>
                <a:gd name="T67" fmla="*/ 0 h 225"/>
                <a:gd name="T68" fmla="*/ 1 w 46"/>
                <a:gd name="T69" fmla="*/ 0 h 225"/>
                <a:gd name="T70" fmla="*/ 1 w 46"/>
                <a:gd name="T71" fmla="*/ 0 h 225"/>
                <a:gd name="T72" fmla="*/ 1 w 46"/>
                <a:gd name="T73" fmla="*/ 0 h 225"/>
                <a:gd name="T74" fmla="*/ 0 w 46"/>
                <a:gd name="T75" fmla="*/ 0 h 225"/>
                <a:gd name="T76" fmla="*/ 0 w 46"/>
                <a:gd name="T77" fmla="*/ 0 h 225"/>
                <a:gd name="T78" fmla="*/ 0 w 46"/>
                <a:gd name="T79" fmla="*/ 0 h 225"/>
                <a:gd name="T80" fmla="*/ 1 w 46"/>
                <a:gd name="T81" fmla="*/ 0 h 225"/>
                <a:gd name="T82" fmla="*/ 1 w 46"/>
                <a:gd name="T83" fmla="*/ 0 h 225"/>
                <a:gd name="T84" fmla="*/ 1 w 46"/>
                <a:gd name="T85" fmla="*/ 0 h 225"/>
                <a:gd name="T86" fmla="*/ 1 w 46"/>
                <a:gd name="T87" fmla="*/ 0 h 225"/>
                <a:gd name="T88" fmla="*/ 1 w 46"/>
                <a:gd name="T89" fmla="*/ 0 h 225"/>
                <a:gd name="T90" fmla="*/ 1 w 46"/>
                <a:gd name="T91" fmla="*/ 0 h 22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6"/>
                <a:gd name="T139" fmla="*/ 0 h 225"/>
                <a:gd name="T140" fmla="*/ 46 w 46"/>
                <a:gd name="T141" fmla="*/ 225 h 22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6" h="225">
                  <a:moveTo>
                    <a:pt x="21" y="0"/>
                  </a:moveTo>
                  <a:lnTo>
                    <a:pt x="27" y="14"/>
                  </a:lnTo>
                  <a:lnTo>
                    <a:pt x="31" y="25"/>
                  </a:lnTo>
                  <a:lnTo>
                    <a:pt x="31" y="36"/>
                  </a:lnTo>
                  <a:lnTo>
                    <a:pt x="35" y="50"/>
                  </a:lnTo>
                  <a:lnTo>
                    <a:pt x="35" y="63"/>
                  </a:lnTo>
                  <a:lnTo>
                    <a:pt x="35" y="74"/>
                  </a:lnTo>
                  <a:lnTo>
                    <a:pt x="35" y="86"/>
                  </a:lnTo>
                  <a:lnTo>
                    <a:pt x="35" y="99"/>
                  </a:lnTo>
                  <a:lnTo>
                    <a:pt x="33" y="113"/>
                  </a:lnTo>
                  <a:lnTo>
                    <a:pt x="31" y="124"/>
                  </a:lnTo>
                  <a:lnTo>
                    <a:pt x="31" y="135"/>
                  </a:lnTo>
                  <a:lnTo>
                    <a:pt x="31" y="149"/>
                  </a:lnTo>
                  <a:lnTo>
                    <a:pt x="31" y="162"/>
                  </a:lnTo>
                  <a:lnTo>
                    <a:pt x="33" y="173"/>
                  </a:lnTo>
                  <a:lnTo>
                    <a:pt x="35" y="187"/>
                  </a:lnTo>
                  <a:lnTo>
                    <a:pt x="38" y="200"/>
                  </a:lnTo>
                  <a:lnTo>
                    <a:pt x="44" y="208"/>
                  </a:lnTo>
                  <a:lnTo>
                    <a:pt x="46" y="215"/>
                  </a:lnTo>
                  <a:lnTo>
                    <a:pt x="44" y="221"/>
                  </a:lnTo>
                  <a:lnTo>
                    <a:pt x="40" y="225"/>
                  </a:lnTo>
                  <a:lnTo>
                    <a:pt x="31" y="225"/>
                  </a:lnTo>
                  <a:lnTo>
                    <a:pt x="23" y="223"/>
                  </a:lnTo>
                  <a:lnTo>
                    <a:pt x="16" y="219"/>
                  </a:lnTo>
                  <a:lnTo>
                    <a:pt x="8" y="213"/>
                  </a:lnTo>
                  <a:lnTo>
                    <a:pt x="2" y="204"/>
                  </a:lnTo>
                  <a:lnTo>
                    <a:pt x="0" y="194"/>
                  </a:lnTo>
                  <a:lnTo>
                    <a:pt x="0" y="179"/>
                  </a:lnTo>
                  <a:lnTo>
                    <a:pt x="8" y="168"/>
                  </a:lnTo>
                  <a:lnTo>
                    <a:pt x="10" y="154"/>
                  </a:lnTo>
                  <a:lnTo>
                    <a:pt x="12" y="143"/>
                  </a:lnTo>
                  <a:lnTo>
                    <a:pt x="10" y="130"/>
                  </a:lnTo>
                  <a:lnTo>
                    <a:pt x="10" y="118"/>
                  </a:lnTo>
                  <a:lnTo>
                    <a:pt x="8" y="107"/>
                  </a:lnTo>
                  <a:lnTo>
                    <a:pt x="6" y="95"/>
                  </a:lnTo>
                  <a:lnTo>
                    <a:pt x="4" y="84"/>
                  </a:lnTo>
                  <a:lnTo>
                    <a:pt x="4" y="73"/>
                  </a:lnTo>
                  <a:lnTo>
                    <a:pt x="0" y="61"/>
                  </a:lnTo>
                  <a:lnTo>
                    <a:pt x="0" y="50"/>
                  </a:lnTo>
                  <a:lnTo>
                    <a:pt x="0" y="40"/>
                  </a:lnTo>
                  <a:lnTo>
                    <a:pt x="2" y="33"/>
                  </a:lnTo>
                  <a:lnTo>
                    <a:pt x="4" y="23"/>
                  </a:lnTo>
                  <a:lnTo>
                    <a:pt x="8" y="14"/>
                  </a:lnTo>
                  <a:lnTo>
                    <a:pt x="14" y="6"/>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15" name="Freeform 127"/>
            <p:cNvSpPr>
              <a:spLocks/>
            </p:cNvSpPr>
            <p:nvPr/>
          </p:nvSpPr>
          <p:spPr bwMode="auto">
            <a:xfrm>
              <a:off x="4588" y="3471"/>
              <a:ext cx="26" cy="37"/>
            </a:xfrm>
            <a:custGeom>
              <a:avLst/>
              <a:gdLst>
                <a:gd name="T0" fmla="*/ 0 w 53"/>
                <a:gd name="T1" fmla="*/ 0 h 74"/>
                <a:gd name="T2" fmla="*/ 0 w 53"/>
                <a:gd name="T3" fmla="*/ 1 h 74"/>
                <a:gd name="T4" fmla="*/ 0 w 53"/>
                <a:gd name="T5" fmla="*/ 1 h 74"/>
                <a:gd name="T6" fmla="*/ 0 w 53"/>
                <a:gd name="T7" fmla="*/ 1 h 74"/>
                <a:gd name="T8" fmla="*/ 0 w 53"/>
                <a:gd name="T9" fmla="*/ 1 h 74"/>
                <a:gd name="T10" fmla="*/ 0 w 53"/>
                <a:gd name="T11" fmla="*/ 1 h 74"/>
                <a:gd name="T12" fmla="*/ 0 w 53"/>
                <a:gd name="T13" fmla="*/ 1 h 74"/>
                <a:gd name="T14" fmla="*/ 0 w 53"/>
                <a:gd name="T15" fmla="*/ 1 h 74"/>
                <a:gd name="T16" fmla="*/ 0 w 53"/>
                <a:gd name="T17" fmla="*/ 1 h 74"/>
                <a:gd name="T18" fmla="*/ 0 w 53"/>
                <a:gd name="T19" fmla="*/ 1 h 74"/>
                <a:gd name="T20" fmla="*/ 0 w 53"/>
                <a:gd name="T21" fmla="*/ 1 h 74"/>
                <a:gd name="T22" fmla="*/ 0 w 53"/>
                <a:gd name="T23" fmla="*/ 1 h 74"/>
                <a:gd name="T24" fmla="*/ 0 w 53"/>
                <a:gd name="T25" fmla="*/ 1 h 74"/>
                <a:gd name="T26" fmla="*/ 0 w 53"/>
                <a:gd name="T27" fmla="*/ 1 h 74"/>
                <a:gd name="T28" fmla="*/ 0 w 53"/>
                <a:gd name="T29" fmla="*/ 1 h 74"/>
                <a:gd name="T30" fmla="*/ 0 w 53"/>
                <a:gd name="T31" fmla="*/ 1 h 74"/>
                <a:gd name="T32" fmla="*/ 0 w 53"/>
                <a:gd name="T33" fmla="*/ 1 h 74"/>
                <a:gd name="T34" fmla="*/ 0 w 53"/>
                <a:gd name="T35" fmla="*/ 1 h 74"/>
                <a:gd name="T36" fmla="*/ 0 w 53"/>
                <a:gd name="T37" fmla="*/ 1 h 74"/>
                <a:gd name="T38" fmla="*/ 0 w 53"/>
                <a:gd name="T39" fmla="*/ 1 h 74"/>
                <a:gd name="T40" fmla="*/ 0 w 53"/>
                <a:gd name="T41" fmla="*/ 0 h 74"/>
                <a:gd name="T42" fmla="*/ 0 w 53"/>
                <a:gd name="T43" fmla="*/ 0 h 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3"/>
                <a:gd name="T67" fmla="*/ 0 h 74"/>
                <a:gd name="T68" fmla="*/ 53 w 53"/>
                <a:gd name="T69" fmla="*/ 74 h 7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3" h="74">
                  <a:moveTo>
                    <a:pt x="53" y="0"/>
                  </a:moveTo>
                  <a:lnTo>
                    <a:pt x="49" y="11"/>
                  </a:lnTo>
                  <a:lnTo>
                    <a:pt x="43" y="24"/>
                  </a:lnTo>
                  <a:lnTo>
                    <a:pt x="40" y="32"/>
                  </a:lnTo>
                  <a:lnTo>
                    <a:pt x="38" y="40"/>
                  </a:lnTo>
                  <a:lnTo>
                    <a:pt x="34" y="47"/>
                  </a:lnTo>
                  <a:lnTo>
                    <a:pt x="32" y="55"/>
                  </a:lnTo>
                  <a:lnTo>
                    <a:pt x="26" y="64"/>
                  </a:lnTo>
                  <a:lnTo>
                    <a:pt x="26" y="74"/>
                  </a:lnTo>
                  <a:lnTo>
                    <a:pt x="13" y="66"/>
                  </a:lnTo>
                  <a:lnTo>
                    <a:pt x="5" y="59"/>
                  </a:lnTo>
                  <a:lnTo>
                    <a:pt x="0" y="49"/>
                  </a:lnTo>
                  <a:lnTo>
                    <a:pt x="0" y="42"/>
                  </a:lnTo>
                  <a:lnTo>
                    <a:pt x="2" y="34"/>
                  </a:lnTo>
                  <a:lnTo>
                    <a:pt x="5" y="26"/>
                  </a:lnTo>
                  <a:lnTo>
                    <a:pt x="9" y="19"/>
                  </a:lnTo>
                  <a:lnTo>
                    <a:pt x="17" y="15"/>
                  </a:lnTo>
                  <a:lnTo>
                    <a:pt x="26" y="9"/>
                  </a:lnTo>
                  <a:lnTo>
                    <a:pt x="34" y="5"/>
                  </a:lnTo>
                  <a:lnTo>
                    <a:pt x="43" y="2"/>
                  </a:lnTo>
                  <a:lnTo>
                    <a:pt x="5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16" name="Freeform 128"/>
            <p:cNvSpPr>
              <a:spLocks/>
            </p:cNvSpPr>
            <p:nvPr/>
          </p:nvSpPr>
          <p:spPr bwMode="auto">
            <a:xfrm>
              <a:off x="4610" y="3487"/>
              <a:ext cx="15" cy="25"/>
            </a:xfrm>
            <a:custGeom>
              <a:avLst/>
              <a:gdLst>
                <a:gd name="T0" fmla="*/ 0 w 31"/>
                <a:gd name="T1" fmla="*/ 0 h 50"/>
                <a:gd name="T2" fmla="*/ 0 w 31"/>
                <a:gd name="T3" fmla="*/ 1 h 50"/>
                <a:gd name="T4" fmla="*/ 0 w 31"/>
                <a:gd name="T5" fmla="*/ 1 h 50"/>
                <a:gd name="T6" fmla="*/ 0 w 31"/>
                <a:gd name="T7" fmla="*/ 1 h 50"/>
                <a:gd name="T8" fmla="*/ 0 w 31"/>
                <a:gd name="T9" fmla="*/ 1 h 50"/>
                <a:gd name="T10" fmla="*/ 0 w 31"/>
                <a:gd name="T11" fmla="*/ 1 h 50"/>
                <a:gd name="T12" fmla="*/ 0 w 31"/>
                <a:gd name="T13" fmla="*/ 1 h 50"/>
                <a:gd name="T14" fmla="*/ 0 w 31"/>
                <a:gd name="T15" fmla="*/ 1 h 50"/>
                <a:gd name="T16" fmla="*/ 0 w 31"/>
                <a:gd name="T17" fmla="*/ 1 h 50"/>
                <a:gd name="T18" fmla="*/ 0 w 31"/>
                <a:gd name="T19" fmla="*/ 0 h 50"/>
                <a:gd name="T20" fmla="*/ 0 w 31"/>
                <a:gd name="T21" fmla="*/ 0 h 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1"/>
                <a:gd name="T34" fmla="*/ 0 h 50"/>
                <a:gd name="T35" fmla="*/ 31 w 31"/>
                <a:gd name="T36" fmla="*/ 50 h 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1" h="50">
                  <a:moveTo>
                    <a:pt x="31" y="0"/>
                  </a:moveTo>
                  <a:lnTo>
                    <a:pt x="25" y="10"/>
                  </a:lnTo>
                  <a:lnTo>
                    <a:pt x="17" y="23"/>
                  </a:lnTo>
                  <a:lnTo>
                    <a:pt x="10" y="36"/>
                  </a:lnTo>
                  <a:lnTo>
                    <a:pt x="0" y="50"/>
                  </a:lnTo>
                  <a:lnTo>
                    <a:pt x="0" y="46"/>
                  </a:lnTo>
                  <a:lnTo>
                    <a:pt x="4" y="34"/>
                  </a:lnTo>
                  <a:lnTo>
                    <a:pt x="12" y="23"/>
                  </a:lnTo>
                  <a:lnTo>
                    <a:pt x="19" y="11"/>
                  </a:lnTo>
                  <a:lnTo>
                    <a:pt x="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17" name="Freeform 129"/>
            <p:cNvSpPr>
              <a:spLocks/>
            </p:cNvSpPr>
            <p:nvPr/>
          </p:nvSpPr>
          <p:spPr bwMode="auto">
            <a:xfrm>
              <a:off x="4667" y="3496"/>
              <a:ext cx="18" cy="118"/>
            </a:xfrm>
            <a:custGeom>
              <a:avLst/>
              <a:gdLst>
                <a:gd name="T0" fmla="*/ 0 w 37"/>
                <a:gd name="T1" fmla="*/ 0 h 238"/>
                <a:gd name="T2" fmla="*/ 0 w 37"/>
                <a:gd name="T3" fmla="*/ 0 h 238"/>
                <a:gd name="T4" fmla="*/ 0 w 37"/>
                <a:gd name="T5" fmla="*/ 0 h 238"/>
                <a:gd name="T6" fmla="*/ 0 w 37"/>
                <a:gd name="T7" fmla="*/ 0 h 238"/>
                <a:gd name="T8" fmla="*/ 0 w 37"/>
                <a:gd name="T9" fmla="*/ 0 h 238"/>
                <a:gd name="T10" fmla="*/ 0 w 37"/>
                <a:gd name="T11" fmla="*/ 0 h 238"/>
                <a:gd name="T12" fmla="*/ 0 w 37"/>
                <a:gd name="T13" fmla="*/ 0 h 238"/>
                <a:gd name="T14" fmla="*/ 0 w 37"/>
                <a:gd name="T15" fmla="*/ 0 h 238"/>
                <a:gd name="T16" fmla="*/ 0 w 37"/>
                <a:gd name="T17" fmla="*/ 0 h 238"/>
                <a:gd name="T18" fmla="*/ 0 w 37"/>
                <a:gd name="T19" fmla="*/ 0 h 238"/>
                <a:gd name="T20" fmla="*/ 0 w 37"/>
                <a:gd name="T21" fmla="*/ 0 h 238"/>
                <a:gd name="T22" fmla="*/ 0 w 37"/>
                <a:gd name="T23" fmla="*/ 0 h 238"/>
                <a:gd name="T24" fmla="*/ 0 w 37"/>
                <a:gd name="T25" fmla="*/ 0 h 238"/>
                <a:gd name="T26" fmla="*/ 0 w 37"/>
                <a:gd name="T27" fmla="*/ 0 h 238"/>
                <a:gd name="T28" fmla="*/ 0 w 37"/>
                <a:gd name="T29" fmla="*/ 0 h 238"/>
                <a:gd name="T30" fmla="*/ 0 w 37"/>
                <a:gd name="T31" fmla="*/ 0 h 238"/>
                <a:gd name="T32" fmla="*/ 0 w 37"/>
                <a:gd name="T33" fmla="*/ 0 h 238"/>
                <a:gd name="T34" fmla="*/ 0 w 37"/>
                <a:gd name="T35" fmla="*/ 0 h 238"/>
                <a:gd name="T36" fmla="*/ 0 w 37"/>
                <a:gd name="T37" fmla="*/ 0 h 238"/>
                <a:gd name="T38" fmla="*/ 0 w 37"/>
                <a:gd name="T39" fmla="*/ 0 h 238"/>
                <a:gd name="T40" fmla="*/ 0 w 37"/>
                <a:gd name="T41" fmla="*/ 0 h 238"/>
                <a:gd name="T42" fmla="*/ 0 w 37"/>
                <a:gd name="T43" fmla="*/ 0 h 238"/>
                <a:gd name="T44" fmla="*/ 0 w 37"/>
                <a:gd name="T45" fmla="*/ 0 h 238"/>
                <a:gd name="T46" fmla="*/ 0 w 37"/>
                <a:gd name="T47" fmla="*/ 0 h 238"/>
                <a:gd name="T48" fmla="*/ 0 w 37"/>
                <a:gd name="T49" fmla="*/ 0 h 238"/>
                <a:gd name="T50" fmla="*/ 0 w 37"/>
                <a:gd name="T51" fmla="*/ 0 h 238"/>
                <a:gd name="T52" fmla="*/ 0 w 37"/>
                <a:gd name="T53" fmla="*/ 0 h 238"/>
                <a:gd name="T54" fmla="*/ 0 w 37"/>
                <a:gd name="T55" fmla="*/ 0 h 238"/>
                <a:gd name="T56" fmla="*/ 0 w 37"/>
                <a:gd name="T57" fmla="*/ 0 h 238"/>
                <a:gd name="T58" fmla="*/ 0 w 37"/>
                <a:gd name="T59" fmla="*/ 0 h 238"/>
                <a:gd name="T60" fmla="*/ 0 w 37"/>
                <a:gd name="T61" fmla="*/ 0 h 238"/>
                <a:gd name="T62" fmla="*/ 0 w 37"/>
                <a:gd name="T63" fmla="*/ 0 h 238"/>
                <a:gd name="T64" fmla="*/ 0 w 37"/>
                <a:gd name="T65" fmla="*/ 0 h 238"/>
                <a:gd name="T66" fmla="*/ 0 w 37"/>
                <a:gd name="T67" fmla="*/ 0 h 238"/>
                <a:gd name="T68" fmla="*/ 0 w 37"/>
                <a:gd name="T69" fmla="*/ 0 h 238"/>
                <a:gd name="T70" fmla="*/ 0 w 37"/>
                <a:gd name="T71" fmla="*/ 0 h 238"/>
                <a:gd name="T72" fmla="*/ 0 w 37"/>
                <a:gd name="T73" fmla="*/ 0 h 238"/>
                <a:gd name="T74" fmla="*/ 0 w 37"/>
                <a:gd name="T75" fmla="*/ 0 h 23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7"/>
                <a:gd name="T115" fmla="*/ 0 h 238"/>
                <a:gd name="T116" fmla="*/ 37 w 37"/>
                <a:gd name="T117" fmla="*/ 238 h 23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7" h="238">
                  <a:moveTo>
                    <a:pt x="16" y="0"/>
                  </a:moveTo>
                  <a:lnTo>
                    <a:pt x="18" y="12"/>
                  </a:lnTo>
                  <a:lnTo>
                    <a:pt x="19" y="27"/>
                  </a:lnTo>
                  <a:lnTo>
                    <a:pt x="23" y="40"/>
                  </a:lnTo>
                  <a:lnTo>
                    <a:pt x="27" y="55"/>
                  </a:lnTo>
                  <a:lnTo>
                    <a:pt x="29" y="71"/>
                  </a:lnTo>
                  <a:lnTo>
                    <a:pt x="31" y="86"/>
                  </a:lnTo>
                  <a:lnTo>
                    <a:pt x="33" y="101"/>
                  </a:lnTo>
                  <a:lnTo>
                    <a:pt x="37" y="118"/>
                  </a:lnTo>
                  <a:lnTo>
                    <a:pt x="37" y="131"/>
                  </a:lnTo>
                  <a:lnTo>
                    <a:pt x="37" y="148"/>
                  </a:lnTo>
                  <a:lnTo>
                    <a:pt x="35" y="162"/>
                  </a:lnTo>
                  <a:lnTo>
                    <a:pt x="35" y="179"/>
                  </a:lnTo>
                  <a:lnTo>
                    <a:pt x="33" y="194"/>
                  </a:lnTo>
                  <a:lnTo>
                    <a:pt x="31" y="207"/>
                  </a:lnTo>
                  <a:lnTo>
                    <a:pt x="29" y="223"/>
                  </a:lnTo>
                  <a:lnTo>
                    <a:pt x="25" y="238"/>
                  </a:lnTo>
                  <a:lnTo>
                    <a:pt x="16" y="230"/>
                  </a:lnTo>
                  <a:lnTo>
                    <a:pt x="8" y="223"/>
                  </a:lnTo>
                  <a:lnTo>
                    <a:pt x="2" y="213"/>
                  </a:lnTo>
                  <a:lnTo>
                    <a:pt x="2" y="204"/>
                  </a:lnTo>
                  <a:lnTo>
                    <a:pt x="0" y="190"/>
                  </a:lnTo>
                  <a:lnTo>
                    <a:pt x="2" y="177"/>
                  </a:lnTo>
                  <a:lnTo>
                    <a:pt x="2" y="162"/>
                  </a:lnTo>
                  <a:lnTo>
                    <a:pt x="6" y="147"/>
                  </a:lnTo>
                  <a:lnTo>
                    <a:pt x="8" y="131"/>
                  </a:lnTo>
                  <a:lnTo>
                    <a:pt x="12" y="114"/>
                  </a:lnTo>
                  <a:lnTo>
                    <a:pt x="12" y="99"/>
                  </a:lnTo>
                  <a:lnTo>
                    <a:pt x="16" y="84"/>
                  </a:lnTo>
                  <a:lnTo>
                    <a:pt x="14" y="69"/>
                  </a:lnTo>
                  <a:lnTo>
                    <a:pt x="14" y="55"/>
                  </a:lnTo>
                  <a:lnTo>
                    <a:pt x="10" y="42"/>
                  </a:lnTo>
                  <a:lnTo>
                    <a:pt x="6" y="33"/>
                  </a:lnTo>
                  <a:lnTo>
                    <a:pt x="8" y="23"/>
                  </a:lnTo>
                  <a:lnTo>
                    <a:pt x="10" y="15"/>
                  </a:lnTo>
                  <a:lnTo>
                    <a:pt x="10" y="6"/>
                  </a:lnTo>
                  <a:lnTo>
                    <a:pt x="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18" name="Freeform 130"/>
            <p:cNvSpPr>
              <a:spLocks/>
            </p:cNvSpPr>
            <p:nvPr/>
          </p:nvSpPr>
          <p:spPr bwMode="auto">
            <a:xfrm>
              <a:off x="3904" y="3523"/>
              <a:ext cx="33" cy="122"/>
            </a:xfrm>
            <a:custGeom>
              <a:avLst/>
              <a:gdLst>
                <a:gd name="T0" fmla="*/ 1 w 64"/>
                <a:gd name="T1" fmla="*/ 0 h 244"/>
                <a:gd name="T2" fmla="*/ 1 w 64"/>
                <a:gd name="T3" fmla="*/ 1 h 244"/>
                <a:gd name="T4" fmla="*/ 1 w 64"/>
                <a:gd name="T5" fmla="*/ 1 h 244"/>
                <a:gd name="T6" fmla="*/ 1 w 64"/>
                <a:gd name="T7" fmla="*/ 1 h 244"/>
                <a:gd name="T8" fmla="*/ 1 w 64"/>
                <a:gd name="T9" fmla="*/ 1 h 244"/>
                <a:gd name="T10" fmla="*/ 1 w 64"/>
                <a:gd name="T11" fmla="*/ 1 h 244"/>
                <a:gd name="T12" fmla="*/ 1 w 64"/>
                <a:gd name="T13" fmla="*/ 1 h 244"/>
                <a:gd name="T14" fmla="*/ 1 w 64"/>
                <a:gd name="T15" fmla="*/ 1 h 244"/>
                <a:gd name="T16" fmla="*/ 1 w 64"/>
                <a:gd name="T17" fmla="*/ 1 h 244"/>
                <a:gd name="T18" fmla="*/ 1 w 64"/>
                <a:gd name="T19" fmla="*/ 1 h 244"/>
                <a:gd name="T20" fmla="*/ 1 w 64"/>
                <a:gd name="T21" fmla="*/ 1 h 244"/>
                <a:gd name="T22" fmla="*/ 1 w 64"/>
                <a:gd name="T23" fmla="*/ 1 h 244"/>
                <a:gd name="T24" fmla="*/ 1 w 64"/>
                <a:gd name="T25" fmla="*/ 1 h 244"/>
                <a:gd name="T26" fmla="*/ 1 w 64"/>
                <a:gd name="T27" fmla="*/ 1 h 244"/>
                <a:gd name="T28" fmla="*/ 1 w 64"/>
                <a:gd name="T29" fmla="*/ 1 h 244"/>
                <a:gd name="T30" fmla="*/ 1 w 64"/>
                <a:gd name="T31" fmla="*/ 1 h 244"/>
                <a:gd name="T32" fmla="*/ 1 w 64"/>
                <a:gd name="T33" fmla="*/ 1 h 244"/>
                <a:gd name="T34" fmla="*/ 1 w 64"/>
                <a:gd name="T35" fmla="*/ 1 h 244"/>
                <a:gd name="T36" fmla="*/ 0 w 64"/>
                <a:gd name="T37" fmla="*/ 1 h 244"/>
                <a:gd name="T38" fmla="*/ 1 w 64"/>
                <a:gd name="T39" fmla="*/ 1 h 244"/>
                <a:gd name="T40" fmla="*/ 1 w 64"/>
                <a:gd name="T41" fmla="*/ 1 h 244"/>
                <a:gd name="T42" fmla="*/ 1 w 64"/>
                <a:gd name="T43" fmla="*/ 1 h 244"/>
                <a:gd name="T44" fmla="*/ 1 w 64"/>
                <a:gd name="T45" fmla="*/ 1 h 244"/>
                <a:gd name="T46" fmla="*/ 1 w 64"/>
                <a:gd name="T47" fmla="*/ 1 h 244"/>
                <a:gd name="T48" fmla="*/ 1 w 64"/>
                <a:gd name="T49" fmla="*/ 1 h 244"/>
                <a:gd name="T50" fmla="*/ 1 w 64"/>
                <a:gd name="T51" fmla="*/ 1 h 244"/>
                <a:gd name="T52" fmla="*/ 1 w 64"/>
                <a:gd name="T53" fmla="*/ 1 h 244"/>
                <a:gd name="T54" fmla="*/ 1 w 64"/>
                <a:gd name="T55" fmla="*/ 1 h 244"/>
                <a:gd name="T56" fmla="*/ 1 w 64"/>
                <a:gd name="T57" fmla="*/ 1 h 244"/>
                <a:gd name="T58" fmla="*/ 1 w 64"/>
                <a:gd name="T59" fmla="*/ 1 h 244"/>
                <a:gd name="T60" fmla="*/ 1 w 64"/>
                <a:gd name="T61" fmla="*/ 1 h 244"/>
                <a:gd name="T62" fmla="*/ 1 w 64"/>
                <a:gd name="T63" fmla="*/ 1 h 244"/>
                <a:gd name="T64" fmla="*/ 1 w 64"/>
                <a:gd name="T65" fmla="*/ 1 h 244"/>
                <a:gd name="T66" fmla="*/ 1 w 64"/>
                <a:gd name="T67" fmla="*/ 1 h 244"/>
                <a:gd name="T68" fmla="*/ 1 w 64"/>
                <a:gd name="T69" fmla="*/ 1 h 244"/>
                <a:gd name="T70" fmla="*/ 1 w 64"/>
                <a:gd name="T71" fmla="*/ 1 h 244"/>
                <a:gd name="T72" fmla="*/ 1 w 64"/>
                <a:gd name="T73" fmla="*/ 1 h 244"/>
                <a:gd name="T74" fmla="*/ 1 w 64"/>
                <a:gd name="T75" fmla="*/ 1 h 244"/>
                <a:gd name="T76" fmla="*/ 1 w 64"/>
                <a:gd name="T77" fmla="*/ 1 h 244"/>
                <a:gd name="T78" fmla="*/ 1 w 64"/>
                <a:gd name="T79" fmla="*/ 1 h 244"/>
                <a:gd name="T80" fmla="*/ 1 w 64"/>
                <a:gd name="T81" fmla="*/ 0 h 244"/>
                <a:gd name="T82" fmla="*/ 1 w 64"/>
                <a:gd name="T83" fmla="*/ 0 h 24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4"/>
                <a:gd name="T127" fmla="*/ 0 h 244"/>
                <a:gd name="T128" fmla="*/ 64 w 64"/>
                <a:gd name="T129" fmla="*/ 244 h 24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4" h="244">
                  <a:moveTo>
                    <a:pt x="49" y="0"/>
                  </a:moveTo>
                  <a:lnTo>
                    <a:pt x="53" y="16"/>
                  </a:lnTo>
                  <a:lnTo>
                    <a:pt x="57" y="33"/>
                  </a:lnTo>
                  <a:lnTo>
                    <a:pt x="59" y="50"/>
                  </a:lnTo>
                  <a:lnTo>
                    <a:pt x="62" y="67"/>
                  </a:lnTo>
                  <a:lnTo>
                    <a:pt x="62" y="82"/>
                  </a:lnTo>
                  <a:lnTo>
                    <a:pt x="64" y="99"/>
                  </a:lnTo>
                  <a:lnTo>
                    <a:pt x="64" y="114"/>
                  </a:lnTo>
                  <a:lnTo>
                    <a:pt x="64" y="130"/>
                  </a:lnTo>
                  <a:lnTo>
                    <a:pt x="60" y="145"/>
                  </a:lnTo>
                  <a:lnTo>
                    <a:pt x="59" y="160"/>
                  </a:lnTo>
                  <a:lnTo>
                    <a:pt x="53" y="175"/>
                  </a:lnTo>
                  <a:lnTo>
                    <a:pt x="49" y="189"/>
                  </a:lnTo>
                  <a:lnTo>
                    <a:pt x="39" y="202"/>
                  </a:lnTo>
                  <a:lnTo>
                    <a:pt x="32" y="217"/>
                  </a:lnTo>
                  <a:lnTo>
                    <a:pt x="22" y="230"/>
                  </a:lnTo>
                  <a:lnTo>
                    <a:pt x="13" y="244"/>
                  </a:lnTo>
                  <a:lnTo>
                    <a:pt x="1" y="230"/>
                  </a:lnTo>
                  <a:lnTo>
                    <a:pt x="0" y="219"/>
                  </a:lnTo>
                  <a:lnTo>
                    <a:pt x="3" y="206"/>
                  </a:lnTo>
                  <a:lnTo>
                    <a:pt x="13" y="192"/>
                  </a:lnTo>
                  <a:lnTo>
                    <a:pt x="19" y="181"/>
                  </a:lnTo>
                  <a:lnTo>
                    <a:pt x="24" y="171"/>
                  </a:lnTo>
                  <a:lnTo>
                    <a:pt x="30" y="162"/>
                  </a:lnTo>
                  <a:lnTo>
                    <a:pt x="36" y="152"/>
                  </a:lnTo>
                  <a:lnTo>
                    <a:pt x="38" y="139"/>
                  </a:lnTo>
                  <a:lnTo>
                    <a:pt x="39" y="128"/>
                  </a:lnTo>
                  <a:lnTo>
                    <a:pt x="36" y="114"/>
                  </a:lnTo>
                  <a:lnTo>
                    <a:pt x="32" y="101"/>
                  </a:lnTo>
                  <a:lnTo>
                    <a:pt x="34" y="93"/>
                  </a:lnTo>
                  <a:lnTo>
                    <a:pt x="36" y="86"/>
                  </a:lnTo>
                  <a:lnTo>
                    <a:pt x="36" y="80"/>
                  </a:lnTo>
                  <a:lnTo>
                    <a:pt x="36" y="73"/>
                  </a:lnTo>
                  <a:lnTo>
                    <a:pt x="36" y="65"/>
                  </a:lnTo>
                  <a:lnTo>
                    <a:pt x="36" y="57"/>
                  </a:lnTo>
                  <a:lnTo>
                    <a:pt x="36" y="50"/>
                  </a:lnTo>
                  <a:lnTo>
                    <a:pt x="36" y="42"/>
                  </a:lnTo>
                  <a:lnTo>
                    <a:pt x="36" y="31"/>
                  </a:lnTo>
                  <a:lnTo>
                    <a:pt x="38" y="19"/>
                  </a:lnTo>
                  <a:lnTo>
                    <a:pt x="41" y="10"/>
                  </a:lnTo>
                  <a:lnTo>
                    <a:pt x="4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19" name="Freeform 131"/>
            <p:cNvSpPr>
              <a:spLocks/>
            </p:cNvSpPr>
            <p:nvPr/>
          </p:nvSpPr>
          <p:spPr bwMode="auto">
            <a:xfrm>
              <a:off x="4038" y="3523"/>
              <a:ext cx="6" cy="12"/>
            </a:xfrm>
            <a:custGeom>
              <a:avLst/>
              <a:gdLst>
                <a:gd name="T0" fmla="*/ 1 w 11"/>
                <a:gd name="T1" fmla="*/ 0 h 23"/>
                <a:gd name="T2" fmla="*/ 1 w 11"/>
                <a:gd name="T3" fmla="*/ 0 h 23"/>
                <a:gd name="T4" fmla="*/ 1 w 11"/>
                <a:gd name="T5" fmla="*/ 1 h 23"/>
                <a:gd name="T6" fmla="*/ 1 w 11"/>
                <a:gd name="T7" fmla="*/ 1 h 23"/>
                <a:gd name="T8" fmla="*/ 1 w 11"/>
                <a:gd name="T9" fmla="*/ 1 h 23"/>
                <a:gd name="T10" fmla="*/ 1 w 11"/>
                <a:gd name="T11" fmla="*/ 1 h 23"/>
                <a:gd name="T12" fmla="*/ 0 w 11"/>
                <a:gd name="T13" fmla="*/ 1 h 23"/>
                <a:gd name="T14" fmla="*/ 0 w 11"/>
                <a:gd name="T15" fmla="*/ 1 h 23"/>
                <a:gd name="T16" fmla="*/ 1 w 11"/>
                <a:gd name="T17" fmla="*/ 0 h 23"/>
                <a:gd name="T18" fmla="*/ 1 w 11"/>
                <a:gd name="T19" fmla="*/ 0 h 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
                <a:gd name="T31" fmla="*/ 0 h 23"/>
                <a:gd name="T32" fmla="*/ 11 w 11"/>
                <a:gd name="T33" fmla="*/ 23 h 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 h="23">
                  <a:moveTo>
                    <a:pt x="2" y="0"/>
                  </a:moveTo>
                  <a:lnTo>
                    <a:pt x="9" y="0"/>
                  </a:lnTo>
                  <a:lnTo>
                    <a:pt x="11" y="10"/>
                  </a:lnTo>
                  <a:lnTo>
                    <a:pt x="11" y="16"/>
                  </a:lnTo>
                  <a:lnTo>
                    <a:pt x="11" y="19"/>
                  </a:lnTo>
                  <a:lnTo>
                    <a:pt x="3" y="23"/>
                  </a:lnTo>
                  <a:lnTo>
                    <a:pt x="0" y="16"/>
                  </a:lnTo>
                  <a:lnTo>
                    <a:pt x="0" y="6"/>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20" name="Freeform 132"/>
            <p:cNvSpPr>
              <a:spLocks/>
            </p:cNvSpPr>
            <p:nvPr/>
          </p:nvSpPr>
          <p:spPr bwMode="auto">
            <a:xfrm>
              <a:off x="4608" y="3523"/>
              <a:ext cx="25" cy="78"/>
            </a:xfrm>
            <a:custGeom>
              <a:avLst/>
              <a:gdLst>
                <a:gd name="T0" fmla="*/ 0 w 51"/>
                <a:gd name="T1" fmla="*/ 0 h 156"/>
                <a:gd name="T2" fmla="*/ 0 w 51"/>
                <a:gd name="T3" fmla="*/ 0 h 156"/>
                <a:gd name="T4" fmla="*/ 0 w 51"/>
                <a:gd name="T5" fmla="*/ 0 h 156"/>
                <a:gd name="T6" fmla="*/ 0 w 51"/>
                <a:gd name="T7" fmla="*/ 1 h 156"/>
                <a:gd name="T8" fmla="*/ 0 w 51"/>
                <a:gd name="T9" fmla="*/ 1 h 156"/>
                <a:gd name="T10" fmla="*/ 0 w 51"/>
                <a:gd name="T11" fmla="*/ 1 h 156"/>
                <a:gd name="T12" fmla="*/ 0 w 51"/>
                <a:gd name="T13" fmla="*/ 1 h 156"/>
                <a:gd name="T14" fmla="*/ 0 w 51"/>
                <a:gd name="T15" fmla="*/ 1 h 156"/>
                <a:gd name="T16" fmla="*/ 0 w 51"/>
                <a:gd name="T17" fmla="*/ 1 h 156"/>
                <a:gd name="T18" fmla="*/ 0 w 51"/>
                <a:gd name="T19" fmla="*/ 1 h 156"/>
                <a:gd name="T20" fmla="*/ 0 w 51"/>
                <a:gd name="T21" fmla="*/ 1 h 156"/>
                <a:gd name="T22" fmla="*/ 0 w 51"/>
                <a:gd name="T23" fmla="*/ 1 h 156"/>
                <a:gd name="T24" fmla="*/ 0 w 51"/>
                <a:gd name="T25" fmla="*/ 1 h 156"/>
                <a:gd name="T26" fmla="*/ 0 w 51"/>
                <a:gd name="T27" fmla="*/ 1 h 156"/>
                <a:gd name="T28" fmla="*/ 0 w 51"/>
                <a:gd name="T29" fmla="*/ 1 h 156"/>
                <a:gd name="T30" fmla="*/ 0 w 51"/>
                <a:gd name="T31" fmla="*/ 1 h 156"/>
                <a:gd name="T32" fmla="*/ 0 w 51"/>
                <a:gd name="T33" fmla="*/ 1 h 156"/>
                <a:gd name="T34" fmla="*/ 0 w 51"/>
                <a:gd name="T35" fmla="*/ 1 h 156"/>
                <a:gd name="T36" fmla="*/ 0 w 51"/>
                <a:gd name="T37" fmla="*/ 1 h 156"/>
                <a:gd name="T38" fmla="*/ 0 w 51"/>
                <a:gd name="T39" fmla="*/ 1 h 156"/>
                <a:gd name="T40" fmla="*/ 0 w 51"/>
                <a:gd name="T41" fmla="*/ 1 h 156"/>
                <a:gd name="T42" fmla="*/ 0 w 51"/>
                <a:gd name="T43" fmla="*/ 1 h 156"/>
                <a:gd name="T44" fmla="*/ 0 w 51"/>
                <a:gd name="T45" fmla="*/ 1 h 156"/>
                <a:gd name="T46" fmla="*/ 0 w 51"/>
                <a:gd name="T47" fmla="*/ 1 h 156"/>
                <a:gd name="T48" fmla="*/ 0 w 51"/>
                <a:gd name="T49" fmla="*/ 1 h 156"/>
                <a:gd name="T50" fmla="*/ 0 w 51"/>
                <a:gd name="T51" fmla="*/ 1 h 156"/>
                <a:gd name="T52" fmla="*/ 0 w 51"/>
                <a:gd name="T53" fmla="*/ 1 h 156"/>
                <a:gd name="T54" fmla="*/ 0 w 51"/>
                <a:gd name="T55" fmla="*/ 1 h 156"/>
                <a:gd name="T56" fmla="*/ 0 w 51"/>
                <a:gd name="T57" fmla="*/ 1 h 156"/>
                <a:gd name="T58" fmla="*/ 0 w 51"/>
                <a:gd name="T59" fmla="*/ 1 h 156"/>
                <a:gd name="T60" fmla="*/ 0 w 51"/>
                <a:gd name="T61" fmla="*/ 1 h 156"/>
                <a:gd name="T62" fmla="*/ 0 w 51"/>
                <a:gd name="T63" fmla="*/ 1 h 156"/>
                <a:gd name="T64" fmla="*/ 0 w 51"/>
                <a:gd name="T65" fmla="*/ 1 h 156"/>
                <a:gd name="T66" fmla="*/ 0 w 51"/>
                <a:gd name="T67" fmla="*/ 1 h 156"/>
                <a:gd name="T68" fmla="*/ 0 w 51"/>
                <a:gd name="T69" fmla="*/ 0 h 156"/>
                <a:gd name="T70" fmla="*/ 0 w 51"/>
                <a:gd name="T71" fmla="*/ 0 h 15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1"/>
                <a:gd name="T109" fmla="*/ 0 h 156"/>
                <a:gd name="T110" fmla="*/ 51 w 51"/>
                <a:gd name="T111" fmla="*/ 156 h 15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1" h="156">
                  <a:moveTo>
                    <a:pt x="41" y="0"/>
                  </a:moveTo>
                  <a:lnTo>
                    <a:pt x="45" y="0"/>
                  </a:lnTo>
                  <a:lnTo>
                    <a:pt x="51" y="0"/>
                  </a:lnTo>
                  <a:lnTo>
                    <a:pt x="47" y="10"/>
                  </a:lnTo>
                  <a:lnTo>
                    <a:pt x="45" y="19"/>
                  </a:lnTo>
                  <a:lnTo>
                    <a:pt x="41" y="29"/>
                  </a:lnTo>
                  <a:lnTo>
                    <a:pt x="39" y="40"/>
                  </a:lnTo>
                  <a:lnTo>
                    <a:pt x="38" y="50"/>
                  </a:lnTo>
                  <a:lnTo>
                    <a:pt x="36" y="59"/>
                  </a:lnTo>
                  <a:lnTo>
                    <a:pt x="34" y="67"/>
                  </a:lnTo>
                  <a:lnTo>
                    <a:pt x="32" y="78"/>
                  </a:lnTo>
                  <a:lnTo>
                    <a:pt x="30" y="86"/>
                  </a:lnTo>
                  <a:lnTo>
                    <a:pt x="26" y="97"/>
                  </a:lnTo>
                  <a:lnTo>
                    <a:pt x="24" y="105"/>
                  </a:lnTo>
                  <a:lnTo>
                    <a:pt x="22" y="116"/>
                  </a:lnTo>
                  <a:lnTo>
                    <a:pt x="20" y="126"/>
                  </a:lnTo>
                  <a:lnTo>
                    <a:pt x="19" y="135"/>
                  </a:lnTo>
                  <a:lnTo>
                    <a:pt x="17" y="145"/>
                  </a:lnTo>
                  <a:lnTo>
                    <a:pt x="15" y="156"/>
                  </a:lnTo>
                  <a:lnTo>
                    <a:pt x="11" y="147"/>
                  </a:lnTo>
                  <a:lnTo>
                    <a:pt x="7" y="137"/>
                  </a:lnTo>
                  <a:lnTo>
                    <a:pt x="5" y="128"/>
                  </a:lnTo>
                  <a:lnTo>
                    <a:pt x="3" y="118"/>
                  </a:lnTo>
                  <a:lnTo>
                    <a:pt x="1" y="107"/>
                  </a:lnTo>
                  <a:lnTo>
                    <a:pt x="0" y="97"/>
                  </a:lnTo>
                  <a:lnTo>
                    <a:pt x="0" y="86"/>
                  </a:lnTo>
                  <a:lnTo>
                    <a:pt x="0" y="76"/>
                  </a:lnTo>
                  <a:lnTo>
                    <a:pt x="0" y="63"/>
                  </a:lnTo>
                  <a:lnTo>
                    <a:pt x="1" y="54"/>
                  </a:lnTo>
                  <a:lnTo>
                    <a:pt x="3" y="42"/>
                  </a:lnTo>
                  <a:lnTo>
                    <a:pt x="7" y="33"/>
                  </a:lnTo>
                  <a:lnTo>
                    <a:pt x="13" y="23"/>
                  </a:lnTo>
                  <a:lnTo>
                    <a:pt x="20" y="14"/>
                  </a:lnTo>
                  <a:lnTo>
                    <a:pt x="30" y="6"/>
                  </a:lnTo>
                  <a:lnTo>
                    <a:pt x="4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21" name="Freeform 133"/>
            <p:cNvSpPr>
              <a:spLocks/>
            </p:cNvSpPr>
            <p:nvPr/>
          </p:nvSpPr>
          <p:spPr bwMode="auto">
            <a:xfrm>
              <a:off x="5000" y="3536"/>
              <a:ext cx="172" cy="242"/>
            </a:xfrm>
            <a:custGeom>
              <a:avLst/>
              <a:gdLst>
                <a:gd name="T0" fmla="*/ 2 w 342"/>
                <a:gd name="T1" fmla="*/ 0 h 485"/>
                <a:gd name="T2" fmla="*/ 2 w 342"/>
                <a:gd name="T3" fmla="*/ 0 h 485"/>
                <a:gd name="T4" fmla="*/ 2 w 342"/>
                <a:gd name="T5" fmla="*/ 0 h 485"/>
                <a:gd name="T6" fmla="*/ 2 w 342"/>
                <a:gd name="T7" fmla="*/ 0 h 485"/>
                <a:gd name="T8" fmla="*/ 2 w 342"/>
                <a:gd name="T9" fmla="*/ 0 h 485"/>
                <a:gd name="T10" fmla="*/ 2 w 342"/>
                <a:gd name="T11" fmla="*/ 0 h 485"/>
                <a:gd name="T12" fmla="*/ 2 w 342"/>
                <a:gd name="T13" fmla="*/ 0 h 485"/>
                <a:gd name="T14" fmla="*/ 2 w 342"/>
                <a:gd name="T15" fmla="*/ 0 h 485"/>
                <a:gd name="T16" fmla="*/ 2 w 342"/>
                <a:gd name="T17" fmla="*/ 0 h 485"/>
                <a:gd name="T18" fmla="*/ 2 w 342"/>
                <a:gd name="T19" fmla="*/ 1 h 485"/>
                <a:gd name="T20" fmla="*/ 2 w 342"/>
                <a:gd name="T21" fmla="*/ 1 h 485"/>
                <a:gd name="T22" fmla="*/ 2 w 342"/>
                <a:gd name="T23" fmla="*/ 1 h 485"/>
                <a:gd name="T24" fmla="*/ 2 w 342"/>
                <a:gd name="T25" fmla="*/ 1 h 485"/>
                <a:gd name="T26" fmla="*/ 2 w 342"/>
                <a:gd name="T27" fmla="*/ 1 h 485"/>
                <a:gd name="T28" fmla="*/ 2 w 342"/>
                <a:gd name="T29" fmla="*/ 1 h 485"/>
                <a:gd name="T30" fmla="*/ 2 w 342"/>
                <a:gd name="T31" fmla="*/ 1 h 485"/>
                <a:gd name="T32" fmla="*/ 2 w 342"/>
                <a:gd name="T33" fmla="*/ 1 h 485"/>
                <a:gd name="T34" fmla="*/ 1 w 342"/>
                <a:gd name="T35" fmla="*/ 1 h 485"/>
                <a:gd name="T36" fmla="*/ 1 w 342"/>
                <a:gd name="T37" fmla="*/ 1 h 485"/>
                <a:gd name="T38" fmla="*/ 1 w 342"/>
                <a:gd name="T39" fmla="*/ 0 h 485"/>
                <a:gd name="T40" fmla="*/ 1 w 342"/>
                <a:gd name="T41" fmla="*/ 0 h 485"/>
                <a:gd name="T42" fmla="*/ 1 w 342"/>
                <a:gd name="T43" fmla="*/ 0 h 485"/>
                <a:gd name="T44" fmla="*/ 1 w 342"/>
                <a:gd name="T45" fmla="*/ 0 h 485"/>
                <a:gd name="T46" fmla="*/ 1 w 342"/>
                <a:gd name="T47" fmla="*/ 0 h 485"/>
                <a:gd name="T48" fmla="*/ 1 w 342"/>
                <a:gd name="T49" fmla="*/ 0 h 485"/>
                <a:gd name="T50" fmla="*/ 1 w 342"/>
                <a:gd name="T51" fmla="*/ 0 h 485"/>
                <a:gd name="T52" fmla="*/ 1 w 342"/>
                <a:gd name="T53" fmla="*/ 0 h 485"/>
                <a:gd name="T54" fmla="*/ 1 w 342"/>
                <a:gd name="T55" fmla="*/ 1 h 485"/>
                <a:gd name="T56" fmla="*/ 1 w 342"/>
                <a:gd name="T57" fmla="*/ 1 h 485"/>
                <a:gd name="T58" fmla="*/ 1 w 342"/>
                <a:gd name="T59" fmla="*/ 1 h 485"/>
                <a:gd name="T60" fmla="*/ 1 w 342"/>
                <a:gd name="T61" fmla="*/ 1 h 485"/>
                <a:gd name="T62" fmla="*/ 1 w 342"/>
                <a:gd name="T63" fmla="*/ 1 h 485"/>
                <a:gd name="T64" fmla="*/ 1 w 342"/>
                <a:gd name="T65" fmla="*/ 1 h 485"/>
                <a:gd name="T66" fmla="*/ 1 w 342"/>
                <a:gd name="T67" fmla="*/ 1 h 485"/>
                <a:gd name="T68" fmla="*/ 1 w 342"/>
                <a:gd name="T69" fmla="*/ 1 h 485"/>
                <a:gd name="T70" fmla="*/ 1 w 342"/>
                <a:gd name="T71" fmla="*/ 1 h 485"/>
                <a:gd name="T72" fmla="*/ 1 w 342"/>
                <a:gd name="T73" fmla="*/ 1 h 485"/>
                <a:gd name="T74" fmla="*/ 1 w 342"/>
                <a:gd name="T75" fmla="*/ 1 h 485"/>
                <a:gd name="T76" fmla="*/ 1 w 342"/>
                <a:gd name="T77" fmla="*/ 1 h 485"/>
                <a:gd name="T78" fmla="*/ 1 w 342"/>
                <a:gd name="T79" fmla="*/ 1 h 485"/>
                <a:gd name="T80" fmla="*/ 1 w 342"/>
                <a:gd name="T81" fmla="*/ 1 h 485"/>
                <a:gd name="T82" fmla="*/ 1 w 342"/>
                <a:gd name="T83" fmla="*/ 1 h 485"/>
                <a:gd name="T84" fmla="*/ 1 w 342"/>
                <a:gd name="T85" fmla="*/ 1 h 485"/>
                <a:gd name="T86" fmla="*/ 1 w 342"/>
                <a:gd name="T87" fmla="*/ 1 h 485"/>
                <a:gd name="T88" fmla="*/ 1 w 342"/>
                <a:gd name="T89" fmla="*/ 1 h 485"/>
                <a:gd name="T90" fmla="*/ 1 w 342"/>
                <a:gd name="T91" fmla="*/ 1 h 485"/>
                <a:gd name="T92" fmla="*/ 0 w 342"/>
                <a:gd name="T93" fmla="*/ 1 h 485"/>
                <a:gd name="T94" fmla="*/ 0 w 342"/>
                <a:gd name="T95" fmla="*/ 1 h 485"/>
                <a:gd name="T96" fmla="*/ 1 w 342"/>
                <a:gd name="T97" fmla="*/ 0 h 485"/>
                <a:gd name="T98" fmla="*/ 1 w 342"/>
                <a:gd name="T99" fmla="*/ 0 h 485"/>
                <a:gd name="T100" fmla="*/ 1 w 342"/>
                <a:gd name="T101" fmla="*/ 0 h 485"/>
                <a:gd name="T102" fmla="*/ 1 w 342"/>
                <a:gd name="T103" fmla="*/ 0 h 485"/>
                <a:gd name="T104" fmla="*/ 1 w 342"/>
                <a:gd name="T105" fmla="*/ 0 h 485"/>
                <a:gd name="T106" fmla="*/ 1 w 342"/>
                <a:gd name="T107" fmla="*/ 0 h 485"/>
                <a:gd name="T108" fmla="*/ 1 w 342"/>
                <a:gd name="T109" fmla="*/ 0 h 485"/>
                <a:gd name="T110" fmla="*/ 1 w 342"/>
                <a:gd name="T111" fmla="*/ 0 h 485"/>
                <a:gd name="T112" fmla="*/ 1 w 342"/>
                <a:gd name="T113" fmla="*/ 0 h 485"/>
                <a:gd name="T114" fmla="*/ 1 w 342"/>
                <a:gd name="T115" fmla="*/ 0 h 485"/>
                <a:gd name="T116" fmla="*/ 1 w 342"/>
                <a:gd name="T117" fmla="*/ 0 h 485"/>
                <a:gd name="T118" fmla="*/ 1 w 342"/>
                <a:gd name="T119" fmla="*/ 0 h 48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42"/>
                <a:gd name="T181" fmla="*/ 0 h 485"/>
                <a:gd name="T182" fmla="*/ 342 w 342"/>
                <a:gd name="T183" fmla="*/ 485 h 485"/>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42" h="485">
                  <a:moveTo>
                    <a:pt x="255" y="4"/>
                  </a:moveTo>
                  <a:lnTo>
                    <a:pt x="277" y="0"/>
                  </a:lnTo>
                  <a:lnTo>
                    <a:pt x="296" y="2"/>
                  </a:lnTo>
                  <a:lnTo>
                    <a:pt x="310" y="8"/>
                  </a:lnTo>
                  <a:lnTo>
                    <a:pt x="321" y="17"/>
                  </a:lnTo>
                  <a:lnTo>
                    <a:pt x="327" y="29"/>
                  </a:lnTo>
                  <a:lnTo>
                    <a:pt x="333" y="46"/>
                  </a:lnTo>
                  <a:lnTo>
                    <a:pt x="334" y="63"/>
                  </a:lnTo>
                  <a:lnTo>
                    <a:pt x="336" y="82"/>
                  </a:lnTo>
                  <a:lnTo>
                    <a:pt x="334" y="103"/>
                  </a:lnTo>
                  <a:lnTo>
                    <a:pt x="333" y="124"/>
                  </a:lnTo>
                  <a:lnTo>
                    <a:pt x="329" y="145"/>
                  </a:lnTo>
                  <a:lnTo>
                    <a:pt x="329" y="167"/>
                  </a:lnTo>
                  <a:lnTo>
                    <a:pt x="329" y="186"/>
                  </a:lnTo>
                  <a:lnTo>
                    <a:pt x="331" y="205"/>
                  </a:lnTo>
                  <a:lnTo>
                    <a:pt x="334" y="222"/>
                  </a:lnTo>
                  <a:lnTo>
                    <a:pt x="340" y="240"/>
                  </a:lnTo>
                  <a:lnTo>
                    <a:pt x="342" y="253"/>
                  </a:lnTo>
                  <a:lnTo>
                    <a:pt x="340" y="266"/>
                  </a:lnTo>
                  <a:lnTo>
                    <a:pt x="338" y="274"/>
                  </a:lnTo>
                  <a:lnTo>
                    <a:pt x="338" y="281"/>
                  </a:lnTo>
                  <a:lnTo>
                    <a:pt x="336" y="289"/>
                  </a:lnTo>
                  <a:lnTo>
                    <a:pt x="336" y="299"/>
                  </a:lnTo>
                  <a:lnTo>
                    <a:pt x="329" y="297"/>
                  </a:lnTo>
                  <a:lnTo>
                    <a:pt x="321" y="297"/>
                  </a:lnTo>
                  <a:lnTo>
                    <a:pt x="312" y="295"/>
                  </a:lnTo>
                  <a:lnTo>
                    <a:pt x="304" y="295"/>
                  </a:lnTo>
                  <a:lnTo>
                    <a:pt x="296" y="295"/>
                  </a:lnTo>
                  <a:lnTo>
                    <a:pt x="293" y="300"/>
                  </a:lnTo>
                  <a:lnTo>
                    <a:pt x="293" y="306"/>
                  </a:lnTo>
                  <a:lnTo>
                    <a:pt x="294" y="316"/>
                  </a:lnTo>
                  <a:lnTo>
                    <a:pt x="281" y="314"/>
                  </a:lnTo>
                  <a:lnTo>
                    <a:pt x="272" y="312"/>
                  </a:lnTo>
                  <a:lnTo>
                    <a:pt x="262" y="304"/>
                  </a:lnTo>
                  <a:lnTo>
                    <a:pt x="256" y="299"/>
                  </a:lnTo>
                  <a:lnTo>
                    <a:pt x="249" y="289"/>
                  </a:lnTo>
                  <a:lnTo>
                    <a:pt x="247" y="278"/>
                  </a:lnTo>
                  <a:lnTo>
                    <a:pt x="243" y="266"/>
                  </a:lnTo>
                  <a:lnTo>
                    <a:pt x="243" y="255"/>
                  </a:lnTo>
                  <a:lnTo>
                    <a:pt x="239" y="240"/>
                  </a:lnTo>
                  <a:lnTo>
                    <a:pt x="239" y="228"/>
                  </a:lnTo>
                  <a:lnTo>
                    <a:pt x="239" y="213"/>
                  </a:lnTo>
                  <a:lnTo>
                    <a:pt x="239" y="202"/>
                  </a:lnTo>
                  <a:lnTo>
                    <a:pt x="237" y="188"/>
                  </a:lnTo>
                  <a:lnTo>
                    <a:pt x="237" y="175"/>
                  </a:lnTo>
                  <a:lnTo>
                    <a:pt x="236" y="164"/>
                  </a:lnTo>
                  <a:lnTo>
                    <a:pt x="236" y="154"/>
                  </a:lnTo>
                  <a:lnTo>
                    <a:pt x="218" y="162"/>
                  </a:lnTo>
                  <a:lnTo>
                    <a:pt x="203" y="173"/>
                  </a:lnTo>
                  <a:lnTo>
                    <a:pt x="186" y="183"/>
                  </a:lnTo>
                  <a:lnTo>
                    <a:pt x="173" y="196"/>
                  </a:lnTo>
                  <a:lnTo>
                    <a:pt x="156" y="209"/>
                  </a:lnTo>
                  <a:lnTo>
                    <a:pt x="144" y="224"/>
                  </a:lnTo>
                  <a:lnTo>
                    <a:pt x="131" y="240"/>
                  </a:lnTo>
                  <a:lnTo>
                    <a:pt x="121" y="257"/>
                  </a:lnTo>
                  <a:lnTo>
                    <a:pt x="110" y="272"/>
                  </a:lnTo>
                  <a:lnTo>
                    <a:pt x="102" y="289"/>
                  </a:lnTo>
                  <a:lnTo>
                    <a:pt x="97" y="306"/>
                  </a:lnTo>
                  <a:lnTo>
                    <a:pt x="93" y="323"/>
                  </a:lnTo>
                  <a:lnTo>
                    <a:pt x="91" y="340"/>
                  </a:lnTo>
                  <a:lnTo>
                    <a:pt x="93" y="359"/>
                  </a:lnTo>
                  <a:lnTo>
                    <a:pt x="95" y="376"/>
                  </a:lnTo>
                  <a:lnTo>
                    <a:pt x="102" y="395"/>
                  </a:lnTo>
                  <a:lnTo>
                    <a:pt x="104" y="407"/>
                  </a:lnTo>
                  <a:lnTo>
                    <a:pt x="106" y="420"/>
                  </a:lnTo>
                  <a:lnTo>
                    <a:pt x="104" y="432"/>
                  </a:lnTo>
                  <a:lnTo>
                    <a:pt x="104" y="441"/>
                  </a:lnTo>
                  <a:lnTo>
                    <a:pt x="102" y="451"/>
                  </a:lnTo>
                  <a:lnTo>
                    <a:pt x="99" y="458"/>
                  </a:lnTo>
                  <a:lnTo>
                    <a:pt x="95" y="466"/>
                  </a:lnTo>
                  <a:lnTo>
                    <a:pt x="91" y="473"/>
                  </a:lnTo>
                  <a:lnTo>
                    <a:pt x="80" y="481"/>
                  </a:lnTo>
                  <a:lnTo>
                    <a:pt x="68" y="485"/>
                  </a:lnTo>
                  <a:lnTo>
                    <a:pt x="57" y="485"/>
                  </a:lnTo>
                  <a:lnTo>
                    <a:pt x="44" y="481"/>
                  </a:lnTo>
                  <a:lnTo>
                    <a:pt x="36" y="475"/>
                  </a:lnTo>
                  <a:lnTo>
                    <a:pt x="26" y="468"/>
                  </a:lnTo>
                  <a:lnTo>
                    <a:pt x="19" y="458"/>
                  </a:lnTo>
                  <a:lnTo>
                    <a:pt x="15" y="447"/>
                  </a:lnTo>
                  <a:lnTo>
                    <a:pt x="13" y="441"/>
                  </a:lnTo>
                  <a:lnTo>
                    <a:pt x="11" y="434"/>
                  </a:lnTo>
                  <a:lnTo>
                    <a:pt x="9" y="426"/>
                  </a:lnTo>
                  <a:lnTo>
                    <a:pt x="9" y="418"/>
                  </a:lnTo>
                  <a:lnTo>
                    <a:pt x="9" y="409"/>
                  </a:lnTo>
                  <a:lnTo>
                    <a:pt x="9" y="401"/>
                  </a:lnTo>
                  <a:lnTo>
                    <a:pt x="11" y="392"/>
                  </a:lnTo>
                  <a:lnTo>
                    <a:pt x="15" y="384"/>
                  </a:lnTo>
                  <a:lnTo>
                    <a:pt x="13" y="371"/>
                  </a:lnTo>
                  <a:lnTo>
                    <a:pt x="13" y="359"/>
                  </a:lnTo>
                  <a:lnTo>
                    <a:pt x="9" y="346"/>
                  </a:lnTo>
                  <a:lnTo>
                    <a:pt x="7" y="333"/>
                  </a:lnTo>
                  <a:lnTo>
                    <a:pt x="4" y="316"/>
                  </a:lnTo>
                  <a:lnTo>
                    <a:pt x="2" y="302"/>
                  </a:lnTo>
                  <a:lnTo>
                    <a:pt x="0" y="289"/>
                  </a:lnTo>
                  <a:lnTo>
                    <a:pt x="0" y="276"/>
                  </a:lnTo>
                  <a:lnTo>
                    <a:pt x="0" y="262"/>
                  </a:lnTo>
                  <a:lnTo>
                    <a:pt x="0" y="249"/>
                  </a:lnTo>
                  <a:lnTo>
                    <a:pt x="4" y="238"/>
                  </a:lnTo>
                  <a:lnTo>
                    <a:pt x="7" y="230"/>
                  </a:lnTo>
                  <a:lnTo>
                    <a:pt x="15" y="222"/>
                  </a:lnTo>
                  <a:lnTo>
                    <a:pt x="25" y="217"/>
                  </a:lnTo>
                  <a:lnTo>
                    <a:pt x="36" y="213"/>
                  </a:lnTo>
                  <a:lnTo>
                    <a:pt x="51" y="213"/>
                  </a:lnTo>
                  <a:lnTo>
                    <a:pt x="63" y="198"/>
                  </a:lnTo>
                  <a:lnTo>
                    <a:pt x="76" y="184"/>
                  </a:lnTo>
                  <a:lnTo>
                    <a:pt x="89" y="169"/>
                  </a:lnTo>
                  <a:lnTo>
                    <a:pt x="104" y="156"/>
                  </a:lnTo>
                  <a:lnTo>
                    <a:pt x="118" y="141"/>
                  </a:lnTo>
                  <a:lnTo>
                    <a:pt x="133" y="127"/>
                  </a:lnTo>
                  <a:lnTo>
                    <a:pt x="146" y="114"/>
                  </a:lnTo>
                  <a:lnTo>
                    <a:pt x="160" y="103"/>
                  </a:lnTo>
                  <a:lnTo>
                    <a:pt x="173" y="89"/>
                  </a:lnTo>
                  <a:lnTo>
                    <a:pt x="186" y="76"/>
                  </a:lnTo>
                  <a:lnTo>
                    <a:pt x="199" y="63"/>
                  </a:lnTo>
                  <a:lnTo>
                    <a:pt x="213" y="51"/>
                  </a:lnTo>
                  <a:lnTo>
                    <a:pt x="222" y="38"/>
                  </a:lnTo>
                  <a:lnTo>
                    <a:pt x="236" y="27"/>
                  </a:lnTo>
                  <a:lnTo>
                    <a:pt x="245" y="15"/>
                  </a:lnTo>
                  <a:lnTo>
                    <a:pt x="255" y="4"/>
                  </a:lnTo>
                  <a:close/>
                </a:path>
              </a:pathLst>
            </a:custGeom>
            <a:solidFill>
              <a:srgbClr val="E6B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22" name="Freeform 134"/>
            <p:cNvSpPr>
              <a:spLocks/>
            </p:cNvSpPr>
            <p:nvPr/>
          </p:nvSpPr>
          <p:spPr bwMode="auto">
            <a:xfrm>
              <a:off x="4807" y="3585"/>
              <a:ext cx="180" cy="179"/>
            </a:xfrm>
            <a:custGeom>
              <a:avLst/>
              <a:gdLst>
                <a:gd name="T0" fmla="*/ 1 w 359"/>
                <a:gd name="T1" fmla="*/ 1 h 357"/>
                <a:gd name="T2" fmla="*/ 1 w 359"/>
                <a:gd name="T3" fmla="*/ 1 h 357"/>
                <a:gd name="T4" fmla="*/ 2 w 359"/>
                <a:gd name="T5" fmla="*/ 1 h 357"/>
                <a:gd name="T6" fmla="*/ 2 w 359"/>
                <a:gd name="T7" fmla="*/ 1 h 357"/>
                <a:gd name="T8" fmla="*/ 2 w 359"/>
                <a:gd name="T9" fmla="*/ 1 h 357"/>
                <a:gd name="T10" fmla="*/ 2 w 359"/>
                <a:gd name="T11" fmla="*/ 1 h 357"/>
                <a:gd name="T12" fmla="*/ 1 w 359"/>
                <a:gd name="T13" fmla="*/ 1 h 357"/>
                <a:gd name="T14" fmla="*/ 1 w 359"/>
                <a:gd name="T15" fmla="*/ 1 h 357"/>
                <a:gd name="T16" fmla="*/ 1 w 359"/>
                <a:gd name="T17" fmla="*/ 1 h 357"/>
                <a:gd name="T18" fmla="*/ 1 w 359"/>
                <a:gd name="T19" fmla="*/ 1 h 357"/>
                <a:gd name="T20" fmla="*/ 1 w 359"/>
                <a:gd name="T21" fmla="*/ 1 h 357"/>
                <a:gd name="T22" fmla="*/ 1 w 359"/>
                <a:gd name="T23" fmla="*/ 1 h 357"/>
                <a:gd name="T24" fmla="*/ 2 w 359"/>
                <a:gd name="T25" fmla="*/ 1 h 357"/>
                <a:gd name="T26" fmla="*/ 1 w 359"/>
                <a:gd name="T27" fmla="*/ 1 h 357"/>
                <a:gd name="T28" fmla="*/ 1 w 359"/>
                <a:gd name="T29" fmla="*/ 1 h 357"/>
                <a:gd name="T30" fmla="*/ 1 w 359"/>
                <a:gd name="T31" fmla="*/ 1 h 357"/>
                <a:gd name="T32" fmla="*/ 1 w 359"/>
                <a:gd name="T33" fmla="*/ 1 h 357"/>
                <a:gd name="T34" fmla="*/ 1 w 359"/>
                <a:gd name="T35" fmla="*/ 1 h 357"/>
                <a:gd name="T36" fmla="*/ 1 w 359"/>
                <a:gd name="T37" fmla="*/ 1 h 357"/>
                <a:gd name="T38" fmla="*/ 1 w 359"/>
                <a:gd name="T39" fmla="*/ 1 h 357"/>
                <a:gd name="T40" fmla="*/ 2 w 359"/>
                <a:gd name="T41" fmla="*/ 1 h 357"/>
                <a:gd name="T42" fmla="*/ 1 w 359"/>
                <a:gd name="T43" fmla="*/ 1 h 357"/>
                <a:gd name="T44" fmla="*/ 1 w 359"/>
                <a:gd name="T45" fmla="*/ 1 h 357"/>
                <a:gd name="T46" fmla="*/ 1 w 359"/>
                <a:gd name="T47" fmla="*/ 1 h 357"/>
                <a:gd name="T48" fmla="*/ 1 w 359"/>
                <a:gd name="T49" fmla="*/ 1 h 357"/>
                <a:gd name="T50" fmla="*/ 1 w 359"/>
                <a:gd name="T51" fmla="*/ 1 h 357"/>
                <a:gd name="T52" fmla="*/ 1 w 359"/>
                <a:gd name="T53" fmla="*/ 1 h 357"/>
                <a:gd name="T54" fmla="*/ 1 w 359"/>
                <a:gd name="T55" fmla="*/ 1 h 357"/>
                <a:gd name="T56" fmla="*/ 2 w 359"/>
                <a:gd name="T57" fmla="*/ 2 h 357"/>
                <a:gd name="T58" fmla="*/ 1 w 359"/>
                <a:gd name="T59" fmla="*/ 2 h 357"/>
                <a:gd name="T60" fmla="*/ 1 w 359"/>
                <a:gd name="T61" fmla="*/ 2 h 357"/>
                <a:gd name="T62" fmla="*/ 1 w 359"/>
                <a:gd name="T63" fmla="*/ 1 h 357"/>
                <a:gd name="T64" fmla="*/ 1 w 359"/>
                <a:gd name="T65" fmla="*/ 1 h 357"/>
                <a:gd name="T66" fmla="*/ 1 w 359"/>
                <a:gd name="T67" fmla="*/ 2 h 357"/>
                <a:gd name="T68" fmla="*/ 1 w 359"/>
                <a:gd name="T69" fmla="*/ 2 h 357"/>
                <a:gd name="T70" fmla="*/ 1 w 359"/>
                <a:gd name="T71" fmla="*/ 2 h 357"/>
                <a:gd name="T72" fmla="*/ 1 w 359"/>
                <a:gd name="T73" fmla="*/ 2 h 357"/>
                <a:gd name="T74" fmla="*/ 1 w 359"/>
                <a:gd name="T75" fmla="*/ 2 h 357"/>
                <a:gd name="T76" fmla="*/ 1 w 359"/>
                <a:gd name="T77" fmla="*/ 2 h 357"/>
                <a:gd name="T78" fmla="*/ 1 w 359"/>
                <a:gd name="T79" fmla="*/ 2 h 357"/>
                <a:gd name="T80" fmla="*/ 1 w 359"/>
                <a:gd name="T81" fmla="*/ 2 h 357"/>
                <a:gd name="T82" fmla="*/ 1 w 359"/>
                <a:gd name="T83" fmla="*/ 2 h 357"/>
                <a:gd name="T84" fmla="*/ 1 w 359"/>
                <a:gd name="T85" fmla="*/ 2 h 357"/>
                <a:gd name="T86" fmla="*/ 1 w 359"/>
                <a:gd name="T87" fmla="*/ 2 h 357"/>
                <a:gd name="T88" fmla="*/ 1 w 359"/>
                <a:gd name="T89" fmla="*/ 2 h 357"/>
                <a:gd name="T90" fmla="*/ 1 w 359"/>
                <a:gd name="T91" fmla="*/ 2 h 357"/>
                <a:gd name="T92" fmla="*/ 1 w 359"/>
                <a:gd name="T93" fmla="*/ 1 h 357"/>
                <a:gd name="T94" fmla="*/ 1 w 359"/>
                <a:gd name="T95" fmla="*/ 1 h 357"/>
                <a:gd name="T96" fmla="*/ 1 w 359"/>
                <a:gd name="T97" fmla="*/ 1 h 357"/>
                <a:gd name="T98" fmla="*/ 1 w 359"/>
                <a:gd name="T99" fmla="*/ 1 h 357"/>
                <a:gd name="T100" fmla="*/ 1 w 359"/>
                <a:gd name="T101" fmla="*/ 1 h 357"/>
                <a:gd name="T102" fmla="*/ 1 w 359"/>
                <a:gd name="T103" fmla="*/ 0 h 35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59"/>
                <a:gd name="T157" fmla="*/ 0 h 357"/>
                <a:gd name="T158" fmla="*/ 359 w 359"/>
                <a:gd name="T159" fmla="*/ 357 h 35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59" h="357">
                  <a:moveTo>
                    <a:pt x="6" y="0"/>
                  </a:moveTo>
                  <a:lnTo>
                    <a:pt x="28" y="2"/>
                  </a:lnTo>
                  <a:lnTo>
                    <a:pt x="51" y="6"/>
                  </a:lnTo>
                  <a:lnTo>
                    <a:pt x="74" y="9"/>
                  </a:lnTo>
                  <a:lnTo>
                    <a:pt x="99" y="15"/>
                  </a:lnTo>
                  <a:lnTo>
                    <a:pt x="122" y="19"/>
                  </a:lnTo>
                  <a:lnTo>
                    <a:pt x="144" y="25"/>
                  </a:lnTo>
                  <a:lnTo>
                    <a:pt x="169" y="30"/>
                  </a:lnTo>
                  <a:lnTo>
                    <a:pt x="194" y="38"/>
                  </a:lnTo>
                  <a:lnTo>
                    <a:pt x="215" y="46"/>
                  </a:lnTo>
                  <a:lnTo>
                    <a:pt x="237" y="53"/>
                  </a:lnTo>
                  <a:lnTo>
                    <a:pt x="258" y="61"/>
                  </a:lnTo>
                  <a:lnTo>
                    <a:pt x="281" y="72"/>
                  </a:lnTo>
                  <a:lnTo>
                    <a:pt x="300" y="82"/>
                  </a:lnTo>
                  <a:lnTo>
                    <a:pt x="321" y="93"/>
                  </a:lnTo>
                  <a:lnTo>
                    <a:pt x="340" y="104"/>
                  </a:lnTo>
                  <a:lnTo>
                    <a:pt x="359" y="120"/>
                  </a:lnTo>
                  <a:lnTo>
                    <a:pt x="355" y="127"/>
                  </a:lnTo>
                  <a:lnTo>
                    <a:pt x="353" y="135"/>
                  </a:lnTo>
                  <a:lnTo>
                    <a:pt x="350" y="141"/>
                  </a:lnTo>
                  <a:lnTo>
                    <a:pt x="352" y="150"/>
                  </a:lnTo>
                  <a:lnTo>
                    <a:pt x="333" y="141"/>
                  </a:lnTo>
                  <a:lnTo>
                    <a:pt x="315" y="135"/>
                  </a:lnTo>
                  <a:lnTo>
                    <a:pt x="296" y="127"/>
                  </a:lnTo>
                  <a:lnTo>
                    <a:pt x="281" y="120"/>
                  </a:lnTo>
                  <a:lnTo>
                    <a:pt x="262" y="112"/>
                  </a:lnTo>
                  <a:lnTo>
                    <a:pt x="245" y="104"/>
                  </a:lnTo>
                  <a:lnTo>
                    <a:pt x="228" y="99"/>
                  </a:lnTo>
                  <a:lnTo>
                    <a:pt x="211" y="93"/>
                  </a:lnTo>
                  <a:lnTo>
                    <a:pt x="194" y="87"/>
                  </a:lnTo>
                  <a:lnTo>
                    <a:pt x="175" y="82"/>
                  </a:lnTo>
                  <a:lnTo>
                    <a:pt x="158" y="76"/>
                  </a:lnTo>
                  <a:lnTo>
                    <a:pt x="139" y="72"/>
                  </a:lnTo>
                  <a:lnTo>
                    <a:pt x="122" y="68"/>
                  </a:lnTo>
                  <a:lnTo>
                    <a:pt x="102" y="65"/>
                  </a:lnTo>
                  <a:lnTo>
                    <a:pt x="83" y="61"/>
                  </a:lnTo>
                  <a:lnTo>
                    <a:pt x="64" y="61"/>
                  </a:lnTo>
                  <a:lnTo>
                    <a:pt x="72" y="70"/>
                  </a:lnTo>
                  <a:lnTo>
                    <a:pt x="83" y="82"/>
                  </a:lnTo>
                  <a:lnTo>
                    <a:pt x="95" y="89"/>
                  </a:lnTo>
                  <a:lnTo>
                    <a:pt x="108" y="97"/>
                  </a:lnTo>
                  <a:lnTo>
                    <a:pt x="120" y="104"/>
                  </a:lnTo>
                  <a:lnTo>
                    <a:pt x="135" y="110"/>
                  </a:lnTo>
                  <a:lnTo>
                    <a:pt x="150" y="118"/>
                  </a:lnTo>
                  <a:lnTo>
                    <a:pt x="167" y="123"/>
                  </a:lnTo>
                  <a:lnTo>
                    <a:pt x="182" y="127"/>
                  </a:lnTo>
                  <a:lnTo>
                    <a:pt x="198" y="133"/>
                  </a:lnTo>
                  <a:lnTo>
                    <a:pt x="215" y="137"/>
                  </a:lnTo>
                  <a:lnTo>
                    <a:pt x="232" y="142"/>
                  </a:lnTo>
                  <a:lnTo>
                    <a:pt x="247" y="146"/>
                  </a:lnTo>
                  <a:lnTo>
                    <a:pt x="262" y="152"/>
                  </a:lnTo>
                  <a:lnTo>
                    <a:pt x="277" y="158"/>
                  </a:lnTo>
                  <a:lnTo>
                    <a:pt x="293" y="163"/>
                  </a:lnTo>
                  <a:lnTo>
                    <a:pt x="279" y="163"/>
                  </a:lnTo>
                  <a:lnTo>
                    <a:pt x="268" y="165"/>
                  </a:lnTo>
                  <a:lnTo>
                    <a:pt x="255" y="165"/>
                  </a:lnTo>
                  <a:lnTo>
                    <a:pt x="241" y="165"/>
                  </a:lnTo>
                  <a:lnTo>
                    <a:pt x="230" y="163"/>
                  </a:lnTo>
                  <a:lnTo>
                    <a:pt x="217" y="160"/>
                  </a:lnTo>
                  <a:lnTo>
                    <a:pt x="203" y="158"/>
                  </a:lnTo>
                  <a:lnTo>
                    <a:pt x="192" y="156"/>
                  </a:lnTo>
                  <a:lnTo>
                    <a:pt x="179" y="152"/>
                  </a:lnTo>
                  <a:lnTo>
                    <a:pt x="165" y="150"/>
                  </a:lnTo>
                  <a:lnTo>
                    <a:pt x="152" y="144"/>
                  </a:lnTo>
                  <a:lnTo>
                    <a:pt x="139" y="142"/>
                  </a:lnTo>
                  <a:lnTo>
                    <a:pt x="127" y="139"/>
                  </a:lnTo>
                  <a:lnTo>
                    <a:pt x="114" y="137"/>
                  </a:lnTo>
                  <a:lnTo>
                    <a:pt x="99" y="133"/>
                  </a:lnTo>
                  <a:lnTo>
                    <a:pt x="87" y="133"/>
                  </a:lnTo>
                  <a:lnTo>
                    <a:pt x="95" y="139"/>
                  </a:lnTo>
                  <a:lnTo>
                    <a:pt x="108" y="144"/>
                  </a:lnTo>
                  <a:lnTo>
                    <a:pt x="120" y="148"/>
                  </a:lnTo>
                  <a:lnTo>
                    <a:pt x="133" y="154"/>
                  </a:lnTo>
                  <a:lnTo>
                    <a:pt x="144" y="156"/>
                  </a:lnTo>
                  <a:lnTo>
                    <a:pt x="160" y="158"/>
                  </a:lnTo>
                  <a:lnTo>
                    <a:pt x="173" y="161"/>
                  </a:lnTo>
                  <a:lnTo>
                    <a:pt x="188" y="165"/>
                  </a:lnTo>
                  <a:lnTo>
                    <a:pt x="199" y="167"/>
                  </a:lnTo>
                  <a:lnTo>
                    <a:pt x="213" y="171"/>
                  </a:lnTo>
                  <a:lnTo>
                    <a:pt x="224" y="175"/>
                  </a:lnTo>
                  <a:lnTo>
                    <a:pt x="237" y="181"/>
                  </a:lnTo>
                  <a:lnTo>
                    <a:pt x="249" y="184"/>
                  </a:lnTo>
                  <a:lnTo>
                    <a:pt x="260" y="192"/>
                  </a:lnTo>
                  <a:lnTo>
                    <a:pt x="270" y="200"/>
                  </a:lnTo>
                  <a:lnTo>
                    <a:pt x="279" y="211"/>
                  </a:lnTo>
                  <a:lnTo>
                    <a:pt x="264" y="207"/>
                  </a:lnTo>
                  <a:lnTo>
                    <a:pt x="251" y="207"/>
                  </a:lnTo>
                  <a:lnTo>
                    <a:pt x="237" y="203"/>
                  </a:lnTo>
                  <a:lnTo>
                    <a:pt x="224" y="203"/>
                  </a:lnTo>
                  <a:lnTo>
                    <a:pt x="209" y="200"/>
                  </a:lnTo>
                  <a:lnTo>
                    <a:pt x="198" y="200"/>
                  </a:lnTo>
                  <a:lnTo>
                    <a:pt x="182" y="198"/>
                  </a:lnTo>
                  <a:lnTo>
                    <a:pt x="171" y="196"/>
                  </a:lnTo>
                  <a:lnTo>
                    <a:pt x="158" y="194"/>
                  </a:lnTo>
                  <a:lnTo>
                    <a:pt x="144" y="190"/>
                  </a:lnTo>
                  <a:lnTo>
                    <a:pt x="131" y="188"/>
                  </a:lnTo>
                  <a:lnTo>
                    <a:pt x="118" y="186"/>
                  </a:lnTo>
                  <a:lnTo>
                    <a:pt x="104" y="182"/>
                  </a:lnTo>
                  <a:lnTo>
                    <a:pt x="91" y="181"/>
                  </a:lnTo>
                  <a:lnTo>
                    <a:pt x="78" y="177"/>
                  </a:lnTo>
                  <a:lnTo>
                    <a:pt x="64" y="175"/>
                  </a:lnTo>
                  <a:lnTo>
                    <a:pt x="72" y="181"/>
                  </a:lnTo>
                  <a:lnTo>
                    <a:pt x="85" y="188"/>
                  </a:lnTo>
                  <a:lnTo>
                    <a:pt x="97" y="194"/>
                  </a:lnTo>
                  <a:lnTo>
                    <a:pt x="110" y="200"/>
                  </a:lnTo>
                  <a:lnTo>
                    <a:pt x="123" y="203"/>
                  </a:lnTo>
                  <a:lnTo>
                    <a:pt x="139" y="209"/>
                  </a:lnTo>
                  <a:lnTo>
                    <a:pt x="152" y="213"/>
                  </a:lnTo>
                  <a:lnTo>
                    <a:pt x="167" y="219"/>
                  </a:lnTo>
                  <a:lnTo>
                    <a:pt x="182" y="222"/>
                  </a:lnTo>
                  <a:lnTo>
                    <a:pt x="198" y="226"/>
                  </a:lnTo>
                  <a:lnTo>
                    <a:pt x="211" y="230"/>
                  </a:lnTo>
                  <a:lnTo>
                    <a:pt x="226" y="236"/>
                  </a:lnTo>
                  <a:lnTo>
                    <a:pt x="239" y="241"/>
                  </a:lnTo>
                  <a:lnTo>
                    <a:pt x="255" y="249"/>
                  </a:lnTo>
                  <a:lnTo>
                    <a:pt x="266" y="257"/>
                  </a:lnTo>
                  <a:lnTo>
                    <a:pt x="279" y="266"/>
                  </a:lnTo>
                  <a:lnTo>
                    <a:pt x="270" y="266"/>
                  </a:lnTo>
                  <a:lnTo>
                    <a:pt x="260" y="266"/>
                  </a:lnTo>
                  <a:lnTo>
                    <a:pt x="251" y="266"/>
                  </a:lnTo>
                  <a:lnTo>
                    <a:pt x="241" y="266"/>
                  </a:lnTo>
                  <a:lnTo>
                    <a:pt x="234" y="262"/>
                  </a:lnTo>
                  <a:lnTo>
                    <a:pt x="224" y="262"/>
                  </a:lnTo>
                  <a:lnTo>
                    <a:pt x="215" y="258"/>
                  </a:lnTo>
                  <a:lnTo>
                    <a:pt x="207" y="257"/>
                  </a:lnTo>
                  <a:lnTo>
                    <a:pt x="196" y="253"/>
                  </a:lnTo>
                  <a:lnTo>
                    <a:pt x="186" y="251"/>
                  </a:lnTo>
                  <a:lnTo>
                    <a:pt x="177" y="247"/>
                  </a:lnTo>
                  <a:lnTo>
                    <a:pt x="167" y="245"/>
                  </a:lnTo>
                  <a:lnTo>
                    <a:pt x="158" y="243"/>
                  </a:lnTo>
                  <a:lnTo>
                    <a:pt x="148" y="241"/>
                  </a:lnTo>
                  <a:lnTo>
                    <a:pt x="139" y="239"/>
                  </a:lnTo>
                  <a:lnTo>
                    <a:pt x="131" y="239"/>
                  </a:lnTo>
                  <a:lnTo>
                    <a:pt x="141" y="243"/>
                  </a:lnTo>
                  <a:lnTo>
                    <a:pt x="152" y="249"/>
                  </a:lnTo>
                  <a:lnTo>
                    <a:pt x="161" y="257"/>
                  </a:lnTo>
                  <a:lnTo>
                    <a:pt x="175" y="264"/>
                  </a:lnTo>
                  <a:lnTo>
                    <a:pt x="184" y="270"/>
                  </a:lnTo>
                  <a:lnTo>
                    <a:pt x="198" y="277"/>
                  </a:lnTo>
                  <a:lnTo>
                    <a:pt x="209" y="281"/>
                  </a:lnTo>
                  <a:lnTo>
                    <a:pt x="220" y="283"/>
                  </a:lnTo>
                  <a:lnTo>
                    <a:pt x="211" y="285"/>
                  </a:lnTo>
                  <a:lnTo>
                    <a:pt x="203" y="289"/>
                  </a:lnTo>
                  <a:lnTo>
                    <a:pt x="194" y="289"/>
                  </a:lnTo>
                  <a:lnTo>
                    <a:pt x="186" y="289"/>
                  </a:lnTo>
                  <a:lnTo>
                    <a:pt x="175" y="287"/>
                  </a:lnTo>
                  <a:lnTo>
                    <a:pt x="167" y="285"/>
                  </a:lnTo>
                  <a:lnTo>
                    <a:pt x="158" y="283"/>
                  </a:lnTo>
                  <a:lnTo>
                    <a:pt x="148" y="279"/>
                  </a:lnTo>
                  <a:lnTo>
                    <a:pt x="137" y="276"/>
                  </a:lnTo>
                  <a:lnTo>
                    <a:pt x="127" y="270"/>
                  </a:lnTo>
                  <a:lnTo>
                    <a:pt x="116" y="266"/>
                  </a:lnTo>
                  <a:lnTo>
                    <a:pt x="106" y="266"/>
                  </a:lnTo>
                  <a:lnTo>
                    <a:pt x="95" y="262"/>
                  </a:lnTo>
                  <a:lnTo>
                    <a:pt x="85" y="262"/>
                  </a:lnTo>
                  <a:lnTo>
                    <a:pt x="74" y="260"/>
                  </a:lnTo>
                  <a:lnTo>
                    <a:pt x="64" y="262"/>
                  </a:lnTo>
                  <a:lnTo>
                    <a:pt x="72" y="266"/>
                  </a:lnTo>
                  <a:lnTo>
                    <a:pt x="83" y="272"/>
                  </a:lnTo>
                  <a:lnTo>
                    <a:pt x="93" y="277"/>
                  </a:lnTo>
                  <a:lnTo>
                    <a:pt x="104" y="283"/>
                  </a:lnTo>
                  <a:lnTo>
                    <a:pt x="114" y="287"/>
                  </a:lnTo>
                  <a:lnTo>
                    <a:pt x="125" y="293"/>
                  </a:lnTo>
                  <a:lnTo>
                    <a:pt x="135" y="296"/>
                  </a:lnTo>
                  <a:lnTo>
                    <a:pt x="148" y="304"/>
                  </a:lnTo>
                  <a:lnTo>
                    <a:pt x="158" y="308"/>
                  </a:lnTo>
                  <a:lnTo>
                    <a:pt x="169" y="314"/>
                  </a:lnTo>
                  <a:lnTo>
                    <a:pt x="179" y="319"/>
                  </a:lnTo>
                  <a:lnTo>
                    <a:pt x="190" y="327"/>
                  </a:lnTo>
                  <a:lnTo>
                    <a:pt x="199" y="333"/>
                  </a:lnTo>
                  <a:lnTo>
                    <a:pt x="211" y="340"/>
                  </a:lnTo>
                  <a:lnTo>
                    <a:pt x="220" y="348"/>
                  </a:lnTo>
                  <a:lnTo>
                    <a:pt x="232" y="357"/>
                  </a:lnTo>
                  <a:lnTo>
                    <a:pt x="213" y="352"/>
                  </a:lnTo>
                  <a:lnTo>
                    <a:pt x="194" y="346"/>
                  </a:lnTo>
                  <a:lnTo>
                    <a:pt x="175" y="340"/>
                  </a:lnTo>
                  <a:lnTo>
                    <a:pt x="154" y="335"/>
                  </a:lnTo>
                  <a:lnTo>
                    <a:pt x="133" y="329"/>
                  </a:lnTo>
                  <a:lnTo>
                    <a:pt x="112" y="321"/>
                  </a:lnTo>
                  <a:lnTo>
                    <a:pt x="91" y="315"/>
                  </a:lnTo>
                  <a:lnTo>
                    <a:pt x="74" y="308"/>
                  </a:lnTo>
                  <a:lnTo>
                    <a:pt x="55" y="296"/>
                  </a:lnTo>
                  <a:lnTo>
                    <a:pt x="42" y="287"/>
                  </a:lnTo>
                  <a:lnTo>
                    <a:pt x="28" y="274"/>
                  </a:lnTo>
                  <a:lnTo>
                    <a:pt x="19" y="260"/>
                  </a:lnTo>
                  <a:lnTo>
                    <a:pt x="11" y="243"/>
                  </a:lnTo>
                  <a:lnTo>
                    <a:pt x="9" y="224"/>
                  </a:lnTo>
                  <a:lnTo>
                    <a:pt x="11" y="203"/>
                  </a:lnTo>
                  <a:lnTo>
                    <a:pt x="17" y="179"/>
                  </a:lnTo>
                  <a:lnTo>
                    <a:pt x="15" y="167"/>
                  </a:lnTo>
                  <a:lnTo>
                    <a:pt x="15" y="158"/>
                  </a:lnTo>
                  <a:lnTo>
                    <a:pt x="15" y="144"/>
                  </a:lnTo>
                  <a:lnTo>
                    <a:pt x="15" y="135"/>
                  </a:lnTo>
                  <a:lnTo>
                    <a:pt x="15" y="122"/>
                  </a:lnTo>
                  <a:lnTo>
                    <a:pt x="15" y="108"/>
                  </a:lnTo>
                  <a:lnTo>
                    <a:pt x="17" y="97"/>
                  </a:lnTo>
                  <a:lnTo>
                    <a:pt x="19" y="85"/>
                  </a:lnTo>
                  <a:lnTo>
                    <a:pt x="17" y="72"/>
                  </a:lnTo>
                  <a:lnTo>
                    <a:pt x="17" y="61"/>
                  </a:lnTo>
                  <a:lnTo>
                    <a:pt x="15" y="47"/>
                  </a:lnTo>
                  <a:lnTo>
                    <a:pt x="15" y="38"/>
                  </a:lnTo>
                  <a:lnTo>
                    <a:pt x="11" y="25"/>
                  </a:lnTo>
                  <a:lnTo>
                    <a:pt x="9" y="17"/>
                  </a:lnTo>
                  <a:lnTo>
                    <a:pt x="4" y="8"/>
                  </a:lnTo>
                  <a:lnTo>
                    <a:pt x="0" y="2"/>
                  </a:lnTo>
                  <a:lnTo>
                    <a:pt x="2" y="2"/>
                  </a:lnTo>
                  <a:lnTo>
                    <a:pt x="6" y="0"/>
                  </a:lnTo>
                  <a:close/>
                </a:path>
              </a:pathLst>
            </a:custGeom>
            <a:solidFill>
              <a:srgbClr val="FFE6B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23" name="Freeform 135"/>
            <p:cNvSpPr>
              <a:spLocks/>
            </p:cNvSpPr>
            <p:nvPr/>
          </p:nvSpPr>
          <p:spPr bwMode="auto">
            <a:xfrm>
              <a:off x="4632" y="3592"/>
              <a:ext cx="20" cy="43"/>
            </a:xfrm>
            <a:custGeom>
              <a:avLst/>
              <a:gdLst>
                <a:gd name="T0" fmla="*/ 0 w 42"/>
                <a:gd name="T1" fmla="*/ 0 h 88"/>
                <a:gd name="T2" fmla="*/ 0 w 42"/>
                <a:gd name="T3" fmla="*/ 0 h 88"/>
                <a:gd name="T4" fmla="*/ 0 w 42"/>
                <a:gd name="T5" fmla="*/ 0 h 88"/>
                <a:gd name="T6" fmla="*/ 0 w 42"/>
                <a:gd name="T7" fmla="*/ 0 h 88"/>
                <a:gd name="T8" fmla="*/ 0 w 42"/>
                <a:gd name="T9" fmla="*/ 0 h 88"/>
                <a:gd name="T10" fmla="*/ 0 w 42"/>
                <a:gd name="T11" fmla="*/ 0 h 88"/>
                <a:gd name="T12" fmla="*/ 0 w 42"/>
                <a:gd name="T13" fmla="*/ 0 h 88"/>
                <a:gd name="T14" fmla="*/ 0 w 42"/>
                <a:gd name="T15" fmla="*/ 0 h 88"/>
                <a:gd name="T16" fmla="*/ 0 w 42"/>
                <a:gd name="T17" fmla="*/ 0 h 88"/>
                <a:gd name="T18" fmla="*/ 0 w 42"/>
                <a:gd name="T19" fmla="*/ 0 h 88"/>
                <a:gd name="T20" fmla="*/ 0 w 42"/>
                <a:gd name="T21" fmla="*/ 0 h 88"/>
                <a:gd name="T22" fmla="*/ 0 w 42"/>
                <a:gd name="T23" fmla="*/ 0 h 88"/>
                <a:gd name="T24" fmla="*/ 0 w 42"/>
                <a:gd name="T25" fmla="*/ 0 h 88"/>
                <a:gd name="T26" fmla="*/ 0 w 42"/>
                <a:gd name="T27" fmla="*/ 0 h 88"/>
                <a:gd name="T28" fmla="*/ 0 w 42"/>
                <a:gd name="T29" fmla="*/ 0 h 88"/>
                <a:gd name="T30" fmla="*/ 0 w 42"/>
                <a:gd name="T31" fmla="*/ 0 h 88"/>
                <a:gd name="T32" fmla="*/ 0 w 42"/>
                <a:gd name="T33" fmla="*/ 0 h 88"/>
                <a:gd name="T34" fmla="*/ 0 w 42"/>
                <a:gd name="T35" fmla="*/ 0 h 88"/>
                <a:gd name="T36" fmla="*/ 0 w 42"/>
                <a:gd name="T37" fmla="*/ 0 h 88"/>
                <a:gd name="T38" fmla="*/ 0 w 42"/>
                <a:gd name="T39" fmla="*/ 0 h 8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2"/>
                <a:gd name="T61" fmla="*/ 0 h 88"/>
                <a:gd name="T62" fmla="*/ 42 w 42"/>
                <a:gd name="T63" fmla="*/ 88 h 8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2" h="88">
                  <a:moveTo>
                    <a:pt x="30" y="0"/>
                  </a:moveTo>
                  <a:lnTo>
                    <a:pt x="36" y="10"/>
                  </a:lnTo>
                  <a:lnTo>
                    <a:pt x="40" y="21"/>
                  </a:lnTo>
                  <a:lnTo>
                    <a:pt x="42" y="33"/>
                  </a:lnTo>
                  <a:lnTo>
                    <a:pt x="42" y="44"/>
                  </a:lnTo>
                  <a:lnTo>
                    <a:pt x="40" y="53"/>
                  </a:lnTo>
                  <a:lnTo>
                    <a:pt x="36" y="65"/>
                  </a:lnTo>
                  <a:lnTo>
                    <a:pt x="32" y="74"/>
                  </a:lnTo>
                  <a:lnTo>
                    <a:pt x="29" y="82"/>
                  </a:lnTo>
                  <a:lnTo>
                    <a:pt x="15" y="88"/>
                  </a:lnTo>
                  <a:lnTo>
                    <a:pt x="6" y="86"/>
                  </a:lnTo>
                  <a:lnTo>
                    <a:pt x="2" y="78"/>
                  </a:lnTo>
                  <a:lnTo>
                    <a:pt x="0" y="69"/>
                  </a:lnTo>
                  <a:lnTo>
                    <a:pt x="0" y="53"/>
                  </a:lnTo>
                  <a:lnTo>
                    <a:pt x="4" y="34"/>
                  </a:lnTo>
                  <a:lnTo>
                    <a:pt x="6" y="23"/>
                  </a:lnTo>
                  <a:lnTo>
                    <a:pt x="13" y="15"/>
                  </a:lnTo>
                  <a:lnTo>
                    <a:pt x="23" y="6"/>
                  </a:lnTo>
                  <a:lnTo>
                    <a:pt x="3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24" name="Freeform 136"/>
            <p:cNvSpPr>
              <a:spLocks/>
            </p:cNvSpPr>
            <p:nvPr/>
          </p:nvSpPr>
          <p:spPr bwMode="auto">
            <a:xfrm>
              <a:off x="4592" y="3597"/>
              <a:ext cx="14" cy="71"/>
            </a:xfrm>
            <a:custGeom>
              <a:avLst/>
              <a:gdLst>
                <a:gd name="T0" fmla="*/ 0 w 29"/>
                <a:gd name="T1" fmla="*/ 0 h 140"/>
                <a:gd name="T2" fmla="*/ 0 w 29"/>
                <a:gd name="T3" fmla="*/ 1 h 140"/>
                <a:gd name="T4" fmla="*/ 0 w 29"/>
                <a:gd name="T5" fmla="*/ 1 h 140"/>
                <a:gd name="T6" fmla="*/ 0 w 29"/>
                <a:gd name="T7" fmla="*/ 1 h 140"/>
                <a:gd name="T8" fmla="*/ 0 w 29"/>
                <a:gd name="T9" fmla="*/ 1 h 140"/>
                <a:gd name="T10" fmla="*/ 0 w 29"/>
                <a:gd name="T11" fmla="*/ 1 h 140"/>
                <a:gd name="T12" fmla="*/ 0 w 29"/>
                <a:gd name="T13" fmla="*/ 1 h 140"/>
                <a:gd name="T14" fmla="*/ 0 w 29"/>
                <a:gd name="T15" fmla="*/ 1 h 140"/>
                <a:gd name="T16" fmla="*/ 0 w 29"/>
                <a:gd name="T17" fmla="*/ 1 h 140"/>
                <a:gd name="T18" fmla="*/ 0 w 29"/>
                <a:gd name="T19" fmla="*/ 1 h 140"/>
                <a:gd name="T20" fmla="*/ 0 w 29"/>
                <a:gd name="T21" fmla="*/ 1 h 140"/>
                <a:gd name="T22" fmla="*/ 0 w 29"/>
                <a:gd name="T23" fmla="*/ 1 h 140"/>
                <a:gd name="T24" fmla="*/ 0 w 29"/>
                <a:gd name="T25" fmla="*/ 1 h 140"/>
                <a:gd name="T26" fmla="*/ 0 w 29"/>
                <a:gd name="T27" fmla="*/ 1 h 140"/>
                <a:gd name="T28" fmla="*/ 0 w 29"/>
                <a:gd name="T29" fmla="*/ 1 h 140"/>
                <a:gd name="T30" fmla="*/ 0 w 29"/>
                <a:gd name="T31" fmla="*/ 1 h 140"/>
                <a:gd name="T32" fmla="*/ 0 w 29"/>
                <a:gd name="T33" fmla="*/ 1 h 140"/>
                <a:gd name="T34" fmla="*/ 0 w 29"/>
                <a:gd name="T35" fmla="*/ 1 h 140"/>
                <a:gd name="T36" fmla="*/ 0 w 29"/>
                <a:gd name="T37" fmla="*/ 1 h 140"/>
                <a:gd name="T38" fmla="*/ 0 w 29"/>
                <a:gd name="T39" fmla="*/ 1 h 140"/>
                <a:gd name="T40" fmla="*/ 0 w 29"/>
                <a:gd name="T41" fmla="*/ 1 h 140"/>
                <a:gd name="T42" fmla="*/ 0 w 29"/>
                <a:gd name="T43" fmla="*/ 1 h 140"/>
                <a:gd name="T44" fmla="*/ 0 w 29"/>
                <a:gd name="T45" fmla="*/ 1 h 140"/>
                <a:gd name="T46" fmla="*/ 0 w 29"/>
                <a:gd name="T47" fmla="*/ 1 h 140"/>
                <a:gd name="T48" fmla="*/ 0 w 29"/>
                <a:gd name="T49" fmla="*/ 1 h 140"/>
                <a:gd name="T50" fmla="*/ 0 w 29"/>
                <a:gd name="T51" fmla="*/ 1 h 140"/>
                <a:gd name="T52" fmla="*/ 0 w 29"/>
                <a:gd name="T53" fmla="*/ 1 h 140"/>
                <a:gd name="T54" fmla="*/ 0 w 29"/>
                <a:gd name="T55" fmla="*/ 1 h 140"/>
                <a:gd name="T56" fmla="*/ 0 w 29"/>
                <a:gd name="T57" fmla="*/ 1 h 140"/>
                <a:gd name="T58" fmla="*/ 0 w 29"/>
                <a:gd name="T59" fmla="*/ 1 h 140"/>
                <a:gd name="T60" fmla="*/ 0 w 29"/>
                <a:gd name="T61" fmla="*/ 1 h 140"/>
                <a:gd name="T62" fmla="*/ 0 w 29"/>
                <a:gd name="T63" fmla="*/ 1 h 140"/>
                <a:gd name="T64" fmla="*/ 0 w 29"/>
                <a:gd name="T65" fmla="*/ 0 h 140"/>
                <a:gd name="T66" fmla="*/ 0 w 29"/>
                <a:gd name="T67" fmla="*/ 0 h 14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9"/>
                <a:gd name="T103" fmla="*/ 0 h 140"/>
                <a:gd name="T104" fmla="*/ 29 w 29"/>
                <a:gd name="T105" fmla="*/ 140 h 14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9" h="140">
                  <a:moveTo>
                    <a:pt x="2" y="0"/>
                  </a:moveTo>
                  <a:lnTo>
                    <a:pt x="6" y="3"/>
                  </a:lnTo>
                  <a:lnTo>
                    <a:pt x="8" y="11"/>
                  </a:lnTo>
                  <a:lnTo>
                    <a:pt x="12" y="19"/>
                  </a:lnTo>
                  <a:lnTo>
                    <a:pt x="15" y="28"/>
                  </a:lnTo>
                  <a:lnTo>
                    <a:pt x="19" y="38"/>
                  </a:lnTo>
                  <a:lnTo>
                    <a:pt x="21" y="49"/>
                  </a:lnTo>
                  <a:lnTo>
                    <a:pt x="23" y="62"/>
                  </a:lnTo>
                  <a:lnTo>
                    <a:pt x="27" y="74"/>
                  </a:lnTo>
                  <a:lnTo>
                    <a:pt x="27" y="83"/>
                  </a:lnTo>
                  <a:lnTo>
                    <a:pt x="29" y="95"/>
                  </a:lnTo>
                  <a:lnTo>
                    <a:pt x="27" y="104"/>
                  </a:lnTo>
                  <a:lnTo>
                    <a:pt x="27" y="116"/>
                  </a:lnTo>
                  <a:lnTo>
                    <a:pt x="23" y="121"/>
                  </a:lnTo>
                  <a:lnTo>
                    <a:pt x="19" y="129"/>
                  </a:lnTo>
                  <a:lnTo>
                    <a:pt x="14" y="135"/>
                  </a:lnTo>
                  <a:lnTo>
                    <a:pt x="6" y="140"/>
                  </a:lnTo>
                  <a:lnTo>
                    <a:pt x="8" y="131"/>
                  </a:lnTo>
                  <a:lnTo>
                    <a:pt x="10" y="121"/>
                  </a:lnTo>
                  <a:lnTo>
                    <a:pt x="10" y="112"/>
                  </a:lnTo>
                  <a:lnTo>
                    <a:pt x="12" y="104"/>
                  </a:lnTo>
                  <a:lnTo>
                    <a:pt x="10" y="95"/>
                  </a:lnTo>
                  <a:lnTo>
                    <a:pt x="10" y="85"/>
                  </a:lnTo>
                  <a:lnTo>
                    <a:pt x="10" y="76"/>
                  </a:lnTo>
                  <a:lnTo>
                    <a:pt x="8" y="68"/>
                  </a:lnTo>
                  <a:lnTo>
                    <a:pt x="6" y="57"/>
                  </a:lnTo>
                  <a:lnTo>
                    <a:pt x="4" y="49"/>
                  </a:lnTo>
                  <a:lnTo>
                    <a:pt x="0" y="40"/>
                  </a:lnTo>
                  <a:lnTo>
                    <a:pt x="0" y="32"/>
                  </a:lnTo>
                  <a:lnTo>
                    <a:pt x="0" y="22"/>
                  </a:lnTo>
                  <a:lnTo>
                    <a:pt x="0" y="15"/>
                  </a:lnTo>
                  <a:lnTo>
                    <a:pt x="0" y="7"/>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25" name="Freeform 137"/>
            <p:cNvSpPr>
              <a:spLocks/>
            </p:cNvSpPr>
            <p:nvPr/>
          </p:nvSpPr>
          <p:spPr bwMode="auto">
            <a:xfrm>
              <a:off x="3476" y="3601"/>
              <a:ext cx="14" cy="10"/>
            </a:xfrm>
            <a:custGeom>
              <a:avLst/>
              <a:gdLst>
                <a:gd name="T0" fmla="*/ 1 w 27"/>
                <a:gd name="T1" fmla="*/ 0 h 19"/>
                <a:gd name="T2" fmla="*/ 1 w 27"/>
                <a:gd name="T3" fmla="*/ 0 h 19"/>
                <a:gd name="T4" fmla="*/ 1 w 27"/>
                <a:gd name="T5" fmla="*/ 1 h 19"/>
                <a:gd name="T6" fmla="*/ 1 w 27"/>
                <a:gd name="T7" fmla="*/ 1 h 19"/>
                <a:gd name="T8" fmla="*/ 1 w 27"/>
                <a:gd name="T9" fmla="*/ 1 h 19"/>
                <a:gd name="T10" fmla="*/ 1 w 27"/>
                <a:gd name="T11" fmla="*/ 1 h 19"/>
                <a:gd name="T12" fmla="*/ 1 w 27"/>
                <a:gd name="T13" fmla="*/ 1 h 19"/>
                <a:gd name="T14" fmla="*/ 1 w 27"/>
                <a:gd name="T15" fmla="*/ 1 h 19"/>
                <a:gd name="T16" fmla="*/ 1 w 27"/>
                <a:gd name="T17" fmla="*/ 1 h 19"/>
                <a:gd name="T18" fmla="*/ 0 w 27"/>
                <a:gd name="T19" fmla="*/ 1 h 19"/>
                <a:gd name="T20" fmla="*/ 1 w 27"/>
                <a:gd name="T21" fmla="*/ 0 h 19"/>
                <a:gd name="T22" fmla="*/ 1 w 27"/>
                <a:gd name="T23" fmla="*/ 0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
                <a:gd name="T37" fmla="*/ 0 h 19"/>
                <a:gd name="T38" fmla="*/ 27 w 27"/>
                <a:gd name="T39" fmla="*/ 19 h 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 h="19">
                  <a:moveTo>
                    <a:pt x="4" y="0"/>
                  </a:moveTo>
                  <a:lnTo>
                    <a:pt x="8" y="0"/>
                  </a:lnTo>
                  <a:lnTo>
                    <a:pt x="13" y="6"/>
                  </a:lnTo>
                  <a:lnTo>
                    <a:pt x="17" y="8"/>
                  </a:lnTo>
                  <a:lnTo>
                    <a:pt x="27" y="10"/>
                  </a:lnTo>
                  <a:lnTo>
                    <a:pt x="21" y="15"/>
                  </a:lnTo>
                  <a:lnTo>
                    <a:pt x="17" y="19"/>
                  </a:lnTo>
                  <a:lnTo>
                    <a:pt x="13" y="19"/>
                  </a:lnTo>
                  <a:lnTo>
                    <a:pt x="8" y="19"/>
                  </a:lnTo>
                  <a:lnTo>
                    <a:pt x="0" y="1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26" name="Freeform 138"/>
            <p:cNvSpPr>
              <a:spLocks/>
            </p:cNvSpPr>
            <p:nvPr/>
          </p:nvSpPr>
          <p:spPr bwMode="auto">
            <a:xfrm>
              <a:off x="4612" y="3606"/>
              <a:ext cx="15" cy="41"/>
            </a:xfrm>
            <a:custGeom>
              <a:avLst/>
              <a:gdLst>
                <a:gd name="T0" fmla="*/ 0 w 31"/>
                <a:gd name="T1" fmla="*/ 0 h 81"/>
                <a:gd name="T2" fmla="*/ 0 w 31"/>
                <a:gd name="T3" fmla="*/ 1 h 81"/>
                <a:gd name="T4" fmla="*/ 0 w 31"/>
                <a:gd name="T5" fmla="*/ 1 h 81"/>
                <a:gd name="T6" fmla="*/ 0 w 31"/>
                <a:gd name="T7" fmla="*/ 1 h 81"/>
                <a:gd name="T8" fmla="*/ 0 w 31"/>
                <a:gd name="T9" fmla="*/ 1 h 81"/>
                <a:gd name="T10" fmla="*/ 0 w 31"/>
                <a:gd name="T11" fmla="*/ 1 h 81"/>
                <a:gd name="T12" fmla="*/ 0 w 31"/>
                <a:gd name="T13" fmla="*/ 1 h 81"/>
                <a:gd name="T14" fmla="*/ 0 w 31"/>
                <a:gd name="T15" fmla="*/ 1 h 81"/>
                <a:gd name="T16" fmla="*/ 0 w 31"/>
                <a:gd name="T17" fmla="*/ 1 h 81"/>
                <a:gd name="T18" fmla="*/ 0 w 31"/>
                <a:gd name="T19" fmla="*/ 1 h 81"/>
                <a:gd name="T20" fmla="*/ 0 w 31"/>
                <a:gd name="T21" fmla="*/ 1 h 81"/>
                <a:gd name="T22" fmla="*/ 0 w 31"/>
                <a:gd name="T23" fmla="*/ 1 h 81"/>
                <a:gd name="T24" fmla="*/ 0 w 31"/>
                <a:gd name="T25" fmla="*/ 1 h 81"/>
                <a:gd name="T26" fmla="*/ 0 w 31"/>
                <a:gd name="T27" fmla="*/ 1 h 81"/>
                <a:gd name="T28" fmla="*/ 0 w 31"/>
                <a:gd name="T29" fmla="*/ 1 h 81"/>
                <a:gd name="T30" fmla="*/ 0 w 31"/>
                <a:gd name="T31" fmla="*/ 1 h 81"/>
                <a:gd name="T32" fmla="*/ 0 w 31"/>
                <a:gd name="T33" fmla="*/ 1 h 81"/>
                <a:gd name="T34" fmla="*/ 0 w 31"/>
                <a:gd name="T35" fmla="*/ 1 h 81"/>
                <a:gd name="T36" fmla="*/ 0 w 31"/>
                <a:gd name="T37" fmla="*/ 0 h 81"/>
                <a:gd name="T38" fmla="*/ 0 w 31"/>
                <a:gd name="T39" fmla="*/ 0 h 8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1"/>
                <a:gd name="T61" fmla="*/ 0 h 81"/>
                <a:gd name="T62" fmla="*/ 31 w 31"/>
                <a:gd name="T63" fmla="*/ 81 h 8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1" h="81">
                  <a:moveTo>
                    <a:pt x="27" y="0"/>
                  </a:moveTo>
                  <a:lnTo>
                    <a:pt x="29" y="9"/>
                  </a:lnTo>
                  <a:lnTo>
                    <a:pt x="31" y="21"/>
                  </a:lnTo>
                  <a:lnTo>
                    <a:pt x="31" y="32"/>
                  </a:lnTo>
                  <a:lnTo>
                    <a:pt x="31" y="42"/>
                  </a:lnTo>
                  <a:lnTo>
                    <a:pt x="27" y="51"/>
                  </a:lnTo>
                  <a:lnTo>
                    <a:pt x="27" y="61"/>
                  </a:lnTo>
                  <a:lnTo>
                    <a:pt x="23" y="68"/>
                  </a:lnTo>
                  <a:lnTo>
                    <a:pt x="19" y="76"/>
                  </a:lnTo>
                  <a:lnTo>
                    <a:pt x="12" y="81"/>
                  </a:lnTo>
                  <a:lnTo>
                    <a:pt x="6" y="76"/>
                  </a:lnTo>
                  <a:lnTo>
                    <a:pt x="2" y="68"/>
                  </a:lnTo>
                  <a:lnTo>
                    <a:pt x="0" y="59"/>
                  </a:lnTo>
                  <a:lnTo>
                    <a:pt x="0" y="45"/>
                  </a:lnTo>
                  <a:lnTo>
                    <a:pt x="0" y="28"/>
                  </a:lnTo>
                  <a:lnTo>
                    <a:pt x="6" y="19"/>
                  </a:lnTo>
                  <a:lnTo>
                    <a:pt x="13" y="13"/>
                  </a:lnTo>
                  <a:lnTo>
                    <a:pt x="23" y="9"/>
                  </a:lnTo>
                  <a:lnTo>
                    <a:pt x="2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27" name="Freeform 139"/>
            <p:cNvSpPr>
              <a:spLocks/>
            </p:cNvSpPr>
            <p:nvPr/>
          </p:nvSpPr>
          <p:spPr bwMode="auto">
            <a:xfrm>
              <a:off x="3508" y="3613"/>
              <a:ext cx="71" cy="31"/>
            </a:xfrm>
            <a:custGeom>
              <a:avLst/>
              <a:gdLst>
                <a:gd name="T0" fmla="*/ 1 w 142"/>
                <a:gd name="T1" fmla="*/ 0 h 63"/>
                <a:gd name="T2" fmla="*/ 1 w 142"/>
                <a:gd name="T3" fmla="*/ 0 h 63"/>
                <a:gd name="T4" fmla="*/ 1 w 142"/>
                <a:gd name="T5" fmla="*/ 0 h 63"/>
                <a:gd name="T6" fmla="*/ 1 w 142"/>
                <a:gd name="T7" fmla="*/ 0 h 63"/>
                <a:gd name="T8" fmla="*/ 1 w 142"/>
                <a:gd name="T9" fmla="*/ 0 h 63"/>
                <a:gd name="T10" fmla="*/ 1 w 142"/>
                <a:gd name="T11" fmla="*/ 0 h 63"/>
                <a:gd name="T12" fmla="*/ 1 w 142"/>
                <a:gd name="T13" fmla="*/ 0 h 63"/>
                <a:gd name="T14" fmla="*/ 1 w 142"/>
                <a:gd name="T15" fmla="*/ 0 h 63"/>
                <a:gd name="T16" fmla="*/ 1 w 142"/>
                <a:gd name="T17" fmla="*/ 0 h 63"/>
                <a:gd name="T18" fmla="*/ 1 w 142"/>
                <a:gd name="T19" fmla="*/ 0 h 63"/>
                <a:gd name="T20" fmla="*/ 1 w 142"/>
                <a:gd name="T21" fmla="*/ 0 h 63"/>
                <a:gd name="T22" fmla="*/ 1 w 142"/>
                <a:gd name="T23" fmla="*/ 0 h 63"/>
                <a:gd name="T24" fmla="*/ 1 w 142"/>
                <a:gd name="T25" fmla="*/ 0 h 63"/>
                <a:gd name="T26" fmla="*/ 1 w 142"/>
                <a:gd name="T27" fmla="*/ 0 h 63"/>
                <a:gd name="T28" fmla="*/ 1 w 142"/>
                <a:gd name="T29" fmla="*/ 0 h 63"/>
                <a:gd name="T30" fmla="*/ 1 w 142"/>
                <a:gd name="T31" fmla="*/ 0 h 63"/>
                <a:gd name="T32" fmla="*/ 1 w 142"/>
                <a:gd name="T33" fmla="*/ 0 h 63"/>
                <a:gd name="T34" fmla="*/ 1 w 142"/>
                <a:gd name="T35" fmla="*/ 0 h 63"/>
                <a:gd name="T36" fmla="*/ 1 w 142"/>
                <a:gd name="T37" fmla="*/ 0 h 63"/>
                <a:gd name="T38" fmla="*/ 1 w 142"/>
                <a:gd name="T39" fmla="*/ 0 h 63"/>
                <a:gd name="T40" fmla="*/ 1 w 142"/>
                <a:gd name="T41" fmla="*/ 0 h 63"/>
                <a:gd name="T42" fmla="*/ 1 w 142"/>
                <a:gd name="T43" fmla="*/ 0 h 63"/>
                <a:gd name="T44" fmla="*/ 1 w 142"/>
                <a:gd name="T45" fmla="*/ 0 h 63"/>
                <a:gd name="T46" fmla="*/ 1 w 142"/>
                <a:gd name="T47" fmla="*/ 0 h 63"/>
                <a:gd name="T48" fmla="*/ 1 w 142"/>
                <a:gd name="T49" fmla="*/ 0 h 63"/>
                <a:gd name="T50" fmla="*/ 1 w 142"/>
                <a:gd name="T51" fmla="*/ 0 h 63"/>
                <a:gd name="T52" fmla="*/ 1 w 142"/>
                <a:gd name="T53" fmla="*/ 0 h 63"/>
                <a:gd name="T54" fmla="*/ 1 w 142"/>
                <a:gd name="T55" fmla="*/ 0 h 63"/>
                <a:gd name="T56" fmla="*/ 1 w 142"/>
                <a:gd name="T57" fmla="*/ 0 h 63"/>
                <a:gd name="T58" fmla="*/ 0 w 142"/>
                <a:gd name="T59" fmla="*/ 0 h 63"/>
                <a:gd name="T60" fmla="*/ 0 w 142"/>
                <a:gd name="T61" fmla="*/ 0 h 63"/>
                <a:gd name="T62" fmla="*/ 1 w 142"/>
                <a:gd name="T63" fmla="*/ 0 h 63"/>
                <a:gd name="T64" fmla="*/ 1 w 142"/>
                <a:gd name="T65" fmla="*/ 0 h 63"/>
                <a:gd name="T66" fmla="*/ 1 w 142"/>
                <a:gd name="T67" fmla="*/ 0 h 6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42"/>
                <a:gd name="T103" fmla="*/ 0 h 63"/>
                <a:gd name="T104" fmla="*/ 142 w 142"/>
                <a:gd name="T105" fmla="*/ 63 h 6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42" h="63">
                  <a:moveTo>
                    <a:pt x="7" y="0"/>
                  </a:moveTo>
                  <a:lnTo>
                    <a:pt x="17" y="2"/>
                  </a:lnTo>
                  <a:lnTo>
                    <a:pt x="24" y="6"/>
                  </a:lnTo>
                  <a:lnTo>
                    <a:pt x="34" y="10"/>
                  </a:lnTo>
                  <a:lnTo>
                    <a:pt x="43" y="11"/>
                  </a:lnTo>
                  <a:lnTo>
                    <a:pt x="51" y="13"/>
                  </a:lnTo>
                  <a:lnTo>
                    <a:pt x="62" y="17"/>
                  </a:lnTo>
                  <a:lnTo>
                    <a:pt x="70" y="19"/>
                  </a:lnTo>
                  <a:lnTo>
                    <a:pt x="80" y="23"/>
                  </a:lnTo>
                  <a:lnTo>
                    <a:pt x="89" y="25"/>
                  </a:lnTo>
                  <a:lnTo>
                    <a:pt x="99" y="27"/>
                  </a:lnTo>
                  <a:lnTo>
                    <a:pt x="106" y="32"/>
                  </a:lnTo>
                  <a:lnTo>
                    <a:pt x="116" y="36"/>
                  </a:lnTo>
                  <a:lnTo>
                    <a:pt x="121" y="40"/>
                  </a:lnTo>
                  <a:lnTo>
                    <a:pt x="129" y="48"/>
                  </a:lnTo>
                  <a:lnTo>
                    <a:pt x="135" y="53"/>
                  </a:lnTo>
                  <a:lnTo>
                    <a:pt x="142" y="63"/>
                  </a:lnTo>
                  <a:lnTo>
                    <a:pt x="133" y="59"/>
                  </a:lnTo>
                  <a:lnTo>
                    <a:pt x="123" y="57"/>
                  </a:lnTo>
                  <a:lnTo>
                    <a:pt x="112" y="53"/>
                  </a:lnTo>
                  <a:lnTo>
                    <a:pt x="102" y="53"/>
                  </a:lnTo>
                  <a:lnTo>
                    <a:pt x="87" y="49"/>
                  </a:lnTo>
                  <a:lnTo>
                    <a:pt x="74" y="46"/>
                  </a:lnTo>
                  <a:lnTo>
                    <a:pt x="59" y="44"/>
                  </a:lnTo>
                  <a:lnTo>
                    <a:pt x="47" y="40"/>
                  </a:lnTo>
                  <a:lnTo>
                    <a:pt x="34" y="36"/>
                  </a:lnTo>
                  <a:lnTo>
                    <a:pt x="21" y="32"/>
                  </a:lnTo>
                  <a:lnTo>
                    <a:pt x="13" y="27"/>
                  </a:lnTo>
                  <a:lnTo>
                    <a:pt x="5" y="23"/>
                  </a:lnTo>
                  <a:lnTo>
                    <a:pt x="0" y="17"/>
                  </a:lnTo>
                  <a:lnTo>
                    <a:pt x="0" y="11"/>
                  </a:lnTo>
                  <a:lnTo>
                    <a:pt x="2" y="6"/>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6328" name="Freeform 140"/>
            <p:cNvSpPr>
              <a:spLocks/>
            </p:cNvSpPr>
            <p:nvPr/>
          </p:nvSpPr>
          <p:spPr bwMode="auto">
            <a:xfrm>
              <a:off x="3581" y="3637"/>
              <a:ext cx="14" cy="11"/>
            </a:xfrm>
            <a:custGeom>
              <a:avLst/>
              <a:gdLst>
                <a:gd name="T0" fmla="*/ 0 w 29"/>
                <a:gd name="T1" fmla="*/ 0 h 21"/>
                <a:gd name="T2" fmla="*/ 0 w 29"/>
                <a:gd name="T3" fmla="*/ 1 h 21"/>
                <a:gd name="T4" fmla="*/ 0 w 29"/>
                <a:gd name="T5" fmla="*/ 1 h 21"/>
                <a:gd name="T6" fmla="*/ 0 w 29"/>
                <a:gd name="T7" fmla="*/ 1 h 21"/>
                <a:gd name="T8" fmla="*/ 0 w 29"/>
                <a:gd name="T9" fmla="*/ 1 h 21"/>
                <a:gd name="T10" fmla="*/ 0 w 29"/>
                <a:gd name="T11" fmla="*/ 1 h 21"/>
                <a:gd name="T12" fmla="*/ 0 w 29"/>
                <a:gd name="T13" fmla="*/ 1 h 21"/>
                <a:gd name="T14" fmla="*/ 0 w 29"/>
                <a:gd name="T15" fmla="*/ 1 h 21"/>
                <a:gd name="T16" fmla="*/ 0 w 29"/>
                <a:gd name="T17" fmla="*/ 0 h 21"/>
                <a:gd name="T18" fmla="*/ 0 w 29"/>
                <a:gd name="T19" fmla="*/ 0 h 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9"/>
                <a:gd name="T31" fmla="*/ 0 h 21"/>
                <a:gd name="T32" fmla="*/ 29 w 29"/>
                <a:gd name="T33" fmla="*/ 21 h 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9" h="21">
                  <a:moveTo>
                    <a:pt x="12" y="0"/>
                  </a:moveTo>
                  <a:lnTo>
                    <a:pt x="21" y="10"/>
                  </a:lnTo>
                  <a:lnTo>
                    <a:pt x="29" y="16"/>
                  </a:lnTo>
                  <a:lnTo>
                    <a:pt x="13" y="21"/>
                  </a:lnTo>
                  <a:lnTo>
                    <a:pt x="4" y="19"/>
                  </a:lnTo>
                  <a:lnTo>
                    <a:pt x="0" y="14"/>
                  </a:lnTo>
                  <a:lnTo>
                    <a:pt x="0" y="10"/>
                  </a:lnTo>
                  <a:lnTo>
                    <a:pt x="4" y="4"/>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37" name="Rectangle 4"/>
          <p:cNvSpPr>
            <a:spLocks noChangeArrowheads="1"/>
          </p:cNvSpPr>
          <p:nvPr/>
        </p:nvSpPr>
        <p:spPr bwMode="auto">
          <a:xfrm>
            <a:off x="0" y="533400"/>
            <a:ext cx="3068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结构</a:t>
            </a:r>
          </a:p>
        </p:txBody>
      </p:sp>
    </p:spTree>
    <p:extLst>
      <p:ext uri="{BB962C8B-B14F-4D97-AF65-F5344CB8AC3E}">
        <p14:creationId xmlns:p14="http://schemas.microsoft.com/office/powerpoint/2010/main" val="185118747"/>
      </p:ext>
    </p:extLst>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12"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7218" name="Text Box 3"/>
          <p:cNvSpPr txBox="1">
            <a:spLocks noChangeArrowheads="1"/>
          </p:cNvSpPr>
          <p:nvPr/>
        </p:nvSpPr>
        <p:spPr bwMode="auto">
          <a:xfrm>
            <a:off x="0" y="1676400"/>
            <a:ext cx="9144000" cy="4400550"/>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lgn="ctr">
                <a:solidFill>
                  <a:srgbClr val="000000"/>
                </a:solidFill>
                <a:prstDash val="sysDot"/>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引用结构成员</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引用结构成员的3种方法:</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结构变量. 成员         如： </a:t>
            </a:r>
            <a:r>
              <a:rPr kumimoji="1" lang="en-US" altLang="zh-CN" sz="2400" b="1">
                <a:solidFill>
                  <a:schemeClr val="tx2"/>
                </a:solidFill>
                <a:latin typeface="幼圆" pitchFamily="49" charset="-122"/>
                <a:ea typeface="幼圆" pitchFamily="49" charset="-122"/>
              </a:rPr>
              <a:t>a . num</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r>
              <a:rPr kumimoji="1" lang="zh-CN" altLang="en-US" sz="2400" b="1">
                <a:solidFill>
                  <a:schemeClr val="tx2"/>
                </a:solidFill>
                <a:latin typeface="幼圆" pitchFamily="49" charset="-122"/>
                <a:ea typeface="幼圆" pitchFamily="49" charset="-122"/>
              </a:rPr>
              <a:t>结构指针) . 成员    如：(*</a:t>
            </a:r>
            <a:r>
              <a:rPr kumimoji="1" lang="en-US" altLang="zh-CN" sz="2400" b="1">
                <a:solidFill>
                  <a:schemeClr val="tx2"/>
                </a:solidFill>
                <a:latin typeface="幼圆" pitchFamily="49" charset="-122"/>
                <a:ea typeface="幼圆" pitchFamily="49" charset="-122"/>
              </a:rPr>
              <a:t>p) . num</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结构指针 -&gt; 成员      如： </a:t>
            </a:r>
            <a:r>
              <a:rPr kumimoji="1" lang="en-US" altLang="zh-CN" sz="2400" b="1">
                <a:solidFill>
                  <a:schemeClr val="tx2"/>
                </a:solidFill>
                <a:latin typeface="幼圆" pitchFamily="49" charset="-122"/>
                <a:ea typeface="幼圆" pitchFamily="49" charset="-122"/>
              </a:rPr>
              <a:t>p -&gt; num </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函数间传递结构数据方法:</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1.参数用结构指针(地址)</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2.参数用结构变量</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3.参数用结构变量各成员</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其中,以传递结构指针最方便</a:t>
            </a:r>
          </a:p>
        </p:txBody>
      </p:sp>
      <p:pic>
        <p:nvPicPr>
          <p:cNvPr id="137220" name="Picture 7" descr="j019778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00800" y="3962400"/>
            <a:ext cx="2447925"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0" y="533400"/>
            <a:ext cx="3068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结构</a:t>
            </a:r>
          </a:p>
        </p:txBody>
      </p:sp>
    </p:spTree>
    <p:extLst>
      <p:ext uri="{BB962C8B-B14F-4D97-AF65-F5344CB8AC3E}">
        <p14:creationId xmlns:p14="http://schemas.microsoft.com/office/powerpoint/2010/main" val="4175612460"/>
      </p:ext>
    </p:extLst>
  </p:cSld>
  <p:clrMapOvr>
    <a:masterClrMapping/>
  </p:clrMapOvr>
  <p:transition>
    <p:wedge/>
  </p:transition>
</p:sld>
</file>

<file path=ppt/slides/slide1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8242" name="Text Box 3"/>
          <p:cNvSpPr txBox="1">
            <a:spLocks noChangeArrowheads="1"/>
          </p:cNvSpPr>
          <p:nvPr/>
        </p:nvSpPr>
        <p:spPr bwMode="auto">
          <a:xfrm>
            <a:off x="0" y="266700"/>
            <a:ext cx="9144000" cy="6665913"/>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lgn="ctr">
                <a:solidFill>
                  <a:srgbClr val="000000"/>
                </a:solidFill>
                <a:prstDash val="sysDot"/>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输入书的书名和单价，并输出</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struct book</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{char name[20];   /*</a:t>
            </a:r>
            <a:r>
              <a:rPr kumimoji="1" lang="zh-CN" altLang="en-US" sz="2400" b="1">
                <a:solidFill>
                  <a:schemeClr val="tx2"/>
                </a:solidFill>
                <a:latin typeface="幼圆" pitchFamily="49" charset="-122"/>
                <a:ea typeface="幼圆" pitchFamily="49" charset="-122"/>
                <a:sym typeface="Symbol" pitchFamily="18" charset="2"/>
              </a:rPr>
              <a:t>书名 */</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sym typeface="Symbol" pitchFamily="18" charset="2"/>
              </a:rPr>
              <a:t>float price;  }; /*</a:t>
            </a:r>
            <a:r>
              <a:rPr kumimoji="1" lang="zh-CN" altLang="en-US" sz="2400" b="1">
                <a:solidFill>
                  <a:schemeClr val="tx2"/>
                </a:solidFill>
                <a:latin typeface="幼圆" pitchFamily="49" charset="-122"/>
                <a:ea typeface="幼圆" pitchFamily="49" charset="-122"/>
                <a:sym typeface="Symbol" pitchFamily="18" charset="2"/>
              </a:rPr>
              <a:t>单价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main( )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{struct book books[10];  int k;</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for(k=0;k&lt;10;k++)/*</a:t>
            </a:r>
            <a:r>
              <a:rPr kumimoji="1" lang="zh-CN" altLang="en-US" sz="2400" b="1">
                <a:solidFill>
                  <a:schemeClr val="tx2"/>
                </a:solidFill>
                <a:latin typeface="幼圆" pitchFamily="49" charset="-122"/>
                <a:ea typeface="幼圆" pitchFamily="49" charset="-122"/>
                <a:sym typeface="Symbol" pitchFamily="18" charset="2"/>
              </a:rPr>
              <a:t>输入书名,单价 */</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sym typeface="Symbol" pitchFamily="18" charset="2"/>
              </a:rPr>
              <a:t>scanf(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%s%f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,books[k].name,&amp;books[k].price);</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for(k=0;k&lt;10;k++)/*</a:t>
            </a:r>
            <a:r>
              <a:rPr kumimoji="1" lang="zh-CN" altLang="en-US" sz="2400" b="1">
                <a:solidFill>
                  <a:schemeClr val="tx2"/>
                </a:solidFill>
                <a:latin typeface="幼圆" pitchFamily="49" charset="-122"/>
                <a:ea typeface="幼圆" pitchFamily="49" charset="-122"/>
                <a:sym typeface="Symbol" pitchFamily="18" charset="2"/>
              </a:rPr>
              <a:t>输出10本书的书名,单价 */</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  </a:t>
            </a:r>
            <a:r>
              <a:rPr kumimoji="1" lang="en-US" altLang="zh-CN" sz="2400" b="1">
                <a:solidFill>
                  <a:schemeClr val="tx2"/>
                </a:solidFill>
                <a:latin typeface="幼圆" pitchFamily="49" charset="-122"/>
                <a:ea typeface="幼圆" pitchFamily="49" charset="-122"/>
                <a:sym typeface="Symbol" pitchFamily="18" charset="2"/>
              </a:rPr>
              <a:t>printbook(&amp;books[k]); /*</a:t>
            </a:r>
            <a:r>
              <a:rPr kumimoji="1" lang="zh-CN" altLang="en-US" sz="2400" b="1">
                <a:solidFill>
                  <a:schemeClr val="tx2"/>
                </a:solidFill>
                <a:latin typeface="幼圆" pitchFamily="49" charset="-122"/>
                <a:ea typeface="幼圆" pitchFamily="49" charset="-122"/>
                <a:sym typeface="Symbol" pitchFamily="18" charset="2"/>
              </a:rPr>
              <a:t>输出第</a:t>
            </a:r>
            <a:r>
              <a:rPr kumimoji="1" lang="en-US" altLang="zh-CN" sz="2400" b="1">
                <a:solidFill>
                  <a:schemeClr val="tx2"/>
                </a:solidFill>
                <a:latin typeface="幼圆" pitchFamily="49" charset="-122"/>
                <a:ea typeface="幼圆" pitchFamily="49" charset="-122"/>
                <a:sym typeface="Symbol" pitchFamily="18" charset="2"/>
              </a:rPr>
              <a:t>k</a:t>
            </a:r>
            <a:r>
              <a:rPr kumimoji="1" lang="zh-CN" altLang="en-US" sz="2400" b="1">
                <a:solidFill>
                  <a:schemeClr val="tx2"/>
                </a:solidFill>
                <a:latin typeface="幼圆" pitchFamily="49" charset="-122"/>
                <a:ea typeface="幼圆" pitchFamily="49" charset="-122"/>
                <a:sym typeface="Symbol" pitchFamily="18" charset="2"/>
              </a:rPr>
              <a:t>本书书名,单价 */</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sym typeface="Symbol" pitchFamily="18" charset="2"/>
              </a:rPr>
              <a:t>}</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printbook(p)</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struct book *p;</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printf(</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%-20s %6.2f\n</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,p-&gt;name,p-&gt;price);</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a:t>
            </a:r>
            <a:endParaRPr kumimoji="1" lang="zh-CN" altLang="en-US" sz="2400" b="1">
              <a:solidFill>
                <a:schemeClr val="tx2"/>
              </a:solidFill>
              <a:latin typeface="幼圆" pitchFamily="49" charset="-122"/>
              <a:ea typeface="幼圆" pitchFamily="49" charset="-122"/>
            </a:endParaRPr>
          </a:p>
        </p:txBody>
      </p:sp>
      <p:sp>
        <p:nvSpPr>
          <p:cNvPr id="138243" name="Rectangle 4"/>
          <p:cNvSpPr>
            <a:spLocks noChangeArrowheads="1"/>
          </p:cNvSpPr>
          <p:nvPr/>
        </p:nvSpPr>
        <p:spPr bwMode="auto">
          <a:xfrm>
            <a:off x="6858000" y="30480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b="1">
                <a:solidFill>
                  <a:schemeClr val="bg1"/>
                </a:solidFill>
                <a:ea typeface="幼圆" pitchFamily="49" charset="-122"/>
              </a:rPr>
              <a:t>语法要点</a:t>
            </a:r>
          </a:p>
        </p:txBody>
      </p:sp>
      <p:graphicFrame>
        <p:nvGraphicFramePr>
          <p:cNvPr id="138244" name="Object 236">
            <a:hlinkClick r:id="" action="ppaction://ole?verb=0"/>
          </p:cNvPr>
          <p:cNvGraphicFramePr>
            <a:graphicFrameLocks/>
          </p:cNvGraphicFramePr>
          <p:nvPr/>
        </p:nvGraphicFramePr>
        <p:xfrm>
          <a:off x="6019800" y="762000"/>
          <a:ext cx="2743200" cy="1524000"/>
        </p:xfrm>
        <a:graphic>
          <a:graphicData uri="http://schemas.openxmlformats.org/presentationml/2006/ole">
            <mc:AlternateContent xmlns:mc="http://schemas.openxmlformats.org/markup-compatibility/2006">
              <mc:Choice xmlns:v="urn:schemas-microsoft-com:vml" Requires="v">
                <p:oleObj name="Microsoft ClipArt Gallery" r:id="rId2" imgW="4054475" imgH="2538413" progId="">
                  <p:embed/>
                </p:oleObj>
              </mc:Choice>
              <mc:Fallback>
                <p:oleObj name="Microsoft ClipArt Gallery" r:id="rId2" imgW="4054475" imgH="2538413" progId="">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762000"/>
                        <a:ext cx="27432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278992941"/>
      </p:ext>
    </p:extLst>
  </p:cSld>
  <p:clrMapOvr>
    <a:masterClrMapping/>
  </p:clrMapOvr>
  <p:transition>
    <p:wedge/>
  </p:transition>
</p:sld>
</file>

<file path=ppt/slides/slide1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6" name="Text Box 3"/>
          <p:cNvSpPr txBox="1">
            <a:spLocks noChangeArrowheads="1"/>
          </p:cNvSpPr>
          <p:nvPr/>
        </p:nvSpPr>
        <p:spPr bwMode="auto">
          <a:xfrm>
            <a:off x="0" y="1143000"/>
            <a:ext cx="9144000" cy="5715000"/>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lgn="ctr">
                <a:solidFill>
                  <a:srgbClr val="000000"/>
                </a:solidFill>
                <a:prstDash val="sysDot"/>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struct per</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{char name[20];</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int c;</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 a[3]={</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wang</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,10,</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fun</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,2,</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li</a:t>
            </a:r>
            <a:r>
              <a:rPr kumimoji="1" lang="en-US" altLang="zh-CN" sz="2400" b="1">
                <a:solidFill>
                  <a:schemeClr val="tx2"/>
                </a:solidFill>
                <a:latin typeface="Arial" pitchFamily="34" charset="0"/>
                <a:ea typeface="幼圆" pitchFamily="49" charset="-122"/>
                <a:sym typeface="Symbol" pitchFamily="18" charset="2"/>
              </a:rPr>
              <a:t>”</a:t>
            </a:r>
            <a:r>
              <a:rPr kumimoji="1" lang="en-US" altLang="zh-CN" sz="2400" b="1">
                <a:solidFill>
                  <a:schemeClr val="tx2"/>
                </a:solidFill>
                <a:latin typeface="幼圆" pitchFamily="49" charset="-122"/>
                <a:ea typeface="幼圆" pitchFamily="49" charset="-122"/>
                <a:sym typeface="Symbol" pitchFamily="18" charset="2"/>
              </a:rPr>
              <a:t>,4},*j,*p=a;</a:t>
            </a:r>
          </a:p>
          <a:p>
            <a:pPr eaLnBrk="1" hangingPunct="1">
              <a:spcBef>
                <a:spcPct val="20000"/>
              </a:spcBef>
              <a:buClr>
                <a:schemeClr val="tx1"/>
              </a:buClr>
              <a:buSzPct val="60000"/>
              <a:buFont typeface="宋体" pitchFamily="2" charset="-122"/>
              <a:buNone/>
            </a:pPr>
            <a:endParaRPr kumimoji="1" lang="en-US" altLang="zh-CN" sz="2400" b="1">
              <a:solidFill>
                <a:schemeClr val="tx2"/>
              </a:solidFill>
              <a:latin typeface="幼圆" pitchFamily="49" charset="-122"/>
              <a:ea typeface="幼圆" pitchFamily="49" charset="-122"/>
              <a:sym typeface="Symbol" pitchFamily="18" charset="2"/>
            </a:endParaRP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a+i  &amp;a[i]      p+i  &amp;a[i]</a:t>
            </a:r>
          </a:p>
          <a:p>
            <a:pPr eaLnBrk="1" hangingPunct="1">
              <a:spcBef>
                <a:spcPct val="20000"/>
              </a:spcBef>
              <a:buClr>
                <a:schemeClr val="tx1"/>
              </a:buClr>
              <a:buSzPct val="60000"/>
              <a:buFont typeface="宋体" pitchFamily="2" charset="-122"/>
              <a:buNone/>
            </a:pPr>
            <a:endParaRPr kumimoji="1" lang="en-US" altLang="zh-CN" sz="2400" b="1">
              <a:solidFill>
                <a:schemeClr val="tx2"/>
              </a:solidFill>
              <a:latin typeface="幼圆" pitchFamily="49" charset="-122"/>
              <a:ea typeface="幼圆" pitchFamily="49" charset="-122"/>
              <a:sym typeface="Symbol" pitchFamily="18" charset="2"/>
            </a:endParaRP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p++-&gt;c;    p-&gt;c, p=p+1</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(p++)-&gt;c;  p-&gt;c, p=p+1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++p-&gt;c;    ++(p-&gt;c)  p-&gt;c+=1</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(++p)-&gt;c;  p=p+1,p-&gt;c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sym typeface="Symbol" pitchFamily="18" charset="2"/>
              </a:rPr>
              <a:t>p-&gt;c++;    (p-&gt;c)++  p-&gt;c+=1</a:t>
            </a:r>
          </a:p>
          <a:p>
            <a:pPr eaLnBrk="1" hangingPunct="1">
              <a:spcBef>
                <a:spcPct val="20000"/>
              </a:spcBef>
              <a:buClr>
                <a:schemeClr val="tx1"/>
              </a:buClr>
              <a:buSzPct val="60000"/>
              <a:buFont typeface="宋体" pitchFamily="2" charset="-122"/>
              <a:buNone/>
            </a:pPr>
            <a:endParaRPr kumimoji="1" lang="zh-CN" altLang="en-US" sz="2400" b="1">
              <a:solidFill>
                <a:schemeClr val="tx2"/>
              </a:solidFill>
              <a:latin typeface="幼圆" pitchFamily="49" charset="-122"/>
              <a:ea typeface="幼圆" pitchFamily="49" charset="-122"/>
              <a:sym typeface="Symbol" pitchFamily="18" charset="2"/>
            </a:endParaRPr>
          </a:p>
        </p:txBody>
      </p:sp>
      <p:pic>
        <p:nvPicPr>
          <p:cNvPr id="139268" name="Picture 6" descr="j014948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62713" y="3352800"/>
            <a:ext cx="2681287"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0" y="533400"/>
            <a:ext cx="3068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3200" b="1" dirty="0">
                <a:solidFill>
                  <a:schemeClr val="bg1"/>
                </a:solidFill>
                <a:latin typeface="隶书" pitchFamily="49" charset="-122"/>
                <a:ea typeface="隶书" pitchFamily="49" charset="-122"/>
                <a:cs typeface="+mj-cs"/>
              </a:rPr>
              <a:t>语法要点</a:t>
            </a:r>
            <a:r>
              <a:rPr lang="en-US" altLang="zh-CN" sz="3200" b="1" dirty="0">
                <a:solidFill>
                  <a:schemeClr val="bg1"/>
                </a:solidFill>
                <a:latin typeface="隶书" pitchFamily="49" charset="-122"/>
                <a:ea typeface="隶书" pitchFamily="49" charset="-122"/>
                <a:cs typeface="+mj-cs"/>
              </a:rPr>
              <a:t>—</a:t>
            </a:r>
            <a:r>
              <a:rPr lang="zh-CN" altLang="en-US" sz="3200" b="1" dirty="0">
                <a:solidFill>
                  <a:schemeClr val="bg1"/>
                </a:solidFill>
                <a:latin typeface="隶书" pitchFamily="49" charset="-122"/>
                <a:ea typeface="隶书" pitchFamily="49" charset="-122"/>
                <a:cs typeface="+mj-cs"/>
              </a:rPr>
              <a:t>结构</a:t>
            </a:r>
          </a:p>
        </p:txBody>
      </p:sp>
    </p:spTree>
    <p:extLst>
      <p:ext uri="{BB962C8B-B14F-4D97-AF65-F5344CB8AC3E}">
        <p14:creationId xmlns:p14="http://schemas.microsoft.com/office/powerpoint/2010/main" val="3329322653"/>
      </p:ext>
    </p:extLst>
  </p:cSld>
  <p:clrMapOvr>
    <a:masterClrMapping/>
  </p:clrMapOvr>
  <p:transition>
    <p:wedge/>
  </p:transition>
</p:sld>
</file>

<file path=ppt/slides/slide1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0290" name="Text Box 3"/>
          <p:cNvSpPr txBox="1">
            <a:spLocks noChangeArrowheads="1"/>
          </p:cNvSpPr>
          <p:nvPr/>
        </p:nvSpPr>
        <p:spPr bwMode="auto">
          <a:xfrm>
            <a:off x="0" y="777875"/>
            <a:ext cx="9144000" cy="6080125"/>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lgn="ctr">
                <a:solidFill>
                  <a:srgbClr val="000000"/>
                </a:solidFill>
                <a:prstDash val="sysDot"/>
                <a:miter lim="800000"/>
                <a:headEnd/>
                <a:tailEnd/>
              </a14:hiddenLine>
            </a:ext>
          </a:extLst>
        </p:spPr>
        <p:txBody>
          <a:bodyPr>
            <a:spAutoFit/>
          </a:bodyPr>
          <a:lstStyle>
            <a:lvl1pPr>
              <a:defRPr sz="3200">
                <a:solidFill>
                  <a:schemeClr val="tx1"/>
                </a:solidFill>
                <a:latin typeface="Tahoma" pitchFamily="34" charset="0"/>
              </a:defRPr>
            </a:lvl1pPr>
            <a:lvl2pPr>
              <a:defRPr sz="2800">
                <a:solidFill>
                  <a:schemeClr val="tx1"/>
                </a:solidFill>
                <a:latin typeface="Arial" pitchFamily="34" charset="0"/>
              </a:defRPr>
            </a:lvl2pPr>
            <a:lvl3pPr>
              <a:defRPr sz="2400">
                <a:solidFill>
                  <a:schemeClr val="tx1"/>
                </a:solidFill>
                <a:latin typeface="Arial" pitchFamily="34" charset="0"/>
              </a:defRPr>
            </a:lvl3pPr>
            <a:lvl4pPr>
              <a:defRPr sz="2000">
                <a:solidFill>
                  <a:schemeClr val="tx1"/>
                </a:solidFill>
                <a:latin typeface="Arial" pitchFamily="34" charset="0"/>
              </a:defRPr>
            </a:lvl4pPr>
            <a:lvl5pPr>
              <a:defRPr sz="2000">
                <a:solidFill>
                  <a:schemeClr val="tx1"/>
                </a:solidFill>
                <a:latin typeface="Arial" pitchFamily="34" charset="0"/>
              </a:defRPr>
            </a:lvl5pPr>
            <a:lvl6pPr eaLnBrk="0" hangingPunct="0">
              <a:defRPr sz="2000">
                <a:solidFill>
                  <a:schemeClr val="tx1"/>
                </a:solidFill>
                <a:latin typeface="Arial" pitchFamily="34" charset="0"/>
              </a:defRPr>
            </a:lvl6pPr>
            <a:lvl7pPr eaLnBrk="0" hangingPunct="0">
              <a:defRPr sz="2000">
                <a:solidFill>
                  <a:schemeClr val="tx1"/>
                </a:solidFill>
                <a:latin typeface="Arial" pitchFamily="34" charset="0"/>
              </a:defRPr>
            </a:lvl7pPr>
            <a:lvl8pPr eaLnBrk="0" hangingPunct="0">
              <a:defRPr sz="2000">
                <a:solidFill>
                  <a:schemeClr val="tx1"/>
                </a:solidFill>
                <a:latin typeface="Arial" pitchFamily="34" charset="0"/>
              </a:defRPr>
            </a:lvl8pPr>
            <a:lvl9pPr eaLnBrk="0" hangingPunct="0">
              <a:defRPr sz="2000">
                <a:solidFill>
                  <a:schemeClr val="tx1"/>
                </a:solidFill>
                <a:latin typeface="Arial" pitchFamily="34" charset="0"/>
              </a:defRPr>
            </a:lvl9pPr>
          </a:lstStyle>
          <a:p>
            <a:pPr eaLnBrk="1" hangingPunct="1">
              <a:spcBef>
                <a:spcPct val="20000"/>
              </a:spcBef>
              <a:buClr>
                <a:schemeClr val="tx1"/>
              </a:buClr>
              <a:buSzPct val="60000"/>
              <a:buFont typeface="宋体" pitchFamily="2" charset="-122"/>
              <a:buNone/>
            </a:pPr>
            <a:r>
              <a:rPr kumimoji="1" lang="en-US" altLang="zh-CN" sz="2400" b="1" dirty="0" err="1">
                <a:solidFill>
                  <a:schemeClr val="tx2"/>
                </a:solidFill>
                <a:latin typeface="幼圆" pitchFamily="49" charset="-122"/>
                <a:ea typeface="幼圆" pitchFamily="49" charset="-122"/>
                <a:sym typeface="Symbol" pitchFamily="18" charset="2"/>
              </a:rPr>
              <a:t>struct</a:t>
            </a:r>
            <a:r>
              <a:rPr kumimoji="1" lang="en-US" altLang="zh-CN" sz="2400" b="1" dirty="0">
                <a:solidFill>
                  <a:schemeClr val="tx2"/>
                </a:solidFill>
                <a:latin typeface="幼圆" pitchFamily="49" charset="-122"/>
                <a:ea typeface="幼圆" pitchFamily="49" charset="-122"/>
                <a:sym typeface="Symbol" pitchFamily="18" charset="2"/>
              </a:rPr>
              <a:t> s</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sym typeface="Symbol" pitchFamily="18" charset="2"/>
              </a:rPr>
              <a:t>{</a:t>
            </a:r>
            <a:r>
              <a:rPr kumimoji="1" lang="en-US" altLang="zh-CN" sz="2400" b="1" dirty="0" err="1">
                <a:solidFill>
                  <a:schemeClr val="tx2"/>
                </a:solidFill>
                <a:latin typeface="幼圆" pitchFamily="49" charset="-122"/>
                <a:ea typeface="幼圆" pitchFamily="49" charset="-122"/>
                <a:sym typeface="Symbol" pitchFamily="18" charset="2"/>
              </a:rPr>
              <a:t>int</a:t>
            </a:r>
            <a:r>
              <a:rPr kumimoji="1" lang="en-US" altLang="zh-CN" sz="2400" b="1" dirty="0">
                <a:solidFill>
                  <a:schemeClr val="tx2"/>
                </a:solidFill>
                <a:latin typeface="幼圆" pitchFamily="49" charset="-122"/>
                <a:ea typeface="幼圆" pitchFamily="49" charset="-122"/>
                <a:sym typeface="Symbol" pitchFamily="18" charset="2"/>
              </a:rPr>
              <a:t> x,*y;};   </a:t>
            </a:r>
            <a:r>
              <a:rPr kumimoji="1" lang="en-US" altLang="zh-CN" sz="2400" b="1" dirty="0" err="1">
                <a:solidFill>
                  <a:schemeClr val="tx2"/>
                </a:solidFill>
                <a:latin typeface="幼圆" pitchFamily="49" charset="-122"/>
                <a:ea typeface="幼圆" pitchFamily="49" charset="-122"/>
                <a:sym typeface="Symbol" pitchFamily="18" charset="2"/>
              </a:rPr>
              <a:t>int</a:t>
            </a:r>
            <a:r>
              <a:rPr kumimoji="1" lang="en-US" altLang="zh-CN" sz="2400" b="1" dirty="0">
                <a:solidFill>
                  <a:schemeClr val="tx2"/>
                </a:solidFill>
                <a:latin typeface="幼圆" pitchFamily="49" charset="-122"/>
                <a:ea typeface="幼圆" pitchFamily="49" charset="-122"/>
                <a:sym typeface="Symbol" pitchFamily="18" charset="2"/>
              </a:rPr>
              <a:t> data[5]={10,20,30,40,50};</a:t>
            </a:r>
          </a:p>
          <a:p>
            <a:pPr eaLnBrk="1" hangingPunct="1">
              <a:spcBef>
                <a:spcPct val="20000"/>
              </a:spcBef>
              <a:buClr>
                <a:schemeClr val="tx1"/>
              </a:buClr>
              <a:buSzPct val="60000"/>
              <a:buFont typeface="宋体" pitchFamily="2" charset="-122"/>
              <a:buNone/>
            </a:pPr>
            <a:r>
              <a:rPr kumimoji="1" lang="en-US" altLang="zh-CN" sz="2400" b="1" dirty="0" err="1">
                <a:solidFill>
                  <a:schemeClr val="tx2"/>
                </a:solidFill>
                <a:latin typeface="幼圆" pitchFamily="49" charset="-122"/>
                <a:ea typeface="幼圆" pitchFamily="49" charset="-122"/>
                <a:sym typeface="Symbol" pitchFamily="18" charset="2"/>
              </a:rPr>
              <a:t>struct</a:t>
            </a:r>
            <a:r>
              <a:rPr kumimoji="1" lang="en-US" altLang="zh-CN" sz="2400" b="1" dirty="0">
                <a:solidFill>
                  <a:schemeClr val="tx2"/>
                </a:solidFill>
                <a:latin typeface="幼圆" pitchFamily="49" charset="-122"/>
                <a:ea typeface="幼圆" pitchFamily="49" charset="-122"/>
                <a:sym typeface="Symbol" pitchFamily="18" charset="2"/>
              </a:rPr>
              <a:t> s array[5]={100,&amp;data[0],200  ,&amp;data[1], 300,&amp;data[2 ],400,&amp;data[3],500,&amp;data[4]},*p；</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sym typeface="Symbol" pitchFamily="18" charset="2"/>
              </a:rPr>
              <a:t>main( )</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sym typeface="Symbol" pitchFamily="18" charset="2"/>
              </a:rPr>
              <a:t>{p=array;</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sym typeface="Symbol" pitchFamily="18" charset="2"/>
              </a:rPr>
              <a:t> </a:t>
            </a:r>
            <a:r>
              <a:rPr kumimoji="1" lang="en-US" altLang="zh-CN" sz="2400" b="1" dirty="0" err="1">
                <a:solidFill>
                  <a:schemeClr val="tx2"/>
                </a:solidFill>
                <a:latin typeface="幼圆" pitchFamily="49" charset="-122"/>
                <a:ea typeface="幼圆" pitchFamily="49" charset="-122"/>
                <a:sym typeface="Symbol" pitchFamily="18" charset="2"/>
              </a:rPr>
              <a:t>printf</a:t>
            </a:r>
            <a:r>
              <a:rPr kumimoji="1" lang="en-US" altLang="zh-CN" sz="2400" b="1" dirty="0">
                <a:solidFill>
                  <a:schemeClr val="tx2"/>
                </a:solidFill>
                <a:latin typeface="幼圆" pitchFamily="49" charset="-122"/>
                <a:ea typeface="幼圆" pitchFamily="49" charset="-122"/>
                <a:sym typeface="Symbol" pitchFamily="18" charset="2"/>
              </a:rPr>
              <a:t>(</a:t>
            </a:r>
            <a:r>
              <a:rPr kumimoji="1" lang="en-US" altLang="zh-CN" sz="2400" b="1" dirty="0">
                <a:solidFill>
                  <a:schemeClr val="tx2"/>
                </a:solidFill>
                <a:latin typeface="Arial" pitchFamily="34" charset="0"/>
                <a:ea typeface="幼圆" pitchFamily="49" charset="-122"/>
                <a:sym typeface="Symbol" pitchFamily="18" charset="2"/>
              </a:rPr>
              <a:t>“</a:t>
            </a:r>
            <a:r>
              <a:rPr kumimoji="1" lang="en-US" altLang="zh-CN" sz="2400" b="1" dirty="0">
                <a:solidFill>
                  <a:schemeClr val="tx2"/>
                </a:solidFill>
                <a:latin typeface="幼圆" pitchFamily="49" charset="-122"/>
                <a:ea typeface="幼圆" pitchFamily="49" charset="-122"/>
                <a:sym typeface="Symbol" pitchFamily="18" charset="2"/>
              </a:rPr>
              <a:t>%</a:t>
            </a:r>
            <a:r>
              <a:rPr kumimoji="1" lang="en-US" altLang="zh-CN" sz="2400" b="1" dirty="0" err="1">
                <a:solidFill>
                  <a:schemeClr val="tx2"/>
                </a:solidFill>
                <a:latin typeface="幼圆" pitchFamily="49" charset="-122"/>
                <a:ea typeface="幼圆" pitchFamily="49" charset="-122"/>
                <a:sym typeface="Symbol" pitchFamily="18" charset="2"/>
              </a:rPr>
              <a:t>d</a:t>
            </a:r>
            <a:r>
              <a:rPr kumimoji="1" lang="en-US" altLang="zh-CN" sz="2400" b="1" dirty="0" err="1">
                <a:solidFill>
                  <a:schemeClr val="tx2"/>
                </a:solidFill>
                <a:latin typeface="Arial" pitchFamily="34" charset="0"/>
                <a:ea typeface="幼圆" pitchFamily="49" charset="-122"/>
                <a:sym typeface="Symbol" pitchFamily="18" charset="2"/>
              </a:rPr>
              <a:t>”</a:t>
            </a:r>
            <a:r>
              <a:rPr kumimoji="1" lang="en-US" altLang="zh-CN" sz="2400" b="1" dirty="0" err="1">
                <a:solidFill>
                  <a:schemeClr val="tx2"/>
                </a:solidFill>
                <a:latin typeface="幼圆" pitchFamily="49" charset="-122"/>
                <a:ea typeface="幼圆" pitchFamily="49" charset="-122"/>
                <a:sym typeface="Symbol" pitchFamily="18" charset="2"/>
              </a:rPr>
              <a:t>,p</a:t>
            </a:r>
            <a:r>
              <a:rPr kumimoji="1" lang="en-US" altLang="zh-CN" sz="2400" b="1" dirty="0">
                <a:solidFill>
                  <a:schemeClr val="tx2"/>
                </a:solidFill>
                <a:latin typeface="幼圆" pitchFamily="49" charset="-122"/>
                <a:ea typeface="幼圆" pitchFamily="49" charset="-122"/>
                <a:sym typeface="Symbol" pitchFamily="18" charset="2"/>
              </a:rPr>
              <a:t>-&gt;x)     /*</a:t>
            </a:r>
            <a:r>
              <a:rPr kumimoji="1" lang="zh-CN" altLang="en-US" sz="2400" b="1" dirty="0">
                <a:solidFill>
                  <a:schemeClr val="tx2"/>
                </a:solidFill>
                <a:latin typeface="幼圆" pitchFamily="49" charset="-122"/>
                <a:ea typeface="幼圆" pitchFamily="49" charset="-122"/>
                <a:sym typeface="Symbol" pitchFamily="18" charset="2"/>
              </a:rPr>
              <a:t>输出        100  */</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sym typeface="Symbol" pitchFamily="18" charset="2"/>
              </a:rPr>
              <a:t> </a:t>
            </a:r>
            <a:r>
              <a:rPr kumimoji="1" lang="en-US" altLang="zh-CN" sz="2400" b="1" dirty="0" err="1">
                <a:solidFill>
                  <a:schemeClr val="tx2"/>
                </a:solidFill>
                <a:latin typeface="幼圆" pitchFamily="49" charset="-122"/>
                <a:ea typeface="幼圆" pitchFamily="49" charset="-122"/>
                <a:sym typeface="Symbol" pitchFamily="18" charset="2"/>
              </a:rPr>
              <a:t>printf</a:t>
            </a:r>
            <a:r>
              <a:rPr kumimoji="1" lang="en-US" altLang="zh-CN" sz="2400" b="1" dirty="0">
                <a:solidFill>
                  <a:schemeClr val="tx2"/>
                </a:solidFill>
                <a:latin typeface="幼圆" pitchFamily="49" charset="-122"/>
                <a:ea typeface="幼圆" pitchFamily="49" charset="-122"/>
                <a:sym typeface="Symbol" pitchFamily="18" charset="2"/>
              </a:rPr>
              <a:t>(</a:t>
            </a:r>
            <a:r>
              <a:rPr kumimoji="1" lang="en-US" altLang="zh-CN" sz="2400" b="1" dirty="0">
                <a:solidFill>
                  <a:schemeClr val="tx2"/>
                </a:solidFill>
                <a:latin typeface="Arial" pitchFamily="34" charset="0"/>
                <a:ea typeface="幼圆" pitchFamily="49" charset="-122"/>
                <a:sym typeface="Symbol" pitchFamily="18" charset="2"/>
              </a:rPr>
              <a:t>“</a:t>
            </a:r>
            <a:r>
              <a:rPr kumimoji="1" lang="en-US" altLang="zh-CN" sz="2400" b="1" dirty="0">
                <a:solidFill>
                  <a:schemeClr val="tx2"/>
                </a:solidFill>
                <a:latin typeface="幼圆" pitchFamily="49" charset="-122"/>
                <a:ea typeface="幼圆" pitchFamily="49" charset="-122"/>
                <a:sym typeface="Symbol" pitchFamily="18" charset="2"/>
              </a:rPr>
              <a:t>%d</a:t>
            </a:r>
            <a:r>
              <a:rPr kumimoji="1" lang="en-US" altLang="zh-CN" sz="2400" b="1" dirty="0">
                <a:solidFill>
                  <a:schemeClr val="tx2"/>
                </a:solidFill>
                <a:latin typeface="Arial" pitchFamily="34" charset="0"/>
                <a:ea typeface="幼圆" pitchFamily="49" charset="-122"/>
                <a:sym typeface="Symbol" pitchFamily="18" charset="2"/>
              </a:rPr>
              <a:t>”</a:t>
            </a:r>
            <a:r>
              <a:rPr kumimoji="1" lang="en-US" altLang="zh-CN" sz="2400" b="1" dirty="0">
                <a:solidFill>
                  <a:schemeClr val="tx2"/>
                </a:solidFill>
                <a:latin typeface="幼圆" pitchFamily="49" charset="-122"/>
                <a:ea typeface="幼圆" pitchFamily="49" charset="-122"/>
                <a:sym typeface="Symbol" pitchFamily="18" charset="2"/>
              </a:rPr>
              <a:t>, (*p).x） /*</a:t>
            </a:r>
            <a:r>
              <a:rPr kumimoji="1" lang="zh-CN" altLang="en-US" sz="2400" b="1" dirty="0">
                <a:solidFill>
                  <a:schemeClr val="tx2"/>
                </a:solidFill>
                <a:latin typeface="幼圆" pitchFamily="49" charset="-122"/>
                <a:ea typeface="幼圆" pitchFamily="49" charset="-122"/>
                <a:sym typeface="Symbol" pitchFamily="18" charset="2"/>
              </a:rPr>
              <a:t>输出        </a:t>
            </a:r>
            <a:r>
              <a:rPr kumimoji="1" lang="en-US" altLang="zh-CN" sz="2400" b="1" dirty="0">
                <a:solidFill>
                  <a:schemeClr val="tx2"/>
                </a:solidFill>
                <a:latin typeface="幼圆" pitchFamily="49" charset="-122"/>
                <a:ea typeface="幼圆" pitchFamily="49" charset="-122"/>
                <a:sym typeface="Symbol" pitchFamily="18" charset="2"/>
              </a:rPr>
              <a:t>100  </a:t>
            </a:r>
            <a:r>
              <a:rPr kumimoji="1" lang="zh-CN" altLang="en-US" sz="2400" b="1" dirty="0">
                <a:solidFill>
                  <a:schemeClr val="tx2"/>
                </a:solidFill>
                <a:latin typeface="幼圆" pitchFamily="49" charset="-122"/>
                <a:ea typeface="幼圆" pitchFamily="49" charset="-122"/>
                <a:sym typeface="Symbol" pitchFamily="18" charset="2"/>
              </a:rPr>
              <a:t>*/</a:t>
            </a:r>
            <a:endParaRPr kumimoji="1" lang="en-US" altLang="zh-CN" sz="2400" b="1" dirty="0">
              <a:solidFill>
                <a:schemeClr val="tx2"/>
              </a:solidFill>
              <a:latin typeface="幼圆" pitchFamily="49" charset="-122"/>
              <a:ea typeface="幼圆" pitchFamily="49" charset="-122"/>
              <a:sym typeface="Symbol" pitchFamily="18" charset="2"/>
            </a:endParaRP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sym typeface="Symbol" pitchFamily="18" charset="2"/>
              </a:rPr>
              <a:t> </a:t>
            </a:r>
            <a:r>
              <a:rPr kumimoji="1" lang="en-US" altLang="zh-CN" sz="2400" b="1" dirty="0" err="1">
                <a:solidFill>
                  <a:schemeClr val="tx2"/>
                </a:solidFill>
                <a:latin typeface="幼圆" pitchFamily="49" charset="-122"/>
                <a:ea typeface="幼圆" pitchFamily="49" charset="-122"/>
                <a:sym typeface="Symbol" pitchFamily="18" charset="2"/>
              </a:rPr>
              <a:t>printf</a:t>
            </a:r>
            <a:r>
              <a:rPr kumimoji="1" lang="en-US" altLang="zh-CN" sz="2400" b="1" dirty="0">
                <a:solidFill>
                  <a:schemeClr val="tx2"/>
                </a:solidFill>
                <a:latin typeface="幼圆" pitchFamily="49" charset="-122"/>
                <a:ea typeface="幼圆" pitchFamily="49" charset="-122"/>
                <a:sym typeface="Symbol" pitchFamily="18" charset="2"/>
              </a:rPr>
              <a:t>(</a:t>
            </a:r>
            <a:r>
              <a:rPr kumimoji="1" lang="en-US" altLang="zh-CN" sz="2400" b="1" dirty="0">
                <a:solidFill>
                  <a:schemeClr val="tx2"/>
                </a:solidFill>
                <a:latin typeface="Arial" pitchFamily="34" charset="0"/>
                <a:ea typeface="幼圆" pitchFamily="49" charset="-122"/>
                <a:sym typeface="Symbol" pitchFamily="18" charset="2"/>
              </a:rPr>
              <a:t>“</a:t>
            </a:r>
            <a:r>
              <a:rPr kumimoji="1" lang="en-US" altLang="zh-CN" sz="2400" b="1" dirty="0">
                <a:solidFill>
                  <a:schemeClr val="tx2"/>
                </a:solidFill>
                <a:latin typeface="幼圆" pitchFamily="49" charset="-122"/>
                <a:ea typeface="幼圆" pitchFamily="49" charset="-122"/>
                <a:sym typeface="Symbol" pitchFamily="18" charset="2"/>
              </a:rPr>
              <a:t>%d</a:t>
            </a:r>
            <a:r>
              <a:rPr kumimoji="1" lang="en-US" altLang="zh-CN" sz="2400" b="1" dirty="0">
                <a:solidFill>
                  <a:schemeClr val="tx2"/>
                </a:solidFill>
                <a:latin typeface="Arial" pitchFamily="34" charset="0"/>
                <a:ea typeface="幼圆" pitchFamily="49" charset="-122"/>
                <a:sym typeface="Symbol" pitchFamily="18" charset="2"/>
              </a:rPr>
              <a:t>”</a:t>
            </a:r>
            <a:r>
              <a:rPr kumimoji="1" lang="en-US" altLang="zh-CN" sz="2400" b="1" dirty="0">
                <a:solidFill>
                  <a:schemeClr val="tx2"/>
                </a:solidFill>
                <a:latin typeface="幼圆" pitchFamily="49" charset="-122"/>
                <a:ea typeface="幼圆" pitchFamily="49" charset="-122"/>
                <a:sym typeface="Symbol" pitchFamily="18" charset="2"/>
              </a:rPr>
              <a:t>, *p-&gt;y）  /*</a:t>
            </a:r>
            <a:r>
              <a:rPr kumimoji="1" lang="zh-CN" altLang="en-US" sz="2400" b="1" dirty="0">
                <a:solidFill>
                  <a:schemeClr val="tx2"/>
                </a:solidFill>
                <a:latin typeface="幼圆" pitchFamily="49" charset="-122"/>
                <a:ea typeface="幼圆" pitchFamily="49" charset="-122"/>
                <a:sym typeface="Symbol" pitchFamily="18" charset="2"/>
              </a:rPr>
              <a:t>输出 </a:t>
            </a:r>
            <a:r>
              <a:rPr kumimoji="1" lang="en-US" altLang="zh-CN" sz="2400" b="1" dirty="0">
                <a:solidFill>
                  <a:schemeClr val="tx2"/>
                </a:solidFill>
                <a:latin typeface="幼圆" pitchFamily="49" charset="-122"/>
                <a:ea typeface="幼圆" pitchFamily="49" charset="-122"/>
                <a:sym typeface="Symbol" pitchFamily="18" charset="2"/>
              </a:rPr>
              <a:t>*&amp;data[0]：10 </a:t>
            </a:r>
            <a:r>
              <a:rPr kumimoji="1" lang="zh-CN" altLang="en-US" sz="2400" b="1" dirty="0">
                <a:solidFill>
                  <a:schemeClr val="tx2"/>
                </a:solidFill>
                <a:latin typeface="幼圆" pitchFamily="49" charset="-122"/>
                <a:ea typeface="幼圆" pitchFamily="49" charset="-122"/>
                <a:sym typeface="Symbol" pitchFamily="18" charset="2"/>
              </a:rPr>
              <a:t>*/</a:t>
            </a:r>
            <a:endParaRPr kumimoji="1" lang="en-US" altLang="zh-CN" sz="2400" b="1" dirty="0">
              <a:solidFill>
                <a:schemeClr val="tx2"/>
              </a:solidFill>
              <a:latin typeface="幼圆" pitchFamily="49" charset="-122"/>
              <a:ea typeface="幼圆" pitchFamily="49" charset="-122"/>
              <a:sym typeface="Symbol" pitchFamily="18" charset="2"/>
            </a:endParaRP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sym typeface="Symbol" pitchFamily="18" charset="2"/>
              </a:rPr>
              <a:t> </a:t>
            </a:r>
            <a:r>
              <a:rPr kumimoji="1" lang="en-US" altLang="zh-CN" sz="2400" b="1" dirty="0" err="1">
                <a:solidFill>
                  <a:schemeClr val="tx2"/>
                </a:solidFill>
                <a:latin typeface="幼圆" pitchFamily="49" charset="-122"/>
                <a:ea typeface="幼圆" pitchFamily="49" charset="-122"/>
                <a:sym typeface="Symbol" pitchFamily="18" charset="2"/>
              </a:rPr>
              <a:t>printf</a:t>
            </a:r>
            <a:r>
              <a:rPr kumimoji="1" lang="en-US" altLang="zh-CN" sz="2400" b="1" dirty="0">
                <a:solidFill>
                  <a:schemeClr val="tx2"/>
                </a:solidFill>
                <a:latin typeface="幼圆" pitchFamily="49" charset="-122"/>
                <a:ea typeface="幼圆" pitchFamily="49" charset="-122"/>
                <a:sym typeface="Symbol" pitchFamily="18" charset="2"/>
              </a:rPr>
              <a:t>(</a:t>
            </a:r>
            <a:r>
              <a:rPr kumimoji="1" lang="en-US" altLang="zh-CN" sz="2400" b="1" dirty="0">
                <a:solidFill>
                  <a:schemeClr val="tx2"/>
                </a:solidFill>
                <a:latin typeface="Arial" pitchFamily="34" charset="0"/>
                <a:ea typeface="幼圆" pitchFamily="49" charset="-122"/>
                <a:sym typeface="Symbol" pitchFamily="18" charset="2"/>
              </a:rPr>
              <a:t>“</a:t>
            </a:r>
            <a:r>
              <a:rPr kumimoji="1" lang="en-US" altLang="zh-CN" sz="2400" b="1" dirty="0">
                <a:solidFill>
                  <a:schemeClr val="tx2"/>
                </a:solidFill>
                <a:latin typeface="幼圆" pitchFamily="49" charset="-122"/>
                <a:ea typeface="幼圆" pitchFamily="49" charset="-122"/>
                <a:sym typeface="Symbol" pitchFamily="18" charset="2"/>
              </a:rPr>
              <a:t>%d</a:t>
            </a:r>
            <a:r>
              <a:rPr kumimoji="1" lang="en-US" altLang="zh-CN" sz="2400" b="1" dirty="0">
                <a:solidFill>
                  <a:schemeClr val="tx2"/>
                </a:solidFill>
                <a:latin typeface="Arial" pitchFamily="34" charset="0"/>
                <a:ea typeface="幼圆" pitchFamily="49" charset="-122"/>
                <a:sym typeface="Symbol" pitchFamily="18" charset="2"/>
              </a:rPr>
              <a:t>”</a:t>
            </a:r>
            <a:r>
              <a:rPr kumimoji="1" lang="en-US" altLang="zh-CN" sz="2400" b="1" dirty="0">
                <a:solidFill>
                  <a:schemeClr val="tx2"/>
                </a:solidFill>
                <a:latin typeface="幼圆" pitchFamily="49" charset="-122"/>
                <a:ea typeface="幼圆" pitchFamily="49" charset="-122"/>
                <a:sym typeface="Symbol" pitchFamily="18" charset="2"/>
              </a:rPr>
              <a:t>, *(*p).y) /*</a:t>
            </a:r>
            <a:r>
              <a:rPr kumimoji="1" lang="zh-CN" altLang="en-US" sz="2400" b="1" dirty="0">
                <a:solidFill>
                  <a:schemeClr val="tx2"/>
                </a:solidFill>
                <a:latin typeface="幼圆" pitchFamily="49" charset="-122"/>
                <a:ea typeface="幼圆" pitchFamily="49" charset="-122"/>
                <a:sym typeface="Symbol" pitchFamily="18" charset="2"/>
              </a:rPr>
              <a:t>输出         </a:t>
            </a:r>
            <a:r>
              <a:rPr kumimoji="1" lang="en-US" altLang="zh-CN" sz="2400" b="1" dirty="0">
                <a:solidFill>
                  <a:schemeClr val="tx2"/>
                </a:solidFill>
                <a:latin typeface="幼圆" pitchFamily="49" charset="-122"/>
                <a:ea typeface="幼圆" pitchFamily="49" charset="-122"/>
                <a:sym typeface="Symbol" pitchFamily="18" charset="2"/>
              </a:rPr>
              <a:t>10  </a:t>
            </a:r>
            <a:r>
              <a:rPr kumimoji="1" lang="zh-CN" altLang="en-US" sz="2400" b="1" dirty="0">
                <a:solidFill>
                  <a:schemeClr val="tx2"/>
                </a:solidFill>
                <a:latin typeface="幼圆" pitchFamily="49" charset="-122"/>
                <a:ea typeface="幼圆" pitchFamily="49" charset="-122"/>
                <a:sym typeface="Symbol" pitchFamily="18" charset="2"/>
              </a:rPr>
              <a:t>*/</a:t>
            </a:r>
            <a:r>
              <a:rPr kumimoji="1" lang="en-US" altLang="zh-CN" sz="2400" b="1" dirty="0">
                <a:solidFill>
                  <a:schemeClr val="tx2"/>
                </a:solidFill>
                <a:latin typeface="幼圆" pitchFamily="49" charset="-122"/>
                <a:ea typeface="幼圆" pitchFamily="49" charset="-122"/>
                <a:sym typeface="Symbol" pitchFamily="18" charset="2"/>
              </a:rPr>
              <a:t> </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sym typeface="Symbol" pitchFamily="18" charset="2"/>
              </a:rPr>
              <a:t> </a:t>
            </a:r>
            <a:r>
              <a:rPr kumimoji="1" lang="en-US" altLang="zh-CN" sz="2400" b="1" dirty="0" err="1">
                <a:solidFill>
                  <a:schemeClr val="tx2"/>
                </a:solidFill>
                <a:latin typeface="幼圆" pitchFamily="49" charset="-122"/>
                <a:ea typeface="幼圆" pitchFamily="49" charset="-122"/>
                <a:sym typeface="Symbol" pitchFamily="18" charset="2"/>
              </a:rPr>
              <a:t>printf</a:t>
            </a:r>
            <a:r>
              <a:rPr kumimoji="1" lang="en-US" altLang="zh-CN" sz="2400" b="1" dirty="0">
                <a:solidFill>
                  <a:schemeClr val="tx2"/>
                </a:solidFill>
                <a:latin typeface="幼圆" pitchFamily="49" charset="-122"/>
                <a:ea typeface="幼圆" pitchFamily="49" charset="-122"/>
                <a:sym typeface="Symbol" pitchFamily="18" charset="2"/>
              </a:rPr>
              <a:t>(</a:t>
            </a:r>
            <a:r>
              <a:rPr kumimoji="1" lang="en-US" altLang="zh-CN" sz="2400" b="1" dirty="0">
                <a:solidFill>
                  <a:schemeClr val="tx2"/>
                </a:solidFill>
                <a:latin typeface="Arial" pitchFamily="34" charset="0"/>
                <a:ea typeface="幼圆" pitchFamily="49" charset="-122"/>
                <a:sym typeface="Symbol" pitchFamily="18" charset="2"/>
              </a:rPr>
              <a:t>“</a:t>
            </a:r>
            <a:r>
              <a:rPr kumimoji="1" lang="en-US" altLang="zh-CN" sz="2400" b="1" dirty="0">
                <a:solidFill>
                  <a:schemeClr val="tx2"/>
                </a:solidFill>
                <a:latin typeface="幼圆" pitchFamily="49" charset="-122"/>
                <a:ea typeface="幼圆" pitchFamily="49" charset="-122"/>
                <a:sym typeface="Symbol" pitchFamily="18" charset="2"/>
              </a:rPr>
              <a:t>%d</a:t>
            </a:r>
            <a:r>
              <a:rPr kumimoji="1" lang="en-US" altLang="zh-CN" sz="2400" b="1" dirty="0">
                <a:solidFill>
                  <a:schemeClr val="tx2"/>
                </a:solidFill>
                <a:latin typeface="Arial" pitchFamily="34" charset="0"/>
                <a:ea typeface="幼圆" pitchFamily="49" charset="-122"/>
                <a:sym typeface="Symbol" pitchFamily="18" charset="2"/>
              </a:rPr>
              <a:t>”</a:t>
            </a:r>
            <a:r>
              <a:rPr kumimoji="1" lang="en-US" altLang="zh-CN" sz="2400" b="1" dirty="0">
                <a:solidFill>
                  <a:schemeClr val="tx2"/>
                </a:solidFill>
                <a:latin typeface="幼圆" pitchFamily="49" charset="-122"/>
                <a:ea typeface="幼圆" pitchFamily="49" charset="-122"/>
                <a:sym typeface="Symbol" pitchFamily="18" charset="2"/>
              </a:rPr>
              <a:t>, ++p-&gt;x)  /*</a:t>
            </a:r>
            <a:r>
              <a:rPr kumimoji="1" lang="zh-CN" altLang="en-US" sz="2400" b="1" dirty="0">
                <a:solidFill>
                  <a:schemeClr val="tx2"/>
                </a:solidFill>
                <a:latin typeface="幼圆" pitchFamily="49" charset="-122"/>
                <a:ea typeface="幼圆" pitchFamily="49" charset="-122"/>
                <a:sym typeface="Symbol" pitchFamily="18" charset="2"/>
              </a:rPr>
              <a:t>输出        </a:t>
            </a:r>
            <a:r>
              <a:rPr kumimoji="1" lang="en-US" altLang="zh-CN" sz="2400" b="1" dirty="0">
                <a:solidFill>
                  <a:schemeClr val="tx2"/>
                </a:solidFill>
                <a:latin typeface="幼圆" pitchFamily="49" charset="-122"/>
                <a:ea typeface="幼圆" pitchFamily="49" charset="-122"/>
                <a:sym typeface="Symbol" pitchFamily="18" charset="2"/>
              </a:rPr>
              <a:t>101  </a:t>
            </a:r>
            <a:r>
              <a:rPr kumimoji="1" lang="zh-CN" altLang="en-US" sz="2400" b="1" dirty="0">
                <a:solidFill>
                  <a:schemeClr val="tx2"/>
                </a:solidFill>
                <a:latin typeface="幼圆" pitchFamily="49" charset="-122"/>
                <a:ea typeface="幼圆" pitchFamily="49" charset="-122"/>
                <a:sym typeface="Symbol" pitchFamily="18" charset="2"/>
              </a:rPr>
              <a:t>*/</a:t>
            </a:r>
            <a:r>
              <a:rPr kumimoji="1" lang="en-US" altLang="zh-CN" sz="2400" b="1" dirty="0">
                <a:solidFill>
                  <a:schemeClr val="tx2"/>
                </a:solidFill>
                <a:latin typeface="幼圆" pitchFamily="49" charset="-122"/>
                <a:ea typeface="幼圆" pitchFamily="49" charset="-122"/>
                <a:sym typeface="Symbol" pitchFamily="18" charset="2"/>
              </a:rPr>
              <a:t> </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sym typeface="Symbol" pitchFamily="18" charset="2"/>
              </a:rPr>
              <a:t> </a:t>
            </a:r>
            <a:r>
              <a:rPr kumimoji="1" lang="en-US" altLang="zh-CN" sz="2400" b="1" dirty="0" err="1">
                <a:solidFill>
                  <a:schemeClr val="tx2"/>
                </a:solidFill>
                <a:latin typeface="幼圆" pitchFamily="49" charset="-122"/>
                <a:ea typeface="幼圆" pitchFamily="49" charset="-122"/>
                <a:sym typeface="Symbol" pitchFamily="18" charset="2"/>
              </a:rPr>
              <a:t>printf</a:t>
            </a:r>
            <a:r>
              <a:rPr kumimoji="1" lang="en-US" altLang="zh-CN" sz="2400" b="1" dirty="0">
                <a:solidFill>
                  <a:schemeClr val="tx2"/>
                </a:solidFill>
                <a:latin typeface="幼圆" pitchFamily="49" charset="-122"/>
                <a:ea typeface="幼圆" pitchFamily="49" charset="-122"/>
                <a:sym typeface="Symbol" pitchFamily="18" charset="2"/>
              </a:rPr>
              <a:t>(</a:t>
            </a:r>
            <a:r>
              <a:rPr kumimoji="1" lang="en-US" altLang="zh-CN" sz="2400" b="1" dirty="0">
                <a:solidFill>
                  <a:schemeClr val="tx2"/>
                </a:solidFill>
                <a:latin typeface="Arial" pitchFamily="34" charset="0"/>
                <a:ea typeface="幼圆" pitchFamily="49" charset="-122"/>
                <a:sym typeface="Symbol" pitchFamily="18" charset="2"/>
              </a:rPr>
              <a:t>“</a:t>
            </a:r>
            <a:r>
              <a:rPr kumimoji="1" lang="en-US" altLang="zh-CN" sz="2400" b="1" dirty="0">
                <a:solidFill>
                  <a:schemeClr val="tx2"/>
                </a:solidFill>
                <a:latin typeface="幼圆" pitchFamily="49" charset="-122"/>
                <a:ea typeface="幼圆" pitchFamily="49" charset="-122"/>
                <a:sym typeface="Symbol" pitchFamily="18" charset="2"/>
              </a:rPr>
              <a:t>%d</a:t>
            </a:r>
            <a:r>
              <a:rPr kumimoji="1" lang="en-US" altLang="zh-CN" sz="2400" b="1" dirty="0">
                <a:solidFill>
                  <a:schemeClr val="tx2"/>
                </a:solidFill>
                <a:latin typeface="Arial" pitchFamily="34" charset="0"/>
                <a:ea typeface="幼圆" pitchFamily="49" charset="-122"/>
                <a:sym typeface="Symbol" pitchFamily="18" charset="2"/>
              </a:rPr>
              <a:t>”</a:t>
            </a:r>
            <a:r>
              <a:rPr kumimoji="1" lang="en-US" altLang="zh-CN" sz="2400" b="1" dirty="0">
                <a:solidFill>
                  <a:schemeClr val="tx2"/>
                </a:solidFill>
                <a:latin typeface="幼圆" pitchFamily="49" charset="-122"/>
                <a:ea typeface="幼圆" pitchFamily="49" charset="-122"/>
                <a:sym typeface="Symbol" pitchFamily="18" charset="2"/>
              </a:rPr>
              <a:t>, (++p)-&gt;x)/*</a:t>
            </a:r>
            <a:r>
              <a:rPr kumimoji="1" lang="zh-CN" altLang="en-US" sz="2400" b="1" dirty="0">
                <a:solidFill>
                  <a:schemeClr val="tx2"/>
                </a:solidFill>
                <a:latin typeface="幼圆" pitchFamily="49" charset="-122"/>
                <a:ea typeface="幼圆" pitchFamily="49" charset="-122"/>
                <a:sym typeface="Symbol" pitchFamily="18" charset="2"/>
              </a:rPr>
              <a:t>输出 </a:t>
            </a:r>
            <a:r>
              <a:rPr kumimoji="1" lang="en-US" altLang="zh-CN" sz="2400" b="1" dirty="0">
                <a:solidFill>
                  <a:schemeClr val="tx2"/>
                </a:solidFill>
                <a:latin typeface="幼圆" pitchFamily="49" charset="-122"/>
                <a:ea typeface="幼圆" pitchFamily="49" charset="-122"/>
                <a:sym typeface="Symbol" pitchFamily="18" charset="2"/>
              </a:rPr>
              <a:t>p=&amp;array[1]：200</a:t>
            </a:r>
            <a:r>
              <a:rPr kumimoji="1" lang="zh-CN" altLang="en-US" sz="2400" b="1" dirty="0">
                <a:solidFill>
                  <a:schemeClr val="tx2"/>
                </a:solidFill>
                <a:latin typeface="幼圆" pitchFamily="49" charset="-122"/>
                <a:ea typeface="幼圆" pitchFamily="49" charset="-122"/>
                <a:sym typeface="Symbol" pitchFamily="18" charset="2"/>
              </a:rPr>
              <a:t>*/</a:t>
            </a:r>
            <a:r>
              <a:rPr kumimoji="1" lang="en-US" altLang="zh-CN" sz="2400" b="1" dirty="0">
                <a:solidFill>
                  <a:schemeClr val="tx2"/>
                </a:solidFill>
                <a:latin typeface="幼圆" pitchFamily="49" charset="-122"/>
                <a:ea typeface="幼圆" pitchFamily="49" charset="-122"/>
                <a:sym typeface="Symbol" pitchFamily="18" charset="2"/>
              </a:rPr>
              <a:t> </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sym typeface="Symbol" pitchFamily="18" charset="2"/>
              </a:rPr>
              <a:t> </a:t>
            </a:r>
            <a:r>
              <a:rPr kumimoji="1" lang="en-US" altLang="zh-CN" sz="2400" b="1" dirty="0" err="1">
                <a:solidFill>
                  <a:schemeClr val="tx2"/>
                </a:solidFill>
                <a:latin typeface="幼圆" pitchFamily="49" charset="-122"/>
                <a:ea typeface="幼圆" pitchFamily="49" charset="-122"/>
                <a:sym typeface="Symbol" pitchFamily="18" charset="2"/>
              </a:rPr>
              <a:t>printf</a:t>
            </a:r>
            <a:r>
              <a:rPr kumimoji="1" lang="en-US" altLang="zh-CN" sz="2400" b="1" dirty="0">
                <a:solidFill>
                  <a:schemeClr val="tx2"/>
                </a:solidFill>
                <a:latin typeface="幼圆" pitchFamily="49" charset="-122"/>
                <a:ea typeface="幼圆" pitchFamily="49" charset="-122"/>
                <a:sym typeface="Symbol" pitchFamily="18" charset="2"/>
              </a:rPr>
              <a:t>(</a:t>
            </a:r>
            <a:r>
              <a:rPr kumimoji="1" lang="en-US" altLang="zh-CN" sz="2400" b="1" dirty="0">
                <a:solidFill>
                  <a:schemeClr val="tx2"/>
                </a:solidFill>
                <a:latin typeface="Arial" pitchFamily="34" charset="0"/>
                <a:ea typeface="幼圆" pitchFamily="49" charset="-122"/>
                <a:sym typeface="Symbol" pitchFamily="18" charset="2"/>
              </a:rPr>
              <a:t>“</a:t>
            </a:r>
            <a:r>
              <a:rPr kumimoji="1" lang="en-US" altLang="zh-CN" sz="2400" b="1" dirty="0">
                <a:solidFill>
                  <a:schemeClr val="tx2"/>
                </a:solidFill>
                <a:latin typeface="幼圆" pitchFamily="49" charset="-122"/>
                <a:ea typeface="幼圆" pitchFamily="49" charset="-122"/>
                <a:sym typeface="Symbol" pitchFamily="18" charset="2"/>
              </a:rPr>
              <a:t>%d</a:t>
            </a:r>
            <a:r>
              <a:rPr kumimoji="1" lang="en-US" altLang="zh-CN" sz="2400" b="1" dirty="0">
                <a:solidFill>
                  <a:schemeClr val="tx2"/>
                </a:solidFill>
                <a:latin typeface="Arial" pitchFamily="34" charset="0"/>
                <a:ea typeface="幼圆" pitchFamily="49" charset="-122"/>
                <a:sym typeface="Symbol" pitchFamily="18" charset="2"/>
              </a:rPr>
              <a:t>”</a:t>
            </a:r>
            <a:r>
              <a:rPr kumimoji="1" lang="en-US" altLang="zh-CN" sz="2400" b="1" dirty="0">
                <a:solidFill>
                  <a:schemeClr val="tx2"/>
                </a:solidFill>
                <a:latin typeface="幼圆" pitchFamily="49" charset="-122"/>
                <a:ea typeface="幼圆" pitchFamily="49" charset="-122"/>
                <a:sym typeface="Symbol" pitchFamily="18" charset="2"/>
              </a:rPr>
              <a:t>, p-&gt;x++)  /*</a:t>
            </a:r>
            <a:r>
              <a:rPr kumimoji="1" lang="zh-CN" altLang="en-US" sz="2400" b="1" dirty="0">
                <a:solidFill>
                  <a:schemeClr val="tx2"/>
                </a:solidFill>
                <a:latin typeface="幼圆" pitchFamily="49" charset="-122"/>
                <a:ea typeface="幼圆" pitchFamily="49" charset="-122"/>
                <a:sym typeface="Symbol" pitchFamily="18" charset="2"/>
              </a:rPr>
              <a:t>输出    200 </a:t>
            </a:r>
            <a:r>
              <a:rPr kumimoji="1" lang="en-US" altLang="zh-CN" sz="2400" b="1" dirty="0">
                <a:solidFill>
                  <a:schemeClr val="tx2"/>
                </a:solidFill>
                <a:latin typeface="幼圆" pitchFamily="49" charset="-122"/>
                <a:ea typeface="幼圆" pitchFamily="49" charset="-122"/>
                <a:sym typeface="Symbol" pitchFamily="18" charset="2"/>
              </a:rPr>
              <a:t>p-&gt;x =201 */</a:t>
            </a:r>
            <a:endParaRPr kumimoji="1" lang="zh-CN" altLang="en-US" sz="2400" b="1" dirty="0">
              <a:solidFill>
                <a:schemeClr val="tx2"/>
              </a:solidFill>
              <a:latin typeface="幼圆" pitchFamily="49" charset="-122"/>
              <a:ea typeface="幼圆" pitchFamily="49" charset="-122"/>
              <a:sym typeface="Symbol" pitchFamily="18" charset="2"/>
            </a:endParaRPr>
          </a:p>
          <a:p>
            <a:pPr eaLnBrk="1" hangingPunct="1">
              <a:spcBef>
                <a:spcPct val="20000"/>
              </a:spcBef>
              <a:buClr>
                <a:schemeClr val="tx1"/>
              </a:buClr>
              <a:buSzPct val="60000"/>
              <a:buFont typeface="宋体" pitchFamily="2" charset="-122"/>
              <a:buNone/>
            </a:pPr>
            <a:r>
              <a:rPr kumimoji="1" lang="zh-CN" altLang="en-US" sz="2400" b="1" dirty="0">
                <a:solidFill>
                  <a:schemeClr val="tx2"/>
                </a:solidFill>
                <a:latin typeface="Arial" pitchFamily="34" charset="0"/>
                <a:ea typeface="幼圆" pitchFamily="49" charset="-122"/>
                <a:sym typeface="Symbol" pitchFamily="18" charset="2"/>
              </a:rPr>
              <a:t>……</a:t>
            </a:r>
            <a:r>
              <a:rPr kumimoji="1" lang="zh-CN" altLang="en-US" sz="2400" b="1" dirty="0">
                <a:solidFill>
                  <a:schemeClr val="tx2"/>
                </a:solidFill>
                <a:latin typeface="幼圆" pitchFamily="49" charset="-122"/>
                <a:ea typeface="幼圆" pitchFamily="49" charset="-122"/>
                <a:sym typeface="Symbol" pitchFamily="18" charset="2"/>
              </a:rPr>
              <a:t>}</a:t>
            </a:r>
          </a:p>
        </p:txBody>
      </p:sp>
    </p:spTree>
    <p:extLst>
      <p:ext uri="{BB962C8B-B14F-4D97-AF65-F5344CB8AC3E}">
        <p14:creationId xmlns:p14="http://schemas.microsoft.com/office/powerpoint/2010/main" val="4203157298"/>
      </p:ext>
    </p:extLst>
  </p:cSld>
  <p:clrMapOvr>
    <a:masterClrMapping/>
  </p:clrMapOvr>
  <p:transition>
    <p:wedg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文本框 7"/>
          <p:cNvSpPr txBox="1">
            <a:spLocks noChangeArrowheads="1"/>
          </p:cNvSpPr>
          <p:nvPr/>
        </p:nvSpPr>
        <p:spPr bwMode="auto">
          <a:xfrm>
            <a:off x="0" y="609600"/>
            <a:ext cx="289053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pPr>
            <a:r>
              <a:rPr lang="zh-CN" altLang="en-US" sz="2800" b="1" dirty="0">
                <a:solidFill>
                  <a:srgbClr val="C00000"/>
                </a:solidFill>
                <a:latin typeface="幼圆" pitchFamily="49" charset="-122"/>
                <a:ea typeface="幼圆" pitchFamily="49" charset="-122"/>
                <a:sym typeface="宋体" pitchFamily="2" charset="-122"/>
              </a:rPr>
              <a:t>结构体要点总结 </a:t>
            </a:r>
          </a:p>
        </p:txBody>
      </p:sp>
      <p:sp>
        <p:nvSpPr>
          <p:cNvPr id="15366" name="文本框 7"/>
          <p:cNvSpPr txBox="1">
            <a:spLocks noChangeArrowheads="1"/>
          </p:cNvSpPr>
          <p:nvPr/>
        </p:nvSpPr>
        <p:spPr bwMode="auto">
          <a:xfrm>
            <a:off x="533400" y="1654175"/>
            <a:ext cx="8327231"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pPr>
            <a:r>
              <a:rPr lang="en-US" altLang="zh-CN" sz="2800" b="1" dirty="0">
                <a:solidFill>
                  <a:srgbClr val="002060"/>
                </a:solidFill>
                <a:latin typeface="幼圆" pitchFamily="49" charset="-122"/>
                <a:ea typeface="幼圆" pitchFamily="49" charset="-122"/>
                <a:sym typeface="宋体" pitchFamily="2" charset="-122"/>
              </a:rPr>
              <a:t>1 </a:t>
            </a:r>
            <a:r>
              <a:rPr lang="zh-CN" altLang="en-US" sz="2800" b="1" dirty="0">
                <a:solidFill>
                  <a:srgbClr val="002060"/>
                </a:solidFill>
                <a:latin typeface="幼圆" pitchFamily="49" charset="-122"/>
                <a:ea typeface="幼圆" pitchFamily="49" charset="-122"/>
                <a:sym typeface="宋体" pitchFamily="2" charset="-122"/>
              </a:rPr>
              <a:t>区分结构体类型、结构体成员和结构体变量</a:t>
            </a:r>
          </a:p>
          <a:p>
            <a:pPr eaLnBrk="1" hangingPunct="1">
              <a:buFont typeface="Arial" pitchFamily="34" charset="0"/>
              <a:buNone/>
            </a:pPr>
            <a:r>
              <a:rPr lang="en-US" altLang="zh-CN" sz="2800" b="1" dirty="0">
                <a:solidFill>
                  <a:srgbClr val="002060"/>
                </a:solidFill>
                <a:latin typeface="幼圆" pitchFamily="49" charset="-122"/>
                <a:ea typeface="幼圆" pitchFamily="49" charset="-122"/>
                <a:sym typeface="宋体" pitchFamily="2" charset="-122"/>
              </a:rPr>
              <a:t>2 </a:t>
            </a:r>
            <a:r>
              <a:rPr lang="zh-CN" altLang="en-US" sz="2800" b="1" dirty="0">
                <a:solidFill>
                  <a:srgbClr val="002060"/>
                </a:solidFill>
                <a:latin typeface="幼圆" pitchFamily="49" charset="-122"/>
                <a:ea typeface="幼圆" pitchFamily="49" charset="-122"/>
                <a:sym typeface="宋体" pitchFamily="2" charset="-122"/>
              </a:rPr>
              <a:t>结构体变量三种定义形式</a:t>
            </a:r>
          </a:p>
          <a:p>
            <a:pPr eaLnBrk="1" hangingPunct="1">
              <a:buFont typeface="Arial" pitchFamily="34" charset="0"/>
              <a:buNone/>
            </a:pPr>
            <a:r>
              <a:rPr lang="en-US" altLang="zh-CN" sz="2800" b="1" dirty="0">
                <a:solidFill>
                  <a:srgbClr val="002060"/>
                </a:solidFill>
                <a:latin typeface="幼圆" pitchFamily="49" charset="-122"/>
                <a:ea typeface="幼圆" pitchFamily="49" charset="-122"/>
                <a:sym typeface="宋体" pitchFamily="2" charset="-122"/>
              </a:rPr>
              <a:t>3 </a:t>
            </a:r>
            <a:r>
              <a:rPr lang="zh-CN" altLang="en-US" sz="2800" b="1" dirty="0">
                <a:solidFill>
                  <a:srgbClr val="002060"/>
                </a:solidFill>
                <a:latin typeface="幼圆" pitchFamily="49" charset="-122"/>
                <a:ea typeface="幼圆" pitchFamily="49" charset="-122"/>
                <a:sym typeface="宋体" pitchFamily="2" charset="-122"/>
              </a:rPr>
              <a:t>结构体变量初始化，注意不同类型的常量；</a:t>
            </a:r>
          </a:p>
          <a:p>
            <a:pPr eaLnBrk="1" hangingPunct="1">
              <a:buFont typeface="Arial" pitchFamily="34" charset="0"/>
              <a:buNone/>
            </a:pPr>
            <a:r>
              <a:rPr lang="en-US" altLang="zh-CN" sz="2800" b="1" dirty="0">
                <a:solidFill>
                  <a:srgbClr val="002060"/>
                </a:solidFill>
                <a:latin typeface="幼圆" pitchFamily="49" charset="-122"/>
                <a:ea typeface="幼圆" pitchFamily="49" charset="-122"/>
                <a:sym typeface="宋体" pitchFamily="2" charset="-122"/>
              </a:rPr>
              <a:t>4 </a:t>
            </a:r>
            <a:r>
              <a:rPr lang="zh-CN" altLang="en-US" sz="2800" b="1" dirty="0">
                <a:solidFill>
                  <a:srgbClr val="002060"/>
                </a:solidFill>
                <a:latin typeface="幼圆" pitchFamily="49" charset="-122"/>
                <a:ea typeface="幼圆" pitchFamily="49" charset="-122"/>
                <a:sym typeface="宋体" pitchFamily="2" charset="-122"/>
              </a:rPr>
              <a:t>嵌套的结构体变量成员如何引用</a:t>
            </a:r>
          </a:p>
          <a:p>
            <a:pPr eaLnBrk="1" hangingPunct="1">
              <a:buFont typeface="Arial" pitchFamily="34" charset="0"/>
              <a:buNone/>
            </a:pPr>
            <a:r>
              <a:rPr lang="en-US" altLang="zh-CN" sz="2800" b="1" dirty="0">
                <a:solidFill>
                  <a:srgbClr val="002060"/>
                </a:solidFill>
                <a:latin typeface="幼圆" pitchFamily="49" charset="-122"/>
                <a:ea typeface="幼圆" pitchFamily="49" charset="-122"/>
                <a:sym typeface="宋体" pitchFamily="2" charset="-122"/>
              </a:rPr>
              <a:t>5 </a:t>
            </a:r>
            <a:r>
              <a:rPr lang="zh-CN" altLang="en-US" sz="2800" b="1" dirty="0">
                <a:solidFill>
                  <a:srgbClr val="002060"/>
                </a:solidFill>
                <a:latin typeface="幼圆" pitchFamily="49" charset="-122"/>
                <a:ea typeface="幼圆" pitchFamily="49" charset="-122"/>
                <a:sym typeface="宋体" pitchFamily="2" charset="-122"/>
              </a:rPr>
              <a:t>结构体数组和结构体指针引用结构体成员时的自增、自减的含义（移动指针还是变化数值？）</a:t>
            </a:r>
          </a:p>
          <a:p>
            <a:pPr eaLnBrk="1" hangingPunct="1">
              <a:buFont typeface="Arial" pitchFamily="34" charset="0"/>
              <a:buNone/>
            </a:pPr>
            <a:r>
              <a:rPr lang="en-US" altLang="zh-CN" sz="2800" b="1" dirty="0">
                <a:solidFill>
                  <a:srgbClr val="002060"/>
                </a:solidFill>
                <a:latin typeface="幼圆" pitchFamily="49" charset="-122"/>
                <a:ea typeface="幼圆" pitchFamily="49" charset="-122"/>
                <a:sym typeface="宋体" pitchFamily="2" charset="-122"/>
              </a:rPr>
              <a:t>6 </a:t>
            </a:r>
            <a:r>
              <a:rPr lang="zh-CN" altLang="en-US" sz="2800" b="1" dirty="0">
                <a:solidFill>
                  <a:srgbClr val="002060"/>
                </a:solidFill>
                <a:latin typeface="幼圆" pitchFamily="49" charset="-122"/>
                <a:ea typeface="幼圆" pitchFamily="49" charset="-122"/>
                <a:sym typeface="宋体" pitchFamily="2" charset="-122"/>
              </a:rPr>
              <a:t>结构体变量所占存储空间的计算，</a:t>
            </a:r>
            <a:r>
              <a:rPr lang="en-US" altLang="zh-CN" sz="2800" b="1" dirty="0" err="1">
                <a:solidFill>
                  <a:srgbClr val="002060"/>
                </a:solidFill>
                <a:latin typeface="幼圆" pitchFamily="49" charset="-122"/>
                <a:ea typeface="幼圆" pitchFamily="49" charset="-122"/>
                <a:sym typeface="宋体" pitchFamily="2" charset="-122"/>
              </a:rPr>
              <a:t>sizeof</a:t>
            </a:r>
            <a:r>
              <a:rPr lang="zh-CN" altLang="en-US" sz="2800" b="1" dirty="0">
                <a:solidFill>
                  <a:srgbClr val="002060"/>
                </a:solidFill>
                <a:latin typeface="幼圆" pitchFamily="49" charset="-122"/>
                <a:ea typeface="幼圆" pitchFamily="49" charset="-122"/>
                <a:sym typeface="宋体" pitchFamily="2" charset="-122"/>
              </a:rPr>
              <a:t>的使用</a:t>
            </a:r>
          </a:p>
          <a:p>
            <a:pPr eaLnBrk="1" hangingPunct="1">
              <a:buFont typeface="Arial" pitchFamily="34" charset="0"/>
              <a:buNone/>
            </a:pPr>
            <a:r>
              <a:rPr lang="en-US" altLang="zh-CN" sz="2800" b="1" dirty="0">
                <a:solidFill>
                  <a:srgbClr val="002060"/>
                </a:solidFill>
                <a:latin typeface="幼圆" pitchFamily="49" charset="-122"/>
                <a:ea typeface="幼圆" pitchFamily="49" charset="-122"/>
                <a:sym typeface="宋体" pitchFamily="2" charset="-122"/>
              </a:rPr>
              <a:t>7 </a:t>
            </a:r>
            <a:r>
              <a:rPr lang="zh-CN" altLang="en-US" sz="2800" b="1" dirty="0">
                <a:solidFill>
                  <a:srgbClr val="002060"/>
                </a:solidFill>
                <a:latin typeface="幼圆" pitchFamily="49" charset="-122"/>
                <a:ea typeface="幼圆" pitchFamily="49" charset="-122"/>
                <a:sym typeface="宋体" pitchFamily="2" charset="-122"/>
              </a:rPr>
              <a:t>结构体整体做函数实参和形参</a:t>
            </a:r>
            <a:r>
              <a:rPr lang="en-US" altLang="zh-CN" sz="2800" b="1" dirty="0">
                <a:solidFill>
                  <a:srgbClr val="002060"/>
                </a:solidFill>
                <a:latin typeface="幼圆" pitchFamily="49" charset="-122"/>
                <a:ea typeface="幼圆" pitchFamily="49" charset="-122"/>
                <a:sym typeface="宋体" pitchFamily="2" charset="-122"/>
              </a:rPr>
              <a:t> </a:t>
            </a:r>
          </a:p>
          <a:p>
            <a:pPr eaLnBrk="1" hangingPunct="1">
              <a:buFont typeface="Arial" pitchFamily="34" charset="0"/>
              <a:buNone/>
            </a:pPr>
            <a:r>
              <a:rPr lang="en-US" altLang="zh-CN" sz="2800" b="1" dirty="0">
                <a:solidFill>
                  <a:srgbClr val="002060"/>
                </a:solidFill>
                <a:latin typeface="幼圆" pitchFamily="49" charset="-122"/>
                <a:ea typeface="幼圆" pitchFamily="49" charset="-122"/>
                <a:sym typeface="宋体" pitchFamily="2" charset="-122"/>
              </a:rPr>
              <a:t>8 </a:t>
            </a:r>
            <a:r>
              <a:rPr lang="zh-CN" altLang="en-US" sz="2800" b="1" dirty="0">
                <a:solidFill>
                  <a:srgbClr val="002060"/>
                </a:solidFill>
                <a:latin typeface="幼圆" pitchFamily="49" charset="-122"/>
                <a:ea typeface="幼圆" pitchFamily="49" charset="-122"/>
                <a:sym typeface="宋体" pitchFamily="2" charset="-122"/>
              </a:rPr>
              <a:t>如何用结构体指针引用结构体成员</a:t>
            </a:r>
          </a:p>
          <a:p>
            <a:pPr eaLnBrk="1" hangingPunct="1">
              <a:buFont typeface="Arial" pitchFamily="34" charset="0"/>
              <a:buNone/>
            </a:pPr>
            <a:r>
              <a:rPr lang="en-US" altLang="zh-CN" sz="2800" b="1" dirty="0">
                <a:solidFill>
                  <a:srgbClr val="002060"/>
                </a:solidFill>
                <a:latin typeface="幼圆" pitchFamily="49" charset="-122"/>
                <a:ea typeface="幼圆" pitchFamily="49" charset="-122"/>
                <a:sym typeface="宋体" pitchFamily="2" charset="-122"/>
              </a:rPr>
              <a:t> </a:t>
            </a:r>
          </a:p>
        </p:txBody>
      </p:sp>
    </p:spTree>
    <p:extLst>
      <p:ext uri="{BB962C8B-B14F-4D97-AF65-F5344CB8AC3E}">
        <p14:creationId xmlns:p14="http://schemas.microsoft.com/office/powerpoint/2010/main" val="221414333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文本框 7"/>
          <p:cNvSpPr txBox="1">
            <a:spLocks noChangeArrowheads="1"/>
          </p:cNvSpPr>
          <p:nvPr/>
        </p:nvSpPr>
        <p:spPr bwMode="auto">
          <a:xfrm>
            <a:off x="10886" y="609600"/>
            <a:ext cx="25298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pPr>
            <a:r>
              <a:rPr lang="zh-CN" altLang="en-US" sz="2800" b="1" dirty="0">
                <a:solidFill>
                  <a:srgbClr val="C00000"/>
                </a:solidFill>
                <a:latin typeface="幼圆" pitchFamily="49" charset="-122"/>
                <a:ea typeface="幼圆" pitchFamily="49" charset="-122"/>
                <a:sym typeface="宋体" pitchFamily="2" charset="-122"/>
              </a:rPr>
              <a:t>编程题目总结 </a:t>
            </a:r>
          </a:p>
        </p:txBody>
      </p:sp>
      <p:sp>
        <p:nvSpPr>
          <p:cNvPr id="4" name="矩形 148"/>
          <p:cNvSpPr/>
          <p:nvPr/>
        </p:nvSpPr>
        <p:spPr>
          <a:xfrm>
            <a:off x="10886" y="1447800"/>
            <a:ext cx="8980714" cy="4745915"/>
          </a:xfrm>
          <a:prstGeom prst="rect">
            <a:avLst/>
          </a:prstGeom>
          <a:noFill/>
          <a:ln w="9525">
            <a:noFill/>
          </a:ln>
        </p:spPr>
        <p:txBody>
          <a:bodyPr wrap="square">
            <a:spAutoFit/>
          </a:bodyPr>
          <a:lstStyle/>
          <a:p>
            <a:pPr marL="285750" indent="-285750" algn="just" eaLnBrk="1" hangingPunct="1">
              <a:lnSpc>
                <a:spcPct val="120000"/>
              </a:lnSpc>
              <a:buFont typeface="Arial" charset="0"/>
              <a:buChar char="•"/>
              <a:defRPr/>
            </a:pPr>
            <a:r>
              <a:rPr lang="zh-CN" altLang="zh-CN" sz="2800" b="1" noProof="1">
                <a:solidFill>
                  <a:srgbClr val="002060"/>
                </a:solidFill>
                <a:latin typeface="微软雅黑" pitchFamily="34" charset="-122"/>
                <a:ea typeface="微软雅黑" pitchFamily="34" charset="-122"/>
                <a:cs typeface="+mn-ea"/>
              </a:rPr>
              <a:t>输出图形（</a:t>
            </a:r>
            <a:r>
              <a:rPr lang="en-US" altLang="zh-CN" sz="2800" b="1" noProof="1">
                <a:solidFill>
                  <a:srgbClr val="002060"/>
                </a:solidFill>
                <a:latin typeface="微软雅黑" pitchFamily="34" charset="-122"/>
                <a:ea typeface="微软雅黑" pitchFamily="34" charset="-122"/>
                <a:cs typeface="+mn-ea"/>
              </a:rPr>
              <a:t>*</a:t>
            </a:r>
            <a:r>
              <a:rPr lang="zh-CN" altLang="en-US" sz="2800" b="1" noProof="1">
                <a:solidFill>
                  <a:srgbClr val="002060"/>
                </a:solidFill>
                <a:latin typeface="微软雅黑" pitchFamily="34" charset="-122"/>
                <a:ea typeface="微软雅黑" pitchFamily="34" charset="-122"/>
                <a:cs typeface="+mn-ea"/>
              </a:rPr>
              <a:t>，</a:t>
            </a:r>
            <a:r>
              <a:rPr lang="en-US" altLang="zh-CN" sz="2800" b="1" noProof="1">
                <a:solidFill>
                  <a:srgbClr val="002060"/>
                </a:solidFill>
                <a:latin typeface="微软雅黑" pitchFamily="34" charset="-122"/>
                <a:ea typeface="微软雅黑" pitchFamily="34" charset="-122"/>
                <a:cs typeface="+mn-ea"/>
              </a:rPr>
              <a:t>n</a:t>
            </a:r>
            <a:r>
              <a:rPr lang="zh-CN" altLang="zh-CN" sz="2800" b="1" noProof="1">
                <a:solidFill>
                  <a:srgbClr val="002060"/>
                </a:solidFill>
                <a:latin typeface="微软雅黑" pitchFamily="34" charset="-122"/>
                <a:ea typeface="微软雅黑" pitchFamily="34" charset="-122"/>
                <a:cs typeface="+mn-ea"/>
              </a:rPr>
              <a:t>行</a:t>
            </a:r>
            <a:r>
              <a:rPr lang="en-US" altLang="zh-CN" sz="2800" b="1" noProof="1">
                <a:solidFill>
                  <a:srgbClr val="002060"/>
                </a:solidFill>
                <a:latin typeface="微软雅黑" pitchFamily="34" charset="-122"/>
                <a:ea typeface="微软雅黑" pitchFamily="34" charset="-122"/>
                <a:cs typeface="+mn-ea"/>
              </a:rPr>
              <a:t>&amp;n</a:t>
            </a:r>
            <a:r>
              <a:rPr lang="zh-CN" altLang="zh-CN" sz="2800" b="1" noProof="1">
                <a:solidFill>
                  <a:srgbClr val="002060"/>
                </a:solidFill>
                <a:latin typeface="微软雅黑" pitchFamily="34" charset="-122"/>
                <a:ea typeface="微软雅黑" pitchFamily="34" charset="-122"/>
                <a:cs typeface="+mn-ea"/>
              </a:rPr>
              <a:t>列，</a:t>
            </a:r>
            <a:r>
              <a:rPr lang="en-US" altLang="zh-CN" sz="2800" b="1" noProof="1">
                <a:solidFill>
                  <a:srgbClr val="002060"/>
                </a:solidFill>
                <a:latin typeface="微软雅黑" pitchFamily="34" charset="-122"/>
                <a:ea typeface="微软雅黑" pitchFamily="34" charset="-122"/>
                <a:cs typeface="+mn-ea"/>
              </a:rPr>
              <a:t>n</a:t>
            </a:r>
            <a:r>
              <a:rPr lang="zh-CN" altLang="zh-CN" sz="2800" b="1" noProof="1">
                <a:solidFill>
                  <a:srgbClr val="002060"/>
                </a:solidFill>
                <a:latin typeface="微软雅黑" pitchFamily="34" charset="-122"/>
                <a:ea typeface="微软雅黑" pitchFamily="34" charset="-122"/>
                <a:cs typeface="+mn-ea"/>
              </a:rPr>
              <a:t>行</a:t>
            </a:r>
            <a:r>
              <a:rPr lang="en-US" altLang="zh-CN" sz="2800" b="1" noProof="1">
                <a:solidFill>
                  <a:srgbClr val="002060"/>
                </a:solidFill>
                <a:latin typeface="微软雅黑" pitchFamily="34" charset="-122"/>
                <a:ea typeface="微软雅黑" pitchFamily="34" charset="-122"/>
                <a:cs typeface="+mn-ea"/>
              </a:rPr>
              <a:t>&amp;2*n-1</a:t>
            </a:r>
            <a:r>
              <a:rPr lang="zh-CN" altLang="zh-CN" sz="2800" b="1" noProof="1">
                <a:solidFill>
                  <a:srgbClr val="002060"/>
                </a:solidFill>
                <a:latin typeface="微软雅黑" pitchFamily="34" charset="-122"/>
                <a:ea typeface="微软雅黑" pitchFamily="34" charset="-122"/>
                <a:cs typeface="+mn-ea"/>
              </a:rPr>
              <a:t>列，</a:t>
            </a:r>
            <a:r>
              <a:rPr lang="en-US" altLang="zh-CN" sz="2800" b="1" noProof="1">
                <a:solidFill>
                  <a:srgbClr val="002060"/>
                </a:solidFill>
                <a:latin typeface="微软雅黑" pitchFamily="34" charset="-122"/>
                <a:ea typeface="微软雅黑" pitchFamily="34" charset="-122"/>
                <a:cs typeface="+mn-ea"/>
              </a:rPr>
              <a:t>2*n-1</a:t>
            </a:r>
            <a:r>
              <a:rPr lang="zh-CN" altLang="zh-CN" sz="2800" b="1" noProof="1">
                <a:solidFill>
                  <a:srgbClr val="002060"/>
                </a:solidFill>
                <a:latin typeface="微软雅黑" pitchFamily="34" charset="-122"/>
                <a:ea typeface="微软雅黑" pitchFamily="34" charset="-122"/>
                <a:cs typeface="+mn-ea"/>
              </a:rPr>
              <a:t>行</a:t>
            </a:r>
            <a:r>
              <a:rPr lang="en-US" altLang="zh-CN" sz="2800" b="1" noProof="1">
                <a:solidFill>
                  <a:srgbClr val="002060"/>
                </a:solidFill>
                <a:latin typeface="微软雅黑" pitchFamily="34" charset="-122"/>
                <a:ea typeface="微软雅黑" pitchFamily="34" charset="-122"/>
                <a:cs typeface="+mn-ea"/>
              </a:rPr>
              <a:t>&amp;n</a:t>
            </a:r>
            <a:r>
              <a:rPr lang="zh-CN" altLang="zh-CN" sz="2800" b="1" noProof="1">
                <a:solidFill>
                  <a:srgbClr val="002060"/>
                </a:solidFill>
                <a:latin typeface="微软雅黑" pitchFamily="34" charset="-122"/>
                <a:ea typeface="微软雅黑" pitchFamily="34" charset="-122"/>
                <a:cs typeface="+mn-ea"/>
              </a:rPr>
              <a:t>列，</a:t>
            </a:r>
            <a:r>
              <a:rPr lang="en-US" altLang="zh-CN" sz="2800" b="1" noProof="1">
                <a:solidFill>
                  <a:srgbClr val="002060"/>
                </a:solidFill>
                <a:latin typeface="微软雅黑" pitchFamily="34" charset="-122"/>
                <a:ea typeface="微软雅黑" pitchFamily="34" charset="-122"/>
                <a:cs typeface="+mn-ea"/>
              </a:rPr>
              <a:t>2*n-1</a:t>
            </a:r>
            <a:r>
              <a:rPr lang="zh-CN" altLang="zh-CN" sz="2800" b="1" noProof="1">
                <a:solidFill>
                  <a:srgbClr val="002060"/>
                </a:solidFill>
                <a:latin typeface="微软雅黑" pitchFamily="34" charset="-122"/>
                <a:ea typeface="微软雅黑" pitchFamily="34" charset="-122"/>
                <a:cs typeface="+mn-ea"/>
              </a:rPr>
              <a:t>行</a:t>
            </a:r>
            <a:r>
              <a:rPr lang="en-US" altLang="zh-CN" sz="2800" b="1" noProof="1">
                <a:solidFill>
                  <a:srgbClr val="002060"/>
                </a:solidFill>
                <a:latin typeface="微软雅黑" pitchFamily="34" charset="-122"/>
                <a:ea typeface="微软雅黑" pitchFamily="34" charset="-122"/>
                <a:cs typeface="+mn-ea"/>
              </a:rPr>
              <a:t>&amp;2*n-1</a:t>
            </a:r>
            <a:r>
              <a:rPr lang="zh-CN" altLang="en-US" sz="2800" b="1" noProof="1">
                <a:solidFill>
                  <a:srgbClr val="002060"/>
                </a:solidFill>
                <a:latin typeface="微软雅黑" pitchFamily="34" charset="-122"/>
                <a:ea typeface="微软雅黑" pitchFamily="34" charset="-122"/>
                <a:cs typeface="+mn-ea"/>
              </a:rPr>
              <a:t>列或其他，三角形，四边形，梯形，字母形状等，图形的组成是数字</a:t>
            </a:r>
            <a:r>
              <a:rPr lang="en-US" altLang="zh-CN" sz="2800" b="1" noProof="1">
                <a:solidFill>
                  <a:srgbClr val="002060"/>
                </a:solidFill>
                <a:latin typeface="微软雅黑" pitchFamily="34" charset="-122"/>
                <a:ea typeface="微软雅黑" pitchFamily="34" charset="-122"/>
                <a:cs typeface="+mn-ea"/>
              </a:rPr>
              <a:t>1--9</a:t>
            </a:r>
            <a:r>
              <a:rPr lang="zh-CN" altLang="en-US" sz="2800" b="1" noProof="1">
                <a:solidFill>
                  <a:srgbClr val="002060"/>
                </a:solidFill>
                <a:latin typeface="微软雅黑" pitchFamily="34" charset="-122"/>
                <a:ea typeface="微软雅黑" pitchFamily="34" charset="-122"/>
                <a:cs typeface="+mn-ea"/>
              </a:rPr>
              <a:t>，或是字母</a:t>
            </a:r>
            <a:r>
              <a:rPr lang="en-US" altLang="zh-CN" sz="2800" b="1" noProof="1">
                <a:solidFill>
                  <a:srgbClr val="002060"/>
                </a:solidFill>
                <a:latin typeface="微软雅黑" pitchFamily="34" charset="-122"/>
                <a:ea typeface="微软雅黑" pitchFamily="34" charset="-122"/>
                <a:cs typeface="+mn-ea"/>
              </a:rPr>
              <a:t>a--z, A--Z</a:t>
            </a:r>
            <a:r>
              <a:rPr lang="zh-CN" altLang="en-US" sz="2800" b="1" noProof="1">
                <a:solidFill>
                  <a:srgbClr val="002060"/>
                </a:solidFill>
                <a:latin typeface="微软雅黑" pitchFamily="34" charset="-122"/>
                <a:ea typeface="微软雅黑" pitchFamily="34" charset="-122"/>
                <a:cs typeface="+mn-ea"/>
              </a:rPr>
              <a:t>）</a:t>
            </a:r>
            <a:endParaRPr lang="zh-CN" altLang="en-US" sz="2800" b="1" noProof="1">
              <a:solidFill>
                <a:srgbClr val="002060"/>
              </a:solidFill>
              <a:latin typeface="微软雅黑" pitchFamily="34" charset="-122"/>
              <a:ea typeface="微软雅黑" pitchFamily="34" charset="-122"/>
            </a:endParaRPr>
          </a:p>
          <a:p>
            <a:pPr marL="285750" indent="-285750" algn="just" eaLnBrk="1" hangingPunct="1">
              <a:lnSpc>
                <a:spcPct val="120000"/>
              </a:lnSpc>
              <a:buFont typeface="Arial" charset="0"/>
              <a:buChar char="•"/>
              <a:defRPr/>
            </a:pPr>
            <a:r>
              <a:rPr lang="zh-CN" altLang="en-US" sz="2800" b="1" noProof="1">
                <a:solidFill>
                  <a:srgbClr val="002060"/>
                </a:solidFill>
                <a:latin typeface="微软雅黑" pitchFamily="34" charset="-122"/>
                <a:ea typeface="微软雅黑" pitchFamily="34" charset="-122"/>
                <a:cs typeface="+mn-ea"/>
              </a:rPr>
              <a:t>数值类（与日期相关的，与素数相关的，与数值转换相关的，与数组相关的，与排序相关的，与最大值最小值相关的）</a:t>
            </a:r>
            <a:endParaRPr lang="zh-CN" altLang="en-US" sz="2800" b="1" noProof="1">
              <a:solidFill>
                <a:srgbClr val="002060"/>
              </a:solidFill>
              <a:latin typeface="微软雅黑" pitchFamily="34" charset="-122"/>
              <a:ea typeface="微软雅黑" pitchFamily="34" charset="-122"/>
            </a:endParaRPr>
          </a:p>
          <a:p>
            <a:pPr marL="285750" indent="-285750" algn="just" eaLnBrk="1" hangingPunct="1">
              <a:lnSpc>
                <a:spcPct val="120000"/>
              </a:lnSpc>
              <a:buFont typeface="Arial" charset="0"/>
              <a:buChar char="•"/>
              <a:defRPr/>
            </a:pPr>
            <a:r>
              <a:rPr lang="zh-CN" altLang="en-US" sz="2800" b="1" noProof="1">
                <a:solidFill>
                  <a:srgbClr val="002060"/>
                </a:solidFill>
                <a:latin typeface="微软雅黑" pitchFamily="34" charset="-122"/>
                <a:ea typeface="微软雅黑" pitchFamily="34" charset="-122"/>
                <a:cs typeface="+mn-ea"/>
              </a:rPr>
              <a:t>字符串操作（一个字符串的查找，排序，插入，删除，多个字符串的合并，排序，查找，插入，删除）</a:t>
            </a:r>
            <a:endParaRPr lang="zh-CN" altLang="en-US" sz="2800" b="1" noProof="1">
              <a:solidFill>
                <a:srgbClr val="002060"/>
              </a:solidFill>
              <a:latin typeface="微软雅黑" pitchFamily="34" charset="-122"/>
              <a:ea typeface="微软雅黑" pitchFamily="34" charset="-122"/>
            </a:endParaRPr>
          </a:p>
        </p:txBody>
      </p:sp>
    </p:spTree>
    <p:extLst>
      <p:ext uri="{BB962C8B-B14F-4D97-AF65-F5344CB8AC3E}">
        <p14:creationId xmlns:p14="http://schemas.microsoft.com/office/powerpoint/2010/main" val="2602611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6"/>
          <p:cNvGrpSpPr>
            <a:grpSpLocks/>
          </p:cNvGrpSpPr>
          <p:nvPr/>
        </p:nvGrpSpPr>
        <p:grpSpPr bwMode="auto">
          <a:xfrm>
            <a:off x="573088" y="2347913"/>
            <a:ext cx="7572375" cy="3309937"/>
            <a:chOff x="4568" y="3129"/>
            <a:chExt cx="11715" cy="6951"/>
          </a:xfrm>
        </p:grpSpPr>
        <p:sp>
          <p:nvSpPr>
            <p:cNvPr id="8196" name="Freeform 2"/>
            <p:cNvSpPr>
              <a:spLocks noChangeArrowheads="1"/>
            </p:cNvSpPr>
            <p:nvPr/>
          </p:nvSpPr>
          <p:spPr bwMode="auto">
            <a:xfrm>
              <a:off x="5234" y="4092"/>
              <a:ext cx="11049" cy="4894"/>
            </a:xfrm>
            <a:custGeom>
              <a:avLst/>
              <a:gdLst>
                <a:gd name="T0" fmla="*/ 496 w 5190"/>
                <a:gd name="T1" fmla="*/ 157 h 2298"/>
                <a:gd name="T2" fmla="*/ 0 w 5190"/>
                <a:gd name="T3" fmla="*/ 0 h 2298"/>
                <a:gd name="T4" fmla="*/ 231 w 5190"/>
                <a:gd name="T5" fmla="*/ 124 h 2298"/>
                <a:gd name="T6" fmla="*/ 4282 w 5190"/>
                <a:gd name="T7" fmla="*/ 2025 h 2298"/>
                <a:gd name="T8" fmla="*/ 3974 w 5190"/>
                <a:gd name="T9" fmla="*/ 2298 h 2298"/>
                <a:gd name="T10" fmla="*/ 5190 w 5190"/>
                <a:gd name="T11" fmla="*/ 2065 h 2298"/>
                <a:gd name="T12" fmla="*/ 5039 w 5190"/>
                <a:gd name="T13" fmla="*/ 1268 h 2298"/>
                <a:gd name="T14" fmla="*/ 4748 w 5190"/>
                <a:gd name="T15" fmla="*/ 1507 h 2298"/>
                <a:gd name="T16" fmla="*/ 496 w 5190"/>
                <a:gd name="T17" fmla="*/ 157 h 2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90" h="2298">
                  <a:moveTo>
                    <a:pt x="496" y="157"/>
                  </a:moveTo>
                  <a:lnTo>
                    <a:pt x="0" y="0"/>
                  </a:lnTo>
                  <a:lnTo>
                    <a:pt x="231" y="124"/>
                  </a:lnTo>
                  <a:lnTo>
                    <a:pt x="4282" y="2025"/>
                  </a:lnTo>
                  <a:lnTo>
                    <a:pt x="3974" y="2298"/>
                  </a:lnTo>
                  <a:lnTo>
                    <a:pt x="5190" y="2065"/>
                  </a:lnTo>
                  <a:lnTo>
                    <a:pt x="5039" y="1268"/>
                  </a:lnTo>
                  <a:lnTo>
                    <a:pt x="4748" y="1507"/>
                  </a:lnTo>
                  <a:lnTo>
                    <a:pt x="496" y="157"/>
                  </a:lnTo>
                  <a:close/>
                </a:path>
              </a:pathLst>
            </a:custGeom>
            <a:gradFill rotWithShape="1">
              <a:gsLst>
                <a:gs pos="0">
                  <a:srgbClr val="5F3214"/>
                </a:gs>
                <a:gs pos="50000">
                  <a:schemeClr val="accent2"/>
                </a:gs>
                <a:gs pos="100000">
                  <a:srgbClr val="5F3214"/>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26636" name="AutoShape 3"/>
            <p:cNvSpPr>
              <a:spLocks noChangeArrowheads="1"/>
            </p:cNvSpPr>
            <p:nvPr/>
          </p:nvSpPr>
          <p:spPr bwMode="auto">
            <a:xfrm>
              <a:off x="6840" y="4619"/>
              <a:ext cx="336" cy="207"/>
            </a:xfrm>
            <a:prstGeom prst="can">
              <a:avLst>
                <a:gd name="adj" fmla="val 39796"/>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26637" name="AutoShape 4"/>
            <p:cNvSpPr>
              <a:spLocks noChangeArrowheads="1"/>
            </p:cNvSpPr>
            <p:nvPr/>
          </p:nvSpPr>
          <p:spPr bwMode="auto">
            <a:xfrm>
              <a:off x="8193" y="5109"/>
              <a:ext cx="395" cy="287"/>
            </a:xfrm>
            <a:prstGeom prst="can">
              <a:avLst>
                <a:gd name="adj" fmla="val 27343"/>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26638" name="AutoShape 5"/>
            <p:cNvSpPr>
              <a:spLocks noChangeArrowheads="1"/>
            </p:cNvSpPr>
            <p:nvPr/>
          </p:nvSpPr>
          <p:spPr bwMode="auto">
            <a:xfrm>
              <a:off x="9664" y="5586"/>
              <a:ext cx="538" cy="457"/>
            </a:xfrm>
            <a:prstGeom prst="can">
              <a:avLst>
                <a:gd name="adj" fmla="val 25000"/>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26639" name="AutoShape 6"/>
            <p:cNvSpPr>
              <a:spLocks noChangeArrowheads="1"/>
            </p:cNvSpPr>
            <p:nvPr/>
          </p:nvSpPr>
          <p:spPr bwMode="auto">
            <a:xfrm>
              <a:off x="13208" y="6566"/>
              <a:ext cx="845" cy="1020"/>
            </a:xfrm>
            <a:prstGeom prst="can">
              <a:avLst>
                <a:gd name="adj" fmla="val 21409"/>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26640" name="AutoShape 7"/>
            <p:cNvSpPr>
              <a:spLocks noChangeArrowheads="1"/>
            </p:cNvSpPr>
            <p:nvPr/>
          </p:nvSpPr>
          <p:spPr bwMode="auto">
            <a:xfrm>
              <a:off x="11396" y="6156"/>
              <a:ext cx="666" cy="637"/>
            </a:xfrm>
            <a:prstGeom prst="can">
              <a:avLst>
                <a:gd name="adj" fmla="val 21667"/>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185361" name="Text Box 8"/>
            <p:cNvSpPr txBox="1">
              <a:spLocks noChangeArrowheads="1"/>
            </p:cNvSpPr>
            <p:nvPr/>
          </p:nvSpPr>
          <p:spPr bwMode="auto">
            <a:xfrm>
              <a:off x="5393" y="3197"/>
              <a:ext cx="1918" cy="1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a:spcBef>
                  <a:spcPct val="50000"/>
                </a:spcBef>
                <a:buFont typeface="Arial" pitchFamily="34" charset="0"/>
                <a:buNone/>
              </a:pPr>
              <a:r>
                <a:rPr lang="zh-CN" altLang="zh-CN" sz="1500" b="1">
                  <a:solidFill>
                    <a:srgbClr val="C00000"/>
                  </a:solidFill>
                </a:rPr>
                <a:t>定义变量</a:t>
              </a:r>
            </a:p>
            <a:p>
              <a:pPr>
                <a:spcBef>
                  <a:spcPct val="50000"/>
                </a:spcBef>
                <a:buFont typeface="Arial" pitchFamily="34" charset="0"/>
                <a:buNone/>
              </a:pPr>
              <a:r>
                <a:rPr lang="en-US" altLang="zh-CN" sz="1500" b="1">
                  <a:solidFill>
                    <a:srgbClr val="C00000"/>
                  </a:solidFill>
                </a:rPr>
                <a:t> </a:t>
              </a:r>
            </a:p>
          </p:txBody>
        </p:sp>
        <p:sp>
          <p:nvSpPr>
            <p:cNvPr id="185362" name="Text Box 9"/>
            <p:cNvSpPr txBox="1">
              <a:spLocks noChangeArrowheads="1"/>
            </p:cNvSpPr>
            <p:nvPr/>
          </p:nvSpPr>
          <p:spPr bwMode="auto">
            <a:xfrm>
              <a:off x="8969" y="3129"/>
              <a:ext cx="2232"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a:spcBef>
                  <a:spcPct val="50000"/>
                </a:spcBef>
                <a:buFont typeface="Arial" pitchFamily="34" charset="0"/>
                <a:buNone/>
              </a:pPr>
              <a:r>
                <a:rPr lang="zh-CN" altLang="zh-CN" sz="1500" b="1">
                  <a:solidFill>
                    <a:srgbClr val="C00000"/>
                  </a:solidFill>
                </a:rPr>
                <a:t>行循环</a:t>
              </a:r>
            </a:p>
          </p:txBody>
        </p:sp>
        <p:sp>
          <p:nvSpPr>
            <p:cNvPr id="26643" name="Text Box 10"/>
            <p:cNvSpPr txBox="1">
              <a:spLocks noChangeArrowheads="1"/>
            </p:cNvSpPr>
            <p:nvPr/>
          </p:nvSpPr>
          <p:spPr bwMode="auto">
            <a:xfrm>
              <a:off x="9325" y="3196"/>
              <a:ext cx="1916" cy="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spcBef>
                  <a:spcPct val="50000"/>
                </a:spcBef>
                <a:buFont typeface="Arial" panose="020B0604020202020204" pitchFamily="34" charset="0"/>
                <a:buNone/>
                <a:defRPr/>
              </a:pPr>
              <a:endParaRPr lang="en-US" altLang="zh-CN" sz="1350" b="1">
                <a:solidFill>
                  <a:srgbClr val="44546A"/>
                </a:solidFill>
                <a:latin typeface="Arial" panose="020B0604020202020204" pitchFamily="34" charset="0"/>
              </a:endParaRPr>
            </a:p>
          </p:txBody>
        </p:sp>
        <p:sp>
          <p:nvSpPr>
            <p:cNvPr id="26644" name="Text Box 12"/>
            <p:cNvSpPr txBox="1">
              <a:spLocks noChangeArrowheads="1"/>
            </p:cNvSpPr>
            <p:nvPr/>
          </p:nvSpPr>
          <p:spPr bwMode="auto">
            <a:xfrm>
              <a:off x="13601" y="3169"/>
              <a:ext cx="1918" cy="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spcBef>
                  <a:spcPct val="50000"/>
                </a:spcBef>
                <a:buFont typeface="Arial" panose="020B0604020202020204" pitchFamily="34" charset="0"/>
                <a:buNone/>
                <a:defRPr/>
              </a:pPr>
              <a:r>
                <a:rPr lang="zh-CN" altLang="en-US" sz="1350" b="1">
                  <a:solidFill>
                    <a:srgbClr val="C00000"/>
                  </a:solidFill>
                  <a:latin typeface="Arial" panose="020B0604020202020204" pitchFamily="34" charset="0"/>
                </a:rPr>
                <a:t>写代码</a:t>
              </a:r>
              <a:r>
                <a:rPr lang="en-US" altLang="zh-CN" sz="1350" b="1">
                  <a:solidFill>
                    <a:srgbClr val="C00000"/>
                  </a:solidFill>
                  <a:latin typeface="Arial" panose="020B0604020202020204" pitchFamily="34" charset="0"/>
                </a:rPr>
                <a:t>code</a:t>
              </a:r>
            </a:p>
          </p:txBody>
        </p:sp>
        <p:sp>
          <p:nvSpPr>
            <p:cNvPr id="185365" name="Text Box 13"/>
            <p:cNvSpPr txBox="1">
              <a:spLocks noChangeArrowheads="1"/>
            </p:cNvSpPr>
            <p:nvPr/>
          </p:nvSpPr>
          <p:spPr bwMode="auto">
            <a:xfrm>
              <a:off x="4568" y="4920"/>
              <a:ext cx="3568"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spcBef>
                  <a:spcPct val="50000"/>
                </a:spcBef>
                <a:buFont typeface="Arial" pitchFamily="34" charset="0"/>
                <a:buNone/>
              </a:pPr>
              <a:r>
                <a:rPr lang="zh-CN" altLang="en-US" sz="1500" b="1">
                  <a:solidFill>
                    <a:srgbClr val="002060"/>
                  </a:solidFill>
                </a:rPr>
                <a:t> </a:t>
              </a:r>
              <a:r>
                <a:rPr lang="en-US" altLang="zh-CN" sz="1500" b="1">
                  <a:solidFill>
                    <a:srgbClr val="002060"/>
                  </a:solidFill>
                </a:rPr>
                <a:t> int i,j,n;</a:t>
              </a:r>
            </a:p>
          </p:txBody>
        </p:sp>
        <p:sp>
          <p:nvSpPr>
            <p:cNvPr id="26646" name="Text Box 14"/>
            <p:cNvSpPr txBox="1">
              <a:spLocks noChangeArrowheads="1"/>
            </p:cNvSpPr>
            <p:nvPr/>
          </p:nvSpPr>
          <p:spPr bwMode="auto">
            <a:xfrm>
              <a:off x="6228" y="7400"/>
              <a:ext cx="3787" cy="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 typeface="Arial" panose="020B0604020202020204" pitchFamily="34" charset="0"/>
                <a:buNone/>
                <a:defRPr/>
              </a:pPr>
              <a:r>
                <a:rPr lang="zh-CN" altLang="en-US" sz="1350" b="1">
                  <a:solidFill>
                    <a:srgbClr val="002060"/>
                  </a:solidFill>
                  <a:latin typeface="Arial" panose="020B0604020202020204" pitchFamily="34" charset="0"/>
                </a:rPr>
                <a:t> </a:t>
              </a:r>
              <a:r>
                <a:rPr lang="en-US" altLang="zh-CN" sz="1350" b="1">
                  <a:solidFill>
                    <a:srgbClr val="002060"/>
                  </a:solidFill>
                  <a:latin typeface="Arial" panose="020B0604020202020204" pitchFamily="34" charset="0"/>
                </a:rPr>
                <a:t>for (i=0;i&lt;n;i++)</a:t>
              </a:r>
            </a:p>
          </p:txBody>
        </p:sp>
        <p:sp>
          <p:nvSpPr>
            <p:cNvPr id="26647" name="Text Box 15"/>
            <p:cNvSpPr txBox="1">
              <a:spLocks noChangeArrowheads="1"/>
            </p:cNvSpPr>
            <p:nvPr/>
          </p:nvSpPr>
          <p:spPr bwMode="auto">
            <a:xfrm>
              <a:off x="8588" y="7760"/>
              <a:ext cx="3790" cy="1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 typeface="Arial" panose="020B0604020202020204" pitchFamily="34" charset="0"/>
                <a:buNone/>
                <a:defRPr/>
              </a:pPr>
              <a:r>
                <a:rPr lang="zh-CN" altLang="en-US" sz="1350" b="1">
                  <a:solidFill>
                    <a:srgbClr val="002060"/>
                  </a:solidFill>
                  <a:latin typeface="Arial" panose="020B0604020202020204" pitchFamily="34" charset="0"/>
                </a:rPr>
                <a:t> </a:t>
              </a:r>
              <a:r>
                <a:rPr lang="en-US" altLang="zh-CN" sz="1350" b="1">
                  <a:solidFill>
                    <a:srgbClr val="002060"/>
                  </a:solidFill>
                  <a:latin typeface="Arial" panose="020B0604020202020204" pitchFamily="34" charset="0"/>
                </a:rPr>
                <a:t>1 </a:t>
              </a:r>
              <a:r>
                <a:rPr lang="zh-CN" altLang="en-US" sz="1350" b="1">
                  <a:solidFill>
                    <a:srgbClr val="002060"/>
                  </a:solidFill>
                  <a:latin typeface="Arial" panose="020B0604020202020204" pitchFamily="34" charset="0"/>
                </a:rPr>
                <a:t>循环输出若干空格</a:t>
              </a:r>
              <a:r>
                <a:rPr lang="en-US" altLang="zh-CN" sz="1350" b="1">
                  <a:solidFill>
                    <a:srgbClr val="002060"/>
                  </a:solidFill>
                  <a:latin typeface="Arial" panose="020B0604020202020204" pitchFamily="34" charset="0"/>
                </a:rPr>
                <a:t> </a:t>
              </a:r>
              <a:endParaRPr lang="zh-CN" altLang="en-US" sz="1350" b="1">
                <a:solidFill>
                  <a:srgbClr val="002060"/>
                </a:solidFill>
                <a:latin typeface="Arial" panose="020B0604020202020204" pitchFamily="34" charset="0"/>
              </a:endParaRPr>
            </a:p>
            <a:p>
              <a:pPr eaLnBrk="1" hangingPunct="1">
                <a:spcBef>
                  <a:spcPct val="50000"/>
                </a:spcBef>
                <a:buFont typeface="Arial" panose="020B0604020202020204" pitchFamily="34" charset="0"/>
                <a:buNone/>
                <a:defRPr/>
              </a:pPr>
              <a:r>
                <a:rPr lang="en-US" altLang="zh-CN" sz="1350" b="1">
                  <a:solidFill>
                    <a:srgbClr val="002060"/>
                  </a:solidFill>
                  <a:latin typeface="Arial" panose="020B0604020202020204" pitchFamily="34" charset="0"/>
                </a:rPr>
                <a:t> 2 </a:t>
              </a:r>
              <a:r>
                <a:rPr lang="zh-CN" altLang="en-US" sz="1350" b="1">
                  <a:solidFill>
                    <a:srgbClr val="002060"/>
                  </a:solidFill>
                  <a:latin typeface="Arial" panose="020B0604020202020204" pitchFamily="34" charset="0"/>
                </a:rPr>
                <a:t>循环输出</a:t>
              </a:r>
              <a:r>
                <a:rPr lang="en-US" altLang="zh-CN" sz="1350" b="1">
                  <a:solidFill>
                    <a:srgbClr val="002060"/>
                  </a:solidFill>
                  <a:latin typeface="Arial" panose="020B0604020202020204" pitchFamily="34" charset="0"/>
                </a:rPr>
                <a:t>n</a:t>
              </a:r>
              <a:r>
                <a:rPr lang="zh-CN" altLang="zh-CN" sz="1350" b="1">
                  <a:solidFill>
                    <a:srgbClr val="002060"/>
                  </a:solidFill>
                  <a:latin typeface="Arial" panose="020B0604020202020204" pitchFamily="34" charset="0"/>
                </a:rPr>
                <a:t>个</a:t>
              </a:r>
              <a:r>
                <a:rPr lang="zh-CN" altLang="en-US" sz="1350" b="1">
                  <a:solidFill>
                    <a:srgbClr val="002060"/>
                  </a:solidFill>
                  <a:latin typeface="Arial" panose="020B0604020202020204" pitchFamily="34" charset="0"/>
                </a:rPr>
                <a:t>*</a:t>
              </a:r>
              <a:r>
                <a:rPr lang="en-US" altLang="zh-CN" sz="1350" b="1">
                  <a:solidFill>
                    <a:srgbClr val="002060"/>
                  </a:solidFill>
                  <a:latin typeface="Arial" panose="020B0604020202020204" pitchFamily="34" charset="0"/>
                </a:rPr>
                <a:t> </a:t>
              </a:r>
              <a:r>
                <a:rPr lang="zh-CN" altLang="en-US" sz="1350" b="1">
                  <a:solidFill>
                    <a:srgbClr val="002060"/>
                  </a:solidFill>
                  <a:latin typeface="Arial" panose="020B0604020202020204" pitchFamily="34" charset="0"/>
                </a:rPr>
                <a:t> </a:t>
              </a:r>
            </a:p>
            <a:p>
              <a:pPr eaLnBrk="1" hangingPunct="1">
                <a:spcBef>
                  <a:spcPct val="50000"/>
                </a:spcBef>
                <a:buFont typeface="Arial" panose="020B0604020202020204" pitchFamily="34" charset="0"/>
                <a:buNone/>
                <a:defRPr/>
              </a:pPr>
              <a:r>
                <a:rPr lang="en-US" altLang="zh-CN" sz="1350" b="1">
                  <a:solidFill>
                    <a:srgbClr val="002060"/>
                  </a:solidFill>
                  <a:latin typeface="Arial" panose="020B0604020202020204" pitchFamily="34" charset="0"/>
                </a:rPr>
                <a:t> 3 </a:t>
              </a:r>
              <a:r>
                <a:rPr lang="zh-CN" altLang="en-US" sz="1350" b="1">
                  <a:solidFill>
                    <a:srgbClr val="002060"/>
                  </a:solidFill>
                  <a:latin typeface="Arial" panose="020B0604020202020204" pitchFamily="34" charset="0"/>
                </a:rPr>
                <a:t>换行</a:t>
              </a:r>
            </a:p>
          </p:txBody>
        </p:sp>
        <p:sp>
          <p:nvSpPr>
            <p:cNvPr id="185368" name="Text Box 17"/>
            <p:cNvSpPr txBox="1">
              <a:spLocks noChangeArrowheads="1"/>
            </p:cNvSpPr>
            <p:nvPr/>
          </p:nvSpPr>
          <p:spPr bwMode="auto">
            <a:xfrm>
              <a:off x="10845" y="8674"/>
              <a:ext cx="3790" cy="1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spcBef>
                  <a:spcPct val="50000"/>
                </a:spcBef>
                <a:buFont typeface="Arial" pitchFamily="34" charset="0"/>
                <a:buNone/>
              </a:pPr>
              <a:r>
                <a:rPr lang="zh-CN" altLang="en-US" sz="1500" b="1">
                  <a:solidFill>
                    <a:srgbClr val="C00000"/>
                  </a:solidFill>
                </a:rPr>
                <a:t> </a:t>
              </a:r>
              <a:r>
                <a:rPr lang="en-US" altLang="zh-CN" sz="1500" b="1">
                  <a:solidFill>
                    <a:srgbClr val="C00000"/>
                  </a:solidFill>
                </a:rPr>
                <a:t>int main()</a:t>
              </a:r>
            </a:p>
            <a:p>
              <a:pPr eaLnBrk="1" hangingPunct="1">
                <a:spcBef>
                  <a:spcPct val="50000"/>
                </a:spcBef>
                <a:buFont typeface="Arial" pitchFamily="34" charset="0"/>
                <a:buNone/>
              </a:pPr>
              <a:r>
                <a:rPr lang="en-US" altLang="zh-CN" sz="1500" b="1">
                  <a:solidFill>
                    <a:srgbClr val="C00000"/>
                  </a:solidFill>
                </a:rPr>
                <a:t>{......}</a:t>
              </a:r>
            </a:p>
          </p:txBody>
        </p:sp>
        <p:cxnSp>
          <p:nvCxnSpPr>
            <p:cNvPr id="185369" name="AutoShape 18"/>
            <p:cNvCxnSpPr>
              <a:cxnSpLocks noChangeShapeType="1"/>
              <a:stCxn id="26636" idx="3"/>
            </p:cNvCxnSpPr>
            <p:nvPr/>
          </p:nvCxnSpPr>
          <p:spPr bwMode="auto">
            <a:xfrm rot="5400000">
              <a:off x="6010" y="4458"/>
              <a:ext cx="631" cy="1362"/>
            </a:xfrm>
            <a:prstGeom prst="bentConnector2">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cxnSp>
          <p:nvCxnSpPr>
            <p:cNvPr id="185370" name="AutoShape 19"/>
            <p:cNvCxnSpPr>
              <a:cxnSpLocks noChangeShapeType="1"/>
              <a:stCxn id="26637" idx="3"/>
            </p:cNvCxnSpPr>
            <p:nvPr/>
          </p:nvCxnSpPr>
          <p:spPr bwMode="auto">
            <a:xfrm rot="5400000">
              <a:off x="7225" y="4758"/>
              <a:ext cx="526" cy="1801"/>
            </a:xfrm>
            <a:prstGeom prst="bentConnector2">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cxnSp>
          <p:nvCxnSpPr>
            <p:cNvPr id="185371" name="AutoShape 20"/>
            <p:cNvCxnSpPr>
              <a:cxnSpLocks noChangeShapeType="1"/>
              <a:stCxn id="26638" idx="3"/>
            </p:cNvCxnSpPr>
            <p:nvPr/>
          </p:nvCxnSpPr>
          <p:spPr bwMode="auto">
            <a:xfrm rot="5400000">
              <a:off x="8460" y="5372"/>
              <a:ext cx="804" cy="2139"/>
            </a:xfrm>
            <a:prstGeom prst="bentConnector2">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cxnSp>
          <p:nvCxnSpPr>
            <p:cNvPr id="185372" name="AutoShape 21"/>
            <p:cNvCxnSpPr>
              <a:cxnSpLocks noChangeShapeType="1"/>
              <a:stCxn id="26640" idx="3"/>
            </p:cNvCxnSpPr>
            <p:nvPr/>
          </p:nvCxnSpPr>
          <p:spPr bwMode="auto">
            <a:xfrm rot="5400000">
              <a:off x="10609" y="6465"/>
              <a:ext cx="792" cy="1445"/>
            </a:xfrm>
            <a:prstGeom prst="bentConnector3">
              <a:avLst>
                <a:gd name="adj1" fmla="val 49935"/>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cxnSp>
          <p:nvCxnSpPr>
            <p:cNvPr id="185373" name="AutoShape 22"/>
            <p:cNvCxnSpPr>
              <a:cxnSpLocks noChangeShapeType="1"/>
              <a:stCxn id="26639" idx="3"/>
              <a:endCxn id="185368" idx="0"/>
            </p:cNvCxnSpPr>
            <p:nvPr/>
          </p:nvCxnSpPr>
          <p:spPr bwMode="auto">
            <a:xfrm rot="5400000">
              <a:off x="12641" y="7684"/>
              <a:ext cx="1089" cy="891"/>
            </a:xfrm>
            <a:prstGeom prst="bentConnector3">
              <a:avLst>
                <a:gd name="adj1" fmla="val 50000"/>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sp>
          <p:nvSpPr>
            <p:cNvPr id="3" name="AutoShape 23"/>
            <p:cNvSpPr>
              <a:spLocks noChangeArrowheads="1"/>
            </p:cNvSpPr>
            <p:nvPr/>
          </p:nvSpPr>
          <p:spPr bwMode="auto">
            <a:xfrm>
              <a:off x="13208" y="4162"/>
              <a:ext cx="845" cy="2584"/>
            </a:xfrm>
            <a:prstGeom prst="can">
              <a:avLst>
                <a:gd name="adj" fmla="val 27939"/>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4" name="AutoShape 24"/>
            <p:cNvSpPr>
              <a:spLocks noChangeArrowheads="1"/>
            </p:cNvSpPr>
            <p:nvPr/>
          </p:nvSpPr>
          <p:spPr bwMode="auto">
            <a:xfrm>
              <a:off x="11393" y="4159"/>
              <a:ext cx="666" cy="2140"/>
            </a:xfrm>
            <a:prstGeom prst="can">
              <a:avLst>
                <a:gd name="adj" fmla="val 27398"/>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5" name="AutoShape 25"/>
            <p:cNvSpPr>
              <a:spLocks noChangeArrowheads="1"/>
            </p:cNvSpPr>
            <p:nvPr/>
          </p:nvSpPr>
          <p:spPr bwMode="auto">
            <a:xfrm>
              <a:off x="9664" y="4152"/>
              <a:ext cx="538" cy="1570"/>
            </a:xfrm>
            <a:prstGeom prst="can">
              <a:avLst>
                <a:gd name="adj" fmla="val 28235"/>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6" name="AutoShape 26"/>
            <p:cNvSpPr>
              <a:spLocks noChangeArrowheads="1"/>
            </p:cNvSpPr>
            <p:nvPr/>
          </p:nvSpPr>
          <p:spPr bwMode="auto">
            <a:xfrm>
              <a:off x="8193" y="4162"/>
              <a:ext cx="393" cy="1030"/>
            </a:xfrm>
            <a:prstGeom prst="can">
              <a:avLst>
                <a:gd name="adj" fmla="val 23806"/>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7" name="AutoShape 27"/>
            <p:cNvSpPr>
              <a:spLocks noChangeArrowheads="1"/>
            </p:cNvSpPr>
            <p:nvPr/>
          </p:nvSpPr>
          <p:spPr bwMode="auto">
            <a:xfrm>
              <a:off x="6840" y="4169"/>
              <a:ext cx="336" cy="533"/>
            </a:xfrm>
            <a:prstGeom prst="can">
              <a:avLst>
                <a:gd name="adj" fmla="val 26951"/>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grpSp>
      <p:sp>
        <p:nvSpPr>
          <p:cNvPr id="185349" name="文本框 1"/>
          <p:cNvSpPr txBox="1">
            <a:spLocks noChangeArrowheads="1"/>
          </p:cNvSpPr>
          <p:nvPr/>
        </p:nvSpPr>
        <p:spPr bwMode="auto">
          <a:xfrm>
            <a:off x="134938" y="1401763"/>
            <a:ext cx="5897562"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buFont typeface="Arial" pitchFamily="34" charset="0"/>
              <a:buNone/>
            </a:pPr>
            <a:r>
              <a:rPr lang="zh-CN" altLang="en-US" sz="2100">
                <a:solidFill>
                  <a:srgbClr val="002060"/>
                </a:solidFill>
                <a:latin typeface="微软雅黑" pitchFamily="34" charset="-122"/>
                <a:ea typeface="微软雅黑" pitchFamily="34" charset="-122"/>
                <a:sym typeface="宋体" pitchFamily="2" charset="-122"/>
              </a:rPr>
              <a:t>题目：键盘输入</a:t>
            </a:r>
            <a:r>
              <a:rPr lang="en-US" altLang="zh-CN" sz="2100">
                <a:solidFill>
                  <a:srgbClr val="002060"/>
                </a:solidFill>
                <a:latin typeface="微软雅黑" pitchFamily="34" charset="-122"/>
                <a:ea typeface="微软雅黑" pitchFamily="34" charset="-122"/>
                <a:sym typeface="宋体" pitchFamily="2" charset="-122"/>
              </a:rPr>
              <a:t>n</a:t>
            </a:r>
            <a:r>
              <a:rPr lang="zh-CN" altLang="zh-CN" sz="2100">
                <a:solidFill>
                  <a:srgbClr val="002060"/>
                </a:solidFill>
                <a:latin typeface="微软雅黑" pitchFamily="34" charset="-122"/>
                <a:ea typeface="微软雅黑" pitchFamily="34" charset="-122"/>
                <a:sym typeface="宋体" pitchFamily="2" charset="-122"/>
              </a:rPr>
              <a:t>，输出平行四边形，例如输入</a:t>
            </a:r>
            <a:r>
              <a:rPr lang="en-US" altLang="zh-CN" sz="2100">
                <a:solidFill>
                  <a:srgbClr val="002060"/>
                </a:solidFill>
                <a:latin typeface="微软雅黑" pitchFamily="34" charset="-122"/>
                <a:ea typeface="微软雅黑" pitchFamily="34" charset="-122"/>
                <a:sym typeface="宋体" pitchFamily="2" charset="-122"/>
              </a:rPr>
              <a:t>5</a:t>
            </a:r>
          </a:p>
        </p:txBody>
      </p:sp>
      <p:sp>
        <p:nvSpPr>
          <p:cNvPr id="8223" name="文本框 4"/>
          <p:cNvSpPr txBox="1">
            <a:spLocks noChangeArrowheads="1"/>
          </p:cNvSpPr>
          <p:nvPr/>
        </p:nvSpPr>
        <p:spPr bwMode="auto">
          <a:xfrm>
            <a:off x="7991475" y="4267200"/>
            <a:ext cx="973138"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buFont typeface="Arial" pitchFamily="34" charset="0"/>
              <a:buNone/>
            </a:pPr>
            <a:r>
              <a:rPr lang="en-US" altLang="zh-CN" sz="1800" b="1">
                <a:solidFill>
                  <a:srgbClr val="000000"/>
                </a:solidFill>
                <a:latin typeface="Calibri" pitchFamily="34" charset="0"/>
              </a:rPr>
              <a:t>    *****</a:t>
            </a:r>
          </a:p>
          <a:p>
            <a:pPr eaLnBrk="1" hangingPunct="1">
              <a:buFont typeface="Arial" pitchFamily="34" charset="0"/>
              <a:buNone/>
            </a:pPr>
            <a:r>
              <a:rPr lang="en-US" altLang="zh-CN" sz="1800" b="1">
                <a:solidFill>
                  <a:srgbClr val="000000"/>
                </a:solidFill>
                <a:latin typeface="Calibri" pitchFamily="34" charset="0"/>
              </a:rPr>
              <a:t>   *****</a:t>
            </a:r>
          </a:p>
          <a:p>
            <a:pPr eaLnBrk="1" hangingPunct="1">
              <a:buFont typeface="Arial" pitchFamily="34" charset="0"/>
              <a:buNone/>
            </a:pPr>
            <a:r>
              <a:rPr lang="en-US" altLang="zh-CN" sz="1800" b="1">
                <a:solidFill>
                  <a:srgbClr val="000000"/>
                </a:solidFill>
                <a:latin typeface="Calibri" pitchFamily="34" charset="0"/>
              </a:rPr>
              <a:t>  *****</a:t>
            </a:r>
          </a:p>
          <a:p>
            <a:pPr eaLnBrk="1" hangingPunct="1">
              <a:buFont typeface="Arial" pitchFamily="34" charset="0"/>
              <a:buNone/>
            </a:pPr>
            <a:r>
              <a:rPr lang="en-US" altLang="zh-CN" sz="1800" b="1">
                <a:solidFill>
                  <a:srgbClr val="000000"/>
                </a:solidFill>
                <a:latin typeface="Calibri" pitchFamily="34" charset="0"/>
              </a:rPr>
              <a:t> *****</a:t>
            </a:r>
          </a:p>
          <a:p>
            <a:pPr eaLnBrk="1" hangingPunct="1">
              <a:buFont typeface="Arial" pitchFamily="34" charset="0"/>
              <a:buNone/>
            </a:pPr>
            <a:r>
              <a:rPr lang="en-US" altLang="zh-CN" sz="1800" b="1">
                <a:solidFill>
                  <a:srgbClr val="000000"/>
                </a:solidFill>
                <a:latin typeface="Calibri" pitchFamily="34" charset="0"/>
              </a:rPr>
              <a:t>*****</a:t>
            </a:r>
          </a:p>
        </p:txBody>
      </p:sp>
      <p:sp>
        <p:nvSpPr>
          <p:cNvPr id="185351" name="文本框 5"/>
          <p:cNvSpPr txBox="1">
            <a:spLocks noChangeArrowheads="1"/>
          </p:cNvSpPr>
          <p:nvPr/>
        </p:nvSpPr>
        <p:spPr bwMode="auto">
          <a:xfrm>
            <a:off x="153988" y="1814513"/>
            <a:ext cx="76200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buFont typeface="Arial" pitchFamily="34" charset="0"/>
              <a:buNone/>
            </a:pPr>
            <a:r>
              <a:rPr lang="zh-CN" altLang="en-US" sz="2100">
                <a:solidFill>
                  <a:srgbClr val="002060"/>
                </a:solidFill>
                <a:latin typeface="微软雅黑" pitchFamily="34" charset="-122"/>
                <a:ea typeface="微软雅黑" pitchFamily="34" charset="-122"/>
                <a:sym typeface="宋体" pitchFamily="2" charset="-122"/>
              </a:rPr>
              <a:t>步骤：键盘输入</a:t>
            </a:r>
            <a:r>
              <a:rPr lang="en-US" altLang="zh-CN" sz="2100">
                <a:solidFill>
                  <a:srgbClr val="002060"/>
                </a:solidFill>
                <a:latin typeface="微软雅黑" pitchFamily="34" charset="-122"/>
                <a:ea typeface="微软雅黑" pitchFamily="34" charset="-122"/>
                <a:sym typeface="宋体" pitchFamily="2" charset="-122"/>
              </a:rPr>
              <a:t>n</a:t>
            </a:r>
            <a:r>
              <a:rPr lang="zh-CN" altLang="zh-CN" sz="2100">
                <a:solidFill>
                  <a:srgbClr val="002060"/>
                </a:solidFill>
                <a:latin typeface="微软雅黑" pitchFamily="34" charset="-122"/>
                <a:ea typeface="微软雅黑" pitchFamily="34" charset="-122"/>
                <a:sym typeface="宋体" pitchFamily="2" charset="-122"/>
              </a:rPr>
              <a:t>，输出</a:t>
            </a:r>
            <a:r>
              <a:rPr lang="en-US" altLang="zh-CN" sz="2100">
                <a:solidFill>
                  <a:srgbClr val="002060"/>
                </a:solidFill>
                <a:latin typeface="微软雅黑" pitchFamily="34" charset="-122"/>
                <a:ea typeface="微软雅黑" pitchFamily="34" charset="-122"/>
                <a:sym typeface="宋体" pitchFamily="2" charset="-122"/>
              </a:rPr>
              <a:t>n</a:t>
            </a:r>
            <a:r>
              <a:rPr lang="zh-CN" altLang="zh-CN" sz="2100">
                <a:solidFill>
                  <a:srgbClr val="002060"/>
                </a:solidFill>
                <a:latin typeface="微软雅黑" pitchFamily="34" charset="-122"/>
                <a:ea typeface="微软雅黑" pitchFamily="34" charset="-122"/>
                <a:sym typeface="宋体" pitchFamily="2" charset="-122"/>
              </a:rPr>
              <a:t>行，每行先有若干个空格，然后</a:t>
            </a:r>
            <a:r>
              <a:rPr lang="en-US" altLang="zh-CN" sz="2100">
                <a:solidFill>
                  <a:srgbClr val="002060"/>
                </a:solidFill>
                <a:latin typeface="微软雅黑" pitchFamily="34" charset="-122"/>
                <a:ea typeface="微软雅黑" pitchFamily="34" charset="-122"/>
                <a:sym typeface="宋体" pitchFamily="2" charset="-122"/>
              </a:rPr>
              <a:t>n</a:t>
            </a:r>
            <a:r>
              <a:rPr lang="zh-CN" altLang="zh-CN" sz="2100">
                <a:solidFill>
                  <a:srgbClr val="002060"/>
                </a:solidFill>
                <a:latin typeface="微软雅黑" pitchFamily="34" charset="-122"/>
                <a:ea typeface="微软雅黑" pitchFamily="34" charset="-122"/>
                <a:sym typeface="宋体" pitchFamily="2" charset="-122"/>
              </a:rPr>
              <a:t>个</a:t>
            </a:r>
            <a:r>
              <a:rPr lang="en-US" altLang="zh-CN" sz="2100">
                <a:solidFill>
                  <a:srgbClr val="002060"/>
                </a:solidFill>
                <a:latin typeface="微软雅黑" pitchFamily="34" charset="-122"/>
                <a:ea typeface="微软雅黑" pitchFamily="34" charset="-122"/>
                <a:sym typeface="宋体" pitchFamily="2" charset="-122"/>
              </a:rPr>
              <a:t>*</a:t>
            </a:r>
            <a:r>
              <a:rPr lang="zh-CN" altLang="zh-CN" sz="2100">
                <a:solidFill>
                  <a:srgbClr val="002060"/>
                </a:solidFill>
                <a:latin typeface="微软雅黑" pitchFamily="34" charset="-122"/>
                <a:ea typeface="微软雅黑" pitchFamily="34" charset="-122"/>
                <a:sym typeface="宋体" pitchFamily="2" charset="-122"/>
              </a:rPr>
              <a:t> </a:t>
            </a:r>
            <a:endParaRPr lang="en-US" altLang="zh-CN" sz="2100">
              <a:solidFill>
                <a:srgbClr val="002060"/>
              </a:solidFill>
              <a:latin typeface="微软雅黑" pitchFamily="34" charset="-122"/>
              <a:ea typeface="微软雅黑" pitchFamily="34" charset="-122"/>
              <a:sym typeface="宋体" pitchFamily="2" charset="-122"/>
            </a:endParaRPr>
          </a:p>
        </p:txBody>
      </p:sp>
      <p:sp>
        <p:nvSpPr>
          <p:cNvPr id="8225" name="Text Box 9"/>
          <p:cNvSpPr txBox="1">
            <a:spLocks noChangeArrowheads="1"/>
          </p:cNvSpPr>
          <p:nvPr/>
        </p:nvSpPr>
        <p:spPr bwMode="auto">
          <a:xfrm>
            <a:off x="4630738" y="2336800"/>
            <a:ext cx="1614487"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a:spcBef>
                <a:spcPct val="50000"/>
              </a:spcBef>
              <a:buFont typeface="Arial" pitchFamily="34" charset="0"/>
              <a:buNone/>
            </a:pPr>
            <a:r>
              <a:rPr lang="zh-CN" altLang="zh-CN" sz="1500" b="1">
                <a:solidFill>
                  <a:srgbClr val="C00000"/>
                </a:solidFill>
              </a:rPr>
              <a:t>每行内有什么？ </a:t>
            </a:r>
          </a:p>
        </p:txBody>
      </p:sp>
      <p:sp>
        <p:nvSpPr>
          <p:cNvPr id="43" name="Text Box 8"/>
          <p:cNvSpPr txBox="1">
            <a:spLocks noChangeArrowheads="1"/>
          </p:cNvSpPr>
          <p:nvPr/>
        </p:nvSpPr>
        <p:spPr bwMode="auto">
          <a:xfrm>
            <a:off x="2311400" y="2363788"/>
            <a:ext cx="123983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a:spcBef>
                <a:spcPct val="50000"/>
              </a:spcBef>
              <a:buFont typeface="Arial" pitchFamily="34" charset="0"/>
              <a:buNone/>
            </a:pPr>
            <a:r>
              <a:rPr lang="zh-CN" altLang="zh-CN" sz="1500" b="1">
                <a:solidFill>
                  <a:srgbClr val="C00000"/>
                </a:solidFill>
              </a:rPr>
              <a:t>变量</a:t>
            </a:r>
            <a:r>
              <a:rPr lang="zh-CN" altLang="en-US" sz="1500" b="1">
                <a:solidFill>
                  <a:srgbClr val="C00000"/>
                </a:solidFill>
              </a:rPr>
              <a:t>的值</a:t>
            </a:r>
            <a:endParaRPr lang="zh-CN" altLang="zh-CN" sz="1500" b="1">
              <a:solidFill>
                <a:srgbClr val="C00000"/>
              </a:solidFill>
            </a:endParaRPr>
          </a:p>
          <a:p>
            <a:pPr>
              <a:spcBef>
                <a:spcPct val="50000"/>
              </a:spcBef>
              <a:buFont typeface="Arial" pitchFamily="34" charset="0"/>
              <a:buNone/>
            </a:pPr>
            <a:r>
              <a:rPr lang="en-US" altLang="zh-CN" sz="1500" b="1">
                <a:solidFill>
                  <a:srgbClr val="C00000"/>
                </a:solidFill>
              </a:rPr>
              <a:t> </a:t>
            </a:r>
          </a:p>
        </p:txBody>
      </p:sp>
      <p:sp>
        <p:nvSpPr>
          <p:cNvPr id="45" name="Text Box 13"/>
          <p:cNvSpPr txBox="1">
            <a:spLocks noChangeArrowheads="1"/>
          </p:cNvSpPr>
          <p:nvPr/>
        </p:nvSpPr>
        <p:spPr bwMode="auto">
          <a:xfrm>
            <a:off x="1006475" y="3814763"/>
            <a:ext cx="122237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spcBef>
                <a:spcPct val="50000"/>
              </a:spcBef>
              <a:buFont typeface="Arial" pitchFamily="34" charset="0"/>
              <a:buNone/>
            </a:pPr>
            <a:r>
              <a:rPr lang="zh-CN" altLang="en-US" sz="1500" b="1">
                <a:solidFill>
                  <a:srgbClr val="002060"/>
                </a:solidFill>
              </a:rPr>
              <a:t> </a:t>
            </a:r>
            <a:r>
              <a:rPr lang="en-US" altLang="zh-CN" sz="1500" b="1">
                <a:solidFill>
                  <a:srgbClr val="002060"/>
                </a:solidFill>
              </a:rPr>
              <a:t> </a:t>
            </a:r>
            <a:r>
              <a:rPr lang="zh-CN" altLang="en-US" sz="1500" b="1">
                <a:solidFill>
                  <a:srgbClr val="002060"/>
                </a:solidFill>
              </a:rPr>
              <a:t>从键盘输入</a:t>
            </a:r>
            <a:endParaRPr lang="en-US" altLang="zh-CN" sz="1500" b="1">
              <a:solidFill>
                <a:srgbClr val="002060"/>
              </a:solidFill>
            </a:endParaRPr>
          </a:p>
        </p:txBody>
      </p:sp>
      <p:sp>
        <p:nvSpPr>
          <p:cNvPr id="35" name="文本框 7"/>
          <p:cNvSpPr txBox="1">
            <a:spLocks noChangeArrowheads="1"/>
          </p:cNvSpPr>
          <p:nvPr/>
        </p:nvSpPr>
        <p:spPr bwMode="auto">
          <a:xfrm>
            <a:off x="10886" y="609600"/>
            <a:ext cx="25298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pPr>
            <a:r>
              <a:rPr lang="zh-CN" altLang="en-US" sz="2800" b="1" dirty="0">
                <a:solidFill>
                  <a:srgbClr val="C00000"/>
                </a:solidFill>
                <a:latin typeface="幼圆" pitchFamily="49" charset="-122"/>
                <a:ea typeface="幼圆" pitchFamily="49" charset="-122"/>
                <a:sym typeface="宋体" pitchFamily="2" charset="-122"/>
              </a:rPr>
              <a:t>编程题目总结 </a:t>
            </a:r>
          </a:p>
        </p:txBody>
      </p:sp>
    </p:spTree>
    <p:extLst>
      <p:ext uri="{BB962C8B-B14F-4D97-AF65-F5344CB8AC3E}">
        <p14:creationId xmlns:p14="http://schemas.microsoft.com/office/powerpoint/2010/main" val="38196651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8225"/>
                                        </p:tgtEl>
                                        <p:attrNameLst>
                                          <p:attrName>style.visibility</p:attrName>
                                        </p:attrNameLst>
                                      </p:cBhvr>
                                      <p:to>
                                        <p:strVal val="visible"/>
                                      </p:to>
                                    </p:set>
                                    <p:animEffect transition="in" filter="circle(in)">
                                      <p:cBhvr>
                                        <p:cTn id="10" dur="2000"/>
                                        <p:tgtEl>
                                          <p:spTgt spid="8225"/>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circle(in)">
                                      <p:cBhvr>
                                        <p:cTn id="13" dur="2000"/>
                                        <p:tgtEl>
                                          <p:spTgt spid="43"/>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circle(in)">
                                      <p:cBhvr>
                                        <p:cTn id="16" dur="2000"/>
                                        <p:tgtEl>
                                          <p:spTgt spid="4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22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1" nodeType="click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6" presetClass="entr" presetSubtype="16"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circle(in)">
                                      <p:cBhvr>
                                        <p:cTn id="37" dur="2000"/>
                                        <p:tgtEl>
                                          <p:spTgt spid="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3" grpId="0"/>
      <p:bldP spid="8225" grpId="0"/>
      <p:bldP spid="43" grpId="0"/>
      <p:bldP spid="45" grpId="0"/>
      <p:bldP spid="45" grpId="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6372" name="对象 1"/>
          <p:cNvGraphicFramePr>
            <a:graphicFrameLocks/>
          </p:cNvGraphicFramePr>
          <p:nvPr>
            <p:extLst>
              <p:ext uri="{D42A27DB-BD31-4B8C-83A1-F6EECF244321}">
                <p14:modId xmlns:p14="http://schemas.microsoft.com/office/powerpoint/2010/main" val="19926552"/>
              </p:ext>
            </p:extLst>
          </p:nvPr>
        </p:nvGraphicFramePr>
        <p:xfrm>
          <a:off x="441325" y="1700213"/>
          <a:ext cx="3717925" cy="3532187"/>
        </p:xfrm>
        <a:graphic>
          <a:graphicData uri="http://schemas.openxmlformats.org/presentationml/2006/ole">
            <mc:AlternateContent xmlns:mc="http://schemas.openxmlformats.org/markup-compatibility/2006">
              <mc:Choice xmlns:v="urn:schemas-microsoft-com:vml" Requires="v">
                <p:oleObj name="BMP 图像" r:id="rId2" imgW="4410000" imgH="3371760" progId="Paint.Picture">
                  <p:embed/>
                </p:oleObj>
              </mc:Choice>
              <mc:Fallback>
                <p:oleObj name="BMP 图像" r:id="rId2" imgW="4410000" imgH="3371760" progId="Paint.Picture">
                  <p:embed/>
                  <p:pic>
                    <p:nvPicPr>
                      <p:cNvPr id="0" name=""/>
                      <p:cNvPicPr>
                        <a:picLocks noChangeArrowheads="1"/>
                      </p:cNvPicPr>
                      <p:nvPr/>
                    </p:nvPicPr>
                    <p:blipFill>
                      <a:blip r:embed="rId3"/>
                      <a:srcRect/>
                      <a:stretch>
                        <a:fillRect/>
                      </a:stretch>
                    </p:blipFill>
                    <p:spPr bwMode="auto">
                      <a:xfrm>
                        <a:off x="441325" y="1700213"/>
                        <a:ext cx="3717925" cy="353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6373" name="对象 5"/>
          <p:cNvGraphicFramePr>
            <a:graphicFrameLocks/>
          </p:cNvGraphicFramePr>
          <p:nvPr>
            <p:extLst>
              <p:ext uri="{D42A27DB-BD31-4B8C-83A1-F6EECF244321}">
                <p14:modId xmlns:p14="http://schemas.microsoft.com/office/powerpoint/2010/main" val="2547939592"/>
              </p:ext>
            </p:extLst>
          </p:nvPr>
        </p:nvGraphicFramePr>
        <p:xfrm>
          <a:off x="4916488" y="1716088"/>
          <a:ext cx="3530600" cy="3178175"/>
        </p:xfrm>
        <a:graphic>
          <a:graphicData uri="http://schemas.openxmlformats.org/presentationml/2006/ole">
            <mc:AlternateContent xmlns:mc="http://schemas.openxmlformats.org/markup-compatibility/2006">
              <mc:Choice xmlns:v="urn:schemas-microsoft-com:vml" Requires="v">
                <p:oleObj name="BMP 图像" r:id="rId4" imgW="3124080" imgH="2066760" progId="Paint.Picture">
                  <p:embed/>
                </p:oleObj>
              </mc:Choice>
              <mc:Fallback>
                <p:oleObj name="BMP 图像" r:id="rId4" imgW="3124080" imgH="2066760" progId="Paint.Picture">
                  <p:embed/>
                  <p:pic>
                    <p:nvPicPr>
                      <p:cNvPr id="0" name=""/>
                      <p:cNvPicPr>
                        <a:picLocks noChangeArrowheads="1"/>
                      </p:cNvPicPr>
                      <p:nvPr/>
                    </p:nvPicPr>
                    <p:blipFill>
                      <a:blip r:embed="rId5"/>
                      <a:srcRect/>
                      <a:stretch>
                        <a:fillRect/>
                      </a:stretch>
                    </p:blipFill>
                    <p:spPr bwMode="auto">
                      <a:xfrm>
                        <a:off x="4916488" y="1716088"/>
                        <a:ext cx="3530600" cy="317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 name="文本框 7"/>
          <p:cNvSpPr txBox="1">
            <a:spLocks noChangeArrowheads="1"/>
          </p:cNvSpPr>
          <p:nvPr/>
        </p:nvSpPr>
        <p:spPr bwMode="auto">
          <a:xfrm>
            <a:off x="10886" y="609600"/>
            <a:ext cx="25298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pPr>
            <a:r>
              <a:rPr lang="zh-CN" altLang="en-US" sz="2800" b="1" dirty="0">
                <a:solidFill>
                  <a:srgbClr val="C00000"/>
                </a:solidFill>
                <a:latin typeface="幼圆" pitchFamily="49" charset="-122"/>
                <a:ea typeface="幼圆" pitchFamily="49" charset="-122"/>
                <a:sym typeface="宋体" pitchFamily="2" charset="-122"/>
              </a:rPr>
              <a:t>编程题目总结 </a:t>
            </a:r>
          </a:p>
        </p:txBody>
      </p:sp>
    </p:spTree>
    <p:extLst>
      <p:ext uri="{BB962C8B-B14F-4D97-AF65-F5344CB8AC3E}">
        <p14:creationId xmlns:p14="http://schemas.microsoft.com/office/powerpoint/2010/main" val="208486194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文本框 1"/>
          <p:cNvSpPr txBox="1">
            <a:spLocks noChangeArrowheads="1"/>
          </p:cNvSpPr>
          <p:nvPr/>
        </p:nvSpPr>
        <p:spPr bwMode="auto">
          <a:xfrm>
            <a:off x="155575" y="1420813"/>
            <a:ext cx="77708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buFont typeface="Arial" pitchFamily="34" charset="0"/>
              <a:buNone/>
            </a:pPr>
            <a:r>
              <a:rPr lang="zh-CN" altLang="en-US" sz="1800">
                <a:solidFill>
                  <a:srgbClr val="002060"/>
                </a:solidFill>
                <a:latin typeface="微软雅黑" pitchFamily="34" charset="-122"/>
                <a:ea typeface="微软雅黑" pitchFamily="34" charset="-122"/>
                <a:sym typeface="宋体" pitchFamily="2" charset="-122"/>
              </a:rPr>
              <a:t>题目：键盘输入</a:t>
            </a:r>
            <a:r>
              <a:rPr lang="en-US" altLang="zh-CN" sz="1800">
                <a:solidFill>
                  <a:srgbClr val="002060"/>
                </a:solidFill>
                <a:latin typeface="微软雅黑" pitchFamily="34" charset="-122"/>
                <a:ea typeface="微软雅黑" pitchFamily="34" charset="-122"/>
                <a:sym typeface="宋体" pitchFamily="2" charset="-122"/>
              </a:rPr>
              <a:t>n</a:t>
            </a:r>
            <a:r>
              <a:rPr lang="zh-CN" altLang="en-US" sz="1800">
                <a:solidFill>
                  <a:srgbClr val="002060"/>
                </a:solidFill>
                <a:latin typeface="微软雅黑" pitchFamily="34" charset="-122"/>
                <a:ea typeface="微软雅黑" pitchFamily="34" charset="-122"/>
                <a:sym typeface="宋体" pitchFamily="2" charset="-122"/>
              </a:rPr>
              <a:t>和一个字母</a:t>
            </a:r>
            <a:r>
              <a:rPr lang="zh-CN" altLang="zh-CN" sz="1800">
                <a:solidFill>
                  <a:srgbClr val="002060"/>
                </a:solidFill>
                <a:latin typeface="微软雅黑" pitchFamily="34" charset="-122"/>
                <a:ea typeface="微软雅黑" pitchFamily="34" charset="-122"/>
                <a:sym typeface="宋体" pitchFamily="2" charset="-122"/>
              </a:rPr>
              <a:t>，输出字母组成的平行四边形，例如输入</a:t>
            </a:r>
            <a:r>
              <a:rPr lang="en-US" altLang="zh-CN" sz="1800">
                <a:solidFill>
                  <a:srgbClr val="002060"/>
                </a:solidFill>
                <a:latin typeface="微软雅黑" pitchFamily="34" charset="-122"/>
                <a:ea typeface="微软雅黑" pitchFamily="34" charset="-122"/>
                <a:sym typeface="宋体" pitchFamily="2" charset="-122"/>
              </a:rPr>
              <a:t>5</a:t>
            </a:r>
            <a:r>
              <a:rPr lang="zh-CN" altLang="en-US" sz="1800">
                <a:solidFill>
                  <a:srgbClr val="002060"/>
                </a:solidFill>
                <a:latin typeface="微软雅黑" pitchFamily="34" charset="-122"/>
                <a:ea typeface="微软雅黑" pitchFamily="34" charset="-122"/>
                <a:sym typeface="宋体" pitchFamily="2" charset="-122"/>
              </a:rPr>
              <a:t>，</a:t>
            </a:r>
            <a:r>
              <a:rPr lang="en-US" altLang="zh-CN" sz="1800">
                <a:solidFill>
                  <a:srgbClr val="002060"/>
                </a:solidFill>
                <a:latin typeface="微软雅黑" pitchFamily="34" charset="-122"/>
                <a:ea typeface="微软雅黑" pitchFamily="34" charset="-122"/>
                <a:sym typeface="宋体" pitchFamily="2" charset="-122"/>
              </a:rPr>
              <a:t>B</a:t>
            </a:r>
          </a:p>
        </p:txBody>
      </p:sp>
      <p:sp>
        <p:nvSpPr>
          <p:cNvPr id="187395" name="文本框 5"/>
          <p:cNvSpPr txBox="1">
            <a:spLocks noChangeArrowheads="1"/>
          </p:cNvSpPr>
          <p:nvPr/>
        </p:nvSpPr>
        <p:spPr bwMode="auto">
          <a:xfrm>
            <a:off x="155575" y="1795463"/>
            <a:ext cx="89169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buFont typeface="Arial" pitchFamily="34" charset="0"/>
              <a:buNone/>
            </a:pPr>
            <a:r>
              <a:rPr lang="zh-CN" altLang="en-US" sz="1800">
                <a:solidFill>
                  <a:srgbClr val="002060"/>
                </a:solidFill>
                <a:latin typeface="微软雅黑" pitchFamily="34" charset="-122"/>
                <a:ea typeface="微软雅黑" pitchFamily="34" charset="-122"/>
                <a:sym typeface="宋体" pitchFamily="2" charset="-122"/>
              </a:rPr>
              <a:t>步骤：键盘输入</a:t>
            </a:r>
            <a:r>
              <a:rPr lang="en-US" altLang="zh-CN" sz="1800">
                <a:solidFill>
                  <a:srgbClr val="002060"/>
                </a:solidFill>
                <a:latin typeface="微软雅黑" pitchFamily="34" charset="-122"/>
                <a:ea typeface="微软雅黑" pitchFamily="34" charset="-122"/>
                <a:sym typeface="宋体" pitchFamily="2" charset="-122"/>
              </a:rPr>
              <a:t>n</a:t>
            </a:r>
            <a:r>
              <a:rPr lang="zh-CN" altLang="zh-CN" sz="1800">
                <a:solidFill>
                  <a:srgbClr val="002060"/>
                </a:solidFill>
                <a:latin typeface="微软雅黑" pitchFamily="34" charset="-122"/>
                <a:ea typeface="微软雅黑" pitchFamily="34" charset="-122"/>
                <a:sym typeface="宋体" pitchFamily="2" charset="-122"/>
              </a:rPr>
              <a:t>，输出</a:t>
            </a:r>
            <a:r>
              <a:rPr lang="en-US" altLang="zh-CN" sz="1800">
                <a:solidFill>
                  <a:srgbClr val="002060"/>
                </a:solidFill>
                <a:latin typeface="微软雅黑" pitchFamily="34" charset="-122"/>
                <a:ea typeface="微软雅黑" pitchFamily="34" charset="-122"/>
                <a:sym typeface="宋体" pitchFamily="2" charset="-122"/>
              </a:rPr>
              <a:t>n</a:t>
            </a:r>
            <a:r>
              <a:rPr lang="zh-CN" altLang="zh-CN" sz="1800">
                <a:solidFill>
                  <a:srgbClr val="002060"/>
                </a:solidFill>
                <a:latin typeface="微软雅黑" pitchFamily="34" charset="-122"/>
                <a:ea typeface="微软雅黑" pitchFamily="34" charset="-122"/>
                <a:sym typeface="宋体" pitchFamily="2" charset="-122"/>
              </a:rPr>
              <a:t>行，每行先有若干个空格，然后</a:t>
            </a:r>
            <a:r>
              <a:rPr lang="en-US" altLang="zh-CN" sz="1800">
                <a:solidFill>
                  <a:srgbClr val="002060"/>
                </a:solidFill>
                <a:latin typeface="微软雅黑" pitchFamily="34" charset="-122"/>
                <a:ea typeface="微软雅黑" pitchFamily="34" charset="-122"/>
                <a:sym typeface="宋体" pitchFamily="2" charset="-122"/>
              </a:rPr>
              <a:t>n</a:t>
            </a:r>
            <a:r>
              <a:rPr lang="zh-CN" altLang="zh-CN" sz="1800">
                <a:solidFill>
                  <a:srgbClr val="002060"/>
                </a:solidFill>
                <a:latin typeface="微软雅黑" pitchFamily="34" charset="-122"/>
                <a:ea typeface="微软雅黑" pitchFamily="34" charset="-122"/>
                <a:sym typeface="宋体" pitchFamily="2" charset="-122"/>
              </a:rPr>
              <a:t>个字母，字母变化的规律是 </a:t>
            </a:r>
            <a:endParaRPr lang="en-US" altLang="zh-CN" sz="1800">
              <a:solidFill>
                <a:srgbClr val="002060"/>
              </a:solidFill>
              <a:latin typeface="微软雅黑" pitchFamily="34" charset="-122"/>
              <a:ea typeface="微软雅黑" pitchFamily="34" charset="-122"/>
              <a:sym typeface="宋体" pitchFamily="2" charset="-122"/>
            </a:endParaRPr>
          </a:p>
        </p:txBody>
      </p:sp>
      <p:grpSp>
        <p:nvGrpSpPr>
          <p:cNvPr id="187396" name="组合 6"/>
          <p:cNvGrpSpPr>
            <a:grpSpLocks/>
          </p:cNvGrpSpPr>
          <p:nvPr/>
        </p:nvGrpSpPr>
        <p:grpSpPr bwMode="auto">
          <a:xfrm>
            <a:off x="573088" y="2355850"/>
            <a:ext cx="7572375" cy="3527425"/>
            <a:chOff x="4568" y="3146"/>
            <a:chExt cx="11715" cy="7407"/>
          </a:xfrm>
        </p:grpSpPr>
        <p:sp>
          <p:nvSpPr>
            <p:cNvPr id="2" name="Freeform 2"/>
            <p:cNvSpPr>
              <a:spLocks noChangeArrowheads="1"/>
            </p:cNvSpPr>
            <p:nvPr/>
          </p:nvSpPr>
          <p:spPr bwMode="auto">
            <a:xfrm>
              <a:off x="5234" y="4096"/>
              <a:ext cx="11049" cy="4894"/>
            </a:xfrm>
            <a:custGeom>
              <a:avLst/>
              <a:gdLst>
                <a:gd name="T0" fmla="*/ 496 w 5190"/>
                <a:gd name="T1" fmla="*/ 157 h 2298"/>
                <a:gd name="T2" fmla="*/ 0 w 5190"/>
                <a:gd name="T3" fmla="*/ 0 h 2298"/>
                <a:gd name="T4" fmla="*/ 231 w 5190"/>
                <a:gd name="T5" fmla="*/ 124 h 2298"/>
                <a:gd name="T6" fmla="*/ 4282 w 5190"/>
                <a:gd name="T7" fmla="*/ 2025 h 2298"/>
                <a:gd name="T8" fmla="*/ 3974 w 5190"/>
                <a:gd name="T9" fmla="*/ 2298 h 2298"/>
                <a:gd name="T10" fmla="*/ 5190 w 5190"/>
                <a:gd name="T11" fmla="*/ 2065 h 2298"/>
                <a:gd name="T12" fmla="*/ 5039 w 5190"/>
                <a:gd name="T13" fmla="*/ 1268 h 2298"/>
                <a:gd name="T14" fmla="*/ 4748 w 5190"/>
                <a:gd name="T15" fmla="*/ 1507 h 2298"/>
                <a:gd name="T16" fmla="*/ 496 w 5190"/>
                <a:gd name="T17" fmla="*/ 157 h 2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90" h="2298">
                  <a:moveTo>
                    <a:pt x="496" y="157"/>
                  </a:moveTo>
                  <a:lnTo>
                    <a:pt x="0" y="0"/>
                  </a:lnTo>
                  <a:lnTo>
                    <a:pt x="231" y="124"/>
                  </a:lnTo>
                  <a:lnTo>
                    <a:pt x="4282" y="2025"/>
                  </a:lnTo>
                  <a:lnTo>
                    <a:pt x="3974" y="2298"/>
                  </a:lnTo>
                  <a:lnTo>
                    <a:pt x="5190" y="2065"/>
                  </a:lnTo>
                  <a:lnTo>
                    <a:pt x="5039" y="1268"/>
                  </a:lnTo>
                  <a:lnTo>
                    <a:pt x="4748" y="1507"/>
                  </a:lnTo>
                  <a:lnTo>
                    <a:pt x="496" y="157"/>
                  </a:lnTo>
                  <a:close/>
                </a:path>
              </a:pathLst>
            </a:custGeom>
            <a:gradFill rotWithShape="1">
              <a:gsLst>
                <a:gs pos="0">
                  <a:srgbClr val="5F3214"/>
                </a:gs>
                <a:gs pos="50000">
                  <a:schemeClr val="accent2"/>
                </a:gs>
                <a:gs pos="100000">
                  <a:srgbClr val="5F3214"/>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28684" name="AutoShape 3"/>
            <p:cNvSpPr>
              <a:spLocks noChangeArrowheads="1"/>
            </p:cNvSpPr>
            <p:nvPr/>
          </p:nvSpPr>
          <p:spPr bwMode="auto">
            <a:xfrm>
              <a:off x="6840" y="4619"/>
              <a:ext cx="339" cy="207"/>
            </a:xfrm>
            <a:prstGeom prst="can">
              <a:avLst>
                <a:gd name="adj" fmla="val 39796"/>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28685" name="AutoShape 4"/>
            <p:cNvSpPr>
              <a:spLocks noChangeArrowheads="1"/>
            </p:cNvSpPr>
            <p:nvPr/>
          </p:nvSpPr>
          <p:spPr bwMode="auto">
            <a:xfrm>
              <a:off x="8193" y="5109"/>
              <a:ext cx="395" cy="290"/>
            </a:xfrm>
            <a:prstGeom prst="can">
              <a:avLst>
                <a:gd name="adj" fmla="val 27343"/>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28686" name="AutoShape 5"/>
            <p:cNvSpPr>
              <a:spLocks noChangeArrowheads="1"/>
            </p:cNvSpPr>
            <p:nvPr/>
          </p:nvSpPr>
          <p:spPr bwMode="auto">
            <a:xfrm>
              <a:off x="9667" y="5586"/>
              <a:ext cx="538" cy="457"/>
            </a:xfrm>
            <a:prstGeom prst="can">
              <a:avLst>
                <a:gd name="adj" fmla="val 25000"/>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28687" name="AutoShape 6"/>
            <p:cNvSpPr>
              <a:spLocks noChangeArrowheads="1"/>
            </p:cNvSpPr>
            <p:nvPr/>
          </p:nvSpPr>
          <p:spPr bwMode="auto">
            <a:xfrm>
              <a:off x="13208" y="6566"/>
              <a:ext cx="845" cy="1020"/>
            </a:xfrm>
            <a:prstGeom prst="can">
              <a:avLst>
                <a:gd name="adj" fmla="val 21409"/>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28688" name="AutoShape 7"/>
            <p:cNvSpPr>
              <a:spLocks noChangeArrowheads="1"/>
            </p:cNvSpPr>
            <p:nvPr/>
          </p:nvSpPr>
          <p:spPr bwMode="auto">
            <a:xfrm>
              <a:off x="11396" y="6156"/>
              <a:ext cx="666" cy="637"/>
            </a:xfrm>
            <a:prstGeom prst="can">
              <a:avLst>
                <a:gd name="adj" fmla="val 21667"/>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187409" name="Text Box 8"/>
            <p:cNvSpPr txBox="1">
              <a:spLocks noChangeArrowheads="1"/>
            </p:cNvSpPr>
            <p:nvPr/>
          </p:nvSpPr>
          <p:spPr bwMode="auto">
            <a:xfrm>
              <a:off x="5393" y="3197"/>
              <a:ext cx="1918" cy="1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a:spcBef>
                  <a:spcPct val="50000"/>
                </a:spcBef>
                <a:buFont typeface="Arial" pitchFamily="34" charset="0"/>
                <a:buNone/>
              </a:pPr>
              <a:r>
                <a:rPr lang="zh-CN" altLang="zh-CN" sz="1500" b="1">
                  <a:solidFill>
                    <a:srgbClr val="C00000"/>
                  </a:solidFill>
                </a:rPr>
                <a:t>定义变量</a:t>
              </a:r>
            </a:p>
            <a:p>
              <a:pPr>
                <a:spcBef>
                  <a:spcPct val="50000"/>
                </a:spcBef>
                <a:buFont typeface="Arial" pitchFamily="34" charset="0"/>
                <a:buNone/>
              </a:pPr>
              <a:r>
                <a:rPr lang="en-US" altLang="zh-CN" sz="1500" b="1">
                  <a:solidFill>
                    <a:srgbClr val="C00000"/>
                  </a:solidFill>
                </a:rPr>
                <a:t> </a:t>
              </a:r>
            </a:p>
          </p:txBody>
        </p:sp>
        <p:sp>
          <p:nvSpPr>
            <p:cNvPr id="187410" name="Text Box 9"/>
            <p:cNvSpPr txBox="1">
              <a:spLocks noChangeArrowheads="1"/>
            </p:cNvSpPr>
            <p:nvPr/>
          </p:nvSpPr>
          <p:spPr bwMode="auto">
            <a:xfrm>
              <a:off x="9174" y="3146"/>
              <a:ext cx="2232"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a:spcBef>
                  <a:spcPct val="50000"/>
                </a:spcBef>
                <a:buFont typeface="Arial" pitchFamily="34" charset="0"/>
                <a:buNone/>
              </a:pPr>
              <a:r>
                <a:rPr lang="zh-CN" altLang="zh-CN" sz="1500" b="1">
                  <a:solidFill>
                    <a:srgbClr val="C00000"/>
                  </a:solidFill>
                </a:rPr>
                <a:t>行循环</a:t>
              </a:r>
            </a:p>
          </p:txBody>
        </p:sp>
        <p:sp>
          <p:nvSpPr>
            <p:cNvPr id="28691" name="Text Box 10"/>
            <p:cNvSpPr txBox="1">
              <a:spLocks noChangeArrowheads="1"/>
            </p:cNvSpPr>
            <p:nvPr/>
          </p:nvSpPr>
          <p:spPr bwMode="auto">
            <a:xfrm>
              <a:off x="9325" y="3196"/>
              <a:ext cx="1916" cy="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spcBef>
                  <a:spcPct val="50000"/>
                </a:spcBef>
                <a:buFont typeface="Arial" panose="020B0604020202020204" pitchFamily="34" charset="0"/>
                <a:buNone/>
                <a:defRPr/>
              </a:pPr>
              <a:endParaRPr lang="en-US" altLang="zh-CN" sz="1350" b="1">
                <a:solidFill>
                  <a:srgbClr val="44546A"/>
                </a:solidFill>
                <a:latin typeface="Arial" panose="020B0604020202020204" pitchFamily="34" charset="0"/>
              </a:endParaRPr>
            </a:p>
          </p:txBody>
        </p:sp>
        <p:sp>
          <p:nvSpPr>
            <p:cNvPr id="28692" name="Text Box 12"/>
            <p:cNvSpPr txBox="1">
              <a:spLocks noChangeArrowheads="1"/>
            </p:cNvSpPr>
            <p:nvPr/>
          </p:nvSpPr>
          <p:spPr bwMode="auto">
            <a:xfrm>
              <a:off x="13601" y="3219"/>
              <a:ext cx="1921" cy="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spcBef>
                  <a:spcPct val="50000"/>
                </a:spcBef>
                <a:buFont typeface="Arial" panose="020B0604020202020204" pitchFamily="34" charset="0"/>
                <a:buNone/>
                <a:defRPr/>
              </a:pPr>
              <a:r>
                <a:rPr lang="zh-CN" altLang="en-US" sz="1350" b="1">
                  <a:solidFill>
                    <a:srgbClr val="C00000"/>
                  </a:solidFill>
                  <a:latin typeface="Arial" panose="020B0604020202020204" pitchFamily="34" charset="0"/>
                </a:rPr>
                <a:t>写代码</a:t>
              </a:r>
              <a:r>
                <a:rPr lang="en-US" altLang="zh-CN" sz="1350" b="1">
                  <a:solidFill>
                    <a:srgbClr val="C00000"/>
                  </a:solidFill>
                  <a:latin typeface="Arial" panose="020B0604020202020204" pitchFamily="34" charset="0"/>
                </a:rPr>
                <a:t>code</a:t>
              </a:r>
            </a:p>
          </p:txBody>
        </p:sp>
        <p:sp>
          <p:nvSpPr>
            <p:cNvPr id="187413" name="Text Box 13"/>
            <p:cNvSpPr txBox="1">
              <a:spLocks noChangeArrowheads="1"/>
            </p:cNvSpPr>
            <p:nvPr/>
          </p:nvSpPr>
          <p:spPr bwMode="auto">
            <a:xfrm>
              <a:off x="4568" y="4825"/>
              <a:ext cx="3568" cy="1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spcBef>
                  <a:spcPct val="50000"/>
                </a:spcBef>
                <a:buFont typeface="Arial" pitchFamily="34" charset="0"/>
                <a:buNone/>
              </a:pPr>
              <a:r>
                <a:rPr lang="zh-CN" altLang="en-US" sz="1500" b="1">
                  <a:solidFill>
                    <a:srgbClr val="002060"/>
                  </a:solidFill>
                </a:rPr>
                <a:t> </a:t>
              </a:r>
              <a:r>
                <a:rPr lang="en-US" altLang="zh-CN" sz="1500" b="1">
                  <a:solidFill>
                    <a:srgbClr val="002060"/>
                  </a:solidFill>
                </a:rPr>
                <a:t> int i,j,n;</a:t>
              </a:r>
            </a:p>
            <a:p>
              <a:pPr eaLnBrk="1" hangingPunct="1">
                <a:spcBef>
                  <a:spcPct val="50000"/>
                </a:spcBef>
                <a:buFont typeface="Arial" pitchFamily="34" charset="0"/>
                <a:buNone/>
              </a:pPr>
              <a:r>
                <a:rPr lang="en-US" altLang="zh-CN" sz="1500" b="1">
                  <a:solidFill>
                    <a:srgbClr val="002060"/>
                  </a:solidFill>
                </a:rPr>
                <a:t>  char ch;</a:t>
              </a:r>
            </a:p>
          </p:txBody>
        </p:sp>
        <p:sp>
          <p:nvSpPr>
            <p:cNvPr id="28694" name="Text Box 14"/>
            <p:cNvSpPr txBox="1">
              <a:spLocks noChangeArrowheads="1"/>
            </p:cNvSpPr>
            <p:nvPr/>
          </p:nvSpPr>
          <p:spPr bwMode="auto">
            <a:xfrm>
              <a:off x="6727" y="7553"/>
              <a:ext cx="3787" cy="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 typeface="Arial" panose="020B0604020202020204" pitchFamily="34" charset="0"/>
                <a:buNone/>
                <a:defRPr/>
              </a:pPr>
              <a:r>
                <a:rPr lang="zh-CN" altLang="en-US" sz="1350" b="1">
                  <a:solidFill>
                    <a:srgbClr val="002060"/>
                  </a:solidFill>
                  <a:latin typeface="Arial" panose="020B0604020202020204" pitchFamily="34" charset="0"/>
                </a:rPr>
                <a:t> </a:t>
              </a:r>
              <a:r>
                <a:rPr lang="en-US" altLang="zh-CN" sz="1350" b="1">
                  <a:solidFill>
                    <a:srgbClr val="002060"/>
                  </a:solidFill>
                  <a:latin typeface="Arial" panose="020B0604020202020204" pitchFamily="34" charset="0"/>
                </a:rPr>
                <a:t>for (i=0;i&lt;n;i++)</a:t>
              </a:r>
            </a:p>
          </p:txBody>
        </p:sp>
        <p:sp>
          <p:nvSpPr>
            <p:cNvPr id="28695" name="Text Box 15"/>
            <p:cNvSpPr txBox="1">
              <a:spLocks noChangeArrowheads="1"/>
            </p:cNvSpPr>
            <p:nvPr/>
          </p:nvSpPr>
          <p:spPr bwMode="auto">
            <a:xfrm>
              <a:off x="8972" y="7523"/>
              <a:ext cx="3244" cy="3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 typeface="Arial" panose="020B0604020202020204" pitchFamily="34" charset="0"/>
                <a:buNone/>
                <a:defRPr/>
              </a:pPr>
              <a:r>
                <a:rPr lang="zh-CN" altLang="en-US" sz="1350" b="1">
                  <a:solidFill>
                    <a:srgbClr val="002060"/>
                  </a:solidFill>
                  <a:latin typeface="Arial" panose="020B0604020202020204" pitchFamily="34" charset="0"/>
                </a:rPr>
                <a:t> </a:t>
              </a:r>
              <a:r>
                <a:rPr lang="en-US" altLang="zh-CN" sz="1350" b="1">
                  <a:solidFill>
                    <a:srgbClr val="002060"/>
                  </a:solidFill>
                  <a:latin typeface="Arial" panose="020B0604020202020204" pitchFamily="34" charset="0"/>
                </a:rPr>
                <a:t>1 </a:t>
              </a:r>
              <a:r>
                <a:rPr lang="zh-CN" altLang="en-US" sz="1350" b="1">
                  <a:solidFill>
                    <a:srgbClr val="002060"/>
                  </a:solidFill>
                  <a:latin typeface="Arial" panose="020B0604020202020204" pitchFamily="34" charset="0"/>
                </a:rPr>
                <a:t>循环输出若干空格</a:t>
              </a:r>
              <a:r>
                <a:rPr lang="en-US" altLang="zh-CN" sz="1350" b="1">
                  <a:solidFill>
                    <a:srgbClr val="002060"/>
                  </a:solidFill>
                  <a:latin typeface="Arial" panose="020B0604020202020204" pitchFamily="34" charset="0"/>
                </a:rPr>
                <a:t> </a:t>
              </a:r>
              <a:endParaRPr lang="zh-CN" altLang="en-US" sz="1350" b="1">
                <a:solidFill>
                  <a:srgbClr val="002060"/>
                </a:solidFill>
                <a:latin typeface="Arial" panose="020B0604020202020204" pitchFamily="34" charset="0"/>
              </a:endParaRPr>
            </a:p>
            <a:p>
              <a:pPr eaLnBrk="1" hangingPunct="1">
                <a:spcBef>
                  <a:spcPct val="50000"/>
                </a:spcBef>
                <a:buFont typeface="Arial" panose="020B0604020202020204" pitchFamily="34" charset="0"/>
                <a:buNone/>
                <a:defRPr/>
              </a:pPr>
              <a:r>
                <a:rPr lang="en-US" altLang="zh-CN" sz="1350" b="1">
                  <a:solidFill>
                    <a:srgbClr val="002060"/>
                  </a:solidFill>
                  <a:latin typeface="Arial" panose="020B0604020202020204" pitchFamily="34" charset="0"/>
                </a:rPr>
                <a:t> 2 </a:t>
              </a:r>
              <a:r>
                <a:rPr lang="zh-CN" altLang="en-US" sz="1350" b="1">
                  <a:solidFill>
                    <a:srgbClr val="002060"/>
                  </a:solidFill>
                  <a:latin typeface="Arial" panose="020B0604020202020204" pitchFamily="34" charset="0"/>
                </a:rPr>
                <a:t>循环输出</a:t>
              </a:r>
              <a:r>
                <a:rPr lang="en-US" altLang="zh-CN" sz="1350" b="1">
                  <a:solidFill>
                    <a:srgbClr val="002060"/>
                  </a:solidFill>
                  <a:latin typeface="Arial" panose="020B0604020202020204" pitchFamily="34" charset="0"/>
                </a:rPr>
                <a:t>n</a:t>
              </a:r>
              <a:r>
                <a:rPr lang="zh-CN" altLang="zh-CN" sz="1350" b="1">
                  <a:solidFill>
                    <a:srgbClr val="002060"/>
                  </a:solidFill>
                  <a:latin typeface="Arial" panose="020B0604020202020204" pitchFamily="34" charset="0"/>
                </a:rPr>
                <a:t>个字母</a:t>
              </a:r>
              <a:endParaRPr lang="en-US" altLang="zh-CN" sz="1350" b="1">
                <a:solidFill>
                  <a:srgbClr val="002060"/>
                </a:solidFill>
                <a:latin typeface="Arial" panose="020B0604020202020204" pitchFamily="34" charset="0"/>
              </a:endParaRPr>
            </a:p>
            <a:p>
              <a:pPr eaLnBrk="1" hangingPunct="1">
                <a:spcBef>
                  <a:spcPct val="50000"/>
                </a:spcBef>
                <a:buFont typeface="Arial" panose="020B0604020202020204" pitchFamily="34" charset="0"/>
                <a:buNone/>
                <a:defRPr/>
              </a:pPr>
              <a:r>
                <a:rPr lang="en-US" altLang="zh-CN" sz="1350" b="1">
                  <a:solidFill>
                    <a:srgbClr val="002060"/>
                  </a:solidFill>
                  <a:latin typeface="Arial" panose="020B0604020202020204" pitchFamily="34" charset="0"/>
                </a:rPr>
                <a:t> </a:t>
              </a:r>
              <a:r>
                <a:rPr lang="en-US" altLang="zh-CN" sz="1350" b="1">
                  <a:solidFill>
                    <a:srgbClr val="C00000"/>
                  </a:solidFill>
                  <a:latin typeface="Arial" panose="020B0604020202020204" pitchFamily="34" charset="0"/>
                </a:rPr>
                <a:t>3 </a:t>
              </a:r>
              <a:r>
                <a:rPr lang="zh-CN" altLang="zh-CN" sz="1350" b="1">
                  <a:solidFill>
                    <a:srgbClr val="C00000"/>
                  </a:solidFill>
                  <a:latin typeface="Arial" panose="020B0604020202020204" pitchFamily="34" charset="0"/>
                </a:rPr>
                <a:t>字符变量</a:t>
              </a:r>
              <a:r>
                <a:rPr lang="en-US" altLang="zh-CN" sz="1350" b="1">
                  <a:solidFill>
                    <a:srgbClr val="C00000"/>
                  </a:solidFill>
                  <a:latin typeface="Arial" panose="020B0604020202020204" pitchFamily="34" charset="0"/>
                </a:rPr>
                <a:t>++,</a:t>
              </a:r>
              <a:r>
                <a:rPr lang="zh-CN" altLang="en-US" sz="1350" b="1">
                  <a:solidFill>
                    <a:srgbClr val="C00000"/>
                  </a:solidFill>
                  <a:latin typeface="Arial" panose="020B0604020202020204" pitchFamily="34" charset="0"/>
                </a:rPr>
                <a:t>并判断是否已经到字母</a:t>
              </a:r>
              <a:r>
                <a:rPr lang="en-US" altLang="zh-CN" sz="1350" b="1">
                  <a:solidFill>
                    <a:srgbClr val="C00000"/>
                  </a:solidFill>
                  <a:latin typeface="Arial" panose="020B0604020202020204" pitchFamily="34" charset="0"/>
                </a:rPr>
                <a:t>z(Z)</a:t>
              </a:r>
            </a:p>
            <a:p>
              <a:pPr eaLnBrk="1" hangingPunct="1">
                <a:spcBef>
                  <a:spcPct val="50000"/>
                </a:spcBef>
                <a:buFont typeface="Arial" panose="020B0604020202020204" pitchFamily="34" charset="0"/>
                <a:buNone/>
                <a:defRPr/>
              </a:pPr>
              <a:r>
                <a:rPr lang="en-US" altLang="zh-CN" sz="1350" b="1">
                  <a:solidFill>
                    <a:srgbClr val="002060"/>
                  </a:solidFill>
                  <a:latin typeface="Arial" panose="020B0604020202020204" pitchFamily="34" charset="0"/>
                </a:rPr>
                <a:t> 4 </a:t>
              </a:r>
              <a:r>
                <a:rPr lang="zh-CN" altLang="en-US" sz="1350" b="1">
                  <a:solidFill>
                    <a:srgbClr val="002060"/>
                  </a:solidFill>
                  <a:latin typeface="Arial" panose="020B0604020202020204" pitchFamily="34" charset="0"/>
                </a:rPr>
                <a:t>换行</a:t>
              </a:r>
            </a:p>
          </p:txBody>
        </p:sp>
        <p:sp>
          <p:nvSpPr>
            <p:cNvPr id="187416" name="Text Box 17"/>
            <p:cNvSpPr txBox="1">
              <a:spLocks noChangeArrowheads="1"/>
            </p:cNvSpPr>
            <p:nvPr/>
          </p:nvSpPr>
          <p:spPr bwMode="auto">
            <a:xfrm>
              <a:off x="12107" y="8807"/>
              <a:ext cx="2251" cy="1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spcBef>
                  <a:spcPct val="50000"/>
                </a:spcBef>
                <a:buFont typeface="Arial" pitchFamily="34" charset="0"/>
                <a:buNone/>
              </a:pPr>
              <a:r>
                <a:rPr lang="zh-CN" altLang="en-US" sz="1500" b="1">
                  <a:solidFill>
                    <a:srgbClr val="C00000"/>
                  </a:solidFill>
                </a:rPr>
                <a:t> </a:t>
              </a:r>
              <a:r>
                <a:rPr lang="en-US" altLang="zh-CN" sz="1500" b="1">
                  <a:solidFill>
                    <a:srgbClr val="C00000"/>
                  </a:solidFill>
                </a:rPr>
                <a:t>int main()</a:t>
              </a:r>
            </a:p>
            <a:p>
              <a:pPr eaLnBrk="1" hangingPunct="1">
                <a:spcBef>
                  <a:spcPct val="50000"/>
                </a:spcBef>
                <a:buFont typeface="Arial" pitchFamily="34" charset="0"/>
                <a:buNone/>
              </a:pPr>
              <a:r>
                <a:rPr lang="en-US" altLang="zh-CN" sz="1500" b="1">
                  <a:solidFill>
                    <a:srgbClr val="C00000"/>
                  </a:solidFill>
                </a:rPr>
                <a:t>{......}</a:t>
              </a:r>
            </a:p>
          </p:txBody>
        </p:sp>
        <p:cxnSp>
          <p:nvCxnSpPr>
            <p:cNvPr id="187417" name="AutoShape 18"/>
            <p:cNvCxnSpPr>
              <a:cxnSpLocks noChangeShapeType="1"/>
              <a:stCxn id="28684" idx="3"/>
            </p:cNvCxnSpPr>
            <p:nvPr/>
          </p:nvCxnSpPr>
          <p:spPr bwMode="auto">
            <a:xfrm flipH="1">
              <a:off x="5654" y="4825"/>
              <a:ext cx="1356" cy="0"/>
            </a:xfrm>
            <a:prstGeom prst="line">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cxnSp>
          <p:nvCxnSpPr>
            <p:cNvPr id="187418" name="AutoShape 19"/>
            <p:cNvCxnSpPr>
              <a:cxnSpLocks noChangeShapeType="1"/>
            </p:cNvCxnSpPr>
            <p:nvPr/>
          </p:nvCxnSpPr>
          <p:spPr bwMode="auto">
            <a:xfrm rot="10800000" flipV="1">
              <a:off x="5965" y="5480"/>
              <a:ext cx="2282" cy="1621"/>
            </a:xfrm>
            <a:prstGeom prst="bentConnector3">
              <a:avLst>
                <a:gd name="adj1" fmla="val 50000"/>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cxnSp>
          <p:nvCxnSpPr>
            <p:cNvPr id="187419" name="AutoShape 20"/>
            <p:cNvCxnSpPr>
              <a:cxnSpLocks noChangeShapeType="1"/>
              <a:stCxn id="28686" idx="3"/>
            </p:cNvCxnSpPr>
            <p:nvPr/>
          </p:nvCxnSpPr>
          <p:spPr bwMode="auto">
            <a:xfrm rot="5400000">
              <a:off x="8682" y="5541"/>
              <a:ext cx="750" cy="1753"/>
            </a:xfrm>
            <a:prstGeom prst="bentConnector2">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cxnSp>
          <p:nvCxnSpPr>
            <p:cNvPr id="187420" name="AutoShape 21"/>
            <p:cNvCxnSpPr>
              <a:cxnSpLocks noChangeShapeType="1"/>
              <a:stCxn id="28688" idx="3"/>
            </p:cNvCxnSpPr>
            <p:nvPr/>
          </p:nvCxnSpPr>
          <p:spPr bwMode="auto">
            <a:xfrm rot="5400000">
              <a:off x="10736" y="6593"/>
              <a:ext cx="792" cy="1194"/>
            </a:xfrm>
            <a:prstGeom prst="bentConnector3">
              <a:avLst>
                <a:gd name="adj1" fmla="val 50000"/>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cxnSp>
          <p:nvCxnSpPr>
            <p:cNvPr id="187421" name="AutoShape 22"/>
            <p:cNvCxnSpPr>
              <a:cxnSpLocks noChangeShapeType="1"/>
              <a:stCxn id="28687" idx="3"/>
              <a:endCxn id="187416" idx="0"/>
            </p:cNvCxnSpPr>
            <p:nvPr/>
          </p:nvCxnSpPr>
          <p:spPr bwMode="auto">
            <a:xfrm rot="5400000">
              <a:off x="12821" y="7998"/>
              <a:ext cx="1221" cy="398"/>
            </a:xfrm>
            <a:prstGeom prst="bentConnector3">
              <a:avLst>
                <a:gd name="adj1" fmla="val 50000"/>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sp>
          <p:nvSpPr>
            <p:cNvPr id="3" name="AutoShape 23"/>
            <p:cNvSpPr>
              <a:spLocks noChangeArrowheads="1"/>
            </p:cNvSpPr>
            <p:nvPr/>
          </p:nvSpPr>
          <p:spPr bwMode="auto">
            <a:xfrm>
              <a:off x="13208" y="4166"/>
              <a:ext cx="845" cy="2583"/>
            </a:xfrm>
            <a:prstGeom prst="can">
              <a:avLst>
                <a:gd name="adj" fmla="val 27936"/>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4" name="AutoShape 24"/>
            <p:cNvSpPr>
              <a:spLocks noChangeArrowheads="1"/>
            </p:cNvSpPr>
            <p:nvPr/>
          </p:nvSpPr>
          <p:spPr bwMode="auto">
            <a:xfrm>
              <a:off x="11396" y="4159"/>
              <a:ext cx="666" cy="2140"/>
            </a:xfrm>
            <a:prstGeom prst="can">
              <a:avLst>
                <a:gd name="adj" fmla="val 27398"/>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5" name="AutoShape 25"/>
            <p:cNvSpPr>
              <a:spLocks noChangeArrowheads="1"/>
            </p:cNvSpPr>
            <p:nvPr/>
          </p:nvSpPr>
          <p:spPr bwMode="auto">
            <a:xfrm>
              <a:off x="9667" y="4156"/>
              <a:ext cx="538" cy="1570"/>
            </a:xfrm>
            <a:prstGeom prst="can">
              <a:avLst>
                <a:gd name="adj" fmla="val 28209"/>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6" name="AutoShape 26"/>
            <p:cNvSpPr>
              <a:spLocks noChangeArrowheads="1"/>
            </p:cNvSpPr>
            <p:nvPr/>
          </p:nvSpPr>
          <p:spPr bwMode="auto">
            <a:xfrm>
              <a:off x="8193" y="4166"/>
              <a:ext cx="393" cy="1030"/>
            </a:xfrm>
            <a:prstGeom prst="can">
              <a:avLst>
                <a:gd name="adj" fmla="val 23806"/>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7" name="AutoShape 27"/>
            <p:cNvSpPr>
              <a:spLocks noChangeArrowheads="1"/>
            </p:cNvSpPr>
            <p:nvPr/>
          </p:nvSpPr>
          <p:spPr bwMode="auto">
            <a:xfrm>
              <a:off x="6840" y="4169"/>
              <a:ext cx="339" cy="533"/>
            </a:xfrm>
            <a:prstGeom prst="can">
              <a:avLst>
                <a:gd name="adj" fmla="val 26908"/>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grpSp>
      <p:sp>
        <p:nvSpPr>
          <p:cNvPr id="187397" name="文本框 4"/>
          <p:cNvSpPr txBox="1">
            <a:spLocks noChangeArrowheads="1"/>
          </p:cNvSpPr>
          <p:nvPr/>
        </p:nvSpPr>
        <p:spPr bwMode="auto">
          <a:xfrm>
            <a:off x="7991475" y="4267200"/>
            <a:ext cx="938213" cy="124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buFont typeface="Arial" pitchFamily="34" charset="0"/>
              <a:buNone/>
            </a:pPr>
            <a:r>
              <a:rPr lang="en-US" altLang="zh-CN" sz="1500" b="1">
                <a:solidFill>
                  <a:srgbClr val="000000"/>
                </a:solidFill>
                <a:latin typeface="Calibri" pitchFamily="34" charset="0"/>
              </a:rPr>
              <a:t>     BBBBB</a:t>
            </a:r>
          </a:p>
          <a:p>
            <a:pPr eaLnBrk="1" hangingPunct="1">
              <a:buFont typeface="Arial" pitchFamily="34" charset="0"/>
              <a:buNone/>
            </a:pPr>
            <a:r>
              <a:rPr lang="en-US" altLang="zh-CN" sz="1500" b="1">
                <a:solidFill>
                  <a:srgbClr val="000000"/>
                </a:solidFill>
                <a:latin typeface="Calibri" pitchFamily="34" charset="0"/>
              </a:rPr>
              <a:t>   C CCCC</a:t>
            </a:r>
          </a:p>
          <a:p>
            <a:pPr eaLnBrk="1" hangingPunct="1">
              <a:buFont typeface="Arial" pitchFamily="34" charset="0"/>
              <a:buNone/>
            </a:pPr>
            <a:r>
              <a:rPr lang="en-US" altLang="zh-CN" sz="1500" b="1">
                <a:solidFill>
                  <a:srgbClr val="000000"/>
                </a:solidFill>
                <a:latin typeface="Calibri" pitchFamily="34" charset="0"/>
              </a:rPr>
              <a:t>  DDDDD</a:t>
            </a:r>
          </a:p>
          <a:p>
            <a:pPr eaLnBrk="1" hangingPunct="1">
              <a:buFont typeface="Arial" pitchFamily="34" charset="0"/>
              <a:buNone/>
            </a:pPr>
            <a:r>
              <a:rPr lang="en-US" altLang="zh-CN" sz="1500" b="1">
                <a:solidFill>
                  <a:srgbClr val="000000"/>
                </a:solidFill>
                <a:latin typeface="Calibri" pitchFamily="34" charset="0"/>
              </a:rPr>
              <a:t> E E E E E</a:t>
            </a:r>
          </a:p>
          <a:p>
            <a:pPr eaLnBrk="1" hangingPunct="1">
              <a:buFont typeface="Arial" pitchFamily="34" charset="0"/>
              <a:buNone/>
            </a:pPr>
            <a:r>
              <a:rPr lang="en-US" altLang="zh-CN" sz="1500" b="1">
                <a:solidFill>
                  <a:srgbClr val="000000"/>
                </a:solidFill>
                <a:latin typeface="Calibri" pitchFamily="34" charset="0"/>
              </a:rPr>
              <a:t>F F F F F</a:t>
            </a:r>
          </a:p>
        </p:txBody>
      </p:sp>
      <p:sp>
        <p:nvSpPr>
          <p:cNvPr id="187398" name="Text Box 9"/>
          <p:cNvSpPr txBox="1">
            <a:spLocks noChangeArrowheads="1"/>
          </p:cNvSpPr>
          <p:nvPr/>
        </p:nvSpPr>
        <p:spPr bwMode="auto">
          <a:xfrm>
            <a:off x="4668838" y="2368550"/>
            <a:ext cx="1616075"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a:spcBef>
                <a:spcPct val="50000"/>
              </a:spcBef>
              <a:buFont typeface="Arial" pitchFamily="34" charset="0"/>
              <a:buNone/>
            </a:pPr>
            <a:r>
              <a:rPr lang="zh-CN" altLang="zh-CN" sz="1500" b="1">
                <a:solidFill>
                  <a:srgbClr val="C00000"/>
                </a:solidFill>
              </a:rPr>
              <a:t>每行内有什么？ </a:t>
            </a:r>
          </a:p>
        </p:txBody>
      </p:sp>
      <p:sp>
        <p:nvSpPr>
          <p:cNvPr id="187401" name="Text Box 8"/>
          <p:cNvSpPr txBox="1">
            <a:spLocks noChangeArrowheads="1"/>
          </p:cNvSpPr>
          <p:nvPr/>
        </p:nvSpPr>
        <p:spPr bwMode="auto">
          <a:xfrm>
            <a:off x="2311400" y="2363788"/>
            <a:ext cx="123983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a:spcBef>
                <a:spcPct val="50000"/>
              </a:spcBef>
              <a:buFont typeface="Arial" pitchFamily="34" charset="0"/>
              <a:buNone/>
            </a:pPr>
            <a:r>
              <a:rPr lang="zh-CN" altLang="zh-CN" sz="1500" b="1">
                <a:solidFill>
                  <a:srgbClr val="C00000"/>
                </a:solidFill>
              </a:rPr>
              <a:t>变量</a:t>
            </a:r>
            <a:r>
              <a:rPr lang="zh-CN" altLang="en-US" sz="1500" b="1">
                <a:solidFill>
                  <a:srgbClr val="C00000"/>
                </a:solidFill>
              </a:rPr>
              <a:t>的值</a:t>
            </a:r>
            <a:endParaRPr lang="zh-CN" altLang="zh-CN" sz="1500" b="1">
              <a:solidFill>
                <a:srgbClr val="C00000"/>
              </a:solidFill>
            </a:endParaRPr>
          </a:p>
          <a:p>
            <a:pPr>
              <a:spcBef>
                <a:spcPct val="50000"/>
              </a:spcBef>
              <a:buFont typeface="Arial" pitchFamily="34" charset="0"/>
              <a:buNone/>
            </a:pPr>
            <a:r>
              <a:rPr lang="en-US" altLang="zh-CN" sz="1500" b="1">
                <a:solidFill>
                  <a:srgbClr val="C00000"/>
                </a:solidFill>
              </a:rPr>
              <a:t> </a:t>
            </a:r>
          </a:p>
        </p:txBody>
      </p:sp>
      <p:sp>
        <p:nvSpPr>
          <p:cNvPr id="187402" name="Text Box 13"/>
          <p:cNvSpPr txBox="1">
            <a:spLocks noChangeArrowheads="1"/>
          </p:cNvSpPr>
          <p:nvPr/>
        </p:nvSpPr>
        <p:spPr bwMode="auto">
          <a:xfrm>
            <a:off x="868363" y="4286250"/>
            <a:ext cx="1220787"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spcBef>
                <a:spcPct val="50000"/>
              </a:spcBef>
              <a:buFont typeface="Arial" pitchFamily="34" charset="0"/>
              <a:buNone/>
            </a:pPr>
            <a:r>
              <a:rPr lang="zh-CN" altLang="en-US" sz="1500" b="1">
                <a:solidFill>
                  <a:srgbClr val="002060"/>
                </a:solidFill>
              </a:rPr>
              <a:t> </a:t>
            </a:r>
            <a:r>
              <a:rPr lang="en-US" altLang="zh-CN" sz="1500" b="1">
                <a:solidFill>
                  <a:srgbClr val="002060"/>
                </a:solidFill>
              </a:rPr>
              <a:t> </a:t>
            </a:r>
            <a:r>
              <a:rPr lang="zh-CN" altLang="en-US" sz="1500" b="1">
                <a:solidFill>
                  <a:srgbClr val="002060"/>
                </a:solidFill>
              </a:rPr>
              <a:t>从键盘输入整数和字符</a:t>
            </a:r>
            <a:endParaRPr lang="en-US" altLang="zh-CN" sz="1500" b="1">
              <a:solidFill>
                <a:srgbClr val="002060"/>
              </a:solidFill>
            </a:endParaRPr>
          </a:p>
        </p:txBody>
      </p:sp>
      <p:sp>
        <p:nvSpPr>
          <p:cNvPr id="35" name="文本框 7"/>
          <p:cNvSpPr txBox="1">
            <a:spLocks noChangeArrowheads="1"/>
          </p:cNvSpPr>
          <p:nvPr/>
        </p:nvSpPr>
        <p:spPr bwMode="auto">
          <a:xfrm>
            <a:off x="10886" y="609600"/>
            <a:ext cx="25298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pPr>
            <a:r>
              <a:rPr lang="zh-CN" altLang="en-US" sz="2800" b="1" dirty="0">
                <a:solidFill>
                  <a:srgbClr val="C00000"/>
                </a:solidFill>
                <a:latin typeface="幼圆" pitchFamily="49" charset="-122"/>
                <a:ea typeface="幼圆" pitchFamily="49" charset="-122"/>
                <a:sym typeface="宋体" pitchFamily="2" charset="-122"/>
              </a:rPr>
              <a:t>编程题目总结 </a:t>
            </a:r>
          </a:p>
        </p:txBody>
      </p:sp>
    </p:spTree>
    <p:extLst>
      <p:ext uri="{BB962C8B-B14F-4D97-AF65-F5344CB8AC3E}">
        <p14:creationId xmlns:p14="http://schemas.microsoft.com/office/powerpoint/2010/main" val="96516825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8418" name="对象 1"/>
          <p:cNvGraphicFramePr>
            <a:graphicFrameLocks/>
          </p:cNvGraphicFramePr>
          <p:nvPr>
            <p:extLst>
              <p:ext uri="{D42A27DB-BD31-4B8C-83A1-F6EECF244321}">
                <p14:modId xmlns:p14="http://schemas.microsoft.com/office/powerpoint/2010/main" val="4121051133"/>
              </p:ext>
            </p:extLst>
          </p:nvPr>
        </p:nvGraphicFramePr>
        <p:xfrm>
          <a:off x="420688" y="1657350"/>
          <a:ext cx="8302625" cy="3721100"/>
        </p:xfrm>
        <a:graphic>
          <a:graphicData uri="http://schemas.openxmlformats.org/presentationml/2006/ole">
            <mc:AlternateContent xmlns:mc="http://schemas.openxmlformats.org/markup-compatibility/2006">
              <mc:Choice xmlns:v="urn:schemas-microsoft-com:vml" Requires="v">
                <p:oleObj name="BMP 图像" r:id="rId2" imgW="7686720" imgH="4438800" progId="Paint.Picture">
                  <p:embed/>
                </p:oleObj>
              </mc:Choice>
              <mc:Fallback>
                <p:oleObj name="BMP 图像" r:id="rId2" imgW="7686720" imgH="4438800" progId="Paint.Picture">
                  <p:embed/>
                  <p:pic>
                    <p:nvPicPr>
                      <p:cNvPr id="0" name=""/>
                      <p:cNvPicPr>
                        <a:picLocks noChangeArrowheads="1"/>
                      </p:cNvPicPr>
                      <p:nvPr/>
                    </p:nvPicPr>
                    <p:blipFill>
                      <a:blip r:embed="rId3"/>
                      <a:srcRect/>
                      <a:stretch>
                        <a:fillRect/>
                      </a:stretch>
                    </p:blipFill>
                    <p:spPr bwMode="auto">
                      <a:xfrm>
                        <a:off x="420688" y="1657350"/>
                        <a:ext cx="8302625" cy="372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 name="文本框 7"/>
          <p:cNvSpPr txBox="1">
            <a:spLocks noChangeArrowheads="1"/>
          </p:cNvSpPr>
          <p:nvPr/>
        </p:nvSpPr>
        <p:spPr bwMode="auto">
          <a:xfrm>
            <a:off x="10886" y="609600"/>
            <a:ext cx="25298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pPr>
            <a:r>
              <a:rPr lang="zh-CN" altLang="en-US" sz="2800" b="1" dirty="0">
                <a:solidFill>
                  <a:srgbClr val="C00000"/>
                </a:solidFill>
                <a:latin typeface="幼圆" pitchFamily="49" charset="-122"/>
                <a:ea typeface="幼圆" pitchFamily="49" charset="-122"/>
                <a:sym typeface="宋体" pitchFamily="2" charset="-122"/>
              </a:rPr>
              <a:t>编程题目总结 </a:t>
            </a:r>
          </a:p>
        </p:txBody>
      </p:sp>
    </p:spTree>
    <p:extLst>
      <p:ext uri="{BB962C8B-B14F-4D97-AF65-F5344CB8AC3E}">
        <p14:creationId xmlns:p14="http://schemas.microsoft.com/office/powerpoint/2010/main" val="372530121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4" name="文本框 1"/>
          <p:cNvSpPr txBox="1">
            <a:spLocks noChangeArrowheads="1"/>
          </p:cNvSpPr>
          <p:nvPr/>
        </p:nvSpPr>
        <p:spPr bwMode="auto">
          <a:xfrm>
            <a:off x="155575" y="1420813"/>
            <a:ext cx="77708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buFont typeface="Arial" pitchFamily="34" charset="0"/>
              <a:buNone/>
            </a:pPr>
            <a:r>
              <a:rPr lang="zh-CN" altLang="en-US" sz="1800">
                <a:solidFill>
                  <a:srgbClr val="002060"/>
                </a:solidFill>
                <a:latin typeface="微软雅黑" pitchFamily="34" charset="-122"/>
                <a:ea typeface="微软雅黑" pitchFamily="34" charset="-122"/>
                <a:sym typeface="宋体" pitchFamily="2" charset="-122"/>
              </a:rPr>
              <a:t>题目：键盘输入</a:t>
            </a:r>
            <a:r>
              <a:rPr lang="en-US" altLang="zh-CN" sz="1800">
                <a:solidFill>
                  <a:srgbClr val="002060"/>
                </a:solidFill>
                <a:latin typeface="微软雅黑" pitchFamily="34" charset="-122"/>
                <a:ea typeface="微软雅黑" pitchFamily="34" charset="-122"/>
                <a:sym typeface="宋体" pitchFamily="2" charset="-122"/>
              </a:rPr>
              <a:t>n</a:t>
            </a:r>
            <a:r>
              <a:rPr lang="zh-CN" altLang="en-US" sz="1800">
                <a:solidFill>
                  <a:srgbClr val="002060"/>
                </a:solidFill>
                <a:latin typeface="微软雅黑" pitchFamily="34" charset="-122"/>
                <a:ea typeface="微软雅黑" pitchFamily="34" charset="-122"/>
                <a:sym typeface="宋体" pitchFamily="2" charset="-122"/>
              </a:rPr>
              <a:t>和一个字母</a:t>
            </a:r>
            <a:r>
              <a:rPr lang="zh-CN" altLang="zh-CN" sz="1800">
                <a:solidFill>
                  <a:srgbClr val="002060"/>
                </a:solidFill>
                <a:latin typeface="微软雅黑" pitchFamily="34" charset="-122"/>
                <a:ea typeface="微软雅黑" pitchFamily="34" charset="-122"/>
                <a:sym typeface="宋体" pitchFamily="2" charset="-122"/>
              </a:rPr>
              <a:t>，输出字母组成的平行四边形，例如输入</a:t>
            </a:r>
            <a:r>
              <a:rPr lang="en-US" altLang="zh-CN" sz="1800">
                <a:solidFill>
                  <a:srgbClr val="002060"/>
                </a:solidFill>
                <a:latin typeface="微软雅黑" pitchFamily="34" charset="-122"/>
                <a:ea typeface="微软雅黑" pitchFamily="34" charset="-122"/>
                <a:sym typeface="宋体" pitchFamily="2" charset="-122"/>
              </a:rPr>
              <a:t>5</a:t>
            </a:r>
            <a:r>
              <a:rPr lang="zh-CN" altLang="en-US" sz="1800">
                <a:solidFill>
                  <a:srgbClr val="002060"/>
                </a:solidFill>
                <a:latin typeface="微软雅黑" pitchFamily="34" charset="-122"/>
                <a:ea typeface="微软雅黑" pitchFamily="34" charset="-122"/>
                <a:sym typeface="宋体" pitchFamily="2" charset="-122"/>
              </a:rPr>
              <a:t>，</a:t>
            </a:r>
            <a:r>
              <a:rPr lang="en-US" altLang="zh-CN" sz="1800">
                <a:solidFill>
                  <a:srgbClr val="002060"/>
                </a:solidFill>
                <a:latin typeface="微软雅黑" pitchFamily="34" charset="-122"/>
                <a:ea typeface="微软雅黑" pitchFamily="34" charset="-122"/>
                <a:sym typeface="宋体" pitchFamily="2" charset="-122"/>
              </a:rPr>
              <a:t>C</a:t>
            </a:r>
          </a:p>
        </p:txBody>
      </p:sp>
      <p:sp>
        <p:nvSpPr>
          <p:cNvPr id="189445" name="文本框 5"/>
          <p:cNvSpPr txBox="1">
            <a:spLocks noChangeArrowheads="1"/>
          </p:cNvSpPr>
          <p:nvPr/>
        </p:nvSpPr>
        <p:spPr bwMode="auto">
          <a:xfrm>
            <a:off x="155575" y="1795463"/>
            <a:ext cx="89169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buFont typeface="Arial" pitchFamily="34" charset="0"/>
              <a:buNone/>
            </a:pPr>
            <a:r>
              <a:rPr lang="zh-CN" altLang="en-US" sz="1800">
                <a:solidFill>
                  <a:srgbClr val="002060"/>
                </a:solidFill>
                <a:latin typeface="微软雅黑" pitchFamily="34" charset="-122"/>
                <a:ea typeface="微软雅黑" pitchFamily="34" charset="-122"/>
                <a:sym typeface="宋体" pitchFamily="2" charset="-122"/>
              </a:rPr>
              <a:t>步骤：键盘输入</a:t>
            </a:r>
            <a:r>
              <a:rPr lang="en-US" altLang="zh-CN" sz="1800">
                <a:solidFill>
                  <a:srgbClr val="002060"/>
                </a:solidFill>
                <a:latin typeface="微软雅黑" pitchFamily="34" charset="-122"/>
                <a:ea typeface="微软雅黑" pitchFamily="34" charset="-122"/>
                <a:sym typeface="宋体" pitchFamily="2" charset="-122"/>
              </a:rPr>
              <a:t>n</a:t>
            </a:r>
            <a:r>
              <a:rPr lang="zh-CN" altLang="zh-CN" sz="1800">
                <a:solidFill>
                  <a:srgbClr val="002060"/>
                </a:solidFill>
                <a:latin typeface="微软雅黑" pitchFamily="34" charset="-122"/>
                <a:ea typeface="微软雅黑" pitchFamily="34" charset="-122"/>
                <a:sym typeface="宋体" pitchFamily="2" charset="-122"/>
              </a:rPr>
              <a:t>，输出</a:t>
            </a:r>
            <a:r>
              <a:rPr lang="en-US" altLang="zh-CN" sz="1800">
                <a:solidFill>
                  <a:srgbClr val="002060"/>
                </a:solidFill>
                <a:latin typeface="微软雅黑" pitchFamily="34" charset="-122"/>
                <a:ea typeface="微软雅黑" pitchFamily="34" charset="-122"/>
                <a:sym typeface="宋体" pitchFamily="2" charset="-122"/>
              </a:rPr>
              <a:t>n</a:t>
            </a:r>
            <a:r>
              <a:rPr lang="zh-CN" altLang="zh-CN" sz="1800">
                <a:solidFill>
                  <a:srgbClr val="002060"/>
                </a:solidFill>
                <a:latin typeface="微软雅黑" pitchFamily="34" charset="-122"/>
                <a:ea typeface="微软雅黑" pitchFamily="34" charset="-122"/>
                <a:sym typeface="宋体" pitchFamily="2" charset="-122"/>
              </a:rPr>
              <a:t>行，每行先有若干个空格，然后</a:t>
            </a:r>
            <a:r>
              <a:rPr lang="en-US" altLang="zh-CN" sz="1800">
                <a:solidFill>
                  <a:srgbClr val="002060"/>
                </a:solidFill>
                <a:latin typeface="微软雅黑" pitchFamily="34" charset="-122"/>
                <a:ea typeface="微软雅黑" pitchFamily="34" charset="-122"/>
                <a:sym typeface="宋体" pitchFamily="2" charset="-122"/>
              </a:rPr>
              <a:t>n</a:t>
            </a:r>
            <a:r>
              <a:rPr lang="zh-CN" altLang="zh-CN" sz="1800">
                <a:solidFill>
                  <a:srgbClr val="002060"/>
                </a:solidFill>
                <a:latin typeface="微软雅黑" pitchFamily="34" charset="-122"/>
                <a:ea typeface="微软雅黑" pitchFamily="34" charset="-122"/>
                <a:sym typeface="宋体" pitchFamily="2" charset="-122"/>
              </a:rPr>
              <a:t>个字母，字母变化的规律是 </a:t>
            </a:r>
            <a:endParaRPr lang="en-US" altLang="zh-CN" sz="1800">
              <a:solidFill>
                <a:srgbClr val="002060"/>
              </a:solidFill>
              <a:latin typeface="微软雅黑" pitchFamily="34" charset="-122"/>
              <a:ea typeface="微软雅黑" pitchFamily="34" charset="-122"/>
              <a:sym typeface="宋体" pitchFamily="2" charset="-122"/>
            </a:endParaRPr>
          </a:p>
        </p:txBody>
      </p:sp>
      <p:grpSp>
        <p:nvGrpSpPr>
          <p:cNvPr id="189446" name="组合 6"/>
          <p:cNvGrpSpPr>
            <a:grpSpLocks/>
          </p:cNvGrpSpPr>
          <p:nvPr/>
        </p:nvGrpSpPr>
        <p:grpSpPr bwMode="auto">
          <a:xfrm>
            <a:off x="573088" y="2379663"/>
            <a:ext cx="7572375" cy="3538537"/>
            <a:chOff x="4568" y="3197"/>
            <a:chExt cx="11715" cy="7427"/>
          </a:xfrm>
        </p:grpSpPr>
        <p:sp>
          <p:nvSpPr>
            <p:cNvPr id="2" name="Freeform 2"/>
            <p:cNvSpPr>
              <a:spLocks noChangeArrowheads="1"/>
            </p:cNvSpPr>
            <p:nvPr/>
          </p:nvSpPr>
          <p:spPr bwMode="auto">
            <a:xfrm>
              <a:off x="5234" y="4097"/>
              <a:ext cx="11049" cy="4891"/>
            </a:xfrm>
            <a:custGeom>
              <a:avLst/>
              <a:gdLst>
                <a:gd name="T0" fmla="*/ 496 w 5190"/>
                <a:gd name="T1" fmla="*/ 157 h 2298"/>
                <a:gd name="T2" fmla="*/ 0 w 5190"/>
                <a:gd name="T3" fmla="*/ 0 h 2298"/>
                <a:gd name="T4" fmla="*/ 231 w 5190"/>
                <a:gd name="T5" fmla="*/ 124 h 2298"/>
                <a:gd name="T6" fmla="*/ 4282 w 5190"/>
                <a:gd name="T7" fmla="*/ 2025 h 2298"/>
                <a:gd name="T8" fmla="*/ 3974 w 5190"/>
                <a:gd name="T9" fmla="*/ 2298 h 2298"/>
                <a:gd name="T10" fmla="*/ 5190 w 5190"/>
                <a:gd name="T11" fmla="*/ 2065 h 2298"/>
                <a:gd name="T12" fmla="*/ 5039 w 5190"/>
                <a:gd name="T13" fmla="*/ 1268 h 2298"/>
                <a:gd name="T14" fmla="*/ 4748 w 5190"/>
                <a:gd name="T15" fmla="*/ 1507 h 2298"/>
                <a:gd name="T16" fmla="*/ 496 w 5190"/>
                <a:gd name="T17" fmla="*/ 157 h 2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90" h="2298">
                  <a:moveTo>
                    <a:pt x="496" y="157"/>
                  </a:moveTo>
                  <a:lnTo>
                    <a:pt x="0" y="0"/>
                  </a:lnTo>
                  <a:lnTo>
                    <a:pt x="231" y="124"/>
                  </a:lnTo>
                  <a:lnTo>
                    <a:pt x="4282" y="2025"/>
                  </a:lnTo>
                  <a:lnTo>
                    <a:pt x="3974" y="2298"/>
                  </a:lnTo>
                  <a:lnTo>
                    <a:pt x="5190" y="2065"/>
                  </a:lnTo>
                  <a:lnTo>
                    <a:pt x="5039" y="1268"/>
                  </a:lnTo>
                  <a:lnTo>
                    <a:pt x="4748" y="1507"/>
                  </a:lnTo>
                  <a:lnTo>
                    <a:pt x="496" y="157"/>
                  </a:lnTo>
                  <a:close/>
                </a:path>
              </a:pathLst>
            </a:custGeom>
            <a:gradFill rotWithShape="1">
              <a:gsLst>
                <a:gs pos="0">
                  <a:srgbClr val="5F3214"/>
                </a:gs>
                <a:gs pos="50000">
                  <a:schemeClr val="accent2"/>
                </a:gs>
                <a:gs pos="100000">
                  <a:srgbClr val="5F3214"/>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30732" name="AutoShape 3"/>
            <p:cNvSpPr>
              <a:spLocks noChangeArrowheads="1"/>
            </p:cNvSpPr>
            <p:nvPr/>
          </p:nvSpPr>
          <p:spPr bwMode="auto">
            <a:xfrm>
              <a:off x="6840" y="4616"/>
              <a:ext cx="339" cy="210"/>
            </a:xfrm>
            <a:prstGeom prst="can">
              <a:avLst>
                <a:gd name="adj" fmla="val 39796"/>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30733" name="AutoShape 4"/>
            <p:cNvSpPr>
              <a:spLocks noChangeArrowheads="1"/>
            </p:cNvSpPr>
            <p:nvPr/>
          </p:nvSpPr>
          <p:spPr bwMode="auto">
            <a:xfrm>
              <a:off x="8193" y="5110"/>
              <a:ext cx="395" cy="290"/>
            </a:xfrm>
            <a:prstGeom prst="can">
              <a:avLst>
                <a:gd name="adj" fmla="val 27343"/>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30734" name="AutoShape 5"/>
            <p:cNvSpPr>
              <a:spLocks noChangeArrowheads="1"/>
            </p:cNvSpPr>
            <p:nvPr/>
          </p:nvSpPr>
          <p:spPr bwMode="auto">
            <a:xfrm>
              <a:off x="9667" y="5586"/>
              <a:ext cx="538" cy="456"/>
            </a:xfrm>
            <a:prstGeom prst="can">
              <a:avLst>
                <a:gd name="adj" fmla="val 25000"/>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30735" name="AutoShape 6"/>
            <p:cNvSpPr>
              <a:spLocks noChangeArrowheads="1"/>
            </p:cNvSpPr>
            <p:nvPr/>
          </p:nvSpPr>
          <p:spPr bwMode="auto">
            <a:xfrm>
              <a:off x="13208" y="6566"/>
              <a:ext cx="845" cy="1020"/>
            </a:xfrm>
            <a:prstGeom prst="can">
              <a:avLst>
                <a:gd name="adj" fmla="val 21409"/>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30736" name="AutoShape 7"/>
            <p:cNvSpPr>
              <a:spLocks noChangeArrowheads="1"/>
            </p:cNvSpPr>
            <p:nvPr/>
          </p:nvSpPr>
          <p:spPr bwMode="auto">
            <a:xfrm>
              <a:off x="11396" y="6156"/>
              <a:ext cx="666" cy="640"/>
            </a:xfrm>
            <a:prstGeom prst="can">
              <a:avLst>
                <a:gd name="adj" fmla="val 21667"/>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189457" name="Text Box 8"/>
            <p:cNvSpPr txBox="1">
              <a:spLocks noChangeArrowheads="1"/>
            </p:cNvSpPr>
            <p:nvPr/>
          </p:nvSpPr>
          <p:spPr bwMode="auto">
            <a:xfrm>
              <a:off x="5393" y="3197"/>
              <a:ext cx="1918" cy="1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a:spcBef>
                  <a:spcPct val="50000"/>
                </a:spcBef>
                <a:buFont typeface="Arial" pitchFamily="34" charset="0"/>
                <a:buNone/>
              </a:pPr>
              <a:r>
                <a:rPr lang="zh-CN" altLang="zh-CN" sz="1500" b="1">
                  <a:solidFill>
                    <a:srgbClr val="C00000"/>
                  </a:solidFill>
                </a:rPr>
                <a:t>定义变量</a:t>
              </a:r>
            </a:p>
            <a:p>
              <a:pPr>
                <a:spcBef>
                  <a:spcPct val="50000"/>
                </a:spcBef>
                <a:buFont typeface="Arial" pitchFamily="34" charset="0"/>
                <a:buNone/>
              </a:pPr>
              <a:r>
                <a:rPr lang="en-US" altLang="zh-CN" sz="1500" b="1">
                  <a:solidFill>
                    <a:srgbClr val="C00000"/>
                  </a:solidFill>
                </a:rPr>
                <a:t> </a:t>
              </a:r>
            </a:p>
          </p:txBody>
        </p:sp>
        <p:sp>
          <p:nvSpPr>
            <p:cNvPr id="189458" name="Text Box 9"/>
            <p:cNvSpPr txBox="1">
              <a:spLocks noChangeArrowheads="1"/>
            </p:cNvSpPr>
            <p:nvPr/>
          </p:nvSpPr>
          <p:spPr bwMode="auto">
            <a:xfrm>
              <a:off x="9418" y="3210"/>
              <a:ext cx="2232" cy="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a:spcBef>
                  <a:spcPct val="50000"/>
                </a:spcBef>
                <a:buFont typeface="Arial" pitchFamily="34" charset="0"/>
                <a:buNone/>
              </a:pPr>
              <a:r>
                <a:rPr lang="zh-CN" altLang="zh-CN" sz="1500" b="1">
                  <a:solidFill>
                    <a:srgbClr val="C00000"/>
                  </a:solidFill>
                </a:rPr>
                <a:t>行循环</a:t>
              </a:r>
            </a:p>
          </p:txBody>
        </p:sp>
        <p:sp>
          <p:nvSpPr>
            <p:cNvPr id="30739" name="Text Box 10"/>
            <p:cNvSpPr txBox="1">
              <a:spLocks noChangeArrowheads="1"/>
            </p:cNvSpPr>
            <p:nvPr/>
          </p:nvSpPr>
          <p:spPr bwMode="auto">
            <a:xfrm>
              <a:off x="9325" y="3197"/>
              <a:ext cx="1916" cy="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spcBef>
                  <a:spcPct val="50000"/>
                </a:spcBef>
                <a:buFont typeface="Arial" panose="020B0604020202020204" pitchFamily="34" charset="0"/>
                <a:buNone/>
                <a:defRPr/>
              </a:pPr>
              <a:endParaRPr lang="en-US" altLang="zh-CN" sz="1350" b="1">
                <a:solidFill>
                  <a:srgbClr val="44546A"/>
                </a:solidFill>
                <a:latin typeface="Arial" panose="020B0604020202020204" pitchFamily="34" charset="0"/>
              </a:endParaRPr>
            </a:p>
          </p:txBody>
        </p:sp>
        <p:sp>
          <p:nvSpPr>
            <p:cNvPr id="30740" name="Text Box 12"/>
            <p:cNvSpPr txBox="1">
              <a:spLocks noChangeArrowheads="1"/>
            </p:cNvSpPr>
            <p:nvPr/>
          </p:nvSpPr>
          <p:spPr bwMode="auto">
            <a:xfrm>
              <a:off x="13601" y="3220"/>
              <a:ext cx="1921" cy="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spcBef>
                  <a:spcPct val="50000"/>
                </a:spcBef>
                <a:buFont typeface="Arial" panose="020B0604020202020204" pitchFamily="34" charset="0"/>
                <a:buNone/>
                <a:defRPr/>
              </a:pPr>
              <a:r>
                <a:rPr lang="zh-CN" altLang="en-US" sz="1350" b="1">
                  <a:solidFill>
                    <a:srgbClr val="C00000"/>
                  </a:solidFill>
                  <a:latin typeface="Arial" panose="020B0604020202020204" pitchFamily="34" charset="0"/>
                </a:rPr>
                <a:t>写代码</a:t>
              </a:r>
              <a:r>
                <a:rPr lang="en-US" altLang="zh-CN" sz="1350" b="1">
                  <a:solidFill>
                    <a:srgbClr val="C00000"/>
                  </a:solidFill>
                  <a:latin typeface="Arial" panose="020B0604020202020204" pitchFamily="34" charset="0"/>
                </a:rPr>
                <a:t>code</a:t>
              </a:r>
            </a:p>
          </p:txBody>
        </p:sp>
        <p:sp>
          <p:nvSpPr>
            <p:cNvPr id="189461" name="Text Box 13"/>
            <p:cNvSpPr txBox="1">
              <a:spLocks noChangeArrowheads="1"/>
            </p:cNvSpPr>
            <p:nvPr/>
          </p:nvSpPr>
          <p:spPr bwMode="auto">
            <a:xfrm>
              <a:off x="4568" y="4825"/>
              <a:ext cx="3568" cy="1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spcBef>
                  <a:spcPct val="50000"/>
                </a:spcBef>
                <a:buFont typeface="Arial" pitchFamily="34" charset="0"/>
                <a:buNone/>
              </a:pPr>
              <a:r>
                <a:rPr lang="zh-CN" altLang="en-US" sz="1500" b="1">
                  <a:solidFill>
                    <a:srgbClr val="002060"/>
                  </a:solidFill>
                </a:rPr>
                <a:t> </a:t>
              </a:r>
              <a:r>
                <a:rPr lang="en-US" altLang="zh-CN" sz="1500" b="1">
                  <a:solidFill>
                    <a:srgbClr val="002060"/>
                  </a:solidFill>
                </a:rPr>
                <a:t> int i,j,n;</a:t>
              </a:r>
            </a:p>
            <a:p>
              <a:pPr eaLnBrk="1" hangingPunct="1">
                <a:spcBef>
                  <a:spcPct val="50000"/>
                </a:spcBef>
                <a:buFont typeface="Arial" pitchFamily="34" charset="0"/>
                <a:buNone/>
              </a:pPr>
              <a:r>
                <a:rPr lang="en-US" altLang="zh-CN" sz="1500" b="1">
                  <a:solidFill>
                    <a:srgbClr val="002060"/>
                  </a:solidFill>
                </a:rPr>
                <a:t>  char ch;</a:t>
              </a:r>
            </a:p>
          </p:txBody>
        </p:sp>
        <p:sp>
          <p:nvSpPr>
            <p:cNvPr id="30742" name="Text Box 14"/>
            <p:cNvSpPr txBox="1">
              <a:spLocks noChangeArrowheads="1"/>
            </p:cNvSpPr>
            <p:nvPr/>
          </p:nvSpPr>
          <p:spPr bwMode="auto">
            <a:xfrm>
              <a:off x="6823" y="7835"/>
              <a:ext cx="3787" cy="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 typeface="Arial" panose="020B0604020202020204" pitchFamily="34" charset="0"/>
                <a:buNone/>
                <a:defRPr/>
              </a:pPr>
              <a:r>
                <a:rPr lang="zh-CN" altLang="en-US" sz="1350" b="1">
                  <a:solidFill>
                    <a:srgbClr val="002060"/>
                  </a:solidFill>
                  <a:latin typeface="Arial" panose="020B0604020202020204" pitchFamily="34" charset="0"/>
                </a:rPr>
                <a:t> </a:t>
              </a:r>
              <a:r>
                <a:rPr lang="en-US" altLang="zh-CN" sz="1350" b="1">
                  <a:solidFill>
                    <a:srgbClr val="002060"/>
                  </a:solidFill>
                  <a:latin typeface="Arial" panose="020B0604020202020204" pitchFamily="34" charset="0"/>
                </a:rPr>
                <a:t>for (i=0;i&lt;n;i++)</a:t>
              </a:r>
            </a:p>
          </p:txBody>
        </p:sp>
        <p:sp>
          <p:nvSpPr>
            <p:cNvPr id="30743" name="Text Box 15"/>
            <p:cNvSpPr txBox="1">
              <a:spLocks noChangeArrowheads="1"/>
            </p:cNvSpPr>
            <p:nvPr/>
          </p:nvSpPr>
          <p:spPr bwMode="auto">
            <a:xfrm>
              <a:off x="8913" y="8248"/>
              <a:ext cx="3244" cy="2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 typeface="Arial" panose="020B0604020202020204" pitchFamily="34" charset="0"/>
                <a:buNone/>
                <a:defRPr/>
              </a:pPr>
              <a:r>
                <a:rPr lang="zh-CN" altLang="en-US" sz="1350" b="1">
                  <a:solidFill>
                    <a:srgbClr val="002060"/>
                  </a:solidFill>
                  <a:latin typeface="Arial" panose="020B0604020202020204" pitchFamily="34" charset="0"/>
                </a:rPr>
                <a:t> </a:t>
              </a:r>
              <a:r>
                <a:rPr lang="en-US" altLang="zh-CN" sz="1350" b="1">
                  <a:solidFill>
                    <a:srgbClr val="002060"/>
                  </a:solidFill>
                  <a:latin typeface="Arial" panose="020B0604020202020204" pitchFamily="34" charset="0"/>
                </a:rPr>
                <a:t>1 </a:t>
              </a:r>
              <a:r>
                <a:rPr lang="zh-CN" altLang="en-US" sz="1350" b="1">
                  <a:solidFill>
                    <a:srgbClr val="002060"/>
                  </a:solidFill>
                  <a:latin typeface="Arial" panose="020B0604020202020204" pitchFamily="34" charset="0"/>
                </a:rPr>
                <a:t>循环输出若干空格</a:t>
              </a:r>
              <a:r>
                <a:rPr lang="en-US" altLang="zh-CN" sz="1350" b="1">
                  <a:solidFill>
                    <a:srgbClr val="002060"/>
                  </a:solidFill>
                  <a:latin typeface="Arial" panose="020B0604020202020204" pitchFamily="34" charset="0"/>
                </a:rPr>
                <a:t> </a:t>
              </a:r>
              <a:endParaRPr lang="zh-CN" altLang="en-US" sz="1350" b="1">
                <a:solidFill>
                  <a:srgbClr val="002060"/>
                </a:solidFill>
                <a:latin typeface="Arial" panose="020B0604020202020204" pitchFamily="34" charset="0"/>
              </a:endParaRPr>
            </a:p>
            <a:p>
              <a:pPr eaLnBrk="1" hangingPunct="1">
                <a:spcBef>
                  <a:spcPct val="50000"/>
                </a:spcBef>
                <a:buFont typeface="Arial" panose="020B0604020202020204" pitchFamily="34" charset="0"/>
                <a:buNone/>
                <a:defRPr/>
              </a:pPr>
              <a:r>
                <a:rPr lang="en-US" altLang="zh-CN" sz="1350" b="1">
                  <a:solidFill>
                    <a:srgbClr val="002060"/>
                  </a:solidFill>
                  <a:latin typeface="Arial" panose="020B0604020202020204" pitchFamily="34" charset="0"/>
                </a:rPr>
                <a:t> 2 </a:t>
              </a:r>
              <a:r>
                <a:rPr lang="zh-CN" altLang="en-US" sz="1350" b="1">
                  <a:solidFill>
                    <a:srgbClr val="002060"/>
                  </a:solidFill>
                  <a:latin typeface="Arial" panose="020B0604020202020204" pitchFamily="34" charset="0"/>
                </a:rPr>
                <a:t>循环输出</a:t>
              </a:r>
              <a:r>
                <a:rPr lang="en-US" altLang="zh-CN" sz="1350" b="1">
                  <a:solidFill>
                    <a:srgbClr val="002060"/>
                  </a:solidFill>
                  <a:latin typeface="Arial" panose="020B0604020202020204" pitchFamily="34" charset="0"/>
                </a:rPr>
                <a:t>n</a:t>
              </a:r>
              <a:r>
                <a:rPr lang="zh-CN" altLang="zh-CN" sz="1350" b="1">
                  <a:solidFill>
                    <a:srgbClr val="002060"/>
                  </a:solidFill>
                  <a:latin typeface="Arial" panose="020B0604020202020204" pitchFamily="34" charset="0"/>
                </a:rPr>
                <a:t>个字母且</a:t>
              </a:r>
              <a:r>
                <a:rPr lang="zh-CN" altLang="en-US" sz="1350" b="1">
                  <a:solidFill>
                    <a:srgbClr val="002060"/>
                  </a:solidFill>
                  <a:latin typeface="Arial" panose="020B0604020202020204" pitchFamily="34" charset="0"/>
                </a:rPr>
                <a:t>逐一</a:t>
              </a:r>
              <a:r>
                <a:rPr lang="zh-CN" altLang="zh-CN" sz="1350" b="1">
                  <a:solidFill>
                    <a:srgbClr val="002060"/>
                  </a:solidFill>
                  <a:latin typeface="Arial" panose="020B0604020202020204" pitchFamily="34" charset="0"/>
                </a:rPr>
                <a:t>自增</a:t>
              </a:r>
              <a:r>
                <a:rPr lang="zh-CN" altLang="en-US" sz="1350" b="1">
                  <a:solidFill>
                    <a:srgbClr val="002060"/>
                  </a:solidFill>
                  <a:latin typeface="Arial" panose="020B0604020202020204" pitchFamily="34" charset="0"/>
                </a:rPr>
                <a:t>，且判断</a:t>
              </a:r>
              <a:r>
                <a:rPr lang="en-US" altLang="zh-CN" sz="1350" b="1">
                  <a:solidFill>
                    <a:srgbClr val="002060"/>
                  </a:solidFill>
                  <a:latin typeface="Arial" panose="020B0604020202020204" pitchFamily="34" charset="0"/>
                </a:rPr>
                <a:t>Z</a:t>
              </a:r>
            </a:p>
            <a:p>
              <a:pPr eaLnBrk="1" hangingPunct="1">
                <a:spcBef>
                  <a:spcPct val="50000"/>
                </a:spcBef>
                <a:buFont typeface="Arial" panose="020B0604020202020204" pitchFamily="34" charset="0"/>
                <a:buNone/>
                <a:defRPr/>
              </a:pPr>
              <a:r>
                <a:rPr lang="en-US" altLang="zh-CN" sz="1350" b="1">
                  <a:solidFill>
                    <a:srgbClr val="002060"/>
                  </a:solidFill>
                  <a:latin typeface="Arial" panose="020B0604020202020204" pitchFamily="34" charset="0"/>
                </a:rPr>
                <a:t> </a:t>
              </a:r>
              <a:r>
                <a:rPr lang="en-US" altLang="zh-CN" sz="1350" b="1">
                  <a:solidFill>
                    <a:srgbClr val="C00000"/>
                  </a:solidFill>
                  <a:latin typeface="Arial" panose="020B0604020202020204" pitchFamily="34" charset="0"/>
                </a:rPr>
                <a:t>3 </a:t>
              </a:r>
              <a:r>
                <a:rPr lang="zh-CN" altLang="en-US" sz="1350" b="1">
                  <a:solidFill>
                    <a:srgbClr val="002060"/>
                  </a:solidFill>
                  <a:latin typeface="Arial" panose="020B0604020202020204" pitchFamily="34" charset="0"/>
                </a:rPr>
                <a:t>换行</a:t>
              </a:r>
            </a:p>
          </p:txBody>
        </p:sp>
        <p:sp>
          <p:nvSpPr>
            <p:cNvPr id="189464" name="Text Box 17"/>
            <p:cNvSpPr txBox="1">
              <a:spLocks noChangeArrowheads="1"/>
            </p:cNvSpPr>
            <p:nvPr/>
          </p:nvSpPr>
          <p:spPr bwMode="auto">
            <a:xfrm>
              <a:off x="11801" y="8701"/>
              <a:ext cx="2252" cy="1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spcBef>
                  <a:spcPct val="50000"/>
                </a:spcBef>
                <a:buFont typeface="Arial" pitchFamily="34" charset="0"/>
                <a:buNone/>
              </a:pPr>
              <a:r>
                <a:rPr lang="zh-CN" altLang="en-US" sz="1500" b="1">
                  <a:solidFill>
                    <a:srgbClr val="C00000"/>
                  </a:solidFill>
                </a:rPr>
                <a:t> </a:t>
              </a:r>
              <a:r>
                <a:rPr lang="en-US" altLang="zh-CN" sz="1500" b="1">
                  <a:solidFill>
                    <a:srgbClr val="C00000"/>
                  </a:solidFill>
                </a:rPr>
                <a:t>int main()</a:t>
              </a:r>
            </a:p>
            <a:p>
              <a:pPr eaLnBrk="1" hangingPunct="1">
                <a:spcBef>
                  <a:spcPct val="50000"/>
                </a:spcBef>
                <a:buFont typeface="Arial" pitchFamily="34" charset="0"/>
                <a:buNone/>
              </a:pPr>
              <a:r>
                <a:rPr lang="en-US" altLang="zh-CN" sz="1500" b="1">
                  <a:solidFill>
                    <a:srgbClr val="C00000"/>
                  </a:solidFill>
                </a:rPr>
                <a:t>{......}</a:t>
              </a:r>
            </a:p>
          </p:txBody>
        </p:sp>
        <p:cxnSp>
          <p:nvCxnSpPr>
            <p:cNvPr id="189465" name="AutoShape 18"/>
            <p:cNvCxnSpPr>
              <a:cxnSpLocks noChangeShapeType="1"/>
              <a:stCxn id="30732" idx="3"/>
              <a:endCxn id="189461" idx="0"/>
            </p:cNvCxnSpPr>
            <p:nvPr/>
          </p:nvCxnSpPr>
          <p:spPr bwMode="auto">
            <a:xfrm flipH="1">
              <a:off x="6352" y="4825"/>
              <a:ext cx="658" cy="0"/>
            </a:xfrm>
            <a:prstGeom prst="line">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cxnSp>
          <p:nvCxnSpPr>
            <p:cNvPr id="189466" name="AutoShape 19"/>
            <p:cNvCxnSpPr>
              <a:cxnSpLocks noChangeShapeType="1"/>
              <a:stCxn id="30733" idx="3"/>
            </p:cNvCxnSpPr>
            <p:nvPr/>
          </p:nvCxnSpPr>
          <p:spPr bwMode="auto">
            <a:xfrm rot="5400000">
              <a:off x="6585" y="4982"/>
              <a:ext cx="1389" cy="2218"/>
            </a:xfrm>
            <a:prstGeom prst="bentConnector2">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cxnSp>
          <p:nvCxnSpPr>
            <p:cNvPr id="189467" name="AutoShape 20"/>
            <p:cNvCxnSpPr>
              <a:cxnSpLocks noChangeShapeType="1"/>
              <a:stCxn id="30734" idx="3"/>
            </p:cNvCxnSpPr>
            <p:nvPr/>
          </p:nvCxnSpPr>
          <p:spPr bwMode="auto">
            <a:xfrm rot="5400000">
              <a:off x="8516" y="6112"/>
              <a:ext cx="1487" cy="1347"/>
            </a:xfrm>
            <a:prstGeom prst="bentConnector2">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cxnSp>
          <p:nvCxnSpPr>
            <p:cNvPr id="189468" name="AutoShape 21"/>
            <p:cNvCxnSpPr>
              <a:cxnSpLocks noChangeShapeType="1"/>
              <a:stCxn id="30736" idx="3"/>
            </p:cNvCxnSpPr>
            <p:nvPr/>
          </p:nvCxnSpPr>
          <p:spPr bwMode="auto">
            <a:xfrm rot="5400000">
              <a:off x="10736" y="6593"/>
              <a:ext cx="792" cy="1194"/>
            </a:xfrm>
            <a:prstGeom prst="bentConnector3">
              <a:avLst>
                <a:gd name="adj1" fmla="val 50000"/>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cxnSp>
          <p:nvCxnSpPr>
            <p:cNvPr id="189469" name="AutoShape 22"/>
            <p:cNvCxnSpPr>
              <a:cxnSpLocks noChangeShapeType="1"/>
              <a:stCxn id="30735" idx="3"/>
              <a:endCxn id="189464" idx="0"/>
            </p:cNvCxnSpPr>
            <p:nvPr/>
          </p:nvCxnSpPr>
          <p:spPr bwMode="auto">
            <a:xfrm rot="5400000">
              <a:off x="12721" y="7792"/>
              <a:ext cx="1115" cy="704"/>
            </a:xfrm>
            <a:prstGeom prst="bentConnector3">
              <a:avLst>
                <a:gd name="adj1" fmla="val 50000"/>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sp>
          <p:nvSpPr>
            <p:cNvPr id="3" name="AutoShape 23"/>
            <p:cNvSpPr>
              <a:spLocks noChangeArrowheads="1"/>
            </p:cNvSpPr>
            <p:nvPr/>
          </p:nvSpPr>
          <p:spPr bwMode="auto">
            <a:xfrm>
              <a:off x="13208" y="4167"/>
              <a:ext cx="845" cy="2582"/>
            </a:xfrm>
            <a:prstGeom prst="can">
              <a:avLst>
                <a:gd name="adj" fmla="val 27936"/>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4" name="AutoShape 24"/>
            <p:cNvSpPr>
              <a:spLocks noChangeArrowheads="1"/>
            </p:cNvSpPr>
            <p:nvPr/>
          </p:nvSpPr>
          <p:spPr bwMode="auto">
            <a:xfrm>
              <a:off x="11396" y="4163"/>
              <a:ext cx="666" cy="2139"/>
            </a:xfrm>
            <a:prstGeom prst="can">
              <a:avLst>
                <a:gd name="adj" fmla="val 27398"/>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5" name="AutoShape 25"/>
            <p:cNvSpPr>
              <a:spLocks noChangeArrowheads="1"/>
            </p:cNvSpPr>
            <p:nvPr/>
          </p:nvSpPr>
          <p:spPr bwMode="auto">
            <a:xfrm>
              <a:off x="9667" y="4157"/>
              <a:ext cx="538" cy="1569"/>
            </a:xfrm>
            <a:prstGeom prst="can">
              <a:avLst>
                <a:gd name="adj" fmla="val 28209"/>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6" name="AutoShape 26"/>
            <p:cNvSpPr>
              <a:spLocks noChangeArrowheads="1"/>
            </p:cNvSpPr>
            <p:nvPr/>
          </p:nvSpPr>
          <p:spPr bwMode="auto">
            <a:xfrm>
              <a:off x="8193" y="4167"/>
              <a:ext cx="393" cy="1030"/>
            </a:xfrm>
            <a:prstGeom prst="can">
              <a:avLst>
                <a:gd name="adj" fmla="val 23806"/>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7" name="AutoShape 27"/>
            <p:cNvSpPr>
              <a:spLocks noChangeArrowheads="1"/>
            </p:cNvSpPr>
            <p:nvPr/>
          </p:nvSpPr>
          <p:spPr bwMode="auto">
            <a:xfrm>
              <a:off x="6840" y="4167"/>
              <a:ext cx="339" cy="536"/>
            </a:xfrm>
            <a:prstGeom prst="can">
              <a:avLst>
                <a:gd name="adj" fmla="val 26908"/>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grpSp>
      <p:sp>
        <p:nvSpPr>
          <p:cNvPr id="189447" name="文本框 4"/>
          <p:cNvSpPr txBox="1">
            <a:spLocks noChangeArrowheads="1"/>
          </p:cNvSpPr>
          <p:nvPr/>
        </p:nvSpPr>
        <p:spPr bwMode="auto">
          <a:xfrm>
            <a:off x="7991475" y="4267200"/>
            <a:ext cx="973138" cy="124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buFont typeface="Arial" pitchFamily="34" charset="0"/>
              <a:buNone/>
            </a:pPr>
            <a:r>
              <a:rPr lang="en-US" altLang="zh-CN" sz="1500" b="1">
                <a:solidFill>
                  <a:srgbClr val="000000"/>
                </a:solidFill>
                <a:latin typeface="Calibri" pitchFamily="34" charset="0"/>
              </a:rPr>
              <a:t>      CDEFG</a:t>
            </a:r>
          </a:p>
          <a:p>
            <a:pPr eaLnBrk="1" hangingPunct="1">
              <a:buFont typeface="Arial" pitchFamily="34" charset="0"/>
              <a:buNone/>
            </a:pPr>
            <a:r>
              <a:rPr lang="en-US" altLang="zh-CN" sz="1500" b="1">
                <a:solidFill>
                  <a:srgbClr val="000000"/>
                </a:solidFill>
                <a:latin typeface="Calibri" pitchFamily="34" charset="0"/>
              </a:rPr>
              <a:t>     H IJKL</a:t>
            </a:r>
          </a:p>
          <a:p>
            <a:pPr eaLnBrk="1" hangingPunct="1">
              <a:buFont typeface="Arial" pitchFamily="34" charset="0"/>
              <a:buNone/>
            </a:pPr>
            <a:r>
              <a:rPr lang="en-US" altLang="zh-CN" sz="1500" b="1">
                <a:solidFill>
                  <a:srgbClr val="000000"/>
                </a:solidFill>
                <a:latin typeface="Calibri" pitchFamily="34" charset="0"/>
              </a:rPr>
              <a:t>   MNOPQ</a:t>
            </a:r>
          </a:p>
          <a:p>
            <a:pPr eaLnBrk="1" hangingPunct="1">
              <a:buFont typeface="Arial" pitchFamily="34" charset="0"/>
              <a:buNone/>
            </a:pPr>
            <a:r>
              <a:rPr lang="en-US" altLang="zh-CN" sz="1500" b="1">
                <a:solidFill>
                  <a:srgbClr val="000000"/>
                </a:solidFill>
                <a:latin typeface="Calibri" pitchFamily="34" charset="0"/>
              </a:rPr>
              <a:t>  RSTUV</a:t>
            </a:r>
          </a:p>
          <a:p>
            <a:pPr eaLnBrk="1" hangingPunct="1">
              <a:buFont typeface="Arial" pitchFamily="34" charset="0"/>
              <a:buNone/>
            </a:pPr>
            <a:r>
              <a:rPr lang="en-US" altLang="zh-CN" sz="1500" b="1">
                <a:solidFill>
                  <a:srgbClr val="000000"/>
                </a:solidFill>
                <a:latin typeface="Calibri" pitchFamily="34" charset="0"/>
              </a:rPr>
              <a:t>WXYZA</a:t>
            </a:r>
          </a:p>
        </p:txBody>
      </p:sp>
      <p:sp>
        <p:nvSpPr>
          <p:cNvPr id="189448" name="Text Box 9"/>
          <p:cNvSpPr txBox="1">
            <a:spLocks noChangeArrowheads="1"/>
          </p:cNvSpPr>
          <p:nvPr/>
        </p:nvSpPr>
        <p:spPr bwMode="auto">
          <a:xfrm>
            <a:off x="4787900" y="2368550"/>
            <a:ext cx="1614488"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a:spcBef>
                <a:spcPct val="50000"/>
              </a:spcBef>
              <a:buFont typeface="Arial" pitchFamily="34" charset="0"/>
              <a:buNone/>
            </a:pPr>
            <a:r>
              <a:rPr lang="zh-CN" altLang="zh-CN" sz="1500" b="1">
                <a:solidFill>
                  <a:srgbClr val="C00000"/>
                </a:solidFill>
              </a:rPr>
              <a:t>每行内有什么？ </a:t>
            </a:r>
          </a:p>
        </p:txBody>
      </p:sp>
      <p:sp>
        <p:nvSpPr>
          <p:cNvPr id="189449" name="Text Box 8"/>
          <p:cNvSpPr txBox="1">
            <a:spLocks noChangeArrowheads="1"/>
          </p:cNvSpPr>
          <p:nvPr/>
        </p:nvSpPr>
        <p:spPr bwMode="auto">
          <a:xfrm>
            <a:off x="2311400" y="2363788"/>
            <a:ext cx="123983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a:spcBef>
                <a:spcPct val="50000"/>
              </a:spcBef>
              <a:buFont typeface="Arial" pitchFamily="34" charset="0"/>
              <a:buNone/>
            </a:pPr>
            <a:r>
              <a:rPr lang="zh-CN" altLang="zh-CN" sz="1500" b="1">
                <a:solidFill>
                  <a:srgbClr val="C00000"/>
                </a:solidFill>
              </a:rPr>
              <a:t>变量</a:t>
            </a:r>
            <a:r>
              <a:rPr lang="zh-CN" altLang="en-US" sz="1500" b="1">
                <a:solidFill>
                  <a:srgbClr val="C00000"/>
                </a:solidFill>
              </a:rPr>
              <a:t>的值</a:t>
            </a:r>
            <a:endParaRPr lang="zh-CN" altLang="zh-CN" sz="1500" b="1">
              <a:solidFill>
                <a:srgbClr val="C00000"/>
              </a:solidFill>
            </a:endParaRPr>
          </a:p>
          <a:p>
            <a:pPr>
              <a:spcBef>
                <a:spcPct val="50000"/>
              </a:spcBef>
              <a:buFont typeface="Arial" pitchFamily="34" charset="0"/>
              <a:buNone/>
            </a:pPr>
            <a:r>
              <a:rPr lang="en-US" altLang="zh-CN" sz="1500" b="1">
                <a:solidFill>
                  <a:srgbClr val="C00000"/>
                </a:solidFill>
              </a:rPr>
              <a:t> </a:t>
            </a:r>
          </a:p>
        </p:txBody>
      </p:sp>
      <p:sp>
        <p:nvSpPr>
          <p:cNvPr id="189450" name="Text Box 13"/>
          <p:cNvSpPr txBox="1">
            <a:spLocks noChangeArrowheads="1"/>
          </p:cNvSpPr>
          <p:nvPr/>
        </p:nvSpPr>
        <p:spPr bwMode="auto">
          <a:xfrm>
            <a:off x="868363" y="4286250"/>
            <a:ext cx="1220787"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spcBef>
                <a:spcPct val="50000"/>
              </a:spcBef>
              <a:buFont typeface="Arial" pitchFamily="34" charset="0"/>
              <a:buNone/>
            </a:pPr>
            <a:r>
              <a:rPr lang="zh-CN" altLang="en-US" sz="1500" b="1">
                <a:solidFill>
                  <a:srgbClr val="002060"/>
                </a:solidFill>
              </a:rPr>
              <a:t> </a:t>
            </a:r>
            <a:r>
              <a:rPr lang="en-US" altLang="zh-CN" sz="1500" b="1">
                <a:solidFill>
                  <a:srgbClr val="002060"/>
                </a:solidFill>
              </a:rPr>
              <a:t> </a:t>
            </a:r>
            <a:r>
              <a:rPr lang="zh-CN" altLang="en-US" sz="1500" b="1">
                <a:solidFill>
                  <a:srgbClr val="002060"/>
                </a:solidFill>
              </a:rPr>
              <a:t>从键盘输入整数和字符</a:t>
            </a:r>
            <a:endParaRPr lang="en-US" altLang="zh-CN" sz="1500" b="1">
              <a:solidFill>
                <a:srgbClr val="002060"/>
              </a:solidFill>
            </a:endParaRPr>
          </a:p>
        </p:txBody>
      </p:sp>
      <p:sp>
        <p:nvSpPr>
          <p:cNvPr id="35" name="文本框 7"/>
          <p:cNvSpPr txBox="1">
            <a:spLocks noChangeArrowheads="1"/>
          </p:cNvSpPr>
          <p:nvPr/>
        </p:nvSpPr>
        <p:spPr bwMode="auto">
          <a:xfrm>
            <a:off x="10886" y="609600"/>
            <a:ext cx="25298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pPr>
            <a:r>
              <a:rPr lang="zh-CN" altLang="en-US" sz="2800" b="1" dirty="0">
                <a:solidFill>
                  <a:srgbClr val="C00000"/>
                </a:solidFill>
                <a:latin typeface="幼圆" pitchFamily="49" charset="-122"/>
                <a:ea typeface="幼圆" pitchFamily="49" charset="-122"/>
                <a:sym typeface="宋体" pitchFamily="2" charset="-122"/>
              </a:rPr>
              <a:t>编程题目总结 </a:t>
            </a:r>
          </a:p>
        </p:txBody>
      </p:sp>
    </p:spTree>
    <p:extLst>
      <p:ext uri="{BB962C8B-B14F-4D97-AF65-F5344CB8AC3E}">
        <p14:creationId xmlns:p14="http://schemas.microsoft.com/office/powerpoint/2010/main" val="87581288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0468" name="对象 1"/>
          <p:cNvGraphicFramePr>
            <a:graphicFrameLocks/>
          </p:cNvGraphicFramePr>
          <p:nvPr>
            <p:extLst>
              <p:ext uri="{D42A27DB-BD31-4B8C-83A1-F6EECF244321}">
                <p14:modId xmlns:p14="http://schemas.microsoft.com/office/powerpoint/2010/main" val="2408092346"/>
              </p:ext>
            </p:extLst>
          </p:nvPr>
        </p:nvGraphicFramePr>
        <p:xfrm>
          <a:off x="500063" y="1651000"/>
          <a:ext cx="8007350" cy="3554413"/>
        </p:xfrm>
        <a:graphic>
          <a:graphicData uri="http://schemas.openxmlformats.org/presentationml/2006/ole">
            <mc:AlternateContent xmlns:mc="http://schemas.openxmlformats.org/markup-compatibility/2006">
              <mc:Choice xmlns:v="urn:schemas-microsoft-com:vml" Requires="v">
                <p:oleObj name="BMP 图像" r:id="rId2" imgW="10667880" imgH="4734000" progId="Paint.Picture">
                  <p:embed/>
                </p:oleObj>
              </mc:Choice>
              <mc:Fallback>
                <p:oleObj name="BMP 图像" r:id="rId2" imgW="10667880" imgH="4734000" progId="Paint.Picture">
                  <p:embed/>
                  <p:pic>
                    <p:nvPicPr>
                      <p:cNvPr id="0" name=""/>
                      <p:cNvPicPr>
                        <a:picLocks noChangeArrowheads="1"/>
                      </p:cNvPicPr>
                      <p:nvPr/>
                    </p:nvPicPr>
                    <p:blipFill>
                      <a:blip r:embed="rId3"/>
                      <a:srcRect/>
                      <a:stretch>
                        <a:fillRect/>
                      </a:stretch>
                    </p:blipFill>
                    <p:spPr bwMode="auto">
                      <a:xfrm>
                        <a:off x="500063" y="1651000"/>
                        <a:ext cx="8007350" cy="355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90469" name="文本框 5"/>
          <p:cNvSpPr txBox="1">
            <a:spLocks noChangeArrowheads="1"/>
          </p:cNvSpPr>
          <p:nvPr/>
        </p:nvSpPr>
        <p:spPr bwMode="auto">
          <a:xfrm>
            <a:off x="-184150" y="5143500"/>
            <a:ext cx="91757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3200">
                <a:solidFill>
                  <a:schemeClr val="tx1"/>
                </a:solidFill>
                <a:latin typeface="Arial" pitchFamily="34" charset="0"/>
                <a:ea typeface="宋体" pitchFamily="2" charset="-122"/>
              </a:defRPr>
            </a:lvl1pPr>
            <a:lvl2pPr>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lvl="1" eaLnBrk="1" hangingPunct="1">
              <a:buClr>
                <a:srgbClr val="000000"/>
              </a:buClr>
              <a:buSzPct val="60000"/>
              <a:buFont typeface="宋体" pitchFamily="2" charset="-122"/>
              <a:buNone/>
            </a:pPr>
            <a:r>
              <a:rPr lang="zh-CN" altLang="en-US" sz="1800" b="1">
                <a:solidFill>
                  <a:srgbClr val="002060"/>
                </a:solidFill>
                <a:latin typeface="微软雅黑" pitchFamily="34" charset="-122"/>
                <a:ea typeface="微软雅黑" pitchFamily="34" charset="-122"/>
              </a:rPr>
              <a:t>图形的形状特点是什么，上下对称？左右对称？边界上</a:t>
            </a:r>
            <a:r>
              <a:rPr lang="en-US" altLang="zh-CN" sz="1800" b="1">
                <a:solidFill>
                  <a:srgbClr val="002060"/>
                </a:solidFill>
                <a:latin typeface="微软雅黑" pitchFamily="34" charset="-122"/>
                <a:ea typeface="微软雅黑" pitchFamily="34" charset="-122"/>
              </a:rPr>
              <a:t>i </a:t>
            </a:r>
            <a:r>
              <a:rPr lang="zh-CN" altLang="en-US" sz="1800" b="1">
                <a:solidFill>
                  <a:srgbClr val="002060"/>
                </a:solidFill>
                <a:latin typeface="微软雅黑" pitchFamily="34" charset="-122"/>
                <a:ea typeface="微软雅黑" pitchFamily="34" charset="-122"/>
              </a:rPr>
              <a:t>与</a:t>
            </a:r>
            <a:r>
              <a:rPr lang="en-US" altLang="zh-CN" sz="1800" b="1">
                <a:solidFill>
                  <a:srgbClr val="002060"/>
                </a:solidFill>
                <a:latin typeface="微软雅黑" pitchFamily="34" charset="-122"/>
                <a:ea typeface="微软雅黑" pitchFamily="34" charset="-122"/>
              </a:rPr>
              <a:t>j</a:t>
            </a:r>
            <a:r>
              <a:rPr lang="zh-CN" altLang="zh-CN" sz="1800" b="1">
                <a:solidFill>
                  <a:srgbClr val="002060"/>
                </a:solidFill>
                <a:latin typeface="微软雅黑" pitchFamily="34" charset="-122"/>
                <a:ea typeface="微软雅黑" pitchFamily="34" charset="-122"/>
              </a:rPr>
              <a:t>的关系是什么</a:t>
            </a:r>
            <a:r>
              <a:rPr lang="zh-CN" altLang="en-US" sz="1800" b="1">
                <a:solidFill>
                  <a:srgbClr val="002060"/>
                </a:solidFill>
                <a:latin typeface="微软雅黑" pitchFamily="34" charset="-122"/>
                <a:ea typeface="微软雅黑" pitchFamily="34" charset="-122"/>
              </a:rPr>
              <a:t>？输入字符可能是大写或小写，遇到</a:t>
            </a:r>
            <a:r>
              <a:rPr lang="en-US" altLang="zh-CN" sz="1800" b="1">
                <a:solidFill>
                  <a:srgbClr val="002060"/>
                </a:solidFill>
                <a:latin typeface="微软雅黑" pitchFamily="34" charset="-122"/>
                <a:ea typeface="微软雅黑" pitchFamily="34" charset="-122"/>
              </a:rPr>
              <a:t>z</a:t>
            </a:r>
            <a:r>
              <a:rPr lang="zh-CN" altLang="en-US" sz="1800" b="1">
                <a:solidFill>
                  <a:srgbClr val="002060"/>
                </a:solidFill>
                <a:latin typeface="微软雅黑" pitchFamily="34" charset="-122"/>
                <a:ea typeface="微软雅黑" pitchFamily="34" charset="-122"/>
              </a:rPr>
              <a:t>如何处理。保密用例是什么？</a:t>
            </a:r>
            <a:endParaRPr lang="zh-CN" altLang="zh-CN" sz="1800" b="1">
              <a:solidFill>
                <a:srgbClr val="002060"/>
              </a:solidFill>
              <a:latin typeface="微软雅黑" pitchFamily="34" charset="-122"/>
              <a:ea typeface="微软雅黑" pitchFamily="34" charset="-122"/>
            </a:endParaRPr>
          </a:p>
        </p:txBody>
      </p:sp>
      <p:sp>
        <p:nvSpPr>
          <p:cNvPr id="6" name="文本框 7"/>
          <p:cNvSpPr txBox="1">
            <a:spLocks noChangeArrowheads="1"/>
          </p:cNvSpPr>
          <p:nvPr/>
        </p:nvSpPr>
        <p:spPr bwMode="auto">
          <a:xfrm>
            <a:off x="10886" y="609600"/>
            <a:ext cx="25298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pPr>
            <a:r>
              <a:rPr lang="zh-CN" altLang="en-US" sz="2800" b="1" dirty="0">
                <a:solidFill>
                  <a:srgbClr val="C00000"/>
                </a:solidFill>
                <a:latin typeface="幼圆" pitchFamily="49" charset="-122"/>
                <a:ea typeface="幼圆" pitchFamily="49" charset="-122"/>
                <a:sym typeface="宋体" pitchFamily="2" charset="-122"/>
              </a:rPr>
              <a:t>编程题目总结 </a:t>
            </a:r>
          </a:p>
        </p:txBody>
      </p:sp>
    </p:spTree>
    <p:extLst>
      <p:ext uri="{BB962C8B-B14F-4D97-AF65-F5344CB8AC3E}">
        <p14:creationId xmlns:p14="http://schemas.microsoft.com/office/powerpoint/2010/main" val="177321716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1490" name="组合 6"/>
          <p:cNvGrpSpPr>
            <a:grpSpLocks/>
          </p:cNvGrpSpPr>
          <p:nvPr/>
        </p:nvGrpSpPr>
        <p:grpSpPr bwMode="auto">
          <a:xfrm>
            <a:off x="161925" y="2379663"/>
            <a:ext cx="7983538" cy="3290887"/>
            <a:chOff x="3932" y="3194"/>
            <a:chExt cx="12351" cy="6913"/>
          </a:xfrm>
        </p:grpSpPr>
        <p:sp>
          <p:nvSpPr>
            <p:cNvPr id="3" name="Freeform 2"/>
            <p:cNvSpPr>
              <a:spLocks noChangeArrowheads="1"/>
            </p:cNvSpPr>
            <p:nvPr/>
          </p:nvSpPr>
          <p:spPr bwMode="auto">
            <a:xfrm>
              <a:off x="5231" y="4098"/>
              <a:ext cx="11052" cy="4892"/>
            </a:xfrm>
            <a:custGeom>
              <a:avLst/>
              <a:gdLst>
                <a:gd name="T0" fmla="*/ 496 w 5190"/>
                <a:gd name="T1" fmla="*/ 157 h 2298"/>
                <a:gd name="T2" fmla="*/ 0 w 5190"/>
                <a:gd name="T3" fmla="*/ 0 h 2298"/>
                <a:gd name="T4" fmla="*/ 231 w 5190"/>
                <a:gd name="T5" fmla="*/ 124 h 2298"/>
                <a:gd name="T6" fmla="*/ 4282 w 5190"/>
                <a:gd name="T7" fmla="*/ 2025 h 2298"/>
                <a:gd name="T8" fmla="*/ 3974 w 5190"/>
                <a:gd name="T9" fmla="*/ 2298 h 2298"/>
                <a:gd name="T10" fmla="*/ 5190 w 5190"/>
                <a:gd name="T11" fmla="*/ 2065 h 2298"/>
                <a:gd name="T12" fmla="*/ 5039 w 5190"/>
                <a:gd name="T13" fmla="*/ 1268 h 2298"/>
                <a:gd name="T14" fmla="*/ 4748 w 5190"/>
                <a:gd name="T15" fmla="*/ 1507 h 2298"/>
                <a:gd name="T16" fmla="*/ 496 w 5190"/>
                <a:gd name="T17" fmla="*/ 157 h 2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90" h="2298">
                  <a:moveTo>
                    <a:pt x="496" y="157"/>
                  </a:moveTo>
                  <a:lnTo>
                    <a:pt x="0" y="0"/>
                  </a:lnTo>
                  <a:lnTo>
                    <a:pt x="231" y="124"/>
                  </a:lnTo>
                  <a:lnTo>
                    <a:pt x="4282" y="2025"/>
                  </a:lnTo>
                  <a:lnTo>
                    <a:pt x="3974" y="2298"/>
                  </a:lnTo>
                  <a:lnTo>
                    <a:pt x="5190" y="2065"/>
                  </a:lnTo>
                  <a:lnTo>
                    <a:pt x="5039" y="1268"/>
                  </a:lnTo>
                  <a:lnTo>
                    <a:pt x="4748" y="1507"/>
                  </a:lnTo>
                  <a:lnTo>
                    <a:pt x="496" y="157"/>
                  </a:lnTo>
                  <a:close/>
                </a:path>
              </a:pathLst>
            </a:custGeom>
            <a:gradFill rotWithShape="1">
              <a:gsLst>
                <a:gs pos="0">
                  <a:srgbClr val="5F3214"/>
                </a:gs>
                <a:gs pos="50000">
                  <a:schemeClr val="accent2"/>
                </a:gs>
                <a:gs pos="100000">
                  <a:srgbClr val="5F3214"/>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34828" name="AutoShape 3"/>
            <p:cNvSpPr>
              <a:spLocks noChangeArrowheads="1"/>
            </p:cNvSpPr>
            <p:nvPr/>
          </p:nvSpPr>
          <p:spPr bwMode="auto">
            <a:xfrm>
              <a:off x="5978" y="4224"/>
              <a:ext cx="339" cy="207"/>
            </a:xfrm>
            <a:prstGeom prst="can">
              <a:avLst>
                <a:gd name="adj" fmla="val 39796"/>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34829" name="AutoShape 4"/>
            <p:cNvSpPr>
              <a:spLocks noChangeArrowheads="1"/>
            </p:cNvSpPr>
            <p:nvPr/>
          </p:nvSpPr>
          <p:spPr bwMode="auto">
            <a:xfrm>
              <a:off x="8193" y="5111"/>
              <a:ext cx="395" cy="287"/>
            </a:xfrm>
            <a:prstGeom prst="can">
              <a:avLst>
                <a:gd name="adj" fmla="val 27343"/>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34830" name="AutoShape 5"/>
            <p:cNvSpPr>
              <a:spLocks noChangeArrowheads="1"/>
            </p:cNvSpPr>
            <p:nvPr/>
          </p:nvSpPr>
          <p:spPr bwMode="auto">
            <a:xfrm>
              <a:off x="9667" y="5585"/>
              <a:ext cx="538" cy="460"/>
            </a:xfrm>
            <a:prstGeom prst="can">
              <a:avLst>
                <a:gd name="adj" fmla="val 25000"/>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34831" name="AutoShape 6"/>
            <p:cNvSpPr>
              <a:spLocks noChangeArrowheads="1"/>
            </p:cNvSpPr>
            <p:nvPr/>
          </p:nvSpPr>
          <p:spPr bwMode="auto">
            <a:xfrm>
              <a:off x="13208" y="6565"/>
              <a:ext cx="845" cy="1020"/>
            </a:xfrm>
            <a:prstGeom prst="can">
              <a:avLst>
                <a:gd name="adj" fmla="val 21409"/>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34832" name="AutoShape 7"/>
            <p:cNvSpPr>
              <a:spLocks noChangeArrowheads="1"/>
            </p:cNvSpPr>
            <p:nvPr/>
          </p:nvSpPr>
          <p:spPr bwMode="auto">
            <a:xfrm>
              <a:off x="11396" y="6155"/>
              <a:ext cx="666" cy="640"/>
            </a:xfrm>
            <a:prstGeom prst="can">
              <a:avLst>
                <a:gd name="adj" fmla="val 21667"/>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191505" name="Text Box 8"/>
            <p:cNvSpPr txBox="1">
              <a:spLocks noChangeArrowheads="1"/>
            </p:cNvSpPr>
            <p:nvPr/>
          </p:nvSpPr>
          <p:spPr bwMode="auto">
            <a:xfrm>
              <a:off x="5393" y="3197"/>
              <a:ext cx="1918" cy="1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a:spcBef>
                  <a:spcPct val="50000"/>
                </a:spcBef>
                <a:buFont typeface="Arial" pitchFamily="34" charset="0"/>
                <a:buNone/>
              </a:pPr>
              <a:r>
                <a:rPr lang="zh-CN" altLang="zh-CN" sz="1500" b="1">
                  <a:solidFill>
                    <a:srgbClr val="C00000"/>
                  </a:solidFill>
                </a:rPr>
                <a:t>定义变量</a:t>
              </a:r>
            </a:p>
            <a:p>
              <a:pPr>
                <a:spcBef>
                  <a:spcPct val="50000"/>
                </a:spcBef>
                <a:buFont typeface="Arial" pitchFamily="34" charset="0"/>
                <a:buNone/>
              </a:pPr>
              <a:r>
                <a:rPr lang="en-US" altLang="zh-CN" sz="1500" b="1">
                  <a:solidFill>
                    <a:srgbClr val="C00000"/>
                  </a:solidFill>
                </a:rPr>
                <a:t> </a:t>
              </a:r>
            </a:p>
          </p:txBody>
        </p:sp>
        <p:sp>
          <p:nvSpPr>
            <p:cNvPr id="191506" name="Text Box 9"/>
            <p:cNvSpPr txBox="1">
              <a:spLocks noChangeArrowheads="1"/>
            </p:cNvSpPr>
            <p:nvPr/>
          </p:nvSpPr>
          <p:spPr bwMode="auto">
            <a:xfrm>
              <a:off x="9088" y="3194"/>
              <a:ext cx="2232"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a:spcBef>
                  <a:spcPct val="50000"/>
                </a:spcBef>
                <a:buFont typeface="Arial" pitchFamily="34" charset="0"/>
                <a:buNone/>
              </a:pPr>
              <a:r>
                <a:rPr lang="en-US" altLang="zh-CN" sz="1500" b="1">
                  <a:solidFill>
                    <a:srgbClr val="C00000"/>
                  </a:solidFill>
                </a:rPr>
                <a:t> </a:t>
              </a:r>
              <a:r>
                <a:rPr lang="zh-CN" altLang="en-US" sz="1500" b="1">
                  <a:solidFill>
                    <a:srgbClr val="C00000"/>
                  </a:solidFill>
                </a:rPr>
                <a:t>对</a:t>
              </a:r>
              <a:r>
                <a:rPr lang="en-US" altLang="zh-CN" sz="1500" b="1">
                  <a:solidFill>
                    <a:srgbClr val="C00000"/>
                  </a:solidFill>
                </a:rPr>
                <a:t>10</a:t>
              </a:r>
              <a:r>
                <a:rPr lang="zh-CN" altLang="en-US" sz="1500" b="1">
                  <a:solidFill>
                    <a:srgbClr val="C00000"/>
                  </a:solidFill>
                </a:rPr>
                <a:t>个数</a:t>
              </a:r>
              <a:r>
                <a:rPr lang="zh-CN" altLang="zh-CN" sz="1500" b="1">
                  <a:solidFill>
                    <a:srgbClr val="C00000"/>
                  </a:solidFill>
                </a:rPr>
                <a:t>循环</a:t>
              </a:r>
            </a:p>
          </p:txBody>
        </p:sp>
        <p:sp>
          <p:nvSpPr>
            <p:cNvPr id="34835" name="Text Box 12"/>
            <p:cNvSpPr txBox="1">
              <a:spLocks noChangeArrowheads="1"/>
            </p:cNvSpPr>
            <p:nvPr/>
          </p:nvSpPr>
          <p:spPr bwMode="auto">
            <a:xfrm>
              <a:off x="13601" y="3221"/>
              <a:ext cx="1921" cy="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spcBef>
                  <a:spcPct val="50000"/>
                </a:spcBef>
                <a:buFont typeface="Arial" panose="020B0604020202020204" pitchFamily="34" charset="0"/>
                <a:buNone/>
                <a:defRPr/>
              </a:pPr>
              <a:r>
                <a:rPr lang="zh-CN" altLang="en-US" sz="1350" b="1">
                  <a:solidFill>
                    <a:srgbClr val="C00000"/>
                  </a:solidFill>
                  <a:latin typeface="Arial" panose="020B0604020202020204" pitchFamily="34" charset="0"/>
                </a:rPr>
                <a:t>写代码</a:t>
              </a:r>
              <a:r>
                <a:rPr lang="en-US" altLang="zh-CN" sz="1350" b="1">
                  <a:solidFill>
                    <a:srgbClr val="C00000"/>
                  </a:solidFill>
                  <a:latin typeface="Arial" panose="020B0604020202020204" pitchFamily="34" charset="0"/>
                </a:rPr>
                <a:t>code</a:t>
              </a:r>
            </a:p>
          </p:txBody>
        </p:sp>
        <p:sp>
          <p:nvSpPr>
            <p:cNvPr id="13" name="Text Box 13"/>
            <p:cNvSpPr txBox="1">
              <a:spLocks noChangeArrowheads="1"/>
            </p:cNvSpPr>
            <p:nvPr/>
          </p:nvSpPr>
          <p:spPr bwMode="auto">
            <a:xfrm>
              <a:off x="3932" y="4931"/>
              <a:ext cx="4708" cy="1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14313" indent="-214313" eaLnBrk="1" hangingPunct="1">
                <a:spcBef>
                  <a:spcPct val="50000"/>
                </a:spcBef>
                <a:buFont typeface="Arial" panose="020B0604020202020204" pitchFamily="34" charset="0"/>
                <a:buChar char="•"/>
                <a:defRPr/>
              </a:pPr>
              <a:r>
                <a:rPr lang="zh-CN" altLang="en-US" sz="1200" b="1" dirty="0">
                  <a:solidFill>
                    <a:srgbClr val="002060"/>
                  </a:solidFill>
                </a:rPr>
                <a:t>定义数组：</a:t>
              </a:r>
              <a:r>
                <a:rPr lang="en-US" altLang="zh-CN" sz="1200" b="1" dirty="0" err="1">
                  <a:solidFill>
                    <a:srgbClr val="002060"/>
                  </a:solidFill>
                </a:rPr>
                <a:t>int</a:t>
              </a:r>
              <a:r>
                <a:rPr lang="en-US" altLang="zh-CN" sz="1200" b="1" dirty="0">
                  <a:solidFill>
                    <a:srgbClr val="002060"/>
                  </a:solidFill>
                </a:rPr>
                <a:t> a[10], b[10]</a:t>
              </a:r>
            </a:p>
            <a:p>
              <a:pPr marL="214313" indent="-214313" eaLnBrk="1" hangingPunct="1">
                <a:spcBef>
                  <a:spcPct val="50000"/>
                </a:spcBef>
                <a:buFont typeface="Arial" panose="020B0604020202020204" pitchFamily="34" charset="0"/>
                <a:buChar char="•"/>
                <a:defRPr/>
              </a:pPr>
              <a:r>
                <a:rPr lang="zh-CN" altLang="en-US" sz="1200" b="1" dirty="0">
                  <a:solidFill>
                    <a:srgbClr val="002060"/>
                  </a:solidFill>
                </a:rPr>
                <a:t>定义循环变量和临时变量</a:t>
              </a:r>
              <a:endParaRPr lang="en-US" altLang="zh-CN" sz="1200" b="1" dirty="0">
                <a:solidFill>
                  <a:srgbClr val="002060"/>
                </a:solidFill>
              </a:endParaRPr>
            </a:p>
            <a:p>
              <a:pPr eaLnBrk="1" hangingPunct="1">
                <a:spcBef>
                  <a:spcPct val="50000"/>
                </a:spcBef>
                <a:buFont typeface="Arial" panose="020B0604020202020204" pitchFamily="34" charset="0"/>
                <a:buNone/>
                <a:defRPr/>
              </a:pPr>
              <a:r>
                <a:rPr lang="en-US" altLang="zh-CN" sz="1200" b="1" dirty="0" err="1">
                  <a:solidFill>
                    <a:srgbClr val="002060"/>
                  </a:solidFill>
                </a:rPr>
                <a:t>int</a:t>
              </a:r>
              <a:r>
                <a:rPr lang="en-US" altLang="zh-CN" sz="1200" b="1" dirty="0">
                  <a:solidFill>
                    <a:srgbClr val="002060"/>
                  </a:solidFill>
                </a:rPr>
                <a:t> </a:t>
              </a:r>
              <a:r>
                <a:rPr lang="en-US" altLang="zh-CN" sz="1200" b="1" dirty="0" err="1">
                  <a:solidFill>
                    <a:srgbClr val="002060"/>
                  </a:solidFill>
                </a:rPr>
                <a:t>i</a:t>
              </a:r>
              <a:r>
                <a:rPr lang="en-US" altLang="zh-CN" sz="1200" b="1" dirty="0">
                  <a:solidFill>
                    <a:srgbClr val="002060"/>
                  </a:solidFill>
                </a:rPr>
                <a:t>, j, k, t;</a:t>
              </a:r>
            </a:p>
          </p:txBody>
        </p:sp>
        <p:sp>
          <p:nvSpPr>
            <p:cNvPr id="34837" name="Text Box 14"/>
            <p:cNvSpPr txBox="1">
              <a:spLocks noChangeArrowheads="1"/>
            </p:cNvSpPr>
            <p:nvPr/>
          </p:nvSpPr>
          <p:spPr bwMode="auto">
            <a:xfrm>
              <a:off x="6700" y="7703"/>
              <a:ext cx="2844" cy="1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 typeface="Arial" panose="020B0604020202020204" pitchFamily="34" charset="0"/>
                <a:buNone/>
                <a:defRPr/>
              </a:pPr>
              <a:r>
                <a:rPr lang="zh-CN" altLang="en-US" sz="1350" b="1">
                  <a:solidFill>
                    <a:srgbClr val="002060"/>
                  </a:solidFill>
                  <a:latin typeface="Arial" panose="020B0604020202020204" pitchFamily="34" charset="0"/>
                </a:rPr>
                <a:t> </a:t>
              </a:r>
              <a:r>
                <a:rPr lang="en-US" altLang="zh-CN" sz="1350" b="1">
                  <a:solidFill>
                    <a:srgbClr val="002060"/>
                  </a:solidFill>
                  <a:latin typeface="Arial" panose="020B0604020202020204" pitchFamily="34" charset="0"/>
                </a:rPr>
                <a:t>for (i=0;i&lt;10;i++)</a:t>
              </a:r>
            </a:p>
            <a:p>
              <a:pPr eaLnBrk="1" hangingPunct="1">
                <a:spcBef>
                  <a:spcPct val="50000"/>
                </a:spcBef>
                <a:buFont typeface="Arial" panose="020B0604020202020204" pitchFamily="34" charset="0"/>
                <a:buNone/>
                <a:defRPr/>
              </a:pPr>
              <a:r>
                <a:rPr lang="en-US" altLang="zh-CN" sz="1350" b="1">
                  <a:solidFill>
                    <a:srgbClr val="002060"/>
                  </a:solidFill>
                  <a:latin typeface="Arial" panose="020B0604020202020204" pitchFamily="34" charset="0"/>
                </a:rPr>
                <a:t>  </a:t>
              </a:r>
              <a:r>
                <a:rPr lang="zh-CN" altLang="en-US" sz="1350" b="1">
                  <a:solidFill>
                    <a:srgbClr val="002060"/>
                  </a:solidFill>
                  <a:latin typeface="Arial" panose="020B0604020202020204" pitchFamily="34" charset="0"/>
                </a:rPr>
                <a:t>将下标为奇数的元素存入数组</a:t>
              </a:r>
              <a:r>
                <a:rPr lang="en-US" altLang="zh-CN" sz="1350" b="1">
                  <a:solidFill>
                    <a:srgbClr val="002060"/>
                  </a:solidFill>
                  <a:latin typeface="Arial" panose="020B0604020202020204" pitchFamily="34" charset="0"/>
                </a:rPr>
                <a:t>b</a:t>
              </a:r>
            </a:p>
          </p:txBody>
        </p:sp>
        <p:sp>
          <p:nvSpPr>
            <p:cNvPr id="34838" name="Text Box 15"/>
            <p:cNvSpPr txBox="1">
              <a:spLocks noChangeArrowheads="1"/>
            </p:cNvSpPr>
            <p:nvPr/>
          </p:nvSpPr>
          <p:spPr bwMode="auto">
            <a:xfrm>
              <a:off x="9812" y="7933"/>
              <a:ext cx="2147" cy="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 typeface="Arial" panose="020B0604020202020204" pitchFamily="34" charset="0"/>
                <a:buNone/>
                <a:defRPr/>
              </a:pPr>
              <a:r>
                <a:rPr lang="zh-CN" altLang="en-US" sz="1350" b="1">
                  <a:solidFill>
                    <a:srgbClr val="002060"/>
                  </a:solidFill>
                  <a:latin typeface="Arial" panose="020B0604020202020204" pitchFamily="34" charset="0"/>
                </a:rPr>
                <a:t>对数组</a:t>
              </a:r>
              <a:r>
                <a:rPr lang="en-US" altLang="zh-CN" sz="1350" b="1">
                  <a:solidFill>
                    <a:srgbClr val="002060"/>
                  </a:solidFill>
                  <a:latin typeface="Arial" panose="020B0604020202020204" pitchFamily="34" charset="0"/>
                </a:rPr>
                <a:t>b</a:t>
              </a:r>
              <a:r>
                <a:rPr lang="zh-CN" altLang="en-US" sz="1350" b="1">
                  <a:solidFill>
                    <a:srgbClr val="002060"/>
                  </a:solidFill>
                  <a:latin typeface="Arial" panose="020B0604020202020204" pitchFamily="34" charset="0"/>
                </a:rPr>
                <a:t>进行升序排序</a:t>
              </a:r>
            </a:p>
          </p:txBody>
        </p:sp>
        <p:sp>
          <p:nvSpPr>
            <p:cNvPr id="191511" name="Text Box 17"/>
            <p:cNvSpPr txBox="1">
              <a:spLocks noChangeArrowheads="1"/>
            </p:cNvSpPr>
            <p:nvPr/>
          </p:nvSpPr>
          <p:spPr bwMode="auto">
            <a:xfrm>
              <a:off x="11801" y="8701"/>
              <a:ext cx="2252" cy="1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spcBef>
                  <a:spcPct val="50000"/>
                </a:spcBef>
                <a:buFont typeface="Arial" pitchFamily="34" charset="0"/>
                <a:buNone/>
              </a:pPr>
              <a:r>
                <a:rPr lang="zh-CN" altLang="en-US" sz="1500" b="1">
                  <a:solidFill>
                    <a:srgbClr val="C00000"/>
                  </a:solidFill>
                </a:rPr>
                <a:t> </a:t>
              </a:r>
              <a:r>
                <a:rPr lang="en-US" altLang="zh-CN" sz="1500" b="1">
                  <a:solidFill>
                    <a:srgbClr val="C00000"/>
                  </a:solidFill>
                </a:rPr>
                <a:t>int main()</a:t>
              </a:r>
            </a:p>
            <a:p>
              <a:pPr eaLnBrk="1" hangingPunct="1">
                <a:spcBef>
                  <a:spcPct val="50000"/>
                </a:spcBef>
                <a:buFont typeface="Arial" pitchFamily="34" charset="0"/>
                <a:buNone/>
              </a:pPr>
              <a:r>
                <a:rPr lang="en-US" altLang="zh-CN" sz="1500" b="1">
                  <a:solidFill>
                    <a:srgbClr val="C00000"/>
                  </a:solidFill>
                </a:rPr>
                <a:t>{......}</a:t>
              </a:r>
            </a:p>
          </p:txBody>
        </p:sp>
        <p:cxnSp>
          <p:nvCxnSpPr>
            <p:cNvPr id="191512" name="AutoShape 18"/>
            <p:cNvCxnSpPr>
              <a:cxnSpLocks noChangeShapeType="1"/>
              <a:stCxn id="34828" idx="3"/>
              <a:endCxn id="13" idx="0"/>
            </p:cNvCxnSpPr>
            <p:nvPr/>
          </p:nvCxnSpPr>
          <p:spPr bwMode="auto">
            <a:xfrm>
              <a:off x="6147" y="4431"/>
              <a:ext cx="139" cy="501"/>
            </a:xfrm>
            <a:prstGeom prst="line">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cxnSp>
          <p:nvCxnSpPr>
            <p:cNvPr id="191513" name="AutoShape 19"/>
            <p:cNvCxnSpPr>
              <a:cxnSpLocks noChangeShapeType="1"/>
              <a:stCxn id="34829" idx="3"/>
            </p:cNvCxnSpPr>
            <p:nvPr/>
          </p:nvCxnSpPr>
          <p:spPr bwMode="auto">
            <a:xfrm rot="5400000">
              <a:off x="6585" y="4982"/>
              <a:ext cx="1389" cy="2218"/>
            </a:xfrm>
            <a:prstGeom prst="bentConnector2">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cxnSp>
          <p:nvCxnSpPr>
            <p:cNvPr id="191514" name="AutoShape 20"/>
            <p:cNvCxnSpPr>
              <a:cxnSpLocks noChangeShapeType="1"/>
              <a:stCxn id="34830" idx="3"/>
            </p:cNvCxnSpPr>
            <p:nvPr/>
          </p:nvCxnSpPr>
          <p:spPr bwMode="auto">
            <a:xfrm rot="5400000">
              <a:off x="8516" y="6112"/>
              <a:ext cx="1487" cy="1347"/>
            </a:xfrm>
            <a:prstGeom prst="bentConnector2">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cxnSp>
          <p:nvCxnSpPr>
            <p:cNvPr id="191515" name="AutoShape 21"/>
            <p:cNvCxnSpPr>
              <a:cxnSpLocks noChangeShapeType="1"/>
              <a:stCxn id="34832" idx="3"/>
            </p:cNvCxnSpPr>
            <p:nvPr/>
          </p:nvCxnSpPr>
          <p:spPr bwMode="auto">
            <a:xfrm rot="5400000">
              <a:off x="10729" y="6932"/>
              <a:ext cx="1138" cy="857"/>
            </a:xfrm>
            <a:prstGeom prst="bentConnector2">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cxnSp>
          <p:nvCxnSpPr>
            <p:cNvPr id="191516" name="AutoShape 22"/>
            <p:cNvCxnSpPr>
              <a:cxnSpLocks noChangeShapeType="1"/>
              <a:stCxn id="34831" idx="3"/>
              <a:endCxn id="191511" idx="0"/>
            </p:cNvCxnSpPr>
            <p:nvPr/>
          </p:nvCxnSpPr>
          <p:spPr bwMode="auto">
            <a:xfrm rot="5400000">
              <a:off x="12721" y="7792"/>
              <a:ext cx="1115" cy="704"/>
            </a:xfrm>
            <a:prstGeom prst="bentConnector3">
              <a:avLst>
                <a:gd name="adj1" fmla="val 50000"/>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sp>
          <p:nvSpPr>
            <p:cNvPr id="22" name="AutoShape 23"/>
            <p:cNvSpPr>
              <a:spLocks noChangeArrowheads="1"/>
            </p:cNvSpPr>
            <p:nvPr/>
          </p:nvSpPr>
          <p:spPr bwMode="auto">
            <a:xfrm>
              <a:off x="13208" y="4168"/>
              <a:ext cx="845" cy="2581"/>
            </a:xfrm>
            <a:prstGeom prst="can">
              <a:avLst>
                <a:gd name="adj" fmla="val 27936"/>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23" name="AutoShape 24"/>
            <p:cNvSpPr>
              <a:spLocks noChangeArrowheads="1"/>
            </p:cNvSpPr>
            <p:nvPr/>
          </p:nvSpPr>
          <p:spPr bwMode="auto">
            <a:xfrm>
              <a:off x="11396" y="4161"/>
              <a:ext cx="666" cy="2141"/>
            </a:xfrm>
            <a:prstGeom prst="can">
              <a:avLst>
                <a:gd name="adj" fmla="val 27398"/>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24" name="AutoShape 25"/>
            <p:cNvSpPr>
              <a:spLocks noChangeArrowheads="1"/>
            </p:cNvSpPr>
            <p:nvPr/>
          </p:nvSpPr>
          <p:spPr bwMode="auto">
            <a:xfrm>
              <a:off x="9667" y="4158"/>
              <a:ext cx="538" cy="1571"/>
            </a:xfrm>
            <a:prstGeom prst="can">
              <a:avLst>
                <a:gd name="adj" fmla="val 28209"/>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25" name="AutoShape 26"/>
            <p:cNvSpPr>
              <a:spLocks noChangeArrowheads="1"/>
            </p:cNvSpPr>
            <p:nvPr/>
          </p:nvSpPr>
          <p:spPr bwMode="auto">
            <a:xfrm>
              <a:off x="8193" y="4168"/>
              <a:ext cx="395" cy="1030"/>
            </a:xfrm>
            <a:prstGeom prst="can">
              <a:avLst>
                <a:gd name="adj" fmla="val 23806"/>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26" name="AutoShape 27"/>
            <p:cNvSpPr>
              <a:spLocks noChangeArrowheads="1"/>
            </p:cNvSpPr>
            <p:nvPr/>
          </p:nvSpPr>
          <p:spPr bwMode="auto">
            <a:xfrm>
              <a:off x="5975" y="3728"/>
              <a:ext cx="336" cy="534"/>
            </a:xfrm>
            <a:prstGeom prst="can">
              <a:avLst>
                <a:gd name="adj" fmla="val 26908"/>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grpSp>
      <p:sp>
        <p:nvSpPr>
          <p:cNvPr id="191491" name="Text Box 9"/>
          <p:cNvSpPr txBox="1">
            <a:spLocks noChangeArrowheads="1"/>
          </p:cNvSpPr>
          <p:nvPr/>
        </p:nvSpPr>
        <p:spPr bwMode="auto">
          <a:xfrm>
            <a:off x="4787900" y="2368550"/>
            <a:ext cx="1614488"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a:spcBef>
                <a:spcPct val="50000"/>
              </a:spcBef>
              <a:buFont typeface="Arial" pitchFamily="34" charset="0"/>
              <a:buNone/>
            </a:pPr>
            <a:r>
              <a:rPr lang="en-US" altLang="zh-CN" sz="1500" b="1">
                <a:solidFill>
                  <a:srgbClr val="C00000"/>
                </a:solidFill>
              </a:rPr>
              <a:t>   </a:t>
            </a:r>
            <a:endParaRPr lang="zh-CN" altLang="zh-CN" sz="1500" b="1">
              <a:solidFill>
                <a:srgbClr val="C00000"/>
              </a:solidFill>
            </a:endParaRPr>
          </a:p>
        </p:txBody>
      </p:sp>
      <p:sp>
        <p:nvSpPr>
          <p:cNvPr id="191492" name="Text Box 8"/>
          <p:cNvSpPr txBox="1">
            <a:spLocks noChangeArrowheads="1"/>
          </p:cNvSpPr>
          <p:nvPr/>
        </p:nvSpPr>
        <p:spPr bwMode="auto">
          <a:xfrm>
            <a:off x="2311400" y="2363788"/>
            <a:ext cx="123983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a:spcBef>
                <a:spcPct val="50000"/>
              </a:spcBef>
              <a:buFont typeface="Arial" pitchFamily="34" charset="0"/>
              <a:buNone/>
            </a:pPr>
            <a:r>
              <a:rPr lang="zh-CN" altLang="zh-CN" sz="1500" b="1">
                <a:solidFill>
                  <a:srgbClr val="C00000"/>
                </a:solidFill>
              </a:rPr>
              <a:t>变量</a:t>
            </a:r>
            <a:r>
              <a:rPr lang="zh-CN" altLang="en-US" sz="1500" b="1">
                <a:solidFill>
                  <a:srgbClr val="C00000"/>
                </a:solidFill>
              </a:rPr>
              <a:t>的值</a:t>
            </a:r>
            <a:endParaRPr lang="zh-CN" altLang="zh-CN" sz="1500" b="1">
              <a:solidFill>
                <a:srgbClr val="C00000"/>
              </a:solidFill>
            </a:endParaRPr>
          </a:p>
          <a:p>
            <a:pPr>
              <a:spcBef>
                <a:spcPct val="50000"/>
              </a:spcBef>
              <a:buFont typeface="Arial" pitchFamily="34" charset="0"/>
              <a:buNone/>
            </a:pPr>
            <a:r>
              <a:rPr lang="en-US" altLang="zh-CN" sz="1500" b="1">
                <a:solidFill>
                  <a:srgbClr val="C00000"/>
                </a:solidFill>
              </a:rPr>
              <a:t> </a:t>
            </a:r>
          </a:p>
        </p:txBody>
      </p:sp>
      <p:sp>
        <p:nvSpPr>
          <p:cNvPr id="191493" name="Text Box 13"/>
          <p:cNvSpPr txBox="1">
            <a:spLocks noChangeArrowheads="1"/>
          </p:cNvSpPr>
          <p:nvPr/>
        </p:nvSpPr>
        <p:spPr bwMode="auto">
          <a:xfrm>
            <a:off x="609600" y="4205288"/>
            <a:ext cx="13081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spcBef>
                <a:spcPct val="50000"/>
              </a:spcBef>
              <a:buFont typeface="Arial" pitchFamily="34" charset="0"/>
              <a:buNone/>
            </a:pPr>
            <a:r>
              <a:rPr lang="zh-CN" altLang="en-US" sz="1500" b="1">
                <a:solidFill>
                  <a:srgbClr val="002060"/>
                </a:solidFill>
              </a:rPr>
              <a:t> </a:t>
            </a:r>
            <a:r>
              <a:rPr lang="en-US" altLang="zh-CN" sz="1500" b="1">
                <a:solidFill>
                  <a:srgbClr val="002060"/>
                </a:solidFill>
              </a:rPr>
              <a:t> </a:t>
            </a:r>
            <a:r>
              <a:rPr lang="zh-CN" altLang="en-US" sz="1500" b="1">
                <a:solidFill>
                  <a:srgbClr val="002060"/>
                </a:solidFill>
              </a:rPr>
              <a:t>从键盘输入</a:t>
            </a:r>
            <a:r>
              <a:rPr lang="en-US" altLang="zh-CN" sz="1500" b="1">
                <a:solidFill>
                  <a:srgbClr val="002060"/>
                </a:solidFill>
              </a:rPr>
              <a:t>10</a:t>
            </a:r>
            <a:r>
              <a:rPr lang="zh-CN" altLang="en-US" sz="1500" b="1">
                <a:solidFill>
                  <a:srgbClr val="002060"/>
                </a:solidFill>
              </a:rPr>
              <a:t>个整数 </a:t>
            </a:r>
            <a:endParaRPr lang="en-US" altLang="zh-CN" sz="1500" b="1">
              <a:solidFill>
                <a:srgbClr val="002060"/>
              </a:solidFill>
            </a:endParaRPr>
          </a:p>
        </p:txBody>
      </p:sp>
      <p:sp>
        <p:nvSpPr>
          <p:cNvPr id="191496" name="文本框 1"/>
          <p:cNvSpPr txBox="1">
            <a:spLocks noChangeArrowheads="1"/>
          </p:cNvSpPr>
          <p:nvPr/>
        </p:nvSpPr>
        <p:spPr bwMode="auto">
          <a:xfrm>
            <a:off x="155575" y="1420813"/>
            <a:ext cx="77708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buFont typeface="Arial" pitchFamily="34" charset="0"/>
              <a:buNone/>
            </a:pPr>
            <a:r>
              <a:rPr lang="zh-CN" altLang="en-US" sz="1800">
                <a:solidFill>
                  <a:srgbClr val="002060"/>
                </a:solidFill>
                <a:latin typeface="微软雅黑" pitchFamily="34" charset="-122"/>
                <a:ea typeface="微软雅黑" pitchFamily="34" charset="-122"/>
                <a:sym typeface="宋体" pitchFamily="2" charset="-122"/>
              </a:rPr>
              <a:t>题目：从键盘输入</a:t>
            </a:r>
            <a:r>
              <a:rPr lang="en-US" altLang="zh-CN" sz="1800">
                <a:solidFill>
                  <a:srgbClr val="002060"/>
                </a:solidFill>
                <a:latin typeface="微软雅黑" pitchFamily="34" charset="-122"/>
                <a:ea typeface="微软雅黑" pitchFamily="34" charset="-122"/>
                <a:sym typeface="宋体" pitchFamily="2" charset="-122"/>
              </a:rPr>
              <a:t>10</a:t>
            </a:r>
            <a:r>
              <a:rPr lang="zh-CN" altLang="en-US" sz="1800">
                <a:solidFill>
                  <a:srgbClr val="002060"/>
                </a:solidFill>
                <a:latin typeface="微软雅黑" pitchFamily="34" charset="-122"/>
                <a:ea typeface="微软雅黑" pitchFamily="34" charset="-122"/>
                <a:sym typeface="宋体" pitchFamily="2" charset="-122"/>
              </a:rPr>
              <a:t>个数存入一个数组中，将下标为奇数的升序排序后输出</a:t>
            </a:r>
            <a:r>
              <a:rPr lang="en-US" altLang="zh-CN" sz="1800">
                <a:solidFill>
                  <a:srgbClr val="002060"/>
                </a:solidFill>
                <a:latin typeface="微软雅黑" pitchFamily="34" charset="-122"/>
                <a:ea typeface="微软雅黑" pitchFamily="34" charset="-122"/>
                <a:sym typeface="宋体" pitchFamily="2" charset="-122"/>
              </a:rPr>
              <a:t> </a:t>
            </a:r>
          </a:p>
        </p:txBody>
      </p:sp>
      <p:sp>
        <p:nvSpPr>
          <p:cNvPr id="191497" name="文本框 5"/>
          <p:cNvSpPr txBox="1">
            <a:spLocks noChangeArrowheads="1"/>
          </p:cNvSpPr>
          <p:nvPr/>
        </p:nvSpPr>
        <p:spPr bwMode="auto">
          <a:xfrm>
            <a:off x="155575" y="1795463"/>
            <a:ext cx="89169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buFont typeface="Arial" pitchFamily="34" charset="0"/>
              <a:buNone/>
            </a:pPr>
            <a:r>
              <a:rPr lang="zh-CN" altLang="en-US" sz="1800">
                <a:solidFill>
                  <a:srgbClr val="002060"/>
                </a:solidFill>
                <a:latin typeface="微软雅黑" pitchFamily="34" charset="-122"/>
                <a:ea typeface="微软雅黑" pitchFamily="34" charset="-122"/>
                <a:sym typeface="宋体" pitchFamily="2" charset="-122"/>
              </a:rPr>
              <a:t>步骤：</a:t>
            </a:r>
            <a:r>
              <a:rPr lang="en-US" altLang="zh-CN" sz="1800">
                <a:solidFill>
                  <a:srgbClr val="002060"/>
                </a:solidFill>
                <a:latin typeface="微软雅黑" pitchFamily="34" charset="-122"/>
                <a:ea typeface="微软雅黑" pitchFamily="34" charset="-122"/>
                <a:sym typeface="宋体" pitchFamily="2" charset="-122"/>
              </a:rPr>
              <a:t> </a:t>
            </a:r>
            <a:r>
              <a:rPr lang="zh-CN" altLang="en-US" sz="1800">
                <a:solidFill>
                  <a:srgbClr val="002060"/>
                </a:solidFill>
                <a:latin typeface="微软雅黑" pitchFamily="34" charset="-122"/>
                <a:ea typeface="微软雅黑" pitchFamily="34" charset="-122"/>
                <a:sym typeface="宋体" pitchFamily="2" charset="-122"/>
              </a:rPr>
              <a:t>必须利用数组存放</a:t>
            </a:r>
            <a:r>
              <a:rPr lang="en-US" altLang="zh-CN" sz="1800">
                <a:solidFill>
                  <a:srgbClr val="002060"/>
                </a:solidFill>
                <a:latin typeface="微软雅黑" pitchFamily="34" charset="-122"/>
                <a:ea typeface="微软雅黑" pitchFamily="34" charset="-122"/>
                <a:sym typeface="宋体" pitchFamily="2" charset="-122"/>
              </a:rPr>
              <a:t>10</a:t>
            </a:r>
            <a:r>
              <a:rPr lang="zh-CN" altLang="en-US" sz="1800">
                <a:solidFill>
                  <a:srgbClr val="002060"/>
                </a:solidFill>
                <a:latin typeface="微软雅黑" pitchFamily="34" charset="-122"/>
                <a:ea typeface="微软雅黑" pitchFamily="34" charset="-122"/>
                <a:sym typeface="宋体" pitchFamily="2" charset="-122"/>
              </a:rPr>
              <a:t>个数，以及下标为奇数的数。</a:t>
            </a:r>
            <a:endParaRPr lang="en-US" altLang="zh-CN" sz="1800">
              <a:solidFill>
                <a:srgbClr val="002060"/>
              </a:solidFill>
              <a:latin typeface="微软雅黑" pitchFamily="34" charset="-122"/>
              <a:ea typeface="微软雅黑" pitchFamily="34" charset="-122"/>
              <a:sym typeface="宋体" pitchFamily="2" charset="-122"/>
            </a:endParaRPr>
          </a:p>
        </p:txBody>
      </p:sp>
      <p:sp>
        <p:nvSpPr>
          <p:cNvPr id="191498" name="Text Box 9"/>
          <p:cNvSpPr txBox="1">
            <a:spLocks noChangeArrowheads="1"/>
          </p:cNvSpPr>
          <p:nvPr/>
        </p:nvSpPr>
        <p:spPr bwMode="auto">
          <a:xfrm>
            <a:off x="4837113" y="2379663"/>
            <a:ext cx="1441450"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a:spcBef>
                <a:spcPct val="50000"/>
              </a:spcBef>
              <a:buFont typeface="Arial" pitchFamily="34" charset="0"/>
              <a:buNone/>
            </a:pPr>
            <a:r>
              <a:rPr lang="en-US" altLang="zh-CN" sz="1500" b="1">
                <a:solidFill>
                  <a:srgbClr val="C00000"/>
                </a:solidFill>
              </a:rPr>
              <a:t> </a:t>
            </a:r>
            <a:r>
              <a:rPr lang="zh-CN" altLang="en-US" sz="1500" b="1">
                <a:solidFill>
                  <a:srgbClr val="C00000"/>
                </a:solidFill>
              </a:rPr>
              <a:t>对新数组排序</a:t>
            </a:r>
            <a:endParaRPr lang="zh-CN" altLang="zh-CN" sz="1500" b="1">
              <a:solidFill>
                <a:srgbClr val="C00000"/>
              </a:solidFill>
            </a:endParaRPr>
          </a:p>
        </p:txBody>
      </p:sp>
      <p:sp>
        <p:nvSpPr>
          <p:cNvPr id="34" name="文本框 7"/>
          <p:cNvSpPr txBox="1">
            <a:spLocks noChangeArrowheads="1"/>
          </p:cNvSpPr>
          <p:nvPr/>
        </p:nvSpPr>
        <p:spPr bwMode="auto">
          <a:xfrm>
            <a:off x="10886" y="609600"/>
            <a:ext cx="25298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pPr>
            <a:r>
              <a:rPr lang="zh-CN" altLang="en-US" sz="2800" b="1" dirty="0">
                <a:solidFill>
                  <a:srgbClr val="C00000"/>
                </a:solidFill>
                <a:latin typeface="幼圆" pitchFamily="49" charset="-122"/>
                <a:ea typeface="幼圆" pitchFamily="49" charset="-122"/>
                <a:sym typeface="宋体" pitchFamily="2" charset="-122"/>
              </a:rPr>
              <a:t>编程题目总结 </a:t>
            </a:r>
          </a:p>
        </p:txBody>
      </p:sp>
    </p:spTree>
    <p:extLst>
      <p:ext uri="{BB962C8B-B14F-4D97-AF65-F5344CB8AC3E}">
        <p14:creationId xmlns:p14="http://schemas.microsoft.com/office/powerpoint/2010/main" val="268164241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2516" name="图片 3"/>
          <p:cNvPicPr>
            <a:picLocks noChangeAspect="1" noChangeArrowheads="1"/>
          </p:cNvPicPr>
          <p:nvPr/>
        </p:nvPicPr>
        <p:blipFill rotWithShape="1">
          <a:blip r:embed="rId2">
            <a:extLst>
              <a:ext uri="{28A0092B-C50C-407E-A947-70E740481C1C}">
                <a14:useLocalDpi xmlns:a14="http://schemas.microsoft.com/office/drawing/2010/main" val="0"/>
              </a:ext>
            </a:extLst>
          </a:blip>
          <a:srcRect t="3744"/>
          <a:stretch/>
        </p:blipFill>
        <p:spPr bwMode="auto">
          <a:xfrm>
            <a:off x="298450" y="1621971"/>
            <a:ext cx="6351588" cy="402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
          <p:cNvSpPr txBox="1">
            <a:spLocks noChangeArrowheads="1"/>
          </p:cNvSpPr>
          <p:nvPr/>
        </p:nvSpPr>
        <p:spPr bwMode="auto">
          <a:xfrm>
            <a:off x="4622800" y="3922713"/>
            <a:ext cx="35290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Arial" panose="020B0604020202020204" pitchFamily="34" charset="0"/>
              <a:buNone/>
              <a:defRPr/>
            </a:pPr>
            <a:r>
              <a:rPr lang="zh-CN" altLang="en-US" sz="1800" dirty="0">
                <a:solidFill>
                  <a:srgbClr val="002060"/>
                </a:solidFill>
                <a:latin typeface="微软雅黑" pitchFamily="34" charset="-122"/>
                <a:ea typeface="微软雅黑" pitchFamily="34" charset="-122"/>
                <a:sym typeface="宋体" pitchFamily="2" charset="-122"/>
              </a:rPr>
              <a:t>要点：</a:t>
            </a:r>
            <a:endParaRPr lang="en-US" altLang="zh-CN" sz="1800" dirty="0">
              <a:solidFill>
                <a:srgbClr val="002060"/>
              </a:solidFill>
              <a:latin typeface="微软雅黑" pitchFamily="34" charset="-122"/>
              <a:ea typeface="微软雅黑" pitchFamily="34" charset="-122"/>
              <a:sym typeface="宋体" pitchFamily="2" charset="-122"/>
            </a:endParaRPr>
          </a:p>
          <a:p>
            <a:pPr marL="257175" indent="-257175" eaLnBrk="1" hangingPunct="1">
              <a:buFont typeface="Arial" panose="020B0604020202020204" pitchFamily="34" charset="0"/>
              <a:buChar char="•"/>
              <a:defRPr/>
            </a:pPr>
            <a:r>
              <a:rPr lang="zh-CN" altLang="en-US" sz="1800" dirty="0">
                <a:solidFill>
                  <a:srgbClr val="C00000"/>
                </a:solidFill>
                <a:latin typeface="微软雅黑" pitchFamily="34" charset="-122"/>
                <a:ea typeface="微软雅黑" pitchFamily="34" charset="-122"/>
                <a:sym typeface="宋体" pitchFamily="2" charset="-122"/>
              </a:rPr>
              <a:t>数组</a:t>
            </a:r>
            <a:r>
              <a:rPr lang="en-US" altLang="zh-CN" sz="1800" dirty="0">
                <a:solidFill>
                  <a:srgbClr val="C00000"/>
                </a:solidFill>
                <a:latin typeface="微软雅黑" pitchFamily="34" charset="-122"/>
                <a:ea typeface="微软雅黑" pitchFamily="34" charset="-122"/>
                <a:sym typeface="宋体" pitchFamily="2" charset="-122"/>
              </a:rPr>
              <a:t>a</a:t>
            </a:r>
            <a:r>
              <a:rPr lang="zh-CN" altLang="en-US" sz="1800" dirty="0">
                <a:solidFill>
                  <a:srgbClr val="C00000"/>
                </a:solidFill>
                <a:latin typeface="微软雅黑" pitchFamily="34" charset="-122"/>
                <a:ea typeface="微软雅黑" pitchFamily="34" charset="-122"/>
                <a:sym typeface="宋体" pitchFamily="2" charset="-122"/>
              </a:rPr>
              <a:t>下标为奇数的表示</a:t>
            </a:r>
            <a:endParaRPr lang="en-US" altLang="zh-CN" sz="1800" dirty="0">
              <a:solidFill>
                <a:srgbClr val="C00000"/>
              </a:solidFill>
              <a:latin typeface="微软雅黑" pitchFamily="34" charset="-122"/>
              <a:ea typeface="微软雅黑" pitchFamily="34" charset="-122"/>
              <a:sym typeface="宋体" pitchFamily="2" charset="-122"/>
            </a:endParaRPr>
          </a:p>
          <a:p>
            <a:pPr marL="257175" indent="-257175" eaLnBrk="1" hangingPunct="1">
              <a:buFont typeface="Arial" panose="020B0604020202020204" pitchFamily="34" charset="0"/>
              <a:buChar char="•"/>
              <a:defRPr/>
            </a:pPr>
            <a:r>
              <a:rPr lang="zh-CN" altLang="en-US" sz="1800" dirty="0">
                <a:solidFill>
                  <a:srgbClr val="C00000"/>
                </a:solidFill>
                <a:latin typeface="微软雅黑" pitchFamily="34" charset="-122"/>
                <a:ea typeface="微软雅黑" pitchFamily="34" charset="-122"/>
                <a:sym typeface="宋体" pitchFamily="2" charset="-122"/>
              </a:rPr>
              <a:t>数组</a:t>
            </a:r>
            <a:r>
              <a:rPr lang="en-US" altLang="zh-CN" sz="1800" dirty="0">
                <a:solidFill>
                  <a:srgbClr val="C00000"/>
                </a:solidFill>
                <a:latin typeface="微软雅黑" pitchFamily="34" charset="-122"/>
                <a:ea typeface="微软雅黑" pitchFamily="34" charset="-122"/>
                <a:sym typeface="宋体" pitchFamily="2" charset="-122"/>
              </a:rPr>
              <a:t>b</a:t>
            </a:r>
            <a:r>
              <a:rPr lang="zh-CN" altLang="en-US" sz="1800" dirty="0">
                <a:solidFill>
                  <a:srgbClr val="C00000"/>
                </a:solidFill>
                <a:latin typeface="微软雅黑" pitchFamily="34" charset="-122"/>
                <a:ea typeface="微软雅黑" pitchFamily="34" charset="-122"/>
                <a:sym typeface="宋体" pitchFamily="2" charset="-122"/>
              </a:rPr>
              <a:t>的下标变化</a:t>
            </a:r>
            <a:endParaRPr lang="en-US" altLang="zh-CN" sz="1800" dirty="0">
              <a:solidFill>
                <a:srgbClr val="C00000"/>
              </a:solidFill>
              <a:latin typeface="微软雅黑" pitchFamily="34" charset="-122"/>
              <a:ea typeface="微软雅黑" pitchFamily="34" charset="-122"/>
              <a:sym typeface="宋体" pitchFamily="2" charset="-122"/>
            </a:endParaRPr>
          </a:p>
          <a:p>
            <a:pPr marL="257175" indent="-257175" eaLnBrk="1" hangingPunct="1">
              <a:buFont typeface="Arial" panose="020B0604020202020204" pitchFamily="34" charset="0"/>
              <a:buChar char="•"/>
              <a:defRPr/>
            </a:pPr>
            <a:r>
              <a:rPr lang="zh-CN" altLang="en-US" sz="1800" dirty="0">
                <a:solidFill>
                  <a:srgbClr val="C00000"/>
                </a:solidFill>
                <a:latin typeface="微软雅黑" pitchFamily="34" charset="-122"/>
                <a:ea typeface="微软雅黑" pitchFamily="34" charset="-122"/>
                <a:sym typeface="宋体" pitchFamily="2" charset="-122"/>
              </a:rPr>
              <a:t>排序算法 </a:t>
            </a:r>
            <a:endParaRPr lang="en-US" altLang="zh-CN" sz="1800" dirty="0">
              <a:solidFill>
                <a:srgbClr val="C00000"/>
              </a:solidFill>
              <a:latin typeface="微软雅黑" pitchFamily="34" charset="-122"/>
              <a:ea typeface="微软雅黑" pitchFamily="34" charset="-122"/>
              <a:sym typeface="宋体" pitchFamily="2" charset="-122"/>
            </a:endParaRPr>
          </a:p>
        </p:txBody>
      </p:sp>
      <p:sp>
        <p:nvSpPr>
          <p:cNvPr id="6" name="文本框 7"/>
          <p:cNvSpPr txBox="1">
            <a:spLocks noChangeArrowheads="1"/>
          </p:cNvSpPr>
          <p:nvPr/>
        </p:nvSpPr>
        <p:spPr bwMode="auto">
          <a:xfrm>
            <a:off x="10886" y="609600"/>
            <a:ext cx="25298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pPr>
            <a:r>
              <a:rPr lang="zh-CN" altLang="en-US" sz="2800" b="1" dirty="0">
                <a:solidFill>
                  <a:srgbClr val="C00000"/>
                </a:solidFill>
                <a:latin typeface="幼圆" pitchFamily="49" charset="-122"/>
                <a:ea typeface="幼圆" pitchFamily="49" charset="-122"/>
                <a:sym typeface="宋体" pitchFamily="2" charset="-122"/>
              </a:rPr>
              <a:t>编程题目总结 </a:t>
            </a:r>
          </a:p>
        </p:txBody>
      </p:sp>
    </p:spTree>
    <p:extLst>
      <p:ext uri="{BB962C8B-B14F-4D97-AF65-F5344CB8AC3E}">
        <p14:creationId xmlns:p14="http://schemas.microsoft.com/office/powerpoint/2010/main" val="136832242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文本框 1"/>
          <p:cNvSpPr txBox="1">
            <a:spLocks noChangeArrowheads="1"/>
          </p:cNvSpPr>
          <p:nvPr/>
        </p:nvSpPr>
        <p:spPr bwMode="auto">
          <a:xfrm>
            <a:off x="155575" y="1420813"/>
            <a:ext cx="77708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buFont typeface="Arial" pitchFamily="34" charset="0"/>
              <a:buNone/>
            </a:pPr>
            <a:r>
              <a:rPr lang="zh-CN" altLang="en-US" sz="1800">
                <a:solidFill>
                  <a:srgbClr val="002060"/>
                </a:solidFill>
                <a:latin typeface="微软雅黑" pitchFamily="34" charset="-122"/>
                <a:ea typeface="微软雅黑" pitchFamily="34" charset="-122"/>
                <a:sym typeface="宋体" pitchFamily="2" charset="-122"/>
              </a:rPr>
              <a:t>题目：从键盘输入一个字符串，将下标为奇数的符号升序排序后输出</a:t>
            </a:r>
            <a:r>
              <a:rPr lang="en-US" altLang="zh-CN" sz="1800">
                <a:solidFill>
                  <a:srgbClr val="002060"/>
                </a:solidFill>
                <a:latin typeface="微软雅黑" pitchFamily="34" charset="-122"/>
                <a:ea typeface="微软雅黑" pitchFamily="34" charset="-122"/>
                <a:sym typeface="宋体" pitchFamily="2" charset="-122"/>
              </a:rPr>
              <a:t> </a:t>
            </a:r>
          </a:p>
        </p:txBody>
      </p:sp>
      <p:pic>
        <p:nvPicPr>
          <p:cNvPr id="193541" name="图片 4"/>
          <p:cNvPicPr>
            <a:picLocks noChangeAspect="1" noChangeArrowheads="1"/>
          </p:cNvPicPr>
          <p:nvPr/>
        </p:nvPicPr>
        <p:blipFill rotWithShape="1">
          <a:blip r:embed="rId2">
            <a:extLst>
              <a:ext uri="{28A0092B-C50C-407E-A947-70E740481C1C}">
                <a14:useLocalDpi xmlns:a14="http://schemas.microsoft.com/office/drawing/2010/main" val="0"/>
              </a:ext>
            </a:extLst>
          </a:blip>
          <a:srcRect t="5195"/>
          <a:stretch/>
        </p:blipFill>
        <p:spPr bwMode="auto">
          <a:xfrm>
            <a:off x="411163" y="2057400"/>
            <a:ext cx="7129462" cy="370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1"/>
          <p:cNvSpPr txBox="1">
            <a:spLocks noChangeArrowheads="1"/>
          </p:cNvSpPr>
          <p:nvPr/>
        </p:nvSpPr>
        <p:spPr bwMode="auto">
          <a:xfrm>
            <a:off x="5534025" y="3913188"/>
            <a:ext cx="3529013"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Arial" panose="020B0604020202020204" pitchFamily="34" charset="0"/>
              <a:buNone/>
              <a:defRPr/>
            </a:pPr>
            <a:r>
              <a:rPr lang="zh-CN" altLang="en-US" sz="1800" dirty="0">
                <a:solidFill>
                  <a:srgbClr val="002060"/>
                </a:solidFill>
                <a:latin typeface="微软雅黑" pitchFamily="34" charset="-122"/>
                <a:ea typeface="微软雅黑" pitchFamily="34" charset="-122"/>
                <a:sym typeface="宋体" pitchFamily="2" charset="-122"/>
              </a:rPr>
              <a:t>要点：</a:t>
            </a:r>
            <a:endParaRPr lang="en-US" altLang="zh-CN" sz="1800" dirty="0">
              <a:solidFill>
                <a:srgbClr val="002060"/>
              </a:solidFill>
              <a:latin typeface="微软雅黑" pitchFamily="34" charset="-122"/>
              <a:ea typeface="微软雅黑" pitchFamily="34" charset="-122"/>
              <a:sym typeface="宋体" pitchFamily="2" charset="-122"/>
            </a:endParaRPr>
          </a:p>
          <a:p>
            <a:pPr marL="257175" indent="-257175" eaLnBrk="1" hangingPunct="1">
              <a:buFont typeface="Arial" panose="020B0604020202020204" pitchFamily="34" charset="0"/>
              <a:buChar char="•"/>
              <a:defRPr/>
            </a:pPr>
            <a:r>
              <a:rPr lang="zh-CN" altLang="en-US" sz="1800" dirty="0">
                <a:solidFill>
                  <a:srgbClr val="C00000"/>
                </a:solidFill>
                <a:latin typeface="微软雅黑" pitchFamily="34" charset="-122"/>
                <a:ea typeface="微软雅黑" pitchFamily="34" charset="-122"/>
                <a:sym typeface="宋体" pitchFamily="2" charset="-122"/>
              </a:rPr>
              <a:t>字符数组输入输出</a:t>
            </a:r>
            <a:r>
              <a:rPr lang="en-US" altLang="zh-CN" sz="1800" dirty="0">
                <a:solidFill>
                  <a:srgbClr val="C00000"/>
                </a:solidFill>
                <a:latin typeface="微软雅黑" pitchFamily="34" charset="-122"/>
                <a:ea typeface="微软雅黑" pitchFamily="34" charset="-122"/>
                <a:sym typeface="宋体" pitchFamily="2" charset="-122"/>
              </a:rPr>
              <a:t> </a:t>
            </a:r>
          </a:p>
          <a:p>
            <a:pPr marL="257175" indent="-257175" eaLnBrk="1" hangingPunct="1">
              <a:buFont typeface="Arial" panose="020B0604020202020204" pitchFamily="34" charset="0"/>
              <a:buChar char="•"/>
              <a:defRPr/>
            </a:pPr>
            <a:r>
              <a:rPr lang="zh-CN" altLang="en-US" sz="1800" dirty="0">
                <a:solidFill>
                  <a:srgbClr val="C00000"/>
                </a:solidFill>
                <a:latin typeface="微软雅黑" pitchFamily="34" charset="-122"/>
                <a:ea typeface="微软雅黑" pitchFamily="34" charset="-122"/>
                <a:sym typeface="宋体" pitchFamily="2" charset="-122"/>
              </a:rPr>
              <a:t>字符串处理函数，头文件</a:t>
            </a:r>
            <a:endParaRPr lang="en-US" altLang="zh-CN" sz="1800" dirty="0">
              <a:solidFill>
                <a:srgbClr val="C00000"/>
              </a:solidFill>
              <a:latin typeface="微软雅黑" pitchFamily="34" charset="-122"/>
              <a:ea typeface="微软雅黑" pitchFamily="34" charset="-122"/>
              <a:sym typeface="宋体" pitchFamily="2" charset="-122"/>
            </a:endParaRPr>
          </a:p>
          <a:p>
            <a:pPr marL="257175" indent="-257175" eaLnBrk="1" hangingPunct="1">
              <a:buFont typeface="Arial" panose="020B0604020202020204" pitchFamily="34" charset="0"/>
              <a:buChar char="•"/>
              <a:defRPr/>
            </a:pPr>
            <a:r>
              <a:rPr lang="zh-CN" altLang="en-US" sz="1800" dirty="0">
                <a:solidFill>
                  <a:srgbClr val="C00000"/>
                </a:solidFill>
                <a:latin typeface="微软雅黑" pitchFamily="34" charset="-122"/>
                <a:ea typeface="微软雅黑" pitchFamily="34" charset="-122"/>
                <a:sym typeface="宋体" pitchFamily="2" charset="-122"/>
              </a:rPr>
              <a:t>字符串结束标记</a:t>
            </a:r>
            <a:endParaRPr lang="en-US" altLang="zh-CN" sz="1800" dirty="0">
              <a:solidFill>
                <a:srgbClr val="C00000"/>
              </a:solidFill>
              <a:latin typeface="微软雅黑" pitchFamily="34" charset="-122"/>
              <a:ea typeface="微软雅黑" pitchFamily="34" charset="-122"/>
              <a:sym typeface="宋体" pitchFamily="2" charset="-122"/>
            </a:endParaRPr>
          </a:p>
          <a:p>
            <a:pPr marL="257175" indent="-257175" eaLnBrk="1" hangingPunct="1">
              <a:buFont typeface="Arial" panose="020B0604020202020204" pitchFamily="34" charset="0"/>
              <a:buChar char="•"/>
              <a:defRPr/>
            </a:pPr>
            <a:r>
              <a:rPr lang="zh-CN" altLang="en-US" sz="1800" dirty="0">
                <a:solidFill>
                  <a:srgbClr val="C00000"/>
                </a:solidFill>
                <a:latin typeface="微软雅黑" pitchFamily="34" charset="-122"/>
                <a:ea typeface="微软雅黑" pitchFamily="34" charset="-122"/>
                <a:sym typeface="宋体" pitchFamily="2" charset="-122"/>
              </a:rPr>
              <a:t>排序算法 （改进：写一个函数）</a:t>
            </a:r>
            <a:endParaRPr lang="en-US" altLang="zh-CN" sz="1800" dirty="0">
              <a:solidFill>
                <a:srgbClr val="C00000"/>
              </a:solidFill>
              <a:latin typeface="微软雅黑" pitchFamily="34" charset="-122"/>
              <a:ea typeface="微软雅黑" pitchFamily="34" charset="-122"/>
              <a:sym typeface="宋体" pitchFamily="2" charset="-122"/>
            </a:endParaRPr>
          </a:p>
        </p:txBody>
      </p:sp>
      <p:sp>
        <p:nvSpPr>
          <p:cNvPr id="7" name="文本框 7"/>
          <p:cNvSpPr txBox="1">
            <a:spLocks noChangeArrowheads="1"/>
          </p:cNvSpPr>
          <p:nvPr/>
        </p:nvSpPr>
        <p:spPr bwMode="auto">
          <a:xfrm>
            <a:off x="10886" y="609600"/>
            <a:ext cx="25298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pPr>
            <a:r>
              <a:rPr lang="zh-CN" altLang="en-US" sz="2800" b="1" dirty="0">
                <a:solidFill>
                  <a:srgbClr val="C00000"/>
                </a:solidFill>
                <a:latin typeface="幼圆" pitchFamily="49" charset="-122"/>
                <a:ea typeface="幼圆" pitchFamily="49" charset="-122"/>
                <a:sym typeface="宋体" pitchFamily="2" charset="-122"/>
              </a:rPr>
              <a:t>编程题目总结 </a:t>
            </a:r>
          </a:p>
        </p:txBody>
      </p:sp>
    </p:spTree>
    <p:extLst>
      <p:ext uri="{BB962C8B-B14F-4D97-AF65-F5344CB8AC3E}">
        <p14:creationId xmlns:p14="http://schemas.microsoft.com/office/powerpoint/2010/main" val="67135055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64" name="组合 6"/>
          <p:cNvGrpSpPr>
            <a:grpSpLocks/>
          </p:cNvGrpSpPr>
          <p:nvPr/>
        </p:nvGrpSpPr>
        <p:grpSpPr bwMode="auto">
          <a:xfrm>
            <a:off x="161925" y="2351088"/>
            <a:ext cx="7983538" cy="3321050"/>
            <a:chOff x="3932" y="3136"/>
            <a:chExt cx="12351" cy="6972"/>
          </a:xfrm>
        </p:grpSpPr>
        <p:sp>
          <p:nvSpPr>
            <p:cNvPr id="5" name="Freeform 2"/>
            <p:cNvSpPr>
              <a:spLocks noChangeArrowheads="1"/>
            </p:cNvSpPr>
            <p:nvPr/>
          </p:nvSpPr>
          <p:spPr bwMode="auto">
            <a:xfrm>
              <a:off x="5231" y="4096"/>
              <a:ext cx="11052" cy="4892"/>
            </a:xfrm>
            <a:custGeom>
              <a:avLst/>
              <a:gdLst>
                <a:gd name="T0" fmla="*/ 496 w 5190"/>
                <a:gd name="T1" fmla="*/ 157 h 2298"/>
                <a:gd name="T2" fmla="*/ 0 w 5190"/>
                <a:gd name="T3" fmla="*/ 0 h 2298"/>
                <a:gd name="T4" fmla="*/ 231 w 5190"/>
                <a:gd name="T5" fmla="*/ 124 h 2298"/>
                <a:gd name="T6" fmla="*/ 4282 w 5190"/>
                <a:gd name="T7" fmla="*/ 2025 h 2298"/>
                <a:gd name="T8" fmla="*/ 3974 w 5190"/>
                <a:gd name="T9" fmla="*/ 2298 h 2298"/>
                <a:gd name="T10" fmla="*/ 5190 w 5190"/>
                <a:gd name="T11" fmla="*/ 2065 h 2298"/>
                <a:gd name="T12" fmla="*/ 5039 w 5190"/>
                <a:gd name="T13" fmla="*/ 1268 h 2298"/>
                <a:gd name="T14" fmla="*/ 4748 w 5190"/>
                <a:gd name="T15" fmla="*/ 1507 h 2298"/>
                <a:gd name="T16" fmla="*/ 496 w 5190"/>
                <a:gd name="T17" fmla="*/ 157 h 2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90" h="2298">
                  <a:moveTo>
                    <a:pt x="496" y="157"/>
                  </a:moveTo>
                  <a:lnTo>
                    <a:pt x="0" y="0"/>
                  </a:lnTo>
                  <a:lnTo>
                    <a:pt x="231" y="124"/>
                  </a:lnTo>
                  <a:lnTo>
                    <a:pt x="4282" y="2025"/>
                  </a:lnTo>
                  <a:lnTo>
                    <a:pt x="3974" y="2298"/>
                  </a:lnTo>
                  <a:lnTo>
                    <a:pt x="5190" y="2065"/>
                  </a:lnTo>
                  <a:lnTo>
                    <a:pt x="5039" y="1268"/>
                  </a:lnTo>
                  <a:lnTo>
                    <a:pt x="4748" y="1507"/>
                  </a:lnTo>
                  <a:lnTo>
                    <a:pt x="496" y="157"/>
                  </a:lnTo>
                  <a:close/>
                </a:path>
              </a:pathLst>
            </a:custGeom>
            <a:gradFill rotWithShape="1">
              <a:gsLst>
                <a:gs pos="0">
                  <a:srgbClr val="5F3214"/>
                </a:gs>
                <a:gs pos="50000">
                  <a:schemeClr val="accent2"/>
                </a:gs>
                <a:gs pos="100000">
                  <a:srgbClr val="5F3214"/>
                </a:gs>
              </a:gsLst>
              <a:lin ang="27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46092" name="AutoShape 3"/>
            <p:cNvSpPr>
              <a:spLocks noChangeArrowheads="1"/>
            </p:cNvSpPr>
            <p:nvPr/>
          </p:nvSpPr>
          <p:spPr bwMode="auto">
            <a:xfrm>
              <a:off x="5978" y="4222"/>
              <a:ext cx="339" cy="210"/>
            </a:xfrm>
            <a:prstGeom prst="can">
              <a:avLst>
                <a:gd name="adj" fmla="val 39796"/>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46093" name="AutoShape 4"/>
            <p:cNvSpPr>
              <a:spLocks noChangeArrowheads="1"/>
            </p:cNvSpPr>
            <p:nvPr/>
          </p:nvSpPr>
          <p:spPr bwMode="auto">
            <a:xfrm>
              <a:off x="8193" y="5112"/>
              <a:ext cx="395" cy="287"/>
            </a:xfrm>
            <a:prstGeom prst="can">
              <a:avLst>
                <a:gd name="adj" fmla="val 27343"/>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46094" name="AutoShape 5"/>
            <p:cNvSpPr>
              <a:spLocks noChangeArrowheads="1"/>
            </p:cNvSpPr>
            <p:nvPr/>
          </p:nvSpPr>
          <p:spPr bwMode="auto">
            <a:xfrm>
              <a:off x="9667" y="5586"/>
              <a:ext cx="538" cy="460"/>
            </a:xfrm>
            <a:prstGeom prst="can">
              <a:avLst>
                <a:gd name="adj" fmla="val 25000"/>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46095" name="AutoShape 6"/>
            <p:cNvSpPr>
              <a:spLocks noChangeArrowheads="1"/>
            </p:cNvSpPr>
            <p:nvPr/>
          </p:nvSpPr>
          <p:spPr bwMode="auto">
            <a:xfrm>
              <a:off x="13208" y="6565"/>
              <a:ext cx="845" cy="1020"/>
            </a:xfrm>
            <a:prstGeom prst="can">
              <a:avLst>
                <a:gd name="adj" fmla="val 21409"/>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46096" name="AutoShape 7"/>
            <p:cNvSpPr>
              <a:spLocks noChangeArrowheads="1"/>
            </p:cNvSpPr>
            <p:nvPr/>
          </p:nvSpPr>
          <p:spPr bwMode="auto">
            <a:xfrm>
              <a:off x="11396" y="6155"/>
              <a:ext cx="666" cy="640"/>
            </a:xfrm>
            <a:prstGeom prst="can">
              <a:avLst>
                <a:gd name="adj" fmla="val 21667"/>
              </a:avLst>
            </a:prstGeom>
            <a:gradFill rotWithShape="1">
              <a:gsLst>
                <a:gs pos="0">
                  <a:srgbClr val="008000"/>
                </a:gs>
                <a:gs pos="50000">
                  <a:srgbClr val="A4D2A4"/>
                </a:gs>
                <a:gs pos="100000">
                  <a:srgbClr val="00800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endParaRPr lang="zh-CN" altLang="en-US" sz="1350">
                <a:solidFill>
                  <a:prstClr val="black"/>
                </a:solidFill>
              </a:endParaRPr>
            </a:p>
          </p:txBody>
        </p:sp>
        <p:sp>
          <p:nvSpPr>
            <p:cNvPr id="194577" name="Text Box 8"/>
            <p:cNvSpPr txBox="1">
              <a:spLocks noChangeArrowheads="1"/>
            </p:cNvSpPr>
            <p:nvPr/>
          </p:nvSpPr>
          <p:spPr bwMode="auto">
            <a:xfrm>
              <a:off x="5393" y="3197"/>
              <a:ext cx="1918" cy="1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a:spcBef>
                  <a:spcPct val="50000"/>
                </a:spcBef>
                <a:buFont typeface="Arial" pitchFamily="34" charset="0"/>
                <a:buNone/>
              </a:pPr>
              <a:r>
                <a:rPr lang="zh-CN" altLang="zh-CN" sz="1500" b="1">
                  <a:solidFill>
                    <a:srgbClr val="C00000"/>
                  </a:solidFill>
                </a:rPr>
                <a:t>定义变量</a:t>
              </a:r>
            </a:p>
            <a:p>
              <a:pPr>
                <a:spcBef>
                  <a:spcPct val="50000"/>
                </a:spcBef>
                <a:buFont typeface="Arial" pitchFamily="34" charset="0"/>
                <a:buNone/>
              </a:pPr>
              <a:r>
                <a:rPr lang="en-US" altLang="zh-CN" sz="1500" b="1">
                  <a:solidFill>
                    <a:srgbClr val="C00000"/>
                  </a:solidFill>
                </a:rPr>
                <a:t> </a:t>
              </a:r>
            </a:p>
          </p:txBody>
        </p:sp>
        <p:sp>
          <p:nvSpPr>
            <p:cNvPr id="194578" name="Text Box 9"/>
            <p:cNvSpPr txBox="1">
              <a:spLocks noChangeArrowheads="1"/>
            </p:cNvSpPr>
            <p:nvPr/>
          </p:nvSpPr>
          <p:spPr bwMode="auto">
            <a:xfrm>
              <a:off x="9088" y="3177"/>
              <a:ext cx="2232" cy="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a:spcBef>
                  <a:spcPct val="50000"/>
                </a:spcBef>
                <a:buFont typeface="Arial" pitchFamily="34" charset="0"/>
                <a:buNone/>
              </a:pPr>
              <a:r>
                <a:rPr lang="en-US" altLang="zh-CN" sz="1500" b="1">
                  <a:solidFill>
                    <a:srgbClr val="C00000"/>
                  </a:solidFill>
                </a:rPr>
                <a:t> </a:t>
              </a:r>
              <a:r>
                <a:rPr lang="zh-CN" altLang="en-US" sz="1500" b="1">
                  <a:solidFill>
                    <a:srgbClr val="C00000"/>
                  </a:solidFill>
                </a:rPr>
                <a:t>对两个数组进行</a:t>
              </a:r>
              <a:r>
                <a:rPr lang="zh-CN" altLang="zh-CN" sz="1500" b="1">
                  <a:solidFill>
                    <a:srgbClr val="C00000"/>
                  </a:solidFill>
                </a:rPr>
                <a:t>循环</a:t>
              </a:r>
            </a:p>
          </p:txBody>
        </p:sp>
        <p:sp>
          <p:nvSpPr>
            <p:cNvPr id="46099" name="Text Box 12"/>
            <p:cNvSpPr txBox="1">
              <a:spLocks noChangeArrowheads="1"/>
            </p:cNvSpPr>
            <p:nvPr/>
          </p:nvSpPr>
          <p:spPr bwMode="auto">
            <a:xfrm>
              <a:off x="13660" y="3136"/>
              <a:ext cx="1921" cy="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spcBef>
                  <a:spcPct val="50000"/>
                </a:spcBef>
                <a:buFont typeface="Arial" panose="020B0604020202020204" pitchFamily="34" charset="0"/>
                <a:buNone/>
                <a:defRPr/>
              </a:pPr>
              <a:r>
                <a:rPr lang="zh-CN" altLang="en-US" sz="1350" b="1">
                  <a:solidFill>
                    <a:srgbClr val="C00000"/>
                  </a:solidFill>
                  <a:latin typeface="Arial" panose="020B0604020202020204" pitchFamily="34" charset="0"/>
                </a:rPr>
                <a:t>写代码</a:t>
              </a:r>
              <a:r>
                <a:rPr lang="en-US" altLang="zh-CN" sz="1350" b="1">
                  <a:solidFill>
                    <a:srgbClr val="C00000"/>
                  </a:solidFill>
                  <a:latin typeface="Arial" panose="020B0604020202020204" pitchFamily="34" charset="0"/>
                </a:rPr>
                <a:t>code</a:t>
              </a:r>
            </a:p>
          </p:txBody>
        </p:sp>
        <p:sp>
          <p:nvSpPr>
            <p:cNvPr id="14" name="Text Box 13"/>
            <p:cNvSpPr txBox="1">
              <a:spLocks noChangeArrowheads="1"/>
            </p:cNvSpPr>
            <p:nvPr/>
          </p:nvSpPr>
          <p:spPr bwMode="auto">
            <a:xfrm>
              <a:off x="3932" y="4932"/>
              <a:ext cx="4708" cy="1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214313" indent="-214313" eaLnBrk="1" hangingPunct="1">
                <a:spcBef>
                  <a:spcPct val="50000"/>
                </a:spcBef>
                <a:buFont typeface="Arial" panose="020B0604020202020204" pitchFamily="34" charset="0"/>
                <a:buChar char="•"/>
                <a:defRPr/>
              </a:pPr>
              <a:r>
                <a:rPr lang="zh-CN" altLang="en-US" sz="1200" b="1" dirty="0">
                  <a:solidFill>
                    <a:srgbClr val="002060"/>
                  </a:solidFill>
                </a:rPr>
                <a:t>定义字符数组</a:t>
              </a:r>
              <a:r>
                <a:rPr lang="en-US" altLang="zh-CN" sz="1200" b="1" dirty="0">
                  <a:solidFill>
                    <a:srgbClr val="002060"/>
                  </a:solidFill>
                </a:rPr>
                <a:t>char s[20],t[20]</a:t>
              </a:r>
            </a:p>
            <a:p>
              <a:pPr marL="214313" indent="-214313" eaLnBrk="1" hangingPunct="1">
                <a:spcBef>
                  <a:spcPct val="50000"/>
                </a:spcBef>
                <a:buFont typeface="Arial" panose="020B0604020202020204" pitchFamily="34" charset="0"/>
                <a:buChar char="•"/>
                <a:defRPr/>
              </a:pPr>
              <a:r>
                <a:rPr lang="zh-CN" altLang="en-US" sz="1200" b="1" dirty="0">
                  <a:solidFill>
                    <a:srgbClr val="002060"/>
                  </a:solidFill>
                </a:rPr>
                <a:t>定义循环变量和临时变量</a:t>
              </a:r>
              <a:endParaRPr lang="en-US" altLang="zh-CN" sz="1200" b="1" dirty="0">
                <a:solidFill>
                  <a:srgbClr val="002060"/>
                </a:solidFill>
              </a:endParaRPr>
            </a:p>
            <a:p>
              <a:pPr eaLnBrk="1" hangingPunct="1">
                <a:spcBef>
                  <a:spcPct val="50000"/>
                </a:spcBef>
                <a:buFont typeface="Arial" panose="020B0604020202020204" pitchFamily="34" charset="0"/>
                <a:buNone/>
                <a:defRPr/>
              </a:pPr>
              <a:r>
                <a:rPr lang="en-US" altLang="zh-CN" sz="1200" b="1" dirty="0" err="1">
                  <a:solidFill>
                    <a:srgbClr val="002060"/>
                  </a:solidFill>
                </a:rPr>
                <a:t>int</a:t>
              </a:r>
              <a:r>
                <a:rPr lang="en-US" altLang="zh-CN" sz="1200" b="1" dirty="0">
                  <a:solidFill>
                    <a:srgbClr val="002060"/>
                  </a:solidFill>
                </a:rPr>
                <a:t> </a:t>
              </a:r>
              <a:r>
                <a:rPr lang="en-US" altLang="zh-CN" sz="1200" b="1" dirty="0" err="1">
                  <a:solidFill>
                    <a:srgbClr val="002060"/>
                  </a:solidFill>
                </a:rPr>
                <a:t>i</a:t>
              </a:r>
              <a:r>
                <a:rPr lang="en-US" altLang="zh-CN" sz="1200" b="1" dirty="0">
                  <a:solidFill>
                    <a:srgbClr val="002060"/>
                  </a:solidFill>
                </a:rPr>
                <a:t>, </a:t>
              </a:r>
              <a:r>
                <a:rPr lang="en-US" altLang="zh-CN" sz="1200" b="1" dirty="0" err="1">
                  <a:solidFill>
                    <a:srgbClr val="002060"/>
                  </a:solidFill>
                </a:rPr>
                <a:t>j,k</a:t>
              </a:r>
              <a:r>
                <a:rPr lang="en-US" altLang="zh-CN" sz="1200" b="1" dirty="0">
                  <a:solidFill>
                    <a:srgbClr val="002060"/>
                  </a:solidFill>
                </a:rPr>
                <a:t>; char t;</a:t>
              </a:r>
            </a:p>
          </p:txBody>
        </p:sp>
        <p:sp>
          <p:nvSpPr>
            <p:cNvPr id="46101" name="Text Box 14"/>
            <p:cNvSpPr txBox="1">
              <a:spLocks noChangeArrowheads="1"/>
            </p:cNvSpPr>
            <p:nvPr/>
          </p:nvSpPr>
          <p:spPr bwMode="auto">
            <a:xfrm>
              <a:off x="6700" y="7702"/>
              <a:ext cx="2844" cy="1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 typeface="Arial" panose="020B0604020202020204" pitchFamily="34" charset="0"/>
                <a:buNone/>
                <a:defRPr/>
              </a:pPr>
              <a:r>
                <a:rPr lang="zh-CN" altLang="en-US" sz="1350" b="1">
                  <a:solidFill>
                    <a:srgbClr val="002060"/>
                  </a:solidFill>
                  <a:latin typeface="Arial" panose="020B0604020202020204" pitchFamily="34" charset="0"/>
                </a:rPr>
                <a:t> </a:t>
              </a:r>
              <a:r>
                <a:rPr lang="en-US" altLang="zh-CN" sz="1350" b="1">
                  <a:solidFill>
                    <a:srgbClr val="002060"/>
                  </a:solidFill>
                  <a:latin typeface="Arial" panose="020B0604020202020204" pitchFamily="34" charset="0"/>
                </a:rPr>
                <a:t> </a:t>
              </a:r>
            </a:p>
            <a:p>
              <a:pPr eaLnBrk="1" hangingPunct="1">
                <a:spcBef>
                  <a:spcPct val="50000"/>
                </a:spcBef>
                <a:buFont typeface="Arial" panose="020B0604020202020204" pitchFamily="34" charset="0"/>
                <a:buNone/>
                <a:defRPr/>
              </a:pPr>
              <a:r>
                <a:rPr lang="en-US" altLang="zh-CN" sz="1350" b="1">
                  <a:solidFill>
                    <a:srgbClr val="002060"/>
                  </a:solidFill>
                  <a:latin typeface="Arial" panose="020B0604020202020204" pitchFamily="34" charset="0"/>
                </a:rPr>
                <a:t>   </a:t>
              </a:r>
            </a:p>
          </p:txBody>
        </p:sp>
        <p:sp>
          <p:nvSpPr>
            <p:cNvPr id="46102" name="Text Box 15"/>
            <p:cNvSpPr txBox="1">
              <a:spLocks noChangeArrowheads="1"/>
            </p:cNvSpPr>
            <p:nvPr/>
          </p:nvSpPr>
          <p:spPr bwMode="auto">
            <a:xfrm>
              <a:off x="9121" y="8168"/>
              <a:ext cx="3207" cy="1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 typeface="Arial" panose="020B0604020202020204" pitchFamily="34" charset="0"/>
                <a:buNone/>
                <a:defRPr/>
              </a:pPr>
              <a:r>
                <a:rPr lang="zh-CN" altLang="en-US" sz="1350" b="1">
                  <a:solidFill>
                    <a:srgbClr val="002060"/>
                  </a:solidFill>
                  <a:latin typeface="Arial" panose="020B0604020202020204" pitchFamily="34" charset="0"/>
                </a:rPr>
                <a:t>方法</a:t>
              </a:r>
              <a:r>
                <a:rPr lang="en-US" altLang="zh-CN" sz="1350" b="1">
                  <a:solidFill>
                    <a:srgbClr val="002060"/>
                  </a:solidFill>
                  <a:latin typeface="Arial" panose="020B0604020202020204" pitchFamily="34" charset="0"/>
                </a:rPr>
                <a:t>1</a:t>
              </a:r>
              <a:r>
                <a:rPr lang="zh-CN" altLang="en-US" sz="1350" b="1">
                  <a:solidFill>
                    <a:srgbClr val="002060"/>
                  </a:solidFill>
                  <a:latin typeface="Arial" panose="020B0604020202020204" pitchFamily="34" charset="0"/>
                </a:rPr>
                <a:t>：删除字符</a:t>
              </a:r>
              <a:endParaRPr lang="en-US" altLang="zh-CN" sz="1350" b="1">
                <a:solidFill>
                  <a:srgbClr val="002060"/>
                </a:solidFill>
                <a:latin typeface="Arial" panose="020B0604020202020204" pitchFamily="34" charset="0"/>
              </a:endParaRPr>
            </a:p>
            <a:p>
              <a:pPr eaLnBrk="1" hangingPunct="1">
                <a:spcBef>
                  <a:spcPct val="50000"/>
                </a:spcBef>
                <a:buFont typeface="Arial" panose="020B0604020202020204" pitchFamily="34" charset="0"/>
                <a:buNone/>
                <a:defRPr/>
              </a:pPr>
              <a:r>
                <a:rPr lang="zh-CN" altLang="en-US" sz="1350" b="1">
                  <a:solidFill>
                    <a:srgbClr val="002060"/>
                  </a:solidFill>
                  <a:latin typeface="Arial" panose="020B0604020202020204" pitchFamily="34" charset="0"/>
                </a:rPr>
                <a:t>方法</a:t>
              </a:r>
              <a:r>
                <a:rPr lang="en-US" altLang="zh-CN" sz="1350" b="1">
                  <a:solidFill>
                    <a:srgbClr val="002060"/>
                  </a:solidFill>
                  <a:latin typeface="Arial" panose="020B0604020202020204" pitchFamily="34" charset="0"/>
                </a:rPr>
                <a:t>2</a:t>
              </a:r>
              <a:r>
                <a:rPr lang="zh-CN" altLang="en-US" sz="1350" b="1">
                  <a:solidFill>
                    <a:srgbClr val="002060"/>
                  </a:solidFill>
                  <a:latin typeface="Arial" panose="020B0604020202020204" pitchFamily="34" charset="0"/>
                </a:rPr>
                <a:t>：不删除仅不显示。</a:t>
              </a:r>
              <a:endParaRPr lang="en-US" altLang="zh-CN" sz="1350" b="1">
                <a:solidFill>
                  <a:srgbClr val="002060"/>
                </a:solidFill>
                <a:latin typeface="Arial" panose="020B0604020202020204" pitchFamily="34" charset="0"/>
              </a:endParaRPr>
            </a:p>
            <a:p>
              <a:pPr eaLnBrk="1" hangingPunct="1">
                <a:spcBef>
                  <a:spcPct val="50000"/>
                </a:spcBef>
                <a:buFont typeface="Arial" panose="020B0604020202020204" pitchFamily="34" charset="0"/>
                <a:buNone/>
                <a:defRPr/>
              </a:pPr>
              <a:r>
                <a:rPr lang="zh-CN" altLang="en-US" sz="1350" b="1">
                  <a:solidFill>
                    <a:srgbClr val="002060"/>
                  </a:solidFill>
                  <a:latin typeface="Arial" panose="020B0604020202020204" pitchFamily="34" charset="0"/>
                </a:rPr>
                <a:t>方法</a:t>
              </a:r>
              <a:r>
                <a:rPr lang="en-US" altLang="zh-CN" sz="1350" b="1">
                  <a:solidFill>
                    <a:srgbClr val="002060"/>
                  </a:solidFill>
                  <a:latin typeface="Arial" panose="020B0604020202020204" pitchFamily="34" charset="0"/>
                </a:rPr>
                <a:t>3</a:t>
              </a:r>
              <a:r>
                <a:rPr lang="zh-CN" altLang="en-US" sz="1350" b="1">
                  <a:solidFill>
                    <a:srgbClr val="002060"/>
                  </a:solidFill>
                  <a:latin typeface="Arial" panose="020B0604020202020204" pitchFamily="34" charset="0"/>
                </a:rPr>
                <a:t>：存入新的数组</a:t>
              </a:r>
            </a:p>
          </p:txBody>
        </p:sp>
        <p:sp>
          <p:nvSpPr>
            <p:cNvPr id="194583" name="Text Box 17"/>
            <p:cNvSpPr txBox="1">
              <a:spLocks noChangeArrowheads="1"/>
            </p:cNvSpPr>
            <p:nvPr/>
          </p:nvSpPr>
          <p:spPr bwMode="auto">
            <a:xfrm>
              <a:off x="12106" y="8616"/>
              <a:ext cx="2252" cy="1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spcBef>
                  <a:spcPct val="50000"/>
                </a:spcBef>
                <a:buFont typeface="Arial" pitchFamily="34" charset="0"/>
                <a:buNone/>
              </a:pPr>
              <a:r>
                <a:rPr lang="zh-CN" altLang="en-US" sz="1500" b="1">
                  <a:solidFill>
                    <a:srgbClr val="C00000"/>
                  </a:solidFill>
                </a:rPr>
                <a:t> </a:t>
              </a:r>
              <a:r>
                <a:rPr lang="en-US" altLang="zh-CN" sz="1500" b="1">
                  <a:solidFill>
                    <a:srgbClr val="C00000"/>
                  </a:solidFill>
                </a:rPr>
                <a:t>int main()</a:t>
              </a:r>
            </a:p>
            <a:p>
              <a:pPr eaLnBrk="1" hangingPunct="1">
                <a:spcBef>
                  <a:spcPct val="50000"/>
                </a:spcBef>
                <a:buFont typeface="Arial" pitchFamily="34" charset="0"/>
                <a:buNone/>
              </a:pPr>
              <a:r>
                <a:rPr lang="en-US" altLang="zh-CN" sz="1500" b="1">
                  <a:solidFill>
                    <a:srgbClr val="C00000"/>
                  </a:solidFill>
                </a:rPr>
                <a:t>{......}</a:t>
              </a:r>
            </a:p>
          </p:txBody>
        </p:sp>
        <p:cxnSp>
          <p:nvCxnSpPr>
            <p:cNvPr id="194584" name="AutoShape 18"/>
            <p:cNvCxnSpPr>
              <a:cxnSpLocks noChangeShapeType="1"/>
              <a:stCxn id="46092" idx="3"/>
              <a:endCxn id="14" idx="0"/>
            </p:cNvCxnSpPr>
            <p:nvPr/>
          </p:nvCxnSpPr>
          <p:spPr bwMode="auto">
            <a:xfrm>
              <a:off x="6147" y="4431"/>
              <a:ext cx="139" cy="500"/>
            </a:xfrm>
            <a:prstGeom prst="line">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cxnSp>
          <p:nvCxnSpPr>
            <p:cNvPr id="194585" name="AutoShape 19"/>
            <p:cNvCxnSpPr>
              <a:cxnSpLocks noChangeShapeType="1"/>
              <a:stCxn id="46093" idx="3"/>
            </p:cNvCxnSpPr>
            <p:nvPr/>
          </p:nvCxnSpPr>
          <p:spPr bwMode="auto">
            <a:xfrm rot="5400000">
              <a:off x="6585" y="4982"/>
              <a:ext cx="1389" cy="2218"/>
            </a:xfrm>
            <a:prstGeom prst="bentConnector2">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cxnSp>
          <p:nvCxnSpPr>
            <p:cNvPr id="194586" name="AutoShape 20"/>
            <p:cNvCxnSpPr>
              <a:cxnSpLocks noChangeShapeType="1"/>
              <a:stCxn id="46094" idx="3"/>
            </p:cNvCxnSpPr>
            <p:nvPr/>
          </p:nvCxnSpPr>
          <p:spPr bwMode="auto">
            <a:xfrm rot="5400000">
              <a:off x="8516" y="6112"/>
              <a:ext cx="1487" cy="1347"/>
            </a:xfrm>
            <a:prstGeom prst="bentConnector2">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cxnSp>
          <p:nvCxnSpPr>
            <p:cNvPr id="194587" name="AutoShape 21"/>
            <p:cNvCxnSpPr>
              <a:cxnSpLocks noChangeShapeType="1"/>
              <a:stCxn id="46096" idx="3"/>
            </p:cNvCxnSpPr>
            <p:nvPr/>
          </p:nvCxnSpPr>
          <p:spPr bwMode="auto">
            <a:xfrm rot="5400000">
              <a:off x="10729" y="6932"/>
              <a:ext cx="1138" cy="857"/>
            </a:xfrm>
            <a:prstGeom prst="bentConnector2">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cxnSp>
          <p:nvCxnSpPr>
            <p:cNvPr id="194588" name="AutoShape 22"/>
            <p:cNvCxnSpPr>
              <a:cxnSpLocks noChangeShapeType="1"/>
              <a:stCxn id="46095" idx="3"/>
              <a:endCxn id="194583" idx="0"/>
            </p:cNvCxnSpPr>
            <p:nvPr/>
          </p:nvCxnSpPr>
          <p:spPr bwMode="auto">
            <a:xfrm rot="5400000">
              <a:off x="12916" y="7902"/>
              <a:ext cx="1030" cy="399"/>
            </a:xfrm>
            <a:prstGeom prst="bentConnector3">
              <a:avLst>
                <a:gd name="adj1" fmla="val 50000"/>
              </a:avLst>
            </a:prstGeom>
            <a:noFill/>
            <a:ln w="9525">
              <a:solidFill>
                <a:srgbClr val="1C1C1C"/>
              </a:solidFill>
              <a:miter lim="800000"/>
              <a:headEnd/>
              <a:tailEnd/>
            </a:ln>
            <a:extLst>
              <a:ext uri="{909E8E84-426E-40DD-AFC4-6F175D3DCCD1}">
                <a14:hiddenFill xmlns:a14="http://schemas.microsoft.com/office/drawing/2010/main">
                  <a:noFill/>
                </a14:hiddenFill>
              </a:ext>
            </a:extLst>
          </p:spPr>
        </p:cxnSp>
        <p:sp>
          <p:nvSpPr>
            <p:cNvPr id="23" name="AutoShape 23"/>
            <p:cNvSpPr>
              <a:spLocks noChangeArrowheads="1"/>
            </p:cNvSpPr>
            <p:nvPr/>
          </p:nvSpPr>
          <p:spPr bwMode="auto">
            <a:xfrm>
              <a:off x="13208" y="4166"/>
              <a:ext cx="845" cy="2583"/>
            </a:xfrm>
            <a:prstGeom prst="can">
              <a:avLst>
                <a:gd name="adj" fmla="val 27936"/>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24" name="AutoShape 24"/>
            <p:cNvSpPr>
              <a:spLocks noChangeArrowheads="1"/>
            </p:cNvSpPr>
            <p:nvPr/>
          </p:nvSpPr>
          <p:spPr bwMode="auto">
            <a:xfrm>
              <a:off x="11396" y="4162"/>
              <a:ext cx="666" cy="2140"/>
            </a:xfrm>
            <a:prstGeom prst="can">
              <a:avLst>
                <a:gd name="adj" fmla="val 27398"/>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25" name="AutoShape 25"/>
            <p:cNvSpPr>
              <a:spLocks noChangeArrowheads="1"/>
            </p:cNvSpPr>
            <p:nvPr/>
          </p:nvSpPr>
          <p:spPr bwMode="auto">
            <a:xfrm>
              <a:off x="9667" y="4156"/>
              <a:ext cx="538" cy="1570"/>
            </a:xfrm>
            <a:prstGeom prst="can">
              <a:avLst>
                <a:gd name="adj" fmla="val 28209"/>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26" name="AutoShape 26"/>
            <p:cNvSpPr>
              <a:spLocks noChangeArrowheads="1"/>
            </p:cNvSpPr>
            <p:nvPr/>
          </p:nvSpPr>
          <p:spPr bwMode="auto">
            <a:xfrm>
              <a:off x="8193" y="4166"/>
              <a:ext cx="395" cy="1030"/>
            </a:xfrm>
            <a:prstGeom prst="can">
              <a:avLst>
                <a:gd name="adj" fmla="val 23806"/>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sp>
          <p:nvSpPr>
            <p:cNvPr id="27" name="AutoShape 27"/>
            <p:cNvSpPr>
              <a:spLocks noChangeArrowheads="1"/>
            </p:cNvSpPr>
            <p:nvPr/>
          </p:nvSpPr>
          <p:spPr bwMode="auto">
            <a:xfrm>
              <a:off x="5975" y="3726"/>
              <a:ext cx="336" cy="537"/>
            </a:xfrm>
            <a:prstGeom prst="can">
              <a:avLst>
                <a:gd name="adj" fmla="val 26908"/>
              </a:avLst>
            </a:prstGeom>
            <a:gradFill rotWithShape="1">
              <a:gsLst>
                <a:gs pos="0">
                  <a:schemeClr val="folHlink"/>
                </a:gs>
                <a:gs pos="50000">
                  <a:srgbClr val="D9C0CD"/>
                </a:gs>
                <a:gs pos="100000">
                  <a:schemeClr val="folHlink"/>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p>
              <a:pPr eaLnBrk="1" hangingPunct="1">
                <a:buFont typeface="Arial" panose="020B0604020202020204" pitchFamily="34" charset="0"/>
                <a:buNone/>
                <a:defRPr/>
              </a:pPr>
              <a:endParaRPr lang="zh-CN" altLang="en-US" sz="1350">
                <a:solidFill>
                  <a:prstClr val="black"/>
                </a:solidFill>
                <a:latin typeface="Calibri" panose="020F0502020204030204" pitchFamily="34" charset="0"/>
              </a:endParaRPr>
            </a:p>
          </p:txBody>
        </p:sp>
      </p:grpSp>
      <p:sp>
        <p:nvSpPr>
          <p:cNvPr id="194565" name="Text Box 9"/>
          <p:cNvSpPr txBox="1">
            <a:spLocks noChangeArrowheads="1"/>
          </p:cNvSpPr>
          <p:nvPr/>
        </p:nvSpPr>
        <p:spPr bwMode="auto">
          <a:xfrm>
            <a:off x="4787900" y="2368550"/>
            <a:ext cx="1614488"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a:spcBef>
                <a:spcPct val="50000"/>
              </a:spcBef>
              <a:buFont typeface="Arial" pitchFamily="34" charset="0"/>
              <a:buNone/>
            </a:pPr>
            <a:r>
              <a:rPr lang="en-US" altLang="zh-CN" sz="1500" b="1">
                <a:solidFill>
                  <a:srgbClr val="C00000"/>
                </a:solidFill>
              </a:rPr>
              <a:t>   </a:t>
            </a:r>
            <a:endParaRPr lang="zh-CN" altLang="zh-CN" sz="1500" b="1">
              <a:solidFill>
                <a:srgbClr val="C00000"/>
              </a:solidFill>
            </a:endParaRPr>
          </a:p>
        </p:txBody>
      </p:sp>
      <p:sp>
        <p:nvSpPr>
          <p:cNvPr id="194566" name="Text Box 8"/>
          <p:cNvSpPr txBox="1">
            <a:spLocks noChangeArrowheads="1"/>
          </p:cNvSpPr>
          <p:nvPr/>
        </p:nvSpPr>
        <p:spPr bwMode="auto">
          <a:xfrm>
            <a:off x="2311400" y="2363788"/>
            <a:ext cx="123983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a:spcBef>
                <a:spcPct val="50000"/>
              </a:spcBef>
              <a:buFont typeface="Arial" pitchFamily="34" charset="0"/>
              <a:buNone/>
            </a:pPr>
            <a:r>
              <a:rPr lang="zh-CN" altLang="zh-CN" sz="1500" b="1">
                <a:solidFill>
                  <a:srgbClr val="C00000"/>
                </a:solidFill>
              </a:rPr>
              <a:t>变量</a:t>
            </a:r>
            <a:r>
              <a:rPr lang="zh-CN" altLang="en-US" sz="1500" b="1">
                <a:solidFill>
                  <a:srgbClr val="C00000"/>
                </a:solidFill>
              </a:rPr>
              <a:t>的值</a:t>
            </a:r>
            <a:endParaRPr lang="zh-CN" altLang="zh-CN" sz="1500" b="1">
              <a:solidFill>
                <a:srgbClr val="C00000"/>
              </a:solidFill>
            </a:endParaRPr>
          </a:p>
          <a:p>
            <a:pPr>
              <a:spcBef>
                <a:spcPct val="50000"/>
              </a:spcBef>
              <a:buFont typeface="Arial" pitchFamily="34" charset="0"/>
              <a:buNone/>
            </a:pPr>
            <a:r>
              <a:rPr lang="en-US" altLang="zh-CN" sz="1500" b="1">
                <a:solidFill>
                  <a:srgbClr val="C00000"/>
                </a:solidFill>
              </a:rPr>
              <a:t> </a:t>
            </a:r>
          </a:p>
        </p:txBody>
      </p:sp>
      <p:sp>
        <p:nvSpPr>
          <p:cNvPr id="194567" name="Text Box 13"/>
          <p:cNvSpPr txBox="1">
            <a:spLocks noChangeArrowheads="1"/>
          </p:cNvSpPr>
          <p:nvPr/>
        </p:nvSpPr>
        <p:spPr bwMode="auto">
          <a:xfrm>
            <a:off x="609600" y="4205288"/>
            <a:ext cx="13081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spcBef>
                <a:spcPct val="50000"/>
              </a:spcBef>
              <a:buFont typeface="Arial" pitchFamily="34" charset="0"/>
              <a:buNone/>
            </a:pPr>
            <a:r>
              <a:rPr lang="zh-CN" altLang="en-US" sz="1500" b="1">
                <a:solidFill>
                  <a:srgbClr val="002060"/>
                </a:solidFill>
              </a:rPr>
              <a:t> </a:t>
            </a:r>
            <a:r>
              <a:rPr lang="en-US" altLang="zh-CN" sz="1500" b="1">
                <a:solidFill>
                  <a:srgbClr val="002060"/>
                </a:solidFill>
              </a:rPr>
              <a:t> </a:t>
            </a:r>
            <a:r>
              <a:rPr lang="zh-CN" altLang="en-US" sz="1500" b="1">
                <a:solidFill>
                  <a:srgbClr val="002060"/>
                </a:solidFill>
              </a:rPr>
              <a:t>从键盘输入两个字符串</a:t>
            </a:r>
            <a:endParaRPr lang="en-US" altLang="zh-CN" sz="1500" b="1">
              <a:solidFill>
                <a:srgbClr val="002060"/>
              </a:solidFill>
            </a:endParaRPr>
          </a:p>
        </p:txBody>
      </p:sp>
      <p:sp>
        <p:nvSpPr>
          <p:cNvPr id="194568" name="文本框 1"/>
          <p:cNvSpPr txBox="1">
            <a:spLocks noChangeArrowheads="1"/>
          </p:cNvSpPr>
          <p:nvPr/>
        </p:nvSpPr>
        <p:spPr bwMode="auto">
          <a:xfrm>
            <a:off x="155575" y="1422400"/>
            <a:ext cx="7770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buFont typeface="Arial" pitchFamily="34" charset="0"/>
              <a:buNone/>
            </a:pPr>
            <a:r>
              <a:rPr lang="zh-CN" altLang="en-US" sz="1800">
                <a:solidFill>
                  <a:srgbClr val="002060"/>
                </a:solidFill>
                <a:latin typeface="微软雅黑" pitchFamily="34" charset="-122"/>
                <a:ea typeface="微软雅黑" pitchFamily="34" charset="-122"/>
                <a:sym typeface="宋体" pitchFamily="2" charset="-122"/>
              </a:rPr>
              <a:t>题目：从键盘输入两个字符串，从第一个串中删除第二个串中的字符后输出，例如：输入第一个</a:t>
            </a:r>
            <a:r>
              <a:rPr lang="en-US" altLang="zh-CN" sz="1800">
                <a:solidFill>
                  <a:srgbClr val="002060"/>
                </a:solidFill>
                <a:latin typeface="微软雅黑" pitchFamily="34" charset="-122"/>
                <a:ea typeface="微软雅黑" pitchFamily="34" charset="-122"/>
                <a:sym typeface="宋体" pitchFamily="2" charset="-122"/>
              </a:rPr>
              <a:t>113245,  </a:t>
            </a:r>
            <a:r>
              <a:rPr lang="zh-CN" altLang="en-US" sz="1800">
                <a:solidFill>
                  <a:srgbClr val="002060"/>
                </a:solidFill>
                <a:latin typeface="微软雅黑" pitchFamily="34" charset="-122"/>
                <a:ea typeface="微软雅黑" pitchFamily="34" charset="-122"/>
                <a:sym typeface="宋体" pitchFamily="2" charset="-122"/>
              </a:rPr>
              <a:t>第二个</a:t>
            </a:r>
            <a:r>
              <a:rPr lang="en-US" altLang="zh-CN" sz="1800">
                <a:solidFill>
                  <a:srgbClr val="002060"/>
                </a:solidFill>
                <a:latin typeface="微软雅黑" pitchFamily="34" charset="-122"/>
                <a:ea typeface="微软雅黑" pitchFamily="34" charset="-122"/>
                <a:sym typeface="宋体" pitchFamily="2" charset="-122"/>
              </a:rPr>
              <a:t>2367   </a:t>
            </a:r>
            <a:r>
              <a:rPr lang="zh-CN" altLang="en-US" sz="1800">
                <a:solidFill>
                  <a:srgbClr val="002060"/>
                </a:solidFill>
                <a:latin typeface="微软雅黑" pitchFamily="34" charset="-122"/>
                <a:ea typeface="微软雅黑" pitchFamily="34" charset="-122"/>
                <a:sym typeface="宋体" pitchFamily="2" charset="-122"/>
              </a:rPr>
              <a:t>输出：</a:t>
            </a:r>
            <a:r>
              <a:rPr lang="en-US" altLang="zh-CN" sz="1800">
                <a:solidFill>
                  <a:srgbClr val="002060"/>
                </a:solidFill>
                <a:latin typeface="微软雅黑" pitchFamily="34" charset="-122"/>
                <a:ea typeface="微软雅黑" pitchFamily="34" charset="-122"/>
                <a:sym typeface="宋体" pitchFamily="2" charset="-122"/>
              </a:rPr>
              <a:t>1145</a:t>
            </a:r>
          </a:p>
        </p:txBody>
      </p:sp>
      <p:sp>
        <p:nvSpPr>
          <p:cNvPr id="194569" name="Text Box 9"/>
          <p:cNvSpPr txBox="1">
            <a:spLocks noChangeArrowheads="1"/>
          </p:cNvSpPr>
          <p:nvPr/>
        </p:nvSpPr>
        <p:spPr bwMode="auto">
          <a:xfrm>
            <a:off x="4837113" y="2322513"/>
            <a:ext cx="144145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a:spcBef>
                <a:spcPct val="50000"/>
              </a:spcBef>
              <a:buFont typeface="Arial" pitchFamily="34" charset="0"/>
              <a:buNone/>
            </a:pPr>
            <a:r>
              <a:rPr lang="en-US" altLang="zh-CN" sz="1500" b="1">
                <a:solidFill>
                  <a:srgbClr val="C00000"/>
                </a:solidFill>
              </a:rPr>
              <a:t> </a:t>
            </a:r>
            <a:r>
              <a:rPr lang="zh-CN" altLang="en-US" sz="1500" b="1">
                <a:solidFill>
                  <a:srgbClr val="C00000"/>
                </a:solidFill>
              </a:rPr>
              <a:t>对第一个数组的操作 </a:t>
            </a:r>
            <a:endParaRPr lang="zh-CN" altLang="zh-CN" sz="1500" b="1">
              <a:solidFill>
                <a:srgbClr val="C00000"/>
              </a:solidFill>
            </a:endParaRPr>
          </a:p>
        </p:txBody>
      </p:sp>
      <p:sp>
        <p:nvSpPr>
          <p:cNvPr id="194570" name="Text Box 13"/>
          <p:cNvSpPr txBox="1">
            <a:spLocks noChangeArrowheads="1"/>
          </p:cNvSpPr>
          <p:nvPr/>
        </p:nvSpPr>
        <p:spPr bwMode="auto">
          <a:xfrm>
            <a:off x="2246313" y="4495800"/>
            <a:ext cx="13081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itchFamily="34" charset="0"/>
                <a:ea typeface="宋体" pitchFamily="2" charset="-122"/>
              </a:defRPr>
            </a:lvl1pPr>
            <a:lvl2pPr marL="742950" indent="-285750">
              <a:defRPr sz="3200">
                <a:solidFill>
                  <a:schemeClr val="tx1"/>
                </a:solidFill>
                <a:latin typeface="Arial" pitchFamily="34" charset="0"/>
                <a:ea typeface="宋体" pitchFamily="2" charset="-122"/>
              </a:defRPr>
            </a:lvl2pPr>
            <a:lvl3pPr marL="1143000" indent="-228600">
              <a:defRPr sz="3200">
                <a:solidFill>
                  <a:schemeClr val="tx1"/>
                </a:solidFill>
                <a:latin typeface="Arial" pitchFamily="34" charset="0"/>
                <a:ea typeface="宋体" pitchFamily="2" charset="-122"/>
              </a:defRPr>
            </a:lvl3pPr>
            <a:lvl4pPr marL="1600200" indent="-228600">
              <a:defRPr sz="3200">
                <a:solidFill>
                  <a:schemeClr val="tx1"/>
                </a:solidFill>
                <a:latin typeface="Arial" pitchFamily="34" charset="0"/>
                <a:ea typeface="宋体" pitchFamily="2" charset="-122"/>
              </a:defRPr>
            </a:lvl4pPr>
            <a:lvl5pPr marL="2057400" indent="-228600">
              <a:defRPr sz="32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32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32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32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3200">
                <a:solidFill>
                  <a:schemeClr val="tx1"/>
                </a:solidFill>
                <a:latin typeface="Arial" pitchFamily="34" charset="0"/>
                <a:ea typeface="宋体" pitchFamily="2" charset="-122"/>
              </a:defRPr>
            </a:lvl9pPr>
          </a:lstStyle>
          <a:p>
            <a:pPr eaLnBrk="1" hangingPunct="1">
              <a:spcBef>
                <a:spcPct val="50000"/>
              </a:spcBef>
              <a:buFont typeface="Arial" pitchFamily="34" charset="0"/>
              <a:buNone/>
            </a:pPr>
            <a:r>
              <a:rPr lang="zh-CN" altLang="en-US" sz="1500" b="1">
                <a:solidFill>
                  <a:srgbClr val="002060"/>
                </a:solidFill>
              </a:rPr>
              <a:t> </a:t>
            </a:r>
            <a:r>
              <a:rPr lang="en-US" altLang="zh-CN" sz="1500" b="1">
                <a:solidFill>
                  <a:srgbClr val="002060"/>
                </a:solidFill>
              </a:rPr>
              <a:t> </a:t>
            </a:r>
            <a:r>
              <a:rPr lang="zh-CN" altLang="en-US" sz="1500" b="1">
                <a:solidFill>
                  <a:srgbClr val="002060"/>
                </a:solidFill>
              </a:rPr>
              <a:t>判断</a:t>
            </a:r>
            <a:r>
              <a:rPr lang="en-US" altLang="zh-CN" sz="1500" b="1">
                <a:solidFill>
                  <a:srgbClr val="002060"/>
                </a:solidFill>
              </a:rPr>
              <a:t>s[i]</a:t>
            </a:r>
            <a:r>
              <a:rPr lang="zh-CN" altLang="en-US" sz="1500" b="1">
                <a:solidFill>
                  <a:srgbClr val="002060"/>
                </a:solidFill>
              </a:rPr>
              <a:t>与</a:t>
            </a:r>
            <a:r>
              <a:rPr lang="en-US" altLang="zh-CN" sz="1500" b="1">
                <a:solidFill>
                  <a:srgbClr val="002060"/>
                </a:solidFill>
              </a:rPr>
              <a:t>t[j]</a:t>
            </a:r>
            <a:r>
              <a:rPr lang="zh-CN" altLang="en-US" sz="1500" b="1">
                <a:solidFill>
                  <a:srgbClr val="002060"/>
                </a:solidFill>
              </a:rPr>
              <a:t>是否相等</a:t>
            </a:r>
            <a:endParaRPr lang="en-US" altLang="zh-CN" sz="1500" b="1">
              <a:solidFill>
                <a:srgbClr val="002060"/>
              </a:solidFill>
            </a:endParaRPr>
          </a:p>
        </p:txBody>
      </p:sp>
      <p:sp>
        <p:nvSpPr>
          <p:cNvPr id="34" name="文本框 7"/>
          <p:cNvSpPr txBox="1">
            <a:spLocks noChangeArrowheads="1"/>
          </p:cNvSpPr>
          <p:nvPr/>
        </p:nvSpPr>
        <p:spPr bwMode="auto">
          <a:xfrm>
            <a:off x="10886" y="609600"/>
            <a:ext cx="25298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pPr>
            <a:r>
              <a:rPr lang="zh-CN" altLang="en-US" sz="2800" b="1" dirty="0">
                <a:solidFill>
                  <a:srgbClr val="C00000"/>
                </a:solidFill>
                <a:latin typeface="幼圆" pitchFamily="49" charset="-122"/>
                <a:ea typeface="幼圆" pitchFamily="49" charset="-122"/>
                <a:sym typeface="宋体" pitchFamily="2" charset="-122"/>
              </a:rPr>
              <a:t>编程题目总结 </a:t>
            </a:r>
          </a:p>
        </p:txBody>
      </p:sp>
    </p:spTree>
    <p:extLst>
      <p:ext uri="{BB962C8B-B14F-4D97-AF65-F5344CB8AC3E}">
        <p14:creationId xmlns:p14="http://schemas.microsoft.com/office/powerpoint/2010/main" val="140337931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矩形 1"/>
          <p:cNvSpPr>
            <a:spLocks noChangeArrowheads="1"/>
          </p:cNvSpPr>
          <p:nvPr/>
        </p:nvSpPr>
        <p:spPr bwMode="auto">
          <a:xfrm>
            <a:off x="0" y="1374775"/>
            <a:ext cx="4572000" cy="477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Arial" pitchFamily="34" charset="0"/>
              <a:buNone/>
            </a:pPr>
            <a:r>
              <a:rPr lang="en-US" altLang="zh-CN" sz="1600">
                <a:solidFill>
                  <a:srgbClr val="002060"/>
                </a:solidFill>
                <a:latin typeface="Calibri" pitchFamily="34" charset="0"/>
              </a:rPr>
              <a:t> </a:t>
            </a:r>
            <a:r>
              <a:rPr lang="zh-CN" altLang="en-US" sz="1600">
                <a:solidFill>
                  <a:srgbClr val="002060"/>
                </a:solidFill>
                <a:latin typeface="Calibri" pitchFamily="34" charset="0"/>
              </a:rPr>
              <a:t>程序</a:t>
            </a:r>
            <a:r>
              <a:rPr lang="en-US" altLang="zh-CN" sz="1600">
                <a:solidFill>
                  <a:srgbClr val="002060"/>
                </a:solidFill>
                <a:latin typeface="Calibri" pitchFamily="34" charset="0"/>
              </a:rPr>
              <a:t>1:</a:t>
            </a:r>
          </a:p>
          <a:p>
            <a:pPr eaLnBrk="1" hangingPunct="1">
              <a:buFont typeface="Arial" pitchFamily="34" charset="0"/>
              <a:buNone/>
            </a:pPr>
            <a:r>
              <a:rPr lang="en-US" altLang="zh-CN" sz="1600">
                <a:solidFill>
                  <a:srgbClr val="002060"/>
                </a:solidFill>
                <a:latin typeface="Calibri" pitchFamily="34" charset="0"/>
              </a:rPr>
              <a:t>   #include&lt;stdio.h&gt;    </a:t>
            </a:r>
          </a:p>
          <a:p>
            <a:pPr eaLnBrk="1" hangingPunct="1">
              <a:buFont typeface="Arial" pitchFamily="34" charset="0"/>
              <a:buNone/>
            </a:pPr>
            <a:r>
              <a:rPr lang="en-US" altLang="zh-CN" sz="1600">
                <a:solidFill>
                  <a:srgbClr val="002060"/>
                </a:solidFill>
                <a:latin typeface="Calibri" pitchFamily="34" charset="0"/>
              </a:rPr>
              <a:t>    #include&lt;string.h&gt;    </a:t>
            </a:r>
          </a:p>
          <a:p>
            <a:pPr eaLnBrk="1" hangingPunct="1">
              <a:buFont typeface="Arial" pitchFamily="34" charset="0"/>
              <a:buNone/>
            </a:pPr>
            <a:r>
              <a:rPr lang="en-US" altLang="zh-CN" sz="1600">
                <a:solidFill>
                  <a:srgbClr val="002060"/>
                </a:solidFill>
                <a:latin typeface="Calibri" pitchFamily="34" charset="0"/>
              </a:rPr>
              <a:t>    int main()    </a:t>
            </a:r>
          </a:p>
          <a:p>
            <a:pPr eaLnBrk="1" hangingPunct="1">
              <a:buFont typeface="Arial" pitchFamily="34" charset="0"/>
              <a:buNone/>
            </a:pPr>
            <a:r>
              <a:rPr lang="en-US" altLang="zh-CN" sz="1600">
                <a:solidFill>
                  <a:srgbClr val="002060"/>
                </a:solidFill>
                <a:latin typeface="Calibri" pitchFamily="34" charset="0"/>
              </a:rPr>
              <a:t>    { char s1[80],s2[80];    </a:t>
            </a:r>
          </a:p>
          <a:p>
            <a:pPr eaLnBrk="1" hangingPunct="1">
              <a:buFont typeface="Arial" pitchFamily="34" charset="0"/>
              <a:buNone/>
            </a:pPr>
            <a:r>
              <a:rPr lang="en-US" altLang="zh-CN" sz="1600">
                <a:solidFill>
                  <a:srgbClr val="002060"/>
                </a:solidFill>
                <a:latin typeface="Calibri" pitchFamily="34" charset="0"/>
              </a:rPr>
              <a:t>    int i,j,s,p,k=0;    </a:t>
            </a:r>
          </a:p>
          <a:p>
            <a:pPr eaLnBrk="1" hangingPunct="1">
              <a:buFont typeface="Arial" pitchFamily="34" charset="0"/>
              <a:buNone/>
            </a:pPr>
            <a:r>
              <a:rPr lang="en-US" altLang="zh-CN" sz="1600">
                <a:solidFill>
                  <a:srgbClr val="002060"/>
                </a:solidFill>
                <a:latin typeface="Calibri" pitchFamily="34" charset="0"/>
              </a:rPr>
              <a:t>    gets(s1);    </a:t>
            </a:r>
          </a:p>
          <a:p>
            <a:pPr eaLnBrk="1" hangingPunct="1">
              <a:buFont typeface="Arial" pitchFamily="34" charset="0"/>
              <a:buNone/>
            </a:pPr>
            <a:r>
              <a:rPr lang="en-US" altLang="zh-CN" sz="1600">
                <a:solidFill>
                  <a:srgbClr val="002060"/>
                </a:solidFill>
                <a:latin typeface="Calibri" pitchFamily="34" charset="0"/>
              </a:rPr>
              <a:t>    gets(s2);    </a:t>
            </a:r>
          </a:p>
          <a:p>
            <a:pPr eaLnBrk="1" hangingPunct="1">
              <a:buFont typeface="Arial" pitchFamily="34" charset="0"/>
              <a:buNone/>
            </a:pPr>
            <a:r>
              <a:rPr lang="en-US" altLang="zh-CN" sz="1600">
                <a:solidFill>
                  <a:srgbClr val="002060"/>
                </a:solidFill>
                <a:latin typeface="Calibri" pitchFamily="34" charset="0"/>
              </a:rPr>
              <a:t>    s=strlen(s1);    </a:t>
            </a:r>
          </a:p>
          <a:p>
            <a:pPr eaLnBrk="1" hangingPunct="1">
              <a:buFont typeface="Arial" pitchFamily="34" charset="0"/>
              <a:buNone/>
            </a:pPr>
            <a:r>
              <a:rPr lang="en-US" altLang="zh-CN" sz="1600">
                <a:solidFill>
                  <a:srgbClr val="002060"/>
                </a:solidFill>
                <a:latin typeface="Calibri" pitchFamily="34" charset="0"/>
              </a:rPr>
              <a:t>    p=strlen(s2);    </a:t>
            </a:r>
          </a:p>
          <a:p>
            <a:pPr eaLnBrk="1" hangingPunct="1">
              <a:buFont typeface="Arial" pitchFamily="34" charset="0"/>
              <a:buNone/>
            </a:pPr>
            <a:r>
              <a:rPr lang="en-US" altLang="zh-CN" sz="1600">
                <a:solidFill>
                  <a:srgbClr val="002060"/>
                </a:solidFill>
                <a:latin typeface="Calibri" pitchFamily="34" charset="0"/>
              </a:rPr>
              <a:t>    for(i=0;i&lt;=s-1;i++)    </a:t>
            </a:r>
          </a:p>
          <a:p>
            <a:pPr eaLnBrk="1" hangingPunct="1">
              <a:buFont typeface="Arial" pitchFamily="34" charset="0"/>
              <a:buNone/>
            </a:pPr>
            <a:r>
              <a:rPr lang="en-US" altLang="zh-CN" sz="1600">
                <a:solidFill>
                  <a:srgbClr val="002060"/>
                </a:solidFill>
                <a:latin typeface="Calibri" pitchFamily="34" charset="0"/>
              </a:rPr>
              <a:t>    </a:t>
            </a:r>
            <a:r>
              <a:rPr lang="en-US" altLang="zh-CN" sz="1600" b="1">
                <a:solidFill>
                  <a:srgbClr val="C00000"/>
                </a:solidFill>
                <a:latin typeface="Calibri" pitchFamily="34" charset="0"/>
              </a:rPr>
              <a:t>{  for(j=0;j&lt;=p-1;j++)    </a:t>
            </a:r>
          </a:p>
          <a:p>
            <a:pPr eaLnBrk="1" hangingPunct="1">
              <a:buFont typeface="Arial" pitchFamily="34" charset="0"/>
              <a:buNone/>
            </a:pPr>
            <a:r>
              <a:rPr lang="en-US" altLang="zh-CN" sz="1600" b="1">
                <a:solidFill>
                  <a:srgbClr val="C00000"/>
                </a:solidFill>
                <a:latin typeface="Calibri" pitchFamily="34" charset="0"/>
              </a:rPr>
              <a:t>           {   if(s1[i]==s2[j]) k++;    </a:t>
            </a:r>
          </a:p>
          <a:p>
            <a:pPr eaLnBrk="1" hangingPunct="1">
              <a:buFont typeface="Arial" pitchFamily="34" charset="0"/>
              <a:buNone/>
            </a:pPr>
            <a:r>
              <a:rPr lang="en-US" altLang="zh-CN" sz="1600" b="1">
                <a:solidFill>
                  <a:srgbClr val="C00000"/>
                </a:solidFill>
                <a:latin typeface="Calibri" pitchFamily="34" charset="0"/>
              </a:rPr>
              <a:t>               }    </a:t>
            </a:r>
          </a:p>
          <a:p>
            <a:pPr eaLnBrk="1" hangingPunct="1">
              <a:buFont typeface="Arial" pitchFamily="34" charset="0"/>
              <a:buNone/>
            </a:pPr>
            <a:r>
              <a:rPr lang="en-US" altLang="zh-CN" sz="1600" b="1">
                <a:solidFill>
                  <a:srgbClr val="C00000"/>
                </a:solidFill>
                <a:latin typeface="Calibri" pitchFamily="34" charset="0"/>
              </a:rPr>
              <a:t>     if(k==0) {     printf("%c",s1[i]);     }    </a:t>
            </a:r>
          </a:p>
          <a:p>
            <a:pPr eaLnBrk="1" hangingPunct="1">
              <a:buFont typeface="Arial" pitchFamily="34" charset="0"/>
              <a:buNone/>
            </a:pPr>
            <a:r>
              <a:rPr lang="en-US" altLang="zh-CN" sz="1600" b="1">
                <a:solidFill>
                  <a:srgbClr val="C00000"/>
                </a:solidFill>
                <a:latin typeface="Calibri" pitchFamily="34" charset="0"/>
              </a:rPr>
              <a:t>    k=0;    </a:t>
            </a:r>
          </a:p>
          <a:p>
            <a:pPr eaLnBrk="1" hangingPunct="1">
              <a:buFont typeface="Arial" pitchFamily="34" charset="0"/>
              <a:buNone/>
            </a:pPr>
            <a:r>
              <a:rPr lang="en-US" altLang="zh-CN" sz="1600">
                <a:solidFill>
                  <a:srgbClr val="002060"/>
                </a:solidFill>
                <a:latin typeface="Calibri" pitchFamily="34" charset="0"/>
              </a:rPr>
              <a:t>    }    </a:t>
            </a:r>
          </a:p>
          <a:p>
            <a:pPr eaLnBrk="1" hangingPunct="1">
              <a:buFont typeface="Arial" pitchFamily="34" charset="0"/>
              <a:buNone/>
            </a:pPr>
            <a:r>
              <a:rPr lang="en-US" altLang="zh-CN" sz="1600">
                <a:solidFill>
                  <a:srgbClr val="002060"/>
                </a:solidFill>
                <a:latin typeface="Calibri" pitchFamily="34" charset="0"/>
              </a:rPr>
              <a:t>    printf("\n");     </a:t>
            </a:r>
          </a:p>
          <a:p>
            <a:pPr eaLnBrk="1" hangingPunct="1">
              <a:buFont typeface="Arial" pitchFamily="34" charset="0"/>
              <a:buNone/>
            </a:pPr>
            <a:r>
              <a:rPr lang="en-US" altLang="zh-CN" sz="1600">
                <a:solidFill>
                  <a:srgbClr val="002060"/>
                </a:solidFill>
                <a:latin typeface="Calibri" pitchFamily="34" charset="0"/>
              </a:rPr>
              <a:t>    }  </a:t>
            </a:r>
          </a:p>
        </p:txBody>
      </p:sp>
      <p:sp>
        <p:nvSpPr>
          <p:cNvPr id="196611" name="矩形 2"/>
          <p:cNvSpPr>
            <a:spLocks noChangeArrowheads="1"/>
          </p:cNvSpPr>
          <p:nvPr/>
        </p:nvSpPr>
        <p:spPr bwMode="auto">
          <a:xfrm>
            <a:off x="3352800" y="1436688"/>
            <a:ext cx="4572000"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Arial" pitchFamily="34" charset="0"/>
              <a:buNone/>
            </a:pPr>
            <a:r>
              <a:rPr lang="zh-CN" altLang="en-US" sz="1600">
                <a:solidFill>
                  <a:srgbClr val="002060"/>
                </a:solidFill>
                <a:latin typeface="Calibri" pitchFamily="34" charset="0"/>
              </a:rPr>
              <a:t>程序</a:t>
            </a:r>
            <a:r>
              <a:rPr lang="en-US" altLang="zh-CN" sz="1600">
                <a:solidFill>
                  <a:srgbClr val="002060"/>
                </a:solidFill>
                <a:latin typeface="Calibri" pitchFamily="34" charset="0"/>
              </a:rPr>
              <a:t>2</a:t>
            </a:r>
            <a:r>
              <a:rPr lang="zh-CN" altLang="en-US" sz="1600">
                <a:solidFill>
                  <a:srgbClr val="002060"/>
                </a:solidFill>
                <a:latin typeface="Calibri" pitchFamily="34" charset="0"/>
              </a:rPr>
              <a:t>：</a:t>
            </a:r>
            <a:endParaRPr lang="en-US" altLang="zh-CN" sz="1600">
              <a:solidFill>
                <a:srgbClr val="002060"/>
              </a:solidFill>
              <a:latin typeface="Calibri" pitchFamily="34" charset="0"/>
            </a:endParaRPr>
          </a:p>
          <a:p>
            <a:pPr eaLnBrk="1" hangingPunct="1">
              <a:buFont typeface="Arial" pitchFamily="34" charset="0"/>
              <a:buNone/>
            </a:pPr>
            <a:r>
              <a:rPr lang="en-US" altLang="zh-CN" sz="1600">
                <a:solidFill>
                  <a:srgbClr val="002060"/>
                </a:solidFill>
                <a:latin typeface="Calibri" pitchFamily="34" charset="0"/>
              </a:rPr>
              <a:t>#include "stdio.h"  </a:t>
            </a:r>
          </a:p>
          <a:p>
            <a:pPr eaLnBrk="1" hangingPunct="1">
              <a:buFont typeface="Arial" pitchFamily="34" charset="0"/>
              <a:buNone/>
            </a:pPr>
            <a:r>
              <a:rPr lang="en-US" altLang="zh-CN" sz="1600">
                <a:solidFill>
                  <a:srgbClr val="002060"/>
                </a:solidFill>
                <a:latin typeface="Calibri" pitchFamily="34" charset="0"/>
              </a:rPr>
              <a:t>int main()  </a:t>
            </a:r>
          </a:p>
          <a:p>
            <a:pPr eaLnBrk="1" hangingPunct="1">
              <a:buFont typeface="Arial" pitchFamily="34" charset="0"/>
              <a:buNone/>
            </a:pPr>
            <a:r>
              <a:rPr lang="en-US" altLang="zh-CN" sz="1600">
                <a:solidFill>
                  <a:srgbClr val="002060"/>
                </a:solidFill>
                <a:latin typeface="Calibri" pitchFamily="34" charset="0"/>
              </a:rPr>
              <a:t>{     char s[80],t[80],u[80],*p1=s,*p2=t,*p3=u;  </a:t>
            </a:r>
          </a:p>
          <a:p>
            <a:pPr eaLnBrk="1" hangingPunct="1">
              <a:buFont typeface="Arial" pitchFamily="34" charset="0"/>
              <a:buNone/>
            </a:pPr>
            <a:r>
              <a:rPr lang="en-US" altLang="zh-CN" sz="1600">
                <a:solidFill>
                  <a:srgbClr val="002060"/>
                </a:solidFill>
                <a:latin typeface="Calibri" pitchFamily="34" charset="0"/>
              </a:rPr>
              <a:t>    gets(s);  </a:t>
            </a:r>
          </a:p>
          <a:p>
            <a:pPr eaLnBrk="1" hangingPunct="1">
              <a:buFont typeface="Arial" pitchFamily="34" charset="0"/>
              <a:buNone/>
            </a:pPr>
            <a:r>
              <a:rPr lang="en-US" altLang="zh-CN" sz="1600">
                <a:solidFill>
                  <a:srgbClr val="002060"/>
                </a:solidFill>
                <a:latin typeface="Calibri" pitchFamily="34" charset="0"/>
              </a:rPr>
              <a:t>    gets(t);  </a:t>
            </a:r>
          </a:p>
          <a:p>
            <a:pPr eaLnBrk="1" hangingPunct="1">
              <a:buFont typeface="Arial" pitchFamily="34" charset="0"/>
              <a:buNone/>
            </a:pPr>
            <a:r>
              <a:rPr lang="en-US" altLang="zh-CN" sz="1600">
                <a:solidFill>
                  <a:srgbClr val="002060"/>
                </a:solidFill>
                <a:latin typeface="Calibri" pitchFamily="34" charset="0"/>
              </a:rPr>
              <a:t>     while(*p1)  </a:t>
            </a:r>
          </a:p>
          <a:p>
            <a:pPr eaLnBrk="1" hangingPunct="1">
              <a:buFont typeface="Arial" pitchFamily="34" charset="0"/>
              <a:buNone/>
            </a:pPr>
            <a:r>
              <a:rPr lang="en-US" altLang="zh-CN" sz="1600">
                <a:solidFill>
                  <a:srgbClr val="002060"/>
                </a:solidFill>
                <a:latin typeface="Calibri" pitchFamily="34" charset="0"/>
              </a:rPr>
              <a:t>    {     </a:t>
            </a:r>
          </a:p>
          <a:p>
            <a:pPr eaLnBrk="1" hangingPunct="1">
              <a:buFont typeface="Arial" pitchFamily="34" charset="0"/>
              <a:buNone/>
            </a:pPr>
            <a:r>
              <a:rPr lang="en-US" altLang="zh-CN" sz="1600">
                <a:solidFill>
                  <a:srgbClr val="002060"/>
                </a:solidFill>
                <a:latin typeface="Calibri" pitchFamily="34" charset="0"/>
              </a:rPr>
              <a:t>       </a:t>
            </a:r>
            <a:r>
              <a:rPr lang="en-US" altLang="zh-CN" sz="1600">
                <a:solidFill>
                  <a:srgbClr val="C00000"/>
                </a:solidFill>
                <a:latin typeface="Calibri" pitchFamily="34" charset="0"/>
              </a:rPr>
              <a:t>   while(*p1!=*p2&amp;&amp;*p2)  </a:t>
            </a:r>
          </a:p>
          <a:p>
            <a:pPr eaLnBrk="1" hangingPunct="1">
              <a:buFont typeface="Arial" pitchFamily="34" charset="0"/>
              <a:buNone/>
            </a:pPr>
            <a:r>
              <a:rPr lang="en-US" altLang="zh-CN" sz="1600">
                <a:solidFill>
                  <a:srgbClr val="C00000"/>
                </a:solidFill>
                <a:latin typeface="Calibri" pitchFamily="34" charset="0"/>
              </a:rPr>
              <a:t>                   p2++;  </a:t>
            </a:r>
          </a:p>
          <a:p>
            <a:pPr eaLnBrk="1" hangingPunct="1">
              <a:buFont typeface="Arial" pitchFamily="34" charset="0"/>
              <a:buNone/>
            </a:pPr>
            <a:r>
              <a:rPr lang="en-US" altLang="zh-CN" sz="1600">
                <a:solidFill>
                  <a:srgbClr val="002060"/>
                </a:solidFill>
                <a:latin typeface="Calibri" pitchFamily="34" charset="0"/>
              </a:rPr>
              <a:t>               if(!*p2)  </a:t>
            </a:r>
          </a:p>
          <a:p>
            <a:pPr eaLnBrk="1" hangingPunct="1">
              <a:buFont typeface="Arial" pitchFamily="34" charset="0"/>
              <a:buNone/>
            </a:pPr>
            <a:r>
              <a:rPr lang="en-US" altLang="zh-CN" sz="1600">
                <a:solidFill>
                  <a:srgbClr val="002060"/>
                </a:solidFill>
                <a:latin typeface="Calibri" pitchFamily="34" charset="0"/>
              </a:rPr>
              <a:t>                     *p3++=*p1++;  </a:t>
            </a:r>
          </a:p>
          <a:p>
            <a:pPr eaLnBrk="1" hangingPunct="1">
              <a:buFont typeface="Arial" pitchFamily="34" charset="0"/>
              <a:buNone/>
            </a:pPr>
            <a:r>
              <a:rPr lang="en-US" altLang="zh-CN" sz="1600">
                <a:solidFill>
                  <a:srgbClr val="002060"/>
                </a:solidFill>
                <a:latin typeface="Calibri" pitchFamily="34" charset="0"/>
              </a:rPr>
              <a:t>              else p1++;  </a:t>
            </a:r>
          </a:p>
          <a:p>
            <a:pPr eaLnBrk="1" hangingPunct="1">
              <a:buFont typeface="Arial" pitchFamily="34" charset="0"/>
              <a:buNone/>
            </a:pPr>
            <a:r>
              <a:rPr lang="en-US" altLang="zh-CN" sz="1600">
                <a:solidFill>
                  <a:srgbClr val="002060"/>
                </a:solidFill>
                <a:latin typeface="Calibri" pitchFamily="34" charset="0"/>
              </a:rPr>
              <a:t>      </a:t>
            </a:r>
            <a:r>
              <a:rPr lang="en-US" altLang="zh-CN" sz="1600">
                <a:solidFill>
                  <a:srgbClr val="C00000"/>
                </a:solidFill>
                <a:latin typeface="Calibri" pitchFamily="34" charset="0"/>
              </a:rPr>
              <a:t>  p2=t; </a:t>
            </a:r>
            <a:r>
              <a:rPr lang="en-US" altLang="zh-CN" sz="1600">
                <a:solidFill>
                  <a:srgbClr val="002060"/>
                </a:solidFill>
                <a:latin typeface="Calibri" pitchFamily="34" charset="0"/>
              </a:rPr>
              <a:t> </a:t>
            </a:r>
          </a:p>
          <a:p>
            <a:pPr eaLnBrk="1" hangingPunct="1">
              <a:buFont typeface="Arial" pitchFamily="34" charset="0"/>
              <a:buNone/>
            </a:pPr>
            <a:r>
              <a:rPr lang="en-US" altLang="zh-CN" sz="1600">
                <a:solidFill>
                  <a:srgbClr val="002060"/>
                </a:solidFill>
                <a:latin typeface="Calibri" pitchFamily="34" charset="0"/>
              </a:rPr>
              <a:t>    }  </a:t>
            </a:r>
          </a:p>
          <a:p>
            <a:pPr eaLnBrk="1" hangingPunct="1">
              <a:buFont typeface="Arial" pitchFamily="34" charset="0"/>
              <a:buNone/>
            </a:pPr>
            <a:r>
              <a:rPr lang="en-US" altLang="zh-CN" sz="1600">
                <a:solidFill>
                  <a:srgbClr val="002060"/>
                </a:solidFill>
                <a:latin typeface="Calibri" pitchFamily="34" charset="0"/>
              </a:rPr>
              <a:t>*p3='\0';  </a:t>
            </a:r>
          </a:p>
          <a:p>
            <a:pPr eaLnBrk="1" hangingPunct="1">
              <a:buFont typeface="Arial" pitchFamily="34" charset="0"/>
              <a:buNone/>
            </a:pPr>
            <a:r>
              <a:rPr lang="en-US" altLang="zh-CN" sz="1600">
                <a:solidFill>
                  <a:srgbClr val="002060"/>
                </a:solidFill>
                <a:latin typeface="Calibri" pitchFamily="34" charset="0"/>
              </a:rPr>
              <a:t>puts(u);  </a:t>
            </a:r>
          </a:p>
          <a:p>
            <a:pPr eaLnBrk="1" hangingPunct="1">
              <a:buFont typeface="Arial" pitchFamily="34" charset="0"/>
              <a:buNone/>
            </a:pPr>
            <a:r>
              <a:rPr lang="en-US" altLang="zh-CN" sz="1600">
                <a:solidFill>
                  <a:srgbClr val="002060"/>
                </a:solidFill>
                <a:latin typeface="Calibri" pitchFamily="34" charset="0"/>
              </a:rPr>
              <a:t>return 0;  </a:t>
            </a:r>
            <a:endParaRPr lang="zh-CN" altLang="zh-CN" sz="1600">
              <a:solidFill>
                <a:srgbClr val="000000"/>
              </a:solidFill>
              <a:latin typeface="Calibri" pitchFamily="34" charset="0"/>
            </a:endParaRPr>
          </a:p>
          <a:p>
            <a:pPr eaLnBrk="1" hangingPunct="1">
              <a:buFont typeface="Arial" pitchFamily="34" charset="0"/>
              <a:buNone/>
            </a:pPr>
            <a:endParaRPr lang="en-US" altLang="zh-CN" sz="1600">
              <a:solidFill>
                <a:srgbClr val="002060"/>
              </a:solidFill>
              <a:latin typeface="Calibri" pitchFamily="34" charset="0"/>
            </a:endParaRPr>
          </a:p>
          <a:p>
            <a:pPr eaLnBrk="1" hangingPunct="1">
              <a:buFont typeface="Arial" pitchFamily="34" charset="0"/>
              <a:buNone/>
            </a:pPr>
            <a:r>
              <a:rPr lang="en-US" altLang="zh-CN" sz="1600">
                <a:solidFill>
                  <a:srgbClr val="002060"/>
                </a:solidFill>
                <a:latin typeface="Calibri" pitchFamily="34" charset="0"/>
              </a:rPr>
              <a:t>}  </a:t>
            </a:r>
          </a:p>
        </p:txBody>
      </p:sp>
      <p:graphicFrame>
        <p:nvGraphicFramePr>
          <p:cNvPr id="6" name="表格 5"/>
          <p:cNvGraphicFramePr>
            <a:graphicFrameLocks noGrp="1"/>
          </p:cNvGraphicFramePr>
          <p:nvPr/>
        </p:nvGraphicFramePr>
        <p:xfrm>
          <a:off x="6334125" y="3175000"/>
          <a:ext cx="2693985" cy="1217890"/>
        </p:xfrm>
        <a:graphic>
          <a:graphicData uri="http://schemas.openxmlformats.org/drawingml/2006/table">
            <a:tbl>
              <a:tblPr firstRow="1" bandRow="1">
                <a:tableStyleId>{5C22544A-7EE6-4342-B048-85BDC9FD1C3A}</a:tableStyleId>
              </a:tblPr>
              <a:tblGrid>
                <a:gridCol w="384855">
                  <a:extLst>
                    <a:ext uri="{9D8B030D-6E8A-4147-A177-3AD203B41FA5}">
                      <a16:colId xmlns:a16="http://schemas.microsoft.com/office/drawing/2014/main" val="20000"/>
                    </a:ext>
                  </a:extLst>
                </a:gridCol>
                <a:gridCol w="384855">
                  <a:extLst>
                    <a:ext uri="{9D8B030D-6E8A-4147-A177-3AD203B41FA5}">
                      <a16:colId xmlns:a16="http://schemas.microsoft.com/office/drawing/2014/main" val="20001"/>
                    </a:ext>
                  </a:extLst>
                </a:gridCol>
                <a:gridCol w="384855">
                  <a:extLst>
                    <a:ext uri="{9D8B030D-6E8A-4147-A177-3AD203B41FA5}">
                      <a16:colId xmlns:a16="http://schemas.microsoft.com/office/drawing/2014/main" val="20002"/>
                    </a:ext>
                  </a:extLst>
                </a:gridCol>
                <a:gridCol w="384855">
                  <a:extLst>
                    <a:ext uri="{9D8B030D-6E8A-4147-A177-3AD203B41FA5}">
                      <a16:colId xmlns:a16="http://schemas.microsoft.com/office/drawing/2014/main" val="20003"/>
                    </a:ext>
                  </a:extLst>
                </a:gridCol>
                <a:gridCol w="384855">
                  <a:extLst>
                    <a:ext uri="{9D8B030D-6E8A-4147-A177-3AD203B41FA5}">
                      <a16:colId xmlns:a16="http://schemas.microsoft.com/office/drawing/2014/main" val="20004"/>
                    </a:ext>
                  </a:extLst>
                </a:gridCol>
                <a:gridCol w="384855">
                  <a:extLst>
                    <a:ext uri="{9D8B030D-6E8A-4147-A177-3AD203B41FA5}">
                      <a16:colId xmlns:a16="http://schemas.microsoft.com/office/drawing/2014/main" val="20005"/>
                    </a:ext>
                  </a:extLst>
                </a:gridCol>
                <a:gridCol w="384855">
                  <a:extLst>
                    <a:ext uri="{9D8B030D-6E8A-4147-A177-3AD203B41FA5}">
                      <a16:colId xmlns:a16="http://schemas.microsoft.com/office/drawing/2014/main" val="20006"/>
                    </a:ext>
                  </a:extLst>
                </a:gridCol>
              </a:tblGrid>
              <a:tr h="852488">
                <a:tc>
                  <a:txBody>
                    <a:bodyPr/>
                    <a:lstStyle/>
                    <a:p>
                      <a:r>
                        <a:rPr lang="en-US" altLang="zh-CN" sz="2400" dirty="0"/>
                        <a:t>1</a:t>
                      </a:r>
                      <a:endParaRPr lang="zh-CN" altLang="en-US" sz="2400" dirty="0"/>
                    </a:p>
                  </a:txBody>
                  <a:tcPr marL="68560" marR="68560" marT="60305" marB="60305"/>
                </a:tc>
                <a:tc>
                  <a:txBody>
                    <a:bodyPr/>
                    <a:lstStyle/>
                    <a:p>
                      <a:r>
                        <a:rPr lang="en-US" altLang="zh-CN" sz="2400" dirty="0"/>
                        <a:t>1</a:t>
                      </a:r>
                      <a:endParaRPr lang="zh-CN" altLang="en-US" sz="2400" dirty="0"/>
                    </a:p>
                  </a:txBody>
                  <a:tcPr marL="68560" marR="68560" marT="60305" marB="60305"/>
                </a:tc>
                <a:tc>
                  <a:txBody>
                    <a:bodyPr/>
                    <a:lstStyle/>
                    <a:p>
                      <a:r>
                        <a:rPr lang="en-US" altLang="zh-CN" sz="2400" dirty="0"/>
                        <a:t>3</a:t>
                      </a:r>
                      <a:endParaRPr lang="zh-CN" altLang="en-US" sz="2400" dirty="0"/>
                    </a:p>
                  </a:txBody>
                  <a:tcPr marL="68560" marR="68560" marT="60305" marB="60305"/>
                </a:tc>
                <a:tc>
                  <a:txBody>
                    <a:bodyPr/>
                    <a:lstStyle/>
                    <a:p>
                      <a:r>
                        <a:rPr lang="en-US" altLang="zh-CN" sz="2400" dirty="0"/>
                        <a:t>2</a:t>
                      </a:r>
                      <a:endParaRPr lang="zh-CN" altLang="en-US" sz="2400" dirty="0"/>
                    </a:p>
                  </a:txBody>
                  <a:tcPr marL="68560" marR="68560" marT="60305" marB="60305"/>
                </a:tc>
                <a:tc>
                  <a:txBody>
                    <a:bodyPr/>
                    <a:lstStyle/>
                    <a:p>
                      <a:r>
                        <a:rPr lang="en-US" altLang="zh-CN" sz="2400" dirty="0"/>
                        <a:t>4</a:t>
                      </a:r>
                      <a:endParaRPr lang="zh-CN" altLang="en-US" sz="2400" dirty="0"/>
                    </a:p>
                  </a:txBody>
                  <a:tcPr marL="68560" marR="68560" marT="60305" marB="60305"/>
                </a:tc>
                <a:tc>
                  <a:txBody>
                    <a:bodyPr/>
                    <a:lstStyle/>
                    <a:p>
                      <a:r>
                        <a:rPr lang="en-US" altLang="zh-CN" sz="2400" dirty="0"/>
                        <a:t>5</a:t>
                      </a:r>
                      <a:endParaRPr lang="zh-CN" altLang="en-US" sz="2400" dirty="0"/>
                    </a:p>
                  </a:txBody>
                  <a:tcPr marL="68560" marR="68560" marT="60305" marB="60305"/>
                </a:tc>
                <a:tc>
                  <a:txBody>
                    <a:bodyPr/>
                    <a:lstStyle/>
                    <a:p>
                      <a:r>
                        <a:rPr lang="en-US" altLang="zh-CN" sz="2400" dirty="0"/>
                        <a:t>‘\0’</a:t>
                      </a:r>
                      <a:endParaRPr lang="zh-CN" altLang="en-US" sz="2400" dirty="0"/>
                    </a:p>
                  </a:txBody>
                  <a:tcPr marL="68560" marR="68560" marT="60305" marB="60305"/>
                </a:tc>
                <a:extLst>
                  <a:ext uri="{0D108BD9-81ED-4DB2-BD59-A6C34878D82A}">
                    <a16:rowId xmlns:a16="http://schemas.microsoft.com/office/drawing/2014/main" val="10000"/>
                  </a:ext>
                </a:extLst>
              </a:tr>
            </a:tbl>
          </a:graphicData>
        </a:graphic>
      </p:graphicFrame>
      <p:graphicFrame>
        <p:nvGraphicFramePr>
          <p:cNvPr id="7" name="表格 6"/>
          <p:cNvGraphicFramePr>
            <a:graphicFrameLocks noGrp="1"/>
          </p:cNvGraphicFramePr>
          <p:nvPr/>
        </p:nvGraphicFramePr>
        <p:xfrm>
          <a:off x="6334125" y="3694113"/>
          <a:ext cx="2693985" cy="1217890"/>
        </p:xfrm>
        <a:graphic>
          <a:graphicData uri="http://schemas.openxmlformats.org/drawingml/2006/table">
            <a:tbl>
              <a:tblPr firstRow="1" bandRow="1">
                <a:tableStyleId>{5C22544A-7EE6-4342-B048-85BDC9FD1C3A}</a:tableStyleId>
              </a:tblPr>
              <a:tblGrid>
                <a:gridCol w="384855">
                  <a:extLst>
                    <a:ext uri="{9D8B030D-6E8A-4147-A177-3AD203B41FA5}">
                      <a16:colId xmlns:a16="http://schemas.microsoft.com/office/drawing/2014/main" val="20000"/>
                    </a:ext>
                  </a:extLst>
                </a:gridCol>
                <a:gridCol w="384855">
                  <a:extLst>
                    <a:ext uri="{9D8B030D-6E8A-4147-A177-3AD203B41FA5}">
                      <a16:colId xmlns:a16="http://schemas.microsoft.com/office/drawing/2014/main" val="20001"/>
                    </a:ext>
                  </a:extLst>
                </a:gridCol>
                <a:gridCol w="384855">
                  <a:extLst>
                    <a:ext uri="{9D8B030D-6E8A-4147-A177-3AD203B41FA5}">
                      <a16:colId xmlns:a16="http://schemas.microsoft.com/office/drawing/2014/main" val="20002"/>
                    </a:ext>
                  </a:extLst>
                </a:gridCol>
                <a:gridCol w="384855">
                  <a:extLst>
                    <a:ext uri="{9D8B030D-6E8A-4147-A177-3AD203B41FA5}">
                      <a16:colId xmlns:a16="http://schemas.microsoft.com/office/drawing/2014/main" val="20003"/>
                    </a:ext>
                  </a:extLst>
                </a:gridCol>
                <a:gridCol w="384855">
                  <a:extLst>
                    <a:ext uri="{9D8B030D-6E8A-4147-A177-3AD203B41FA5}">
                      <a16:colId xmlns:a16="http://schemas.microsoft.com/office/drawing/2014/main" val="20004"/>
                    </a:ext>
                  </a:extLst>
                </a:gridCol>
                <a:gridCol w="384855">
                  <a:extLst>
                    <a:ext uri="{9D8B030D-6E8A-4147-A177-3AD203B41FA5}">
                      <a16:colId xmlns:a16="http://schemas.microsoft.com/office/drawing/2014/main" val="20005"/>
                    </a:ext>
                  </a:extLst>
                </a:gridCol>
                <a:gridCol w="384855">
                  <a:extLst>
                    <a:ext uri="{9D8B030D-6E8A-4147-A177-3AD203B41FA5}">
                      <a16:colId xmlns:a16="http://schemas.microsoft.com/office/drawing/2014/main" val="20006"/>
                    </a:ext>
                  </a:extLst>
                </a:gridCol>
              </a:tblGrid>
              <a:tr h="852487">
                <a:tc>
                  <a:txBody>
                    <a:bodyPr/>
                    <a:lstStyle/>
                    <a:p>
                      <a:r>
                        <a:rPr lang="en-US" altLang="zh-CN" sz="2400" dirty="0"/>
                        <a:t>2</a:t>
                      </a:r>
                      <a:endParaRPr lang="zh-CN" altLang="en-US" sz="2400" dirty="0"/>
                    </a:p>
                  </a:txBody>
                  <a:tcPr marL="68560" marR="68560" marT="60305" marB="60305">
                    <a:solidFill>
                      <a:schemeClr val="accent3">
                        <a:lumMod val="75000"/>
                      </a:schemeClr>
                    </a:solidFill>
                  </a:tcPr>
                </a:tc>
                <a:tc>
                  <a:txBody>
                    <a:bodyPr/>
                    <a:lstStyle/>
                    <a:p>
                      <a:r>
                        <a:rPr lang="en-US" altLang="zh-CN" sz="2400" dirty="0"/>
                        <a:t>3</a:t>
                      </a:r>
                      <a:endParaRPr lang="zh-CN" altLang="en-US" sz="2400" dirty="0"/>
                    </a:p>
                  </a:txBody>
                  <a:tcPr marL="68560" marR="68560" marT="60305" marB="60305">
                    <a:solidFill>
                      <a:schemeClr val="accent3">
                        <a:lumMod val="75000"/>
                      </a:schemeClr>
                    </a:solidFill>
                  </a:tcPr>
                </a:tc>
                <a:tc>
                  <a:txBody>
                    <a:bodyPr/>
                    <a:lstStyle/>
                    <a:p>
                      <a:r>
                        <a:rPr lang="en-US" altLang="zh-CN" sz="2400" dirty="0"/>
                        <a:t>6</a:t>
                      </a:r>
                      <a:endParaRPr lang="zh-CN" altLang="en-US" sz="2400" dirty="0"/>
                    </a:p>
                  </a:txBody>
                  <a:tcPr marL="68560" marR="68560" marT="60305" marB="60305">
                    <a:solidFill>
                      <a:schemeClr val="accent3">
                        <a:lumMod val="75000"/>
                      </a:schemeClr>
                    </a:solidFill>
                  </a:tcPr>
                </a:tc>
                <a:tc>
                  <a:txBody>
                    <a:bodyPr/>
                    <a:lstStyle/>
                    <a:p>
                      <a:r>
                        <a:rPr lang="en-US" altLang="zh-CN" sz="2400" dirty="0"/>
                        <a:t>7</a:t>
                      </a:r>
                      <a:endParaRPr lang="zh-CN" altLang="en-US" sz="2400" dirty="0"/>
                    </a:p>
                  </a:txBody>
                  <a:tcPr marL="68560" marR="68560" marT="60305" marB="60305">
                    <a:solidFill>
                      <a:schemeClr val="accent3">
                        <a:lumMod val="75000"/>
                      </a:schemeClr>
                    </a:solidFill>
                  </a:tcPr>
                </a:tc>
                <a:tc>
                  <a:txBody>
                    <a:bodyPr/>
                    <a:lstStyle/>
                    <a:p>
                      <a:r>
                        <a:rPr lang="en-US" altLang="zh-CN" sz="2400" dirty="0"/>
                        <a:t>‘\0’</a:t>
                      </a:r>
                      <a:endParaRPr lang="zh-CN" altLang="en-US" sz="2400" dirty="0"/>
                    </a:p>
                  </a:txBody>
                  <a:tcPr marL="68560" marR="68560" marT="60305" marB="60305">
                    <a:solidFill>
                      <a:schemeClr val="accent3">
                        <a:lumMod val="75000"/>
                      </a:schemeClr>
                    </a:solidFill>
                  </a:tcPr>
                </a:tc>
                <a:tc>
                  <a:txBody>
                    <a:bodyPr/>
                    <a:lstStyle/>
                    <a:p>
                      <a:endParaRPr lang="zh-CN" altLang="en-US" sz="2400"/>
                    </a:p>
                  </a:txBody>
                  <a:tcPr marL="68560" marR="68560" marT="60305" marB="60305">
                    <a:solidFill>
                      <a:schemeClr val="accent3">
                        <a:lumMod val="75000"/>
                      </a:schemeClr>
                    </a:solidFill>
                  </a:tcPr>
                </a:tc>
                <a:tc>
                  <a:txBody>
                    <a:bodyPr/>
                    <a:lstStyle/>
                    <a:p>
                      <a:endParaRPr lang="zh-CN" altLang="en-US" sz="2400" dirty="0"/>
                    </a:p>
                  </a:txBody>
                  <a:tcPr marL="68560" marR="68560" marT="60305" marB="60305">
                    <a:solidFill>
                      <a:schemeClr val="accent3">
                        <a:lumMod val="75000"/>
                      </a:schemeClr>
                    </a:solidFill>
                  </a:tcPr>
                </a:tc>
                <a:extLst>
                  <a:ext uri="{0D108BD9-81ED-4DB2-BD59-A6C34878D82A}">
                    <a16:rowId xmlns:a16="http://schemas.microsoft.com/office/drawing/2014/main" val="10000"/>
                  </a:ext>
                </a:extLst>
              </a:tr>
            </a:tbl>
          </a:graphicData>
        </a:graphic>
      </p:graphicFrame>
      <p:graphicFrame>
        <p:nvGraphicFramePr>
          <p:cNvPr id="8" name="表格 7"/>
          <p:cNvGraphicFramePr>
            <a:graphicFrameLocks noGrp="1"/>
          </p:cNvGraphicFramePr>
          <p:nvPr/>
        </p:nvGraphicFramePr>
        <p:xfrm>
          <a:off x="6334125" y="2668588"/>
          <a:ext cx="2693985" cy="282575"/>
        </p:xfrm>
        <a:graphic>
          <a:graphicData uri="http://schemas.openxmlformats.org/drawingml/2006/table">
            <a:tbl>
              <a:tblPr firstRow="1" bandRow="1">
                <a:tableStyleId>{5C22544A-7EE6-4342-B048-85BDC9FD1C3A}</a:tableStyleId>
              </a:tblPr>
              <a:tblGrid>
                <a:gridCol w="384855">
                  <a:extLst>
                    <a:ext uri="{9D8B030D-6E8A-4147-A177-3AD203B41FA5}">
                      <a16:colId xmlns:a16="http://schemas.microsoft.com/office/drawing/2014/main" val="20000"/>
                    </a:ext>
                  </a:extLst>
                </a:gridCol>
                <a:gridCol w="384855">
                  <a:extLst>
                    <a:ext uri="{9D8B030D-6E8A-4147-A177-3AD203B41FA5}">
                      <a16:colId xmlns:a16="http://schemas.microsoft.com/office/drawing/2014/main" val="20001"/>
                    </a:ext>
                  </a:extLst>
                </a:gridCol>
                <a:gridCol w="384855">
                  <a:extLst>
                    <a:ext uri="{9D8B030D-6E8A-4147-A177-3AD203B41FA5}">
                      <a16:colId xmlns:a16="http://schemas.microsoft.com/office/drawing/2014/main" val="20002"/>
                    </a:ext>
                  </a:extLst>
                </a:gridCol>
                <a:gridCol w="384855">
                  <a:extLst>
                    <a:ext uri="{9D8B030D-6E8A-4147-A177-3AD203B41FA5}">
                      <a16:colId xmlns:a16="http://schemas.microsoft.com/office/drawing/2014/main" val="20003"/>
                    </a:ext>
                  </a:extLst>
                </a:gridCol>
                <a:gridCol w="384855">
                  <a:extLst>
                    <a:ext uri="{9D8B030D-6E8A-4147-A177-3AD203B41FA5}">
                      <a16:colId xmlns:a16="http://schemas.microsoft.com/office/drawing/2014/main" val="20004"/>
                    </a:ext>
                  </a:extLst>
                </a:gridCol>
                <a:gridCol w="384855">
                  <a:extLst>
                    <a:ext uri="{9D8B030D-6E8A-4147-A177-3AD203B41FA5}">
                      <a16:colId xmlns:a16="http://schemas.microsoft.com/office/drawing/2014/main" val="20005"/>
                    </a:ext>
                  </a:extLst>
                </a:gridCol>
                <a:gridCol w="384855">
                  <a:extLst>
                    <a:ext uri="{9D8B030D-6E8A-4147-A177-3AD203B41FA5}">
                      <a16:colId xmlns:a16="http://schemas.microsoft.com/office/drawing/2014/main" val="20006"/>
                    </a:ext>
                  </a:extLst>
                </a:gridCol>
              </a:tblGrid>
              <a:tr h="282575">
                <a:tc>
                  <a:txBody>
                    <a:bodyPr/>
                    <a:lstStyle/>
                    <a:p>
                      <a:r>
                        <a:rPr lang="en-US" altLang="zh-CN" sz="1400" dirty="0">
                          <a:solidFill>
                            <a:srgbClr val="C00000"/>
                          </a:solidFill>
                        </a:rPr>
                        <a:t>1</a:t>
                      </a:r>
                      <a:endParaRPr lang="zh-CN" altLang="en-US" sz="1400" dirty="0">
                        <a:solidFill>
                          <a:srgbClr val="C00000"/>
                        </a:solidFill>
                      </a:endParaRPr>
                    </a:p>
                  </a:txBody>
                  <a:tcPr marL="68560" marR="68560" marT="34548" marB="34548">
                    <a:solidFill>
                      <a:schemeClr val="accent2">
                        <a:lumMod val="40000"/>
                        <a:lumOff val="60000"/>
                      </a:schemeClr>
                    </a:solidFill>
                  </a:tcPr>
                </a:tc>
                <a:tc>
                  <a:txBody>
                    <a:bodyPr/>
                    <a:lstStyle/>
                    <a:p>
                      <a:r>
                        <a:rPr lang="en-US" altLang="zh-CN" sz="1400" dirty="0">
                          <a:solidFill>
                            <a:srgbClr val="C00000"/>
                          </a:solidFill>
                        </a:rPr>
                        <a:t>1</a:t>
                      </a:r>
                      <a:endParaRPr lang="zh-CN" altLang="en-US" sz="1400" dirty="0">
                        <a:solidFill>
                          <a:srgbClr val="C00000"/>
                        </a:solidFill>
                      </a:endParaRPr>
                    </a:p>
                  </a:txBody>
                  <a:tcPr marL="68560" marR="68560" marT="34548" marB="34548">
                    <a:solidFill>
                      <a:schemeClr val="accent2">
                        <a:lumMod val="40000"/>
                        <a:lumOff val="60000"/>
                      </a:schemeClr>
                    </a:solidFill>
                  </a:tcPr>
                </a:tc>
                <a:tc>
                  <a:txBody>
                    <a:bodyPr/>
                    <a:lstStyle/>
                    <a:p>
                      <a:r>
                        <a:rPr lang="en-US" altLang="zh-CN" sz="1400" dirty="0">
                          <a:solidFill>
                            <a:srgbClr val="C00000"/>
                          </a:solidFill>
                        </a:rPr>
                        <a:t>4</a:t>
                      </a:r>
                      <a:endParaRPr lang="zh-CN" altLang="en-US" sz="1400" dirty="0">
                        <a:solidFill>
                          <a:srgbClr val="C00000"/>
                        </a:solidFill>
                      </a:endParaRPr>
                    </a:p>
                  </a:txBody>
                  <a:tcPr marL="68560" marR="68560" marT="34548" marB="34548">
                    <a:solidFill>
                      <a:schemeClr val="accent2">
                        <a:lumMod val="40000"/>
                        <a:lumOff val="60000"/>
                      </a:schemeClr>
                    </a:solidFill>
                  </a:tcPr>
                </a:tc>
                <a:tc>
                  <a:txBody>
                    <a:bodyPr/>
                    <a:lstStyle/>
                    <a:p>
                      <a:r>
                        <a:rPr lang="en-US" altLang="zh-CN" sz="1400" dirty="0">
                          <a:solidFill>
                            <a:srgbClr val="C00000"/>
                          </a:solidFill>
                        </a:rPr>
                        <a:t>5</a:t>
                      </a:r>
                      <a:endParaRPr lang="zh-CN" altLang="en-US" sz="1400" dirty="0">
                        <a:solidFill>
                          <a:srgbClr val="C00000"/>
                        </a:solidFill>
                      </a:endParaRPr>
                    </a:p>
                  </a:txBody>
                  <a:tcPr marL="68560" marR="68560" marT="34548" marB="34548">
                    <a:solidFill>
                      <a:schemeClr val="accent2">
                        <a:lumMod val="40000"/>
                        <a:lumOff val="60000"/>
                      </a:schemeClr>
                    </a:solidFill>
                  </a:tcPr>
                </a:tc>
                <a:tc>
                  <a:txBody>
                    <a:bodyPr/>
                    <a:lstStyle/>
                    <a:p>
                      <a:endParaRPr lang="zh-CN" altLang="en-US" sz="1400"/>
                    </a:p>
                  </a:txBody>
                  <a:tcPr marL="68560" marR="68560" marT="34548" marB="34548">
                    <a:solidFill>
                      <a:schemeClr val="accent2">
                        <a:lumMod val="40000"/>
                        <a:lumOff val="60000"/>
                      </a:schemeClr>
                    </a:solidFill>
                  </a:tcPr>
                </a:tc>
                <a:tc>
                  <a:txBody>
                    <a:bodyPr/>
                    <a:lstStyle/>
                    <a:p>
                      <a:endParaRPr lang="zh-CN" altLang="en-US" sz="1400"/>
                    </a:p>
                  </a:txBody>
                  <a:tcPr marL="68560" marR="68560" marT="34548" marB="34548">
                    <a:solidFill>
                      <a:schemeClr val="accent2">
                        <a:lumMod val="40000"/>
                        <a:lumOff val="60000"/>
                      </a:schemeClr>
                    </a:solidFill>
                  </a:tcPr>
                </a:tc>
                <a:tc>
                  <a:txBody>
                    <a:bodyPr/>
                    <a:lstStyle/>
                    <a:p>
                      <a:endParaRPr lang="zh-CN" altLang="en-US" sz="1400" dirty="0"/>
                    </a:p>
                  </a:txBody>
                  <a:tcPr marL="68560" marR="68560" marT="34548" marB="34548">
                    <a:solidFill>
                      <a:schemeClr val="accent2">
                        <a:lumMod val="40000"/>
                        <a:lumOff val="60000"/>
                      </a:schemeClr>
                    </a:solidFill>
                  </a:tcPr>
                </a:tc>
                <a:extLst>
                  <a:ext uri="{0D108BD9-81ED-4DB2-BD59-A6C34878D82A}">
                    <a16:rowId xmlns:a16="http://schemas.microsoft.com/office/drawing/2014/main" val="10000"/>
                  </a:ext>
                </a:extLst>
              </a:tr>
            </a:tbl>
          </a:graphicData>
        </a:graphic>
      </p:graphicFrame>
      <p:sp>
        <p:nvSpPr>
          <p:cNvPr id="47164" name="文本框 8"/>
          <p:cNvSpPr txBox="1">
            <a:spLocks noChangeArrowheads="1"/>
          </p:cNvSpPr>
          <p:nvPr/>
        </p:nvSpPr>
        <p:spPr bwMode="auto">
          <a:xfrm>
            <a:off x="5878513" y="2665413"/>
            <a:ext cx="276225"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350">
                <a:solidFill>
                  <a:prstClr val="black"/>
                </a:solidFill>
              </a:rPr>
              <a:t>u</a:t>
            </a:r>
            <a:endParaRPr lang="zh-CN" altLang="en-US" sz="1350">
              <a:solidFill>
                <a:prstClr val="black"/>
              </a:solidFill>
            </a:endParaRPr>
          </a:p>
        </p:txBody>
      </p:sp>
      <p:sp>
        <p:nvSpPr>
          <p:cNvPr id="47165" name="文本框 9"/>
          <p:cNvSpPr txBox="1">
            <a:spLocks noChangeArrowheads="1"/>
          </p:cNvSpPr>
          <p:nvPr/>
        </p:nvSpPr>
        <p:spPr bwMode="auto">
          <a:xfrm>
            <a:off x="5878513" y="3173413"/>
            <a:ext cx="252412"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350">
                <a:solidFill>
                  <a:prstClr val="black"/>
                </a:solidFill>
              </a:rPr>
              <a:t>s</a:t>
            </a:r>
            <a:endParaRPr lang="zh-CN" altLang="en-US" sz="1350">
              <a:solidFill>
                <a:prstClr val="black"/>
              </a:solidFill>
            </a:endParaRPr>
          </a:p>
        </p:txBody>
      </p:sp>
      <p:sp>
        <p:nvSpPr>
          <p:cNvPr id="47166" name="文本框 10"/>
          <p:cNvSpPr txBox="1">
            <a:spLocks noChangeArrowheads="1"/>
          </p:cNvSpPr>
          <p:nvPr/>
        </p:nvSpPr>
        <p:spPr bwMode="auto">
          <a:xfrm>
            <a:off x="5878513" y="3727450"/>
            <a:ext cx="242887"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350">
                <a:solidFill>
                  <a:prstClr val="black"/>
                </a:solidFill>
              </a:rPr>
              <a:t>t</a:t>
            </a:r>
            <a:endParaRPr lang="zh-CN" altLang="en-US" sz="1350">
              <a:solidFill>
                <a:prstClr val="black"/>
              </a:solidFill>
            </a:endParaRPr>
          </a:p>
        </p:txBody>
      </p:sp>
      <p:sp>
        <p:nvSpPr>
          <p:cNvPr id="196671" name="上箭头 11"/>
          <p:cNvSpPr>
            <a:spLocks noChangeArrowheads="1"/>
          </p:cNvSpPr>
          <p:nvPr/>
        </p:nvSpPr>
        <p:spPr bwMode="auto">
          <a:xfrm>
            <a:off x="6389688" y="3933825"/>
            <a:ext cx="153987" cy="349250"/>
          </a:xfrm>
          <a:prstGeom prst="upArrow">
            <a:avLst>
              <a:gd name="adj1" fmla="val 50000"/>
              <a:gd name="adj2" fmla="val 49708"/>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lnSpc>
                <a:spcPct val="120000"/>
              </a:lnSpc>
              <a:buFont typeface="Arial" pitchFamily="34" charset="0"/>
              <a:buNone/>
            </a:pPr>
            <a:endParaRPr lang="zh-CN" altLang="en-US" sz="1200">
              <a:solidFill>
                <a:srgbClr val="595959"/>
              </a:solidFill>
              <a:latin typeface="微软雅黑" pitchFamily="34" charset="-122"/>
              <a:ea typeface="微软雅黑" pitchFamily="34" charset="-122"/>
            </a:endParaRPr>
          </a:p>
        </p:txBody>
      </p:sp>
      <p:sp>
        <p:nvSpPr>
          <p:cNvPr id="196672" name="上箭头 12"/>
          <p:cNvSpPr>
            <a:spLocks noChangeArrowheads="1"/>
          </p:cNvSpPr>
          <p:nvPr/>
        </p:nvSpPr>
        <p:spPr bwMode="auto">
          <a:xfrm>
            <a:off x="6334125" y="3386138"/>
            <a:ext cx="152400" cy="349250"/>
          </a:xfrm>
          <a:prstGeom prst="upArrow">
            <a:avLst>
              <a:gd name="adj1" fmla="val 50000"/>
              <a:gd name="adj2" fmla="val 49844"/>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lnSpc>
                <a:spcPct val="120000"/>
              </a:lnSpc>
              <a:buFont typeface="Arial" pitchFamily="34" charset="0"/>
              <a:buNone/>
            </a:pPr>
            <a:endParaRPr lang="zh-CN" altLang="en-US" sz="1200">
              <a:solidFill>
                <a:srgbClr val="595959"/>
              </a:solidFill>
              <a:latin typeface="微软雅黑" pitchFamily="34" charset="-122"/>
              <a:ea typeface="微软雅黑" pitchFamily="34" charset="-122"/>
            </a:endParaRPr>
          </a:p>
        </p:txBody>
      </p:sp>
      <p:sp>
        <p:nvSpPr>
          <p:cNvPr id="14" name="上箭头 13"/>
          <p:cNvSpPr/>
          <p:nvPr/>
        </p:nvSpPr>
        <p:spPr>
          <a:xfrm>
            <a:off x="6313488" y="2859088"/>
            <a:ext cx="152400" cy="350837"/>
          </a:xfrm>
          <a:prstGeom prst="upArrow">
            <a:avLst/>
          </a:prstGeom>
          <a:solidFill>
            <a:schemeClr val="accent4">
              <a:lumMod val="75000"/>
            </a:schemeClr>
          </a:solidFill>
        </p:spPr>
        <p:txBody>
          <a:bodyPr anchor="ctr">
            <a:spAutoFit/>
          </a:bodyPr>
          <a:lstStyle/>
          <a:p>
            <a:pPr algn="ctr" eaLnBrk="1" hangingPunct="1">
              <a:lnSpc>
                <a:spcPct val="120000"/>
              </a:lnSpc>
              <a:buFont typeface="Arial" panose="020B0604020202020204" pitchFamily="34" charset="0"/>
              <a:buNone/>
              <a:defRPr/>
            </a:pPr>
            <a:endParaRPr lang="zh-CN" altLang="en-US" sz="1200" dirty="0">
              <a:solidFill>
                <a:prstClr val="black">
                  <a:lumMod val="65000"/>
                  <a:lumOff val="35000"/>
                </a:prstClr>
              </a:solidFill>
              <a:latin typeface="微软雅黑" pitchFamily="34" charset="-122"/>
              <a:ea typeface="微软雅黑" pitchFamily="34" charset="-122"/>
            </a:endParaRPr>
          </a:p>
        </p:txBody>
      </p:sp>
      <p:sp>
        <p:nvSpPr>
          <p:cNvPr id="47170" name="文本框 14"/>
          <p:cNvSpPr txBox="1">
            <a:spLocks noChangeArrowheads="1"/>
          </p:cNvSpPr>
          <p:nvPr/>
        </p:nvSpPr>
        <p:spPr bwMode="auto">
          <a:xfrm>
            <a:off x="6107113" y="3400425"/>
            <a:ext cx="363537"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350">
                <a:solidFill>
                  <a:prstClr val="black"/>
                </a:solidFill>
              </a:rPr>
              <a:t>p1</a:t>
            </a:r>
            <a:endParaRPr lang="zh-CN" altLang="en-US" sz="1350">
              <a:solidFill>
                <a:prstClr val="black"/>
              </a:solidFill>
            </a:endParaRPr>
          </a:p>
        </p:txBody>
      </p:sp>
      <p:sp>
        <p:nvSpPr>
          <p:cNvPr id="47171" name="文本框 15"/>
          <p:cNvSpPr txBox="1">
            <a:spLocks noChangeArrowheads="1"/>
          </p:cNvSpPr>
          <p:nvPr/>
        </p:nvSpPr>
        <p:spPr bwMode="auto">
          <a:xfrm>
            <a:off x="6100763" y="3983038"/>
            <a:ext cx="3635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350">
                <a:solidFill>
                  <a:prstClr val="black"/>
                </a:solidFill>
              </a:rPr>
              <a:t>p2</a:t>
            </a:r>
            <a:endParaRPr lang="zh-CN" altLang="en-US" sz="1350">
              <a:solidFill>
                <a:prstClr val="black"/>
              </a:solidFill>
            </a:endParaRPr>
          </a:p>
        </p:txBody>
      </p:sp>
      <p:sp>
        <p:nvSpPr>
          <p:cNvPr id="47172" name="文本框 16"/>
          <p:cNvSpPr txBox="1">
            <a:spLocks noChangeArrowheads="1"/>
          </p:cNvSpPr>
          <p:nvPr/>
        </p:nvSpPr>
        <p:spPr bwMode="auto">
          <a:xfrm>
            <a:off x="6075363" y="2636838"/>
            <a:ext cx="365125"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350">
                <a:solidFill>
                  <a:prstClr val="black"/>
                </a:solidFill>
              </a:rPr>
              <a:t>p3</a:t>
            </a:r>
            <a:endParaRPr lang="zh-CN" altLang="en-US" sz="1350">
              <a:solidFill>
                <a:prstClr val="black"/>
              </a:solidFill>
            </a:endParaRPr>
          </a:p>
        </p:txBody>
      </p:sp>
      <p:sp>
        <p:nvSpPr>
          <p:cNvPr id="196677" name="上箭头 17"/>
          <p:cNvSpPr>
            <a:spLocks noChangeArrowheads="1"/>
          </p:cNvSpPr>
          <p:nvPr/>
        </p:nvSpPr>
        <p:spPr bwMode="auto">
          <a:xfrm>
            <a:off x="6777038" y="3924300"/>
            <a:ext cx="153987" cy="350838"/>
          </a:xfrm>
          <a:prstGeom prst="upArrow">
            <a:avLst>
              <a:gd name="adj1" fmla="val 50000"/>
              <a:gd name="adj2" fmla="val 49934"/>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lnSpc>
                <a:spcPct val="120000"/>
              </a:lnSpc>
              <a:buFont typeface="Arial" pitchFamily="34" charset="0"/>
              <a:buNone/>
            </a:pPr>
            <a:endParaRPr lang="zh-CN" altLang="en-US" sz="1200">
              <a:solidFill>
                <a:srgbClr val="595959"/>
              </a:solidFill>
              <a:latin typeface="微软雅黑" pitchFamily="34" charset="-122"/>
              <a:ea typeface="微软雅黑" pitchFamily="34" charset="-122"/>
            </a:endParaRPr>
          </a:p>
        </p:txBody>
      </p:sp>
      <p:sp>
        <p:nvSpPr>
          <p:cNvPr id="196678" name="上箭头 18"/>
          <p:cNvSpPr>
            <a:spLocks noChangeArrowheads="1"/>
          </p:cNvSpPr>
          <p:nvPr/>
        </p:nvSpPr>
        <p:spPr bwMode="auto">
          <a:xfrm>
            <a:off x="7180263" y="3916363"/>
            <a:ext cx="153987" cy="349250"/>
          </a:xfrm>
          <a:prstGeom prst="upArrow">
            <a:avLst>
              <a:gd name="adj1" fmla="val 50000"/>
              <a:gd name="adj2" fmla="val 49708"/>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lnSpc>
                <a:spcPct val="120000"/>
              </a:lnSpc>
              <a:buFont typeface="Arial" pitchFamily="34" charset="0"/>
              <a:buNone/>
            </a:pPr>
            <a:endParaRPr lang="zh-CN" altLang="en-US" sz="1200">
              <a:solidFill>
                <a:srgbClr val="595959"/>
              </a:solidFill>
              <a:latin typeface="微软雅黑" pitchFamily="34" charset="-122"/>
              <a:ea typeface="微软雅黑" pitchFamily="34" charset="-122"/>
            </a:endParaRPr>
          </a:p>
        </p:txBody>
      </p:sp>
      <p:sp>
        <p:nvSpPr>
          <p:cNvPr id="196679" name="上箭头 19"/>
          <p:cNvSpPr>
            <a:spLocks noChangeArrowheads="1"/>
          </p:cNvSpPr>
          <p:nvPr/>
        </p:nvSpPr>
        <p:spPr bwMode="auto">
          <a:xfrm>
            <a:off x="7602538" y="3924300"/>
            <a:ext cx="153987" cy="350838"/>
          </a:xfrm>
          <a:prstGeom prst="upArrow">
            <a:avLst>
              <a:gd name="adj1" fmla="val 50000"/>
              <a:gd name="adj2" fmla="val 49934"/>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lnSpc>
                <a:spcPct val="120000"/>
              </a:lnSpc>
              <a:buFont typeface="Arial" pitchFamily="34" charset="0"/>
              <a:buNone/>
            </a:pPr>
            <a:endParaRPr lang="zh-CN" altLang="en-US" sz="1200">
              <a:solidFill>
                <a:srgbClr val="595959"/>
              </a:solidFill>
              <a:latin typeface="微软雅黑" pitchFamily="34" charset="-122"/>
              <a:ea typeface="微软雅黑" pitchFamily="34" charset="-122"/>
            </a:endParaRPr>
          </a:p>
        </p:txBody>
      </p:sp>
      <p:cxnSp>
        <p:nvCxnSpPr>
          <p:cNvPr id="22" name="直接箭头连接符 21"/>
          <p:cNvCxnSpPr/>
          <p:nvPr/>
        </p:nvCxnSpPr>
        <p:spPr>
          <a:xfrm>
            <a:off x="6402388" y="4225925"/>
            <a:ext cx="1187450" cy="0"/>
          </a:xfrm>
          <a:prstGeom prst="straightConnector1">
            <a:avLst/>
          </a:prstGeom>
          <a:ln>
            <a:solidFill>
              <a:srgbClr val="C53D02"/>
            </a:solidFill>
            <a:tailEnd type="triangle"/>
          </a:ln>
        </p:spPr>
        <p:style>
          <a:lnRef idx="1">
            <a:schemeClr val="accent1"/>
          </a:lnRef>
          <a:fillRef idx="0">
            <a:schemeClr val="accent1"/>
          </a:fillRef>
          <a:effectRef idx="0">
            <a:schemeClr val="accent1"/>
          </a:effectRef>
          <a:fontRef idx="minor">
            <a:schemeClr val="tx1"/>
          </a:fontRef>
        </p:style>
      </p:cxnSp>
      <p:sp>
        <p:nvSpPr>
          <p:cNvPr id="196681" name="上箭头 22"/>
          <p:cNvSpPr>
            <a:spLocks noChangeArrowheads="1"/>
          </p:cNvSpPr>
          <p:nvPr/>
        </p:nvSpPr>
        <p:spPr bwMode="auto">
          <a:xfrm>
            <a:off x="6381750" y="4171950"/>
            <a:ext cx="153988" cy="349250"/>
          </a:xfrm>
          <a:prstGeom prst="upArrow">
            <a:avLst>
              <a:gd name="adj1" fmla="val 50000"/>
              <a:gd name="adj2" fmla="val 49708"/>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lnSpc>
                <a:spcPct val="120000"/>
              </a:lnSpc>
              <a:buFont typeface="Arial" pitchFamily="34" charset="0"/>
              <a:buNone/>
            </a:pPr>
            <a:endParaRPr lang="zh-CN" altLang="en-US" sz="1200">
              <a:solidFill>
                <a:srgbClr val="595959"/>
              </a:solidFill>
              <a:latin typeface="微软雅黑" pitchFamily="34" charset="-122"/>
              <a:ea typeface="微软雅黑" pitchFamily="34" charset="-122"/>
            </a:endParaRPr>
          </a:p>
        </p:txBody>
      </p:sp>
      <p:sp>
        <p:nvSpPr>
          <p:cNvPr id="196682" name="上箭头 23"/>
          <p:cNvSpPr>
            <a:spLocks noChangeArrowheads="1"/>
          </p:cNvSpPr>
          <p:nvPr/>
        </p:nvSpPr>
        <p:spPr bwMode="auto">
          <a:xfrm>
            <a:off x="6784975" y="3376613"/>
            <a:ext cx="153988" cy="350837"/>
          </a:xfrm>
          <a:prstGeom prst="upArrow">
            <a:avLst>
              <a:gd name="adj1" fmla="val 50000"/>
              <a:gd name="adj2" fmla="val 49934"/>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lnSpc>
                <a:spcPct val="120000"/>
              </a:lnSpc>
              <a:buFont typeface="Arial" pitchFamily="34" charset="0"/>
              <a:buNone/>
            </a:pPr>
            <a:endParaRPr lang="zh-CN" altLang="en-US" sz="1200">
              <a:solidFill>
                <a:srgbClr val="595959"/>
              </a:solidFill>
              <a:latin typeface="微软雅黑" pitchFamily="34" charset="-122"/>
              <a:ea typeface="微软雅黑" pitchFamily="34" charset="-122"/>
            </a:endParaRPr>
          </a:p>
        </p:txBody>
      </p:sp>
      <p:sp>
        <p:nvSpPr>
          <p:cNvPr id="196683" name="上箭头 24"/>
          <p:cNvSpPr>
            <a:spLocks noChangeArrowheads="1"/>
          </p:cNvSpPr>
          <p:nvPr/>
        </p:nvSpPr>
        <p:spPr bwMode="auto">
          <a:xfrm>
            <a:off x="6381750" y="4440238"/>
            <a:ext cx="153988" cy="350837"/>
          </a:xfrm>
          <a:prstGeom prst="upArrow">
            <a:avLst>
              <a:gd name="adj1" fmla="val 50000"/>
              <a:gd name="adj2" fmla="val 49934"/>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lnSpc>
                <a:spcPct val="120000"/>
              </a:lnSpc>
              <a:buFont typeface="Arial" pitchFamily="34" charset="0"/>
              <a:buNone/>
            </a:pPr>
            <a:endParaRPr lang="zh-CN" altLang="en-US" sz="1200">
              <a:solidFill>
                <a:srgbClr val="595959"/>
              </a:solidFill>
              <a:latin typeface="微软雅黑" pitchFamily="34" charset="-122"/>
              <a:ea typeface="微软雅黑" pitchFamily="34" charset="-122"/>
            </a:endParaRPr>
          </a:p>
        </p:txBody>
      </p:sp>
      <p:sp>
        <p:nvSpPr>
          <p:cNvPr id="196684" name="上箭头 25"/>
          <p:cNvSpPr>
            <a:spLocks noChangeArrowheads="1"/>
          </p:cNvSpPr>
          <p:nvPr/>
        </p:nvSpPr>
        <p:spPr bwMode="auto">
          <a:xfrm>
            <a:off x="6751638" y="4171950"/>
            <a:ext cx="153987" cy="349250"/>
          </a:xfrm>
          <a:prstGeom prst="upArrow">
            <a:avLst>
              <a:gd name="adj1" fmla="val 50000"/>
              <a:gd name="adj2" fmla="val 49708"/>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lnSpc>
                <a:spcPct val="120000"/>
              </a:lnSpc>
              <a:buFont typeface="Arial" pitchFamily="34" charset="0"/>
              <a:buNone/>
            </a:pPr>
            <a:endParaRPr lang="zh-CN" altLang="en-US" sz="1200">
              <a:solidFill>
                <a:srgbClr val="595959"/>
              </a:solidFill>
              <a:latin typeface="微软雅黑" pitchFamily="34" charset="-122"/>
              <a:ea typeface="微软雅黑" pitchFamily="34" charset="-122"/>
            </a:endParaRPr>
          </a:p>
        </p:txBody>
      </p:sp>
      <p:sp>
        <p:nvSpPr>
          <p:cNvPr id="196685" name="上箭头 26"/>
          <p:cNvSpPr>
            <a:spLocks noChangeArrowheads="1"/>
          </p:cNvSpPr>
          <p:nvPr/>
        </p:nvSpPr>
        <p:spPr bwMode="auto">
          <a:xfrm>
            <a:off x="7196138" y="4191000"/>
            <a:ext cx="153987" cy="350838"/>
          </a:xfrm>
          <a:prstGeom prst="upArrow">
            <a:avLst>
              <a:gd name="adj1" fmla="val 50000"/>
              <a:gd name="adj2" fmla="val 49934"/>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lnSpc>
                <a:spcPct val="120000"/>
              </a:lnSpc>
              <a:buFont typeface="Arial" pitchFamily="34" charset="0"/>
              <a:buNone/>
            </a:pPr>
            <a:endParaRPr lang="zh-CN" altLang="en-US" sz="1200">
              <a:solidFill>
                <a:srgbClr val="595959"/>
              </a:solidFill>
              <a:latin typeface="微软雅黑" pitchFamily="34" charset="-122"/>
              <a:ea typeface="微软雅黑" pitchFamily="34" charset="-122"/>
            </a:endParaRPr>
          </a:p>
        </p:txBody>
      </p:sp>
      <p:sp>
        <p:nvSpPr>
          <p:cNvPr id="196686" name="上箭头 27"/>
          <p:cNvSpPr>
            <a:spLocks noChangeArrowheads="1"/>
          </p:cNvSpPr>
          <p:nvPr/>
        </p:nvSpPr>
        <p:spPr bwMode="auto">
          <a:xfrm>
            <a:off x="7589838" y="4200525"/>
            <a:ext cx="153987" cy="350838"/>
          </a:xfrm>
          <a:prstGeom prst="upArrow">
            <a:avLst>
              <a:gd name="adj1" fmla="val 50000"/>
              <a:gd name="adj2" fmla="val 49934"/>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lnSpc>
                <a:spcPct val="120000"/>
              </a:lnSpc>
              <a:buFont typeface="Arial" pitchFamily="34" charset="0"/>
              <a:buNone/>
            </a:pPr>
            <a:endParaRPr lang="zh-CN" altLang="en-US" sz="1200">
              <a:solidFill>
                <a:srgbClr val="595959"/>
              </a:solidFill>
              <a:latin typeface="微软雅黑" pitchFamily="34" charset="-122"/>
              <a:ea typeface="微软雅黑" pitchFamily="34" charset="-122"/>
            </a:endParaRPr>
          </a:p>
        </p:txBody>
      </p:sp>
      <p:sp>
        <p:nvSpPr>
          <p:cNvPr id="196687" name="上箭头 28"/>
          <p:cNvSpPr>
            <a:spLocks noChangeArrowheads="1"/>
          </p:cNvSpPr>
          <p:nvPr/>
        </p:nvSpPr>
        <p:spPr bwMode="auto">
          <a:xfrm>
            <a:off x="6754813" y="4449763"/>
            <a:ext cx="152400" cy="350837"/>
          </a:xfrm>
          <a:prstGeom prst="upArrow">
            <a:avLst>
              <a:gd name="adj1" fmla="val 50000"/>
              <a:gd name="adj2" fmla="val 50070"/>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lnSpc>
                <a:spcPct val="120000"/>
              </a:lnSpc>
              <a:buFont typeface="Arial" pitchFamily="34" charset="0"/>
              <a:buNone/>
            </a:pPr>
            <a:endParaRPr lang="zh-CN" altLang="en-US" sz="1200">
              <a:solidFill>
                <a:srgbClr val="595959"/>
              </a:solidFill>
              <a:latin typeface="微软雅黑" pitchFamily="34" charset="-122"/>
              <a:ea typeface="微软雅黑" pitchFamily="34" charset="-122"/>
            </a:endParaRPr>
          </a:p>
        </p:txBody>
      </p:sp>
      <p:sp>
        <p:nvSpPr>
          <p:cNvPr id="31" name="上箭头 30"/>
          <p:cNvSpPr/>
          <p:nvPr/>
        </p:nvSpPr>
        <p:spPr>
          <a:xfrm>
            <a:off x="7165975" y="3373438"/>
            <a:ext cx="152400" cy="350837"/>
          </a:xfrm>
          <a:prstGeom prst="upArrow">
            <a:avLst/>
          </a:prstGeom>
          <a:solidFill>
            <a:schemeClr val="accent1">
              <a:lumMod val="75000"/>
            </a:schemeClr>
          </a:solidFill>
        </p:spPr>
        <p:txBody>
          <a:bodyPr anchor="ctr">
            <a:spAutoFit/>
          </a:bodyPr>
          <a:lstStyle/>
          <a:p>
            <a:pPr algn="ctr" eaLnBrk="1" hangingPunct="1">
              <a:lnSpc>
                <a:spcPct val="120000"/>
              </a:lnSpc>
              <a:buFont typeface="Arial" panose="020B0604020202020204" pitchFamily="34" charset="0"/>
              <a:buNone/>
              <a:defRPr/>
            </a:pPr>
            <a:endParaRPr lang="zh-CN" altLang="en-US" sz="1200" dirty="0">
              <a:solidFill>
                <a:prstClr val="black">
                  <a:lumMod val="65000"/>
                  <a:lumOff val="35000"/>
                </a:prstClr>
              </a:solidFill>
              <a:latin typeface="微软雅黑" pitchFamily="34" charset="-122"/>
              <a:ea typeface="微软雅黑" pitchFamily="34" charset="-122"/>
            </a:endParaRPr>
          </a:p>
        </p:txBody>
      </p:sp>
      <p:sp>
        <p:nvSpPr>
          <p:cNvPr id="32" name="上箭头 31"/>
          <p:cNvSpPr/>
          <p:nvPr/>
        </p:nvSpPr>
        <p:spPr>
          <a:xfrm>
            <a:off x="7526338" y="3373438"/>
            <a:ext cx="153987" cy="350837"/>
          </a:xfrm>
          <a:prstGeom prst="upArrow">
            <a:avLst/>
          </a:prstGeom>
          <a:solidFill>
            <a:schemeClr val="accent1">
              <a:lumMod val="75000"/>
            </a:schemeClr>
          </a:solidFill>
        </p:spPr>
        <p:txBody>
          <a:bodyPr anchor="ctr">
            <a:spAutoFit/>
          </a:bodyPr>
          <a:lstStyle/>
          <a:p>
            <a:pPr algn="ctr" eaLnBrk="1" hangingPunct="1">
              <a:lnSpc>
                <a:spcPct val="120000"/>
              </a:lnSpc>
              <a:buFont typeface="Arial" panose="020B0604020202020204" pitchFamily="34" charset="0"/>
              <a:buNone/>
              <a:defRPr/>
            </a:pPr>
            <a:endParaRPr lang="zh-CN" altLang="en-US" sz="1200" dirty="0">
              <a:solidFill>
                <a:prstClr val="black">
                  <a:lumMod val="65000"/>
                  <a:lumOff val="35000"/>
                </a:prstClr>
              </a:solidFill>
              <a:latin typeface="微软雅黑" pitchFamily="34" charset="-122"/>
              <a:ea typeface="微软雅黑" pitchFamily="34" charset="-122"/>
            </a:endParaRPr>
          </a:p>
        </p:txBody>
      </p:sp>
      <p:sp>
        <p:nvSpPr>
          <p:cNvPr id="196690" name="上箭头 32"/>
          <p:cNvSpPr>
            <a:spLocks noChangeArrowheads="1"/>
          </p:cNvSpPr>
          <p:nvPr/>
        </p:nvSpPr>
        <p:spPr bwMode="auto">
          <a:xfrm>
            <a:off x="6378575" y="4708525"/>
            <a:ext cx="152400" cy="350838"/>
          </a:xfrm>
          <a:prstGeom prst="upArrow">
            <a:avLst>
              <a:gd name="adj1" fmla="val 50000"/>
              <a:gd name="adj2" fmla="val 50070"/>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lnSpc>
                <a:spcPct val="120000"/>
              </a:lnSpc>
              <a:buFont typeface="Arial" pitchFamily="34" charset="0"/>
              <a:buNone/>
            </a:pPr>
            <a:endParaRPr lang="zh-CN" altLang="en-US" sz="1200">
              <a:solidFill>
                <a:srgbClr val="595959"/>
              </a:solidFill>
              <a:latin typeface="微软雅黑" pitchFamily="34" charset="-122"/>
              <a:ea typeface="微软雅黑" pitchFamily="34" charset="-122"/>
            </a:endParaRPr>
          </a:p>
        </p:txBody>
      </p:sp>
      <p:sp>
        <p:nvSpPr>
          <p:cNvPr id="196691" name="上箭头 33"/>
          <p:cNvSpPr>
            <a:spLocks noChangeArrowheads="1"/>
          </p:cNvSpPr>
          <p:nvPr/>
        </p:nvSpPr>
        <p:spPr bwMode="auto">
          <a:xfrm>
            <a:off x="7958138" y="3386138"/>
            <a:ext cx="153987" cy="349250"/>
          </a:xfrm>
          <a:prstGeom prst="upArrow">
            <a:avLst>
              <a:gd name="adj1" fmla="val 50000"/>
              <a:gd name="adj2" fmla="val 49708"/>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lnSpc>
                <a:spcPct val="120000"/>
              </a:lnSpc>
              <a:buFont typeface="Arial" pitchFamily="34" charset="0"/>
              <a:buNone/>
            </a:pPr>
            <a:endParaRPr lang="zh-CN" altLang="en-US" sz="1200">
              <a:solidFill>
                <a:srgbClr val="595959"/>
              </a:solidFill>
              <a:latin typeface="微软雅黑" pitchFamily="34" charset="-122"/>
              <a:ea typeface="微软雅黑" pitchFamily="34" charset="-122"/>
            </a:endParaRPr>
          </a:p>
        </p:txBody>
      </p:sp>
      <p:sp>
        <p:nvSpPr>
          <p:cNvPr id="196692" name="上箭头 34"/>
          <p:cNvSpPr>
            <a:spLocks noChangeArrowheads="1"/>
          </p:cNvSpPr>
          <p:nvPr/>
        </p:nvSpPr>
        <p:spPr bwMode="auto">
          <a:xfrm>
            <a:off x="8343900" y="3373438"/>
            <a:ext cx="152400" cy="350837"/>
          </a:xfrm>
          <a:prstGeom prst="upArrow">
            <a:avLst>
              <a:gd name="adj1" fmla="val 50000"/>
              <a:gd name="adj2" fmla="val 50070"/>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lnSpc>
                <a:spcPct val="120000"/>
              </a:lnSpc>
              <a:buFont typeface="Arial" pitchFamily="34" charset="0"/>
              <a:buNone/>
            </a:pPr>
            <a:endParaRPr lang="zh-CN" altLang="en-US" sz="1200">
              <a:solidFill>
                <a:srgbClr val="595959"/>
              </a:solidFill>
              <a:latin typeface="微软雅黑" pitchFamily="34" charset="-122"/>
              <a:ea typeface="微软雅黑" pitchFamily="34" charset="-122"/>
            </a:endParaRPr>
          </a:p>
        </p:txBody>
      </p:sp>
      <p:cxnSp>
        <p:nvCxnSpPr>
          <p:cNvPr id="36" name="直接箭头连接符 35"/>
          <p:cNvCxnSpPr/>
          <p:nvPr/>
        </p:nvCxnSpPr>
        <p:spPr>
          <a:xfrm>
            <a:off x="6410325" y="4513263"/>
            <a:ext cx="1185863" cy="0"/>
          </a:xfrm>
          <a:prstGeom prst="straightConnector1">
            <a:avLst/>
          </a:prstGeom>
          <a:ln>
            <a:solidFill>
              <a:srgbClr val="C53D02"/>
            </a:solidFill>
            <a:tailEnd type="triangle"/>
          </a:ln>
        </p:spPr>
        <p:style>
          <a:lnRef idx="1">
            <a:schemeClr val="accent1"/>
          </a:lnRef>
          <a:fillRef idx="0">
            <a:schemeClr val="accent1"/>
          </a:fillRef>
          <a:effectRef idx="0">
            <a:schemeClr val="accent1"/>
          </a:effectRef>
          <a:fontRef idx="minor">
            <a:schemeClr val="tx1"/>
          </a:fontRef>
        </p:style>
      </p:cxnSp>
      <p:sp>
        <p:nvSpPr>
          <p:cNvPr id="196694" name="上箭头 36"/>
          <p:cNvSpPr>
            <a:spLocks noChangeArrowheads="1"/>
          </p:cNvSpPr>
          <p:nvPr/>
        </p:nvSpPr>
        <p:spPr bwMode="auto">
          <a:xfrm>
            <a:off x="6364288" y="5095875"/>
            <a:ext cx="153987" cy="350838"/>
          </a:xfrm>
          <a:prstGeom prst="upArrow">
            <a:avLst>
              <a:gd name="adj1" fmla="val 50000"/>
              <a:gd name="adj2" fmla="val 49934"/>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lnSpc>
                <a:spcPct val="120000"/>
              </a:lnSpc>
              <a:buFont typeface="Arial" pitchFamily="34" charset="0"/>
              <a:buNone/>
            </a:pPr>
            <a:endParaRPr lang="zh-CN" altLang="en-US" sz="1200">
              <a:solidFill>
                <a:srgbClr val="595959"/>
              </a:solidFill>
              <a:latin typeface="微软雅黑" pitchFamily="34" charset="-122"/>
              <a:ea typeface="微软雅黑" pitchFamily="34" charset="-122"/>
            </a:endParaRPr>
          </a:p>
        </p:txBody>
      </p:sp>
      <p:sp>
        <p:nvSpPr>
          <p:cNvPr id="196695" name="上箭头 37"/>
          <p:cNvSpPr>
            <a:spLocks noChangeArrowheads="1"/>
          </p:cNvSpPr>
          <p:nvPr/>
        </p:nvSpPr>
        <p:spPr bwMode="auto">
          <a:xfrm>
            <a:off x="6735763" y="5095875"/>
            <a:ext cx="153987" cy="350838"/>
          </a:xfrm>
          <a:prstGeom prst="upArrow">
            <a:avLst>
              <a:gd name="adj1" fmla="val 50000"/>
              <a:gd name="adj2" fmla="val 49934"/>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lnSpc>
                <a:spcPct val="120000"/>
              </a:lnSpc>
              <a:buFont typeface="Arial" pitchFamily="34" charset="0"/>
              <a:buNone/>
            </a:pPr>
            <a:endParaRPr lang="zh-CN" altLang="en-US" sz="1200">
              <a:solidFill>
                <a:srgbClr val="595959"/>
              </a:solidFill>
              <a:latin typeface="微软雅黑" pitchFamily="34" charset="-122"/>
              <a:ea typeface="微软雅黑" pitchFamily="34" charset="-122"/>
            </a:endParaRPr>
          </a:p>
        </p:txBody>
      </p:sp>
      <p:sp>
        <p:nvSpPr>
          <p:cNvPr id="196696" name="上箭头 38"/>
          <p:cNvSpPr>
            <a:spLocks noChangeArrowheads="1"/>
          </p:cNvSpPr>
          <p:nvPr/>
        </p:nvSpPr>
        <p:spPr bwMode="auto">
          <a:xfrm>
            <a:off x="7180263" y="5116513"/>
            <a:ext cx="152400" cy="350837"/>
          </a:xfrm>
          <a:prstGeom prst="upArrow">
            <a:avLst>
              <a:gd name="adj1" fmla="val 50000"/>
              <a:gd name="adj2" fmla="val 50454"/>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lnSpc>
                <a:spcPct val="120000"/>
              </a:lnSpc>
              <a:buFont typeface="Arial" pitchFamily="34" charset="0"/>
              <a:buNone/>
            </a:pPr>
            <a:endParaRPr lang="zh-CN" altLang="en-US" sz="1200">
              <a:solidFill>
                <a:srgbClr val="595959"/>
              </a:solidFill>
              <a:latin typeface="微软雅黑" pitchFamily="34" charset="-122"/>
              <a:ea typeface="微软雅黑" pitchFamily="34" charset="-122"/>
            </a:endParaRPr>
          </a:p>
        </p:txBody>
      </p:sp>
      <p:sp>
        <p:nvSpPr>
          <p:cNvPr id="196697" name="上箭头 39"/>
          <p:cNvSpPr>
            <a:spLocks noChangeArrowheads="1"/>
          </p:cNvSpPr>
          <p:nvPr/>
        </p:nvSpPr>
        <p:spPr bwMode="auto">
          <a:xfrm>
            <a:off x="7573963" y="5126038"/>
            <a:ext cx="153987" cy="350837"/>
          </a:xfrm>
          <a:prstGeom prst="upArrow">
            <a:avLst>
              <a:gd name="adj1" fmla="val 50000"/>
              <a:gd name="adj2" fmla="val 49934"/>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lnSpc>
                <a:spcPct val="120000"/>
              </a:lnSpc>
              <a:buFont typeface="Arial" pitchFamily="34" charset="0"/>
              <a:buNone/>
            </a:pPr>
            <a:endParaRPr lang="zh-CN" altLang="en-US" sz="1200">
              <a:solidFill>
                <a:srgbClr val="595959"/>
              </a:solidFill>
              <a:latin typeface="微软雅黑" pitchFamily="34" charset="-122"/>
              <a:ea typeface="微软雅黑" pitchFamily="34" charset="-122"/>
            </a:endParaRPr>
          </a:p>
        </p:txBody>
      </p:sp>
      <p:cxnSp>
        <p:nvCxnSpPr>
          <p:cNvPr id="41" name="直接箭头连接符 40"/>
          <p:cNvCxnSpPr/>
          <p:nvPr/>
        </p:nvCxnSpPr>
        <p:spPr>
          <a:xfrm>
            <a:off x="6418263" y="4781550"/>
            <a:ext cx="520700" cy="0"/>
          </a:xfrm>
          <a:prstGeom prst="straightConnector1">
            <a:avLst/>
          </a:prstGeom>
          <a:ln>
            <a:solidFill>
              <a:srgbClr val="C53D02"/>
            </a:solidFill>
            <a:tailEnd type="triangle"/>
          </a:ln>
        </p:spPr>
        <p:style>
          <a:lnRef idx="1">
            <a:schemeClr val="accent1"/>
          </a:lnRef>
          <a:fillRef idx="0">
            <a:schemeClr val="accent1"/>
          </a:fillRef>
          <a:effectRef idx="0">
            <a:schemeClr val="accent1"/>
          </a:effectRef>
          <a:fontRef idx="minor">
            <a:schemeClr val="tx1"/>
          </a:fontRef>
        </p:style>
      </p:cxnSp>
      <p:sp>
        <p:nvSpPr>
          <p:cNvPr id="196699" name="上箭头 41"/>
          <p:cNvSpPr>
            <a:spLocks noChangeArrowheads="1"/>
          </p:cNvSpPr>
          <p:nvPr/>
        </p:nvSpPr>
        <p:spPr bwMode="auto">
          <a:xfrm>
            <a:off x="6373813" y="5375275"/>
            <a:ext cx="153987" cy="349250"/>
          </a:xfrm>
          <a:prstGeom prst="upArrow">
            <a:avLst>
              <a:gd name="adj1" fmla="val 50000"/>
              <a:gd name="adj2" fmla="val 49708"/>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lnSpc>
                <a:spcPct val="120000"/>
              </a:lnSpc>
              <a:buFont typeface="Arial" pitchFamily="34" charset="0"/>
              <a:buNone/>
            </a:pPr>
            <a:endParaRPr lang="zh-CN" altLang="en-US" sz="1200">
              <a:solidFill>
                <a:srgbClr val="595959"/>
              </a:solidFill>
              <a:latin typeface="微软雅黑" pitchFamily="34" charset="-122"/>
              <a:ea typeface="微软雅黑" pitchFamily="34" charset="-122"/>
            </a:endParaRPr>
          </a:p>
        </p:txBody>
      </p:sp>
      <p:sp>
        <p:nvSpPr>
          <p:cNvPr id="196700" name="上箭头 42"/>
          <p:cNvSpPr>
            <a:spLocks noChangeArrowheads="1"/>
          </p:cNvSpPr>
          <p:nvPr/>
        </p:nvSpPr>
        <p:spPr bwMode="auto">
          <a:xfrm>
            <a:off x="6745288" y="5375275"/>
            <a:ext cx="152400" cy="349250"/>
          </a:xfrm>
          <a:prstGeom prst="upArrow">
            <a:avLst>
              <a:gd name="adj1" fmla="val 50000"/>
              <a:gd name="adj2" fmla="val 49844"/>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lnSpc>
                <a:spcPct val="120000"/>
              </a:lnSpc>
              <a:buFont typeface="Arial" pitchFamily="34" charset="0"/>
              <a:buNone/>
            </a:pPr>
            <a:endParaRPr lang="zh-CN" altLang="en-US" sz="1200">
              <a:solidFill>
                <a:srgbClr val="595959"/>
              </a:solidFill>
              <a:latin typeface="微软雅黑" pitchFamily="34" charset="-122"/>
              <a:ea typeface="微软雅黑" pitchFamily="34" charset="-122"/>
            </a:endParaRPr>
          </a:p>
        </p:txBody>
      </p:sp>
      <p:sp>
        <p:nvSpPr>
          <p:cNvPr id="196701" name="上箭头 43"/>
          <p:cNvSpPr>
            <a:spLocks noChangeArrowheads="1"/>
          </p:cNvSpPr>
          <p:nvPr/>
        </p:nvSpPr>
        <p:spPr bwMode="auto">
          <a:xfrm>
            <a:off x="7189788" y="5394325"/>
            <a:ext cx="152400" cy="349250"/>
          </a:xfrm>
          <a:prstGeom prst="upArrow">
            <a:avLst>
              <a:gd name="adj1" fmla="val 50000"/>
              <a:gd name="adj2" fmla="val 49844"/>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lnSpc>
                <a:spcPct val="120000"/>
              </a:lnSpc>
              <a:buFont typeface="Arial" pitchFamily="34" charset="0"/>
              <a:buNone/>
            </a:pPr>
            <a:endParaRPr lang="zh-CN" altLang="en-US" sz="1200">
              <a:solidFill>
                <a:srgbClr val="595959"/>
              </a:solidFill>
              <a:latin typeface="微软雅黑" pitchFamily="34" charset="-122"/>
              <a:ea typeface="微软雅黑" pitchFamily="34" charset="-122"/>
            </a:endParaRPr>
          </a:p>
        </p:txBody>
      </p:sp>
      <p:sp>
        <p:nvSpPr>
          <p:cNvPr id="196702" name="上箭头 44"/>
          <p:cNvSpPr>
            <a:spLocks noChangeArrowheads="1"/>
          </p:cNvSpPr>
          <p:nvPr/>
        </p:nvSpPr>
        <p:spPr bwMode="auto">
          <a:xfrm>
            <a:off x="7581900" y="5403850"/>
            <a:ext cx="153988" cy="350838"/>
          </a:xfrm>
          <a:prstGeom prst="upArrow">
            <a:avLst>
              <a:gd name="adj1" fmla="val 50000"/>
              <a:gd name="adj2" fmla="val 49934"/>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lnSpc>
                <a:spcPct val="120000"/>
              </a:lnSpc>
              <a:buFont typeface="Arial" pitchFamily="34" charset="0"/>
              <a:buNone/>
            </a:pPr>
            <a:endParaRPr lang="zh-CN" altLang="en-US" sz="1200">
              <a:solidFill>
                <a:srgbClr val="595959"/>
              </a:solidFill>
              <a:latin typeface="微软雅黑" pitchFamily="34" charset="-122"/>
              <a:ea typeface="微软雅黑" pitchFamily="34" charset="-122"/>
            </a:endParaRPr>
          </a:p>
        </p:txBody>
      </p:sp>
      <p:cxnSp>
        <p:nvCxnSpPr>
          <p:cNvPr id="47" name="直接箭头连接符 46"/>
          <p:cNvCxnSpPr/>
          <p:nvPr/>
        </p:nvCxnSpPr>
        <p:spPr>
          <a:xfrm>
            <a:off x="6403975" y="5056188"/>
            <a:ext cx="139700" cy="11112"/>
          </a:xfrm>
          <a:prstGeom prst="straightConnector1">
            <a:avLst/>
          </a:prstGeom>
          <a:ln>
            <a:solidFill>
              <a:srgbClr val="C53D02"/>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a:off x="6423025" y="5414963"/>
            <a:ext cx="1185863" cy="0"/>
          </a:xfrm>
          <a:prstGeom prst="straightConnector1">
            <a:avLst/>
          </a:prstGeom>
          <a:ln>
            <a:solidFill>
              <a:srgbClr val="C53D02"/>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a:off x="6402388" y="5692775"/>
            <a:ext cx="1187450" cy="0"/>
          </a:xfrm>
          <a:prstGeom prst="straightConnector1">
            <a:avLst/>
          </a:prstGeom>
          <a:ln>
            <a:solidFill>
              <a:srgbClr val="C53D02"/>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7"/>
          <p:cNvSpPr txBox="1">
            <a:spLocks noChangeArrowheads="1"/>
          </p:cNvSpPr>
          <p:nvPr/>
        </p:nvSpPr>
        <p:spPr bwMode="auto">
          <a:xfrm>
            <a:off x="10886" y="609600"/>
            <a:ext cx="25298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buFont typeface="Arial" pitchFamily="34" charset="0"/>
              <a:buNone/>
            </a:pPr>
            <a:r>
              <a:rPr lang="zh-CN" altLang="en-US" sz="2800" b="1" dirty="0">
                <a:solidFill>
                  <a:srgbClr val="C00000"/>
                </a:solidFill>
                <a:latin typeface="幼圆" pitchFamily="49" charset="-122"/>
                <a:ea typeface="幼圆" pitchFamily="49" charset="-122"/>
                <a:sym typeface="宋体" pitchFamily="2" charset="-122"/>
              </a:rPr>
              <a:t>编程题目总结 </a:t>
            </a:r>
          </a:p>
        </p:txBody>
      </p:sp>
    </p:spTree>
    <p:extLst>
      <p:ext uri="{BB962C8B-B14F-4D97-AF65-F5344CB8AC3E}">
        <p14:creationId xmlns:p14="http://schemas.microsoft.com/office/powerpoint/2010/main" val="259313351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2"/>
          <p:cNvSpPr>
            <a:spLocks noGrp="1"/>
          </p:cNvSpPr>
          <p:nvPr>
            <p:ph idx="4294967295"/>
          </p:nvPr>
        </p:nvSpPr>
        <p:spPr>
          <a:xfrm>
            <a:off x="381000" y="1381918"/>
            <a:ext cx="8435975" cy="5145088"/>
          </a:xfrm>
        </p:spPr>
        <p:txBody>
          <a:bodyPr/>
          <a:lstStyle/>
          <a:p>
            <a:pPr>
              <a:buFont typeface="Wingdings" pitchFamily="2" charset="2"/>
              <a:buNone/>
            </a:pPr>
            <a:r>
              <a:rPr lang="zh-CN" altLang="en-US" dirty="0"/>
              <a:t>数制转换方面解题技巧：</a:t>
            </a:r>
          </a:p>
          <a:p>
            <a:pPr>
              <a:buFont typeface="Wingdings" pitchFamily="2" charset="2"/>
              <a:buChar char="Ø"/>
            </a:pPr>
            <a:r>
              <a:rPr lang="zh-CN" altLang="en-US" dirty="0"/>
              <a:t>认真转换。</a:t>
            </a:r>
          </a:p>
          <a:p>
            <a:pPr>
              <a:buFont typeface="Wingdings" pitchFamily="2" charset="2"/>
              <a:buChar char="Ø"/>
            </a:pPr>
            <a:r>
              <a:rPr lang="zh-CN" altLang="en-US" dirty="0"/>
              <a:t>选择题排除掉不可能选项后用按权展开法。</a:t>
            </a:r>
          </a:p>
          <a:p>
            <a:pPr>
              <a:spcBef>
                <a:spcPts val="1800"/>
              </a:spcBef>
              <a:buFont typeface="Wingdings" pitchFamily="2" charset="2"/>
              <a:buNone/>
            </a:pPr>
            <a:r>
              <a:rPr lang="zh-CN" altLang="en-US" dirty="0">
                <a:solidFill>
                  <a:srgbClr val="0000CC"/>
                </a:solidFill>
              </a:rPr>
              <a:t>例：十进制数</a:t>
            </a:r>
            <a:r>
              <a:rPr lang="en-US" altLang="zh-CN" dirty="0">
                <a:solidFill>
                  <a:srgbClr val="0000CC"/>
                </a:solidFill>
              </a:rPr>
              <a:t>113</a:t>
            </a:r>
            <a:r>
              <a:rPr lang="zh-CN" altLang="en-US" dirty="0">
                <a:solidFill>
                  <a:srgbClr val="0000CC"/>
                </a:solidFill>
              </a:rPr>
              <a:t>转换成二进制数是（   ）。</a:t>
            </a:r>
          </a:p>
          <a:p>
            <a:pPr>
              <a:buFont typeface="Wingdings" pitchFamily="2" charset="2"/>
              <a:buNone/>
            </a:pPr>
            <a:r>
              <a:rPr lang="en-US" altLang="zh-CN" dirty="0"/>
              <a:t>A.1110001  		B.1000111</a:t>
            </a:r>
          </a:p>
          <a:p>
            <a:pPr>
              <a:buFont typeface="Wingdings" pitchFamily="2" charset="2"/>
              <a:buNone/>
            </a:pPr>
            <a:r>
              <a:rPr lang="en-US" altLang="zh-CN" dirty="0"/>
              <a:t>C.1110000	  D.10110000</a:t>
            </a:r>
          </a:p>
          <a:p>
            <a:pPr>
              <a:buFont typeface="Wingdings" pitchFamily="2" charset="2"/>
              <a:buNone/>
            </a:pPr>
            <a:r>
              <a:rPr lang="zh-CN" altLang="en-US" dirty="0"/>
              <a:t>排除</a:t>
            </a:r>
            <a:r>
              <a:rPr lang="en-US" altLang="zh-CN" dirty="0"/>
              <a:t>C</a:t>
            </a:r>
            <a:r>
              <a:rPr lang="zh-CN" altLang="en-US" dirty="0"/>
              <a:t>、</a:t>
            </a:r>
            <a:r>
              <a:rPr lang="en-US" altLang="zh-CN" dirty="0"/>
              <a:t>D</a:t>
            </a:r>
            <a:r>
              <a:rPr lang="zh-CN" altLang="en-US" dirty="0"/>
              <a:t>（结果为偶数）</a:t>
            </a:r>
          </a:p>
          <a:p>
            <a:pPr>
              <a:buFont typeface="Wingdings" pitchFamily="2" charset="2"/>
              <a:buNone/>
            </a:pPr>
            <a:r>
              <a:rPr lang="zh-CN" altLang="en-US" dirty="0"/>
              <a:t>用按权相加法</a:t>
            </a:r>
            <a:r>
              <a:rPr lang="en-US" altLang="zh-CN" dirty="0"/>
              <a:t>A=64+32+16+1=113</a:t>
            </a:r>
          </a:p>
        </p:txBody>
      </p:sp>
      <p:sp>
        <p:nvSpPr>
          <p:cNvPr id="101381" name="Text Box 5"/>
          <p:cNvSpPr txBox="1">
            <a:spLocks noChangeArrowheads="1"/>
          </p:cNvSpPr>
          <p:nvPr/>
        </p:nvSpPr>
        <p:spPr bwMode="auto">
          <a:xfrm>
            <a:off x="539750" y="6237288"/>
            <a:ext cx="1295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3200">
                <a:solidFill>
                  <a:schemeClr val="tx1"/>
                </a:solidFill>
                <a:latin typeface="Arial" pitchFamily="34" charset="0"/>
                <a:ea typeface="黑体" pitchFamily="49" charset="-122"/>
              </a:defRPr>
            </a:lvl1pPr>
            <a:lvl2pPr>
              <a:defRPr sz="2800">
                <a:solidFill>
                  <a:srgbClr val="000066"/>
                </a:solidFill>
                <a:latin typeface="Arial" pitchFamily="34" charset="0"/>
                <a:ea typeface="黑体" pitchFamily="49" charset="-122"/>
              </a:defRPr>
            </a:lvl2pPr>
            <a:lvl3pPr>
              <a:defRPr sz="2400">
                <a:solidFill>
                  <a:schemeClr val="tx1"/>
                </a:solidFill>
                <a:latin typeface="Arial" pitchFamily="34" charset="0"/>
                <a:ea typeface="黑体" pitchFamily="49" charset="-122"/>
              </a:defRPr>
            </a:lvl3pPr>
            <a:lvl4pPr>
              <a:defRPr sz="2000">
                <a:solidFill>
                  <a:schemeClr val="tx1"/>
                </a:solidFill>
                <a:latin typeface="Arial" pitchFamily="34" charset="0"/>
                <a:ea typeface="黑体" pitchFamily="49" charset="-122"/>
              </a:defRPr>
            </a:lvl4pPr>
            <a:lvl5pPr>
              <a:defRPr sz="2000">
                <a:solidFill>
                  <a:schemeClr val="tx1"/>
                </a:solidFill>
                <a:latin typeface="Arial" pitchFamily="34" charset="0"/>
                <a:ea typeface="黑体" pitchFamily="49" charset="-122"/>
              </a:defRPr>
            </a:lvl5pPr>
            <a:lvl6pPr eaLnBrk="0" hangingPunct="0">
              <a:defRPr sz="2000">
                <a:solidFill>
                  <a:schemeClr val="tx1"/>
                </a:solidFill>
                <a:latin typeface="Arial" pitchFamily="34" charset="0"/>
                <a:ea typeface="黑体" pitchFamily="49" charset="-122"/>
              </a:defRPr>
            </a:lvl6pPr>
            <a:lvl7pPr eaLnBrk="0" hangingPunct="0">
              <a:defRPr sz="2000">
                <a:solidFill>
                  <a:schemeClr val="tx1"/>
                </a:solidFill>
                <a:latin typeface="Arial" pitchFamily="34" charset="0"/>
                <a:ea typeface="黑体" pitchFamily="49" charset="-122"/>
              </a:defRPr>
            </a:lvl7pPr>
            <a:lvl8pPr eaLnBrk="0" hangingPunct="0">
              <a:defRPr sz="2000">
                <a:solidFill>
                  <a:schemeClr val="tx1"/>
                </a:solidFill>
                <a:latin typeface="Arial" pitchFamily="34" charset="0"/>
                <a:ea typeface="黑体" pitchFamily="49" charset="-122"/>
              </a:defRPr>
            </a:lvl8pPr>
            <a:lvl9pPr eaLnBrk="0" hangingPunct="0">
              <a:defRPr sz="2000">
                <a:solidFill>
                  <a:schemeClr val="tx1"/>
                </a:solidFill>
                <a:latin typeface="Arial" pitchFamily="34" charset="0"/>
                <a:ea typeface="黑体" pitchFamily="49" charset="-122"/>
              </a:defRPr>
            </a:lvl9pPr>
          </a:lstStyle>
          <a:p>
            <a:pPr algn="ctr" eaLnBrk="1" hangingPunct="1">
              <a:spcBef>
                <a:spcPct val="50000"/>
              </a:spcBef>
            </a:pPr>
            <a:r>
              <a:rPr lang="en-US" altLang="zh-CN" b="1">
                <a:solidFill>
                  <a:srgbClr val="FF0000"/>
                </a:solidFill>
                <a:ea typeface="宋体" pitchFamily="2" charset="-122"/>
              </a:rPr>
              <a:t>A</a:t>
            </a:r>
          </a:p>
        </p:txBody>
      </p:sp>
      <p:sp>
        <p:nvSpPr>
          <p:cNvPr id="6" name="Rectangle 4"/>
          <p:cNvSpPr>
            <a:spLocks noChangeArrowheads="1"/>
          </p:cNvSpPr>
          <p:nvPr/>
        </p:nvSpPr>
        <p:spPr bwMode="auto">
          <a:xfrm>
            <a:off x="35832" y="53340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ea typeface="幼圆" pitchFamily="49" charset="-122"/>
              </a:rPr>
              <a:t>部分练习</a:t>
            </a:r>
          </a:p>
        </p:txBody>
      </p:sp>
    </p:spTree>
    <p:extLst>
      <p:ext uri="{BB962C8B-B14F-4D97-AF65-F5344CB8AC3E}">
        <p14:creationId xmlns:p14="http://schemas.microsoft.com/office/powerpoint/2010/main" val="33976494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13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1"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内容占位符 2"/>
          <p:cNvSpPr>
            <a:spLocks noGrp="1"/>
          </p:cNvSpPr>
          <p:nvPr>
            <p:ph idx="4294967295"/>
          </p:nvPr>
        </p:nvSpPr>
        <p:spPr>
          <a:xfrm>
            <a:off x="381000" y="1371600"/>
            <a:ext cx="8435975" cy="5145088"/>
          </a:xfrm>
        </p:spPr>
        <p:txBody>
          <a:bodyPr/>
          <a:lstStyle/>
          <a:p>
            <a:pPr>
              <a:buFont typeface="Wingdings" pitchFamily="2" charset="2"/>
              <a:buNone/>
            </a:pPr>
            <a:r>
              <a:rPr lang="zh-CN" altLang="en-US" sz="3100" dirty="0">
                <a:solidFill>
                  <a:srgbClr val="0000CC"/>
                </a:solidFill>
              </a:rPr>
              <a:t>例：</a:t>
            </a:r>
            <a:r>
              <a:rPr lang="zh-CN" altLang="zh-CN" sz="3100" dirty="0">
                <a:solidFill>
                  <a:srgbClr val="0000CC"/>
                </a:solidFill>
              </a:rPr>
              <a:t>联想启天</a:t>
            </a:r>
            <a:r>
              <a:rPr lang="en-US" altLang="zh-CN" sz="3100" dirty="0">
                <a:solidFill>
                  <a:srgbClr val="0000CC"/>
                </a:solidFill>
              </a:rPr>
              <a:t>M7150</a:t>
            </a:r>
            <a:r>
              <a:rPr lang="zh-CN" altLang="zh-CN" sz="3100" dirty="0">
                <a:solidFill>
                  <a:srgbClr val="0000CC"/>
                </a:solidFill>
              </a:rPr>
              <a:t>台式计算机的广告宣传单的内容是：</a:t>
            </a:r>
            <a:r>
              <a:rPr lang="en-US" altLang="zh-CN" sz="3100" dirty="0">
                <a:solidFill>
                  <a:srgbClr val="0000CC"/>
                </a:solidFill>
              </a:rPr>
              <a:t>Intel</a:t>
            </a:r>
            <a:r>
              <a:rPr lang="zh-CN" altLang="zh-CN" sz="3100" dirty="0">
                <a:solidFill>
                  <a:srgbClr val="0000CC"/>
                </a:solidFill>
              </a:rPr>
              <a:t>酷睿</a:t>
            </a:r>
            <a:r>
              <a:rPr lang="en-US" altLang="zh-CN" sz="3100" dirty="0">
                <a:solidFill>
                  <a:srgbClr val="0000CC"/>
                </a:solidFill>
              </a:rPr>
              <a:t>2</a:t>
            </a:r>
            <a:r>
              <a:rPr lang="zh-CN" altLang="zh-CN" sz="3100" dirty="0">
                <a:solidFill>
                  <a:srgbClr val="0000CC"/>
                </a:solidFill>
              </a:rPr>
              <a:t>双核、</a:t>
            </a:r>
            <a:r>
              <a:rPr lang="en-US" altLang="zh-CN" sz="3100" dirty="0">
                <a:solidFill>
                  <a:srgbClr val="0000CC"/>
                </a:solidFill>
              </a:rPr>
              <a:t>2930MHz</a:t>
            </a:r>
            <a:r>
              <a:rPr lang="zh-CN" altLang="zh-CN" sz="3100" dirty="0">
                <a:solidFill>
                  <a:srgbClr val="0000CC"/>
                </a:solidFill>
              </a:rPr>
              <a:t>；</a:t>
            </a:r>
            <a:r>
              <a:rPr lang="en-US" altLang="zh-CN" sz="3100" dirty="0">
                <a:solidFill>
                  <a:srgbClr val="0000CC"/>
                </a:solidFill>
              </a:rPr>
              <a:t>2048MB</a:t>
            </a:r>
            <a:r>
              <a:rPr lang="zh-CN" altLang="zh-CN" sz="3100" dirty="0">
                <a:solidFill>
                  <a:srgbClr val="0000CC"/>
                </a:solidFill>
              </a:rPr>
              <a:t>、</a:t>
            </a:r>
            <a:r>
              <a:rPr lang="en-US" altLang="zh-CN" sz="3100" dirty="0">
                <a:solidFill>
                  <a:srgbClr val="0000CC"/>
                </a:solidFill>
              </a:rPr>
              <a:t>DDR3</a:t>
            </a:r>
            <a:r>
              <a:rPr lang="zh-CN" altLang="zh-CN" sz="3100" dirty="0">
                <a:solidFill>
                  <a:srgbClr val="0000CC"/>
                </a:solidFill>
              </a:rPr>
              <a:t>；</a:t>
            </a:r>
            <a:r>
              <a:rPr lang="en-US" altLang="zh-CN" sz="3100" dirty="0">
                <a:solidFill>
                  <a:srgbClr val="0000CC"/>
                </a:solidFill>
              </a:rPr>
              <a:t>500GB</a:t>
            </a:r>
            <a:r>
              <a:rPr lang="zh-CN" altLang="zh-CN" sz="3100" dirty="0">
                <a:solidFill>
                  <a:srgbClr val="0000CC"/>
                </a:solidFill>
              </a:rPr>
              <a:t>、</a:t>
            </a:r>
            <a:r>
              <a:rPr lang="en-US" altLang="zh-CN" sz="3100" dirty="0">
                <a:solidFill>
                  <a:srgbClr val="0000CC"/>
                </a:solidFill>
              </a:rPr>
              <a:t>7200</a:t>
            </a:r>
            <a:r>
              <a:rPr lang="zh-CN" altLang="zh-CN" sz="3100" dirty="0">
                <a:solidFill>
                  <a:srgbClr val="0000CC"/>
                </a:solidFill>
              </a:rPr>
              <a:t>、</a:t>
            </a:r>
            <a:r>
              <a:rPr lang="en-US" altLang="zh-CN" sz="3100" dirty="0">
                <a:solidFill>
                  <a:srgbClr val="0000CC"/>
                </a:solidFill>
              </a:rPr>
              <a:t>SATA2</a:t>
            </a:r>
            <a:r>
              <a:rPr lang="zh-CN" altLang="zh-CN" sz="3100" dirty="0">
                <a:solidFill>
                  <a:srgbClr val="0000CC"/>
                </a:solidFill>
              </a:rPr>
              <a:t>；</a:t>
            </a:r>
            <a:r>
              <a:rPr lang="en-US" altLang="zh-CN" sz="3100" dirty="0">
                <a:solidFill>
                  <a:srgbClr val="0000CC"/>
                </a:solidFill>
              </a:rPr>
              <a:t>512MB</a:t>
            </a:r>
            <a:r>
              <a:rPr lang="zh-CN" altLang="zh-CN" sz="3100" dirty="0">
                <a:solidFill>
                  <a:srgbClr val="0000CC"/>
                </a:solidFill>
              </a:rPr>
              <a:t>、独立；支持</a:t>
            </a:r>
            <a:r>
              <a:rPr lang="en-US" altLang="zh-CN" sz="3100" dirty="0">
                <a:solidFill>
                  <a:srgbClr val="0000CC"/>
                </a:solidFill>
              </a:rPr>
              <a:t>High Definition</a:t>
            </a:r>
            <a:r>
              <a:rPr lang="zh-CN" altLang="zh-CN" sz="3100" dirty="0">
                <a:solidFill>
                  <a:srgbClr val="0000CC"/>
                </a:solidFill>
              </a:rPr>
              <a:t>；</a:t>
            </a:r>
            <a:r>
              <a:rPr lang="en-US" altLang="zh-CN" sz="3100" dirty="0">
                <a:solidFill>
                  <a:srgbClr val="0000CC"/>
                </a:solidFill>
              </a:rPr>
              <a:t>1000Mbps</a:t>
            </a:r>
            <a:r>
              <a:rPr lang="zh-CN" altLang="zh-CN" sz="3100" dirty="0">
                <a:solidFill>
                  <a:srgbClr val="0000CC"/>
                </a:solidFill>
              </a:rPr>
              <a:t>以太网。根据以上内容可知该款计算机</a:t>
            </a:r>
            <a:r>
              <a:rPr lang="en-US" altLang="zh-CN" sz="3100" dirty="0">
                <a:solidFill>
                  <a:srgbClr val="0000CC"/>
                </a:solidFill>
              </a:rPr>
              <a:t>CPU</a:t>
            </a:r>
            <a:r>
              <a:rPr lang="zh-CN" altLang="zh-CN" sz="3100" dirty="0">
                <a:solidFill>
                  <a:srgbClr val="0000CC"/>
                </a:solidFill>
              </a:rPr>
              <a:t>的主频是（</a:t>
            </a:r>
            <a:r>
              <a:rPr lang="en-US" altLang="zh-CN" sz="3100" dirty="0">
                <a:solidFill>
                  <a:srgbClr val="0000CC"/>
                </a:solidFill>
              </a:rPr>
              <a:t> </a:t>
            </a:r>
            <a:r>
              <a:rPr lang="zh-CN" altLang="zh-CN" sz="3100" dirty="0">
                <a:solidFill>
                  <a:srgbClr val="0000CC"/>
                </a:solidFill>
              </a:rPr>
              <a:t>）、内存容量是（</a:t>
            </a:r>
            <a:r>
              <a:rPr lang="en-US" altLang="zh-CN" sz="3100" dirty="0">
                <a:solidFill>
                  <a:srgbClr val="0000CC"/>
                </a:solidFill>
              </a:rPr>
              <a:t>  </a:t>
            </a:r>
            <a:r>
              <a:rPr lang="zh-CN" altLang="zh-CN" sz="3100" dirty="0">
                <a:solidFill>
                  <a:srgbClr val="0000CC"/>
                </a:solidFill>
              </a:rPr>
              <a:t>）、硬盘容量是（</a:t>
            </a:r>
            <a:r>
              <a:rPr lang="en-US" altLang="zh-CN" sz="3100" dirty="0">
                <a:solidFill>
                  <a:srgbClr val="0000CC"/>
                </a:solidFill>
              </a:rPr>
              <a:t>     </a:t>
            </a:r>
            <a:r>
              <a:rPr lang="zh-CN" altLang="zh-CN" sz="3100" dirty="0">
                <a:solidFill>
                  <a:srgbClr val="0000CC"/>
                </a:solidFill>
              </a:rPr>
              <a:t>）。</a:t>
            </a:r>
            <a:endParaRPr lang="zh-CN" altLang="en-US" sz="3100" dirty="0">
              <a:solidFill>
                <a:srgbClr val="0000CC"/>
              </a:solidFill>
            </a:endParaRPr>
          </a:p>
        </p:txBody>
      </p:sp>
      <p:sp>
        <p:nvSpPr>
          <p:cNvPr id="112645" name="Text Box 5"/>
          <p:cNvSpPr txBox="1">
            <a:spLocks noChangeArrowheads="1"/>
          </p:cNvSpPr>
          <p:nvPr/>
        </p:nvSpPr>
        <p:spPr bwMode="auto">
          <a:xfrm>
            <a:off x="971550" y="5364163"/>
            <a:ext cx="67675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3200">
                <a:solidFill>
                  <a:schemeClr val="tx1"/>
                </a:solidFill>
                <a:latin typeface="Arial" pitchFamily="34" charset="0"/>
                <a:ea typeface="黑体" pitchFamily="49" charset="-122"/>
              </a:defRPr>
            </a:lvl1pPr>
            <a:lvl2pPr>
              <a:defRPr sz="2800">
                <a:solidFill>
                  <a:srgbClr val="000066"/>
                </a:solidFill>
                <a:latin typeface="Arial" pitchFamily="34" charset="0"/>
                <a:ea typeface="黑体" pitchFamily="49" charset="-122"/>
              </a:defRPr>
            </a:lvl2pPr>
            <a:lvl3pPr>
              <a:defRPr sz="2400">
                <a:solidFill>
                  <a:schemeClr val="tx1"/>
                </a:solidFill>
                <a:latin typeface="Arial" pitchFamily="34" charset="0"/>
                <a:ea typeface="黑体" pitchFamily="49" charset="-122"/>
              </a:defRPr>
            </a:lvl3pPr>
            <a:lvl4pPr>
              <a:defRPr sz="2000">
                <a:solidFill>
                  <a:schemeClr val="tx1"/>
                </a:solidFill>
                <a:latin typeface="Arial" pitchFamily="34" charset="0"/>
                <a:ea typeface="黑体" pitchFamily="49" charset="-122"/>
              </a:defRPr>
            </a:lvl4pPr>
            <a:lvl5pPr>
              <a:defRPr sz="2000">
                <a:solidFill>
                  <a:schemeClr val="tx1"/>
                </a:solidFill>
                <a:latin typeface="Arial" pitchFamily="34" charset="0"/>
                <a:ea typeface="黑体" pitchFamily="49" charset="-122"/>
              </a:defRPr>
            </a:lvl5pPr>
            <a:lvl6pPr eaLnBrk="0" hangingPunct="0">
              <a:defRPr sz="2000">
                <a:solidFill>
                  <a:schemeClr val="tx1"/>
                </a:solidFill>
                <a:latin typeface="Arial" pitchFamily="34" charset="0"/>
                <a:ea typeface="黑体" pitchFamily="49" charset="-122"/>
              </a:defRPr>
            </a:lvl6pPr>
            <a:lvl7pPr eaLnBrk="0" hangingPunct="0">
              <a:defRPr sz="2000">
                <a:solidFill>
                  <a:schemeClr val="tx1"/>
                </a:solidFill>
                <a:latin typeface="Arial" pitchFamily="34" charset="0"/>
                <a:ea typeface="黑体" pitchFamily="49" charset="-122"/>
              </a:defRPr>
            </a:lvl7pPr>
            <a:lvl8pPr eaLnBrk="0" hangingPunct="0">
              <a:defRPr sz="2000">
                <a:solidFill>
                  <a:schemeClr val="tx1"/>
                </a:solidFill>
                <a:latin typeface="Arial" pitchFamily="34" charset="0"/>
                <a:ea typeface="黑体" pitchFamily="49" charset="-122"/>
              </a:defRPr>
            </a:lvl8pPr>
            <a:lvl9pPr eaLnBrk="0" hangingPunct="0">
              <a:defRPr sz="2000">
                <a:solidFill>
                  <a:schemeClr val="tx1"/>
                </a:solidFill>
                <a:latin typeface="Arial" pitchFamily="34" charset="0"/>
                <a:ea typeface="黑体" pitchFamily="49" charset="-122"/>
              </a:defRPr>
            </a:lvl9pPr>
          </a:lstStyle>
          <a:p>
            <a:pPr eaLnBrk="1" hangingPunct="1">
              <a:spcBef>
                <a:spcPct val="50000"/>
              </a:spcBef>
            </a:pPr>
            <a:r>
              <a:rPr lang="en-US" altLang="zh-CN" b="1">
                <a:solidFill>
                  <a:srgbClr val="FF0000"/>
                </a:solidFill>
                <a:ea typeface="宋体" pitchFamily="2" charset="-122"/>
              </a:rPr>
              <a:t>2930MHz</a:t>
            </a:r>
            <a:r>
              <a:rPr lang="zh-CN" altLang="en-US" b="1">
                <a:solidFill>
                  <a:srgbClr val="FF0000"/>
                </a:solidFill>
                <a:ea typeface="宋体" pitchFamily="2" charset="-122"/>
              </a:rPr>
              <a:t>，</a:t>
            </a:r>
            <a:r>
              <a:rPr lang="en-US" altLang="zh-CN" b="1">
                <a:solidFill>
                  <a:srgbClr val="FF0000"/>
                </a:solidFill>
                <a:ea typeface="宋体" pitchFamily="2" charset="-122"/>
              </a:rPr>
              <a:t>2048MB</a:t>
            </a:r>
            <a:r>
              <a:rPr lang="zh-CN" altLang="en-US" b="1">
                <a:solidFill>
                  <a:srgbClr val="FF0000"/>
                </a:solidFill>
                <a:ea typeface="宋体" pitchFamily="2" charset="-122"/>
              </a:rPr>
              <a:t>，</a:t>
            </a:r>
            <a:r>
              <a:rPr lang="en-US" altLang="zh-CN" b="1">
                <a:solidFill>
                  <a:srgbClr val="FF0000"/>
                </a:solidFill>
                <a:ea typeface="宋体" pitchFamily="2" charset="-122"/>
              </a:rPr>
              <a:t>500GB</a:t>
            </a:r>
            <a:endParaRPr lang="zh-CN" altLang="en-US" b="1">
              <a:solidFill>
                <a:srgbClr val="FF0000"/>
              </a:solidFill>
              <a:ea typeface="宋体" pitchFamily="2" charset="-122"/>
            </a:endParaRPr>
          </a:p>
        </p:txBody>
      </p:sp>
      <p:sp>
        <p:nvSpPr>
          <p:cNvPr id="5" name="Rectangle 4"/>
          <p:cNvSpPr>
            <a:spLocks noChangeArrowheads="1"/>
          </p:cNvSpPr>
          <p:nvPr/>
        </p:nvSpPr>
        <p:spPr bwMode="auto">
          <a:xfrm>
            <a:off x="35832" y="53340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ea typeface="幼圆" pitchFamily="49" charset="-122"/>
              </a:rPr>
              <a:t>部分练习</a:t>
            </a:r>
          </a:p>
        </p:txBody>
      </p:sp>
    </p:spTree>
    <p:extLst>
      <p:ext uri="{BB962C8B-B14F-4D97-AF65-F5344CB8AC3E}">
        <p14:creationId xmlns:p14="http://schemas.microsoft.com/office/powerpoint/2010/main" val="14894979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5" grpId="0"/>
    </p:bldLst>
  </p:timing>
</p:sld>
</file>

<file path=ppt/slides/slide1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1" name="Rectangle 3"/>
          <p:cNvSpPr>
            <a:spLocks noGrp="1" noChangeArrowheads="1"/>
          </p:cNvSpPr>
          <p:nvPr>
            <p:ph type="body" sz="half" idx="1"/>
          </p:nvPr>
        </p:nvSpPr>
        <p:spPr>
          <a:xfrm>
            <a:off x="152400" y="1219200"/>
            <a:ext cx="8534400" cy="5459413"/>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Wingdings" pitchFamily="2" charset="2"/>
              <a:buNone/>
            </a:pPr>
            <a:r>
              <a:rPr lang="zh-CN" altLang="en-US" sz="2400">
                <a:solidFill>
                  <a:srgbClr val="0000CC"/>
                </a:solidFill>
              </a:rPr>
              <a:t>例：</a:t>
            </a:r>
            <a:r>
              <a:rPr lang="zh-CN" altLang="zh-CN" sz="2400"/>
              <a:t>数码显示设备常常会采用</a:t>
            </a:r>
            <a:r>
              <a:rPr lang="en-US" altLang="zh-CN" sz="2400"/>
              <a:t>7</a:t>
            </a:r>
            <a:r>
              <a:rPr lang="zh-CN" altLang="zh-CN" sz="2400"/>
              <a:t>个二极管的亮与不亮来表示</a:t>
            </a:r>
            <a:r>
              <a:rPr lang="en-US" altLang="zh-CN" sz="2400"/>
              <a:t>0~9</a:t>
            </a:r>
            <a:r>
              <a:rPr lang="zh-CN" altLang="zh-CN" sz="2400"/>
              <a:t>十个不同的数字，其排列如下图所示</a:t>
            </a:r>
            <a:r>
              <a:rPr lang="en-US" altLang="zh-CN" sz="2400"/>
              <a:t>.</a:t>
            </a:r>
            <a:r>
              <a:rPr lang="zh-CN" altLang="zh-CN" sz="2400"/>
              <a:t>：</a:t>
            </a:r>
            <a:endParaRPr lang="en-US" altLang="zh-CN" sz="2400"/>
          </a:p>
          <a:p>
            <a:pPr marL="0" indent="0" eaLnBrk="1" hangingPunct="1">
              <a:buClr>
                <a:schemeClr val="tx1"/>
              </a:buClr>
              <a:buSzPct val="60000"/>
              <a:buFont typeface="Wingdings" pitchFamily="2" charset="2"/>
              <a:buNone/>
            </a:pP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Wingdings" pitchFamily="2" charset="2"/>
              <a:buNone/>
            </a:pP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Wingdings" pitchFamily="2" charset="2"/>
              <a:buNone/>
            </a:pPr>
            <a:endParaRPr kumimoji="1" lang="zh-CN" altLang="zh-CN" sz="2400" b="1">
              <a:solidFill>
                <a:schemeClr val="tx2"/>
              </a:solidFill>
              <a:latin typeface="幼圆" pitchFamily="49" charset="-122"/>
              <a:ea typeface="幼圆" pitchFamily="49" charset="-122"/>
            </a:endParaRPr>
          </a:p>
          <a:p>
            <a:pPr marL="0" indent="0">
              <a:buFont typeface="Wingdings" pitchFamily="2" charset="2"/>
              <a:buNone/>
            </a:pPr>
            <a:r>
              <a:rPr lang="zh-CN" altLang="zh-CN" sz="2400"/>
              <a:t>如果采用一个字节的最低</a:t>
            </a:r>
            <a:r>
              <a:rPr lang="en-US" altLang="zh-CN" sz="2400"/>
              <a:t>7</a:t>
            </a:r>
            <a:r>
              <a:rPr lang="zh-CN" altLang="zh-CN" sz="2400"/>
              <a:t>个位上“</a:t>
            </a:r>
            <a:r>
              <a:rPr lang="en-US" altLang="zh-CN" sz="2400"/>
              <a:t>0</a:t>
            </a:r>
            <a:r>
              <a:rPr lang="zh-CN" altLang="zh-CN" sz="2400"/>
              <a:t>”和“</a:t>
            </a:r>
            <a:r>
              <a:rPr lang="en-US" altLang="zh-CN" sz="2400"/>
              <a:t>1</a:t>
            </a:r>
            <a:r>
              <a:rPr lang="zh-CN" altLang="zh-CN" sz="2400"/>
              <a:t>”的状态来表示二极管的“不亮”与“亮”，那么，数字“</a:t>
            </a:r>
            <a:r>
              <a:rPr lang="en-US" altLang="zh-CN" sz="2400"/>
              <a:t>9</a:t>
            </a:r>
            <a:r>
              <a:rPr lang="zh-CN" altLang="zh-CN" sz="2400"/>
              <a:t>”的二进制编码应该是</a:t>
            </a:r>
            <a:r>
              <a:rPr lang="en-US" altLang="zh-CN" sz="2400" u="sng"/>
              <a:t>           </a:t>
            </a:r>
            <a:r>
              <a:rPr lang="zh-CN" altLang="zh-CN" sz="2400"/>
              <a:t>。</a:t>
            </a:r>
            <a:r>
              <a:rPr lang="en-US" altLang="zh-CN" sz="2400" u="sng"/>
              <a:t> </a:t>
            </a:r>
            <a:r>
              <a:rPr lang="en-US" altLang="zh-CN" sz="2400" u="sng">
                <a:solidFill>
                  <a:srgbClr val="FF0000"/>
                </a:solidFill>
              </a:rPr>
              <a:t>01011111</a:t>
            </a:r>
            <a:endParaRPr lang="zh-CN" altLang="zh-CN" sz="2400">
              <a:solidFill>
                <a:srgbClr val="FF0000"/>
              </a:solidFill>
            </a:endParaRPr>
          </a:p>
          <a:p>
            <a:pPr marL="0" indent="0">
              <a:buFont typeface="Wingdings" pitchFamily="2" charset="2"/>
              <a:buNone/>
            </a:pPr>
            <a:r>
              <a:rPr lang="zh-CN" altLang="en-US" sz="2400">
                <a:solidFill>
                  <a:srgbClr val="0000CC"/>
                </a:solidFill>
              </a:rPr>
              <a:t>例：</a:t>
            </a:r>
            <a:r>
              <a:rPr lang="zh-CN" altLang="zh-CN" sz="2400"/>
              <a:t>续上题，如果某部电梯里采用了这种数字显示设备，那么，对于</a:t>
            </a:r>
            <a:r>
              <a:rPr lang="en-US" altLang="zh-CN" sz="2400"/>
              <a:t>100</a:t>
            </a:r>
            <a:r>
              <a:rPr lang="zh-CN" altLang="zh-CN" sz="2400"/>
              <a:t>多层的北京国际贸易中心，至少需要</a:t>
            </a:r>
            <a:r>
              <a:rPr lang="en-US" altLang="zh-CN" sz="2400" u="sng"/>
              <a:t>  </a:t>
            </a:r>
            <a:r>
              <a:rPr lang="zh-CN" altLang="zh-CN" sz="2400" u="sng"/>
              <a:t>【</a:t>
            </a:r>
            <a:r>
              <a:rPr lang="en-US" altLang="zh-CN" sz="2400" u="sng"/>
              <a:t>2.5</a:t>
            </a:r>
            <a:r>
              <a:rPr lang="zh-CN" altLang="zh-CN" sz="2400" u="sng"/>
              <a:t>】</a:t>
            </a:r>
            <a:r>
              <a:rPr lang="en-US" altLang="zh-CN" sz="2400" u="sng"/>
              <a:t>  </a:t>
            </a:r>
            <a:r>
              <a:rPr lang="zh-CN" altLang="zh-CN" sz="2400"/>
              <a:t>个字节才能正确表示电梯所到达的楼层数字？</a:t>
            </a:r>
            <a:r>
              <a:rPr lang="en-US" altLang="zh-CN" sz="2400"/>
              <a:t>     </a:t>
            </a:r>
            <a:r>
              <a:rPr lang="en-US" altLang="zh-CN" sz="2400">
                <a:solidFill>
                  <a:srgbClr val="FF0000"/>
                </a:solidFill>
              </a:rPr>
              <a:t>3</a:t>
            </a:r>
            <a:endParaRPr lang="zh-CN" altLang="zh-CN" sz="2400">
              <a:solidFill>
                <a:srgbClr val="FF0000"/>
              </a:solidFill>
            </a:endParaRPr>
          </a:p>
          <a:p>
            <a:pPr marL="0" indent="0">
              <a:buFont typeface="Wingdings" pitchFamily="2" charset="2"/>
              <a:buNone/>
            </a:pPr>
            <a:r>
              <a:rPr lang="zh-CN" altLang="en-US" sz="2400">
                <a:solidFill>
                  <a:srgbClr val="0000CC"/>
                </a:solidFill>
              </a:rPr>
              <a:t>例：</a:t>
            </a:r>
            <a:r>
              <a:rPr lang="zh-CN" altLang="zh-CN" sz="2400"/>
              <a:t>存储器的数据总线宽度为</a:t>
            </a:r>
            <a:r>
              <a:rPr lang="en-US" altLang="zh-CN" sz="2400"/>
              <a:t>32</a:t>
            </a:r>
            <a:r>
              <a:rPr lang="zh-CN" altLang="zh-CN" sz="2400"/>
              <a:t>位，存取周期</a:t>
            </a:r>
            <a:r>
              <a:rPr lang="en-US" altLang="zh-CN" sz="2400"/>
              <a:t>200ns </a:t>
            </a:r>
            <a:r>
              <a:rPr lang="zh-CN" altLang="zh-CN" sz="2400"/>
              <a:t>，则存储器的带宽是</a:t>
            </a:r>
            <a:r>
              <a:rPr lang="en-US" altLang="zh-CN" sz="2400" u="sng"/>
              <a:t>            </a:t>
            </a:r>
            <a:r>
              <a:rPr lang="en-US" altLang="zh-CN" sz="2400"/>
              <a:t>MB/s</a:t>
            </a:r>
            <a:r>
              <a:rPr lang="zh-CN" altLang="zh-CN" sz="2400"/>
              <a:t>。</a:t>
            </a:r>
            <a:r>
              <a:rPr lang="en-US" altLang="zh-CN" sz="2400"/>
              <a:t>   </a:t>
            </a:r>
            <a:r>
              <a:rPr lang="en-US" altLang="zh-CN" sz="2400">
                <a:solidFill>
                  <a:srgbClr val="FF0000"/>
                </a:solidFill>
              </a:rPr>
              <a:t>20</a:t>
            </a:r>
            <a:endParaRPr lang="zh-CN" altLang="zh-CN" sz="2400">
              <a:solidFill>
                <a:srgbClr val="FF0000"/>
              </a:solidFill>
            </a:endParaRPr>
          </a:p>
        </p:txBody>
      </p:sp>
      <p:pic>
        <p:nvPicPr>
          <p:cNvPr id="60420" name="图片 4"/>
          <p:cNvPicPr>
            <a:picLocks noChangeAspect="1" noChangeArrowheads="1"/>
          </p:cNvPicPr>
          <p:nvPr/>
        </p:nvPicPr>
        <p:blipFill>
          <a:blip r:embed="rId3">
            <a:extLst>
              <a:ext uri="{28A0092B-C50C-407E-A947-70E740481C1C}">
                <a14:useLocalDpi xmlns:a14="http://schemas.microsoft.com/office/drawing/2010/main" val="0"/>
              </a:ext>
            </a:extLst>
          </a:blip>
          <a:srcRect l="10344" t="6070" r="12930" b="12260"/>
          <a:stretch>
            <a:fillRect/>
          </a:stretch>
        </p:blipFill>
        <p:spPr bwMode="auto">
          <a:xfrm>
            <a:off x="5508625" y="1773238"/>
            <a:ext cx="847725"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35832" y="53340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ea typeface="幼圆" pitchFamily="49" charset="-122"/>
              </a:rPr>
              <a:t>部分练习</a:t>
            </a:r>
          </a:p>
        </p:txBody>
      </p:sp>
    </p:spTree>
    <p:extLst>
      <p:ext uri="{BB962C8B-B14F-4D97-AF65-F5344CB8AC3E}">
        <p14:creationId xmlns:p14="http://schemas.microsoft.com/office/powerpoint/2010/main" val="4185304105"/>
      </p:ext>
    </p:extLst>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2211">
                                            <p:txEl>
                                              <p:pRg st="0" end="0"/>
                                            </p:txEl>
                                          </p:spTgt>
                                        </p:tgtEl>
                                        <p:attrNameLst>
                                          <p:attrName>style.visibility</p:attrName>
                                        </p:attrNameLst>
                                      </p:cBhvr>
                                      <p:to>
                                        <p:strVal val="visible"/>
                                      </p:to>
                                    </p:set>
                                    <p:animEffect transition="in" filter="wipe(left)">
                                      <p:cBhvr>
                                        <p:cTn id="7" dur="500"/>
                                        <p:tgtEl>
                                          <p:spTgt spid="2222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1" grpId="0" build="p" autoUpdateAnimBg="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内容占位符 2"/>
          <p:cNvSpPr>
            <a:spLocks noGrp="1"/>
          </p:cNvSpPr>
          <p:nvPr>
            <p:ph idx="4294967295"/>
          </p:nvPr>
        </p:nvSpPr>
        <p:spPr>
          <a:xfrm>
            <a:off x="395288" y="1447800"/>
            <a:ext cx="8435975" cy="5145088"/>
          </a:xfrm>
        </p:spPr>
        <p:txBody>
          <a:bodyPr/>
          <a:lstStyle/>
          <a:p>
            <a:pPr>
              <a:buFont typeface="Wingdings" pitchFamily="2" charset="2"/>
              <a:buNone/>
            </a:pPr>
            <a:r>
              <a:rPr lang="zh-CN" altLang="en-US" dirty="0">
                <a:solidFill>
                  <a:srgbClr val="0000CC"/>
                </a:solidFill>
              </a:rPr>
              <a:t>例：不是操作系统功能的是（   ）。</a:t>
            </a:r>
          </a:p>
          <a:p>
            <a:pPr>
              <a:buFont typeface="Wingdings" pitchFamily="2" charset="2"/>
              <a:buNone/>
            </a:pPr>
            <a:r>
              <a:rPr lang="en-US" altLang="zh-CN" dirty="0"/>
              <a:t>A.</a:t>
            </a:r>
            <a:r>
              <a:rPr lang="zh-CN" altLang="en-US" dirty="0"/>
              <a:t>设备管理		</a:t>
            </a:r>
            <a:r>
              <a:rPr lang="en-US" altLang="zh-CN" dirty="0"/>
              <a:t>B.</a:t>
            </a:r>
            <a:r>
              <a:rPr lang="zh-CN" altLang="en-US" dirty="0"/>
              <a:t>信息管理</a:t>
            </a:r>
          </a:p>
          <a:p>
            <a:pPr>
              <a:buFont typeface="Wingdings" pitchFamily="2" charset="2"/>
              <a:buNone/>
            </a:pPr>
            <a:r>
              <a:rPr lang="en-US" altLang="zh-CN" dirty="0"/>
              <a:t>C.</a:t>
            </a:r>
            <a:r>
              <a:rPr lang="zh-CN" altLang="en-US" dirty="0"/>
              <a:t>编译		</a:t>
            </a:r>
            <a:r>
              <a:rPr lang="en-US" altLang="zh-CN" dirty="0"/>
              <a:t>D.</a:t>
            </a:r>
            <a:r>
              <a:rPr lang="zh-CN" altLang="en-US" dirty="0"/>
              <a:t>存储管理</a:t>
            </a:r>
          </a:p>
        </p:txBody>
      </p:sp>
      <p:sp>
        <p:nvSpPr>
          <p:cNvPr id="116741" name="Text Box 5"/>
          <p:cNvSpPr txBox="1">
            <a:spLocks noChangeArrowheads="1"/>
          </p:cNvSpPr>
          <p:nvPr/>
        </p:nvSpPr>
        <p:spPr bwMode="auto">
          <a:xfrm>
            <a:off x="395288" y="2852738"/>
            <a:ext cx="26638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3200">
                <a:solidFill>
                  <a:schemeClr val="tx1"/>
                </a:solidFill>
                <a:latin typeface="Arial" pitchFamily="34" charset="0"/>
                <a:ea typeface="黑体" pitchFamily="49" charset="-122"/>
              </a:defRPr>
            </a:lvl1pPr>
            <a:lvl2pPr>
              <a:defRPr sz="2800">
                <a:solidFill>
                  <a:srgbClr val="000066"/>
                </a:solidFill>
                <a:latin typeface="Arial" pitchFamily="34" charset="0"/>
                <a:ea typeface="黑体" pitchFamily="49" charset="-122"/>
              </a:defRPr>
            </a:lvl2pPr>
            <a:lvl3pPr>
              <a:defRPr sz="2400">
                <a:solidFill>
                  <a:schemeClr val="tx1"/>
                </a:solidFill>
                <a:latin typeface="Arial" pitchFamily="34" charset="0"/>
                <a:ea typeface="黑体" pitchFamily="49" charset="-122"/>
              </a:defRPr>
            </a:lvl3pPr>
            <a:lvl4pPr>
              <a:defRPr sz="2000">
                <a:solidFill>
                  <a:schemeClr val="tx1"/>
                </a:solidFill>
                <a:latin typeface="Arial" pitchFamily="34" charset="0"/>
                <a:ea typeface="黑体" pitchFamily="49" charset="-122"/>
              </a:defRPr>
            </a:lvl4pPr>
            <a:lvl5pPr>
              <a:defRPr sz="2000">
                <a:solidFill>
                  <a:schemeClr val="tx1"/>
                </a:solidFill>
                <a:latin typeface="Arial" pitchFamily="34" charset="0"/>
                <a:ea typeface="黑体" pitchFamily="49" charset="-122"/>
              </a:defRPr>
            </a:lvl5pPr>
            <a:lvl6pPr eaLnBrk="0" hangingPunct="0">
              <a:defRPr sz="2000">
                <a:solidFill>
                  <a:schemeClr val="tx1"/>
                </a:solidFill>
                <a:latin typeface="Arial" pitchFamily="34" charset="0"/>
                <a:ea typeface="黑体" pitchFamily="49" charset="-122"/>
              </a:defRPr>
            </a:lvl6pPr>
            <a:lvl7pPr eaLnBrk="0" hangingPunct="0">
              <a:defRPr sz="2000">
                <a:solidFill>
                  <a:schemeClr val="tx1"/>
                </a:solidFill>
                <a:latin typeface="Arial" pitchFamily="34" charset="0"/>
                <a:ea typeface="黑体" pitchFamily="49" charset="-122"/>
              </a:defRPr>
            </a:lvl7pPr>
            <a:lvl8pPr eaLnBrk="0" hangingPunct="0">
              <a:defRPr sz="2000">
                <a:solidFill>
                  <a:schemeClr val="tx1"/>
                </a:solidFill>
                <a:latin typeface="Arial" pitchFamily="34" charset="0"/>
                <a:ea typeface="黑体" pitchFamily="49" charset="-122"/>
              </a:defRPr>
            </a:lvl8pPr>
            <a:lvl9pPr eaLnBrk="0" hangingPunct="0">
              <a:defRPr sz="2000">
                <a:solidFill>
                  <a:schemeClr val="tx1"/>
                </a:solidFill>
                <a:latin typeface="Arial" pitchFamily="34" charset="0"/>
                <a:ea typeface="黑体" pitchFamily="49" charset="-122"/>
              </a:defRPr>
            </a:lvl9pPr>
          </a:lstStyle>
          <a:p>
            <a:pPr eaLnBrk="1" hangingPunct="1">
              <a:spcBef>
                <a:spcPct val="50000"/>
              </a:spcBef>
            </a:pPr>
            <a:r>
              <a:rPr lang="en-US" altLang="zh-CN" b="1">
                <a:solidFill>
                  <a:srgbClr val="FF0000"/>
                </a:solidFill>
                <a:ea typeface="宋体" pitchFamily="2" charset="-122"/>
              </a:rPr>
              <a:t>C</a:t>
            </a:r>
          </a:p>
        </p:txBody>
      </p:sp>
      <p:sp>
        <p:nvSpPr>
          <p:cNvPr id="5" name="Rectangle 4"/>
          <p:cNvSpPr>
            <a:spLocks noChangeArrowheads="1"/>
          </p:cNvSpPr>
          <p:nvPr/>
        </p:nvSpPr>
        <p:spPr bwMode="auto">
          <a:xfrm>
            <a:off x="35832" y="53340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ea typeface="幼圆" pitchFamily="49" charset="-122"/>
              </a:rPr>
              <a:t>部分练习</a:t>
            </a:r>
          </a:p>
        </p:txBody>
      </p:sp>
    </p:spTree>
    <p:extLst>
      <p:ext uri="{BB962C8B-B14F-4D97-AF65-F5344CB8AC3E}">
        <p14:creationId xmlns:p14="http://schemas.microsoft.com/office/powerpoint/2010/main" val="4003389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67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1" grpId="0"/>
    </p:bldLst>
  </p:timing>
</p:sld>
</file>

<file path=ppt/slides/slide1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1" name="Rectangle 3"/>
          <p:cNvSpPr>
            <a:spLocks noGrp="1" noChangeArrowheads="1"/>
          </p:cNvSpPr>
          <p:nvPr>
            <p:ph type="body" sz="half" idx="1"/>
          </p:nvPr>
        </p:nvSpPr>
        <p:spPr>
          <a:xfrm>
            <a:off x="152400" y="1219200"/>
            <a:ext cx="8534400" cy="4006850"/>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Wingdings" pitchFamily="2" charset="2"/>
              <a:buNone/>
            </a:pPr>
            <a:r>
              <a:rPr kumimoji="1" lang="zh-CN" altLang="en-US" sz="2400" b="1">
                <a:solidFill>
                  <a:schemeClr val="tx2"/>
                </a:solidFill>
                <a:latin typeface="幼圆" pitchFamily="49" charset="-122"/>
                <a:ea typeface="幼圆" pitchFamily="49" charset="-122"/>
              </a:rPr>
              <a:t>【1】</a:t>
            </a:r>
            <a:r>
              <a:rPr kumimoji="1" lang="zh-CN" altLang="zh-CN" sz="2400" b="1">
                <a:solidFill>
                  <a:schemeClr val="tx2"/>
                </a:solidFill>
                <a:latin typeface="幼圆" pitchFamily="49" charset="-122"/>
                <a:ea typeface="幼圆" pitchFamily="49" charset="-122"/>
              </a:rPr>
              <a:t>以下不等式中，不正确的是</a:t>
            </a:r>
            <a:r>
              <a:rPr kumimoji="1" lang="en-US" altLang="zh-CN" sz="2400" b="1">
                <a:solidFill>
                  <a:schemeClr val="tx2"/>
                </a:solidFill>
                <a:latin typeface="幼圆" pitchFamily="49" charset="-122"/>
                <a:ea typeface="幼圆" pitchFamily="49" charset="-122"/>
              </a:rPr>
              <a:t>     </a:t>
            </a:r>
            <a:r>
              <a:rPr kumimoji="1" lang="zh-CN" altLang="zh-CN" sz="2400" b="1">
                <a:solidFill>
                  <a:schemeClr val="tx2"/>
                </a:solidFill>
                <a:latin typeface="幼圆" pitchFamily="49" charset="-122"/>
                <a:ea typeface="幼圆" pitchFamily="49" charset="-122"/>
              </a:rPr>
              <a:t>。</a:t>
            </a:r>
          </a:p>
          <a:p>
            <a:pPr marL="0" indent="0" eaLnBrk="1" hangingPunct="1">
              <a:buClr>
                <a:schemeClr val="tx1"/>
              </a:buClr>
              <a:buSzPct val="60000"/>
              <a:buFont typeface="Wingdings" pitchFamily="2" charset="2"/>
              <a:buNone/>
            </a:pPr>
            <a:r>
              <a:rPr kumimoji="1" lang="en-US" altLang="zh-CN" sz="2400" b="1">
                <a:solidFill>
                  <a:schemeClr val="tx2"/>
                </a:solidFill>
                <a:latin typeface="幼圆" pitchFamily="49" charset="-122"/>
                <a:ea typeface="幼圆" pitchFamily="49" charset="-122"/>
              </a:rPr>
              <a:t>   A. (1101010101010)B&gt;(FFF)H          </a:t>
            </a:r>
          </a:p>
          <a:p>
            <a:pPr marL="0" indent="0" eaLnBrk="1" hangingPunct="1">
              <a:buClr>
                <a:schemeClr val="tx1"/>
              </a:buClr>
              <a:buSzPct val="60000"/>
              <a:buFont typeface="Wingdings" pitchFamily="2" charset="2"/>
              <a:buNone/>
            </a:pPr>
            <a:r>
              <a:rPr kumimoji="1" lang="en-US" altLang="zh-CN" sz="2400" b="1">
                <a:solidFill>
                  <a:schemeClr val="tx2"/>
                </a:solidFill>
                <a:latin typeface="幼圆" pitchFamily="49" charset="-122"/>
                <a:ea typeface="幼圆" pitchFamily="49" charset="-122"/>
              </a:rPr>
              <a:t>   B. (123456)D&lt;(123456)H</a:t>
            </a:r>
          </a:p>
          <a:p>
            <a:pPr marL="0" indent="0" eaLnBrk="1" hangingPunct="1">
              <a:buClr>
                <a:schemeClr val="tx1"/>
              </a:buClr>
              <a:buSzPct val="60000"/>
              <a:buFont typeface="Wingdings" pitchFamily="2" charset="2"/>
              <a:buNone/>
            </a:pPr>
            <a:r>
              <a:rPr kumimoji="1" lang="en-US" altLang="zh-CN" sz="2400" b="1">
                <a:solidFill>
                  <a:schemeClr val="tx2"/>
                </a:solidFill>
                <a:latin typeface="幼圆" pitchFamily="49" charset="-122"/>
                <a:ea typeface="幼圆" pitchFamily="49" charset="-122"/>
              </a:rPr>
              <a:t>   C. (1111)D&gt;(1111)B                  </a:t>
            </a:r>
          </a:p>
          <a:p>
            <a:pPr marL="0" indent="0" eaLnBrk="1" hangingPunct="1">
              <a:buClr>
                <a:schemeClr val="tx1"/>
              </a:buClr>
              <a:buSzPct val="60000"/>
              <a:buFont typeface="Wingdings" pitchFamily="2" charset="2"/>
              <a:buNone/>
            </a:pPr>
            <a:r>
              <a:rPr kumimoji="1" lang="en-US" altLang="zh-CN" sz="2400" b="1">
                <a:solidFill>
                  <a:schemeClr val="tx2"/>
                </a:solidFill>
                <a:latin typeface="幼圆" pitchFamily="49" charset="-122"/>
                <a:ea typeface="幼圆" pitchFamily="49" charset="-122"/>
              </a:rPr>
              <a:t>   D. (9)H&gt;(9)D</a:t>
            </a:r>
          </a:p>
          <a:p>
            <a:pPr marL="0" indent="0" eaLnBrk="1" hangingPunct="1">
              <a:buClr>
                <a:schemeClr val="tx1"/>
              </a:buClr>
              <a:buSzPct val="60000"/>
              <a:buFont typeface="Wingdings" pitchFamily="2" charset="2"/>
              <a:buNone/>
            </a:pPr>
            <a:r>
              <a:rPr kumimoji="1" lang="zh-CN" altLang="en-US" sz="2400" b="1">
                <a:solidFill>
                  <a:srgbClr val="FF0000"/>
                </a:solidFill>
                <a:latin typeface="幼圆" pitchFamily="49" charset="-122"/>
                <a:ea typeface="幼圆" pitchFamily="49" charset="-122"/>
              </a:rPr>
              <a:t>   答案：</a:t>
            </a:r>
            <a:r>
              <a:rPr kumimoji="1" lang="en-US" altLang="zh-CN" sz="2400" b="1">
                <a:solidFill>
                  <a:srgbClr val="FF0000"/>
                </a:solidFill>
                <a:latin typeface="幼圆" pitchFamily="49" charset="-122"/>
                <a:ea typeface="幼圆" pitchFamily="49" charset="-122"/>
              </a:rPr>
              <a:t>D</a:t>
            </a:r>
          </a:p>
          <a:p>
            <a:pPr marL="0" indent="0" eaLnBrk="1" hangingPunct="1">
              <a:buClr>
                <a:schemeClr val="tx1"/>
              </a:buClr>
              <a:buSzPct val="60000"/>
              <a:buFont typeface="Wingdings" pitchFamily="2" charset="2"/>
              <a:buNone/>
            </a:pP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2</a:t>
            </a: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8</a:t>
            </a:r>
            <a:r>
              <a:rPr kumimoji="1" lang="zh-CN" altLang="zh-CN" sz="2400" b="1">
                <a:solidFill>
                  <a:schemeClr val="tx2"/>
                </a:solidFill>
                <a:latin typeface="幼圆" pitchFamily="49" charset="-122"/>
                <a:ea typeface="幼圆" pitchFamily="49" charset="-122"/>
              </a:rPr>
              <a:t>位反码表示的最大的数是</a:t>
            </a:r>
            <a:r>
              <a:rPr kumimoji="1" lang="en-US" altLang="zh-CN" sz="2400" b="1">
                <a:solidFill>
                  <a:schemeClr val="tx2"/>
                </a:solidFill>
                <a:latin typeface="幼圆" pitchFamily="49" charset="-122"/>
                <a:ea typeface="幼圆" pitchFamily="49" charset="-122"/>
              </a:rPr>
              <a:t>     </a:t>
            </a:r>
            <a:r>
              <a:rPr kumimoji="1" lang="zh-CN" altLang="en-US" sz="2400" b="1">
                <a:solidFill>
                  <a:schemeClr val="tx2"/>
                </a:solidFill>
                <a:latin typeface="幼圆" pitchFamily="49" charset="-122"/>
                <a:ea typeface="幼圆" pitchFamily="49" charset="-122"/>
              </a:rPr>
              <a:t>。</a:t>
            </a:r>
            <a:endParaRPr kumimoji="1" lang="zh-CN"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Wingdings" pitchFamily="2" charset="2"/>
              <a:buNone/>
            </a:pPr>
            <a:r>
              <a:rPr kumimoji="1" lang="en-US" altLang="zh-CN" sz="2400" b="1">
                <a:solidFill>
                  <a:schemeClr val="tx2"/>
                </a:solidFill>
                <a:latin typeface="幼圆" pitchFamily="49" charset="-122"/>
                <a:ea typeface="幼圆" pitchFamily="49" charset="-122"/>
              </a:rPr>
              <a:t>   A</a:t>
            </a:r>
            <a:r>
              <a:rPr kumimoji="1" lang="zh-CN" altLang="zh-CN"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127      B.128   C.255       D.256</a:t>
            </a:r>
          </a:p>
          <a:p>
            <a:pPr marL="0" indent="0" eaLnBrk="1" hangingPunct="1">
              <a:buClr>
                <a:schemeClr val="tx1"/>
              </a:buClr>
              <a:buSzPct val="60000"/>
              <a:buFont typeface="Wingdings" pitchFamily="2" charset="2"/>
              <a:buNone/>
            </a:pPr>
            <a:r>
              <a:rPr kumimoji="1" lang="zh-CN" altLang="en-US" sz="2400" b="1">
                <a:solidFill>
                  <a:srgbClr val="FF0000"/>
                </a:solidFill>
                <a:latin typeface="幼圆" pitchFamily="49" charset="-122"/>
                <a:ea typeface="幼圆" pitchFamily="49" charset="-122"/>
              </a:rPr>
              <a:t>   答案：</a:t>
            </a:r>
            <a:r>
              <a:rPr kumimoji="1" lang="en-US" altLang="zh-CN" sz="2400" b="1">
                <a:solidFill>
                  <a:srgbClr val="FF0000"/>
                </a:solidFill>
                <a:latin typeface="幼圆" pitchFamily="49" charset="-122"/>
                <a:ea typeface="幼圆" pitchFamily="49" charset="-122"/>
              </a:rPr>
              <a:t>C</a:t>
            </a:r>
            <a:endParaRPr kumimoji="1" lang="zh-CN" altLang="zh-CN" sz="2400" b="1">
              <a:solidFill>
                <a:schemeClr val="tx2"/>
              </a:solidFill>
              <a:latin typeface="幼圆" pitchFamily="49" charset="-122"/>
              <a:ea typeface="幼圆" pitchFamily="49" charset="-122"/>
            </a:endParaRPr>
          </a:p>
        </p:txBody>
      </p:sp>
      <p:sp>
        <p:nvSpPr>
          <p:cNvPr id="4" name="Rectangle 4"/>
          <p:cNvSpPr>
            <a:spLocks noChangeArrowheads="1"/>
          </p:cNvSpPr>
          <p:nvPr/>
        </p:nvSpPr>
        <p:spPr bwMode="auto">
          <a:xfrm>
            <a:off x="35832" y="53340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ea typeface="幼圆" pitchFamily="49" charset="-122"/>
              </a:rPr>
              <a:t>部分练习</a:t>
            </a:r>
          </a:p>
        </p:txBody>
      </p:sp>
    </p:spTree>
    <p:extLst>
      <p:ext uri="{BB962C8B-B14F-4D97-AF65-F5344CB8AC3E}">
        <p14:creationId xmlns:p14="http://schemas.microsoft.com/office/powerpoint/2010/main" val="2410429944"/>
      </p:ext>
    </p:extLst>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2211">
                                            <p:txEl>
                                              <p:pRg st="0" end="0"/>
                                            </p:txEl>
                                          </p:spTgt>
                                        </p:tgtEl>
                                        <p:attrNameLst>
                                          <p:attrName>style.visibility</p:attrName>
                                        </p:attrNameLst>
                                      </p:cBhvr>
                                      <p:to>
                                        <p:strVal val="visible"/>
                                      </p:to>
                                    </p:set>
                                    <p:animEffect transition="in" filter="wipe(left)">
                                      <p:cBhvr>
                                        <p:cTn id="7" dur="500"/>
                                        <p:tgtEl>
                                          <p:spTgt spid="2222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2211">
                                            <p:txEl>
                                              <p:pRg st="1" end="1"/>
                                            </p:txEl>
                                          </p:spTgt>
                                        </p:tgtEl>
                                        <p:attrNameLst>
                                          <p:attrName>style.visibility</p:attrName>
                                        </p:attrNameLst>
                                      </p:cBhvr>
                                      <p:to>
                                        <p:strVal val="visible"/>
                                      </p:to>
                                    </p:set>
                                    <p:animEffect transition="in" filter="wipe(left)">
                                      <p:cBhvr>
                                        <p:cTn id="12" dur="500"/>
                                        <p:tgtEl>
                                          <p:spTgt spid="2222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2211">
                                            <p:txEl>
                                              <p:pRg st="2" end="2"/>
                                            </p:txEl>
                                          </p:spTgt>
                                        </p:tgtEl>
                                        <p:attrNameLst>
                                          <p:attrName>style.visibility</p:attrName>
                                        </p:attrNameLst>
                                      </p:cBhvr>
                                      <p:to>
                                        <p:strVal val="visible"/>
                                      </p:to>
                                    </p:set>
                                    <p:animEffect transition="in" filter="wipe(left)">
                                      <p:cBhvr>
                                        <p:cTn id="17" dur="500"/>
                                        <p:tgtEl>
                                          <p:spTgt spid="2222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2211">
                                            <p:txEl>
                                              <p:pRg st="3" end="3"/>
                                            </p:txEl>
                                          </p:spTgt>
                                        </p:tgtEl>
                                        <p:attrNameLst>
                                          <p:attrName>style.visibility</p:attrName>
                                        </p:attrNameLst>
                                      </p:cBhvr>
                                      <p:to>
                                        <p:strVal val="visible"/>
                                      </p:to>
                                    </p:set>
                                    <p:animEffect transition="in" filter="wipe(left)">
                                      <p:cBhvr>
                                        <p:cTn id="22" dur="500"/>
                                        <p:tgtEl>
                                          <p:spTgt spid="2222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2211">
                                            <p:txEl>
                                              <p:pRg st="4" end="4"/>
                                            </p:txEl>
                                          </p:spTgt>
                                        </p:tgtEl>
                                        <p:attrNameLst>
                                          <p:attrName>style.visibility</p:attrName>
                                        </p:attrNameLst>
                                      </p:cBhvr>
                                      <p:to>
                                        <p:strVal val="visible"/>
                                      </p:to>
                                    </p:set>
                                    <p:animEffect transition="in" filter="wipe(left)">
                                      <p:cBhvr>
                                        <p:cTn id="27" dur="500"/>
                                        <p:tgtEl>
                                          <p:spTgt spid="22221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2211">
                                            <p:txEl>
                                              <p:pRg st="5" end="5"/>
                                            </p:txEl>
                                          </p:spTgt>
                                        </p:tgtEl>
                                        <p:attrNameLst>
                                          <p:attrName>style.visibility</p:attrName>
                                        </p:attrNameLst>
                                      </p:cBhvr>
                                      <p:to>
                                        <p:strVal val="visible"/>
                                      </p:to>
                                    </p:set>
                                    <p:animEffect transition="in" filter="wipe(left)">
                                      <p:cBhvr>
                                        <p:cTn id="32" dur="500"/>
                                        <p:tgtEl>
                                          <p:spTgt spid="22221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2211">
                                            <p:txEl>
                                              <p:pRg st="6" end="6"/>
                                            </p:txEl>
                                          </p:spTgt>
                                        </p:tgtEl>
                                        <p:attrNameLst>
                                          <p:attrName>style.visibility</p:attrName>
                                        </p:attrNameLst>
                                      </p:cBhvr>
                                      <p:to>
                                        <p:strVal val="visible"/>
                                      </p:to>
                                    </p:set>
                                    <p:animEffect transition="in" filter="wipe(left)">
                                      <p:cBhvr>
                                        <p:cTn id="37" dur="500"/>
                                        <p:tgtEl>
                                          <p:spTgt spid="22221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2211">
                                            <p:txEl>
                                              <p:pRg st="7" end="7"/>
                                            </p:txEl>
                                          </p:spTgt>
                                        </p:tgtEl>
                                        <p:attrNameLst>
                                          <p:attrName>style.visibility</p:attrName>
                                        </p:attrNameLst>
                                      </p:cBhvr>
                                      <p:to>
                                        <p:strVal val="visible"/>
                                      </p:to>
                                    </p:set>
                                    <p:animEffect transition="in" filter="wipe(left)">
                                      <p:cBhvr>
                                        <p:cTn id="42" dur="500"/>
                                        <p:tgtEl>
                                          <p:spTgt spid="222211">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22211">
                                            <p:txEl>
                                              <p:pRg st="8" end="8"/>
                                            </p:txEl>
                                          </p:spTgt>
                                        </p:tgtEl>
                                        <p:attrNameLst>
                                          <p:attrName>style.visibility</p:attrName>
                                        </p:attrNameLst>
                                      </p:cBhvr>
                                      <p:to>
                                        <p:strVal val="visible"/>
                                      </p:to>
                                    </p:set>
                                    <p:animEffect transition="in" filter="wipe(left)">
                                      <p:cBhvr>
                                        <p:cTn id="47" dur="500"/>
                                        <p:tgtEl>
                                          <p:spTgt spid="2222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1" grpId="0" build="p" autoUpdateAnimBg="0"/>
    </p:bldLst>
  </p:timing>
</p:sld>
</file>

<file path=ppt/slides/slide1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1" name="Rectangle 3"/>
          <p:cNvSpPr>
            <a:spLocks noGrp="1" noChangeArrowheads="1"/>
          </p:cNvSpPr>
          <p:nvPr>
            <p:ph type="body" sz="half" idx="1"/>
          </p:nvPr>
        </p:nvSpPr>
        <p:spPr>
          <a:xfrm>
            <a:off x="152400" y="1219200"/>
            <a:ext cx="8534400" cy="5705475"/>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Wingdings" pitchFamily="2" charset="2"/>
              <a:buNone/>
            </a:pP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3</a:t>
            </a:r>
            <a:r>
              <a:rPr kumimoji="1" lang="zh-CN" altLang="en-US" sz="2400" b="1">
                <a:solidFill>
                  <a:schemeClr val="tx2"/>
                </a:solidFill>
                <a:latin typeface="幼圆" pitchFamily="49" charset="-122"/>
                <a:ea typeface="幼圆" pitchFamily="49" charset="-122"/>
              </a:rPr>
              <a:t>】</a:t>
            </a:r>
            <a:r>
              <a:rPr kumimoji="1" lang="zh-CN" altLang="zh-CN" sz="2400" b="1">
                <a:solidFill>
                  <a:schemeClr val="tx2"/>
                </a:solidFill>
                <a:latin typeface="幼圆" pitchFamily="49" charset="-122"/>
                <a:ea typeface="幼圆" pitchFamily="49" charset="-122"/>
              </a:rPr>
              <a:t>二进制数</a:t>
            </a:r>
            <a:r>
              <a:rPr kumimoji="1" lang="en-US" altLang="zh-CN" sz="2400" b="1">
                <a:solidFill>
                  <a:schemeClr val="tx2"/>
                </a:solidFill>
                <a:latin typeface="幼圆" pitchFamily="49" charset="-122"/>
                <a:ea typeface="幼圆" pitchFamily="49" charset="-122"/>
              </a:rPr>
              <a:t>10111000</a:t>
            </a:r>
            <a:r>
              <a:rPr kumimoji="1" lang="zh-CN" altLang="zh-CN" sz="2400" b="1">
                <a:solidFill>
                  <a:schemeClr val="tx2"/>
                </a:solidFill>
                <a:latin typeface="幼圆" pitchFamily="49" charset="-122"/>
                <a:ea typeface="幼圆" pitchFamily="49" charset="-122"/>
              </a:rPr>
              <a:t>和</a:t>
            </a:r>
            <a:r>
              <a:rPr kumimoji="1" lang="en-US" altLang="zh-CN" sz="2400" b="1">
                <a:solidFill>
                  <a:schemeClr val="tx2"/>
                </a:solidFill>
                <a:latin typeface="幼圆" pitchFamily="49" charset="-122"/>
                <a:ea typeface="幼圆" pitchFamily="49" charset="-122"/>
              </a:rPr>
              <a:t>11001010</a:t>
            </a:r>
            <a:r>
              <a:rPr kumimoji="1" lang="zh-CN" altLang="zh-CN" sz="2400" b="1">
                <a:solidFill>
                  <a:schemeClr val="tx2"/>
                </a:solidFill>
                <a:latin typeface="幼圆" pitchFamily="49" charset="-122"/>
                <a:ea typeface="幼圆" pitchFamily="49" charset="-122"/>
              </a:rPr>
              <a:t>进行逻辑“与”运算，结果再与</a:t>
            </a:r>
            <a:r>
              <a:rPr kumimoji="1" lang="en-US" altLang="zh-CN" sz="2400" b="1">
                <a:solidFill>
                  <a:schemeClr val="tx2"/>
                </a:solidFill>
                <a:latin typeface="幼圆" pitchFamily="49" charset="-122"/>
                <a:ea typeface="幼圆" pitchFamily="49" charset="-122"/>
              </a:rPr>
              <a:t>10100110</a:t>
            </a:r>
            <a:r>
              <a:rPr kumimoji="1" lang="zh-CN" altLang="zh-CN" sz="2400" b="1">
                <a:solidFill>
                  <a:schemeClr val="tx2"/>
                </a:solidFill>
                <a:latin typeface="幼圆" pitchFamily="49" charset="-122"/>
                <a:ea typeface="幼圆" pitchFamily="49" charset="-122"/>
              </a:rPr>
              <a:t>进行逻辑“或”运算，最终结果的二进制形式为</a:t>
            </a:r>
            <a:r>
              <a:rPr kumimoji="1" lang="en-US" altLang="zh-CN" sz="2400" b="1">
                <a:solidFill>
                  <a:schemeClr val="tx2"/>
                </a:solidFill>
                <a:latin typeface="幼圆" pitchFamily="49" charset="-122"/>
                <a:ea typeface="幼圆" pitchFamily="49" charset="-122"/>
              </a:rPr>
              <a:t>     </a:t>
            </a:r>
            <a:r>
              <a:rPr kumimoji="1" lang="zh-CN" altLang="zh-CN" sz="2400" b="1">
                <a:solidFill>
                  <a:schemeClr val="tx2"/>
                </a:solidFill>
                <a:latin typeface="幼圆" pitchFamily="49" charset="-122"/>
                <a:ea typeface="幼圆" pitchFamily="49" charset="-122"/>
              </a:rPr>
              <a:t>。</a:t>
            </a:r>
          </a:p>
          <a:p>
            <a:pPr marL="0" indent="0" eaLnBrk="1" hangingPunct="1">
              <a:buClr>
                <a:schemeClr val="tx1"/>
              </a:buClr>
              <a:buSzPct val="60000"/>
              <a:buFont typeface="Wingdings" pitchFamily="2" charset="2"/>
              <a:buNone/>
            </a:pPr>
            <a:r>
              <a:rPr kumimoji="1" lang="en-US" altLang="zh-CN" sz="2400" b="1">
                <a:solidFill>
                  <a:schemeClr val="tx2"/>
                </a:solidFill>
                <a:latin typeface="幼圆" pitchFamily="49" charset="-122"/>
                <a:ea typeface="幼圆" pitchFamily="49" charset="-122"/>
              </a:rPr>
              <a:t>A. 11101011              B. 11101010</a:t>
            </a:r>
            <a:endParaRPr kumimoji="1" lang="zh-CN"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Wingdings" pitchFamily="2" charset="2"/>
              <a:buNone/>
            </a:pPr>
            <a:r>
              <a:rPr kumimoji="1" lang="en-US" altLang="zh-CN" sz="2400" b="1">
                <a:solidFill>
                  <a:schemeClr val="tx2"/>
                </a:solidFill>
                <a:latin typeface="幼圆" pitchFamily="49" charset="-122"/>
                <a:ea typeface="幼圆" pitchFamily="49" charset="-122"/>
              </a:rPr>
              <a:t>C. 10101110              D. 11010110</a:t>
            </a:r>
            <a:endParaRPr kumimoji="1" lang="zh-CN"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Wingdings" pitchFamily="2" charset="2"/>
              <a:buNone/>
            </a:pPr>
            <a:r>
              <a:rPr kumimoji="1" lang="zh-CN" altLang="en-US" sz="2400" b="1">
                <a:solidFill>
                  <a:srgbClr val="FF0000"/>
                </a:solidFill>
                <a:latin typeface="幼圆" pitchFamily="49" charset="-122"/>
                <a:ea typeface="幼圆" pitchFamily="49" charset="-122"/>
              </a:rPr>
              <a:t>答案：</a:t>
            </a:r>
            <a:r>
              <a:rPr kumimoji="1" lang="en-US" altLang="zh-CN" sz="2400" b="1">
                <a:solidFill>
                  <a:srgbClr val="FF0000"/>
                </a:solidFill>
                <a:latin typeface="幼圆" pitchFamily="49" charset="-122"/>
                <a:ea typeface="幼圆" pitchFamily="49" charset="-122"/>
              </a:rPr>
              <a:t>C</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Wingdings" pitchFamily="2" charset="2"/>
              <a:buNone/>
            </a:pP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4</a:t>
            </a:r>
            <a:r>
              <a:rPr kumimoji="1" lang="zh-CN" altLang="en-US" sz="2400" b="1">
                <a:solidFill>
                  <a:schemeClr val="tx2"/>
                </a:solidFill>
                <a:latin typeface="幼圆" pitchFamily="49" charset="-122"/>
                <a:ea typeface="幼圆" pitchFamily="49" charset="-122"/>
              </a:rPr>
              <a:t>】</a:t>
            </a:r>
            <a:r>
              <a:rPr kumimoji="1" lang="zh-CN" altLang="zh-CN" sz="2400" b="1">
                <a:solidFill>
                  <a:schemeClr val="tx2"/>
                </a:solidFill>
                <a:latin typeface="幼圆" pitchFamily="49" charset="-122"/>
                <a:ea typeface="幼圆" pitchFamily="49" charset="-122"/>
              </a:rPr>
              <a:t>用</a:t>
            </a:r>
            <a:r>
              <a:rPr kumimoji="1" lang="en-US" altLang="zh-CN" sz="2400" b="1">
                <a:solidFill>
                  <a:schemeClr val="tx2"/>
                </a:solidFill>
                <a:latin typeface="幼圆" pitchFamily="49" charset="-122"/>
                <a:ea typeface="幼圆" pitchFamily="49" charset="-122"/>
              </a:rPr>
              <a:t>8</a:t>
            </a:r>
            <a:r>
              <a:rPr kumimoji="1" lang="zh-CN" altLang="zh-CN" sz="2400" b="1">
                <a:solidFill>
                  <a:schemeClr val="tx2"/>
                </a:solidFill>
                <a:latin typeface="幼圆" pitchFamily="49" charset="-122"/>
                <a:ea typeface="幼圆" pitchFamily="49" charset="-122"/>
              </a:rPr>
              <a:t>位二进制表示</a:t>
            </a:r>
            <a:r>
              <a:rPr kumimoji="1" lang="en-US" altLang="zh-CN" sz="2400" b="1">
                <a:solidFill>
                  <a:schemeClr val="tx2"/>
                </a:solidFill>
                <a:latin typeface="幼圆" pitchFamily="49" charset="-122"/>
                <a:ea typeface="幼圆" pitchFamily="49" charset="-122"/>
              </a:rPr>
              <a:t>-23</a:t>
            </a:r>
            <a:r>
              <a:rPr kumimoji="1" lang="zh-CN" altLang="zh-CN" sz="2400" b="1">
                <a:solidFill>
                  <a:schemeClr val="tx2"/>
                </a:solidFill>
                <a:latin typeface="幼圆" pitchFamily="49" charset="-122"/>
                <a:ea typeface="幼圆" pitchFamily="49" charset="-122"/>
              </a:rPr>
              <a:t>的补码是</a:t>
            </a:r>
            <a:r>
              <a:rPr kumimoji="1" lang="en-US" altLang="zh-CN" sz="2400" b="1">
                <a:solidFill>
                  <a:schemeClr val="tx2"/>
                </a:solidFill>
                <a:latin typeface="幼圆" pitchFamily="49" charset="-122"/>
                <a:ea typeface="幼圆" pitchFamily="49" charset="-122"/>
              </a:rPr>
              <a:t>    </a:t>
            </a:r>
            <a:r>
              <a:rPr kumimoji="1" lang="zh-CN" altLang="zh-CN" sz="2400" b="1">
                <a:solidFill>
                  <a:schemeClr val="tx2"/>
                </a:solidFill>
                <a:latin typeface="幼圆" pitchFamily="49" charset="-122"/>
                <a:ea typeface="幼圆" pitchFamily="49" charset="-122"/>
              </a:rPr>
              <a:t>。</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Wingdings" pitchFamily="2" charset="2"/>
              <a:buNone/>
            </a:pPr>
            <a:r>
              <a:rPr kumimoji="1" lang="zh-CN" altLang="en-US" sz="2400" b="1">
                <a:solidFill>
                  <a:srgbClr val="FF0000"/>
                </a:solidFill>
                <a:latin typeface="幼圆" pitchFamily="49" charset="-122"/>
                <a:ea typeface="幼圆" pitchFamily="49" charset="-122"/>
              </a:rPr>
              <a:t>答案：</a:t>
            </a:r>
            <a:r>
              <a:rPr lang="en-US" altLang="zh-CN" sz="2400" u="sng">
                <a:ea typeface="宋体" pitchFamily="2" charset="-122"/>
              </a:rPr>
              <a:t>11101001 </a:t>
            </a:r>
          </a:p>
          <a:p>
            <a:pPr marL="0" indent="0" eaLnBrk="1" hangingPunct="1">
              <a:buClr>
                <a:schemeClr val="tx1"/>
              </a:buClr>
              <a:buSzPct val="60000"/>
              <a:buFont typeface="Wingdings" pitchFamily="2" charset="2"/>
              <a:buNone/>
            </a:pP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5</a:t>
            </a:r>
            <a:r>
              <a:rPr kumimoji="1" lang="zh-CN" altLang="en-US" sz="2400" b="1">
                <a:solidFill>
                  <a:schemeClr val="tx2"/>
                </a:solidFill>
                <a:latin typeface="幼圆" pitchFamily="49" charset="-122"/>
                <a:ea typeface="幼圆" pitchFamily="49" charset="-122"/>
              </a:rPr>
              <a:t>】</a:t>
            </a:r>
            <a:r>
              <a:rPr kumimoji="1" lang="zh-CN" altLang="zh-CN" sz="2400" b="1">
                <a:solidFill>
                  <a:schemeClr val="tx2"/>
                </a:solidFill>
                <a:latin typeface="幼圆" pitchFamily="49" charset="-122"/>
                <a:ea typeface="幼圆" pitchFamily="49" charset="-122"/>
              </a:rPr>
              <a:t>补码</a:t>
            </a:r>
            <a:r>
              <a:rPr kumimoji="1" lang="en-US" altLang="zh-CN" sz="2400" b="1">
                <a:solidFill>
                  <a:schemeClr val="tx2"/>
                </a:solidFill>
                <a:latin typeface="幼圆" pitchFamily="49" charset="-122"/>
                <a:ea typeface="幼圆" pitchFamily="49" charset="-122"/>
              </a:rPr>
              <a:t>1000 0000</a:t>
            </a:r>
            <a:r>
              <a:rPr kumimoji="1" lang="zh-CN" altLang="zh-CN" sz="2400" b="1">
                <a:solidFill>
                  <a:schemeClr val="tx2"/>
                </a:solidFill>
                <a:latin typeface="幼圆" pitchFamily="49" charset="-122"/>
                <a:ea typeface="幼圆" pitchFamily="49" charset="-122"/>
              </a:rPr>
              <a:t>的真值是</a:t>
            </a:r>
            <a:r>
              <a:rPr kumimoji="1" lang="en-US" altLang="zh-CN" sz="2400" b="1">
                <a:solidFill>
                  <a:schemeClr val="tx2"/>
                </a:solidFill>
                <a:latin typeface="幼圆" pitchFamily="49" charset="-122"/>
                <a:ea typeface="幼圆" pitchFamily="49" charset="-122"/>
              </a:rPr>
              <a:t>   </a:t>
            </a:r>
            <a:r>
              <a:rPr kumimoji="1" lang="zh-CN" altLang="zh-CN" sz="2400" b="1">
                <a:solidFill>
                  <a:schemeClr val="tx2"/>
                </a:solidFill>
                <a:latin typeface="幼圆" pitchFamily="49" charset="-122"/>
                <a:ea typeface="幼圆" pitchFamily="49" charset="-122"/>
              </a:rPr>
              <a:t>。（十六进制）</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Wingdings" pitchFamily="2" charset="2"/>
              <a:buNone/>
            </a:pPr>
            <a:r>
              <a:rPr kumimoji="1" lang="zh-CN" altLang="en-US" sz="2400" b="1">
                <a:solidFill>
                  <a:srgbClr val="FF0000"/>
                </a:solidFill>
                <a:latin typeface="幼圆" pitchFamily="49" charset="-122"/>
                <a:ea typeface="幼圆" pitchFamily="49" charset="-122"/>
              </a:rPr>
              <a:t>答案：</a:t>
            </a:r>
            <a:r>
              <a:rPr lang="en-US" altLang="zh-CN" sz="2400" u="sng">
                <a:ea typeface="宋体" pitchFamily="2" charset="-122"/>
              </a:rPr>
              <a:t> -80H</a:t>
            </a:r>
            <a:endParaRPr kumimoji="1" lang="zh-CN"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Wingdings" pitchFamily="2" charset="2"/>
              <a:buNone/>
            </a:pP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rPr>
              <a:t>6</a:t>
            </a: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8</a:t>
            </a:r>
            <a:r>
              <a:rPr kumimoji="1" lang="zh-CN" altLang="zh-CN" sz="2400" b="1">
                <a:solidFill>
                  <a:schemeClr val="tx2"/>
                </a:solidFill>
                <a:latin typeface="幼圆" pitchFamily="49" charset="-122"/>
                <a:ea typeface="幼圆" pitchFamily="49" charset="-122"/>
              </a:rPr>
              <a:t>位补码</a:t>
            </a:r>
            <a:r>
              <a:rPr kumimoji="1" lang="en-US" altLang="zh-CN" sz="2400" b="1">
                <a:solidFill>
                  <a:schemeClr val="tx2"/>
                </a:solidFill>
                <a:latin typeface="幼圆" pitchFamily="49" charset="-122"/>
                <a:ea typeface="幼圆" pitchFamily="49" charset="-122"/>
              </a:rPr>
              <a:t>00011001</a:t>
            </a:r>
            <a:r>
              <a:rPr kumimoji="1" lang="zh-CN" altLang="zh-CN" sz="2400" b="1">
                <a:solidFill>
                  <a:schemeClr val="tx2"/>
                </a:solidFill>
                <a:latin typeface="幼圆" pitchFamily="49" charset="-122"/>
                <a:ea typeface="幼圆" pitchFamily="49" charset="-122"/>
              </a:rPr>
              <a:t>与</a:t>
            </a:r>
            <a:r>
              <a:rPr kumimoji="1" lang="en-US" altLang="zh-CN" sz="2400" b="1">
                <a:solidFill>
                  <a:schemeClr val="tx2"/>
                </a:solidFill>
                <a:latin typeface="幼圆" pitchFamily="49" charset="-122"/>
                <a:ea typeface="幼圆" pitchFamily="49" charset="-122"/>
              </a:rPr>
              <a:t>11100000</a:t>
            </a:r>
            <a:r>
              <a:rPr kumimoji="1" lang="zh-CN" altLang="zh-CN" sz="2400" b="1">
                <a:solidFill>
                  <a:schemeClr val="tx2"/>
                </a:solidFill>
                <a:latin typeface="幼圆" pitchFamily="49" charset="-122"/>
                <a:ea typeface="幼圆" pitchFamily="49" charset="-122"/>
              </a:rPr>
              <a:t>相加的结果为</a:t>
            </a:r>
            <a:r>
              <a:rPr kumimoji="1" lang="en-US" altLang="zh-CN" sz="2400" b="1">
                <a:solidFill>
                  <a:schemeClr val="tx2"/>
                </a:solidFill>
                <a:latin typeface="幼圆" pitchFamily="49" charset="-122"/>
                <a:ea typeface="幼圆" pitchFamily="49" charset="-122"/>
              </a:rPr>
              <a:t>   </a:t>
            </a:r>
            <a:r>
              <a:rPr kumimoji="1" lang="zh-CN" altLang="en-US" sz="2400" b="1">
                <a:solidFill>
                  <a:schemeClr val="tx2"/>
                </a:solidFill>
                <a:latin typeface="幼圆" pitchFamily="49" charset="-122"/>
                <a:ea typeface="幼圆" pitchFamily="49" charset="-122"/>
              </a:rPr>
              <a:t>。</a:t>
            </a:r>
            <a:r>
              <a:rPr kumimoji="1" lang="zh-CN" altLang="zh-CN" sz="2400" b="1">
                <a:solidFill>
                  <a:schemeClr val="tx2"/>
                </a:solidFill>
                <a:latin typeface="幼圆" pitchFamily="49" charset="-122"/>
                <a:ea typeface="幼圆" pitchFamily="49" charset="-122"/>
              </a:rPr>
              <a:t>（十进制）。</a:t>
            </a:r>
            <a:endParaRPr kumimoji="1" lang="en-US" altLang="zh-CN" sz="2400" b="1">
              <a:solidFill>
                <a:schemeClr val="tx2"/>
              </a:solidFill>
              <a:latin typeface="幼圆" pitchFamily="49" charset="-122"/>
              <a:ea typeface="幼圆" pitchFamily="49" charset="-122"/>
            </a:endParaRPr>
          </a:p>
          <a:p>
            <a:pPr marL="0" indent="0" eaLnBrk="1" hangingPunct="1">
              <a:buClr>
                <a:schemeClr val="tx1"/>
              </a:buClr>
              <a:buSzPct val="60000"/>
              <a:buFont typeface="Wingdings" pitchFamily="2" charset="2"/>
              <a:buNone/>
            </a:pPr>
            <a:r>
              <a:rPr kumimoji="1" lang="zh-CN" altLang="en-US" sz="2400" b="1">
                <a:solidFill>
                  <a:srgbClr val="FF0000"/>
                </a:solidFill>
                <a:latin typeface="幼圆" pitchFamily="49" charset="-122"/>
                <a:ea typeface="幼圆" pitchFamily="49" charset="-122"/>
              </a:rPr>
              <a:t>答案：</a:t>
            </a:r>
            <a:r>
              <a:rPr lang="en-US" altLang="zh-CN" sz="2400" u="sng">
                <a:ea typeface="宋体" pitchFamily="2" charset="-122"/>
              </a:rPr>
              <a:t> -7</a:t>
            </a:r>
            <a:endParaRPr kumimoji="1" lang="zh-CN" altLang="zh-CN" sz="2400" b="1">
              <a:solidFill>
                <a:schemeClr val="tx2"/>
              </a:solidFill>
              <a:latin typeface="幼圆" pitchFamily="49" charset="-122"/>
              <a:ea typeface="幼圆" pitchFamily="49" charset="-122"/>
            </a:endParaRPr>
          </a:p>
        </p:txBody>
      </p:sp>
      <p:sp>
        <p:nvSpPr>
          <p:cNvPr id="4" name="Rectangle 4"/>
          <p:cNvSpPr>
            <a:spLocks noChangeArrowheads="1"/>
          </p:cNvSpPr>
          <p:nvPr/>
        </p:nvSpPr>
        <p:spPr bwMode="auto">
          <a:xfrm>
            <a:off x="35832" y="53340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ea typeface="幼圆" pitchFamily="49" charset="-122"/>
              </a:rPr>
              <a:t>部分练习</a:t>
            </a:r>
          </a:p>
        </p:txBody>
      </p:sp>
    </p:spTree>
    <p:extLst>
      <p:ext uri="{BB962C8B-B14F-4D97-AF65-F5344CB8AC3E}">
        <p14:creationId xmlns:p14="http://schemas.microsoft.com/office/powerpoint/2010/main" val="1918138751"/>
      </p:ext>
    </p:extLst>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2211">
                                            <p:txEl>
                                              <p:pRg st="0" end="0"/>
                                            </p:txEl>
                                          </p:spTgt>
                                        </p:tgtEl>
                                        <p:attrNameLst>
                                          <p:attrName>style.visibility</p:attrName>
                                        </p:attrNameLst>
                                      </p:cBhvr>
                                      <p:to>
                                        <p:strVal val="visible"/>
                                      </p:to>
                                    </p:set>
                                    <p:animEffect transition="in" filter="wipe(left)">
                                      <p:cBhvr>
                                        <p:cTn id="7" dur="500"/>
                                        <p:tgtEl>
                                          <p:spTgt spid="2222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2211">
                                            <p:txEl>
                                              <p:pRg st="1" end="1"/>
                                            </p:txEl>
                                          </p:spTgt>
                                        </p:tgtEl>
                                        <p:attrNameLst>
                                          <p:attrName>style.visibility</p:attrName>
                                        </p:attrNameLst>
                                      </p:cBhvr>
                                      <p:to>
                                        <p:strVal val="visible"/>
                                      </p:to>
                                    </p:set>
                                    <p:animEffect transition="in" filter="wipe(left)">
                                      <p:cBhvr>
                                        <p:cTn id="12" dur="500"/>
                                        <p:tgtEl>
                                          <p:spTgt spid="2222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2211">
                                            <p:txEl>
                                              <p:pRg st="2" end="2"/>
                                            </p:txEl>
                                          </p:spTgt>
                                        </p:tgtEl>
                                        <p:attrNameLst>
                                          <p:attrName>style.visibility</p:attrName>
                                        </p:attrNameLst>
                                      </p:cBhvr>
                                      <p:to>
                                        <p:strVal val="visible"/>
                                      </p:to>
                                    </p:set>
                                    <p:animEffect transition="in" filter="wipe(left)">
                                      <p:cBhvr>
                                        <p:cTn id="17" dur="500"/>
                                        <p:tgtEl>
                                          <p:spTgt spid="2222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2211">
                                            <p:txEl>
                                              <p:pRg st="3" end="3"/>
                                            </p:txEl>
                                          </p:spTgt>
                                        </p:tgtEl>
                                        <p:attrNameLst>
                                          <p:attrName>style.visibility</p:attrName>
                                        </p:attrNameLst>
                                      </p:cBhvr>
                                      <p:to>
                                        <p:strVal val="visible"/>
                                      </p:to>
                                    </p:set>
                                    <p:animEffect transition="in" filter="wipe(left)">
                                      <p:cBhvr>
                                        <p:cTn id="22" dur="500"/>
                                        <p:tgtEl>
                                          <p:spTgt spid="2222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2211">
                                            <p:txEl>
                                              <p:pRg st="4" end="4"/>
                                            </p:txEl>
                                          </p:spTgt>
                                        </p:tgtEl>
                                        <p:attrNameLst>
                                          <p:attrName>style.visibility</p:attrName>
                                        </p:attrNameLst>
                                      </p:cBhvr>
                                      <p:to>
                                        <p:strVal val="visible"/>
                                      </p:to>
                                    </p:set>
                                    <p:animEffect transition="in" filter="wipe(left)">
                                      <p:cBhvr>
                                        <p:cTn id="27" dur="500"/>
                                        <p:tgtEl>
                                          <p:spTgt spid="22221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2211">
                                            <p:txEl>
                                              <p:pRg st="5" end="5"/>
                                            </p:txEl>
                                          </p:spTgt>
                                        </p:tgtEl>
                                        <p:attrNameLst>
                                          <p:attrName>style.visibility</p:attrName>
                                        </p:attrNameLst>
                                      </p:cBhvr>
                                      <p:to>
                                        <p:strVal val="visible"/>
                                      </p:to>
                                    </p:set>
                                    <p:animEffect transition="in" filter="wipe(left)">
                                      <p:cBhvr>
                                        <p:cTn id="32" dur="500"/>
                                        <p:tgtEl>
                                          <p:spTgt spid="22221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2211">
                                            <p:txEl>
                                              <p:pRg st="6" end="6"/>
                                            </p:txEl>
                                          </p:spTgt>
                                        </p:tgtEl>
                                        <p:attrNameLst>
                                          <p:attrName>style.visibility</p:attrName>
                                        </p:attrNameLst>
                                      </p:cBhvr>
                                      <p:to>
                                        <p:strVal val="visible"/>
                                      </p:to>
                                    </p:set>
                                    <p:animEffect transition="in" filter="wipe(left)">
                                      <p:cBhvr>
                                        <p:cTn id="37" dur="500"/>
                                        <p:tgtEl>
                                          <p:spTgt spid="22221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2211">
                                            <p:txEl>
                                              <p:pRg st="7" end="7"/>
                                            </p:txEl>
                                          </p:spTgt>
                                        </p:tgtEl>
                                        <p:attrNameLst>
                                          <p:attrName>style.visibility</p:attrName>
                                        </p:attrNameLst>
                                      </p:cBhvr>
                                      <p:to>
                                        <p:strVal val="visible"/>
                                      </p:to>
                                    </p:set>
                                    <p:animEffect transition="in" filter="wipe(left)">
                                      <p:cBhvr>
                                        <p:cTn id="42" dur="500"/>
                                        <p:tgtEl>
                                          <p:spTgt spid="222211">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22211">
                                            <p:txEl>
                                              <p:pRg st="8" end="8"/>
                                            </p:txEl>
                                          </p:spTgt>
                                        </p:tgtEl>
                                        <p:attrNameLst>
                                          <p:attrName>style.visibility</p:attrName>
                                        </p:attrNameLst>
                                      </p:cBhvr>
                                      <p:to>
                                        <p:strVal val="visible"/>
                                      </p:to>
                                    </p:set>
                                    <p:animEffect transition="in" filter="wipe(left)">
                                      <p:cBhvr>
                                        <p:cTn id="47" dur="500"/>
                                        <p:tgtEl>
                                          <p:spTgt spid="222211">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22211">
                                            <p:txEl>
                                              <p:pRg st="9" end="9"/>
                                            </p:txEl>
                                          </p:spTgt>
                                        </p:tgtEl>
                                        <p:attrNameLst>
                                          <p:attrName>style.visibility</p:attrName>
                                        </p:attrNameLst>
                                      </p:cBhvr>
                                      <p:to>
                                        <p:strVal val="visible"/>
                                      </p:to>
                                    </p:set>
                                    <p:animEffect transition="in" filter="wipe(left)">
                                      <p:cBhvr>
                                        <p:cTn id="52" dur="500"/>
                                        <p:tgtEl>
                                          <p:spTgt spid="22221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1" grpId="0" build="p" autoUpdateAnimBg="0"/>
    </p:bldLst>
  </p:timing>
</p:sld>
</file>

<file path=ppt/slides/slide1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1" name="Rectangle 3"/>
          <p:cNvSpPr>
            <a:spLocks noGrp="1" noChangeArrowheads="1"/>
          </p:cNvSpPr>
          <p:nvPr>
            <p:ph type="body" sz="half" idx="1"/>
          </p:nvPr>
        </p:nvSpPr>
        <p:spPr>
          <a:xfrm>
            <a:off x="152400" y="1219200"/>
            <a:ext cx="8534400" cy="4894263"/>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【1】一个Ｃ语言程序是由      组成的。</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A) </a:t>
            </a:r>
            <a:r>
              <a:rPr kumimoji="1" lang="zh-CN" altLang="en-US" sz="2400" b="1">
                <a:solidFill>
                  <a:schemeClr val="tx2"/>
                </a:solidFill>
                <a:latin typeface="幼圆" pitchFamily="49" charset="-122"/>
                <a:ea typeface="幼圆" pitchFamily="49" charset="-122"/>
              </a:rPr>
              <a:t>主程序   </a:t>
            </a:r>
            <a:r>
              <a:rPr kumimoji="1" lang="en-US" altLang="zh-CN" sz="2400" b="1">
                <a:solidFill>
                  <a:schemeClr val="tx2"/>
                </a:solidFill>
                <a:latin typeface="幼圆" pitchFamily="49" charset="-122"/>
                <a:ea typeface="幼圆" pitchFamily="49" charset="-122"/>
              </a:rPr>
              <a:t>B) </a:t>
            </a:r>
            <a:r>
              <a:rPr kumimoji="1" lang="zh-CN" altLang="en-US" sz="2400" b="1">
                <a:solidFill>
                  <a:schemeClr val="tx2"/>
                </a:solidFill>
                <a:latin typeface="幼圆" pitchFamily="49" charset="-122"/>
                <a:ea typeface="幼圆" pitchFamily="49" charset="-122"/>
              </a:rPr>
              <a:t>子程序  </a:t>
            </a:r>
            <a:r>
              <a:rPr kumimoji="1" lang="en-US" altLang="zh-CN" sz="2400" b="1">
                <a:solidFill>
                  <a:schemeClr val="tx2"/>
                </a:solidFill>
                <a:latin typeface="幼圆" pitchFamily="49" charset="-122"/>
                <a:ea typeface="幼圆" pitchFamily="49" charset="-122"/>
              </a:rPr>
              <a:t>C) </a:t>
            </a:r>
            <a:r>
              <a:rPr kumimoji="1" lang="zh-CN" altLang="en-US" sz="2400" b="1">
                <a:solidFill>
                  <a:schemeClr val="tx2"/>
                </a:solidFill>
                <a:latin typeface="幼圆" pitchFamily="49" charset="-122"/>
                <a:ea typeface="幼圆" pitchFamily="49" charset="-122"/>
              </a:rPr>
              <a:t>函数   </a:t>
            </a:r>
            <a:r>
              <a:rPr kumimoji="1" lang="en-US" altLang="zh-CN" sz="2400" b="1">
                <a:solidFill>
                  <a:schemeClr val="tx2"/>
                </a:solidFill>
                <a:latin typeface="幼圆" pitchFamily="49" charset="-122"/>
                <a:ea typeface="幼圆" pitchFamily="49" charset="-122"/>
              </a:rPr>
              <a:t>D) </a:t>
            </a:r>
            <a:r>
              <a:rPr kumimoji="1" lang="zh-CN" altLang="en-US" sz="2400" b="1">
                <a:solidFill>
                  <a:schemeClr val="tx2"/>
                </a:solidFill>
                <a:latin typeface="幼圆" pitchFamily="49" charset="-122"/>
                <a:ea typeface="幼圆" pitchFamily="49" charset="-122"/>
              </a:rPr>
              <a:t>过程</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zh-CN" altLang="en-US" sz="2400" b="1">
                <a:solidFill>
                  <a:srgbClr val="FF0000"/>
                </a:solidFill>
                <a:latin typeface="幼圆" pitchFamily="49" charset="-122"/>
                <a:ea typeface="幼圆" pitchFamily="49" charset="-122"/>
              </a:rPr>
              <a:t>答案：</a:t>
            </a:r>
            <a:r>
              <a:rPr kumimoji="1" lang="en-US" altLang="zh-CN" sz="2400" b="1">
                <a:solidFill>
                  <a:srgbClr val="FF0000"/>
                </a:solidFill>
                <a:latin typeface="幼圆" pitchFamily="49" charset="-122"/>
                <a:ea typeface="幼圆" pitchFamily="49" charset="-122"/>
              </a:rPr>
              <a:t>C</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【2】</a:t>
            </a:r>
            <a:r>
              <a:rPr kumimoji="1" lang="zh-CN" altLang="en-US" sz="2400" b="1">
                <a:solidFill>
                  <a:schemeClr val="tx2"/>
                </a:solidFill>
                <a:latin typeface="幼圆" pitchFamily="49" charset="-122"/>
                <a:ea typeface="幼圆" pitchFamily="49" charset="-122"/>
              </a:rPr>
              <a:t>Ｃ语言中</a:t>
            </a:r>
            <a:r>
              <a:rPr kumimoji="1" lang="en-US" altLang="zh-CN" sz="2400" b="1">
                <a:solidFill>
                  <a:schemeClr val="tx2"/>
                </a:solidFill>
                <a:latin typeface="幼圆" pitchFamily="49" charset="-122"/>
                <a:ea typeface="幼圆" pitchFamily="49" charset="-122"/>
              </a:rPr>
              <a:t>char</a:t>
            </a:r>
            <a:r>
              <a:rPr kumimoji="1" lang="zh-CN" altLang="en-US" sz="2400" b="1">
                <a:solidFill>
                  <a:schemeClr val="tx2"/>
                </a:solidFill>
                <a:latin typeface="幼圆" pitchFamily="49" charset="-122"/>
                <a:ea typeface="幼圆" pitchFamily="49" charset="-122"/>
              </a:rPr>
              <a:t>型数据在内存中是以      形式存储。</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A) </a:t>
            </a:r>
            <a:r>
              <a:rPr kumimoji="1" lang="zh-CN" altLang="en-US" sz="2400" b="1">
                <a:solidFill>
                  <a:schemeClr val="tx2"/>
                </a:solidFill>
                <a:latin typeface="幼圆" pitchFamily="49" charset="-122"/>
                <a:ea typeface="幼圆" pitchFamily="49" charset="-122"/>
              </a:rPr>
              <a:t>原码     </a:t>
            </a:r>
            <a:r>
              <a:rPr kumimoji="1" lang="en-US" altLang="zh-CN" sz="2400" b="1">
                <a:solidFill>
                  <a:schemeClr val="tx2"/>
                </a:solidFill>
                <a:latin typeface="幼圆" pitchFamily="49" charset="-122"/>
                <a:ea typeface="幼圆" pitchFamily="49" charset="-122"/>
              </a:rPr>
              <a:t>B) </a:t>
            </a:r>
            <a:r>
              <a:rPr kumimoji="1" lang="zh-CN" altLang="en-US" sz="2400" b="1">
                <a:solidFill>
                  <a:schemeClr val="tx2"/>
                </a:solidFill>
                <a:latin typeface="幼圆" pitchFamily="49" charset="-122"/>
                <a:ea typeface="幼圆" pitchFamily="49" charset="-122"/>
              </a:rPr>
              <a:t>补码   </a:t>
            </a:r>
            <a:r>
              <a:rPr kumimoji="1" lang="en-US" altLang="zh-CN" sz="2400" b="1">
                <a:solidFill>
                  <a:schemeClr val="tx2"/>
                </a:solidFill>
                <a:latin typeface="幼圆" pitchFamily="49" charset="-122"/>
                <a:ea typeface="幼圆" pitchFamily="49" charset="-122"/>
              </a:rPr>
              <a:t>C) </a:t>
            </a:r>
            <a:r>
              <a:rPr kumimoji="1" lang="zh-CN" altLang="en-US" sz="2400" b="1">
                <a:solidFill>
                  <a:schemeClr val="tx2"/>
                </a:solidFill>
                <a:latin typeface="幼圆" pitchFamily="49" charset="-122"/>
                <a:ea typeface="幼圆" pitchFamily="49" charset="-122"/>
              </a:rPr>
              <a:t>反码   </a:t>
            </a:r>
            <a:r>
              <a:rPr kumimoji="1" lang="en-US" altLang="zh-CN" sz="2400" b="1">
                <a:solidFill>
                  <a:schemeClr val="tx2"/>
                </a:solidFill>
                <a:latin typeface="幼圆" pitchFamily="49" charset="-122"/>
                <a:ea typeface="幼圆" pitchFamily="49" charset="-122"/>
              </a:rPr>
              <a:t>D) ASCII</a:t>
            </a:r>
            <a:r>
              <a:rPr kumimoji="1" lang="zh-CN" altLang="en-US" sz="2400" b="1">
                <a:solidFill>
                  <a:schemeClr val="tx2"/>
                </a:solidFill>
                <a:latin typeface="幼圆" pitchFamily="49" charset="-122"/>
                <a:ea typeface="幼圆" pitchFamily="49" charset="-122"/>
              </a:rPr>
              <a:t>码</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zh-CN" altLang="en-US" sz="2400" b="1">
                <a:solidFill>
                  <a:srgbClr val="FF0000"/>
                </a:solidFill>
                <a:latin typeface="幼圆" pitchFamily="49" charset="-122"/>
                <a:ea typeface="幼圆" pitchFamily="49" charset="-122"/>
              </a:rPr>
              <a:t>答案：</a:t>
            </a:r>
            <a:r>
              <a:rPr kumimoji="1" lang="en-US" altLang="zh-CN" sz="2400" b="1">
                <a:solidFill>
                  <a:srgbClr val="FF0000"/>
                </a:solidFill>
                <a:latin typeface="幼圆" pitchFamily="49" charset="-122"/>
                <a:ea typeface="幼圆" pitchFamily="49" charset="-122"/>
              </a:rPr>
              <a:t>D</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【3】C</a:t>
            </a:r>
            <a:r>
              <a:rPr kumimoji="1" lang="zh-CN" altLang="en-US" sz="2400" b="1">
                <a:solidFill>
                  <a:schemeClr val="tx2"/>
                </a:solidFill>
                <a:latin typeface="幼圆" pitchFamily="49" charset="-122"/>
                <a:ea typeface="幼圆" pitchFamily="49" charset="-122"/>
              </a:rPr>
              <a:t>的运算符按运算对象的数目可以分为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A) </a:t>
            </a:r>
            <a:r>
              <a:rPr kumimoji="1" lang="zh-CN" altLang="en-US" sz="2400" b="1">
                <a:solidFill>
                  <a:schemeClr val="tx2"/>
                </a:solidFill>
                <a:latin typeface="幼圆" pitchFamily="49" charset="-122"/>
                <a:ea typeface="幼圆" pitchFamily="49" charset="-122"/>
              </a:rPr>
              <a:t>单目算符一种         </a:t>
            </a:r>
            <a:r>
              <a:rPr kumimoji="1" lang="en-US" altLang="zh-CN" sz="2400" b="1">
                <a:solidFill>
                  <a:schemeClr val="tx2"/>
                </a:solidFill>
                <a:latin typeface="幼圆" pitchFamily="49" charset="-122"/>
                <a:ea typeface="幼圆" pitchFamily="49" charset="-122"/>
              </a:rPr>
              <a:t>B) </a:t>
            </a:r>
            <a:r>
              <a:rPr kumimoji="1" lang="zh-CN" altLang="en-US" sz="2400" b="1">
                <a:solidFill>
                  <a:schemeClr val="tx2"/>
                </a:solidFill>
                <a:latin typeface="幼圆" pitchFamily="49" charset="-122"/>
                <a:ea typeface="幼圆" pitchFamily="49" charset="-122"/>
              </a:rPr>
              <a:t>单目和双目算符</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C) </a:t>
            </a:r>
            <a:r>
              <a:rPr kumimoji="1" lang="zh-CN" altLang="en-US" sz="2400" b="1">
                <a:solidFill>
                  <a:schemeClr val="tx2"/>
                </a:solidFill>
                <a:latin typeface="幼圆" pitchFamily="49" charset="-122"/>
                <a:ea typeface="幼圆" pitchFamily="49" charset="-122"/>
              </a:rPr>
              <a:t>单目、双目和三目算符</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D) </a:t>
            </a:r>
            <a:r>
              <a:rPr kumimoji="1" lang="zh-CN" altLang="en-US" sz="2400" b="1">
                <a:solidFill>
                  <a:schemeClr val="tx2"/>
                </a:solidFill>
                <a:latin typeface="幼圆" pitchFamily="49" charset="-122"/>
                <a:ea typeface="幼圆" pitchFamily="49" charset="-122"/>
              </a:rPr>
              <a:t>单目、双目、三目和四目算符</a:t>
            </a:r>
          </a:p>
          <a:p>
            <a:pPr marL="0" indent="0" eaLnBrk="1" hangingPunct="1">
              <a:buClr>
                <a:schemeClr val="tx1"/>
              </a:buClr>
              <a:buSzPct val="60000"/>
              <a:buFont typeface="宋体" pitchFamily="2" charset="-122"/>
              <a:buNone/>
            </a:pPr>
            <a:r>
              <a:rPr kumimoji="1" lang="zh-CN" altLang="en-US" sz="2400" b="1">
                <a:solidFill>
                  <a:srgbClr val="FF0000"/>
                </a:solidFill>
                <a:latin typeface="幼圆" pitchFamily="49" charset="-122"/>
                <a:ea typeface="幼圆" pitchFamily="49" charset="-122"/>
              </a:rPr>
              <a:t>　答案：</a:t>
            </a:r>
            <a:r>
              <a:rPr kumimoji="1" lang="en-US" altLang="zh-CN" sz="2400" b="1">
                <a:solidFill>
                  <a:srgbClr val="FF0000"/>
                </a:solidFill>
                <a:latin typeface="幼圆" pitchFamily="49" charset="-122"/>
                <a:ea typeface="幼圆" pitchFamily="49" charset="-122"/>
              </a:rPr>
              <a:t>C </a:t>
            </a:r>
          </a:p>
        </p:txBody>
      </p:sp>
      <p:pic>
        <p:nvPicPr>
          <p:cNvPr id="4" name="Picture 6" descr="BD07100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00800" y="4343400"/>
            <a:ext cx="2743200" cy="210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35832" y="53340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ea typeface="幼圆" pitchFamily="49" charset="-122"/>
              </a:rPr>
              <a:t>部分练习</a:t>
            </a:r>
          </a:p>
        </p:txBody>
      </p:sp>
    </p:spTree>
    <p:extLst>
      <p:ext uri="{BB962C8B-B14F-4D97-AF65-F5344CB8AC3E}">
        <p14:creationId xmlns:p14="http://schemas.microsoft.com/office/powerpoint/2010/main" val="448285007"/>
      </p:ext>
    </p:extLst>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2211">
                                            <p:txEl>
                                              <p:pRg st="0" end="0"/>
                                            </p:txEl>
                                          </p:spTgt>
                                        </p:tgtEl>
                                        <p:attrNameLst>
                                          <p:attrName>style.visibility</p:attrName>
                                        </p:attrNameLst>
                                      </p:cBhvr>
                                      <p:to>
                                        <p:strVal val="visible"/>
                                      </p:to>
                                    </p:set>
                                    <p:animEffect transition="in" filter="wipe(left)">
                                      <p:cBhvr>
                                        <p:cTn id="7" dur="500"/>
                                        <p:tgtEl>
                                          <p:spTgt spid="2222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2211">
                                            <p:txEl>
                                              <p:pRg st="1" end="1"/>
                                            </p:txEl>
                                          </p:spTgt>
                                        </p:tgtEl>
                                        <p:attrNameLst>
                                          <p:attrName>style.visibility</p:attrName>
                                        </p:attrNameLst>
                                      </p:cBhvr>
                                      <p:to>
                                        <p:strVal val="visible"/>
                                      </p:to>
                                    </p:set>
                                    <p:animEffect transition="in" filter="wipe(left)">
                                      <p:cBhvr>
                                        <p:cTn id="12" dur="500"/>
                                        <p:tgtEl>
                                          <p:spTgt spid="2222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2211">
                                            <p:txEl>
                                              <p:pRg st="2" end="2"/>
                                            </p:txEl>
                                          </p:spTgt>
                                        </p:tgtEl>
                                        <p:attrNameLst>
                                          <p:attrName>style.visibility</p:attrName>
                                        </p:attrNameLst>
                                      </p:cBhvr>
                                      <p:to>
                                        <p:strVal val="visible"/>
                                      </p:to>
                                    </p:set>
                                    <p:animEffect transition="in" filter="wipe(left)">
                                      <p:cBhvr>
                                        <p:cTn id="17" dur="500"/>
                                        <p:tgtEl>
                                          <p:spTgt spid="2222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2211">
                                            <p:txEl>
                                              <p:pRg st="3" end="3"/>
                                            </p:txEl>
                                          </p:spTgt>
                                        </p:tgtEl>
                                        <p:attrNameLst>
                                          <p:attrName>style.visibility</p:attrName>
                                        </p:attrNameLst>
                                      </p:cBhvr>
                                      <p:to>
                                        <p:strVal val="visible"/>
                                      </p:to>
                                    </p:set>
                                    <p:animEffect transition="in" filter="wipe(left)">
                                      <p:cBhvr>
                                        <p:cTn id="22" dur="500"/>
                                        <p:tgtEl>
                                          <p:spTgt spid="2222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2211">
                                            <p:txEl>
                                              <p:pRg st="4" end="4"/>
                                            </p:txEl>
                                          </p:spTgt>
                                        </p:tgtEl>
                                        <p:attrNameLst>
                                          <p:attrName>style.visibility</p:attrName>
                                        </p:attrNameLst>
                                      </p:cBhvr>
                                      <p:to>
                                        <p:strVal val="visible"/>
                                      </p:to>
                                    </p:set>
                                    <p:animEffect transition="in" filter="wipe(left)">
                                      <p:cBhvr>
                                        <p:cTn id="27" dur="500"/>
                                        <p:tgtEl>
                                          <p:spTgt spid="22221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2211">
                                            <p:txEl>
                                              <p:pRg st="5" end="5"/>
                                            </p:txEl>
                                          </p:spTgt>
                                        </p:tgtEl>
                                        <p:attrNameLst>
                                          <p:attrName>style.visibility</p:attrName>
                                        </p:attrNameLst>
                                      </p:cBhvr>
                                      <p:to>
                                        <p:strVal val="visible"/>
                                      </p:to>
                                    </p:set>
                                    <p:animEffect transition="in" filter="wipe(left)">
                                      <p:cBhvr>
                                        <p:cTn id="32" dur="500"/>
                                        <p:tgtEl>
                                          <p:spTgt spid="22221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2211">
                                            <p:txEl>
                                              <p:pRg st="6" end="6"/>
                                            </p:txEl>
                                          </p:spTgt>
                                        </p:tgtEl>
                                        <p:attrNameLst>
                                          <p:attrName>style.visibility</p:attrName>
                                        </p:attrNameLst>
                                      </p:cBhvr>
                                      <p:to>
                                        <p:strVal val="visible"/>
                                      </p:to>
                                    </p:set>
                                    <p:animEffect transition="in" filter="wipe(left)">
                                      <p:cBhvr>
                                        <p:cTn id="37" dur="500"/>
                                        <p:tgtEl>
                                          <p:spTgt spid="22221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2211">
                                            <p:txEl>
                                              <p:pRg st="7" end="7"/>
                                            </p:txEl>
                                          </p:spTgt>
                                        </p:tgtEl>
                                        <p:attrNameLst>
                                          <p:attrName>style.visibility</p:attrName>
                                        </p:attrNameLst>
                                      </p:cBhvr>
                                      <p:to>
                                        <p:strVal val="visible"/>
                                      </p:to>
                                    </p:set>
                                    <p:animEffect transition="in" filter="wipe(left)">
                                      <p:cBhvr>
                                        <p:cTn id="42" dur="500"/>
                                        <p:tgtEl>
                                          <p:spTgt spid="222211">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22211">
                                            <p:txEl>
                                              <p:pRg st="8" end="8"/>
                                            </p:txEl>
                                          </p:spTgt>
                                        </p:tgtEl>
                                        <p:attrNameLst>
                                          <p:attrName>style.visibility</p:attrName>
                                        </p:attrNameLst>
                                      </p:cBhvr>
                                      <p:to>
                                        <p:strVal val="visible"/>
                                      </p:to>
                                    </p:set>
                                    <p:animEffect transition="in" filter="wipe(left)">
                                      <p:cBhvr>
                                        <p:cTn id="47" dur="500"/>
                                        <p:tgtEl>
                                          <p:spTgt spid="222211">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22211">
                                            <p:txEl>
                                              <p:pRg st="9" end="9"/>
                                            </p:txEl>
                                          </p:spTgt>
                                        </p:tgtEl>
                                        <p:attrNameLst>
                                          <p:attrName>style.visibility</p:attrName>
                                        </p:attrNameLst>
                                      </p:cBhvr>
                                      <p:to>
                                        <p:strVal val="visible"/>
                                      </p:to>
                                    </p:set>
                                    <p:animEffect transition="in" filter="wipe(left)">
                                      <p:cBhvr>
                                        <p:cTn id="52" dur="500"/>
                                        <p:tgtEl>
                                          <p:spTgt spid="222211">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22211">
                                            <p:txEl>
                                              <p:pRg st="10" end="10"/>
                                            </p:txEl>
                                          </p:spTgt>
                                        </p:tgtEl>
                                        <p:attrNameLst>
                                          <p:attrName>style.visibility</p:attrName>
                                        </p:attrNameLst>
                                      </p:cBhvr>
                                      <p:to>
                                        <p:strVal val="visible"/>
                                      </p:to>
                                    </p:set>
                                    <p:animEffect transition="in" filter="wipe(left)">
                                      <p:cBhvr>
                                        <p:cTn id="57" dur="500"/>
                                        <p:tgtEl>
                                          <p:spTgt spid="222211">
                                            <p:txEl>
                                              <p:pRg st="10" end="10"/>
                                            </p:txEl>
                                          </p:spTgt>
                                        </p:tgtEl>
                                      </p:cBhvr>
                                    </p:animEffect>
                                  </p:childTnLst>
                                </p:cTn>
                              </p:par>
                            </p:childTnLst>
                          </p:cTn>
                        </p:par>
                        <p:par>
                          <p:cTn id="58" fill="hold" nodeType="afterGroup">
                            <p:stCondLst>
                              <p:cond delay="500"/>
                            </p:stCondLst>
                            <p:childTnLst>
                              <p:par>
                                <p:cTn id="59" presetID="23" presetClass="entr" presetSubtype="16" fill="hold" nodeType="afterEffect">
                                  <p:stCondLst>
                                    <p:cond delay="0"/>
                                  </p:stCondLst>
                                  <p:childTnLst>
                                    <p:set>
                                      <p:cBhvr>
                                        <p:cTn id="60" dur="1" fill="hold">
                                          <p:stCondLst>
                                            <p:cond delay="0"/>
                                          </p:stCondLst>
                                        </p:cTn>
                                        <p:tgtEl>
                                          <p:spTgt spid="4"/>
                                        </p:tgtEl>
                                        <p:attrNameLst>
                                          <p:attrName>style.visibility</p:attrName>
                                        </p:attrNameLst>
                                      </p:cBhvr>
                                      <p:to>
                                        <p:strVal val="visible"/>
                                      </p:to>
                                    </p:set>
                                    <p:anim calcmode="lin" valueType="num">
                                      <p:cBhvr>
                                        <p:cTn id="61" dur="500" fill="hold"/>
                                        <p:tgtEl>
                                          <p:spTgt spid="4"/>
                                        </p:tgtEl>
                                        <p:attrNameLst>
                                          <p:attrName>ppt_w</p:attrName>
                                        </p:attrNameLst>
                                      </p:cBhvr>
                                      <p:tavLst>
                                        <p:tav tm="0">
                                          <p:val>
                                            <p:fltVal val="0"/>
                                          </p:val>
                                        </p:tav>
                                        <p:tav tm="100000">
                                          <p:val>
                                            <p:strVal val="#ppt_w"/>
                                          </p:val>
                                        </p:tav>
                                      </p:tavLst>
                                    </p:anim>
                                    <p:anim calcmode="lin" valueType="num">
                                      <p:cBhvr>
                                        <p:cTn id="62"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1" grpId="0" build="p" autoUpdateAnimBg="0"/>
    </p:bldLst>
  </p:timing>
</p:sld>
</file>

<file path=ppt/slides/slide1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3235" name="Rectangle 3"/>
          <p:cNvSpPr>
            <a:spLocks noGrp="1" noChangeArrowheads="1"/>
          </p:cNvSpPr>
          <p:nvPr>
            <p:ph type="body" sz="half" idx="1"/>
          </p:nvPr>
        </p:nvSpPr>
        <p:spPr>
          <a:xfrm>
            <a:off x="0" y="1219200"/>
            <a:ext cx="8839200" cy="4819650"/>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a:t>
            </a:r>
            <a:r>
              <a:rPr kumimoji="1" lang="en-US" altLang="zh-CN" sz="2400" b="1">
                <a:solidFill>
                  <a:schemeClr val="tx2"/>
                </a:solidFill>
                <a:latin typeface="幼圆" pitchFamily="49" charset="-122"/>
                <a:ea typeface="幼圆" pitchFamily="49" charset="-122"/>
                <a:cs typeface="Times New Roman" pitchFamily="18" charset="0"/>
              </a:rPr>
              <a:t>4</a:t>
            </a:r>
            <a:r>
              <a:rPr kumimoji="1" lang="zh-CN" altLang="en-US" sz="2400" b="1">
                <a:solidFill>
                  <a:schemeClr val="tx2"/>
                </a:solidFill>
                <a:latin typeface="幼圆" pitchFamily="49" charset="-122"/>
                <a:ea typeface="幼圆" pitchFamily="49" charset="-122"/>
              </a:rPr>
              <a:t>】在</a:t>
            </a:r>
            <a:r>
              <a:rPr kumimoji="1" lang="en-US" altLang="zh-CN" sz="2400" b="1">
                <a:solidFill>
                  <a:schemeClr val="tx2"/>
                </a:solidFill>
                <a:latin typeface="幼圆" pitchFamily="49" charset="-122"/>
                <a:ea typeface="幼圆" pitchFamily="49" charset="-122"/>
              </a:rPr>
              <a:t>C</a:t>
            </a:r>
            <a:r>
              <a:rPr kumimoji="1" lang="zh-CN" altLang="en-US" sz="2400" b="1">
                <a:solidFill>
                  <a:schemeClr val="tx2"/>
                </a:solidFill>
                <a:latin typeface="幼圆" pitchFamily="49" charset="-122"/>
                <a:ea typeface="幼圆" pitchFamily="49" charset="-122"/>
              </a:rPr>
              <a:t>语言中，错误的</a:t>
            </a:r>
            <a:r>
              <a:rPr kumimoji="1" lang="en-US" altLang="zh-CN" sz="2400" b="1">
                <a:solidFill>
                  <a:schemeClr val="tx2"/>
                </a:solidFill>
                <a:latin typeface="幼圆" pitchFamily="49" charset="-122"/>
                <a:ea typeface="幼圆" pitchFamily="49" charset="-122"/>
              </a:rPr>
              <a:t>int</a:t>
            </a:r>
            <a:r>
              <a:rPr kumimoji="1" lang="zh-CN" altLang="en-US" sz="2400" b="1">
                <a:solidFill>
                  <a:schemeClr val="tx2"/>
                </a:solidFill>
                <a:latin typeface="幼圆" pitchFamily="49" charset="-122"/>
                <a:ea typeface="幼圆" pitchFamily="49" charset="-122"/>
              </a:rPr>
              <a:t>类型的常数是    。</a:t>
            </a:r>
            <a:r>
              <a:rPr kumimoji="1" lang="en-US" altLang="zh-CN" sz="2400" b="1">
                <a:solidFill>
                  <a:schemeClr val="tx2"/>
                </a:solidFill>
                <a:latin typeface="幼圆" pitchFamily="49" charset="-122"/>
                <a:ea typeface="幼圆" pitchFamily="49" charset="-122"/>
              </a:rPr>
              <a:t>(int</a:t>
            </a:r>
            <a:r>
              <a:rPr kumimoji="1" lang="zh-CN" altLang="en-US" sz="2400" b="1">
                <a:solidFill>
                  <a:schemeClr val="tx2"/>
                </a:solidFill>
                <a:latin typeface="幼圆" pitchFamily="49" charset="-122"/>
                <a:ea typeface="幼圆" pitchFamily="49" charset="-122"/>
              </a:rPr>
              <a:t>默认</a:t>
            </a:r>
            <a:r>
              <a:rPr kumimoji="1" lang="en-US" altLang="zh-CN" sz="2400" b="1">
                <a:solidFill>
                  <a:schemeClr val="tx2"/>
                </a:solidFill>
                <a:latin typeface="幼圆" pitchFamily="49" charset="-122"/>
                <a:ea typeface="幼圆" pitchFamily="49" charset="-122"/>
              </a:rPr>
              <a:t>2</a:t>
            </a:r>
            <a:r>
              <a:rPr kumimoji="1" lang="zh-CN" altLang="en-US" sz="2400" b="1">
                <a:solidFill>
                  <a:schemeClr val="tx2"/>
                </a:solidFill>
                <a:latin typeface="幼圆" pitchFamily="49" charset="-122"/>
                <a:ea typeface="幼圆" pitchFamily="49" charset="-122"/>
              </a:rPr>
              <a:t>字节</a:t>
            </a:r>
            <a:r>
              <a:rPr kumimoji="1" lang="en-US" altLang="zh-CN" sz="2400" b="1">
                <a:solidFill>
                  <a:schemeClr val="tx2"/>
                </a:solidFill>
                <a:latin typeface="幼圆" pitchFamily="49" charset="-122"/>
                <a:ea typeface="幼圆" pitchFamily="49" charset="-122"/>
              </a:rPr>
              <a:t>)</a:t>
            </a:r>
            <a:endParaRPr kumimoji="1" lang="zh-CN" altLang="en-US" sz="2400" b="1">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A) 32768    B) 0  	C) 037    	D) 0xAF</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zh-CN" altLang="en-US" sz="2400" b="1">
                <a:solidFill>
                  <a:srgbClr val="FF0000"/>
                </a:solidFill>
                <a:latin typeface="幼圆" pitchFamily="49" charset="-122"/>
                <a:ea typeface="幼圆" pitchFamily="49" charset="-122"/>
              </a:rPr>
              <a:t>答案：</a:t>
            </a:r>
            <a:r>
              <a:rPr kumimoji="1" lang="en-US" altLang="zh-CN" sz="2400" b="1">
                <a:solidFill>
                  <a:srgbClr val="FF0000"/>
                </a:solidFill>
                <a:latin typeface="幼圆" pitchFamily="49" charset="-122"/>
                <a:ea typeface="幼圆" pitchFamily="49" charset="-122"/>
              </a:rPr>
              <a:t>A</a:t>
            </a:r>
          </a:p>
          <a:p>
            <a:pPr marL="0" indent="0" eaLnBrk="1" hangingPunct="1">
              <a:buClr>
                <a:schemeClr val="tx1"/>
              </a:buClr>
              <a:buSzPct val="60000"/>
              <a:buFont typeface="宋体" pitchFamily="2" charset="-122"/>
              <a:buNone/>
            </a:pPr>
            <a:r>
              <a:rPr kumimoji="1" lang="zh-CN" altLang="zh-CN" sz="2400" b="1">
                <a:solidFill>
                  <a:schemeClr val="tx2"/>
                </a:solidFill>
                <a:latin typeface="幼圆" pitchFamily="49" charset="-122"/>
                <a:ea typeface="幼圆" pitchFamily="49" charset="-122"/>
              </a:rPr>
              <a:t>【</a:t>
            </a:r>
            <a:r>
              <a:rPr kumimoji="1" lang="zh-CN" altLang="en-US" sz="2400" b="1">
                <a:solidFill>
                  <a:schemeClr val="tx2"/>
                </a:solidFill>
                <a:latin typeface="幼圆" pitchFamily="49" charset="-122"/>
                <a:ea typeface="幼圆" pitchFamily="49" charset="-122"/>
              </a:rPr>
              <a:t>5</a:t>
            </a:r>
            <a:r>
              <a:rPr kumimoji="1" lang="zh-CN" altLang="zh-CN" sz="2400" b="1">
                <a:solidFill>
                  <a:schemeClr val="tx2"/>
                </a:solidFill>
                <a:latin typeface="幼圆" pitchFamily="49" charset="-122"/>
                <a:ea typeface="幼圆" pitchFamily="49" charset="-122"/>
              </a:rPr>
              <a:t>】</a:t>
            </a:r>
            <a:r>
              <a:rPr kumimoji="1" lang="zh-CN" altLang="en-US" sz="2400" b="1">
                <a:solidFill>
                  <a:schemeClr val="tx2"/>
                </a:solidFill>
                <a:latin typeface="幼圆" pitchFamily="49" charset="-122"/>
                <a:ea typeface="幼圆" pitchFamily="49" charset="-122"/>
              </a:rPr>
              <a:t>以下选项中属于</a:t>
            </a:r>
            <a:r>
              <a:rPr kumimoji="1" lang="en-US" altLang="zh-CN" sz="2400" b="1">
                <a:solidFill>
                  <a:schemeClr val="tx2"/>
                </a:solidFill>
                <a:latin typeface="幼圆" pitchFamily="49" charset="-122"/>
                <a:ea typeface="幼圆" pitchFamily="49" charset="-122"/>
              </a:rPr>
              <a:t>C</a:t>
            </a:r>
            <a:r>
              <a:rPr kumimoji="1" lang="zh-CN" altLang="en-US" sz="2400" b="1">
                <a:solidFill>
                  <a:schemeClr val="tx2"/>
                </a:solidFill>
                <a:latin typeface="幼圆" pitchFamily="49" charset="-122"/>
                <a:ea typeface="幼圆" pitchFamily="49" charset="-122"/>
              </a:rPr>
              <a:t>语言的数据类型是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A)</a:t>
            </a:r>
            <a:r>
              <a:rPr kumimoji="1" lang="zh-CN" altLang="en-US" sz="2400" b="1">
                <a:solidFill>
                  <a:schemeClr val="tx2"/>
                </a:solidFill>
                <a:latin typeface="幼圆" pitchFamily="49" charset="-122"/>
                <a:ea typeface="幼圆" pitchFamily="49" charset="-122"/>
              </a:rPr>
              <a:t>复数型   </a:t>
            </a:r>
            <a:r>
              <a:rPr kumimoji="1" lang="en-US" altLang="zh-CN" sz="2400" b="1">
                <a:solidFill>
                  <a:schemeClr val="tx2"/>
                </a:solidFill>
                <a:latin typeface="幼圆" pitchFamily="49" charset="-122"/>
                <a:ea typeface="幼圆" pitchFamily="49" charset="-122"/>
              </a:rPr>
              <a:t>B) </a:t>
            </a:r>
            <a:r>
              <a:rPr kumimoji="1" lang="zh-CN" altLang="en-US" sz="2400" b="1">
                <a:solidFill>
                  <a:schemeClr val="tx2"/>
                </a:solidFill>
                <a:latin typeface="幼圆" pitchFamily="49" charset="-122"/>
                <a:ea typeface="幼圆" pitchFamily="49" charset="-122"/>
              </a:rPr>
              <a:t>逻辑型  </a:t>
            </a:r>
            <a:r>
              <a:rPr kumimoji="1" lang="en-US" altLang="zh-CN" sz="2400" b="1">
                <a:solidFill>
                  <a:schemeClr val="tx2"/>
                </a:solidFill>
                <a:latin typeface="幼圆" pitchFamily="49" charset="-122"/>
                <a:ea typeface="幼圆" pitchFamily="49" charset="-122"/>
              </a:rPr>
              <a:t>C) </a:t>
            </a:r>
            <a:r>
              <a:rPr kumimoji="1" lang="zh-CN" altLang="en-US" sz="2400" b="1">
                <a:solidFill>
                  <a:schemeClr val="tx2"/>
                </a:solidFill>
                <a:latin typeface="幼圆" pitchFamily="49" charset="-122"/>
                <a:ea typeface="幼圆" pitchFamily="49" charset="-122"/>
              </a:rPr>
              <a:t>双精度型 </a:t>
            </a:r>
            <a:r>
              <a:rPr kumimoji="1" lang="en-US" altLang="zh-CN" sz="2400" b="1">
                <a:solidFill>
                  <a:schemeClr val="tx2"/>
                </a:solidFill>
                <a:latin typeface="幼圆" pitchFamily="49" charset="-122"/>
                <a:ea typeface="幼圆" pitchFamily="49" charset="-122"/>
              </a:rPr>
              <a:t>D) </a:t>
            </a:r>
            <a:r>
              <a:rPr kumimoji="1" lang="zh-CN" altLang="en-US" sz="2400" b="1">
                <a:solidFill>
                  <a:schemeClr val="tx2"/>
                </a:solidFill>
                <a:latin typeface="幼圆" pitchFamily="49" charset="-122"/>
                <a:ea typeface="幼圆" pitchFamily="49" charset="-122"/>
              </a:rPr>
              <a:t>集合型</a:t>
            </a:r>
          </a:p>
          <a:p>
            <a:pPr marL="0" indent="0" eaLnBrk="1" hangingPunct="1">
              <a:buClr>
                <a:schemeClr val="tx1"/>
              </a:buClr>
              <a:buSzPct val="60000"/>
              <a:buFont typeface="宋体" pitchFamily="2" charset="-122"/>
              <a:buNone/>
            </a:pPr>
            <a:r>
              <a:rPr kumimoji="1" lang="zh-CN" altLang="en-US" sz="2400" b="1">
                <a:solidFill>
                  <a:srgbClr val="FF0000"/>
                </a:solidFill>
                <a:latin typeface="幼圆" pitchFamily="49" charset="-122"/>
                <a:ea typeface="幼圆" pitchFamily="49" charset="-122"/>
              </a:rPr>
              <a:t>　答案：</a:t>
            </a:r>
            <a:r>
              <a:rPr kumimoji="1" lang="en-US" altLang="zh-CN" sz="2400" b="1">
                <a:solidFill>
                  <a:srgbClr val="FF0000"/>
                </a:solidFill>
                <a:latin typeface="幼圆" pitchFamily="49" charset="-122"/>
                <a:ea typeface="幼圆" pitchFamily="49" charset="-122"/>
              </a:rPr>
              <a:t>C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【6】</a:t>
            </a:r>
            <a:r>
              <a:rPr kumimoji="1" lang="zh-CN" altLang="en-US" sz="2400" b="1">
                <a:solidFill>
                  <a:schemeClr val="tx2"/>
                </a:solidFill>
                <a:latin typeface="幼圆" pitchFamily="49" charset="-122"/>
                <a:ea typeface="幼圆" pitchFamily="49" charset="-122"/>
              </a:rPr>
              <a:t>设</a:t>
            </a:r>
            <a:r>
              <a:rPr kumimoji="1" lang="en-US" altLang="zh-CN" sz="2400" b="1">
                <a:solidFill>
                  <a:schemeClr val="tx2"/>
                </a:solidFill>
                <a:latin typeface="幼圆" pitchFamily="49" charset="-122"/>
                <a:ea typeface="幼圆" pitchFamily="49" charset="-122"/>
              </a:rPr>
              <a:t>int</a:t>
            </a:r>
            <a:r>
              <a:rPr kumimoji="1" lang="zh-CN" altLang="en-US" sz="2400" b="1">
                <a:solidFill>
                  <a:schemeClr val="tx2"/>
                </a:solidFill>
                <a:latin typeface="幼圆" pitchFamily="49" charset="-122"/>
                <a:ea typeface="幼圆" pitchFamily="49" charset="-122"/>
              </a:rPr>
              <a:t>类型的数据长度为2个字节，则</a:t>
            </a:r>
            <a:r>
              <a:rPr kumimoji="1" lang="en-US" altLang="zh-CN" sz="2400" b="1">
                <a:solidFill>
                  <a:schemeClr val="tx2"/>
                </a:solidFill>
                <a:latin typeface="幼圆" pitchFamily="49" charset="-122"/>
                <a:ea typeface="幼圆" pitchFamily="49" charset="-122"/>
              </a:rPr>
              <a:t>unsigned int</a:t>
            </a:r>
            <a:r>
              <a:rPr kumimoji="1" lang="zh-CN" altLang="en-US" sz="2400" b="1">
                <a:solidFill>
                  <a:schemeClr val="tx2"/>
                </a:solidFill>
                <a:latin typeface="幼圆" pitchFamily="49" charset="-122"/>
                <a:ea typeface="幼圆" pitchFamily="49" charset="-122"/>
              </a:rPr>
              <a:t>类型数据的取值范围是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A) 0</a:t>
            </a:r>
            <a:r>
              <a:rPr kumimoji="1" lang="zh-CN" altLang="en-US" sz="2400" b="1">
                <a:solidFill>
                  <a:schemeClr val="tx2"/>
                </a:solidFill>
                <a:latin typeface="幼圆" pitchFamily="49" charset="-122"/>
                <a:ea typeface="幼圆" pitchFamily="49" charset="-122"/>
              </a:rPr>
              <a:t>至255              </a:t>
            </a:r>
            <a:r>
              <a:rPr kumimoji="1" lang="en-US" altLang="zh-CN" sz="2400" b="1">
                <a:solidFill>
                  <a:schemeClr val="tx2"/>
                </a:solidFill>
                <a:latin typeface="幼圆" pitchFamily="49" charset="-122"/>
                <a:ea typeface="幼圆" pitchFamily="49" charset="-122"/>
              </a:rPr>
              <a:t>B) 0</a:t>
            </a:r>
            <a:r>
              <a:rPr kumimoji="1" lang="zh-CN" altLang="en-US" sz="2400" b="1">
                <a:solidFill>
                  <a:schemeClr val="tx2"/>
                </a:solidFill>
                <a:latin typeface="幼圆" pitchFamily="49" charset="-122"/>
                <a:ea typeface="幼圆" pitchFamily="49" charset="-122"/>
              </a:rPr>
              <a:t>至65535</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C) -32768</a:t>
            </a:r>
            <a:r>
              <a:rPr kumimoji="1" lang="zh-CN" altLang="en-US" sz="2400" b="1">
                <a:solidFill>
                  <a:schemeClr val="tx2"/>
                </a:solidFill>
                <a:latin typeface="幼圆" pitchFamily="49" charset="-122"/>
                <a:ea typeface="幼圆" pitchFamily="49" charset="-122"/>
              </a:rPr>
              <a:t>至32767       </a:t>
            </a:r>
            <a:r>
              <a:rPr kumimoji="1" lang="en-US" altLang="zh-CN" sz="2400" b="1">
                <a:solidFill>
                  <a:schemeClr val="tx2"/>
                </a:solidFill>
                <a:latin typeface="幼圆" pitchFamily="49" charset="-122"/>
                <a:ea typeface="幼圆" pitchFamily="49" charset="-122"/>
              </a:rPr>
              <a:t>D) -256</a:t>
            </a:r>
            <a:r>
              <a:rPr kumimoji="1" lang="zh-CN" altLang="en-US" sz="2400" b="1">
                <a:solidFill>
                  <a:schemeClr val="tx2"/>
                </a:solidFill>
                <a:latin typeface="幼圆" pitchFamily="49" charset="-122"/>
                <a:ea typeface="幼圆" pitchFamily="49" charset="-122"/>
              </a:rPr>
              <a:t>至255</a:t>
            </a:r>
          </a:p>
          <a:p>
            <a:pPr marL="0" indent="0" eaLnBrk="1" hangingPunct="1">
              <a:buClr>
                <a:schemeClr val="tx1"/>
              </a:buClr>
              <a:buSzPct val="60000"/>
              <a:buFont typeface="宋体" pitchFamily="2" charset="-122"/>
              <a:buNone/>
            </a:pPr>
            <a:r>
              <a:rPr kumimoji="1" lang="zh-CN" altLang="en-US" sz="2400" b="1">
                <a:solidFill>
                  <a:srgbClr val="FF0000"/>
                </a:solidFill>
                <a:latin typeface="幼圆" pitchFamily="49" charset="-122"/>
                <a:ea typeface="幼圆" pitchFamily="49" charset="-122"/>
              </a:rPr>
              <a:t>　答案：</a:t>
            </a:r>
            <a:r>
              <a:rPr kumimoji="1" lang="en-US" altLang="zh-CN" sz="2400" b="1">
                <a:solidFill>
                  <a:srgbClr val="FF0000"/>
                </a:solidFill>
                <a:latin typeface="幼圆" pitchFamily="49" charset="-122"/>
                <a:ea typeface="幼圆" pitchFamily="49" charset="-122"/>
              </a:rPr>
              <a:t>B</a:t>
            </a:r>
          </a:p>
        </p:txBody>
      </p:sp>
      <p:pic>
        <p:nvPicPr>
          <p:cNvPr id="4" name="Picture 7" descr="PE02928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0400" y="4800600"/>
            <a:ext cx="1895475" cy="148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35832" y="53340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ea typeface="幼圆" pitchFamily="49" charset="-122"/>
              </a:rPr>
              <a:t>部分练习</a:t>
            </a:r>
          </a:p>
        </p:txBody>
      </p:sp>
    </p:spTree>
    <p:extLst>
      <p:ext uri="{BB962C8B-B14F-4D97-AF65-F5344CB8AC3E}">
        <p14:creationId xmlns:p14="http://schemas.microsoft.com/office/powerpoint/2010/main" val="1892217105"/>
      </p:ext>
    </p:extLst>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3235">
                                            <p:txEl>
                                              <p:pRg st="0" end="0"/>
                                            </p:txEl>
                                          </p:spTgt>
                                        </p:tgtEl>
                                        <p:attrNameLst>
                                          <p:attrName>style.visibility</p:attrName>
                                        </p:attrNameLst>
                                      </p:cBhvr>
                                      <p:to>
                                        <p:strVal val="visible"/>
                                      </p:to>
                                    </p:set>
                                    <p:animEffect transition="in" filter="wipe(left)">
                                      <p:cBhvr>
                                        <p:cTn id="7" dur="500"/>
                                        <p:tgtEl>
                                          <p:spTgt spid="2232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3235">
                                            <p:txEl>
                                              <p:pRg st="1" end="1"/>
                                            </p:txEl>
                                          </p:spTgt>
                                        </p:tgtEl>
                                        <p:attrNameLst>
                                          <p:attrName>style.visibility</p:attrName>
                                        </p:attrNameLst>
                                      </p:cBhvr>
                                      <p:to>
                                        <p:strVal val="visible"/>
                                      </p:to>
                                    </p:set>
                                    <p:animEffect transition="in" filter="wipe(left)">
                                      <p:cBhvr>
                                        <p:cTn id="12" dur="500"/>
                                        <p:tgtEl>
                                          <p:spTgt spid="2232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3235">
                                            <p:txEl>
                                              <p:pRg st="2" end="2"/>
                                            </p:txEl>
                                          </p:spTgt>
                                        </p:tgtEl>
                                        <p:attrNameLst>
                                          <p:attrName>style.visibility</p:attrName>
                                        </p:attrNameLst>
                                      </p:cBhvr>
                                      <p:to>
                                        <p:strVal val="visible"/>
                                      </p:to>
                                    </p:set>
                                    <p:animEffect transition="in" filter="wipe(left)">
                                      <p:cBhvr>
                                        <p:cTn id="17" dur="500"/>
                                        <p:tgtEl>
                                          <p:spTgt spid="22323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3235">
                                            <p:txEl>
                                              <p:pRg st="3" end="3"/>
                                            </p:txEl>
                                          </p:spTgt>
                                        </p:tgtEl>
                                        <p:attrNameLst>
                                          <p:attrName>style.visibility</p:attrName>
                                        </p:attrNameLst>
                                      </p:cBhvr>
                                      <p:to>
                                        <p:strVal val="visible"/>
                                      </p:to>
                                    </p:set>
                                    <p:animEffect transition="in" filter="wipe(left)">
                                      <p:cBhvr>
                                        <p:cTn id="22" dur="500"/>
                                        <p:tgtEl>
                                          <p:spTgt spid="22323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3235">
                                            <p:txEl>
                                              <p:pRg st="4" end="4"/>
                                            </p:txEl>
                                          </p:spTgt>
                                        </p:tgtEl>
                                        <p:attrNameLst>
                                          <p:attrName>style.visibility</p:attrName>
                                        </p:attrNameLst>
                                      </p:cBhvr>
                                      <p:to>
                                        <p:strVal val="visible"/>
                                      </p:to>
                                    </p:set>
                                    <p:animEffect transition="in" filter="wipe(left)">
                                      <p:cBhvr>
                                        <p:cTn id="27" dur="500"/>
                                        <p:tgtEl>
                                          <p:spTgt spid="22323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3235">
                                            <p:txEl>
                                              <p:pRg st="5" end="5"/>
                                            </p:txEl>
                                          </p:spTgt>
                                        </p:tgtEl>
                                        <p:attrNameLst>
                                          <p:attrName>style.visibility</p:attrName>
                                        </p:attrNameLst>
                                      </p:cBhvr>
                                      <p:to>
                                        <p:strVal val="visible"/>
                                      </p:to>
                                    </p:set>
                                    <p:animEffect transition="in" filter="wipe(left)">
                                      <p:cBhvr>
                                        <p:cTn id="32" dur="500"/>
                                        <p:tgtEl>
                                          <p:spTgt spid="22323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3235">
                                            <p:txEl>
                                              <p:pRg st="6" end="6"/>
                                            </p:txEl>
                                          </p:spTgt>
                                        </p:tgtEl>
                                        <p:attrNameLst>
                                          <p:attrName>style.visibility</p:attrName>
                                        </p:attrNameLst>
                                      </p:cBhvr>
                                      <p:to>
                                        <p:strVal val="visible"/>
                                      </p:to>
                                    </p:set>
                                    <p:animEffect transition="in" filter="wipe(left)">
                                      <p:cBhvr>
                                        <p:cTn id="37" dur="500"/>
                                        <p:tgtEl>
                                          <p:spTgt spid="223235">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3235">
                                            <p:txEl>
                                              <p:pRg st="7" end="7"/>
                                            </p:txEl>
                                          </p:spTgt>
                                        </p:tgtEl>
                                        <p:attrNameLst>
                                          <p:attrName>style.visibility</p:attrName>
                                        </p:attrNameLst>
                                      </p:cBhvr>
                                      <p:to>
                                        <p:strVal val="visible"/>
                                      </p:to>
                                    </p:set>
                                    <p:animEffect transition="in" filter="wipe(left)">
                                      <p:cBhvr>
                                        <p:cTn id="42" dur="500"/>
                                        <p:tgtEl>
                                          <p:spTgt spid="223235">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23235">
                                            <p:txEl>
                                              <p:pRg st="8" end="8"/>
                                            </p:txEl>
                                          </p:spTgt>
                                        </p:tgtEl>
                                        <p:attrNameLst>
                                          <p:attrName>style.visibility</p:attrName>
                                        </p:attrNameLst>
                                      </p:cBhvr>
                                      <p:to>
                                        <p:strVal val="visible"/>
                                      </p:to>
                                    </p:set>
                                    <p:animEffect transition="in" filter="wipe(left)">
                                      <p:cBhvr>
                                        <p:cTn id="47" dur="500"/>
                                        <p:tgtEl>
                                          <p:spTgt spid="223235">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23235">
                                            <p:txEl>
                                              <p:pRg st="9" end="9"/>
                                            </p:txEl>
                                          </p:spTgt>
                                        </p:tgtEl>
                                        <p:attrNameLst>
                                          <p:attrName>style.visibility</p:attrName>
                                        </p:attrNameLst>
                                      </p:cBhvr>
                                      <p:to>
                                        <p:strVal val="visible"/>
                                      </p:to>
                                    </p:set>
                                    <p:animEffect transition="in" filter="wipe(left)">
                                      <p:cBhvr>
                                        <p:cTn id="52" dur="500"/>
                                        <p:tgtEl>
                                          <p:spTgt spid="223235">
                                            <p:txEl>
                                              <p:pRg st="9" end="9"/>
                                            </p:txEl>
                                          </p:spTgt>
                                        </p:tgtEl>
                                      </p:cBhvr>
                                    </p:animEffect>
                                  </p:childTnLst>
                                </p:cTn>
                              </p:par>
                            </p:childTnLst>
                          </p:cTn>
                        </p:par>
                        <p:par>
                          <p:cTn id="53" fill="hold" nodeType="afterGroup">
                            <p:stCondLst>
                              <p:cond delay="500"/>
                            </p:stCondLst>
                            <p:childTnLst>
                              <p:par>
                                <p:cTn id="54" presetID="23" presetClass="entr" presetSubtype="16" fill="hold" nodeType="afterEffect">
                                  <p:stCondLst>
                                    <p:cond delay="0"/>
                                  </p:stCondLst>
                                  <p:childTnLst>
                                    <p:set>
                                      <p:cBhvr>
                                        <p:cTn id="55" dur="1" fill="hold">
                                          <p:stCondLst>
                                            <p:cond delay="0"/>
                                          </p:stCondLst>
                                        </p:cTn>
                                        <p:tgtEl>
                                          <p:spTgt spid="4"/>
                                        </p:tgtEl>
                                        <p:attrNameLst>
                                          <p:attrName>style.visibility</p:attrName>
                                        </p:attrNameLst>
                                      </p:cBhvr>
                                      <p:to>
                                        <p:strVal val="visible"/>
                                      </p:to>
                                    </p:set>
                                    <p:anim calcmode="lin" valueType="num">
                                      <p:cBhvr>
                                        <p:cTn id="56" dur="500" fill="hold"/>
                                        <p:tgtEl>
                                          <p:spTgt spid="4"/>
                                        </p:tgtEl>
                                        <p:attrNameLst>
                                          <p:attrName>ppt_w</p:attrName>
                                        </p:attrNameLst>
                                      </p:cBhvr>
                                      <p:tavLst>
                                        <p:tav tm="0">
                                          <p:val>
                                            <p:fltVal val="0"/>
                                          </p:val>
                                        </p:tav>
                                        <p:tav tm="100000">
                                          <p:val>
                                            <p:strVal val="#ppt_w"/>
                                          </p:val>
                                        </p:tav>
                                      </p:tavLst>
                                    </p:anim>
                                    <p:anim calcmode="lin" valueType="num">
                                      <p:cBhvr>
                                        <p:cTn id="57"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5" grpId="0" build="p" autoUpdateAnimBg="0"/>
    </p:bldLst>
  </p:timing>
</p:sld>
</file>

<file path=ppt/slides/slide1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4259" name="Rectangle 3"/>
          <p:cNvSpPr>
            <a:spLocks noGrp="1" noChangeArrowheads="1"/>
          </p:cNvSpPr>
          <p:nvPr>
            <p:ph type="body" sz="half" idx="1"/>
          </p:nvPr>
        </p:nvSpPr>
        <p:spPr>
          <a:xfrm>
            <a:off x="304800" y="1371600"/>
            <a:ext cx="8534400" cy="4746625"/>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【7】</a:t>
            </a:r>
            <a:r>
              <a:rPr kumimoji="1" lang="zh-CN" altLang="en-US" sz="2400" b="1">
                <a:solidFill>
                  <a:schemeClr val="tx2"/>
                </a:solidFill>
                <a:latin typeface="幼圆" pitchFamily="49" charset="-122"/>
                <a:ea typeface="幼圆" pitchFamily="49" charset="-122"/>
              </a:rPr>
              <a:t>已知：</a:t>
            </a:r>
            <a:r>
              <a:rPr kumimoji="1" lang="en-US" altLang="zh-CN" sz="2400" b="1">
                <a:solidFill>
                  <a:schemeClr val="tx2"/>
                </a:solidFill>
                <a:latin typeface="幼圆" pitchFamily="49" charset="-122"/>
                <a:ea typeface="幼圆" pitchFamily="49" charset="-122"/>
              </a:rPr>
              <a:t>char w；int x；float y；double z；</a:t>
            </a:r>
            <a:r>
              <a:rPr kumimoji="1" lang="zh-CN" altLang="en-US" sz="2400" b="1">
                <a:solidFill>
                  <a:schemeClr val="tx2"/>
                </a:solidFill>
                <a:latin typeface="幼圆" pitchFamily="49" charset="-122"/>
                <a:ea typeface="幼圆" pitchFamily="49" charset="-122"/>
              </a:rPr>
              <a:t>则表达式</a:t>
            </a:r>
            <a:r>
              <a:rPr kumimoji="1" lang="en-US" altLang="zh-CN" sz="2400" b="1">
                <a:solidFill>
                  <a:schemeClr val="tx2"/>
                </a:solidFill>
                <a:latin typeface="幼圆" pitchFamily="49" charset="-122"/>
                <a:ea typeface="幼圆" pitchFamily="49" charset="-122"/>
              </a:rPr>
              <a:t>w*x+z-y</a:t>
            </a:r>
            <a:r>
              <a:rPr kumimoji="1" lang="zh-CN" altLang="en-US" sz="2400" b="1">
                <a:solidFill>
                  <a:schemeClr val="tx2"/>
                </a:solidFill>
                <a:latin typeface="幼圆" pitchFamily="49" charset="-122"/>
                <a:ea typeface="幼圆" pitchFamily="49" charset="-122"/>
              </a:rPr>
              <a:t>的结果为      类型。</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A) float   	B) char   	C) int    D) double</a:t>
            </a:r>
          </a:p>
          <a:p>
            <a:pPr marL="0" indent="0" eaLnBrk="1" hangingPunct="1">
              <a:buClr>
                <a:schemeClr val="tx1"/>
              </a:buClr>
              <a:buSzPct val="60000"/>
              <a:buFont typeface="宋体" pitchFamily="2" charset="-122"/>
              <a:buNone/>
            </a:pPr>
            <a:r>
              <a:rPr kumimoji="1" lang="zh-CN" altLang="en-US" sz="2400" b="1">
                <a:solidFill>
                  <a:srgbClr val="FF0000"/>
                </a:solidFill>
                <a:latin typeface="幼圆" pitchFamily="49" charset="-122"/>
                <a:ea typeface="幼圆" pitchFamily="49" charset="-122"/>
              </a:rPr>
              <a:t>　答案：</a:t>
            </a:r>
            <a:r>
              <a:rPr kumimoji="1" lang="en-US" altLang="zh-CN" sz="2400" b="1">
                <a:solidFill>
                  <a:srgbClr val="FF0000"/>
                </a:solidFill>
                <a:latin typeface="幼圆" pitchFamily="49" charset="-122"/>
                <a:ea typeface="幼圆" pitchFamily="49" charset="-122"/>
              </a:rPr>
              <a:t>D</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cs typeface="Times New Roman" pitchFamily="18" charset="0"/>
              </a:rPr>
              <a:t>【8】下列可以正确表示字符型常数的是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cs typeface="Times New Roman" pitchFamily="18" charset="0"/>
              </a:rPr>
              <a:t>    </a:t>
            </a:r>
            <a:r>
              <a:rPr kumimoji="1" lang="en-US" altLang="zh-CN" sz="2400" b="1">
                <a:solidFill>
                  <a:schemeClr val="tx2"/>
                </a:solidFill>
                <a:latin typeface="幼圆" pitchFamily="49" charset="-122"/>
                <a:ea typeface="幼圆" pitchFamily="49" charset="-122"/>
                <a:cs typeface="Times New Roman" pitchFamily="18" charset="0"/>
              </a:rPr>
              <a:t>A) "a"		B) </a:t>
            </a:r>
            <a:r>
              <a:rPr kumimoji="1" lang="en-US" altLang="zh-CN" sz="2400" b="1">
                <a:solidFill>
                  <a:schemeClr val="tx2"/>
                </a:solidFill>
                <a:latin typeface="Arial" pitchFamily="34" charset="0"/>
                <a:ea typeface="幼圆" pitchFamily="49" charset="-122"/>
                <a:cs typeface="Times New Roman" pitchFamily="18" charset="0"/>
              </a:rPr>
              <a:t>’</a:t>
            </a:r>
            <a:r>
              <a:rPr kumimoji="1" lang="en-US" altLang="zh-CN" sz="2400" b="1">
                <a:solidFill>
                  <a:schemeClr val="tx2"/>
                </a:solidFill>
                <a:latin typeface="幼圆" pitchFamily="49" charset="-122"/>
                <a:ea typeface="幼圆" pitchFamily="49" charset="-122"/>
                <a:cs typeface="Times New Roman" pitchFamily="18" charset="0"/>
              </a:rPr>
              <a:t>\t</a:t>
            </a:r>
            <a:r>
              <a:rPr kumimoji="1" lang="en-US" altLang="zh-CN" sz="2400" b="1">
                <a:solidFill>
                  <a:schemeClr val="tx2"/>
                </a:solidFill>
                <a:latin typeface="Arial" pitchFamily="34" charset="0"/>
                <a:ea typeface="幼圆" pitchFamily="49" charset="-122"/>
                <a:cs typeface="Times New Roman" pitchFamily="18" charset="0"/>
              </a:rPr>
              <a:t>’</a:t>
            </a:r>
            <a:r>
              <a:rPr kumimoji="1" lang="en-US" altLang="zh-CN" sz="2400" b="1">
                <a:solidFill>
                  <a:schemeClr val="tx2"/>
                </a:solidFill>
                <a:latin typeface="幼圆" pitchFamily="49" charset="-122"/>
                <a:ea typeface="幼圆" pitchFamily="49" charset="-122"/>
                <a:cs typeface="Times New Roman" pitchFamily="18" charset="0"/>
              </a:rPr>
              <a:t>    C) "\n"   D) 297</a:t>
            </a:r>
          </a:p>
          <a:p>
            <a:pPr marL="0" indent="0" eaLnBrk="1" hangingPunct="1">
              <a:buClr>
                <a:schemeClr val="tx1"/>
              </a:buClr>
              <a:buSzPct val="60000"/>
              <a:buFont typeface="宋体" pitchFamily="2" charset="-122"/>
              <a:buNone/>
            </a:pPr>
            <a:r>
              <a:rPr kumimoji="1" lang="zh-CN" altLang="en-US" sz="2400" b="1">
                <a:solidFill>
                  <a:srgbClr val="FF0000"/>
                </a:solidFill>
                <a:latin typeface="幼圆" pitchFamily="49" charset="-122"/>
                <a:ea typeface="幼圆" pitchFamily="49" charset="-122"/>
              </a:rPr>
              <a:t>　答案：</a:t>
            </a:r>
            <a:r>
              <a:rPr kumimoji="1" lang="en-US" altLang="zh-CN" sz="2400" b="1">
                <a:solidFill>
                  <a:srgbClr val="FF0000"/>
                </a:solidFill>
                <a:latin typeface="幼圆" pitchFamily="49" charset="-122"/>
                <a:ea typeface="幼圆" pitchFamily="49" charset="-122"/>
              </a:rPr>
              <a:t>B</a:t>
            </a:r>
          </a:p>
          <a:p>
            <a:pPr marL="0" indent="0" eaLnBrk="1" hangingPunct="1">
              <a:buClr>
                <a:schemeClr val="tx1"/>
              </a:buClr>
              <a:buSzPct val="60000"/>
              <a:buFont typeface="宋体" pitchFamily="2" charset="-122"/>
              <a:buNone/>
            </a:pPr>
            <a:r>
              <a:rPr kumimoji="1" lang="zh-CN" altLang="zh-CN" sz="2400" b="1">
                <a:solidFill>
                  <a:schemeClr val="tx2"/>
                </a:solidFill>
                <a:latin typeface="幼圆" pitchFamily="49" charset="-122"/>
                <a:ea typeface="幼圆" pitchFamily="49" charset="-122"/>
              </a:rPr>
              <a:t>【</a:t>
            </a:r>
            <a:r>
              <a:rPr kumimoji="1" lang="zh-CN" altLang="en-US" sz="2400" b="1">
                <a:solidFill>
                  <a:schemeClr val="tx2"/>
                </a:solidFill>
                <a:latin typeface="幼圆" pitchFamily="49" charset="-122"/>
                <a:ea typeface="幼圆" pitchFamily="49" charset="-122"/>
              </a:rPr>
              <a:t>9</a:t>
            </a:r>
            <a:r>
              <a:rPr kumimoji="1" lang="zh-CN" altLang="zh-CN" sz="2400" b="1">
                <a:solidFill>
                  <a:schemeClr val="tx2"/>
                </a:solidFill>
                <a:latin typeface="幼圆" pitchFamily="49" charset="-122"/>
                <a:ea typeface="幼圆" pitchFamily="49" charset="-122"/>
              </a:rPr>
              <a:t>】</a:t>
            </a:r>
            <a:r>
              <a:rPr kumimoji="1" lang="zh-CN" altLang="en-US" sz="2400" b="1">
                <a:solidFill>
                  <a:schemeClr val="tx2"/>
                </a:solidFill>
                <a:latin typeface="幼圆" pitchFamily="49" charset="-122"/>
                <a:ea typeface="幼圆" pitchFamily="49" charset="-122"/>
              </a:rPr>
              <a:t>已知：</a:t>
            </a:r>
            <a:r>
              <a:rPr kumimoji="1" lang="en-US" altLang="zh-CN" sz="2400" b="1">
                <a:solidFill>
                  <a:schemeClr val="tx2"/>
                </a:solidFill>
                <a:latin typeface="幼圆" pitchFamily="49" charset="-122"/>
                <a:ea typeface="幼圆" pitchFamily="49" charset="-122"/>
              </a:rPr>
              <a:t>int a，b；</a:t>
            </a:r>
            <a:r>
              <a:rPr kumimoji="1" lang="zh-CN" altLang="en-US" sz="2400" b="1">
                <a:solidFill>
                  <a:schemeClr val="tx2"/>
                </a:solidFill>
                <a:latin typeface="幼圆" pitchFamily="49" charset="-122"/>
                <a:ea typeface="幼圆" pitchFamily="49" charset="-122"/>
              </a:rPr>
              <a:t>使用语句：</a:t>
            </a:r>
            <a:r>
              <a:rPr kumimoji="1" lang="en-US" altLang="zh-CN" sz="2400" b="1">
                <a:solidFill>
                  <a:schemeClr val="tx2"/>
                </a:solidFill>
                <a:latin typeface="幼圆" pitchFamily="49" charset="-122"/>
                <a:ea typeface="幼圆" pitchFamily="49" charset="-122"/>
              </a:rPr>
              <a:t>scanf(</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%d%d</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,&amp;a,&amp;b)；</a:t>
            </a:r>
            <a:r>
              <a:rPr kumimoji="1" lang="zh-CN" altLang="en-US" sz="2400" b="1">
                <a:solidFill>
                  <a:schemeClr val="tx2"/>
                </a:solidFill>
                <a:latin typeface="幼圆" pitchFamily="49" charset="-122"/>
                <a:ea typeface="幼圆" pitchFamily="49" charset="-122"/>
              </a:rPr>
              <a:t>输入</a:t>
            </a:r>
            <a:r>
              <a:rPr kumimoji="1" lang="en-US" altLang="zh-CN" sz="2400" b="1">
                <a:solidFill>
                  <a:schemeClr val="tx2"/>
                </a:solidFill>
                <a:latin typeface="幼圆" pitchFamily="49" charset="-122"/>
                <a:ea typeface="幼圆" pitchFamily="49" charset="-122"/>
              </a:rPr>
              <a:t>a、b</a:t>
            </a:r>
            <a:r>
              <a:rPr kumimoji="1" lang="zh-CN" altLang="en-US" sz="2400" b="1">
                <a:solidFill>
                  <a:schemeClr val="tx2"/>
                </a:solidFill>
                <a:latin typeface="幼圆" pitchFamily="49" charset="-122"/>
                <a:ea typeface="幼圆" pitchFamily="49" charset="-122"/>
              </a:rPr>
              <a:t>的值时，不能用    作为输入分隔符的是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A) ,   B) </a:t>
            </a:r>
            <a:r>
              <a:rPr kumimoji="1" lang="zh-CN" altLang="en-US" sz="2400" b="1">
                <a:solidFill>
                  <a:schemeClr val="tx2"/>
                </a:solidFill>
                <a:latin typeface="幼圆" pitchFamily="49" charset="-122"/>
                <a:ea typeface="幼圆" pitchFamily="49" charset="-122"/>
              </a:rPr>
              <a:t>空格     </a:t>
            </a:r>
            <a:r>
              <a:rPr kumimoji="1" lang="en-US" altLang="zh-CN" sz="2400" b="1">
                <a:solidFill>
                  <a:schemeClr val="tx2"/>
                </a:solidFill>
                <a:latin typeface="幼圆" pitchFamily="49" charset="-122"/>
                <a:ea typeface="幼圆" pitchFamily="49" charset="-122"/>
              </a:rPr>
              <a:t>C) </a:t>
            </a:r>
            <a:r>
              <a:rPr kumimoji="1" lang="zh-CN" altLang="en-US" sz="2400" b="1">
                <a:solidFill>
                  <a:schemeClr val="tx2"/>
                </a:solidFill>
                <a:latin typeface="幼圆" pitchFamily="49" charset="-122"/>
                <a:ea typeface="幼圆" pitchFamily="49" charset="-122"/>
              </a:rPr>
              <a:t>回车   	</a:t>
            </a:r>
            <a:r>
              <a:rPr kumimoji="1" lang="en-US" altLang="zh-CN" sz="2400" b="1">
                <a:solidFill>
                  <a:schemeClr val="tx2"/>
                </a:solidFill>
                <a:latin typeface="幼圆" pitchFamily="49" charset="-122"/>
                <a:ea typeface="幼圆" pitchFamily="49" charset="-122"/>
              </a:rPr>
              <a:t>D) Tab</a:t>
            </a:r>
          </a:p>
          <a:p>
            <a:pPr marL="0" indent="0" eaLnBrk="1" hangingPunct="1">
              <a:buClr>
                <a:schemeClr val="tx1"/>
              </a:buClr>
              <a:buSzPct val="60000"/>
              <a:buFont typeface="宋体" pitchFamily="2" charset="-122"/>
              <a:buNone/>
            </a:pPr>
            <a:r>
              <a:rPr kumimoji="1" lang="zh-CN" altLang="en-US" sz="2400" b="1">
                <a:solidFill>
                  <a:srgbClr val="FF0000"/>
                </a:solidFill>
                <a:latin typeface="幼圆" pitchFamily="49" charset="-122"/>
                <a:ea typeface="幼圆" pitchFamily="49" charset="-122"/>
              </a:rPr>
              <a:t>　答案：</a:t>
            </a:r>
            <a:r>
              <a:rPr kumimoji="1" lang="en-US" altLang="zh-CN" sz="2400" b="1">
                <a:solidFill>
                  <a:srgbClr val="FF0000"/>
                </a:solidFill>
                <a:latin typeface="幼圆" pitchFamily="49" charset="-122"/>
                <a:ea typeface="幼圆" pitchFamily="49" charset="-122"/>
              </a:rPr>
              <a:t>A</a:t>
            </a:r>
          </a:p>
        </p:txBody>
      </p:sp>
      <p:sp>
        <p:nvSpPr>
          <p:cNvPr id="4" name="Rectangle 4"/>
          <p:cNvSpPr>
            <a:spLocks noChangeArrowheads="1"/>
          </p:cNvSpPr>
          <p:nvPr/>
        </p:nvSpPr>
        <p:spPr bwMode="auto">
          <a:xfrm>
            <a:off x="35832" y="53340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ea typeface="幼圆" pitchFamily="49" charset="-122"/>
              </a:rPr>
              <a:t>部分练习</a:t>
            </a:r>
          </a:p>
        </p:txBody>
      </p:sp>
    </p:spTree>
    <p:extLst>
      <p:ext uri="{BB962C8B-B14F-4D97-AF65-F5344CB8AC3E}">
        <p14:creationId xmlns:p14="http://schemas.microsoft.com/office/powerpoint/2010/main" val="786392503"/>
      </p:ext>
    </p:extLst>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4259">
                                            <p:txEl>
                                              <p:pRg st="0" end="0"/>
                                            </p:txEl>
                                          </p:spTgt>
                                        </p:tgtEl>
                                        <p:attrNameLst>
                                          <p:attrName>style.visibility</p:attrName>
                                        </p:attrNameLst>
                                      </p:cBhvr>
                                      <p:to>
                                        <p:strVal val="visible"/>
                                      </p:to>
                                    </p:set>
                                    <p:animEffect transition="in" filter="wipe(left)">
                                      <p:cBhvr>
                                        <p:cTn id="7" dur="500"/>
                                        <p:tgtEl>
                                          <p:spTgt spid="2242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4259">
                                            <p:txEl>
                                              <p:pRg st="1" end="1"/>
                                            </p:txEl>
                                          </p:spTgt>
                                        </p:tgtEl>
                                        <p:attrNameLst>
                                          <p:attrName>style.visibility</p:attrName>
                                        </p:attrNameLst>
                                      </p:cBhvr>
                                      <p:to>
                                        <p:strVal val="visible"/>
                                      </p:to>
                                    </p:set>
                                    <p:animEffect transition="in" filter="wipe(left)">
                                      <p:cBhvr>
                                        <p:cTn id="12" dur="500"/>
                                        <p:tgtEl>
                                          <p:spTgt spid="2242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4259">
                                            <p:txEl>
                                              <p:pRg st="2" end="2"/>
                                            </p:txEl>
                                          </p:spTgt>
                                        </p:tgtEl>
                                        <p:attrNameLst>
                                          <p:attrName>style.visibility</p:attrName>
                                        </p:attrNameLst>
                                      </p:cBhvr>
                                      <p:to>
                                        <p:strVal val="visible"/>
                                      </p:to>
                                    </p:set>
                                    <p:animEffect transition="in" filter="wipe(left)">
                                      <p:cBhvr>
                                        <p:cTn id="17" dur="500"/>
                                        <p:tgtEl>
                                          <p:spTgt spid="2242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4259">
                                            <p:txEl>
                                              <p:pRg st="3" end="3"/>
                                            </p:txEl>
                                          </p:spTgt>
                                        </p:tgtEl>
                                        <p:attrNameLst>
                                          <p:attrName>style.visibility</p:attrName>
                                        </p:attrNameLst>
                                      </p:cBhvr>
                                      <p:to>
                                        <p:strVal val="visible"/>
                                      </p:to>
                                    </p:set>
                                    <p:animEffect transition="in" filter="wipe(left)">
                                      <p:cBhvr>
                                        <p:cTn id="22" dur="500"/>
                                        <p:tgtEl>
                                          <p:spTgt spid="22425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4259">
                                            <p:txEl>
                                              <p:pRg st="4" end="4"/>
                                            </p:txEl>
                                          </p:spTgt>
                                        </p:tgtEl>
                                        <p:attrNameLst>
                                          <p:attrName>style.visibility</p:attrName>
                                        </p:attrNameLst>
                                      </p:cBhvr>
                                      <p:to>
                                        <p:strVal val="visible"/>
                                      </p:to>
                                    </p:set>
                                    <p:animEffect transition="in" filter="wipe(left)">
                                      <p:cBhvr>
                                        <p:cTn id="27" dur="500"/>
                                        <p:tgtEl>
                                          <p:spTgt spid="22425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4259">
                                            <p:txEl>
                                              <p:pRg st="5" end="5"/>
                                            </p:txEl>
                                          </p:spTgt>
                                        </p:tgtEl>
                                        <p:attrNameLst>
                                          <p:attrName>style.visibility</p:attrName>
                                        </p:attrNameLst>
                                      </p:cBhvr>
                                      <p:to>
                                        <p:strVal val="visible"/>
                                      </p:to>
                                    </p:set>
                                    <p:animEffect transition="in" filter="wipe(left)">
                                      <p:cBhvr>
                                        <p:cTn id="32" dur="500"/>
                                        <p:tgtEl>
                                          <p:spTgt spid="22425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4259">
                                            <p:txEl>
                                              <p:pRg st="6" end="6"/>
                                            </p:txEl>
                                          </p:spTgt>
                                        </p:tgtEl>
                                        <p:attrNameLst>
                                          <p:attrName>style.visibility</p:attrName>
                                        </p:attrNameLst>
                                      </p:cBhvr>
                                      <p:to>
                                        <p:strVal val="visible"/>
                                      </p:to>
                                    </p:set>
                                    <p:animEffect transition="in" filter="wipe(left)">
                                      <p:cBhvr>
                                        <p:cTn id="37" dur="500"/>
                                        <p:tgtEl>
                                          <p:spTgt spid="22425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4259">
                                            <p:txEl>
                                              <p:pRg st="7" end="7"/>
                                            </p:txEl>
                                          </p:spTgt>
                                        </p:tgtEl>
                                        <p:attrNameLst>
                                          <p:attrName>style.visibility</p:attrName>
                                        </p:attrNameLst>
                                      </p:cBhvr>
                                      <p:to>
                                        <p:strVal val="visible"/>
                                      </p:to>
                                    </p:set>
                                    <p:animEffect transition="in" filter="wipe(left)">
                                      <p:cBhvr>
                                        <p:cTn id="42" dur="500"/>
                                        <p:tgtEl>
                                          <p:spTgt spid="224259">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24259">
                                            <p:txEl>
                                              <p:pRg st="8" end="8"/>
                                            </p:txEl>
                                          </p:spTgt>
                                        </p:tgtEl>
                                        <p:attrNameLst>
                                          <p:attrName>style.visibility</p:attrName>
                                        </p:attrNameLst>
                                      </p:cBhvr>
                                      <p:to>
                                        <p:strVal val="visible"/>
                                      </p:to>
                                    </p:set>
                                    <p:animEffect transition="in" filter="wipe(left)">
                                      <p:cBhvr>
                                        <p:cTn id="47" dur="500"/>
                                        <p:tgtEl>
                                          <p:spTgt spid="22425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9" grpId="0" build="p" autoUpdateAnimBg="0"/>
    </p:bldLst>
  </p:timing>
</p:sld>
</file>

<file path=ppt/slides/slide1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283" name="Rectangle 3"/>
          <p:cNvSpPr>
            <a:spLocks noGrp="1" noChangeArrowheads="1"/>
          </p:cNvSpPr>
          <p:nvPr>
            <p:ph type="body" sz="half" idx="1"/>
          </p:nvPr>
        </p:nvSpPr>
        <p:spPr>
          <a:xfrm>
            <a:off x="0" y="1295400"/>
            <a:ext cx="8534400" cy="4746625"/>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【10】</a:t>
            </a:r>
            <a:r>
              <a:rPr kumimoji="1" lang="zh-CN" altLang="en-US" sz="2400" b="1" dirty="0">
                <a:solidFill>
                  <a:schemeClr val="tx2"/>
                </a:solidFill>
                <a:latin typeface="幼圆" pitchFamily="49" charset="-122"/>
                <a:ea typeface="幼圆" pitchFamily="49" charset="-122"/>
              </a:rPr>
              <a:t>若给定条件表达式</a:t>
            </a:r>
            <a:r>
              <a:rPr kumimoji="1" lang="zh-CN" altLang="en-US" sz="2400" b="1" dirty="0">
                <a:solidFill>
                  <a:schemeClr val="tx2"/>
                </a:solidFill>
                <a:latin typeface="Arial" pitchFamily="34" charset="0"/>
                <a:ea typeface="幼圆" pitchFamily="49" charset="-122"/>
              </a:rPr>
              <a:t>“</a:t>
            </a:r>
            <a:r>
              <a:rPr kumimoji="1" lang="zh-CN" altLang="en-US" sz="2400" b="1" dirty="0">
                <a:solidFill>
                  <a:schemeClr val="tx2"/>
                </a:solidFill>
                <a:latin typeface="幼圆" pitchFamily="49" charset="-122"/>
                <a:ea typeface="幼圆" pitchFamily="49" charset="-122"/>
              </a:rPr>
              <a:t>(</a:t>
            </a:r>
            <a:r>
              <a:rPr kumimoji="1" lang="en-US" altLang="zh-CN" sz="2400" b="1" dirty="0">
                <a:solidFill>
                  <a:schemeClr val="tx2"/>
                </a:solidFill>
                <a:latin typeface="幼圆" pitchFamily="49" charset="-122"/>
                <a:ea typeface="幼圆" pitchFamily="49" charset="-122"/>
              </a:rPr>
              <a:t>n)?(</a:t>
            </a:r>
            <a:r>
              <a:rPr kumimoji="1" lang="en-US" altLang="zh-CN" sz="2400" b="1" dirty="0" err="1">
                <a:solidFill>
                  <a:schemeClr val="tx2"/>
                </a:solidFill>
                <a:latin typeface="幼圆" pitchFamily="49" charset="-122"/>
                <a:ea typeface="幼圆" pitchFamily="49" charset="-122"/>
              </a:rPr>
              <a:t>c++</a:t>
            </a:r>
            <a:r>
              <a:rPr kumimoji="1" lang="en-US" altLang="zh-CN" sz="2400" b="1" dirty="0">
                <a:solidFill>
                  <a:schemeClr val="tx2"/>
                </a:solidFill>
                <a:latin typeface="幼圆" pitchFamily="49" charset="-122"/>
                <a:ea typeface="幼圆" pitchFamily="49" charset="-122"/>
              </a:rPr>
              <a:t>):(c--)</a:t>
            </a:r>
            <a:r>
              <a:rPr kumimoji="1" lang="en-US" altLang="zh-CN" sz="2400" b="1" dirty="0">
                <a:solidFill>
                  <a:schemeClr val="tx2"/>
                </a:solidFill>
                <a:latin typeface="Arial" pitchFamily="34" charset="0"/>
                <a:ea typeface="幼圆" pitchFamily="49" charset="-122"/>
              </a:rPr>
              <a:t>”</a:t>
            </a:r>
            <a:r>
              <a:rPr kumimoji="1" lang="en-US" altLang="zh-CN" sz="2400" b="1" dirty="0">
                <a:solidFill>
                  <a:schemeClr val="tx2"/>
                </a:solidFill>
                <a:latin typeface="幼圆" pitchFamily="49" charset="-122"/>
                <a:ea typeface="幼圆" pitchFamily="49" charset="-122"/>
              </a:rPr>
              <a:t>，</a:t>
            </a:r>
            <a:r>
              <a:rPr kumimoji="1" lang="zh-CN" altLang="en-US" sz="2400" b="1" dirty="0">
                <a:solidFill>
                  <a:schemeClr val="tx2"/>
                </a:solidFill>
                <a:latin typeface="幼圆" pitchFamily="49" charset="-122"/>
                <a:ea typeface="幼圆" pitchFamily="49" charset="-122"/>
              </a:rPr>
              <a:t>则表达式</a:t>
            </a:r>
            <a:r>
              <a:rPr kumimoji="1" lang="en-US" altLang="zh-CN" sz="2400" b="1" dirty="0">
                <a:solidFill>
                  <a:schemeClr val="tx2"/>
                </a:solidFill>
                <a:latin typeface="幼圆" pitchFamily="49" charset="-122"/>
                <a:ea typeface="幼圆" pitchFamily="49" charset="-122"/>
              </a:rPr>
              <a:t>n</a:t>
            </a:r>
            <a:r>
              <a:rPr kumimoji="1" lang="zh-CN" altLang="en-US" sz="2400" b="1" dirty="0">
                <a:solidFill>
                  <a:schemeClr val="tx2"/>
                </a:solidFill>
                <a:latin typeface="幼圆" pitchFamily="49" charset="-122"/>
                <a:ea typeface="幼圆" pitchFamily="49" charset="-122"/>
              </a:rPr>
              <a:t>与表达式      是等价的。</a:t>
            </a:r>
          </a:p>
          <a:p>
            <a:pPr marL="0" indent="0" eaLnBrk="1" hangingPunct="1">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     </a:t>
            </a:r>
            <a:r>
              <a:rPr kumimoji="1" lang="en-US" altLang="zh-CN" sz="2400" b="1" dirty="0">
                <a:solidFill>
                  <a:schemeClr val="tx2"/>
                </a:solidFill>
                <a:latin typeface="幼圆" pitchFamily="49" charset="-122"/>
                <a:ea typeface="幼圆" pitchFamily="49" charset="-122"/>
              </a:rPr>
              <a:t>A) n==0    B) n==1    C) n!=0   D) n!=1</a:t>
            </a:r>
          </a:p>
          <a:p>
            <a:pPr marL="0" indent="0" eaLnBrk="1" hangingPunct="1">
              <a:buClr>
                <a:schemeClr val="tx1"/>
              </a:buClr>
              <a:buSzPct val="60000"/>
              <a:buFont typeface="宋体" pitchFamily="2" charset="-122"/>
              <a:buNone/>
            </a:pPr>
            <a:r>
              <a:rPr kumimoji="1" lang="zh-CN" altLang="en-US" sz="2400" b="1" dirty="0">
                <a:solidFill>
                  <a:srgbClr val="FF0000"/>
                </a:solidFill>
                <a:latin typeface="幼圆" pitchFamily="49" charset="-122"/>
                <a:ea typeface="幼圆" pitchFamily="49" charset="-122"/>
              </a:rPr>
              <a:t>　答案：</a:t>
            </a:r>
            <a:r>
              <a:rPr kumimoji="1" lang="en-US" altLang="zh-CN" sz="2400" b="1" dirty="0">
                <a:solidFill>
                  <a:srgbClr val="FF0000"/>
                </a:solidFill>
                <a:latin typeface="幼圆" pitchFamily="49" charset="-122"/>
                <a:ea typeface="幼圆" pitchFamily="49" charset="-122"/>
              </a:rPr>
              <a:t>C</a:t>
            </a:r>
          </a:p>
          <a:p>
            <a:pPr marL="0" indent="0" eaLnBrk="1" hangingPunct="1">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【11】</a:t>
            </a:r>
            <a:r>
              <a:rPr kumimoji="1" lang="zh-CN" altLang="en-US" sz="2400" b="1" dirty="0">
                <a:solidFill>
                  <a:schemeClr val="tx2"/>
                </a:solidFill>
                <a:latin typeface="幼圆" pitchFamily="49" charset="-122"/>
                <a:ea typeface="幼圆" pitchFamily="49" charset="-122"/>
              </a:rPr>
              <a:t>下列运算符的操作数必须是</a:t>
            </a:r>
            <a:r>
              <a:rPr kumimoji="1" lang="en-US" altLang="zh-CN" sz="2400" b="1" dirty="0" err="1">
                <a:solidFill>
                  <a:schemeClr val="tx2"/>
                </a:solidFill>
                <a:latin typeface="幼圆" pitchFamily="49" charset="-122"/>
                <a:ea typeface="幼圆" pitchFamily="49" charset="-122"/>
              </a:rPr>
              <a:t>int</a:t>
            </a:r>
            <a:r>
              <a:rPr kumimoji="1" lang="zh-CN" altLang="en-US" sz="2400" b="1" dirty="0">
                <a:solidFill>
                  <a:schemeClr val="tx2"/>
                </a:solidFill>
                <a:latin typeface="幼圆" pitchFamily="49" charset="-122"/>
                <a:ea typeface="幼圆" pitchFamily="49" charset="-122"/>
              </a:rPr>
              <a:t>型的运算是</a:t>
            </a:r>
          </a:p>
          <a:p>
            <a:pPr marL="0" indent="0" eaLnBrk="1" hangingPunct="1">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 </a:t>
            </a:r>
            <a:r>
              <a:rPr kumimoji="1" lang="en-US" altLang="zh-CN" sz="2400" b="1" dirty="0">
                <a:solidFill>
                  <a:schemeClr val="tx2"/>
                </a:solidFill>
                <a:latin typeface="幼圆" pitchFamily="49" charset="-122"/>
                <a:ea typeface="幼圆" pitchFamily="49" charset="-122"/>
              </a:rPr>
              <a:t>A) %       B) /       C) *    D) &amp;</a:t>
            </a:r>
          </a:p>
          <a:p>
            <a:pPr marL="0" indent="0" eaLnBrk="1" hangingPunct="1">
              <a:buClr>
                <a:schemeClr val="tx1"/>
              </a:buClr>
              <a:buSzPct val="60000"/>
              <a:buFont typeface="宋体" pitchFamily="2" charset="-122"/>
              <a:buNone/>
            </a:pPr>
            <a:r>
              <a:rPr kumimoji="1" lang="zh-CN" altLang="en-US" sz="2400" b="1" dirty="0">
                <a:solidFill>
                  <a:srgbClr val="FF0000"/>
                </a:solidFill>
                <a:latin typeface="幼圆" pitchFamily="49" charset="-122"/>
                <a:ea typeface="幼圆" pitchFamily="49" charset="-122"/>
              </a:rPr>
              <a:t>　答案：</a:t>
            </a:r>
            <a:r>
              <a:rPr kumimoji="1" lang="en-US" altLang="zh-CN" sz="2400" b="1" dirty="0">
                <a:solidFill>
                  <a:srgbClr val="FF0000"/>
                </a:solidFill>
                <a:latin typeface="幼圆" pitchFamily="49" charset="-122"/>
                <a:ea typeface="幼圆" pitchFamily="49" charset="-122"/>
              </a:rPr>
              <a:t>A</a:t>
            </a:r>
          </a:p>
          <a:p>
            <a:pPr marL="0" indent="0" eaLnBrk="1" hangingPunct="1">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cs typeface="Times New Roman" pitchFamily="18" charset="0"/>
              </a:rPr>
              <a:t>【12】已知：</a:t>
            </a:r>
            <a:r>
              <a:rPr kumimoji="1" lang="en-US" altLang="zh-CN" sz="2400" b="1" dirty="0">
                <a:solidFill>
                  <a:schemeClr val="tx2"/>
                </a:solidFill>
                <a:latin typeface="幼圆" pitchFamily="49" charset="-122"/>
                <a:ea typeface="幼圆" pitchFamily="49" charset="-122"/>
                <a:cs typeface="Times New Roman" pitchFamily="18" charset="0"/>
              </a:rPr>
              <a:t>char *s="\t\"Name\\Address\n"；</a:t>
            </a:r>
            <a:r>
              <a:rPr kumimoji="1" lang="zh-CN" altLang="en-US" sz="2400" b="1" dirty="0">
                <a:solidFill>
                  <a:schemeClr val="tx2"/>
                </a:solidFill>
                <a:latin typeface="幼圆" pitchFamily="49" charset="-122"/>
                <a:ea typeface="幼圆" pitchFamily="49" charset="-122"/>
                <a:cs typeface="Times New Roman" pitchFamily="18" charset="0"/>
              </a:rPr>
              <a:t>则</a:t>
            </a:r>
            <a:r>
              <a:rPr kumimoji="1" lang="en-US" altLang="zh-CN" sz="2400" b="1" dirty="0">
                <a:solidFill>
                  <a:schemeClr val="tx2"/>
                </a:solidFill>
                <a:latin typeface="幼圆" pitchFamily="49" charset="-122"/>
                <a:ea typeface="幼圆" pitchFamily="49" charset="-122"/>
                <a:cs typeface="Times New Roman" pitchFamily="18" charset="0"/>
              </a:rPr>
              <a:t>s</a:t>
            </a:r>
            <a:r>
              <a:rPr kumimoji="1" lang="zh-CN" altLang="en-US" sz="2400" b="1" dirty="0">
                <a:solidFill>
                  <a:schemeClr val="tx2"/>
                </a:solidFill>
                <a:latin typeface="幼圆" pitchFamily="49" charset="-122"/>
                <a:ea typeface="幼圆" pitchFamily="49" charset="-122"/>
                <a:cs typeface="Times New Roman" pitchFamily="18" charset="0"/>
              </a:rPr>
              <a:t>所指的字符串的长度为</a:t>
            </a:r>
          </a:p>
          <a:p>
            <a:pPr marL="0" indent="0" eaLnBrk="1" hangingPunct="1">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cs typeface="Times New Roman" pitchFamily="18" charset="0"/>
              </a:rPr>
              <a:t>    </a:t>
            </a:r>
            <a:r>
              <a:rPr kumimoji="1" lang="en-US" altLang="zh-CN" sz="2400" b="1" dirty="0">
                <a:solidFill>
                  <a:schemeClr val="tx2"/>
                </a:solidFill>
                <a:latin typeface="幼圆" pitchFamily="49" charset="-122"/>
                <a:ea typeface="幼圆" pitchFamily="49" charset="-122"/>
                <a:cs typeface="Times New Roman" pitchFamily="18" charset="0"/>
              </a:rPr>
              <a:t>A) 19     B) 15    C) 18     D) </a:t>
            </a:r>
            <a:r>
              <a:rPr kumimoji="1" lang="zh-CN" altLang="en-US" sz="2400" b="1" dirty="0">
                <a:solidFill>
                  <a:schemeClr val="tx2"/>
                </a:solidFill>
                <a:latin typeface="幼圆" pitchFamily="49" charset="-122"/>
                <a:ea typeface="幼圆" pitchFamily="49" charset="-122"/>
                <a:cs typeface="Times New Roman" pitchFamily="18" charset="0"/>
              </a:rPr>
              <a:t>说明不合法</a:t>
            </a:r>
          </a:p>
          <a:p>
            <a:pPr marL="0" indent="0" eaLnBrk="1" hangingPunct="1">
              <a:buClr>
                <a:schemeClr val="tx1"/>
              </a:buClr>
              <a:buSzPct val="60000"/>
              <a:buFont typeface="宋体" pitchFamily="2" charset="-122"/>
              <a:buNone/>
            </a:pPr>
            <a:r>
              <a:rPr kumimoji="1" lang="zh-CN" altLang="en-US" sz="2400" b="1" dirty="0">
                <a:solidFill>
                  <a:srgbClr val="FF0000"/>
                </a:solidFill>
                <a:latin typeface="幼圆" pitchFamily="49" charset="-122"/>
                <a:ea typeface="幼圆" pitchFamily="49" charset="-122"/>
              </a:rPr>
              <a:t>　答案：</a:t>
            </a:r>
            <a:r>
              <a:rPr kumimoji="1" lang="en-US" altLang="zh-CN" sz="2400" b="1" dirty="0">
                <a:solidFill>
                  <a:srgbClr val="FF0000"/>
                </a:solidFill>
                <a:latin typeface="幼圆" pitchFamily="49" charset="-122"/>
                <a:ea typeface="幼圆" pitchFamily="49" charset="-122"/>
              </a:rPr>
              <a:t>B</a:t>
            </a:r>
          </a:p>
        </p:txBody>
      </p:sp>
      <p:sp>
        <p:nvSpPr>
          <p:cNvPr id="4" name="Rectangle 4"/>
          <p:cNvSpPr>
            <a:spLocks noChangeArrowheads="1"/>
          </p:cNvSpPr>
          <p:nvPr/>
        </p:nvSpPr>
        <p:spPr bwMode="auto">
          <a:xfrm>
            <a:off x="35832" y="53340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ea typeface="幼圆" pitchFamily="49" charset="-122"/>
              </a:rPr>
              <a:t>部分练习</a:t>
            </a:r>
          </a:p>
        </p:txBody>
      </p:sp>
    </p:spTree>
    <p:extLst>
      <p:ext uri="{BB962C8B-B14F-4D97-AF65-F5344CB8AC3E}">
        <p14:creationId xmlns:p14="http://schemas.microsoft.com/office/powerpoint/2010/main" val="2568774996"/>
      </p:ext>
    </p:extLst>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283">
                                            <p:txEl>
                                              <p:pRg st="0" end="0"/>
                                            </p:txEl>
                                          </p:spTgt>
                                        </p:tgtEl>
                                        <p:attrNameLst>
                                          <p:attrName>style.visibility</p:attrName>
                                        </p:attrNameLst>
                                      </p:cBhvr>
                                      <p:to>
                                        <p:strVal val="visible"/>
                                      </p:to>
                                    </p:set>
                                    <p:animEffect transition="in" filter="wipe(left)">
                                      <p:cBhvr>
                                        <p:cTn id="7" dur="500"/>
                                        <p:tgtEl>
                                          <p:spTgt spid="2252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5283">
                                            <p:txEl>
                                              <p:pRg st="1" end="1"/>
                                            </p:txEl>
                                          </p:spTgt>
                                        </p:tgtEl>
                                        <p:attrNameLst>
                                          <p:attrName>style.visibility</p:attrName>
                                        </p:attrNameLst>
                                      </p:cBhvr>
                                      <p:to>
                                        <p:strVal val="visible"/>
                                      </p:to>
                                    </p:set>
                                    <p:animEffect transition="in" filter="wipe(left)">
                                      <p:cBhvr>
                                        <p:cTn id="12" dur="500"/>
                                        <p:tgtEl>
                                          <p:spTgt spid="2252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5283">
                                            <p:txEl>
                                              <p:pRg st="2" end="2"/>
                                            </p:txEl>
                                          </p:spTgt>
                                        </p:tgtEl>
                                        <p:attrNameLst>
                                          <p:attrName>style.visibility</p:attrName>
                                        </p:attrNameLst>
                                      </p:cBhvr>
                                      <p:to>
                                        <p:strVal val="visible"/>
                                      </p:to>
                                    </p:set>
                                    <p:animEffect transition="in" filter="wipe(left)">
                                      <p:cBhvr>
                                        <p:cTn id="17" dur="500"/>
                                        <p:tgtEl>
                                          <p:spTgt spid="2252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5283">
                                            <p:txEl>
                                              <p:pRg st="3" end="3"/>
                                            </p:txEl>
                                          </p:spTgt>
                                        </p:tgtEl>
                                        <p:attrNameLst>
                                          <p:attrName>style.visibility</p:attrName>
                                        </p:attrNameLst>
                                      </p:cBhvr>
                                      <p:to>
                                        <p:strVal val="visible"/>
                                      </p:to>
                                    </p:set>
                                    <p:animEffect transition="in" filter="wipe(left)">
                                      <p:cBhvr>
                                        <p:cTn id="22" dur="500"/>
                                        <p:tgtEl>
                                          <p:spTgt spid="22528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5283">
                                            <p:txEl>
                                              <p:pRg st="4" end="4"/>
                                            </p:txEl>
                                          </p:spTgt>
                                        </p:tgtEl>
                                        <p:attrNameLst>
                                          <p:attrName>style.visibility</p:attrName>
                                        </p:attrNameLst>
                                      </p:cBhvr>
                                      <p:to>
                                        <p:strVal val="visible"/>
                                      </p:to>
                                    </p:set>
                                    <p:animEffect transition="in" filter="wipe(left)">
                                      <p:cBhvr>
                                        <p:cTn id="27" dur="500"/>
                                        <p:tgtEl>
                                          <p:spTgt spid="22528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5283">
                                            <p:txEl>
                                              <p:pRg st="5" end="5"/>
                                            </p:txEl>
                                          </p:spTgt>
                                        </p:tgtEl>
                                        <p:attrNameLst>
                                          <p:attrName>style.visibility</p:attrName>
                                        </p:attrNameLst>
                                      </p:cBhvr>
                                      <p:to>
                                        <p:strVal val="visible"/>
                                      </p:to>
                                    </p:set>
                                    <p:animEffect transition="in" filter="wipe(left)">
                                      <p:cBhvr>
                                        <p:cTn id="32" dur="500"/>
                                        <p:tgtEl>
                                          <p:spTgt spid="22528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5283">
                                            <p:txEl>
                                              <p:pRg st="6" end="6"/>
                                            </p:txEl>
                                          </p:spTgt>
                                        </p:tgtEl>
                                        <p:attrNameLst>
                                          <p:attrName>style.visibility</p:attrName>
                                        </p:attrNameLst>
                                      </p:cBhvr>
                                      <p:to>
                                        <p:strVal val="visible"/>
                                      </p:to>
                                    </p:set>
                                    <p:animEffect transition="in" filter="wipe(left)">
                                      <p:cBhvr>
                                        <p:cTn id="37" dur="500"/>
                                        <p:tgtEl>
                                          <p:spTgt spid="22528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5283">
                                            <p:txEl>
                                              <p:pRg st="7" end="7"/>
                                            </p:txEl>
                                          </p:spTgt>
                                        </p:tgtEl>
                                        <p:attrNameLst>
                                          <p:attrName>style.visibility</p:attrName>
                                        </p:attrNameLst>
                                      </p:cBhvr>
                                      <p:to>
                                        <p:strVal val="visible"/>
                                      </p:to>
                                    </p:set>
                                    <p:animEffect transition="in" filter="wipe(left)">
                                      <p:cBhvr>
                                        <p:cTn id="42" dur="500"/>
                                        <p:tgtEl>
                                          <p:spTgt spid="22528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25283">
                                            <p:txEl>
                                              <p:pRg st="8" end="8"/>
                                            </p:txEl>
                                          </p:spTgt>
                                        </p:tgtEl>
                                        <p:attrNameLst>
                                          <p:attrName>style.visibility</p:attrName>
                                        </p:attrNameLst>
                                      </p:cBhvr>
                                      <p:to>
                                        <p:strVal val="visible"/>
                                      </p:to>
                                    </p:set>
                                    <p:animEffect transition="in" filter="wipe(left)">
                                      <p:cBhvr>
                                        <p:cTn id="47" dur="500"/>
                                        <p:tgtEl>
                                          <p:spTgt spid="22528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3" grpId="0" build="p" autoUpdateAnimBg="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7" name="Rectangle 3"/>
          <p:cNvSpPr>
            <a:spLocks noChangeArrowheads="1"/>
          </p:cNvSpPr>
          <p:nvPr/>
        </p:nvSpPr>
        <p:spPr bwMode="auto">
          <a:xfrm>
            <a:off x="0" y="1077913"/>
            <a:ext cx="8915400" cy="4450449"/>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lgn="ctr">
                <a:solidFill>
                  <a:srgbClr val="000000"/>
                </a:solidFill>
                <a:prstDash val="sysDot"/>
                <a:miter lim="800000"/>
                <a:headEnd/>
                <a:tailEnd/>
              </a14:hiddenLine>
            </a:ext>
          </a:extLst>
        </p:spPr>
        <p:txBody>
          <a:bodyPr>
            <a:spAutoFit/>
          </a:bodyPr>
          <a:lstStyle/>
          <a:p>
            <a:pPr eaLnBrk="1" hangingPunct="1">
              <a:spcBef>
                <a:spcPct val="20000"/>
              </a:spcBef>
              <a:buClr>
                <a:schemeClr val="tx1"/>
              </a:buClr>
              <a:buSzPct val="60000"/>
              <a:buFont typeface="宋体" pitchFamily="2" charset="-122"/>
              <a:buNone/>
            </a:pPr>
            <a:r>
              <a:rPr kumimoji="1" lang="zh-CN" altLang="zh-CN" sz="2400" b="1" dirty="0">
                <a:solidFill>
                  <a:schemeClr val="tx2"/>
                </a:solidFill>
                <a:latin typeface="幼圆" pitchFamily="49" charset="-122"/>
                <a:ea typeface="幼圆" pitchFamily="49" charset="-122"/>
              </a:rPr>
              <a:t>【1</a:t>
            </a:r>
            <a:r>
              <a:rPr kumimoji="1" lang="zh-CN" altLang="en-US" sz="2400" b="1" dirty="0">
                <a:solidFill>
                  <a:schemeClr val="tx2"/>
                </a:solidFill>
                <a:latin typeface="幼圆" pitchFamily="49" charset="-122"/>
                <a:ea typeface="幼圆" pitchFamily="49" charset="-122"/>
              </a:rPr>
              <a:t>3</a:t>
            </a:r>
            <a:r>
              <a:rPr kumimoji="1" lang="zh-CN" altLang="zh-CN" sz="2400" b="1" dirty="0">
                <a:solidFill>
                  <a:schemeClr val="tx2"/>
                </a:solidFill>
                <a:latin typeface="幼圆" pitchFamily="49" charset="-122"/>
                <a:ea typeface="幼圆" pitchFamily="49" charset="-122"/>
              </a:rPr>
              <a:t>】</a:t>
            </a:r>
            <a:r>
              <a:rPr kumimoji="1" lang="zh-CN" altLang="en-US" sz="2400" b="1" dirty="0">
                <a:solidFill>
                  <a:schemeClr val="tx2"/>
                </a:solidFill>
                <a:latin typeface="幼圆" pitchFamily="49" charset="-122"/>
                <a:ea typeface="幼圆" pitchFamily="49" charset="-122"/>
              </a:rPr>
              <a:t>为判断</a:t>
            </a:r>
            <a:r>
              <a:rPr kumimoji="1" lang="en-US" altLang="zh-CN" sz="2400" b="1" dirty="0">
                <a:solidFill>
                  <a:schemeClr val="tx2"/>
                </a:solidFill>
                <a:latin typeface="幼圆" pitchFamily="49" charset="-122"/>
                <a:ea typeface="幼圆" pitchFamily="49" charset="-122"/>
              </a:rPr>
              <a:t>char</a:t>
            </a:r>
            <a:r>
              <a:rPr kumimoji="1" lang="zh-CN" altLang="en-US" sz="2400" b="1" dirty="0">
                <a:solidFill>
                  <a:schemeClr val="tx2"/>
                </a:solidFill>
                <a:latin typeface="幼圆" pitchFamily="49" charset="-122"/>
                <a:ea typeface="幼圆" pitchFamily="49" charset="-122"/>
              </a:rPr>
              <a:t>型变量</a:t>
            </a:r>
            <a:r>
              <a:rPr kumimoji="1" lang="en-US" altLang="zh-CN" sz="2400" b="1" dirty="0">
                <a:solidFill>
                  <a:schemeClr val="tx2"/>
                </a:solidFill>
                <a:latin typeface="幼圆" pitchFamily="49" charset="-122"/>
                <a:ea typeface="幼圆" pitchFamily="49" charset="-122"/>
              </a:rPr>
              <a:t>m</a:t>
            </a:r>
            <a:r>
              <a:rPr kumimoji="1" lang="zh-CN" altLang="en-US" sz="2400" b="1" dirty="0">
                <a:solidFill>
                  <a:schemeClr val="tx2"/>
                </a:solidFill>
                <a:latin typeface="幼圆" pitchFamily="49" charset="-122"/>
                <a:ea typeface="幼圆" pitchFamily="49" charset="-122"/>
              </a:rPr>
              <a:t>是否是数字，可用表达式</a:t>
            </a:r>
          </a:p>
          <a:p>
            <a:pPr eaLnBrk="1" hangingPunct="1">
              <a:spcBef>
                <a:spcPct val="20000"/>
              </a:spcBef>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   </a:t>
            </a:r>
            <a:r>
              <a:rPr kumimoji="1" lang="en-US" altLang="zh-CN" sz="2400" b="1" dirty="0">
                <a:solidFill>
                  <a:schemeClr val="tx2"/>
                </a:solidFill>
                <a:latin typeface="幼圆" pitchFamily="49" charset="-122"/>
                <a:ea typeface="幼圆" pitchFamily="49" charset="-122"/>
              </a:rPr>
              <a:t>A)0&lt;=m &amp;&amp; m&lt;=9        B)</a:t>
            </a:r>
            <a:r>
              <a:rPr kumimoji="1" lang="en-US" altLang="zh-CN" sz="2400" b="1" dirty="0">
                <a:solidFill>
                  <a:schemeClr val="tx2"/>
                </a:solidFill>
                <a:ea typeface="幼圆" pitchFamily="49" charset="-122"/>
              </a:rPr>
              <a:t>’</a:t>
            </a:r>
            <a:r>
              <a:rPr kumimoji="1" lang="en-US" altLang="zh-CN" sz="2400" b="1" dirty="0">
                <a:solidFill>
                  <a:schemeClr val="tx2"/>
                </a:solidFill>
                <a:latin typeface="幼圆" pitchFamily="49" charset="-122"/>
                <a:ea typeface="幼圆" pitchFamily="49" charset="-122"/>
              </a:rPr>
              <a:t>0</a:t>
            </a:r>
            <a:r>
              <a:rPr kumimoji="1" lang="en-US" altLang="zh-CN" sz="2400" b="1" dirty="0">
                <a:solidFill>
                  <a:schemeClr val="tx2"/>
                </a:solidFill>
                <a:ea typeface="幼圆" pitchFamily="49" charset="-122"/>
              </a:rPr>
              <a:t>’</a:t>
            </a:r>
            <a:r>
              <a:rPr kumimoji="1" lang="en-US" altLang="zh-CN" sz="2400" b="1" dirty="0">
                <a:solidFill>
                  <a:schemeClr val="tx2"/>
                </a:solidFill>
                <a:latin typeface="幼圆" pitchFamily="49" charset="-122"/>
                <a:ea typeface="幼圆" pitchFamily="49" charset="-122"/>
              </a:rPr>
              <a:t>&lt;=m &amp;&amp; m&lt;=</a:t>
            </a:r>
            <a:r>
              <a:rPr kumimoji="1" lang="en-US" altLang="zh-CN" sz="2400" b="1" dirty="0">
                <a:solidFill>
                  <a:schemeClr val="tx2"/>
                </a:solidFill>
                <a:ea typeface="幼圆" pitchFamily="49" charset="-122"/>
              </a:rPr>
              <a:t>’</a:t>
            </a:r>
            <a:r>
              <a:rPr kumimoji="1" lang="en-US" altLang="zh-CN" sz="2400" b="1" dirty="0">
                <a:solidFill>
                  <a:schemeClr val="tx2"/>
                </a:solidFill>
                <a:latin typeface="幼圆" pitchFamily="49" charset="-122"/>
                <a:ea typeface="幼圆" pitchFamily="49" charset="-122"/>
              </a:rPr>
              <a:t>9</a:t>
            </a:r>
            <a:r>
              <a:rPr kumimoji="1" lang="en-US" altLang="zh-CN" sz="2400" b="1" dirty="0">
                <a:solidFill>
                  <a:schemeClr val="tx2"/>
                </a:solidFill>
                <a:ea typeface="幼圆" pitchFamily="49" charset="-122"/>
              </a:rPr>
              <a:t>’</a:t>
            </a:r>
            <a:endParaRPr kumimoji="1" lang="en-US" altLang="zh-CN" sz="2400" b="1" dirty="0">
              <a:solidFill>
                <a:schemeClr val="tx2"/>
              </a:solidFill>
              <a:latin typeface="幼圆" pitchFamily="49" charset="-122"/>
              <a:ea typeface="幼圆" pitchFamily="49" charset="-122"/>
            </a:endParaRP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   C)</a:t>
            </a:r>
            <a:r>
              <a:rPr kumimoji="1" lang="en-US" altLang="zh-CN" sz="2400" b="1" dirty="0">
                <a:solidFill>
                  <a:schemeClr val="tx2"/>
                </a:solidFill>
                <a:ea typeface="幼圆" pitchFamily="49" charset="-122"/>
              </a:rPr>
              <a:t>“</a:t>
            </a:r>
            <a:r>
              <a:rPr kumimoji="1" lang="en-US" altLang="zh-CN" sz="2400" b="1" dirty="0">
                <a:solidFill>
                  <a:schemeClr val="tx2"/>
                </a:solidFill>
                <a:latin typeface="幼圆" pitchFamily="49" charset="-122"/>
                <a:ea typeface="幼圆" pitchFamily="49" charset="-122"/>
              </a:rPr>
              <a:t>0</a:t>
            </a:r>
            <a:r>
              <a:rPr kumimoji="1" lang="en-US" altLang="zh-CN" sz="2400" b="1" dirty="0">
                <a:solidFill>
                  <a:schemeClr val="tx2"/>
                </a:solidFill>
                <a:ea typeface="幼圆" pitchFamily="49" charset="-122"/>
              </a:rPr>
              <a:t>”</a:t>
            </a:r>
            <a:r>
              <a:rPr kumimoji="1" lang="en-US" altLang="zh-CN" sz="2400" b="1" dirty="0">
                <a:solidFill>
                  <a:schemeClr val="tx2"/>
                </a:solidFill>
                <a:latin typeface="幼圆" pitchFamily="49" charset="-122"/>
                <a:ea typeface="幼圆" pitchFamily="49" charset="-122"/>
              </a:rPr>
              <a:t>&lt;=m &amp;&amp; m&lt;=</a:t>
            </a:r>
            <a:r>
              <a:rPr kumimoji="1" lang="en-US" altLang="zh-CN" sz="2400" b="1" dirty="0">
                <a:solidFill>
                  <a:schemeClr val="tx2"/>
                </a:solidFill>
                <a:ea typeface="幼圆" pitchFamily="49" charset="-122"/>
              </a:rPr>
              <a:t>“</a:t>
            </a:r>
            <a:r>
              <a:rPr kumimoji="1" lang="en-US" altLang="zh-CN" sz="2400" b="1" dirty="0">
                <a:solidFill>
                  <a:schemeClr val="tx2"/>
                </a:solidFill>
                <a:latin typeface="幼圆" pitchFamily="49" charset="-122"/>
                <a:ea typeface="幼圆" pitchFamily="49" charset="-122"/>
              </a:rPr>
              <a:t>9</a:t>
            </a:r>
            <a:r>
              <a:rPr kumimoji="1" lang="en-US" altLang="zh-CN" sz="2400" b="1" dirty="0">
                <a:solidFill>
                  <a:schemeClr val="tx2"/>
                </a:solidFill>
                <a:ea typeface="幼圆" pitchFamily="49" charset="-122"/>
              </a:rPr>
              <a:t>”</a:t>
            </a:r>
            <a:r>
              <a:rPr kumimoji="1" lang="en-US" altLang="zh-CN" sz="2400" b="1" dirty="0">
                <a:solidFill>
                  <a:schemeClr val="tx2"/>
                </a:solidFill>
                <a:latin typeface="幼圆" pitchFamily="49" charset="-122"/>
                <a:ea typeface="幼圆" pitchFamily="49" charset="-122"/>
              </a:rPr>
              <a:t>   D)</a:t>
            </a:r>
            <a:r>
              <a:rPr kumimoji="1" lang="zh-CN" altLang="en-US" sz="2400" b="1" dirty="0">
                <a:solidFill>
                  <a:schemeClr val="tx2"/>
                </a:solidFill>
                <a:latin typeface="幼圆" pitchFamily="49" charset="-122"/>
                <a:ea typeface="幼圆" pitchFamily="49" charset="-122"/>
              </a:rPr>
              <a:t>前面三个答案均是错误的</a:t>
            </a:r>
          </a:p>
          <a:p>
            <a:pPr eaLnBrk="1" hangingPunct="1">
              <a:spcBef>
                <a:spcPct val="20000"/>
              </a:spcBef>
              <a:buClr>
                <a:schemeClr val="tx1"/>
              </a:buClr>
              <a:buSzPct val="60000"/>
              <a:buFont typeface="宋体" pitchFamily="2" charset="-122"/>
              <a:buNone/>
            </a:pPr>
            <a:r>
              <a:rPr kumimoji="1" lang="zh-CN" altLang="en-US" sz="2400" b="1" dirty="0">
                <a:solidFill>
                  <a:srgbClr val="FF0000"/>
                </a:solidFill>
                <a:latin typeface="幼圆" pitchFamily="49" charset="-122"/>
                <a:ea typeface="幼圆" pitchFamily="49" charset="-122"/>
              </a:rPr>
              <a:t>　答案：</a:t>
            </a:r>
            <a:r>
              <a:rPr kumimoji="1" lang="en-US" altLang="zh-CN" sz="2400" b="1" dirty="0">
                <a:solidFill>
                  <a:srgbClr val="FF0000"/>
                </a:solidFill>
                <a:latin typeface="幼圆" pitchFamily="49" charset="-122"/>
                <a:ea typeface="幼圆" pitchFamily="49" charset="-122"/>
              </a:rPr>
              <a:t>B</a:t>
            </a:r>
          </a:p>
          <a:p>
            <a:pPr eaLnBrk="1" hangingPunct="1">
              <a:spcBef>
                <a:spcPct val="20000"/>
              </a:spcBef>
              <a:buClr>
                <a:schemeClr val="tx1"/>
              </a:buClr>
              <a:buSzPct val="60000"/>
              <a:buFont typeface="宋体" pitchFamily="2" charset="-122"/>
              <a:buNone/>
            </a:pPr>
            <a:endParaRPr kumimoji="1" lang="en-US" altLang="zh-CN" sz="2400" b="1" dirty="0">
              <a:solidFill>
                <a:schemeClr val="tx2"/>
              </a:solidFill>
              <a:latin typeface="幼圆" pitchFamily="49" charset="-122"/>
              <a:ea typeface="幼圆" pitchFamily="49" charset="-122"/>
            </a:endParaRP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【15】C</a:t>
            </a:r>
            <a:r>
              <a:rPr kumimoji="1" lang="zh-CN" altLang="en-US" sz="2400" b="1" dirty="0">
                <a:solidFill>
                  <a:schemeClr val="tx2"/>
                </a:solidFill>
                <a:latin typeface="幼圆" pitchFamily="49" charset="-122"/>
                <a:ea typeface="幼圆" pitchFamily="49" charset="-122"/>
              </a:rPr>
              <a:t>对嵌套</a:t>
            </a:r>
            <a:r>
              <a:rPr kumimoji="1" lang="en-US" altLang="zh-CN" sz="2400" b="1" dirty="0">
                <a:solidFill>
                  <a:schemeClr val="tx2"/>
                </a:solidFill>
                <a:latin typeface="幼圆" pitchFamily="49" charset="-122"/>
                <a:ea typeface="幼圆" pitchFamily="49" charset="-122"/>
              </a:rPr>
              <a:t>if</a:t>
            </a:r>
            <a:r>
              <a:rPr kumimoji="1" lang="zh-CN" altLang="en-US" sz="2400" b="1" dirty="0">
                <a:solidFill>
                  <a:schemeClr val="tx2"/>
                </a:solidFill>
                <a:latin typeface="幼圆" pitchFamily="49" charset="-122"/>
                <a:ea typeface="幼圆" pitchFamily="49" charset="-122"/>
              </a:rPr>
              <a:t>的规定是：</a:t>
            </a:r>
            <a:r>
              <a:rPr kumimoji="1" lang="en-US" altLang="zh-CN" sz="2400" b="1" dirty="0">
                <a:solidFill>
                  <a:schemeClr val="tx2"/>
                </a:solidFill>
                <a:latin typeface="幼圆" pitchFamily="49" charset="-122"/>
                <a:ea typeface="幼圆" pitchFamily="49" charset="-122"/>
              </a:rPr>
              <a:t>else</a:t>
            </a:r>
            <a:r>
              <a:rPr kumimoji="1" lang="zh-CN" altLang="en-US" sz="2400" b="1" dirty="0">
                <a:solidFill>
                  <a:schemeClr val="tx2"/>
                </a:solidFill>
                <a:latin typeface="幼圆" pitchFamily="49" charset="-122"/>
                <a:ea typeface="幼圆" pitchFamily="49" charset="-122"/>
              </a:rPr>
              <a:t>总是与      配对。</a:t>
            </a:r>
          </a:p>
          <a:p>
            <a:pPr eaLnBrk="1" hangingPunct="1">
              <a:spcBef>
                <a:spcPct val="20000"/>
              </a:spcBef>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rPr>
              <a:t>  </a:t>
            </a:r>
            <a:r>
              <a:rPr kumimoji="1" lang="en-US" altLang="zh-CN" sz="2400" b="1" dirty="0">
                <a:solidFill>
                  <a:schemeClr val="tx2"/>
                </a:solidFill>
                <a:latin typeface="幼圆" pitchFamily="49" charset="-122"/>
                <a:ea typeface="幼圆" pitchFamily="49" charset="-122"/>
              </a:rPr>
              <a:t>A) </a:t>
            </a:r>
            <a:r>
              <a:rPr kumimoji="1" lang="zh-CN" altLang="en-US" sz="2400" b="1" dirty="0">
                <a:solidFill>
                  <a:schemeClr val="tx2"/>
                </a:solidFill>
                <a:latin typeface="幼圆" pitchFamily="49" charset="-122"/>
                <a:ea typeface="幼圆" pitchFamily="49" charset="-122"/>
              </a:rPr>
              <a:t>其之前最近的</a:t>
            </a:r>
            <a:r>
              <a:rPr kumimoji="1" lang="en-US" altLang="zh-CN" sz="2400" b="1" dirty="0">
                <a:solidFill>
                  <a:schemeClr val="tx2"/>
                </a:solidFill>
                <a:latin typeface="幼圆" pitchFamily="49" charset="-122"/>
                <a:ea typeface="幼圆" pitchFamily="49" charset="-122"/>
              </a:rPr>
              <a:t>if      B) </a:t>
            </a:r>
            <a:r>
              <a:rPr kumimoji="1" lang="zh-CN" altLang="en-US" sz="2400" b="1" dirty="0">
                <a:solidFill>
                  <a:schemeClr val="tx2"/>
                </a:solidFill>
                <a:latin typeface="幼圆" pitchFamily="49" charset="-122"/>
                <a:ea typeface="幼圆" pitchFamily="49" charset="-122"/>
              </a:rPr>
              <a:t>第一个</a:t>
            </a:r>
            <a:r>
              <a:rPr kumimoji="1" lang="en-US" altLang="zh-CN" sz="2400" b="1" dirty="0">
                <a:solidFill>
                  <a:schemeClr val="tx2"/>
                </a:solidFill>
                <a:latin typeface="幼圆" pitchFamily="49" charset="-122"/>
                <a:ea typeface="幼圆" pitchFamily="49" charset="-122"/>
              </a:rPr>
              <a:t>if</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  C) </a:t>
            </a:r>
            <a:r>
              <a:rPr kumimoji="1" lang="zh-CN" altLang="en-US" sz="2400" b="1" dirty="0">
                <a:solidFill>
                  <a:schemeClr val="tx2"/>
                </a:solidFill>
                <a:latin typeface="幼圆" pitchFamily="49" charset="-122"/>
                <a:ea typeface="幼圆" pitchFamily="49" charset="-122"/>
              </a:rPr>
              <a:t>缩进位置相同的</a:t>
            </a:r>
            <a:r>
              <a:rPr kumimoji="1" lang="en-US" altLang="zh-CN" sz="2400" b="1" dirty="0">
                <a:solidFill>
                  <a:schemeClr val="tx2"/>
                </a:solidFill>
                <a:latin typeface="幼圆" pitchFamily="49" charset="-122"/>
                <a:ea typeface="幼圆" pitchFamily="49" charset="-122"/>
              </a:rPr>
              <a:t>if</a:t>
            </a:r>
          </a:p>
          <a:p>
            <a:pPr eaLnBrk="1" hangingPunct="1">
              <a:spcBef>
                <a:spcPct val="20000"/>
              </a:spcBef>
              <a:buClr>
                <a:schemeClr val="tx1"/>
              </a:buClr>
              <a:buSzPct val="60000"/>
              <a:buFont typeface="宋体" pitchFamily="2" charset="-122"/>
              <a:buNone/>
            </a:pPr>
            <a:r>
              <a:rPr kumimoji="1" lang="en-US" altLang="zh-CN" sz="2400" b="1" dirty="0">
                <a:solidFill>
                  <a:schemeClr val="tx2"/>
                </a:solidFill>
                <a:latin typeface="幼圆" pitchFamily="49" charset="-122"/>
                <a:ea typeface="幼圆" pitchFamily="49" charset="-122"/>
              </a:rPr>
              <a:t>  D) </a:t>
            </a:r>
            <a:r>
              <a:rPr kumimoji="1" lang="zh-CN" altLang="en-US" sz="2400" b="1" dirty="0">
                <a:solidFill>
                  <a:schemeClr val="tx2"/>
                </a:solidFill>
                <a:latin typeface="幼圆" pitchFamily="49" charset="-122"/>
                <a:ea typeface="幼圆" pitchFamily="49" charset="-122"/>
              </a:rPr>
              <a:t>其之前最近的且尚未配对的</a:t>
            </a:r>
            <a:r>
              <a:rPr kumimoji="1" lang="en-US" altLang="zh-CN" sz="2400" b="1" dirty="0">
                <a:solidFill>
                  <a:schemeClr val="tx2"/>
                </a:solidFill>
                <a:latin typeface="幼圆" pitchFamily="49" charset="-122"/>
                <a:ea typeface="幼圆" pitchFamily="49" charset="-122"/>
              </a:rPr>
              <a:t>if</a:t>
            </a:r>
          </a:p>
          <a:p>
            <a:pPr eaLnBrk="1" hangingPunct="1">
              <a:spcBef>
                <a:spcPct val="20000"/>
              </a:spcBef>
              <a:buClr>
                <a:schemeClr val="tx1"/>
              </a:buClr>
              <a:buSzPct val="60000"/>
              <a:buFont typeface="宋体" pitchFamily="2" charset="-122"/>
              <a:buNone/>
            </a:pPr>
            <a:r>
              <a:rPr kumimoji="1" lang="zh-CN" altLang="en-US" sz="2400" b="1" dirty="0">
                <a:solidFill>
                  <a:srgbClr val="FF0000"/>
                </a:solidFill>
                <a:latin typeface="幼圆" pitchFamily="49" charset="-122"/>
                <a:ea typeface="幼圆" pitchFamily="49" charset="-122"/>
              </a:rPr>
              <a:t>　答案：</a:t>
            </a:r>
            <a:r>
              <a:rPr kumimoji="1" lang="en-US" altLang="zh-CN" sz="2400" b="1" dirty="0">
                <a:solidFill>
                  <a:srgbClr val="FF0000"/>
                </a:solidFill>
                <a:latin typeface="幼圆" pitchFamily="49" charset="-122"/>
                <a:ea typeface="幼圆" pitchFamily="49" charset="-122"/>
              </a:rPr>
              <a:t>D</a:t>
            </a:r>
          </a:p>
        </p:txBody>
      </p:sp>
      <p:pic>
        <p:nvPicPr>
          <p:cNvPr id="164867" name="Picture 131"/>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267575" y="4648200"/>
            <a:ext cx="1501775" cy="184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med" len="lg"/>
              </a14:hiddenLine>
            </a:ext>
          </a:extLst>
        </p:spPr>
      </p:pic>
      <p:sp>
        <p:nvSpPr>
          <p:cNvPr id="5" name="Rectangle 4"/>
          <p:cNvSpPr>
            <a:spLocks noChangeArrowheads="1"/>
          </p:cNvSpPr>
          <p:nvPr/>
        </p:nvSpPr>
        <p:spPr bwMode="auto">
          <a:xfrm>
            <a:off x="35832" y="53340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ea typeface="幼圆" pitchFamily="49" charset="-122"/>
              </a:rPr>
              <a:t>部分练习</a:t>
            </a:r>
          </a:p>
        </p:txBody>
      </p:sp>
    </p:spTree>
    <p:extLst>
      <p:ext uri="{BB962C8B-B14F-4D97-AF65-F5344CB8AC3E}">
        <p14:creationId xmlns:p14="http://schemas.microsoft.com/office/powerpoint/2010/main" val="424618963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6307">
                                            <p:txEl>
                                              <p:pRg st="0" end="0"/>
                                            </p:txEl>
                                          </p:spTgt>
                                        </p:tgtEl>
                                        <p:attrNameLst>
                                          <p:attrName>style.visibility</p:attrName>
                                        </p:attrNameLst>
                                      </p:cBhvr>
                                      <p:to>
                                        <p:strVal val="visible"/>
                                      </p:to>
                                    </p:set>
                                    <p:animEffect transition="in" filter="wipe(left)">
                                      <p:cBhvr>
                                        <p:cTn id="7" dur="500"/>
                                        <p:tgtEl>
                                          <p:spTgt spid="2263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6307">
                                            <p:txEl>
                                              <p:pRg st="1" end="1"/>
                                            </p:txEl>
                                          </p:spTgt>
                                        </p:tgtEl>
                                        <p:attrNameLst>
                                          <p:attrName>style.visibility</p:attrName>
                                        </p:attrNameLst>
                                      </p:cBhvr>
                                      <p:to>
                                        <p:strVal val="visible"/>
                                      </p:to>
                                    </p:set>
                                    <p:animEffect transition="in" filter="wipe(left)">
                                      <p:cBhvr>
                                        <p:cTn id="12" dur="500"/>
                                        <p:tgtEl>
                                          <p:spTgt spid="2263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6307">
                                            <p:txEl>
                                              <p:pRg st="2" end="2"/>
                                            </p:txEl>
                                          </p:spTgt>
                                        </p:tgtEl>
                                        <p:attrNameLst>
                                          <p:attrName>style.visibility</p:attrName>
                                        </p:attrNameLst>
                                      </p:cBhvr>
                                      <p:to>
                                        <p:strVal val="visible"/>
                                      </p:to>
                                    </p:set>
                                    <p:animEffect transition="in" filter="wipe(left)">
                                      <p:cBhvr>
                                        <p:cTn id="17" dur="500"/>
                                        <p:tgtEl>
                                          <p:spTgt spid="22630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6307">
                                            <p:txEl>
                                              <p:pRg st="3" end="3"/>
                                            </p:txEl>
                                          </p:spTgt>
                                        </p:tgtEl>
                                        <p:attrNameLst>
                                          <p:attrName>style.visibility</p:attrName>
                                        </p:attrNameLst>
                                      </p:cBhvr>
                                      <p:to>
                                        <p:strVal val="visible"/>
                                      </p:to>
                                    </p:set>
                                    <p:animEffect transition="in" filter="wipe(left)">
                                      <p:cBhvr>
                                        <p:cTn id="22" dur="500"/>
                                        <p:tgtEl>
                                          <p:spTgt spid="22630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6307">
                                            <p:txEl>
                                              <p:pRg st="5" end="5"/>
                                            </p:txEl>
                                          </p:spTgt>
                                        </p:tgtEl>
                                        <p:attrNameLst>
                                          <p:attrName>style.visibility</p:attrName>
                                        </p:attrNameLst>
                                      </p:cBhvr>
                                      <p:to>
                                        <p:strVal val="visible"/>
                                      </p:to>
                                    </p:set>
                                    <p:animEffect transition="in" filter="wipe(left)">
                                      <p:cBhvr>
                                        <p:cTn id="27" dur="500"/>
                                        <p:tgtEl>
                                          <p:spTgt spid="226307">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6307">
                                            <p:txEl>
                                              <p:pRg st="6" end="6"/>
                                            </p:txEl>
                                          </p:spTgt>
                                        </p:tgtEl>
                                        <p:attrNameLst>
                                          <p:attrName>style.visibility</p:attrName>
                                        </p:attrNameLst>
                                      </p:cBhvr>
                                      <p:to>
                                        <p:strVal val="visible"/>
                                      </p:to>
                                    </p:set>
                                    <p:animEffect transition="in" filter="wipe(left)">
                                      <p:cBhvr>
                                        <p:cTn id="32" dur="500"/>
                                        <p:tgtEl>
                                          <p:spTgt spid="226307">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6307">
                                            <p:txEl>
                                              <p:pRg st="7" end="7"/>
                                            </p:txEl>
                                          </p:spTgt>
                                        </p:tgtEl>
                                        <p:attrNameLst>
                                          <p:attrName>style.visibility</p:attrName>
                                        </p:attrNameLst>
                                      </p:cBhvr>
                                      <p:to>
                                        <p:strVal val="visible"/>
                                      </p:to>
                                    </p:set>
                                    <p:animEffect transition="in" filter="wipe(left)">
                                      <p:cBhvr>
                                        <p:cTn id="37" dur="500"/>
                                        <p:tgtEl>
                                          <p:spTgt spid="226307">
                                            <p:txEl>
                                              <p:pRg st="7" end="7"/>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6307">
                                            <p:txEl>
                                              <p:pRg st="8" end="8"/>
                                            </p:txEl>
                                          </p:spTgt>
                                        </p:tgtEl>
                                        <p:attrNameLst>
                                          <p:attrName>style.visibility</p:attrName>
                                        </p:attrNameLst>
                                      </p:cBhvr>
                                      <p:to>
                                        <p:strVal val="visible"/>
                                      </p:to>
                                    </p:set>
                                    <p:animEffect transition="in" filter="wipe(left)">
                                      <p:cBhvr>
                                        <p:cTn id="42" dur="500"/>
                                        <p:tgtEl>
                                          <p:spTgt spid="226307">
                                            <p:txEl>
                                              <p:pRg st="8" end="8"/>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26307">
                                            <p:txEl>
                                              <p:pRg st="9" end="9"/>
                                            </p:txEl>
                                          </p:spTgt>
                                        </p:tgtEl>
                                        <p:attrNameLst>
                                          <p:attrName>style.visibility</p:attrName>
                                        </p:attrNameLst>
                                      </p:cBhvr>
                                      <p:to>
                                        <p:strVal val="visible"/>
                                      </p:to>
                                    </p:set>
                                    <p:animEffect transition="in" filter="wipe(left)">
                                      <p:cBhvr>
                                        <p:cTn id="47" dur="500"/>
                                        <p:tgtEl>
                                          <p:spTgt spid="22630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7" grpId="0" build="p" autoUpdateAnimBg="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1" name="Rectangle 3"/>
          <p:cNvSpPr>
            <a:spLocks noChangeArrowheads="1"/>
          </p:cNvSpPr>
          <p:nvPr/>
        </p:nvSpPr>
        <p:spPr bwMode="auto">
          <a:xfrm>
            <a:off x="152400" y="1066800"/>
            <a:ext cx="8686800" cy="4894263"/>
          </a:xfrm>
          <a:prstGeom prst="rect">
            <a:avLst/>
          </a:prstGeom>
          <a:gradFill rotWithShape="1">
            <a:gsLst>
              <a:gs pos="0">
                <a:srgbClr val="CCFF66"/>
              </a:gs>
              <a:gs pos="100000">
                <a:srgbClr val="FFFFFF"/>
              </a:gs>
            </a:gsLst>
            <a:path path="shape">
              <a:fillToRect l="50000" t="50000" r="50000" b="50000"/>
            </a:path>
          </a:gradFill>
          <a:ln>
            <a:noFill/>
          </a:ln>
          <a:extLst>
            <a:ext uri="{91240B29-F687-4F45-9708-019B960494DF}">
              <a14:hiddenLine xmlns:a14="http://schemas.microsoft.com/office/drawing/2010/main" w="9525" cap="rnd" algn="ctr">
                <a:solidFill>
                  <a:srgbClr val="000000"/>
                </a:solidFill>
                <a:prstDash val="sysDot"/>
                <a:miter lim="800000"/>
                <a:headEnd/>
                <a:tailEnd/>
              </a14:hiddenLine>
            </a:ext>
          </a:extLst>
        </p:spPr>
        <p:txBody>
          <a:bodyPr>
            <a:spAutoFit/>
          </a:bodyPr>
          <a:lstStyle/>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【16】</a:t>
            </a:r>
            <a:r>
              <a:rPr kumimoji="1" lang="zh-CN" altLang="en-US" sz="2400" b="1">
                <a:solidFill>
                  <a:schemeClr val="tx2"/>
                </a:solidFill>
                <a:latin typeface="幼圆" pitchFamily="49" charset="-122"/>
                <a:ea typeface="幼圆" pitchFamily="49" charset="-122"/>
              </a:rPr>
              <a:t>若</a:t>
            </a:r>
            <a:r>
              <a:rPr kumimoji="1" lang="en-US" altLang="zh-CN" sz="2400" b="1">
                <a:solidFill>
                  <a:schemeClr val="tx2"/>
                </a:solidFill>
                <a:latin typeface="幼圆" pitchFamily="49" charset="-122"/>
                <a:ea typeface="幼圆" pitchFamily="49" charset="-122"/>
              </a:rPr>
              <a:t>int i=10，</a:t>
            </a:r>
            <a:r>
              <a:rPr kumimoji="1" lang="zh-CN" altLang="en-US" sz="2400" b="1">
                <a:solidFill>
                  <a:schemeClr val="tx2"/>
                </a:solidFill>
                <a:latin typeface="幼圆" pitchFamily="49" charset="-122"/>
                <a:ea typeface="幼圆" pitchFamily="49" charset="-122"/>
              </a:rPr>
              <a:t>则后，变量ｉ的结果是      　</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switch (i)</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 case  9: i+=1;</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case 10: i+=1;</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case 11: i+=1;</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default: i+=1;</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p>
          <a:p>
            <a:pPr eaLnBrk="1" hangingPunct="1">
              <a:spcBef>
                <a:spcPct val="2000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 10      B) 11      C) 12      D) 13</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cs typeface="Times New Roman" pitchFamily="18" charset="0"/>
              </a:rPr>
              <a:t>【1</a:t>
            </a:r>
            <a:r>
              <a:rPr kumimoji="1" lang="en-US" altLang="zh-CN" sz="2400" b="1">
                <a:solidFill>
                  <a:schemeClr val="tx2"/>
                </a:solidFill>
                <a:latin typeface="幼圆" pitchFamily="49" charset="-122"/>
                <a:ea typeface="幼圆" pitchFamily="49" charset="-122"/>
                <a:cs typeface="Times New Roman" pitchFamily="18" charset="0"/>
              </a:rPr>
              <a:t>7】</a:t>
            </a:r>
            <a:r>
              <a:rPr kumimoji="1" lang="zh-CN" altLang="en-US" sz="2400" b="1">
                <a:solidFill>
                  <a:schemeClr val="tx2"/>
                </a:solidFill>
                <a:latin typeface="幼圆" pitchFamily="49" charset="-122"/>
                <a:ea typeface="幼圆" pitchFamily="49" charset="-122"/>
              </a:rPr>
              <a:t>若：</a:t>
            </a:r>
            <a:r>
              <a:rPr kumimoji="1" lang="en-US" altLang="zh-CN" sz="2400" b="1">
                <a:solidFill>
                  <a:schemeClr val="tx2"/>
                </a:solidFill>
                <a:latin typeface="幼圆" pitchFamily="49" charset="-122"/>
                <a:ea typeface="幼圆" pitchFamily="49" charset="-122"/>
              </a:rPr>
              <a:t>int a[3][4]；</a:t>
            </a:r>
            <a:r>
              <a:rPr kumimoji="1" lang="zh-CN" altLang="en-US" sz="2400" b="1">
                <a:solidFill>
                  <a:schemeClr val="tx2"/>
                </a:solidFill>
                <a:latin typeface="幼圆" pitchFamily="49" charset="-122"/>
                <a:ea typeface="幼圆" pitchFamily="49" charset="-122"/>
              </a:rPr>
              <a:t>则数组元素的非法引用是　</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A)a[0][2*1]  </a:t>
            </a: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B)a[1][3] </a:t>
            </a:r>
          </a:p>
          <a:p>
            <a:pPr eaLnBrk="1" hangingPunct="1">
              <a:spcBef>
                <a:spcPct val="2000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C)a[4-2][0] </a:t>
            </a: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D)a[0][4]</a:t>
            </a:r>
          </a:p>
        </p:txBody>
      </p:sp>
      <p:sp>
        <p:nvSpPr>
          <p:cNvPr id="165891" name="矩形 3"/>
          <p:cNvSpPr>
            <a:spLocks noChangeArrowheads="1"/>
          </p:cNvSpPr>
          <p:nvPr/>
        </p:nvSpPr>
        <p:spPr bwMode="auto">
          <a:xfrm>
            <a:off x="6096000" y="2590800"/>
            <a:ext cx="20399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20000"/>
              </a:spcBef>
              <a:buClr>
                <a:schemeClr val="tx1"/>
              </a:buClr>
              <a:buSzPct val="60000"/>
              <a:buFont typeface="宋体" pitchFamily="2" charset="-122"/>
              <a:buNone/>
            </a:pPr>
            <a:r>
              <a:rPr kumimoji="1" lang="zh-CN" altLang="en-US" b="1">
                <a:solidFill>
                  <a:srgbClr val="FF0000"/>
                </a:solidFill>
                <a:latin typeface="幼圆" pitchFamily="49" charset="-122"/>
                <a:ea typeface="幼圆" pitchFamily="49" charset="-122"/>
              </a:rPr>
              <a:t>　答案：</a:t>
            </a:r>
            <a:r>
              <a:rPr kumimoji="1" lang="en-US" altLang="zh-CN" b="1">
                <a:solidFill>
                  <a:srgbClr val="FF0000"/>
                </a:solidFill>
                <a:latin typeface="幼圆" pitchFamily="49" charset="-122"/>
                <a:ea typeface="幼圆" pitchFamily="49" charset="-122"/>
              </a:rPr>
              <a:t>D</a:t>
            </a:r>
          </a:p>
        </p:txBody>
      </p:sp>
      <p:sp>
        <p:nvSpPr>
          <p:cNvPr id="165892" name="矩形 4"/>
          <p:cNvSpPr>
            <a:spLocks noChangeArrowheads="1"/>
          </p:cNvSpPr>
          <p:nvPr/>
        </p:nvSpPr>
        <p:spPr bwMode="auto">
          <a:xfrm>
            <a:off x="6477000" y="5638800"/>
            <a:ext cx="20399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spcBef>
                <a:spcPct val="20000"/>
              </a:spcBef>
              <a:buClr>
                <a:schemeClr val="tx1"/>
              </a:buClr>
              <a:buSzPct val="60000"/>
              <a:buFont typeface="宋体" pitchFamily="2" charset="-122"/>
              <a:buNone/>
            </a:pPr>
            <a:r>
              <a:rPr kumimoji="1" lang="zh-CN" altLang="en-US" b="1">
                <a:solidFill>
                  <a:srgbClr val="FF0000"/>
                </a:solidFill>
                <a:latin typeface="幼圆" pitchFamily="49" charset="-122"/>
                <a:ea typeface="幼圆" pitchFamily="49" charset="-122"/>
              </a:rPr>
              <a:t>　答案：</a:t>
            </a:r>
            <a:r>
              <a:rPr kumimoji="1" lang="en-US" altLang="zh-CN" b="1">
                <a:solidFill>
                  <a:srgbClr val="FF0000"/>
                </a:solidFill>
                <a:latin typeface="幼圆" pitchFamily="49" charset="-122"/>
                <a:ea typeface="幼圆" pitchFamily="49" charset="-122"/>
              </a:rPr>
              <a:t>D</a:t>
            </a:r>
          </a:p>
        </p:txBody>
      </p:sp>
      <p:pic>
        <p:nvPicPr>
          <p:cNvPr id="165893" name="Picture 11" descr="BD05502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19600" y="1905000"/>
            <a:ext cx="2224088" cy="200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4"/>
          <p:cNvSpPr>
            <a:spLocks noChangeArrowheads="1"/>
          </p:cNvSpPr>
          <p:nvPr/>
        </p:nvSpPr>
        <p:spPr bwMode="auto">
          <a:xfrm>
            <a:off x="35832" y="53340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ea typeface="幼圆" pitchFamily="49" charset="-122"/>
              </a:rPr>
              <a:t>部分练习</a:t>
            </a:r>
          </a:p>
        </p:txBody>
      </p:sp>
    </p:spTree>
    <p:extLst>
      <p:ext uri="{BB962C8B-B14F-4D97-AF65-F5344CB8AC3E}">
        <p14:creationId xmlns:p14="http://schemas.microsoft.com/office/powerpoint/2010/main" val="35216707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7331">
                                            <p:txEl>
                                              <p:pRg st="0" end="0"/>
                                            </p:txEl>
                                          </p:spTgt>
                                        </p:tgtEl>
                                        <p:attrNameLst>
                                          <p:attrName>style.visibility</p:attrName>
                                        </p:attrNameLst>
                                      </p:cBhvr>
                                      <p:to>
                                        <p:strVal val="visible"/>
                                      </p:to>
                                    </p:set>
                                    <p:animEffect transition="in" filter="wipe(left)">
                                      <p:cBhvr>
                                        <p:cTn id="7" dur="500"/>
                                        <p:tgtEl>
                                          <p:spTgt spid="2273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7331">
                                            <p:txEl>
                                              <p:pRg st="1" end="1"/>
                                            </p:txEl>
                                          </p:spTgt>
                                        </p:tgtEl>
                                        <p:attrNameLst>
                                          <p:attrName>style.visibility</p:attrName>
                                        </p:attrNameLst>
                                      </p:cBhvr>
                                      <p:to>
                                        <p:strVal val="visible"/>
                                      </p:to>
                                    </p:set>
                                    <p:animEffect transition="in" filter="wipe(left)">
                                      <p:cBhvr>
                                        <p:cTn id="12" dur="500"/>
                                        <p:tgtEl>
                                          <p:spTgt spid="2273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7331">
                                            <p:txEl>
                                              <p:pRg st="2" end="2"/>
                                            </p:txEl>
                                          </p:spTgt>
                                        </p:tgtEl>
                                        <p:attrNameLst>
                                          <p:attrName>style.visibility</p:attrName>
                                        </p:attrNameLst>
                                      </p:cBhvr>
                                      <p:to>
                                        <p:strVal val="visible"/>
                                      </p:to>
                                    </p:set>
                                    <p:animEffect transition="in" filter="wipe(left)">
                                      <p:cBhvr>
                                        <p:cTn id="17" dur="500"/>
                                        <p:tgtEl>
                                          <p:spTgt spid="22733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7331">
                                            <p:txEl>
                                              <p:pRg st="3" end="3"/>
                                            </p:txEl>
                                          </p:spTgt>
                                        </p:tgtEl>
                                        <p:attrNameLst>
                                          <p:attrName>style.visibility</p:attrName>
                                        </p:attrNameLst>
                                      </p:cBhvr>
                                      <p:to>
                                        <p:strVal val="visible"/>
                                      </p:to>
                                    </p:set>
                                    <p:animEffect transition="in" filter="wipe(left)">
                                      <p:cBhvr>
                                        <p:cTn id="22" dur="500"/>
                                        <p:tgtEl>
                                          <p:spTgt spid="22733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7331">
                                            <p:txEl>
                                              <p:pRg st="4" end="4"/>
                                            </p:txEl>
                                          </p:spTgt>
                                        </p:tgtEl>
                                        <p:attrNameLst>
                                          <p:attrName>style.visibility</p:attrName>
                                        </p:attrNameLst>
                                      </p:cBhvr>
                                      <p:to>
                                        <p:strVal val="visible"/>
                                      </p:to>
                                    </p:set>
                                    <p:animEffect transition="in" filter="wipe(left)">
                                      <p:cBhvr>
                                        <p:cTn id="27" dur="500"/>
                                        <p:tgtEl>
                                          <p:spTgt spid="22733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7331">
                                            <p:txEl>
                                              <p:pRg st="5" end="5"/>
                                            </p:txEl>
                                          </p:spTgt>
                                        </p:tgtEl>
                                        <p:attrNameLst>
                                          <p:attrName>style.visibility</p:attrName>
                                        </p:attrNameLst>
                                      </p:cBhvr>
                                      <p:to>
                                        <p:strVal val="visible"/>
                                      </p:to>
                                    </p:set>
                                    <p:animEffect transition="in" filter="wipe(left)">
                                      <p:cBhvr>
                                        <p:cTn id="32" dur="500"/>
                                        <p:tgtEl>
                                          <p:spTgt spid="22733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7331">
                                            <p:txEl>
                                              <p:pRg st="6" end="6"/>
                                            </p:txEl>
                                          </p:spTgt>
                                        </p:tgtEl>
                                        <p:attrNameLst>
                                          <p:attrName>style.visibility</p:attrName>
                                        </p:attrNameLst>
                                      </p:cBhvr>
                                      <p:to>
                                        <p:strVal val="visible"/>
                                      </p:to>
                                    </p:set>
                                    <p:animEffect transition="in" filter="wipe(left)">
                                      <p:cBhvr>
                                        <p:cTn id="37" dur="500"/>
                                        <p:tgtEl>
                                          <p:spTgt spid="22733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7331">
                                            <p:txEl>
                                              <p:pRg st="7" end="7"/>
                                            </p:txEl>
                                          </p:spTgt>
                                        </p:tgtEl>
                                        <p:attrNameLst>
                                          <p:attrName>style.visibility</p:attrName>
                                        </p:attrNameLst>
                                      </p:cBhvr>
                                      <p:to>
                                        <p:strVal val="visible"/>
                                      </p:to>
                                    </p:set>
                                    <p:animEffect transition="in" filter="wipe(left)">
                                      <p:cBhvr>
                                        <p:cTn id="42" dur="500"/>
                                        <p:tgtEl>
                                          <p:spTgt spid="227331">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27331">
                                            <p:txEl>
                                              <p:pRg st="8" end="8"/>
                                            </p:txEl>
                                          </p:spTgt>
                                        </p:tgtEl>
                                        <p:attrNameLst>
                                          <p:attrName>style.visibility</p:attrName>
                                        </p:attrNameLst>
                                      </p:cBhvr>
                                      <p:to>
                                        <p:strVal val="visible"/>
                                      </p:to>
                                    </p:set>
                                    <p:animEffect transition="in" filter="wipe(left)">
                                      <p:cBhvr>
                                        <p:cTn id="47" dur="500"/>
                                        <p:tgtEl>
                                          <p:spTgt spid="227331">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27331">
                                            <p:txEl>
                                              <p:pRg st="9" end="9"/>
                                            </p:txEl>
                                          </p:spTgt>
                                        </p:tgtEl>
                                        <p:attrNameLst>
                                          <p:attrName>style.visibility</p:attrName>
                                        </p:attrNameLst>
                                      </p:cBhvr>
                                      <p:to>
                                        <p:strVal val="visible"/>
                                      </p:to>
                                    </p:set>
                                    <p:animEffect transition="in" filter="wipe(left)">
                                      <p:cBhvr>
                                        <p:cTn id="52" dur="500"/>
                                        <p:tgtEl>
                                          <p:spTgt spid="227331">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27331">
                                            <p:txEl>
                                              <p:pRg st="10" end="10"/>
                                            </p:txEl>
                                          </p:spTgt>
                                        </p:tgtEl>
                                        <p:attrNameLst>
                                          <p:attrName>style.visibility</p:attrName>
                                        </p:attrNameLst>
                                      </p:cBhvr>
                                      <p:to>
                                        <p:strVal val="visible"/>
                                      </p:to>
                                    </p:set>
                                    <p:animEffect transition="in" filter="wipe(left)">
                                      <p:cBhvr>
                                        <p:cTn id="57" dur="500"/>
                                        <p:tgtEl>
                                          <p:spTgt spid="22733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1" grpId="0" build="p" autoUpdateAnimBg="0"/>
    </p:bldLst>
  </p:timing>
</p:sld>
</file>

<file path=ppt/slides/slide1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8355" name="Rectangle 3"/>
          <p:cNvSpPr>
            <a:spLocks noGrp="1" noChangeArrowheads="1"/>
          </p:cNvSpPr>
          <p:nvPr>
            <p:ph type="body" sz="half" idx="1"/>
          </p:nvPr>
        </p:nvSpPr>
        <p:spPr>
          <a:xfrm>
            <a:off x="304800" y="1600200"/>
            <a:ext cx="8534400" cy="3046988"/>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zh-CN" sz="2400" b="1" dirty="0">
                <a:solidFill>
                  <a:schemeClr val="tx2"/>
                </a:solidFill>
                <a:latin typeface="幼圆" pitchFamily="49" charset="-122"/>
                <a:ea typeface="幼圆" pitchFamily="49" charset="-122"/>
                <a:cs typeface="Times New Roman" pitchFamily="18" charset="0"/>
              </a:rPr>
              <a:t>【</a:t>
            </a:r>
            <a:r>
              <a:rPr kumimoji="1" lang="en-US" altLang="zh-CN" sz="2400" b="1" dirty="0">
                <a:solidFill>
                  <a:schemeClr val="tx2"/>
                </a:solidFill>
                <a:latin typeface="幼圆" pitchFamily="49" charset="-122"/>
                <a:ea typeface="幼圆" pitchFamily="49" charset="-122"/>
                <a:cs typeface="Times New Roman" pitchFamily="18" charset="0"/>
              </a:rPr>
              <a:t>19</a:t>
            </a:r>
            <a:r>
              <a:rPr kumimoji="1" lang="zh-CN" altLang="zh-CN" sz="2400" b="1" dirty="0">
                <a:solidFill>
                  <a:schemeClr val="tx2"/>
                </a:solidFill>
                <a:latin typeface="幼圆" pitchFamily="49" charset="-122"/>
                <a:ea typeface="幼圆" pitchFamily="49" charset="-122"/>
                <a:cs typeface="Times New Roman" pitchFamily="18" charset="0"/>
              </a:rPr>
              <a:t>】</a:t>
            </a:r>
            <a:r>
              <a:rPr kumimoji="1" lang="zh-CN" altLang="en-US" sz="2400" b="1" dirty="0">
                <a:solidFill>
                  <a:schemeClr val="tx2"/>
                </a:solidFill>
                <a:latin typeface="幼圆" pitchFamily="49" charset="-122"/>
                <a:ea typeface="幼圆" pitchFamily="49" charset="-122"/>
                <a:cs typeface="Times New Roman" pitchFamily="18" charset="0"/>
              </a:rPr>
              <a:t>以下4个关于</a:t>
            </a:r>
            <a:r>
              <a:rPr kumimoji="1" lang="en-US" altLang="zh-CN" sz="2400" b="1" dirty="0">
                <a:solidFill>
                  <a:schemeClr val="tx2"/>
                </a:solidFill>
                <a:latin typeface="幼圆" pitchFamily="49" charset="-122"/>
                <a:ea typeface="幼圆" pitchFamily="49" charset="-122"/>
                <a:cs typeface="Times New Roman" pitchFamily="18" charset="0"/>
              </a:rPr>
              <a:t>C</a:t>
            </a:r>
            <a:r>
              <a:rPr kumimoji="1" lang="zh-CN" altLang="en-US" sz="2400" b="1" dirty="0">
                <a:solidFill>
                  <a:schemeClr val="tx2"/>
                </a:solidFill>
                <a:latin typeface="幼圆" pitchFamily="49" charset="-122"/>
                <a:ea typeface="幼圆" pitchFamily="49" charset="-122"/>
                <a:cs typeface="Times New Roman" pitchFamily="18" charset="0"/>
              </a:rPr>
              <a:t>语言的结论中，错误的是    。</a:t>
            </a:r>
          </a:p>
          <a:p>
            <a:pPr marL="0" indent="0" eaLnBrk="1" hangingPunct="1">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cs typeface="Times New Roman" pitchFamily="18" charset="0"/>
              </a:rPr>
              <a:t>  </a:t>
            </a:r>
            <a:r>
              <a:rPr kumimoji="1" lang="en-US" altLang="zh-CN" sz="2400" b="1" dirty="0">
                <a:solidFill>
                  <a:schemeClr val="tx2"/>
                </a:solidFill>
                <a:latin typeface="幼圆" pitchFamily="49" charset="-122"/>
                <a:ea typeface="幼圆" pitchFamily="49" charset="-122"/>
                <a:cs typeface="Times New Roman" pitchFamily="18" charset="0"/>
              </a:rPr>
              <a:t>A) </a:t>
            </a:r>
            <a:r>
              <a:rPr kumimoji="1" lang="zh-CN" altLang="en-US" sz="2400" b="1" dirty="0">
                <a:solidFill>
                  <a:schemeClr val="tx2"/>
                </a:solidFill>
                <a:latin typeface="幼圆" pitchFamily="49" charset="-122"/>
                <a:ea typeface="幼圆" pitchFamily="49" charset="-122"/>
                <a:cs typeface="Times New Roman" pitchFamily="18" charset="0"/>
              </a:rPr>
              <a:t>用</a:t>
            </a:r>
            <a:r>
              <a:rPr kumimoji="1" lang="en-US" altLang="zh-CN" sz="2400" b="1" dirty="0">
                <a:solidFill>
                  <a:schemeClr val="tx2"/>
                </a:solidFill>
                <a:latin typeface="幼圆" pitchFamily="49" charset="-122"/>
                <a:ea typeface="幼圆" pitchFamily="49" charset="-122"/>
                <a:cs typeface="Times New Roman" pitchFamily="18" charset="0"/>
              </a:rPr>
              <a:t>while</a:t>
            </a:r>
            <a:r>
              <a:rPr kumimoji="1" lang="zh-CN" altLang="en-US" sz="2400" b="1" dirty="0">
                <a:solidFill>
                  <a:schemeClr val="tx2"/>
                </a:solidFill>
                <a:latin typeface="幼圆" pitchFamily="49" charset="-122"/>
                <a:ea typeface="幼圆" pitchFamily="49" charset="-122"/>
                <a:cs typeface="Times New Roman" pitchFamily="18" charset="0"/>
              </a:rPr>
              <a:t>语句实现的循环一定可用</a:t>
            </a:r>
            <a:r>
              <a:rPr kumimoji="1" lang="en-US" altLang="zh-CN" sz="2400" b="1" dirty="0">
                <a:solidFill>
                  <a:schemeClr val="tx2"/>
                </a:solidFill>
                <a:latin typeface="幼圆" pitchFamily="49" charset="-122"/>
                <a:ea typeface="幼圆" pitchFamily="49" charset="-122"/>
                <a:cs typeface="Times New Roman" pitchFamily="18" charset="0"/>
              </a:rPr>
              <a:t>for</a:t>
            </a:r>
            <a:r>
              <a:rPr kumimoji="1" lang="zh-CN" altLang="en-US" sz="2400" b="1" dirty="0">
                <a:solidFill>
                  <a:schemeClr val="tx2"/>
                </a:solidFill>
                <a:latin typeface="幼圆" pitchFamily="49" charset="-122"/>
                <a:ea typeface="幼圆" pitchFamily="49" charset="-122"/>
                <a:cs typeface="Times New Roman" pitchFamily="18" charset="0"/>
              </a:rPr>
              <a:t>语句实现</a:t>
            </a:r>
          </a:p>
          <a:p>
            <a:pPr marL="0" indent="0" eaLnBrk="1" hangingPunct="1">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cs typeface="Times New Roman" pitchFamily="18" charset="0"/>
              </a:rPr>
              <a:t>  </a:t>
            </a:r>
            <a:r>
              <a:rPr kumimoji="1" lang="en-US" altLang="zh-CN" sz="2400" b="1" dirty="0">
                <a:solidFill>
                  <a:schemeClr val="tx2"/>
                </a:solidFill>
                <a:latin typeface="幼圆" pitchFamily="49" charset="-122"/>
                <a:ea typeface="幼圆" pitchFamily="49" charset="-122"/>
                <a:cs typeface="Times New Roman" pitchFamily="18" charset="0"/>
              </a:rPr>
              <a:t>B) </a:t>
            </a:r>
            <a:r>
              <a:rPr kumimoji="1" lang="zh-CN" altLang="en-US" sz="2400" b="1" dirty="0">
                <a:solidFill>
                  <a:schemeClr val="tx2"/>
                </a:solidFill>
                <a:latin typeface="幼圆" pitchFamily="49" charset="-122"/>
                <a:ea typeface="幼圆" pitchFamily="49" charset="-122"/>
                <a:cs typeface="Times New Roman" pitchFamily="18" charset="0"/>
              </a:rPr>
              <a:t>用</a:t>
            </a:r>
            <a:r>
              <a:rPr kumimoji="1" lang="en-US" altLang="zh-CN" sz="2400" b="1" dirty="0">
                <a:solidFill>
                  <a:schemeClr val="tx2"/>
                </a:solidFill>
                <a:latin typeface="幼圆" pitchFamily="49" charset="-122"/>
                <a:ea typeface="幼圆" pitchFamily="49" charset="-122"/>
                <a:cs typeface="Times New Roman" pitchFamily="18" charset="0"/>
              </a:rPr>
              <a:t>for</a:t>
            </a:r>
            <a:r>
              <a:rPr kumimoji="1" lang="zh-CN" altLang="en-US" sz="2400" b="1" dirty="0">
                <a:solidFill>
                  <a:schemeClr val="tx2"/>
                </a:solidFill>
                <a:latin typeface="幼圆" pitchFamily="49" charset="-122"/>
                <a:ea typeface="幼圆" pitchFamily="49" charset="-122"/>
                <a:cs typeface="Times New Roman" pitchFamily="18" charset="0"/>
              </a:rPr>
              <a:t>语句实现的循环一定可用</a:t>
            </a:r>
            <a:r>
              <a:rPr kumimoji="1" lang="en-US" altLang="zh-CN" sz="2400" b="1" dirty="0">
                <a:solidFill>
                  <a:schemeClr val="tx2"/>
                </a:solidFill>
                <a:latin typeface="幼圆" pitchFamily="49" charset="-122"/>
                <a:ea typeface="幼圆" pitchFamily="49" charset="-122"/>
                <a:cs typeface="Times New Roman" pitchFamily="18" charset="0"/>
              </a:rPr>
              <a:t>while</a:t>
            </a:r>
            <a:r>
              <a:rPr kumimoji="1" lang="zh-CN" altLang="en-US" sz="2400" b="1" dirty="0">
                <a:solidFill>
                  <a:schemeClr val="tx2"/>
                </a:solidFill>
                <a:latin typeface="幼圆" pitchFamily="49" charset="-122"/>
                <a:ea typeface="幼圆" pitchFamily="49" charset="-122"/>
                <a:cs typeface="Times New Roman" pitchFamily="18" charset="0"/>
              </a:rPr>
              <a:t>语句实现</a:t>
            </a:r>
          </a:p>
          <a:p>
            <a:pPr marL="0" indent="0" eaLnBrk="1" hangingPunct="1">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cs typeface="Times New Roman" pitchFamily="18" charset="0"/>
              </a:rPr>
              <a:t>  </a:t>
            </a:r>
            <a:r>
              <a:rPr kumimoji="1" lang="en-US" altLang="zh-CN" sz="2400" b="1" dirty="0">
                <a:solidFill>
                  <a:schemeClr val="tx2"/>
                </a:solidFill>
                <a:latin typeface="幼圆" pitchFamily="49" charset="-122"/>
                <a:ea typeface="幼圆" pitchFamily="49" charset="-122"/>
                <a:cs typeface="Times New Roman" pitchFamily="18" charset="0"/>
              </a:rPr>
              <a:t>C) </a:t>
            </a:r>
            <a:r>
              <a:rPr kumimoji="1" lang="zh-CN" altLang="en-US" sz="2400" b="1" dirty="0">
                <a:solidFill>
                  <a:schemeClr val="tx2"/>
                </a:solidFill>
                <a:latin typeface="幼圆" pitchFamily="49" charset="-122"/>
                <a:ea typeface="幼圆" pitchFamily="49" charset="-122"/>
                <a:cs typeface="Times New Roman" pitchFamily="18" charset="0"/>
              </a:rPr>
              <a:t>用</a:t>
            </a:r>
            <a:r>
              <a:rPr kumimoji="1" lang="en-US" altLang="zh-CN" sz="2400" b="1" dirty="0">
                <a:solidFill>
                  <a:schemeClr val="tx2"/>
                </a:solidFill>
                <a:latin typeface="幼圆" pitchFamily="49" charset="-122"/>
                <a:ea typeface="幼圆" pitchFamily="49" charset="-122"/>
                <a:cs typeface="Times New Roman" pitchFamily="18" charset="0"/>
              </a:rPr>
              <a:t>do-while</a:t>
            </a:r>
            <a:r>
              <a:rPr kumimoji="1" lang="zh-CN" altLang="en-US" sz="2400" b="1" dirty="0">
                <a:solidFill>
                  <a:schemeClr val="tx2"/>
                </a:solidFill>
                <a:latin typeface="幼圆" pitchFamily="49" charset="-122"/>
                <a:ea typeface="幼圆" pitchFamily="49" charset="-122"/>
                <a:cs typeface="Times New Roman" pitchFamily="18" charset="0"/>
              </a:rPr>
              <a:t>语句实现的循环一定可用</a:t>
            </a:r>
            <a:r>
              <a:rPr kumimoji="1" lang="en-US" altLang="zh-CN" sz="2400" b="1" dirty="0">
                <a:solidFill>
                  <a:schemeClr val="tx2"/>
                </a:solidFill>
                <a:latin typeface="幼圆" pitchFamily="49" charset="-122"/>
                <a:ea typeface="幼圆" pitchFamily="49" charset="-122"/>
                <a:cs typeface="Times New Roman" pitchFamily="18" charset="0"/>
              </a:rPr>
              <a:t>while</a:t>
            </a:r>
            <a:r>
              <a:rPr kumimoji="1" lang="zh-CN" altLang="en-US" sz="2400" b="1" dirty="0">
                <a:solidFill>
                  <a:schemeClr val="tx2"/>
                </a:solidFill>
                <a:latin typeface="幼圆" pitchFamily="49" charset="-122"/>
                <a:ea typeface="幼圆" pitchFamily="49" charset="-122"/>
                <a:cs typeface="Times New Roman" pitchFamily="18" charset="0"/>
              </a:rPr>
              <a:t>语句实现</a:t>
            </a:r>
          </a:p>
          <a:p>
            <a:pPr marL="0" indent="0" eaLnBrk="1" hangingPunct="1">
              <a:buClr>
                <a:schemeClr val="tx1"/>
              </a:buClr>
              <a:buSzPct val="60000"/>
              <a:buFont typeface="宋体" pitchFamily="2" charset="-122"/>
              <a:buNone/>
            </a:pPr>
            <a:r>
              <a:rPr kumimoji="1" lang="zh-CN" altLang="en-US" sz="2400" b="1" dirty="0">
                <a:solidFill>
                  <a:schemeClr val="tx2"/>
                </a:solidFill>
                <a:latin typeface="幼圆" pitchFamily="49" charset="-122"/>
                <a:ea typeface="幼圆" pitchFamily="49" charset="-122"/>
                <a:cs typeface="Times New Roman" pitchFamily="18" charset="0"/>
              </a:rPr>
              <a:t>  </a:t>
            </a:r>
            <a:r>
              <a:rPr kumimoji="1" lang="en-US" altLang="zh-CN" sz="2400" b="1" dirty="0">
                <a:solidFill>
                  <a:schemeClr val="tx2"/>
                </a:solidFill>
                <a:latin typeface="幼圆" pitchFamily="49" charset="-122"/>
                <a:ea typeface="幼圆" pitchFamily="49" charset="-122"/>
                <a:cs typeface="Times New Roman" pitchFamily="18" charset="0"/>
              </a:rPr>
              <a:t>D) do-while</a:t>
            </a:r>
            <a:r>
              <a:rPr kumimoji="1" lang="zh-CN" altLang="en-US" sz="2400" b="1" dirty="0">
                <a:solidFill>
                  <a:schemeClr val="tx2"/>
                </a:solidFill>
                <a:latin typeface="幼圆" pitchFamily="49" charset="-122"/>
                <a:ea typeface="幼圆" pitchFamily="49" charset="-122"/>
                <a:cs typeface="Times New Roman" pitchFamily="18" charset="0"/>
              </a:rPr>
              <a:t>语句与</a:t>
            </a:r>
            <a:r>
              <a:rPr kumimoji="1" lang="en-US" altLang="zh-CN" sz="2400" b="1" dirty="0">
                <a:solidFill>
                  <a:schemeClr val="tx2"/>
                </a:solidFill>
                <a:latin typeface="幼圆" pitchFamily="49" charset="-122"/>
                <a:ea typeface="幼圆" pitchFamily="49" charset="-122"/>
                <a:cs typeface="Times New Roman" pitchFamily="18" charset="0"/>
              </a:rPr>
              <a:t>while</a:t>
            </a:r>
            <a:r>
              <a:rPr kumimoji="1" lang="zh-CN" altLang="en-US" sz="2400" b="1" dirty="0">
                <a:solidFill>
                  <a:schemeClr val="tx2"/>
                </a:solidFill>
                <a:latin typeface="幼圆" pitchFamily="49" charset="-122"/>
                <a:ea typeface="幼圆" pitchFamily="49" charset="-122"/>
                <a:cs typeface="Times New Roman" pitchFamily="18" charset="0"/>
              </a:rPr>
              <a:t>语句的区别仅是关键字</a:t>
            </a:r>
            <a:r>
              <a:rPr kumimoji="1" lang="zh-CN" altLang="en-US" sz="2400" b="1" dirty="0">
                <a:solidFill>
                  <a:schemeClr val="tx2"/>
                </a:solidFill>
                <a:latin typeface="Arial" pitchFamily="34" charset="0"/>
                <a:ea typeface="幼圆" pitchFamily="49" charset="-122"/>
                <a:cs typeface="Times New Roman" pitchFamily="18" charset="0"/>
              </a:rPr>
              <a:t>“</a:t>
            </a:r>
            <a:r>
              <a:rPr kumimoji="1" lang="en-US" altLang="zh-CN" sz="2400" b="1" dirty="0">
                <a:solidFill>
                  <a:schemeClr val="tx2"/>
                </a:solidFill>
                <a:latin typeface="幼圆" pitchFamily="49" charset="-122"/>
                <a:ea typeface="幼圆" pitchFamily="49" charset="-122"/>
                <a:cs typeface="Times New Roman" pitchFamily="18" charset="0"/>
              </a:rPr>
              <a:t>while</a:t>
            </a:r>
            <a:r>
              <a:rPr kumimoji="1" lang="en-US" altLang="zh-CN" sz="2400" b="1" dirty="0">
                <a:solidFill>
                  <a:schemeClr val="tx2"/>
                </a:solidFill>
                <a:latin typeface="Arial" pitchFamily="34" charset="0"/>
                <a:ea typeface="幼圆" pitchFamily="49" charset="-122"/>
                <a:cs typeface="Times New Roman" pitchFamily="18" charset="0"/>
              </a:rPr>
              <a:t>”</a:t>
            </a:r>
            <a:r>
              <a:rPr kumimoji="1" lang="zh-CN" altLang="en-US" sz="2400" b="1" dirty="0">
                <a:solidFill>
                  <a:schemeClr val="tx2"/>
                </a:solidFill>
                <a:latin typeface="幼圆" pitchFamily="49" charset="-122"/>
                <a:ea typeface="幼圆" pitchFamily="49" charset="-122"/>
                <a:cs typeface="Times New Roman" pitchFamily="18" charset="0"/>
              </a:rPr>
              <a:t>出现的位置不同</a:t>
            </a:r>
          </a:p>
          <a:p>
            <a:pPr marL="0" indent="0" eaLnBrk="1" hangingPunct="1">
              <a:buClr>
                <a:schemeClr val="tx1"/>
              </a:buClr>
              <a:buSzPct val="60000"/>
              <a:buFont typeface="宋体" pitchFamily="2" charset="-122"/>
              <a:buNone/>
            </a:pPr>
            <a:r>
              <a:rPr kumimoji="1" lang="zh-CN" altLang="en-US" sz="2400" b="1" dirty="0">
                <a:solidFill>
                  <a:srgbClr val="FF0000"/>
                </a:solidFill>
                <a:latin typeface="幼圆" pitchFamily="49" charset="-122"/>
                <a:ea typeface="幼圆" pitchFamily="49" charset="-122"/>
                <a:cs typeface="Times New Roman" pitchFamily="18" charset="0"/>
              </a:rPr>
              <a:t>　答案：</a:t>
            </a:r>
            <a:r>
              <a:rPr kumimoji="1" lang="en-US" altLang="zh-CN" sz="2400" b="1" dirty="0">
                <a:solidFill>
                  <a:srgbClr val="FF0000"/>
                </a:solidFill>
                <a:latin typeface="幼圆" pitchFamily="49" charset="-122"/>
                <a:ea typeface="幼圆" pitchFamily="49" charset="-122"/>
                <a:cs typeface="Times New Roman" pitchFamily="18" charset="0"/>
              </a:rPr>
              <a:t>D</a:t>
            </a:r>
          </a:p>
        </p:txBody>
      </p:sp>
      <p:graphicFrame>
        <p:nvGraphicFramePr>
          <p:cNvPr id="166915" name="Object 4"/>
          <p:cNvGraphicFramePr>
            <a:graphicFrameLocks noChangeAspect="1"/>
          </p:cNvGraphicFramePr>
          <p:nvPr/>
        </p:nvGraphicFramePr>
        <p:xfrm>
          <a:off x="7924800" y="2209800"/>
          <a:ext cx="982663" cy="1524000"/>
        </p:xfrm>
        <a:graphic>
          <a:graphicData uri="http://schemas.openxmlformats.org/presentationml/2006/ole">
            <mc:AlternateContent xmlns:mc="http://schemas.openxmlformats.org/markup-compatibility/2006">
              <mc:Choice xmlns:v="urn:schemas-microsoft-com:vml" Requires="v">
                <p:oleObj name="多媒體項目" r:id="rId3" imgW="2871656" imgH="3919605" progId="">
                  <p:embed/>
                </p:oleObj>
              </mc:Choice>
              <mc:Fallback>
                <p:oleObj name="多媒體項目" r:id="rId3" imgW="2871656" imgH="3919605" progId="">
                  <p:embed/>
                  <p:pic>
                    <p:nvPicPr>
                      <p:cNvPr id="0" name=""/>
                      <p:cNvPicPr>
                        <a:picLocks noChangeAspect="1" noChangeArrowheads="1"/>
                      </p:cNvPicPr>
                      <p:nvPr/>
                    </p:nvPicPr>
                    <p:blipFill>
                      <a:blip r:embed="rId4">
                        <a:lum bright="-12000"/>
                        <a:extLst>
                          <a:ext uri="{28A0092B-C50C-407E-A947-70E740481C1C}">
                            <a14:useLocalDpi xmlns:a14="http://schemas.microsoft.com/office/drawing/2010/main" val="0"/>
                          </a:ext>
                        </a:extLst>
                      </a:blip>
                      <a:srcRect/>
                      <a:stretch>
                        <a:fillRect/>
                      </a:stretch>
                    </p:blipFill>
                    <p:spPr bwMode="auto">
                      <a:xfrm>
                        <a:off x="7924800" y="2209800"/>
                        <a:ext cx="982663" cy="1524000"/>
                      </a:xfrm>
                      <a:prstGeom prst="rect">
                        <a:avLst/>
                      </a:prstGeom>
                      <a:noFill/>
                      <a:ln>
                        <a:noFill/>
                      </a:ln>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4"/>
          <p:cNvSpPr>
            <a:spLocks noChangeArrowheads="1"/>
          </p:cNvSpPr>
          <p:nvPr/>
        </p:nvSpPr>
        <p:spPr bwMode="auto">
          <a:xfrm>
            <a:off x="35832" y="53340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ea typeface="幼圆" pitchFamily="49" charset="-122"/>
              </a:rPr>
              <a:t>部分练习</a:t>
            </a:r>
          </a:p>
        </p:txBody>
      </p:sp>
    </p:spTree>
    <p:extLst>
      <p:ext uri="{BB962C8B-B14F-4D97-AF65-F5344CB8AC3E}">
        <p14:creationId xmlns:p14="http://schemas.microsoft.com/office/powerpoint/2010/main" val="365568207"/>
      </p:ext>
    </p:extLst>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8355">
                                            <p:txEl>
                                              <p:pRg st="0" end="0"/>
                                            </p:txEl>
                                          </p:spTgt>
                                        </p:tgtEl>
                                        <p:attrNameLst>
                                          <p:attrName>style.visibility</p:attrName>
                                        </p:attrNameLst>
                                      </p:cBhvr>
                                      <p:to>
                                        <p:strVal val="visible"/>
                                      </p:to>
                                    </p:set>
                                    <p:animEffect transition="in" filter="wipe(left)">
                                      <p:cBhvr>
                                        <p:cTn id="7" dur="500"/>
                                        <p:tgtEl>
                                          <p:spTgt spid="2283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8355">
                                            <p:txEl>
                                              <p:pRg st="1" end="1"/>
                                            </p:txEl>
                                          </p:spTgt>
                                        </p:tgtEl>
                                        <p:attrNameLst>
                                          <p:attrName>style.visibility</p:attrName>
                                        </p:attrNameLst>
                                      </p:cBhvr>
                                      <p:to>
                                        <p:strVal val="visible"/>
                                      </p:to>
                                    </p:set>
                                    <p:animEffect transition="in" filter="wipe(left)">
                                      <p:cBhvr>
                                        <p:cTn id="12" dur="500"/>
                                        <p:tgtEl>
                                          <p:spTgt spid="2283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8355">
                                            <p:txEl>
                                              <p:pRg st="2" end="2"/>
                                            </p:txEl>
                                          </p:spTgt>
                                        </p:tgtEl>
                                        <p:attrNameLst>
                                          <p:attrName>style.visibility</p:attrName>
                                        </p:attrNameLst>
                                      </p:cBhvr>
                                      <p:to>
                                        <p:strVal val="visible"/>
                                      </p:to>
                                    </p:set>
                                    <p:animEffect transition="in" filter="wipe(left)">
                                      <p:cBhvr>
                                        <p:cTn id="17" dur="500"/>
                                        <p:tgtEl>
                                          <p:spTgt spid="2283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8355">
                                            <p:txEl>
                                              <p:pRg st="3" end="3"/>
                                            </p:txEl>
                                          </p:spTgt>
                                        </p:tgtEl>
                                        <p:attrNameLst>
                                          <p:attrName>style.visibility</p:attrName>
                                        </p:attrNameLst>
                                      </p:cBhvr>
                                      <p:to>
                                        <p:strVal val="visible"/>
                                      </p:to>
                                    </p:set>
                                    <p:animEffect transition="in" filter="wipe(left)">
                                      <p:cBhvr>
                                        <p:cTn id="22" dur="500"/>
                                        <p:tgtEl>
                                          <p:spTgt spid="22835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8355">
                                            <p:txEl>
                                              <p:pRg st="4" end="4"/>
                                            </p:txEl>
                                          </p:spTgt>
                                        </p:tgtEl>
                                        <p:attrNameLst>
                                          <p:attrName>style.visibility</p:attrName>
                                        </p:attrNameLst>
                                      </p:cBhvr>
                                      <p:to>
                                        <p:strVal val="visible"/>
                                      </p:to>
                                    </p:set>
                                    <p:animEffect transition="in" filter="wipe(left)">
                                      <p:cBhvr>
                                        <p:cTn id="27" dur="500"/>
                                        <p:tgtEl>
                                          <p:spTgt spid="22835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8355">
                                            <p:txEl>
                                              <p:pRg st="5" end="5"/>
                                            </p:txEl>
                                          </p:spTgt>
                                        </p:tgtEl>
                                        <p:attrNameLst>
                                          <p:attrName>style.visibility</p:attrName>
                                        </p:attrNameLst>
                                      </p:cBhvr>
                                      <p:to>
                                        <p:strVal val="visible"/>
                                      </p:to>
                                    </p:set>
                                    <p:animEffect transition="in" filter="wipe(left)">
                                      <p:cBhvr>
                                        <p:cTn id="32" dur="500"/>
                                        <p:tgtEl>
                                          <p:spTgt spid="22835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5" grpId="0" build="p" autoUpdateAnimBg="0"/>
    </p:bldLst>
  </p:timing>
</p:sld>
</file>

<file path=ppt/slides/slide1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0403" name="Rectangle 3"/>
          <p:cNvSpPr>
            <a:spLocks noGrp="1" noChangeArrowheads="1"/>
          </p:cNvSpPr>
          <p:nvPr>
            <p:ph type="body" sz="half" idx="1"/>
          </p:nvPr>
        </p:nvSpPr>
        <p:spPr>
          <a:xfrm>
            <a:off x="0" y="1143000"/>
            <a:ext cx="8686800" cy="4746625"/>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【20】</a:t>
            </a:r>
            <a:r>
              <a:rPr kumimoji="1" lang="zh-CN" altLang="en-US" sz="2400" b="1">
                <a:solidFill>
                  <a:schemeClr val="tx2"/>
                </a:solidFill>
                <a:latin typeface="幼圆" pitchFamily="49" charset="-122"/>
                <a:ea typeface="幼圆" pitchFamily="49" charset="-122"/>
              </a:rPr>
              <a:t>若</a:t>
            </a:r>
            <a:r>
              <a:rPr kumimoji="1" lang="en-US" altLang="zh-CN" sz="2400" b="1">
                <a:solidFill>
                  <a:schemeClr val="tx2"/>
                </a:solidFill>
                <a:latin typeface="幼圆" pitchFamily="49" charset="-122"/>
                <a:ea typeface="幼圆" pitchFamily="49" charset="-122"/>
              </a:rPr>
              <a:t>a、b</a:t>
            </a:r>
            <a:r>
              <a:rPr kumimoji="1" lang="zh-CN" altLang="en-US" sz="2400" b="1">
                <a:solidFill>
                  <a:schemeClr val="tx2"/>
                </a:solidFill>
                <a:latin typeface="幼圆" pitchFamily="49" charset="-122"/>
                <a:ea typeface="幼圆" pitchFamily="49" charset="-122"/>
              </a:rPr>
              <a:t>均为</a:t>
            </a:r>
            <a:r>
              <a:rPr kumimoji="1" lang="en-US" altLang="zh-CN" sz="2400" b="1">
                <a:solidFill>
                  <a:schemeClr val="tx2"/>
                </a:solidFill>
                <a:latin typeface="幼圆" pitchFamily="49" charset="-122"/>
                <a:ea typeface="幼圆" pitchFamily="49" charset="-122"/>
              </a:rPr>
              <a:t>int</a:t>
            </a:r>
            <a:r>
              <a:rPr kumimoji="1" lang="zh-CN" altLang="en-US" sz="2400" b="1">
                <a:solidFill>
                  <a:schemeClr val="tx2"/>
                </a:solidFill>
                <a:latin typeface="幼圆" pitchFamily="49" charset="-122"/>
                <a:ea typeface="幼圆" pitchFamily="49" charset="-122"/>
              </a:rPr>
              <a:t>型变量且</a:t>
            </a:r>
            <a:r>
              <a:rPr kumimoji="1" lang="en-US" altLang="zh-CN" sz="2400" b="1">
                <a:solidFill>
                  <a:schemeClr val="tx2"/>
                </a:solidFill>
                <a:latin typeface="幼圆" pitchFamily="49" charset="-122"/>
                <a:ea typeface="幼圆" pitchFamily="49" charset="-122"/>
              </a:rPr>
              <a:t>a=100，</a:t>
            </a:r>
            <a:r>
              <a:rPr kumimoji="1" lang="zh-CN" altLang="en-US" sz="2400" b="1">
                <a:solidFill>
                  <a:schemeClr val="tx2"/>
                </a:solidFill>
                <a:latin typeface="幼圆" pitchFamily="49" charset="-122"/>
                <a:ea typeface="幼圆" pitchFamily="49" charset="-122"/>
              </a:rPr>
              <a:t>则对以下</a:t>
            </a:r>
            <a:r>
              <a:rPr kumimoji="1" lang="en-US" altLang="zh-CN" sz="2400" b="1">
                <a:solidFill>
                  <a:schemeClr val="tx2"/>
                </a:solidFill>
                <a:latin typeface="幼圆" pitchFamily="49" charset="-122"/>
                <a:ea typeface="幼圆" pitchFamily="49" charset="-122"/>
              </a:rPr>
              <a:t>for</a:t>
            </a:r>
            <a:r>
              <a:rPr kumimoji="1" lang="zh-CN" altLang="en-US" sz="2400" b="1">
                <a:solidFill>
                  <a:schemeClr val="tx2"/>
                </a:solidFill>
                <a:latin typeface="幼圆" pitchFamily="49" charset="-122"/>
                <a:ea typeface="幼圆" pitchFamily="49" charset="-122"/>
              </a:rPr>
              <a:t>循环语句的正确判断是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for (b=100; a!=b; ++a,b++)</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printf ("----\n")；</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 </a:t>
            </a:r>
            <a:r>
              <a:rPr kumimoji="1" lang="zh-CN" altLang="en-US" sz="2400" b="1">
                <a:solidFill>
                  <a:schemeClr val="tx2"/>
                </a:solidFill>
                <a:latin typeface="幼圆" pitchFamily="49" charset="-122"/>
                <a:ea typeface="幼圆" pitchFamily="49" charset="-122"/>
              </a:rPr>
              <a:t>循环体只执行一次      </a:t>
            </a:r>
            <a:r>
              <a:rPr kumimoji="1" lang="en-US" altLang="zh-CN" sz="2400" b="1">
                <a:solidFill>
                  <a:schemeClr val="tx2"/>
                </a:solidFill>
                <a:latin typeface="幼圆" pitchFamily="49" charset="-122"/>
                <a:ea typeface="幼圆" pitchFamily="49" charset="-122"/>
              </a:rPr>
              <a:t>B) </a:t>
            </a:r>
            <a:r>
              <a:rPr kumimoji="1" lang="zh-CN" altLang="en-US" sz="2400" b="1">
                <a:solidFill>
                  <a:schemeClr val="tx2"/>
                </a:solidFill>
                <a:latin typeface="幼圆" pitchFamily="49" charset="-122"/>
                <a:ea typeface="幼圆" pitchFamily="49" charset="-122"/>
              </a:rPr>
              <a:t>是死循环</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C) </a:t>
            </a:r>
            <a:r>
              <a:rPr kumimoji="1" lang="zh-CN" altLang="en-US" sz="2400" b="1">
                <a:solidFill>
                  <a:schemeClr val="tx2"/>
                </a:solidFill>
                <a:latin typeface="幼圆" pitchFamily="49" charset="-122"/>
                <a:ea typeface="幼圆" pitchFamily="49" charset="-122"/>
              </a:rPr>
              <a:t>循环体一次也不执行    </a:t>
            </a:r>
            <a:r>
              <a:rPr kumimoji="1" lang="en-US" altLang="zh-CN" sz="2400" b="1">
                <a:solidFill>
                  <a:schemeClr val="tx2"/>
                </a:solidFill>
                <a:latin typeface="幼圆" pitchFamily="49" charset="-122"/>
                <a:ea typeface="幼圆" pitchFamily="49" charset="-122"/>
              </a:rPr>
              <a:t>D) </a:t>
            </a:r>
            <a:r>
              <a:rPr kumimoji="1" lang="zh-CN" altLang="en-US" sz="2400" b="1">
                <a:solidFill>
                  <a:schemeClr val="tx2"/>
                </a:solidFill>
                <a:latin typeface="幼圆" pitchFamily="49" charset="-122"/>
                <a:ea typeface="幼圆" pitchFamily="49" charset="-122"/>
              </a:rPr>
              <a:t>输出----</a:t>
            </a:r>
          </a:p>
          <a:p>
            <a:pPr marL="0" indent="0" eaLnBrk="1" hangingPunct="1">
              <a:buClr>
                <a:schemeClr val="tx1"/>
              </a:buClr>
              <a:buSzPct val="60000"/>
              <a:buFont typeface="宋体" pitchFamily="2" charset="-122"/>
              <a:buNone/>
            </a:pPr>
            <a:r>
              <a:rPr kumimoji="1" lang="zh-CN" altLang="en-US" sz="2400" b="1">
                <a:solidFill>
                  <a:srgbClr val="FF0000"/>
                </a:solidFill>
                <a:latin typeface="幼圆" pitchFamily="49" charset="-122"/>
                <a:ea typeface="幼圆" pitchFamily="49" charset="-122"/>
              </a:rPr>
              <a:t>　答案：</a:t>
            </a:r>
            <a:r>
              <a:rPr kumimoji="1" lang="en-US" altLang="zh-CN" sz="2400" b="1">
                <a:solidFill>
                  <a:srgbClr val="FF0000"/>
                </a:solidFill>
                <a:latin typeface="幼圆" pitchFamily="49" charset="-122"/>
                <a:ea typeface="幼圆" pitchFamily="49" charset="-122"/>
              </a:rPr>
              <a:t>C</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【21】</a:t>
            </a:r>
            <a:r>
              <a:rPr kumimoji="1" lang="zh-CN" altLang="en-US" sz="2400" b="1">
                <a:solidFill>
                  <a:schemeClr val="tx2"/>
                </a:solidFill>
                <a:latin typeface="幼圆" pitchFamily="49" charset="-122"/>
                <a:ea typeface="幼圆" pitchFamily="49" charset="-122"/>
              </a:rPr>
              <a:t>在</a:t>
            </a:r>
            <a:r>
              <a:rPr kumimoji="1" lang="en-US" altLang="zh-CN" sz="2400" b="1">
                <a:solidFill>
                  <a:schemeClr val="tx2"/>
                </a:solidFill>
                <a:latin typeface="幼圆" pitchFamily="49" charset="-122"/>
                <a:ea typeface="幼圆" pitchFamily="49" charset="-122"/>
              </a:rPr>
              <a:t>C</a:t>
            </a:r>
            <a:r>
              <a:rPr kumimoji="1" lang="zh-CN" altLang="en-US" sz="2400" b="1">
                <a:solidFill>
                  <a:schemeClr val="tx2"/>
                </a:solidFill>
                <a:latin typeface="幼圆" pitchFamily="49" charset="-122"/>
                <a:ea typeface="幼圆" pitchFamily="49" charset="-122"/>
              </a:rPr>
              <a:t>源程序文件中,若要定义一个不允许其他文件使用的变量，则该变量需要使用的存储类别是</a:t>
            </a:r>
            <a:r>
              <a:rPr kumimoji="1" lang="en-US" altLang="zh-CN" sz="2400" b="1">
                <a:solidFill>
                  <a:schemeClr val="tx2"/>
                </a:solidFill>
                <a:latin typeface="幼圆" pitchFamily="49" charset="-122"/>
                <a:ea typeface="幼圆" pitchFamily="49" charset="-122"/>
              </a:rPr>
              <a:t>____</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A) extern   B) register  C) auto   D) static</a:t>
            </a:r>
          </a:p>
          <a:p>
            <a:pPr marL="0" indent="0" eaLnBrk="1" hangingPunct="1">
              <a:buClr>
                <a:schemeClr val="tx1"/>
              </a:buClr>
              <a:buSzPct val="60000"/>
              <a:buFont typeface="宋体" pitchFamily="2" charset="-122"/>
              <a:buNone/>
            </a:pPr>
            <a:r>
              <a:rPr kumimoji="1" lang="zh-CN" altLang="en-US" sz="2400" b="1">
                <a:solidFill>
                  <a:srgbClr val="FF0000"/>
                </a:solidFill>
                <a:latin typeface="幼圆" pitchFamily="49" charset="-122"/>
                <a:ea typeface="幼圆" pitchFamily="49" charset="-122"/>
              </a:rPr>
              <a:t>　答案：</a:t>
            </a:r>
            <a:r>
              <a:rPr kumimoji="1" lang="en-US" altLang="zh-CN" sz="2400" b="1">
                <a:solidFill>
                  <a:srgbClr val="FF0000"/>
                </a:solidFill>
                <a:latin typeface="幼圆" pitchFamily="49" charset="-122"/>
                <a:ea typeface="幼圆" pitchFamily="49" charset="-122"/>
              </a:rPr>
              <a:t>D</a:t>
            </a:r>
          </a:p>
        </p:txBody>
      </p:sp>
      <p:pic>
        <p:nvPicPr>
          <p:cNvPr id="168963" name="Picture 58" descr="gif053"/>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1905000"/>
            <a:ext cx="1981200" cy="195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35832" y="53340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ea typeface="幼圆" pitchFamily="49" charset="-122"/>
              </a:rPr>
              <a:t>部分练习</a:t>
            </a:r>
          </a:p>
        </p:txBody>
      </p:sp>
    </p:spTree>
    <p:extLst>
      <p:ext uri="{BB962C8B-B14F-4D97-AF65-F5344CB8AC3E}">
        <p14:creationId xmlns:p14="http://schemas.microsoft.com/office/powerpoint/2010/main" val="4127579010"/>
      </p:ext>
    </p:extLst>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0403">
                                            <p:txEl>
                                              <p:pRg st="0" end="0"/>
                                            </p:txEl>
                                          </p:spTgt>
                                        </p:tgtEl>
                                        <p:attrNameLst>
                                          <p:attrName>style.visibility</p:attrName>
                                        </p:attrNameLst>
                                      </p:cBhvr>
                                      <p:to>
                                        <p:strVal val="visible"/>
                                      </p:to>
                                    </p:set>
                                    <p:animEffect transition="in" filter="wipe(left)">
                                      <p:cBhvr>
                                        <p:cTn id="7" dur="500"/>
                                        <p:tgtEl>
                                          <p:spTgt spid="2304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0403">
                                            <p:txEl>
                                              <p:pRg st="1" end="1"/>
                                            </p:txEl>
                                          </p:spTgt>
                                        </p:tgtEl>
                                        <p:attrNameLst>
                                          <p:attrName>style.visibility</p:attrName>
                                        </p:attrNameLst>
                                      </p:cBhvr>
                                      <p:to>
                                        <p:strVal val="visible"/>
                                      </p:to>
                                    </p:set>
                                    <p:animEffect transition="in" filter="wipe(left)">
                                      <p:cBhvr>
                                        <p:cTn id="12" dur="500"/>
                                        <p:tgtEl>
                                          <p:spTgt spid="2304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0403">
                                            <p:txEl>
                                              <p:pRg st="2" end="2"/>
                                            </p:txEl>
                                          </p:spTgt>
                                        </p:tgtEl>
                                        <p:attrNameLst>
                                          <p:attrName>style.visibility</p:attrName>
                                        </p:attrNameLst>
                                      </p:cBhvr>
                                      <p:to>
                                        <p:strVal val="visible"/>
                                      </p:to>
                                    </p:set>
                                    <p:animEffect transition="in" filter="wipe(left)">
                                      <p:cBhvr>
                                        <p:cTn id="17" dur="500"/>
                                        <p:tgtEl>
                                          <p:spTgt spid="23040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0403">
                                            <p:txEl>
                                              <p:pRg st="3" end="3"/>
                                            </p:txEl>
                                          </p:spTgt>
                                        </p:tgtEl>
                                        <p:attrNameLst>
                                          <p:attrName>style.visibility</p:attrName>
                                        </p:attrNameLst>
                                      </p:cBhvr>
                                      <p:to>
                                        <p:strVal val="visible"/>
                                      </p:to>
                                    </p:set>
                                    <p:animEffect transition="in" filter="wipe(left)">
                                      <p:cBhvr>
                                        <p:cTn id="22" dur="500"/>
                                        <p:tgtEl>
                                          <p:spTgt spid="23040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30403">
                                            <p:txEl>
                                              <p:pRg st="4" end="4"/>
                                            </p:txEl>
                                          </p:spTgt>
                                        </p:tgtEl>
                                        <p:attrNameLst>
                                          <p:attrName>style.visibility</p:attrName>
                                        </p:attrNameLst>
                                      </p:cBhvr>
                                      <p:to>
                                        <p:strVal val="visible"/>
                                      </p:to>
                                    </p:set>
                                    <p:animEffect transition="in" filter="wipe(left)">
                                      <p:cBhvr>
                                        <p:cTn id="27" dur="500"/>
                                        <p:tgtEl>
                                          <p:spTgt spid="23040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30403">
                                            <p:txEl>
                                              <p:pRg st="5" end="5"/>
                                            </p:txEl>
                                          </p:spTgt>
                                        </p:tgtEl>
                                        <p:attrNameLst>
                                          <p:attrName>style.visibility</p:attrName>
                                        </p:attrNameLst>
                                      </p:cBhvr>
                                      <p:to>
                                        <p:strVal val="visible"/>
                                      </p:to>
                                    </p:set>
                                    <p:animEffect transition="in" filter="wipe(left)">
                                      <p:cBhvr>
                                        <p:cTn id="32" dur="500"/>
                                        <p:tgtEl>
                                          <p:spTgt spid="23040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30403">
                                            <p:txEl>
                                              <p:pRg st="6" end="6"/>
                                            </p:txEl>
                                          </p:spTgt>
                                        </p:tgtEl>
                                        <p:attrNameLst>
                                          <p:attrName>style.visibility</p:attrName>
                                        </p:attrNameLst>
                                      </p:cBhvr>
                                      <p:to>
                                        <p:strVal val="visible"/>
                                      </p:to>
                                    </p:set>
                                    <p:animEffect transition="in" filter="wipe(left)">
                                      <p:cBhvr>
                                        <p:cTn id="37" dur="500"/>
                                        <p:tgtEl>
                                          <p:spTgt spid="23040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30403">
                                            <p:txEl>
                                              <p:pRg st="7" end="7"/>
                                            </p:txEl>
                                          </p:spTgt>
                                        </p:tgtEl>
                                        <p:attrNameLst>
                                          <p:attrName>style.visibility</p:attrName>
                                        </p:attrNameLst>
                                      </p:cBhvr>
                                      <p:to>
                                        <p:strVal val="visible"/>
                                      </p:to>
                                    </p:set>
                                    <p:animEffect transition="in" filter="wipe(left)">
                                      <p:cBhvr>
                                        <p:cTn id="42" dur="500"/>
                                        <p:tgtEl>
                                          <p:spTgt spid="23040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30403">
                                            <p:txEl>
                                              <p:pRg st="8" end="8"/>
                                            </p:txEl>
                                          </p:spTgt>
                                        </p:tgtEl>
                                        <p:attrNameLst>
                                          <p:attrName>style.visibility</p:attrName>
                                        </p:attrNameLst>
                                      </p:cBhvr>
                                      <p:to>
                                        <p:strVal val="visible"/>
                                      </p:to>
                                    </p:set>
                                    <p:animEffect transition="in" filter="wipe(left)">
                                      <p:cBhvr>
                                        <p:cTn id="47" dur="500"/>
                                        <p:tgtEl>
                                          <p:spTgt spid="23040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3" grpId="0" build="p" autoUpdateAnimBg="0"/>
    </p:bldLst>
  </p:timing>
</p:sld>
</file>

<file path=ppt/slides/slide1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1427" name="Rectangle 3"/>
          <p:cNvSpPr>
            <a:spLocks noGrp="1" noChangeArrowheads="1"/>
          </p:cNvSpPr>
          <p:nvPr>
            <p:ph type="body" sz="half" idx="1"/>
          </p:nvPr>
        </p:nvSpPr>
        <p:spPr>
          <a:xfrm>
            <a:off x="0" y="1447800"/>
            <a:ext cx="8740775" cy="4819650"/>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【22】</a:t>
            </a:r>
            <a:r>
              <a:rPr kumimoji="1" lang="zh-CN" altLang="en-US" sz="2400" b="1">
                <a:solidFill>
                  <a:schemeClr val="tx2"/>
                </a:solidFill>
                <a:latin typeface="幼圆" pitchFamily="49" charset="-122"/>
                <a:ea typeface="幼圆" pitchFamily="49" charset="-122"/>
              </a:rPr>
              <a:t>若用数组名作为函数调用时的实参，则传递给形参的是</a:t>
            </a:r>
            <a:r>
              <a:rPr kumimoji="1" lang="en-US" altLang="zh-CN" sz="2400" b="1">
                <a:solidFill>
                  <a:schemeClr val="tx2"/>
                </a:solidFill>
                <a:latin typeface="幼圆" pitchFamily="49" charset="-122"/>
                <a:ea typeface="幼圆" pitchFamily="49" charset="-122"/>
              </a:rPr>
              <a:t>____</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A) </a:t>
            </a:r>
            <a:r>
              <a:rPr kumimoji="1" lang="zh-CN" altLang="en-US" sz="2400" b="1">
                <a:solidFill>
                  <a:schemeClr val="tx2"/>
                </a:solidFill>
                <a:latin typeface="幼圆" pitchFamily="49" charset="-122"/>
                <a:ea typeface="幼圆" pitchFamily="49" charset="-122"/>
              </a:rPr>
              <a:t>数组首地址          </a:t>
            </a:r>
            <a:r>
              <a:rPr kumimoji="1" lang="en-US" altLang="zh-CN" sz="2400" b="1">
                <a:solidFill>
                  <a:schemeClr val="tx2"/>
                </a:solidFill>
                <a:latin typeface="幼圆" pitchFamily="49" charset="-122"/>
                <a:ea typeface="幼圆" pitchFamily="49" charset="-122"/>
              </a:rPr>
              <a:t>B) </a:t>
            </a:r>
            <a:r>
              <a:rPr kumimoji="1" lang="zh-CN" altLang="en-US" sz="2400" b="1">
                <a:solidFill>
                  <a:schemeClr val="tx2"/>
                </a:solidFill>
                <a:latin typeface="幼圆" pitchFamily="49" charset="-122"/>
                <a:ea typeface="幼圆" pitchFamily="49" charset="-122"/>
              </a:rPr>
              <a:t>数组的第一个元素值</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C) </a:t>
            </a:r>
            <a:r>
              <a:rPr kumimoji="1" lang="zh-CN" altLang="en-US" sz="2400" b="1">
                <a:solidFill>
                  <a:schemeClr val="tx2"/>
                </a:solidFill>
                <a:latin typeface="幼圆" pitchFamily="49" charset="-122"/>
                <a:ea typeface="幼圆" pitchFamily="49" charset="-122"/>
              </a:rPr>
              <a:t>数组中全部元素的值  </a:t>
            </a:r>
            <a:r>
              <a:rPr kumimoji="1" lang="en-US" altLang="zh-CN" sz="2400" b="1">
                <a:solidFill>
                  <a:schemeClr val="tx2"/>
                </a:solidFill>
                <a:latin typeface="幼圆" pitchFamily="49" charset="-122"/>
                <a:ea typeface="幼圆" pitchFamily="49" charset="-122"/>
              </a:rPr>
              <a:t>D) </a:t>
            </a:r>
            <a:r>
              <a:rPr kumimoji="1" lang="zh-CN" altLang="en-US" sz="2400" b="1">
                <a:solidFill>
                  <a:schemeClr val="tx2"/>
                </a:solidFill>
                <a:latin typeface="幼圆" pitchFamily="49" charset="-122"/>
                <a:ea typeface="幼圆" pitchFamily="49" charset="-122"/>
              </a:rPr>
              <a:t>数组元素的个数</a:t>
            </a:r>
          </a:p>
          <a:p>
            <a:pPr marL="0" indent="0" eaLnBrk="1" hangingPunct="1">
              <a:buClr>
                <a:schemeClr val="tx1"/>
              </a:buClr>
              <a:buSzPct val="60000"/>
              <a:buFont typeface="宋体" pitchFamily="2" charset="-122"/>
              <a:buNone/>
            </a:pPr>
            <a:r>
              <a:rPr kumimoji="1" lang="zh-CN" altLang="en-US" sz="2400" b="1">
                <a:solidFill>
                  <a:srgbClr val="FF0000"/>
                </a:solidFill>
                <a:latin typeface="幼圆" pitchFamily="49" charset="-122"/>
                <a:ea typeface="幼圆" pitchFamily="49" charset="-122"/>
              </a:rPr>
              <a:t>答案：</a:t>
            </a:r>
            <a:r>
              <a:rPr kumimoji="1" lang="en-US" altLang="zh-CN" sz="2400" b="1">
                <a:solidFill>
                  <a:srgbClr val="FF0000"/>
                </a:solidFill>
                <a:latin typeface="幼圆" pitchFamily="49" charset="-122"/>
                <a:ea typeface="幼圆" pitchFamily="49" charset="-122"/>
              </a:rPr>
              <a:t>A</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cs typeface="Times New Roman" pitchFamily="18" charset="0"/>
              </a:rPr>
              <a:t>【2</a:t>
            </a:r>
            <a:r>
              <a:rPr kumimoji="1" lang="en-US" altLang="zh-CN" sz="2400" b="1">
                <a:solidFill>
                  <a:schemeClr val="tx2"/>
                </a:solidFill>
                <a:latin typeface="幼圆" pitchFamily="49" charset="-122"/>
                <a:ea typeface="幼圆" pitchFamily="49" charset="-122"/>
                <a:cs typeface="Times New Roman" pitchFamily="18" charset="0"/>
              </a:rPr>
              <a:t>3】</a:t>
            </a:r>
            <a:r>
              <a:rPr kumimoji="1" lang="zh-CN" altLang="en-US" sz="2400" b="1">
                <a:solidFill>
                  <a:schemeClr val="tx2"/>
                </a:solidFill>
                <a:latin typeface="幼圆" pitchFamily="49" charset="-122"/>
                <a:ea typeface="幼圆" pitchFamily="49" charset="-122"/>
                <a:cs typeface="Times New Roman" pitchFamily="18" charset="0"/>
              </a:rPr>
              <a:t>执行下列语句后</a:t>
            </a:r>
            <a:r>
              <a:rPr kumimoji="1" lang="en-US" altLang="zh-CN" sz="2400" b="1">
                <a:solidFill>
                  <a:schemeClr val="tx2"/>
                </a:solidFill>
                <a:latin typeface="幼圆" pitchFamily="49" charset="-122"/>
                <a:ea typeface="幼圆" pitchFamily="49" charset="-122"/>
                <a:cs typeface="Times New Roman" pitchFamily="18" charset="0"/>
              </a:rPr>
              <a:t>,i</a:t>
            </a:r>
            <a:r>
              <a:rPr kumimoji="1" lang="zh-CN" altLang="en-US" sz="2400" b="1">
                <a:solidFill>
                  <a:schemeClr val="tx2"/>
                </a:solidFill>
                <a:latin typeface="幼圆" pitchFamily="49" charset="-122"/>
                <a:ea typeface="幼圆" pitchFamily="49" charset="-122"/>
                <a:cs typeface="Times New Roman" pitchFamily="18" charset="0"/>
              </a:rPr>
              <a:t>的值是</a:t>
            </a:r>
            <a:r>
              <a:rPr kumimoji="1" lang="en-US" altLang="zh-CN" sz="2400" b="1">
                <a:solidFill>
                  <a:schemeClr val="tx2"/>
                </a:solidFill>
                <a:latin typeface="幼圆" pitchFamily="49" charset="-122"/>
                <a:ea typeface="幼圆" pitchFamily="49" charset="-122"/>
                <a:cs typeface="Times New Roman" pitchFamily="18" charset="0"/>
              </a:rPr>
              <a:t>____</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cs typeface="Times New Roman" pitchFamily="18" charset="0"/>
              </a:rPr>
              <a:t>    int i=1；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cs typeface="Times New Roman" pitchFamily="18" charset="0"/>
              </a:rPr>
              <a:t>    for(j=1;j&lt;(012^0x16);j++) i++;</a:t>
            </a:r>
            <a:endParaRPr kumimoji="1" lang="zh-CN" altLang="en-US" sz="2400" b="1">
              <a:solidFill>
                <a:schemeClr val="tx2"/>
              </a:solidFill>
              <a:latin typeface="幼圆" pitchFamily="49" charset="-122"/>
              <a:ea typeface="幼圆" pitchFamily="49" charset="-122"/>
              <a:cs typeface="Times New Roman" pitchFamily="18" charset="0"/>
            </a:endParaRPr>
          </a:p>
          <a:p>
            <a:pPr marL="0" indent="0" eaLnBrk="1" hangingPunct="1">
              <a:buClr>
                <a:schemeClr val="tx1"/>
              </a:buClr>
              <a:buSzPct val="60000"/>
              <a:buFont typeface="宋体" pitchFamily="2" charset="-122"/>
              <a:buNone/>
            </a:pPr>
            <a:endParaRPr kumimoji="1" lang="en-US" altLang="zh-CN" sz="2400" b="1">
              <a:solidFill>
                <a:schemeClr val="tx2"/>
              </a:solidFill>
              <a:latin typeface="幼圆" pitchFamily="49" charset="-122"/>
              <a:ea typeface="幼圆" pitchFamily="49" charset="-122"/>
              <a:cs typeface="Times New Roman" pitchFamily="18" charset="0"/>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cs typeface="Times New Roman" pitchFamily="18" charset="0"/>
              </a:rPr>
              <a:t>    A) 27     B) 28   C) 29     D) 30</a:t>
            </a:r>
          </a:p>
          <a:p>
            <a:pPr marL="0" indent="0" eaLnBrk="1" hangingPunct="1">
              <a:buClr>
                <a:schemeClr val="tx1"/>
              </a:buClr>
              <a:buSzPct val="60000"/>
              <a:buFont typeface="宋体" pitchFamily="2" charset="-122"/>
              <a:buNone/>
            </a:pPr>
            <a:r>
              <a:rPr kumimoji="1" lang="zh-CN" altLang="en-US" sz="2400" b="1">
                <a:solidFill>
                  <a:srgbClr val="FF0000"/>
                </a:solidFill>
                <a:latin typeface="幼圆" pitchFamily="49" charset="-122"/>
                <a:ea typeface="幼圆" pitchFamily="49" charset="-122"/>
              </a:rPr>
              <a:t>　答案：</a:t>
            </a:r>
            <a:r>
              <a:rPr kumimoji="1" lang="en-US" altLang="zh-CN" sz="2400" b="1">
                <a:solidFill>
                  <a:srgbClr val="FF0000"/>
                </a:solidFill>
                <a:latin typeface="幼圆" pitchFamily="49" charset="-122"/>
                <a:ea typeface="幼圆" pitchFamily="49" charset="-122"/>
              </a:rPr>
              <a:t>B</a:t>
            </a:r>
          </a:p>
        </p:txBody>
      </p:sp>
      <p:pic>
        <p:nvPicPr>
          <p:cNvPr id="169987" name="Picture 4" descr="TC0010"/>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58000" y="3276600"/>
            <a:ext cx="1727200" cy="281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auto">
          <a:xfrm>
            <a:off x="35832" y="53340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ea typeface="幼圆" pitchFamily="49" charset="-122"/>
              </a:rPr>
              <a:t>部分练习</a:t>
            </a:r>
          </a:p>
        </p:txBody>
      </p:sp>
    </p:spTree>
    <p:extLst>
      <p:ext uri="{BB962C8B-B14F-4D97-AF65-F5344CB8AC3E}">
        <p14:creationId xmlns:p14="http://schemas.microsoft.com/office/powerpoint/2010/main" val="3448767188"/>
      </p:ext>
    </p:extLst>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1427">
                                            <p:txEl>
                                              <p:pRg st="0" end="0"/>
                                            </p:txEl>
                                          </p:spTgt>
                                        </p:tgtEl>
                                        <p:attrNameLst>
                                          <p:attrName>style.visibility</p:attrName>
                                        </p:attrNameLst>
                                      </p:cBhvr>
                                      <p:to>
                                        <p:strVal val="visible"/>
                                      </p:to>
                                    </p:set>
                                    <p:animEffect transition="in" filter="wipe(left)">
                                      <p:cBhvr>
                                        <p:cTn id="7" dur="500"/>
                                        <p:tgtEl>
                                          <p:spTgt spid="2314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1427">
                                            <p:txEl>
                                              <p:pRg st="1" end="1"/>
                                            </p:txEl>
                                          </p:spTgt>
                                        </p:tgtEl>
                                        <p:attrNameLst>
                                          <p:attrName>style.visibility</p:attrName>
                                        </p:attrNameLst>
                                      </p:cBhvr>
                                      <p:to>
                                        <p:strVal val="visible"/>
                                      </p:to>
                                    </p:set>
                                    <p:animEffect transition="in" filter="wipe(left)">
                                      <p:cBhvr>
                                        <p:cTn id="12" dur="500"/>
                                        <p:tgtEl>
                                          <p:spTgt spid="2314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1427">
                                            <p:txEl>
                                              <p:pRg st="2" end="2"/>
                                            </p:txEl>
                                          </p:spTgt>
                                        </p:tgtEl>
                                        <p:attrNameLst>
                                          <p:attrName>style.visibility</p:attrName>
                                        </p:attrNameLst>
                                      </p:cBhvr>
                                      <p:to>
                                        <p:strVal val="visible"/>
                                      </p:to>
                                    </p:set>
                                    <p:animEffect transition="in" filter="wipe(left)">
                                      <p:cBhvr>
                                        <p:cTn id="17" dur="500"/>
                                        <p:tgtEl>
                                          <p:spTgt spid="2314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1427">
                                            <p:txEl>
                                              <p:pRg st="3" end="3"/>
                                            </p:txEl>
                                          </p:spTgt>
                                        </p:tgtEl>
                                        <p:attrNameLst>
                                          <p:attrName>style.visibility</p:attrName>
                                        </p:attrNameLst>
                                      </p:cBhvr>
                                      <p:to>
                                        <p:strVal val="visible"/>
                                      </p:to>
                                    </p:set>
                                    <p:animEffect transition="in" filter="wipe(left)">
                                      <p:cBhvr>
                                        <p:cTn id="22" dur="500"/>
                                        <p:tgtEl>
                                          <p:spTgt spid="23142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31427">
                                            <p:txEl>
                                              <p:pRg st="4" end="4"/>
                                            </p:txEl>
                                          </p:spTgt>
                                        </p:tgtEl>
                                        <p:attrNameLst>
                                          <p:attrName>style.visibility</p:attrName>
                                        </p:attrNameLst>
                                      </p:cBhvr>
                                      <p:to>
                                        <p:strVal val="visible"/>
                                      </p:to>
                                    </p:set>
                                    <p:animEffect transition="in" filter="wipe(left)">
                                      <p:cBhvr>
                                        <p:cTn id="27" dur="500"/>
                                        <p:tgtEl>
                                          <p:spTgt spid="23142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31427">
                                            <p:txEl>
                                              <p:pRg st="5" end="5"/>
                                            </p:txEl>
                                          </p:spTgt>
                                        </p:tgtEl>
                                        <p:attrNameLst>
                                          <p:attrName>style.visibility</p:attrName>
                                        </p:attrNameLst>
                                      </p:cBhvr>
                                      <p:to>
                                        <p:strVal val="visible"/>
                                      </p:to>
                                    </p:set>
                                    <p:animEffect transition="in" filter="wipe(left)">
                                      <p:cBhvr>
                                        <p:cTn id="32" dur="500"/>
                                        <p:tgtEl>
                                          <p:spTgt spid="23142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31427">
                                            <p:txEl>
                                              <p:pRg st="6" end="6"/>
                                            </p:txEl>
                                          </p:spTgt>
                                        </p:tgtEl>
                                        <p:attrNameLst>
                                          <p:attrName>style.visibility</p:attrName>
                                        </p:attrNameLst>
                                      </p:cBhvr>
                                      <p:to>
                                        <p:strVal val="visible"/>
                                      </p:to>
                                    </p:set>
                                    <p:animEffect transition="in" filter="wipe(left)">
                                      <p:cBhvr>
                                        <p:cTn id="37" dur="500"/>
                                        <p:tgtEl>
                                          <p:spTgt spid="231427">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31427">
                                            <p:txEl>
                                              <p:pRg st="8" end="8"/>
                                            </p:txEl>
                                          </p:spTgt>
                                        </p:tgtEl>
                                        <p:attrNameLst>
                                          <p:attrName>style.visibility</p:attrName>
                                        </p:attrNameLst>
                                      </p:cBhvr>
                                      <p:to>
                                        <p:strVal val="visible"/>
                                      </p:to>
                                    </p:set>
                                    <p:animEffect transition="in" filter="wipe(left)">
                                      <p:cBhvr>
                                        <p:cTn id="42" dur="500"/>
                                        <p:tgtEl>
                                          <p:spTgt spid="231427">
                                            <p:txEl>
                                              <p:pRg st="8" end="8"/>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31427">
                                            <p:txEl>
                                              <p:pRg st="9" end="9"/>
                                            </p:txEl>
                                          </p:spTgt>
                                        </p:tgtEl>
                                        <p:attrNameLst>
                                          <p:attrName>style.visibility</p:attrName>
                                        </p:attrNameLst>
                                      </p:cBhvr>
                                      <p:to>
                                        <p:strVal val="visible"/>
                                      </p:to>
                                    </p:set>
                                    <p:animEffect transition="in" filter="wipe(left)">
                                      <p:cBhvr>
                                        <p:cTn id="47" dur="500"/>
                                        <p:tgtEl>
                                          <p:spTgt spid="23142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7" grpId="0" build="p" autoUpdateAnimBg="0"/>
    </p:bldLst>
  </p:timing>
</p:sld>
</file>

<file path=ppt/slides/slide1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3475" name="Rectangle 3"/>
          <p:cNvSpPr>
            <a:spLocks noGrp="1" noChangeArrowheads="1"/>
          </p:cNvSpPr>
          <p:nvPr>
            <p:ph type="body" sz="half" idx="1"/>
          </p:nvPr>
        </p:nvSpPr>
        <p:spPr>
          <a:xfrm>
            <a:off x="304800" y="1295400"/>
            <a:ext cx="8839200" cy="3121025"/>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【24】</a:t>
            </a:r>
            <a:r>
              <a:rPr kumimoji="1" lang="zh-CN" altLang="en-US" sz="2400" b="1">
                <a:solidFill>
                  <a:schemeClr val="tx2"/>
                </a:solidFill>
                <a:latin typeface="幼圆" pitchFamily="49" charset="-122"/>
                <a:ea typeface="幼圆" pitchFamily="49" charset="-122"/>
              </a:rPr>
              <a:t>已知函数定义如下：</a:t>
            </a:r>
          </a:p>
          <a:p>
            <a:pPr marL="457200" lvl="1"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abcd ( char *s1, char *s2 )</a:t>
            </a:r>
          </a:p>
          <a:p>
            <a:pPr marL="457200" lvl="1"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 while ( *s2++ = *s1++ ) ;</a:t>
            </a:r>
          </a:p>
          <a:p>
            <a:pPr marL="457200" lvl="1"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r>
              <a:rPr kumimoji="1" lang="zh-CN" altLang="en-US" sz="2400" b="1">
                <a:solidFill>
                  <a:schemeClr val="tx2"/>
                </a:solidFill>
                <a:latin typeface="幼圆" pitchFamily="49" charset="-122"/>
                <a:ea typeface="幼圆" pitchFamily="49" charset="-122"/>
              </a:rPr>
              <a:t>函数 </a:t>
            </a:r>
            <a:r>
              <a:rPr kumimoji="1" lang="en-US" altLang="zh-CN" sz="2400" b="1">
                <a:solidFill>
                  <a:schemeClr val="tx2"/>
                </a:solidFill>
                <a:latin typeface="幼圆" pitchFamily="49" charset="-122"/>
                <a:ea typeface="幼圆" pitchFamily="49" charset="-122"/>
              </a:rPr>
              <a:t>abcd </a:t>
            </a:r>
            <a:r>
              <a:rPr kumimoji="1" lang="zh-CN" altLang="en-US" sz="2400" b="1">
                <a:solidFill>
                  <a:schemeClr val="tx2"/>
                </a:solidFill>
                <a:latin typeface="幼圆" pitchFamily="49" charset="-122"/>
                <a:ea typeface="幼圆" pitchFamily="49" charset="-122"/>
              </a:rPr>
              <a:t>的功能是</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A) </a:t>
            </a:r>
            <a:r>
              <a:rPr kumimoji="1" lang="zh-CN" altLang="en-US" sz="2400" b="1">
                <a:solidFill>
                  <a:schemeClr val="tx2"/>
                </a:solidFill>
                <a:latin typeface="幼圆" pitchFamily="49" charset="-122"/>
                <a:ea typeface="幼圆" pitchFamily="49" charset="-122"/>
              </a:rPr>
              <a:t>串复制   </a:t>
            </a:r>
            <a:r>
              <a:rPr kumimoji="1" lang="en-US" altLang="zh-CN" sz="2400" b="1">
                <a:solidFill>
                  <a:schemeClr val="tx2"/>
                </a:solidFill>
                <a:latin typeface="幼圆" pitchFamily="49" charset="-122"/>
                <a:ea typeface="幼圆" pitchFamily="49" charset="-122"/>
              </a:rPr>
              <a:t>B) </a:t>
            </a:r>
            <a:r>
              <a:rPr kumimoji="1" lang="zh-CN" altLang="en-US" sz="2400" b="1">
                <a:solidFill>
                  <a:schemeClr val="tx2"/>
                </a:solidFill>
                <a:latin typeface="幼圆" pitchFamily="49" charset="-122"/>
                <a:ea typeface="幼圆" pitchFamily="49" charset="-122"/>
              </a:rPr>
              <a:t>求串长  </a:t>
            </a:r>
            <a:r>
              <a:rPr kumimoji="1" lang="en-US" altLang="zh-CN" sz="2400" b="1">
                <a:solidFill>
                  <a:schemeClr val="tx2"/>
                </a:solidFill>
                <a:latin typeface="幼圆" pitchFamily="49" charset="-122"/>
                <a:ea typeface="幼圆" pitchFamily="49" charset="-122"/>
              </a:rPr>
              <a:t>C) </a:t>
            </a:r>
            <a:r>
              <a:rPr kumimoji="1" lang="zh-CN" altLang="en-US" sz="2400" b="1">
                <a:solidFill>
                  <a:schemeClr val="tx2"/>
                </a:solidFill>
                <a:latin typeface="幼圆" pitchFamily="49" charset="-122"/>
                <a:ea typeface="幼圆" pitchFamily="49" charset="-122"/>
              </a:rPr>
              <a:t>串比较   </a:t>
            </a:r>
            <a:r>
              <a:rPr kumimoji="1" lang="en-US" altLang="zh-CN" sz="2400" b="1">
                <a:solidFill>
                  <a:schemeClr val="tx2"/>
                </a:solidFill>
                <a:latin typeface="幼圆" pitchFamily="49" charset="-122"/>
                <a:ea typeface="幼圆" pitchFamily="49" charset="-122"/>
              </a:rPr>
              <a:t>D) </a:t>
            </a:r>
            <a:r>
              <a:rPr kumimoji="1" lang="zh-CN" altLang="en-US" sz="2400" b="1">
                <a:solidFill>
                  <a:schemeClr val="tx2"/>
                </a:solidFill>
                <a:latin typeface="幼圆" pitchFamily="49" charset="-122"/>
                <a:ea typeface="幼圆" pitchFamily="49" charset="-122"/>
              </a:rPr>
              <a:t>串反向</a:t>
            </a:r>
          </a:p>
          <a:p>
            <a:pPr marL="0" indent="0" eaLnBrk="1" hangingPunct="1">
              <a:buClr>
                <a:schemeClr val="tx1"/>
              </a:buClr>
              <a:buSzPct val="60000"/>
              <a:buFont typeface="宋体" pitchFamily="2" charset="-122"/>
              <a:buNone/>
            </a:pPr>
            <a:r>
              <a:rPr kumimoji="1" lang="zh-CN" altLang="en-US" sz="2400" b="1">
                <a:solidFill>
                  <a:srgbClr val="FF0000"/>
                </a:solidFill>
                <a:latin typeface="幼圆" pitchFamily="49" charset="-122"/>
                <a:ea typeface="幼圆" pitchFamily="49" charset="-122"/>
              </a:rPr>
              <a:t>　答案：</a:t>
            </a:r>
            <a:r>
              <a:rPr kumimoji="1" lang="en-US" altLang="zh-CN" sz="2400" b="1">
                <a:solidFill>
                  <a:srgbClr val="FF0000"/>
                </a:solidFill>
                <a:latin typeface="幼圆" pitchFamily="49" charset="-122"/>
                <a:ea typeface="幼圆" pitchFamily="49" charset="-122"/>
              </a:rPr>
              <a:t>A</a:t>
            </a:r>
            <a:r>
              <a:rPr kumimoji="1" lang="en-US" altLang="zh-CN" sz="2400" b="1">
                <a:solidFill>
                  <a:srgbClr val="FF0000"/>
                </a:solidFill>
                <a:latin typeface="Arial" pitchFamily="34" charset="0"/>
                <a:ea typeface="幼圆" pitchFamily="49" charset="-122"/>
              </a:rPr>
              <a:t> </a:t>
            </a:r>
            <a:endParaRPr kumimoji="1" lang="en-US" altLang="zh-CN" sz="2400" b="1">
              <a:solidFill>
                <a:srgbClr val="FF0000"/>
              </a:solidFill>
              <a:latin typeface="幼圆" pitchFamily="49" charset="-122"/>
              <a:ea typeface="幼圆" pitchFamily="49" charset="-122"/>
            </a:endParaRPr>
          </a:p>
        </p:txBody>
      </p:sp>
      <p:grpSp>
        <p:nvGrpSpPr>
          <p:cNvPr id="172035" name="Group 5"/>
          <p:cNvGrpSpPr>
            <a:grpSpLocks/>
          </p:cNvGrpSpPr>
          <p:nvPr/>
        </p:nvGrpSpPr>
        <p:grpSpPr bwMode="auto">
          <a:xfrm>
            <a:off x="2819400" y="4572000"/>
            <a:ext cx="3721100" cy="1762125"/>
            <a:chOff x="1557" y="2301"/>
            <a:chExt cx="2344" cy="1110"/>
          </a:xfrm>
        </p:grpSpPr>
        <p:sp>
          <p:nvSpPr>
            <p:cNvPr id="172037" name="Freeform 6"/>
            <p:cNvSpPr>
              <a:spLocks/>
            </p:cNvSpPr>
            <p:nvPr/>
          </p:nvSpPr>
          <p:spPr bwMode="auto">
            <a:xfrm>
              <a:off x="1557" y="3211"/>
              <a:ext cx="2344" cy="200"/>
            </a:xfrm>
            <a:custGeom>
              <a:avLst/>
              <a:gdLst>
                <a:gd name="T0" fmla="*/ 1 w 4688"/>
                <a:gd name="T1" fmla="*/ 1 h 399"/>
                <a:gd name="T2" fmla="*/ 0 w 4688"/>
                <a:gd name="T3" fmla="*/ 2 h 399"/>
                <a:gd name="T4" fmla="*/ 0 w 4688"/>
                <a:gd name="T5" fmla="*/ 2 h 399"/>
                <a:gd name="T6" fmla="*/ 19 w 4688"/>
                <a:gd name="T7" fmla="*/ 2 h 399"/>
                <a:gd name="T8" fmla="*/ 19 w 4688"/>
                <a:gd name="T9" fmla="*/ 2 h 399"/>
                <a:gd name="T10" fmla="*/ 18 w 4688"/>
                <a:gd name="T11" fmla="*/ 1 h 399"/>
                <a:gd name="T12" fmla="*/ 18 w 4688"/>
                <a:gd name="T13" fmla="*/ 0 h 399"/>
                <a:gd name="T14" fmla="*/ 13 w 4688"/>
                <a:gd name="T15" fmla="*/ 0 h 399"/>
                <a:gd name="T16" fmla="*/ 13 w 4688"/>
                <a:gd name="T17" fmla="*/ 0 h 399"/>
                <a:gd name="T18" fmla="*/ 11 w 4688"/>
                <a:gd name="T19" fmla="*/ 0 h 399"/>
                <a:gd name="T20" fmla="*/ 9 w 4688"/>
                <a:gd name="T21" fmla="*/ 0 h 399"/>
                <a:gd name="T22" fmla="*/ 5 w 4688"/>
                <a:gd name="T23" fmla="*/ 0 h 399"/>
                <a:gd name="T24" fmla="*/ 2 w 4688"/>
                <a:gd name="T25" fmla="*/ 0 h 399"/>
                <a:gd name="T26" fmla="*/ 1 w 4688"/>
                <a:gd name="T27" fmla="*/ 1 h 39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688"/>
                <a:gd name="T43" fmla="*/ 0 h 399"/>
                <a:gd name="T44" fmla="*/ 4688 w 4688"/>
                <a:gd name="T45" fmla="*/ 399 h 39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688" h="399">
                  <a:moveTo>
                    <a:pt x="65" y="199"/>
                  </a:moveTo>
                  <a:lnTo>
                    <a:pt x="0" y="298"/>
                  </a:lnTo>
                  <a:lnTo>
                    <a:pt x="0" y="399"/>
                  </a:lnTo>
                  <a:lnTo>
                    <a:pt x="4688" y="399"/>
                  </a:lnTo>
                  <a:lnTo>
                    <a:pt x="4688" y="298"/>
                  </a:lnTo>
                  <a:lnTo>
                    <a:pt x="4573" y="119"/>
                  </a:lnTo>
                  <a:lnTo>
                    <a:pt x="4358" y="0"/>
                  </a:lnTo>
                  <a:lnTo>
                    <a:pt x="3289" y="0"/>
                  </a:lnTo>
                  <a:lnTo>
                    <a:pt x="3206" y="0"/>
                  </a:lnTo>
                  <a:lnTo>
                    <a:pt x="2697" y="0"/>
                  </a:lnTo>
                  <a:lnTo>
                    <a:pt x="2121" y="0"/>
                  </a:lnTo>
                  <a:lnTo>
                    <a:pt x="1103" y="0"/>
                  </a:lnTo>
                  <a:lnTo>
                    <a:pt x="377" y="0"/>
                  </a:lnTo>
                  <a:lnTo>
                    <a:pt x="65" y="1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038" name="Freeform 7"/>
            <p:cNvSpPr>
              <a:spLocks/>
            </p:cNvSpPr>
            <p:nvPr/>
          </p:nvSpPr>
          <p:spPr bwMode="auto">
            <a:xfrm>
              <a:off x="1557" y="3211"/>
              <a:ext cx="2344" cy="200"/>
            </a:xfrm>
            <a:custGeom>
              <a:avLst/>
              <a:gdLst>
                <a:gd name="T0" fmla="*/ 1 w 4688"/>
                <a:gd name="T1" fmla="*/ 1 h 399"/>
                <a:gd name="T2" fmla="*/ 0 w 4688"/>
                <a:gd name="T3" fmla="*/ 2 h 399"/>
                <a:gd name="T4" fmla="*/ 0 w 4688"/>
                <a:gd name="T5" fmla="*/ 2 h 399"/>
                <a:gd name="T6" fmla="*/ 19 w 4688"/>
                <a:gd name="T7" fmla="*/ 2 h 399"/>
                <a:gd name="T8" fmla="*/ 19 w 4688"/>
                <a:gd name="T9" fmla="*/ 2 h 399"/>
                <a:gd name="T10" fmla="*/ 18 w 4688"/>
                <a:gd name="T11" fmla="*/ 1 h 399"/>
                <a:gd name="T12" fmla="*/ 18 w 4688"/>
                <a:gd name="T13" fmla="*/ 0 h 399"/>
                <a:gd name="T14" fmla="*/ 13 w 4688"/>
                <a:gd name="T15" fmla="*/ 0 h 399"/>
                <a:gd name="T16" fmla="*/ 13 w 4688"/>
                <a:gd name="T17" fmla="*/ 0 h 399"/>
                <a:gd name="T18" fmla="*/ 11 w 4688"/>
                <a:gd name="T19" fmla="*/ 0 h 399"/>
                <a:gd name="T20" fmla="*/ 9 w 4688"/>
                <a:gd name="T21" fmla="*/ 0 h 399"/>
                <a:gd name="T22" fmla="*/ 5 w 4688"/>
                <a:gd name="T23" fmla="*/ 0 h 399"/>
                <a:gd name="T24" fmla="*/ 2 w 4688"/>
                <a:gd name="T25" fmla="*/ 0 h 399"/>
                <a:gd name="T26" fmla="*/ 1 w 4688"/>
                <a:gd name="T27" fmla="*/ 1 h 39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688"/>
                <a:gd name="T43" fmla="*/ 0 h 399"/>
                <a:gd name="T44" fmla="*/ 4688 w 4688"/>
                <a:gd name="T45" fmla="*/ 399 h 39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688" h="399">
                  <a:moveTo>
                    <a:pt x="65" y="199"/>
                  </a:moveTo>
                  <a:lnTo>
                    <a:pt x="0" y="298"/>
                  </a:lnTo>
                  <a:lnTo>
                    <a:pt x="0" y="399"/>
                  </a:lnTo>
                  <a:lnTo>
                    <a:pt x="4688" y="399"/>
                  </a:lnTo>
                  <a:lnTo>
                    <a:pt x="4688" y="298"/>
                  </a:lnTo>
                  <a:lnTo>
                    <a:pt x="4573" y="119"/>
                  </a:lnTo>
                  <a:lnTo>
                    <a:pt x="4358" y="0"/>
                  </a:lnTo>
                  <a:lnTo>
                    <a:pt x="3289" y="0"/>
                  </a:lnTo>
                  <a:lnTo>
                    <a:pt x="3206" y="0"/>
                  </a:lnTo>
                  <a:lnTo>
                    <a:pt x="2697" y="0"/>
                  </a:lnTo>
                  <a:lnTo>
                    <a:pt x="2121" y="0"/>
                  </a:lnTo>
                  <a:lnTo>
                    <a:pt x="1103" y="0"/>
                  </a:lnTo>
                  <a:lnTo>
                    <a:pt x="377" y="0"/>
                  </a:lnTo>
                  <a:lnTo>
                    <a:pt x="65" y="19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39" name="Freeform 8"/>
            <p:cNvSpPr>
              <a:spLocks/>
            </p:cNvSpPr>
            <p:nvPr/>
          </p:nvSpPr>
          <p:spPr bwMode="auto">
            <a:xfrm>
              <a:off x="2946" y="2751"/>
              <a:ext cx="148" cy="270"/>
            </a:xfrm>
            <a:custGeom>
              <a:avLst/>
              <a:gdLst>
                <a:gd name="T0" fmla="*/ 1 w 294"/>
                <a:gd name="T1" fmla="*/ 3 h 539"/>
                <a:gd name="T2" fmla="*/ 0 w 294"/>
                <a:gd name="T3" fmla="*/ 3 h 539"/>
                <a:gd name="T4" fmla="*/ 0 w 294"/>
                <a:gd name="T5" fmla="*/ 0 h 539"/>
                <a:gd name="T6" fmla="*/ 2 w 294"/>
                <a:gd name="T7" fmla="*/ 0 h 539"/>
                <a:gd name="T8" fmla="*/ 1 w 294"/>
                <a:gd name="T9" fmla="*/ 3 h 539"/>
                <a:gd name="T10" fmla="*/ 0 60000 65536"/>
                <a:gd name="T11" fmla="*/ 0 60000 65536"/>
                <a:gd name="T12" fmla="*/ 0 60000 65536"/>
                <a:gd name="T13" fmla="*/ 0 60000 65536"/>
                <a:gd name="T14" fmla="*/ 0 60000 65536"/>
                <a:gd name="T15" fmla="*/ 0 w 294"/>
                <a:gd name="T16" fmla="*/ 0 h 539"/>
                <a:gd name="T17" fmla="*/ 294 w 294"/>
                <a:gd name="T18" fmla="*/ 539 h 539"/>
              </a:gdLst>
              <a:ahLst/>
              <a:cxnLst>
                <a:cxn ang="T10">
                  <a:pos x="T0" y="T1"/>
                </a:cxn>
                <a:cxn ang="T11">
                  <a:pos x="T2" y="T3"/>
                </a:cxn>
                <a:cxn ang="T12">
                  <a:pos x="T4" y="T5"/>
                </a:cxn>
                <a:cxn ang="T13">
                  <a:pos x="T6" y="T7"/>
                </a:cxn>
                <a:cxn ang="T14">
                  <a:pos x="T8" y="T9"/>
                </a:cxn>
              </a:cxnLst>
              <a:rect l="T15" t="T16" r="T17" b="T18"/>
              <a:pathLst>
                <a:path w="294" h="539">
                  <a:moveTo>
                    <a:pt x="246" y="539"/>
                  </a:moveTo>
                  <a:lnTo>
                    <a:pt x="0" y="539"/>
                  </a:lnTo>
                  <a:lnTo>
                    <a:pt x="0" y="0"/>
                  </a:lnTo>
                  <a:lnTo>
                    <a:pt x="294" y="0"/>
                  </a:lnTo>
                  <a:lnTo>
                    <a:pt x="246" y="5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040" name="Freeform 9"/>
            <p:cNvSpPr>
              <a:spLocks/>
            </p:cNvSpPr>
            <p:nvPr/>
          </p:nvSpPr>
          <p:spPr bwMode="auto">
            <a:xfrm>
              <a:off x="2946" y="2751"/>
              <a:ext cx="148" cy="270"/>
            </a:xfrm>
            <a:custGeom>
              <a:avLst/>
              <a:gdLst>
                <a:gd name="T0" fmla="*/ 1 w 294"/>
                <a:gd name="T1" fmla="*/ 3 h 539"/>
                <a:gd name="T2" fmla="*/ 0 w 294"/>
                <a:gd name="T3" fmla="*/ 3 h 539"/>
                <a:gd name="T4" fmla="*/ 0 w 294"/>
                <a:gd name="T5" fmla="*/ 0 h 539"/>
                <a:gd name="T6" fmla="*/ 2 w 294"/>
                <a:gd name="T7" fmla="*/ 0 h 539"/>
                <a:gd name="T8" fmla="*/ 1 w 294"/>
                <a:gd name="T9" fmla="*/ 3 h 539"/>
                <a:gd name="T10" fmla="*/ 0 60000 65536"/>
                <a:gd name="T11" fmla="*/ 0 60000 65536"/>
                <a:gd name="T12" fmla="*/ 0 60000 65536"/>
                <a:gd name="T13" fmla="*/ 0 60000 65536"/>
                <a:gd name="T14" fmla="*/ 0 60000 65536"/>
                <a:gd name="T15" fmla="*/ 0 w 294"/>
                <a:gd name="T16" fmla="*/ 0 h 539"/>
                <a:gd name="T17" fmla="*/ 294 w 294"/>
                <a:gd name="T18" fmla="*/ 539 h 539"/>
              </a:gdLst>
              <a:ahLst/>
              <a:cxnLst>
                <a:cxn ang="T10">
                  <a:pos x="T0" y="T1"/>
                </a:cxn>
                <a:cxn ang="T11">
                  <a:pos x="T2" y="T3"/>
                </a:cxn>
                <a:cxn ang="T12">
                  <a:pos x="T4" y="T5"/>
                </a:cxn>
                <a:cxn ang="T13">
                  <a:pos x="T6" y="T7"/>
                </a:cxn>
                <a:cxn ang="T14">
                  <a:pos x="T8" y="T9"/>
                </a:cxn>
              </a:cxnLst>
              <a:rect l="T15" t="T16" r="T17" b="T18"/>
              <a:pathLst>
                <a:path w="294" h="539">
                  <a:moveTo>
                    <a:pt x="246" y="539"/>
                  </a:moveTo>
                  <a:lnTo>
                    <a:pt x="0" y="539"/>
                  </a:lnTo>
                  <a:lnTo>
                    <a:pt x="0" y="0"/>
                  </a:lnTo>
                  <a:lnTo>
                    <a:pt x="294" y="0"/>
                  </a:lnTo>
                  <a:lnTo>
                    <a:pt x="246" y="53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41" name="Freeform 10"/>
            <p:cNvSpPr>
              <a:spLocks/>
            </p:cNvSpPr>
            <p:nvPr/>
          </p:nvSpPr>
          <p:spPr bwMode="auto">
            <a:xfrm>
              <a:off x="2782" y="2652"/>
              <a:ext cx="197" cy="569"/>
            </a:xfrm>
            <a:custGeom>
              <a:avLst/>
              <a:gdLst>
                <a:gd name="T0" fmla="*/ 0 w 394"/>
                <a:gd name="T1" fmla="*/ 5 h 1138"/>
                <a:gd name="T2" fmla="*/ 0 w 394"/>
                <a:gd name="T3" fmla="*/ 5 h 1138"/>
                <a:gd name="T4" fmla="*/ 0 w 394"/>
                <a:gd name="T5" fmla="*/ 5 h 1138"/>
                <a:gd name="T6" fmla="*/ 0 w 394"/>
                <a:gd name="T7" fmla="*/ 5 h 1138"/>
                <a:gd name="T8" fmla="*/ 1 w 394"/>
                <a:gd name="T9" fmla="*/ 4 h 1138"/>
                <a:gd name="T10" fmla="*/ 1 w 394"/>
                <a:gd name="T11" fmla="*/ 4 h 1138"/>
                <a:gd name="T12" fmla="*/ 1 w 394"/>
                <a:gd name="T13" fmla="*/ 4 h 1138"/>
                <a:gd name="T14" fmla="*/ 1 w 394"/>
                <a:gd name="T15" fmla="*/ 3 h 1138"/>
                <a:gd name="T16" fmla="*/ 1 w 394"/>
                <a:gd name="T17" fmla="*/ 3 h 1138"/>
                <a:gd name="T18" fmla="*/ 1 w 394"/>
                <a:gd name="T19" fmla="*/ 3 h 1138"/>
                <a:gd name="T20" fmla="*/ 1 w 394"/>
                <a:gd name="T21" fmla="*/ 3 h 1138"/>
                <a:gd name="T22" fmla="*/ 1 w 394"/>
                <a:gd name="T23" fmla="*/ 2 h 1138"/>
                <a:gd name="T24" fmla="*/ 1 w 394"/>
                <a:gd name="T25" fmla="*/ 2 h 1138"/>
                <a:gd name="T26" fmla="*/ 1 w 394"/>
                <a:gd name="T27" fmla="*/ 2 h 1138"/>
                <a:gd name="T28" fmla="*/ 1 w 394"/>
                <a:gd name="T29" fmla="*/ 1 h 1138"/>
                <a:gd name="T30" fmla="*/ 1 w 394"/>
                <a:gd name="T31" fmla="*/ 1 h 1138"/>
                <a:gd name="T32" fmla="*/ 1 w 394"/>
                <a:gd name="T33" fmla="*/ 1 h 1138"/>
                <a:gd name="T34" fmla="*/ 1 w 394"/>
                <a:gd name="T35" fmla="*/ 1 h 1138"/>
                <a:gd name="T36" fmla="*/ 1 w 394"/>
                <a:gd name="T37" fmla="*/ 1 h 1138"/>
                <a:gd name="T38" fmla="*/ 1 w 394"/>
                <a:gd name="T39" fmla="*/ 1 h 1138"/>
                <a:gd name="T40" fmla="*/ 1 w 394"/>
                <a:gd name="T41" fmla="*/ 1 h 1138"/>
                <a:gd name="T42" fmla="*/ 2 w 394"/>
                <a:gd name="T43" fmla="*/ 1 h 1138"/>
                <a:gd name="T44" fmla="*/ 2 w 394"/>
                <a:gd name="T45" fmla="*/ 0 h 1138"/>
                <a:gd name="T46" fmla="*/ 2 w 394"/>
                <a:gd name="T47" fmla="*/ 1 h 1138"/>
                <a:gd name="T48" fmla="*/ 2 w 394"/>
                <a:gd name="T49" fmla="*/ 1 h 1138"/>
                <a:gd name="T50" fmla="*/ 2 w 394"/>
                <a:gd name="T51" fmla="*/ 1 h 1138"/>
                <a:gd name="T52" fmla="*/ 2 w 394"/>
                <a:gd name="T53" fmla="*/ 1 h 1138"/>
                <a:gd name="T54" fmla="*/ 2 w 394"/>
                <a:gd name="T55" fmla="*/ 2 h 1138"/>
                <a:gd name="T56" fmla="*/ 2 w 394"/>
                <a:gd name="T57" fmla="*/ 2 h 1138"/>
                <a:gd name="T58" fmla="*/ 2 w 394"/>
                <a:gd name="T59" fmla="*/ 2 h 1138"/>
                <a:gd name="T60" fmla="*/ 2 w 394"/>
                <a:gd name="T61" fmla="*/ 2 h 1138"/>
                <a:gd name="T62" fmla="*/ 2 w 394"/>
                <a:gd name="T63" fmla="*/ 3 h 1138"/>
                <a:gd name="T64" fmla="*/ 2 w 394"/>
                <a:gd name="T65" fmla="*/ 3 h 1138"/>
                <a:gd name="T66" fmla="*/ 2 w 394"/>
                <a:gd name="T67" fmla="*/ 3 h 1138"/>
                <a:gd name="T68" fmla="*/ 2 w 394"/>
                <a:gd name="T69" fmla="*/ 3 h 1138"/>
                <a:gd name="T70" fmla="*/ 1 w 394"/>
                <a:gd name="T71" fmla="*/ 4 h 1138"/>
                <a:gd name="T72" fmla="*/ 1 w 394"/>
                <a:gd name="T73" fmla="*/ 4 h 1138"/>
                <a:gd name="T74" fmla="*/ 2 w 394"/>
                <a:gd name="T75" fmla="*/ 5 h 1138"/>
                <a:gd name="T76" fmla="*/ 1 w 394"/>
                <a:gd name="T77" fmla="*/ 5 h 1138"/>
                <a:gd name="T78" fmla="*/ 0 w 394"/>
                <a:gd name="T79" fmla="*/ 5 h 113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94"/>
                <a:gd name="T121" fmla="*/ 0 h 1138"/>
                <a:gd name="T122" fmla="*/ 394 w 394"/>
                <a:gd name="T123" fmla="*/ 1138 h 113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94" h="1138">
                  <a:moveTo>
                    <a:pt x="0" y="1138"/>
                  </a:moveTo>
                  <a:lnTo>
                    <a:pt x="0" y="1098"/>
                  </a:lnTo>
                  <a:lnTo>
                    <a:pt x="0" y="1059"/>
                  </a:lnTo>
                  <a:lnTo>
                    <a:pt x="0" y="1039"/>
                  </a:lnTo>
                  <a:lnTo>
                    <a:pt x="16" y="959"/>
                  </a:lnTo>
                  <a:lnTo>
                    <a:pt x="31" y="900"/>
                  </a:lnTo>
                  <a:lnTo>
                    <a:pt x="31" y="839"/>
                  </a:lnTo>
                  <a:lnTo>
                    <a:pt x="48" y="760"/>
                  </a:lnTo>
                  <a:lnTo>
                    <a:pt x="66" y="720"/>
                  </a:lnTo>
                  <a:lnTo>
                    <a:pt x="48" y="600"/>
                  </a:lnTo>
                  <a:lnTo>
                    <a:pt x="48" y="539"/>
                  </a:lnTo>
                  <a:lnTo>
                    <a:pt x="48" y="419"/>
                  </a:lnTo>
                  <a:lnTo>
                    <a:pt x="48" y="359"/>
                  </a:lnTo>
                  <a:lnTo>
                    <a:pt x="66" y="279"/>
                  </a:lnTo>
                  <a:lnTo>
                    <a:pt x="66" y="239"/>
                  </a:lnTo>
                  <a:lnTo>
                    <a:pt x="66" y="180"/>
                  </a:lnTo>
                  <a:lnTo>
                    <a:pt x="82" y="160"/>
                  </a:lnTo>
                  <a:lnTo>
                    <a:pt x="82" y="139"/>
                  </a:lnTo>
                  <a:lnTo>
                    <a:pt x="98" y="120"/>
                  </a:lnTo>
                  <a:lnTo>
                    <a:pt x="115" y="99"/>
                  </a:lnTo>
                  <a:lnTo>
                    <a:pt x="181" y="60"/>
                  </a:lnTo>
                  <a:lnTo>
                    <a:pt x="262" y="20"/>
                  </a:lnTo>
                  <a:lnTo>
                    <a:pt x="328" y="0"/>
                  </a:lnTo>
                  <a:lnTo>
                    <a:pt x="328" y="39"/>
                  </a:lnTo>
                  <a:lnTo>
                    <a:pt x="312" y="99"/>
                  </a:lnTo>
                  <a:lnTo>
                    <a:pt x="312" y="180"/>
                  </a:lnTo>
                  <a:lnTo>
                    <a:pt x="312" y="239"/>
                  </a:lnTo>
                  <a:lnTo>
                    <a:pt x="312" y="300"/>
                  </a:lnTo>
                  <a:lnTo>
                    <a:pt x="312" y="359"/>
                  </a:lnTo>
                  <a:lnTo>
                    <a:pt x="345" y="419"/>
                  </a:lnTo>
                  <a:lnTo>
                    <a:pt x="362" y="480"/>
                  </a:lnTo>
                  <a:lnTo>
                    <a:pt x="362" y="519"/>
                  </a:lnTo>
                  <a:lnTo>
                    <a:pt x="362" y="539"/>
                  </a:lnTo>
                  <a:lnTo>
                    <a:pt x="377" y="600"/>
                  </a:lnTo>
                  <a:lnTo>
                    <a:pt x="394" y="679"/>
                  </a:lnTo>
                  <a:lnTo>
                    <a:pt x="181" y="919"/>
                  </a:lnTo>
                  <a:lnTo>
                    <a:pt x="230" y="959"/>
                  </a:lnTo>
                  <a:lnTo>
                    <a:pt x="328" y="1079"/>
                  </a:lnTo>
                  <a:lnTo>
                    <a:pt x="246" y="1138"/>
                  </a:lnTo>
                  <a:lnTo>
                    <a:pt x="0" y="11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042" name="Freeform 11"/>
            <p:cNvSpPr>
              <a:spLocks/>
            </p:cNvSpPr>
            <p:nvPr/>
          </p:nvSpPr>
          <p:spPr bwMode="auto">
            <a:xfrm>
              <a:off x="2782" y="2652"/>
              <a:ext cx="197" cy="569"/>
            </a:xfrm>
            <a:custGeom>
              <a:avLst/>
              <a:gdLst>
                <a:gd name="T0" fmla="*/ 0 w 394"/>
                <a:gd name="T1" fmla="*/ 5 h 1138"/>
                <a:gd name="T2" fmla="*/ 0 w 394"/>
                <a:gd name="T3" fmla="*/ 5 h 1138"/>
                <a:gd name="T4" fmla="*/ 0 w 394"/>
                <a:gd name="T5" fmla="*/ 5 h 1138"/>
                <a:gd name="T6" fmla="*/ 0 w 394"/>
                <a:gd name="T7" fmla="*/ 5 h 1138"/>
                <a:gd name="T8" fmla="*/ 1 w 394"/>
                <a:gd name="T9" fmla="*/ 4 h 1138"/>
                <a:gd name="T10" fmla="*/ 1 w 394"/>
                <a:gd name="T11" fmla="*/ 4 h 1138"/>
                <a:gd name="T12" fmla="*/ 1 w 394"/>
                <a:gd name="T13" fmla="*/ 4 h 1138"/>
                <a:gd name="T14" fmla="*/ 1 w 394"/>
                <a:gd name="T15" fmla="*/ 3 h 1138"/>
                <a:gd name="T16" fmla="*/ 1 w 394"/>
                <a:gd name="T17" fmla="*/ 3 h 1138"/>
                <a:gd name="T18" fmla="*/ 1 w 394"/>
                <a:gd name="T19" fmla="*/ 3 h 1138"/>
                <a:gd name="T20" fmla="*/ 1 w 394"/>
                <a:gd name="T21" fmla="*/ 3 h 1138"/>
                <a:gd name="T22" fmla="*/ 1 w 394"/>
                <a:gd name="T23" fmla="*/ 2 h 1138"/>
                <a:gd name="T24" fmla="*/ 1 w 394"/>
                <a:gd name="T25" fmla="*/ 2 h 1138"/>
                <a:gd name="T26" fmla="*/ 1 w 394"/>
                <a:gd name="T27" fmla="*/ 2 h 1138"/>
                <a:gd name="T28" fmla="*/ 1 w 394"/>
                <a:gd name="T29" fmla="*/ 1 h 1138"/>
                <a:gd name="T30" fmla="*/ 1 w 394"/>
                <a:gd name="T31" fmla="*/ 1 h 1138"/>
                <a:gd name="T32" fmla="*/ 1 w 394"/>
                <a:gd name="T33" fmla="*/ 1 h 1138"/>
                <a:gd name="T34" fmla="*/ 1 w 394"/>
                <a:gd name="T35" fmla="*/ 1 h 1138"/>
                <a:gd name="T36" fmla="*/ 1 w 394"/>
                <a:gd name="T37" fmla="*/ 1 h 1138"/>
                <a:gd name="T38" fmla="*/ 1 w 394"/>
                <a:gd name="T39" fmla="*/ 1 h 1138"/>
                <a:gd name="T40" fmla="*/ 1 w 394"/>
                <a:gd name="T41" fmla="*/ 1 h 1138"/>
                <a:gd name="T42" fmla="*/ 2 w 394"/>
                <a:gd name="T43" fmla="*/ 1 h 1138"/>
                <a:gd name="T44" fmla="*/ 2 w 394"/>
                <a:gd name="T45" fmla="*/ 0 h 1138"/>
                <a:gd name="T46" fmla="*/ 2 w 394"/>
                <a:gd name="T47" fmla="*/ 1 h 1138"/>
                <a:gd name="T48" fmla="*/ 2 w 394"/>
                <a:gd name="T49" fmla="*/ 1 h 1138"/>
                <a:gd name="T50" fmla="*/ 2 w 394"/>
                <a:gd name="T51" fmla="*/ 1 h 1138"/>
                <a:gd name="T52" fmla="*/ 2 w 394"/>
                <a:gd name="T53" fmla="*/ 1 h 1138"/>
                <a:gd name="T54" fmla="*/ 2 w 394"/>
                <a:gd name="T55" fmla="*/ 2 h 1138"/>
                <a:gd name="T56" fmla="*/ 2 w 394"/>
                <a:gd name="T57" fmla="*/ 2 h 1138"/>
                <a:gd name="T58" fmla="*/ 2 w 394"/>
                <a:gd name="T59" fmla="*/ 2 h 1138"/>
                <a:gd name="T60" fmla="*/ 2 w 394"/>
                <a:gd name="T61" fmla="*/ 2 h 1138"/>
                <a:gd name="T62" fmla="*/ 2 w 394"/>
                <a:gd name="T63" fmla="*/ 3 h 1138"/>
                <a:gd name="T64" fmla="*/ 2 w 394"/>
                <a:gd name="T65" fmla="*/ 3 h 1138"/>
                <a:gd name="T66" fmla="*/ 2 w 394"/>
                <a:gd name="T67" fmla="*/ 3 h 1138"/>
                <a:gd name="T68" fmla="*/ 2 w 394"/>
                <a:gd name="T69" fmla="*/ 3 h 1138"/>
                <a:gd name="T70" fmla="*/ 1 w 394"/>
                <a:gd name="T71" fmla="*/ 4 h 1138"/>
                <a:gd name="T72" fmla="*/ 1 w 394"/>
                <a:gd name="T73" fmla="*/ 4 h 1138"/>
                <a:gd name="T74" fmla="*/ 2 w 394"/>
                <a:gd name="T75" fmla="*/ 5 h 1138"/>
                <a:gd name="T76" fmla="*/ 1 w 394"/>
                <a:gd name="T77" fmla="*/ 5 h 1138"/>
                <a:gd name="T78" fmla="*/ 0 w 394"/>
                <a:gd name="T79" fmla="*/ 5 h 113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94"/>
                <a:gd name="T121" fmla="*/ 0 h 1138"/>
                <a:gd name="T122" fmla="*/ 394 w 394"/>
                <a:gd name="T123" fmla="*/ 1138 h 113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94" h="1138">
                  <a:moveTo>
                    <a:pt x="0" y="1138"/>
                  </a:moveTo>
                  <a:lnTo>
                    <a:pt x="0" y="1098"/>
                  </a:lnTo>
                  <a:lnTo>
                    <a:pt x="0" y="1059"/>
                  </a:lnTo>
                  <a:lnTo>
                    <a:pt x="0" y="1039"/>
                  </a:lnTo>
                  <a:lnTo>
                    <a:pt x="16" y="959"/>
                  </a:lnTo>
                  <a:lnTo>
                    <a:pt x="31" y="900"/>
                  </a:lnTo>
                  <a:lnTo>
                    <a:pt x="31" y="839"/>
                  </a:lnTo>
                  <a:lnTo>
                    <a:pt x="48" y="760"/>
                  </a:lnTo>
                  <a:lnTo>
                    <a:pt x="66" y="720"/>
                  </a:lnTo>
                  <a:lnTo>
                    <a:pt x="48" y="600"/>
                  </a:lnTo>
                  <a:lnTo>
                    <a:pt x="48" y="539"/>
                  </a:lnTo>
                  <a:lnTo>
                    <a:pt x="48" y="419"/>
                  </a:lnTo>
                  <a:lnTo>
                    <a:pt x="48" y="359"/>
                  </a:lnTo>
                  <a:lnTo>
                    <a:pt x="66" y="279"/>
                  </a:lnTo>
                  <a:lnTo>
                    <a:pt x="66" y="239"/>
                  </a:lnTo>
                  <a:lnTo>
                    <a:pt x="66" y="180"/>
                  </a:lnTo>
                  <a:lnTo>
                    <a:pt x="82" y="160"/>
                  </a:lnTo>
                  <a:lnTo>
                    <a:pt x="82" y="139"/>
                  </a:lnTo>
                  <a:lnTo>
                    <a:pt x="98" y="120"/>
                  </a:lnTo>
                  <a:lnTo>
                    <a:pt x="115" y="99"/>
                  </a:lnTo>
                  <a:lnTo>
                    <a:pt x="181" y="60"/>
                  </a:lnTo>
                  <a:lnTo>
                    <a:pt x="262" y="20"/>
                  </a:lnTo>
                  <a:lnTo>
                    <a:pt x="328" y="0"/>
                  </a:lnTo>
                  <a:lnTo>
                    <a:pt x="328" y="39"/>
                  </a:lnTo>
                  <a:lnTo>
                    <a:pt x="312" y="99"/>
                  </a:lnTo>
                  <a:lnTo>
                    <a:pt x="312" y="180"/>
                  </a:lnTo>
                  <a:lnTo>
                    <a:pt x="312" y="239"/>
                  </a:lnTo>
                  <a:lnTo>
                    <a:pt x="312" y="300"/>
                  </a:lnTo>
                  <a:lnTo>
                    <a:pt x="312" y="359"/>
                  </a:lnTo>
                  <a:lnTo>
                    <a:pt x="345" y="419"/>
                  </a:lnTo>
                  <a:lnTo>
                    <a:pt x="362" y="480"/>
                  </a:lnTo>
                  <a:lnTo>
                    <a:pt x="362" y="519"/>
                  </a:lnTo>
                  <a:lnTo>
                    <a:pt x="362" y="539"/>
                  </a:lnTo>
                  <a:lnTo>
                    <a:pt x="377" y="600"/>
                  </a:lnTo>
                  <a:lnTo>
                    <a:pt x="394" y="679"/>
                  </a:lnTo>
                  <a:lnTo>
                    <a:pt x="181" y="919"/>
                  </a:lnTo>
                  <a:lnTo>
                    <a:pt x="230" y="959"/>
                  </a:lnTo>
                  <a:lnTo>
                    <a:pt x="328" y="1079"/>
                  </a:lnTo>
                  <a:lnTo>
                    <a:pt x="246" y="1138"/>
                  </a:lnTo>
                  <a:lnTo>
                    <a:pt x="0" y="113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43" name="Freeform 12"/>
            <p:cNvSpPr>
              <a:spLocks/>
            </p:cNvSpPr>
            <p:nvPr/>
          </p:nvSpPr>
          <p:spPr bwMode="auto">
            <a:xfrm>
              <a:off x="2937" y="2641"/>
              <a:ext cx="58" cy="340"/>
            </a:xfrm>
            <a:custGeom>
              <a:avLst/>
              <a:gdLst>
                <a:gd name="T0" fmla="*/ 1 w 115"/>
                <a:gd name="T1" fmla="*/ 3 h 679"/>
                <a:gd name="T2" fmla="*/ 1 w 115"/>
                <a:gd name="T3" fmla="*/ 3 h 679"/>
                <a:gd name="T4" fmla="*/ 1 w 115"/>
                <a:gd name="T5" fmla="*/ 2 h 679"/>
                <a:gd name="T6" fmla="*/ 0 w 115"/>
                <a:gd name="T7" fmla="*/ 2 h 679"/>
                <a:gd name="T8" fmla="*/ 0 w 115"/>
                <a:gd name="T9" fmla="*/ 2 h 679"/>
                <a:gd name="T10" fmla="*/ 0 w 115"/>
                <a:gd name="T11" fmla="*/ 2 h 679"/>
                <a:gd name="T12" fmla="*/ 0 w 115"/>
                <a:gd name="T13" fmla="*/ 1 h 679"/>
                <a:gd name="T14" fmla="*/ 0 w 115"/>
                <a:gd name="T15" fmla="*/ 1 h 679"/>
                <a:gd name="T16" fmla="*/ 0 w 115"/>
                <a:gd name="T17" fmla="*/ 1 h 679"/>
                <a:gd name="T18" fmla="*/ 1 w 115"/>
                <a:gd name="T19" fmla="*/ 1 h 679"/>
                <a:gd name="T20" fmla="*/ 1 w 115"/>
                <a:gd name="T21" fmla="*/ 1 h 679"/>
                <a:gd name="T22" fmla="*/ 1 w 115"/>
                <a:gd name="T23" fmla="*/ 0 h 679"/>
                <a:gd name="T24" fmla="*/ 1 w 115"/>
                <a:gd name="T25" fmla="*/ 1 h 679"/>
                <a:gd name="T26" fmla="*/ 1 w 115"/>
                <a:gd name="T27" fmla="*/ 1 h 679"/>
                <a:gd name="T28" fmla="*/ 1 w 115"/>
                <a:gd name="T29" fmla="*/ 1 h 679"/>
                <a:gd name="T30" fmla="*/ 1 w 115"/>
                <a:gd name="T31" fmla="*/ 2 h 679"/>
                <a:gd name="T32" fmla="*/ 1 w 115"/>
                <a:gd name="T33" fmla="*/ 3 h 679"/>
                <a:gd name="T34" fmla="*/ 1 w 115"/>
                <a:gd name="T35" fmla="*/ 3 h 67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5"/>
                <a:gd name="T55" fmla="*/ 0 h 679"/>
                <a:gd name="T56" fmla="*/ 115 w 115"/>
                <a:gd name="T57" fmla="*/ 679 h 67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5" h="679">
                  <a:moveTo>
                    <a:pt x="65" y="679"/>
                  </a:moveTo>
                  <a:lnTo>
                    <a:pt x="50" y="600"/>
                  </a:lnTo>
                  <a:lnTo>
                    <a:pt x="34" y="500"/>
                  </a:lnTo>
                  <a:lnTo>
                    <a:pt x="0" y="439"/>
                  </a:lnTo>
                  <a:lnTo>
                    <a:pt x="0" y="320"/>
                  </a:lnTo>
                  <a:lnTo>
                    <a:pt x="0" y="259"/>
                  </a:lnTo>
                  <a:lnTo>
                    <a:pt x="0" y="180"/>
                  </a:lnTo>
                  <a:lnTo>
                    <a:pt x="0" y="140"/>
                  </a:lnTo>
                  <a:lnTo>
                    <a:pt x="0" y="80"/>
                  </a:lnTo>
                  <a:lnTo>
                    <a:pt x="17" y="59"/>
                  </a:lnTo>
                  <a:lnTo>
                    <a:pt x="17" y="20"/>
                  </a:lnTo>
                  <a:lnTo>
                    <a:pt x="50" y="0"/>
                  </a:lnTo>
                  <a:lnTo>
                    <a:pt x="50" y="59"/>
                  </a:lnTo>
                  <a:lnTo>
                    <a:pt x="65" y="119"/>
                  </a:lnTo>
                  <a:lnTo>
                    <a:pt x="82" y="180"/>
                  </a:lnTo>
                  <a:lnTo>
                    <a:pt x="100" y="500"/>
                  </a:lnTo>
                  <a:lnTo>
                    <a:pt x="115" y="679"/>
                  </a:lnTo>
                  <a:lnTo>
                    <a:pt x="65" y="6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044" name="Freeform 13"/>
            <p:cNvSpPr>
              <a:spLocks/>
            </p:cNvSpPr>
            <p:nvPr/>
          </p:nvSpPr>
          <p:spPr bwMode="auto">
            <a:xfrm>
              <a:off x="2937" y="2641"/>
              <a:ext cx="58" cy="340"/>
            </a:xfrm>
            <a:custGeom>
              <a:avLst/>
              <a:gdLst>
                <a:gd name="T0" fmla="*/ 1 w 115"/>
                <a:gd name="T1" fmla="*/ 3 h 679"/>
                <a:gd name="T2" fmla="*/ 1 w 115"/>
                <a:gd name="T3" fmla="*/ 3 h 679"/>
                <a:gd name="T4" fmla="*/ 1 w 115"/>
                <a:gd name="T5" fmla="*/ 2 h 679"/>
                <a:gd name="T6" fmla="*/ 0 w 115"/>
                <a:gd name="T7" fmla="*/ 2 h 679"/>
                <a:gd name="T8" fmla="*/ 0 w 115"/>
                <a:gd name="T9" fmla="*/ 2 h 679"/>
                <a:gd name="T10" fmla="*/ 0 w 115"/>
                <a:gd name="T11" fmla="*/ 2 h 679"/>
                <a:gd name="T12" fmla="*/ 0 w 115"/>
                <a:gd name="T13" fmla="*/ 1 h 679"/>
                <a:gd name="T14" fmla="*/ 0 w 115"/>
                <a:gd name="T15" fmla="*/ 1 h 679"/>
                <a:gd name="T16" fmla="*/ 0 w 115"/>
                <a:gd name="T17" fmla="*/ 1 h 679"/>
                <a:gd name="T18" fmla="*/ 1 w 115"/>
                <a:gd name="T19" fmla="*/ 1 h 679"/>
                <a:gd name="T20" fmla="*/ 1 w 115"/>
                <a:gd name="T21" fmla="*/ 1 h 679"/>
                <a:gd name="T22" fmla="*/ 1 w 115"/>
                <a:gd name="T23" fmla="*/ 0 h 679"/>
                <a:gd name="T24" fmla="*/ 1 w 115"/>
                <a:gd name="T25" fmla="*/ 1 h 679"/>
                <a:gd name="T26" fmla="*/ 1 w 115"/>
                <a:gd name="T27" fmla="*/ 1 h 679"/>
                <a:gd name="T28" fmla="*/ 1 w 115"/>
                <a:gd name="T29" fmla="*/ 1 h 679"/>
                <a:gd name="T30" fmla="*/ 1 w 115"/>
                <a:gd name="T31" fmla="*/ 2 h 679"/>
                <a:gd name="T32" fmla="*/ 1 w 115"/>
                <a:gd name="T33" fmla="*/ 3 h 679"/>
                <a:gd name="T34" fmla="*/ 1 w 115"/>
                <a:gd name="T35" fmla="*/ 3 h 67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5"/>
                <a:gd name="T55" fmla="*/ 0 h 679"/>
                <a:gd name="T56" fmla="*/ 115 w 115"/>
                <a:gd name="T57" fmla="*/ 679 h 67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5" h="679">
                  <a:moveTo>
                    <a:pt x="65" y="679"/>
                  </a:moveTo>
                  <a:lnTo>
                    <a:pt x="50" y="600"/>
                  </a:lnTo>
                  <a:lnTo>
                    <a:pt x="34" y="500"/>
                  </a:lnTo>
                  <a:lnTo>
                    <a:pt x="0" y="439"/>
                  </a:lnTo>
                  <a:lnTo>
                    <a:pt x="0" y="320"/>
                  </a:lnTo>
                  <a:lnTo>
                    <a:pt x="0" y="259"/>
                  </a:lnTo>
                  <a:lnTo>
                    <a:pt x="0" y="180"/>
                  </a:lnTo>
                  <a:lnTo>
                    <a:pt x="0" y="140"/>
                  </a:lnTo>
                  <a:lnTo>
                    <a:pt x="0" y="80"/>
                  </a:lnTo>
                  <a:lnTo>
                    <a:pt x="17" y="59"/>
                  </a:lnTo>
                  <a:lnTo>
                    <a:pt x="17" y="20"/>
                  </a:lnTo>
                  <a:lnTo>
                    <a:pt x="50" y="0"/>
                  </a:lnTo>
                  <a:lnTo>
                    <a:pt x="50" y="59"/>
                  </a:lnTo>
                  <a:lnTo>
                    <a:pt x="65" y="119"/>
                  </a:lnTo>
                  <a:lnTo>
                    <a:pt x="82" y="180"/>
                  </a:lnTo>
                  <a:lnTo>
                    <a:pt x="100" y="500"/>
                  </a:lnTo>
                  <a:lnTo>
                    <a:pt x="115" y="679"/>
                  </a:lnTo>
                  <a:lnTo>
                    <a:pt x="65" y="67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45" name="Freeform 14"/>
            <p:cNvSpPr>
              <a:spLocks/>
            </p:cNvSpPr>
            <p:nvPr/>
          </p:nvSpPr>
          <p:spPr bwMode="auto">
            <a:xfrm>
              <a:off x="3053" y="2641"/>
              <a:ext cx="329" cy="589"/>
            </a:xfrm>
            <a:custGeom>
              <a:avLst/>
              <a:gdLst>
                <a:gd name="T0" fmla="*/ 0 w 656"/>
                <a:gd name="T1" fmla="*/ 3 h 1178"/>
                <a:gd name="T2" fmla="*/ 1 w 656"/>
                <a:gd name="T3" fmla="*/ 0 h 1178"/>
                <a:gd name="T4" fmla="*/ 2 w 656"/>
                <a:gd name="T5" fmla="*/ 1 h 1178"/>
                <a:gd name="T6" fmla="*/ 2 w 656"/>
                <a:gd name="T7" fmla="*/ 1 h 1178"/>
                <a:gd name="T8" fmla="*/ 2 w 656"/>
                <a:gd name="T9" fmla="*/ 1 h 1178"/>
                <a:gd name="T10" fmla="*/ 2 w 656"/>
                <a:gd name="T11" fmla="*/ 1 h 1178"/>
                <a:gd name="T12" fmla="*/ 2 w 656"/>
                <a:gd name="T13" fmla="*/ 1 h 1178"/>
                <a:gd name="T14" fmla="*/ 2 w 656"/>
                <a:gd name="T15" fmla="*/ 1 h 1178"/>
                <a:gd name="T16" fmla="*/ 2 w 656"/>
                <a:gd name="T17" fmla="*/ 1 h 1178"/>
                <a:gd name="T18" fmla="*/ 2 w 656"/>
                <a:gd name="T19" fmla="*/ 2 h 1178"/>
                <a:gd name="T20" fmla="*/ 2 w 656"/>
                <a:gd name="T21" fmla="*/ 2 h 1178"/>
                <a:gd name="T22" fmla="*/ 2 w 656"/>
                <a:gd name="T23" fmla="*/ 2 h 1178"/>
                <a:gd name="T24" fmla="*/ 2 w 656"/>
                <a:gd name="T25" fmla="*/ 2 h 1178"/>
                <a:gd name="T26" fmla="*/ 3 w 656"/>
                <a:gd name="T27" fmla="*/ 2 h 1178"/>
                <a:gd name="T28" fmla="*/ 3 w 656"/>
                <a:gd name="T29" fmla="*/ 3 h 1178"/>
                <a:gd name="T30" fmla="*/ 3 w 656"/>
                <a:gd name="T31" fmla="*/ 3 h 1178"/>
                <a:gd name="T32" fmla="*/ 3 w 656"/>
                <a:gd name="T33" fmla="*/ 3 h 1178"/>
                <a:gd name="T34" fmla="*/ 3 w 656"/>
                <a:gd name="T35" fmla="*/ 5 h 1178"/>
                <a:gd name="T36" fmla="*/ 3 w 656"/>
                <a:gd name="T37" fmla="*/ 5 h 1178"/>
                <a:gd name="T38" fmla="*/ 3 w 656"/>
                <a:gd name="T39" fmla="*/ 5 h 1178"/>
                <a:gd name="T40" fmla="*/ 2 w 656"/>
                <a:gd name="T41" fmla="*/ 5 h 1178"/>
                <a:gd name="T42" fmla="*/ 2 w 656"/>
                <a:gd name="T43" fmla="*/ 5 h 1178"/>
                <a:gd name="T44" fmla="*/ 2 w 656"/>
                <a:gd name="T45" fmla="*/ 5 h 1178"/>
                <a:gd name="T46" fmla="*/ 2 w 656"/>
                <a:gd name="T47" fmla="*/ 5 h 1178"/>
                <a:gd name="T48" fmla="*/ 2 w 656"/>
                <a:gd name="T49" fmla="*/ 5 h 1178"/>
                <a:gd name="T50" fmla="*/ 1 w 656"/>
                <a:gd name="T51" fmla="*/ 5 h 1178"/>
                <a:gd name="T52" fmla="*/ 1 w 656"/>
                <a:gd name="T53" fmla="*/ 5 h 1178"/>
                <a:gd name="T54" fmla="*/ 1 w 656"/>
                <a:gd name="T55" fmla="*/ 4 h 1178"/>
                <a:gd name="T56" fmla="*/ 0 w 656"/>
                <a:gd name="T57" fmla="*/ 3 h 117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56"/>
                <a:gd name="T88" fmla="*/ 0 h 1178"/>
                <a:gd name="T89" fmla="*/ 656 w 656"/>
                <a:gd name="T90" fmla="*/ 1178 h 117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56" h="1178">
                  <a:moveTo>
                    <a:pt x="0" y="759"/>
                  </a:moveTo>
                  <a:lnTo>
                    <a:pt x="114" y="0"/>
                  </a:lnTo>
                  <a:lnTo>
                    <a:pt x="311" y="80"/>
                  </a:lnTo>
                  <a:lnTo>
                    <a:pt x="327" y="80"/>
                  </a:lnTo>
                  <a:lnTo>
                    <a:pt x="343" y="80"/>
                  </a:lnTo>
                  <a:lnTo>
                    <a:pt x="360" y="101"/>
                  </a:lnTo>
                  <a:lnTo>
                    <a:pt x="377" y="119"/>
                  </a:lnTo>
                  <a:lnTo>
                    <a:pt x="410" y="180"/>
                  </a:lnTo>
                  <a:lnTo>
                    <a:pt x="425" y="239"/>
                  </a:lnTo>
                  <a:lnTo>
                    <a:pt x="460" y="299"/>
                  </a:lnTo>
                  <a:lnTo>
                    <a:pt x="476" y="360"/>
                  </a:lnTo>
                  <a:lnTo>
                    <a:pt x="491" y="400"/>
                  </a:lnTo>
                  <a:lnTo>
                    <a:pt x="509" y="439"/>
                  </a:lnTo>
                  <a:lnTo>
                    <a:pt x="526" y="499"/>
                  </a:lnTo>
                  <a:lnTo>
                    <a:pt x="526" y="539"/>
                  </a:lnTo>
                  <a:lnTo>
                    <a:pt x="541" y="579"/>
                  </a:lnTo>
                  <a:lnTo>
                    <a:pt x="541" y="619"/>
                  </a:lnTo>
                  <a:lnTo>
                    <a:pt x="656" y="1098"/>
                  </a:lnTo>
                  <a:lnTo>
                    <a:pt x="608" y="1157"/>
                  </a:lnTo>
                  <a:lnTo>
                    <a:pt x="526" y="1157"/>
                  </a:lnTo>
                  <a:lnTo>
                    <a:pt x="476" y="1157"/>
                  </a:lnTo>
                  <a:lnTo>
                    <a:pt x="442" y="1157"/>
                  </a:lnTo>
                  <a:lnTo>
                    <a:pt x="442" y="1178"/>
                  </a:lnTo>
                  <a:lnTo>
                    <a:pt x="394" y="1178"/>
                  </a:lnTo>
                  <a:lnTo>
                    <a:pt x="343" y="1157"/>
                  </a:lnTo>
                  <a:lnTo>
                    <a:pt x="195" y="1157"/>
                  </a:lnTo>
                  <a:lnTo>
                    <a:pt x="163" y="1057"/>
                  </a:lnTo>
                  <a:lnTo>
                    <a:pt x="48" y="818"/>
                  </a:lnTo>
                  <a:lnTo>
                    <a:pt x="0" y="75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046" name="Freeform 15"/>
            <p:cNvSpPr>
              <a:spLocks/>
            </p:cNvSpPr>
            <p:nvPr/>
          </p:nvSpPr>
          <p:spPr bwMode="auto">
            <a:xfrm>
              <a:off x="3053" y="2641"/>
              <a:ext cx="329" cy="589"/>
            </a:xfrm>
            <a:custGeom>
              <a:avLst/>
              <a:gdLst>
                <a:gd name="T0" fmla="*/ 0 w 656"/>
                <a:gd name="T1" fmla="*/ 3 h 1178"/>
                <a:gd name="T2" fmla="*/ 1 w 656"/>
                <a:gd name="T3" fmla="*/ 0 h 1178"/>
                <a:gd name="T4" fmla="*/ 2 w 656"/>
                <a:gd name="T5" fmla="*/ 1 h 1178"/>
                <a:gd name="T6" fmla="*/ 2 w 656"/>
                <a:gd name="T7" fmla="*/ 1 h 1178"/>
                <a:gd name="T8" fmla="*/ 2 w 656"/>
                <a:gd name="T9" fmla="*/ 1 h 1178"/>
                <a:gd name="T10" fmla="*/ 2 w 656"/>
                <a:gd name="T11" fmla="*/ 1 h 1178"/>
                <a:gd name="T12" fmla="*/ 2 w 656"/>
                <a:gd name="T13" fmla="*/ 1 h 1178"/>
                <a:gd name="T14" fmla="*/ 2 w 656"/>
                <a:gd name="T15" fmla="*/ 1 h 1178"/>
                <a:gd name="T16" fmla="*/ 2 w 656"/>
                <a:gd name="T17" fmla="*/ 1 h 1178"/>
                <a:gd name="T18" fmla="*/ 2 w 656"/>
                <a:gd name="T19" fmla="*/ 2 h 1178"/>
                <a:gd name="T20" fmla="*/ 2 w 656"/>
                <a:gd name="T21" fmla="*/ 2 h 1178"/>
                <a:gd name="T22" fmla="*/ 2 w 656"/>
                <a:gd name="T23" fmla="*/ 2 h 1178"/>
                <a:gd name="T24" fmla="*/ 2 w 656"/>
                <a:gd name="T25" fmla="*/ 2 h 1178"/>
                <a:gd name="T26" fmla="*/ 3 w 656"/>
                <a:gd name="T27" fmla="*/ 2 h 1178"/>
                <a:gd name="T28" fmla="*/ 3 w 656"/>
                <a:gd name="T29" fmla="*/ 3 h 1178"/>
                <a:gd name="T30" fmla="*/ 3 w 656"/>
                <a:gd name="T31" fmla="*/ 3 h 1178"/>
                <a:gd name="T32" fmla="*/ 3 w 656"/>
                <a:gd name="T33" fmla="*/ 3 h 1178"/>
                <a:gd name="T34" fmla="*/ 3 w 656"/>
                <a:gd name="T35" fmla="*/ 5 h 1178"/>
                <a:gd name="T36" fmla="*/ 3 w 656"/>
                <a:gd name="T37" fmla="*/ 5 h 1178"/>
                <a:gd name="T38" fmla="*/ 3 w 656"/>
                <a:gd name="T39" fmla="*/ 5 h 1178"/>
                <a:gd name="T40" fmla="*/ 2 w 656"/>
                <a:gd name="T41" fmla="*/ 5 h 1178"/>
                <a:gd name="T42" fmla="*/ 2 w 656"/>
                <a:gd name="T43" fmla="*/ 5 h 1178"/>
                <a:gd name="T44" fmla="*/ 2 w 656"/>
                <a:gd name="T45" fmla="*/ 5 h 1178"/>
                <a:gd name="T46" fmla="*/ 2 w 656"/>
                <a:gd name="T47" fmla="*/ 5 h 1178"/>
                <a:gd name="T48" fmla="*/ 2 w 656"/>
                <a:gd name="T49" fmla="*/ 5 h 1178"/>
                <a:gd name="T50" fmla="*/ 1 w 656"/>
                <a:gd name="T51" fmla="*/ 5 h 1178"/>
                <a:gd name="T52" fmla="*/ 1 w 656"/>
                <a:gd name="T53" fmla="*/ 5 h 1178"/>
                <a:gd name="T54" fmla="*/ 1 w 656"/>
                <a:gd name="T55" fmla="*/ 4 h 1178"/>
                <a:gd name="T56" fmla="*/ 0 w 656"/>
                <a:gd name="T57" fmla="*/ 3 h 117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56"/>
                <a:gd name="T88" fmla="*/ 0 h 1178"/>
                <a:gd name="T89" fmla="*/ 656 w 656"/>
                <a:gd name="T90" fmla="*/ 1178 h 117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56" h="1178">
                  <a:moveTo>
                    <a:pt x="0" y="759"/>
                  </a:moveTo>
                  <a:lnTo>
                    <a:pt x="114" y="0"/>
                  </a:lnTo>
                  <a:lnTo>
                    <a:pt x="311" y="80"/>
                  </a:lnTo>
                  <a:lnTo>
                    <a:pt x="327" y="80"/>
                  </a:lnTo>
                  <a:lnTo>
                    <a:pt x="343" y="80"/>
                  </a:lnTo>
                  <a:lnTo>
                    <a:pt x="360" y="101"/>
                  </a:lnTo>
                  <a:lnTo>
                    <a:pt x="377" y="119"/>
                  </a:lnTo>
                  <a:lnTo>
                    <a:pt x="410" y="180"/>
                  </a:lnTo>
                  <a:lnTo>
                    <a:pt x="425" y="239"/>
                  </a:lnTo>
                  <a:lnTo>
                    <a:pt x="460" y="299"/>
                  </a:lnTo>
                  <a:lnTo>
                    <a:pt x="476" y="360"/>
                  </a:lnTo>
                  <a:lnTo>
                    <a:pt x="491" y="400"/>
                  </a:lnTo>
                  <a:lnTo>
                    <a:pt x="509" y="439"/>
                  </a:lnTo>
                  <a:lnTo>
                    <a:pt x="526" y="499"/>
                  </a:lnTo>
                  <a:lnTo>
                    <a:pt x="526" y="539"/>
                  </a:lnTo>
                  <a:lnTo>
                    <a:pt x="541" y="579"/>
                  </a:lnTo>
                  <a:lnTo>
                    <a:pt x="541" y="619"/>
                  </a:lnTo>
                  <a:lnTo>
                    <a:pt x="656" y="1098"/>
                  </a:lnTo>
                  <a:lnTo>
                    <a:pt x="608" y="1157"/>
                  </a:lnTo>
                  <a:lnTo>
                    <a:pt x="526" y="1157"/>
                  </a:lnTo>
                  <a:lnTo>
                    <a:pt x="476" y="1157"/>
                  </a:lnTo>
                  <a:lnTo>
                    <a:pt x="442" y="1157"/>
                  </a:lnTo>
                  <a:lnTo>
                    <a:pt x="442" y="1178"/>
                  </a:lnTo>
                  <a:lnTo>
                    <a:pt x="394" y="1178"/>
                  </a:lnTo>
                  <a:lnTo>
                    <a:pt x="343" y="1157"/>
                  </a:lnTo>
                  <a:lnTo>
                    <a:pt x="195" y="1157"/>
                  </a:lnTo>
                  <a:lnTo>
                    <a:pt x="163" y="1057"/>
                  </a:lnTo>
                  <a:lnTo>
                    <a:pt x="48" y="818"/>
                  </a:lnTo>
                  <a:lnTo>
                    <a:pt x="0" y="75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47" name="Freeform 16"/>
            <p:cNvSpPr>
              <a:spLocks/>
            </p:cNvSpPr>
            <p:nvPr/>
          </p:nvSpPr>
          <p:spPr bwMode="auto">
            <a:xfrm>
              <a:off x="2848" y="2951"/>
              <a:ext cx="336" cy="339"/>
            </a:xfrm>
            <a:custGeom>
              <a:avLst/>
              <a:gdLst>
                <a:gd name="T0" fmla="*/ 0 w 673"/>
                <a:gd name="T1" fmla="*/ 2 h 678"/>
                <a:gd name="T2" fmla="*/ 1 w 673"/>
                <a:gd name="T3" fmla="*/ 0 h 678"/>
                <a:gd name="T4" fmla="*/ 1 w 673"/>
                <a:gd name="T5" fmla="*/ 1 h 678"/>
                <a:gd name="T6" fmla="*/ 2 w 673"/>
                <a:gd name="T7" fmla="*/ 2 h 678"/>
                <a:gd name="T8" fmla="*/ 2 w 673"/>
                <a:gd name="T9" fmla="*/ 2 h 678"/>
                <a:gd name="T10" fmla="*/ 2 w 673"/>
                <a:gd name="T11" fmla="*/ 3 h 678"/>
                <a:gd name="T12" fmla="*/ 2 w 673"/>
                <a:gd name="T13" fmla="*/ 3 h 678"/>
                <a:gd name="T14" fmla="*/ 2 w 673"/>
                <a:gd name="T15" fmla="*/ 3 h 678"/>
                <a:gd name="T16" fmla="*/ 2 w 673"/>
                <a:gd name="T17" fmla="*/ 3 h 678"/>
                <a:gd name="T18" fmla="*/ 2 w 673"/>
                <a:gd name="T19" fmla="*/ 3 h 678"/>
                <a:gd name="T20" fmla="*/ 2 w 673"/>
                <a:gd name="T21" fmla="*/ 3 h 678"/>
                <a:gd name="T22" fmla="*/ 0 w 673"/>
                <a:gd name="T23" fmla="*/ 3 h 678"/>
                <a:gd name="T24" fmla="*/ 0 w 673"/>
                <a:gd name="T25" fmla="*/ 3 h 678"/>
                <a:gd name="T26" fmla="*/ 0 w 673"/>
                <a:gd name="T27" fmla="*/ 2 h 678"/>
                <a:gd name="T28" fmla="*/ 0 w 673"/>
                <a:gd name="T29" fmla="*/ 2 h 67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73"/>
                <a:gd name="T46" fmla="*/ 0 h 678"/>
                <a:gd name="T47" fmla="*/ 673 w 673"/>
                <a:gd name="T48" fmla="*/ 678 h 67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73" h="678">
                  <a:moveTo>
                    <a:pt x="31" y="319"/>
                  </a:moveTo>
                  <a:lnTo>
                    <a:pt x="279" y="0"/>
                  </a:lnTo>
                  <a:lnTo>
                    <a:pt x="459" y="200"/>
                  </a:lnTo>
                  <a:lnTo>
                    <a:pt x="590" y="459"/>
                  </a:lnTo>
                  <a:lnTo>
                    <a:pt x="606" y="498"/>
                  </a:lnTo>
                  <a:lnTo>
                    <a:pt x="606" y="538"/>
                  </a:lnTo>
                  <a:lnTo>
                    <a:pt x="623" y="559"/>
                  </a:lnTo>
                  <a:lnTo>
                    <a:pt x="640" y="579"/>
                  </a:lnTo>
                  <a:lnTo>
                    <a:pt x="656" y="598"/>
                  </a:lnTo>
                  <a:lnTo>
                    <a:pt x="673" y="618"/>
                  </a:lnTo>
                  <a:lnTo>
                    <a:pt x="673" y="678"/>
                  </a:lnTo>
                  <a:lnTo>
                    <a:pt x="0" y="678"/>
                  </a:lnTo>
                  <a:lnTo>
                    <a:pt x="0" y="618"/>
                  </a:lnTo>
                  <a:lnTo>
                    <a:pt x="179" y="479"/>
                  </a:lnTo>
                  <a:lnTo>
                    <a:pt x="31" y="31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048" name="Freeform 17"/>
            <p:cNvSpPr>
              <a:spLocks/>
            </p:cNvSpPr>
            <p:nvPr/>
          </p:nvSpPr>
          <p:spPr bwMode="auto">
            <a:xfrm>
              <a:off x="2848" y="2951"/>
              <a:ext cx="336" cy="339"/>
            </a:xfrm>
            <a:custGeom>
              <a:avLst/>
              <a:gdLst>
                <a:gd name="T0" fmla="*/ 0 w 673"/>
                <a:gd name="T1" fmla="*/ 2 h 678"/>
                <a:gd name="T2" fmla="*/ 1 w 673"/>
                <a:gd name="T3" fmla="*/ 0 h 678"/>
                <a:gd name="T4" fmla="*/ 1 w 673"/>
                <a:gd name="T5" fmla="*/ 1 h 678"/>
                <a:gd name="T6" fmla="*/ 2 w 673"/>
                <a:gd name="T7" fmla="*/ 2 h 678"/>
                <a:gd name="T8" fmla="*/ 2 w 673"/>
                <a:gd name="T9" fmla="*/ 2 h 678"/>
                <a:gd name="T10" fmla="*/ 2 w 673"/>
                <a:gd name="T11" fmla="*/ 3 h 678"/>
                <a:gd name="T12" fmla="*/ 2 w 673"/>
                <a:gd name="T13" fmla="*/ 3 h 678"/>
                <a:gd name="T14" fmla="*/ 2 w 673"/>
                <a:gd name="T15" fmla="*/ 3 h 678"/>
                <a:gd name="T16" fmla="*/ 2 w 673"/>
                <a:gd name="T17" fmla="*/ 3 h 678"/>
                <a:gd name="T18" fmla="*/ 2 w 673"/>
                <a:gd name="T19" fmla="*/ 3 h 678"/>
                <a:gd name="T20" fmla="*/ 2 w 673"/>
                <a:gd name="T21" fmla="*/ 3 h 678"/>
                <a:gd name="T22" fmla="*/ 0 w 673"/>
                <a:gd name="T23" fmla="*/ 3 h 678"/>
                <a:gd name="T24" fmla="*/ 0 w 673"/>
                <a:gd name="T25" fmla="*/ 3 h 678"/>
                <a:gd name="T26" fmla="*/ 0 w 673"/>
                <a:gd name="T27" fmla="*/ 2 h 678"/>
                <a:gd name="T28" fmla="*/ 0 w 673"/>
                <a:gd name="T29" fmla="*/ 2 h 67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73"/>
                <a:gd name="T46" fmla="*/ 0 h 678"/>
                <a:gd name="T47" fmla="*/ 673 w 673"/>
                <a:gd name="T48" fmla="*/ 678 h 67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73" h="678">
                  <a:moveTo>
                    <a:pt x="31" y="319"/>
                  </a:moveTo>
                  <a:lnTo>
                    <a:pt x="279" y="0"/>
                  </a:lnTo>
                  <a:lnTo>
                    <a:pt x="459" y="200"/>
                  </a:lnTo>
                  <a:lnTo>
                    <a:pt x="590" y="459"/>
                  </a:lnTo>
                  <a:lnTo>
                    <a:pt x="606" y="498"/>
                  </a:lnTo>
                  <a:lnTo>
                    <a:pt x="606" y="538"/>
                  </a:lnTo>
                  <a:lnTo>
                    <a:pt x="623" y="559"/>
                  </a:lnTo>
                  <a:lnTo>
                    <a:pt x="640" y="579"/>
                  </a:lnTo>
                  <a:lnTo>
                    <a:pt x="656" y="598"/>
                  </a:lnTo>
                  <a:lnTo>
                    <a:pt x="673" y="618"/>
                  </a:lnTo>
                  <a:lnTo>
                    <a:pt x="673" y="678"/>
                  </a:lnTo>
                  <a:lnTo>
                    <a:pt x="0" y="678"/>
                  </a:lnTo>
                  <a:lnTo>
                    <a:pt x="0" y="618"/>
                  </a:lnTo>
                  <a:lnTo>
                    <a:pt x="179" y="479"/>
                  </a:lnTo>
                  <a:lnTo>
                    <a:pt x="31" y="31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49" name="Freeform 18"/>
            <p:cNvSpPr>
              <a:spLocks/>
            </p:cNvSpPr>
            <p:nvPr/>
          </p:nvSpPr>
          <p:spPr bwMode="auto">
            <a:xfrm>
              <a:off x="3028" y="2632"/>
              <a:ext cx="82" cy="388"/>
            </a:xfrm>
            <a:custGeom>
              <a:avLst/>
              <a:gdLst>
                <a:gd name="T0" fmla="*/ 0 w 166"/>
                <a:gd name="T1" fmla="*/ 0 h 778"/>
                <a:gd name="T2" fmla="*/ 0 w 166"/>
                <a:gd name="T3" fmla="*/ 0 h 778"/>
                <a:gd name="T4" fmla="*/ 0 w 166"/>
                <a:gd name="T5" fmla="*/ 0 h 778"/>
                <a:gd name="T6" fmla="*/ 0 w 166"/>
                <a:gd name="T7" fmla="*/ 0 h 778"/>
                <a:gd name="T8" fmla="*/ 0 w 166"/>
                <a:gd name="T9" fmla="*/ 0 h 778"/>
                <a:gd name="T10" fmla="*/ 0 w 166"/>
                <a:gd name="T11" fmla="*/ 1 h 778"/>
                <a:gd name="T12" fmla="*/ 0 w 166"/>
                <a:gd name="T13" fmla="*/ 1 h 778"/>
                <a:gd name="T14" fmla="*/ 0 w 166"/>
                <a:gd name="T15" fmla="*/ 2 h 778"/>
                <a:gd name="T16" fmla="*/ 0 w 166"/>
                <a:gd name="T17" fmla="*/ 2 h 778"/>
                <a:gd name="T18" fmla="*/ 0 w 166"/>
                <a:gd name="T19" fmla="*/ 2 h 778"/>
                <a:gd name="T20" fmla="*/ 0 w 166"/>
                <a:gd name="T21" fmla="*/ 2 h 778"/>
                <a:gd name="T22" fmla="*/ 0 w 166"/>
                <a:gd name="T23" fmla="*/ 3 h 778"/>
                <a:gd name="T24" fmla="*/ 0 w 166"/>
                <a:gd name="T25" fmla="*/ 2 h 778"/>
                <a:gd name="T26" fmla="*/ 0 w 166"/>
                <a:gd name="T27" fmla="*/ 2 h 778"/>
                <a:gd name="T28" fmla="*/ 0 w 166"/>
                <a:gd name="T29" fmla="*/ 2 h 778"/>
                <a:gd name="T30" fmla="*/ 0 w 166"/>
                <a:gd name="T31" fmla="*/ 2 h 778"/>
                <a:gd name="T32" fmla="*/ 0 w 166"/>
                <a:gd name="T33" fmla="*/ 1 h 778"/>
                <a:gd name="T34" fmla="*/ 0 w 166"/>
                <a:gd name="T35" fmla="*/ 1 h 778"/>
                <a:gd name="T36" fmla="*/ 0 w 166"/>
                <a:gd name="T37" fmla="*/ 0 h 7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6"/>
                <a:gd name="T58" fmla="*/ 0 h 778"/>
                <a:gd name="T59" fmla="*/ 166 w 166"/>
                <a:gd name="T60" fmla="*/ 778 h 7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6" h="778">
                  <a:moveTo>
                    <a:pt x="35" y="239"/>
                  </a:moveTo>
                  <a:lnTo>
                    <a:pt x="100" y="0"/>
                  </a:lnTo>
                  <a:lnTo>
                    <a:pt x="166" y="20"/>
                  </a:lnTo>
                  <a:lnTo>
                    <a:pt x="166" y="79"/>
                  </a:lnTo>
                  <a:lnTo>
                    <a:pt x="166" y="219"/>
                  </a:lnTo>
                  <a:lnTo>
                    <a:pt x="131" y="339"/>
                  </a:lnTo>
                  <a:lnTo>
                    <a:pt x="116" y="459"/>
                  </a:lnTo>
                  <a:lnTo>
                    <a:pt x="100" y="538"/>
                  </a:lnTo>
                  <a:lnTo>
                    <a:pt x="83" y="618"/>
                  </a:lnTo>
                  <a:lnTo>
                    <a:pt x="83" y="657"/>
                  </a:lnTo>
                  <a:lnTo>
                    <a:pt x="66" y="739"/>
                  </a:lnTo>
                  <a:lnTo>
                    <a:pt x="51" y="778"/>
                  </a:lnTo>
                  <a:lnTo>
                    <a:pt x="18" y="739"/>
                  </a:lnTo>
                  <a:lnTo>
                    <a:pt x="18" y="698"/>
                  </a:lnTo>
                  <a:lnTo>
                    <a:pt x="0" y="618"/>
                  </a:lnTo>
                  <a:lnTo>
                    <a:pt x="0" y="519"/>
                  </a:lnTo>
                  <a:lnTo>
                    <a:pt x="0" y="459"/>
                  </a:lnTo>
                  <a:lnTo>
                    <a:pt x="0" y="379"/>
                  </a:lnTo>
                  <a:lnTo>
                    <a:pt x="35" y="2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050" name="Freeform 19"/>
            <p:cNvSpPr>
              <a:spLocks/>
            </p:cNvSpPr>
            <p:nvPr/>
          </p:nvSpPr>
          <p:spPr bwMode="auto">
            <a:xfrm>
              <a:off x="3028" y="2632"/>
              <a:ext cx="82" cy="388"/>
            </a:xfrm>
            <a:custGeom>
              <a:avLst/>
              <a:gdLst>
                <a:gd name="T0" fmla="*/ 0 w 166"/>
                <a:gd name="T1" fmla="*/ 0 h 778"/>
                <a:gd name="T2" fmla="*/ 0 w 166"/>
                <a:gd name="T3" fmla="*/ 0 h 778"/>
                <a:gd name="T4" fmla="*/ 0 w 166"/>
                <a:gd name="T5" fmla="*/ 0 h 778"/>
                <a:gd name="T6" fmla="*/ 0 w 166"/>
                <a:gd name="T7" fmla="*/ 0 h 778"/>
                <a:gd name="T8" fmla="*/ 0 w 166"/>
                <a:gd name="T9" fmla="*/ 0 h 778"/>
                <a:gd name="T10" fmla="*/ 0 w 166"/>
                <a:gd name="T11" fmla="*/ 1 h 778"/>
                <a:gd name="T12" fmla="*/ 0 w 166"/>
                <a:gd name="T13" fmla="*/ 1 h 778"/>
                <a:gd name="T14" fmla="*/ 0 w 166"/>
                <a:gd name="T15" fmla="*/ 2 h 778"/>
                <a:gd name="T16" fmla="*/ 0 w 166"/>
                <a:gd name="T17" fmla="*/ 2 h 778"/>
                <a:gd name="T18" fmla="*/ 0 w 166"/>
                <a:gd name="T19" fmla="*/ 2 h 778"/>
                <a:gd name="T20" fmla="*/ 0 w 166"/>
                <a:gd name="T21" fmla="*/ 2 h 778"/>
                <a:gd name="T22" fmla="*/ 0 w 166"/>
                <a:gd name="T23" fmla="*/ 3 h 778"/>
                <a:gd name="T24" fmla="*/ 0 w 166"/>
                <a:gd name="T25" fmla="*/ 2 h 778"/>
                <a:gd name="T26" fmla="*/ 0 w 166"/>
                <a:gd name="T27" fmla="*/ 2 h 778"/>
                <a:gd name="T28" fmla="*/ 0 w 166"/>
                <a:gd name="T29" fmla="*/ 2 h 778"/>
                <a:gd name="T30" fmla="*/ 0 w 166"/>
                <a:gd name="T31" fmla="*/ 2 h 778"/>
                <a:gd name="T32" fmla="*/ 0 w 166"/>
                <a:gd name="T33" fmla="*/ 1 h 778"/>
                <a:gd name="T34" fmla="*/ 0 w 166"/>
                <a:gd name="T35" fmla="*/ 1 h 778"/>
                <a:gd name="T36" fmla="*/ 0 w 166"/>
                <a:gd name="T37" fmla="*/ 0 h 7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6"/>
                <a:gd name="T58" fmla="*/ 0 h 778"/>
                <a:gd name="T59" fmla="*/ 166 w 166"/>
                <a:gd name="T60" fmla="*/ 778 h 7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6" h="778">
                  <a:moveTo>
                    <a:pt x="35" y="239"/>
                  </a:moveTo>
                  <a:lnTo>
                    <a:pt x="100" y="0"/>
                  </a:lnTo>
                  <a:lnTo>
                    <a:pt x="166" y="20"/>
                  </a:lnTo>
                  <a:lnTo>
                    <a:pt x="166" y="79"/>
                  </a:lnTo>
                  <a:lnTo>
                    <a:pt x="166" y="219"/>
                  </a:lnTo>
                  <a:lnTo>
                    <a:pt x="131" y="339"/>
                  </a:lnTo>
                  <a:lnTo>
                    <a:pt x="116" y="459"/>
                  </a:lnTo>
                  <a:lnTo>
                    <a:pt x="100" y="538"/>
                  </a:lnTo>
                  <a:lnTo>
                    <a:pt x="83" y="618"/>
                  </a:lnTo>
                  <a:lnTo>
                    <a:pt x="83" y="657"/>
                  </a:lnTo>
                  <a:lnTo>
                    <a:pt x="66" y="739"/>
                  </a:lnTo>
                  <a:lnTo>
                    <a:pt x="51" y="778"/>
                  </a:lnTo>
                  <a:lnTo>
                    <a:pt x="18" y="739"/>
                  </a:lnTo>
                  <a:lnTo>
                    <a:pt x="18" y="698"/>
                  </a:lnTo>
                  <a:lnTo>
                    <a:pt x="0" y="618"/>
                  </a:lnTo>
                  <a:lnTo>
                    <a:pt x="0" y="519"/>
                  </a:lnTo>
                  <a:lnTo>
                    <a:pt x="0" y="459"/>
                  </a:lnTo>
                  <a:lnTo>
                    <a:pt x="0" y="379"/>
                  </a:lnTo>
                  <a:lnTo>
                    <a:pt x="35" y="23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51" name="Freeform 20"/>
            <p:cNvSpPr>
              <a:spLocks/>
            </p:cNvSpPr>
            <p:nvPr/>
          </p:nvSpPr>
          <p:spPr bwMode="auto">
            <a:xfrm>
              <a:off x="3012" y="2721"/>
              <a:ext cx="49" cy="119"/>
            </a:xfrm>
            <a:custGeom>
              <a:avLst/>
              <a:gdLst>
                <a:gd name="T0" fmla="*/ 1 w 98"/>
                <a:gd name="T1" fmla="*/ 0 h 239"/>
                <a:gd name="T2" fmla="*/ 1 w 98"/>
                <a:gd name="T3" fmla="*/ 0 h 239"/>
                <a:gd name="T4" fmla="*/ 1 w 98"/>
                <a:gd name="T5" fmla="*/ 0 h 239"/>
                <a:gd name="T6" fmla="*/ 0 w 98"/>
                <a:gd name="T7" fmla="*/ 0 h 239"/>
                <a:gd name="T8" fmla="*/ 1 w 98"/>
                <a:gd name="T9" fmla="*/ 0 h 239"/>
                <a:gd name="T10" fmla="*/ 0 60000 65536"/>
                <a:gd name="T11" fmla="*/ 0 60000 65536"/>
                <a:gd name="T12" fmla="*/ 0 60000 65536"/>
                <a:gd name="T13" fmla="*/ 0 60000 65536"/>
                <a:gd name="T14" fmla="*/ 0 60000 65536"/>
                <a:gd name="T15" fmla="*/ 0 w 98"/>
                <a:gd name="T16" fmla="*/ 0 h 239"/>
                <a:gd name="T17" fmla="*/ 98 w 98"/>
                <a:gd name="T18" fmla="*/ 239 h 239"/>
              </a:gdLst>
              <a:ahLst/>
              <a:cxnLst>
                <a:cxn ang="T10">
                  <a:pos x="T0" y="T1"/>
                </a:cxn>
                <a:cxn ang="T11">
                  <a:pos x="T2" y="T3"/>
                </a:cxn>
                <a:cxn ang="T12">
                  <a:pos x="T4" y="T5"/>
                </a:cxn>
                <a:cxn ang="T13">
                  <a:pos x="T6" y="T7"/>
                </a:cxn>
                <a:cxn ang="T14">
                  <a:pos x="T8" y="T9"/>
                </a:cxn>
              </a:cxnLst>
              <a:rect l="T15" t="T16" r="T17" b="T18"/>
              <a:pathLst>
                <a:path w="98" h="239">
                  <a:moveTo>
                    <a:pt x="49" y="0"/>
                  </a:moveTo>
                  <a:lnTo>
                    <a:pt x="98" y="99"/>
                  </a:lnTo>
                  <a:lnTo>
                    <a:pt x="66" y="239"/>
                  </a:lnTo>
                  <a:lnTo>
                    <a:pt x="0" y="99"/>
                  </a:lnTo>
                  <a:lnTo>
                    <a:pt x="4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052" name="Freeform 21"/>
            <p:cNvSpPr>
              <a:spLocks/>
            </p:cNvSpPr>
            <p:nvPr/>
          </p:nvSpPr>
          <p:spPr bwMode="auto">
            <a:xfrm>
              <a:off x="3012" y="2721"/>
              <a:ext cx="49" cy="119"/>
            </a:xfrm>
            <a:custGeom>
              <a:avLst/>
              <a:gdLst>
                <a:gd name="T0" fmla="*/ 1 w 98"/>
                <a:gd name="T1" fmla="*/ 0 h 239"/>
                <a:gd name="T2" fmla="*/ 1 w 98"/>
                <a:gd name="T3" fmla="*/ 0 h 239"/>
                <a:gd name="T4" fmla="*/ 1 w 98"/>
                <a:gd name="T5" fmla="*/ 0 h 239"/>
                <a:gd name="T6" fmla="*/ 0 w 98"/>
                <a:gd name="T7" fmla="*/ 0 h 239"/>
                <a:gd name="T8" fmla="*/ 1 w 98"/>
                <a:gd name="T9" fmla="*/ 0 h 239"/>
                <a:gd name="T10" fmla="*/ 0 60000 65536"/>
                <a:gd name="T11" fmla="*/ 0 60000 65536"/>
                <a:gd name="T12" fmla="*/ 0 60000 65536"/>
                <a:gd name="T13" fmla="*/ 0 60000 65536"/>
                <a:gd name="T14" fmla="*/ 0 60000 65536"/>
                <a:gd name="T15" fmla="*/ 0 w 98"/>
                <a:gd name="T16" fmla="*/ 0 h 239"/>
                <a:gd name="T17" fmla="*/ 98 w 98"/>
                <a:gd name="T18" fmla="*/ 239 h 239"/>
              </a:gdLst>
              <a:ahLst/>
              <a:cxnLst>
                <a:cxn ang="T10">
                  <a:pos x="T0" y="T1"/>
                </a:cxn>
                <a:cxn ang="T11">
                  <a:pos x="T2" y="T3"/>
                </a:cxn>
                <a:cxn ang="T12">
                  <a:pos x="T4" y="T5"/>
                </a:cxn>
                <a:cxn ang="T13">
                  <a:pos x="T6" y="T7"/>
                </a:cxn>
                <a:cxn ang="T14">
                  <a:pos x="T8" y="T9"/>
                </a:cxn>
              </a:cxnLst>
              <a:rect l="T15" t="T16" r="T17" b="T18"/>
              <a:pathLst>
                <a:path w="98" h="239">
                  <a:moveTo>
                    <a:pt x="49" y="0"/>
                  </a:moveTo>
                  <a:lnTo>
                    <a:pt x="98" y="99"/>
                  </a:lnTo>
                  <a:lnTo>
                    <a:pt x="66" y="239"/>
                  </a:lnTo>
                  <a:lnTo>
                    <a:pt x="0" y="99"/>
                  </a:lnTo>
                  <a:lnTo>
                    <a:pt x="49"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53" name="Freeform 22"/>
            <p:cNvSpPr>
              <a:spLocks/>
            </p:cNvSpPr>
            <p:nvPr/>
          </p:nvSpPr>
          <p:spPr bwMode="auto">
            <a:xfrm>
              <a:off x="2963" y="2771"/>
              <a:ext cx="57" cy="150"/>
            </a:xfrm>
            <a:custGeom>
              <a:avLst/>
              <a:gdLst>
                <a:gd name="T0" fmla="*/ 0 w 115"/>
                <a:gd name="T1" fmla="*/ 0 h 299"/>
                <a:gd name="T2" fmla="*/ 0 w 115"/>
                <a:gd name="T3" fmla="*/ 1 h 299"/>
                <a:gd name="T4" fmla="*/ 0 w 115"/>
                <a:gd name="T5" fmla="*/ 2 h 299"/>
                <a:gd name="T6" fmla="*/ 0 w 115"/>
                <a:gd name="T7" fmla="*/ 2 h 299"/>
                <a:gd name="T8" fmla="*/ 0 w 115"/>
                <a:gd name="T9" fmla="*/ 1 h 299"/>
                <a:gd name="T10" fmla="*/ 0 w 115"/>
                <a:gd name="T11" fmla="*/ 1 h 299"/>
                <a:gd name="T12" fmla="*/ 0 w 115"/>
                <a:gd name="T13" fmla="*/ 1 h 299"/>
                <a:gd name="T14" fmla="*/ 0 w 115"/>
                <a:gd name="T15" fmla="*/ 1 h 299"/>
                <a:gd name="T16" fmla="*/ 0 w 115"/>
                <a:gd name="T17" fmla="*/ 0 h 299"/>
                <a:gd name="T18" fmla="*/ 0 w 115"/>
                <a:gd name="T19" fmla="*/ 0 h 2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299"/>
                <a:gd name="T32" fmla="*/ 115 w 115"/>
                <a:gd name="T33" fmla="*/ 299 h 29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299">
                  <a:moveTo>
                    <a:pt x="99" y="0"/>
                  </a:moveTo>
                  <a:lnTo>
                    <a:pt x="115" y="140"/>
                  </a:lnTo>
                  <a:lnTo>
                    <a:pt x="0" y="299"/>
                  </a:lnTo>
                  <a:lnTo>
                    <a:pt x="0" y="279"/>
                  </a:lnTo>
                  <a:lnTo>
                    <a:pt x="0" y="240"/>
                  </a:lnTo>
                  <a:lnTo>
                    <a:pt x="0" y="180"/>
                  </a:lnTo>
                  <a:lnTo>
                    <a:pt x="0" y="119"/>
                  </a:lnTo>
                  <a:lnTo>
                    <a:pt x="0" y="60"/>
                  </a:lnTo>
                  <a:lnTo>
                    <a:pt x="0" y="0"/>
                  </a:lnTo>
                  <a:lnTo>
                    <a:pt x="9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054" name="Freeform 23"/>
            <p:cNvSpPr>
              <a:spLocks/>
            </p:cNvSpPr>
            <p:nvPr/>
          </p:nvSpPr>
          <p:spPr bwMode="auto">
            <a:xfrm>
              <a:off x="2963" y="2771"/>
              <a:ext cx="57" cy="150"/>
            </a:xfrm>
            <a:custGeom>
              <a:avLst/>
              <a:gdLst>
                <a:gd name="T0" fmla="*/ 0 w 115"/>
                <a:gd name="T1" fmla="*/ 0 h 299"/>
                <a:gd name="T2" fmla="*/ 0 w 115"/>
                <a:gd name="T3" fmla="*/ 1 h 299"/>
                <a:gd name="T4" fmla="*/ 0 w 115"/>
                <a:gd name="T5" fmla="*/ 2 h 299"/>
                <a:gd name="T6" fmla="*/ 0 w 115"/>
                <a:gd name="T7" fmla="*/ 2 h 299"/>
                <a:gd name="T8" fmla="*/ 0 w 115"/>
                <a:gd name="T9" fmla="*/ 1 h 299"/>
                <a:gd name="T10" fmla="*/ 0 w 115"/>
                <a:gd name="T11" fmla="*/ 1 h 299"/>
                <a:gd name="T12" fmla="*/ 0 w 115"/>
                <a:gd name="T13" fmla="*/ 1 h 299"/>
                <a:gd name="T14" fmla="*/ 0 w 115"/>
                <a:gd name="T15" fmla="*/ 1 h 299"/>
                <a:gd name="T16" fmla="*/ 0 w 115"/>
                <a:gd name="T17" fmla="*/ 0 h 299"/>
                <a:gd name="T18" fmla="*/ 0 w 115"/>
                <a:gd name="T19" fmla="*/ 0 h 2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299"/>
                <a:gd name="T32" fmla="*/ 115 w 115"/>
                <a:gd name="T33" fmla="*/ 299 h 29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299">
                  <a:moveTo>
                    <a:pt x="99" y="0"/>
                  </a:moveTo>
                  <a:lnTo>
                    <a:pt x="115" y="140"/>
                  </a:lnTo>
                  <a:lnTo>
                    <a:pt x="0" y="299"/>
                  </a:lnTo>
                  <a:lnTo>
                    <a:pt x="0" y="279"/>
                  </a:lnTo>
                  <a:lnTo>
                    <a:pt x="0" y="240"/>
                  </a:lnTo>
                  <a:lnTo>
                    <a:pt x="0" y="180"/>
                  </a:lnTo>
                  <a:lnTo>
                    <a:pt x="0" y="119"/>
                  </a:lnTo>
                  <a:lnTo>
                    <a:pt x="0" y="60"/>
                  </a:lnTo>
                  <a:lnTo>
                    <a:pt x="0" y="0"/>
                  </a:lnTo>
                  <a:lnTo>
                    <a:pt x="99"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55" name="Freeform 24"/>
            <p:cNvSpPr>
              <a:spLocks/>
            </p:cNvSpPr>
            <p:nvPr/>
          </p:nvSpPr>
          <p:spPr bwMode="auto">
            <a:xfrm>
              <a:off x="2963" y="2632"/>
              <a:ext cx="114" cy="119"/>
            </a:xfrm>
            <a:custGeom>
              <a:avLst/>
              <a:gdLst>
                <a:gd name="T0" fmla="*/ 0 w 229"/>
                <a:gd name="T1" fmla="*/ 0 h 239"/>
                <a:gd name="T2" fmla="*/ 0 w 229"/>
                <a:gd name="T3" fmla="*/ 0 h 239"/>
                <a:gd name="T4" fmla="*/ 0 w 229"/>
                <a:gd name="T5" fmla="*/ 0 h 239"/>
                <a:gd name="T6" fmla="*/ 0 w 229"/>
                <a:gd name="T7" fmla="*/ 0 h 239"/>
                <a:gd name="T8" fmla="*/ 0 w 229"/>
                <a:gd name="T9" fmla="*/ 0 h 239"/>
                <a:gd name="T10" fmla="*/ 0 w 229"/>
                <a:gd name="T11" fmla="*/ 0 h 239"/>
                <a:gd name="T12" fmla="*/ 0 w 229"/>
                <a:gd name="T13" fmla="*/ 0 h 239"/>
                <a:gd name="T14" fmla="*/ 0 w 229"/>
                <a:gd name="T15" fmla="*/ 0 h 239"/>
                <a:gd name="T16" fmla="*/ 0 w 229"/>
                <a:gd name="T17" fmla="*/ 0 h 239"/>
                <a:gd name="T18" fmla="*/ 0 w 229"/>
                <a:gd name="T19" fmla="*/ 0 h 239"/>
                <a:gd name="T20" fmla="*/ 0 w 229"/>
                <a:gd name="T21" fmla="*/ 0 h 239"/>
                <a:gd name="T22" fmla="*/ 0 w 229"/>
                <a:gd name="T23" fmla="*/ 0 h 2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9"/>
                <a:gd name="T37" fmla="*/ 0 h 239"/>
                <a:gd name="T38" fmla="*/ 229 w 229"/>
                <a:gd name="T39" fmla="*/ 239 h 2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9" h="239">
                  <a:moveTo>
                    <a:pt x="81" y="119"/>
                  </a:moveTo>
                  <a:lnTo>
                    <a:pt x="181" y="239"/>
                  </a:lnTo>
                  <a:lnTo>
                    <a:pt x="229" y="0"/>
                  </a:lnTo>
                  <a:lnTo>
                    <a:pt x="213" y="0"/>
                  </a:lnTo>
                  <a:lnTo>
                    <a:pt x="98" y="100"/>
                  </a:lnTo>
                  <a:lnTo>
                    <a:pt x="81" y="139"/>
                  </a:lnTo>
                  <a:lnTo>
                    <a:pt x="32" y="219"/>
                  </a:lnTo>
                  <a:lnTo>
                    <a:pt x="0" y="139"/>
                  </a:lnTo>
                  <a:lnTo>
                    <a:pt x="0" y="60"/>
                  </a:lnTo>
                  <a:lnTo>
                    <a:pt x="0" y="20"/>
                  </a:lnTo>
                  <a:lnTo>
                    <a:pt x="15" y="20"/>
                  </a:lnTo>
                  <a:lnTo>
                    <a:pt x="81" y="11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056" name="Freeform 25"/>
            <p:cNvSpPr>
              <a:spLocks/>
            </p:cNvSpPr>
            <p:nvPr/>
          </p:nvSpPr>
          <p:spPr bwMode="auto">
            <a:xfrm>
              <a:off x="2963" y="2632"/>
              <a:ext cx="114" cy="119"/>
            </a:xfrm>
            <a:custGeom>
              <a:avLst/>
              <a:gdLst>
                <a:gd name="T0" fmla="*/ 0 w 229"/>
                <a:gd name="T1" fmla="*/ 0 h 239"/>
                <a:gd name="T2" fmla="*/ 0 w 229"/>
                <a:gd name="T3" fmla="*/ 0 h 239"/>
                <a:gd name="T4" fmla="*/ 0 w 229"/>
                <a:gd name="T5" fmla="*/ 0 h 239"/>
                <a:gd name="T6" fmla="*/ 0 w 229"/>
                <a:gd name="T7" fmla="*/ 0 h 239"/>
                <a:gd name="T8" fmla="*/ 0 w 229"/>
                <a:gd name="T9" fmla="*/ 0 h 239"/>
                <a:gd name="T10" fmla="*/ 0 w 229"/>
                <a:gd name="T11" fmla="*/ 0 h 239"/>
                <a:gd name="T12" fmla="*/ 0 w 229"/>
                <a:gd name="T13" fmla="*/ 0 h 239"/>
                <a:gd name="T14" fmla="*/ 0 w 229"/>
                <a:gd name="T15" fmla="*/ 0 h 239"/>
                <a:gd name="T16" fmla="*/ 0 w 229"/>
                <a:gd name="T17" fmla="*/ 0 h 239"/>
                <a:gd name="T18" fmla="*/ 0 w 229"/>
                <a:gd name="T19" fmla="*/ 0 h 239"/>
                <a:gd name="T20" fmla="*/ 0 w 229"/>
                <a:gd name="T21" fmla="*/ 0 h 239"/>
                <a:gd name="T22" fmla="*/ 0 w 229"/>
                <a:gd name="T23" fmla="*/ 0 h 2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9"/>
                <a:gd name="T37" fmla="*/ 0 h 239"/>
                <a:gd name="T38" fmla="*/ 229 w 229"/>
                <a:gd name="T39" fmla="*/ 239 h 2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9" h="239">
                  <a:moveTo>
                    <a:pt x="81" y="119"/>
                  </a:moveTo>
                  <a:lnTo>
                    <a:pt x="181" y="239"/>
                  </a:lnTo>
                  <a:lnTo>
                    <a:pt x="229" y="0"/>
                  </a:lnTo>
                  <a:lnTo>
                    <a:pt x="213" y="0"/>
                  </a:lnTo>
                  <a:lnTo>
                    <a:pt x="98" y="100"/>
                  </a:lnTo>
                  <a:lnTo>
                    <a:pt x="81" y="139"/>
                  </a:lnTo>
                  <a:lnTo>
                    <a:pt x="32" y="219"/>
                  </a:lnTo>
                  <a:lnTo>
                    <a:pt x="0" y="139"/>
                  </a:lnTo>
                  <a:lnTo>
                    <a:pt x="0" y="60"/>
                  </a:lnTo>
                  <a:lnTo>
                    <a:pt x="0" y="20"/>
                  </a:lnTo>
                  <a:lnTo>
                    <a:pt x="15" y="20"/>
                  </a:lnTo>
                  <a:lnTo>
                    <a:pt x="81" y="11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57" name="Freeform 26"/>
            <p:cNvSpPr>
              <a:spLocks/>
            </p:cNvSpPr>
            <p:nvPr/>
          </p:nvSpPr>
          <p:spPr bwMode="auto">
            <a:xfrm>
              <a:off x="2913" y="2391"/>
              <a:ext cx="189" cy="300"/>
            </a:xfrm>
            <a:custGeom>
              <a:avLst/>
              <a:gdLst>
                <a:gd name="T0" fmla="*/ 1 w 377"/>
                <a:gd name="T1" fmla="*/ 2 h 599"/>
                <a:gd name="T2" fmla="*/ 1 w 377"/>
                <a:gd name="T3" fmla="*/ 2 h 599"/>
                <a:gd name="T4" fmla="*/ 1 w 377"/>
                <a:gd name="T5" fmla="*/ 2 h 599"/>
                <a:gd name="T6" fmla="*/ 1 w 377"/>
                <a:gd name="T7" fmla="*/ 2 h 599"/>
                <a:gd name="T8" fmla="*/ 1 w 377"/>
                <a:gd name="T9" fmla="*/ 2 h 599"/>
                <a:gd name="T10" fmla="*/ 1 w 377"/>
                <a:gd name="T11" fmla="*/ 2 h 599"/>
                <a:gd name="T12" fmla="*/ 0 w 377"/>
                <a:gd name="T13" fmla="*/ 2 h 599"/>
                <a:gd name="T14" fmla="*/ 0 w 377"/>
                <a:gd name="T15" fmla="*/ 2 h 599"/>
                <a:gd name="T16" fmla="*/ 1 w 377"/>
                <a:gd name="T17" fmla="*/ 1 h 599"/>
                <a:gd name="T18" fmla="*/ 1 w 377"/>
                <a:gd name="T19" fmla="*/ 1 h 599"/>
                <a:gd name="T20" fmla="*/ 1 w 377"/>
                <a:gd name="T21" fmla="*/ 1 h 599"/>
                <a:gd name="T22" fmla="*/ 1 w 377"/>
                <a:gd name="T23" fmla="*/ 1 h 599"/>
                <a:gd name="T24" fmla="*/ 1 w 377"/>
                <a:gd name="T25" fmla="*/ 1 h 599"/>
                <a:gd name="T26" fmla="*/ 1 w 377"/>
                <a:gd name="T27" fmla="*/ 1 h 599"/>
                <a:gd name="T28" fmla="*/ 1 w 377"/>
                <a:gd name="T29" fmla="*/ 1 h 599"/>
                <a:gd name="T30" fmla="*/ 1 w 377"/>
                <a:gd name="T31" fmla="*/ 1 h 599"/>
                <a:gd name="T32" fmla="*/ 1 w 377"/>
                <a:gd name="T33" fmla="*/ 0 h 599"/>
                <a:gd name="T34" fmla="*/ 1 w 377"/>
                <a:gd name="T35" fmla="*/ 1 h 599"/>
                <a:gd name="T36" fmla="*/ 2 w 377"/>
                <a:gd name="T37" fmla="*/ 1 h 599"/>
                <a:gd name="T38" fmla="*/ 2 w 377"/>
                <a:gd name="T39" fmla="*/ 1 h 599"/>
                <a:gd name="T40" fmla="*/ 2 w 377"/>
                <a:gd name="T41" fmla="*/ 1 h 599"/>
                <a:gd name="T42" fmla="*/ 2 w 377"/>
                <a:gd name="T43" fmla="*/ 2 h 599"/>
                <a:gd name="T44" fmla="*/ 2 w 377"/>
                <a:gd name="T45" fmla="*/ 2 h 599"/>
                <a:gd name="T46" fmla="*/ 2 w 377"/>
                <a:gd name="T47" fmla="*/ 2 h 599"/>
                <a:gd name="T48" fmla="*/ 2 w 377"/>
                <a:gd name="T49" fmla="*/ 3 h 599"/>
                <a:gd name="T50" fmla="*/ 2 w 377"/>
                <a:gd name="T51" fmla="*/ 3 h 599"/>
                <a:gd name="T52" fmla="*/ 1 w 377"/>
                <a:gd name="T53" fmla="*/ 3 h 599"/>
                <a:gd name="T54" fmla="*/ 1 w 377"/>
                <a:gd name="T55" fmla="*/ 3 h 599"/>
                <a:gd name="T56" fmla="*/ 1 w 377"/>
                <a:gd name="T57" fmla="*/ 3 h 599"/>
                <a:gd name="T58" fmla="*/ 1 w 377"/>
                <a:gd name="T59" fmla="*/ 3 h 599"/>
                <a:gd name="T60" fmla="*/ 1 w 377"/>
                <a:gd name="T61" fmla="*/ 3 h 599"/>
                <a:gd name="T62" fmla="*/ 1 w 377"/>
                <a:gd name="T63" fmla="*/ 3 h 599"/>
                <a:gd name="T64" fmla="*/ 1 w 377"/>
                <a:gd name="T65" fmla="*/ 3 h 599"/>
                <a:gd name="T66" fmla="*/ 1 w 377"/>
                <a:gd name="T67" fmla="*/ 3 h 599"/>
                <a:gd name="T68" fmla="*/ 1 w 377"/>
                <a:gd name="T69" fmla="*/ 3 h 599"/>
                <a:gd name="T70" fmla="*/ 1 w 377"/>
                <a:gd name="T71" fmla="*/ 2 h 599"/>
                <a:gd name="T72" fmla="*/ 1 w 377"/>
                <a:gd name="T73" fmla="*/ 2 h 59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77"/>
                <a:gd name="T112" fmla="*/ 0 h 599"/>
                <a:gd name="T113" fmla="*/ 377 w 377"/>
                <a:gd name="T114" fmla="*/ 599 h 59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77" h="599">
                  <a:moveTo>
                    <a:pt x="99" y="499"/>
                  </a:moveTo>
                  <a:lnTo>
                    <a:pt x="66" y="499"/>
                  </a:lnTo>
                  <a:lnTo>
                    <a:pt x="50" y="480"/>
                  </a:lnTo>
                  <a:lnTo>
                    <a:pt x="32" y="460"/>
                  </a:lnTo>
                  <a:lnTo>
                    <a:pt x="18" y="420"/>
                  </a:lnTo>
                  <a:lnTo>
                    <a:pt x="18" y="401"/>
                  </a:lnTo>
                  <a:lnTo>
                    <a:pt x="0" y="340"/>
                  </a:lnTo>
                  <a:lnTo>
                    <a:pt x="0" y="281"/>
                  </a:lnTo>
                  <a:lnTo>
                    <a:pt x="18" y="240"/>
                  </a:lnTo>
                  <a:lnTo>
                    <a:pt x="32" y="180"/>
                  </a:lnTo>
                  <a:lnTo>
                    <a:pt x="32" y="161"/>
                  </a:lnTo>
                  <a:lnTo>
                    <a:pt x="50" y="141"/>
                  </a:lnTo>
                  <a:lnTo>
                    <a:pt x="50" y="121"/>
                  </a:lnTo>
                  <a:lnTo>
                    <a:pt x="50" y="100"/>
                  </a:lnTo>
                  <a:lnTo>
                    <a:pt x="50" y="81"/>
                  </a:lnTo>
                  <a:lnTo>
                    <a:pt x="50" y="41"/>
                  </a:lnTo>
                  <a:lnTo>
                    <a:pt x="66" y="0"/>
                  </a:lnTo>
                  <a:lnTo>
                    <a:pt x="214" y="60"/>
                  </a:lnTo>
                  <a:lnTo>
                    <a:pt x="280" y="100"/>
                  </a:lnTo>
                  <a:lnTo>
                    <a:pt x="329" y="221"/>
                  </a:lnTo>
                  <a:lnTo>
                    <a:pt x="377" y="240"/>
                  </a:lnTo>
                  <a:lnTo>
                    <a:pt x="345" y="380"/>
                  </a:lnTo>
                  <a:lnTo>
                    <a:pt x="329" y="441"/>
                  </a:lnTo>
                  <a:lnTo>
                    <a:pt x="312" y="499"/>
                  </a:lnTo>
                  <a:lnTo>
                    <a:pt x="295" y="520"/>
                  </a:lnTo>
                  <a:lnTo>
                    <a:pt x="280" y="520"/>
                  </a:lnTo>
                  <a:lnTo>
                    <a:pt x="246" y="559"/>
                  </a:lnTo>
                  <a:lnTo>
                    <a:pt x="229" y="580"/>
                  </a:lnTo>
                  <a:lnTo>
                    <a:pt x="214" y="599"/>
                  </a:lnTo>
                  <a:lnTo>
                    <a:pt x="180" y="599"/>
                  </a:lnTo>
                  <a:lnTo>
                    <a:pt x="149" y="580"/>
                  </a:lnTo>
                  <a:lnTo>
                    <a:pt x="131" y="540"/>
                  </a:lnTo>
                  <a:lnTo>
                    <a:pt x="114" y="520"/>
                  </a:lnTo>
                  <a:lnTo>
                    <a:pt x="114" y="499"/>
                  </a:lnTo>
                  <a:lnTo>
                    <a:pt x="99" y="4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058" name="Freeform 27"/>
            <p:cNvSpPr>
              <a:spLocks/>
            </p:cNvSpPr>
            <p:nvPr/>
          </p:nvSpPr>
          <p:spPr bwMode="auto">
            <a:xfrm>
              <a:off x="2913" y="2391"/>
              <a:ext cx="189" cy="300"/>
            </a:xfrm>
            <a:custGeom>
              <a:avLst/>
              <a:gdLst>
                <a:gd name="T0" fmla="*/ 1 w 377"/>
                <a:gd name="T1" fmla="*/ 2 h 599"/>
                <a:gd name="T2" fmla="*/ 1 w 377"/>
                <a:gd name="T3" fmla="*/ 2 h 599"/>
                <a:gd name="T4" fmla="*/ 1 w 377"/>
                <a:gd name="T5" fmla="*/ 2 h 599"/>
                <a:gd name="T6" fmla="*/ 1 w 377"/>
                <a:gd name="T7" fmla="*/ 2 h 599"/>
                <a:gd name="T8" fmla="*/ 1 w 377"/>
                <a:gd name="T9" fmla="*/ 2 h 599"/>
                <a:gd name="T10" fmla="*/ 1 w 377"/>
                <a:gd name="T11" fmla="*/ 2 h 599"/>
                <a:gd name="T12" fmla="*/ 0 w 377"/>
                <a:gd name="T13" fmla="*/ 2 h 599"/>
                <a:gd name="T14" fmla="*/ 0 w 377"/>
                <a:gd name="T15" fmla="*/ 2 h 599"/>
                <a:gd name="T16" fmla="*/ 1 w 377"/>
                <a:gd name="T17" fmla="*/ 1 h 599"/>
                <a:gd name="T18" fmla="*/ 1 w 377"/>
                <a:gd name="T19" fmla="*/ 1 h 599"/>
                <a:gd name="T20" fmla="*/ 1 w 377"/>
                <a:gd name="T21" fmla="*/ 1 h 599"/>
                <a:gd name="T22" fmla="*/ 1 w 377"/>
                <a:gd name="T23" fmla="*/ 1 h 599"/>
                <a:gd name="T24" fmla="*/ 1 w 377"/>
                <a:gd name="T25" fmla="*/ 1 h 599"/>
                <a:gd name="T26" fmla="*/ 1 w 377"/>
                <a:gd name="T27" fmla="*/ 1 h 599"/>
                <a:gd name="T28" fmla="*/ 1 w 377"/>
                <a:gd name="T29" fmla="*/ 1 h 599"/>
                <a:gd name="T30" fmla="*/ 1 w 377"/>
                <a:gd name="T31" fmla="*/ 1 h 599"/>
                <a:gd name="T32" fmla="*/ 1 w 377"/>
                <a:gd name="T33" fmla="*/ 0 h 599"/>
                <a:gd name="T34" fmla="*/ 1 w 377"/>
                <a:gd name="T35" fmla="*/ 1 h 599"/>
                <a:gd name="T36" fmla="*/ 2 w 377"/>
                <a:gd name="T37" fmla="*/ 1 h 599"/>
                <a:gd name="T38" fmla="*/ 2 w 377"/>
                <a:gd name="T39" fmla="*/ 1 h 599"/>
                <a:gd name="T40" fmla="*/ 2 w 377"/>
                <a:gd name="T41" fmla="*/ 1 h 599"/>
                <a:gd name="T42" fmla="*/ 2 w 377"/>
                <a:gd name="T43" fmla="*/ 2 h 599"/>
                <a:gd name="T44" fmla="*/ 2 w 377"/>
                <a:gd name="T45" fmla="*/ 2 h 599"/>
                <a:gd name="T46" fmla="*/ 2 w 377"/>
                <a:gd name="T47" fmla="*/ 2 h 599"/>
                <a:gd name="T48" fmla="*/ 2 w 377"/>
                <a:gd name="T49" fmla="*/ 3 h 599"/>
                <a:gd name="T50" fmla="*/ 2 w 377"/>
                <a:gd name="T51" fmla="*/ 3 h 599"/>
                <a:gd name="T52" fmla="*/ 1 w 377"/>
                <a:gd name="T53" fmla="*/ 3 h 599"/>
                <a:gd name="T54" fmla="*/ 1 w 377"/>
                <a:gd name="T55" fmla="*/ 3 h 599"/>
                <a:gd name="T56" fmla="*/ 1 w 377"/>
                <a:gd name="T57" fmla="*/ 3 h 599"/>
                <a:gd name="T58" fmla="*/ 1 w 377"/>
                <a:gd name="T59" fmla="*/ 3 h 599"/>
                <a:gd name="T60" fmla="*/ 1 w 377"/>
                <a:gd name="T61" fmla="*/ 3 h 599"/>
                <a:gd name="T62" fmla="*/ 1 w 377"/>
                <a:gd name="T63" fmla="*/ 3 h 599"/>
                <a:gd name="T64" fmla="*/ 1 w 377"/>
                <a:gd name="T65" fmla="*/ 3 h 599"/>
                <a:gd name="T66" fmla="*/ 1 w 377"/>
                <a:gd name="T67" fmla="*/ 3 h 599"/>
                <a:gd name="T68" fmla="*/ 1 w 377"/>
                <a:gd name="T69" fmla="*/ 3 h 599"/>
                <a:gd name="T70" fmla="*/ 1 w 377"/>
                <a:gd name="T71" fmla="*/ 2 h 599"/>
                <a:gd name="T72" fmla="*/ 1 w 377"/>
                <a:gd name="T73" fmla="*/ 2 h 59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77"/>
                <a:gd name="T112" fmla="*/ 0 h 599"/>
                <a:gd name="T113" fmla="*/ 377 w 377"/>
                <a:gd name="T114" fmla="*/ 599 h 59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77" h="599">
                  <a:moveTo>
                    <a:pt x="99" y="499"/>
                  </a:moveTo>
                  <a:lnTo>
                    <a:pt x="66" y="499"/>
                  </a:lnTo>
                  <a:lnTo>
                    <a:pt x="50" y="480"/>
                  </a:lnTo>
                  <a:lnTo>
                    <a:pt x="32" y="460"/>
                  </a:lnTo>
                  <a:lnTo>
                    <a:pt x="18" y="420"/>
                  </a:lnTo>
                  <a:lnTo>
                    <a:pt x="18" y="401"/>
                  </a:lnTo>
                  <a:lnTo>
                    <a:pt x="0" y="340"/>
                  </a:lnTo>
                  <a:lnTo>
                    <a:pt x="0" y="281"/>
                  </a:lnTo>
                  <a:lnTo>
                    <a:pt x="18" y="240"/>
                  </a:lnTo>
                  <a:lnTo>
                    <a:pt x="32" y="180"/>
                  </a:lnTo>
                  <a:lnTo>
                    <a:pt x="32" y="161"/>
                  </a:lnTo>
                  <a:lnTo>
                    <a:pt x="50" y="141"/>
                  </a:lnTo>
                  <a:lnTo>
                    <a:pt x="50" y="121"/>
                  </a:lnTo>
                  <a:lnTo>
                    <a:pt x="50" y="100"/>
                  </a:lnTo>
                  <a:lnTo>
                    <a:pt x="50" y="81"/>
                  </a:lnTo>
                  <a:lnTo>
                    <a:pt x="50" y="41"/>
                  </a:lnTo>
                  <a:lnTo>
                    <a:pt x="66" y="0"/>
                  </a:lnTo>
                  <a:lnTo>
                    <a:pt x="214" y="60"/>
                  </a:lnTo>
                  <a:lnTo>
                    <a:pt x="280" y="100"/>
                  </a:lnTo>
                  <a:lnTo>
                    <a:pt x="329" y="221"/>
                  </a:lnTo>
                  <a:lnTo>
                    <a:pt x="377" y="240"/>
                  </a:lnTo>
                  <a:lnTo>
                    <a:pt x="345" y="380"/>
                  </a:lnTo>
                  <a:lnTo>
                    <a:pt x="329" y="441"/>
                  </a:lnTo>
                  <a:lnTo>
                    <a:pt x="312" y="499"/>
                  </a:lnTo>
                  <a:lnTo>
                    <a:pt x="295" y="520"/>
                  </a:lnTo>
                  <a:lnTo>
                    <a:pt x="280" y="520"/>
                  </a:lnTo>
                  <a:lnTo>
                    <a:pt x="246" y="559"/>
                  </a:lnTo>
                  <a:lnTo>
                    <a:pt x="229" y="580"/>
                  </a:lnTo>
                  <a:lnTo>
                    <a:pt x="214" y="599"/>
                  </a:lnTo>
                  <a:lnTo>
                    <a:pt x="180" y="599"/>
                  </a:lnTo>
                  <a:lnTo>
                    <a:pt x="149" y="580"/>
                  </a:lnTo>
                  <a:lnTo>
                    <a:pt x="131" y="540"/>
                  </a:lnTo>
                  <a:lnTo>
                    <a:pt x="114" y="520"/>
                  </a:lnTo>
                  <a:lnTo>
                    <a:pt x="114" y="499"/>
                  </a:lnTo>
                  <a:lnTo>
                    <a:pt x="99" y="49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59" name="Freeform 28"/>
            <p:cNvSpPr>
              <a:spLocks/>
            </p:cNvSpPr>
            <p:nvPr/>
          </p:nvSpPr>
          <p:spPr bwMode="auto">
            <a:xfrm>
              <a:off x="2913" y="2301"/>
              <a:ext cx="246" cy="340"/>
            </a:xfrm>
            <a:custGeom>
              <a:avLst/>
              <a:gdLst>
                <a:gd name="T0" fmla="*/ 1 w 492"/>
                <a:gd name="T1" fmla="*/ 2 h 679"/>
                <a:gd name="T2" fmla="*/ 1 w 492"/>
                <a:gd name="T3" fmla="*/ 1 h 679"/>
                <a:gd name="T4" fmla="*/ 1 w 492"/>
                <a:gd name="T5" fmla="*/ 1 h 679"/>
                <a:gd name="T6" fmla="*/ 1 w 492"/>
                <a:gd name="T7" fmla="*/ 1 h 679"/>
                <a:gd name="T8" fmla="*/ 0 w 492"/>
                <a:gd name="T9" fmla="*/ 1 h 679"/>
                <a:gd name="T10" fmla="*/ 0 w 492"/>
                <a:gd name="T11" fmla="*/ 1 h 679"/>
                <a:gd name="T12" fmla="*/ 1 w 492"/>
                <a:gd name="T13" fmla="*/ 1 h 679"/>
                <a:gd name="T14" fmla="*/ 1 w 492"/>
                <a:gd name="T15" fmla="*/ 1 h 679"/>
                <a:gd name="T16" fmla="*/ 1 w 492"/>
                <a:gd name="T17" fmla="*/ 1 h 679"/>
                <a:gd name="T18" fmla="*/ 1 w 492"/>
                <a:gd name="T19" fmla="*/ 1 h 679"/>
                <a:gd name="T20" fmla="*/ 1 w 492"/>
                <a:gd name="T21" fmla="*/ 1 h 679"/>
                <a:gd name="T22" fmla="*/ 1 w 492"/>
                <a:gd name="T23" fmla="*/ 1 h 679"/>
                <a:gd name="T24" fmla="*/ 1 w 492"/>
                <a:gd name="T25" fmla="*/ 1 h 679"/>
                <a:gd name="T26" fmla="*/ 1 w 492"/>
                <a:gd name="T27" fmla="*/ 0 h 679"/>
                <a:gd name="T28" fmla="*/ 1 w 492"/>
                <a:gd name="T29" fmla="*/ 0 h 679"/>
                <a:gd name="T30" fmla="*/ 2 w 492"/>
                <a:gd name="T31" fmla="*/ 1 h 679"/>
                <a:gd name="T32" fmla="*/ 2 w 492"/>
                <a:gd name="T33" fmla="*/ 1 h 679"/>
                <a:gd name="T34" fmla="*/ 2 w 492"/>
                <a:gd name="T35" fmla="*/ 1 h 679"/>
                <a:gd name="T36" fmla="*/ 2 w 492"/>
                <a:gd name="T37" fmla="*/ 1 h 679"/>
                <a:gd name="T38" fmla="*/ 2 w 492"/>
                <a:gd name="T39" fmla="*/ 1 h 679"/>
                <a:gd name="T40" fmla="*/ 2 w 492"/>
                <a:gd name="T41" fmla="*/ 1 h 679"/>
                <a:gd name="T42" fmla="*/ 2 w 492"/>
                <a:gd name="T43" fmla="*/ 2 h 679"/>
                <a:gd name="T44" fmla="*/ 2 w 492"/>
                <a:gd name="T45" fmla="*/ 2 h 679"/>
                <a:gd name="T46" fmla="*/ 2 w 492"/>
                <a:gd name="T47" fmla="*/ 2 h 679"/>
                <a:gd name="T48" fmla="*/ 2 w 492"/>
                <a:gd name="T49" fmla="*/ 2 h 679"/>
                <a:gd name="T50" fmla="*/ 2 w 492"/>
                <a:gd name="T51" fmla="*/ 3 h 679"/>
                <a:gd name="T52" fmla="*/ 2 w 492"/>
                <a:gd name="T53" fmla="*/ 3 h 679"/>
                <a:gd name="T54" fmla="*/ 2 w 492"/>
                <a:gd name="T55" fmla="*/ 3 h 679"/>
                <a:gd name="T56" fmla="*/ 2 w 492"/>
                <a:gd name="T57" fmla="*/ 3 h 679"/>
                <a:gd name="T58" fmla="*/ 2 w 492"/>
                <a:gd name="T59" fmla="*/ 3 h 679"/>
                <a:gd name="T60" fmla="*/ 2 w 492"/>
                <a:gd name="T61" fmla="*/ 3 h 679"/>
                <a:gd name="T62" fmla="*/ 2 w 492"/>
                <a:gd name="T63" fmla="*/ 3 h 679"/>
                <a:gd name="T64" fmla="*/ 2 w 492"/>
                <a:gd name="T65" fmla="*/ 3 h 679"/>
                <a:gd name="T66" fmla="*/ 1 w 492"/>
                <a:gd name="T67" fmla="*/ 3 h 679"/>
                <a:gd name="T68" fmla="*/ 2 w 492"/>
                <a:gd name="T69" fmla="*/ 3 h 679"/>
                <a:gd name="T70" fmla="*/ 2 w 492"/>
                <a:gd name="T71" fmla="*/ 3 h 679"/>
                <a:gd name="T72" fmla="*/ 2 w 492"/>
                <a:gd name="T73" fmla="*/ 3 h 679"/>
                <a:gd name="T74" fmla="*/ 2 w 492"/>
                <a:gd name="T75" fmla="*/ 3 h 679"/>
                <a:gd name="T76" fmla="*/ 2 w 492"/>
                <a:gd name="T77" fmla="*/ 2 h 679"/>
                <a:gd name="T78" fmla="*/ 2 w 492"/>
                <a:gd name="T79" fmla="*/ 2 h 679"/>
                <a:gd name="T80" fmla="*/ 2 w 492"/>
                <a:gd name="T81" fmla="*/ 2 h 679"/>
                <a:gd name="T82" fmla="*/ 2 w 492"/>
                <a:gd name="T83" fmla="*/ 2 h 679"/>
                <a:gd name="T84" fmla="*/ 1 w 492"/>
                <a:gd name="T85" fmla="*/ 2 h 679"/>
                <a:gd name="T86" fmla="*/ 1 w 492"/>
                <a:gd name="T87" fmla="*/ 2 h 679"/>
                <a:gd name="T88" fmla="*/ 1 w 492"/>
                <a:gd name="T89" fmla="*/ 2 h 679"/>
                <a:gd name="T90" fmla="*/ 1 w 492"/>
                <a:gd name="T91" fmla="*/ 2 h 679"/>
                <a:gd name="T92" fmla="*/ 1 w 492"/>
                <a:gd name="T93" fmla="*/ 2 h 679"/>
                <a:gd name="T94" fmla="*/ 1 w 492"/>
                <a:gd name="T95" fmla="*/ 2 h 679"/>
                <a:gd name="T96" fmla="*/ 1 w 492"/>
                <a:gd name="T97" fmla="*/ 1 h 679"/>
                <a:gd name="T98" fmla="*/ 1 w 492"/>
                <a:gd name="T99" fmla="*/ 1 h 679"/>
                <a:gd name="T100" fmla="*/ 1 w 492"/>
                <a:gd name="T101" fmla="*/ 1 h 679"/>
                <a:gd name="T102" fmla="*/ 1 w 492"/>
                <a:gd name="T103" fmla="*/ 2 h 67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92"/>
                <a:gd name="T157" fmla="*/ 0 h 679"/>
                <a:gd name="T158" fmla="*/ 492 w 492"/>
                <a:gd name="T159" fmla="*/ 679 h 67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92" h="679">
                  <a:moveTo>
                    <a:pt x="49" y="260"/>
                  </a:moveTo>
                  <a:lnTo>
                    <a:pt x="32" y="260"/>
                  </a:lnTo>
                  <a:lnTo>
                    <a:pt x="32" y="240"/>
                  </a:lnTo>
                  <a:lnTo>
                    <a:pt x="32" y="221"/>
                  </a:lnTo>
                  <a:lnTo>
                    <a:pt x="18" y="201"/>
                  </a:lnTo>
                  <a:lnTo>
                    <a:pt x="32" y="161"/>
                  </a:lnTo>
                  <a:lnTo>
                    <a:pt x="18" y="161"/>
                  </a:lnTo>
                  <a:lnTo>
                    <a:pt x="0" y="140"/>
                  </a:lnTo>
                  <a:lnTo>
                    <a:pt x="0" y="121"/>
                  </a:lnTo>
                  <a:lnTo>
                    <a:pt x="0" y="100"/>
                  </a:lnTo>
                  <a:lnTo>
                    <a:pt x="18" y="100"/>
                  </a:lnTo>
                  <a:lnTo>
                    <a:pt x="32" y="82"/>
                  </a:lnTo>
                  <a:lnTo>
                    <a:pt x="49" y="82"/>
                  </a:lnTo>
                  <a:lnTo>
                    <a:pt x="49" y="61"/>
                  </a:lnTo>
                  <a:lnTo>
                    <a:pt x="65" y="61"/>
                  </a:lnTo>
                  <a:lnTo>
                    <a:pt x="82" y="61"/>
                  </a:lnTo>
                  <a:lnTo>
                    <a:pt x="98" y="42"/>
                  </a:lnTo>
                  <a:lnTo>
                    <a:pt x="114" y="42"/>
                  </a:lnTo>
                  <a:lnTo>
                    <a:pt x="131" y="21"/>
                  </a:lnTo>
                  <a:lnTo>
                    <a:pt x="149" y="0"/>
                  </a:lnTo>
                  <a:lnTo>
                    <a:pt x="165" y="0"/>
                  </a:lnTo>
                  <a:lnTo>
                    <a:pt x="214" y="0"/>
                  </a:lnTo>
                  <a:lnTo>
                    <a:pt x="280" y="21"/>
                  </a:lnTo>
                  <a:lnTo>
                    <a:pt x="329" y="21"/>
                  </a:lnTo>
                  <a:lnTo>
                    <a:pt x="345" y="42"/>
                  </a:lnTo>
                  <a:lnTo>
                    <a:pt x="360" y="42"/>
                  </a:lnTo>
                  <a:lnTo>
                    <a:pt x="377" y="61"/>
                  </a:lnTo>
                  <a:lnTo>
                    <a:pt x="395" y="61"/>
                  </a:lnTo>
                  <a:lnTo>
                    <a:pt x="411" y="82"/>
                  </a:lnTo>
                  <a:lnTo>
                    <a:pt x="427" y="121"/>
                  </a:lnTo>
                  <a:lnTo>
                    <a:pt x="444" y="140"/>
                  </a:lnTo>
                  <a:lnTo>
                    <a:pt x="459" y="161"/>
                  </a:lnTo>
                  <a:lnTo>
                    <a:pt x="476" y="180"/>
                  </a:lnTo>
                  <a:lnTo>
                    <a:pt x="476" y="221"/>
                  </a:lnTo>
                  <a:lnTo>
                    <a:pt x="476" y="240"/>
                  </a:lnTo>
                  <a:lnTo>
                    <a:pt x="492" y="279"/>
                  </a:lnTo>
                  <a:lnTo>
                    <a:pt x="492" y="301"/>
                  </a:lnTo>
                  <a:lnTo>
                    <a:pt x="476" y="340"/>
                  </a:lnTo>
                  <a:lnTo>
                    <a:pt x="476" y="379"/>
                  </a:lnTo>
                  <a:lnTo>
                    <a:pt x="476" y="420"/>
                  </a:lnTo>
                  <a:lnTo>
                    <a:pt x="459" y="460"/>
                  </a:lnTo>
                  <a:lnTo>
                    <a:pt x="459" y="499"/>
                  </a:lnTo>
                  <a:lnTo>
                    <a:pt x="459" y="519"/>
                  </a:lnTo>
                  <a:lnTo>
                    <a:pt x="444" y="539"/>
                  </a:lnTo>
                  <a:lnTo>
                    <a:pt x="444" y="580"/>
                  </a:lnTo>
                  <a:lnTo>
                    <a:pt x="427" y="599"/>
                  </a:lnTo>
                  <a:lnTo>
                    <a:pt x="427" y="620"/>
                  </a:lnTo>
                  <a:lnTo>
                    <a:pt x="411" y="639"/>
                  </a:lnTo>
                  <a:lnTo>
                    <a:pt x="395" y="639"/>
                  </a:lnTo>
                  <a:lnTo>
                    <a:pt x="377" y="659"/>
                  </a:lnTo>
                  <a:lnTo>
                    <a:pt x="360" y="679"/>
                  </a:lnTo>
                  <a:lnTo>
                    <a:pt x="345" y="679"/>
                  </a:lnTo>
                  <a:lnTo>
                    <a:pt x="329" y="679"/>
                  </a:lnTo>
                  <a:lnTo>
                    <a:pt x="312" y="659"/>
                  </a:lnTo>
                  <a:lnTo>
                    <a:pt x="295" y="679"/>
                  </a:lnTo>
                  <a:lnTo>
                    <a:pt x="280" y="679"/>
                  </a:lnTo>
                  <a:lnTo>
                    <a:pt x="262" y="679"/>
                  </a:lnTo>
                  <a:lnTo>
                    <a:pt x="246" y="659"/>
                  </a:lnTo>
                  <a:lnTo>
                    <a:pt x="262" y="659"/>
                  </a:lnTo>
                  <a:lnTo>
                    <a:pt x="280" y="639"/>
                  </a:lnTo>
                  <a:lnTo>
                    <a:pt x="295" y="639"/>
                  </a:lnTo>
                  <a:lnTo>
                    <a:pt x="295" y="620"/>
                  </a:lnTo>
                  <a:lnTo>
                    <a:pt x="312" y="599"/>
                  </a:lnTo>
                  <a:lnTo>
                    <a:pt x="312" y="580"/>
                  </a:lnTo>
                  <a:lnTo>
                    <a:pt x="312" y="560"/>
                  </a:lnTo>
                  <a:lnTo>
                    <a:pt x="312" y="519"/>
                  </a:lnTo>
                  <a:lnTo>
                    <a:pt x="312" y="499"/>
                  </a:lnTo>
                  <a:lnTo>
                    <a:pt x="312" y="480"/>
                  </a:lnTo>
                  <a:lnTo>
                    <a:pt x="312" y="460"/>
                  </a:lnTo>
                  <a:lnTo>
                    <a:pt x="329" y="460"/>
                  </a:lnTo>
                  <a:lnTo>
                    <a:pt x="329" y="440"/>
                  </a:lnTo>
                  <a:lnTo>
                    <a:pt x="329" y="420"/>
                  </a:lnTo>
                  <a:lnTo>
                    <a:pt x="312" y="399"/>
                  </a:lnTo>
                  <a:lnTo>
                    <a:pt x="280" y="379"/>
                  </a:lnTo>
                  <a:lnTo>
                    <a:pt x="262" y="359"/>
                  </a:lnTo>
                  <a:lnTo>
                    <a:pt x="229" y="340"/>
                  </a:lnTo>
                  <a:lnTo>
                    <a:pt x="214" y="319"/>
                  </a:lnTo>
                  <a:lnTo>
                    <a:pt x="197" y="319"/>
                  </a:lnTo>
                  <a:lnTo>
                    <a:pt x="197" y="301"/>
                  </a:lnTo>
                  <a:lnTo>
                    <a:pt x="180" y="301"/>
                  </a:lnTo>
                  <a:lnTo>
                    <a:pt x="165" y="301"/>
                  </a:lnTo>
                  <a:lnTo>
                    <a:pt x="149" y="279"/>
                  </a:lnTo>
                  <a:lnTo>
                    <a:pt x="131" y="279"/>
                  </a:lnTo>
                  <a:lnTo>
                    <a:pt x="114" y="279"/>
                  </a:lnTo>
                  <a:lnTo>
                    <a:pt x="98" y="260"/>
                  </a:lnTo>
                  <a:lnTo>
                    <a:pt x="82" y="260"/>
                  </a:lnTo>
                  <a:lnTo>
                    <a:pt x="82" y="240"/>
                  </a:lnTo>
                  <a:lnTo>
                    <a:pt x="65" y="240"/>
                  </a:lnTo>
                  <a:lnTo>
                    <a:pt x="65" y="221"/>
                  </a:lnTo>
                  <a:lnTo>
                    <a:pt x="65" y="240"/>
                  </a:lnTo>
                  <a:lnTo>
                    <a:pt x="49" y="240"/>
                  </a:lnTo>
                  <a:lnTo>
                    <a:pt x="49" y="26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060" name="Freeform 29"/>
            <p:cNvSpPr>
              <a:spLocks/>
            </p:cNvSpPr>
            <p:nvPr/>
          </p:nvSpPr>
          <p:spPr bwMode="auto">
            <a:xfrm>
              <a:off x="2913" y="2301"/>
              <a:ext cx="246" cy="340"/>
            </a:xfrm>
            <a:custGeom>
              <a:avLst/>
              <a:gdLst>
                <a:gd name="T0" fmla="*/ 1 w 492"/>
                <a:gd name="T1" fmla="*/ 2 h 679"/>
                <a:gd name="T2" fmla="*/ 1 w 492"/>
                <a:gd name="T3" fmla="*/ 1 h 679"/>
                <a:gd name="T4" fmla="*/ 1 w 492"/>
                <a:gd name="T5" fmla="*/ 1 h 679"/>
                <a:gd name="T6" fmla="*/ 1 w 492"/>
                <a:gd name="T7" fmla="*/ 1 h 679"/>
                <a:gd name="T8" fmla="*/ 0 w 492"/>
                <a:gd name="T9" fmla="*/ 1 h 679"/>
                <a:gd name="T10" fmla="*/ 0 w 492"/>
                <a:gd name="T11" fmla="*/ 1 h 679"/>
                <a:gd name="T12" fmla="*/ 1 w 492"/>
                <a:gd name="T13" fmla="*/ 1 h 679"/>
                <a:gd name="T14" fmla="*/ 1 w 492"/>
                <a:gd name="T15" fmla="*/ 1 h 679"/>
                <a:gd name="T16" fmla="*/ 1 w 492"/>
                <a:gd name="T17" fmla="*/ 1 h 679"/>
                <a:gd name="T18" fmla="*/ 1 w 492"/>
                <a:gd name="T19" fmla="*/ 1 h 679"/>
                <a:gd name="T20" fmla="*/ 1 w 492"/>
                <a:gd name="T21" fmla="*/ 1 h 679"/>
                <a:gd name="T22" fmla="*/ 1 w 492"/>
                <a:gd name="T23" fmla="*/ 1 h 679"/>
                <a:gd name="T24" fmla="*/ 1 w 492"/>
                <a:gd name="T25" fmla="*/ 1 h 679"/>
                <a:gd name="T26" fmla="*/ 1 w 492"/>
                <a:gd name="T27" fmla="*/ 0 h 679"/>
                <a:gd name="T28" fmla="*/ 1 w 492"/>
                <a:gd name="T29" fmla="*/ 0 h 679"/>
                <a:gd name="T30" fmla="*/ 2 w 492"/>
                <a:gd name="T31" fmla="*/ 1 h 679"/>
                <a:gd name="T32" fmla="*/ 2 w 492"/>
                <a:gd name="T33" fmla="*/ 1 h 679"/>
                <a:gd name="T34" fmla="*/ 2 w 492"/>
                <a:gd name="T35" fmla="*/ 1 h 679"/>
                <a:gd name="T36" fmla="*/ 2 w 492"/>
                <a:gd name="T37" fmla="*/ 1 h 679"/>
                <a:gd name="T38" fmla="*/ 2 w 492"/>
                <a:gd name="T39" fmla="*/ 1 h 679"/>
                <a:gd name="T40" fmla="*/ 2 w 492"/>
                <a:gd name="T41" fmla="*/ 1 h 679"/>
                <a:gd name="T42" fmla="*/ 2 w 492"/>
                <a:gd name="T43" fmla="*/ 2 h 679"/>
                <a:gd name="T44" fmla="*/ 2 w 492"/>
                <a:gd name="T45" fmla="*/ 2 h 679"/>
                <a:gd name="T46" fmla="*/ 2 w 492"/>
                <a:gd name="T47" fmla="*/ 2 h 679"/>
                <a:gd name="T48" fmla="*/ 2 w 492"/>
                <a:gd name="T49" fmla="*/ 2 h 679"/>
                <a:gd name="T50" fmla="*/ 2 w 492"/>
                <a:gd name="T51" fmla="*/ 3 h 679"/>
                <a:gd name="T52" fmla="*/ 2 w 492"/>
                <a:gd name="T53" fmla="*/ 3 h 679"/>
                <a:gd name="T54" fmla="*/ 2 w 492"/>
                <a:gd name="T55" fmla="*/ 3 h 679"/>
                <a:gd name="T56" fmla="*/ 2 w 492"/>
                <a:gd name="T57" fmla="*/ 3 h 679"/>
                <a:gd name="T58" fmla="*/ 2 w 492"/>
                <a:gd name="T59" fmla="*/ 3 h 679"/>
                <a:gd name="T60" fmla="*/ 2 w 492"/>
                <a:gd name="T61" fmla="*/ 3 h 679"/>
                <a:gd name="T62" fmla="*/ 2 w 492"/>
                <a:gd name="T63" fmla="*/ 3 h 679"/>
                <a:gd name="T64" fmla="*/ 2 w 492"/>
                <a:gd name="T65" fmla="*/ 3 h 679"/>
                <a:gd name="T66" fmla="*/ 1 w 492"/>
                <a:gd name="T67" fmla="*/ 3 h 679"/>
                <a:gd name="T68" fmla="*/ 2 w 492"/>
                <a:gd name="T69" fmla="*/ 3 h 679"/>
                <a:gd name="T70" fmla="*/ 2 w 492"/>
                <a:gd name="T71" fmla="*/ 3 h 679"/>
                <a:gd name="T72" fmla="*/ 2 w 492"/>
                <a:gd name="T73" fmla="*/ 3 h 679"/>
                <a:gd name="T74" fmla="*/ 2 w 492"/>
                <a:gd name="T75" fmla="*/ 3 h 679"/>
                <a:gd name="T76" fmla="*/ 2 w 492"/>
                <a:gd name="T77" fmla="*/ 2 h 679"/>
                <a:gd name="T78" fmla="*/ 2 w 492"/>
                <a:gd name="T79" fmla="*/ 2 h 679"/>
                <a:gd name="T80" fmla="*/ 2 w 492"/>
                <a:gd name="T81" fmla="*/ 2 h 679"/>
                <a:gd name="T82" fmla="*/ 2 w 492"/>
                <a:gd name="T83" fmla="*/ 2 h 679"/>
                <a:gd name="T84" fmla="*/ 1 w 492"/>
                <a:gd name="T85" fmla="*/ 2 h 679"/>
                <a:gd name="T86" fmla="*/ 1 w 492"/>
                <a:gd name="T87" fmla="*/ 2 h 679"/>
                <a:gd name="T88" fmla="*/ 1 w 492"/>
                <a:gd name="T89" fmla="*/ 2 h 679"/>
                <a:gd name="T90" fmla="*/ 1 w 492"/>
                <a:gd name="T91" fmla="*/ 2 h 679"/>
                <a:gd name="T92" fmla="*/ 1 w 492"/>
                <a:gd name="T93" fmla="*/ 2 h 679"/>
                <a:gd name="T94" fmla="*/ 1 w 492"/>
                <a:gd name="T95" fmla="*/ 2 h 679"/>
                <a:gd name="T96" fmla="*/ 1 w 492"/>
                <a:gd name="T97" fmla="*/ 1 h 679"/>
                <a:gd name="T98" fmla="*/ 1 w 492"/>
                <a:gd name="T99" fmla="*/ 1 h 679"/>
                <a:gd name="T100" fmla="*/ 1 w 492"/>
                <a:gd name="T101" fmla="*/ 1 h 679"/>
                <a:gd name="T102" fmla="*/ 1 w 492"/>
                <a:gd name="T103" fmla="*/ 2 h 67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92"/>
                <a:gd name="T157" fmla="*/ 0 h 679"/>
                <a:gd name="T158" fmla="*/ 492 w 492"/>
                <a:gd name="T159" fmla="*/ 679 h 67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92" h="679">
                  <a:moveTo>
                    <a:pt x="49" y="260"/>
                  </a:moveTo>
                  <a:lnTo>
                    <a:pt x="32" y="260"/>
                  </a:lnTo>
                  <a:lnTo>
                    <a:pt x="32" y="240"/>
                  </a:lnTo>
                  <a:lnTo>
                    <a:pt x="32" y="221"/>
                  </a:lnTo>
                  <a:lnTo>
                    <a:pt x="18" y="201"/>
                  </a:lnTo>
                  <a:lnTo>
                    <a:pt x="32" y="161"/>
                  </a:lnTo>
                  <a:lnTo>
                    <a:pt x="18" y="161"/>
                  </a:lnTo>
                  <a:lnTo>
                    <a:pt x="0" y="140"/>
                  </a:lnTo>
                  <a:lnTo>
                    <a:pt x="0" y="121"/>
                  </a:lnTo>
                  <a:lnTo>
                    <a:pt x="0" y="100"/>
                  </a:lnTo>
                  <a:lnTo>
                    <a:pt x="18" y="100"/>
                  </a:lnTo>
                  <a:lnTo>
                    <a:pt x="32" y="82"/>
                  </a:lnTo>
                  <a:lnTo>
                    <a:pt x="49" y="82"/>
                  </a:lnTo>
                  <a:lnTo>
                    <a:pt x="49" y="61"/>
                  </a:lnTo>
                  <a:lnTo>
                    <a:pt x="65" y="61"/>
                  </a:lnTo>
                  <a:lnTo>
                    <a:pt x="82" y="61"/>
                  </a:lnTo>
                  <a:lnTo>
                    <a:pt x="98" y="42"/>
                  </a:lnTo>
                  <a:lnTo>
                    <a:pt x="114" y="42"/>
                  </a:lnTo>
                  <a:lnTo>
                    <a:pt x="131" y="21"/>
                  </a:lnTo>
                  <a:lnTo>
                    <a:pt x="149" y="0"/>
                  </a:lnTo>
                  <a:lnTo>
                    <a:pt x="165" y="0"/>
                  </a:lnTo>
                  <a:lnTo>
                    <a:pt x="214" y="0"/>
                  </a:lnTo>
                  <a:lnTo>
                    <a:pt x="280" y="21"/>
                  </a:lnTo>
                  <a:lnTo>
                    <a:pt x="329" y="21"/>
                  </a:lnTo>
                  <a:lnTo>
                    <a:pt x="345" y="42"/>
                  </a:lnTo>
                  <a:lnTo>
                    <a:pt x="360" y="42"/>
                  </a:lnTo>
                  <a:lnTo>
                    <a:pt x="377" y="61"/>
                  </a:lnTo>
                  <a:lnTo>
                    <a:pt x="395" y="61"/>
                  </a:lnTo>
                  <a:lnTo>
                    <a:pt x="411" y="82"/>
                  </a:lnTo>
                  <a:lnTo>
                    <a:pt x="427" y="121"/>
                  </a:lnTo>
                  <a:lnTo>
                    <a:pt x="444" y="140"/>
                  </a:lnTo>
                  <a:lnTo>
                    <a:pt x="459" y="161"/>
                  </a:lnTo>
                  <a:lnTo>
                    <a:pt x="476" y="180"/>
                  </a:lnTo>
                  <a:lnTo>
                    <a:pt x="476" y="221"/>
                  </a:lnTo>
                  <a:lnTo>
                    <a:pt x="476" y="240"/>
                  </a:lnTo>
                  <a:lnTo>
                    <a:pt x="492" y="279"/>
                  </a:lnTo>
                  <a:lnTo>
                    <a:pt x="492" y="301"/>
                  </a:lnTo>
                  <a:lnTo>
                    <a:pt x="476" y="340"/>
                  </a:lnTo>
                  <a:lnTo>
                    <a:pt x="476" y="379"/>
                  </a:lnTo>
                  <a:lnTo>
                    <a:pt x="476" y="420"/>
                  </a:lnTo>
                  <a:lnTo>
                    <a:pt x="459" y="460"/>
                  </a:lnTo>
                  <a:lnTo>
                    <a:pt x="459" y="499"/>
                  </a:lnTo>
                  <a:lnTo>
                    <a:pt x="459" y="519"/>
                  </a:lnTo>
                  <a:lnTo>
                    <a:pt x="444" y="539"/>
                  </a:lnTo>
                  <a:lnTo>
                    <a:pt x="444" y="580"/>
                  </a:lnTo>
                  <a:lnTo>
                    <a:pt x="427" y="599"/>
                  </a:lnTo>
                  <a:lnTo>
                    <a:pt x="427" y="620"/>
                  </a:lnTo>
                  <a:lnTo>
                    <a:pt x="411" y="639"/>
                  </a:lnTo>
                  <a:lnTo>
                    <a:pt x="395" y="639"/>
                  </a:lnTo>
                  <a:lnTo>
                    <a:pt x="377" y="659"/>
                  </a:lnTo>
                  <a:lnTo>
                    <a:pt x="360" y="679"/>
                  </a:lnTo>
                  <a:lnTo>
                    <a:pt x="345" y="679"/>
                  </a:lnTo>
                  <a:lnTo>
                    <a:pt x="329" y="679"/>
                  </a:lnTo>
                  <a:lnTo>
                    <a:pt x="312" y="659"/>
                  </a:lnTo>
                  <a:lnTo>
                    <a:pt x="295" y="679"/>
                  </a:lnTo>
                  <a:lnTo>
                    <a:pt x="280" y="679"/>
                  </a:lnTo>
                  <a:lnTo>
                    <a:pt x="262" y="679"/>
                  </a:lnTo>
                  <a:lnTo>
                    <a:pt x="246" y="659"/>
                  </a:lnTo>
                  <a:lnTo>
                    <a:pt x="262" y="659"/>
                  </a:lnTo>
                  <a:lnTo>
                    <a:pt x="280" y="639"/>
                  </a:lnTo>
                  <a:lnTo>
                    <a:pt x="295" y="639"/>
                  </a:lnTo>
                  <a:lnTo>
                    <a:pt x="295" y="620"/>
                  </a:lnTo>
                  <a:lnTo>
                    <a:pt x="312" y="599"/>
                  </a:lnTo>
                  <a:lnTo>
                    <a:pt x="312" y="580"/>
                  </a:lnTo>
                  <a:lnTo>
                    <a:pt x="312" y="560"/>
                  </a:lnTo>
                  <a:lnTo>
                    <a:pt x="312" y="519"/>
                  </a:lnTo>
                  <a:lnTo>
                    <a:pt x="312" y="499"/>
                  </a:lnTo>
                  <a:lnTo>
                    <a:pt x="312" y="480"/>
                  </a:lnTo>
                  <a:lnTo>
                    <a:pt x="312" y="460"/>
                  </a:lnTo>
                  <a:lnTo>
                    <a:pt x="329" y="460"/>
                  </a:lnTo>
                  <a:lnTo>
                    <a:pt x="329" y="440"/>
                  </a:lnTo>
                  <a:lnTo>
                    <a:pt x="329" y="420"/>
                  </a:lnTo>
                  <a:lnTo>
                    <a:pt x="312" y="399"/>
                  </a:lnTo>
                  <a:lnTo>
                    <a:pt x="280" y="379"/>
                  </a:lnTo>
                  <a:lnTo>
                    <a:pt x="262" y="359"/>
                  </a:lnTo>
                  <a:lnTo>
                    <a:pt x="229" y="340"/>
                  </a:lnTo>
                  <a:lnTo>
                    <a:pt x="214" y="319"/>
                  </a:lnTo>
                  <a:lnTo>
                    <a:pt x="197" y="319"/>
                  </a:lnTo>
                  <a:lnTo>
                    <a:pt x="197" y="301"/>
                  </a:lnTo>
                  <a:lnTo>
                    <a:pt x="180" y="301"/>
                  </a:lnTo>
                  <a:lnTo>
                    <a:pt x="165" y="301"/>
                  </a:lnTo>
                  <a:lnTo>
                    <a:pt x="149" y="279"/>
                  </a:lnTo>
                  <a:lnTo>
                    <a:pt x="131" y="279"/>
                  </a:lnTo>
                  <a:lnTo>
                    <a:pt x="114" y="279"/>
                  </a:lnTo>
                  <a:lnTo>
                    <a:pt x="98" y="260"/>
                  </a:lnTo>
                  <a:lnTo>
                    <a:pt x="82" y="260"/>
                  </a:lnTo>
                  <a:lnTo>
                    <a:pt x="82" y="240"/>
                  </a:lnTo>
                  <a:lnTo>
                    <a:pt x="65" y="240"/>
                  </a:lnTo>
                  <a:lnTo>
                    <a:pt x="65" y="221"/>
                  </a:lnTo>
                  <a:lnTo>
                    <a:pt x="65" y="240"/>
                  </a:lnTo>
                  <a:lnTo>
                    <a:pt x="49" y="240"/>
                  </a:lnTo>
                  <a:lnTo>
                    <a:pt x="49" y="26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61" name="Freeform 30"/>
            <p:cNvSpPr>
              <a:spLocks/>
            </p:cNvSpPr>
            <p:nvPr/>
          </p:nvSpPr>
          <p:spPr bwMode="auto">
            <a:xfrm>
              <a:off x="3021" y="3051"/>
              <a:ext cx="197" cy="149"/>
            </a:xfrm>
            <a:custGeom>
              <a:avLst/>
              <a:gdLst>
                <a:gd name="T0" fmla="*/ 1 w 395"/>
                <a:gd name="T1" fmla="*/ 1 h 298"/>
                <a:gd name="T2" fmla="*/ 1 w 395"/>
                <a:gd name="T3" fmla="*/ 1 h 298"/>
                <a:gd name="T4" fmla="*/ 1 w 395"/>
                <a:gd name="T5" fmla="*/ 1 h 298"/>
                <a:gd name="T6" fmla="*/ 1 w 395"/>
                <a:gd name="T7" fmla="*/ 1 h 298"/>
                <a:gd name="T8" fmla="*/ 0 w 395"/>
                <a:gd name="T9" fmla="*/ 1 h 298"/>
                <a:gd name="T10" fmla="*/ 0 w 395"/>
                <a:gd name="T11" fmla="*/ 1 h 298"/>
                <a:gd name="T12" fmla="*/ 0 w 395"/>
                <a:gd name="T13" fmla="*/ 1 h 298"/>
                <a:gd name="T14" fmla="*/ 0 w 395"/>
                <a:gd name="T15" fmla="*/ 0 h 298"/>
                <a:gd name="T16" fmla="*/ 0 w 395"/>
                <a:gd name="T17" fmla="*/ 0 h 298"/>
                <a:gd name="T18" fmla="*/ 0 w 395"/>
                <a:gd name="T19" fmla="*/ 0 h 298"/>
                <a:gd name="T20" fmla="*/ 0 w 395"/>
                <a:gd name="T21" fmla="*/ 0 h 298"/>
                <a:gd name="T22" fmla="*/ 0 w 395"/>
                <a:gd name="T23" fmla="*/ 1 h 298"/>
                <a:gd name="T24" fmla="*/ 0 w 395"/>
                <a:gd name="T25" fmla="*/ 1 h 298"/>
                <a:gd name="T26" fmla="*/ 0 w 395"/>
                <a:gd name="T27" fmla="*/ 1 h 298"/>
                <a:gd name="T28" fmla="*/ 0 w 395"/>
                <a:gd name="T29" fmla="*/ 1 h 298"/>
                <a:gd name="T30" fmla="*/ 0 w 395"/>
                <a:gd name="T31" fmla="*/ 1 h 298"/>
                <a:gd name="T32" fmla="*/ 0 w 395"/>
                <a:gd name="T33" fmla="*/ 1 h 298"/>
                <a:gd name="T34" fmla="*/ 0 w 395"/>
                <a:gd name="T35" fmla="*/ 1 h 298"/>
                <a:gd name="T36" fmla="*/ 0 w 395"/>
                <a:gd name="T37" fmla="*/ 1 h 298"/>
                <a:gd name="T38" fmla="*/ 0 w 395"/>
                <a:gd name="T39" fmla="*/ 1 h 298"/>
                <a:gd name="T40" fmla="*/ 0 w 395"/>
                <a:gd name="T41" fmla="*/ 1 h 298"/>
                <a:gd name="T42" fmla="*/ 0 w 395"/>
                <a:gd name="T43" fmla="*/ 1 h 298"/>
                <a:gd name="T44" fmla="*/ 0 w 395"/>
                <a:gd name="T45" fmla="*/ 1 h 298"/>
                <a:gd name="T46" fmla="*/ 0 w 395"/>
                <a:gd name="T47" fmla="*/ 1 h 298"/>
                <a:gd name="T48" fmla="*/ 0 w 395"/>
                <a:gd name="T49" fmla="*/ 1 h 298"/>
                <a:gd name="T50" fmla="*/ 0 w 395"/>
                <a:gd name="T51" fmla="*/ 1 h 298"/>
                <a:gd name="T52" fmla="*/ 0 w 395"/>
                <a:gd name="T53" fmla="*/ 1 h 298"/>
                <a:gd name="T54" fmla="*/ 0 w 395"/>
                <a:gd name="T55" fmla="*/ 1 h 298"/>
                <a:gd name="T56" fmla="*/ 0 w 395"/>
                <a:gd name="T57" fmla="*/ 1 h 298"/>
                <a:gd name="T58" fmla="*/ 0 w 395"/>
                <a:gd name="T59" fmla="*/ 1 h 298"/>
                <a:gd name="T60" fmla="*/ 0 w 395"/>
                <a:gd name="T61" fmla="*/ 1 h 298"/>
                <a:gd name="T62" fmla="*/ 0 w 395"/>
                <a:gd name="T63" fmla="*/ 1 h 298"/>
                <a:gd name="T64" fmla="*/ 0 w 395"/>
                <a:gd name="T65" fmla="*/ 1 h 298"/>
                <a:gd name="T66" fmla="*/ 0 w 395"/>
                <a:gd name="T67" fmla="*/ 1 h 298"/>
                <a:gd name="T68" fmla="*/ 0 w 395"/>
                <a:gd name="T69" fmla="*/ 2 h 298"/>
                <a:gd name="T70" fmla="*/ 0 w 395"/>
                <a:gd name="T71" fmla="*/ 2 h 298"/>
                <a:gd name="T72" fmla="*/ 0 w 395"/>
                <a:gd name="T73" fmla="*/ 2 h 298"/>
                <a:gd name="T74" fmla="*/ 0 w 395"/>
                <a:gd name="T75" fmla="*/ 2 h 298"/>
                <a:gd name="T76" fmla="*/ 0 w 395"/>
                <a:gd name="T77" fmla="*/ 2 h 298"/>
                <a:gd name="T78" fmla="*/ 0 w 395"/>
                <a:gd name="T79" fmla="*/ 2 h 298"/>
                <a:gd name="T80" fmla="*/ 0 w 395"/>
                <a:gd name="T81" fmla="*/ 2 h 298"/>
                <a:gd name="T82" fmla="*/ 0 w 395"/>
                <a:gd name="T83" fmla="*/ 2 h 298"/>
                <a:gd name="T84" fmla="*/ 0 w 395"/>
                <a:gd name="T85" fmla="*/ 2 h 298"/>
                <a:gd name="T86" fmla="*/ 0 w 395"/>
                <a:gd name="T87" fmla="*/ 2 h 298"/>
                <a:gd name="T88" fmla="*/ 0 w 395"/>
                <a:gd name="T89" fmla="*/ 2 h 298"/>
                <a:gd name="T90" fmla="*/ 0 w 395"/>
                <a:gd name="T91" fmla="*/ 1 h 298"/>
                <a:gd name="T92" fmla="*/ 0 w 395"/>
                <a:gd name="T93" fmla="*/ 1 h 298"/>
                <a:gd name="T94" fmla="*/ 0 w 395"/>
                <a:gd name="T95" fmla="*/ 1 h 298"/>
                <a:gd name="T96" fmla="*/ 0 w 395"/>
                <a:gd name="T97" fmla="*/ 2 h 298"/>
                <a:gd name="T98" fmla="*/ 1 w 395"/>
                <a:gd name="T99" fmla="*/ 2 h 298"/>
                <a:gd name="T100" fmla="*/ 1 w 395"/>
                <a:gd name="T101" fmla="*/ 2 h 298"/>
                <a:gd name="T102" fmla="*/ 1 w 395"/>
                <a:gd name="T103" fmla="*/ 2 h 298"/>
                <a:gd name="T104" fmla="*/ 1 w 395"/>
                <a:gd name="T105" fmla="*/ 2 h 298"/>
                <a:gd name="T106" fmla="*/ 1 w 395"/>
                <a:gd name="T107" fmla="*/ 2 h 298"/>
                <a:gd name="T108" fmla="*/ 1 w 395"/>
                <a:gd name="T109" fmla="*/ 2 h 298"/>
                <a:gd name="T110" fmla="*/ 1 w 395"/>
                <a:gd name="T111" fmla="*/ 2 h 298"/>
                <a:gd name="T112" fmla="*/ 1 w 395"/>
                <a:gd name="T113" fmla="*/ 2 h 298"/>
                <a:gd name="T114" fmla="*/ 1 w 395"/>
                <a:gd name="T115" fmla="*/ 1 h 298"/>
                <a:gd name="T116" fmla="*/ 1 w 395"/>
                <a:gd name="T117" fmla="*/ 1 h 298"/>
                <a:gd name="T118" fmla="*/ 1 w 395"/>
                <a:gd name="T119" fmla="*/ 1 h 29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95"/>
                <a:gd name="T181" fmla="*/ 0 h 298"/>
                <a:gd name="T182" fmla="*/ 395 w 395"/>
                <a:gd name="T183" fmla="*/ 298 h 29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95" h="298">
                  <a:moveTo>
                    <a:pt x="328" y="119"/>
                  </a:moveTo>
                  <a:lnTo>
                    <a:pt x="312" y="119"/>
                  </a:lnTo>
                  <a:lnTo>
                    <a:pt x="297" y="100"/>
                  </a:lnTo>
                  <a:lnTo>
                    <a:pt x="262" y="61"/>
                  </a:lnTo>
                  <a:lnTo>
                    <a:pt x="246" y="61"/>
                  </a:lnTo>
                  <a:lnTo>
                    <a:pt x="213" y="40"/>
                  </a:lnTo>
                  <a:lnTo>
                    <a:pt x="197" y="19"/>
                  </a:lnTo>
                  <a:lnTo>
                    <a:pt x="165" y="0"/>
                  </a:lnTo>
                  <a:lnTo>
                    <a:pt x="131" y="0"/>
                  </a:lnTo>
                  <a:lnTo>
                    <a:pt x="98" y="0"/>
                  </a:lnTo>
                  <a:lnTo>
                    <a:pt x="67" y="0"/>
                  </a:lnTo>
                  <a:lnTo>
                    <a:pt x="50" y="19"/>
                  </a:lnTo>
                  <a:lnTo>
                    <a:pt x="32" y="19"/>
                  </a:lnTo>
                  <a:lnTo>
                    <a:pt x="15" y="40"/>
                  </a:lnTo>
                  <a:lnTo>
                    <a:pt x="0" y="80"/>
                  </a:lnTo>
                  <a:lnTo>
                    <a:pt x="0" y="100"/>
                  </a:lnTo>
                  <a:lnTo>
                    <a:pt x="0" y="119"/>
                  </a:lnTo>
                  <a:lnTo>
                    <a:pt x="15" y="100"/>
                  </a:lnTo>
                  <a:lnTo>
                    <a:pt x="32" y="100"/>
                  </a:lnTo>
                  <a:lnTo>
                    <a:pt x="50" y="80"/>
                  </a:lnTo>
                  <a:lnTo>
                    <a:pt x="67" y="61"/>
                  </a:lnTo>
                  <a:lnTo>
                    <a:pt x="131" y="61"/>
                  </a:lnTo>
                  <a:lnTo>
                    <a:pt x="98" y="119"/>
                  </a:lnTo>
                  <a:lnTo>
                    <a:pt x="98" y="139"/>
                  </a:lnTo>
                  <a:lnTo>
                    <a:pt x="98" y="158"/>
                  </a:lnTo>
                  <a:lnTo>
                    <a:pt x="82" y="179"/>
                  </a:lnTo>
                  <a:lnTo>
                    <a:pt x="82" y="199"/>
                  </a:lnTo>
                  <a:lnTo>
                    <a:pt x="98" y="199"/>
                  </a:lnTo>
                  <a:lnTo>
                    <a:pt x="98" y="238"/>
                  </a:lnTo>
                  <a:lnTo>
                    <a:pt x="115" y="238"/>
                  </a:lnTo>
                  <a:lnTo>
                    <a:pt x="131" y="259"/>
                  </a:lnTo>
                  <a:lnTo>
                    <a:pt x="147" y="259"/>
                  </a:lnTo>
                  <a:lnTo>
                    <a:pt x="165" y="279"/>
                  </a:lnTo>
                  <a:lnTo>
                    <a:pt x="181" y="279"/>
                  </a:lnTo>
                  <a:lnTo>
                    <a:pt x="197" y="279"/>
                  </a:lnTo>
                  <a:lnTo>
                    <a:pt x="213" y="279"/>
                  </a:lnTo>
                  <a:lnTo>
                    <a:pt x="230" y="279"/>
                  </a:lnTo>
                  <a:lnTo>
                    <a:pt x="230" y="259"/>
                  </a:lnTo>
                  <a:lnTo>
                    <a:pt x="213" y="238"/>
                  </a:lnTo>
                  <a:lnTo>
                    <a:pt x="230" y="219"/>
                  </a:lnTo>
                  <a:lnTo>
                    <a:pt x="230" y="238"/>
                  </a:lnTo>
                  <a:lnTo>
                    <a:pt x="246" y="259"/>
                  </a:lnTo>
                  <a:lnTo>
                    <a:pt x="262" y="259"/>
                  </a:lnTo>
                  <a:lnTo>
                    <a:pt x="262" y="279"/>
                  </a:lnTo>
                  <a:lnTo>
                    <a:pt x="278" y="279"/>
                  </a:lnTo>
                  <a:lnTo>
                    <a:pt x="297" y="298"/>
                  </a:lnTo>
                  <a:lnTo>
                    <a:pt x="312" y="298"/>
                  </a:lnTo>
                  <a:lnTo>
                    <a:pt x="344" y="298"/>
                  </a:lnTo>
                  <a:lnTo>
                    <a:pt x="377" y="298"/>
                  </a:lnTo>
                  <a:lnTo>
                    <a:pt x="395" y="259"/>
                  </a:lnTo>
                  <a:lnTo>
                    <a:pt x="395" y="179"/>
                  </a:lnTo>
                  <a:lnTo>
                    <a:pt x="361" y="119"/>
                  </a:lnTo>
                  <a:lnTo>
                    <a:pt x="328" y="11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062" name="Freeform 31"/>
            <p:cNvSpPr>
              <a:spLocks/>
            </p:cNvSpPr>
            <p:nvPr/>
          </p:nvSpPr>
          <p:spPr bwMode="auto">
            <a:xfrm>
              <a:off x="3021" y="3051"/>
              <a:ext cx="197" cy="149"/>
            </a:xfrm>
            <a:custGeom>
              <a:avLst/>
              <a:gdLst>
                <a:gd name="T0" fmla="*/ 1 w 395"/>
                <a:gd name="T1" fmla="*/ 1 h 298"/>
                <a:gd name="T2" fmla="*/ 1 w 395"/>
                <a:gd name="T3" fmla="*/ 1 h 298"/>
                <a:gd name="T4" fmla="*/ 1 w 395"/>
                <a:gd name="T5" fmla="*/ 1 h 298"/>
                <a:gd name="T6" fmla="*/ 1 w 395"/>
                <a:gd name="T7" fmla="*/ 1 h 298"/>
                <a:gd name="T8" fmla="*/ 0 w 395"/>
                <a:gd name="T9" fmla="*/ 1 h 298"/>
                <a:gd name="T10" fmla="*/ 0 w 395"/>
                <a:gd name="T11" fmla="*/ 1 h 298"/>
                <a:gd name="T12" fmla="*/ 0 w 395"/>
                <a:gd name="T13" fmla="*/ 1 h 298"/>
                <a:gd name="T14" fmla="*/ 0 w 395"/>
                <a:gd name="T15" fmla="*/ 0 h 298"/>
                <a:gd name="T16" fmla="*/ 0 w 395"/>
                <a:gd name="T17" fmla="*/ 0 h 298"/>
                <a:gd name="T18" fmla="*/ 0 w 395"/>
                <a:gd name="T19" fmla="*/ 0 h 298"/>
                <a:gd name="T20" fmla="*/ 0 w 395"/>
                <a:gd name="T21" fmla="*/ 0 h 298"/>
                <a:gd name="T22" fmla="*/ 0 w 395"/>
                <a:gd name="T23" fmla="*/ 1 h 298"/>
                <a:gd name="T24" fmla="*/ 0 w 395"/>
                <a:gd name="T25" fmla="*/ 1 h 298"/>
                <a:gd name="T26" fmla="*/ 0 w 395"/>
                <a:gd name="T27" fmla="*/ 1 h 298"/>
                <a:gd name="T28" fmla="*/ 0 w 395"/>
                <a:gd name="T29" fmla="*/ 1 h 298"/>
                <a:gd name="T30" fmla="*/ 0 w 395"/>
                <a:gd name="T31" fmla="*/ 1 h 298"/>
                <a:gd name="T32" fmla="*/ 0 w 395"/>
                <a:gd name="T33" fmla="*/ 1 h 298"/>
                <a:gd name="T34" fmla="*/ 0 w 395"/>
                <a:gd name="T35" fmla="*/ 1 h 298"/>
                <a:gd name="T36" fmla="*/ 0 w 395"/>
                <a:gd name="T37" fmla="*/ 1 h 298"/>
                <a:gd name="T38" fmla="*/ 0 w 395"/>
                <a:gd name="T39" fmla="*/ 1 h 298"/>
                <a:gd name="T40" fmla="*/ 0 w 395"/>
                <a:gd name="T41" fmla="*/ 1 h 298"/>
                <a:gd name="T42" fmla="*/ 0 w 395"/>
                <a:gd name="T43" fmla="*/ 1 h 298"/>
                <a:gd name="T44" fmla="*/ 0 w 395"/>
                <a:gd name="T45" fmla="*/ 1 h 298"/>
                <a:gd name="T46" fmla="*/ 0 w 395"/>
                <a:gd name="T47" fmla="*/ 1 h 298"/>
                <a:gd name="T48" fmla="*/ 0 w 395"/>
                <a:gd name="T49" fmla="*/ 1 h 298"/>
                <a:gd name="T50" fmla="*/ 0 w 395"/>
                <a:gd name="T51" fmla="*/ 1 h 298"/>
                <a:gd name="T52" fmla="*/ 0 w 395"/>
                <a:gd name="T53" fmla="*/ 1 h 298"/>
                <a:gd name="T54" fmla="*/ 0 w 395"/>
                <a:gd name="T55" fmla="*/ 1 h 298"/>
                <a:gd name="T56" fmla="*/ 0 w 395"/>
                <a:gd name="T57" fmla="*/ 1 h 298"/>
                <a:gd name="T58" fmla="*/ 0 w 395"/>
                <a:gd name="T59" fmla="*/ 1 h 298"/>
                <a:gd name="T60" fmla="*/ 0 w 395"/>
                <a:gd name="T61" fmla="*/ 1 h 298"/>
                <a:gd name="T62" fmla="*/ 0 w 395"/>
                <a:gd name="T63" fmla="*/ 1 h 298"/>
                <a:gd name="T64" fmla="*/ 0 w 395"/>
                <a:gd name="T65" fmla="*/ 1 h 298"/>
                <a:gd name="T66" fmla="*/ 0 w 395"/>
                <a:gd name="T67" fmla="*/ 1 h 298"/>
                <a:gd name="T68" fmla="*/ 0 w 395"/>
                <a:gd name="T69" fmla="*/ 2 h 298"/>
                <a:gd name="T70" fmla="*/ 0 w 395"/>
                <a:gd name="T71" fmla="*/ 2 h 298"/>
                <a:gd name="T72" fmla="*/ 0 w 395"/>
                <a:gd name="T73" fmla="*/ 2 h 298"/>
                <a:gd name="T74" fmla="*/ 0 w 395"/>
                <a:gd name="T75" fmla="*/ 2 h 298"/>
                <a:gd name="T76" fmla="*/ 0 w 395"/>
                <a:gd name="T77" fmla="*/ 2 h 298"/>
                <a:gd name="T78" fmla="*/ 0 w 395"/>
                <a:gd name="T79" fmla="*/ 2 h 298"/>
                <a:gd name="T80" fmla="*/ 0 w 395"/>
                <a:gd name="T81" fmla="*/ 2 h 298"/>
                <a:gd name="T82" fmla="*/ 0 w 395"/>
                <a:gd name="T83" fmla="*/ 2 h 298"/>
                <a:gd name="T84" fmla="*/ 0 w 395"/>
                <a:gd name="T85" fmla="*/ 2 h 298"/>
                <a:gd name="T86" fmla="*/ 0 w 395"/>
                <a:gd name="T87" fmla="*/ 2 h 298"/>
                <a:gd name="T88" fmla="*/ 0 w 395"/>
                <a:gd name="T89" fmla="*/ 2 h 298"/>
                <a:gd name="T90" fmla="*/ 0 w 395"/>
                <a:gd name="T91" fmla="*/ 1 h 298"/>
                <a:gd name="T92" fmla="*/ 0 w 395"/>
                <a:gd name="T93" fmla="*/ 1 h 298"/>
                <a:gd name="T94" fmla="*/ 0 w 395"/>
                <a:gd name="T95" fmla="*/ 1 h 298"/>
                <a:gd name="T96" fmla="*/ 0 w 395"/>
                <a:gd name="T97" fmla="*/ 2 h 298"/>
                <a:gd name="T98" fmla="*/ 1 w 395"/>
                <a:gd name="T99" fmla="*/ 2 h 298"/>
                <a:gd name="T100" fmla="*/ 1 w 395"/>
                <a:gd name="T101" fmla="*/ 2 h 298"/>
                <a:gd name="T102" fmla="*/ 1 w 395"/>
                <a:gd name="T103" fmla="*/ 2 h 298"/>
                <a:gd name="T104" fmla="*/ 1 w 395"/>
                <a:gd name="T105" fmla="*/ 2 h 298"/>
                <a:gd name="T106" fmla="*/ 1 w 395"/>
                <a:gd name="T107" fmla="*/ 2 h 298"/>
                <a:gd name="T108" fmla="*/ 1 w 395"/>
                <a:gd name="T109" fmla="*/ 2 h 298"/>
                <a:gd name="T110" fmla="*/ 1 w 395"/>
                <a:gd name="T111" fmla="*/ 2 h 298"/>
                <a:gd name="T112" fmla="*/ 1 w 395"/>
                <a:gd name="T113" fmla="*/ 2 h 298"/>
                <a:gd name="T114" fmla="*/ 1 w 395"/>
                <a:gd name="T115" fmla="*/ 1 h 298"/>
                <a:gd name="T116" fmla="*/ 1 w 395"/>
                <a:gd name="T117" fmla="*/ 1 h 298"/>
                <a:gd name="T118" fmla="*/ 1 w 395"/>
                <a:gd name="T119" fmla="*/ 1 h 29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395"/>
                <a:gd name="T181" fmla="*/ 0 h 298"/>
                <a:gd name="T182" fmla="*/ 395 w 395"/>
                <a:gd name="T183" fmla="*/ 298 h 29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395" h="298">
                  <a:moveTo>
                    <a:pt x="328" y="119"/>
                  </a:moveTo>
                  <a:lnTo>
                    <a:pt x="312" y="119"/>
                  </a:lnTo>
                  <a:lnTo>
                    <a:pt x="297" y="100"/>
                  </a:lnTo>
                  <a:lnTo>
                    <a:pt x="262" y="61"/>
                  </a:lnTo>
                  <a:lnTo>
                    <a:pt x="246" y="61"/>
                  </a:lnTo>
                  <a:lnTo>
                    <a:pt x="213" y="40"/>
                  </a:lnTo>
                  <a:lnTo>
                    <a:pt x="197" y="19"/>
                  </a:lnTo>
                  <a:lnTo>
                    <a:pt x="165" y="0"/>
                  </a:lnTo>
                  <a:lnTo>
                    <a:pt x="131" y="0"/>
                  </a:lnTo>
                  <a:lnTo>
                    <a:pt x="98" y="0"/>
                  </a:lnTo>
                  <a:lnTo>
                    <a:pt x="67" y="0"/>
                  </a:lnTo>
                  <a:lnTo>
                    <a:pt x="50" y="19"/>
                  </a:lnTo>
                  <a:lnTo>
                    <a:pt x="32" y="19"/>
                  </a:lnTo>
                  <a:lnTo>
                    <a:pt x="15" y="40"/>
                  </a:lnTo>
                  <a:lnTo>
                    <a:pt x="0" y="80"/>
                  </a:lnTo>
                  <a:lnTo>
                    <a:pt x="0" y="100"/>
                  </a:lnTo>
                  <a:lnTo>
                    <a:pt x="0" y="119"/>
                  </a:lnTo>
                  <a:lnTo>
                    <a:pt x="15" y="100"/>
                  </a:lnTo>
                  <a:lnTo>
                    <a:pt x="32" y="100"/>
                  </a:lnTo>
                  <a:lnTo>
                    <a:pt x="50" y="80"/>
                  </a:lnTo>
                  <a:lnTo>
                    <a:pt x="67" y="61"/>
                  </a:lnTo>
                  <a:lnTo>
                    <a:pt x="131" y="61"/>
                  </a:lnTo>
                  <a:lnTo>
                    <a:pt x="98" y="119"/>
                  </a:lnTo>
                  <a:lnTo>
                    <a:pt x="98" y="139"/>
                  </a:lnTo>
                  <a:lnTo>
                    <a:pt x="98" y="158"/>
                  </a:lnTo>
                  <a:lnTo>
                    <a:pt x="82" y="179"/>
                  </a:lnTo>
                  <a:lnTo>
                    <a:pt x="82" y="199"/>
                  </a:lnTo>
                  <a:lnTo>
                    <a:pt x="98" y="199"/>
                  </a:lnTo>
                  <a:lnTo>
                    <a:pt x="98" y="238"/>
                  </a:lnTo>
                  <a:lnTo>
                    <a:pt x="115" y="238"/>
                  </a:lnTo>
                  <a:lnTo>
                    <a:pt x="131" y="259"/>
                  </a:lnTo>
                  <a:lnTo>
                    <a:pt x="147" y="259"/>
                  </a:lnTo>
                  <a:lnTo>
                    <a:pt x="165" y="279"/>
                  </a:lnTo>
                  <a:lnTo>
                    <a:pt x="181" y="279"/>
                  </a:lnTo>
                  <a:lnTo>
                    <a:pt x="197" y="279"/>
                  </a:lnTo>
                  <a:lnTo>
                    <a:pt x="213" y="279"/>
                  </a:lnTo>
                  <a:lnTo>
                    <a:pt x="230" y="279"/>
                  </a:lnTo>
                  <a:lnTo>
                    <a:pt x="230" y="259"/>
                  </a:lnTo>
                  <a:lnTo>
                    <a:pt x="213" y="238"/>
                  </a:lnTo>
                  <a:lnTo>
                    <a:pt x="230" y="219"/>
                  </a:lnTo>
                  <a:lnTo>
                    <a:pt x="230" y="238"/>
                  </a:lnTo>
                  <a:lnTo>
                    <a:pt x="246" y="259"/>
                  </a:lnTo>
                  <a:lnTo>
                    <a:pt x="262" y="259"/>
                  </a:lnTo>
                  <a:lnTo>
                    <a:pt x="262" y="279"/>
                  </a:lnTo>
                  <a:lnTo>
                    <a:pt x="278" y="279"/>
                  </a:lnTo>
                  <a:lnTo>
                    <a:pt x="297" y="298"/>
                  </a:lnTo>
                  <a:lnTo>
                    <a:pt x="312" y="298"/>
                  </a:lnTo>
                  <a:lnTo>
                    <a:pt x="344" y="298"/>
                  </a:lnTo>
                  <a:lnTo>
                    <a:pt x="377" y="298"/>
                  </a:lnTo>
                  <a:lnTo>
                    <a:pt x="395" y="259"/>
                  </a:lnTo>
                  <a:lnTo>
                    <a:pt x="395" y="179"/>
                  </a:lnTo>
                  <a:lnTo>
                    <a:pt x="361" y="119"/>
                  </a:lnTo>
                  <a:lnTo>
                    <a:pt x="328" y="11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63" name="Freeform 32"/>
            <p:cNvSpPr>
              <a:spLocks/>
            </p:cNvSpPr>
            <p:nvPr/>
          </p:nvSpPr>
          <p:spPr bwMode="auto">
            <a:xfrm>
              <a:off x="3003" y="2491"/>
              <a:ext cx="33" cy="30"/>
            </a:xfrm>
            <a:custGeom>
              <a:avLst/>
              <a:gdLst>
                <a:gd name="T0" fmla="*/ 0 w 66"/>
                <a:gd name="T1" fmla="*/ 0 h 60"/>
                <a:gd name="T2" fmla="*/ 1 w 66"/>
                <a:gd name="T3" fmla="*/ 0 h 60"/>
                <a:gd name="T4" fmla="*/ 1 w 66"/>
                <a:gd name="T5" fmla="*/ 0 h 60"/>
                <a:gd name="T6" fmla="*/ 1 w 66"/>
                <a:gd name="T7" fmla="*/ 0 h 60"/>
                <a:gd name="T8" fmla="*/ 1 w 66"/>
                <a:gd name="T9" fmla="*/ 0 h 60"/>
                <a:gd name="T10" fmla="*/ 1 w 66"/>
                <a:gd name="T11" fmla="*/ 1 h 60"/>
                <a:gd name="T12" fmla="*/ 1 w 66"/>
                <a:gd name="T13" fmla="*/ 1 h 60"/>
                <a:gd name="T14" fmla="*/ 1 w 66"/>
                <a:gd name="T15" fmla="*/ 1 h 60"/>
                <a:gd name="T16" fmla="*/ 1 w 66"/>
                <a:gd name="T17" fmla="*/ 1 h 60"/>
                <a:gd name="T18" fmla="*/ 1 w 66"/>
                <a:gd name="T19" fmla="*/ 1 h 60"/>
                <a:gd name="T20" fmla="*/ 1 w 66"/>
                <a:gd name="T21" fmla="*/ 1 h 60"/>
                <a:gd name="T22" fmla="*/ 1 w 66"/>
                <a:gd name="T23" fmla="*/ 1 h 60"/>
                <a:gd name="T24" fmla="*/ 1 w 66"/>
                <a:gd name="T25" fmla="*/ 1 h 60"/>
                <a:gd name="T26" fmla="*/ 1 w 66"/>
                <a:gd name="T27" fmla="*/ 1 h 60"/>
                <a:gd name="T28" fmla="*/ 1 w 66"/>
                <a:gd name="T29" fmla="*/ 1 h 60"/>
                <a:gd name="T30" fmla="*/ 0 w 66"/>
                <a:gd name="T31" fmla="*/ 0 h 6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6"/>
                <a:gd name="T49" fmla="*/ 0 h 60"/>
                <a:gd name="T50" fmla="*/ 66 w 66"/>
                <a:gd name="T51" fmla="*/ 60 h 6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6" h="60">
                  <a:moveTo>
                    <a:pt x="0" y="0"/>
                  </a:moveTo>
                  <a:lnTo>
                    <a:pt x="17" y="0"/>
                  </a:lnTo>
                  <a:lnTo>
                    <a:pt x="34" y="0"/>
                  </a:lnTo>
                  <a:lnTo>
                    <a:pt x="49" y="0"/>
                  </a:lnTo>
                  <a:lnTo>
                    <a:pt x="49" y="19"/>
                  </a:lnTo>
                  <a:lnTo>
                    <a:pt x="66" y="19"/>
                  </a:lnTo>
                  <a:lnTo>
                    <a:pt x="66" y="40"/>
                  </a:lnTo>
                  <a:lnTo>
                    <a:pt x="66" y="60"/>
                  </a:lnTo>
                  <a:lnTo>
                    <a:pt x="49" y="19"/>
                  </a:lnTo>
                  <a:lnTo>
                    <a:pt x="34" y="19"/>
                  </a:lnTo>
                  <a:lnTo>
                    <a:pt x="17" y="19"/>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064" name="Freeform 33"/>
            <p:cNvSpPr>
              <a:spLocks/>
            </p:cNvSpPr>
            <p:nvPr/>
          </p:nvSpPr>
          <p:spPr bwMode="auto">
            <a:xfrm>
              <a:off x="3003" y="2491"/>
              <a:ext cx="33" cy="30"/>
            </a:xfrm>
            <a:custGeom>
              <a:avLst/>
              <a:gdLst>
                <a:gd name="T0" fmla="*/ 0 w 66"/>
                <a:gd name="T1" fmla="*/ 0 h 60"/>
                <a:gd name="T2" fmla="*/ 1 w 66"/>
                <a:gd name="T3" fmla="*/ 0 h 60"/>
                <a:gd name="T4" fmla="*/ 1 w 66"/>
                <a:gd name="T5" fmla="*/ 0 h 60"/>
                <a:gd name="T6" fmla="*/ 1 w 66"/>
                <a:gd name="T7" fmla="*/ 0 h 60"/>
                <a:gd name="T8" fmla="*/ 1 w 66"/>
                <a:gd name="T9" fmla="*/ 0 h 60"/>
                <a:gd name="T10" fmla="*/ 1 w 66"/>
                <a:gd name="T11" fmla="*/ 1 h 60"/>
                <a:gd name="T12" fmla="*/ 1 w 66"/>
                <a:gd name="T13" fmla="*/ 1 h 60"/>
                <a:gd name="T14" fmla="*/ 1 w 66"/>
                <a:gd name="T15" fmla="*/ 1 h 60"/>
                <a:gd name="T16" fmla="*/ 1 w 66"/>
                <a:gd name="T17" fmla="*/ 1 h 60"/>
                <a:gd name="T18" fmla="*/ 1 w 66"/>
                <a:gd name="T19" fmla="*/ 1 h 60"/>
                <a:gd name="T20" fmla="*/ 1 w 66"/>
                <a:gd name="T21" fmla="*/ 1 h 60"/>
                <a:gd name="T22" fmla="*/ 1 w 66"/>
                <a:gd name="T23" fmla="*/ 1 h 60"/>
                <a:gd name="T24" fmla="*/ 1 w 66"/>
                <a:gd name="T25" fmla="*/ 1 h 60"/>
                <a:gd name="T26" fmla="*/ 1 w 66"/>
                <a:gd name="T27" fmla="*/ 1 h 60"/>
                <a:gd name="T28" fmla="*/ 1 w 66"/>
                <a:gd name="T29" fmla="*/ 1 h 60"/>
                <a:gd name="T30" fmla="*/ 0 w 66"/>
                <a:gd name="T31" fmla="*/ 0 h 6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6"/>
                <a:gd name="T49" fmla="*/ 0 h 60"/>
                <a:gd name="T50" fmla="*/ 66 w 66"/>
                <a:gd name="T51" fmla="*/ 60 h 6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6" h="60">
                  <a:moveTo>
                    <a:pt x="0" y="0"/>
                  </a:moveTo>
                  <a:lnTo>
                    <a:pt x="17" y="0"/>
                  </a:lnTo>
                  <a:lnTo>
                    <a:pt x="34" y="0"/>
                  </a:lnTo>
                  <a:lnTo>
                    <a:pt x="49" y="0"/>
                  </a:lnTo>
                  <a:lnTo>
                    <a:pt x="49" y="19"/>
                  </a:lnTo>
                  <a:lnTo>
                    <a:pt x="66" y="19"/>
                  </a:lnTo>
                  <a:lnTo>
                    <a:pt x="66" y="40"/>
                  </a:lnTo>
                  <a:lnTo>
                    <a:pt x="66" y="60"/>
                  </a:lnTo>
                  <a:lnTo>
                    <a:pt x="49" y="19"/>
                  </a:lnTo>
                  <a:lnTo>
                    <a:pt x="34" y="19"/>
                  </a:lnTo>
                  <a:lnTo>
                    <a:pt x="17" y="19"/>
                  </a:lnTo>
                  <a:lnTo>
                    <a:pt x="0"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65" name="Freeform 34"/>
            <p:cNvSpPr>
              <a:spLocks/>
            </p:cNvSpPr>
            <p:nvPr/>
          </p:nvSpPr>
          <p:spPr bwMode="auto">
            <a:xfrm>
              <a:off x="2938" y="2451"/>
              <a:ext cx="25" cy="20"/>
            </a:xfrm>
            <a:custGeom>
              <a:avLst/>
              <a:gdLst>
                <a:gd name="T0" fmla="*/ 1 w 49"/>
                <a:gd name="T1" fmla="*/ 1 h 40"/>
                <a:gd name="T2" fmla="*/ 1 w 49"/>
                <a:gd name="T3" fmla="*/ 1 h 40"/>
                <a:gd name="T4" fmla="*/ 1 w 49"/>
                <a:gd name="T5" fmla="*/ 1 h 40"/>
                <a:gd name="T6" fmla="*/ 1 w 49"/>
                <a:gd name="T7" fmla="*/ 1 h 40"/>
                <a:gd name="T8" fmla="*/ 1 w 49"/>
                <a:gd name="T9" fmla="*/ 0 h 40"/>
                <a:gd name="T10" fmla="*/ 1 w 49"/>
                <a:gd name="T11" fmla="*/ 0 h 40"/>
                <a:gd name="T12" fmla="*/ 1 w 49"/>
                <a:gd name="T13" fmla="*/ 0 h 40"/>
                <a:gd name="T14" fmla="*/ 0 w 49"/>
                <a:gd name="T15" fmla="*/ 1 h 40"/>
                <a:gd name="T16" fmla="*/ 1 w 49"/>
                <a:gd name="T17" fmla="*/ 1 h 40"/>
                <a:gd name="T18" fmla="*/ 1 w 49"/>
                <a:gd name="T19" fmla="*/ 1 h 40"/>
                <a:gd name="T20" fmla="*/ 1 w 49"/>
                <a:gd name="T21" fmla="*/ 1 h 40"/>
                <a:gd name="T22" fmla="*/ 1 w 49"/>
                <a:gd name="T23" fmla="*/ 1 h 40"/>
                <a:gd name="T24" fmla="*/ 1 w 49"/>
                <a:gd name="T25" fmla="*/ 1 h 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9"/>
                <a:gd name="T40" fmla="*/ 0 h 40"/>
                <a:gd name="T41" fmla="*/ 49 w 49"/>
                <a:gd name="T42" fmla="*/ 40 h 4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9" h="40">
                  <a:moveTo>
                    <a:pt x="49" y="40"/>
                  </a:moveTo>
                  <a:lnTo>
                    <a:pt x="49" y="40"/>
                  </a:lnTo>
                  <a:lnTo>
                    <a:pt x="49" y="20"/>
                  </a:lnTo>
                  <a:lnTo>
                    <a:pt x="33" y="20"/>
                  </a:lnTo>
                  <a:lnTo>
                    <a:pt x="33" y="0"/>
                  </a:lnTo>
                  <a:lnTo>
                    <a:pt x="16" y="0"/>
                  </a:lnTo>
                  <a:lnTo>
                    <a:pt x="0" y="20"/>
                  </a:lnTo>
                  <a:lnTo>
                    <a:pt x="16" y="20"/>
                  </a:lnTo>
                  <a:lnTo>
                    <a:pt x="33" y="20"/>
                  </a:lnTo>
                  <a:lnTo>
                    <a:pt x="33" y="40"/>
                  </a:lnTo>
                  <a:lnTo>
                    <a:pt x="49" y="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066" name="Freeform 35"/>
            <p:cNvSpPr>
              <a:spLocks/>
            </p:cNvSpPr>
            <p:nvPr/>
          </p:nvSpPr>
          <p:spPr bwMode="auto">
            <a:xfrm>
              <a:off x="2938" y="2451"/>
              <a:ext cx="25" cy="20"/>
            </a:xfrm>
            <a:custGeom>
              <a:avLst/>
              <a:gdLst>
                <a:gd name="T0" fmla="*/ 1 w 49"/>
                <a:gd name="T1" fmla="*/ 1 h 40"/>
                <a:gd name="T2" fmla="*/ 1 w 49"/>
                <a:gd name="T3" fmla="*/ 1 h 40"/>
                <a:gd name="T4" fmla="*/ 1 w 49"/>
                <a:gd name="T5" fmla="*/ 1 h 40"/>
                <a:gd name="T6" fmla="*/ 1 w 49"/>
                <a:gd name="T7" fmla="*/ 1 h 40"/>
                <a:gd name="T8" fmla="*/ 1 w 49"/>
                <a:gd name="T9" fmla="*/ 0 h 40"/>
                <a:gd name="T10" fmla="*/ 1 w 49"/>
                <a:gd name="T11" fmla="*/ 0 h 40"/>
                <a:gd name="T12" fmla="*/ 1 w 49"/>
                <a:gd name="T13" fmla="*/ 0 h 40"/>
                <a:gd name="T14" fmla="*/ 0 w 49"/>
                <a:gd name="T15" fmla="*/ 1 h 40"/>
                <a:gd name="T16" fmla="*/ 1 w 49"/>
                <a:gd name="T17" fmla="*/ 1 h 40"/>
                <a:gd name="T18" fmla="*/ 1 w 49"/>
                <a:gd name="T19" fmla="*/ 1 h 40"/>
                <a:gd name="T20" fmla="*/ 1 w 49"/>
                <a:gd name="T21" fmla="*/ 1 h 40"/>
                <a:gd name="T22" fmla="*/ 1 w 49"/>
                <a:gd name="T23" fmla="*/ 1 h 40"/>
                <a:gd name="T24" fmla="*/ 1 w 49"/>
                <a:gd name="T25" fmla="*/ 1 h 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9"/>
                <a:gd name="T40" fmla="*/ 0 h 40"/>
                <a:gd name="T41" fmla="*/ 49 w 49"/>
                <a:gd name="T42" fmla="*/ 40 h 4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9" h="40">
                  <a:moveTo>
                    <a:pt x="49" y="40"/>
                  </a:moveTo>
                  <a:lnTo>
                    <a:pt x="49" y="40"/>
                  </a:lnTo>
                  <a:lnTo>
                    <a:pt x="49" y="20"/>
                  </a:lnTo>
                  <a:lnTo>
                    <a:pt x="33" y="20"/>
                  </a:lnTo>
                  <a:lnTo>
                    <a:pt x="33" y="0"/>
                  </a:lnTo>
                  <a:lnTo>
                    <a:pt x="16" y="0"/>
                  </a:lnTo>
                  <a:lnTo>
                    <a:pt x="0" y="20"/>
                  </a:lnTo>
                  <a:lnTo>
                    <a:pt x="16" y="20"/>
                  </a:lnTo>
                  <a:lnTo>
                    <a:pt x="33" y="20"/>
                  </a:lnTo>
                  <a:lnTo>
                    <a:pt x="33" y="40"/>
                  </a:lnTo>
                  <a:lnTo>
                    <a:pt x="49" y="4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67" name="Freeform 36"/>
            <p:cNvSpPr>
              <a:spLocks/>
            </p:cNvSpPr>
            <p:nvPr/>
          </p:nvSpPr>
          <p:spPr bwMode="auto">
            <a:xfrm>
              <a:off x="3218" y="3061"/>
              <a:ext cx="99" cy="29"/>
            </a:xfrm>
            <a:custGeom>
              <a:avLst/>
              <a:gdLst>
                <a:gd name="T0" fmla="*/ 0 w 197"/>
                <a:gd name="T1" fmla="*/ 0 h 59"/>
                <a:gd name="T2" fmla="*/ 1 w 197"/>
                <a:gd name="T3" fmla="*/ 0 h 59"/>
                <a:gd name="T4" fmla="*/ 1 w 197"/>
                <a:gd name="T5" fmla="*/ 0 h 59"/>
                <a:gd name="T6" fmla="*/ 1 w 197"/>
                <a:gd name="T7" fmla="*/ 0 h 59"/>
                <a:gd name="T8" fmla="*/ 1 w 197"/>
                <a:gd name="T9" fmla="*/ 0 h 59"/>
                <a:gd name="T10" fmla="*/ 1 w 197"/>
                <a:gd name="T11" fmla="*/ 0 h 59"/>
                <a:gd name="T12" fmla="*/ 1 w 197"/>
                <a:gd name="T13" fmla="*/ 0 h 59"/>
                <a:gd name="T14" fmla="*/ 1 w 197"/>
                <a:gd name="T15" fmla="*/ 0 h 59"/>
                <a:gd name="T16" fmla="*/ 1 w 197"/>
                <a:gd name="T17" fmla="*/ 0 h 59"/>
                <a:gd name="T18" fmla="*/ 1 w 197"/>
                <a:gd name="T19" fmla="*/ 0 h 59"/>
                <a:gd name="T20" fmla="*/ 1 w 197"/>
                <a:gd name="T21" fmla="*/ 0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7"/>
                <a:gd name="T34" fmla="*/ 0 h 59"/>
                <a:gd name="T35" fmla="*/ 197 w 197"/>
                <a:gd name="T36" fmla="*/ 59 h 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7" h="59">
                  <a:moveTo>
                    <a:pt x="0" y="0"/>
                  </a:moveTo>
                  <a:lnTo>
                    <a:pt x="48" y="0"/>
                  </a:lnTo>
                  <a:lnTo>
                    <a:pt x="65" y="0"/>
                  </a:lnTo>
                  <a:lnTo>
                    <a:pt x="96" y="0"/>
                  </a:lnTo>
                  <a:lnTo>
                    <a:pt x="113" y="0"/>
                  </a:lnTo>
                  <a:lnTo>
                    <a:pt x="147" y="20"/>
                  </a:lnTo>
                  <a:lnTo>
                    <a:pt x="162" y="20"/>
                  </a:lnTo>
                  <a:lnTo>
                    <a:pt x="180" y="40"/>
                  </a:lnTo>
                  <a:lnTo>
                    <a:pt x="197" y="40"/>
                  </a:lnTo>
                  <a:lnTo>
                    <a:pt x="197" y="5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68" name="Freeform 37"/>
            <p:cNvSpPr>
              <a:spLocks/>
            </p:cNvSpPr>
            <p:nvPr/>
          </p:nvSpPr>
          <p:spPr bwMode="auto">
            <a:xfrm>
              <a:off x="3192" y="3081"/>
              <a:ext cx="140" cy="30"/>
            </a:xfrm>
            <a:custGeom>
              <a:avLst/>
              <a:gdLst>
                <a:gd name="T0" fmla="*/ 0 w 279"/>
                <a:gd name="T1" fmla="*/ 1 h 58"/>
                <a:gd name="T2" fmla="*/ 0 w 279"/>
                <a:gd name="T3" fmla="*/ 1 h 58"/>
                <a:gd name="T4" fmla="*/ 1 w 279"/>
                <a:gd name="T5" fmla="*/ 0 h 58"/>
                <a:gd name="T6" fmla="*/ 1 w 279"/>
                <a:gd name="T7" fmla="*/ 0 h 58"/>
                <a:gd name="T8" fmla="*/ 1 w 279"/>
                <a:gd name="T9" fmla="*/ 0 h 58"/>
                <a:gd name="T10" fmla="*/ 1 w 279"/>
                <a:gd name="T11" fmla="*/ 0 h 58"/>
                <a:gd name="T12" fmla="*/ 1 w 279"/>
                <a:gd name="T13" fmla="*/ 0 h 58"/>
                <a:gd name="T14" fmla="*/ 1 w 279"/>
                <a:gd name="T15" fmla="*/ 0 h 58"/>
                <a:gd name="T16" fmla="*/ 1 w 279"/>
                <a:gd name="T17" fmla="*/ 1 h 58"/>
                <a:gd name="T18" fmla="*/ 2 w 279"/>
                <a:gd name="T19" fmla="*/ 1 h 58"/>
                <a:gd name="T20" fmla="*/ 2 w 279"/>
                <a:gd name="T21" fmla="*/ 1 h 5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79"/>
                <a:gd name="T34" fmla="*/ 0 h 58"/>
                <a:gd name="T35" fmla="*/ 279 w 279"/>
                <a:gd name="T36" fmla="*/ 58 h 5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79" h="58">
                  <a:moveTo>
                    <a:pt x="0" y="58"/>
                  </a:moveTo>
                  <a:lnTo>
                    <a:pt x="0" y="39"/>
                  </a:lnTo>
                  <a:lnTo>
                    <a:pt x="32" y="0"/>
                  </a:lnTo>
                  <a:lnTo>
                    <a:pt x="65" y="0"/>
                  </a:lnTo>
                  <a:lnTo>
                    <a:pt x="98" y="0"/>
                  </a:lnTo>
                  <a:lnTo>
                    <a:pt x="132" y="0"/>
                  </a:lnTo>
                  <a:lnTo>
                    <a:pt x="147" y="0"/>
                  </a:lnTo>
                  <a:lnTo>
                    <a:pt x="196" y="0"/>
                  </a:lnTo>
                  <a:lnTo>
                    <a:pt x="213" y="19"/>
                  </a:lnTo>
                  <a:lnTo>
                    <a:pt x="262" y="39"/>
                  </a:lnTo>
                  <a:lnTo>
                    <a:pt x="279" y="3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69" name="Freeform 38"/>
            <p:cNvSpPr>
              <a:spLocks/>
            </p:cNvSpPr>
            <p:nvPr/>
          </p:nvSpPr>
          <p:spPr bwMode="auto">
            <a:xfrm>
              <a:off x="3176" y="2681"/>
              <a:ext cx="49" cy="400"/>
            </a:xfrm>
            <a:custGeom>
              <a:avLst/>
              <a:gdLst>
                <a:gd name="T0" fmla="*/ 1 w 98"/>
                <a:gd name="T1" fmla="*/ 4 h 798"/>
                <a:gd name="T2" fmla="*/ 1 w 98"/>
                <a:gd name="T3" fmla="*/ 4 h 798"/>
                <a:gd name="T4" fmla="*/ 1 w 98"/>
                <a:gd name="T5" fmla="*/ 3 h 798"/>
                <a:gd name="T6" fmla="*/ 1 w 98"/>
                <a:gd name="T7" fmla="*/ 3 h 798"/>
                <a:gd name="T8" fmla="*/ 1 w 98"/>
                <a:gd name="T9" fmla="*/ 3 h 798"/>
                <a:gd name="T10" fmla="*/ 1 w 98"/>
                <a:gd name="T11" fmla="*/ 3 h 798"/>
                <a:gd name="T12" fmla="*/ 1 w 98"/>
                <a:gd name="T13" fmla="*/ 3 h 798"/>
                <a:gd name="T14" fmla="*/ 1 w 98"/>
                <a:gd name="T15" fmla="*/ 3 h 798"/>
                <a:gd name="T16" fmla="*/ 1 w 98"/>
                <a:gd name="T17" fmla="*/ 3 h 798"/>
                <a:gd name="T18" fmla="*/ 1 w 98"/>
                <a:gd name="T19" fmla="*/ 3 h 798"/>
                <a:gd name="T20" fmla="*/ 1 w 98"/>
                <a:gd name="T21" fmla="*/ 2 h 798"/>
                <a:gd name="T22" fmla="*/ 0 w 98"/>
                <a:gd name="T23" fmla="*/ 2 h 798"/>
                <a:gd name="T24" fmla="*/ 0 w 98"/>
                <a:gd name="T25" fmla="*/ 2 h 798"/>
                <a:gd name="T26" fmla="*/ 0 w 98"/>
                <a:gd name="T27" fmla="*/ 2 h 798"/>
                <a:gd name="T28" fmla="*/ 0 w 98"/>
                <a:gd name="T29" fmla="*/ 1 h 798"/>
                <a:gd name="T30" fmla="*/ 0 w 98"/>
                <a:gd name="T31" fmla="*/ 1 h 798"/>
                <a:gd name="T32" fmla="*/ 0 w 98"/>
                <a:gd name="T33" fmla="*/ 1 h 798"/>
                <a:gd name="T34" fmla="*/ 1 w 98"/>
                <a:gd name="T35" fmla="*/ 1 h 798"/>
                <a:gd name="T36" fmla="*/ 1 w 98"/>
                <a:gd name="T37" fmla="*/ 1 h 798"/>
                <a:gd name="T38" fmla="*/ 1 w 98"/>
                <a:gd name="T39" fmla="*/ 1 h 798"/>
                <a:gd name="T40" fmla="*/ 1 w 98"/>
                <a:gd name="T41" fmla="*/ 1 h 798"/>
                <a:gd name="T42" fmla="*/ 1 w 98"/>
                <a:gd name="T43" fmla="*/ 1 h 798"/>
                <a:gd name="T44" fmla="*/ 1 w 98"/>
                <a:gd name="T45" fmla="*/ 0 h 798"/>
                <a:gd name="T46" fmla="*/ 1 w 98"/>
                <a:gd name="T47" fmla="*/ 0 h 79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8"/>
                <a:gd name="T73" fmla="*/ 0 h 798"/>
                <a:gd name="T74" fmla="*/ 98 w 98"/>
                <a:gd name="T75" fmla="*/ 798 h 79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8" h="798">
                  <a:moveTo>
                    <a:pt x="98" y="798"/>
                  </a:moveTo>
                  <a:lnTo>
                    <a:pt x="84" y="779"/>
                  </a:lnTo>
                  <a:lnTo>
                    <a:pt x="84" y="758"/>
                  </a:lnTo>
                  <a:lnTo>
                    <a:pt x="66" y="718"/>
                  </a:lnTo>
                  <a:lnTo>
                    <a:pt x="66" y="700"/>
                  </a:lnTo>
                  <a:lnTo>
                    <a:pt x="66" y="679"/>
                  </a:lnTo>
                  <a:lnTo>
                    <a:pt x="50" y="658"/>
                  </a:lnTo>
                  <a:lnTo>
                    <a:pt x="33" y="619"/>
                  </a:lnTo>
                  <a:lnTo>
                    <a:pt x="33" y="579"/>
                  </a:lnTo>
                  <a:lnTo>
                    <a:pt x="17" y="539"/>
                  </a:lnTo>
                  <a:lnTo>
                    <a:pt x="17" y="478"/>
                  </a:lnTo>
                  <a:lnTo>
                    <a:pt x="0" y="419"/>
                  </a:lnTo>
                  <a:lnTo>
                    <a:pt x="0" y="359"/>
                  </a:lnTo>
                  <a:lnTo>
                    <a:pt x="0" y="299"/>
                  </a:lnTo>
                  <a:lnTo>
                    <a:pt x="0" y="240"/>
                  </a:lnTo>
                  <a:lnTo>
                    <a:pt x="0" y="199"/>
                  </a:lnTo>
                  <a:lnTo>
                    <a:pt x="0" y="179"/>
                  </a:lnTo>
                  <a:lnTo>
                    <a:pt x="17" y="140"/>
                  </a:lnTo>
                  <a:lnTo>
                    <a:pt x="17" y="100"/>
                  </a:lnTo>
                  <a:lnTo>
                    <a:pt x="33" y="60"/>
                  </a:lnTo>
                  <a:lnTo>
                    <a:pt x="50" y="39"/>
                  </a:lnTo>
                  <a:lnTo>
                    <a:pt x="66" y="21"/>
                  </a:lnTo>
                  <a:lnTo>
                    <a:pt x="84"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70" name="Freeform 39"/>
            <p:cNvSpPr>
              <a:spLocks/>
            </p:cNvSpPr>
            <p:nvPr/>
          </p:nvSpPr>
          <p:spPr bwMode="auto">
            <a:xfrm>
              <a:off x="3160" y="2841"/>
              <a:ext cx="8" cy="100"/>
            </a:xfrm>
            <a:custGeom>
              <a:avLst/>
              <a:gdLst>
                <a:gd name="T0" fmla="*/ 0 w 17"/>
                <a:gd name="T1" fmla="*/ 0 h 199"/>
                <a:gd name="T2" fmla="*/ 0 w 17"/>
                <a:gd name="T3" fmla="*/ 1 h 199"/>
                <a:gd name="T4" fmla="*/ 0 w 17"/>
                <a:gd name="T5" fmla="*/ 1 h 199"/>
                <a:gd name="T6" fmla="*/ 0 w 17"/>
                <a:gd name="T7" fmla="*/ 1 h 199"/>
                <a:gd name="T8" fmla="*/ 0 w 17"/>
                <a:gd name="T9" fmla="*/ 1 h 199"/>
                <a:gd name="T10" fmla="*/ 0 w 17"/>
                <a:gd name="T11" fmla="*/ 1 h 199"/>
                <a:gd name="T12" fmla="*/ 0 60000 65536"/>
                <a:gd name="T13" fmla="*/ 0 60000 65536"/>
                <a:gd name="T14" fmla="*/ 0 60000 65536"/>
                <a:gd name="T15" fmla="*/ 0 60000 65536"/>
                <a:gd name="T16" fmla="*/ 0 60000 65536"/>
                <a:gd name="T17" fmla="*/ 0 60000 65536"/>
                <a:gd name="T18" fmla="*/ 0 w 17"/>
                <a:gd name="T19" fmla="*/ 0 h 199"/>
                <a:gd name="T20" fmla="*/ 17 w 17"/>
                <a:gd name="T21" fmla="*/ 199 h 199"/>
              </a:gdLst>
              <a:ahLst/>
              <a:cxnLst>
                <a:cxn ang="T12">
                  <a:pos x="T0" y="T1"/>
                </a:cxn>
                <a:cxn ang="T13">
                  <a:pos x="T2" y="T3"/>
                </a:cxn>
                <a:cxn ang="T14">
                  <a:pos x="T4" y="T5"/>
                </a:cxn>
                <a:cxn ang="T15">
                  <a:pos x="T6" y="T7"/>
                </a:cxn>
                <a:cxn ang="T16">
                  <a:pos x="T8" y="T9"/>
                </a:cxn>
                <a:cxn ang="T17">
                  <a:pos x="T10" y="T11"/>
                </a:cxn>
              </a:cxnLst>
              <a:rect l="T18" t="T19" r="T20" b="T21"/>
              <a:pathLst>
                <a:path w="17" h="199">
                  <a:moveTo>
                    <a:pt x="0" y="0"/>
                  </a:moveTo>
                  <a:lnTo>
                    <a:pt x="0" y="40"/>
                  </a:lnTo>
                  <a:lnTo>
                    <a:pt x="0" y="100"/>
                  </a:lnTo>
                  <a:lnTo>
                    <a:pt x="0" y="139"/>
                  </a:lnTo>
                  <a:lnTo>
                    <a:pt x="17" y="159"/>
                  </a:lnTo>
                  <a:lnTo>
                    <a:pt x="17" y="19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71" name="Freeform 40"/>
            <p:cNvSpPr>
              <a:spLocks/>
            </p:cNvSpPr>
            <p:nvPr/>
          </p:nvSpPr>
          <p:spPr bwMode="auto">
            <a:xfrm>
              <a:off x="3086" y="3101"/>
              <a:ext cx="24" cy="80"/>
            </a:xfrm>
            <a:custGeom>
              <a:avLst/>
              <a:gdLst>
                <a:gd name="T0" fmla="*/ 0 w 49"/>
                <a:gd name="T1" fmla="*/ 1 h 159"/>
                <a:gd name="T2" fmla="*/ 0 w 49"/>
                <a:gd name="T3" fmla="*/ 1 h 159"/>
                <a:gd name="T4" fmla="*/ 0 w 49"/>
                <a:gd name="T5" fmla="*/ 1 h 159"/>
                <a:gd name="T6" fmla="*/ 0 w 49"/>
                <a:gd name="T7" fmla="*/ 1 h 159"/>
                <a:gd name="T8" fmla="*/ 0 w 49"/>
                <a:gd name="T9" fmla="*/ 1 h 159"/>
                <a:gd name="T10" fmla="*/ 0 w 49"/>
                <a:gd name="T11" fmla="*/ 1 h 159"/>
                <a:gd name="T12" fmla="*/ 0 w 49"/>
                <a:gd name="T13" fmla="*/ 1 h 159"/>
                <a:gd name="T14" fmla="*/ 0 w 49"/>
                <a:gd name="T15" fmla="*/ 1 h 159"/>
                <a:gd name="T16" fmla="*/ 0 w 49"/>
                <a:gd name="T17" fmla="*/ 0 h 159"/>
                <a:gd name="T18" fmla="*/ 0 w 49"/>
                <a:gd name="T19" fmla="*/ 0 h 15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
                <a:gd name="T31" fmla="*/ 0 h 159"/>
                <a:gd name="T32" fmla="*/ 49 w 49"/>
                <a:gd name="T33" fmla="*/ 159 h 15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 h="159">
                  <a:moveTo>
                    <a:pt x="15" y="159"/>
                  </a:moveTo>
                  <a:lnTo>
                    <a:pt x="0" y="138"/>
                  </a:lnTo>
                  <a:lnTo>
                    <a:pt x="0" y="120"/>
                  </a:lnTo>
                  <a:lnTo>
                    <a:pt x="0" y="100"/>
                  </a:lnTo>
                  <a:lnTo>
                    <a:pt x="0" y="79"/>
                  </a:lnTo>
                  <a:lnTo>
                    <a:pt x="15" y="59"/>
                  </a:lnTo>
                  <a:lnTo>
                    <a:pt x="31" y="19"/>
                  </a:lnTo>
                  <a:lnTo>
                    <a:pt x="49"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72" name="Freeform 41"/>
            <p:cNvSpPr>
              <a:spLocks/>
            </p:cNvSpPr>
            <p:nvPr/>
          </p:nvSpPr>
          <p:spPr bwMode="auto">
            <a:xfrm>
              <a:off x="3111" y="3121"/>
              <a:ext cx="15" cy="70"/>
            </a:xfrm>
            <a:custGeom>
              <a:avLst/>
              <a:gdLst>
                <a:gd name="T0" fmla="*/ 0 w 31"/>
                <a:gd name="T1" fmla="*/ 1 h 140"/>
                <a:gd name="T2" fmla="*/ 0 w 31"/>
                <a:gd name="T3" fmla="*/ 1 h 140"/>
                <a:gd name="T4" fmla="*/ 0 w 31"/>
                <a:gd name="T5" fmla="*/ 1 h 140"/>
                <a:gd name="T6" fmla="*/ 0 w 31"/>
                <a:gd name="T7" fmla="*/ 1 h 140"/>
                <a:gd name="T8" fmla="*/ 0 w 31"/>
                <a:gd name="T9" fmla="*/ 1 h 140"/>
                <a:gd name="T10" fmla="*/ 0 w 31"/>
                <a:gd name="T11" fmla="*/ 1 h 140"/>
                <a:gd name="T12" fmla="*/ 0 w 31"/>
                <a:gd name="T13" fmla="*/ 1 h 140"/>
                <a:gd name="T14" fmla="*/ 0 w 31"/>
                <a:gd name="T15" fmla="*/ 0 h 140"/>
                <a:gd name="T16" fmla="*/ 0 60000 65536"/>
                <a:gd name="T17" fmla="*/ 0 60000 65536"/>
                <a:gd name="T18" fmla="*/ 0 60000 65536"/>
                <a:gd name="T19" fmla="*/ 0 60000 65536"/>
                <a:gd name="T20" fmla="*/ 0 60000 65536"/>
                <a:gd name="T21" fmla="*/ 0 60000 65536"/>
                <a:gd name="T22" fmla="*/ 0 60000 65536"/>
                <a:gd name="T23" fmla="*/ 0 60000 65536"/>
                <a:gd name="T24" fmla="*/ 0 w 31"/>
                <a:gd name="T25" fmla="*/ 0 h 140"/>
                <a:gd name="T26" fmla="*/ 31 w 31"/>
                <a:gd name="T27" fmla="*/ 140 h 1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1" h="140">
                  <a:moveTo>
                    <a:pt x="16" y="140"/>
                  </a:moveTo>
                  <a:lnTo>
                    <a:pt x="0" y="120"/>
                  </a:lnTo>
                  <a:lnTo>
                    <a:pt x="0" y="100"/>
                  </a:lnTo>
                  <a:lnTo>
                    <a:pt x="0" y="81"/>
                  </a:lnTo>
                  <a:lnTo>
                    <a:pt x="0" y="60"/>
                  </a:lnTo>
                  <a:lnTo>
                    <a:pt x="16" y="39"/>
                  </a:lnTo>
                  <a:lnTo>
                    <a:pt x="16" y="20"/>
                  </a:lnTo>
                  <a:lnTo>
                    <a:pt x="31"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73" name="Freeform 42"/>
            <p:cNvSpPr>
              <a:spLocks/>
            </p:cNvSpPr>
            <p:nvPr/>
          </p:nvSpPr>
          <p:spPr bwMode="auto">
            <a:xfrm>
              <a:off x="3135" y="3151"/>
              <a:ext cx="1" cy="9"/>
            </a:xfrm>
            <a:custGeom>
              <a:avLst/>
              <a:gdLst>
                <a:gd name="T0" fmla="*/ 0 w 1"/>
                <a:gd name="T1" fmla="*/ 0 h 20"/>
                <a:gd name="T2" fmla="*/ 0 w 1"/>
                <a:gd name="T3" fmla="*/ 0 h 20"/>
                <a:gd name="T4" fmla="*/ 0 w 1"/>
                <a:gd name="T5" fmla="*/ 0 h 20"/>
                <a:gd name="T6" fmla="*/ 0 w 1"/>
                <a:gd name="T7" fmla="*/ 0 h 20"/>
                <a:gd name="T8" fmla="*/ 0 w 1"/>
                <a:gd name="T9" fmla="*/ 0 h 20"/>
                <a:gd name="T10" fmla="*/ 0 60000 65536"/>
                <a:gd name="T11" fmla="*/ 0 60000 65536"/>
                <a:gd name="T12" fmla="*/ 0 60000 65536"/>
                <a:gd name="T13" fmla="*/ 0 60000 65536"/>
                <a:gd name="T14" fmla="*/ 0 60000 65536"/>
                <a:gd name="T15" fmla="*/ 0 w 1"/>
                <a:gd name="T16" fmla="*/ 0 h 20"/>
                <a:gd name="T17" fmla="*/ 1 w 1"/>
                <a:gd name="T18" fmla="*/ 20 h 20"/>
              </a:gdLst>
              <a:ahLst/>
              <a:cxnLst>
                <a:cxn ang="T10">
                  <a:pos x="T0" y="T1"/>
                </a:cxn>
                <a:cxn ang="T11">
                  <a:pos x="T2" y="T3"/>
                </a:cxn>
                <a:cxn ang="T12">
                  <a:pos x="T4" y="T5"/>
                </a:cxn>
                <a:cxn ang="T13">
                  <a:pos x="T6" y="T7"/>
                </a:cxn>
                <a:cxn ang="T14">
                  <a:pos x="T8" y="T9"/>
                </a:cxn>
              </a:cxnLst>
              <a:rect l="T15" t="T16" r="T17" b="T18"/>
              <a:pathLst>
                <a:path w="1" h="20">
                  <a:moveTo>
                    <a:pt x="0" y="0"/>
                  </a:moveTo>
                  <a:lnTo>
                    <a:pt x="0" y="0"/>
                  </a:lnTo>
                  <a:lnTo>
                    <a:pt x="0" y="2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74" name="Freeform 43"/>
            <p:cNvSpPr>
              <a:spLocks/>
            </p:cNvSpPr>
            <p:nvPr/>
          </p:nvSpPr>
          <p:spPr bwMode="auto">
            <a:xfrm>
              <a:off x="2872" y="2812"/>
              <a:ext cx="33" cy="239"/>
            </a:xfrm>
            <a:custGeom>
              <a:avLst/>
              <a:gdLst>
                <a:gd name="T0" fmla="*/ 1 w 65"/>
                <a:gd name="T1" fmla="*/ 1 h 479"/>
                <a:gd name="T2" fmla="*/ 1 w 65"/>
                <a:gd name="T3" fmla="*/ 1 h 479"/>
                <a:gd name="T4" fmla="*/ 1 w 65"/>
                <a:gd name="T5" fmla="*/ 1 h 479"/>
                <a:gd name="T6" fmla="*/ 1 w 65"/>
                <a:gd name="T7" fmla="*/ 1 h 479"/>
                <a:gd name="T8" fmla="*/ 1 w 65"/>
                <a:gd name="T9" fmla="*/ 1 h 479"/>
                <a:gd name="T10" fmla="*/ 1 w 65"/>
                <a:gd name="T11" fmla="*/ 0 h 479"/>
                <a:gd name="T12" fmla="*/ 1 w 65"/>
                <a:gd name="T13" fmla="*/ 0 h 479"/>
                <a:gd name="T14" fmla="*/ 1 w 65"/>
                <a:gd name="T15" fmla="*/ 0 h 479"/>
                <a:gd name="T16" fmla="*/ 1 w 65"/>
                <a:gd name="T17" fmla="*/ 0 h 479"/>
                <a:gd name="T18" fmla="*/ 0 w 65"/>
                <a:gd name="T19" fmla="*/ 0 h 479"/>
                <a:gd name="T20" fmla="*/ 0 w 65"/>
                <a:gd name="T21" fmla="*/ 0 h 4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5"/>
                <a:gd name="T34" fmla="*/ 0 h 479"/>
                <a:gd name="T35" fmla="*/ 65 w 65"/>
                <a:gd name="T36" fmla="*/ 479 h 4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5" h="479">
                  <a:moveTo>
                    <a:pt x="65" y="479"/>
                  </a:moveTo>
                  <a:lnTo>
                    <a:pt x="49" y="440"/>
                  </a:lnTo>
                  <a:lnTo>
                    <a:pt x="32" y="398"/>
                  </a:lnTo>
                  <a:lnTo>
                    <a:pt x="16" y="359"/>
                  </a:lnTo>
                  <a:lnTo>
                    <a:pt x="16" y="279"/>
                  </a:lnTo>
                  <a:lnTo>
                    <a:pt x="32" y="239"/>
                  </a:lnTo>
                  <a:lnTo>
                    <a:pt x="16" y="179"/>
                  </a:lnTo>
                  <a:lnTo>
                    <a:pt x="16" y="120"/>
                  </a:lnTo>
                  <a:lnTo>
                    <a:pt x="16" y="99"/>
                  </a:lnTo>
                  <a:lnTo>
                    <a:pt x="0" y="39"/>
                  </a:lnTo>
                  <a:lnTo>
                    <a:pt x="0"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75" name="Freeform 44"/>
            <p:cNvSpPr>
              <a:spLocks/>
            </p:cNvSpPr>
            <p:nvPr/>
          </p:nvSpPr>
          <p:spPr bwMode="auto">
            <a:xfrm>
              <a:off x="2855" y="2831"/>
              <a:ext cx="17" cy="119"/>
            </a:xfrm>
            <a:custGeom>
              <a:avLst/>
              <a:gdLst>
                <a:gd name="T0" fmla="*/ 0 w 34"/>
                <a:gd name="T1" fmla="*/ 0 h 239"/>
                <a:gd name="T2" fmla="*/ 1 w 34"/>
                <a:gd name="T3" fmla="*/ 0 h 239"/>
                <a:gd name="T4" fmla="*/ 1 w 34"/>
                <a:gd name="T5" fmla="*/ 0 h 239"/>
                <a:gd name="T6" fmla="*/ 1 w 34"/>
                <a:gd name="T7" fmla="*/ 0 h 239"/>
                <a:gd name="T8" fmla="*/ 1 w 34"/>
                <a:gd name="T9" fmla="*/ 0 h 239"/>
                <a:gd name="T10" fmla="*/ 1 w 34"/>
                <a:gd name="T11" fmla="*/ 0 h 239"/>
                <a:gd name="T12" fmla="*/ 0 60000 65536"/>
                <a:gd name="T13" fmla="*/ 0 60000 65536"/>
                <a:gd name="T14" fmla="*/ 0 60000 65536"/>
                <a:gd name="T15" fmla="*/ 0 60000 65536"/>
                <a:gd name="T16" fmla="*/ 0 60000 65536"/>
                <a:gd name="T17" fmla="*/ 0 60000 65536"/>
                <a:gd name="T18" fmla="*/ 0 w 34"/>
                <a:gd name="T19" fmla="*/ 0 h 239"/>
                <a:gd name="T20" fmla="*/ 34 w 34"/>
                <a:gd name="T21" fmla="*/ 239 h 239"/>
              </a:gdLst>
              <a:ahLst/>
              <a:cxnLst>
                <a:cxn ang="T12">
                  <a:pos x="T0" y="T1"/>
                </a:cxn>
                <a:cxn ang="T13">
                  <a:pos x="T2" y="T3"/>
                </a:cxn>
                <a:cxn ang="T14">
                  <a:pos x="T4" y="T5"/>
                </a:cxn>
                <a:cxn ang="T15">
                  <a:pos x="T6" y="T7"/>
                </a:cxn>
                <a:cxn ang="T16">
                  <a:pos x="T8" y="T9"/>
                </a:cxn>
                <a:cxn ang="T17">
                  <a:pos x="T10" y="T11"/>
                </a:cxn>
              </a:cxnLst>
              <a:rect l="T18" t="T19" r="T20" b="T21"/>
              <a:pathLst>
                <a:path w="34" h="239">
                  <a:moveTo>
                    <a:pt x="0" y="0"/>
                  </a:moveTo>
                  <a:lnTo>
                    <a:pt x="16" y="38"/>
                  </a:lnTo>
                  <a:lnTo>
                    <a:pt x="16" y="81"/>
                  </a:lnTo>
                  <a:lnTo>
                    <a:pt x="34" y="140"/>
                  </a:lnTo>
                  <a:lnTo>
                    <a:pt x="34" y="179"/>
                  </a:lnTo>
                  <a:lnTo>
                    <a:pt x="34" y="23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76" name="Freeform 45"/>
            <p:cNvSpPr>
              <a:spLocks/>
            </p:cNvSpPr>
            <p:nvPr/>
          </p:nvSpPr>
          <p:spPr bwMode="auto">
            <a:xfrm>
              <a:off x="2946" y="2501"/>
              <a:ext cx="24" cy="40"/>
            </a:xfrm>
            <a:custGeom>
              <a:avLst/>
              <a:gdLst>
                <a:gd name="T0" fmla="*/ 1 w 48"/>
                <a:gd name="T1" fmla="*/ 0 h 79"/>
                <a:gd name="T2" fmla="*/ 1 w 48"/>
                <a:gd name="T3" fmla="*/ 1 h 79"/>
                <a:gd name="T4" fmla="*/ 0 w 48"/>
                <a:gd name="T5" fmla="*/ 1 h 79"/>
                <a:gd name="T6" fmla="*/ 0 w 48"/>
                <a:gd name="T7" fmla="*/ 1 h 79"/>
                <a:gd name="T8" fmla="*/ 0 w 48"/>
                <a:gd name="T9" fmla="*/ 1 h 79"/>
                <a:gd name="T10" fmla="*/ 0 w 48"/>
                <a:gd name="T11" fmla="*/ 1 h 79"/>
                <a:gd name="T12" fmla="*/ 0 w 48"/>
                <a:gd name="T13" fmla="*/ 1 h 79"/>
                <a:gd name="T14" fmla="*/ 0 w 48"/>
                <a:gd name="T15" fmla="*/ 1 h 79"/>
                <a:gd name="T16" fmla="*/ 0 w 48"/>
                <a:gd name="T17" fmla="*/ 1 h 79"/>
                <a:gd name="T18" fmla="*/ 1 w 48"/>
                <a:gd name="T19" fmla="*/ 1 h 79"/>
                <a:gd name="T20" fmla="*/ 1 w 48"/>
                <a:gd name="T21" fmla="*/ 1 h 79"/>
                <a:gd name="T22" fmla="*/ 1 w 48"/>
                <a:gd name="T23" fmla="*/ 1 h 79"/>
                <a:gd name="T24" fmla="*/ 1 w 48"/>
                <a:gd name="T25" fmla="*/ 1 h 79"/>
                <a:gd name="T26" fmla="*/ 1 w 48"/>
                <a:gd name="T27" fmla="*/ 1 h 79"/>
                <a:gd name="T28" fmla="*/ 1 w 48"/>
                <a:gd name="T29" fmla="*/ 1 h 79"/>
                <a:gd name="T30" fmla="*/ 1 w 48"/>
                <a:gd name="T31" fmla="*/ 1 h 79"/>
                <a:gd name="T32" fmla="*/ 1 w 48"/>
                <a:gd name="T33" fmla="*/ 1 h 79"/>
                <a:gd name="T34" fmla="*/ 1 w 48"/>
                <a:gd name="T35" fmla="*/ 1 h 79"/>
                <a:gd name="T36" fmla="*/ 1 w 48"/>
                <a:gd name="T37" fmla="*/ 1 h 79"/>
                <a:gd name="T38" fmla="*/ 1 w 48"/>
                <a:gd name="T39" fmla="*/ 1 h 79"/>
                <a:gd name="T40" fmla="*/ 1 w 48"/>
                <a:gd name="T41" fmla="*/ 1 h 7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8"/>
                <a:gd name="T64" fmla="*/ 0 h 79"/>
                <a:gd name="T65" fmla="*/ 48 w 48"/>
                <a:gd name="T66" fmla="*/ 79 h 7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8" h="79">
                  <a:moveTo>
                    <a:pt x="33" y="0"/>
                  </a:moveTo>
                  <a:lnTo>
                    <a:pt x="17" y="19"/>
                  </a:lnTo>
                  <a:lnTo>
                    <a:pt x="0" y="40"/>
                  </a:lnTo>
                  <a:lnTo>
                    <a:pt x="0" y="59"/>
                  </a:lnTo>
                  <a:lnTo>
                    <a:pt x="17" y="79"/>
                  </a:lnTo>
                  <a:lnTo>
                    <a:pt x="33" y="79"/>
                  </a:lnTo>
                  <a:lnTo>
                    <a:pt x="48" y="79"/>
                  </a:lnTo>
                  <a:lnTo>
                    <a:pt x="48" y="5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77" name="Freeform 46"/>
            <p:cNvSpPr>
              <a:spLocks/>
            </p:cNvSpPr>
            <p:nvPr/>
          </p:nvSpPr>
          <p:spPr bwMode="auto">
            <a:xfrm>
              <a:off x="3028" y="2562"/>
              <a:ext cx="33" cy="29"/>
            </a:xfrm>
            <a:custGeom>
              <a:avLst/>
              <a:gdLst>
                <a:gd name="T0" fmla="*/ 0 w 67"/>
                <a:gd name="T1" fmla="*/ 0 h 60"/>
                <a:gd name="T2" fmla="*/ 0 w 67"/>
                <a:gd name="T3" fmla="*/ 0 h 60"/>
                <a:gd name="T4" fmla="*/ 0 w 67"/>
                <a:gd name="T5" fmla="*/ 0 h 60"/>
                <a:gd name="T6" fmla="*/ 0 w 67"/>
                <a:gd name="T7" fmla="*/ 0 h 60"/>
                <a:gd name="T8" fmla="*/ 0 w 67"/>
                <a:gd name="T9" fmla="*/ 0 h 60"/>
                <a:gd name="T10" fmla="*/ 0 60000 65536"/>
                <a:gd name="T11" fmla="*/ 0 60000 65536"/>
                <a:gd name="T12" fmla="*/ 0 60000 65536"/>
                <a:gd name="T13" fmla="*/ 0 60000 65536"/>
                <a:gd name="T14" fmla="*/ 0 60000 65536"/>
                <a:gd name="T15" fmla="*/ 0 w 67"/>
                <a:gd name="T16" fmla="*/ 0 h 60"/>
                <a:gd name="T17" fmla="*/ 67 w 67"/>
                <a:gd name="T18" fmla="*/ 60 h 60"/>
              </a:gdLst>
              <a:ahLst/>
              <a:cxnLst>
                <a:cxn ang="T10">
                  <a:pos x="T0" y="T1"/>
                </a:cxn>
                <a:cxn ang="T11">
                  <a:pos x="T2" y="T3"/>
                </a:cxn>
                <a:cxn ang="T12">
                  <a:pos x="T4" y="T5"/>
                </a:cxn>
                <a:cxn ang="T13">
                  <a:pos x="T6" y="T7"/>
                </a:cxn>
                <a:cxn ang="T14">
                  <a:pos x="T8" y="T9"/>
                </a:cxn>
              </a:cxnLst>
              <a:rect l="T15" t="T16" r="T17" b="T18"/>
              <a:pathLst>
                <a:path w="67" h="60">
                  <a:moveTo>
                    <a:pt x="0" y="60"/>
                  </a:moveTo>
                  <a:lnTo>
                    <a:pt x="35" y="39"/>
                  </a:lnTo>
                  <a:lnTo>
                    <a:pt x="51" y="39"/>
                  </a:lnTo>
                  <a:lnTo>
                    <a:pt x="51" y="20"/>
                  </a:lnTo>
                  <a:lnTo>
                    <a:pt x="67"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78" name="Freeform 47"/>
            <p:cNvSpPr>
              <a:spLocks/>
            </p:cNvSpPr>
            <p:nvPr/>
          </p:nvSpPr>
          <p:spPr bwMode="auto">
            <a:xfrm>
              <a:off x="2937" y="2391"/>
              <a:ext cx="8" cy="20"/>
            </a:xfrm>
            <a:custGeom>
              <a:avLst/>
              <a:gdLst>
                <a:gd name="T0" fmla="*/ 0 w 16"/>
                <a:gd name="T1" fmla="*/ 0 h 39"/>
                <a:gd name="T2" fmla="*/ 0 w 16"/>
                <a:gd name="T3" fmla="*/ 1 h 39"/>
                <a:gd name="T4" fmla="*/ 1 w 16"/>
                <a:gd name="T5" fmla="*/ 1 h 39"/>
                <a:gd name="T6" fmla="*/ 1 w 16"/>
                <a:gd name="T7" fmla="*/ 1 h 39"/>
                <a:gd name="T8" fmla="*/ 0 60000 65536"/>
                <a:gd name="T9" fmla="*/ 0 60000 65536"/>
                <a:gd name="T10" fmla="*/ 0 60000 65536"/>
                <a:gd name="T11" fmla="*/ 0 60000 65536"/>
                <a:gd name="T12" fmla="*/ 0 w 16"/>
                <a:gd name="T13" fmla="*/ 0 h 39"/>
                <a:gd name="T14" fmla="*/ 16 w 16"/>
                <a:gd name="T15" fmla="*/ 39 h 39"/>
              </a:gdLst>
              <a:ahLst/>
              <a:cxnLst>
                <a:cxn ang="T8">
                  <a:pos x="T0" y="T1"/>
                </a:cxn>
                <a:cxn ang="T9">
                  <a:pos x="T2" y="T3"/>
                </a:cxn>
                <a:cxn ang="T10">
                  <a:pos x="T4" y="T5"/>
                </a:cxn>
                <a:cxn ang="T11">
                  <a:pos x="T6" y="T7"/>
                </a:cxn>
              </a:cxnLst>
              <a:rect l="T12" t="T13" r="T14" b="T15"/>
              <a:pathLst>
                <a:path w="16" h="39">
                  <a:moveTo>
                    <a:pt x="0" y="0"/>
                  </a:moveTo>
                  <a:lnTo>
                    <a:pt x="0" y="21"/>
                  </a:lnTo>
                  <a:lnTo>
                    <a:pt x="16" y="3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79" name="Freeform 48"/>
            <p:cNvSpPr>
              <a:spLocks/>
            </p:cNvSpPr>
            <p:nvPr/>
          </p:nvSpPr>
          <p:spPr bwMode="auto">
            <a:xfrm>
              <a:off x="2929" y="2361"/>
              <a:ext cx="1" cy="20"/>
            </a:xfrm>
            <a:custGeom>
              <a:avLst/>
              <a:gdLst>
                <a:gd name="T0" fmla="*/ 0 w 1"/>
                <a:gd name="T1" fmla="*/ 1 h 40"/>
                <a:gd name="T2" fmla="*/ 0 w 1"/>
                <a:gd name="T3" fmla="*/ 1 h 40"/>
                <a:gd name="T4" fmla="*/ 0 w 1"/>
                <a:gd name="T5" fmla="*/ 1 h 40"/>
                <a:gd name="T6" fmla="*/ 0 w 1"/>
                <a:gd name="T7" fmla="*/ 0 h 40"/>
                <a:gd name="T8" fmla="*/ 0 60000 65536"/>
                <a:gd name="T9" fmla="*/ 0 60000 65536"/>
                <a:gd name="T10" fmla="*/ 0 60000 65536"/>
                <a:gd name="T11" fmla="*/ 0 60000 65536"/>
                <a:gd name="T12" fmla="*/ 0 w 1"/>
                <a:gd name="T13" fmla="*/ 0 h 40"/>
                <a:gd name="T14" fmla="*/ 1 w 1"/>
                <a:gd name="T15" fmla="*/ 40 h 40"/>
              </a:gdLst>
              <a:ahLst/>
              <a:cxnLst>
                <a:cxn ang="T8">
                  <a:pos x="T0" y="T1"/>
                </a:cxn>
                <a:cxn ang="T9">
                  <a:pos x="T2" y="T3"/>
                </a:cxn>
                <a:cxn ang="T10">
                  <a:pos x="T4" y="T5"/>
                </a:cxn>
                <a:cxn ang="T11">
                  <a:pos x="T6" y="T7"/>
                </a:cxn>
              </a:cxnLst>
              <a:rect l="T12" t="T13" r="T14" b="T15"/>
              <a:pathLst>
                <a:path w="1" h="40">
                  <a:moveTo>
                    <a:pt x="0" y="40"/>
                  </a:moveTo>
                  <a:lnTo>
                    <a:pt x="0" y="40"/>
                  </a:lnTo>
                  <a:lnTo>
                    <a:pt x="0" y="20"/>
                  </a:lnTo>
                  <a:lnTo>
                    <a:pt x="0"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80" name="Freeform 49"/>
            <p:cNvSpPr>
              <a:spLocks/>
            </p:cNvSpPr>
            <p:nvPr/>
          </p:nvSpPr>
          <p:spPr bwMode="auto">
            <a:xfrm>
              <a:off x="2937" y="2332"/>
              <a:ext cx="25" cy="9"/>
            </a:xfrm>
            <a:custGeom>
              <a:avLst/>
              <a:gdLst>
                <a:gd name="T0" fmla="*/ 0 w 49"/>
                <a:gd name="T1" fmla="*/ 0 h 20"/>
                <a:gd name="T2" fmla="*/ 1 w 49"/>
                <a:gd name="T3" fmla="*/ 0 h 20"/>
                <a:gd name="T4" fmla="*/ 1 w 49"/>
                <a:gd name="T5" fmla="*/ 0 h 20"/>
                <a:gd name="T6" fmla="*/ 1 w 49"/>
                <a:gd name="T7" fmla="*/ 0 h 20"/>
                <a:gd name="T8" fmla="*/ 0 60000 65536"/>
                <a:gd name="T9" fmla="*/ 0 60000 65536"/>
                <a:gd name="T10" fmla="*/ 0 60000 65536"/>
                <a:gd name="T11" fmla="*/ 0 60000 65536"/>
                <a:gd name="T12" fmla="*/ 0 w 49"/>
                <a:gd name="T13" fmla="*/ 0 h 20"/>
                <a:gd name="T14" fmla="*/ 49 w 49"/>
                <a:gd name="T15" fmla="*/ 20 h 20"/>
              </a:gdLst>
              <a:ahLst/>
              <a:cxnLst>
                <a:cxn ang="T8">
                  <a:pos x="T0" y="T1"/>
                </a:cxn>
                <a:cxn ang="T9">
                  <a:pos x="T2" y="T3"/>
                </a:cxn>
                <a:cxn ang="T10">
                  <a:pos x="T4" y="T5"/>
                </a:cxn>
                <a:cxn ang="T11">
                  <a:pos x="T6" y="T7"/>
                </a:cxn>
              </a:cxnLst>
              <a:rect l="T12" t="T13" r="T14" b="T15"/>
              <a:pathLst>
                <a:path w="49" h="20">
                  <a:moveTo>
                    <a:pt x="0" y="20"/>
                  </a:moveTo>
                  <a:lnTo>
                    <a:pt x="16" y="20"/>
                  </a:lnTo>
                  <a:lnTo>
                    <a:pt x="33" y="0"/>
                  </a:lnTo>
                  <a:lnTo>
                    <a:pt x="49" y="2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81" name="Freeform 50"/>
            <p:cNvSpPr>
              <a:spLocks/>
            </p:cNvSpPr>
            <p:nvPr/>
          </p:nvSpPr>
          <p:spPr bwMode="auto">
            <a:xfrm>
              <a:off x="2963" y="2322"/>
              <a:ext cx="32" cy="1"/>
            </a:xfrm>
            <a:custGeom>
              <a:avLst/>
              <a:gdLst>
                <a:gd name="T0" fmla="*/ 0 w 66"/>
                <a:gd name="T1" fmla="*/ 0 h 1"/>
                <a:gd name="T2" fmla="*/ 0 w 66"/>
                <a:gd name="T3" fmla="*/ 0 h 1"/>
                <a:gd name="T4" fmla="*/ 0 w 66"/>
                <a:gd name="T5" fmla="*/ 0 h 1"/>
                <a:gd name="T6" fmla="*/ 0 w 66"/>
                <a:gd name="T7" fmla="*/ 0 h 1"/>
                <a:gd name="T8" fmla="*/ 0 60000 65536"/>
                <a:gd name="T9" fmla="*/ 0 60000 65536"/>
                <a:gd name="T10" fmla="*/ 0 60000 65536"/>
                <a:gd name="T11" fmla="*/ 0 60000 65536"/>
                <a:gd name="T12" fmla="*/ 0 w 66"/>
                <a:gd name="T13" fmla="*/ 0 h 1"/>
                <a:gd name="T14" fmla="*/ 66 w 66"/>
                <a:gd name="T15" fmla="*/ 1 h 1"/>
              </a:gdLst>
              <a:ahLst/>
              <a:cxnLst>
                <a:cxn ang="T8">
                  <a:pos x="T0" y="T1"/>
                </a:cxn>
                <a:cxn ang="T9">
                  <a:pos x="T2" y="T3"/>
                </a:cxn>
                <a:cxn ang="T10">
                  <a:pos x="T4" y="T5"/>
                </a:cxn>
                <a:cxn ang="T11">
                  <a:pos x="T6" y="T7"/>
                </a:cxn>
              </a:cxnLst>
              <a:rect l="T12" t="T13" r="T14" b="T15"/>
              <a:pathLst>
                <a:path w="66" h="1">
                  <a:moveTo>
                    <a:pt x="0" y="0"/>
                  </a:moveTo>
                  <a:lnTo>
                    <a:pt x="15" y="0"/>
                  </a:lnTo>
                  <a:lnTo>
                    <a:pt x="32" y="0"/>
                  </a:lnTo>
                  <a:lnTo>
                    <a:pt x="66"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82" name="Freeform 51"/>
            <p:cNvSpPr>
              <a:spLocks/>
            </p:cNvSpPr>
            <p:nvPr/>
          </p:nvSpPr>
          <p:spPr bwMode="auto">
            <a:xfrm>
              <a:off x="3069" y="2471"/>
              <a:ext cx="9" cy="50"/>
            </a:xfrm>
            <a:custGeom>
              <a:avLst/>
              <a:gdLst>
                <a:gd name="T0" fmla="*/ 1 w 16"/>
                <a:gd name="T1" fmla="*/ 1 h 100"/>
                <a:gd name="T2" fmla="*/ 1 w 16"/>
                <a:gd name="T3" fmla="*/ 1 h 100"/>
                <a:gd name="T4" fmla="*/ 1 w 16"/>
                <a:gd name="T5" fmla="*/ 1 h 100"/>
                <a:gd name="T6" fmla="*/ 0 w 16"/>
                <a:gd name="T7" fmla="*/ 1 h 100"/>
                <a:gd name="T8" fmla="*/ 0 w 16"/>
                <a:gd name="T9" fmla="*/ 0 h 100"/>
                <a:gd name="T10" fmla="*/ 0 60000 65536"/>
                <a:gd name="T11" fmla="*/ 0 60000 65536"/>
                <a:gd name="T12" fmla="*/ 0 60000 65536"/>
                <a:gd name="T13" fmla="*/ 0 60000 65536"/>
                <a:gd name="T14" fmla="*/ 0 60000 65536"/>
                <a:gd name="T15" fmla="*/ 0 w 16"/>
                <a:gd name="T16" fmla="*/ 0 h 100"/>
                <a:gd name="T17" fmla="*/ 16 w 16"/>
                <a:gd name="T18" fmla="*/ 100 h 100"/>
              </a:gdLst>
              <a:ahLst/>
              <a:cxnLst>
                <a:cxn ang="T10">
                  <a:pos x="T0" y="T1"/>
                </a:cxn>
                <a:cxn ang="T11">
                  <a:pos x="T2" y="T3"/>
                </a:cxn>
                <a:cxn ang="T12">
                  <a:pos x="T4" y="T5"/>
                </a:cxn>
                <a:cxn ang="T13">
                  <a:pos x="T6" y="T7"/>
                </a:cxn>
                <a:cxn ang="T14">
                  <a:pos x="T8" y="T9"/>
                </a:cxn>
              </a:cxnLst>
              <a:rect l="T15" t="T16" r="T17" b="T18"/>
              <a:pathLst>
                <a:path w="16" h="100">
                  <a:moveTo>
                    <a:pt x="16" y="100"/>
                  </a:moveTo>
                  <a:lnTo>
                    <a:pt x="16" y="60"/>
                  </a:lnTo>
                  <a:lnTo>
                    <a:pt x="16" y="40"/>
                  </a:lnTo>
                  <a:lnTo>
                    <a:pt x="0" y="19"/>
                  </a:lnTo>
                  <a:lnTo>
                    <a:pt x="0"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83" name="Freeform 52"/>
            <p:cNvSpPr>
              <a:spLocks/>
            </p:cNvSpPr>
            <p:nvPr/>
          </p:nvSpPr>
          <p:spPr bwMode="auto">
            <a:xfrm>
              <a:off x="3078" y="2501"/>
              <a:ext cx="8" cy="20"/>
            </a:xfrm>
            <a:custGeom>
              <a:avLst/>
              <a:gdLst>
                <a:gd name="T0" fmla="*/ 0 w 16"/>
                <a:gd name="T1" fmla="*/ 1 h 40"/>
                <a:gd name="T2" fmla="*/ 0 w 16"/>
                <a:gd name="T3" fmla="*/ 1 h 40"/>
                <a:gd name="T4" fmla="*/ 1 w 16"/>
                <a:gd name="T5" fmla="*/ 0 h 40"/>
                <a:gd name="T6" fmla="*/ 0 60000 65536"/>
                <a:gd name="T7" fmla="*/ 0 60000 65536"/>
                <a:gd name="T8" fmla="*/ 0 60000 65536"/>
                <a:gd name="T9" fmla="*/ 0 w 16"/>
                <a:gd name="T10" fmla="*/ 0 h 40"/>
                <a:gd name="T11" fmla="*/ 16 w 16"/>
                <a:gd name="T12" fmla="*/ 40 h 40"/>
              </a:gdLst>
              <a:ahLst/>
              <a:cxnLst>
                <a:cxn ang="T6">
                  <a:pos x="T0" y="T1"/>
                </a:cxn>
                <a:cxn ang="T7">
                  <a:pos x="T2" y="T3"/>
                </a:cxn>
                <a:cxn ang="T8">
                  <a:pos x="T4" y="T5"/>
                </a:cxn>
              </a:cxnLst>
              <a:rect l="T9" t="T10" r="T11" b="T12"/>
              <a:pathLst>
                <a:path w="16" h="40">
                  <a:moveTo>
                    <a:pt x="0" y="40"/>
                  </a:moveTo>
                  <a:lnTo>
                    <a:pt x="0" y="19"/>
                  </a:lnTo>
                  <a:lnTo>
                    <a:pt x="16"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84" name="Freeform 53"/>
            <p:cNvSpPr>
              <a:spLocks/>
            </p:cNvSpPr>
            <p:nvPr/>
          </p:nvSpPr>
          <p:spPr bwMode="auto">
            <a:xfrm>
              <a:off x="3069" y="2602"/>
              <a:ext cx="33" cy="29"/>
            </a:xfrm>
            <a:custGeom>
              <a:avLst/>
              <a:gdLst>
                <a:gd name="T0" fmla="*/ 0 w 65"/>
                <a:gd name="T1" fmla="*/ 0 h 59"/>
                <a:gd name="T2" fmla="*/ 1 w 65"/>
                <a:gd name="T3" fmla="*/ 0 h 59"/>
                <a:gd name="T4" fmla="*/ 1 w 65"/>
                <a:gd name="T5" fmla="*/ 0 h 59"/>
                <a:gd name="T6" fmla="*/ 1 w 65"/>
                <a:gd name="T7" fmla="*/ 0 h 59"/>
                <a:gd name="T8" fmla="*/ 1 w 65"/>
                <a:gd name="T9" fmla="*/ 0 h 59"/>
                <a:gd name="T10" fmla="*/ 1 w 65"/>
                <a:gd name="T11" fmla="*/ 0 h 59"/>
                <a:gd name="T12" fmla="*/ 0 60000 65536"/>
                <a:gd name="T13" fmla="*/ 0 60000 65536"/>
                <a:gd name="T14" fmla="*/ 0 60000 65536"/>
                <a:gd name="T15" fmla="*/ 0 60000 65536"/>
                <a:gd name="T16" fmla="*/ 0 60000 65536"/>
                <a:gd name="T17" fmla="*/ 0 60000 65536"/>
                <a:gd name="T18" fmla="*/ 0 w 65"/>
                <a:gd name="T19" fmla="*/ 0 h 59"/>
                <a:gd name="T20" fmla="*/ 65 w 65"/>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65" h="59">
                  <a:moveTo>
                    <a:pt x="0" y="59"/>
                  </a:moveTo>
                  <a:lnTo>
                    <a:pt x="16" y="59"/>
                  </a:lnTo>
                  <a:lnTo>
                    <a:pt x="32" y="39"/>
                  </a:lnTo>
                  <a:lnTo>
                    <a:pt x="48" y="39"/>
                  </a:lnTo>
                  <a:lnTo>
                    <a:pt x="65" y="20"/>
                  </a:lnTo>
                  <a:lnTo>
                    <a:pt x="65"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85" name="Line 54"/>
            <p:cNvSpPr>
              <a:spLocks noChangeShapeType="1"/>
            </p:cNvSpPr>
            <p:nvPr/>
          </p:nvSpPr>
          <p:spPr bwMode="auto">
            <a:xfrm flipV="1">
              <a:off x="3069" y="2621"/>
              <a:ext cx="17" cy="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086" name="Line 55"/>
            <p:cNvSpPr>
              <a:spLocks noChangeShapeType="1"/>
            </p:cNvSpPr>
            <p:nvPr/>
          </p:nvSpPr>
          <p:spPr bwMode="auto">
            <a:xfrm>
              <a:off x="3012" y="2451"/>
              <a:ext cx="8" cy="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087" name="Freeform 56"/>
            <p:cNvSpPr>
              <a:spLocks/>
            </p:cNvSpPr>
            <p:nvPr/>
          </p:nvSpPr>
          <p:spPr bwMode="auto">
            <a:xfrm>
              <a:off x="2937" y="3191"/>
              <a:ext cx="247" cy="69"/>
            </a:xfrm>
            <a:custGeom>
              <a:avLst/>
              <a:gdLst>
                <a:gd name="T0" fmla="*/ 0 w 494"/>
                <a:gd name="T1" fmla="*/ 0 h 138"/>
                <a:gd name="T2" fmla="*/ 1 w 494"/>
                <a:gd name="T3" fmla="*/ 1 h 138"/>
                <a:gd name="T4" fmla="*/ 1 w 494"/>
                <a:gd name="T5" fmla="*/ 1 h 138"/>
                <a:gd name="T6" fmla="*/ 1 w 494"/>
                <a:gd name="T7" fmla="*/ 1 h 138"/>
                <a:gd name="T8" fmla="*/ 1 w 494"/>
                <a:gd name="T9" fmla="*/ 1 h 138"/>
                <a:gd name="T10" fmla="*/ 1 w 494"/>
                <a:gd name="T11" fmla="*/ 1 h 138"/>
                <a:gd name="T12" fmla="*/ 1 w 494"/>
                <a:gd name="T13" fmla="*/ 1 h 138"/>
                <a:gd name="T14" fmla="*/ 1 w 494"/>
                <a:gd name="T15" fmla="*/ 1 h 138"/>
                <a:gd name="T16" fmla="*/ 1 w 494"/>
                <a:gd name="T17" fmla="*/ 1 h 138"/>
                <a:gd name="T18" fmla="*/ 1 w 494"/>
                <a:gd name="T19" fmla="*/ 1 h 138"/>
                <a:gd name="T20" fmla="*/ 2 w 494"/>
                <a:gd name="T21" fmla="*/ 1 h 13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4"/>
                <a:gd name="T34" fmla="*/ 0 h 138"/>
                <a:gd name="T35" fmla="*/ 494 w 494"/>
                <a:gd name="T36" fmla="*/ 138 h 13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4" h="138">
                  <a:moveTo>
                    <a:pt x="0" y="0"/>
                  </a:moveTo>
                  <a:lnTo>
                    <a:pt x="16" y="18"/>
                  </a:lnTo>
                  <a:lnTo>
                    <a:pt x="33" y="40"/>
                  </a:lnTo>
                  <a:lnTo>
                    <a:pt x="65" y="59"/>
                  </a:lnTo>
                  <a:lnTo>
                    <a:pt x="100" y="79"/>
                  </a:lnTo>
                  <a:lnTo>
                    <a:pt x="131" y="99"/>
                  </a:lnTo>
                  <a:lnTo>
                    <a:pt x="148" y="119"/>
                  </a:lnTo>
                  <a:lnTo>
                    <a:pt x="180" y="138"/>
                  </a:lnTo>
                  <a:lnTo>
                    <a:pt x="197" y="138"/>
                  </a:lnTo>
                  <a:lnTo>
                    <a:pt x="213" y="138"/>
                  </a:lnTo>
                  <a:lnTo>
                    <a:pt x="494" y="13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88" name="Line 57"/>
            <p:cNvSpPr>
              <a:spLocks noChangeShapeType="1"/>
            </p:cNvSpPr>
            <p:nvPr/>
          </p:nvSpPr>
          <p:spPr bwMode="auto">
            <a:xfrm>
              <a:off x="2848" y="3260"/>
              <a:ext cx="19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089" name="Freeform 58"/>
            <p:cNvSpPr>
              <a:spLocks/>
            </p:cNvSpPr>
            <p:nvPr/>
          </p:nvSpPr>
          <p:spPr bwMode="auto">
            <a:xfrm>
              <a:off x="2946" y="2691"/>
              <a:ext cx="82" cy="110"/>
            </a:xfrm>
            <a:custGeom>
              <a:avLst/>
              <a:gdLst>
                <a:gd name="T0" fmla="*/ 1 w 162"/>
                <a:gd name="T1" fmla="*/ 1 h 220"/>
                <a:gd name="T2" fmla="*/ 1 w 162"/>
                <a:gd name="T3" fmla="*/ 1 h 220"/>
                <a:gd name="T4" fmla="*/ 0 w 162"/>
                <a:gd name="T5" fmla="*/ 1 h 220"/>
                <a:gd name="T6" fmla="*/ 1 w 162"/>
                <a:gd name="T7" fmla="*/ 0 h 220"/>
                <a:gd name="T8" fmla="*/ 1 w 162"/>
                <a:gd name="T9" fmla="*/ 0 h 220"/>
                <a:gd name="T10" fmla="*/ 1 w 162"/>
                <a:gd name="T11" fmla="*/ 1 h 220"/>
                <a:gd name="T12" fmla="*/ 0 60000 65536"/>
                <a:gd name="T13" fmla="*/ 0 60000 65536"/>
                <a:gd name="T14" fmla="*/ 0 60000 65536"/>
                <a:gd name="T15" fmla="*/ 0 60000 65536"/>
                <a:gd name="T16" fmla="*/ 0 60000 65536"/>
                <a:gd name="T17" fmla="*/ 0 60000 65536"/>
                <a:gd name="T18" fmla="*/ 0 w 162"/>
                <a:gd name="T19" fmla="*/ 0 h 220"/>
                <a:gd name="T20" fmla="*/ 162 w 162"/>
                <a:gd name="T21" fmla="*/ 220 h 220"/>
              </a:gdLst>
              <a:ahLst/>
              <a:cxnLst>
                <a:cxn ang="T12">
                  <a:pos x="T0" y="T1"/>
                </a:cxn>
                <a:cxn ang="T13">
                  <a:pos x="T2" y="T3"/>
                </a:cxn>
                <a:cxn ang="T14">
                  <a:pos x="T4" y="T5"/>
                </a:cxn>
                <a:cxn ang="T15">
                  <a:pos x="T6" y="T7"/>
                </a:cxn>
                <a:cxn ang="T16">
                  <a:pos x="T8" y="T9"/>
                </a:cxn>
                <a:cxn ang="T17">
                  <a:pos x="T10" y="T11"/>
                </a:cxn>
              </a:cxnLst>
              <a:rect l="T18" t="T19" r="T20" b="T21"/>
              <a:pathLst>
                <a:path w="162" h="220">
                  <a:moveTo>
                    <a:pt x="162" y="60"/>
                  </a:moveTo>
                  <a:lnTo>
                    <a:pt x="114" y="220"/>
                  </a:lnTo>
                  <a:lnTo>
                    <a:pt x="0" y="178"/>
                  </a:lnTo>
                  <a:lnTo>
                    <a:pt x="114" y="0"/>
                  </a:lnTo>
                  <a:lnTo>
                    <a:pt x="131" y="0"/>
                  </a:lnTo>
                  <a:lnTo>
                    <a:pt x="162" y="6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090" name="Freeform 59"/>
            <p:cNvSpPr>
              <a:spLocks/>
            </p:cNvSpPr>
            <p:nvPr/>
          </p:nvSpPr>
          <p:spPr bwMode="auto">
            <a:xfrm>
              <a:off x="2946" y="2691"/>
              <a:ext cx="82" cy="110"/>
            </a:xfrm>
            <a:custGeom>
              <a:avLst/>
              <a:gdLst>
                <a:gd name="T0" fmla="*/ 1 w 162"/>
                <a:gd name="T1" fmla="*/ 1 h 220"/>
                <a:gd name="T2" fmla="*/ 1 w 162"/>
                <a:gd name="T3" fmla="*/ 1 h 220"/>
                <a:gd name="T4" fmla="*/ 0 w 162"/>
                <a:gd name="T5" fmla="*/ 1 h 220"/>
                <a:gd name="T6" fmla="*/ 1 w 162"/>
                <a:gd name="T7" fmla="*/ 0 h 220"/>
                <a:gd name="T8" fmla="*/ 1 w 162"/>
                <a:gd name="T9" fmla="*/ 0 h 220"/>
                <a:gd name="T10" fmla="*/ 1 w 162"/>
                <a:gd name="T11" fmla="*/ 1 h 220"/>
                <a:gd name="T12" fmla="*/ 0 60000 65536"/>
                <a:gd name="T13" fmla="*/ 0 60000 65536"/>
                <a:gd name="T14" fmla="*/ 0 60000 65536"/>
                <a:gd name="T15" fmla="*/ 0 60000 65536"/>
                <a:gd name="T16" fmla="*/ 0 60000 65536"/>
                <a:gd name="T17" fmla="*/ 0 60000 65536"/>
                <a:gd name="T18" fmla="*/ 0 w 162"/>
                <a:gd name="T19" fmla="*/ 0 h 220"/>
                <a:gd name="T20" fmla="*/ 162 w 162"/>
                <a:gd name="T21" fmla="*/ 220 h 220"/>
              </a:gdLst>
              <a:ahLst/>
              <a:cxnLst>
                <a:cxn ang="T12">
                  <a:pos x="T0" y="T1"/>
                </a:cxn>
                <a:cxn ang="T13">
                  <a:pos x="T2" y="T3"/>
                </a:cxn>
                <a:cxn ang="T14">
                  <a:pos x="T4" y="T5"/>
                </a:cxn>
                <a:cxn ang="T15">
                  <a:pos x="T6" y="T7"/>
                </a:cxn>
                <a:cxn ang="T16">
                  <a:pos x="T8" y="T9"/>
                </a:cxn>
                <a:cxn ang="T17">
                  <a:pos x="T10" y="T11"/>
                </a:cxn>
              </a:cxnLst>
              <a:rect l="T18" t="T19" r="T20" b="T21"/>
              <a:pathLst>
                <a:path w="162" h="220">
                  <a:moveTo>
                    <a:pt x="162" y="60"/>
                  </a:moveTo>
                  <a:lnTo>
                    <a:pt x="114" y="220"/>
                  </a:lnTo>
                  <a:lnTo>
                    <a:pt x="0" y="178"/>
                  </a:lnTo>
                  <a:lnTo>
                    <a:pt x="114" y="0"/>
                  </a:lnTo>
                  <a:lnTo>
                    <a:pt x="131" y="0"/>
                  </a:lnTo>
                  <a:lnTo>
                    <a:pt x="162" y="6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91" name="Freeform 60"/>
            <p:cNvSpPr>
              <a:spLocks/>
            </p:cNvSpPr>
            <p:nvPr/>
          </p:nvSpPr>
          <p:spPr bwMode="auto">
            <a:xfrm>
              <a:off x="3012" y="2501"/>
              <a:ext cx="16" cy="20"/>
            </a:xfrm>
            <a:custGeom>
              <a:avLst/>
              <a:gdLst>
                <a:gd name="T0" fmla="*/ 0 w 31"/>
                <a:gd name="T1" fmla="*/ 0 h 40"/>
                <a:gd name="T2" fmla="*/ 0 w 31"/>
                <a:gd name="T3" fmla="*/ 1 h 40"/>
                <a:gd name="T4" fmla="*/ 0 w 31"/>
                <a:gd name="T5" fmla="*/ 1 h 40"/>
                <a:gd name="T6" fmla="*/ 1 w 31"/>
                <a:gd name="T7" fmla="*/ 1 h 40"/>
                <a:gd name="T8" fmla="*/ 1 w 31"/>
                <a:gd name="T9" fmla="*/ 1 h 40"/>
                <a:gd name="T10" fmla="*/ 1 w 31"/>
                <a:gd name="T11" fmla="*/ 1 h 40"/>
                <a:gd name="T12" fmla="*/ 1 w 31"/>
                <a:gd name="T13" fmla="*/ 1 h 40"/>
                <a:gd name="T14" fmla="*/ 1 w 31"/>
                <a:gd name="T15" fmla="*/ 1 h 40"/>
                <a:gd name="T16" fmla="*/ 1 w 31"/>
                <a:gd name="T17" fmla="*/ 0 h 40"/>
                <a:gd name="T18" fmla="*/ 1 w 31"/>
                <a:gd name="T19" fmla="*/ 0 h 40"/>
                <a:gd name="T20" fmla="*/ 1 w 31"/>
                <a:gd name="T21" fmla="*/ 0 h 40"/>
                <a:gd name="T22" fmla="*/ 0 w 31"/>
                <a:gd name="T23" fmla="*/ 0 h 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
                <a:gd name="T37" fmla="*/ 0 h 40"/>
                <a:gd name="T38" fmla="*/ 31 w 31"/>
                <a:gd name="T39" fmla="*/ 40 h 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 h="40">
                  <a:moveTo>
                    <a:pt x="0" y="0"/>
                  </a:moveTo>
                  <a:lnTo>
                    <a:pt x="0" y="19"/>
                  </a:lnTo>
                  <a:lnTo>
                    <a:pt x="16" y="40"/>
                  </a:lnTo>
                  <a:lnTo>
                    <a:pt x="31" y="40"/>
                  </a:lnTo>
                  <a:lnTo>
                    <a:pt x="31" y="19"/>
                  </a:lnTo>
                  <a:lnTo>
                    <a:pt x="31" y="0"/>
                  </a:lnTo>
                  <a:lnTo>
                    <a:pt x="1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092" name="Freeform 61"/>
            <p:cNvSpPr>
              <a:spLocks/>
            </p:cNvSpPr>
            <p:nvPr/>
          </p:nvSpPr>
          <p:spPr bwMode="auto">
            <a:xfrm>
              <a:off x="3012" y="2501"/>
              <a:ext cx="16" cy="20"/>
            </a:xfrm>
            <a:custGeom>
              <a:avLst/>
              <a:gdLst>
                <a:gd name="T0" fmla="*/ 0 w 31"/>
                <a:gd name="T1" fmla="*/ 0 h 40"/>
                <a:gd name="T2" fmla="*/ 0 w 31"/>
                <a:gd name="T3" fmla="*/ 1 h 40"/>
                <a:gd name="T4" fmla="*/ 0 w 31"/>
                <a:gd name="T5" fmla="*/ 1 h 40"/>
                <a:gd name="T6" fmla="*/ 1 w 31"/>
                <a:gd name="T7" fmla="*/ 1 h 40"/>
                <a:gd name="T8" fmla="*/ 1 w 31"/>
                <a:gd name="T9" fmla="*/ 1 h 40"/>
                <a:gd name="T10" fmla="*/ 1 w 31"/>
                <a:gd name="T11" fmla="*/ 1 h 40"/>
                <a:gd name="T12" fmla="*/ 1 w 31"/>
                <a:gd name="T13" fmla="*/ 1 h 40"/>
                <a:gd name="T14" fmla="*/ 1 w 31"/>
                <a:gd name="T15" fmla="*/ 1 h 40"/>
                <a:gd name="T16" fmla="*/ 1 w 31"/>
                <a:gd name="T17" fmla="*/ 0 h 40"/>
                <a:gd name="T18" fmla="*/ 1 w 31"/>
                <a:gd name="T19" fmla="*/ 0 h 40"/>
                <a:gd name="T20" fmla="*/ 1 w 31"/>
                <a:gd name="T21" fmla="*/ 0 h 40"/>
                <a:gd name="T22" fmla="*/ 0 w 31"/>
                <a:gd name="T23" fmla="*/ 0 h 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
                <a:gd name="T37" fmla="*/ 0 h 40"/>
                <a:gd name="T38" fmla="*/ 31 w 31"/>
                <a:gd name="T39" fmla="*/ 40 h 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 h="40">
                  <a:moveTo>
                    <a:pt x="0" y="0"/>
                  </a:moveTo>
                  <a:lnTo>
                    <a:pt x="0" y="19"/>
                  </a:lnTo>
                  <a:lnTo>
                    <a:pt x="16" y="40"/>
                  </a:lnTo>
                  <a:lnTo>
                    <a:pt x="31" y="40"/>
                  </a:lnTo>
                  <a:lnTo>
                    <a:pt x="31" y="19"/>
                  </a:lnTo>
                  <a:lnTo>
                    <a:pt x="31" y="0"/>
                  </a:lnTo>
                  <a:lnTo>
                    <a:pt x="16" y="0"/>
                  </a:lnTo>
                  <a:lnTo>
                    <a:pt x="0"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93" name="Freeform 62"/>
            <p:cNvSpPr>
              <a:spLocks/>
            </p:cNvSpPr>
            <p:nvPr/>
          </p:nvSpPr>
          <p:spPr bwMode="auto">
            <a:xfrm>
              <a:off x="2946" y="2461"/>
              <a:ext cx="17" cy="10"/>
            </a:xfrm>
            <a:custGeom>
              <a:avLst/>
              <a:gdLst>
                <a:gd name="T0" fmla="*/ 0 w 33"/>
                <a:gd name="T1" fmla="*/ 0 h 20"/>
                <a:gd name="T2" fmla="*/ 0 w 33"/>
                <a:gd name="T3" fmla="*/ 1 h 20"/>
                <a:gd name="T4" fmla="*/ 0 w 33"/>
                <a:gd name="T5" fmla="*/ 1 h 20"/>
                <a:gd name="T6" fmla="*/ 0 w 33"/>
                <a:gd name="T7" fmla="*/ 1 h 20"/>
                <a:gd name="T8" fmla="*/ 1 w 33"/>
                <a:gd name="T9" fmla="*/ 1 h 20"/>
                <a:gd name="T10" fmla="*/ 1 w 33"/>
                <a:gd name="T11" fmla="*/ 1 h 20"/>
                <a:gd name="T12" fmla="*/ 1 w 33"/>
                <a:gd name="T13" fmla="*/ 1 h 20"/>
                <a:gd name="T14" fmla="*/ 1 w 33"/>
                <a:gd name="T15" fmla="*/ 1 h 20"/>
                <a:gd name="T16" fmla="*/ 1 w 33"/>
                <a:gd name="T17" fmla="*/ 0 h 20"/>
                <a:gd name="T18" fmla="*/ 1 w 33"/>
                <a:gd name="T19" fmla="*/ 0 h 20"/>
                <a:gd name="T20" fmla="*/ 1 w 33"/>
                <a:gd name="T21" fmla="*/ 0 h 20"/>
                <a:gd name="T22" fmla="*/ 0 w 33"/>
                <a:gd name="T23" fmla="*/ 0 h 20"/>
                <a:gd name="T24" fmla="*/ 0 w 33"/>
                <a:gd name="T25" fmla="*/ 0 h 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20"/>
                <a:gd name="T41" fmla="*/ 33 w 33"/>
                <a:gd name="T42" fmla="*/ 20 h 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20">
                  <a:moveTo>
                    <a:pt x="0" y="0"/>
                  </a:moveTo>
                  <a:lnTo>
                    <a:pt x="0" y="20"/>
                  </a:lnTo>
                  <a:lnTo>
                    <a:pt x="16" y="20"/>
                  </a:lnTo>
                  <a:lnTo>
                    <a:pt x="33" y="20"/>
                  </a:lnTo>
                  <a:lnTo>
                    <a:pt x="1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094" name="Freeform 63"/>
            <p:cNvSpPr>
              <a:spLocks/>
            </p:cNvSpPr>
            <p:nvPr/>
          </p:nvSpPr>
          <p:spPr bwMode="auto">
            <a:xfrm>
              <a:off x="2946" y="2461"/>
              <a:ext cx="17" cy="10"/>
            </a:xfrm>
            <a:custGeom>
              <a:avLst/>
              <a:gdLst>
                <a:gd name="T0" fmla="*/ 0 w 33"/>
                <a:gd name="T1" fmla="*/ 0 h 20"/>
                <a:gd name="T2" fmla="*/ 0 w 33"/>
                <a:gd name="T3" fmla="*/ 1 h 20"/>
                <a:gd name="T4" fmla="*/ 0 w 33"/>
                <a:gd name="T5" fmla="*/ 1 h 20"/>
                <a:gd name="T6" fmla="*/ 0 w 33"/>
                <a:gd name="T7" fmla="*/ 1 h 20"/>
                <a:gd name="T8" fmla="*/ 1 w 33"/>
                <a:gd name="T9" fmla="*/ 1 h 20"/>
                <a:gd name="T10" fmla="*/ 1 w 33"/>
                <a:gd name="T11" fmla="*/ 1 h 20"/>
                <a:gd name="T12" fmla="*/ 1 w 33"/>
                <a:gd name="T13" fmla="*/ 1 h 20"/>
                <a:gd name="T14" fmla="*/ 1 w 33"/>
                <a:gd name="T15" fmla="*/ 1 h 20"/>
                <a:gd name="T16" fmla="*/ 1 w 33"/>
                <a:gd name="T17" fmla="*/ 0 h 20"/>
                <a:gd name="T18" fmla="*/ 1 w 33"/>
                <a:gd name="T19" fmla="*/ 0 h 20"/>
                <a:gd name="T20" fmla="*/ 1 w 33"/>
                <a:gd name="T21" fmla="*/ 0 h 20"/>
                <a:gd name="T22" fmla="*/ 0 w 33"/>
                <a:gd name="T23" fmla="*/ 0 h 20"/>
                <a:gd name="T24" fmla="*/ 0 w 33"/>
                <a:gd name="T25" fmla="*/ 0 h 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3"/>
                <a:gd name="T40" fmla="*/ 0 h 20"/>
                <a:gd name="T41" fmla="*/ 33 w 33"/>
                <a:gd name="T42" fmla="*/ 20 h 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3" h="20">
                  <a:moveTo>
                    <a:pt x="0" y="0"/>
                  </a:moveTo>
                  <a:lnTo>
                    <a:pt x="0" y="20"/>
                  </a:lnTo>
                  <a:lnTo>
                    <a:pt x="16" y="20"/>
                  </a:lnTo>
                  <a:lnTo>
                    <a:pt x="33" y="20"/>
                  </a:lnTo>
                  <a:lnTo>
                    <a:pt x="16" y="0"/>
                  </a:lnTo>
                  <a:lnTo>
                    <a:pt x="0"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95" name="Freeform 64"/>
            <p:cNvSpPr>
              <a:spLocks/>
            </p:cNvSpPr>
            <p:nvPr/>
          </p:nvSpPr>
          <p:spPr bwMode="auto">
            <a:xfrm>
              <a:off x="3012" y="2501"/>
              <a:ext cx="16" cy="20"/>
            </a:xfrm>
            <a:custGeom>
              <a:avLst/>
              <a:gdLst>
                <a:gd name="T0" fmla="*/ 1 w 31"/>
                <a:gd name="T1" fmla="*/ 1 h 40"/>
                <a:gd name="T2" fmla="*/ 1 w 31"/>
                <a:gd name="T3" fmla="*/ 1 h 40"/>
                <a:gd name="T4" fmla="*/ 1 w 31"/>
                <a:gd name="T5" fmla="*/ 0 h 40"/>
                <a:gd name="T6" fmla="*/ 1 w 31"/>
                <a:gd name="T7" fmla="*/ 0 h 40"/>
                <a:gd name="T8" fmla="*/ 1 w 31"/>
                <a:gd name="T9" fmla="*/ 0 h 40"/>
                <a:gd name="T10" fmla="*/ 1 w 31"/>
                <a:gd name="T11" fmla="*/ 0 h 40"/>
                <a:gd name="T12" fmla="*/ 1 w 31"/>
                <a:gd name="T13" fmla="*/ 0 h 40"/>
                <a:gd name="T14" fmla="*/ 1 w 31"/>
                <a:gd name="T15" fmla="*/ 0 h 40"/>
                <a:gd name="T16" fmla="*/ 1 w 31"/>
                <a:gd name="T17" fmla="*/ 0 h 40"/>
                <a:gd name="T18" fmla="*/ 1 w 31"/>
                <a:gd name="T19" fmla="*/ 0 h 40"/>
                <a:gd name="T20" fmla="*/ 1 w 31"/>
                <a:gd name="T21" fmla="*/ 0 h 40"/>
                <a:gd name="T22" fmla="*/ 1 w 31"/>
                <a:gd name="T23" fmla="*/ 0 h 40"/>
                <a:gd name="T24" fmla="*/ 1 w 31"/>
                <a:gd name="T25" fmla="*/ 0 h 40"/>
                <a:gd name="T26" fmla="*/ 0 w 31"/>
                <a:gd name="T27" fmla="*/ 0 h 40"/>
                <a:gd name="T28" fmla="*/ 0 w 31"/>
                <a:gd name="T29" fmla="*/ 0 h 40"/>
                <a:gd name="T30" fmla="*/ 0 w 31"/>
                <a:gd name="T31" fmla="*/ 0 h 40"/>
                <a:gd name="T32" fmla="*/ 0 w 31"/>
                <a:gd name="T33" fmla="*/ 1 h 40"/>
                <a:gd name="T34" fmla="*/ 0 w 31"/>
                <a:gd name="T35" fmla="*/ 1 h 40"/>
                <a:gd name="T36" fmla="*/ 0 w 31"/>
                <a:gd name="T37" fmla="*/ 1 h 40"/>
                <a:gd name="T38" fmla="*/ 0 w 31"/>
                <a:gd name="T39" fmla="*/ 1 h 40"/>
                <a:gd name="T40" fmla="*/ 0 w 31"/>
                <a:gd name="T41" fmla="*/ 1 h 40"/>
                <a:gd name="T42" fmla="*/ 0 w 31"/>
                <a:gd name="T43" fmla="*/ 1 h 40"/>
                <a:gd name="T44" fmla="*/ 0 w 31"/>
                <a:gd name="T45" fmla="*/ 1 h 40"/>
                <a:gd name="T46" fmla="*/ 1 w 31"/>
                <a:gd name="T47" fmla="*/ 1 h 40"/>
                <a:gd name="T48" fmla="*/ 1 w 31"/>
                <a:gd name="T49" fmla="*/ 1 h 40"/>
                <a:gd name="T50" fmla="*/ 1 w 31"/>
                <a:gd name="T51" fmla="*/ 1 h 40"/>
                <a:gd name="T52" fmla="*/ 1 w 31"/>
                <a:gd name="T53" fmla="*/ 1 h 40"/>
                <a:gd name="T54" fmla="*/ 1 w 31"/>
                <a:gd name="T55" fmla="*/ 1 h 40"/>
                <a:gd name="T56" fmla="*/ 1 w 31"/>
                <a:gd name="T57" fmla="*/ 1 h 40"/>
                <a:gd name="T58" fmla="*/ 1 w 31"/>
                <a:gd name="T59" fmla="*/ 1 h 40"/>
                <a:gd name="T60" fmla="*/ 1 w 31"/>
                <a:gd name="T61" fmla="*/ 1 h 40"/>
                <a:gd name="T62" fmla="*/ 1 w 31"/>
                <a:gd name="T63" fmla="*/ 1 h 40"/>
                <a:gd name="T64" fmla="*/ 1 w 31"/>
                <a:gd name="T65" fmla="*/ 1 h 40"/>
                <a:gd name="T66" fmla="*/ 1 w 31"/>
                <a:gd name="T67" fmla="*/ 1 h 40"/>
                <a:gd name="T68" fmla="*/ 1 w 31"/>
                <a:gd name="T69" fmla="*/ 1 h 40"/>
                <a:gd name="T70" fmla="*/ 1 w 31"/>
                <a:gd name="T71" fmla="*/ 1 h 40"/>
                <a:gd name="T72" fmla="*/ 1 w 31"/>
                <a:gd name="T73" fmla="*/ 1 h 40"/>
                <a:gd name="T74" fmla="*/ 1 w 31"/>
                <a:gd name="T75" fmla="*/ 1 h 4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1"/>
                <a:gd name="T115" fmla="*/ 0 h 40"/>
                <a:gd name="T116" fmla="*/ 31 w 31"/>
                <a:gd name="T117" fmla="*/ 40 h 4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1" h="40">
                  <a:moveTo>
                    <a:pt x="31" y="19"/>
                  </a:moveTo>
                  <a:lnTo>
                    <a:pt x="31" y="19"/>
                  </a:lnTo>
                  <a:lnTo>
                    <a:pt x="31" y="0"/>
                  </a:lnTo>
                  <a:lnTo>
                    <a:pt x="17" y="0"/>
                  </a:lnTo>
                  <a:lnTo>
                    <a:pt x="0" y="0"/>
                  </a:lnTo>
                  <a:lnTo>
                    <a:pt x="0" y="19"/>
                  </a:lnTo>
                  <a:lnTo>
                    <a:pt x="17" y="40"/>
                  </a:lnTo>
                  <a:lnTo>
                    <a:pt x="31" y="1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096" name="Freeform 65"/>
            <p:cNvSpPr>
              <a:spLocks/>
            </p:cNvSpPr>
            <p:nvPr/>
          </p:nvSpPr>
          <p:spPr bwMode="auto">
            <a:xfrm>
              <a:off x="3012" y="2501"/>
              <a:ext cx="16" cy="20"/>
            </a:xfrm>
            <a:custGeom>
              <a:avLst/>
              <a:gdLst>
                <a:gd name="T0" fmla="*/ 1 w 31"/>
                <a:gd name="T1" fmla="*/ 1 h 40"/>
                <a:gd name="T2" fmla="*/ 1 w 31"/>
                <a:gd name="T3" fmla="*/ 1 h 40"/>
                <a:gd name="T4" fmla="*/ 1 w 31"/>
                <a:gd name="T5" fmla="*/ 0 h 40"/>
                <a:gd name="T6" fmla="*/ 1 w 31"/>
                <a:gd name="T7" fmla="*/ 0 h 40"/>
                <a:gd name="T8" fmla="*/ 1 w 31"/>
                <a:gd name="T9" fmla="*/ 0 h 40"/>
                <a:gd name="T10" fmla="*/ 1 w 31"/>
                <a:gd name="T11" fmla="*/ 0 h 40"/>
                <a:gd name="T12" fmla="*/ 1 w 31"/>
                <a:gd name="T13" fmla="*/ 0 h 40"/>
                <a:gd name="T14" fmla="*/ 1 w 31"/>
                <a:gd name="T15" fmla="*/ 0 h 40"/>
                <a:gd name="T16" fmla="*/ 1 w 31"/>
                <a:gd name="T17" fmla="*/ 0 h 40"/>
                <a:gd name="T18" fmla="*/ 1 w 31"/>
                <a:gd name="T19" fmla="*/ 0 h 40"/>
                <a:gd name="T20" fmla="*/ 1 w 31"/>
                <a:gd name="T21" fmla="*/ 0 h 40"/>
                <a:gd name="T22" fmla="*/ 1 w 31"/>
                <a:gd name="T23" fmla="*/ 0 h 40"/>
                <a:gd name="T24" fmla="*/ 1 w 31"/>
                <a:gd name="T25" fmla="*/ 0 h 40"/>
                <a:gd name="T26" fmla="*/ 0 w 31"/>
                <a:gd name="T27" fmla="*/ 0 h 40"/>
                <a:gd name="T28" fmla="*/ 0 w 31"/>
                <a:gd name="T29" fmla="*/ 0 h 40"/>
                <a:gd name="T30" fmla="*/ 0 w 31"/>
                <a:gd name="T31" fmla="*/ 0 h 40"/>
                <a:gd name="T32" fmla="*/ 0 w 31"/>
                <a:gd name="T33" fmla="*/ 1 h 40"/>
                <a:gd name="T34" fmla="*/ 0 w 31"/>
                <a:gd name="T35" fmla="*/ 1 h 40"/>
                <a:gd name="T36" fmla="*/ 0 w 31"/>
                <a:gd name="T37" fmla="*/ 1 h 40"/>
                <a:gd name="T38" fmla="*/ 0 w 31"/>
                <a:gd name="T39" fmla="*/ 1 h 40"/>
                <a:gd name="T40" fmla="*/ 0 w 31"/>
                <a:gd name="T41" fmla="*/ 1 h 40"/>
                <a:gd name="T42" fmla="*/ 0 w 31"/>
                <a:gd name="T43" fmla="*/ 1 h 40"/>
                <a:gd name="T44" fmla="*/ 0 w 31"/>
                <a:gd name="T45" fmla="*/ 1 h 40"/>
                <a:gd name="T46" fmla="*/ 1 w 31"/>
                <a:gd name="T47" fmla="*/ 1 h 40"/>
                <a:gd name="T48" fmla="*/ 1 w 31"/>
                <a:gd name="T49" fmla="*/ 1 h 40"/>
                <a:gd name="T50" fmla="*/ 1 w 31"/>
                <a:gd name="T51" fmla="*/ 1 h 40"/>
                <a:gd name="T52" fmla="*/ 1 w 31"/>
                <a:gd name="T53" fmla="*/ 1 h 40"/>
                <a:gd name="T54" fmla="*/ 1 w 31"/>
                <a:gd name="T55" fmla="*/ 1 h 40"/>
                <a:gd name="T56" fmla="*/ 1 w 31"/>
                <a:gd name="T57" fmla="*/ 1 h 40"/>
                <a:gd name="T58" fmla="*/ 1 w 31"/>
                <a:gd name="T59" fmla="*/ 1 h 40"/>
                <a:gd name="T60" fmla="*/ 1 w 31"/>
                <a:gd name="T61" fmla="*/ 1 h 40"/>
                <a:gd name="T62" fmla="*/ 1 w 31"/>
                <a:gd name="T63" fmla="*/ 1 h 40"/>
                <a:gd name="T64" fmla="*/ 1 w 31"/>
                <a:gd name="T65" fmla="*/ 1 h 40"/>
                <a:gd name="T66" fmla="*/ 1 w 31"/>
                <a:gd name="T67" fmla="*/ 1 h 40"/>
                <a:gd name="T68" fmla="*/ 1 w 31"/>
                <a:gd name="T69" fmla="*/ 1 h 40"/>
                <a:gd name="T70" fmla="*/ 1 w 31"/>
                <a:gd name="T71" fmla="*/ 1 h 40"/>
                <a:gd name="T72" fmla="*/ 1 w 31"/>
                <a:gd name="T73" fmla="*/ 1 h 40"/>
                <a:gd name="T74" fmla="*/ 1 w 31"/>
                <a:gd name="T75" fmla="*/ 1 h 4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1"/>
                <a:gd name="T115" fmla="*/ 0 h 40"/>
                <a:gd name="T116" fmla="*/ 31 w 31"/>
                <a:gd name="T117" fmla="*/ 40 h 4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1" h="40">
                  <a:moveTo>
                    <a:pt x="31" y="19"/>
                  </a:moveTo>
                  <a:lnTo>
                    <a:pt x="31" y="19"/>
                  </a:lnTo>
                  <a:lnTo>
                    <a:pt x="31" y="0"/>
                  </a:lnTo>
                  <a:lnTo>
                    <a:pt x="17" y="0"/>
                  </a:lnTo>
                  <a:lnTo>
                    <a:pt x="0" y="0"/>
                  </a:lnTo>
                  <a:lnTo>
                    <a:pt x="0" y="19"/>
                  </a:lnTo>
                  <a:lnTo>
                    <a:pt x="17" y="40"/>
                  </a:lnTo>
                  <a:lnTo>
                    <a:pt x="31" y="1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97" name="Freeform 66"/>
            <p:cNvSpPr>
              <a:spLocks/>
            </p:cNvSpPr>
            <p:nvPr/>
          </p:nvSpPr>
          <p:spPr bwMode="auto">
            <a:xfrm>
              <a:off x="2946" y="2462"/>
              <a:ext cx="9" cy="9"/>
            </a:xfrm>
            <a:custGeom>
              <a:avLst/>
              <a:gdLst>
                <a:gd name="T0" fmla="*/ 1 w 16"/>
                <a:gd name="T1" fmla="*/ 0 h 20"/>
                <a:gd name="T2" fmla="*/ 1 w 16"/>
                <a:gd name="T3" fmla="*/ 0 h 20"/>
                <a:gd name="T4" fmla="*/ 1 w 16"/>
                <a:gd name="T5" fmla="*/ 0 h 20"/>
                <a:gd name="T6" fmla="*/ 1 w 16"/>
                <a:gd name="T7" fmla="*/ 0 h 20"/>
                <a:gd name="T8" fmla="*/ 1 w 16"/>
                <a:gd name="T9" fmla="*/ 0 h 20"/>
                <a:gd name="T10" fmla="*/ 1 w 16"/>
                <a:gd name="T11" fmla="*/ 0 h 20"/>
                <a:gd name="T12" fmla="*/ 1 w 16"/>
                <a:gd name="T13" fmla="*/ 0 h 20"/>
                <a:gd name="T14" fmla="*/ 1 w 16"/>
                <a:gd name="T15" fmla="*/ 0 h 20"/>
                <a:gd name="T16" fmla="*/ 1 w 16"/>
                <a:gd name="T17" fmla="*/ 0 h 20"/>
                <a:gd name="T18" fmla="*/ 1 w 16"/>
                <a:gd name="T19" fmla="*/ 0 h 20"/>
                <a:gd name="T20" fmla="*/ 1 w 16"/>
                <a:gd name="T21" fmla="*/ 0 h 20"/>
                <a:gd name="T22" fmla="*/ 0 w 16"/>
                <a:gd name="T23" fmla="*/ 0 h 20"/>
                <a:gd name="T24" fmla="*/ 0 w 16"/>
                <a:gd name="T25" fmla="*/ 0 h 20"/>
                <a:gd name="T26" fmla="*/ 0 w 16"/>
                <a:gd name="T27" fmla="*/ 0 h 20"/>
                <a:gd name="T28" fmla="*/ 0 w 16"/>
                <a:gd name="T29" fmla="*/ 0 h 20"/>
                <a:gd name="T30" fmla="*/ 0 w 16"/>
                <a:gd name="T31" fmla="*/ 0 h 20"/>
                <a:gd name="T32" fmla="*/ 0 w 16"/>
                <a:gd name="T33" fmla="*/ 0 h 20"/>
                <a:gd name="T34" fmla="*/ 0 w 16"/>
                <a:gd name="T35" fmla="*/ 0 h 20"/>
                <a:gd name="T36" fmla="*/ 0 w 16"/>
                <a:gd name="T37" fmla="*/ 0 h 20"/>
                <a:gd name="T38" fmla="*/ 0 w 16"/>
                <a:gd name="T39" fmla="*/ 0 h 20"/>
                <a:gd name="T40" fmla="*/ 0 w 16"/>
                <a:gd name="T41" fmla="*/ 0 h 20"/>
                <a:gd name="T42" fmla="*/ 0 w 16"/>
                <a:gd name="T43" fmla="*/ 0 h 20"/>
                <a:gd name="T44" fmla="*/ 0 w 16"/>
                <a:gd name="T45" fmla="*/ 0 h 20"/>
                <a:gd name="T46" fmla="*/ 0 w 16"/>
                <a:gd name="T47" fmla="*/ 0 h 20"/>
                <a:gd name="T48" fmla="*/ 0 w 16"/>
                <a:gd name="T49" fmla="*/ 0 h 20"/>
                <a:gd name="T50" fmla="*/ 1 w 16"/>
                <a:gd name="T51" fmla="*/ 0 h 20"/>
                <a:gd name="T52" fmla="*/ 1 w 16"/>
                <a:gd name="T53" fmla="*/ 0 h 20"/>
                <a:gd name="T54" fmla="*/ 1 w 16"/>
                <a:gd name="T55" fmla="*/ 0 h 20"/>
                <a:gd name="T56" fmla="*/ 1 w 16"/>
                <a:gd name="T57" fmla="*/ 0 h 20"/>
                <a:gd name="T58" fmla="*/ 1 w 16"/>
                <a:gd name="T59" fmla="*/ 0 h 20"/>
                <a:gd name="T60" fmla="*/ 1 w 16"/>
                <a:gd name="T61" fmla="*/ 0 h 20"/>
                <a:gd name="T62" fmla="*/ 1 w 16"/>
                <a:gd name="T63" fmla="*/ 0 h 20"/>
                <a:gd name="T64" fmla="*/ 1 w 16"/>
                <a:gd name="T65" fmla="*/ 0 h 20"/>
                <a:gd name="T66" fmla="*/ 1 w 16"/>
                <a:gd name="T67" fmla="*/ 0 h 20"/>
                <a:gd name="T68" fmla="*/ 1 w 16"/>
                <a:gd name="T69" fmla="*/ 0 h 20"/>
                <a:gd name="T70" fmla="*/ 1 w 16"/>
                <a:gd name="T71" fmla="*/ 0 h 20"/>
                <a:gd name="T72" fmla="*/ 1 w 16"/>
                <a:gd name="T73" fmla="*/ 0 h 20"/>
                <a:gd name="T74" fmla="*/ 1 w 16"/>
                <a:gd name="T75" fmla="*/ 0 h 2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
                <a:gd name="T115" fmla="*/ 0 h 20"/>
                <a:gd name="T116" fmla="*/ 16 w 16"/>
                <a:gd name="T117" fmla="*/ 20 h 2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 h="20">
                  <a:moveTo>
                    <a:pt x="16" y="20"/>
                  </a:moveTo>
                  <a:lnTo>
                    <a:pt x="16" y="20"/>
                  </a:lnTo>
                  <a:lnTo>
                    <a:pt x="16" y="0"/>
                  </a:lnTo>
                  <a:lnTo>
                    <a:pt x="0" y="0"/>
                  </a:lnTo>
                  <a:lnTo>
                    <a:pt x="0" y="20"/>
                  </a:lnTo>
                  <a:lnTo>
                    <a:pt x="16" y="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098" name="Freeform 67"/>
            <p:cNvSpPr>
              <a:spLocks/>
            </p:cNvSpPr>
            <p:nvPr/>
          </p:nvSpPr>
          <p:spPr bwMode="auto">
            <a:xfrm>
              <a:off x="2946" y="2462"/>
              <a:ext cx="9" cy="9"/>
            </a:xfrm>
            <a:custGeom>
              <a:avLst/>
              <a:gdLst>
                <a:gd name="T0" fmla="*/ 1 w 16"/>
                <a:gd name="T1" fmla="*/ 0 h 20"/>
                <a:gd name="T2" fmla="*/ 1 w 16"/>
                <a:gd name="T3" fmla="*/ 0 h 20"/>
                <a:gd name="T4" fmla="*/ 1 w 16"/>
                <a:gd name="T5" fmla="*/ 0 h 20"/>
                <a:gd name="T6" fmla="*/ 1 w 16"/>
                <a:gd name="T7" fmla="*/ 0 h 20"/>
                <a:gd name="T8" fmla="*/ 1 w 16"/>
                <a:gd name="T9" fmla="*/ 0 h 20"/>
                <a:gd name="T10" fmla="*/ 1 w 16"/>
                <a:gd name="T11" fmla="*/ 0 h 20"/>
                <a:gd name="T12" fmla="*/ 1 w 16"/>
                <a:gd name="T13" fmla="*/ 0 h 20"/>
                <a:gd name="T14" fmla="*/ 1 w 16"/>
                <a:gd name="T15" fmla="*/ 0 h 20"/>
                <a:gd name="T16" fmla="*/ 1 w 16"/>
                <a:gd name="T17" fmla="*/ 0 h 20"/>
                <a:gd name="T18" fmla="*/ 1 w 16"/>
                <a:gd name="T19" fmla="*/ 0 h 20"/>
                <a:gd name="T20" fmla="*/ 1 w 16"/>
                <a:gd name="T21" fmla="*/ 0 h 20"/>
                <a:gd name="T22" fmla="*/ 0 w 16"/>
                <a:gd name="T23" fmla="*/ 0 h 20"/>
                <a:gd name="T24" fmla="*/ 0 w 16"/>
                <a:gd name="T25" fmla="*/ 0 h 20"/>
                <a:gd name="T26" fmla="*/ 0 w 16"/>
                <a:gd name="T27" fmla="*/ 0 h 20"/>
                <a:gd name="T28" fmla="*/ 0 w 16"/>
                <a:gd name="T29" fmla="*/ 0 h 20"/>
                <a:gd name="T30" fmla="*/ 0 w 16"/>
                <a:gd name="T31" fmla="*/ 0 h 20"/>
                <a:gd name="T32" fmla="*/ 0 w 16"/>
                <a:gd name="T33" fmla="*/ 0 h 20"/>
                <a:gd name="T34" fmla="*/ 0 w 16"/>
                <a:gd name="T35" fmla="*/ 0 h 20"/>
                <a:gd name="T36" fmla="*/ 0 w 16"/>
                <a:gd name="T37" fmla="*/ 0 h 20"/>
                <a:gd name="T38" fmla="*/ 0 w 16"/>
                <a:gd name="T39" fmla="*/ 0 h 20"/>
                <a:gd name="T40" fmla="*/ 0 w 16"/>
                <a:gd name="T41" fmla="*/ 0 h 20"/>
                <a:gd name="T42" fmla="*/ 0 w 16"/>
                <a:gd name="T43" fmla="*/ 0 h 20"/>
                <a:gd name="T44" fmla="*/ 0 w 16"/>
                <a:gd name="T45" fmla="*/ 0 h 20"/>
                <a:gd name="T46" fmla="*/ 0 w 16"/>
                <a:gd name="T47" fmla="*/ 0 h 20"/>
                <a:gd name="T48" fmla="*/ 0 w 16"/>
                <a:gd name="T49" fmla="*/ 0 h 20"/>
                <a:gd name="T50" fmla="*/ 1 w 16"/>
                <a:gd name="T51" fmla="*/ 0 h 20"/>
                <a:gd name="T52" fmla="*/ 1 w 16"/>
                <a:gd name="T53" fmla="*/ 0 h 20"/>
                <a:gd name="T54" fmla="*/ 1 w 16"/>
                <a:gd name="T55" fmla="*/ 0 h 20"/>
                <a:gd name="T56" fmla="*/ 1 w 16"/>
                <a:gd name="T57" fmla="*/ 0 h 20"/>
                <a:gd name="T58" fmla="*/ 1 w 16"/>
                <a:gd name="T59" fmla="*/ 0 h 20"/>
                <a:gd name="T60" fmla="*/ 1 w 16"/>
                <a:gd name="T61" fmla="*/ 0 h 20"/>
                <a:gd name="T62" fmla="*/ 1 w 16"/>
                <a:gd name="T63" fmla="*/ 0 h 20"/>
                <a:gd name="T64" fmla="*/ 1 w 16"/>
                <a:gd name="T65" fmla="*/ 0 h 20"/>
                <a:gd name="T66" fmla="*/ 1 w 16"/>
                <a:gd name="T67" fmla="*/ 0 h 20"/>
                <a:gd name="T68" fmla="*/ 1 w 16"/>
                <a:gd name="T69" fmla="*/ 0 h 20"/>
                <a:gd name="T70" fmla="*/ 1 w 16"/>
                <a:gd name="T71" fmla="*/ 0 h 20"/>
                <a:gd name="T72" fmla="*/ 1 w 16"/>
                <a:gd name="T73" fmla="*/ 0 h 20"/>
                <a:gd name="T74" fmla="*/ 1 w 16"/>
                <a:gd name="T75" fmla="*/ 0 h 2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
                <a:gd name="T115" fmla="*/ 0 h 20"/>
                <a:gd name="T116" fmla="*/ 16 w 16"/>
                <a:gd name="T117" fmla="*/ 20 h 2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 h="20">
                  <a:moveTo>
                    <a:pt x="16" y="20"/>
                  </a:moveTo>
                  <a:lnTo>
                    <a:pt x="16" y="20"/>
                  </a:lnTo>
                  <a:lnTo>
                    <a:pt x="16" y="0"/>
                  </a:lnTo>
                  <a:lnTo>
                    <a:pt x="0" y="0"/>
                  </a:lnTo>
                  <a:lnTo>
                    <a:pt x="0" y="20"/>
                  </a:lnTo>
                  <a:lnTo>
                    <a:pt x="16" y="2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099" name="Freeform 68"/>
            <p:cNvSpPr>
              <a:spLocks/>
            </p:cNvSpPr>
            <p:nvPr/>
          </p:nvSpPr>
          <p:spPr bwMode="auto">
            <a:xfrm>
              <a:off x="3012" y="2501"/>
              <a:ext cx="9" cy="10"/>
            </a:xfrm>
            <a:custGeom>
              <a:avLst/>
              <a:gdLst>
                <a:gd name="T0" fmla="*/ 1 w 17"/>
                <a:gd name="T1" fmla="*/ 1 h 19"/>
                <a:gd name="T2" fmla="*/ 1 w 17"/>
                <a:gd name="T3" fmla="*/ 1 h 19"/>
                <a:gd name="T4" fmla="*/ 1 w 17"/>
                <a:gd name="T5" fmla="*/ 1 h 19"/>
                <a:gd name="T6" fmla="*/ 1 w 17"/>
                <a:gd name="T7" fmla="*/ 1 h 19"/>
                <a:gd name="T8" fmla="*/ 1 w 17"/>
                <a:gd name="T9" fmla="*/ 0 h 19"/>
                <a:gd name="T10" fmla="*/ 1 w 17"/>
                <a:gd name="T11" fmla="*/ 0 h 19"/>
                <a:gd name="T12" fmla="*/ 1 w 17"/>
                <a:gd name="T13" fmla="*/ 0 h 19"/>
                <a:gd name="T14" fmla="*/ 1 w 17"/>
                <a:gd name="T15" fmla="*/ 0 h 19"/>
                <a:gd name="T16" fmla="*/ 1 w 17"/>
                <a:gd name="T17" fmla="*/ 0 h 19"/>
                <a:gd name="T18" fmla="*/ 1 w 17"/>
                <a:gd name="T19" fmla="*/ 0 h 19"/>
                <a:gd name="T20" fmla="*/ 1 w 17"/>
                <a:gd name="T21" fmla="*/ 0 h 19"/>
                <a:gd name="T22" fmla="*/ 1 w 17"/>
                <a:gd name="T23" fmla="*/ 0 h 19"/>
                <a:gd name="T24" fmla="*/ 1 w 17"/>
                <a:gd name="T25" fmla="*/ 0 h 19"/>
                <a:gd name="T26" fmla="*/ 1 w 17"/>
                <a:gd name="T27" fmla="*/ 0 h 19"/>
                <a:gd name="T28" fmla="*/ 0 w 17"/>
                <a:gd name="T29" fmla="*/ 1 h 19"/>
                <a:gd name="T30" fmla="*/ 0 w 17"/>
                <a:gd name="T31" fmla="*/ 1 h 19"/>
                <a:gd name="T32" fmla="*/ 0 w 17"/>
                <a:gd name="T33" fmla="*/ 1 h 19"/>
                <a:gd name="T34" fmla="*/ 0 w 17"/>
                <a:gd name="T35" fmla="*/ 1 h 19"/>
                <a:gd name="T36" fmla="*/ 0 w 17"/>
                <a:gd name="T37" fmla="*/ 1 h 19"/>
                <a:gd name="T38" fmla="*/ 0 w 17"/>
                <a:gd name="T39" fmla="*/ 1 h 19"/>
                <a:gd name="T40" fmla="*/ 0 w 17"/>
                <a:gd name="T41" fmla="*/ 1 h 19"/>
                <a:gd name="T42" fmla="*/ 0 w 17"/>
                <a:gd name="T43" fmla="*/ 1 h 19"/>
                <a:gd name="T44" fmla="*/ 1 w 17"/>
                <a:gd name="T45" fmla="*/ 1 h 19"/>
                <a:gd name="T46" fmla="*/ 1 w 17"/>
                <a:gd name="T47" fmla="*/ 1 h 19"/>
                <a:gd name="T48" fmla="*/ 1 w 17"/>
                <a:gd name="T49" fmla="*/ 1 h 19"/>
                <a:gd name="T50" fmla="*/ 1 w 17"/>
                <a:gd name="T51" fmla="*/ 1 h 19"/>
                <a:gd name="T52" fmla="*/ 1 w 17"/>
                <a:gd name="T53" fmla="*/ 1 h 19"/>
                <a:gd name="T54" fmla="*/ 1 w 17"/>
                <a:gd name="T55" fmla="*/ 1 h 19"/>
                <a:gd name="T56" fmla="*/ 1 w 17"/>
                <a:gd name="T57" fmla="*/ 1 h 19"/>
                <a:gd name="T58" fmla="*/ 1 w 17"/>
                <a:gd name="T59" fmla="*/ 1 h 19"/>
                <a:gd name="T60" fmla="*/ 1 w 17"/>
                <a:gd name="T61" fmla="*/ 1 h 19"/>
                <a:gd name="T62" fmla="*/ 1 w 17"/>
                <a:gd name="T63" fmla="*/ 1 h 19"/>
                <a:gd name="T64" fmla="*/ 1 w 17"/>
                <a:gd name="T65" fmla="*/ 1 h 19"/>
                <a:gd name="T66" fmla="*/ 1 w 17"/>
                <a:gd name="T67" fmla="*/ 1 h 19"/>
                <a:gd name="T68" fmla="*/ 1 w 17"/>
                <a:gd name="T69" fmla="*/ 1 h 19"/>
                <a:gd name="T70" fmla="*/ 1 w 17"/>
                <a:gd name="T71" fmla="*/ 1 h 19"/>
                <a:gd name="T72" fmla="*/ 1 w 17"/>
                <a:gd name="T73" fmla="*/ 1 h 19"/>
                <a:gd name="T74" fmla="*/ 1 w 17"/>
                <a:gd name="T75" fmla="*/ 1 h 1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
                <a:gd name="T115" fmla="*/ 0 h 19"/>
                <a:gd name="T116" fmla="*/ 17 w 17"/>
                <a:gd name="T117" fmla="*/ 19 h 1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 h="19">
                  <a:moveTo>
                    <a:pt x="17" y="19"/>
                  </a:moveTo>
                  <a:lnTo>
                    <a:pt x="17" y="19"/>
                  </a:lnTo>
                  <a:lnTo>
                    <a:pt x="17" y="0"/>
                  </a:lnTo>
                  <a:lnTo>
                    <a:pt x="0" y="19"/>
                  </a:lnTo>
                  <a:lnTo>
                    <a:pt x="17"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00" name="Freeform 69"/>
            <p:cNvSpPr>
              <a:spLocks/>
            </p:cNvSpPr>
            <p:nvPr/>
          </p:nvSpPr>
          <p:spPr bwMode="auto">
            <a:xfrm>
              <a:off x="3012" y="2501"/>
              <a:ext cx="9" cy="10"/>
            </a:xfrm>
            <a:custGeom>
              <a:avLst/>
              <a:gdLst>
                <a:gd name="T0" fmla="*/ 1 w 17"/>
                <a:gd name="T1" fmla="*/ 1 h 19"/>
                <a:gd name="T2" fmla="*/ 1 w 17"/>
                <a:gd name="T3" fmla="*/ 1 h 19"/>
                <a:gd name="T4" fmla="*/ 1 w 17"/>
                <a:gd name="T5" fmla="*/ 1 h 19"/>
                <a:gd name="T6" fmla="*/ 1 w 17"/>
                <a:gd name="T7" fmla="*/ 1 h 19"/>
                <a:gd name="T8" fmla="*/ 1 w 17"/>
                <a:gd name="T9" fmla="*/ 0 h 19"/>
                <a:gd name="T10" fmla="*/ 1 w 17"/>
                <a:gd name="T11" fmla="*/ 0 h 19"/>
                <a:gd name="T12" fmla="*/ 1 w 17"/>
                <a:gd name="T13" fmla="*/ 0 h 19"/>
                <a:gd name="T14" fmla="*/ 1 w 17"/>
                <a:gd name="T15" fmla="*/ 0 h 19"/>
                <a:gd name="T16" fmla="*/ 1 w 17"/>
                <a:gd name="T17" fmla="*/ 0 h 19"/>
                <a:gd name="T18" fmla="*/ 1 w 17"/>
                <a:gd name="T19" fmla="*/ 0 h 19"/>
                <a:gd name="T20" fmla="*/ 1 w 17"/>
                <a:gd name="T21" fmla="*/ 0 h 19"/>
                <a:gd name="T22" fmla="*/ 1 w 17"/>
                <a:gd name="T23" fmla="*/ 0 h 19"/>
                <a:gd name="T24" fmla="*/ 1 w 17"/>
                <a:gd name="T25" fmla="*/ 0 h 19"/>
                <a:gd name="T26" fmla="*/ 1 w 17"/>
                <a:gd name="T27" fmla="*/ 0 h 19"/>
                <a:gd name="T28" fmla="*/ 0 w 17"/>
                <a:gd name="T29" fmla="*/ 1 h 19"/>
                <a:gd name="T30" fmla="*/ 0 w 17"/>
                <a:gd name="T31" fmla="*/ 1 h 19"/>
                <a:gd name="T32" fmla="*/ 0 w 17"/>
                <a:gd name="T33" fmla="*/ 1 h 19"/>
                <a:gd name="T34" fmla="*/ 0 w 17"/>
                <a:gd name="T35" fmla="*/ 1 h 19"/>
                <a:gd name="T36" fmla="*/ 0 w 17"/>
                <a:gd name="T37" fmla="*/ 1 h 19"/>
                <a:gd name="T38" fmla="*/ 0 w 17"/>
                <a:gd name="T39" fmla="*/ 1 h 19"/>
                <a:gd name="T40" fmla="*/ 0 w 17"/>
                <a:gd name="T41" fmla="*/ 1 h 19"/>
                <a:gd name="T42" fmla="*/ 0 w 17"/>
                <a:gd name="T43" fmla="*/ 1 h 19"/>
                <a:gd name="T44" fmla="*/ 1 w 17"/>
                <a:gd name="T45" fmla="*/ 1 h 19"/>
                <a:gd name="T46" fmla="*/ 1 w 17"/>
                <a:gd name="T47" fmla="*/ 1 h 19"/>
                <a:gd name="T48" fmla="*/ 1 w 17"/>
                <a:gd name="T49" fmla="*/ 1 h 19"/>
                <a:gd name="T50" fmla="*/ 1 w 17"/>
                <a:gd name="T51" fmla="*/ 1 h 19"/>
                <a:gd name="T52" fmla="*/ 1 w 17"/>
                <a:gd name="T53" fmla="*/ 1 h 19"/>
                <a:gd name="T54" fmla="*/ 1 w 17"/>
                <a:gd name="T55" fmla="*/ 1 h 19"/>
                <a:gd name="T56" fmla="*/ 1 w 17"/>
                <a:gd name="T57" fmla="*/ 1 h 19"/>
                <a:gd name="T58" fmla="*/ 1 w 17"/>
                <a:gd name="T59" fmla="*/ 1 h 19"/>
                <a:gd name="T60" fmla="*/ 1 w 17"/>
                <a:gd name="T61" fmla="*/ 1 h 19"/>
                <a:gd name="T62" fmla="*/ 1 w 17"/>
                <a:gd name="T63" fmla="*/ 1 h 19"/>
                <a:gd name="T64" fmla="*/ 1 w 17"/>
                <a:gd name="T65" fmla="*/ 1 h 19"/>
                <a:gd name="T66" fmla="*/ 1 w 17"/>
                <a:gd name="T67" fmla="*/ 1 h 19"/>
                <a:gd name="T68" fmla="*/ 1 w 17"/>
                <a:gd name="T69" fmla="*/ 1 h 19"/>
                <a:gd name="T70" fmla="*/ 1 w 17"/>
                <a:gd name="T71" fmla="*/ 1 h 19"/>
                <a:gd name="T72" fmla="*/ 1 w 17"/>
                <a:gd name="T73" fmla="*/ 1 h 19"/>
                <a:gd name="T74" fmla="*/ 1 w 17"/>
                <a:gd name="T75" fmla="*/ 1 h 1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
                <a:gd name="T115" fmla="*/ 0 h 19"/>
                <a:gd name="T116" fmla="*/ 17 w 17"/>
                <a:gd name="T117" fmla="*/ 19 h 1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 h="19">
                  <a:moveTo>
                    <a:pt x="17" y="19"/>
                  </a:moveTo>
                  <a:lnTo>
                    <a:pt x="17" y="19"/>
                  </a:lnTo>
                  <a:lnTo>
                    <a:pt x="17" y="0"/>
                  </a:lnTo>
                  <a:lnTo>
                    <a:pt x="0" y="19"/>
                  </a:lnTo>
                  <a:lnTo>
                    <a:pt x="17" y="1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01" name="Freeform 70"/>
            <p:cNvSpPr>
              <a:spLocks/>
            </p:cNvSpPr>
            <p:nvPr/>
          </p:nvSpPr>
          <p:spPr bwMode="auto">
            <a:xfrm>
              <a:off x="2946" y="2462"/>
              <a:ext cx="9" cy="9"/>
            </a:xfrm>
            <a:custGeom>
              <a:avLst/>
              <a:gdLst>
                <a:gd name="T0" fmla="*/ 1 w 16"/>
                <a:gd name="T1" fmla="*/ 0 h 20"/>
                <a:gd name="T2" fmla="*/ 1 w 16"/>
                <a:gd name="T3" fmla="*/ 0 h 20"/>
                <a:gd name="T4" fmla="*/ 1 w 16"/>
                <a:gd name="T5" fmla="*/ 0 h 20"/>
                <a:gd name="T6" fmla="*/ 1 w 16"/>
                <a:gd name="T7" fmla="*/ 0 h 20"/>
                <a:gd name="T8" fmla="*/ 1 w 16"/>
                <a:gd name="T9" fmla="*/ 0 h 20"/>
                <a:gd name="T10" fmla="*/ 1 w 16"/>
                <a:gd name="T11" fmla="*/ 0 h 20"/>
                <a:gd name="T12" fmla="*/ 1 w 16"/>
                <a:gd name="T13" fmla="*/ 0 h 20"/>
                <a:gd name="T14" fmla="*/ 1 w 16"/>
                <a:gd name="T15" fmla="*/ 0 h 20"/>
                <a:gd name="T16" fmla="*/ 0 w 16"/>
                <a:gd name="T17" fmla="*/ 0 h 20"/>
                <a:gd name="T18" fmla="*/ 0 w 16"/>
                <a:gd name="T19" fmla="*/ 0 h 20"/>
                <a:gd name="T20" fmla="*/ 0 w 16"/>
                <a:gd name="T21" fmla="*/ 0 h 20"/>
                <a:gd name="T22" fmla="*/ 0 w 16"/>
                <a:gd name="T23" fmla="*/ 0 h 20"/>
                <a:gd name="T24" fmla="*/ 0 w 16"/>
                <a:gd name="T25" fmla="*/ 0 h 20"/>
                <a:gd name="T26" fmla="*/ 0 w 16"/>
                <a:gd name="T27" fmla="*/ 0 h 20"/>
                <a:gd name="T28" fmla="*/ 0 w 16"/>
                <a:gd name="T29" fmla="*/ 0 h 20"/>
                <a:gd name="T30" fmla="*/ 0 w 16"/>
                <a:gd name="T31" fmla="*/ 0 h 20"/>
                <a:gd name="T32" fmla="*/ 0 w 16"/>
                <a:gd name="T33" fmla="*/ 0 h 20"/>
                <a:gd name="T34" fmla="*/ 0 w 16"/>
                <a:gd name="T35" fmla="*/ 0 h 20"/>
                <a:gd name="T36" fmla="*/ 0 w 16"/>
                <a:gd name="T37" fmla="*/ 0 h 20"/>
                <a:gd name="T38" fmla="*/ 0 w 16"/>
                <a:gd name="T39" fmla="*/ 0 h 20"/>
                <a:gd name="T40" fmla="*/ 0 w 16"/>
                <a:gd name="T41" fmla="*/ 0 h 20"/>
                <a:gd name="T42" fmla="*/ 0 w 16"/>
                <a:gd name="T43" fmla="*/ 0 h 20"/>
                <a:gd name="T44" fmla="*/ 0 w 16"/>
                <a:gd name="T45" fmla="*/ 0 h 20"/>
                <a:gd name="T46" fmla="*/ 0 w 16"/>
                <a:gd name="T47" fmla="*/ 0 h 20"/>
                <a:gd name="T48" fmla="*/ 0 w 16"/>
                <a:gd name="T49" fmla="*/ 0 h 20"/>
                <a:gd name="T50" fmla="*/ 0 w 16"/>
                <a:gd name="T51" fmla="*/ 0 h 20"/>
                <a:gd name="T52" fmla="*/ 0 w 16"/>
                <a:gd name="T53" fmla="*/ 0 h 20"/>
                <a:gd name="T54" fmla="*/ 0 w 16"/>
                <a:gd name="T55" fmla="*/ 0 h 20"/>
                <a:gd name="T56" fmla="*/ 1 w 16"/>
                <a:gd name="T57" fmla="*/ 0 h 20"/>
                <a:gd name="T58" fmla="*/ 1 w 16"/>
                <a:gd name="T59" fmla="*/ 0 h 20"/>
                <a:gd name="T60" fmla="*/ 1 w 16"/>
                <a:gd name="T61" fmla="*/ 0 h 20"/>
                <a:gd name="T62" fmla="*/ 1 w 16"/>
                <a:gd name="T63" fmla="*/ 0 h 20"/>
                <a:gd name="T64" fmla="*/ 1 w 16"/>
                <a:gd name="T65" fmla="*/ 0 h 20"/>
                <a:gd name="T66" fmla="*/ 1 w 16"/>
                <a:gd name="T67" fmla="*/ 0 h 20"/>
                <a:gd name="T68" fmla="*/ 1 w 16"/>
                <a:gd name="T69" fmla="*/ 0 h 20"/>
                <a:gd name="T70" fmla="*/ 1 w 16"/>
                <a:gd name="T71" fmla="*/ 0 h 20"/>
                <a:gd name="T72" fmla="*/ 1 w 16"/>
                <a:gd name="T73" fmla="*/ 0 h 20"/>
                <a:gd name="T74" fmla="*/ 1 w 16"/>
                <a:gd name="T75" fmla="*/ 0 h 2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
                <a:gd name="T115" fmla="*/ 0 h 20"/>
                <a:gd name="T116" fmla="*/ 16 w 16"/>
                <a:gd name="T117" fmla="*/ 20 h 2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 h="20">
                  <a:moveTo>
                    <a:pt x="16" y="20"/>
                  </a:moveTo>
                  <a:lnTo>
                    <a:pt x="16" y="0"/>
                  </a:lnTo>
                  <a:lnTo>
                    <a:pt x="0" y="0"/>
                  </a:lnTo>
                  <a:lnTo>
                    <a:pt x="0" y="20"/>
                  </a:lnTo>
                  <a:lnTo>
                    <a:pt x="16"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02" name="Freeform 71"/>
            <p:cNvSpPr>
              <a:spLocks/>
            </p:cNvSpPr>
            <p:nvPr/>
          </p:nvSpPr>
          <p:spPr bwMode="auto">
            <a:xfrm>
              <a:off x="2946" y="2462"/>
              <a:ext cx="9" cy="9"/>
            </a:xfrm>
            <a:custGeom>
              <a:avLst/>
              <a:gdLst>
                <a:gd name="T0" fmla="*/ 1 w 16"/>
                <a:gd name="T1" fmla="*/ 0 h 20"/>
                <a:gd name="T2" fmla="*/ 1 w 16"/>
                <a:gd name="T3" fmla="*/ 0 h 20"/>
                <a:gd name="T4" fmla="*/ 1 w 16"/>
                <a:gd name="T5" fmla="*/ 0 h 20"/>
                <a:gd name="T6" fmla="*/ 1 w 16"/>
                <a:gd name="T7" fmla="*/ 0 h 20"/>
                <a:gd name="T8" fmla="*/ 1 w 16"/>
                <a:gd name="T9" fmla="*/ 0 h 20"/>
                <a:gd name="T10" fmla="*/ 1 w 16"/>
                <a:gd name="T11" fmla="*/ 0 h 20"/>
                <a:gd name="T12" fmla="*/ 1 w 16"/>
                <a:gd name="T13" fmla="*/ 0 h 20"/>
                <a:gd name="T14" fmla="*/ 1 w 16"/>
                <a:gd name="T15" fmla="*/ 0 h 20"/>
                <a:gd name="T16" fmla="*/ 0 w 16"/>
                <a:gd name="T17" fmla="*/ 0 h 20"/>
                <a:gd name="T18" fmla="*/ 0 w 16"/>
                <a:gd name="T19" fmla="*/ 0 h 20"/>
                <a:gd name="T20" fmla="*/ 0 w 16"/>
                <a:gd name="T21" fmla="*/ 0 h 20"/>
                <a:gd name="T22" fmla="*/ 0 w 16"/>
                <a:gd name="T23" fmla="*/ 0 h 20"/>
                <a:gd name="T24" fmla="*/ 0 w 16"/>
                <a:gd name="T25" fmla="*/ 0 h 20"/>
                <a:gd name="T26" fmla="*/ 0 w 16"/>
                <a:gd name="T27" fmla="*/ 0 h 20"/>
                <a:gd name="T28" fmla="*/ 0 w 16"/>
                <a:gd name="T29" fmla="*/ 0 h 20"/>
                <a:gd name="T30" fmla="*/ 0 w 16"/>
                <a:gd name="T31" fmla="*/ 0 h 20"/>
                <a:gd name="T32" fmla="*/ 0 w 16"/>
                <a:gd name="T33" fmla="*/ 0 h 20"/>
                <a:gd name="T34" fmla="*/ 0 w 16"/>
                <a:gd name="T35" fmla="*/ 0 h 20"/>
                <a:gd name="T36" fmla="*/ 0 w 16"/>
                <a:gd name="T37" fmla="*/ 0 h 20"/>
                <a:gd name="T38" fmla="*/ 0 w 16"/>
                <a:gd name="T39" fmla="*/ 0 h 20"/>
                <a:gd name="T40" fmla="*/ 0 w 16"/>
                <a:gd name="T41" fmla="*/ 0 h 20"/>
                <a:gd name="T42" fmla="*/ 0 w 16"/>
                <a:gd name="T43" fmla="*/ 0 h 20"/>
                <a:gd name="T44" fmla="*/ 0 w 16"/>
                <a:gd name="T45" fmla="*/ 0 h 20"/>
                <a:gd name="T46" fmla="*/ 0 w 16"/>
                <a:gd name="T47" fmla="*/ 0 h 20"/>
                <a:gd name="T48" fmla="*/ 0 w 16"/>
                <a:gd name="T49" fmla="*/ 0 h 20"/>
                <a:gd name="T50" fmla="*/ 0 w 16"/>
                <a:gd name="T51" fmla="*/ 0 h 20"/>
                <a:gd name="T52" fmla="*/ 0 w 16"/>
                <a:gd name="T53" fmla="*/ 0 h 20"/>
                <a:gd name="T54" fmla="*/ 0 w 16"/>
                <a:gd name="T55" fmla="*/ 0 h 20"/>
                <a:gd name="T56" fmla="*/ 1 w 16"/>
                <a:gd name="T57" fmla="*/ 0 h 20"/>
                <a:gd name="T58" fmla="*/ 1 w 16"/>
                <a:gd name="T59" fmla="*/ 0 h 20"/>
                <a:gd name="T60" fmla="*/ 1 w 16"/>
                <a:gd name="T61" fmla="*/ 0 h 20"/>
                <a:gd name="T62" fmla="*/ 1 w 16"/>
                <a:gd name="T63" fmla="*/ 0 h 20"/>
                <a:gd name="T64" fmla="*/ 1 w 16"/>
                <a:gd name="T65" fmla="*/ 0 h 20"/>
                <a:gd name="T66" fmla="*/ 1 w 16"/>
                <a:gd name="T67" fmla="*/ 0 h 20"/>
                <a:gd name="T68" fmla="*/ 1 w 16"/>
                <a:gd name="T69" fmla="*/ 0 h 20"/>
                <a:gd name="T70" fmla="*/ 1 w 16"/>
                <a:gd name="T71" fmla="*/ 0 h 20"/>
                <a:gd name="T72" fmla="*/ 1 w 16"/>
                <a:gd name="T73" fmla="*/ 0 h 20"/>
                <a:gd name="T74" fmla="*/ 1 w 16"/>
                <a:gd name="T75" fmla="*/ 0 h 2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
                <a:gd name="T115" fmla="*/ 0 h 20"/>
                <a:gd name="T116" fmla="*/ 16 w 16"/>
                <a:gd name="T117" fmla="*/ 20 h 2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 h="20">
                  <a:moveTo>
                    <a:pt x="16" y="20"/>
                  </a:moveTo>
                  <a:lnTo>
                    <a:pt x="16" y="0"/>
                  </a:lnTo>
                  <a:lnTo>
                    <a:pt x="0" y="0"/>
                  </a:lnTo>
                  <a:lnTo>
                    <a:pt x="0" y="20"/>
                  </a:lnTo>
                  <a:lnTo>
                    <a:pt x="16" y="2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03" name="Freeform 72"/>
            <p:cNvSpPr>
              <a:spLocks/>
            </p:cNvSpPr>
            <p:nvPr/>
          </p:nvSpPr>
          <p:spPr bwMode="auto">
            <a:xfrm>
              <a:off x="3184" y="3111"/>
              <a:ext cx="49" cy="89"/>
            </a:xfrm>
            <a:custGeom>
              <a:avLst/>
              <a:gdLst>
                <a:gd name="T0" fmla="*/ 1 w 98"/>
                <a:gd name="T1" fmla="*/ 0 h 179"/>
                <a:gd name="T2" fmla="*/ 1 w 98"/>
                <a:gd name="T3" fmla="*/ 0 h 179"/>
                <a:gd name="T4" fmla="*/ 0 w 98"/>
                <a:gd name="T5" fmla="*/ 0 h 179"/>
                <a:gd name="T6" fmla="*/ 1 w 98"/>
                <a:gd name="T7" fmla="*/ 0 h 179"/>
                <a:gd name="T8" fmla="*/ 1 w 98"/>
                <a:gd name="T9" fmla="*/ 0 h 179"/>
                <a:gd name="T10" fmla="*/ 1 w 98"/>
                <a:gd name="T11" fmla="*/ 0 h 179"/>
                <a:gd name="T12" fmla="*/ 1 w 98"/>
                <a:gd name="T13" fmla="*/ 0 h 179"/>
                <a:gd name="T14" fmla="*/ 1 w 98"/>
                <a:gd name="T15" fmla="*/ 0 h 179"/>
                <a:gd name="T16" fmla="*/ 1 w 98"/>
                <a:gd name="T17" fmla="*/ 0 h 179"/>
                <a:gd name="T18" fmla="*/ 1 w 98"/>
                <a:gd name="T19" fmla="*/ 0 h 179"/>
                <a:gd name="T20" fmla="*/ 1 w 98"/>
                <a:gd name="T21" fmla="*/ 0 h 179"/>
                <a:gd name="T22" fmla="*/ 1 w 98"/>
                <a:gd name="T23" fmla="*/ 0 h 179"/>
                <a:gd name="T24" fmla="*/ 1 w 98"/>
                <a:gd name="T25" fmla="*/ 0 h 179"/>
                <a:gd name="T26" fmla="*/ 1 w 98"/>
                <a:gd name="T27" fmla="*/ 0 h 179"/>
                <a:gd name="T28" fmla="*/ 1 w 98"/>
                <a:gd name="T29" fmla="*/ 0 h 179"/>
                <a:gd name="T30" fmla="*/ 1 w 98"/>
                <a:gd name="T31" fmla="*/ 0 h 17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8"/>
                <a:gd name="T49" fmla="*/ 0 h 179"/>
                <a:gd name="T50" fmla="*/ 98 w 98"/>
                <a:gd name="T51" fmla="*/ 179 h 17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8" h="179">
                  <a:moveTo>
                    <a:pt x="67" y="20"/>
                  </a:moveTo>
                  <a:lnTo>
                    <a:pt x="49" y="0"/>
                  </a:lnTo>
                  <a:lnTo>
                    <a:pt x="0" y="0"/>
                  </a:lnTo>
                  <a:lnTo>
                    <a:pt x="17" y="20"/>
                  </a:lnTo>
                  <a:lnTo>
                    <a:pt x="34" y="39"/>
                  </a:lnTo>
                  <a:lnTo>
                    <a:pt x="49" y="60"/>
                  </a:lnTo>
                  <a:lnTo>
                    <a:pt x="49" y="79"/>
                  </a:lnTo>
                  <a:lnTo>
                    <a:pt x="49" y="119"/>
                  </a:lnTo>
                  <a:lnTo>
                    <a:pt x="49" y="139"/>
                  </a:lnTo>
                  <a:lnTo>
                    <a:pt x="49" y="160"/>
                  </a:lnTo>
                  <a:lnTo>
                    <a:pt x="49" y="179"/>
                  </a:lnTo>
                  <a:lnTo>
                    <a:pt x="98" y="179"/>
                  </a:lnTo>
                  <a:lnTo>
                    <a:pt x="98" y="119"/>
                  </a:lnTo>
                  <a:lnTo>
                    <a:pt x="98" y="79"/>
                  </a:lnTo>
                  <a:lnTo>
                    <a:pt x="81" y="60"/>
                  </a:lnTo>
                  <a:lnTo>
                    <a:pt x="67" y="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04" name="Freeform 73"/>
            <p:cNvSpPr>
              <a:spLocks/>
            </p:cNvSpPr>
            <p:nvPr/>
          </p:nvSpPr>
          <p:spPr bwMode="auto">
            <a:xfrm>
              <a:off x="3184" y="3111"/>
              <a:ext cx="49" cy="89"/>
            </a:xfrm>
            <a:custGeom>
              <a:avLst/>
              <a:gdLst>
                <a:gd name="T0" fmla="*/ 1 w 98"/>
                <a:gd name="T1" fmla="*/ 0 h 179"/>
                <a:gd name="T2" fmla="*/ 1 w 98"/>
                <a:gd name="T3" fmla="*/ 0 h 179"/>
                <a:gd name="T4" fmla="*/ 0 w 98"/>
                <a:gd name="T5" fmla="*/ 0 h 179"/>
                <a:gd name="T6" fmla="*/ 1 w 98"/>
                <a:gd name="T7" fmla="*/ 0 h 179"/>
                <a:gd name="T8" fmla="*/ 1 w 98"/>
                <a:gd name="T9" fmla="*/ 0 h 179"/>
                <a:gd name="T10" fmla="*/ 1 w 98"/>
                <a:gd name="T11" fmla="*/ 0 h 179"/>
                <a:gd name="T12" fmla="*/ 1 w 98"/>
                <a:gd name="T13" fmla="*/ 0 h 179"/>
                <a:gd name="T14" fmla="*/ 1 w 98"/>
                <a:gd name="T15" fmla="*/ 0 h 179"/>
                <a:gd name="T16" fmla="*/ 1 w 98"/>
                <a:gd name="T17" fmla="*/ 0 h 179"/>
                <a:gd name="T18" fmla="*/ 1 w 98"/>
                <a:gd name="T19" fmla="*/ 0 h 179"/>
                <a:gd name="T20" fmla="*/ 1 w 98"/>
                <a:gd name="T21" fmla="*/ 0 h 179"/>
                <a:gd name="T22" fmla="*/ 1 w 98"/>
                <a:gd name="T23" fmla="*/ 0 h 179"/>
                <a:gd name="T24" fmla="*/ 1 w 98"/>
                <a:gd name="T25" fmla="*/ 0 h 179"/>
                <a:gd name="T26" fmla="*/ 1 w 98"/>
                <a:gd name="T27" fmla="*/ 0 h 179"/>
                <a:gd name="T28" fmla="*/ 1 w 98"/>
                <a:gd name="T29" fmla="*/ 0 h 179"/>
                <a:gd name="T30" fmla="*/ 1 w 98"/>
                <a:gd name="T31" fmla="*/ 0 h 17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8"/>
                <a:gd name="T49" fmla="*/ 0 h 179"/>
                <a:gd name="T50" fmla="*/ 98 w 98"/>
                <a:gd name="T51" fmla="*/ 179 h 17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8" h="179">
                  <a:moveTo>
                    <a:pt x="67" y="20"/>
                  </a:moveTo>
                  <a:lnTo>
                    <a:pt x="49" y="0"/>
                  </a:lnTo>
                  <a:lnTo>
                    <a:pt x="0" y="0"/>
                  </a:lnTo>
                  <a:lnTo>
                    <a:pt x="17" y="20"/>
                  </a:lnTo>
                  <a:lnTo>
                    <a:pt x="34" y="39"/>
                  </a:lnTo>
                  <a:lnTo>
                    <a:pt x="49" y="60"/>
                  </a:lnTo>
                  <a:lnTo>
                    <a:pt x="49" y="79"/>
                  </a:lnTo>
                  <a:lnTo>
                    <a:pt x="49" y="119"/>
                  </a:lnTo>
                  <a:lnTo>
                    <a:pt x="49" y="139"/>
                  </a:lnTo>
                  <a:lnTo>
                    <a:pt x="49" y="160"/>
                  </a:lnTo>
                  <a:lnTo>
                    <a:pt x="49" y="179"/>
                  </a:lnTo>
                  <a:lnTo>
                    <a:pt x="98" y="179"/>
                  </a:lnTo>
                  <a:lnTo>
                    <a:pt x="98" y="119"/>
                  </a:lnTo>
                  <a:lnTo>
                    <a:pt x="98" y="79"/>
                  </a:lnTo>
                  <a:lnTo>
                    <a:pt x="81" y="60"/>
                  </a:lnTo>
                  <a:lnTo>
                    <a:pt x="67" y="2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05" name="Freeform 74"/>
            <p:cNvSpPr>
              <a:spLocks/>
            </p:cNvSpPr>
            <p:nvPr/>
          </p:nvSpPr>
          <p:spPr bwMode="auto">
            <a:xfrm>
              <a:off x="3192" y="3090"/>
              <a:ext cx="17" cy="21"/>
            </a:xfrm>
            <a:custGeom>
              <a:avLst/>
              <a:gdLst>
                <a:gd name="T0" fmla="*/ 0 w 32"/>
                <a:gd name="T1" fmla="*/ 0 h 40"/>
                <a:gd name="T2" fmla="*/ 1 w 32"/>
                <a:gd name="T3" fmla="*/ 1 h 40"/>
                <a:gd name="T4" fmla="*/ 1 w 32"/>
                <a:gd name="T5" fmla="*/ 1 h 40"/>
                <a:gd name="T6" fmla="*/ 1 w 32"/>
                <a:gd name="T7" fmla="*/ 1 h 40"/>
                <a:gd name="T8" fmla="*/ 1 w 32"/>
                <a:gd name="T9" fmla="*/ 1 h 40"/>
                <a:gd name="T10" fmla="*/ 1 w 32"/>
                <a:gd name="T11" fmla="*/ 1 h 40"/>
                <a:gd name="T12" fmla="*/ 1 w 32"/>
                <a:gd name="T13" fmla="*/ 1 h 40"/>
                <a:gd name="T14" fmla="*/ 0 60000 65536"/>
                <a:gd name="T15" fmla="*/ 0 60000 65536"/>
                <a:gd name="T16" fmla="*/ 0 60000 65536"/>
                <a:gd name="T17" fmla="*/ 0 60000 65536"/>
                <a:gd name="T18" fmla="*/ 0 60000 65536"/>
                <a:gd name="T19" fmla="*/ 0 60000 65536"/>
                <a:gd name="T20" fmla="*/ 0 60000 65536"/>
                <a:gd name="T21" fmla="*/ 0 w 32"/>
                <a:gd name="T22" fmla="*/ 0 h 40"/>
                <a:gd name="T23" fmla="*/ 32 w 32"/>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40">
                  <a:moveTo>
                    <a:pt x="0" y="0"/>
                  </a:moveTo>
                  <a:lnTo>
                    <a:pt x="16" y="19"/>
                  </a:lnTo>
                  <a:lnTo>
                    <a:pt x="32" y="19"/>
                  </a:lnTo>
                  <a:lnTo>
                    <a:pt x="32" y="4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06" name="Freeform 75"/>
            <p:cNvSpPr>
              <a:spLocks/>
            </p:cNvSpPr>
            <p:nvPr/>
          </p:nvSpPr>
          <p:spPr bwMode="auto">
            <a:xfrm>
              <a:off x="3192" y="3200"/>
              <a:ext cx="9" cy="20"/>
            </a:xfrm>
            <a:custGeom>
              <a:avLst/>
              <a:gdLst>
                <a:gd name="T0" fmla="*/ 0 w 16"/>
                <a:gd name="T1" fmla="*/ 0 h 40"/>
                <a:gd name="T2" fmla="*/ 0 w 16"/>
                <a:gd name="T3" fmla="*/ 1 h 40"/>
                <a:gd name="T4" fmla="*/ 0 w 16"/>
                <a:gd name="T5" fmla="*/ 1 h 40"/>
                <a:gd name="T6" fmla="*/ 1 w 16"/>
                <a:gd name="T7" fmla="*/ 1 h 40"/>
                <a:gd name="T8" fmla="*/ 0 60000 65536"/>
                <a:gd name="T9" fmla="*/ 0 60000 65536"/>
                <a:gd name="T10" fmla="*/ 0 60000 65536"/>
                <a:gd name="T11" fmla="*/ 0 60000 65536"/>
                <a:gd name="T12" fmla="*/ 0 w 16"/>
                <a:gd name="T13" fmla="*/ 0 h 40"/>
                <a:gd name="T14" fmla="*/ 16 w 16"/>
                <a:gd name="T15" fmla="*/ 40 h 40"/>
              </a:gdLst>
              <a:ahLst/>
              <a:cxnLst>
                <a:cxn ang="T8">
                  <a:pos x="T0" y="T1"/>
                </a:cxn>
                <a:cxn ang="T9">
                  <a:pos x="T2" y="T3"/>
                </a:cxn>
                <a:cxn ang="T10">
                  <a:pos x="T4" y="T5"/>
                </a:cxn>
                <a:cxn ang="T11">
                  <a:pos x="T6" y="T7"/>
                </a:cxn>
              </a:cxnLst>
              <a:rect l="T12" t="T13" r="T14" b="T15"/>
              <a:pathLst>
                <a:path w="16" h="40">
                  <a:moveTo>
                    <a:pt x="0" y="0"/>
                  </a:moveTo>
                  <a:lnTo>
                    <a:pt x="0" y="22"/>
                  </a:lnTo>
                  <a:lnTo>
                    <a:pt x="16" y="4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07" name="Freeform 76"/>
            <p:cNvSpPr>
              <a:spLocks/>
            </p:cNvSpPr>
            <p:nvPr/>
          </p:nvSpPr>
          <p:spPr bwMode="auto">
            <a:xfrm>
              <a:off x="3234" y="3200"/>
              <a:ext cx="1" cy="20"/>
            </a:xfrm>
            <a:custGeom>
              <a:avLst/>
              <a:gdLst>
                <a:gd name="T0" fmla="*/ 0 w 1"/>
                <a:gd name="T1" fmla="*/ 0 h 40"/>
                <a:gd name="T2" fmla="*/ 0 w 1"/>
                <a:gd name="T3" fmla="*/ 0 h 40"/>
                <a:gd name="T4" fmla="*/ 0 w 1"/>
                <a:gd name="T5" fmla="*/ 1 h 40"/>
                <a:gd name="T6" fmla="*/ 0 w 1"/>
                <a:gd name="T7" fmla="*/ 1 h 40"/>
                <a:gd name="T8" fmla="*/ 0 60000 65536"/>
                <a:gd name="T9" fmla="*/ 0 60000 65536"/>
                <a:gd name="T10" fmla="*/ 0 60000 65536"/>
                <a:gd name="T11" fmla="*/ 0 60000 65536"/>
                <a:gd name="T12" fmla="*/ 0 w 1"/>
                <a:gd name="T13" fmla="*/ 0 h 40"/>
                <a:gd name="T14" fmla="*/ 1 w 1"/>
                <a:gd name="T15" fmla="*/ 40 h 40"/>
              </a:gdLst>
              <a:ahLst/>
              <a:cxnLst>
                <a:cxn ang="T8">
                  <a:pos x="T0" y="T1"/>
                </a:cxn>
                <a:cxn ang="T9">
                  <a:pos x="T2" y="T3"/>
                </a:cxn>
                <a:cxn ang="T10">
                  <a:pos x="T4" y="T5"/>
                </a:cxn>
                <a:cxn ang="T11">
                  <a:pos x="T6" y="T7"/>
                </a:cxn>
              </a:cxnLst>
              <a:rect l="T12" t="T13" r="T14" b="T15"/>
              <a:pathLst>
                <a:path w="1" h="40">
                  <a:moveTo>
                    <a:pt x="0" y="0"/>
                  </a:moveTo>
                  <a:lnTo>
                    <a:pt x="0" y="0"/>
                  </a:lnTo>
                  <a:lnTo>
                    <a:pt x="0" y="22"/>
                  </a:lnTo>
                  <a:lnTo>
                    <a:pt x="0" y="4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08" name="Freeform 77"/>
            <p:cNvSpPr>
              <a:spLocks/>
            </p:cNvSpPr>
            <p:nvPr/>
          </p:nvSpPr>
          <p:spPr bwMode="auto">
            <a:xfrm>
              <a:off x="2970" y="2631"/>
              <a:ext cx="66" cy="10"/>
            </a:xfrm>
            <a:custGeom>
              <a:avLst/>
              <a:gdLst>
                <a:gd name="T0" fmla="*/ 0 w 132"/>
                <a:gd name="T1" fmla="*/ 1 h 19"/>
                <a:gd name="T2" fmla="*/ 1 w 132"/>
                <a:gd name="T3" fmla="*/ 1 h 19"/>
                <a:gd name="T4" fmla="*/ 1 w 132"/>
                <a:gd name="T5" fmla="*/ 1 h 19"/>
                <a:gd name="T6" fmla="*/ 1 w 132"/>
                <a:gd name="T7" fmla="*/ 1 h 19"/>
                <a:gd name="T8" fmla="*/ 1 w 132"/>
                <a:gd name="T9" fmla="*/ 1 h 19"/>
                <a:gd name="T10" fmla="*/ 1 w 132"/>
                <a:gd name="T11" fmla="*/ 1 h 19"/>
                <a:gd name="T12" fmla="*/ 1 w 132"/>
                <a:gd name="T13" fmla="*/ 0 h 19"/>
                <a:gd name="T14" fmla="*/ 1 w 132"/>
                <a:gd name="T15" fmla="*/ 0 h 19"/>
                <a:gd name="T16" fmla="*/ 0 60000 65536"/>
                <a:gd name="T17" fmla="*/ 0 60000 65536"/>
                <a:gd name="T18" fmla="*/ 0 60000 65536"/>
                <a:gd name="T19" fmla="*/ 0 60000 65536"/>
                <a:gd name="T20" fmla="*/ 0 60000 65536"/>
                <a:gd name="T21" fmla="*/ 0 60000 65536"/>
                <a:gd name="T22" fmla="*/ 0 60000 65536"/>
                <a:gd name="T23" fmla="*/ 0 60000 65536"/>
                <a:gd name="T24" fmla="*/ 0 w 132"/>
                <a:gd name="T25" fmla="*/ 0 h 19"/>
                <a:gd name="T26" fmla="*/ 132 w 132"/>
                <a:gd name="T27" fmla="*/ 19 h 1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2" h="19">
                  <a:moveTo>
                    <a:pt x="0" y="19"/>
                  </a:moveTo>
                  <a:lnTo>
                    <a:pt x="35" y="19"/>
                  </a:lnTo>
                  <a:lnTo>
                    <a:pt x="66" y="19"/>
                  </a:lnTo>
                  <a:lnTo>
                    <a:pt x="83" y="19"/>
                  </a:lnTo>
                  <a:lnTo>
                    <a:pt x="100" y="19"/>
                  </a:lnTo>
                  <a:lnTo>
                    <a:pt x="115" y="19"/>
                  </a:lnTo>
                  <a:lnTo>
                    <a:pt x="132"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09" name="Line 78"/>
            <p:cNvSpPr>
              <a:spLocks noChangeShapeType="1"/>
            </p:cNvSpPr>
            <p:nvPr/>
          </p:nvSpPr>
          <p:spPr bwMode="auto">
            <a:xfrm flipH="1">
              <a:off x="2872" y="3140"/>
              <a:ext cx="16" cy="7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110" name="Freeform 79"/>
            <p:cNvSpPr>
              <a:spLocks/>
            </p:cNvSpPr>
            <p:nvPr/>
          </p:nvSpPr>
          <p:spPr bwMode="auto">
            <a:xfrm>
              <a:off x="2937" y="2551"/>
              <a:ext cx="25" cy="30"/>
            </a:xfrm>
            <a:custGeom>
              <a:avLst/>
              <a:gdLst>
                <a:gd name="T0" fmla="*/ 0 w 49"/>
                <a:gd name="T1" fmla="*/ 0 h 60"/>
                <a:gd name="T2" fmla="*/ 0 w 49"/>
                <a:gd name="T3" fmla="*/ 0 h 60"/>
                <a:gd name="T4" fmla="*/ 1 w 49"/>
                <a:gd name="T5" fmla="*/ 1 h 60"/>
                <a:gd name="T6" fmla="*/ 1 w 49"/>
                <a:gd name="T7" fmla="*/ 1 h 60"/>
                <a:gd name="T8" fmla="*/ 1 w 49"/>
                <a:gd name="T9" fmla="*/ 1 h 60"/>
                <a:gd name="T10" fmla="*/ 1 w 49"/>
                <a:gd name="T11" fmla="*/ 1 h 60"/>
                <a:gd name="T12" fmla="*/ 1 w 49"/>
                <a:gd name="T13" fmla="*/ 1 h 60"/>
                <a:gd name="T14" fmla="*/ 1 w 49"/>
                <a:gd name="T15" fmla="*/ 1 h 60"/>
                <a:gd name="T16" fmla="*/ 1 w 49"/>
                <a:gd name="T17" fmla="*/ 1 h 60"/>
                <a:gd name="T18" fmla="*/ 1 w 49"/>
                <a:gd name="T19" fmla="*/ 1 h 60"/>
                <a:gd name="T20" fmla="*/ 0 w 49"/>
                <a:gd name="T21" fmla="*/ 1 h 60"/>
                <a:gd name="T22" fmla="*/ 0 w 49"/>
                <a:gd name="T23" fmla="*/ 1 h 60"/>
                <a:gd name="T24" fmla="*/ 0 w 49"/>
                <a:gd name="T25" fmla="*/ 1 h 60"/>
                <a:gd name="T26" fmla="*/ 0 w 49"/>
                <a:gd name="T27" fmla="*/ 1 h 60"/>
                <a:gd name="T28" fmla="*/ 0 w 49"/>
                <a:gd name="T29" fmla="*/ 0 h 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9"/>
                <a:gd name="T46" fmla="*/ 0 h 60"/>
                <a:gd name="T47" fmla="*/ 49 w 49"/>
                <a:gd name="T48" fmla="*/ 60 h 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9" h="60">
                  <a:moveTo>
                    <a:pt x="0" y="0"/>
                  </a:moveTo>
                  <a:lnTo>
                    <a:pt x="0" y="0"/>
                  </a:lnTo>
                  <a:lnTo>
                    <a:pt x="16" y="19"/>
                  </a:lnTo>
                  <a:lnTo>
                    <a:pt x="33" y="19"/>
                  </a:lnTo>
                  <a:lnTo>
                    <a:pt x="49" y="39"/>
                  </a:lnTo>
                  <a:lnTo>
                    <a:pt x="49" y="60"/>
                  </a:lnTo>
                  <a:lnTo>
                    <a:pt x="33" y="60"/>
                  </a:lnTo>
                  <a:lnTo>
                    <a:pt x="16" y="60"/>
                  </a:lnTo>
                  <a:lnTo>
                    <a:pt x="0" y="60"/>
                  </a:lnTo>
                  <a:lnTo>
                    <a:pt x="0" y="39"/>
                  </a:lnTo>
                  <a:lnTo>
                    <a:pt x="0" y="19"/>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11" name="Freeform 80"/>
            <p:cNvSpPr>
              <a:spLocks/>
            </p:cNvSpPr>
            <p:nvPr/>
          </p:nvSpPr>
          <p:spPr bwMode="auto">
            <a:xfrm>
              <a:off x="2937" y="2551"/>
              <a:ext cx="25" cy="30"/>
            </a:xfrm>
            <a:custGeom>
              <a:avLst/>
              <a:gdLst>
                <a:gd name="T0" fmla="*/ 0 w 49"/>
                <a:gd name="T1" fmla="*/ 0 h 60"/>
                <a:gd name="T2" fmla="*/ 0 w 49"/>
                <a:gd name="T3" fmla="*/ 0 h 60"/>
                <a:gd name="T4" fmla="*/ 1 w 49"/>
                <a:gd name="T5" fmla="*/ 1 h 60"/>
                <a:gd name="T6" fmla="*/ 1 w 49"/>
                <a:gd name="T7" fmla="*/ 1 h 60"/>
                <a:gd name="T8" fmla="*/ 1 w 49"/>
                <a:gd name="T9" fmla="*/ 1 h 60"/>
                <a:gd name="T10" fmla="*/ 1 w 49"/>
                <a:gd name="T11" fmla="*/ 1 h 60"/>
                <a:gd name="T12" fmla="*/ 1 w 49"/>
                <a:gd name="T13" fmla="*/ 1 h 60"/>
                <a:gd name="T14" fmla="*/ 1 w 49"/>
                <a:gd name="T15" fmla="*/ 1 h 60"/>
                <a:gd name="T16" fmla="*/ 1 w 49"/>
                <a:gd name="T17" fmla="*/ 1 h 60"/>
                <a:gd name="T18" fmla="*/ 1 w 49"/>
                <a:gd name="T19" fmla="*/ 1 h 60"/>
                <a:gd name="T20" fmla="*/ 0 w 49"/>
                <a:gd name="T21" fmla="*/ 1 h 60"/>
                <a:gd name="T22" fmla="*/ 0 w 49"/>
                <a:gd name="T23" fmla="*/ 1 h 60"/>
                <a:gd name="T24" fmla="*/ 0 w 49"/>
                <a:gd name="T25" fmla="*/ 1 h 60"/>
                <a:gd name="T26" fmla="*/ 0 w 49"/>
                <a:gd name="T27" fmla="*/ 1 h 60"/>
                <a:gd name="T28" fmla="*/ 0 w 49"/>
                <a:gd name="T29" fmla="*/ 0 h 6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9"/>
                <a:gd name="T46" fmla="*/ 0 h 60"/>
                <a:gd name="T47" fmla="*/ 49 w 49"/>
                <a:gd name="T48" fmla="*/ 60 h 6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9" h="60">
                  <a:moveTo>
                    <a:pt x="0" y="0"/>
                  </a:moveTo>
                  <a:lnTo>
                    <a:pt x="0" y="0"/>
                  </a:lnTo>
                  <a:lnTo>
                    <a:pt x="16" y="19"/>
                  </a:lnTo>
                  <a:lnTo>
                    <a:pt x="33" y="19"/>
                  </a:lnTo>
                  <a:lnTo>
                    <a:pt x="49" y="39"/>
                  </a:lnTo>
                  <a:lnTo>
                    <a:pt x="49" y="60"/>
                  </a:lnTo>
                  <a:lnTo>
                    <a:pt x="33" y="60"/>
                  </a:lnTo>
                  <a:lnTo>
                    <a:pt x="16" y="60"/>
                  </a:lnTo>
                  <a:lnTo>
                    <a:pt x="0" y="60"/>
                  </a:lnTo>
                  <a:lnTo>
                    <a:pt x="0" y="39"/>
                  </a:lnTo>
                  <a:lnTo>
                    <a:pt x="0" y="19"/>
                  </a:lnTo>
                  <a:lnTo>
                    <a:pt x="0"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12" name="Freeform 81"/>
            <p:cNvSpPr>
              <a:spLocks/>
            </p:cNvSpPr>
            <p:nvPr/>
          </p:nvSpPr>
          <p:spPr bwMode="auto">
            <a:xfrm>
              <a:off x="2937" y="2551"/>
              <a:ext cx="33" cy="30"/>
            </a:xfrm>
            <a:custGeom>
              <a:avLst/>
              <a:gdLst>
                <a:gd name="T0" fmla="*/ 0 w 65"/>
                <a:gd name="T1" fmla="*/ 0 h 60"/>
                <a:gd name="T2" fmla="*/ 0 w 65"/>
                <a:gd name="T3" fmla="*/ 1 h 60"/>
                <a:gd name="T4" fmla="*/ 1 w 65"/>
                <a:gd name="T5" fmla="*/ 1 h 60"/>
                <a:gd name="T6" fmla="*/ 1 w 65"/>
                <a:gd name="T7" fmla="*/ 1 h 60"/>
                <a:gd name="T8" fmla="*/ 1 w 65"/>
                <a:gd name="T9" fmla="*/ 1 h 60"/>
                <a:gd name="T10" fmla="*/ 1 w 65"/>
                <a:gd name="T11" fmla="*/ 1 h 60"/>
                <a:gd name="T12" fmla="*/ 1 w 65"/>
                <a:gd name="T13" fmla="*/ 1 h 60"/>
                <a:gd name="T14" fmla="*/ 0 60000 65536"/>
                <a:gd name="T15" fmla="*/ 0 60000 65536"/>
                <a:gd name="T16" fmla="*/ 0 60000 65536"/>
                <a:gd name="T17" fmla="*/ 0 60000 65536"/>
                <a:gd name="T18" fmla="*/ 0 60000 65536"/>
                <a:gd name="T19" fmla="*/ 0 60000 65536"/>
                <a:gd name="T20" fmla="*/ 0 60000 65536"/>
                <a:gd name="T21" fmla="*/ 0 w 65"/>
                <a:gd name="T22" fmla="*/ 0 h 60"/>
                <a:gd name="T23" fmla="*/ 65 w 65"/>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 h="60">
                  <a:moveTo>
                    <a:pt x="0" y="0"/>
                  </a:moveTo>
                  <a:lnTo>
                    <a:pt x="0" y="19"/>
                  </a:lnTo>
                  <a:lnTo>
                    <a:pt x="16" y="39"/>
                  </a:lnTo>
                  <a:lnTo>
                    <a:pt x="33" y="39"/>
                  </a:lnTo>
                  <a:lnTo>
                    <a:pt x="49" y="39"/>
                  </a:lnTo>
                  <a:lnTo>
                    <a:pt x="65" y="6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13" name="Rectangle 82"/>
            <p:cNvSpPr>
              <a:spLocks noChangeArrowheads="1"/>
            </p:cNvSpPr>
            <p:nvPr/>
          </p:nvSpPr>
          <p:spPr bwMode="auto">
            <a:xfrm>
              <a:off x="2354" y="2761"/>
              <a:ext cx="148" cy="4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ea typeface="幼圆" pitchFamily="49" charset="-122"/>
              </a:endParaRPr>
            </a:p>
          </p:txBody>
        </p:sp>
        <p:sp>
          <p:nvSpPr>
            <p:cNvPr id="172114" name="Rectangle 83"/>
            <p:cNvSpPr>
              <a:spLocks noChangeArrowheads="1"/>
            </p:cNvSpPr>
            <p:nvPr/>
          </p:nvSpPr>
          <p:spPr bwMode="auto">
            <a:xfrm>
              <a:off x="2354" y="2761"/>
              <a:ext cx="148" cy="400"/>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en-US">
                <a:ea typeface="幼圆" pitchFamily="49" charset="-122"/>
              </a:endParaRPr>
            </a:p>
          </p:txBody>
        </p:sp>
        <p:sp>
          <p:nvSpPr>
            <p:cNvPr id="172115" name="Freeform 84"/>
            <p:cNvSpPr>
              <a:spLocks/>
            </p:cNvSpPr>
            <p:nvPr/>
          </p:nvSpPr>
          <p:spPr bwMode="auto">
            <a:xfrm>
              <a:off x="2248" y="3101"/>
              <a:ext cx="73" cy="110"/>
            </a:xfrm>
            <a:custGeom>
              <a:avLst/>
              <a:gdLst>
                <a:gd name="T0" fmla="*/ 1 w 146"/>
                <a:gd name="T1" fmla="*/ 0 h 220"/>
                <a:gd name="T2" fmla="*/ 1 w 146"/>
                <a:gd name="T3" fmla="*/ 0 h 220"/>
                <a:gd name="T4" fmla="*/ 1 w 146"/>
                <a:gd name="T5" fmla="*/ 1 h 220"/>
                <a:gd name="T6" fmla="*/ 1 w 146"/>
                <a:gd name="T7" fmla="*/ 1 h 220"/>
                <a:gd name="T8" fmla="*/ 1 w 146"/>
                <a:gd name="T9" fmla="*/ 1 h 220"/>
                <a:gd name="T10" fmla="*/ 1 w 146"/>
                <a:gd name="T11" fmla="*/ 1 h 220"/>
                <a:gd name="T12" fmla="*/ 1 w 146"/>
                <a:gd name="T13" fmla="*/ 1 h 220"/>
                <a:gd name="T14" fmla="*/ 0 w 146"/>
                <a:gd name="T15" fmla="*/ 1 h 220"/>
                <a:gd name="T16" fmla="*/ 0 w 146"/>
                <a:gd name="T17" fmla="*/ 1 h 220"/>
                <a:gd name="T18" fmla="*/ 0 w 146"/>
                <a:gd name="T19" fmla="*/ 1 h 220"/>
                <a:gd name="T20" fmla="*/ 1 w 146"/>
                <a:gd name="T21" fmla="*/ 1 h 220"/>
                <a:gd name="T22" fmla="*/ 1 w 146"/>
                <a:gd name="T23" fmla="*/ 1 h 220"/>
                <a:gd name="T24" fmla="*/ 1 w 146"/>
                <a:gd name="T25" fmla="*/ 0 h 2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6"/>
                <a:gd name="T40" fmla="*/ 0 h 220"/>
                <a:gd name="T41" fmla="*/ 146 w 146"/>
                <a:gd name="T42" fmla="*/ 220 h 2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6" h="220">
                  <a:moveTo>
                    <a:pt x="48" y="0"/>
                  </a:moveTo>
                  <a:lnTo>
                    <a:pt x="146" y="0"/>
                  </a:lnTo>
                  <a:lnTo>
                    <a:pt x="82" y="99"/>
                  </a:lnTo>
                  <a:lnTo>
                    <a:pt x="98" y="198"/>
                  </a:lnTo>
                  <a:lnTo>
                    <a:pt x="98" y="220"/>
                  </a:lnTo>
                  <a:lnTo>
                    <a:pt x="17" y="220"/>
                  </a:lnTo>
                  <a:lnTo>
                    <a:pt x="0" y="198"/>
                  </a:lnTo>
                  <a:lnTo>
                    <a:pt x="0" y="159"/>
                  </a:lnTo>
                  <a:lnTo>
                    <a:pt x="0" y="99"/>
                  </a:lnTo>
                  <a:lnTo>
                    <a:pt x="17" y="58"/>
                  </a:lnTo>
                  <a:lnTo>
                    <a:pt x="32" y="39"/>
                  </a:lnTo>
                  <a:lnTo>
                    <a:pt x="4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16" name="Freeform 85"/>
            <p:cNvSpPr>
              <a:spLocks/>
            </p:cNvSpPr>
            <p:nvPr/>
          </p:nvSpPr>
          <p:spPr bwMode="auto">
            <a:xfrm>
              <a:off x="2248" y="3101"/>
              <a:ext cx="73" cy="110"/>
            </a:xfrm>
            <a:custGeom>
              <a:avLst/>
              <a:gdLst>
                <a:gd name="T0" fmla="*/ 1 w 146"/>
                <a:gd name="T1" fmla="*/ 0 h 220"/>
                <a:gd name="T2" fmla="*/ 1 w 146"/>
                <a:gd name="T3" fmla="*/ 0 h 220"/>
                <a:gd name="T4" fmla="*/ 1 w 146"/>
                <a:gd name="T5" fmla="*/ 1 h 220"/>
                <a:gd name="T6" fmla="*/ 1 w 146"/>
                <a:gd name="T7" fmla="*/ 1 h 220"/>
                <a:gd name="T8" fmla="*/ 1 w 146"/>
                <a:gd name="T9" fmla="*/ 1 h 220"/>
                <a:gd name="T10" fmla="*/ 1 w 146"/>
                <a:gd name="T11" fmla="*/ 1 h 220"/>
                <a:gd name="T12" fmla="*/ 1 w 146"/>
                <a:gd name="T13" fmla="*/ 1 h 220"/>
                <a:gd name="T14" fmla="*/ 0 w 146"/>
                <a:gd name="T15" fmla="*/ 1 h 220"/>
                <a:gd name="T16" fmla="*/ 0 w 146"/>
                <a:gd name="T17" fmla="*/ 1 h 220"/>
                <a:gd name="T18" fmla="*/ 0 w 146"/>
                <a:gd name="T19" fmla="*/ 1 h 220"/>
                <a:gd name="T20" fmla="*/ 1 w 146"/>
                <a:gd name="T21" fmla="*/ 1 h 220"/>
                <a:gd name="T22" fmla="*/ 1 w 146"/>
                <a:gd name="T23" fmla="*/ 1 h 220"/>
                <a:gd name="T24" fmla="*/ 1 w 146"/>
                <a:gd name="T25" fmla="*/ 0 h 2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6"/>
                <a:gd name="T40" fmla="*/ 0 h 220"/>
                <a:gd name="T41" fmla="*/ 146 w 146"/>
                <a:gd name="T42" fmla="*/ 220 h 2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6" h="220">
                  <a:moveTo>
                    <a:pt x="48" y="0"/>
                  </a:moveTo>
                  <a:lnTo>
                    <a:pt x="146" y="0"/>
                  </a:lnTo>
                  <a:lnTo>
                    <a:pt x="82" y="99"/>
                  </a:lnTo>
                  <a:lnTo>
                    <a:pt x="98" y="198"/>
                  </a:lnTo>
                  <a:lnTo>
                    <a:pt x="98" y="220"/>
                  </a:lnTo>
                  <a:lnTo>
                    <a:pt x="17" y="220"/>
                  </a:lnTo>
                  <a:lnTo>
                    <a:pt x="0" y="198"/>
                  </a:lnTo>
                  <a:lnTo>
                    <a:pt x="0" y="159"/>
                  </a:lnTo>
                  <a:lnTo>
                    <a:pt x="0" y="99"/>
                  </a:lnTo>
                  <a:lnTo>
                    <a:pt x="17" y="58"/>
                  </a:lnTo>
                  <a:lnTo>
                    <a:pt x="32" y="39"/>
                  </a:lnTo>
                  <a:lnTo>
                    <a:pt x="48"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17" name="Freeform 86"/>
            <p:cNvSpPr>
              <a:spLocks/>
            </p:cNvSpPr>
            <p:nvPr/>
          </p:nvSpPr>
          <p:spPr bwMode="auto">
            <a:xfrm>
              <a:off x="2051" y="2631"/>
              <a:ext cx="336" cy="580"/>
            </a:xfrm>
            <a:custGeom>
              <a:avLst/>
              <a:gdLst>
                <a:gd name="T0" fmla="*/ 2 w 671"/>
                <a:gd name="T1" fmla="*/ 0 h 1160"/>
                <a:gd name="T2" fmla="*/ 2 w 671"/>
                <a:gd name="T3" fmla="*/ 1 h 1160"/>
                <a:gd name="T4" fmla="*/ 2 w 671"/>
                <a:gd name="T5" fmla="*/ 1 h 1160"/>
                <a:gd name="T6" fmla="*/ 1 w 671"/>
                <a:gd name="T7" fmla="*/ 1 h 1160"/>
                <a:gd name="T8" fmla="*/ 1 w 671"/>
                <a:gd name="T9" fmla="*/ 1 h 1160"/>
                <a:gd name="T10" fmla="*/ 1 w 671"/>
                <a:gd name="T11" fmla="*/ 1 h 1160"/>
                <a:gd name="T12" fmla="*/ 1 w 671"/>
                <a:gd name="T13" fmla="*/ 1 h 1160"/>
                <a:gd name="T14" fmla="*/ 1 w 671"/>
                <a:gd name="T15" fmla="*/ 2 h 1160"/>
                <a:gd name="T16" fmla="*/ 1 w 671"/>
                <a:gd name="T17" fmla="*/ 2 h 1160"/>
                <a:gd name="T18" fmla="*/ 1 w 671"/>
                <a:gd name="T19" fmla="*/ 2 h 1160"/>
                <a:gd name="T20" fmla="*/ 1 w 671"/>
                <a:gd name="T21" fmla="*/ 3 h 1160"/>
                <a:gd name="T22" fmla="*/ 1 w 671"/>
                <a:gd name="T23" fmla="*/ 3 h 1160"/>
                <a:gd name="T24" fmla="*/ 1 w 671"/>
                <a:gd name="T25" fmla="*/ 3 h 1160"/>
                <a:gd name="T26" fmla="*/ 1 w 671"/>
                <a:gd name="T27" fmla="*/ 3 h 1160"/>
                <a:gd name="T28" fmla="*/ 1 w 671"/>
                <a:gd name="T29" fmla="*/ 4 h 1160"/>
                <a:gd name="T30" fmla="*/ 0 w 671"/>
                <a:gd name="T31" fmla="*/ 4 h 1160"/>
                <a:gd name="T32" fmla="*/ 1 w 671"/>
                <a:gd name="T33" fmla="*/ 5 h 1160"/>
                <a:gd name="T34" fmla="*/ 2 w 671"/>
                <a:gd name="T35" fmla="*/ 5 h 1160"/>
                <a:gd name="T36" fmla="*/ 2 w 671"/>
                <a:gd name="T37" fmla="*/ 5 h 1160"/>
                <a:gd name="T38" fmla="*/ 2 w 671"/>
                <a:gd name="T39" fmla="*/ 5 h 1160"/>
                <a:gd name="T40" fmla="*/ 2 w 671"/>
                <a:gd name="T41" fmla="*/ 5 h 1160"/>
                <a:gd name="T42" fmla="*/ 2 w 671"/>
                <a:gd name="T43" fmla="*/ 4 h 1160"/>
                <a:gd name="T44" fmla="*/ 2 w 671"/>
                <a:gd name="T45" fmla="*/ 4 h 1160"/>
                <a:gd name="T46" fmla="*/ 2 w 671"/>
                <a:gd name="T47" fmla="*/ 4 h 1160"/>
                <a:gd name="T48" fmla="*/ 2 w 671"/>
                <a:gd name="T49" fmla="*/ 4 h 1160"/>
                <a:gd name="T50" fmla="*/ 2 w 671"/>
                <a:gd name="T51" fmla="*/ 4 h 1160"/>
                <a:gd name="T52" fmla="*/ 2 w 671"/>
                <a:gd name="T53" fmla="*/ 4 h 1160"/>
                <a:gd name="T54" fmla="*/ 2 w 671"/>
                <a:gd name="T55" fmla="*/ 4 h 1160"/>
                <a:gd name="T56" fmla="*/ 3 w 671"/>
                <a:gd name="T57" fmla="*/ 4 h 1160"/>
                <a:gd name="T58" fmla="*/ 3 w 671"/>
                <a:gd name="T59" fmla="*/ 4 h 1160"/>
                <a:gd name="T60" fmla="*/ 3 w 671"/>
                <a:gd name="T61" fmla="*/ 2 h 1160"/>
                <a:gd name="T62" fmla="*/ 2 w 671"/>
                <a:gd name="T63" fmla="*/ 0 h 11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1"/>
                <a:gd name="T97" fmla="*/ 0 h 1160"/>
                <a:gd name="T98" fmla="*/ 671 w 671"/>
                <a:gd name="T99" fmla="*/ 1160 h 11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1" h="1160">
                  <a:moveTo>
                    <a:pt x="476" y="0"/>
                  </a:moveTo>
                  <a:lnTo>
                    <a:pt x="329" y="80"/>
                  </a:lnTo>
                  <a:lnTo>
                    <a:pt x="278" y="119"/>
                  </a:lnTo>
                  <a:lnTo>
                    <a:pt x="246" y="140"/>
                  </a:lnTo>
                  <a:lnTo>
                    <a:pt x="230" y="159"/>
                  </a:lnTo>
                  <a:lnTo>
                    <a:pt x="213" y="200"/>
                  </a:lnTo>
                  <a:lnTo>
                    <a:pt x="195" y="220"/>
                  </a:lnTo>
                  <a:lnTo>
                    <a:pt x="163" y="319"/>
                  </a:lnTo>
                  <a:lnTo>
                    <a:pt x="130" y="419"/>
                  </a:lnTo>
                  <a:lnTo>
                    <a:pt x="114" y="479"/>
                  </a:lnTo>
                  <a:lnTo>
                    <a:pt x="98" y="539"/>
                  </a:lnTo>
                  <a:lnTo>
                    <a:pt x="80" y="599"/>
                  </a:lnTo>
                  <a:lnTo>
                    <a:pt x="80" y="658"/>
                  </a:lnTo>
                  <a:lnTo>
                    <a:pt x="66" y="719"/>
                  </a:lnTo>
                  <a:lnTo>
                    <a:pt x="48" y="800"/>
                  </a:lnTo>
                  <a:lnTo>
                    <a:pt x="0" y="979"/>
                  </a:lnTo>
                  <a:lnTo>
                    <a:pt x="114" y="1160"/>
                  </a:lnTo>
                  <a:lnTo>
                    <a:pt x="410" y="1160"/>
                  </a:lnTo>
                  <a:lnTo>
                    <a:pt x="410" y="1138"/>
                  </a:lnTo>
                  <a:lnTo>
                    <a:pt x="410" y="1078"/>
                  </a:lnTo>
                  <a:lnTo>
                    <a:pt x="410" y="1039"/>
                  </a:lnTo>
                  <a:lnTo>
                    <a:pt x="426" y="998"/>
                  </a:lnTo>
                  <a:lnTo>
                    <a:pt x="443" y="979"/>
                  </a:lnTo>
                  <a:lnTo>
                    <a:pt x="460" y="959"/>
                  </a:lnTo>
                  <a:lnTo>
                    <a:pt x="476" y="959"/>
                  </a:lnTo>
                  <a:lnTo>
                    <a:pt x="508" y="959"/>
                  </a:lnTo>
                  <a:lnTo>
                    <a:pt x="508" y="979"/>
                  </a:lnTo>
                  <a:lnTo>
                    <a:pt x="639" y="938"/>
                  </a:lnTo>
                  <a:lnTo>
                    <a:pt x="671" y="899"/>
                  </a:lnTo>
                  <a:lnTo>
                    <a:pt x="558" y="340"/>
                  </a:lnTo>
                  <a:lnTo>
                    <a:pt x="47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18" name="Freeform 87"/>
            <p:cNvSpPr>
              <a:spLocks/>
            </p:cNvSpPr>
            <p:nvPr/>
          </p:nvSpPr>
          <p:spPr bwMode="auto">
            <a:xfrm>
              <a:off x="2051" y="2631"/>
              <a:ext cx="336" cy="580"/>
            </a:xfrm>
            <a:custGeom>
              <a:avLst/>
              <a:gdLst>
                <a:gd name="T0" fmla="*/ 2 w 671"/>
                <a:gd name="T1" fmla="*/ 0 h 1160"/>
                <a:gd name="T2" fmla="*/ 2 w 671"/>
                <a:gd name="T3" fmla="*/ 1 h 1160"/>
                <a:gd name="T4" fmla="*/ 2 w 671"/>
                <a:gd name="T5" fmla="*/ 1 h 1160"/>
                <a:gd name="T6" fmla="*/ 1 w 671"/>
                <a:gd name="T7" fmla="*/ 1 h 1160"/>
                <a:gd name="T8" fmla="*/ 1 w 671"/>
                <a:gd name="T9" fmla="*/ 1 h 1160"/>
                <a:gd name="T10" fmla="*/ 1 w 671"/>
                <a:gd name="T11" fmla="*/ 1 h 1160"/>
                <a:gd name="T12" fmla="*/ 1 w 671"/>
                <a:gd name="T13" fmla="*/ 1 h 1160"/>
                <a:gd name="T14" fmla="*/ 1 w 671"/>
                <a:gd name="T15" fmla="*/ 2 h 1160"/>
                <a:gd name="T16" fmla="*/ 1 w 671"/>
                <a:gd name="T17" fmla="*/ 2 h 1160"/>
                <a:gd name="T18" fmla="*/ 1 w 671"/>
                <a:gd name="T19" fmla="*/ 2 h 1160"/>
                <a:gd name="T20" fmla="*/ 1 w 671"/>
                <a:gd name="T21" fmla="*/ 3 h 1160"/>
                <a:gd name="T22" fmla="*/ 1 w 671"/>
                <a:gd name="T23" fmla="*/ 3 h 1160"/>
                <a:gd name="T24" fmla="*/ 1 w 671"/>
                <a:gd name="T25" fmla="*/ 3 h 1160"/>
                <a:gd name="T26" fmla="*/ 1 w 671"/>
                <a:gd name="T27" fmla="*/ 3 h 1160"/>
                <a:gd name="T28" fmla="*/ 1 w 671"/>
                <a:gd name="T29" fmla="*/ 4 h 1160"/>
                <a:gd name="T30" fmla="*/ 0 w 671"/>
                <a:gd name="T31" fmla="*/ 4 h 1160"/>
                <a:gd name="T32" fmla="*/ 1 w 671"/>
                <a:gd name="T33" fmla="*/ 5 h 1160"/>
                <a:gd name="T34" fmla="*/ 2 w 671"/>
                <a:gd name="T35" fmla="*/ 5 h 1160"/>
                <a:gd name="T36" fmla="*/ 2 w 671"/>
                <a:gd name="T37" fmla="*/ 5 h 1160"/>
                <a:gd name="T38" fmla="*/ 2 w 671"/>
                <a:gd name="T39" fmla="*/ 5 h 1160"/>
                <a:gd name="T40" fmla="*/ 2 w 671"/>
                <a:gd name="T41" fmla="*/ 5 h 1160"/>
                <a:gd name="T42" fmla="*/ 2 w 671"/>
                <a:gd name="T43" fmla="*/ 4 h 1160"/>
                <a:gd name="T44" fmla="*/ 2 w 671"/>
                <a:gd name="T45" fmla="*/ 4 h 1160"/>
                <a:gd name="T46" fmla="*/ 2 w 671"/>
                <a:gd name="T47" fmla="*/ 4 h 1160"/>
                <a:gd name="T48" fmla="*/ 2 w 671"/>
                <a:gd name="T49" fmla="*/ 4 h 1160"/>
                <a:gd name="T50" fmla="*/ 2 w 671"/>
                <a:gd name="T51" fmla="*/ 4 h 1160"/>
                <a:gd name="T52" fmla="*/ 2 w 671"/>
                <a:gd name="T53" fmla="*/ 4 h 1160"/>
                <a:gd name="T54" fmla="*/ 2 w 671"/>
                <a:gd name="T55" fmla="*/ 4 h 1160"/>
                <a:gd name="T56" fmla="*/ 3 w 671"/>
                <a:gd name="T57" fmla="*/ 4 h 1160"/>
                <a:gd name="T58" fmla="*/ 3 w 671"/>
                <a:gd name="T59" fmla="*/ 4 h 1160"/>
                <a:gd name="T60" fmla="*/ 3 w 671"/>
                <a:gd name="T61" fmla="*/ 2 h 1160"/>
                <a:gd name="T62" fmla="*/ 2 w 671"/>
                <a:gd name="T63" fmla="*/ 0 h 11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1"/>
                <a:gd name="T97" fmla="*/ 0 h 1160"/>
                <a:gd name="T98" fmla="*/ 671 w 671"/>
                <a:gd name="T99" fmla="*/ 1160 h 11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1" h="1160">
                  <a:moveTo>
                    <a:pt x="476" y="0"/>
                  </a:moveTo>
                  <a:lnTo>
                    <a:pt x="329" y="80"/>
                  </a:lnTo>
                  <a:lnTo>
                    <a:pt x="278" y="119"/>
                  </a:lnTo>
                  <a:lnTo>
                    <a:pt x="246" y="140"/>
                  </a:lnTo>
                  <a:lnTo>
                    <a:pt x="230" y="159"/>
                  </a:lnTo>
                  <a:lnTo>
                    <a:pt x="213" y="200"/>
                  </a:lnTo>
                  <a:lnTo>
                    <a:pt x="195" y="220"/>
                  </a:lnTo>
                  <a:lnTo>
                    <a:pt x="163" y="319"/>
                  </a:lnTo>
                  <a:lnTo>
                    <a:pt x="130" y="419"/>
                  </a:lnTo>
                  <a:lnTo>
                    <a:pt x="114" y="479"/>
                  </a:lnTo>
                  <a:lnTo>
                    <a:pt x="98" y="539"/>
                  </a:lnTo>
                  <a:lnTo>
                    <a:pt x="80" y="599"/>
                  </a:lnTo>
                  <a:lnTo>
                    <a:pt x="80" y="658"/>
                  </a:lnTo>
                  <a:lnTo>
                    <a:pt x="66" y="719"/>
                  </a:lnTo>
                  <a:lnTo>
                    <a:pt x="48" y="800"/>
                  </a:lnTo>
                  <a:lnTo>
                    <a:pt x="0" y="979"/>
                  </a:lnTo>
                  <a:lnTo>
                    <a:pt x="114" y="1160"/>
                  </a:lnTo>
                  <a:lnTo>
                    <a:pt x="410" y="1160"/>
                  </a:lnTo>
                  <a:lnTo>
                    <a:pt x="410" y="1138"/>
                  </a:lnTo>
                  <a:lnTo>
                    <a:pt x="410" y="1078"/>
                  </a:lnTo>
                  <a:lnTo>
                    <a:pt x="410" y="1039"/>
                  </a:lnTo>
                  <a:lnTo>
                    <a:pt x="426" y="998"/>
                  </a:lnTo>
                  <a:lnTo>
                    <a:pt x="443" y="979"/>
                  </a:lnTo>
                  <a:lnTo>
                    <a:pt x="460" y="959"/>
                  </a:lnTo>
                  <a:lnTo>
                    <a:pt x="476" y="959"/>
                  </a:lnTo>
                  <a:lnTo>
                    <a:pt x="508" y="959"/>
                  </a:lnTo>
                  <a:lnTo>
                    <a:pt x="508" y="979"/>
                  </a:lnTo>
                  <a:lnTo>
                    <a:pt x="639" y="938"/>
                  </a:lnTo>
                  <a:lnTo>
                    <a:pt x="671" y="899"/>
                  </a:lnTo>
                  <a:lnTo>
                    <a:pt x="558" y="340"/>
                  </a:lnTo>
                  <a:lnTo>
                    <a:pt x="476"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19" name="Freeform 88"/>
            <p:cNvSpPr>
              <a:spLocks/>
            </p:cNvSpPr>
            <p:nvPr/>
          </p:nvSpPr>
          <p:spPr bwMode="auto">
            <a:xfrm>
              <a:off x="2429" y="2741"/>
              <a:ext cx="32" cy="139"/>
            </a:xfrm>
            <a:custGeom>
              <a:avLst/>
              <a:gdLst>
                <a:gd name="T0" fmla="*/ 0 w 66"/>
                <a:gd name="T1" fmla="*/ 0 h 279"/>
                <a:gd name="T2" fmla="*/ 0 w 66"/>
                <a:gd name="T3" fmla="*/ 0 h 279"/>
                <a:gd name="T4" fmla="*/ 0 w 66"/>
                <a:gd name="T5" fmla="*/ 1 h 279"/>
                <a:gd name="T6" fmla="*/ 0 w 66"/>
                <a:gd name="T7" fmla="*/ 0 h 279"/>
                <a:gd name="T8" fmla="*/ 0 w 66"/>
                <a:gd name="T9" fmla="*/ 0 h 279"/>
                <a:gd name="T10" fmla="*/ 0 60000 65536"/>
                <a:gd name="T11" fmla="*/ 0 60000 65536"/>
                <a:gd name="T12" fmla="*/ 0 60000 65536"/>
                <a:gd name="T13" fmla="*/ 0 60000 65536"/>
                <a:gd name="T14" fmla="*/ 0 60000 65536"/>
                <a:gd name="T15" fmla="*/ 0 w 66"/>
                <a:gd name="T16" fmla="*/ 0 h 279"/>
                <a:gd name="T17" fmla="*/ 66 w 66"/>
                <a:gd name="T18" fmla="*/ 279 h 279"/>
              </a:gdLst>
              <a:ahLst/>
              <a:cxnLst>
                <a:cxn ang="T10">
                  <a:pos x="T0" y="T1"/>
                </a:cxn>
                <a:cxn ang="T11">
                  <a:pos x="T2" y="T3"/>
                </a:cxn>
                <a:cxn ang="T12">
                  <a:pos x="T4" y="T5"/>
                </a:cxn>
                <a:cxn ang="T13">
                  <a:pos x="T6" y="T7"/>
                </a:cxn>
                <a:cxn ang="T14">
                  <a:pos x="T8" y="T9"/>
                </a:cxn>
              </a:cxnLst>
              <a:rect l="T15" t="T16" r="T17" b="T18"/>
              <a:pathLst>
                <a:path w="66" h="279">
                  <a:moveTo>
                    <a:pt x="32" y="0"/>
                  </a:moveTo>
                  <a:lnTo>
                    <a:pt x="0" y="99"/>
                  </a:lnTo>
                  <a:lnTo>
                    <a:pt x="50" y="279"/>
                  </a:lnTo>
                  <a:lnTo>
                    <a:pt x="66" y="20"/>
                  </a:lnTo>
                  <a:lnTo>
                    <a:pt x="3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20" name="Freeform 89"/>
            <p:cNvSpPr>
              <a:spLocks/>
            </p:cNvSpPr>
            <p:nvPr/>
          </p:nvSpPr>
          <p:spPr bwMode="auto">
            <a:xfrm>
              <a:off x="2429" y="2741"/>
              <a:ext cx="32" cy="139"/>
            </a:xfrm>
            <a:custGeom>
              <a:avLst/>
              <a:gdLst>
                <a:gd name="T0" fmla="*/ 0 w 66"/>
                <a:gd name="T1" fmla="*/ 0 h 279"/>
                <a:gd name="T2" fmla="*/ 0 w 66"/>
                <a:gd name="T3" fmla="*/ 0 h 279"/>
                <a:gd name="T4" fmla="*/ 0 w 66"/>
                <a:gd name="T5" fmla="*/ 1 h 279"/>
                <a:gd name="T6" fmla="*/ 0 w 66"/>
                <a:gd name="T7" fmla="*/ 0 h 279"/>
                <a:gd name="T8" fmla="*/ 0 w 66"/>
                <a:gd name="T9" fmla="*/ 0 h 279"/>
                <a:gd name="T10" fmla="*/ 0 60000 65536"/>
                <a:gd name="T11" fmla="*/ 0 60000 65536"/>
                <a:gd name="T12" fmla="*/ 0 60000 65536"/>
                <a:gd name="T13" fmla="*/ 0 60000 65536"/>
                <a:gd name="T14" fmla="*/ 0 60000 65536"/>
                <a:gd name="T15" fmla="*/ 0 w 66"/>
                <a:gd name="T16" fmla="*/ 0 h 279"/>
                <a:gd name="T17" fmla="*/ 66 w 66"/>
                <a:gd name="T18" fmla="*/ 279 h 279"/>
              </a:gdLst>
              <a:ahLst/>
              <a:cxnLst>
                <a:cxn ang="T10">
                  <a:pos x="T0" y="T1"/>
                </a:cxn>
                <a:cxn ang="T11">
                  <a:pos x="T2" y="T3"/>
                </a:cxn>
                <a:cxn ang="T12">
                  <a:pos x="T4" y="T5"/>
                </a:cxn>
                <a:cxn ang="T13">
                  <a:pos x="T6" y="T7"/>
                </a:cxn>
                <a:cxn ang="T14">
                  <a:pos x="T8" y="T9"/>
                </a:cxn>
              </a:cxnLst>
              <a:rect l="T15" t="T16" r="T17" b="T18"/>
              <a:pathLst>
                <a:path w="66" h="279">
                  <a:moveTo>
                    <a:pt x="32" y="0"/>
                  </a:moveTo>
                  <a:lnTo>
                    <a:pt x="0" y="99"/>
                  </a:lnTo>
                  <a:lnTo>
                    <a:pt x="50" y="279"/>
                  </a:lnTo>
                  <a:lnTo>
                    <a:pt x="66" y="20"/>
                  </a:lnTo>
                  <a:lnTo>
                    <a:pt x="32"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21" name="Freeform 90"/>
            <p:cNvSpPr>
              <a:spLocks/>
            </p:cNvSpPr>
            <p:nvPr/>
          </p:nvSpPr>
          <p:spPr bwMode="auto">
            <a:xfrm>
              <a:off x="2338" y="2741"/>
              <a:ext cx="57" cy="190"/>
            </a:xfrm>
            <a:custGeom>
              <a:avLst/>
              <a:gdLst>
                <a:gd name="T0" fmla="*/ 0 w 114"/>
                <a:gd name="T1" fmla="*/ 0 h 380"/>
                <a:gd name="T2" fmla="*/ 1 w 114"/>
                <a:gd name="T3" fmla="*/ 2 h 380"/>
                <a:gd name="T4" fmla="*/ 1 w 114"/>
                <a:gd name="T5" fmla="*/ 1 h 380"/>
                <a:gd name="T6" fmla="*/ 1 w 114"/>
                <a:gd name="T7" fmla="*/ 1 h 380"/>
                <a:gd name="T8" fmla="*/ 0 w 114"/>
                <a:gd name="T9" fmla="*/ 0 h 380"/>
                <a:gd name="T10" fmla="*/ 0 60000 65536"/>
                <a:gd name="T11" fmla="*/ 0 60000 65536"/>
                <a:gd name="T12" fmla="*/ 0 60000 65536"/>
                <a:gd name="T13" fmla="*/ 0 60000 65536"/>
                <a:gd name="T14" fmla="*/ 0 60000 65536"/>
                <a:gd name="T15" fmla="*/ 0 w 114"/>
                <a:gd name="T16" fmla="*/ 0 h 380"/>
                <a:gd name="T17" fmla="*/ 114 w 114"/>
                <a:gd name="T18" fmla="*/ 380 h 380"/>
              </a:gdLst>
              <a:ahLst/>
              <a:cxnLst>
                <a:cxn ang="T10">
                  <a:pos x="T0" y="T1"/>
                </a:cxn>
                <a:cxn ang="T11">
                  <a:pos x="T2" y="T3"/>
                </a:cxn>
                <a:cxn ang="T12">
                  <a:pos x="T4" y="T5"/>
                </a:cxn>
                <a:cxn ang="T13">
                  <a:pos x="T6" y="T7"/>
                </a:cxn>
                <a:cxn ang="T14">
                  <a:pos x="T8" y="T9"/>
                </a:cxn>
              </a:cxnLst>
              <a:rect l="T15" t="T16" r="T17" b="T18"/>
              <a:pathLst>
                <a:path w="114" h="380">
                  <a:moveTo>
                    <a:pt x="0" y="0"/>
                  </a:moveTo>
                  <a:lnTo>
                    <a:pt x="114" y="380"/>
                  </a:lnTo>
                  <a:lnTo>
                    <a:pt x="114" y="99"/>
                  </a:lnTo>
                  <a:lnTo>
                    <a:pt x="81" y="2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22" name="Freeform 91"/>
            <p:cNvSpPr>
              <a:spLocks/>
            </p:cNvSpPr>
            <p:nvPr/>
          </p:nvSpPr>
          <p:spPr bwMode="auto">
            <a:xfrm>
              <a:off x="2338" y="2741"/>
              <a:ext cx="57" cy="190"/>
            </a:xfrm>
            <a:custGeom>
              <a:avLst/>
              <a:gdLst>
                <a:gd name="T0" fmla="*/ 0 w 114"/>
                <a:gd name="T1" fmla="*/ 0 h 380"/>
                <a:gd name="T2" fmla="*/ 1 w 114"/>
                <a:gd name="T3" fmla="*/ 2 h 380"/>
                <a:gd name="T4" fmla="*/ 1 w 114"/>
                <a:gd name="T5" fmla="*/ 1 h 380"/>
                <a:gd name="T6" fmla="*/ 1 w 114"/>
                <a:gd name="T7" fmla="*/ 1 h 380"/>
                <a:gd name="T8" fmla="*/ 0 w 114"/>
                <a:gd name="T9" fmla="*/ 0 h 380"/>
                <a:gd name="T10" fmla="*/ 0 60000 65536"/>
                <a:gd name="T11" fmla="*/ 0 60000 65536"/>
                <a:gd name="T12" fmla="*/ 0 60000 65536"/>
                <a:gd name="T13" fmla="*/ 0 60000 65536"/>
                <a:gd name="T14" fmla="*/ 0 60000 65536"/>
                <a:gd name="T15" fmla="*/ 0 w 114"/>
                <a:gd name="T16" fmla="*/ 0 h 380"/>
                <a:gd name="T17" fmla="*/ 114 w 114"/>
                <a:gd name="T18" fmla="*/ 380 h 380"/>
              </a:gdLst>
              <a:ahLst/>
              <a:cxnLst>
                <a:cxn ang="T10">
                  <a:pos x="T0" y="T1"/>
                </a:cxn>
                <a:cxn ang="T11">
                  <a:pos x="T2" y="T3"/>
                </a:cxn>
                <a:cxn ang="T12">
                  <a:pos x="T4" y="T5"/>
                </a:cxn>
                <a:cxn ang="T13">
                  <a:pos x="T6" y="T7"/>
                </a:cxn>
                <a:cxn ang="T14">
                  <a:pos x="T8" y="T9"/>
                </a:cxn>
              </a:cxnLst>
              <a:rect l="T15" t="T16" r="T17" b="T18"/>
              <a:pathLst>
                <a:path w="114" h="380">
                  <a:moveTo>
                    <a:pt x="0" y="0"/>
                  </a:moveTo>
                  <a:lnTo>
                    <a:pt x="114" y="380"/>
                  </a:lnTo>
                  <a:lnTo>
                    <a:pt x="114" y="99"/>
                  </a:lnTo>
                  <a:lnTo>
                    <a:pt x="81" y="20"/>
                  </a:lnTo>
                  <a:lnTo>
                    <a:pt x="0"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23" name="Freeform 92"/>
            <p:cNvSpPr>
              <a:spLocks/>
            </p:cNvSpPr>
            <p:nvPr/>
          </p:nvSpPr>
          <p:spPr bwMode="auto">
            <a:xfrm>
              <a:off x="2487" y="2462"/>
              <a:ext cx="15" cy="29"/>
            </a:xfrm>
            <a:custGeom>
              <a:avLst/>
              <a:gdLst>
                <a:gd name="T0" fmla="*/ 0 w 31"/>
                <a:gd name="T1" fmla="*/ 0 h 59"/>
                <a:gd name="T2" fmla="*/ 0 w 31"/>
                <a:gd name="T3" fmla="*/ 0 h 59"/>
                <a:gd name="T4" fmla="*/ 0 w 31"/>
                <a:gd name="T5" fmla="*/ 0 h 59"/>
                <a:gd name="T6" fmla="*/ 0 w 31"/>
                <a:gd name="T7" fmla="*/ 0 h 59"/>
                <a:gd name="T8" fmla="*/ 0 w 31"/>
                <a:gd name="T9" fmla="*/ 0 h 59"/>
                <a:gd name="T10" fmla="*/ 0 w 31"/>
                <a:gd name="T11" fmla="*/ 0 h 59"/>
                <a:gd name="T12" fmla="*/ 0 w 31"/>
                <a:gd name="T13" fmla="*/ 0 h 59"/>
                <a:gd name="T14" fmla="*/ 0 w 31"/>
                <a:gd name="T15" fmla="*/ 0 h 59"/>
                <a:gd name="T16" fmla="*/ 0 w 31"/>
                <a:gd name="T17" fmla="*/ 0 h 59"/>
                <a:gd name="T18" fmla="*/ 0 w 31"/>
                <a:gd name="T19" fmla="*/ 0 h 59"/>
                <a:gd name="T20" fmla="*/ 0 w 31"/>
                <a:gd name="T21" fmla="*/ 0 h 59"/>
                <a:gd name="T22" fmla="*/ 0 w 31"/>
                <a:gd name="T23" fmla="*/ 0 h 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
                <a:gd name="T37" fmla="*/ 0 h 59"/>
                <a:gd name="T38" fmla="*/ 31 w 31"/>
                <a:gd name="T39" fmla="*/ 59 h 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 h="59">
                  <a:moveTo>
                    <a:pt x="15" y="59"/>
                  </a:moveTo>
                  <a:lnTo>
                    <a:pt x="15" y="39"/>
                  </a:lnTo>
                  <a:lnTo>
                    <a:pt x="31" y="39"/>
                  </a:lnTo>
                  <a:lnTo>
                    <a:pt x="31" y="20"/>
                  </a:lnTo>
                  <a:lnTo>
                    <a:pt x="15" y="0"/>
                  </a:lnTo>
                  <a:lnTo>
                    <a:pt x="0" y="0"/>
                  </a:lnTo>
                  <a:lnTo>
                    <a:pt x="0" y="20"/>
                  </a:lnTo>
                  <a:lnTo>
                    <a:pt x="0" y="59"/>
                  </a:lnTo>
                  <a:lnTo>
                    <a:pt x="15" y="5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24" name="Freeform 93"/>
            <p:cNvSpPr>
              <a:spLocks/>
            </p:cNvSpPr>
            <p:nvPr/>
          </p:nvSpPr>
          <p:spPr bwMode="auto">
            <a:xfrm>
              <a:off x="2487" y="2462"/>
              <a:ext cx="15" cy="29"/>
            </a:xfrm>
            <a:custGeom>
              <a:avLst/>
              <a:gdLst>
                <a:gd name="T0" fmla="*/ 0 w 31"/>
                <a:gd name="T1" fmla="*/ 0 h 59"/>
                <a:gd name="T2" fmla="*/ 0 w 31"/>
                <a:gd name="T3" fmla="*/ 0 h 59"/>
                <a:gd name="T4" fmla="*/ 0 w 31"/>
                <a:gd name="T5" fmla="*/ 0 h 59"/>
                <a:gd name="T6" fmla="*/ 0 w 31"/>
                <a:gd name="T7" fmla="*/ 0 h 59"/>
                <a:gd name="T8" fmla="*/ 0 w 31"/>
                <a:gd name="T9" fmla="*/ 0 h 59"/>
                <a:gd name="T10" fmla="*/ 0 w 31"/>
                <a:gd name="T11" fmla="*/ 0 h 59"/>
                <a:gd name="T12" fmla="*/ 0 w 31"/>
                <a:gd name="T13" fmla="*/ 0 h 59"/>
                <a:gd name="T14" fmla="*/ 0 w 31"/>
                <a:gd name="T15" fmla="*/ 0 h 59"/>
                <a:gd name="T16" fmla="*/ 0 w 31"/>
                <a:gd name="T17" fmla="*/ 0 h 59"/>
                <a:gd name="T18" fmla="*/ 0 w 31"/>
                <a:gd name="T19" fmla="*/ 0 h 59"/>
                <a:gd name="T20" fmla="*/ 0 w 31"/>
                <a:gd name="T21" fmla="*/ 0 h 59"/>
                <a:gd name="T22" fmla="*/ 0 w 31"/>
                <a:gd name="T23" fmla="*/ 0 h 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1"/>
                <a:gd name="T37" fmla="*/ 0 h 59"/>
                <a:gd name="T38" fmla="*/ 31 w 31"/>
                <a:gd name="T39" fmla="*/ 59 h 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1" h="59">
                  <a:moveTo>
                    <a:pt x="15" y="59"/>
                  </a:moveTo>
                  <a:lnTo>
                    <a:pt x="15" y="39"/>
                  </a:lnTo>
                  <a:lnTo>
                    <a:pt x="31" y="39"/>
                  </a:lnTo>
                  <a:lnTo>
                    <a:pt x="31" y="20"/>
                  </a:lnTo>
                  <a:lnTo>
                    <a:pt x="15" y="0"/>
                  </a:lnTo>
                  <a:lnTo>
                    <a:pt x="0" y="0"/>
                  </a:lnTo>
                  <a:lnTo>
                    <a:pt x="0" y="20"/>
                  </a:lnTo>
                  <a:lnTo>
                    <a:pt x="0" y="59"/>
                  </a:lnTo>
                  <a:lnTo>
                    <a:pt x="15" y="5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25" name="Freeform 94"/>
            <p:cNvSpPr>
              <a:spLocks/>
            </p:cNvSpPr>
            <p:nvPr/>
          </p:nvSpPr>
          <p:spPr bwMode="auto">
            <a:xfrm>
              <a:off x="2420" y="2651"/>
              <a:ext cx="49" cy="99"/>
            </a:xfrm>
            <a:custGeom>
              <a:avLst/>
              <a:gdLst>
                <a:gd name="T0" fmla="*/ 0 w 99"/>
                <a:gd name="T1" fmla="*/ 0 h 199"/>
                <a:gd name="T2" fmla="*/ 0 w 99"/>
                <a:gd name="T3" fmla="*/ 0 h 199"/>
                <a:gd name="T4" fmla="*/ 0 w 99"/>
                <a:gd name="T5" fmla="*/ 0 h 199"/>
                <a:gd name="T6" fmla="*/ 0 w 99"/>
                <a:gd name="T7" fmla="*/ 0 h 199"/>
                <a:gd name="T8" fmla="*/ 0 w 99"/>
                <a:gd name="T9" fmla="*/ 0 h 199"/>
                <a:gd name="T10" fmla="*/ 0 w 99"/>
                <a:gd name="T11" fmla="*/ 0 h 199"/>
                <a:gd name="T12" fmla="*/ 0 w 99"/>
                <a:gd name="T13" fmla="*/ 0 h 199"/>
                <a:gd name="T14" fmla="*/ 0 w 99"/>
                <a:gd name="T15" fmla="*/ 0 h 199"/>
                <a:gd name="T16" fmla="*/ 0 w 99"/>
                <a:gd name="T17" fmla="*/ 0 h 199"/>
                <a:gd name="T18" fmla="*/ 0 w 99"/>
                <a:gd name="T19" fmla="*/ 0 h 199"/>
                <a:gd name="T20" fmla="*/ 0 w 99"/>
                <a:gd name="T21" fmla="*/ 0 h 199"/>
                <a:gd name="T22" fmla="*/ 0 w 99"/>
                <a:gd name="T23" fmla="*/ 0 h 199"/>
                <a:gd name="T24" fmla="*/ 0 w 99"/>
                <a:gd name="T25" fmla="*/ 0 h 199"/>
                <a:gd name="T26" fmla="*/ 0 w 99"/>
                <a:gd name="T27" fmla="*/ 0 h 19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9"/>
                <a:gd name="T43" fmla="*/ 0 h 199"/>
                <a:gd name="T44" fmla="*/ 99 w 99"/>
                <a:gd name="T45" fmla="*/ 199 h 19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9" h="199">
                  <a:moveTo>
                    <a:pt x="0" y="100"/>
                  </a:moveTo>
                  <a:lnTo>
                    <a:pt x="49" y="180"/>
                  </a:lnTo>
                  <a:lnTo>
                    <a:pt x="83" y="199"/>
                  </a:lnTo>
                  <a:lnTo>
                    <a:pt x="99" y="119"/>
                  </a:lnTo>
                  <a:lnTo>
                    <a:pt x="99" y="80"/>
                  </a:lnTo>
                  <a:lnTo>
                    <a:pt x="99" y="61"/>
                  </a:lnTo>
                  <a:lnTo>
                    <a:pt x="99" y="40"/>
                  </a:lnTo>
                  <a:lnTo>
                    <a:pt x="99" y="21"/>
                  </a:lnTo>
                  <a:lnTo>
                    <a:pt x="67" y="0"/>
                  </a:lnTo>
                  <a:lnTo>
                    <a:pt x="67" y="61"/>
                  </a:lnTo>
                  <a:lnTo>
                    <a:pt x="49" y="61"/>
                  </a:lnTo>
                  <a:lnTo>
                    <a:pt x="34" y="80"/>
                  </a:lnTo>
                  <a:lnTo>
                    <a:pt x="17" y="100"/>
                  </a:lnTo>
                  <a:lnTo>
                    <a:pt x="0" y="1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26" name="Freeform 95"/>
            <p:cNvSpPr>
              <a:spLocks/>
            </p:cNvSpPr>
            <p:nvPr/>
          </p:nvSpPr>
          <p:spPr bwMode="auto">
            <a:xfrm>
              <a:off x="2420" y="2651"/>
              <a:ext cx="49" cy="99"/>
            </a:xfrm>
            <a:custGeom>
              <a:avLst/>
              <a:gdLst>
                <a:gd name="T0" fmla="*/ 0 w 99"/>
                <a:gd name="T1" fmla="*/ 0 h 199"/>
                <a:gd name="T2" fmla="*/ 0 w 99"/>
                <a:gd name="T3" fmla="*/ 0 h 199"/>
                <a:gd name="T4" fmla="*/ 0 w 99"/>
                <a:gd name="T5" fmla="*/ 0 h 199"/>
                <a:gd name="T6" fmla="*/ 0 w 99"/>
                <a:gd name="T7" fmla="*/ 0 h 199"/>
                <a:gd name="T8" fmla="*/ 0 w 99"/>
                <a:gd name="T9" fmla="*/ 0 h 199"/>
                <a:gd name="T10" fmla="*/ 0 w 99"/>
                <a:gd name="T11" fmla="*/ 0 h 199"/>
                <a:gd name="T12" fmla="*/ 0 w 99"/>
                <a:gd name="T13" fmla="*/ 0 h 199"/>
                <a:gd name="T14" fmla="*/ 0 w 99"/>
                <a:gd name="T15" fmla="*/ 0 h 199"/>
                <a:gd name="T16" fmla="*/ 0 w 99"/>
                <a:gd name="T17" fmla="*/ 0 h 199"/>
                <a:gd name="T18" fmla="*/ 0 w 99"/>
                <a:gd name="T19" fmla="*/ 0 h 199"/>
                <a:gd name="T20" fmla="*/ 0 w 99"/>
                <a:gd name="T21" fmla="*/ 0 h 199"/>
                <a:gd name="T22" fmla="*/ 0 w 99"/>
                <a:gd name="T23" fmla="*/ 0 h 199"/>
                <a:gd name="T24" fmla="*/ 0 w 99"/>
                <a:gd name="T25" fmla="*/ 0 h 199"/>
                <a:gd name="T26" fmla="*/ 0 w 99"/>
                <a:gd name="T27" fmla="*/ 0 h 19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9"/>
                <a:gd name="T43" fmla="*/ 0 h 199"/>
                <a:gd name="T44" fmla="*/ 99 w 99"/>
                <a:gd name="T45" fmla="*/ 199 h 19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9" h="199">
                  <a:moveTo>
                    <a:pt x="0" y="100"/>
                  </a:moveTo>
                  <a:lnTo>
                    <a:pt x="49" y="180"/>
                  </a:lnTo>
                  <a:lnTo>
                    <a:pt x="83" y="199"/>
                  </a:lnTo>
                  <a:lnTo>
                    <a:pt x="99" y="119"/>
                  </a:lnTo>
                  <a:lnTo>
                    <a:pt x="99" y="80"/>
                  </a:lnTo>
                  <a:lnTo>
                    <a:pt x="99" y="61"/>
                  </a:lnTo>
                  <a:lnTo>
                    <a:pt x="99" y="40"/>
                  </a:lnTo>
                  <a:lnTo>
                    <a:pt x="99" y="21"/>
                  </a:lnTo>
                  <a:lnTo>
                    <a:pt x="67" y="0"/>
                  </a:lnTo>
                  <a:lnTo>
                    <a:pt x="67" y="61"/>
                  </a:lnTo>
                  <a:lnTo>
                    <a:pt x="49" y="61"/>
                  </a:lnTo>
                  <a:lnTo>
                    <a:pt x="34" y="80"/>
                  </a:lnTo>
                  <a:lnTo>
                    <a:pt x="17" y="100"/>
                  </a:lnTo>
                  <a:lnTo>
                    <a:pt x="0" y="10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27" name="Freeform 96"/>
            <p:cNvSpPr>
              <a:spLocks/>
            </p:cNvSpPr>
            <p:nvPr/>
          </p:nvSpPr>
          <p:spPr bwMode="auto">
            <a:xfrm>
              <a:off x="2371" y="2691"/>
              <a:ext cx="74" cy="99"/>
            </a:xfrm>
            <a:custGeom>
              <a:avLst/>
              <a:gdLst>
                <a:gd name="T0" fmla="*/ 1 w 147"/>
                <a:gd name="T1" fmla="*/ 0 h 199"/>
                <a:gd name="T2" fmla="*/ 1 w 147"/>
                <a:gd name="T3" fmla="*/ 0 h 199"/>
                <a:gd name="T4" fmla="*/ 1 w 147"/>
                <a:gd name="T5" fmla="*/ 0 h 199"/>
                <a:gd name="T6" fmla="*/ 1 w 147"/>
                <a:gd name="T7" fmla="*/ 0 h 199"/>
                <a:gd name="T8" fmla="*/ 1 w 147"/>
                <a:gd name="T9" fmla="*/ 0 h 199"/>
                <a:gd name="T10" fmla="*/ 1 w 147"/>
                <a:gd name="T11" fmla="*/ 0 h 199"/>
                <a:gd name="T12" fmla="*/ 1 w 147"/>
                <a:gd name="T13" fmla="*/ 0 h 199"/>
                <a:gd name="T14" fmla="*/ 0 w 147"/>
                <a:gd name="T15" fmla="*/ 0 h 199"/>
                <a:gd name="T16" fmla="*/ 1 w 147"/>
                <a:gd name="T17" fmla="*/ 0 h 1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7"/>
                <a:gd name="T28" fmla="*/ 0 h 199"/>
                <a:gd name="T29" fmla="*/ 147 w 147"/>
                <a:gd name="T30" fmla="*/ 199 h 19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7" h="199">
                  <a:moveTo>
                    <a:pt x="66" y="0"/>
                  </a:moveTo>
                  <a:lnTo>
                    <a:pt x="66" y="0"/>
                  </a:lnTo>
                  <a:lnTo>
                    <a:pt x="82" y="0"/>
                  </a:lnTo>
                  <a:lnTo>
                    <a:pt x="98" y="20"/>
                  </a:lnTo>
                  <a:lnTo>
                    <a:pt x="147" y="100"/>
                  </a:lnTo>
                  <a:lnTo>
                    <a:pt x="115" y="199"/>
                  </a:lnTo>
                  <a:lnTo>
                    <a:pt x="50" y="199"/>
                  </a:lnTo>
                  <a:lnTo>
                    <a:pt x="0" y="120"/>
                  </a:lnTo>
                  <a:lnTo>
                    <a:pt x="6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28" name="Freeform 97"/>
            <p:cNvSpPr>
              <a:spLocks/>
            </p:cNvSpPr>
            <p:nvPr/>
          </p:nvSpPr>
          <p:spPr bwMode="auto">
            <a:xfrm>
              <a:off x="2371" y="2691"/>
              <a:ext cx="74" cy="99"/>
            </a:xfrm>
            <a:custGeom>
              <a:avLst/>
              <a:gdLst>
                <a:gd name="T0" fmla="*/ 1 w 147"/>
                <a:gd name="T1" fmla="*/ 0 h 199"/>
                <a:gd name="T2" fmla="*/ 1 w 147"/>
                <a:gd name="T3" fmla="*/ 0 h 199"/>
                <a:gd name="T4" fmla="*/ 1 w 147"/>
                <a:gd name="T5" fmla="*/ 0 h 199"/>
                <a:gd name="T6" fmla="*/ 1 w 147"/>
                <a:gd name="T7" fmla="*/ 0 h 199"/>
                <a:gd name="T8" fmla="*/ 1 w 147"/>
                <a:gd name="T9" fmla="*/ 0 h 199"/>
                <a:gd name="T10" fmla="*/ 1 w 147"/>
                <a:gd name="T11" fmla="*/ 0 h 199"/>
                <a:gd name="T12" fmla="*/ 1 w 147"/>
                <a:gd name="T13" fmla="*/ 0 h 199"/>
                <a:gd name="T14" fmla="*/ 0 w 147"/>
                <a:gd name="T15" fmla="*/ 0 h 199"/>
                <a:gd name="T16" fmla="*/ 1 w 147"/>
                <a:gd name="T17" fmla="*/ 0 h 19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7"/>
                <a:gd name="T28" fmla="*/ 0 h 199"/>
                <a:gd name="T29" fmla="*/ 147 w 147"/>
                <a:gd name="T30" fmla="*/ 199 h 19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7" h="199">
                  <a:moveTo>
                    <a:pt x="66" y="0"/>
                  </a:moveTo>
                  <a:lnTo>
                    <a:pt x="66" y="0"/>
                  </a:lnTo>
                  <a:lnTo>
                    <a:pt x="82" y="0"/>
                  </a:lnTo>
                  <a:lnTo>
                    <a:pt x="98" y="20"/>
                  </a:lnTo>
                  <a:lnTo>
                    <a:pt x="147" y="100"/>
                  </a:lnTo>
                  <a:lnTo>
                    <a:pt x="115" y="199"/>
                  </a:lnTo>
                  <a:lnTo>
                    <a:pt x="50" y="199"/>
                  </a:lnTo>
                  <a:lnTo>
                    <a:pt x="0" y="120"/>
                  </a:lnTo>
                  <a:lnTo>
                    <a:pt x="66"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29" name="Freeform 98"/>
            <p:cNvSpPr>
              <a:spLocks/>
            </p:cNvSpPr>
            <p:nvPr/>
          </p:nvSpPr>
          <p:spPr bwMode="auto">
            <a:xfrm>
              <a:off x="2306" y="2622"/>
              <a:ext cx="89" cy="149"/>
            </a:xfrm>
            <a:custGeom>
              <a:avLst/>
              <a:gdLst>
                <a:gd name="T0" fmla="*/ 0 w 180"/>
                <a:gd name="T1" fmla="*/ 1 h 298"/>
                <a:gd name="T2" fmla="*/ 0 w 180"/>
                <a:gd name="T3" fmla="*/ 2 h 298"/>
                <a:gd name="T4" fmla="*/ 0 w 180"/>
                <a:gd name="T5" fmla="*/ 1 h 298"/>
                <a:gd name="T6" fmla="*/ 0 w 180"/>
                <a:gd name="T7" fmla="*/ 0 h 298"/>
                <a:gd name="T8" fmla="*/ 0 w 180"/>
                <a:gd name="T9" fmla="*/ 0 h 298"/>
                <a:gd name="T10" fmla="*/ 0 w 180"/>
                <a:gd name="T11" fmla="*/ 1 h 298"/>
                <a:gd name="T12" fmla="*/ 0 w 180"/>
                <a:gd name="T13" fmla="*/ 1 h 298"/>
                <a:gd name="T14" fmla="*/ 0 60000 65536"/>
                <a:gd name="T15" fmla="*/ 0 60000 65536"/>
                <a:gd name="T16" fmla="*/ 0 60000 65536"/>
                <a:gd name="T17" fmla="*/ 0 60000 65536"/>
                <a:gd name="T18" fmla="*/ 0 60000 65536"/>
                <a:gd name="T19" fmla="*/ 0 60000 65536"/>
                <a:gd name="T20" fmla="*/ 0 60000 65536"/>
                <a:gd name="T21" fmla="*/ 0 w 180"/>
                <a:gd name="T22" fmla="*/ 0 h 298"/>
                <a:gd name="T23" fmla="*/ 180 w 180"/>
                <a:gd name="T24" fmla="*/ 298 h 2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0" h="298">
                  <a:moveTo>
                    <a:pt x="180" y="179"/>
                  </a:moveTo>
                  <a:lnTo>
                    <a:pt x="131" y="298"/>
                  </a:lnTo>
                  <a:lnTo>
                    <a:pt x="83" y="238"/>
                  </a:lnTo>
                  <a:lnTo>
                    <a:pt x="0" y="0"/>
                  </a:lnTo>
                  <a:lnTo>
                    <a:pt x="17" y="0"/>
                  </a:lnTo>
                  <a:lnTo>
                    <a:pt x="114" y="79"/>
                  </a:lnTo>
                  <a:lnTo>
                    <a:pt x="180" y="1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30" name="Freeform 99"/>
            <p:cNvSpPr>
              <a:spLocks/>
            </p:cNvSpPr>
            <p:nvPr/>
          </p:nvSpPr>
          <p:spPr bwMode="auto">
            <a:xfrm>
              <a:off x="2306" y="2622"/>
              <a:ext cx="89" cy="149"/>
            </a:xfrm>
            <a:custGeom>
              <a:avLst/>
              <a:gdLst>
                <a:gd name="T0" fmla="*/ 0 w 180"/>
                <a:gd name="T1" fmla="*/ 1 h 298"/>
                <a:gd name="T2" fmla="*/ 0 w 180"/>
                <a:gd name="T3" fmla="*/ 2 h 298"/>
                <a:gd name="T4" fmla="*/ 0 w 180"/>
                <a:gd name="T5" fmla="*/ 1 h 298"/>
                <a:gd name="T6" fmla="*/ 0 w 180"/>
                <a:gd name="T7" fmla="*/ 0 h 298"/>
                <a:gd name="T8" fmla="*/ 0 w 180"/>
                <a:gd name="T9" fmla="*/ 0 h 298"/>
                <a:gd name="T10" fmla="*/ 0 w 180"/>
                <a:gd name="T11" fmla="*/ 1 h 298"/>
                <a:gd name="T12" fmla="*/ 0 w 180"/>
                <a:gd name="T13" fmla="*/ 1 h 298"/>
                <a:gd name="T14" fmla="*/ 0 60000 65536"/>
                <a:gd name="T15" fmla="*/ 0 60000 65536"/>
                <a:gd name="T16" fmla="*/ 0 60000 65536"/>
                <a:gd name="T17" fmla="*/ 0 60000 65536"/>
                <a:gd name="T18" fmla="*/ 0 60000 65536"/>
                <a:gd name="T19" fmla="*/ 0 60000 65536"/>
                <a:gd name="T20" fmla="*/ 0 60000 65536"/>
                <a:gd name="T21" fmla="*/ 0 w 180"/>
                <a:gd name="T22" fmla="*/ 0 h 298"/>
                <a:gd name="T23" fmla="*/ 180 w 180"/>
                <a:gd name="T24" fmla="*/ 298 h 29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0" h="298">
                  <a:moveTo>
                    <a:pt x="180" y="179"/>
                  </a:moveTo>
                  <a:lnTo>
                    <a:pt x="131" y="298"/>
                  </a:lnTo>
                  <a:lnTo>
                    <a:pt x="83" y="238"/>
                  </a:lnTo>
                  <a:lnTo>
                    <a:pt x="0" y="0"/>
                  </a:lnTo>
                  <a:lnTo>
                    <a:pt x="17" y="0"/>
                  </a:lnTo>
                  <a:lnTo>
                    <a:pt x="114" y="79"/>
                  </a:lnTo>
                  <a:lnTo>
                    <a:pt x="180" y="17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31" name="Freeform 100"/>
            <p:cNvSpPr>
              <a:spLocks/>
            </p:cNvSpPr>
            <p:nvPr/>
          </p:nvSpPr>
          <p:spPr bwMode="auto">
            <a:xfrm>
              <a:off x="2461" y="2661"/>
              <a:ext cx="288" cy="550"/>
            </a:xfrm>
            <a:custGeom>
              <a:avLst/>
              <a:gdLst>
                <a:gd name="T0" fmla="*/ 1 w 575"/>
                <a:gd name="T1" fmla="*/ 0 h 1099"/>
                <a:gd name="T2" fmla="*/ 1 w 575"/>
                <a:gd name="T3" fmla="*/ 1 h 1099"/>
                <a:gd name="T4" fmla="*/ 1 w 575"/>
                <a:gd name="T5" fmla="*/ 3 h 1099"/>
                <a:gd name="T6" fmla="*/ 1 w 575"/>
                <a:gd name="T7" fmla="*/ 4 h 1099"/>
                <a:gd name="T8" fmla="*/ 1 w 575"/>
                <a:gd name="T9" fmla="*/ 4 h 1099"/>
                <a:gd name="T10" fmla="*/ 1 w 575"/>
                <a:gd name="T11" fmla="*/ 4 h 1099"/>
                <a:gd name="T12" fmla="*/ 0 w 575"/>
                <a:gd name="T13" fmla="*/ 4 h 1099"/>
                <a:gd name="T14" fmla="*/ 0 w 575"/>
                <a:gd name="T15" fmla="*/ 5 h 1099"/>
                <a:gd name="T16" fmla="*/ 0 w 575"/>
                <a:gd name="T17" fmla="*/ 5 h 1099"/>
                <a:gd name="T18" fmla="*/ 0 w 575"/>
                <a:gd name="T19" fmla="*/ 5 h 1099"/>
                <a:gd name="T20" fmla="*/ 0 w 575"/>
                <a:gd name="T21" fmla="*/ 5 h 1099"/>
                <a:gd name="T22" fmla="*/ 0 w 575"/>
                <a:gd name="T23" fmla="*/ 5 h 1099"/>
                <a:gd name="T24" fmla="*/ 1 w 575"/>
                <a:gd name="T25" fmla="*/ 5 h 1099"/>
                <a:gd name="T26" fmla="*/ 2 w 575"/>
                <a:gd name="T27" fmla="*/ 5 h 1099"/>
                <a:gd name="T28" fmla="*/ 3 w 575"/>
                <a:gd name="T29" fmla="*/ 5 h 1099"/>
                <a:gd name="T30" fmla="*/ 3 w 575"/>
                <a:gd name="T31" fmla="*/ 5 h 1099"/>
                <a:gd name="T32" fmla="*/ 3 w 575"/>
                <a:gd name="T33" fmla="*/ 5 h 1099"/>
                <a:gd name="T34" fmla="*/ 3 w 575"/>
                <a:gd name="T35" fmla="*/ 5 h 1099"/>
                <a:gd name="T36" fmla="*/ 3 w 575"/>
                <a:gd name="T37" fmla="*/ 4 h 1099"/>
                <a:gd name="T38" fmla="*/ 3 w 575"/>
                <a:gd name="T39" fmla="*/ 4 h 1099"/>
                <a:gd name="T40" fmla="*/ 3 w 575"/>
                <a:gd name="T41" fmla="*/ 4 h 1099"/>
                <a:gd name="T42" fmla="*/ 3 w 575"/>
                <a:gd name="T43" fmla="*/ 4 h 1099"/>
                <a:gd name="T44" fmla="*/ 3 w 575"/>
                <a:gd name="T45" fmla="*/ 4 h 1099"/>
                <a:gd name="T46" fmla="*/ 3 w 575"/>
                <a:gd name="T47" fmla="*/ 4 h 1099"/>
                <a:gd name="T48" fmla="*/ 3 w 575"/>
                <a:gd name="T49" fmla="*/ 4 h 1099"/>
                <a:gd name="T50" fmla="*/ 3 w 575"/>
                <a:gd name="T51" fmla="*/ 4 h 1099"/>
                <a:gd name="T52" fmla="*/ 3 w 575"/>
                <a:gd name="T53" fmla="*/ 3 h 1099"/>
                <a:gd name="T54" fmla="*/ 3 w 575"/>
                <a:gd name="T55" fmla="*/ 3 h 1099"/>
                <a:gd name="T56" fmla="*/ 2 w 575"/>
                <a:gd name="T57" fmla="*/ 3 h 1099"/>
                <a:gd name="T58" fmla="*/ 2 w 575"/>
                <a:gd name="T59" fmla="*/ 3 h 1099"/>
                <a:gd name="T60" fmla="*/ 2 w 575"/>
                <a:gd name="T61" fmla="*/ 3 h 1099"/>
                <a:gd name="T62" fmla="*/ 2 w 575"/>
                <a:gd name="T63" fmla="*/ 3 h 1099"/>
                <a:gd name="T64" fmla="*/ 2 w 575"/>
                <a:gd name="T65" fmla="*/ 3 h 1099"/>
                <a:gd name="T66" fmla="*/ 2 w 575"/>
                <a:gd name="T67" fmla="*/ 2 h 1099"/>
                <a:gd name="T68" fmla="*/ 2 w 575"/>
                <a:gd name="T69" fmla="*/ 2 h 1099"/>
                <a:gd name="T70" fmla="*/ 2 w 575"/>
                <a:gd name="T71" fmla="*/ 2 h 1099"/>
                <a:gd name="T72" fmla="*/ 2 w 575"/>
                <a:gd name="T73" fmla="*/ 2 h 1099"/>
                <a:gd name="T74" fmla="*/ 2 w 575"/>
                <a:gd name="T75" fmla="*/ 2 h 1099"/>
                <a:gd name="T76" fmla="*/ 2 w 575"/>
                <a:gd name="T77" fmla="*/ 1 h 1099"/>
                <a:gd name="T78" fmla="*/ 2 w 575"/>
                <a:gd name="T79" fmla="*/ 1 h 1099"/>
                <a:gd name="T80" fmla="*/ 2 w 575"/>
                <a:gd name="T81" fmla="*/ 1 h 1099"/>
                <a:gd name="T82" fmla="*/ 2 w 575"/>
                <a:gd name="T83" fmla="*/ 1 h 1099"/>
                <a:gd name="T84" fmla="*/ 2 w 575"/>
                <a:gd name="T85" fmla="*/ 1 h 1099"/>
                <a:gd name="T86" fmla="*/ 2 w 575"/>
                <a:gd name="T87" fmla="*/ 1 h 1099"/>
                <a:gd name="T88" fmla="*/ 2 w 575"/>
                <a:gd name="T89" fmla="*/ 1 h 1099"/>
                <a:gd name="T90" fmla="*/ 2 w 575"/>
                <a:gd name="T91" fmla="*/ 1 h 1099"/>
                <a:gd name="T92" fmla="*/ 1 w 575"/>
                <a:gd name="T93" fmla="*/ 1 h 1099"/>
                <a:gd name="T94" fmla="*/ 1 w 575"/>
                <a:gd name="T95" fmla="*/ 1 h 1099"/>
                <a:gd name="T96" fmla="*/ 1 w 575"/>
                <a:gd name="T97" fmla="*/ 1 h 1099"/>
                <a:gd name="T98" fmla="*/ 1 w 575"/>
                <a:gd name="T99" fmla="*/ 1 h 1099"/>
                <a:gd name="T100" fmla="*/ 1 w 575"/>
                <a:gd name="T101" fmla="*/ 0 h 109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75"/>
                <a:gd name="T154" fmla="*/ 0 h 1099"/>
                <a:gd name="T155" fmla="*/ 575 w 575"/>
                <a:gd name="T156" fmla="*/ 1099 h 1099"/>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75" h="1099">
                  <a:moveTo>
                    <a:pt x="81" y="0"/>
                  </a:moveTo>
                  <a:lnTo>
                    <a:pt x="65" y="237"/>
                  </a:lnTo>
                  <a:lnTo>
                    <a:pt x="65" y="739"/>
                  </a:lnTo>
                  <a:lnTo>
                    <a:pt x="33" y="798"/>
                  </a:lnTo>
                  <a:lnTo>
                    <a:pt x="33" y="818"/>
                  </a:lnTo>
                  <a:lnTo>
                    <a:pt x="16" y="918"/>
                  </a:lnTo>
                  <a:lnTo>
                    <a:pt x="0" y="998"/>
                  </a:lnTo>
                  <a:lnTo>
                    <a:pt x="0" y="1038"/>
                  </a:lnTo>
                  <a:lnTo>
                    <a:pt x="0" y="1058"/>
                  </a:lnTo>
                  <a:lnTo>
                    <a:pt x="0" y="1077"/>
                  </a:lnTo>
                  <a:lnTo>
                    <a:pt x="0" y="1099"/>
                  </a:lnTo>
                  <a:lnTo>
                    <a:pt x="65" y="1099"/>
                  </a:lnTo>
                  <a:lnTo>
                    <a:pt x="491" y="1099"/>
                  </a:lnTo>
                  <a:lnTo>
                    <a:pt x="557" y="1099"/>
                  </a:lnTo>
                  <a:lnTo>
                    <a:pt x="575" y="1099"/>
                  </a:lnTo>
                  <a:lnTo>
                    <a:pt x="575" y="1058"/>
                  </a:lnTo>
                  <a:lnTo>
                    <a:pt x="575" y="1038"/>
                  </a:lnTo>
                  <a:lnTo>
                    <a:pt x="575" y="998"/>
                  </a:lnTo>
                  <a:lnTo>
                    <a:pt x="575" y="978"/>
                  </a:lnTo>
                  <a:lnTo>
                    <a:pt x="575" y="918"/>
                  </a:lnTo>
                  <a:lnTo>
                    <a:pt x="557" y="877"/>
                  </a:lnTo>
                  <a:lnTo>
                    <a:pt x="557" y="858"/>
                  </a:lnTo>
                  <a:lnTo>
                    <a:pt x="540" y="798"/>
                  </a:lnTo>
                  <a:lnTo>
                    <a:pt x="540" y="757"/>
                  </a:lnTo>
                  <a:lnTo>
                    <a:pt x="524" y="739"/>
                  </a:lnTo>
                  <a:lnTo>
                    <a:pt x="509" y="679"/>
                  </a:lnTo>
                  <a:lnTo>
                    <a:pt x="491" y="638"/>
                  </a:lnTo>
                  <a:lnTo>
                    <a:pt x="476" y="597"/>
                  </a:lnTo>
                  <a:lnTo>
                    <a:pt x="476" y="578"/>
                  </a:lnTo>
                  <a:lnTo>
                    <a:pt x="458" y="558"/>
                  </a:lnTo>
                  <a:lnTo>
                    <a:pt x="443" y="498"/>
                  </a:lnTo>
                  <a:lnTo>
                    <a:pt x="443" y="438"/>
                  </a:lnTo>
                  <a:lnTo>
                    <a:pt x="426" y="377"/>
                  </a:lnTo>
                  <a:lnTo>
                    <a:pt x="410" y="298"/>
                  </a:lnTo>
                  <a:lnTo>
                    <a:pt x="393" y="258"/>
                  </a:lnTo>
                  <a:lnTo>
                    <a:pt x="378" y="218"/>
                  </a:lnTo>
                  <a:lnTo>
                    <a:pt x="362" y="178"/>
                  </a:lnTo>
                  <a:lnTo>
                    <a:pt x="362" y="159"/>
                  </a:lnTo>
                  <a:lnTo>
                    <a:pt x="345" y="139"/>
                  </a:lnTo>
                  <a:lnTo>
                    <a:pt x="327" y="119"/>
                  </a:lnTo>
                  <a:lnTo>
                    <a:pt x="311" y="98"/>
                  </a:lnTo>
                  <a:lnTo>
                    <a:pt x="262" y="79"/>
                  </a:lnTo>
                  <a:lnTo>
                    <a:pt x="212" y="58"/>
                  </a:lnTo>
                  <a:lnTo>
                    <a:pt x="195" y="39"/>
                  </a:lnTo>
                  <a:lnTo>
                    <a:pt x="163" y="39"/>
                  </a:lnTo>
                  <a:lnTo>
                    <a:pt x="115" y="19"/>
                  </a:lnTo>
                  <a:lnTo>
                    <a:pt x="8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32" name="Freeform 101"/>
            <p:cNvSpPr>
              <a:spLocks/>
            </p:cNvSpPr>
            <p:nvPr/>
          </p:nvSpPr>
          <p:spPr bwMode="auto">
            <a:xfrm>
              <a:off x="2461" y="2661"/>
              <a:ext cx="288" cy="550"/>
            </a:xfrm>
            <a:custGeom>
              <a:avLst/>
              <a:gdLst>
                <a:gd name="T0" fmla="*/ 1 w 575"/>
                <a:gd name="T1" fmla="*/ 0 h 1099"/>
                <a:gd name="T2" fmla="*/ 1 w 575"/>
                <a:gd name="T3" fmla="*/ 1 h 1099"/>
                <a:gd name="T4" fmla="*/ 1 w 575"/>
                <a:gd name="T5" fmla="*/ 3 h 1099"/>
                <a:gd name="T6" fmla="*/ 1 w 575"/>
                <a:gd name="T7" fmla="*/ 4 h 1099"/>
                <a:gd name="T8" fmla="*/ 1 w 575"/>
                <a:gd name="T9" fmla="*/ 4 h 1099"/>
                <a:gd name="T10" fmla="*/ 1 w 575"/>
                <a:gd name="T11" fmla="*/ 4 h 1099"/>
                <a:gd name="T12" fmla="*/ 0 w 575"/>
                <a:gd name="T13" fmla="*/ 4 h 1099"/>
                <a:gd name="T14" fmla="*/ 0 w 575"/>
                <a:gd name="T15" fmla="*/ 5 h 1099"/>
                <a:gd name="T16" fmla="*/ 0 w 575"/>
                <a:gd name="T17" fmla="*/ 5 h 1099"/>
                <a:gd name="T18" fmla="*/ 0 w 575"/>
                <a:gd name="T19" fmla="*/ 5 h 1099"/>
                <a:gd name="T20" fmla="*/ 0 w 575"/>
                <a:gd name="T21" fmla="*/ 5 h 1099"/>
                <a:gd name="T22" fmla="*/ 0 w 575"/>
                <a:gd name="T23" fmla="*/ 5 h 1099"/>
                <a:gd name="T24" fmla="*/ 1 w 575"/>
                <a:gd name="T25" fmla="*/ 5 h 1099"/>
                <a:gd name="T26" fmla="*/ 2 w 575"/>
                <a:gd name="T27" fmla="*/ 5 h 1099"/>
                <a:gd name="T28" fmla="*/ 3 w 575"/>
                <a:gd name="T29" fmla="*/ 5 h 1099"/>
                <a:gd name="T30" fmla="*/ 3 w 575"/>
                <a:gd name="T31" fmla="*/ 5 h 1099"/>
                <a:gd name="T32" fmla="*/ 3 w 575"/>
                <a:gd name="T33" fmla="*/ 5 h 1099"/>
                <a:gd name="T34" fmla="*/ 3 w 575"/>
                <a:gd name="T35" fmla="*/ 5 h 1099"/>
                <a:gd name="T36" fmla="*/ 3 w 575"/>
                <a:gd name="T37" fmla="*/ 4 h 1099"/>
                <a:gd name="T38" fmla="*/ 3 w 575"/>
                <a:gd name="T39" fmla="*/ 4 h 1099"/>
                <a:gd name="T40" fmla="*/ 3 w 575"/>
                <a:gd name="T41" fmla="*/ 4 h 1099"/>
                <a:gd name="T42" fmla="*/ 3 w 575"/>
                <a:gd name="T43" fmla="*/ 4 h 1099"/>
                <a:gd name="T44" fmla="*/ 3 w 575"/>
                <a:gd name="T45" fmla="*/ 4 h 1099"/>
                <a:gd name="T46" fmla="*/ 3 w 575"/>
                <a:gd name="T47" fmla="*/ 4 h 1099"/>
                <a:gd name="T48" fmla="*/ 3 w 575"/>
                <a:gd name="T49" fmla="*/ 4 h 1099"/>
                <a:gd name="T50" fmla="*/ 3 w 575"/>
                <a:gd name="T51" fmla="*/ 4 h 1099"/>
                <a:gd name="T52" fmla="*/ 3 w 575"/>
                <a:gd name="T53" fmla="*/ 3 h 1099"/>
                <a:gd name="T54" fmla="*/ 3 w 575"/>
                <a:gd name="T55" fmla="*/ 3 h 1099"/>
                <a:gd name="T56" fmla="*/ 2 w 575"/>
                <a:gd name="T57" fmla="*/ 3 h 1099"/>
                <a:gd name="T58" fmla="*/ 2 w 575"/>
                <a:gd name="T59" fmla="*/ 3 h 1099"/>
                <a:gd name="T60" fmla="*/ 2 w 575"/>
                <a:gd name="T61" fmla="*/ 3 h 1099"/>
                <a:gd name="T62" fmla="*/ 2 w 575"/>
                <a:gd name="T63" fmla="*/ 3 h 1099"/>
                <a:gd name="T64" fmla="*/ 2 w 575"/>
                <a:gd name="T65" fmla="*/ 3 h 1099"/>
                <a:gd name="T66" fmla="*/ 2 w 575"/>
                <a:gd name="T67" fmla="*/ 2 h 1099"/>
                <a:gd name="T68" fmla="*/ 2 w 575"/>
                <a:gd name="T69" fmla="*/ 2 h 1099"/>
                <a:gd name="T70" fmla="*/ 2 w 575"/>
                <a:gd name="T71" fmla="*/ 2 h 1099"/>
                <a:gd name="T72" fmla="*/ 2 w 575"/>
                <a:gd name="T73" fmla="*/ 2 h 1099"/>
                <a:gd name="T74" fmla="*/ 2 w 575"/>
                <a:gd name="T75" fmla="*/ 2 h 1099"/>
                <a:gd name="T76" fmla="*/ 2 w 575"/>
                <a:gd name="T77" fmla="*/ 1 h 1099"/>
                <a:gd name="T78" fmla="*/ 2 w 575"/>
                <a:gd name="T79" fmla="*/ 1 h 1099"/>
                <a:gd name="T80" fmla="*/ 2 w 575"/>
                <a:gd name="T81" fmla="*/ 1 h 1099"/>
                <a:gd name="T82" fmla="*/ 2 w 575"/>
                <a:gd name="T83" fmla="*/ 1 h 1099"/>
                <a:gd name="T84" fmla="*/ 2 w 575"/>
                <a:gd name="T85" fmla="*/ 1 h 1099"/>
                <a:gd name="T86" fmla="*/ 2 w 575"/>
                <a:gd name="T87" fmla="*/ 1 h 1099"/>
                <a:gd name="T88" fmla="*/ 2 w 575"/>
                <a:gd name="T89" fmla="*/ 1 h 1099"/>
                <a:gd name="T90" fmla="*/ 2 w 575"/>
                <a:gd name="T91" fmla="*/ 1 h 1099"/>
                <a:gd name="T92" fmla="*/ 1 w 575"/>
                <a:gd name="T93" fmla="*/ 1 h 1099"/>
                <a:gd name="T94" fmla="*/ 1 w 575"/>
                <a:gd name="T95" fmla="*/ 1 h 1099"/>
                <a:gd name="T96" fmla="*/ 1 w 575"/>
                <a:gd name="T97" fmla="*/ 1 h 1099"/>
                <a:gd name="T98" fmla="*/ 1 w 575"/>
                <a:gd name="T99" fmla="*/ 1 h 1099"/>
                <a:gd name="T100" fmla="*/ 1 w 575"/>
                <a:gd name="T101" fmla="*/ 0 h 109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75"/>
                <a:gd name="T154" fmla="*/ 0 h 1099"/>
                <a:gd name="T155" fmla="*/ 575 w 575"/>
                <a:gd name="T156" fmla="*/ 1099 h 1099"/>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75" h="1099">
                  <a:moveTo>
                    <a:pt x="81" y="0"/>
                  </a:moveTo>
                  <a:lnTo>
                    <a:pt x="65" y="237"/>
                  </a:lnTo>
                  <a:lnTo>
                    <a:pt x="65" y="739"/>
                  </a:lnTo>
                  <a:lnTo>
                    <a:pt x="33" y="798"/>
                  </a:lnTo>
                  <a:lnTo>
                    <a:pt x="33" y="818"/>
                  </a:lnTo>
                  <a:lnTo>
                    <a:pt x="16" y="918"/>
                  </a:lnTo>
                  <a:lnTo>
                    <a:pt x="0" y="998"/>
                  </a:lnTo>
                  <a:lnTo>
                    <a:pt x="0" y="1038"/>
                  </a:lnTo>
                  <a:lnTo>
                    <a:pt x="0" y="1058"/>
                  </a:lnTo>
                  <a:lnTo>
                    <a:pt x="0" y="1077"/>
                  </a:lnTo>
                  <a:lnTo>
                    <a:pt x="0" y="1099"/>
                  </a:lnTo>
                  <a:lnTo>
                    <a:pt x="65" y="1099"/>
                  </a:lnTo>
                  <a:lnTo>
                    <a:pt x="491" y="1099"/>
                  </a:lnTo>
                  <a:lnTo>
                    <a:pt x="557" y="1099"/>
                  </a:lnTo>
                  <a:lnTo>
                    <a:pt x="575" y="1099"/>
                  </a:lnTo>
                  <a:lnTo>
                    <a:pt x="575" y="1058"/>
                  </a:lnTo>
                  <a:lnTo>
                    <a:pt x="575" y="1038"/>
                  </a:lnTo>
                  <a:lnTo>
                    <a:pt x="575" y="998"/>
                  </a:lnTo>
                  <a:lnTo>
                    <a:pt x="575" y="978"/>
                  </a:lnTo>
                  <a:lnTo>
                    <a:pt x="575" y="918"/>
                  </a:lnTo>
                  <a:lnTo>
                    <a:pt x="557" y="877"/>
                  </a:lnTo>
                  <a:lnTo>
                    <a:pt x="557" y="858"/>
                  </a:lnTo>
                  <a:lnTo>
                    <a:pt x="540" y="798"/>
                  </a:lnTo>
                  <a:lnTo>
                    <a:pt x="540" y="757"/>
                  </a:lnTo>
                  <a:lnTo>
                    <a:pt x="524" y="739"/>
                  </a:lnTo>
                  <a:lnTo>
                    <a:pt x="509" y="679"/>
                  </a:lnTo>
                  <a:lnTo>
                    <a:pt x="491" y="638"/>
                  </a:lnTo>
                  <a:lnTo>
                    <a:pt x="476" y="597"/>
                  </a:lnTo>
                  <a:lnTo>
                    <a:pt x="476" y="578"/>
                  </a:lnTo>
                  <a:lnTo>
                    <a:pt x="458" y="558"/>
                  </a:lnTo>
                  <a:lnTo>
                    <a:pt x="443" y="498"/>
                  </a:lnTo>
                  <a:lnTo>
                    <a:pt x="443" y="438"/>
                  </a:lnTo>
                  <a:lnTo>
                    <a:pt x="426" y="377"/>
                  </a:lnTo>
                  <a:lnTo>
                    <a:pt x="410" y="298"/>
                  </a:lnTo>
                  <a:lnTo>
                    <a:pt x="393" y="258"/>
                  </a:lnTo>
                  <a:lnTo>
                    <a:pt x="378" y="218"/>
                  </a:lnTo>
                  <a:lnTo>
                    <a:pt x="362" y="178"/>
                  </a:lnTo>
                  <a:lnTo>
                    <a:pt x="362" y="159"/>
                  </a:lnTo>
                  <a:lnTo>
                    <a:pt x="345" y="139"/>
                  </a:lnTo>
                  <a:lnTo>
                    <a:pt x="327" y="119"/>
                  </a:lnTo>
                  <a:lnTo>
                    <a:pt x="311" y="98"/>
                  </a:lnTo>
                  <a:lnTo>
                    <a:pt x="262" y="79"/>
                  </a:lnTo>
                  <a:lnTo>
                    <a:pt x="212" y="58"/>
                  </a:lnTo>
                  <a:lnTo>
                    <a:pt x="195" y="39"/>
                  </a:lnTo>
                  <a:lnTo>
                    <a:pt x="163" y="39"/>
                  </a:lnTo>
                  <a:lnTo>
                    <a:pt x="115" y="19"/>
                  </a:lnTo>
                  <a:lnTo>
                    <a:pt x="81"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33" name="Freeform 102"/>
            <p:cNvSpPr>
              <a:spLocks/>
            </p:cNvSpPr>
            <p:nvPr/>
          </p:nvSpPr>
          <p:spPr bwMode="auto">
            <a:xfrm>
              <a:off x="2610" y="3131"/>
              <a:ext cx="65" cy="80"/>
            </a:xfrm>
            <a:custGeom>
              <a:avLst/>
              <a:gdLst>
                <a:gd name="T0" fmla="*/ 1 w 130"/>
                <a:gd name="T1" fmla="*/ 0 h 161"/>
                <a:gd name="T2" fmla="*/ 1 w 130"/>
                <a:gd name="T3" fmla="*/ 0 h 161"/>
                <a:gd name="T4" fmla="*/ 1 w 130"/>
                <a:gd name="T5" fmla="*/ 0 h 161"/>
                <a:gd name="T6" fmla="*/ 1 w 130"/>
                <a:gd name="T7" fmla="*/ 0 h 161"/>
                <a:gd name="T8" fmla="*/ 1 w 130"/>
                <a:gd name="T9" fmla="*/ 0 h 161"/>
                <a:gd name="T10" fmla="*/ 1 w 130"/>
                <a:gd name="T11" fmla="*/ 0 h 161"/>
                <a:gd name="T12" fmla="*/ 1 w 130"/>
                <a:gd name="T13" fmla="*/ 0 h 161"/>
                <a:gd name="T14" fmla="*/ 1 w 130"/>
                <a:gd name="T15" fmla="*/ 0 h 161"/>
                <a:gd name="T16" fmla="*/ 1 w 130"/>
                <a:gd name="T17" fmla="*/ 0 h 161"/>
                <a:gd name="T18" fmla="*/ 0 w 130"/>
                <a:gd name="T19" fmla="*/ 0 h 161"/>
                <a:gd name="T20" fmla="*/ 1 w 130"/>
                <a:gd name="T21" fmla="*/ 0 h 161"/>
                <a:gd name="T22" fmla="*/ 1 w 130"/>
                <a:gd name="T23" fmla="*/ 0 h 1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0"/>
                <a:gd name="T37" fmla="*/ 0 h 161"/>
                <a:gd name="T38" fmla="*/ 130 w 130"/>
                <a:gd name="T39" fmla="*/ 161 h 1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0" h="161">
                  <a:moveTo>
                    <a:pt x="130" y="161"/>
                  </a:moveTo>
                  <a:lnTo>
                    <a:pt x="130" y="139"/>
                  </a:lnTo>
                  <a:lnTo>
                    <a:pt x="114" y="121"/>
                  </a:lnTo>
                  <a:lnTo>
                    <a:pt x="114" y="79"/>
                  </a:lnTo>
                  <a:lnTo>
                    <a:pt x="98" y="41"/>
                  </a:lnTo>
                  <a:lnTo>
                    <a:pt x="81" y="20"/>
                  </a:lnTo>
                  <a:lnTo>
                    <a:pt x="66" y="0"/>
                  </a:lnTo>
                  <a:lnTo>
                    <a:pt x="49" y="0"/>
                  </a:lnTo>
                  <a:lnTo>
                    <a:pt x="32" y="0"/>
                  </a:lnTo>
                  <a:lnTo>
                    <a:pt x="0" y="0"/>
                  </a:lnTo>
                  <a:lnTo>
                    <a:pt x="81" y="161"/>
                  </a:lnTo>
                  <a:lnTo>
                    <a:pt x="130" y="1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34" name="Freeform 103"/>
            <p:cNvSpPr>
              <a:spLocks/>
            </p:cNvSpPr>
            <p:nvPr/>
          </p:nvSpPr>
          <p:spPr bwMode="auto">
            <a:xfrm>
              <a:off x="2610" y="3131"/>
              <a:ext cx="65" cy="80"/>
            </a:xfrm>
            <a:custGeom>
              <a:avLst/>
              <a:gdLst>
                <a:gd name="T0" fmla="*/ 1 w 130"/>
                <a:gd name="T1" fmla="*/ 0 h 161"/>
                <a:gd name="T2" fmla="*/ 1 w 130"/>
                <a:gd name="T3" fmla="*/ 0 h 161"/>
                <a:gd name="T4" fmla="*/ 1 w 130"/>
                <a:gd name="T5" fmla="*/ 0 h 161"/>
                <a:gd name="T6" fmla="*/ 1 w 130"/>
                <a:gd name="T7" fmla="*/ 0 h 161"/>
                <a:gd name="T8" fmla="*/ 1 w 130"/>
                <a:gd name="T9" fmla="*/ 0 h 161"/>
                <a:gd name="T10" fmla="*/ 1 w 130"/>
                <a:gd name="T11" fmla="*/ 0 h 161"/>
                <a:gd name="T12" fmla="*/ 1 w 130"/>
                <a:gd name="T13" fmla="*/ 0 h 161"/>
                <a:gd name="T14" fmla="*/ 1 w 130"/>
                <a:gd name="T15" fmla="*/ 0 h 161"/>
                <a:gd name="T16" fmla="*/ 1 w 130"/>
                <a:gd name="T17" fmla="*/ 0 h 161"/>
                <a:gd name="T18" fmla="*/ 0 w 130"/>
                <a:gd name="T19" fmla="*/ 0 h 161"/>
                <a:gd name="T20" fmla="*/ 1 w 130"/>
                <a:gd name="T21" fmla="*/ 0 h 161"/>
                <a:gd name="T22" fmla="*/ 1 w 130"/>
                <a:gd name="T23" fmla="*/ 0 h 1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0"/>
                <a:gd name="T37" fmla="*/ 0 h 161"/>
                <a:gd name="T38" fmla="*/ 130 w 130"/>
                <a:gd name="T39" fmla="*/ 161 h 1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0" h="161">
                  <a:moveTo>
                    <a:pt x="130" y="161"/>
                  </a:moveTo>
                  <a:lnTo>
                    <a:pt x="130" y="139"/>
                  </a:lnTo>
                  <a:lnTo>
                    <a:pt x="114" y="121"/>
                  </a:lnTo>
                  <a:lnTo>
                    <a:pt x="114" y="79"/>
                  </a:lnTo>
                  <a:lnTo>
                    <a:pt x="98" y="41"/>
                  </a:lnTo>
                  <a:lnTo>
                    <a:pt x="81" y="20"/>
                  </a:lnTo>
                  <a:lnTo>
                    <a:pt x="66" y="0"/>
                  </a:lnTo>
                  <a:lnTo>
                    <a:pt x="49" y="0"/>
                  </a:lnTo>
                  <a:lnTo>
                    <a:pt x="32" y="0"/>
                  </a:lnTo>
                  <a:lnTo>
                    <a:pt x="0" y="0"/>
                  </a:lnTo>
                  <a:lnTo>
                    <a:pt x="81" y="161"/>
                  </a:lnTo>
                  <a:lnTo>
                    <a:pt x="130" y="161"/>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35" name="Freeform 104"/>
            <p:cNvSpPr>
              <a:spLocks/>
            </p:cNvSpPr>
            <p:nvPr/>
          </p:nvSpPr>
          <p:spPr bwMode="auto">
            <a:xfrm>
              <a:off x="2487" y="3101"/>
              <a:ext cx="163" cy="129"/>
            </a:xfrm>
            <a:custGeom>
              <a:avLst/>
              <a:gdLst>
                <a:gd name="T0" fmla="*/ 1 w 328"/>
                <a:gd name="T1" fmla="*/ 0 h 259"/>
                <a:gd name="T2" fmla="*/ 1 w 328"/>
                <a:gd name="T3" fmla="*/ 0 h 259"/>
                <a:gd name="T4" fmla="*/ 1 w 328"/>
                <a:gd name="T5" fmla="*/ 0 h 259"/>
                <a:gd name="T6" fmla="*/ 1 w 328"/>
                <a:gd name="T7" fmla="*/ 0 h 259"/>
                <a:gd name="T8" fmla="*/ 1 w 328"/>
                <a:gd name="T9" fmla="*/ 0 h 259"/>
                <a:gd name="T10" fmla="*/ 1 w 328"/>
                <a:gd name="T11" fmla="*/ 0 h 259"/>
                <a:gd name="T12" fmla="*/ 1 w 328"/>
                <a:gd name="T13" fmla="*/ 0 h 259"/>
                <a:gd name="T14" fmla="*/ 1 w 328"/>
                <a:gd name="T15" fmla="*/ 0 h 259"/>
                <a:gd name="T16" fmla="*/ 1 w 328"/>
                <a:gd name="T17" fmla="*/ 0 h 259"/>
                <a:gd name="T18" fmla="*/ 1 w 328"/>
                <a:gd name="T19" fmla="*/ 0 h 259"/>
                <a:gd name="T20" fmla="*/ 1 w 328"/>
                <a:gd name="T21" fmla="*/ 0 h 259"/>
                <a:gd name="T22" fmla="*/ 1 w 328"/>
                <a:gd name="T23" fmla="*/ 0 h 259"/>
                <a:gd name="T24" fmla="*/ 1 w 328"/>
                <a:gd name="T25" fmla="*/ 0 h 259"/>
                <a:gd name="T26" fmla="*/ 1 w 328"/>
                <a:gd name="T27" fmla="*/ 0 h 259"/>
                <a:gd name="T28" fmla="*/ 0 w 328"/>
                <a:gd name="T29" fmla="*/ 0 h 259"/>
                <a:gd name="T30" fmla="*/ 0 w 328"/>
                <a:gd name="T31" fmla="*/ 0 h 259"/>
                <a:gd name="T32" fmla="*/ 0 w 328"/>
                <a:gd name="T33" fmla="*/ 0 h 259"/>
                <a:gd name="T34" fmla="*/ 0 w 328"/>
                <a:gd name="T35" fmla="*/ 0 h 259"/>
                <a:gd name="T36" fmla="*/ 0 w 328"/>
                <a:gd name="T37" fmla="*/ 0 h 259"/>
                <a:gd name="T38" fmla="*/ 0 w 328"/>
                <a:gd name="T39" fmla="*/ 0 h 259"/>
                <a:gd name="T40" fmla="*/ 0 w 328"/>
                <a:gd name="T41" fmla="*/ 0 h 259"/>
                <a:gd name="T42" fmla="*/ 0 w 328"/>
                <a:gd name="T43" fmla="*/ 0 h 259"/>
                <a:gd name="T44" fmla="*/ 0 w 328"/>
                <a:gd name="T45" fmla="*/ 0 h 259"/>
                <a:gd name="T46" fmla="*/ 0 w 328"/>
                <a:gd name="T47" fmla="*/ 0 h 259"/>
                <a:gd name="T48" fmla="*/ 0 w 328"/>
                <a:gd name="T49" fmla="*/ 0 h 259"/>
                <a:gd name="T50" fmla="*/ 0 w 328"/>
                <a:gd name="T51" fmla="*/ 0 h 259"/>
                <a:gd name="T52" fmla="*/ 0 w 328"/>
                <a:gd name="T53" fmla="*/ 0 h 259"/>
                <a:gd name="T54" fmla="*/ 0 w 328"/>
                <a:gd name="T55" fmla="*/ 0 h 259"/>
                <a:gd name="T56" fmla="*/ 0 w 328"/>
                <a:gd name="T57" fmla="*/ 0 h 259"/>
                <a:gd name="T58" fmla="*/ 0 w 328"/>
                <a:gd name="T59" fmla="*/ 0 h 259"/>
                <a:gd name="T60" fmla="*/ 0 w 328"/>
                <a:gd name="T61" fmla="*/ 0 h 259"/>
                <a:gd name="T62" fmla="*/ 0 w 328"/>
                <a:gd name="T63" fmla="*/ 0 h 259"/>
                <a:gd name="T64" fmla="*/ 0 w 328"/>
                <a:gd name="T65" fmla="*/ 0 h 259"/>
                <a:gd name="T66" fmla="*/ 0 w 328"/>
                <a:gd name="T67" fmla="*/ 0 h 259"/>
                <a:gd name="T68" fmla="*/ 0 w 328"/>
                <a:gd name="T69" fmla="*/ 0 h 259"/>
                <a:gd name="T70" fmla="*/ 0 w 328"/>
                <a:gd name="T71" fmla="*/ 0 h 259"/>
                <a:gd name="T72" fmla="*/ 0 w 328"/>
                <a:gd name="T73" fmla="*/ 0 h 259"/>
                <a:gd name="T74" fmla="*/ 0 w 328"/>
                <a:gd name="T75" fmla="*/ 0 h 259"/>
                <a:gd name="T76" fmla="*/ 0 w 328"/>
                <a:gd name="T77" fmla="*/ 0 h 259"/>
                <a:gd name="T78" fmla="*/ 0 w 328"/>
                <a:gd name="T79" fmla="*/ 0 h 259"/>
                <a:gd name="T80" fmla="*/ 0 w 328"/>
                <a:gd name="T81" fmla="*/ 0 h 259"/>
                <a:gd name="T82" fmla="*/ 0 w 328"/>
                <a:gd name="T83" fmla="*/ 0 h 259"/>
                <a:gd name="T84" fmla="*/ 0 w 328"/>
                <a:gd name="T85" fmla="*/ 0 h 259"/>
                <a:gd name="T86" fmla="*/ 0 w 328"/>
                <a:gd name="T87" fmla="*/ 0 h 259"/>
                <a:gd name="T88" fmla="*/ 0 w 328"/>
                <a:gd name="T89" fmla="*/ 1 h 259"/>
                <a:gd name="T90" fmla="*/ 0 w 328"/>
                <a:gd name="T91" fmla="*/ 1 h 259"/>
                <a:gd name="T92" fmla="*/ 0 w 328"/>
                <a:gd name="T93" fmla="*/ 1 h 259"/>
                <a:gd name="T94" fmla="*/ 0 w 328"/>
                <a:gd name="T95" fmla="*/ 0 h 259"/>
                <a:gd name="T96" fmla="*/ 0 w 328"/>
                <a:gd name="T97" fmla="*/ 0 h 259"/>
                <a:gd name="T98" fmla="*/ 0 w 328"/>
                <a:gd name="T99" fmla="*/ 1 h 259"/>
                <a:gd name="T100" fmla="*/ 0 w 328"/>
                <a:gd name="T101" fmla="*/ 1 h 259"/>
                <a:gd name="T102" fmla="*/ 0 w 328"/>
                <a:gd name="T103" fmla="*/ 1 h 259"/>
                <a:gd name="T104" fmla="*/ 0 w 328"/>
                <a:gd name="T105" fmla="*/ 1 h 259"/>
                <a:gd name="T106" fmla="*/ 0 w 328"/>
                <a:gd name="T107" fmla="*/ 1 h 259"/>
                <a:gd name="T108" fmla="*/ 0 w 328"/>
                <a:gd name="T109" fmla="*/ 1 h 259"/>
                <a:gd name="T110" fmla="*/ 0 w 328"/>
                <a:gd name="T111" fmla="*/ 0 h 259"/>
                <a:gd name="T112" fmla="*/ 0 w 328"/>
                <a:gd name="T113" fmla="*/ 0 h 259"/>
                <a:gd name="T114" fmla="*/ 0 w 328"/>
                <a:gd name="T115" fmla="*/ 0 h 259"/>
                <a:gd name="T116" fmla="*/ 1 w 328"/>
                <a:gd name="T117" fmla="*/ 0 h 25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328"/>
                <a:gd name="T178" fmla="*/ 0 h 259"/>
                <a:gd name="T179" fmla="*/ 328 w 328"/>
                <a:gd name="T180" fmla="*/ 259 h 25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328" h="259">
                  <a:moveTo>
                    <a:pt x="328" y="220"/>
                  </a:moveTo>
                  <a:lnTo>
                    <a:pt x="328" y="220"/>
                  </a:lnTo>
                  <a:lnTo>
                    <a:pt x="328" y="198"/>
                  </a:lnTo>
                  <a:lnTo>
                    <a:pt x="328" y="180"/>
                  </a:lnTo>
                  <a:lnTo>
                    <a:pt x="313" y="180"/>
                  </a:lnTo>
                  <a:lnTo>
                    <a:pt x="313" y="160"/>
                  </a:lnTo>
                  <a:lnTo>
                    <a:pt x="313" y="138"/>
                  </a:lnTo>
                  <a:lnTo>
                    <a:pt x="313" y="120"/>
                  </a:lnTo>
                  <a:lnTo>
                    <a:pt x="297" y="100"/>
                  </a:lnTo>
                  <a:lnTo>
                    <a:pt x="279" y="100"/>
                  </a:lnTo>
                  <a:lnTo>
                    <a:pt x="262" y="79"/>
                  </a:lnTo>
                  <a:lnTo>
                    <a:pt x="247" y="40"/>
                  </a:lnTo>
                  <a:lnTo>
                    <a:pt x="230" y="40"/>
                  </a:lnTo>
                  <a:lnTo>
                    <a:pt x="213" y="40"/>
                  </a:lnTo>
                  <a:lnTo>
                    <a:pt x="198" y="19"/>
                  </a:lnTo>
                  <a:lnTo>
                    <a:pt x="198" y="0"/>
                  </a:lnTo>
                  <a:lnTo>
                    <a:pt x="181" y="0"/>
                  </a:lnTo>
                  <a:lnTo>
                    <a:pt x="165" y="0"/>
                  </a:lnTo>
                  <a:lnTo>
                    <a:pt x="115" y="40"/>
                  </a:lnTo>
                  <a:lnTo>
                    <a:pt x="82" y="59"/>
                  </a:lnTo>
                  <a:lnTo>
                    <a:pt x="67" y="79"/>
                  </a:lnTo>
                  <a:lnTo>
                    <a:pt x="50" y="100"/>
                  </a:lnTo>
                  <a:lnTo>
                    <a:pt x="33" y="120"/>
                  </a:lnTo>
                  <a:lnTo>
                    <a:pt x="16" y="160"/>
                  </a:lnTo>
                  <a:lnTo>
                    <a:pt x="0" y="180"/>
                  </a:lnTo>
                  <a:lnTo>
                    <a:pt x="0" y="198"/>
                  </a:lnTo>
                  <a:lnTo>
                    <a:pt x="16" y="198"/>
                  </a:lnTo>
                  <a:lnTo>
                    <a:pt x="16" y="220"/>
                  </a:lnTo>
                  <a:lnTo>
                    <a:pt x="0" y="220"/>
                  </a:lnTo>
                  <a:lnTo>
                    <a:pt x="0" y="238"/>
                  </a:lnTo>
                  <a:lnTo>
                    <a:pt x="16" y="238"/>
                  </a:lnTo>
                  <a:lnTo>
                    <a:pt x="33" y="238"/>
                  </a:lnTo>
                  <a:lnTo>
                    <a:pt x="50" y="238"/>
                  </a:lnTo>
                  <a:lnTo>
                    <a:pt x="67" y="259"/>
                  </a:lnTo>
                  <a:lnTo>
                    <a:pt x="82" y="259"/>
                  </a:lnTo>
                  <a:lnTo>
                    <a:pt x="98" y="259"/>
                  </a:lnTo>
                  <a:lnTo>
                    <a:pt x="115" y="238"/>
                  </a:lnTo>
                  <a:lnTo>
                    <a:pt x="115" y="259"/>
                  </a:lnTo>
                  <a:lnTo>
                    <a:pt x="133" y="259"/>
                  </a:lnTo>
                  <a:lnTo>
                    <a:pt x="147" y="259"/>
                  </a:lnTo>
                  <a:lnTo>
                    <a:pt x="181" y="259"/>
                  </a:lnTo>
                  <a:lnTo>
                    <a:pt x="198" y="259"/>
                  </a:lnTo>
                  <a:lnTo>
                    <a:pt x="213" y="238"/>
                  </a:lnTo>
                  <a:lnTo>
                    <a:pt x="247" y="238"/>
                  </a:lnTo>
                  <a:lnTo>
                    <a:pt x="328" y="2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36" name="Freeform 105"/>
            <p:cNvSpPr>
              <a:spLocks/>
            </p:cNvSpPr>
            <p:nvPr/>
          </p:nvSpPr>
          <p:spPr bwMode="auto">
            <a:xfrm>
              <a:off x="2487" y="3101"/>
              <a:ext cx="163" cy="129"/>
            </a:xfrm>
            <a:custGeom>
              <a:avLst/>
              <a:gdLst>
                <a:gd name="T0" fmla="*/ 1 w 328"/>
                <a:gd name="T1" fmla="*/ 0 h 259"/>
                <a:gd name="T2" fmla="*/ 1 w 328"/>
                <a:gd name="T3" fmla="*/ 0 h 259"/>
                <a:gd name="T4" fmla="*/ 1 w 328"/>
                <a:gd name="T5" fmla="*/ 0 h 259"/>
                <a:gd name="T6" fmla="*/ 1 w 328"/>
                <a:gd name="T7" fmla="*/ 0 h 259"/>
                <a:gd name="T8" fmla="*/ 1 w 328"/>
                <a:gd name="T9" fmla="*/ 0 h 259"/>
                <a:gd name="T10" fmla="*/ 1 w 328"/>
                <a:gd name="T11" fmla="*/ 0 h 259"/>
                <a:gd name="T12" fmla="*/ 1 w 328"/>
                <a:gd name="T13" fmla="*/ 0 h 259"/>
                <a:gd name="T14" fmla="*/ 1 w 328"/>
                <a:gd name="T15" fmla="*/ 0 h 259"/>
                <a:gd name="T16" fmla="*/ 1 w 328"/>
                <a:gd name="T17" fmla="*/ 0 h 259"/>
                <a:gd name="T18" fmla="*/ 1 w 328"/>
                <a:gd name="T19" fmla="*/ 0 h 259"/>
                <a:gd name="T20" fmla="*/ 1 w 328"/>
                <a:gd name="T21" fmla="*/ 0 h 259"/>
                <a:gd name="T22" fmla="*/ 1 w 328"/>
                <a:gd name="T23" fmla="*/ 0 h 259"/>
                <a:gd name="T24" fmla="*/ 1 w 328"/>
                <a:gd name="T25" fmla="*/ 0 h 259"/>
                <a:gd name="T26" fmla="*/ 1 w 328"/>
                <a:gd name="T27" fmla="*/ 0 h 259"/>
                <a:gd name="T28" fmla="*/ 0 w 328"/>
                <a:gd name="T29" fmla="*/ 0 h 259"/>
                <a:gd name="T30" fmla="*/ 0 w 328"/>
                <a:gd name="T31" fmla="*/ 0 h 259"/>
                <a:gd name="T32" fmla="*/ 0 w 328"/>
                <a:gd name="T33" fmla="*/ 0 h 259"/>
                <a:gd name="T34" fmla="*/ 0 w 328"/>
                <a:gd name="T35" fmla="*/ 0 h 259"/>
                <a:gd name="T36" fmla="*/ 0 w 328"/>
                <a:gd name="T37" fmla="*/ 0 h 259"/>
                <a:gd name="T38" fmla="*/ 0 w 328"/>
                <a:gd name="T39" fmla="*/ 0 h 259"/>
                <a:gd name="T40" fmla="*/ 0 w 328"/>
                <a:gd name="T41" fmla="*/ 0 h 259"/>
                <a:gd name="T42" fmla="*/ 0 w 328"/>
                <a:gd name="T43" fmla="*/ 0 h 259"/>
                <a:gd name="T44" fmla="*/ 0 w 328"/>
                <a:gd name="T45" fmla="*/ 0 h 259"/>
                <a:gd name="T46" fmla="*/ 0 w 328"/>
                <a:gd name="T47" fmla="*/ 0 h 259"/>
                <a:gd name="T48" fmla="*/ 0 w 328"/>
                <a:gd name="T49" fmla="*/ 0 h 259"/>
                <a:gd name="T50" fmla="*/ 0 w 328"/>
                <a:gd name="T51" fmla="*/ 0 h 259"/>
                <a:gd name="T52" fmla="*/ 0 w 328"/>
                <a:gd name="T53" fmla="*/ 0 h 259"/>
                <a:gd name="T54" fmla="*/ 0 w 328"/>
                <a:gd name="T55" fmla="*/ 0 h 259"/>
                <a:gd name="T56" fmla="*/ 0 w 328"/>
                <a:gd name="T57" fmla="*/ 0 h 259"/>
                <a:gd name="T58" fmla="*/ 0 w 328"/>
                <a:gd name="T59" fmla="*/ 0 h 259"/>
                <a:gd name="T60" fmla="*/ 0 w 328"/>
                <a:gd name="T61" fmla="*/ 0 h 259"/>
                <a:gd name="T62" fmla="*/ 0 w 328"/>
                <a:gd name="T63" fmla="*/ 0 h 259"/>
                <a:gd name="T64" fmla="*/ 0 w 328"/>
                <a:gd name="T65" fmla="*/ 0 h 259"/>
                <a:gd name="T66" fmla="*/ 0 w 328"/>
                <a:gd name="T67" fmla="*/ 0 h 259"/>
                <a:gd name="T68" fmla="*/ 0 w 328"/>
                <a:gd name="T69" fmla="*/ 0 h 259"/>
                <a:gd name="T70" fmla="*/ 0 w 328"/>
                <a:gd name="T71" fmla="*/ 0 h 259"/>
                <a:gd name="T72" fmla="*/ 0 w 328"/>
                <a:gd name="T73" fmla="*/ 0 h 259"/>
                <a:gd name="T74" fmla="*/ 0 w 328"/>
                <a:gd name="T75" fmla="*/ 0 h 259"/>
                <a:gd name="T76" fmla="*/ 0 w 328"/>
                <a:gd name="T77" fmla="*/ 0 h 259"/>
                <a:gd name="T78" fmla="*/ 0 w 328"/>
                <a:gd name="T79" fmla="*/ 0 h 259"/>
                <a:gd name="T80" fmla="*/ 0 w 328"/>
                <a:gd name="T81" fmla="*/ 0 h 259"/>
                <a:gd name="T82" fmla="*/ 0 w 328"/>
                <a:gd name="T83" fmla="*/ 0 h 259"/>
                <a:gd name="T84" fmla="*/ 0 w 328"/>
                <a:gd name="T85" fmla="*/ 0 h 259"/>
                <a:gd name="T86" fmla="*/ 0 w 328"/>
                <a:gd name="T87" fmla="*/ 0 h 259"/>
                <a:gd name="T88" fmla="*/ 0 w 328"/>
                <a:gd name="T89" fmla="*/ 1 h 259"/>
                <a:gd name="T90" fmla="*/ 0 w 328"/>
                <a:gd name="T91" fmla="*/ 1 h 259"/>
                <a:gd name="T92" fmla="*/ 0 w 328"/>
                <a:gd name="T93" fmla="*/ 1 h 259"/>
                <a:gd name="T94" fmla="*/ 0 w 328"/>
                <a:gd name="T95" fmla="*/ 0 h 259"/>
                <a:gd name="T96" fmla="*/ 0 w 328"/>
                <a:gd name="T97" fmla="*/ 0 h 259"/>
                <a:gd name="T98" fmla="*/ 0 w 328"/>
                <a:gd name="T99" fmla="*/ 1 h 259"/>
                <a:gd name="T100" fmla="*/ 0 w 328"/>
                <a:gd name="T101" fmla="*/ 1 h 259"/>
                <a:gd name="T102" fmla="*/ 0 w 328"/>
                <a:gd name="T103" fmla="*/ 1 h 259"/>
                <a:gd name="T104" fmla="*/ 0 w 328"/>
                <a:gd name="T105" fmla="*/ 1 h 259"/>
                <a:gd name="T106" fmla="*/ 0 w 328"/>
                <a:gd name="T107" fmla="*/ 1 h 259"/>
                <a:gd name="T108" fmla="*/ 0 w 328"/>
                <a:gd name="T109" fmla="*/ 1 h 259"/>
                <a:gd name="T110" fmla="*/ 0 w 328"/>
                <a:gd name="T111" fmla="*/ 0 h 259"/>
                <a:gd name="T112" fmla="*/ 0 w 328"/>
                <a:gd name="T113" fmla="*/ 0 h 259"/>
                <a:gd name="T114" fmla="*/ 0 w 328"/>
                <a:gd name="T115" fmla="*/ 0 h 259"/>
                <a:gd name="T116" fmla="*/ 1 w 328"/>
                <a:gd name="T117" fmla="*/ 0 h 25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328"/>
                <a:gd name="T178" fmla="*/ 0 h 259"/>
                <a:gd name="T179" fmla="*/ 328 w 328"/>
                <a:gd name="T180" fmla="*/ 259 h 25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328" h="259">
                  <a:moveTo>
                    <a:pt x="328" y="220"/>
                  </a:moveTo>
                  <a:lnTo>
                    <a:pt x="328" y="220"/>
                  </a:lnTo>
                  <a:lnTo>
                    <a:pt x="328" y="198"/>
                  </a:lnTo>
                  <a:lnTo>
                    <a:pt x="328" y="180"/>
                  </a:lnTo>
                  <a:lnTo>
                    <a:pt x="313" y="180"/>
                  </a:lnTo>
                  <a:lnTo>
                    <a:pt x="313" y="160"/>
                  </a:lnTo>
                  <a:lnTo>
                    <a:pt x="313" y="138"/>
                  </a:lnTo>
                  <a:lnTo>
                    <a:pt x="313" y="120"/>
                  </a:lnTo>
                  <a:lnTo>
                    <a:pt x="297" y="100"/>
                  </a:lnTo>
                  <a:lnTo>
                    <a:pt x="279" y="100"/>
                  </a:lnTo>
                  <a:lnTo>
                    <a:pt x="262" y="79"/>
                  </a:lnTo>
                  <a:lnTo>
                    <a:pt x="247" y="40"/>
                  </a:lnTo>
                  <a:lnTo>
                    <a:pt x="230" y="40"/>
                  </a:lnTo>
                  <a:lnTo>
                    <a:pt x="213" y="40"/>
                  </a:lnTo>
                  <a:lnTo>
                    <a:pt x="198" y="19"/>
                  </a:lnTo>
                  <a:lnTo>
                    <a:pt x="198" y="0"/>
                  </a:lnTo>
                  <a:lnTo>
                    <a:pt x="181" y="0"/>
                  </a:lnTo>
                  <a:lnTo>
                    <a:pt x="165" y="0"/>
                  </a:lnTo>
                  <a:lnTo>
                    <a:pt x="115" y="40"/>
                  </a:lnTo>
                  <a:lnTo>
                    <a:pt x="82" y="59"/>
                  </a:lnTo>
                  <a:lnTo>
                    <a:pt x="67" y="79"/>
                  </a:lnTo>
                  <a:lnTo>
                    <a:pt x="50" y="100"/>
                  </a:lnTo>
                  <a:lnTo>
                    <a:pt x="33" y="120"/>
                  </a:lnTo>
                  <a:lnTo>
                    <a:pt x="16" y="160"/>
                  </a:lnTo>
                  <a:lnTo>
                    <a:pt x="0" y="180"/>
                  </a:lnTo>
                  <a:lnTo>
                    <a:pt x="0" y="198"/>
                  </a:lnTo>
                  <a:lnTo>
                    <a:pt x="16" y="198"/>
                  </a:lnTo>
                  <a:lnTo>
                    <a:pt x="16" y="220"/>
                  </a:lnTo>
                  <a:lnTo>
                    <a:pt x="0" y="220"/>
                  </a:lnTo>
                  <a:lnTo>
                    <a:pt x="0" y="238"/>
                  </a:lnTo>
                  <a:lnTo>
                    <a:pt x="16" y="238"/>
                  </a:lnTo>
                  <a:lnTo>
                    <a:pt x="33" y="238"/>
                  </a:lnTo>
                  <a:lnTo>
                    <a:pt x="50" y="238"/>
                  </a:lnTo>
                  <a:lnTo>
                    <a:pt x="67" y="259"/>
                  </a:lnTo>
                  <a:lnTo>
                    <a:pt x="82" y="259"/>
                  </a:lnTo>
                  <a:lnTo>
                    <a:pt x="98" y="259"/>
                  </a:lnTo>
                  <a:lnTo>
                    <a:pt x="115" y="238"/>
                  </a:lnTo>
                  <a:lnTo>
                    <a:pt x="115" y="259"/>
                  </a:lnTo>
                  <a:lnTo>
                    <a:pt x="133" y="259"/>
                  </a:lnTo>
                  <a:lnTo>
                    <a:pt x="147" y="259"/>
                  </a:lnTo>
                  <a:lnTo>
                    <a:pt x="181" y="259"/>
                  </a:lnTo>
                  <a:lnTo>
                    <a:pt x="198" y="259"/>
                  </a:lnTo>
                  <a:lnTo>
                    <a:pt x="213" y="238"/>
                  </a:lnTo>
                  <a:lnTo>
                    <a:pt x="247" y="238"/>
                  </a:lnTo>
                  <a:lnTo>
                    <a:pt x="328" y="22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37" name="Freeform 106"/>
            <p:cNvSpPr>
              <a:spLocks/>
            </p:cNvSpPr>
            <p:nvPr/>
          </p:nvSpPr>
          <p:spPr bwMode="auto">
            <a:xfrm>
              <a:off x="2281" y="2622"/>
              <a:ext cx="245" cy="589"/>
            </a:xfrm>
            <a:custGeom>
              <a:avLst/>
              <a:gdLst>
                <a:gd name="T0" fmla="*/ 1 w 491"/>
                <a:gd name="T1" fmla="*/ 2 h 1178"/>
                <a:gd name="T2" fmla="*/ 1 w 491"/>
                <a:gd name="T3" fmla="*/ 3 h 1178"/>
                <a:gd name="T4" fmla="*/ 1 w 491"/>
                <a:gd name="T5" fmla="*/ 3 h 1178"/>
                <a:gd name="T6" fmla="*/ 1 w 491"/>
                <a:gd name="T7" fmla="*/ 4 h 1178"/>
                <a:gd name="T8" fmla="*/ 1 w 491"/>
                <a:gd name="T9" fmla="*/ 4 h 1178"/>
                <a:gd name="T10" fmla="*/ 1 w 491"/>
                <a:gd name="T11" fmla="*/ 4 h 1178"/>
                <a:gd name="T12" fmla="*/ 0 w 491"/>
                <a:gd name="T13" fmla="*/ 3 h 1178"/>
                <a:gd name="T14" fmla="*/ 0 w 491"/>
                <a:gd name="T15" fmla="*/ 2 h 1178"/>
                <a:gd name="T16" fmla="*/ 0 w 491"/>
                <a:gd name="T17" fmla="*/ 2 h 1178"/>
                <a:gd name="T18" fmla="*/ 0 w 491"/>
                <a:gd name="T19" fmla="*/ 1 h 1178"/>
                <a:gd name="T20" fmla="*/ 0 w 491"/>
                <a:gd name="T21" fmla="*/ 1 h 1178"/>
                <a:gd name="T22" fmla="*/ 0 w 491"/>
                <a:gd name="T23" fmla="*/ 0 h 1178"/>
                <a:gd name="T24" fmla="*/ 0 w 491"/>
                <a:gd name="T25" fmla="*/ 1 h 1178"/>
                <a:gd name="T26" fmla="*/ 0 w 491"/>
                <a:gd name="T27" fmla="*/ 1 h 1178"/>
                <a:gd name="T28" fmla="*/ 0 w 491"/>
                <a:gd name="T29" fmla="*/ 2 h 1178"/>
                <a:gd name="T30" fmla="*/ 0 w 491"/>
                <a:gd name="T31" fmla="*/ 2 h 1178"/>
                <a:gd name="T32" fmla="*/ 0 w 491"/>
                <a:gd name="T33" fmla="*/ 3 h 1178"/>
                <a:gd name="T34" fmla="*/ 0 w 491"/>
                <a:gd name="T35" fmla="*/ 3 h 1178"/>
                <a:gd name="T36" fmla="*/ 0 w 491"/>
                <a:gd name="T37" fmla="*/ 3 h 1178"/>
                <a:gd name="T38" fmla="*/ 0 w 491"/>
                <a:gd name="T39" fmla="*/ 4 h 1178"/>
                <a:gd name="T40" fmla="*/ 0 w 491"/>
                <a:gd name="T41" fmla="*/ 4 h 1178"/>
                <a:gd name="T42" fmla="*/ 1 w 491"/>
                <a:gd name="T43" fmla="*/ 5 h 1178"/>
                <a:gd name="T44" fmla="*/ 1 w 491"/>
                <a:gd name="T45" fmla="*/ 5 h 1178"/>
                <a:gd name="T46" fmla="*/ 1 w 491"/>
                <a:gd name="T47" fmla="*/ 5 h 1178"/>
                <a:gd name="T48" fmla="*/ 1 w 491"/>
                <a:gd name="T49" fmla="*/ 4 h 1178"/>
                <a:gd name="T50" fmla="*/ 1 w 491"/>
                <a:gd name="T51" fmla="*/ 4 h 1178"/>
                <a:gd name="T52" fmla="*/ 1 w 491"/>
                <a:gd name="T53" fmla="*/ 4 h 1178"/>
                <a:gd name="T54" fmla="*/ 1 w 491"/>
                <a:gd name="T55" fmla="*/ 3 h 1178"/>
                <a:gd name="T56" fmla="*/ 1 w 491"/>
                <a:gd name="T57" fmla="*/ 2 h 1178"/>
                <a:gd name="T58" fmla="*/ 1 w 491"/>
                <a:gd name="T59" fmla="*/ 2 h 1178"/>
                <a:gd name="T60" fmla="*/ 1 w 491"/>
                <a:gd name="T61" fmla="*/ 2 h 1178"/>
                <a:gd name="T62" fmla="*/ 1 w 491"/>
                <a:gd name="T63" fmla="*/ 2 h 1178"/>
                <a:gd name="T64" fmla="*/ 1 w 491"/>
                <a:gd name="T65" fmla="*/ 2 h 1178"/>
                <a:gd name="T66" fmla="*/ 1 w 491"/>
                <a:gd name="T67" fmla="*/ 2 h 1178"/>
                <a:gd name="T68" fmla="*/ 1 w 491"/>
                <a:gd name="T69" fmla="*/ 2 h 1178"/>
                <a:gd name="T70" fmla="*/ 1 w 491"/>
                <a:gd name="T71" fmla="*/ 1 h 117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91"/>
                <a:gd name="T109" fmla="*/ 0 h 1178"/>
                <a:gd name="T110" fmla="*/ 491 w 491"/>
                <a:gd name="T111" fmla="*/ 1178 h 117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91" h="1178">
                  <a:moveTo>
                    <a:pt x="377" y="58"/>
                  </a:moveTo>
                  <a:lnTo>
                    <a:pt x="361" y="258"/>
                  </a:lnTo>
                  <a:lnTo>
                    <a:pt x="345" y="517"/>
                  </a:lnTo>
                  <a:lnTo>
                    <a:pt x="345" y="577"/>
                  </a:lnTo>
                  <a:lnTo>
                    <a:pt x="345" y="657"/>
                  </a:lnTo>
                  <a:lnTo>
                    <a:pt x="345" y="717"/>
                  </a:lnTo>
                  <a:lnTo>
                    <a:pt x="345" y="818"/>
                  </a:lnTo>
                  <a:lnTo>
                    <a:pt x="327" y="956"/>
                  </a:lnTo>
                  <a:lnTo>
                    <a:pt x="327" y="1057"/>
                  </a:lnTo>
                  <a:lnTo>
                    <a:pt x="295" y="956"/>
                  </a:lnTo>
                  <a:lnTo>
                    <a:pt x="278" y="858"/>
                  </a:lnTo>
                  <a:lnTo>
                    <a:pt x="262" y="776"/>
                  </a:lnTo>
                  <a:lnTo>
                    <a:pt x="246" y="678"/>
                  </a:lnTo>
                  <a:lnTo>
                    <a:pt x="229" y="597"/>
                  </a:lnTo>
                  <a:lnTo>
                    <a:pt x="196" y="538"/>
                  </a:lnTo>
                  <a:lnTo>
                    <a:pt x="180" y="478"/>
                  </a:lnTo>
                  <a:lnTo>
                    <a:pt x="163" y="417"/>
                  </a:lnTo>
                  <a:lnTo>
                    <a:pt x="146" y="358"/>
                  </a:lnTo>
                  <a:lnTo>
                    <a:pt x="131" y="277"/>
                  </a:lnTo>
                  <a:lnTo>
                    <a:pt x="131" y="238"/>
                  </a:lnTo>
                  <a:lnTo>
                    <a:pt x="98" y="158"/>
                  </a:lnTo>
                  <a:lnTo>
                    <a:pt x="80" y="98"/>
                  </a:lnTo>
                  <a:lnTo>
                    <a:pt x="65" y="19"/>
                  </a:lnTo>
                  <a:lnTo>
                    <a:pt x="49" y="0"/>
                  </a:lnTo>
                  <a:lnTo>
                    <a:pt x="16" y="19"/>
                  </a:lnTo>
                  <a:lnTo>
                    <a:pt x="16" y="58"/>
                  </a:lnTo>
                  <a:lnTo>
                    <a:pt x="16" y="118"/>
                  </a:lnTo>
                  <a:lnTo>
                    <a:pt x="0" y="177"/>
                  </a:lnTo>
                  <a:lnTo>
                    <a:pt x="0" y="297"/>
                  </a:lnTo>
                  <a:lnTo>
                    <a:pt x="98" y="337"/>
                  </a:lnTo>
                  <a:lnTo>
                    <a:pt x="16" y="417"/>
                  </a:lnTo>
                  <a:lnTo>
                    <a:pt x="16" y="438"/>
                  </a:lnTo>
                  <a:lnTo>
                    <a:pt x="16" y="456"/>
                  </a:lnTo>
                  <a:lnTo>
                    <a:pt x="31" y="517"/>
                  </a:lnTo>
                  <a:lnTo>
                    <a:pt x="49" y="558"/>
                  </a:lnTo>
                  <a:lnTo>
                    <a:pt x="80" y="637"/>
                  </a:lnTo>
                  <a:lnTo>
                    <a:pt x="98" y="678"/>
                  </a:lnTo>
                  <a:lnTo>
                    <a:pt x="131" y="717"/>
                  </a:lnTo>
                  <a:lnTo>
                    <a:pt x="146" y="758"/>
                  </a:lnTo>
                  <a:lnTo>
                    <a:pt x="163" y="798"/>
                  </a:lnTo>
                  <a:lnTo>
                    <a:pt x="180" y="858"/>
                  </a:lnTo>
                  <a:lnTo>
                    <a:pt x="196" y="877"/>
                  </a:lnTo>
                  <a:lnTo>
                    <a:pt x="212" y="917"/>
                  </a:lnTo>
                  <a:lnTo>
                    <a:pt x="295" y="1178"/>
                  </a:lnTo>
                  <a:lnTo>
                    <a:pt x="361" y="1178"/>
                  </a:lnTo>
                  <a:lnTo>
                    <a:pt x="361" y="1156"/>
                  </a:lnTo>
                  <a:lnTo>
                    <a:pt x="361" y="1117"/>
                  </a:lnTo>
                  <a:lnTo>
                    <a:pt x="361" y="1096"/>
                  </a:lnTo>
                  <a:lnTo>
                    <a:pt x="361" y="1077"/>
                  </a:lnTo>
                  <a:lnTo>
                    <a:pt x="377" y="997"/>
                  </a:lnTo>
                  <a:lnTo>
                    <a:pt x="377" y="956"/>
                  </a:lnTo>
                  <a:lnTo>
                    <a:pt x="393" y="897"/>
                  </a:lnTo>
                  <a:lnTo>
                    <a:pt x="410" y="836"/>
                  </a:lnTo>
                  <a:lnTo>
                    <a:pt x="426" y="798"/>
                  </a:lnTo>
                  <a:lnTo>
                    <a:pt x="442" y="717"/>
                  </a:lnTo>
                  <a:lnTo>
                    <a:pt x="458" y="657"/>
                  </a:lnTo>
                  <a:lnTo>
                    <a:pt x="476" y="597"/>
                  </a:lnTo>
                  <a:lnTo>
                    <a:pt x="491" y="499"/>
                  </a:lnTo>
                  <a:lnTo>
                    <a:pt x="491" y="478"/>
                  </a:lnTo>
                  <a:lnTo>
                    <a:pt x="491" y="417"/>
                  </a:lnTo>
                  <a:lnTo>
                    <a:pt x="491" y="378"/>
                  </a:lnTo>
                  <a:lnTo>
                    <a:pt x="491" y="358"/>
                  </a:lnTo>
                  <a:lnTo>
                    <a:pt x="442" y="337"/>
                  </a:lnTo>
                  <a:lnTo>
                    <a:pt x="426" y="337"/>
                  </a:lnTo>
                  <a:lnTo>
                    <a:pt x="426" y="317"/>
                  </a:lnTo>
                  <a:lnTo>
                    <a:pt x="426" y="297"/>
                  </a:lnTo>
                  <a:lnTo>
                    <a:pt x="442" y="297"/>
                  </a:lnTo>
                  <a:lnTo>
                    <a:pt x="476" y="238"/>
                  </a:lnTo>
                  <a:lnTo>
                    <a:pt x="442" y="98"/>
                  </a:lnTo>
                  <a:lnTo>
                    <a:pt x="377"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38" name="Freeform 107"/>
            <p:cNvSpPr>
              <a:spLocks/>
            </p:cNvSpPr>
            <p:nvPr/>
          </p:nvSpPr>
          <p:spPr bwMode="auto">
            <a:xfrm>
              <a:off x="2281" y="2622"/>
              <a:ext cx="245" cy="589"/>
            </a:xfrm>
            <a:custGeom>
              <a:avLst/>
              <a:gdLst>
                <a:gd name="T0" fmla="*/ 1 w 491"/>
                <a:gd name="T1" fmla="*/ 2 h 1178"/>
                <a:gd name="T2" fmla="*/ 1 w 491"/>
                <a:gd name="T3" fmla="*/ 3 h 1178"/>
                <a:gd name="T4" fmla="*/ 1 w 491"/>
                <a:gd name="T5" fmla="*/ 3 h 1178"/>
                <a:gd name="T6" fmla="*/ 1 w 491"/>
                <a:gd name="T7" fmla="*/ 4 h 1178"/>
                <a:gd name="T8" fmla="*/ 1 w 491"/>
                <a:gd name="T9" fmla="*/ 4 h 1178"/>
                <a:gd name="T10" fmla="*/ 1 w 491"/>
                <a:gd name="T11" fmla="*/ 4 h 1178"/>
                <a:gd name="T12" fmla="*/ 0 w 491"/>
                <a:gd name="T13" fmla="*/ 3 h 1178"/>
                <a:gd name="T14" fmla="*/ 0 w 491"/>
                <a:gd name="T15" fmla="*/ 2 h 1178"/>
                <a:gd name="T16" fmla="*/ 0 w 491"/>
                <a:gd name="T17" fmla="*/ 2 h 1178"/>
                <a:gd name="T18" fmla="*/ 0 w 491"/>
                <a:gd name="T19" fmla="*/ 1 h 1178"/>
                <a:gd name="T20" fmla="*/ 0 w 491"/>
                <a:gd name="T21" fmla="*/ 1 h 1178"/>
                <a:gd name="T22" fmla="*/ 0 w 491"/>
                <a:gd name="T23" fmla="*/ 0 h 1178"/>
                <a:gd name="T24" fmla="*/ 0 w 491"/>
                <a:gd name="T25" fmla="*/ 1 h 1178"/>
                <a:gd name="T26" fmla="*/ 0 w 491"/>
                <a:gd name="T27" fmla="*/ 1 h 1178"/>
                <a:gd name="T28" fmla="*/ 0 w 491"/>
                <a:gd name="T29" fmla="*/ 2 h 1178"/>
                <a:gd name="T30" fmla="*/ 0 w 491"/>
                <a:gd name="T31" fmla="*/ 2 h 1178"/>
                <a:gd name="T32" fmla="*/ 0 w 491"/>
                <a:gd name="T33" fmla="*/ 3 h 1178"/>
                <a:gd name="T34" fmla="*/ 0 w 491"/>
                <a:gd name="T35" fmla="*/ 3 h 1178"/>
                <a:gd name="T36" fmla="*/ 0 w 491"/>
                <a:gd name="T37" fmla="*/ 3 h 1178"/>
                <a:gd name="T38" fmla="*/ 0 w 491"/>
                <a:gd name="T39" fmla="*/ 4 h 1178"/>
                <a:gd name="T40" fmla="*/ 0 w 491"/>
                <a:gd name="T41" fmla="*/ 4 h 1178"/>
                <a:gd name="T42" fmla="*/ 1 w 491"/>
                <a:gd name="T43" fmla="*/ 5 h 1178"/>
                <a:gd name="T44" fmla="*/ 1 w 491"/>
                <a:gd name="T45" fmla="*/ 5 h 1178"/>
                <a:gd name="T46" fmla="*/ 1 w 491"/>
                <a:gd name="T47" fmla="*/ 5 h 1178"/>
                <a:gd name="T48" fmla="*/ 1 w 491"/>
                <a:gd name="T49" fmla="*/ 4 h 1178"/>
                <a:gd name="T50" fmla="*/ 1 w 491"/>
                <a:gd name="T51" fmla="*/ 4 h 1178"/>
                <a:gd name="T52" fmla="*/ 1 w 491"/>
                <a:gd name="T53" fmla="*/ 4 h 1178"/>
                <a:gd name="T54" fmla="*/ 1 w 491"/>
                <a:gd name="T55" fmla="*/ 3 h 1178"/>
                <a:gd name="T56" fmla="*/ 1 w 491"/>
                <a:gd name="T57" fmla="*/ 2 h 1178"/>
                <a:gd name="T58" fmla="*/ 1 w 491"/>
                <a:gd name="T59" fmla="*/ 2 h 1178"/>
                <a:gd name="T60" fmla="*/ 1 w 491"/>
                <a:gd name="T61" fmla="*/ 2 h 1178"/>
                <a:gd name="T62" fmla="*/ 1 w 491"/>
                <a:gd name="T63" fmla="*/ 2 h 1178"/>
                <a:gd name="T64" fmla="*/ 1 w 491"/>
                <a:gd name="T65" fmla="*/ 2 h 1178"/>
                <a:gd name="T66" fmla="*/ 1 w 491"/>
                <a:gd name="T67" fmla="*/ 2 h 1178"/>
                <a:gd name="T68" fmla="*/ 1 w 491"/>
                <a:gd name="T69" fmla="*/ 2 h 1178"/>
                <a:gd name="T70" fmla="*/ 1 w 491"/>
                <a:gd name="T71" fmla="*/ 1 h 117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91"/>
                <a:gd name="T109" fmla="*/ 0 h 1178"/>
                <a:gd name="T110" fmla="*/ 491 w 491"/>
                <a:gd name="T111" fmla="*/ 1178 h 117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91" h="1178">
                  <a:moveTo>
                    <a:pt x="377" y="58"/>
                  </a:moveTo>
                  <a:lnTo>
                    <a:pt x="361" y="258"/>
                  </a:lnTo>
                  <a:lnTo>
                    <a:pt x="345" y="517"/>
                  </a:lnTo>
                  <a:lnTo>
                    <a:pt x="345" y="577"/>
                  </a:lnTo>
                  <a:lnTo>
                    <a:pt x="345" y="657"/>
                  </a:lnTo>
                  <a:lnTo>
                    <a:pt x="345" y="717"/>
                  </a:lnTo>
                  <a:lnTo>
                    <a:pt x="345" y="818"/>
                  </a:lnTo>
                  <a:lnTo>
                    <a:pt x="327" y="956"/>
                  </a:lnTo>
                  <a:lnTo>
                    <a:pt x="327" y="1057"/>
                  </a:lnTo>
                  <a:lnTo>
                    <a:pt x="295" y="956"/>
                  </a:lnTo>
                  <a:lnTo>
                    <a:pt x="278" y="858"/>
                  </a:lnTo>
                  <a:lnTo>
                    <a:pt x="262" y="776"/>
                  </a:lnTo>
                  <a:lnTo>
                    <a:pt x="246" y="678"/>
                  </a:lnTo>
                  <a:lnTo>
                    <a:pt x="229" y="597"/>
                  </a:lnTo>
                  <a:lnTo>
                    <a:pt x="196" y="538"/>
                  </a:lnTo>
                  <a:lnTo>
                    <a:pt x="180" y="478"/>
                  </a:lnTo>
                  <a:lnTo>
                    <a:pt x="163" y="417"/>
                  </a:lnTo>
                  <a:lnTo>
                    <a:pt x="146" y="358"/>
                  </a:lnTo>
                  <a:lnTo>
                    <a:pt x="131" y="277"/>
                  </a:lnTo>
                  <a:lnTo>
                    <a:pt x="131" y="238"/>
                  </a:lnTo>
                  <a:lnTo>
                    <a:pt x="98" y="158"/>
                  </a:lnTo>
                  <a:lnTo>
                    <a:pt x="80" y="98"/>
                  </a:lnTo>
                  <a:lnTo>
                    <a:pt x="65" y="19"/>
                  </a:lnTo>
                  <a:lnTo>
                    <a:pt x="49" y="0"/>
                  </a:lnTo>
                  <a:lnTo>
                    <a:pt x="16" y="19"/>
                  </a:lnTo>
                  <a:lnTo>
                    <a:pt x="16" y="58"/>
                  </a:lnTo>
                  <a:lnTo>
                    <a:pt x="16" y="118"/>
                  </a:lnTo>
                  <a:lnTo>
                    <a:pt x="0" y="177"/>
                  </a:lnTo>
                  <a:lnTo>
                    <a:pt x="0" y="297"/>
                  </a:lnTo>
                  <a:lnTo>
                    <a:pt x="98" y="337"/>
                  </a:lnTo>
                  <a:lnTo>
                    <a:pt x="16" y="417"/>
                  </a:lnTo>
                  <a:lnTo>
                    <a:pt x="16" y="438"/>
                  </a:lnTo>
                  <a:lnTo>
                    <a:pt x="16" y="456"/>
                  </a:lnTo>
                  <a:lnTo>
                    <a:pt x="31" y="517"/>
                  </a:lnTo>
                  <a:lnTo>
                    <a:pt x="49" y="558"/>
                  </a:lnTo>
                  <a:lnTo>
                    <a:pt x="80" y="637"/>
                  </a:lnTo>
                  <a:lnTo>
                    <a:pt x="98" y="678"/>
                  </a:lnTo>
                  <a:lnTo>
                    <a:pt x="131" y="717"/>
                  </a:lnTo>
                  <a:lnTo>
                    <a:pt x="146" y="758"/>
                  </a:lnTo>
                  <a:lnTo>
                    <a:pt x="163" y="798"/>
                  </a:lnTo>
                  <a:lnTo>
                    <a:pt x="180" y="858"/>
                  </a:lnTo>
                  <a:lnTo>
                    <a:pt x="196" y="877"/>
                  </a:lnTo>
                  <a:lnTo>
                    <a:pt x="212" y="917"/>
                  </a:lnTo>
                  <a:lnTo>
                    <a:pt x="295" y="1178"/>
                  </a:lnTo>
                  <a:lnTo>
                    <a:pt x="361" y="1178"/>
                  </a:lnTo>
                  <a:lnTo>
                    <a:pt x="361" y="1156"/>
                  </a:lnTo>
                  <a:lnTo>
                    <a:pt x="361" y="1117"/>
                  </a:lnTo>
                  <a:lnTo>
                    <a:pt x="361" y="1096"/>
                  </a:lnTo>
                  <a:lnTo>
                    <a:pt x="361" y="1077"/>
                  </a:lnTo>
                  <a:lnTo>
                    <a:pt x="377" y="997"/>
                  </a:lnTo>
                  <a:lnTo>
                    <a:pt x="377" y="956"/>
                  </a:lnTo>
                  <a:lnTo>
                    <a:pt x="393" y="897"/>
                  </a:lnTo>
                  <a:lnTo>
                    <a:pt x="410" y="836"/>
                  </a:lnTo>
                  <a:lnTo>
                    <a:pt x="426" y="798"/>
                  </a:lnTo>
                  <a:lnTo>
                    <a:pt x="442" y="717"/>
                  </a:lnTo>
                  <a:lnTo>
                    <a:pt x="458" y="657"/>
                  </a:lnTo>
                  <a:lnTo>
                    <a:pt x="476" y="597"/>
                  </a:lnTo>
                  <a:lnTo>
                    <a:pt x="491" y="499"/>
                  </a:lnTo>
                  <a:lnTo>
                    <a:pt x="491" y="478"/>
                  </a:lnTo>
                  <a:lnTo>
                    <a:pt x="491" y="417"/>
                  </a:lnTo>
                  <a:lnTo>
                    <a:pt x="491" y="378"/>
                  </a:lnTo>
                  <a:lnTo>
                    <a:pt x="491" y="358"/>
                  </a:lnTo>
                  <a:lnTo>
                    <a:pt x="442" y="337"/>
                  </a:lnTo>
                  <a:lnTo>
                    <a:pt x="426" y="337"/>
                  </a:lnTo>
                  <a:lnTo>
                    <a:pt x="426" y="317"/>
                  </a:lnTo>
                  <a:lnTo>
                    <a:pt x="426" y="297"/>
                  </a:lnTo>
                  <a:lnTo>
                    <a:pt x="442" y="297"/>
                  </a:lnTo>
                  <a:lnTo>
                    <a:pt x="476" y="238"/>
                  </a:lnTo>
                  <a:lnTo>
                    <a:pt x="442" y="98"/>
                  </a:lnTo>
                  <a:lnTo>
                    <a:pt x="377" y="5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39" name="Freeform 108"/>
            <p:cNvSpPr>
              <a:spLocks/>
            </p:cNvSpPr>
            <p:nvPr/>
          </p:nvSpPr>
          <p:spPr bwMode="auto">
            <a:xfrm>
              <a:off x="2289" y="3081"/>
              <a:ext cx="197" cy="149"/>
            </a:xfrm>
            <a:custGeom>
              <a:avLst/>
              <a:gdLst>
                <a:gd name="T0" fmla="*/ 1 w 394"/>
                <a:gd name="T1" fmla="*/ 0 h 300"/>
                <a:gd name="T2" fmla="*/ 1 w 394"/>
                <a:gd name="T3" fmla="*/ 0 h 300"/>
                <a:gd name="T4" fmla="*/ 1 w 394"/>
                <a:gd name="T5" fmla="*/ 0 h 300"/>
                <a:gd name="T6" fmla="*/ 1 w 394"/>
                <a:gd name="T7" fmla="*/ 0 h 300"/>
                <a:gd name="T8" fmla="*/ 1 w 394"/>
                <a:gd name="T9" fmla="*/ 0 h 300"/>
                <a:gd name="T10" fmla="*/ 1 w 394"/>
                <a:gd name="T11" fmla="*/ 0 h 300"/>
                <a:gd name="T12" fmla="*/ 1 w 394"/>
                <a:gd name="T13" fmla="*/ 0 h 300"/>
                <a:gd name="T14" fmla="*/ 1 w 394"/>
                <a:gd name="T15" fmla="*/ 0 h 300"/>
                <a:gd name="T16" fmla="*/ 1 w 394"/>
                <a:gd name="T17" fmla="*/ 0 h 300"/>
                <a:gd name="T18" fmla="*/ 2 w 394"/>
                <a:gd name="T19" fmla="*/ 0 h 300"/>
                <a:gd name="T20" fmla="*/ 2 w 394"/>
                <a:gd name="T21" fmla="*/ 0 h 300"/>
                <a:gd name="T22" fmla="*/ 2 w 394"/>
                <a:gd name="T23" fmla="*/ 0 h 300"/>
                <a:gd name="T24" fmla="*/ 2 w 394"/>
                <a:gd name="T25" fmla="*/ 0 h 300"/>
                <a:gd name="T26" fmla="*/ 2 w 394"/>
                <a:gd name="T27" fmla="*/ 0 h 300"/>
                <a:gd name="T28" fmla="*/ 2 w 394"/>
                <a:gd name="T29" fmla="*/ 0 h 300"/>
                <a:gd name="T30" fmla="*/ 2 w 394"/>
                <a:gd name="T31" fmla="*/ 0 h 300"/>
                <a:gd name="T32" fmla="*/ 2 w 394"/>
                <a:gd name="T33" fmla="*/ 0 h 300"/>
                <a:gd name="T34" fmla="*/ 2 w 394"/>
                <a:gd name="T35" fmla="*/ 0 h 300"/>
                <a:gd name="T36" fmla="*/ 2 w 394"/>
                <a:gd name="T37" fmla="*/ 0 h 300"/>
                <a:gd name="T38" fmla="*/ 2 w 394"/>
                <a:gd name="T39" fmla="*/ 0 h 300"/>
                <a:gd name="T40" fmla="*/ 2 w 394"/>
                <a:gd name="T41" fmla="*/ 0 h 300"/>
                <a:gd name="T42" fmla="*/ 2 w 394"/>
                <a:gd name="T43" fmla="*/ 0 h 300"/>
                <a:gd name="T44" fmla="*/ 2 w 394"/>
                <a:gd name="T45" fmla="*/ 0 h 300"/>
                <a:gd name="T46" fmla="*/ 2 w 394"/>
                <a:gd name="T47" fmla="*/ 0 h 300"/>
                <a:gd name="T48" fmla="*/ 2 w 394"/>
                <a:gd name="T49" fmla="*/ 0 h 300"/>
                <a:gd name="T50" fmla="*/ 2 w 394"/>
                <a:gd name="T51" fmla="*/ 0 h 300"/>
                <a:gd name="T52" fmla="*/ 2 w 394"/>
                <a:gd name="T53" fmla="*/ 0 h 300"/>
                <a:gd name="T54" fmla="*/ 2 w 394"/>
                <a:gd name="T55" fmla="*/ 0 h 300"/>
                <a:gd name="T56" fmla="*/ 2 w 394"/>
                <a:gd name="T57" fmla="*/ 0 h 300"/>
                <a:gd name="T58" fmla="*/ 2 w 394"/>
                <a:gd name="T59" fmla="*/ 0 h 300"/>
                <a:gd name="T60" fmla="*/ 2 w 394"/>
                <a:gd name="T61" fmla="*/ 0 h 300"/>
                <a:gd name="T62" fmla="*/ 2 w 394"/>
                <a:gd name="T63" fmla="*/ 0 h 300"/>
                <a:gd name="T64" fmla="*/ 2 w 394"/>
                <a:gd name="T65" fmla="*/ 0 h 300"/>
                <a:gd name="T66" fmla="*/ 2 w 394"/>
                <a:gd name="T67" fmla="*/ 1 h 300"/>
                <a:gd name="T68" fmla="*/ 2 w 394"/>
                <a:gd name="T69" fmla="*/ 1 h 300"/>
                <a:gd name="T70" fmla="*/ 2 w 394"/>
                <a:gd name="T71" fmla="*/ 1 h 300"/>
                <a:gd name="T72" fmla="*/ 2 w 394"/>
                <a:gd name="T73" fmla="*/ 1 h 300"/>
                <a:gd name="T74" fmla="*/ 2 w 394"/>
                <a:gd name="T75" fmla="*/ 1 h 300"/>
                <a:gd name="T76" fmla="*/ 1 w 394"/>
                <a:gd name="T77" fmla="*/ 1 h 300"/>
                <a:gd name="T78" fmla="*/ 1 w 394"/>
                <a:gd name="T79" fmla="*/ 1 h 300"/>
                <a:gd name="T80" fmla="*/ 1 w 394"/>
                <a:gd name="T81" fmla="*/ 1 h 300"/>
                <a:gd name="T82" fmla="*/ 1 w 394"/>
                <a:gd name="T83" fmla="*/ 1 h 300"/>
                <a:gd name="T84" fmla="*/ 1 w 394"/>
                <a:gd name="T85" fmla="*/ 1 h 300"/>
                <a:gd name="T86" fmla="*/ 1 w 394"/>
                <a:gd name="T87" fmla="*/ 1 h 300"/>
                <a:gd name="T88" fmla="*/ 1 w 394"/>
                <a:gd name="T89" fmla="*/ 1 h 300"/>
                <a:gd name="T90" fmla="*/ 1 w 394"/>
                <a:gd name="T91" fmla="*/ 1 h 300"/>
                <a:gd name="T92" fmla="*/ 1 w 394"/>
                <a:gd name="T93" fmla="*/ 1 h 300"/>
                <a:gd name="T94" fmla="*/ 1 w 394"/>
                <a:gd name="T95" fmla="*/ 1 h 300"/>
                <a:gd name="T96" fmla="*/ 1 w 394"/>
                <a:gd name="T97" fmla="*/ 1 h 300"/>
                <a:gd name="T98" fmla="*/ 1 w 394"/>
                <a:gd name="T99" fmla="*/ 1 h 300"/>
                <a:gd name="T100" fmla="*/ 0 w 394"/>
                <a:gd name="T101" fmla="*/ 1 h 300"/>
                <a:gd name="T102" fmla="*/ 0 w 394"/>
                <a:gd name="T103" fmla="*/ 0 h 300"/>
                <a:gd name="T104" fmla="*/ 0 w 394"/>
                <a:gd name="T105" fmla="*/ 0 h 300"/>
                <a:gd name="T106" fmla="*/ 0 w 394"/>
                <a:gd name="T107" fmla="*/ 0 h 300"/>
                <a:gd name="T108" fmla="*/ 0 w 394"/>
                <a:gd name="T109" fmla="*/ 0 h 300"/>
                <a:gd name="T110" fmla="*/ 0 w 394"/>
                <a:gd name="T111" fmla="*/ 0 h 300"/>
                <a:gd name="T112" fmla="*/ 1 w 394"/>
                <a:gd name="T113" fmla="*/ 0 h 300"/>
                <a:gd name="T114" fmla="*/ 1 w 394"/>
                <a:gd name="T115" fmla="*/ 0 h 300"/>
                <a:gd name="T116" fmla="*/ 1 w 394"/>
                <a:gd name="T117" fmla="*/ 0 h 30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394"/>
                <a:gd name="T178" fmla="*/ 0 h 300"/>
                <a:gd name="T179" fmla="*/ 394 w 394"/>
                <a:gd name="T180" fmla="*/ 300 h 30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394" h="300">
                  <a:moveTo>
                    <a:pt x="32" y="80"/>
                  </a:moveTo>
                  <a:lnTo>
                    <a:pt x="63" y="60"/>
                  </a:lnTo>
                  <a:lnTo>
                    <a:pt x="98" y="41"/>
                  </a:lnTo>
                  <a:lnTo>
                    <a:pt x="129" y="0"/>
                  </a:lnTo>
                  <a:lnTo>
                    <a:pt x="146" y="0"/>
                  </a:lnTo>
                  <a:lnTo>
                    <a:pt x="163" y="0"/>
                  </a:lnTo>
                  <a:lnTo>
                    <a:pt x="180" y="0"/>
                  </a:lnTo>
                  <a:lnTo>
                    <a:pt x="213" y="0"/>
                  </a:lnTo>
                  <a:lnTo>
                    <a:pt x="245" y="0"/>
                  </a:lnTo>
                  <a:lnTo>
                    <a:pt x="278" y="21"/>
                  </a:lnTo>
                  <a:lnTo>
                    <a:pt x="311" y="41"/>
                  </a:lnTo>
                  <a:lnTo>
                    <a:pt x="329" y="41"/>
                  </a:lnTo>
                  <a:lnTo>
                    <a:pt x="344" y="60"/>
                  </a:lnTo>
                  <a:lnTo>
                    <a:pt x="360" y="80"/>
                  </a:lnTo>
                  <a:lnTo>
                    <a:pt x="377" y="99"/>
                  </a:lnTo>
                  <a:lnTo>
                    <a:pt x="394" y="120"/>
                  </a:lnTo>
                  <a:lnTo>
                    <a:pt x="394" y="139"/>
                  </a:lnTo>
                  <a:lnTo>
                    <a:pt x="377" y="139"/>
                  </a:lnTo>
                  <a:lnTo>
                    <a:pt x="377" y="160"/>
                  </a:lnTo>
                  <a:lnTo>
                    <a:pt x="360" y="139"/>
                  </a:lnTo>
                  <a:lnTo>
                    <a:pt x="344" y="120"/>
                  </a:lnTo>
                  <a:lnTo>
                    <a:pt x="329" y="120"/>
                  </a:lnTo>
                  <a:lnTo>
                    <a:pt x="329" y="139"/>
                  </a:lnTo>
                  <a:lnTo>
                    <a:pt x="311" y="160"/>
                  </a:lnTo>
                  <a:lnTo>
                    <a:pt x="311" y="179"/>
                  </a:lnTo>
                  <a:lnTo>
                    <a:pt x="311" y="199"/>
                  </a:lnTo>
                  <a:lnTo>
                    <a:pt x="295" y="220"/>
                  </a:lnTo>
                  <a:lnTo>
                    <a:pt x="295" y="239"/>
                  </a:lnTo>
                  <a:lnTo>
                    <a:pt x="278" y="260"/>
                  </a:lnTo>
                  <a:lnTo>
                    <a:pt x="262" y="279"/>
                  </a:lnTo>
                  <a:lnTo>
                    <a:pt x="262" y="300"/>
                  </a:lnTo>
                  <a:lnTo>
                    <a:pt x="230" y="279"/>
                  </a:lnTo>
                  <a:lnTo>
                    <a:pt x="213" y="260"/>
                  </a:lnTo>
                  <a:lnTo>
                    <a:pt x="195" y="279"/>
                  </a:lnTo>
                  <a:lnTo>
                    <a:pt x="180" y="279"/>
                  </a:lnTo>
                  <a:lnTo>
                    <a:pt x="180" y="300"/>
                  </a:lnTo>
                  <a:lnTo>
                    <a:pt x="146" y="300"/>
                  </a:lnTo>
                  <a:lnTo>
                    <a:pt x="129" y="300"/>
                  </a:lnTo>
                  <a:lnTo>
                    <a:pt x="80" y="300"/>
                  </a:lnTo>
                  <a:lnTo>
                    <a:pt x="63" y="300"/>
                  </a:lnTo>
                  <a:lnTo>
                    <a:pt x="32" y="279"/>
                  </a:lnTo>
                  <a:lnTo>
                    <a:pt x="15" y="279"/>
                  </a:lnTo>
                  <a:lnTo>
                    <a:pt x="0" y="260"/>
                  </a:lnTo>
                  <a:lnTo>
                    <a:pt x="0" y="239"/>
                  </a:lnTo>
                  <a:lnTo>
                    <a:pt x="0" y="199"/>
                  </a:lnTo>
                  <a:lnTo>
                    <a:pt x="0" y="179"/>
                  </a:lnTo>
                  <a:lnTo>
                    <a:pt x="0" y="160"/>
                  </a:lnTo>
                  <a:lnTo>
                    <a:pt x="0" y="120"/>
                  </a:lnTo>
                  <a:lnTo>
                    <a:pt x="15" y="99"/>
                  </a:lnTo>
                  <a:lnTo>
                    <a:pt x="15" y="80"/>
                  </a:lnTo>
                  <a:lnTo>
                    <a:pt x="32" y="8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40" name="Freeform 109"/>
            <p:cNvSpPr>
              <a:spLocks/>
            </p:cNvSpPr>
            <p:nvPr/>
          </p:nvSpPr>
          <p:spPr bwMode="auto">
            <a:xfrm>
              <a:off x="2289" y="3081"/>
              <a:ext cx="197" cy="149"/>
            </a:xfrm>
            <a:custGeom>
              <a:avLst/>
              <a:gdLst>
                <a:gd name="T0" fmla="*/ 1 w 394"/>
                <a:gd name="T1" fmla="*/ 0 h 300"/>
                <a:gd name="T2" fmla="*/ 1 w 394"/>
                <a:gd name="T3" fmla="*/ 0 h 300"/>
                <a:gd name="T4" fmla="*/ 1 w 394"/>
                <a:gd name="T5" fmla="*/ 0 h 300"/>
                <a:gd name="T6" fmla="*/ 1 w 394"/>
                <a:gd name="T7" fmla="*/ 0 h 300"/>
                <a:gd name="T8" fmla="*/ 1 w 394"/>
                <a:gd name="T9" fmla="*/ 0 h 300"/>
                <a:gd name="T10" fmla="*/ 1 w 394"/>
                <a:gd name="T11" fmla="*/ 0 h 300"/>
                <a:gd name="T12" fmla="*/ 1 w 394"/>
                <a:gd name="T13" fmla="*/ 0 h 300"/>
                <a:gd name="T14" fmla="*/ 1 w 394"/>
                <a:gd name="T15" fmla="*/ 0 h 300"/>
                <a:gd name="T16" fmla="*/ 1 w 394"/>
                <a:gd name="T17" fmla="*/ 0 h 300"/>
                <a:gd name="T18" fmla="*/ 2 w 394"/>
                <a:gd name="T19" fmla="*/ 0 h 300"/>
                <a:gd name="T20" fmla="*/ 2 w 394"/>
                <a:gd name="T21" fmla="*/ 0 h 300"/>
                <a:gd name="T22" fmla="*/ 2 w 394"/>
                <a:gd name="T23" fmla="*/ 0 h 300"/>
                <a:gd name="T24" fmla="*/ 2 w 394"/>
                <a:gd name="T25" fmla="*/ 0 h 300"/>
                <a:gd name="T26" fmla="*/ 2 w 394"/>
                <a:gd name="T27" fmla="*/ 0 h 300"/>
                <a:gd name="T28" fmla="*/ 2 w 394"/>
                <a:gd name="T29" fmla="*/ 0 h 300"/>
                <a:gd name="T30" fmla="*/ 2 w 394"/>
                <a:gd name="T31" fmla="*/ 0 h 300"/>
                <a:gd name="T32" fmla="*/ 2 w 394"/>
                <a:gd name="T33" fmla="*/ 0 h 300"/>
                <a:gd name="T34" fmla="*/ 2 w 394"/>
                <a:gd name="T35" fmla="*/ 0 h 300"/>
                <a:gd name="T36" fmla="*/ 2 w 394"/>
                <a:gd name="T37" fmla="*/ 0 h 300"/>
                <a:gd name="T38" fmla="*/ 2 w 394"/>
                <a:gd name="T39" fmla="*/ 0 h 300"/>
                <a:gd name="T40" fmla="*/ 2 w 394"/>
                <a:gd name="T41" fmla="*/ 0 h 300"/>
                <a:gd name="T42" fmla="*/ 2 w 394"/>
                <a:gd name="T43" fmla="*/ 0 h 300"/>
                <a:gd name="T44" fmla="*/ 2 w 394"/>
                <a:gd name="T45" fmla="*/ 0 h 300"/>
                <a:gd name="T46" fmla="*/ 2 w 394"/>
                <a:gd name="T47" fmla="*/ 0 h 300"/>
                <a:gd name="T48" fmla="*/ 2 w 394"/>
                <a:gd name="T49" fmla="*/ 0 h 300"/>
                <a:gd name="T50" fmla="*/ 2 w 394"/>
                <a:gd name="T51" fmla="*/ 0 h 300"/>
                <a:gd name="T52" fmla="*/ 2 w 394"/>
                <a:gd name="T53" fmla="*/ 0 h 300"/>
                <a:gd name="T54" fmla="*/ 2 w 394"/>
                <a:gd name="T55" fmla="*/ 0 h 300"/>
                <a:gd name="T56" fmla="*/ 2 w 394"/>
                <a:gd name="T57" fmla="*/ 0 h 300"/>
                <a:gd name="T58" fmla="*/ 2 w 394"/>
                <a:gd name="T59" fmla="*/ 0 h 300"/>
                <a:gd name="T60" fmla="*/ 2 w 394"/>
                <a:gd name="T61" fmla="*/ 0 h 300"/>
                <a:gd name="T62" fmla="*/ 2 w 394"/>
                <a:gd name="T63" fmla="*/ 0 h 300"/>
                <a:gd name="T64" fmla="*/ 2 w 394"/>
                <a:gd name="T65" fmla="*/ 0 h 300"/>
                <a:gd name="T66" fmla="*/ 2 w 394"/>
                <a:gd name="T67" fmla="*/ 1 h 300"/>
                <a:gd name="T68" fmla="*/ 2 w 394"/>
                <a:gd name="T69" fmla="*/ 1 h 300"/>
                <a:gd name="T70" fmla="*/ 2 w 394"/>
                <a:gd name="T71" fmla="*/ 1 h 300"/>
                <a:gd name="T72" fmla="*/ 2 w 394"/>
                <a:gd name="T73" fmla="*/ 1 h 300"/>
                <a:gd name="T74" fmla="*/ 2 w 394"/>
                <a:gd name="T75" fmla="*/ 1 h 300"/>
                <a:gd name="T76" fmla="*/ 1 w 394"/>
                <a:gd name="T77" fmla="*/ 1 h 300"/>
                <a:gd name="T78" fmla="*/ 1 w 394"/>
                <a:gd name="T79" fmla="*/ 1 h 300"/>
                <a:gd name="T80" fmla="*/ 1 w 394"/>
                <a:gd name="T81" fmla="*/ 1 h 300"/>
                <a:gd name="T82" fmla="*/ 1 w 394"/>
                <a:gd name="T83" fmla="*/ 1 h 300"/>
                <a:gd name="T84" fmla="*/ 1 w 394"/>
                <a:gd name="T85" fmla="*/ 1 h 300"/>
                <a:gd name="T86" fmla="*/ 1 w 394"/>
                <a:gd name="T87" fmla="*/ 1 h 300"/>
                <a:gd name="T88" fmla="*/ 1 w 394"/>
                <a:gd name="T89" fmla="*/ 1 h 300"/>
                <a:gd name="T90" fmla="*/ 1 w 394"/>
                <a:gd name="T91" fmla="*/ 1 h 300"/>
                <a:gd name="T92" fmla="*/ 1 w 394"/>
                <a:gd name="T93" fmla="*/ 1 h 300"/>
                <a:gd name="T94" fmla="*/ 1 w 394"/>
                <a:gd name="T95" fmla="*/ 1 h 300"/>
                <a:gd name="T96" fmla="*/ 1 w 394"/>
                <a:gd name="T97" fmla="*/ 1 h 300"/>
                <a:gd name="T98" fmla="*/ 1 w 394"/>
                <a:gd name="T99" fmla="*/ 1 h 300"/>
                <a:gd name="T100" fmla="*/ 0 w 394"/>
                <a:gd name="T101" fmla="*/ 1 h 300"/>
                <a:gd name="T102" fmla="*/ 0 w 394"/>
                <a:gd name="T103" fmla="*/ 0 h 300"/>
                <a:gd name="T104" fmla="*/ 0 w 394"/>
                <a:gd name="T105" fmla="*/ 0 h 300"/>
                <a:gd name="T106" fmla="*/ 0 w 394"/>
                <a:gd name="T107" fmla="*/ 0 h 300"/>
                <a:gd name="T108" fmla="*/ 0 w 394"/>
                <a:gd name="T109" fmla="*/ 0 h 300"/>
                <a:gd name="T110" fmla="*/ 0 w 394"/>
                <a:gd name="T111" fmla="*/ 0 h 300"/>
                <a:gd name="T112" fmla="*/ 1 w 394"/>
                <a:gd name="T113" fmla="*/ 0 h 300"/>
                <a:gd name="T114" fmla="*/ 1 w 394"/>
                <a:gd name="T115" fmla="*/ 0 h 300"/>
                <a:gd name="T116" fmla="*/ 1 w 394"/>
                <a:gd name="T117" fmla="*/ 0 h 30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394"/>
                <a:gd name="T178" fmla="*/ 0 h 300"/>
                <a:gd name="T179" fmla="*/ 394 w 394"/>
                <a:gd name="T180" fmla="*/ 300 h 30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394" h="300">
                  <a:moveTo>
                    <a:pt x="32" y="80"/>
                  </a:moveTo>
                  <a:lnTo>
                    <a:pt x="63" y="60"/>
                  </a:lnTo>
                  <a:lnTo>
                    <a:pt x="98" y="41"/>
                  </a:lnTo>
                  <a:lnTo>
                    <a:pt x="129" y="0"/>
                  </a:lnTo>
                  <a:lnTo>
                    <a:pt x="146" y="0"/>
                  </a:lnTo>
                  <a:lnTo>
                    <a:pt x="163" y="0"/>
                  </a:lnTo>
                  <a:lnTo>
                    <a:pt x="180" y="0"/>
                  </a:lnTo>
                  <a:lnTo>
                    <a:pt x="213" y="0"/>
                  </a:lnTo>
                  <a:lnTo>
                    <a:pt x="245" y="0"/>
                  </a:lnTo>
                  <a:lnTo>
                    <a:pt x="278" y="21"/>
                  </a:lnTo>
                  <a:lnTo>
                    <a:pt x="311" y="41"/>
                  </a:lnTo>
                  <a:lnTo>
                    <a:pt x="329" y="41"/>
                  </a:lnTo>
                  <a:lnTo>
                    <a:pt x="344" y="60"/>
                  </a:lnTo>
                  <a:lnTo>
                    <a:pt x="360" y="80"/>
                  </a:lnTo>
                  <a:lnTo>
                    <a:pt x="377" y="99"/>
                  </a:lnTo>
                  <a:lnTo>
                    <a:pt x="394" y="120"/>
                  </a:lnTo>
                  <a:lnTo>
                    <a:pt x="394" y="139"/>
                  </a:lnTo>
                  <a:lnTo>
                    <a:pt x="377" y="139"/>
                  </a:lnTo>
                  <a:lnTo>
                    <a:pt x="377" y="160"/>
                  </a:lnTo>
                  <a:lnTo>
                    <a:pt x="360" y="139"/>
                  </a:lnTo>
                  <a:lnTo>
                    <a:pt x="344" y="120"/>
                  </a:lnTo>
                  <a:lnTo>
                    <a:pt x="329" y="120"/>
                  </a:lnTo>
                  <a:lnTo>
                    <a:pt x="329" y="139"/>
                  </a:lnTo>
                  <a:lnTo>
                    <a:pt x="311" y="160"/>
                  </a:lnTo>
                  <a:lnTo>
                    <a:pt x="311" y="179"/>
                  </a:lnTo>
                  <a:lnTo>
                    <a:pt x="311" y="199"/>
                  </a:lnTo>
                  <a:lnTo>
                    <a:pt x="295" y="220"/>
                  </a:lnTo>
                  <a:lnTo>
                    <a:pt x="295" y="239"/>
                  </a:lnTo>
                  <a:lnTo>
                    <a:pt x="278" y="260"/>
                  </a:lnTo>
                  <a:lnTo>
                    <a:pt x="262" y="279"/>
                  </a:lnTo>
                  <a:lnTo>
                    <a:pt x="262" y="300"/>
                  </a:lnTo>
                  <a:lnTo>
                    <a:pt x="230" y="279"/>
                  </a:lnTo>
                  <a:lnTo>
                    <a:pt x="213" y="260"/>
                  </a:lnTo>
                  <a:lnTo>
                    <a:pt x="195" y="279"/>
                  </a:lnTo>
                  <a:lnTo>
                    <a:pt x="180" y="279"/>
                  </a:lnTo>
                  <a:lnTo>
                    <a:pt x="180" y="300"/>
                  </a:lnTo>
                  <a:lnTo>
                    <a:pt x="146" y="300"/>
                  </a:lnTo>
                  <a:lnTo>
                    <a:pt x="129" y="300"/>
                  </a:lnTo>
                  <a:lnTo>
                    <a:pt x="80" y="300"/>
                  </a:lnTo>
                  <a:lnTo>
                    <a:pt x="63" y="300"/>
                  </a:lnTo>
                  <a:lnTo>
                    <a:pt x="32" y="279"/>
                  </a:lnTo>
                  <a:lnTo>
                    <a:pt x="15" y="279"/>
                  </a:lnTo>
                  <a:lnTo>
                    <a:pt x="0" y="260"/>
                  </a:lnTo>
                  <a:lnTo>
                    <a:pt x="0" y="239"/>
                  </a:lnTo>
                  <a:lnTo>
                    <a:pt x="0" y="199"/>
                  </a:lnTo>
                  <a:lnTo>
                    <a:pt x="0" y="179"/>
                  </a:lnTo>
                  <a:lnTo>
                    <a:pt x="0" y="160"/>
                  </a:lnTo>
                  <a:lnTo>
                    <a:pt x="0" y="120"/>
                  </a:lnTo>
                  <a:lnTo>
                    <a:pt x="15" y="99"/>
                  </a:lnTo>
                  <a:lnTo>
                    <a:pt x="15" y="80"/>
                  </a:lnTo>
                  <a:lnTo>
                    <a:pt x="32" y="8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41" name="Freeform 110"/>
            <p:cNvSpPr>
              <a:spLocks/>
            </p:cNvSpPr>
            <p:nvPr/>
          </p:nvSpPr>
          <p:spPr bwMode="auto">
            <a:xfrm>
              <a:off x="2560" y="2771"/>
              <a:ext cx="50" cy="340"/>
            </a:xfrm>
            <a:custGeom>
              <a:avLst/>
              <a:gdLst>
                <a:gd name="T0" fmla="*/ 0 w 100"/>
                <a:gd name="T1" fmla="*/ 3 h 679"/>
                <a:gd name="T2" fmla="*/ 1 w 100"/>
                <a:gd name="T3" fmla="*/ 3 h 679"/>
                <a:gd name="T4" fmla="*/ 1 w 100"/>
                <a:gd name="T5" fmla="*/ 3 h 679"/>
                <a:gd name="T6" fmla="*/ 1 w 100"/>
                <a:gd name="T7" fmla="*/ 3 h 679"/>
                <a:gd name="T8" fmla="*/ 1 w 100"/>
                <a:gd name="T9" fmla="*/ 2 h 679"/>
                <a:gd name="T10" fmla="*/ 1 w 100"/>
                <a:gd name="T11" fmla="*/ 2 h 679"/>
                <a:gd name="T12" fmla="*/ 1 w 100"/>
                <a:gd name="T13" fmla="*/ 2 h 679"/>
                <a:gd name="T14" fmla="*/ 1 w 100"/>
                <a:gd name="T15" fmla="*/ 2 h 679"/>
                <a:gd name="T16" fmla="*/ 1 w 100"/>
                <a:gd name="T17" fmla="*/ 2 h 679"/>
                <a:gd name="T18" fmla="*/ 1 w 100"/>
                <a:gd name="T19" fmla="*/ 1 h 679"/>
                <a:gd name="T20" fmla="*/ 1 w 100"/>
                <a:gd name="T21" fmla="*/ 1 h 679"/>
                <a:gd name="T22" fmla="*/ 1 w 100"/>
                <a:gd name="T23" fmla="*/ 1 h 679"/>
                <a:gd name="T24" fmla="*/ 1 w 100"/>
                <a:gd name="T25" fmla="*/ 0 h 6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0"/>
                <a:gd name="T40" fmla="*/ 0 h 679"/>
                <a:gd name="T41" fmla="*/ 100 w 100"/>
                <a:gd name="T42" fmla="*/ 679 h 67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0" h="679">
                  <a:moveTo>
                    <a:pt x="0" y="679"/>
                  </a:moveTo>
                  <a:lnTo>
                    <a:pt x="16" y="640"/>
                  </a:lnTo>
                  <a:lnTo>
                    <a:pt x="16" y="579"/>
                  </a:lnTo>
                  <a:lnTo>
                    <a:pt x="16" y="539"/>
                  </a:lnTo>
                  <a:lnTo>
                    <a:pt x="35" y="479"/>
                  </a:lnTo>
                  <a:lnTo>
                    <a:pt x="35" y="420"/>
                  </a:lnTo>
                  <a:lnTo>
                    <a:pt x="35" y="381"/>
                  </a:lnTo>
                  <a:lnTo>
                    <a:pt x="51" y="320"/>
                  </a:lnTo>
                  <a:lnTo>
                    <a:pt x="51" y="280"/>
                  </a:lnTo>
                  <a:lnTo>
                    <a:pt x="66" y="201"/>
                  </a:lnTo>
                  <a:lnTo>
                    <a:pt x="83" y="120"/>
                  </a:lnTo>
                  <a:lnTo>
                    <a:pt x="83" y="61"/>
                  </a:lnTo>
                  <a:lnTo>
                    <a:pt x="100"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42" name="Freeform 111"/>
            <p:cNvSpPr>
              <a:spLocks/>
            </p:cNvSpPr>
            <p:nvPr/>
          </p:nvSpPr>
          <p:spPr bwMode="auto">
            <a:xfrm>
              <a:off x="2560" y="3061"/>
              <a:ext cx="90" cy="40"/>
            </a:xfrm>
            <a:custGeom>
              <a:avLst/>
              <a:gdLst>
                <a:gd name="T0" fmla="*/ 0 w 182"/>
                <a:gd name="T1" fmla="*/ 0 h 81"/>
                <a:gd name="T2" fmla="*/ 0 w 182"/>
                <a:gd name="T3" fmla="*/ 0 h 81"/>
                <a:gd name="T4" fmla="*/ 0 w 182"/>
                <a:gd name="T5" fmla="*/ 0 h 81"/>
                <a:gd name="T6" fmla="*/ 0 w 182"/>
                <a:gd name="T7" fmla="*/ 0 h 81"/>
                <a:gd name="T8" fmla="*/ 0 w 182"/>
                <a:gd name="T9" fmla="*/ 0 h 81"/>
                <a:gd name="T10" fmla="*/ 0 w 182"/>
                <a:gd name="T11" fmla="*/ 0 h 81"/>
                <a:gd name="T12" fmla="*/ 0 60000 65536"/>
                <a:gd name="T13" fmla="*/ 0 60000 65536"/>
                <a:gd name="T14" fmla="*/ 0 60000 65536"/>
                <a:gd name="T15" fmla="*/ 0 60000 65536"/>
                <a:gd name="T16" fmla="*/ 0 60000 65536"/>
                <a:gd name="T17" fmla="*/ 0 60000 65536"/>
                <a:gd name="T18" fmla="*/ 0 w 182"/>
                <a:gd name="T19" fmla="*/ 0 h 81"/>
                <a:gd name="T20" fmla="*/ 182 w 182"/>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182" h="81">
                  <a:moveTo>
                    <a:pt x="0" y="81"/>
                  </a:moveTo>
                  <a:lnTo>
                    <a:pt x="51" y="61"/>
                  </a:lnTo>
                  <a:lnTo>
                    <a:pt x="66" y="42"/>
                  </a:lnTo>
                  <a:lnTo>
                    <a:pt x="115" y="21"/>
                  </a:lnTo>
                  <a:lnTo>
                    <a:pt x="133" y="21"/>
                  </a:lnTo>
                  <a:lnTo>
                    <a:pt x="182"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43" name="Freeform 112"/>
            <p:cNvSpPr>
              <a:spLocks/>
            </p:cNvSpPr>
            <p:nvPr/>
          </p:nvSpPr>
          <p:spPr bwMode="auto">
            <a:xfrm>
              <a:off x="2586" y="3071"/>
              <a:ext cx="89" cy="30"/>
            </a:xfrm>
            <a:custGeom>
              <a:avLst/>
              <a:gdLst>
                <a:gd name="T0" fmla="*/ 0 w 179"/>
                <a:gd name="T1" fmla="*/ 1 h 60"/>
                <a:gd name="T2" fmla="*/ 0 w 179"/>
                <a:gd name="T3" fmla="*/ 1 h 60"/>
                <a:gd name="T4" fmla="*/ 0 w 179"/>
                <a:gd name="T5" fmla="*/ 1 h 60"/>
                <a:gd name="T6" fmla="*/ 0 w 179"/>
                <a:gd name="T7" fmla="*/ 1 h 60"/>
                <a:gd name="T8" fmla="*/ 0 w 179"/>
                <a:gd name="T9" fmla="*/ 1 h 60"/>
                <a:gd name="T10" fmla="*/ 0 w 179"/>
                <a:gd name="T11" fmla="*/ 1 h 60"/>
                <a:gd name="T12" fmla="*/ 0 w 179"/>
                <a:gd name="T13" fmla="*/ 0 h 60"/>
                <a:gd name="T14" fmla="*/ 0 60000 65536"/>
                <a:gd name="T15" fmla="*/ 0 60000 65536"/>
                <a:gd name="T16" fmla="*/ 0 60000 65536"/>
                <a:gd name="T17" fmla="*/ 0 60000 65536"/>
                <a:gd name="T18" fmla="*/ 0 60000 65536"/>
                <a:gd name="T19" fmla="*/ 0 60000 65536"/>
                <a:gd name="T20" fmla="*/ 0 60000 65536"/>
                <a:gd name="T21" fmla="*/ 0 w 179"/>
                <a:gd name="T22" fmla="*/ 0 h 60"/>
                <a:gd name="T23" fmla="*/ 179 w 179"/>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9" h="60">
                  <a:moveTo>
                    <a:pt x="0" y="60"/>
                  </a:moveTo>
                  <a:lnTo>
                    <a:pt x="14" y="60"/>
                  </a:lnTo>
                  <a:lnTo>
                    <a:pt x="48" y="40"/>
                  </a:lnTo>
                  <a:lnTo>
                    <a:pt x="63" y="40"/>
                  </a:lnTo>
                  <a:lnTo>
                    <a:pt x="97" y="21"/>
                  </a:lnTo>
                  <a:lnTo>
                    <a:pt x="146" y="21"/>
                  </a:lnTo>
                  <a:lnTo>
                    <a:pt x="179"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44" name="Freeform 113"/>
            <p:cNvSpPr>
              <a:spLocks/>
            </p:cNvSpPr>
            <p:nvPr/>
          </p:nvSpPr>
          <p:spPr bwMode="auto">
            <a:xfrm>
              <a:off x="2494" y="3131"/>
              <a:ext cx="82" cy="69"/>
            </a:xfrm>
            <a:custGeom>
              <a:avLst/>
              <a:gdLst>
                <a:gd name="T0" fmla="*/ 0 w 165"/>
                <a:gd name="T1" fmla="*/ 0 h 139"/>
                <a:gd name="T2" fmla="*/ 0 w 165"/>
                <a:gd name="T3" fmla="*/ 0 h 139"/>
                <a:gd name="T4" fmla="*/ 0 w 165"/>
                <a:gd name="T5" fmla="*/ 0 h 139"/>
                <a:gd name="T6" fmla="*/ 0 w 165"/>
                <a:gd name="T7" fmla="*/ 0 h 139"/>
                <a:gd name="T8" fmla="*/ 0 w 165"/>
                <a:gd name="T9" fmla="*/ 0 h 139"/>
                <a:gd name="T10" fmla="*/ 0 w 165"/>
                <a:gd name="T11" fmla="*/ 0 h 139"/>
                <a:gd name="T12" fmla="*/ 0 w 165"/>
                <a:gd name="T13" fmla="*/ 0 h 139"/>
                <a:gd name="T14" fmla="*/ 0 w 165"/>
                <a:gd name="T15" fmla="*/ 0 h 139"/>
                <a:gd name="T16" fmla="*/ 0 w 165"/>
                <a:gd name="T17" fmla="*/ 0 h 13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5"/>
                <a:gd name="T28" fmla="*/ 0 h 139"/>
                <a:gd name="T29" fmla="*/ 165 w 165"/>
                <a:gd name="T30" fmla="*/ 139 h 13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5" h="139">
                  <a:moveTo>
                    <a:pt x="0" y="139"/>
                  </a:moveTo>
                  <a:lnTo>
                    <a:pt x="0" y="121"/>
                  </a:lnTo>
                  <a:lnTo>
                    <a:pt x="16" y="121"/>
                  </a:lnTo>
                  <a:lnTo>
                    <a:pt x="50" y="101"/>
                  </a:lnTo>
                  <a:lnTo>
                    <a:pt x="50" y="81"/>
                  </a:lnTo>
                  <a:lnTo>
                    <a:pt x="65" y="61"/>
                  </a:lnTo>
                  <a:lnTo>
                    <a:pt x="98" y="41"/>
                  </a:lnTo>
                  <a:lnTo>
                    <a:pt x="116" y="20"/>
                  </a:lnTo>
                  <a:lnTo>
                    <a:pt x="165"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45" name="Freeform 114"/>
            <p:cNvSpPr>
              <a:spLocks/>
            </p:cNvSpPr>
            <p:nvPr/>
          </p:nvSpPr>
          <p:spPr bwMode="auto">
            <a:xfrm>
              <a:off x="2511" y="3161"/>
              <a:ext cx="74" cy="60"/>
            </a:xfrm>
            <a:custGeom>
              <a:avLst/>
              <a:gdLst>
                <a:gd name="T0" fmla="*/ 0 w 148"/>
                <a:gd name="T1" fmla="*/ 1 h 119"/>
                <a:gd name="T2" fmla="*/ 1 w 148"/>
                <a:gd name="T3" fmla="*/ 1 h 119"/>
                <a:gd name="T4" fmla="*/ 1 w 148"/>
                <a:gd name="T5" fmla="*/ 1 h 119"/>
                <a:gd name="T6" fmla="*/ 1 w 148"/>
                <a:gd name="T7" fmla="*/ 1 h 119"/>
                <a:gd name="T8" fmla="*/ 1 w 148"/>
                <a:gd name="T9" fmla="*/ 1 h 119"/>
                <a:gd name="T10" fmla="*/ 1 w 148"/>
                <a:gd name="T11" fmla="*/ 1 h 119"/>
                <a:gd name="T12" fmla="*/ 1 w 148"/>
                <a:gd name="T13" fmla="*/ 0 h 119"/>
                <a:gd name="T14" fmla="*/ 0 60000 65536"/>
                <a:gd name="T15" fmla="*/ 0 60000 65536"/>
                <a:gd name="T16" fmla="*/ 0 60000 65536"/>
                <a:gd name="T17" fmla="*/ 0 60000 65536"/>
                <a:gd name="T18" fmla="*/ 0 60000 65536"/>
                <a:gd name="T19" fmla="*/ 0 60000 65536"/>
                <a:gd name="T20" fmla="*/ 0 60000 65536"/>
                <a:gd name="T21" fmla="*/ 0 w 148"/>
                <a:gd name="T22" fmla="*/ 0 h 119"/>
                <a:gd name="T23" fmla="*/ 148 w 148"/>
                <a:gd name="T24" fmla="*/ 119 h 1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8" h="119">
                  <a:moveTo>
                    <a:pt x="0" y="119"/>
                  </a:moveTo>
                  <a:lnTo>
                    <a:pt x="16" y="100"/>
                  </a:lnTo>
                  <a:lnTo>
                    <a:pt x="48" y="79"/>
                  </a:lnTo>
                  <a:lnTo>
                    <a:pt x="82" y="60"/>
                  </a:lnTo>
                  <a:lnTo>
                    <a:pt x="96" y="40"/>
                  </a:lnTo>
                  <a:lnTo>
                    <a:pt x="132" y="20"/>
                  </a:lnTo>
                  <a:lnTo>
                    <a:pt x="148"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46" name="Freeform 115"/>
            <p:cNvSpPr>
              <a:spLocks/>
            </p:cNvSpPr>
            <p:nvPr/>
          </p:nvSpPr>
          <p:spPr bwMode="auto">
            <a:xfrm>
              <a:off x="2544" y="3181"/>
              <a:ext cx="57" cy="40"/>
            </a:xfrm>
            <a:custGeom>
              <a:avLst/>
              <a:gdLst>
                <a:gd name="T0" fmla="*/ 0 w 115"/>
                <a:gd name="T1" fmla="*/ 1 h 79"/>
                <a:gd name="T2" fmla="*/ 0 w 115"/>
                <a:gd name="T3" fmla="*/ 1 h 79"/>
                <a:gd name="T4" fmla="*/ 0 w 115"/>
                <a:gd name="T5" fmla="*/ 1 h 79"/>
                <a:gd name="T6" fmla="*/ 0 w 115"/>
                <a:gd name="T7" fmla="*/ 1 h 79"/>
                <a:gd name="T8" fmla="*/ 0 w 115"/>
                <a:gd name="T9" fmla="*/ 0 h 79"/>
                <a:gd name="T10" fmla="*/ 0 60000 65536"/>
                <a:gd name="T11" fmla="*/ 0 60000 65536"/>
                <a:gd name="T12" fmla="*/ 0 60000 65536"/>
                <a:gd name="T13" fmla="*/ 0 60000 65536"/>
                <a:gd name="T14" fmla="*/ 0 60000 65536"/>
                <a:gd name="T15" fmla="*/ 0 w 115"/>
                <a:gd name="T16" fmla="*/ 0 h 79"/>
                <a:gd name="T17" fmla="*/ 115 w 115"/>
                <a:gd name="T18" fmla="*/ 79 h 79"/>
              </a:gdLst>
              <a:ahLst/>
              <a:cxnLst>
                <a:cxn ang="T10">
                  <a:pos x="T0" y="T1"/>
                </a:cxn>
                <a:cxn ang="T11">
                  <a:pos x="T2" y="T3"/>
                </a:cxn>
                <a:cxn ang="T12">
                  <a:pos x="T4" y="T5"/>
                </a:cxn>
                <a:cxn ang="T13">
                  <a:pos x="T6" y="T7"/>
                </a:cxn>
                <a:cxn ang="T14">
                  <a:pos x="T8" y="T9"/>
                </a:cxn>
              </a:cxnLst>
              <a:rect l="T15" t="T16" r="T17" b="T18"/>
              <a:pathLst>
                <a:path w="115" h="79">
                  <a:moveTo>
                    <a:pt x="0" y="79"/>
                  </a:moveTo>
                  <a:lnTo>
                    <a:pt x="31" y="60"/>
                  </a:lnTo>
                  <a:lnTo>
                    <a:pt x="48" y="39"/>
                  </a:lnTo>
                  <a:lnTo>
                    <a:pt x="98" y="20"/>
                  </a:lnTo>
                  <a:lnTo>
                    <a:pt x="115"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47" name="Line 116"/>
            <p:cNvSpPr>
              <a:spLocks noChangeShapeType="1"/>
            </p:cNvSpPr>
            <p:nvPr/>
          </p:nvSpPr>
          <p:spPr bwMode="auto">
            <a:xfrm flipV="1">
              <a:off x="2610" y="3211"/>
              <a:ext cx="15" cy="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148" name="Freeform 117"/>
            <p:cNvSpPr>
              <a:spLocks/>
            </p:cNvSpPr>
            <p:nvPr/>
          </p:nvSpPr>
          <p:spPr bwMode="auto">
            <a:xfrm>
              <a:off x="2395" y="3111"/>
              <a:ext cx="58" cy="29"/>
            </a:xfrm>
            <a:custGeom>
              <a:avLst/>
              <a:gdLst>
                <a:gd name="T0" fmla="*/ 0 w 116"/>
                <a:gd name="T1" fmla="*/ 0 h 60"/>
                <a:gd name="T2" fmla="*/ 1 w 116"/>
                <a:gd name="T3" fmla="*/ 0 h 60"/>
                <a:gd name="T4" fmla="*/ 1 w 116"/>
                <a:gd name="T5" fmla="*/ 0 h 60"/>
                <a:gd name="T6" fmla="*/ 1 w 116"/>
                <a:gd name="T7" fmla="*/ 0 h 60"/>
                <a:gd name="T8" fmla="*/ 1 w 116"/>
                <a:gd name="T9" fmla="*/ 0 h 60"/>
                <a:gd name="T10" fmla="*/ 1 w 116"/>
                <a:gd name="T11" fmla="*/ 0 h 60"/>
                <a:gd name="T12" fmla="*/ 0 60000 65536"/>
                <a:gd name="T13" fmla="*/ 0 60000 65536"/>
                <a:gd name="T14" fmla="*/ 0 60000 65536"/>
                <a:gd name="T15" fmla="*/ 0 60000 65536"/>
                <a:gd name="T16" fmla="*/ 0 60000 65536"/>
                <a:gd name="T17" fmla="*/ 0 60000 65536"/>
                <a:gd name="T18" fmla="*/ 0 w 116"/>
                <a:gd name="T19" fmla="*/ 0 h 60"/>
                <a:gd name="T20" fmla="*/ 116 w 116"/>
                <a:gd name="T21" fmla="*/ 60 h 60"/>
              </a:gdLst>
              <a:ahLst/>
              <a:cxnLst>
                <a:cxn ang="T12">
                  <a:pos x="T0" y="T1"/>
                </a:cxn>
                <a:cxn ang="T13">
                  <a:pos x="T2" y="T3"/>
                </a:cxn>
                <a:cxn ang="T14">
                  <a:pos x="T4" y="T5"/>
                </a:cxn>
                <a:cxn ang="T15">
                  <a:pos x="T6" y="T7"/>
                </a:cxn>
                <a:cxn ang="T16">
                  <a:pos x="T8" y="T9"/>
                </a:cxn>
                <a:cxn ang="T17">
                  <a:pos x="T10" y="T11"/>
                </a:cxn>
              </a:cxnLst>
              <a:rect l="T18" t="T19" r="T20" b="T21"/>
              <a:pathLst>
                <a:path w="116" h="60">
                  <a:moveTo>
                    <a:pt x="0" y="0"/>
                  </a:moveTo>
                  <a:lnTo>
                    <a:pt x="32" y="0"/>
                  </a:lnTo>
                  <a:lnTo>
                    <a:pt x="49" y="20"/>
                  </a:lnTo>
                  <a:lnTo>
                    <a:pt x="66" y="20"/>
                  </a:lnTo>
                  <a:lnTo>
                    <a:pt x="98" y="39"/>
                  </a:lnTo>
                  <a:lnTo>
                    <a:pt x="116" y="6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49" name="Freeform 118"/>
            <p:cNvSpPr>
              <a:spLocks/>
            </p:cNvSpPr>
            <p:nvPr/>
          </p:nvSpPr>
          <p:spPr bwMode="auto">
            <a:xfrm>
              <a:off x="2387" y="3151"/>
              <a:ext cx="58" cy="29"/>
            </a:xfrm>
            <a:custGeom>
              <a:avLst/>
              <a:gdLst>
                <a:gd name="T0" fmla="*/ 0 w 116"/>
                <a:gd name="T1" fmla="*/ 0 h 59"/>
                <a:gd name="T2" fmla="*/ 1 w 116"/>
                <a:gd name="T3" fmla="*/ 0 h 59"/>
                <a:gd name="T4" fmla="*/ 1 w 116"/>
                <a:gd name="T5" fmla="*/ 0 h 59"/>
                <a:gd name="T6" fmla="*/ 1 w 116"/>
                <a:gd name="T7" fmla="*/ 0 h 59"/>
                <a:gd name="T8" fmla="*/ 1 w 116"/>
                <a:gd name="T9" fmla="*/ 0 h 59"/>
                <a:gd name="T10" fmla="*/ 1 w 116"/>
                <a:gd name="T11" fmla="*/ 0 h 59"/>
                <a:gd name="T12" fmla="*/ 1 w 116"/>
                <a:gd name="T13" fmla="*/ 0 h 59"/>
                <a:gd name="T14" fmla="*/ 1 w 116"/>
                <a:gd name="T15" fmla="*/ 0 h 59"/>
                <a:gd name="T16" fmla="*/ 0 60000 65536"/>
                <a:gd name="T17" fmla="*/ 0 60000 65536"/>
                <a:gd name="T18" fmla="*/ 0 60000 65536"/>
                <a:gd name="T19" fmla="*/ 0 60000 65536"/>
                <a:gd name="T20" fmla="*/ 0 60000 65536"/>
                <a:gd name="T21" fmla="*/ 0 60000 65536"/>
                <a:gd name="T22" fmla="*/ 0 60000 65536"/>
                <a:gd name="T23" fmla="*/ 0 60000 65536"/>
                <a:gd name="T24" fmla="*/ 0 w 116"/>
                <a:gd name="T25" fmla="*/ 0 h 59"/>
                <a:gd name="T26" fmla="*/ 116 w 116"/>
                <a:gd name="T27" fmla="*/ 59 h 5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6" h="59">
                  <a:moveTo>
                    <a:pt x="0" y="0"/>
                  </a:moveTo>
                  <a:lnTo>
                    <a:pt x="18" y="0"/>
                  </a:lnTo>
                  <a:lnTo>
                    <a:pt x="50" y="20"/>
                  </a:lnTo>
                  <a:lnTo>
                    <a:pt x="67" y="20"/>
                  </a:lnTo>
                  <a:lnTo>
                    <a:pt x="83" y="20"/>
                  </a:lnTo>
                  <a:lnTo>
                    <a:pt x="100" y="39"/>
                  </a:lnTo>
                  <a:lnTo>
                    <a:pt x="116" y="39"/>
                  </a:lnTo>
                  <a:lnTo>
                    <a:pt x="116" y="5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50" name="Freeform 119"/>
            <p:cNvSpPr>
              <a:spLocks/>
            </p:cNvSpPr>
            <p:nvPr/>
          </p:nvSpPr>
          <p:spPr bwMode="auto">
            <a:xfrm>
              <a:off x="2404" y="3181"/>
              <a:ext cx="25" cy="29"/>
            </a:xfrm>
            <a:custGeom>
              <a:avLst/>
              <a:gdLst>
                <a:gd name="T0" fmla="*/ 0 w 49"/>
                <a:gd name="T1" fmla="*/ 0 h 60"/>
                <a:gd name="T2" fmla="*/ 1 w 49"/>
                <a:gd name="T3" fmla="*/ 0 h 60"/>
                <a:gd name="T4" fmla="*/ 1 w 49"/>
                <a:gd name="T5" fmla="*/ 0 h 60"/>
                <a:gd name="T6" fmla="*/ 1 w 49"/>
                <a:gd name="T7" fmla="*/ 0 h 60"/>
                <a:gd name="T8" fmla="*/ 1 w 49"/>
                <a:gd name="T9" fmla="*/ 0 h 60"/>
                <a:gd name="T10" fmla="*/ 1 w 49"/>
                <a:gd name="T11" fmla="*/ 0 h 60"/>
                <a:gd name="T12" fmla="*/ 1 w 49"/>
                <a:gd name="T13" fmla="*/ 0 h 60"/>
                <a:gd name="T14" fmla="*/ 0 60000 65536"/>
                <a:gd name="T15" fmla="*/ 0 60000 65536"/>
                <a:gd name="T16" fmla="*/ 0 60000 65536"/>
                <a:gd name="T17" fmla="*/ 0 60000 65536"/>
                <a:gd name="T18" fmla="*/ 0 60000 65536"/>
                <a:gd name="T19" fmla="*/ 0 60000 65536"/>
                <a:gd name="T20" fmla="*/ 0 60000 65536"/>
                <a:gd name="T21" fmla="*/ 0 w 49"/>
                <a:gd name="T22" fmla="*/ 0 h 60"/>
                <a:gd name="T23" fmla="*/ 49 w 49"/>
                <a:gd name="T24" fmla="*/ 60 h 6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60">
                  <a:moveTo>
                    <a:pt x="0" y="0"/>
                  </a:moveTo>
                  <a:lnTo>
                    <a:pt x="16" y="0"/>
                  </a:lnTo>
                  <a:lnTo>
                    <a:pt x="16" y="20"/>
                  </a:lnTo>
                  <a:lnTo>
                    <a:pt x="32" y="20"/>
                  </a:lnTo>
                  <a:lnTo>
                    <a:pt x="49" y="39"/>
                  </a:lnTo>
                  <a:lnTo>
                    <a:pt x="49" y="6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51" name="Freeform 120"/>
            <p:cNvSpPr>
              <a:spLocks/>
            </p:cNvSpPr>
            <p:nvPr/>
          </p:nvSpPr>
          <p:spPr bwMode="auto">
            <a:xfrm>
              <a:off x="2281" y="2381"/>
              <a:ext cx="238" cy="330"/>
            </a:xfrm>
            <a:custGeom>
              <a:avLst/>
              <a:gdLst>
                <a:gd name="T0" fmla="*/ 2 w 476"/>
                <a:gd name="T1" fmla="*/ 1 h 658"/>
                <a:gd name="T2" fmla="*/ 2 w 476"/>
                <a:gd name="T3" fmla="*/ 1 h 658"/>
                <a:gd name="T4" fmla="*/ 2 w 476"/>
                <a:gd name="T5" fmla="*/ 1 h 658"/>
                <a:gd name="T6" fmla="*/ 2 w 476"/>
                <a:gd name="T7" fmla="*/ 1 h 658"/>
                <a:gd name="T8" fmla="*/ 2 w 476"/>
                <a:gd name="T9" fmla="*/ 1 h 658"/>
                <a:gd name="T10" fmla="*/ 2 w 476"/>
                <a:gd name="T11" fmla="*/ 1 h 658"/>
                <a:gd name="T12" fmla="*/ 2 w 476"/>
                <a:gd name="T13" fmla="*/ 1 h 658"/>
                <a:gd name="T14" fmla="*/ 2 w 476"/>
                <a:gd name="T15" fmla="*/ 2 h 658"/>
                <a:gd name="T16" fmla="*/ 2 w 476"/>
                <a:gd name="T17" fmla="*/ 2 h 658"/>
                <a:gd name="T18" fmla="*/ 2 w 476"/>
                <a:gd name="T19" fmla="*/ 2 h 658"/>
                <a:gd name="T20" fmla="*/ 2 w 476"/>
                <a:gd name="T21" fmla="*/ 2 h 658"/>
                <a:gd name="T22" fmla="*/ 2 w 476"/>
                <a:gd name="T23" fmla="*/ 2 h 658"/>
                <a:gd name="T24" fmla="*/ 2 w 476"/>
                <a:gd name="T25" fmla="*/ 2 h 658"/>
                <a:gd name="T26" fmla="*/ 2 w 476"/>
                <a:gd name="T27" fmla="*/ 2 h 658"/>
                <a:gd name="T28" fmla="*/ 2 w 476"/>
                <a:gd name="T29" fmla="*/ 2 h 658"/>
                <a:gd name="T30" fmla="*/ 2 w 476"/>
                <a:gd name="T31" fmla="*/ 2 h 658"/>
                <a:gd name="T32" fmla="*/ 2 w 476"/>
                <a:gd name="T33" fmla="*/ 2 h 658"/>
                <a:gd name="T34" fmla="*/ 2 w 476"/>
                <a:gd name="T35" fmla="*/ 2 h 658"/>
                <a:gd name="T36" fmla="*/ 2 w 476"/>
                <a:gd name="T37" fmla="*/ 3 h 658"/>
                <a:gd name="T38" fmla="*/ 2 w 476"/>
                <a:gd name="T39" fmla="*/ 3 h 658"/>
                <a:gd name="T40" fmla="*/ 2 w 476"/>
                <a:gd name="T41" fmla="*/ 3 h 658"/>
                <a:gd name="T42" fmla="*/ 2 w 476"/>
                <a:gd name="T43" fmla="*/ 3 h 658"/>
                <a:gd name="T44" fmla="*/ 2 w 476"/>
                <a:gd name="T45" fmla="*/ 3 h 658"/>
                <a:gd name="T46" fmla="*/ 2 w 476"/>
                <a:gd name="T47" fmla="*/ 3 h 658"/>
                <a:gd name="T48" fmla="*/ 2 w 476"/>
                <a:gd name="T49" fmla="*/ 3 h 658"/>
                <a:gd name="T50" fmla="*/ 2 w 476"/>
                <a:gd name="T51" fmla="*/ 3 h 658"/>
                <a:gd name="T52" fmla="*/ 1 w 476"/>
                <a:gd name="T53" fmla="*/ 3 h 658"/>
                <a:gd name="T54" fmla="*/ 1 w 476"/>
                <a:gd name="T55" fmla="*/ 3 h 658"/>
                <a:gd name="T56" fmla="*/ 1 w 476"/>
                <a:gd name="T57" fmla="*/ 3 h 658"/>
                <a:gd name="T58" fmla="*/ 1 w 476"/>
                <a:gd name="T59" fmla="*/ 3 h 658"/>
                <a:gd name="T60" fmla="*/ 1 w 476"/>
                <a:gd name="T61" fmla="*/ 3 h 658"/>
                <a:gd name="T62" fmla="*/ 1 w 476"/>
                <a:gd name="T63" fmla="*/ 3 h 658"/>
                <a:gd name="T64" fmla="*/ 1 w 476"/>
                <a:gd name="T65" fmla="*/ 2 h 658"/>
                <a:gd name="T66" fmla="*/ 1 w 476"/>
                <a:gd name="T67" fmla="*/ 2 h 658"/>
                <a:gd name="T68" fmla="*/ 1 w 476"/>
                <a:gd name="T69" fmla="*/ 0 h 65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76"/>
                <a:gd name="T106" fmla="*/ 0 h 658"/>
                <a:gd name="T107" fmla="*/ 476 w 476"/>
                <a:gd name="T108" fmla="*/ 658 h 65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76" h="658">
                  <a:moveTo>
                    <a:pt x="394" y="19"/>
                  </a:moveTo>
                  <a:lnTo>
                    <a:pt x="410" y="40"/>
                  </a:lnTo>
                  <a:lnTo>
                    <a:pt x="410" y="58"/>
                  </a:lnTo>
                  <a:lnTo>
                    <a:pt x="426" y="79"/>
                  </a:lnTo>
                  <a:lnTo>
                    <a:pt x="426" y="99"/>
                  </a:lnTo>
                  <a:lnTo>
                    <a:pt x="426" y="118"/>
                  </a:lnTo>
                  <a:lnTo>
                    <a:pt x="426" y="140"/>
                  </a:lnTo>
                  <a:lnTo>
                    <a:pt x="426" y="159"/>
                  </a:lnTo>
                  <a:lnTo>
                    <a:pt x="426" y="179"/>
                  </a:lnTo>
                  <a:lnTo>
                    <a:pt x="426" y="198"/>
                  </a:lnTo>
                  <a:lnTo>
                    <a:pt x="426" y="219"/>
                  </a:lnTo>
                  <a:lnTo>
                    <a:pt x="426" y="238"/>
                  </a:lnTo>
                  <a:lnTo>
                    <a:pt x="426" y="259"/>
                  </a:lnTo>
                  <a:lnTo>
                    <a:pt x="442" y="280"/>
                  </a:lnTo>
                  <a:lnTo>
                    <a:pt x="460" y="299"/>
                  </a:lnTo>
                  <a:lnTo>
                    <a:pt x="476" y="319"/>
                  </a:lnTo>
                  <a:lnTo>
                    <a:pt x="476" y="339"/>
                  </a:lnTo>
                  <a:lnTo>
                    <a:pt x="460" y="339"/>
                  </a:lnTo>
                  <a:lnTo>
                    <a:pt x="460" y="358"/>
                  </a:lnTo>
                  <a:lnTo>
                    <a:pt x="442" y="358"/>
                  </a:lnTo>
                  <a:lnTo>
                    <a:pt x="426" y="358"/>
                  </a:lnTo>
                  <a:lnTo>
                    <a:pt x="442" y="399"/>
                  </a:lnTo>
                  <a:lnTo>
                    <a:pt x="442" y="419"/>
                  </a:lnTo>
                  <a:lnTo>
                    <a:pt x="426" y="419"/>
                  </a:lnTo>
                  <a:lnTo>
                    <a:pt x="442" y="419"/>
                  </a:lnTo>
                  <a:lnTo>
                    <a:pt x="426" y="438"/>
                  </a:lnTo>
                  <a:lnTo>
                    <a:pt x="426" y="460"/>
                  </a:lnTo>
                  <a:lnTo>
                    <a:pt x="426" y="478"/>
                  </a:lnTo>
                  <a:lnTo>
                    <a:pt x="426" y="498"/>
                  </a:lnTo>
                  <a:lnTo>
                    <a:pt x="426" y="518"/>
                  </a:lnTo>
                  <a:lnTo>
                    <a:pt x="426" y="539"/>
                  </a:lnTo>
                  <a:lnTo>
                    <a:pt x="410" y="559"/>
                  </a:lnTo>
                  <a:lnTo>
                    <a:pt x="394" y="559"/>
                  </a:lnTo>
                  <a:lnTo>
                    <a:pt x="377" y="559"/>
                  </a:lnTo>
                  <a:lnTo>
                    <a:pt x="362" y="559"/>
                  </a:lnTo>
                  <a:lnTo>
                    <a:pt x="362" y="579"/>
                  </a:lnTo>
                  <a:lnTo>
                    <a:pt x="345" y="579"/>
                  </a:lnTo>
                  <a:lnTo>
                    <a:pt x="345" y="599"/>
                  </a:lnTo>
                  <a:lnTo>
                    <a:pt x="327" y="618"/>
                  </a:lnTo>
                  <a:lnTo>
                    <a:pt x="312" y="639"/>
                  </a:lnTo>
                  <a:lnTo>
                    <a:pt x="278" y="658"/>
                  </a:lnTo>
                  <a:lnTo>
                    <a:pt x="262" y="658"/>
                  </a:lnTo>
                  <a:lnTo>
                    <a:pt x="246" y="658"/>
                  </a:lnTo>
                  <a:lnTo>
                    <a:pt x="230" y="658"/>
                  </a:lnTo>
                  <a:lnTo>
                    <a:pt x="212" y="639"/>
                  </a:lnTo>
                  <a:lnTo>
                    <a:pt x="198" y="639"/>
                  </a:lnTo>
                  <a:lnTo>
                    <a:pt x="163" y="618"/>
                  </a:lnTo>
                  <a:lnTo>
                    <a:pt x="147" y="599"/>
                  </a:lnTo>
                  <a:lnTo>
                    <a:pt x="132" y="599"/>
                  </a:lnTo>
                  <a:lnTo>
                    <a:pt x="115" y="579"/>
                  </a:lnTo>
                  <a:lnTo>
                    <a:pt x="98" y="559"/>
                  </a:lnTo>
                  <a:lnTo>
                    <a:pt x="80" y="518"/>
                  </a:lnTo>
                  <a:lnTo>
                    <a:pt x="66" y="498"/>
                  </a:lnTo>
                  <a:lnTo>
                    <a:pt x="66" y="478"/>
                  </a:lnTo>
                  <a:lnTo>
                    <a:pt x="0" y="299"/>
                  </a:lnTo>
                  <a:lnTo>
                    <a:pt x="132" y="0"/>
                  </a:lnTo>
                  <a:lnTo>
                    <a:pt x="394" y="1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52" name="Freeform 121"/>
            <p:cNvSpPr>
              <a:spLocks/>
            </p:cNvSpPr>
            <p:nvPr/>
          </p:nvSpPr>
          <p:spPr bwMode="auto">
            <a:xfrm>
              <a:off x="2281" y="2381"/>
              <a:ext cx="238" cy="330"/>
            </a:xfrm>
            <a:custGeom>
              <a:avLst/>
              <a:gdLst>
                <a:gd name="T0" fmla="*/ 2 w 476"/>
                <a:gd name="T1" fmla="*/ 1 h 658"/>
                <a:gd name="T2" fmla="*/ 2 w 476"/>
                <a:gd name="T3" fmla="*/ 1 h 658"/>
                <a:gd name="T4" fmla="*/ 2 w 476"/>
                <a:gd name="T5" fmla="*/ 1 h 658"/>
                <a:gd name="T6" fmla="*/ 2 w 476"/>
                <a:gd name="T7" fmla="*/ 1 h 658"/>
                <a:gd name="T8" fmla="*/ 2 w 476"/>
                <a:gd name="T9" fmla="*/ 1 h 658"/>
                <a:gd name="T10" fmla="*/ 2 w 476"/>
                <a:gd name="T11" fmla="*/ 1 h 658"/>
                <a:gd name="T12" fmla="*/ 2 w 476"/>
                <a:gd name="T13" fmla="*/ 1 h 658"/>
                <a:gd name="T14" fmla="*/ 2 w 476"/>
                <a:gd name="T15" fmla="*/ 2 h 658"/>
                <a:gd name="T16" fmla="*/ 2 w 476"/>
                <a:gd name="T17" fmla="*/ 2 h 658"/>
                <a:gd name="T18" fmla="*/ 2 w 476"/>
                <a:gd name="T19" fmla="*/ 2 h 658"/>
                <a:gd name="T20" fmla="*/ 2 w 476"/>
                <a:gd name="T21" fmla="*/ 2 h 658"/>
                <a:gd name="T22" fmla="*/ 2 w 476"/>
                <a:gd name="T23" fmla="*/ 2 h 658"/>
                <a:gd name="T24" fmla="*/ 2 w 476"/>
                <a:gd name="T25" fmla="*/ 2 h 658"/>
                <a:gd name="T26" fmla="*/ 2 w 476"/>
                <a:gd name="T27" fmla="*/ 2 h 658"/>
                <a:gd name="T28" fmla="*/ 2 w 476"/>
                <a:gd name="T29" fmla="*/ 2 h 658"/>
                <a:gd name="T30" fmla="*/ 2 w 476"/>
                <a:gd name="T31" fmla="*/ 2 h 658"/>
                <a:gd name="T32" fmla="*/ 2 w 476"/>
                <a:gd name="T33" fmla="*/ 2 h 658"/>
                <a:gd name="T34" fmla="*/ 2 w 476"/>
                <a:gd name="T35" fmla="*/ 2 h 658"/>
                <a:gd name="T36" fmla="*/ 2 w 476"/>
                <a:gd name="T37" fmla="*/ 3 h 658"/>
                <a:gd name="T38" fmla="*/ 2 w 476"/>
                <a:gd name="T39" fmla="*/ 3 h 658"/>
                <a:gd name="T40" fmla="*/ 2 w 476"/>
                <a:gd name="T41" fmla="*/ 3 h 658"/>
                <a:gd name="T42" fmla="*/ 2 w 476"/>
                <a:gd name="T43" fmla="*/ 3 h 658"/>
                <a:gd name="T44" fmla="*/ 2 w 476"/>
                <a:gd name="T45" fmla="*/ 3 h 658"/>
                <a:gd name="T46" fmla="*/ 2 w 476"/>
                <a:gd name="T47" fmla="*/ 3 h 658"/>
                <a:gd name="T48" fmla="*/ 2 w 476"/>
                <a:gd name="T49" fmla="*/ 3 h 658"/>
                <a:gd name="T50" fmla="*/ 2 w 476"/>
                <a:gd name="T51" fmla="*/ 3 h 658"/>
                <a:gd name="T52" fmla="*/ 1 w 476"/>
                <a:gd name="T53" fmla="*/ 3 h 658"/>
                <a:gd name="T54" fmla="*/ 1 w 476"/>
                <a:gd name="T55" fmla="*/ 3 h 658"/>
                <a:gd name="T56" fmla="*/ 1 w 476"/>
                <a:gd name="T57" fmla="*/ 3 h 658"/>
                <a:gd name="T58" fmla="*/ 1 w 476"/>
                <a:gd name="T59" fmla="*/ 3 h 658"/>
                <a:gd name="T60" fmla="*/ 1 w 476"/>
                <a:gd name="T61" fmla="*/ 3 h 658"/>
                <a:gd name="T62" fmla="*/ 1 w 476"/>
                <a:gd name="T63" fmla="*/ 3 h 658"/>
                <a:gd name="T64" fmla="*/ 1 w 476"/>
                <a:gd name="T65" fmla="*/ 2 h 658"/>
                <a:gd name="T66" fmla="*/ 1 w 476"/>
                <a:gd name="T67" fmla="*/ 2 h 658"/>
                <a:gd name="T68" fmla="*/ 1 w 476"/>
                <a:gd name="T69" fmla="*/ 0 h 65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76"/>
                <a:gd name="T106" fmla="*/ 0 h 658"/>
                <a:gd name="T107" fmla="*/ 476 w 476"/>
                <a:gd name="T108" fmla="*/ 658 h 65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76" h="658">
                  <a:moveTo>
                    <a:pt x="394" y="19"/>
                  </a:moveTo>
                  <a:lnTo>
                    <a:pt x="410" y="40"/>
                  </a:lnTo>
                  <a:lnTo>
                    <a:pt x="410" y="58"/>
                  </a:lnTo>
                  <a:lnTo>
                    <a:pt x="426" y="79"/>
                  </a:lnTo>
                  <a:lnTo>
                    <a:pt x="426" y="99"/>
                  </a:lnTo>
                  <a:lnTo>
                    <a:pt x="426" y="118"/>
                  </a:lnTo>
                  <a:lnTo>
                    <a:pt x="426" y="140"/>
                  </a:lnTo>
                  <a:lnTo>
                    <a:pt x="426" y="159"/>
                  </a:lnTo>
                  <a:lnTo>
                    <a:pt x="426" y="179"/>
                  </a:lnTo>
                  <a:lnTo>
                    <a:pt x="426" y="198"/>
                  </a:lnTo>
                  <a:lnTo>
                    <a:pt x="426" y="219"/>
                  </a:lnTo>
                  <a:lnTo>
                    <a:pt x="426" y="238"/>
                  </a:lnTo>
                  <a:lnTo>
                    <a:pt x="426" y="259"/>
                  </a:lnTo>
                  <a:lnTo>
                    <a:pt x="442" y="280"/>
                  </a:lnTo>
                  <a:lnTo>
                    <a:pt x="460" y="299"/>
                  </a:lnTo>
                  <a:lnTo>
                    <a:pt x="476" y="319"/>
                  </a:lnTo>
                  <a:lnTo>
                    <a:pt x="476" y="339"/>
                  </a:lnTo>
                  <a:lnTo>
                    <a:pt x="460" y="339"/>
                  </a:lnTo>
                  <a:lnTo>
                    <a:pt x="460" y="358"/>
                  </a:lnTo>
                  <a:lnTo>
                    <a:pt x="442" y="358"/>
                  </a:lnTo>
                  <a:lnTo>
                    <a:pt x="426" y="358"/>
                  </a:lnTo>
                  <a:lnTo>
                    <a:pt x="442" y="399"/>
                  </a:lnTo>
                  <a:lnTo>
                    <a:pt x="442" y="419"/>
                  </a:lnTo>
                  <a:lnTo>
                    <a:pt x="426" y="419"/>
                  </a:lnTo>
                  <a:lnTo>
                    <a:pt x="442" y="419"/>
                  </a:lnTo>
                  <a:lnTo>
                    <a:pt x="426" y="438"/>
                  </a:lnTo>
                  <a:lnTo>
                    <a:pt x="426" y="460"/>
                  </a:lnTo>
                  <a:lnTo>
                    <a:pt x="426" y="478"/>
                  </a:lnTo>
                  <a:lnTo>
                    <a:pt x="426" y="498"/>
                  </a:lnTo>
                  <a:lnTo>
                    <a:pt x="426" y="518"/>
                  </a:lnTo>
                  <a:lnTo>
                    <a:pt x="426" y="539"/>
                  </a:lnTo>
                  <a:lnTo>
                    <a:pt x="410" y="559"/>
                  </a:lnTo>
                  <a:lnTo>
                    <a:pt x="394" y="559"/>
                  </a:lnTo>
                  <a:lnTo>
                    <a:pt x="377" y="559"/>
                  </a:lnTo>
                  <a:lnTo>
                    <a:pt x="362" y="559"/>
                  </a:lnTo>
                  <a:lnTo>
                    <a:pt x="362" y="579"/>
                  </a:lnTo>
                  <a:lnTo>
                    <a:pt x="345" y="579"/>
                  </a:lnTo>
                  <a:lnTo>
                    <a:pt x="345" y="599"/>
                  </a:lnTo>
                  <a:lnTo>
                    <a:pt x="327" y="618"/>
                  </a:lnTo>
                  <a:lnTo>
                    <a:pt x="312" y="639"/>
                  </a:lnTo>
                  <a:lnTo>
                    <a:pt x="278" y="658"/>
                  </a:lnTo>
                  <a:lnTo>
                    <a:pt x="262" y="658"/>
                  </a:lnTo>
                  <a:lnTo>
                    <a:pt x="246" y="658"/>
                  </a:lnTo>
                  <a:lnTo>
                    <a:pt x="230" y="658"/>
                  </a:lnTo>
                  <a:lnTo>
                    <a:pt x="212" y="639"/>
                  </a:lnTo>
                  <a:lnTo>
                    <a:pt x="198" y="639"/>
                  </a:lnTo>
                  <a:lnTo>
                    <a:pt x="163" y="618"/>
                  </a:lnTo>
                  <a:lnTo>
                    <a:pt x="147" y="599"/>
                  </a:lnTo>
                  <a:lnTo>
                    <a:pt x="132" y="599"/>
                  </a:lnTo>
                  <a:lnTo>
                    <a:pt x="115" y="579"/>
                  </a:lnTo>
                  <a:lnTo>
                    <a:pt x="98" y="559"/>
                  </a:lnTo>
                  <a:lnTo>
                    <a:pt x="80" y="518"/>
                  </a:lnTo>
                  <a:lnTo>
                    <a:pt x="66" y="498"/>
                  </a:lnTo>
                  <a:lnTo>
                    <a:pt x="66" y="478"/>
                  </a:lnTo>
                  <a:lnTo>
                    <a:pt x="0" y="299"/>
                  </a:lnTo>
                  <a:lnTo>
                    <a:pt x="132" y="0"/>
                  </a:lnTo>
                  <a:lnTo>
                    <a:pt x="394" y="1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53" name="Freeform 122"/>
            <p:cNvSpPr>
              <a:spLocks/>
            </p:cNvSpPr>
            <p:nvPr/>
          </p:nvSpPr>
          <p:spPr bwMode="auto">
            <a:xfrm>
              <a:off x="2264" y="2322"/>
              <a:ext cx="222" cy="299"/>
            </a:xfrm>
            <a:custGeom>
              <a:avLst/>
              <a:gdLst>
                <a:gd name="T0" fmla="*/ 0 w 445"/>
                <a:gd name="T1" fmla="*/ 3 h 598"/>
                <a:gd name="T2" fmla="*/ 0 w 445"/>
                <a:gd name="T3" fmla="*/ 3 h 598"/>
                <a:gd name="T4" fmla="*/ 0 w 445"/>
                <a:gd name="T5" fmla="*/ 2 h 598"/>
                <a:gd name="T6" fmla="*/ 0 w 445"/>
                <a:gd name="T7" fmla="*/ 2 h 598"/>
                <a:gd name="T8" fmla="*/ 0 w 445"/>
                <a:gd name="T9" fmla="*/ 2 h 598"/>
                <a:gd name="T10" fmla="*/ 0 w 445"/>
                <a:gd name="T11" fmla="*/ 2 h 598"/>
                <a:gd name="T12" fmla="*/ 0 w 445"/>
                <a:gd name="T13" fmla="*/ 1 h 598"/>
                <a:gd name="T14" fmla="*/ 0 w 445"/>
                <a:gd name="T15" fmla="*/ 1 h 598"/>
                <a:gd name="T16" fmla="*/ 0 w 445"/>
                <a:gd name="T17" fmla="*/ 1 h 598"/>
                <a:gd name="T18" fmla="*/ 0 w 445"/>
                <a:gd name="T19" fmla="*/ 1 h 598"/>
                <a:gd name="T20" fmla="*/ 0 w 445"/>
                <a:gd name="T21" fmla="*/ 1 h 598"/>
                <a:gd name="T22" fmla="*/ 0 w 445"/>
                <a:gd name="T23" fmla="*/ 1 h 598"/>
                <a:gd name="T24" fmla="*/ 0 w 445"/>
                <a:gd name="T25" fmla="*/ 1 h 598"/>
                <a:gd name="T26" fmla="*/ 0 w 445"/>
                <a:gd name="T27" fmla="*/ 1 h 598"/>
                <a:gd name="T28" fmla="*/ 0 w 445"/>
                <a:gd name="T29" fmla="*/ 0 h 598"/>
                <a:gd name="T30" fmla="*/ 0 w 445"/>
                <a:gd name="T31" fmla="*/ 1 h 598"/>
                <a:gd name="T32" fmla="*/ 1 w 445"/>
                <a:gd name="T33" fmla="*/ 1 h 598"/>
                <a:gd name="T34" fmla="*/ 1 w 445"/>
                <a:gd name="T35" fmla="*/ 1 h 598"/>
                <a:gd name="T36" fmla="*/ 1 w 445"/>
                <a:gd name="T37" fmla="*/ 1 h 598"/>
                <a:gd name="T38" fmla="*/ 1 w 445"/>
                <a:gd name="T39" fmla="*/ 1 h 598"/>
                <a:gd name="T40" fmla="*/ 1 w 445"/>
                <a:gd name="T41" fmla="*/ 1 h 598"/>
                <a:gd name="T42" fmla="*/ 1 w 445"/>
                <a:gd name="T43" fmla="*/ 1 h 598"/>
                <a:gd name="T44" fmla="*/ 1 w 445"/>
                <a:gd name="T45" fmla="*/ 1 h 598"/>
                <a:gd name="T46" fmla="*/ 1 w 445"/>
                <a:gd name="T47" fmla="*/ 1 h 598"/>
                <a:gd name="T48" fmla="*/ 1 w 445"/>
                <a:gd name="T49" fmla="*/ 1 h 598"/>
                <a:gd name="T50" fmla="*/ 1 w 445"/>
                <a:gd name="T51" fmla="*/ 1 h 598"/>
                <a:gd name="T52" fmla="*/ 1 w 445"/>
                <a:gd name="T53" fmla="*/ 1 h 598"/>
                <a:gd name="T54" fmla="*/ 0 w 445"/>
                <a:gd name="T55" fmla="*/ 1 h 598"/>
                <a:gd name="T56" fmla="*/ 0 w 445"/>
                <a:gd name="T57" fmla="*/ 1 h 598"/>
                <a:gd name="T58" fmla="*/ 0 w 445"/>
                <a:gd name="T59" fmla="*/ 1 h 598"/>
                <a:gd name="T60" fmla="*/ 0 w 445"/>
                <a:gd name="T61" fmla="*/ 1 h 598"/>
                <a:gd name="T62" fmla="*/ 0 w 445"/>
                <a:gd name="T63" fmla="*/ 2 h 598"/>
                <a:gd name="T64" fmla="*/ 0 w 445"/>
                <a:gd name="T65" fmla="*/ 2 h 598"/>
                <a:gd name="T66" fmla="*/ 0 w 445"/>
                <a:gd name="T67" fmla="*/ 2 h 598"/>
                <a:gd name="T68" fmla="*/ 0 w 445"/>
                <a:gd name="T69" fmla="*/ 2 h 598"/>
                <a:gd name="T70" fmla="*/ 0 w 445"/>
                <a:gd name="T71" fmla="*/ 2 h 598"/>
                <a:gd name="T72" fmla="*/ 0 w 445"/>
                <a:gd name="T73" fmla="*/ 2 h 598"/>
                <a:gd name="T74" fmla="*/ 0 w 445"/>
                <a:gd name="T75" fmla="*/ 2 h 598"/>
                <a:gd name="T76" fmla="*/ 0 w 445"/>
                <a:gd name="T77" fmla="*/ 2 h 598"/>
                <a:gd name="T78" fmla="*/ 0 w 445"/>
                <a:gd name="T79" fmla="*/ 2 h 598"/>
                <a:gd name="T80" fmla="*/ 0 w 445"/>
                <a:gd name="T81" fmla="*/ 2 h 598"/>
                <a:gd name="T82" fmla="*/ 0 w 445"/>
                <a:gd name="T83" fmla="*/ 2 h 598"/>
                <a:gd name="T84" fmla="*/ 0 w 445"/>
                <a:gd name="T85" fmla="*/ 3 h 598"/>
                <a:gd name="T86" fmla="*/ 0 w 445"/>
                <a:gd name="T87" fmla="*/ 3 h 598"/>
                <a:gd name="T88" fmla="*/ 0 w 445"/>
                <a:gd name="T89" fmla="*/ 3 h 598"/>
                <a:gd name="T90" fmla="*/ 0 w 445"/>
                <a:gd name="T91" fmla="*/ 3 h 59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45"/>
                <a:gd name="T139" fmla="*/ 0 h 598"/>
                <a:gd name="T140" fmla="*/ 445 w 445"/>
                <a:gd name="T141" fmla="*/ 598 h 598"/>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45" h="598">
                  <a:moveTo>
                    <a:pt x="83" y="598"/>
                  </a:moveTo>
                  <a:lnTo>
                    <a:pt x="83" y="579"/>
                  </a:lnTo>
                  <a:lnTo>
                    <a:pt x="51" y="539"/>
                  </a:lnTo>
                  <a:lnTo>
                    <a:pt x="35" y="518"/>
                  </a:lnTo>
                  <a:lnTo>
                    <a:pt x="35" y="499"/>
                  </a:lnTo>
                  <a:lnTo>
                    <a:pt x="16" y="458"/>
                  </a:lnTo>
                  <a:lnTo>
                    <a:pt x="16" y="419"/>
                  </a:lnTo>
                  <a:lnTo>
                    <a:pt x="0" y="399"/>
                  </a:lnTo>
                  <a:lnTo>
                    <a:pt x="0" y="360"/>
                  </a:lnTo>
                  <a:lnTo>
                    <a:pt x="0" y="339"/>
                  </a:lnTo>
                  <a:lnTo>
                    <a:pt x="0" y="300"/>
                  </a:lnTo>
                  <a:lnTo>
                    <a:pt x="0" y="279"/>
                  </a:lnTo>
                  <a:lnTo>
                    <a:pt x="0" y="239"/>
                  </a:lnTo>
                  <a:lnTo>
                    <a:pt x="16" y="199"/>
                  </a:lnTo>
                  <a:lnTo>
                    <a:pt x="35" y="180"/>
                  </a:lnTo>
                  <a:lnTo>
                    <a:pt x="35" y="160"/>
                  </a:lnTo>
                  <a:lnTo>
                    <a:pt x="51" y="138"/>
                  </a:lnTo>
                  <a:lnTo>
                    <a:pt x="66" y="138"/>
                  </a:lnTo>
                  <a:lnTo>
                    <a:pt x="66" y="119"/>
                  </a:lnTo>
                  <a:lnTo>
                    <a:pt x="66" y="99"/>
                  </a:lnTo>
                  <a:lnTo>
                    <a:pt x="83" y="79"/>
                  </a:lnTo>
                  <a:lnTo>
                    <a:pt x="83" y="59"/>
                  </a:lnTo>
                  <a:lnTo>
                    <a:pt x="99" y="59"/>
                  </a:lnTo>
                  <a:lnTo>
                    <a:pt x="114" y="40"/>
                  </a:lnTo>
                  <a:lnTo>
                    <a:pt x="131" y="19"/>
                  </a:lnTo>
                  <a:lnTo>
                    <a:pt x="149" y="19"/>
                  </a:lnTo>
                  <a:lnTo>
                    <a:pt x="180" y="19"/>
                  </a:lnTo>
                  <a:lnTo>
                    <a:pt x="197" y="0"/>
                  </a:lnTo>
                  <a:lnTo>
                    <a:pt x="214" y="0"/>
                  </a:lnTo>
                  <a:lnTo>
                    <a:pt x="231" y="0"/>
                  </a:lnTo>
                  <a:lnTo>
                    <a:pt x="246" y="19"/>
                  </a:lnTo>
                  <a:lnTo>
                    <a:pt x="281" y="19"/>
                  </a:lnTo>
                  <a:lnTo>
                    <a:pt x="296" y="19"/>
                  </a:lnTo>
                  <a:lnTo>
                    <a:pt x="329" y="40"/>
                  </a:lnTo>
                  <a:lnTo>
                    <a:pt x="362" y="40"/>
                  </a:lnTo>
                  <a:lnTo>
                    <a:pt x="380" y="59"/>
                  </a:lnTo>
                  <a:lnTo>
                    <a:pt x="395" y="59"/>
                  </a:lnTo>
                  <a:lnTo>
                    <a:pt x="411" y="79"/>
                  </a:lnTo>
                  <a:lnTo>
                    <a:pt x="428" y="99"/>
                  </a:lnTo>
                  <a:lnTo>
                    <a:pt x="445" y="119"/>
                  </a:lnTo>
                  <a:lnTo>
                    <a:pt x="445" y="138"/>
                  </a:lnTo>
                  <a:lnTo>
                    <a:pt x="445" y="160"/>
                  </a:lnTo>
                  <a:lnTo>
                    <a:pt x="428" y="160"/>
                  </a:lnTo>
                  <a:lnTo>
                    <a:pt x="411" y="160"/>
                  </a:lnTo>
                  <a:lnTo>
                    <a:pt x="362" y="160"/>
                  </a:lnTo>
                  <a:lnTo>
                    <a:pt x="346" y="160"/>
                  </a:lnTo>
                  <a:lnTo>
                    <a:pt x="329" y="160"/>
                  </a:lnTo>
                  <a:lnTo>
                    <a:pt x="313" y="160"/>
                  </a:lnTo>
                  <a:lnTo>
                    <a:pt x="296" y="160"/>
                  </a:lnTo>
                  <a:lnTo>
                    <a:pt x="281" y="160"/>
                  </a:lnTo>
                  <a:lnTo>
                    <a:pt x="264" y="180"/>
                  </a:lnTo>
                  <a:lnTo>
                    <a:pt x="246" y="180"/>
                  </a:lnTo>
                  <a:lnTo>
                    <a:pt x="231" y="180"/>
                  </a:lnTo>
                  <a:lnTo>
                    <a:pt x="214" y="199"/>
                  </a:lnTo>
                  <a:lnTo>
                    <a:pt x="197" y="219"/>
                  </a:lnTo>
                  <a:lnTo>
                    <a:pt x="197" y="239"/>
                  </a:lnTo>
                  <a:lnTo>
                    <a:pt x="180" y="259"/>
                  </a:lnTo>
                  <a:lnTo>
                    <a:pt x="180" y="279"/>
                  </a:lnTo>
                  <a:lnTo>
                    <a:pt x="180" y="300"/>
                  </a:lnTo>
                  <a:lnTo>
                    <a:pt x="180" y="339"/>
                  </a:lnTo>
                  <a:lnTo>
                    <a:pt x="180" y="360"/>
                  </a:lnTo>
                  <a:lnTo>
                    <a:pt x="165" y="360"/>
                  </a:lnTo>
                  <a:lnTo>
                    <a:pt x="165" y="378"/>
                  </a:lnTo>
                  <a:lnTo>
                    <a:pt x="149" y="360"/>
                  </a:lnTo>
                  <a:lnTo>
                    <a:pt x="131" y="360"/>
                  </a:lnTo>
                  <a:lnTo>
                    <a:pt x="114" y="360"/>
                  </a:lnTo>
                  <a:lnTo>
                    <a:pt x="99" y="360"/>
                  </a:lnTo>
                  <a:lnTo>
                    <a:pt x="99" y="378"/>
                  </a:lnTo>
                  <a:lnTo>
                    <a:pt x="83" y="399"/>
                  </a:lnTo>
                  <a:lnTo>
                    <a:pt x="83" y="419"/>
                  </a:lnTo>
                  <a:lnTo>
                    <a:pt x="83" y="439"/>
                  </a:lnTo>
                  <a:lnTo>
                    <a:pt x="83" y="458"/>
                  </a:lnTo>
                  <a:lnTo>
                    <a:pt x="99" y="479"/>
                  </a:lnTo>
                  <a:lnTo>
                    <a:pt x="99" y="499"/>
                  </a:lnTo>
                  <a:lnTo>
                    <a:pt x="114" y="518"/>
                  </a:lnTo>
                  <a:lnTo>
                    <a:pt x="131" y="518"/>
                  </a:lnTo>
                  <a:lnTo>
                    <a:pt x="131" y="539"/>
                  </a:lnTo>
                  <a:lnTo>
                    <a:pt x="114" y="559"/>
                  </a:lnTo>
                  <a:lnTo>
                    <a:pt x="99" y="579"/>
                  </a:lnTo>
                  <a:lnTo>
                    <a:pt x="99" y="598"/>
                  </a:lnTo>
                  <a:lnTo>
                    <a:pt x="83" y="59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54" name="Freeform 123"/>
            <p:cNvSpPr>
              <a:spLocks/>
            </p:cNvSpPr>
            <p:nvPr/>
          </p:nvSpPr>
          <p:spPr bwMode="auto">
            <a:xfrm>
              <a:off x="2264" y="2322"/>
              <a:ext cx="222" cy="299"/>
            </a:xfrm>
            <a:custGeom>
              <a:avLst/>
              <a:gdLst>
                <a:gd name="T0" fmla="*/ 0 w 445"/>
                <a:gd name="T1" fmla="*/ 3 h 598"/>
                <a:gd name="T2" fmla="*/ 0 w 445"/>
                <a:gd name="T3" fmla="*/ 3 h 598"/>
                <a:gd name="T4" fmla="*/ 0 w 445"/>
                <a:gd name="T5" fmla="*/ 2 h 598"/>
                <a:gd name="T6" fmla="*/ 0 w 445"/>
                <a:gd name="T7" fmla="*/ 2 h 598"/>
                <a:gd name="T8" fmla="*/ 0 w 445"/>
                <a:gd name="T9" fmla="*/ 2 h 598"/>
                <a:gd name="T10" fmla="*/ 0 w 445"/>
                <a:gd name="T11" fmla="*/ 2 h 598"/>
                <a:gd name="T12" fmla="*/ 0 w 445"/>
                <a:gd name="T13" fmla="*/ 1 h 598"/>
                <a:gd name="T14" fmla="*/ 0 w 445"/>
                <a:gd name="T15" fmla="*/ 1 h 598"/>
                <a:gd name="T16" fmla="*/ 0 w 445"/>
                <a:gd name="T17" fmla="*/ 1 h 598"/>
                <a:gd name="T18" fmla="*/ 0 w 445"/>
                <a:gd name="T19" fmla="*/ 1 h 598"/>
                <a:gd name="T20" fmla="*/ 0 w 445"/>
                <a:gd name="T21" fmla="*/ 1 h 598"/>
                <a:gd name="T22" fmla="*/ 0 w 445"/>
                <a:gd name="T23" fmla="*/ 1 h 598"/>
                <a:gd name="T24" fmla="*/ 0 w 445"/>
                <a:gd name="T25" fmla="*/ 1 h 598"/>
                <a:gd name="T26" fmla="*/ 0 w 445"/>
                <a:gd name="T27" fmla="*/ 1 h 598"/>
                <a:gd name="T28" fmla="*/ 0 w 445"/>
                <a:gd name="T29" fmla="*/ 0 h 598"/>
                <a:gd name="T30" fmla="*/ 0 w 445"/>
                <a:gd name="T31" fmla="*/ 1 h 598"/>
                <a:gd name="T32" fmla="*/ 1 w 445"/>
                <a:gd name="T33" fmla="*/ 1 h 598"/>
                <a:gd name="T34" fmla="*/ 1 w 445"/>
                <a:gd name="T35" fmla="*/ 1 h 598"/>
                <a:gd name="T36" fmla="*/ 1 w 445"/>
                <a:gd name="T37" fmla="*/ 1 h 598"/>
                <a:gd name="T38" fmla="*/ 1 w 445"/>
                <a:gd name="T39" fmla="*/ 1 h 598"/>
                <a:gd name="T40" fmla="*/ 1 w 445"/>
                <a:gd name="T41" fmla="*/ 1 h 598"/>
                <a:gd name="T42" fmla="*/ 1 w 445"/>
                <a:gd name="T43" fmla="*/ 1 h 598"/>
                <a:gd name="T44" fmla="*/ 1 w 445"/>
                <a:gd name="T45" fmla="*/ 1 h 598"/>
                <a:gd name="T46" fmla="*/ 1 w 445"/>
                <a:gd name="T47" fmla="*/ 1 h 598"/>
                <a:gd name="T48" fmla="*/ 1 w 445"/>
                <a:gd name="T49" fmla="*/ 1 h 598"/>
                <a:gd name="T50" fmla="*/ 1 w 445"/>
                <a:gd name="T51" fmla="*/ 1 h 598"/>
                <a:gd name="T52" fmla="*/ 1 w 445"/>
                <a:gd name="T53" fmla="*/ 1 h 598"/>
                <a:gd name="T54" fmla="*/ 0 w 445"/>
                <a:gd name="T55" fmla="*/ 1 h 598"/>
                <a:gd name="T56" fmla="*/ 0 w 445"/>
                <a:gd name="T57" fmla="*/ 1 h 598"/>
                <a:gd name="T58" fmla="*/ 0 w 445"/>
                <a:gd name="T59" fmla="*/ 1 h 598"/>
                <a:gd name="T60" fmla="*/ 0 w 445"/>
                <a:gd name="T61" fmla="*/ 1 h 598"/>
                <a:gd name="T62" fmla="*/ 0 w 445"/>
                <a:gd name="T63" fmla="*/ 2 h 598"/>
                <a:gd name="T64" fmla="*/ 0 w 445"/>
                <a:gd name="T65" fmla="*/ 2 h 598"/>
                <a:gd name="T66" fmla="*/ 0 w 445"/>
                <a:gd name="T67" fmla="*/ 2 h 598"/>
                <a:gd name="T68" fmla="*/ 0 w 445"/>
                <a:gd name="T69" fmla="*/ 2 h 598"/>
                <a:gd name="T70" fmla="*/ 0 w 445"/>
                <a:gd name="T71" fmla="*/ 2 h 598"/>
                <a:gd name="T72" fmla="*/ 0 w 445"/>
                <a:gd name="T73" fmla="*/ 2 h 598"/>
                <a:gd name="T74" fmla="*/ 0 w 445"/>
                <a:gd name="T75" fmla="*/ 2 h 598"/>
                <a:gd name="T76" fmla="*/ 0 w 445"/>
                <a:gd name="T77" fmla="*/ 2 h 598"/>
                <a:gd name="T78" fmla="*/ 0 w 445"/>
                <a:gd name="T79" fmla="*/ 2 h 598"/>
                <a:gd name="T80" fmla="*/ 0 w 445"/>
                <a:gd name="T81" fmla="*/ 2 h 598"/>
                <a:gd name="T82" fmla="*/ 0 w 445"/>
                <a:gd name="T83" fmla="*/ 2 h 598"/>
                <a:gd name="T84" fmla="*/ 0 w 445"/>
                <a:gd name="T85" fmla="*/ 3 h 598"/>
                <a:gd name="T86" fmla="*/ 0 w 445"/>
                <a:gd name="T87" fmla="*/ 3 h 598"/>
                <a:gd name="T88" fmla="*/ 0 w 445"/>
                <a:gd name="T89" fmla="*/ 3 h 598"/>
                <a:gd name="T90" fmla="*/ 0 w 445"/>
                <a:gd name="T91" fmla="*/ 3 h 59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45"/>
                <a:gd name="T139" fmla="*/ 0 h 598"/>
                <a:gd name="T140" fmla="*/ 445 w 445"/>
                <a:gd name="T141" fmla="*/ 598 h 598"/>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45" h="598">
                  <a:moveTo>
                    <a:pt x="83" y="598"/>
                  </a:moveTo>
                  <a:lnTo>
                    <a:pt x="83" y="579"/>
                  </a:lnTo>
                  <a:lnTo>
                    <a:pt x="51" y="539"/>
                  </a:lnTo>
                  <a:lnTo>
                    <a:pt x="35" y="518"/>
                  </a:lnTo>
                  <a:lnTo>
                    <a:pt x="35" y="499"/>
                  </a:lnTo>
                  <a:lnTo>
                    <a:pt x="16" y="458"/>
                  </a:lnTo>
                  <a:lnTo>
                    <a:pt x="16" y="419"/>
                  </a:lnTo>
                  <a:lnTo>
                    <a:pt x="0" y="399"/>
                  </a:lnTo>
                  <a:lnTo>
                    <a:pt x="0" y="360"/>
                  </a:lnTo>
                  <a:lnTo>
                    <a:pt x="0" y="339"/>
                  </a:lnTo>
                  <a:lnTo>
                    <a:pt x="0" y="300"/>
                  </a:lnTo>
                  <a:lnTo>
                    <a:pt x="0" y="279"/>
                  </a:lnTo>
                  <a:lnTo>
                    <a:pt x="0" y="239"/>
                  </a:lnTo>
                  <a:lnTo>
                    <a:pt x="16" y="199"/>
                  </a:lnTo>
                  <a:lnTo>
                    <a:pt x="35" y="180"/>
                  </a:lnTo>
                  <a:lnTo>
                    <a:pt x="35" y="160"/>
                  </a:lnTo>
                  <a:lnTo>
                    <a:pt x="51" y="138"/>
                  </a:lnTo>
                  <a:lnTo>
                    <a:pt x="66" y="138"/>
                  </a:lnTo>
                  <a:lnTo>
                    <a:pt x="66" y="119"/>
                  </a:lnTo>
                  <a:lnTo>
                    <a:pt x="66" y="99"/>
                  </a:lnTo>
                  <a:lnTo>
                    <a:pt x="83" y="79"/>
                  </a:lnTo>
                  <a:lnTo>
                    <a:pt x="83" y="59"/>
                  </a:lnTo>
                  <a:lnTo>
                    <a:pt x="99" y="59"/>
                  </a:lnTo>
                  <a:lnTo>
                    <a:pt x="114" y="40"/>
                  </a:lnTo>
                  <a:lnTo>
                    <a:pt x="131" y="19"/>
                  </a:lnTo>
                  <a:lnTo>
                    <a:pt x="149" y="19"/>
                  </a:lnTo>
                  <a:lnTo>
                    <a:pt x="180" y="19"/>
                  </a:lnTo>
                  <a:lnTo>
                    <a:pt x="197" y="0"/>
                  </a:lnTo>
                  <a:lnTo>
                    <a:pt x="214" y="0"/>
                  </a:lnTo>
                  <a:lnTo>
                    <a:pt x="231" y="0"/>
                  </a:lnTo>
                  <a:lnTo>
                    <a:pt x="246" y="19"/>
                  </a:lnTo>
                  <a:lnTo>
                    <a:pt x="281" y="19"/>
                  </a:lnTo>
                  <a:lnTo>
                    <a:pt x="296" y="19"/>
                  </a:lnTo>
                  <a:lnTo>
                    <a:pt x="329" y="40"/>
                  </a:lnTo>
                  <a:lnTo>
                    <a:pt x="362" y="40"/>
                  </a:lnTo>
                  <a:lnTo>
                    <a:pt x="380" y="59"/>
                  </a:lnTo>
                  <a:lnTo>
                    <a:pt x="395" y="59"/>
                  </a:lnTo>
                  <a:lnTo>
                    <a:pt x="411" y="79"/>
                  </a:lnTo>
                  <a:lnTo>
                    <a:pt x="428" y="99"/>
                  </a:lnTo>
                  <a:lnTo>
                    <a:pt x="445" y="119"/>
                  </a:lnTo>
                  <a:lnTo>
                    <a:pt x="445" y="138"/>
                  </a:lnTo>
                  <a:lnTo>
                    <a:pt x="445" y="160"/>
                  </a:lnTo>
                  <a:lnTo>
                    <a:pt x="428" y="160"/>
                  </a:lnTo>
                  <a:lnTo>
                    <a:pt x="411" y="160"/>
                  </a:lnTo>
                  <a:lnTo>
                    <a:pt x="362" y="160"/>
                  </a:lnTo>
                  <a:lnTo>
                    <a:pt x="346" y="160"/>
                  </a:lnTo>
                  <a:lnTo>
                    <a:pt x="329" y="160"/>
                  </a:lnTo>
                  <a:lnTo>
                    <a:pt x="313" y="160"/>
                  </a:lnTo>
                  <a:lnTo>
                    <a:pt x="296" y="160"/>
                  </a:lnTo>
                  <a:lnTo>
                    <a:pt x="281" y="160"/>
                  </a:lnTo>
                  <a:lnTo>
                    <a:pt x="264" y="180"/>
                  </a:lnTo>
                  <a:lnTo>
                    <a:pt x="246" y="180"/>
                  </a:lnTo>
                  <a:lnTo>
                    <a:pt x="231" y="180"/>
                  </a:lnTo>
                  <a:lnTo>
                    <a:pt x="214" y="199"/>
                  </a:lnTo>
                  <a:lnTo>
                    <a:pt x="197" y="219"/>
                  </a:lnTo>
                  <a:lnTo>
                    <a:pt x="197" y="239"/>
                  </a:lnTo>
                  <a:lnTo>
                    <a:pt x="180" y="259"/>
                  </a:lnTo>
                  <a:lnTo>
                    <a:pt x="180" y="279"/>
                  </a:lnTo>
                  <a:lnTo>
                    <a:pt x="180" y="300"/>
                  </a:lnTo>
                  <a:lnTo>
                    <a:pt x="180" y="339"/>
                  </a:lnTo>
                  <a:lnTo>
                    <a:pt x="180" y="360"/>
                  </a:lnTo>
                  <a:lnTo>
                    <a:pt x="165" y="360"/>
                  </a:lnTo>
                  <a:lnTo>
                    <a:pt x="165" y="378"/>
                  </a:lnTo>
                  <a:lnTo>
                    <a:pt x="149" y="360"/>
                  </a:lnTo>
                  <a:lnTo>
                    <a:pt x="131" y="360"/>
                  </a:lnTo>
                  <a:lnTo>
                    <a:pt x="114" y="360"/>
                  </a:lnTo>
                  <a:lnTo>
                    <a:pt x="99" y="360"/>
                  </a:lnTo>
                  <a:lnTo>
                    <a:pt x="99" y="378"/>
                  </a:lnTo>
                  <a:lnTo>
                    <a:pt x="83" y="399"/>
                  </a:lnTo>
                  <a:lnTo>
                    <a:pt x="83" y="419"/>
                  </a:lnTo>
                  <a:lnTo>
                    <a:pt x="83" y="439"/>
                  </a:lnTo>
                  <a:lnTo>
                    <a:pt x="83" y="458"/>
                  </a:lnTo>
                  <a:lnTo>
                    <a:pt x="99" y="479"/>
                  </a:lnTo>
                  <a:lnTo>
                    <a:pt x="99" y="499"/>
                  </a:lnTo>
                  <a:lnTo>
                    <a:pt x="114" y="518"/>
                  </a:lnTo>
                  <a:lnTo>
                    <a:pt x="131" y="518"/>
                  </a:lnTo>
                  <a:lnTo>
                    <a:pt x="131" y="539"/>
                  </a:lnTo>
                  <a:lnTo>
                    <a:pt x="114" y="559"/>
                  </a:lnTo>
                  <a:lnTo>
                    <a:pt x="99" y="579"/>
                  </a:lnTo>
                  <a:lnTo>
                    <a:pt x="99" y="598"/>
                  </a:lnTo>
                  <a:lnTo>
                    <a:pt x="83" y="59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55" name="Freeform 124"/>
            <p:cNvSpPr>
              <a:spLocks/>
            </p:cNvSpPr>
            <p:nvPr/>
          </p:nvSpPr>
          <p:spPr bwMode="auto">
            <a:xfrm>
              <a:off x="2420" y="2472"/>
              <a:ext cx="49" cy="29"/>
            </a:xfrm>
            <a:custGeom>
              <a:avLst/>
              <a:gdLst>
                <a:gd name="T0" fmla="*/ 0 w 99"/>
                <a:gd name="T1" fmla="*/ 0 h 59"/>
                <a:gd name="T2" fmla="*/ 0 w 99"/>
                <a:gd name="T3" fmla="*/ 0 h 59"/>
                <a:gd name="T4" fmla="*/ 0 w 99"/>
                <a:gd name="T5" fmla="*/ 0 h 59"/>
                <a:gd name="T6" fmla="*/ 0 w 99"/>
                <a:gd name="T7" fmla="*/ 0 h 59"/>
                <a:gd name="T8" fmla="*/ 0 w 99"/>
                <a:gd name="T9" fmla="*/ 0 h 59"/>
                <a:gd name="T10" fmla="*/ 0 w 99"/>
                <a:gd name="T11" fmla="*/ 0 h 59"/>
                <a:gd name="T12" fmla="*/ 0 w 99"/>
                <a:gd name="T13" fmla="*/ 0 h 59"/>
                <a:gd name="T14" fmla="*/ 0 w 99"/>
                <a:gd name="T15" fmla="*/ 0 h 59"/>
                <a:gd name="T16" fmla="*/ 0 w 99"/>
                <a:gd name="T17" fmla="*/ 0 h 59"/>
                <a:gd name="T18" fmla="*/ 0 w 99"/>
                <a:gd name="T19" fmla="*/ 0 h 59"/>
                <a:gd name="T20" fmla="*/ 0 w 99"/>
                <a:gd name="T21" fmla="*/ 0 h 59"/>
                <a:gd name="T22" fmla="*/ 0 w 99"/>
                <a:gd name="T23" fmla="*/ 0 h 59"/>
                <a:gd name="T24" fmla="*/ 0 w 99"/>
                <a:gd name="T25" fmla="*/ 0 h 59"/>
                <a:gd name="T26" fmla="*/ 0 w 99"/>
                <a:gd name="T27" fmla="*/ 0 h 59"/>
                <a:gd name="T28" fmla="*/ 0 w 99"/>
                <a:gd name="T29" fmla="*/ 0 h 59"/>
                <a:gd name="T30" fmla="*/ 0 w 99"/>
                <a:gd name="T31" fmla="*/ 0 h 59"/>
                <a:gd name="T32" fmla="*/ 0 w 99"/>
                <a:gd name="T33" fmla="*/ 0 h 59"/>
                <a:gd name="T34" fmla="*/ 0 w 99"/>
                <a:gd name="T35" fmla="*/ 0 h 59"/>
                <a:gd name="T36" fmla="*/ 0 w 99"/>
                <a:gd name="T37" fmla="*/ 0 h 59"/>
                <a:gd name="T38" fmla="*/ 0 w 99"/>
                <a:gd name="T39" fmla="*/ 0 h 59"/>
                <a:gd name="T40" fmla="*/ 0 w 99"/>
                <a:gd name="T41" fmla="*/ 0 h 5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9"/>
                <a:gd name="T64" fmla="*/ 0 h 59"/>
                <a:gd name="T65" fmla="*/ 99 w 99"/>
                <a:gd name="T66" fmla="*/ 59 h 5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9" h="59">
                  <a:moveTo>
                    <a:pt x="0" y="59"/>
                  </a:moveTo>
                  <a:lnTo>
                    <a:pt x="0" y="39"/>
                  </a:lnTo>
                  <a:lnTo>
                    <a:pt x="0" y="18"/>
                  </a:lnTo>
                  <a:lnTo>
                    <a:pt x="17" y="18"/>
                  </a:lnTo>
                  <a:lnTo>
                    <a:pt x="34" y="0"/>
                  </a:lnTo>
                  <a:lnTo>
                    <a:pt x="49" y="0"/>
                  </a:lnTo>
                  <a:lnTo>
                    <a:pt x="67" y="0"/>
                  </a:lnTo>
                  <a:lnTo>
                    <a:pt x="83" y="0"/>
                  </a:lnTo>
                  <a:lnTo>
                    <a:pt x="99" y="0"/>
                  </a:lnTo>
                  <a:lnTo>
                    <a:pt x="99" y="18"/>
                  </a:lnTo>
                  <a:lnTo>
                    <a:pt x="99" y="39"/>
                  </a:lnTo>
                  <a:lnTo>
                    <a:pt x="99" y="59"/>
                  </a:lnTo>
                  <a:lnTo>
                    <a:pt x="83" y="39"/>
                  </a:lnTo>
                  <a:lnTo>
                    <a:pt x="67" y="39"/>
                  </a:lnTo>
                  <a:lnTo>
                    <a:pt x="49" y="39"/>
                  </a:lnTo>
                  <a:lnTo>
                    <a:pt x="34" y="39"/>
                  </a:lnTo>
                  <a:lnTo>
                    <a:pt x="17" y="59"/>
                  </a:lnTo>
                  <a:lnTo>
                    <a:pt x="0" y="5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56" name="Freeform 125"/>
            <p:cNvSpPr>
              <a:spLocks/>
            </p:cNvSpPr>
            <p:nvPr/>
          </p:nvSpPr>
          <p:spPr bwMode="auto">
            <a:xfrm>
              <a:off x="2420" y="2472"/>
              <a:ext cx="49" cy="29"/>
            </a:xfrm>
            <a:custGeom>
              <a:avLst/>
              <a:gdLst>
                <a:gd name="T0" fmla="*/ 0 w 99"/>
                <a:gd name="T1" fmla="*/ 0 h 59"/>
                <a:gd name="T2" fmla="*/ 0 w 99"/>
                <a:gd name="T3" fmla="*/ 0 h 59"/>
                <a:gd name="T4" fmla="*/ 0 w 99"/>
                <a:gd name="T5" fmla="*/ 0 h 59"/>
                <a:gd name="T6" fmla="*/ 0 w 99"/>
                <a:gd name="T7" fmla="*/ 0 h 59"/>
                <a:gd name="T8" fmla="*/ 0 w 99"/>
                <a:gd name="T9" fmla="*/ 0 h 59"/>
                <a:gd name="T10" fmla="*/ 0 w 99"/>
                <a:gd name="T11" fmla="*/ 0 h 59"/>
                <a:gd name="T12" fmla="*/ 0 w 99"/>
                <a:gd name="T13" fmla="*/ 0 h 59"/>
                <a:gd name="T14" fmla="*/ 0 w 99"/>
                <a:gd name="T15" fmla="*/ 0 h 59"/>
                <a:gd name="T16" fmla="*/ 0 w 99"/>
                <a:gd name="T17" fmla="*/ 0 h 59"/>
                <a:gd name="T18" fmla="*/ 0 w 99"/>
                <a:gd name="T19" fmla="*/ 0 h 59"/>
                <a:gd name="T20" fmla="*/ 0 w 99"/>
                <a:gd name="T21" fmla="*/ 0 h 59"/>
                <a:gd name="T22" fmla="*/ 0 w 99"/>
                <a:gd name="T23" fmla="*/ 0 h 59"/>
                <a:gd name="T24" fmla="*/ 0 w 99"/>
                <a:gd name="T25" fmla="*/ 0 h 59"/>
                <a:gd name="T26" fmla="*/ 0 w 99"/>
                <a:gd name="T27" fmla="*/ 0 h 59"/>
                <a:gd name="T28" fmla="*/ 0 w 99"/>
                <a:gd name="T29" fmla="*/ 0 h 59"/>
                <a:gd name="T30" fmla="*/ 0 w 99"/>
                <a:gd name="T31" fmla="*/ 0 h 59"/>
                <a:gd name="T32" fmla="*/ 0 w 99"/>
                <a:gd name="T33" fmla="*/ 0 h 59"/>
                <a:gd name="T34" fmla="*/ 0 w 99"/>
                <a:gd name="T35" fmla="*/ 0 h 59"/>
                <a:gd name="T36" fmla="*/ 0 w 99"/>
                <a:gd name="T37" fmla="*/ 0 h 59"/>
                <a:gd name="T38" fmla="*/ 0 w 99"/>
                <a:gd name="T39" fmla="*/ 0 h 59"/>
                <a:gd name="T40" fmla="*/ 0 w 99"/>
                <a:gd name="T41" fmla="*/ 0 h 5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9"/>
                <a:gd name="T64" fmla="*/ 0 h 59"/>
                <a:gd name="T65" fmla="*/ 99 w 99"/>
                <a:gd name="T66" fmla="*/ 59 h 5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9" h="59">
                  <a:moveTo>
                    <a:pt x="0" y="59"/>
                  </a:moveTo>
                  <a:lnTo>
                    <a:pt x="0" y="39"/>
                  </a:lnTo>
                  <a:lnTo>
                    <a:pt x="0" y="18"/>
                  </a:lnTo>
                  <a:lnTo>
                    <a:pt x="17" y="18"/>
                  </a:lnTo>
                  <a:lnTo>
                    <a:pt x="34" y="0"/>
                  </a:lnTo>
                  <a:lnTo>
                    <a:pt x="49" y="0"/>
                  </a:lnTo>
                  <a:lnTo>
                    <a:pt x="67" y="0"/>
                  </a:lnTo>
                  <a:lnTo>
                    <a:pt x="83" y="0"/>
                  </a:lnTo>
                  <a:lnTo>
                    <a:pt x="99" y="0"/>
                  </a:lnTo>
                  <a:lnTo>
                    <a:pt x="99" y="18"/>
                  </a:lnTo>
                  <a:lnTo>
                    <a:pt x="99" y="39"/>
                  </a:lnTo>
                  <a:lnTo>
                    <a:pt x="99" y="59"/>
                  </a:lnTo>
                  <a:lnTo>
                    <a:pt x="83" y="39"/>
                  </a:lnTo>
                  <a:lnTo>
                    <a:pt x="67" y="39"/>
                  </a:lnTo>
                  <a:lnTo>
                    <a:pt x="49" y="39"/>
                  </a:lnTo>
                  <a:lnTo>
                    <a:pt x="34" y="39"/>
                  </a:lnTo>
                  <a:lnTo>
                    <a:pt x="17" y="59"/>
                  </a:lnTo>
                  <a:lnTo>
                    <a:pt x="0" y="5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57" name="Freeform 126"/>
            <p:cNvSpPr>
              <a:spLocks/>
            </p:cNvSpPr>
            <p:nvPr/>
          </p:nvSpPr>
          <p:spPr bwMode="auto">
            <a:xfrm>
              <a:off x="2429" y="2511"/>
              <a:ext cx="32" cy="10"/>
            </a:xfrm>
            <a:custGeom>
              <a:avLst/>
              <a:gdLst>
                <a:gd name="T0" fmla="*/ 0 w 66"/>
                <a:gd name="T1" fmla="*/ 0 h 21"/>
                <a:gd name="T2" fmla="*/ 0 w 66"/>
                <a:gd name="T3" fmla="*/ 0 h 21"/>
                <a:gd name="T4" fmla="*/ 0 w 66"/>
                <a:gd name="T5" fmla="*/ 0 h 21"/>
                <a:gd name="T6" fmla="*/ 0 w 66"/>
                <a:gd name="T7" fmla="*/ 0 h 21"/>
                <a:gd name="T8" fmla="*/ 0 w 66"/>
                <a:gd name="T9" fmla="*/ 0 h 21"/>
                <a:gd name="T10" fmla="*/ 0 w 66"/>
                <a:gd name="T11" fmla="*/ 0 h 21"/>
                <a:gd name="T12" fmla="*/ 0 w 66"/>
                <a:gd name="T13" fmla="*/ 0 h 21"/>
                <a:gd name="T14" fmla="*/ 0 w 66"/>
                <a:gd name="T15" fmla="*/ 0 h 21"/>
                <a:gd name="T16" fmla="*/ 0 w 66"/>
                <a:gd name="T17" fmla="*/ 0 h 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6"/>
                <a:gd name="T28" fmla="*/ 0 h 21"/>
                <a:gd name="T29" fmla="*/ 66 w 66"/>
                <a:gd name="T30" fmla="*/ 21 h 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6" h="21">
                  <a:moveTo>
                    <a:pt x="0" y="21"/>
                  </a:moveTo>
                  <a:lnTo>
                    <a:pt x="66" y="0"/>
                  </a:lnTo>
                  <a:lnTo>
                    <a:pt x="66" y="21"/>
                  </a:lnTo>
                  <a:lnTo>
                    <a:pt x="50" y="21"/>
                  </a:lnTo>
                  <a:lnTo>
                    <a:pt x="32" y="21"/>
                  </a:lnTo>
                  <a:lnTo>
                    <a:pt x="16" y="21"/>
                  </a:ln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58" name="Freeform 127"/>
            <p:cNvSpPr>
              <a:spLocks/>
            </p:cNvSpPr>
            <p:nvPr/>
          </p:nvSpPr>
          <p:spPr bwMode="auto">
            <a:xfrm>
              <a:off x="2429" y="2511"/>
              <a:ext cx="32" cy="10"/>
            </a:xfrm>
            <a:custGeom>
              <a:avLst/>
              <a:gdLst>
                <a:gd name="T0" fmla="*/ 0 w 66"/>
                <a:gd name="T1" fmla="*/ 0 h 21"/>
                <a:gd name="T2" fmla="*/ 0 w 66"/>
                <a:gd name="T3" fmla="*/ 0 h 21"/>
                <a:gd name="T4" fmla="*/ 0 w 66"/>
                <a:gd name="T5" fmla="*/ 0 h 21"/>
                <a:gd name="T6" fmla="*/ 0 w 66"/>
                <a:gd name="T7" fmla="*/ 0 h 21"/>
                <a:gd name="T8" fmla="*/ 0 w 66"/>
                <a:gd name="T9" fmla="*/ 0 h 21"/>
                <a:gd name="T10" fmla="*/ 0 w 66"/>
                <a:gd name="T11" fmla="*/ 0 h 21"/>
                <a:gd name="T12" fmla="*/ 0 w 66"/>
                <a:gd name="T13" fmla="*/ 0 h 21"/>
                <a:gd name="T14" fmla="*/ 0 w 66"/>
                <a:gd name="T15" fmla="*/ 0 h 21"/>
                <a:gd name="T16" fmla="*/ 0 w 66"/>
                <a:gd name="T17" fmla="*/ 0 h 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6"/>
                <a:gd name="T28" fmla="*/ 0 h 21"/>
                <a:gd name="T29" fmla="*/ 66 w 66"/>
                <a:gd name="T30" fmla="*/ 21 h 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6" h="21">
                  <a:moveTo>
                    <a:pt x="0" y="21"/>
                  </a:moveTo>
                  <a:lnTo>
                    <a:pt x="66" y="0"/>
                  </a:lnTo>
                  <a:lnTo>
                    <a:pt x="66" y="21"/>
                  </a:lnTo>
                  <a:lnTo>
                    <a:pt x="50" y="21"/>
                  </a:lnTo>
                  <a:lnTo>
                    <a:pt x="32" y="21"/>
                  </a:lnTo>
                  <a:lnTo>
                    <a:pt x="16" y="21"/>
                  </a:lnTo>
                  <a:lnTo>
                    <a:pt x="0" y="21"/>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59" name="Line 128"/>
            <p:cNvSpPr>
              <a:spLocks noChangeShapeType="1"/>
            </p:cNvSpPr>
            <p:nvPr/>
          </p:nvSpPr>
          <p:spPr bwMode="auto">
            <a:xfrm>
              <a:off x="2461" y="2501"/>
              <a:ext cx="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160" name="Freeform 129"/>
            <p:cNvSpPr>
              <a:spLocks/>
            </p:cNvSpPr>
            <p:nvPr/>
          </p:nvSpPr>
          <p:spPr bwMode="auto">
            <a:xfrm>
              <a:off x="2330" y="2581"/>
              <a:ext cx="16" cy="10"/>
            </a:xfrm>
            <a:custGeom>
              <a:avLst/>
              <a:gdLst>
                <a:gd name="T0" fmla="*/ 0 w 33"/>
                <a:gd name="T1" fmla="*/ 0 h 20"/>
                <a:gd name="T2" fmla="*/ 0 w 33"/>
                <a:gd name="T3" fmla="*/ 1 h 20"/>
                <a:gd name="T4" fmla="*/ 0 w 33"/>
                <a:gd name="T5" fmla="*/ 1 h 20"/>
                <a:gd name="T6" fmla="*/ 0 w 33"/>
                <a:gd name="T7" fmla="*/ 1 h 20"/>
                <a:gd name="T8" fmla="*/ 0 60000 65536"/>
                <a:gd name="T9" fmla="*/ 0 60000 65536"/>
                <a:gd name="T10" fmla="*/ 0 60000 65536"/>
                <a:gd name="T11" fmla="*/ 0 60000 65536"/>
                <a:gd name="T12" fmla="*/ 0 w 33"/>
                <a:gd name="T13" fmla="*/ 0 h 20"/>
                <a:gd name="T14" fmla="*/ 33 w 33"/>
                <a:gd name="T15" fmla="*/ 20 h 20"/>
              </a:gdLst>
              <a:ahLst/>
              <a:cxnLst>
                <a:cxn ang="T8">
                  <a:pos x="T0" y="T1"/>
                </a:cxn>
                <a:cxn ang="T9">
                  <a:pos x="T2" y="T3"/>
                </a:cxn>
                <a:cxn ang="T10">
                  <a:pos x="T4" y="T5"/>
                </a:cxn>
                <a:cxn ang="T11">
                  <a:pos x="T6" y="T7"/>
                </a:cxn>
              </a:cxnLst>
              <a:rect l="T12" t="T13" r="T14" b="T15"/>
              <a:pathLst>
                <a:path w="33" h="20">
                  <a:moveTo>
                    <a:pt x="33" y="0"/>
                  </a:moveTo>
                  <a:lnTo>
                    <a:pt x="33" y="20"/>
                  </a:lnTo>
                  <a:lnTo>
                    <a:pt x="17" y="20"/>
                  </a:lnTo>
                  <a:lnTo>
                    <a:pt x="0" y="2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61" name="Freeform 130"/>
            <p:cNvSpPr>
              <a:spLocks/>
            </p:cNvSpPr>
            <p:nvPr/>
          </p:nvSpPr>
          <p:spPr bwMode="auto">
            <a:xfrm>
              <a:off x="2404" y="2661"/>
              <a:ext cx="57" cy="10"/>
            </a:xfrm>
            <a:custGeom>
              <a:avLst/>
              <a:gdLst>
                <a:gd name="T0" fmla="*/ 0 w 115"/>
                <a:gd name="T1" fmla="*/ 1 h 19"/>
                <a:gd name="T2" fmla="*/ 0 w 115"/>
                <a:gd name="T3" fmla="*/ 1 h 19"/>
                <a:gd name="T4" fmla="*/ 0 w 115"/>
                <a:gd name="T5" fmla="*/ 1 h 19"/>
                <a:gd name="T6" fmla="*/ 0 w 115"/>
                <a:gd name="T7" fmla="*/ 1 h 19"/>
                <a:gd name="T8" fmla="*/ 0 w 115"/>
                <a:gd name="T9" fmla="*/ 1 h 19"/>
                <a:gd name="T10" fmla="*/ 0 w 115"/>
                <a:gd name="T11" fmla="*/ 0 h 19"/>
                <a:gd name="T12" fmla="*/ 0 60000 65536"/>
                <a:gd name="T13" fmla="*/ 0 60000 65536"/>
                <a:gd name="T14" fmla="*/ 0 60000 65536"/>
                <a:gd name="T15" fmla="*/ 0 60000 65536"/>
                <a:gd name="T16" fmla="*/ 0 60000 65536"/>
                <a:gd name="T17" fmla="*/ 0 60000 65536"/>
                <a:gd name="T18" fmla="*/ 0 w 115"/>
                <a:gd name="T19" fmla="*/ 0 h 19"/>
                <a:gd name="T20" fmla="*/ 115 w 115"/>
                <a:gd name="T21" fmla="*/ 19 h 19"/>
              </a:gdLst>
              <a:ahLst/>
              <a:cxnLst>
                <a:cxn ang="T12">
                  <a:pos x="T0" y="T1"/>
                </a:cxn>
                <a:cxn ang="T13">
                  <a:pos x="T2" y="T3"/>
                </a:cxn>
                <a:cxn ang="T14">
                  <a:pos x="T4" y="T5"/>
                </a:cxn>
                <a:cxn ang="T15">
                  <a:pos x="T6" y="T7"/>
                </a:cxn>
                <a:cxn ang="T16">
                  <a:pos x="T8" y="T9"/>
                </a:cxn>
                <a:cxn ang="T17">
                  <a:pos x="T10" y="T11"/>
                </a:cxn>
              </a:cxnLst>
              <a:rect l="T18" t="T19" r="T20" b="T21"/>
              <a:pathLst>
                <a:path w="115" h="19">
                  <a:moveTo>
                    <a:pt x="0" y="19"/>
                  </a:moveTo>
                  <a:lnTo>
                    <a:pt x="16" y="19"/>
                  </a:lnTo>
                  <a:lnTo>
                    <a:pt x="32" y="19"/>
                  </a:lnTo>
                  <a:lnTo>
                    <a:pt x="66" y="19"/>
                  </a:lnTo>
                  <a:lnTo>
                    <a:pt x="81" y="19"/>
                  </a:lnTo>
                  <a:lnTo>
                    <a:pt x="115"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62" name="Line 131"/>
            <p:cNvSpPr>
              <a:spLocks noChangeShapeType="1"/>
            </p:cNvSpPr>
            <p:nvPr/>
          </p:nvSpPr>
          <p:spPr bwMode="auto">
            <a:xfrm>
              <a:off x="2478" y="2591"/>
              <a:ext cx="16"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163" name="Freeform 132"/>
            <p:cNvSpPr>
              <a:spLocks/>
            </p:cNvSpPr>
            <p:nvPr/>
          </p:nvSpPr>
          <p:spPr bwMode="auto">
            <a:xfrm>
              <a:off x="2478" y="2541"/>
              <a:ext cx="16" cy="19"/>
            </a:xfrm>
            <a:custGeom>
              <a:avLst/>
              <a:gdLst>
                <a:gd name="T0" fmla="*/ 0 w 32"/>
                <a:gd name="T1" fmla="*/ 0 h 39"/>
                <a:gd name="T2" fmla="*/ 0 w 32"/>
                <a:gd name="T3" fmla="*/ 0 h 39"/>
                <a:gd name="T4" fmla="*/ 0 w 32"/>
                <a:gd name="T5" fmla="*/ 0 h 39"/>
                <a:gd name="T6" fmla="*/ 0 w 32"/>
                <a:gd name="T7" fmla="*/ 0 h 39"/>
                <a:gd name="T8" fmla="*/ 1 w 32"/>
                <a:gd name="T9" fmla="*/ 0 h 39"/>
                <a:gd name="T10" fmla="*/ 1 w 32"/>
                <a:gd name="T11" fmla="*/ 0 h 39"/>
                <a:gd name="T12" fmla="*/ 1 w 32"/>
                <a:gd name="T13" fmla="*/ 0 h 39"/>
                <a:gd name="T14" fmla="*/ 0 60000 65536"/>
                <a:gd name="T15" fmla="*/ 0 60000 65536"/>
                <a:gd name="T16" fmla="*/ 0 60000 65536"/>
                <a:gd name="T17" fmla="*/ 0 60000 65536"/>
                <a:gd name="T18" fmla="*/ 0 60000 65536"/>
                <a:gd name="T19" fmla="*/ 0 60000 65536"/>
                <a:gd name="T20" fmla="*/ 0 60000 65536"/>
                <a:gd name="T21" fmla="*/ 0 w 32"/>
                <a:gd name="T22" fmla="*/ 0 h 39"/>
                <a:gd name="T23" fmla="*/ 32 w 32"/>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9">
                  <a:moveTo>
                    <a:pt x="0" y="0"/>
                  </a:moveTo>
                  <a:lnTo>
                    <a:pt x="0" y="20"/>
                  </a:lnTo>
                  <a:lnTo>
                    <a:pt x="0" y="39"/>
                  </a:lnTo>
                  <a:lnTo>
                    <a:pt x="16" y="39"/>
                  </a:lnTo>
                  <a:lnTo>
                    <a:pt x="32" y="3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64" name="Freeform 133"/>
            <p:cNvSpPr>
              <a:spLocks/>
            </p:cNvSpPr>
            <p:nvPr/>
          </p:nvSpPr>
          <p:spPr bwMode="auto">
            <a:xfrm>
              <a:off x="2321" y="2511"/>
              <a:ext cx="17" cy="21"/>
            </a:xfrm>
            <a:custGeom>
              <a:avLst/>
              <a:gdLst>
                <a:gd name="T0" fmla="*/ 0 w 34"/>
                <a:gd name="T1" fmla="*/ 1 h 41"/>
                <a:gd name="T2" fmla="*/ 0 w 34"/>
                <a:gd name="T3" fmla="*/ 1 h 41"/>
                <a:gd name="T4" fmla="*/ 0 w 34"/>
                <a:gd name="T5" fmla="*/ 1 h 41"/>
                <a:gd name="T6" fmla="*/ 0 w 34"/>
                <a:gd name="T7" fmla="*/ 1 h 41"/>
                <a:gd name="T8" fmla="*/ 0 w 34"/>
                <a:gd name="T9" fmla="*/ 1 h 41"/>
                <a:gd name="T10" fmla="*/ 0 w 34"/>
                <a:gd name="T11" fmla="*/ 1 h 41"/>
                <a:gd name="T12" fmla="*/ 0 w 34"/>
                <a:gd name="T13" fmla="*/ 0 h 41"/>
                <a:gd name="T14" fmla="*/ 1 w 34"/>
                <a:gd name="T15" fmla="*/ 0 h 41"/>
                <a:gd name="T16" fmla="*/ 1 w 34"/>
                <a:gd name="T17" fmla="*/ 0 h 41"/>
                <a:gd name="T18" fmla="*/ 1 w 34"/>
                <a:gd name="T19" fmla="*/ 0 h 41"/>
                <a:gd name="T20" fmla="*/ 1 w 34"/>
                <a:gd name="T21" fmla="*/ 0 h 41"/>
                <a:gd name="T22" fmla="*/ 1 w 34"/>
                <a:gd name="T23" fmla="*/ 1 h 41"/>
                <a:gd name="T24" fmla="*/ 1 w 34"/>
                <a:gd name="T25" fmla="*/ 1 h 41"/>
                <a:gd name="T26" fmla="*/ 1 w 34"/>
                <a:gd name="T27" fmla="*/ 1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4"/>
                <a:gd name="T43" fmla="*/ 0 h 41"/>
                <a:gd name="T44" fmla="*/ 34 w 34"/>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4" h="41">
                  <a:moveTo>
                    <a:pt x="0" y="41"/>
                  </a:moveTo>
                  <a:lnTo>
                    <a:pt x="0" y="41"/>
                  </a:lnTo>
                  <a:lnTo>
                    <a:pt x="0" y="21"/>
                  </a:lnTo>
                  <a:lnTo>
                    <a:pt x="0" y="0"/>
                  </a:lnTo>
                  <a:lnTo>
                    <a:pt x="16" y="0"/>
                  </a:lnTo>
                  <a:lnTo>
                    <a:pt x="34" y="21"/>
                  </a:lnTo>
                  <a:lnTo>
                    <a:pt x="34" y="41"/>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65" name="Freeform 134"/>
            <p:cNvSpPr>
              <a:spLocks/>
            </p:cNvSpPr>
            <p:nvPr/>
          </p:nvSpPr>
          <p:spPr bwMode="auto">
            <a:xfrm>
              <a:off x="2296" y="2381"/>
              <a:ext cx="83" cy="30"/>
            </a:xfrm>
            <a:custGeom>
              <a:avLst/>
              <a:gdLst>
                <a:gd name="T0" fmla="*/ 0 w 165"/>
                <a:gd name="T1" fmla="*/ 1 h 58"/>
                <a:gd name="T2" fmla="*/ 1 w 165"/>
                <a:gd name="T3" fmla="*/ 0 h 58"/>
                <a:gd name="T4" fmla="*/ 1 w 165"/>
                <a:gd name="T5" fmla="*/ 0 h 58"/>
                <a:gd name="T6" fmla="*/ 1 w 165"/>
                <a:gd name="T7" fmla="*/ 0 h 58"/>
                <a:gd name="T8" fmla="*/ 1 w 165"/>
                <a:gd name="T9" fmla="*/ 0 h 58"/>
                <a:gd name="T10" fmla="*/ 1 w 165"/>
                <a:gd name="T11" fmla="*/ 1 h 58"/>
                <a:gd name="T12" fmla="*/ 1 w 165"/>
                <a:gd name="T13" fmla="*/ 1 h 58"/>
                <a:gd name="T14" fmla="*/ 1 w 165"/>
                <a:gd name="T15" fmla="*/ 1 h 58"/>
                <a:gd name="T16" fmla="*/ 1 w 165"/>
                <a:gd name="T17" fmla="*/ 1 h 58"/>
                <a:gd name="T18" fmla="*/ 1 w 165"/>
                <a:gd name="T19" fmla="*/ 1 h 5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5"/>
                <a:gd name="T31" fmla="*/ 0 h 58"/>
                <a:gd name="T32" fmla="*/ 165 w 165"/>
                <a:gd name="T33" fmla="*/ 58 h 5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5" h="58">
                  <a:moveTo>
                    <a:pt x="0" y="19"/>
                  </a:moveTo>
                  <a:lnTo>
                    <a:pt x="17" y="0"/>
                  </a:lnTo>
                  <a:lnTo>
                    <a:pt x="34" y="0"/>
                  </a:lnTo>
                  <a:lnTo>
                    <a:pt x="67" y="0"/>
                  </a:lnTo>
                  <a:lnTo>
                    <a:pt x="83" y="0"/>
                  </a:lnTo>
                  <a:lnTo>
                    <a:pt x="115" y="19"/>
                  </a:lnTo>
                  <a:lnTo>
                    <a:pt x="132" y="19"/>
                  </a:lnTo>
                  <a:lnTo>
                    <a:pt x="165" y="40"/>
                  </a:lnTo>
                  <a:lnTo>
                    <a:pt x="165" y="5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66" name="Freeform 135"/>
            <p:cNvSpPr>
              <a:spLocks/>
            </p:cNvSpPr>
            <p:nvPr/>
          </p:nvSpPr>
          <p:spPr bwMode="auto">
            <a:xfrm>
              <a:off x="2626" y="3120"/>
              <a:ext cx="98" cy="90"/>
            </a:xfrm>
            <a:custGeom>
              <a:avLst/>
              <a:gdLst>
                <a:gd name="T0" fmla="*/ 0 w 196"/>
                <a:gd name="T1" fmla="*/ 0 h 180"/>
                <a:gd name="T2" fmla="*/ 1 w 196"/>
                <a:gd name="T3" fmla="*/ 0 h 180"/>
                <a:gd name="T4" fmla="*/ 1 w 196"/>
                <a:gd name="T5" fmla="*/ 0 h 180"/>
                <a:gd name="T6" fmla="*/ 1 w 196"/>
                <a:gd name="T7" fmla="*/ 1 h 180"/>
                <a:gd name="T8" fmla="*/ 1 w 196"/>
                <a:gd name="T9" fmla="*/ 1 h 180"/>
                <a:gd name="T10" fmla="*/ 1 w 196"/>
                <a:gd name="T11" fmla="*/ 1 h 180"/>
                <a:gd name="T12" fmla="*/ 1 w 196"/>
                <a:gd name="T13" fmla="*/ 1 h 180"/>
                <a:gd name="T14" fmla="*/ 1 w 196"/>
                <a:gd name="T15" fmla="*/ 1 h 180"/>
                <a:gd name="T16" fmla="*/ 1 w 196"/>
                <a:gd name="T17" fmla="*/ 1 h 180"/>
                <a:gd name="T18" fmla="*/ 1 w 196"/>
                <a:gd name="T19" fmla="*/ 1 h 180"/>
                <a:gd name="T20" fmla="*/ 1 w 196"/>
                <a:gd name="T21" fmla="*/ 1 h 180"/>
                <a:gd name="T22" fmla="*/ 1 w 196"/>
                <a:gd name="T23" fmla="*/ 1 h 180"/>
                <a:gd name="T24" fmla="*/ 1 w 196"/>
                <a:gd name="T25" fmla="*/ 1 h 180"/>
                <a:gd name="T26" fmla="*/ 1 w 196"/>
                <a:gd name="T27" fmla="*/ 1 h 180"/>
                <a:gd name="T28" fmla="*/ 1 w 196"/>
                <a:gd name="T29" fmla="*/ 1 h 180"/>
                <a:gd name="T30" fmla="*/ 1 w 196"/>
                <a:gd name="T31" fmla="*/ 1 h 1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6"/>
                <a:gd name="T49" fmla="*/ 0 h 180"/>
                <a:gd name="T50" fmla="*/ 196 w 196"/>
                <a:gd name="T51" fmla="*/ 180 h 18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6" h="180">
                  <a:moveTo>
                    <a:pt x="0" y="0"/>
                  </a:moveTo>
                  <a:lnTo>
                    <a:pt x="16" y="0"/>
                  </a:lnTo>
                  <a:lnTo>
                    <a:pt x="49" y="0"/>
                  </a:lnTo>
                  <a:lnTo>
                    <a:pt x="65" y="19"/>
                  </a:lnTo>
                  <a:lnTo>
                    <a:pt x="81" y="19"/>
                  </a:lnTo>
                  <a:lnTo>
                    <a:pt x="97" y="40"/>
                  </a:lnTo>
                  <a:lnTo>
                    <a:pt x="114" y="40"/>
                  </a:lnTo>
                  <a:lnTo>
                    <a:pt x="131" y="59"/>
                  </a:lnTo>
                  <a:lnTo>
                    <a:pt x="147" y="80"/>
                  </a:lnTo>
                  <a:lnTo>
                    <a:pt x="162" y="99"/>
                  </a:lnTo>
                  <a:lnTo>
                    <a:pt x="162" y="119"/>
                  </a:lnTo>
                  <a:lnTo>
                    <a:pt x="180" y="140"/>
                  </a:lnTo>
                  <a:lnTo>
                    <a:pt x="180" y="159"/>
                  </a:lnTo>
                  <a:lnTo>
                    <a:pt x="196" y="18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67" name="Freeform 136"/>
            <p:cNvSpPr>
              <a:spLocks/>
            </p:cNvSpPr>
            <p:nvPr/>
          </p:nvSpPr>
          <p:spPr bwMode="auto">
            <a:xfrm>
              <a:off x="2190" y="3111"/>
              <a:ext cx="57" cy="50"/>
            </a:xfrm>
            <a:custGeom>
              <a:avLst/>
              <a:gdLst>
                <a:gd name="T0" fmla="*/ 0 w 115"/>
                <a:gd name="T1" fmla="*/ 1 h 100"/>
                <a:gd name="T2" fmla="*/ 0 w 115"/>
                <a:gd name="T3" fmla="*/ 1 h 100"/>
                <a:gd name="T4" fmla="*/ 0 w 115"/>
                <a:gd name="T5" fmla="*/ 1 h 100"/>
                <a:gd name="T6" fmla="*/ 0 w 115"/>
                <a:gd name="T7" fmla="*/ 1 h 100"/>
                <a:gd name="T8" fmla="*/ 0 w 115"/>
                <a:gd name="T9" fmla="*/ 1 h 100"/>
                <a:gd name="T10" fmla="*/ 0 w 115"/>
                <a:gd name="T11" fmla="*/ 1 h 100"/>
                <a:gd name="T12" fmla="*/ 0 w 115"/>
                <a:gd name="T13" fmla="*/ 1 h 100"/>
                <a:gd name="T14" fmla="*/ 0 w 115"/>
                <a:gd name="T15" fmla="*/ 1 h 100"/>
                <a:gd name="T16" fmla="*/ 0 w 115"/>
                <a:gd name="T17" fmla="*/ 0 h 100"/>
                <a:gd name="T18" fmla="*/ 0 w 115"/>
                <a:gd name="T19" fmla="*/ 0 h 1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
                <a:gd name="T31" fmla="*/ 0 h 100"/>
                <a:gd name="T32" fmla="*/ 115 w 115"/>
                <a:gd name="T33" fmla="*/ 100 h 1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 h="100">
                  <a:moveTo>
                    <a:pt x="0" y="100"/>
                  </a:moveTo>
                  <a:lnTo>
                    <a:pt x="17" y="80"/>
                  </a:lnTo>
                  <a:lnTo>
                    <a:pt x="32" y="59"/>
                  </a:lnTo>
                  <a:lnTo>
                    <a:pt x="49" y="40"/>
                  </a:lnTo>
                  <a:lnTo>
                    <a:pt x="67" y="20"/>
                  </a:lnTo>
                  <a:lnTo>
                    <a:pt x="83" y="20"/>
                  </a:lnTo>
                  <a:lnTo>
                    <a:pt x="98" y="0"/>
                  </a:lnTo>
                  <a:lnTo>
                    <a:pt x="115"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68" name="Freeform 137"/>
            <p:cNvSpPr>
              <a:spLocks/>
            </p:cNvSpPr>
            <p:nvPr/>
          </p:nvSpPr>
          <p:spPr bwMode="auto">
            <a:xfrm>
              <a:off x="2165" y="3101"/>
              <a:ext cx="74" cy="50"/>
            </a:xfrm>
            <a:custGeom>
              <a:avLst/>
              <a:gdLst>
                <a:gd name="T0" fmla="*/ 0 w 147"/>
                <a:gd name="T1" fmla="*/ 1 h 99"/>
                <a:gd name="T2" fmla="*/ 1 w 147"/>
                <a:gd name="T3" fmla="*/ 1 h 99"/>
                <a:gd name="T4" fmla="*/ 1 w 147"/>
                <a:gd name="T5" fmla="*/ 1 h 99"/>
                <a:gd name="T6" fmla="*/ 1 w 147"/>
                <a:gd name="T7" fmla="*/ 1 h 99"/>
                <a:gd name="T8" fmla="*/ 1 w 147"/>
                <a:gd name="T9" fmla="*/ 1 h 99"/>
                <a:gd name="T10" fmla="*/ 1 w 147"/>
                <a:gd name="T11" fmla="*/ 1 h 99"/>
                <a:gd name="T12" fmla="*/ 1 w 147"/>
                <a:gd name="T13" fmla="*/ 0 h 99"/>
                <a:gd name="T14" fmla="*/ 1 w 147"/>
                <a:gd name="T15" fmla="*/ 0 h 99"/>
                <a:gd name="T16" fmla="*/ 0 60000 65536"/>
                <a:gd name="T17" fmla="*/ 0 60000 65536"/>
                <a:gd name="T18" fmla="*/ 0 60000 65536"/>
                <a:gd name="T19" fmla="*/ 0 60000 65536"/>
                <a:gd name="T20" fmla="*/ 0 60000 65536"/>
                <a:gd name="T21" fmla="*/ 0 60000 65536"/>
                <a:gd name="T22" fmla="*/ 0 60000 65536"/>
                <a:gd name="T23" fmla="*/ 0 60000 65536"/>
                <a:gd name="T24" fmla="*/ 0 w 147"/>
                <a:gd name="T25" fmla="*/ 0 h 99"/>
                <a:gd name="T26" fmla="*/ 147 w 147"/>
                <a:gd name="T27" fmla="*/ 99 h 9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7" h="99">
                  <a:moveTo>
                    <a:pt x="0" y="99"/>
                  </a:moveTo>
                  <a:lnTo>
                    <a:pt x="32" y="79"/>
                  </a:lnTo>
                  <a:lnTo>
                    <a:pt x="48" y="40"/>
                  </a:lnTo>
                  <a:lnTo>
                    <a:pt x="65" y="40"/>
                  </a:lnTo>
                  <a:lnTo>
                    <a:pt x="81" y="19"/>
                  </a:lnTo>
                  <a:lnTo>
                    <a:pt x="97" y="19"/>
                  </a:lnTo>
                  <a:lnTo>
                    <a:pt x="132" y="0"/>
                  </a:lnTo>
                  <a:lnTo>
                    <a:pt x="147"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69" name="Freeform 138"/>
            <p:cNvSpPr>
              <a:spLocks/>
            </p:cNvSpPr>
            <p:nvPr/>
          </p:nvSpPr>
          <p:spPr bwMode="auto">
            <a:xfrm>
              <a:off x="2223" y="3071"/>
              <a:ext cx="8" cy="29"/>
            </a:xfrm>
            <a:custGeom>
              <a:avLst/>
              <a:gdLst>
                <a:gd name="T0" fmla="*/ 0 w 16"/>
                <a:gd name="T1" fmla="*/ 0 h 58"/>
                <a:gd name="T2" fmla="*/ 1 w 16"/>
                <a:gd name="T3" fmla="*/ 1 h 58"/>
                <a:gd name="T4" fmla="*/ 1 w 16"/>
                <a:gd name="T5" fmla="*/ 1 h 58"/>
                <a:gd name="T6" fmla="*/ 1 w 16"/>
                <a:gd name="T7" fmla="*/ 1 h 58"/>
                <a:gd name="T8" fmla="*/ 0 60000 65536"/>
                <a:gd name="T9" fmla="*/ 0 60000 65536"/>
                <a:gd name="T10" fmla="*/ 0 60000 65536"/>
                <a:gd name="T11" fmla="*/ 0 60000 65536"/>
                <a:gd name="T12" fmla="*/ 0 w 16"/>
                <a:gd name="T13" fmla="*/ 0 h 58"/>
                <a:gd name="T14" fmla="*/ 16 w 16"/>
                <a:gd name="T15" fmla="*/ 58 h 58"/>
              </a:gdLst>
              <a:ahLst/>
              <a:cxnLst>
                <a:cxn ang="T8">
                  <a:pos x="T0" y="T1"/>
                </a:cxn>
                <a:cxn ang="T9">
                  <a:pos x="T2" y="T3"/>
                </a:cxn>
                <a:cxn ang="T10">
                  <a:pos x="T4" y="T5"/>
                </a:cxn>
                <a:cxn ang="T11">
                  <a:pos x="T6" y="T7"/>
                </a:cxn>
              </a:cxnLst>
              <a:rect l="T12" t="T13" r="T14" b="T15"/>
              <a:pathLst>
                <a:path w="16" h="58">
                  <a:moveTo>
                    <a:pt x="0" y="0"/>
                  </a:moveTo>
                  <a:lnTo>
                    <a:pt x="16" y="19"/>
                  </a:lnTo>
                  <a:lnTo>
                    <a:pt x="16" y="39"/>
                  </a:lnTo>
                  <a:lnTo>
                    <a:pt x="16" y="5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70" name="Freeform 139"/>
            <p:cNvSpPr>
              <a:spLocks/>
            </p:cNvSpPr>
            <p:nvPr/>
          </p:nvSpPr>
          <p:spPr bwMode="auto">
            <a:xfrm>
              <a:off x="2165" y="2711"/>
              <a:ext cx="66" cy="210"/>
            </a:xfrm>
            <a:custGeom>
              <a:avLst/>
              <a:gdLst>
                <a:gd name="T0" fmla="*/ 0 w 132"/>
                <a:gd name="T1" fmla="*/ 0 h 418"/>
                <a:gd name="T2" fmla="*/ 1 w 132"/>
                <a:gd name="T3" fmla="*/ 1 h 418"/>
                <a:gd name="T4" fmla="*/ 1 w 132"/>
                <a:gd name="T5" fmla="*/ 1 h 418"/>
                <a:gd name="T6" fmla="*/ 1 w 132"/>
                <a:gd name="T7" fmla="*/ 1 h 418"/>
                <a:gd name="T8" fmla="*/ 1 w 132"/>
                <a:gd name="T9" fmla="*/ 2 h 418"/>
                <a:gd name="T10" fmla="*/ 1 w 132"/>
                <a:gd name="T11" fmla="*/ 2 h 418"/>
                <a:gd name="T12" fmla="*/ 1 w 132"/>
                <a:gd name="T13" fmla="*/ 2 h 418"/>
                <a:gd name="T14" fmla="*/ 1 w 132"/>
                <a:gd name="T15" fmla="*/ 2 h 418"/>
                <a:gd name="T16" fmla="*/ 1 w 132"/>
                <a:gd name="T17" fmla="*/ 2 h 418"/>
                <a:gd name="T18" fmla="*/ 1 w 132"/>
                <a:gd name="T19" fmla="*/ 2 h 418"/>
                <a:gd name="T20" fmla="*/ 1 w 132"/>
                <a:gd name="T21" fmla="*/ 2 h 4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2"/>
                <a:gd name="T34" fmla="*/ 0 h 418"/>
                <a:gd name="T35" fmla="*/ 132 w 132"/>
                <a:gd name="T36" fmla="*/ 418 h 41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2" h="418">
                  <a:moveTo>
                    <a:pt x="0" y="0"/>
                  </a:moveTo>
                  <a:lnTo>
                    <a:pt x="16" y="19"/>
                  </a:lnTo>
                  <a:lnTo>
                    <a:pt x="48" y="119"/>
                  </a:lnTo>
                  <a:lnTo>
                    <a:pt x="81" y="199"/>
                  </a:lnTo>
                  <a:lnTo>
                    <a:pt x="97" y="277"/>
                  </a:lnTo>
                  <a:lnTo>
                    <a:pt x="115" y="299"/>
                  </a:lnTo>
                  <a:lnTo>
                    <a:pt x="115" y="320"/>
                  </a:lnTo>
                  <a:lnTo>
                    <a:pt x="115" y="359"/>
                  </a:lnTo>
                  <a:lnTo>
                    <a:pt x="132" y="379"/>
                  </a:lnTo>
                  <a:lnTo>
                    <a:pt x="132" y="398"/>
                  </a:lnTo>
                  <a:lnTo>
                    <a:pt x="132" y="41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71" name="Freeform 140"/>
            <p:cNvSpPr>
              <a:spLocks/>
            </p:cNvSpPr>
            <p:nvPr/>
          </p:nvSpPr>
          <p:spPr bwMode="auto">
            <a:xfrm>
              <a:off x="2223" y="3041"/>
              <a:ext cx="57" cy="70"/>
            </a:xfrm>
            <a:custGeom>
              <a:avLst/>
              <a:gdLst>
                <a:gd name="T0" fmla="*/ 0 w 115"/>
                <a:gd name="T1" fmla="*/ 0 h 140"/>
                <a:gd name="T2" fmla="*/ 0 w 115"/>
                <a:gd name="T3" fmla="*/ 1 h 140"/>
                <a:gd name="T4" fmla="*/ 0 w 115"/>
                <a:gd name="T5" fmla="*/ 1 h 140"/>
                <a:gd name="T6" fmla="*/ 0 w 115"/>
                <a:gd name="T7" fmla="*/ 1 h 140"/>
                <a:gd name="T8" fmla="*/ 0 w 115"/>
                <a:gd name="T9" fmla="*/ 1 h 140"/>
                <a:gd name="T10" fmla="*/ 0 w 115"/>
                <a:gd name="T11" fmla="*/ 1 h 140"/>
                <a:gd name="T12" fmla="*/ 0 w 115"/>
                <a:gd name="T13" fmla="*/ 1 h 140"/>
                <a:gd name="T14" fmla="*/ 0 w 115"/>
                <a:gd name="T15" fmla="*/ 1 h 140"/>
                <a:gd name="T16" fmla="*/ 0 w 115"/>
                <a:gd name="T17" fmla="*/ 1 h 140"/>
                <a:gd name="T18" fmla="*/ 0 w 115"/>
                <a:gd name="T19" fmla="*/ 1 h 140"/>
                <a:gd name="T20" fmla="*/ 0 w 115"/>
                <a:gd name="T21" fmla="*/ 1 h 140"/>
                <a:gd name="T22" fmla="*/ 0 w 115"/>
                <a:gd name="T23" fmla="*/ 1 h 140"/>
                <a:gd name="T24" fmla="*/ 0 w 115"/>
                <a:gd name="T25" fmla="*/ 1 h 140"/>
                <a:gd name="T26" fmla="*/ 0 w 115"/>
                <a:gd name="T27" fmla="*/ 1 h 140"/>
                <a:gd name="T28" fmla="*/ 0 w 115"/>
                <a:gd name="T29" fmla="*/ 1 h 140"/>
                <a:gd name="T30" fmla="*/ 0 w 115"/>
                <a:gd name="T31" fmla="*/ 1 h 14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15"/>
                <a:gd name="T49" fmla="*/ 0 h 140"/>
                <a:gd name="T50" fmla="*/ 115 w 115"/>
                <a:gd name="T51" fmla="*/ 140 h 14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15" h="140">
                  <a:moveTo>
                    <a:pt x="0" y="0"/>
                  </a:moveTo>
                  <a:lnTo>
                    <a:pt x="0" y="21"/>
                  </a:lnTo>
                  <a:lnTo>
                    <a:pt x="0" y="40"/>
                  </a:lnTo>
                  <a:lnTo>
                    <a:pt x="0" y="60"/>
                  </a:lnTo>
                  <a:lnTo>
                    <a:pt x="16" y="80"/>
                  </a:lnTo>
                  <a:lnTo>
                    <a:pt x="16" y="100"/>
                  </a:lnTo>
                  <a:lnTo>
                    <a:pt x="16" y="119"/>
                  </a:lnTo>
                  <a:lnTo>
                    <a:pt x="31" y="119"/>
                  </a:lnTo>
                  <a:lnTo>
                    <a:pt x="48" y="140"/>
                  </a:lnTo>
                  <a:lnTo>
                    <a:pt x="65" y="140"/>
                  </a:lnTo>
                  <a:lnTo>
                    <a:pt x="80" y="140"/>
                  </a:lnTo>
                  <a:lnTo>
                    <a:pt x="97" y="140"/>
                  </a:lnTo>
                  <a:lnTo>
                    <a:pt x="115" y="14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72" name="Freeform 141"/>
            <p:cNvSpPr>
              <a:spLocks/>
            </p:cNvSpPr>
            <p:nvPr/>
          </p:nvSpPr>
          <p:spPr bwMode="auto">
            <a:xfrm>
              <a:off x="1852" y="2881"/>
              <a:ext cx="90" cy="339"/>
            </a:xfrm>
            <a:custGeom>
              <a:avLst/>
              <a:gdLst>
                <a:gd name="T0" fmla="*/ 0 w 181"/>
                <a:gd name="T1" fmla="*/ 1 h 678"/>
                <a:gd name="T2" fmla="*/ 0 w 181"/>
                <a:gd name="T3" fmla="*/ 3 h 678"/>
                <a:gd name="T4" fmla="*/ 0 w 181"/>
                <a:gd name="T5" fmla="*/ 3 h 678"/>
                <a:gd name="T6" fmla="*/ 0 w 181"/>
                <a:gd name="T7" fmla="*/ 2 h 678"/>
                <a:gd name="T8" fmla="*/ 0 w 181"/>
                <a:gd name="T9" fmla="*/ 1 h 678"/>
                <a:gd name="T10" fmla="*/ 0 w 181"/>
                <a:gd name="T11" fmla="*/ 0 h 678"/>
                <a:gd name="T12" fmla="*/ 0 w 181"/>
                <a:gd name="T13" fmla="*/ 1 h 678"/>
                <a:gd name="T14" fmla="*/ 0 60000 65536"/>
                <a:gd name="T15" fmla="*/ 0 60000 65536"/>
                <a:gd name="T16" fmla="*/ 0 60000 65536"/>
                <a:gd name="T17" fmla="*/ 0 60000 65536"/>
                <a:gd name="T18" fmla="*/ 0 60000 65536"/>
                <a:gd name="T19" fmla="*/ 0 60000 65536"/>
                <a:gd name="T20" fmla="*/ 0 60000 65536"/>
                <a:gd name="T21" fmla="*/ 0 w 181"/>
                <a:gd name="T22" fmla="*/ 0 h 678"/>
                <a:gd name="T23" fmla="*/ 181 w 181"/>
                <a:gd name="T24" fmla="*/ 678 h 6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1" h="678">
                  <a:moveTo>
                    <a:pt x="0" y="40"/>
                  </a:moveTo>
                  <a:lnTo>
                    <a:pt x="66" y="678"/>
                  </a:lnTo>
                  <a:lnTo>
                    <a:pt x="181" y="678"/>
                  </a:lnTo>
                  <a:lnTo>
                    <a:pt x="149" y="399"/>
                  </a:lnTo>
                  <a:lnTo>
                    <a:pt x="66" y="139"/>
                  </a:lnTo>
                  <a:lnTo>
                    <a:pt x="34" y="0"/>
                  </a:lnTo>
                  <a:lnTo>
                    <a:pt x="0" y="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73" name="Freeform 142"/>
            <p:cNvSpPr>
              <a:spLocks/>
            </p:cNvSpPr>
            <p:nvPr/>
          </p:nvSpPr>
          <p:spPr bwMode="auto">
            <a:xfrm>
              <a:off x="1852" y="2881"/>
              <a:ext cx="90" cy="339"/>
            </a:xfrm>
            <a:custGeom>
              <a:avLst/>
              <a:gdLst>
                <a:gd name="T0" fmla="*/ 0 w 181"/>
                <a:gd name="T1" fmla="*/ 1 h 678"/>
                <a:gd name="T2" fmla="*/ 0 w 181"/>
                <a:gd name="T3" fmla="*/ 3 h 678"/>
                <a:gd name="T4" fmla="*/ 0 w 181"/>
                <a:gd name="T5" fmla="*/ 3 h 678"/>
                <a:gd name="T6" fmla="*/ 0 w 181"/>
                <a:gd name="T7" fmla="*/ 2 h 678"/>
                <a:gd name="T8" fmla="*/ 0 w 181"/>
                <a:gd name="T9" fmla="*/ 1 h 678"/>
                <a:gd name="T10" fmla="*/ 0 w 181"/>
                <a:gd name="T11" fmla="*/ 0 h 678"/>
                <a:gd name="T12" fmla="*/ 0 w 181"/>
                <a:gd name="T13" fmla="*/ 1 h 678"/>
                <a:gd name="T14" fmla="*/ 0 60000 65536"/>
                <a:gd name="T15" fmla="*/ 0 60000 65536"/>
                <a:gd name="T16" fmla="*/ 0 60000 65536"/>
                <a:gd name="T17" fmla="*/ 0 60000 65536"/>
                <a:gd name="T18" fmla="*/ 0 60000 65536"/>
                <a:gd name="T19" fmla="*/ 0 60000 65536"/>
                <a:gd name="T20" fmla="*/ 0 60000 65536"/>
                <a:gd name="T21" fmla="*/ 0 w 181"/>
                <a:gd name="T22" fmla="*/ 0 h 678"/>
                <a:gd name="T23" fmla="*/ 181 w 181"/>
                <a:gd name="T24" fmla="*/ 678 h 67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1" h="678">
                  <a:moveTo>
                    <a:pt x="0" y="40"/>
                  </a:moveTo>
                  <a:lnTo>
                    <a:pt x="66" y="678"/>
                  </a:lnTo>
                  <a:lnTo>
                    <a:pt x="181" y="678"/>
                  </a:lnTo>
                  <a:lnTo>
                    <a:pt x="149" y="399"/>
                  </a:lnTo>
                  <a:lnTo>
                    <a:pt x="66" y="139"/>
                  </a:lnTo>
                  <a:lnTo>
                    <a:pt x="34" y="0"/>
                  </a:lnTo>
                  <a:lnTo>
                    <a:pt x="0" y="4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74" name="Freeform 143"/>
            <p:cNvSpPr>
              <a:spLocks/>
            </p:cNvSpPr>
            <p:nvPr/>
          </p:nvSpPr>
          <p:spPr bwMode="auto">
            <a:xfrm>
              <a:off x="2084" y="2911"/>
              <a:ext cx="212" cy="190"/>
            </a:xfrm>
            <a:custGeom>
              <a:avLst/>
              <a:gdLst>
                <a:gd name="T0" fmla="*/ 0 w 425"/>
                <a:gd name="T1" fmla="*/ 2 h 380"/>
                <a:gd name="T2" fmla="*/ 0 w 425"/>
                <a:gd name="T3" fmla="*/ 2 h 380"/>
                <a:gd name="T4" fmla="*/ 0 w 425"/>
                <a:gd name="T5" fmla="*/ 2 h 380"/>
                <a:gd name="T6" fmla="*/ 0 w 425"/>
                <a:gd name="T7" fmla="*/ 2 h 380"/>
                <a:gd name="T8" fmla="*/ 1 w 425"/>
                <a:gd name="T9" fmla="*/ 2 h 380"/>
                <a:gd name="T10" fmla="*/ 1 w 425"/>
                <a:gd name="T11" fmla="*/ 1 h 380"/>
                <a:gd name="T12" fmla="*/ 1 w 425"/>
                <a:gd name="T13" fmla="*/ 1 h 380"/>
                <a:gd name="T14" fmla="*/ 1 w 425"/>
                <a:gd name="T15" fmla="*/ 1 h 380"/>
                <a:gd name="T16" fmla="*/ 1 w 425"/>
                <a:gd name="T17" fmla="*/ 1 h 380"/>
                <a:gd name="T18" fmla="*/ 1 w 425"/>
                <a:gd name="T19" fmla="*/ 1 h 380"/>
                <a:gd name="T20" fmla="*/ 1 w 425"/>
                <a:gd name="T21" fmla="*/ 1 h 380"/>
                <a:gd name="T22" fmla="*/ 1 w 425"/>
                <a:gd name="T23" fmla="*/ 1 h 380"/>
                <a:gd name="T24" fmla="*/ 1 w 425"/>
                <a:gd name="T25" fmla="*/ 1 h 380"/>
                <a:gd name="T26" fmla="*/ 1 w 425"/>
                <a:gd name="T27" fmla="*/ 1 h 380"/>
                <a:gd name="T28" fmla="*/ 1 w 425"/>
                <a:gd name="T29" fmla="*/ 1 h 380"/>
                <a:gd name="T30" fmla="*/ 1 w 425"/>
                <a:gd name="T31" fmla="*/ 1 h 380"/>
                <a:gd name="T32" fmla="*/ 1 w 425"/>
                <a:gd name="T33" fmla="*/ 1 h 380"/>
                <a:gd name="T34" fmla="*/ 1 w 425"/>
                <a:gd name="T35" fmla="*/ 1 h 380"/>
                <a:gd name="T36" fmla="*/ 1 w 425"/>
                <a:gd name="T37" fmla="*/ 1 h 380"/>
                <a:gd name="T38" fmla="*/ 1 w 425"/>
                <a:gd name="T39" fmla="*/ 1 h 380"/>
                <a:gd name="T40" fmla="*/ 1 w 425"/>
                <a:gd name="T41" fmla="*/ 1 h 380"/>
                <a:gd name="T42" fmla="*/ 1 w 425"/>
                <a:gd name="T43" fmla="*/ 1 h 380"/>
                <a:gd name="T44" fmla="*/ 1 w 425"/>
                <a:gd name="T45" fmla="*/ 1 h 380"/>
                <a:gd name="T46" fmla="*/ 1 w 425"/>
                <a:gd name="T47" fmla="*/ 0 h 380"/>
                <a:gd name="T48" fmla="*/ 1 w 425"/>
                <a:gd name="T49" fmla="*/ 0 h 380"/>
                <a:gd name="T50" fmla="*/ 0 w 425"/>
                <a:gd name="T51" fmla="*/ 1 h 380"/>
                <a:gd name="T52" fmla="*/ 0 w 425"/>
                <a:gd name="T53" fmla="*/ 1 h 380"/>
                <a:gd name="T54" fmla="*/ 0 w 425"/>
                <a:gd name="T55" fmla="*/ 1 h 380"/>
                <a:gd name="T56" fmla="*/ 0 w 425"/>
                <a:gd name="T57" fmla="*/ 1 h 380"/>
                <a:gd name="T58" fmla="*/ 0 w 425"/>
                <a:gd name="T59" fmla="*/ 1 h 380"/>
                <a:gd name="T60" fmla="*/ 0 w 425"/>
                <a:gd name="T61" fmla="*/ 1 h 380"/>
                <a:gd name="T62" fmla="*/ 0 w 425"/>
                <a:gd name="T63" fmla="*/ 2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25"/>
                <a:gd name="T97" fmla="*/ 0 h 380"/>
                <a:gd name="T98" fmla="*/ 425 w 425"/>
                <a:gd name="T99" fmla="*/ 380 h 3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25" h="380">
                  <a:moveTo>
                    <a:pt x="97" y="380"/>
                  </a:moveTo>
                  <a:lnTo>
                    <a:pt x="113" y="380"/>
                  </a:lnTo>
                  <a:lnTo>
                    <a:pt x="129" y="380"/>
                  </a:lnTo>
                  <a:lnTo>
                    <a:pt x="163" y="380"/>
                  </a:lnTo>
                  <a:lnTo>
                    <a:pt x="179" y="360"/>
                  </a:lnTo>
                  <a:lnTo>
                    <a:pt x="211" y="341"/>
                  </a:lnTo>
                  <a:lnTo>
                    <a:pt x="228" y="320"/>
                  </a:lnTo>
                  <a:lnTo>
                    <a:pt x="260" y="280"/>
                  </a:lnTo>
                  <a:lnTo>
                    <a:pt x="278" y="260"/>
                  </a:lnTo>
                  <a:lnTo>
                    <a:pt x="310" y="260"/>
                  </a:lnTo>
                  <a:lnTo>
                    <a:pt x="327" y="241"/>
                  </a:lnTo>
                  <a:lnTo>
                    <a:pt x="343" y="220"/>
                  </a:lnTo>
                  <a:lnTo>
                    <a:pt x="375" y="201"/>
                  </a:lnTo>
                  <a:lnTo>
                    <a:pt x="394" y="201"/>
                  </a:lnTo>
                  <a:lnTo>
                    <a:pt x="394" y="180"/>
                  </a:lnTo>
                  <a:lnTo>
                    <a:pt x="394" y="160"/>
                  </a:lnTo>
                  <a:lnTo>
                    <a:pt x="409" y="141"/>
                  </a:lnTo>
                  <a:lnTo>
                    <a:pt x="409" y="120"/>
                  </a:lnTo>
                  <a:lnTo>
                    <a:pt x="409" y="101"/>
                  </a:lnTo>
                  <a:lnTo>
                    <a:pt x="394" y="101"/>
                  </a:lnTo>
                  <a:lnTo>
                    <a:pt x="409" y="101"/>
                  </a:lnTo>
                  <a:lnTo>
                    <a:pt x="409" y="81"/>
                  </a:lnTo>
                  <a:lnTo>
                    <a:pt x="425" y="81"/>
                  </a:lnTo>
                  <a:lnTo>
                    <a:pt x="425" y="61"/>
                  </a:lnTo>
                  <a:lnTo>
                    <a:pt x="425" y="40"/>
                  </a:lnTo>
                  <a:lnTo>
                    <a:pt x="409" y="40"/>
                  </a:lnTo>
                  <a:lnTo>
                    <a:pt x="394" y="40"/>
                  </a:lnTo>
                  <a:lnTo>
                    <a:pt x="394" y="20"/>
                  </a:lnTo>
                  <a:lnTo>
                    <a:pt x="375" y="0"/>
                  </a:lnTo>
                  <a:lnTo>
                    <a:pt x="343" y="0"/>
                  </a:lnTo>
                  <a:lnTo>
                    <a:pt x="295" y="20"/>
                  </a:lnTo>
                  <a:lnTo>
                    <a:pt x="244" y="20"/>
                  </a:lnTo>
                  <a:lnTo>
                    <a:pt x="195" y="61"/>
                  </a:lnTo>
                  <a:lnTo>
                    <a:pt x="129" y="81"/>
                  </a:lnTo>
                  <a:lnTo>
                    <a:pt x="113" y="101"/>
                  </a:lnTo>
                  <a:lnTo>
                    <a:pt x="113" y="120"/>
                  </a:lnTo>
                  <a:lnTo>
                    <a:pt x="80" y="141"/>
                  </a:lnTo>
                  <a:lnTo>
                    <a:pt x="64" y="180"/>
                  </a:lnTo>
                  <a:lnTo>
                    <a:pt x="48" y="201"/>
                  </a:lnTo>
                  <a:lnTo>
                    <a:pt x="48" y="220"/>
                  </a:lnTo>
                  <a:lnTo>
                    <a:pt x="31" y="220"/>
                  </a:lnTo>
                  <a:lnTo>
                    <a:pt x="14" y="220"/>
                  </a:lnTo>
                  <a:lnTo>
                    <a:pt x="0" y="241"/>
                  </a:lnTo>
                  <a:lnTo>
                    <a:pt x="80" y="380"/>
                  </a:lnTo>
                  <a:lnTo>
                    <a:pt x="97" y="38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75" name="Freeform 144"/>
            <p:cNvSpPr>
              <a:spLocks/>
            </p:cNvSpPr>
            <p:nvPr/>
          </p:nvSpPr>
          <p:spPr bwMode="auto">
            <a:xfrm>
              <a:off x="2084" y="2911"/>
              <a:ext cx="212" cy="190"/>
            </a:xfrm>
            <a:custGeom>
              <a:avLst/>
              <a:gdLst>
                <a:gd name="T0" fmla="*/ 0 w 425"/>
                <a:gd name="T1" fmla="*/ 2 h 380"/>
                <a:gd name="T2" fmla="*/ 0 w 425"/>
                <a:gd name="T3" fmla="*/ 2 h 380"/>
                <a:gd name="T4" fmla="*/ 0 w 425"/>
                <a:gd name="T5" fmla="*/ 2 h 380"/>
                <a:gd name="T6" fmla="*/ 0 w 425"/>
                <a:gd name="T7" fmla="*/ 2 h 380"/>
                <a:gd name="T8" fmla="*/ 1 w 425"/>
                <a:gd name="T9" fmla="*/ 2 h 380"/>
                <a:gd name="T10" fmla="*/ 1 w 425"/>
                <a:gd name="T11" fmla="*/ 1 h 380"/>
                <a:gd name="T12" fmla="*/ 1 w 425"/>
                <a:gd name="T13" fmla="*/ 1 h 380"/>
                <a:gd name="T14" fmla="*/ 1 w 425"/>
                <a:gd name="T15" fmla="*/ 1 h 380"/>
                <a:gd name="T16" fmla="*/ 1 w 425"/>
                <a:gd name="T17" fmla="*/ 1 h 380"/>
                <a:gd name="T18" fmla="*/ 1 w 425"/>
                <a:gd name="T19" fmla="*/ 1 h 380"/>
                <a:gd name="T20" fmla="*/ 1 w 425"/>
                <a:gd name="T21" fmla="*/ 1 h 380"/>
                <a:gd name="T22" fmla="*/ 1 w 425"/>
                <a:gd name="T23" fmla="*/ 1 h 380"/>
                <a:gd name="T24" fmla="*/ 1 w 425"/>
                <a:gd name="T25" fmla="*/ 1 h 380"/>
                <a:gd name="T26" fmla="*/ 1 w 425"/>
                <a:gd name="T27" fmla="*/ 1 h 380"/>
                <a:gd name="T28" fmla="*/ 1 w 425"/>
                <a:gd name="T29" fmla="*/ 1 h 380"/>
                <a:gd name="T30" fmla="*/ 1 w 425"/>
                <a:gd name="T31" fmla="*/ 1 h 380"/>
                <a:gd name="T32" fmla="*/ 1 w 425"/>
                <a:gd name="T33" fmla="*/ 1 h 380"/>
                <a:gd name="T34" fmla="*/ 1 w 425"/>
                <a:gd name="T35" fmla="*/ 1 h 380"/>
                <a:gd name="T36" fmla="*/ 1 w 425"/>
                <a:gd name="T37" fmla="*/ 1 h 380"/>
                <a:gd name="T38" fmla="*/ 1 w 425"/>
                <a:gd name="T39" fmla="*/ 1 h 380"/>
                <a:gd name="T40" fmla="*/ 1 w 425"/>
                <a:gd name="T41" fmla="*/ 1 h 380"/>
                <a:gd name="T42" fmla="*/ 1 w 425"/>
                <a:gd name="T43" fmla="*/ 1 h 380"/>
                <a:gd name="T44" fmla="*/ 1 w 425"/>
                <a:gd name="T45" fmla="*/ 1 h 380"/>
                <a:gd name="T46" fmla="*/ 1 w 425"/>
                <a:gd name="T47" fmla="*/ 0 h 380"/>
                <a:gd name="T48" fmla="*/ 1 w 425"/>
                <a:gd name="T49" fmla="*/ 0 h 380"/>
                <a:gd name="T50" fmla="*/ 0 w 425"/>
                <a:gd name="T51" fmla="*/ 1 h 380"/>
                <a:gd name="T52" fmla="*/ 0 w 425"/>
                <a:gd name="T53" fmla="*/ 1 h 380"/>
                <a:gd name="T54" fmla="*/ 0 w 425"/>
                <a:gd name="T55" fmla="*/ 1 h 380"/>
                <a:gd name="T56" fmla="*/ 0 w 425"/>
                <a:gd name="T57" fmla="*/ 1 h 380"/>
                <a:gd name="T58" fmla="*/ 0 w 425"/>
                <a:gd name="T59" fmla="*/ 1 h 380"/>
                <a:gd name="T60" fmla="*/ 0 w 425"/>
                <a:gd name="T61" fmla="*/ 1 h 380"/>
                <a:gd name="T62" fmla="*/ 0 w 425"/>
                <a:gd name="T63" fmla="*/ 2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25"/>
                <a:gd name="T97" fmla="*/ 0 h 380"/>
                <a:gd name="T98" fmla="*/ 425 w 425"/>
                <a:gd name="T99" fmla="*/ 380 h 3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25" h="380">
                  <a:moveTo>
                    <a:pt x="97" y="380"/>
                  </a:moveTo>
                  <a:lnTo>
                    <a:pt x="113" y="380"/>
                  </a:lnTo>
                  <a:lnTo>
                    <a:pt x="129" y="380"/>
                  </a:lnTo>
                  <a:lnTo>
                    <a:pt x="163" y="380"/>
                  </a:lnTo>
                  <a:lnTo>
                    <a:pt x="179" y="360"/>
                  </a:lnTo>
                  <a:lnTo>
                    <a:pt x="211" y="341"/>
                  </a:lnTo>
                  <a:lnTo>
                    <a:pt x="228" y="320"/>
                  </a:lnTo>
                  <a:lnTo>
                    <a:pt x="260" y="280"/>
                  </a:lnTo>
                  <a:lnTo>
                    <a:pt x="278" y="260"/>
                  </a:lnTo>
                  <a:lnTo>
                    <a:pt x="310" y="260"/>
                  </a:lnTo>
                  <a:lnTo>
                    <a:pt x="327" y="241"/>
                  </a:lnTo>
                  <a:lnTo>
                    <a:pt x="343" y="220"/>
                  </a:lnTo>
                  <a:lnTo>
                    <a:pt x="375" y="201"/>
                  </a:lnTo>
                  <a:lnTo>
                    <a:pt x="394" y="201"/>
                  </a:lnTo>
                  <a:lnTo>
                    <a:pt x="394" y="180"/>
                  </a:lnTo>
                  <a:lnTo>
                    <a:pt x="394" y="160"/>
                  </a:lnTo>
                  <a:lnTo>
                    <a:pt x="409" y="141"/>
                  </a:lnTo>
                  <a:lnTo>
                    <a:pt x="409" y="120"/>
                  </a:lnTo>
                  <a:lnTo>
                    <a:pt x="409" y="101"/>
                  </a:lnTo>
                  <a:lnTo>
                    <a:pt x="394" y="101"/>
                  </a:lnTo>
                  <a:lnTo>
                    <a:pt x="409" y="101"/>
                  </a:lnTo>
                  <a:lnTo>
                    <a:pt x="409" y="81"/>
                  </a:lnTo>
                  <a:lnTo>
                    <a:pt x="425" y="81"/>
                  </a:lnTo>
                  <a:lnTo>
                    <a:pt x="425" y="61"/>
                  </a:lnTo>
                  <a:lnTo>
                    <a:pt x="425" y="40"/>
                  </a:lnTo>
                  <a:lnTo>
                    <a:pt x="409" y="40"/>
                  </a:lnTo>
                  <a:lnTo>
                    <a:pt x="394" y="40"/>
                  </a:lnTo>
                  <a:lnTo>
                    <a:pt x="394" y="20"/>
                  </a:lnTo>
                  <a:lnTo>
                    <a:pt x="375" y="0"/>
                  </a:lnTo>
                  <a:lnTo>
                    <a:pt x="343" y="0"/>
                  </a:lnTo>
                  <a:lnTo>
                    <a:pt x="295" y="20"/>
                  </a:lnTo>
                  <a:lnTo>
                    <a:pt x="244" y="20"/>
                  </a:lnTo>
                  <a:lnTo>
                    <a:pt x="195" y="61"/>
                  </a:lnTo>
                  <a:lnTo>
                    <a:pt x="129" y="81"/>
                  </a:lnTo>
                  <a:lnTo>
                    <a:pt x="113" y="101"/>
                  </a:lnTo>
                  <a:lnTo>
                    <a:pt x="113" y="120"/>
                  </a:lnTo>
                  <a:lnTo>
                    <a:pt x="80" y="141"/>
                  </a:lnTo>
                  <a:lnTo>
                    <a:pt x="64" y="180"/>
                  </a:lnTo>
                  <a:lnTo>
                    <a:pt x="48" y="201"/>
                  </a:lnTo>
                  <a:lnTo>
                    <a:pt x="48" y="220"/>
                  </a:lnTo>
                  <a:lnTo>
                    <a:pt x="31" y="220"/>
                  </a:lnTo>
                  <a:lnTo>
                    <a:pt x="14" y="220"/>
                  </a:lnTo>
                  <a:lnTo>
                    <a:pt x="0" y="241"/>
                  </a:lnTo>
                  <a:lnTo>
                    <a:pt x="80" y="380"/>
                  </a:lnTo>
                  <a:lnTo>
                    <a:pt x="97" y="38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76" name="Freeform 145"/>
            <p:cNvSpPr>
              <a:spLocks/>
            </p:cNvSpPr>
            <p:nvPr/>
          </p:nvSpPr>
          <p:spPr bwMode="auto">
            <a:xfrm>
              <a:off x="2067" y="3021"/>
              <a:ext cx="74" cy="129"/>
            </a:xfrm>
            <a:custGeom>
              <a:avLst/>
              <a:gdLst>
                <a:gd name="T0" fmla="*/ 0 w 148"/>
                <a:gd name="T1" fmla="*/ 1 h 258"/>
                <a:gd name="T2" fmla="*/ 1 w 148"/>
                <a:gd name="T3" fmla="*/ 0 h 258"/>
                <a:gd name="T4" fmla="*/ 1 w 148"/>
                <a:gd name="T5" fmla="*/ 0 h 258"/>
                <a:gd name="T6" fmla="*/ 1 w 148"/>
                <a:gd name="T7" fmla="*/ 1 h 258"/>
                <a:gd name="T8" fmla="*/ 1 w 148"/>
                <a:gd name="T9" fmla="*/ 1 h 258"/>
                <a:gd name="T10" fmla="*/ 1 w 148"/>
                <a:gd name="T11" fmla="*/ 1 h 258"/>
                <a:gd name="T12" fmla="*/ 1 w 148"/>
                <a:gd name="T13" fmla="*/ 1 h 258"/>
                <a:gd name="T14" fmla="*/ 1 w 148"/>
                <a:gd name="T15" fmla="*/ 1 h 258"/>
                <a:gd name="T16" fmla="*/ 1 w 148"/>
                <a:gd name="T17" fmla="*/ 1 h 258"/>
                <a:gd name="T18" fmla="*/ 1 w 148"/>
                <a:gd name="T19" fmla="*/ 1 h 258"/>
                <a:gd name="T20" fmla="*/ 1 w 148"/>
                <a:gd name="T21" fmla="*/ 1 h 258"/>
                <a:gd name="T22" fmla="*/ 1 w 148"/>
                <a:gd name="T23" fmla="*/ 2 h 258"/>
                <a:gd name="T24" fmla="*/ 0 w 148"/>
                <a:gd name="T25" fmla="*/ 1 h 2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8"/>
                <a:gd name="T40" fmla="*/ 0 h 258"/>
                <a:gd name="T41" fmla="*/ 148 w 148"/>
                <a:gd name="T42" fmla="*/ 258 h 2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8" h="258">
                  <a:moveTo>
                    <a:pt x="0" y="20"/>
                  </a:moveTo>
                  <a:lnTo>
                    <a:pt x="16" y="0"/>
                  </a:lnTo>
                  <a:lnTo>
                    <a:pt x="48" y="0"/>
                  </a:lnTo>
                  <a:lnTo>
                    <a:pt x="66" y="20"/>
                  </a:lnTo>
                  <a:lnTo>
                    <a:pt x="83" y="59"/>
                  </a:lnTo>
                  <a:lnTo>
                    <a:pt x="83" y="79"/>
                  </a:lnTo>
                  <a:lnTo>
                    <a:pt x="98" y="119"/>
                  </a:lnTo>
                  <a:lnTo>
                    <a:pt x="115" y="139"/>
                  </a:lnTo>
                  <a:lnTo>
                    <a:pt x="115" y="158"/>
                  </a:lnTo>
                  <a:lnTo>
                    <a:pt x="132" y="197"/>
                  </a:lnTo>
                  <a:lnTo>
                    <a:pt x="148" y="218"/>
                  </a:lnTo>
                  <a:lnTo>
                    <a:pt x="98" y="258"/>
                  </a:lnTo>
                  <a:lnTo>
                    <a:pt x="0" y="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77" name="Freeform 146"/>
            <p:cNvSpPr>
              <a:spLocks/>
            </p:cNvSpPr>
            <p:nvPr/>
          </p:nvSpPr>
          <p:spPr bwMode="auto">
            <a:xfrm>
              <a:off x="2067" y="3021"/>
              <a:ext cx="74" cy="129"/>
            </a:xfrm>
            <a:custGeom>
              <a:avLst/>
              <a:gdLst>
                <a:gd name="T0" fmla="*/ 0 w 148"/>
                <a:gd name="T1" fmla="*/ 1 h 258"/>
                <a:gd name="T2" fmla="*/ 1 w 148"/>
                <a:gd name="T3" fmla="*/ 0 h 258"/>
                <a:gd name="T4" fmla="*/ 1 w 148"/>
                <a:gd name="T5" fmla="*/ 0 h 258"/>
                <a:gd name="T6" fmla="*/ 1 w 148"/>
                <a:gd name="T7" fmla="*/ 1 h 258"/>
                <a:gd name="T8" fmla="*/ 1 w 148"/>
                <a:gd name="T9" fmla="*/ 1 h 258"/>
                <a:gd name="T10" fmla="*/ 1 w 148"/>
                <a:gd name="T11" fmla="*/ 1 h 258"/>
                <a:gd name="T12" fmla="*/ 1 w 148"/>
                <a:gd name="T13" fmla="*/ 1 h 258"/>
                <a:gd name="T14" fmla="*/ 1 w 148"/>
                <a:gd name="T15" fmla="*/ 1 h 258"/>
                <a:gd name="T16" fmla="*/ 1 w 148"/>
                <a:gd name="T17" fmla="*/ 1 h 258"/>
                <a:gd name="T18" fmla="*/ 1 w 148"/>
                <a:gd name="T19" fmla="*/ 1 h 258"/>
                <a:gd name="T20" fmla="*/ 1 w 148"/>
                <a:gd name="T21" fmla="*/ 1 h 258"/>
                <a:gd name="T22" fmla="*/ 1 w 148"/>
                <a:gd name="T23" fmla="*/ 2 h 258"/>
                <a:gd name="T24" fmla="*/ 0 w 148"/>
                <a:gd name="T25" fmla="*/ 1 h 2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8"/>
                <a:gd name="T40" fmla="*/ 0 h 258"/>
                <a:gd name="T41" fmla="*/ 148 w 148"/>
                <a:gd name="T42" fmla="*/ 258 h 2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8" h="258">
                  <a:moveTo>
                    <a:pt x="0" y="20"/>
                  </a:moveTo>
                  <a:lnTo>
                    <a:pt x="16" y="0"/>
                  </a:lnTo>
                  <a:lnTo>
                    <a:pt x="48" y="0"/>
                  </a:lnTo>
                  <a:lnTo>
                    <a:pt x="66" y="20"/>
                  </a:lnTo>
                  <a:lnTo>
                    <a:pt x="83" y="59"/>
                  </a:lnTo>
                  <a:lnTo>
                    <a:pt x="83" y="79"/>
                  </a:lnTo>
                  <a:lnTo>
                    <a:pt x="98" y="119"/>
                  </a:lnTo>
                  <a:lnTo>
                    <a:pt x="115" y="139"/>
                  </a:lnTo>
                  <a:lnTo>
                    <a:pt x="115" y="158"/>
                  </a:lnTo>
                  <a:lnTo>
                    <a:pt x="132" y="197"/>
                  </a:lnTo>
                  <a:lnTo>
                    <a:pt x="148" y="218"/>
                  </a:lnTo>
                  <a:lnTo>
                    <a:pt x="98" y="258"/>
                  </a:lnTo>
                  <a:lnTo>
                    <a:pt x="0" y="2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78" name="Freeform 147"/>
            <p:cNvSpPr>
              <a:spLocks/>
            </p:cNvSpPr>
            <p:nvPr/>
          </p:nvSpPr>
          <p:spPr bwMode="auto">
            <a:xfrm>
              <a:off x="1696" y="2372"/>
              <a:ext cx="231" cy="348"/>
            </a:xfrm>
            <a:custGeom>
              <a:avLst/>
              <a:gdLst>
                <a:gd name="T0" fmla="*/ 0 w 461"/>
                <a:gd name="T1" fmla="*/ 2 h 698"/>
                <a:gd name="T2" fmla="*/ 0 w 461"/>
                <a:gd name="T3" fmla="*/ 1 h 698"/>
                <a:gd name="T4" fmla="*/ 1 w 461"/>
                <a:gd name="T5" fmla="*/ 1 h 698"/>
                <a:gd name="T6" fmla="*/ 1 w 461"/>
                <a:gd name="T7" fmla="*/ 0 h 698"/>
                <a:gd name="T8" fmla="*/ 1 w 461"/>
                <a:gd name="T9" fmla="*/ 0 h 698"/>
                <a:gd name="T10" fmla="*/ 2 w 461"/>
                <a:gd name="T11" fmla="*/ 0 h 698"/>
                <a:gd name="T12" fmla="*/ 2 w 461"/>
                <a:gd name="T13" fmla="*/ 0 h 698"/>
                <a:gd name="T14" fmla="*/ 2 w 461"/>
                <a:gd name="T15" fmla="*/ 0 h 698"/>
                <a:gd name="T16" fmla="*/ 2 w 461"/>
                <a:gd name="T17" fmla="*/ 0 h 698"/>
                <a:gd name="T18" fmla="*/ 2 w 461"/>
                <a:gd name="T19" fmla="*/ 0 h 698"/>
                <a:gd name="T20" fmla="*/ 2 w 461"/>
                <a:gd name="T21" fmla="*/ 0 h 698"/>
                <a:gd name="T22" fmla="*/ 2 w 461"/>
                <a:gd name="T23" fmla="*/ 0 h 698"/>
                <a:gd name="T24" fmla="*/ 2 w 461"/>
                <a:gd name="T25" fmla="*/ 1 h 698"/>
                <a:gd name="T26" fmla="*/ 2 w 461"/>
                <a:gd name="T27" fmla="*/ 1 h 698"/>
                <a:gd name="T28" fmla="*/ 2 w 461"/>
                <a:gd name="T29" fmla="*/ 1 h 698"/>
                <a:gd name="T30" fmla="*/ 2 w 461"/>
                <a:gd name="T31" fmla="*/ 1 h 698"/>
                <a:gd name="T32" fmla="*/ 2 w 461"/>
                <a:gd name="T33" fmla="*/ 1 h 698"/>
                <a:gd name="T34" fmla="*/ 2 w 461"/>
                <a:gd name="T35" fmla="*/ 1 h 698"/>
                <a:gd name="T36" fmla="*/ 2 w 461"/>
                <a:gd name="T37" fmla="*/ 1 h 698"/>
                <a:gd name="T38" fmla="*/ 2 w 461"/>
                <a:gd name="T39" fmla="*/ 1 h 698"/>
                <a:gd name="T40" fmla="*/ 2 w 461"/>
                <a:gd name="T41" fmla="*/ 1 h 698"/>
                <a:gd name="T42" fmla="*/ 2 w 461"/>
                <a:gd name="T43" fmla="*/ 1 h 698"/>
                <a:gd name="T44" fmla="*/ 2 w 461"/>
                <a:gd name="T45" fmla="*/ 1 h 698"/>
                <a:gd name="T46" fmla="*/ 2 w 461"/>
                <a:gd name="T47" fmla="*/ 1 h 698"/>
                <a:gd name="T48" fmla="*/ 2 w 461"/>
                <a:gd name="T49" fmla="*/ 1 h 698"/>
                <a:gd name="T50" fmla="*/ 2 w 461"/>
                <a:gd name="T51" fmla="*/ 1 h 698"/>
                <a:gd name="T52" fmla="*/ 2 w 461"/>
                <a:gd name="T53" fmla="*/ 1 h 698"/>
                <a:gd name="T54" fmla="*/ 2 w 461"/>
                <a:gd name="T55" fmla="*/ 1 h 698"/>
                <a:gd name="T56" fmla="*/ 2 w 461"/>
                <a:gd name="T57" fmla="*/ 1 h 698"/>
                <a:gd name="T58" fmla="*/ 2 w 461"/>
                <a:gd name="T59" fmla="*/ 2 h 698"/>
                <a:gd name="T60" fmla="*/ 2 w 461"/>
                <a:gd name="T61" fmla="*/ 2 h 698"/>
                <a:gd name="T62" fmla="*/ 2 w 461"/>
                <a:gd name="T63" fmla="*/ 2 h 698"/>
                <a:gd name="T64" fmla="*/ 2 w 461"/>
                <a:gd name="T65" fmla="*/ 2 h 698"/>
                <a:gd name="T66" fmla="*/ 2 w 461"/>
                <a:gd name="T67" fmla="*/ 2 h 698"/>
                <a:gd name="T68" fmla="*/ 2 w 461"/>
                <a:gd name="T69" fmla="*/ 2 h 698"/>
                <a:gd name="T70" fmla="*/ 2 w 461"/>
                <a:gd name="T71" fmla="*/ 2 h 698"/>
                <a:gd name="T72" fmla="*/ 2 w 461"/>
                <a:gd name="T73" fmla="*/ 2 h 698"/>
                <a:gd name="T74" fmla="*/ 2 w 461"/>
                <a:gd name="T75" fmla="*/ 2 h 698"/>
                <a:gd name="T76" fmla="*/ 2 w 461"/>
                <a:gd name="T77" fmla="*/ 2 h 698"/>
                <a:gd name="T78" fmla="*/ 2 w 461"/>
                <a:gd name="T79" fmla="*/ 2 h 698"/>
                <a:gd name="T80" fmla="*/ 2 w 461"/>
                <a:gd name="T81" fmla="*/ 2 h 698"/>
                <a:gd name="T82" fmla="*/ 2 w 461"/>
                <a:gd name="T83" fmla="*/ 2 h 698"/>
                <a:gd name="T84" fmla="*/ 1 w 461"/>
                <a:gd name="T85" fmla="*/ 2 h 698"/>
                <a:gd name="T86" fmla="*/ 1 w 461"/>
                <a:gd name="T87" fmla="*/ 2 h 698"/>
                <a:gd name="T88" fmla="*/ 1 w 461"/>
                <a:gd name="T89" fmla="*/ 2 h 698"/>
                <a:gd name="T90" fmla="*/ 1 w 461"/>
                <a:gd name="T91" fmla="*/ 2 h 698"/>
                <a:gd name="T92" fmla="*/ 1 w 461"/>
                <a:gd name="T93" fmla="*/ 2 h 698"/>
                <a:gd name="T94" fmla="*/ 0 w 461"/>
                <a:gd name="T95" fmla="*/ 2 h 69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61"/>
                <a:gd name="T145" fmla="*/ 0 h 698"/>
                <a:gd name="T146" fmla="*/ 461 w 461"/>
                <a:gd name="T147" fmla="*/ 698 h 69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61" h="698">
                  <a:moveTo>
                    <a:pt x="0" y="519"/>
                  </a:moveTo>
                  <a:lnTo>
                    <a:pt x="0" y="480"/>
                  </a:lnTo>
                  <a:lnTo>
                    <a:pt x="16" y="379"/>
                  </a:lnTo>
                  <a:lnTo>
                    <a:pt x="97" y="120"/>
                  </a:lnTo>
                  <a:lnTo>
                    <a:pt x="231" y="39"/>
                  </a:lnTo>
                  <a:lnTo>
                    <a:pt x="377" y="0"/>
                  </a:lnTo>
                  <a:lnTo>
                    <a:pt x="411" y="61"/>
                  </a:lnTo>
                  <a:lnTo>
                    <a:pt x="411" y="100"/>
                  </a:lnTo>
                  <a:lnTo>
                    <a:pt x="426" y="120"/>
                  </a:lnTo>
                  <a:lnTo>
                    <a:pt x="426" y="160"/>
                  </a:lnTo>
                  <a:lnTo>
                    <a:pt x="426" y="200"/>
                  </a:lnTo>
                  <a:lnTo>
                    <a:pt x="411" y="219"/>
                  </a:lnTo>
                  <a:lnTo>
                    <a:pt x="411" y="260"/>
                  </a:lnTo>
                  <a:lnTo>
                    <a:pt x="442" y="359"/>
                  </a:lnTo>
                  <a:lnTo>
                    <a:pt x="461" y="379"/>
                  </a:lnTo>
                  <a:lnTo>
                    <a:pt x="442" y="400"/>
                  </a:lnTo>
                  <a:lnTo>
                    <a:pt x="426" y="400"/>
                  </a:lnTo>
                  <a:lnTo>
                    <a:pt x="411" y="400"/>
                  </a:lnTo>
                  <a:lnTo>
                    <a:pt x="411" y="419"/>
                  </a:lnTo>
                  <a:lnTo>
                    <a:pt x="411" y="440"/>
                  </a:lnTo>
                  <a:lnTo>
                    <a:pt x="411" y="460"/>
                  </a:lnTo>
                  <a:lnTo>
                    <a:pt x="394" y="480"/>
                  </a:lnTo>
                  <a:lnTo>
                    <a:pt x="411" y="499"/>
                  </a:lnTo>
                  <a:lnTo>
                    <a:pt x="377" y="519"/>
                  </a:lnTo>
                  <a:lnTo>
                    <a:pt x="377" y="538"/>
                  </a:lnTo>
                  <a:lnTo>
                    <a:pt x="394" y="559"/>
                  </a:lnTo>
                  <a:lnTo>
                    <a:pt x="394" y="579"/>
                  </a:lnTo>
                  <a:lnTo>
                    <a:pt x="377" y="599"/>
                  </a:lnTo>
                  <a:lnTo>
                    <a:pt x="362" y="619"/>
                  </a:lnTo>
                  <a:lnTo>
                    <a:pt x="345" y="619"/>
                  </a:lnTo>
                  <a:lnTo>
                    <a:pt x="311" y="619"/>
                  </a:lnTo>
                  <a:lnTo>
                    <a:pt x="279" y="619"/>
                  </a:lnTo>
                  <a:lnTo>
                    <a:pt x="262" y="619"/>
                  </a:lnTo>
                  <a:lnTo>
                    <a:pt x="246" y="619"/>
                  </a:lnTo>
                  <a:lnTo>
                    <a:pt x="231" y="619"/>
                  </a:lnTo>
                  <a:lnTo>
                    <a:pt x="231" y="678"/>
                  </a:lnTo>
                  <a:lnTo>
                    <a:pt x="214" y="698"/>
                  </a:lnTo>
                  <a:lnTo>
                    <a:pt x="97" y="678"/>
                  </a:lnTo>
                  <a:lnTo>
                    <a:pt x="0" y="51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79" name="Freeform 148"/>
            <p:cNvSpPr>
              <a:spLocks/>
            </p:cNvSpPr>
            <p:nvPr/>
          </p:nvSpPr>
          <p:spPr bwMode="auto">
            <a:xfrm>
              <a:off x="1696" y="2372"/>
              <a:ext cx="231" cy="348"/>
            </a:xfrm>
            <a:custGeom>
              <a:avLst/>
              <a:gdLst>
                <a:gd name="T0" fmla="*/ 0 w 461"/>
                <a:gd name="T1" fmla="*/ 2 h 698"/>
                <a:gd name="T2" fmla="*/ 0 w 461"/>
                <a:gd name="T3" fmla="*/ 1 h 698"/>
                <a:gd name="T4" fmla="*/ 1 w 461"/>
                <a:gd name="T5" fmla="*/ 1 h 698"/>
                <a:gd name="T6" fmla="*/ 1 w 461"/>
                <a:gd name="T7" fmla="*/ 0 h 698"/>
                <a:gd name="T8" fmla="*/ 1 w 461"/>
                <a:gd name="T9" fmla="*/ 0 h 698"/>
                <a:gd name="T10" fmla="*/ 2 w 461"/>
                <a:gd name="T11" fmla="*/ 0 h 698"/>
                <a:gd name="T12" fmla="*/ 2 w 461"/>
                <a:gd name="T13" fmla="*/ 0 h 698"/>
                <a:gd name="T14" fmla="*/ 2 w 461"/>
                <a:gd name="T15" fmla="*/ 0 h 698"/>
                <a:gd name="T16" fmla="*/ 2 w 461"/>
                <a:gd name="T17" fmla="*/ 0 h 698"/>
                <a:gd name="T18" fmla="*/ 2 w 461"/>
                <a:gd name="T19" fmla="*/ 0 h 698"/>
                <a:gd name="T20" fmla="*/ 2 w 461"/>
                <a:gd name="T21" fmla="*/ 0 h 698"/>
                <a:gd name="T22" fmla="*/ 2 w 461"/>
                <a:gd name="T23" fmla="*/ 0 h 698"/>
                <a:gd name="T24" fmla="*/ 2 w 461"/>
                <a:gd name="T25" fmla="*/ 1 h 698"/>
                <a:gd name="T26" fmla="*/ 2 w 461"/>
                <a:gd name="T27" fmla="*/ 1 h 698"/>
                <a:gd name="T28" fmla="*/ 2 w 461"/>
                <a:gd name="T29" fmla="*/ 1 h 698"/>
                <a:gd name="T30" fmla="*/ 2 w 461"/>
                <a:gd name="T31" fmla="*/ 1 h 698"/>
                <a:gd name="T32" fmla="*/ 2 w 461"/>
                <a:gd name="T33" fmla="*/ 1 h 698"/>
                <a:gd name="T34" fmla="*/ 2 w 461"/>
                <a:gd name="T35" fmla="*/ 1 h 698"/>
                <a:gd name="T36" fmla="*/ 2 w 461"/>
                <a:gd name="T37" fmla="*/ 1 h 698"/>
                <a:gd name="T38" fmla="*/ 2 w 461"/>
                <a:gd name="T39" fmla="*/ 1 h 698"/>
                <a:gd name="T40" fmla="*/ 2 w 461"/>
                <a:gd name="T41" fmla="*/ 1 h 698"/>
                <a:gd name="T42" fmla="*/ 2 w 461"/>
                <a:gd name="T43" fmla="*/ 1 h 698"/>
                <a:gd name="T44" fmla="*/ 2 w 461"/>
                <a:gd name="T45" fmla="*/ 1 h 698"/>
                <a:gd name="T46" fmla="*/ 2 w 461"/>
                <a:gd name="T47" fmla="*/ 1 h 698"/>
                <a:gd name="T48" fmla="*/ 2 w 461"/>
                <a:gd name="T49" fmla="*/ 1 h 698"/>
                <a:gd name="T50" fmla="*/ 2 w 461"/>
                <a:gd name="T51" fmla="*/ 1 h 698"/>
                <a:gd name="T52" fmla="*/ 2 w 461"/>
                <a:gd name="T53" fmla="*/ 1 h 698"/>
                <a:gd name="T54" fmla="*/ 2 w 461"/>
                <a:gd name="T55" fmla="*/ 1 h 698"/>
                <a:gd name="T56" fmla="*/ 2 w 461"/>
                <a:gd name="T57" fmla="*/ 1 h 698"/>
                <a:gd name="T58" fmla="*/ 2 w 461"/>
                <a:gd name="T59" fmla="*/ 2 h 698"/>
                <a:gd name="T60" fmla="*/ 2 w 461"/>
                <a:gd name="T61" fmla="*/ 2 h 698"/>
                <a:gd name="T62" fmla="*/ 2 w 461"/>
                <a:gd name="T63" fmla="*/ 2 h 698"/>
                <a:gd name="T64" fmla="*/ 2 w 461"/>
                <a:gd name="T65" fmla="*/ 2 h 698"/>
                <a:gd name="T66" fmla="*/ 2 w 461"/>
                <a:gd name="T67" fmla="*/ 2 h 698"/>
                <a:gd name="T68" fmla="*/ 2 w 461"/>
                <a:gd name="T69" fmla="*/ 2 h 698"/>
                <a:gd name="T70" fmla="*/ 2 w 461"/>
                <a:gd name="T71" fmla="*/ 2 h 698"/>
                <a:gd name="T72" fmla="*/ 2 w 461"/>
                <a:gd name="T73" fmla="*/ 2 h 698"/>
                <a:gd name="T74" fmla="*/ 2 w 461"/>
                <a:gd name="T75" fmla="*/ 2 h 698"/>
                <a:gd name="T76" fmla="*/ 2 w 461"/>
                <a:gd name="T77" fmla="*/ 2 h 698"/>
                <a:gd name="T78" fmla="*/ 2 w 461"/>
                <a:gd name="T79" fmla="*/ 2 h 698"/>
                <a:gd name="T80" fmla="*/ 2 w 461"/>
                <a:gd name="T81" fmla="*/ 2 h 698"/>
                <a:gd name="T82" fmla="*/ 2 w 461"/>
                <a:gd name="T83" fmla="*/ 2 h 698"/>
                <a:gd name="T84" fmla="*/ 1 w 461"/>
                <a:gd name="T85" fmla="*/ 2 h 698"/>
                <a:gd name="T86" fmla="*/ 1 w 461"/>
                <a:gd name="T87" fmla="*/ 2 h 698"/>
                <a:gd name="T88" fmla="*/ 1 w 461"/>
                <a:gd name="T89" fmla="*/ 2 h 698"/>
                <a:gd name="T90" fmla="*/ 1 w 461"/>
                <a:gd name="T91" fmla="*/ 2 h 698"/>
                <a:gd name="T92" fmla="*/ 1 w 461"/>
                <a:gd name="T93" fmla="*/ 2 h 698"/>
                <a:gd name="T94" fmla="*/ 0 w 461"/>
                <a:gd name="T95" fmla="*/ 2 h 69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61"/>
                <a:gd name="T145" fmla="*/ 0 h 698"/>
                <a:gd name="T146" fmla="*/ 461 w 461"/>
                <a:gd name="T147" fmla="*/ 698 h 69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61" h="698">
                  <a:moveTo>
                    <a:pt x="0" y="519"/>
                  </a:moveTo>
                  <a:lnTo>
                    <a:pt x="0" y="480"/>
                  </a:lnTo>
                  <a:lnTo>
                    <a:pt x="16" y="379"/>
                  </a:lnTo>
                  <a:lnTo>
                    <a:pt x="97" y="120"/>
                  </a:lnTo>
                  <a:lnTo>
                    <a:pt x="231" y="39"/>
                  </a:lnTo>
                  <a:lnTo>
                    <a:pt x="377" y="0"/>
                  </a:lnTo>
                  <a:lnTo>
                    <a:pt x="411" y="61"/>
                  </a:lnTo>
                  <a:lnTo>
                    <a:pt x="411" y="100"/>
                  </a:lnTo>
                  <a:lnTo>
                    <a:pt x="426" y="120"/>
                  </a:lnTo>
                  <a:lnTo>
                    <a:pt x="426" y="160"/>
                  </a:lnTo>
                  <a:lnTo>
                    <a:pt x="426" y="200"/>
                  </a:lnTo>
                  <a:lnTo>
                    <a:pt x="411" y="219"/>
                  </a:lnTo>
                  <a:lnTo>
                    <a:pt x="411" y="260"/>
                  </a:lnTo>
                  <a:lnTo>
                    <a:pt x="442" y="359"/>
                  </a:lnTo>
                  <a:lnTo>
                    <a:pt x="461" y="379"/>
                  </a:lnTo>
                  <a:lnTo>
                    <a:pt x="442" y="400"/>
                  </a:lnTo>
                  <a:lnTo>
                    <a:pt x="426" y="400"/>
                  </a:lnTo>
                  <a:lnTo>
                    <a:pt x="411" y="400"/>
                  </a:lnTo>
                  <a:lnTo>
                    <a:pt x="411" y="419"/>
                  </a:lnTo>
                  <a:lnTo>
                    <a:pt x="411" y="440"/>
                  </a:lnTo>
                  <a:lnTo>
                    <a:pt x="411" y="460"/>
                  </a:lnTo>
                  <a:lnTo>
                    <a:pt x="394" y="480"/>
                  </a:lnTo>
                  <a:lnTo>
                    <a:pt x="411" y="499"/>
                  </a:lnTo>
                  <a:lnTo>
                    <a:pt x="377" y="519"/>
                  </a:lnTo>
                  <a:lnTo>
                    <a:pt x="377" y="538"/>
                  </a:lnTo>
                  <a:lnTo>
                    <a:pt x="394" y="559"/>
                  </a:lnTo>
                  <a:lnTo>
                    <a:pt x="394" y="579"/>
                  </a:lnTo>
                  <a:lnTo>
                    <a:pt x="377" y="599"/>
                  </a:lnTo>
                  <a:lnTo>
                    <a:pt x="362" y="619"/>
                  </a:lnTo>
                  <a:lnTo>
                    <a:pt x="345" y="619"/>
                  </a:lnTo>
                  <a:lnTo>
                    <a:pt x="311" y="619"/>
                  </a:lnTo>
                  <a:lnTo>
                    <a:pt x="279" y="619"/>
                  </a:lnTo>
                  <a:lnTo>
                    <a:pt x="262" y="619"/>
                  </a:lnTo>
                  <a:lnTo>
                    <a:pt x="246" y="619"/>
                  </a:lnTo>
                  <a:lnTo>
                    <a:pt x="231" y="619"/>
                  </a:lnTo>
                  <a:lnTo>
                    <a:pt x="231" y="678"/>
                  </a:lnTo>
                  <a:lnTo>
                    <a:pt x="214" y="698"/>
                  </a:lnTo>
                  <a:lnTo>
                    <a:pt x="97" y="678"/>
                  </a:lnTo>
                  <a:lnTo>
                    <a:pt x="0" y="51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80" name="Freeform 149"/>
            <p:cNvSpPr>
              <a:spLocks/>
            </p:cNvSpPr>
            <p:nvPr/>
          </p:nvSpPr>
          <p:spPr bwMode="auto">
            <a:xfrm>
              <a:off x="1861" y="2501"/>
              <a:ext cx="16" cy="10"/>
            </a:xfrm>
            <a:custGeom>
              <a:avLst/>
              <a:gdLst>
                <a:gd name="T0" fmla="*/ 0 w 33"/>
                <a:gd name="T1" fmla="*/ 1 h 19"/>
                <a:gd name="T2" fmla="*/ 0 w 33"/>
                <a:gd name="T3" fmla="*/ 0 h 19"/>
                <a:gd name="T4" fmla="*/ 0 w 33"/>
                <a:gd name="T5" fmla="*/ 1 h 19"/>
                <a:gd name="T6" fmla="*/ 0 w 33"/>
                <a:gd name="T7" fmla="*/ 1 h 19"/>
                <a:gd name="T8" fmla="*/ 0 60000 65536"/>
                <a:gd name="T9" fmla="*/ 0 60000 65536"/>
                <a:gd name="T10" fmla="*/ 0 60000 65536"/>
                <a:gd name="T11" fmla="*/ 0 60000 65536"/>
                <a:gd name="T12" fmla="*/ 0 w 33"/>
                <a:gd name="T13" fmla="*/ 0 h 19"/>
                <a:gd name="T14" fmla="*/ 33 w 33"/>
                <a:gd name="T15" fmla="*/ 19 h 19"/>
              </a:gdLst>
              <a:ahLst/>
              <a:cxnLst>
                <a:cxn ang="T8">
                  <a:pos x="T0" y="T1"/>
                </a:cxn>
                <a:cxn ang="T9">
                  <a:pos x="T2" y="T3"/>
                </a:cxn>
                <a:cxn ang="T10">
                  <a:pos x="T4" y="T5"/>
                </a:cxn>
                <a:cxn ang="T11">
                  <a:pos x="T6" y="T7"/>
                </a:cxn>
              </a:cxnLst>
              <a:rect l="T12" t="T13" r="T14" b="T15"/>
              <a:pathLst>
                <a:path w="33" h="19">
                  <a:moveTo>
                    <a:pt x="0" y="19"/>
                  </a:moveTo>
                  <a:lnTo>
                    <a:pt x="33" y="0"/>
                  </a:lnTo>
                  <a:lnTo>
                    <a:pt x="33" y="19"/>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81" name="Freeform 150"/>
            <p:cNvSpPr>
              <a:spLocks/>
            </p:cNvSpPr>
            <p:nvPr/>
          </p:nvSpPr>
          <p:spPr bwMode="auto">
            <a:xfrm>
              <a:off x="1861" y="2501"/>
              <a:ext cx="16" cy="10"/>
            </a:xfrm>
            <a:custGeom>
              <a:avLst/>
              <a:gdLst>
                <a:gd name="T0" fmla="*/ 0 w 33"/>
                <a:gd name="T1" fmla="*/ 1 h 19"/>
                <a:gd name="T2" fmla="*/ 0 w 33"/>
                <a:gd name="T3" fmla="*/ 0 h 19"/>
                <a:gd name="T4" fmla="*/ 0 w 33"/>
                <a:gd name="T5" fmla="*/ 1 h 19"/>
                <a:gd name="T6" fmla="*/ 0 w 33"/>
                <a:gd name="T7" fmla="*/ 1 h 19"/>
                <a:gd name="T8" fmla="*/ 0 60000 65536"/>
                <a:gd name="T9" fmla="*/ 0 60000 65536"/>
                <a:gd name="T10" fmla="*/ 0 60000 65536"/>
                <a:gd name="T11" fmla="*/ 0 60000 65536"/>
                <a:gd name="T12" fmla="*/ 0 w 33"/>
                <a:gd name="T13" fmla="*/ 0 h 19"/>
                <a:gd name="T14" fmla="*/ 33 w 33"/>
                <a:gd name="T15" fmla="*/ 19 h 19"/>
              </a:gdLst>
              <a:ahLst/>
              <a:cxnLst>
                <a:cxn ang="T8">
                  <a:pos x="T0" y="T1"/>
                </a:cxn>
                <a:cxn ang="T9">
                  <a:pos x="T2" y="T3"/>
                </a:cxn>
                <a:cxn ang="T10">
                  <a:pos x="T4" y="T5"/>
                </a:cxn>
                <a:cxn ang="T11">
                  <a:pos x="T6" y="T7"/>
                </a:cxn>
              </a:cxnLst>
              <a:rect l="T12" t="T13" r="T14" b="T15"/>
              <a:pathLst>
                <a:path w="33" h="19">
                  <a:moveTo>
                    <a:pt x="0" y="19"/>
                  </a:moveTo>
                  <a:lnTo>
                    <a:pt x="33" y="0"/>
                  </a:lnTo>
                  <a:lnTo>
                    <a:pt x="33" y="19"/>
                  </a:lnTo>
                  <a:lnTo>
                    <a:pt x="0" y="1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82" name="Freeform 151"/>
            <p:cNvSpPr>
              <a:spLocks/>
            </p:cNvSpPr>
            <p:nvPr/>
          </p:nvSpPr>
          <p:spPr bwMode="auto">
            <a:xfrm>
              <a:off x="1852" y="2472"/>
              <a:ext cx="41" cy="29"/>
            </a:xfrm>
            <a:custGeom>
              <a:avLst/>
              <a:gdLst>
                <a:gd name="T0" fmla="*/ 0 w 82"/>
                <a:gd name="T1" fmla="*/ 0 h 59"/>
                <a:gd name="T2" fmla="*/ 1 w 82"/>
                <a:gd name="T3" fmla="*/ 0 h 59"/>
                <a:gd name="T4" fmla="*/ 1 w 82"/>
                <a:gd name="T5" fmla="*/ 0 h 59"/>
                <a:gd name="T6" fmla="*/ 1 w 82"/>
                <a:gd name="T7" fmla="*/ 0 h 59"/>
                <a:gd name="T8" fmla="*/ 1 w 82"/>
                <a:gd name="T9" fmla="*/ 0 h 59"/>
                <a:gd name="T10" fmla="*/ 1 w 82"/>
                <a:gd name="T11" fmla="*/ 0 h 59"/>
                <a:gd name="T12" fmla="*/ 1 w 82"/>
                <a:gd name="T13" fmla="*/ 0 h 59"/>
                <a:gd name="T14" fmla="*/ 1 w 82"/>
                <a:gd name="T15" fmla="*/ 0 h 59"/>
                <a:gd name="T16" fmla="*/ 1 w 82"/>
                <a:gd name="T17" fmla="*/ 0 h 59"/>
                <a:gd name="T18" fmla="*/ 1 w 82"/>
                <a:gd name="T19" fmla="*/ 0 h 59"/>
                <a:gd name="T20" fmla="*/ 1 w 82"/>
                <a:gd name="T21" fmla="*/ 0 h 59"/>
                <a:gd name="T22" fmla="*/ 1 w 82"/>
                <a:gd name="T23" fmla="*/ 0 h 59"/>
                <a:gd name="T24" fmla="*/ 1 w 82"/>
                <a:gd name="T25" fmla="*/ 0 h 59"/>
                <a:gd name="T26" fmla="*/ 1 w 82"/>
                <a:gd name="T27" fmla="*/ 0 h 59"/>
                <a:gd name="T28" fmla="*/ 0 w 82"/>
                <a:gd name="T29" fmla="*/ 0 h 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2"/>
                <a:gd name="T46" fmla="*/ 0 h 59"/>
                <a:gd name="T47" fmla="*/ 82 w 82"/>
                <a:gd name="T48" fmla="*/ 59 h 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2" h="59">
                  <a:moveTo>
                    <a:pt x="0" y="59"/>
                  </a:moveTo>
                  <a:lnTo>
                    <a:pt x="16" y="39"/>
                  </a:lnTo>
                  <a:lnTo>
                    <a:pt x="34" y="18"/>
                  </a:lnTo>
                  <a:lnTo>
                    <a:pt x="51" y="0"/>
                  </a:lnTo>
                  <a:lnTo>
                    <a:pt x="66" y="0"/>
                  </a:lnTo>
                  <a:lnTo>
                    <a:pt x="82" y="18"/>
                  </a:lnTo>
                  <a:lnTo>
                    <a:pt x="82" y="39"/>
                  </a:lnTo>
                  <a:lnTo>
                    <a:pt x="66" y="39"/>
                  </a:lnTo>
                  <a:lnTo>
                    <a:pt x="51" y="39"/>
                  </a:lnTo>
                  <a:lnTo>
                    <a:pt x="34" y="39"/>
                  </a:lnTo>
                  <a:lnTo>
                    <a:pt x="16" y="39"/>
                  </a:lnTo>
                  <a:lnTo>
                    <a:pt x="0" y="5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83" name="Freeform 152"/>
            <p:cNvSpPr>
              <a:spLocks/>
            </p:cNvSpPr>
            <p:nvPr/>
          </p:nvSpPr>
          <p:spPr bwMode="auto">
            <a:xfrm>
              <a:off x="1852" y="2472"/>
              <a:ext cx="41" cy="29"/>
            </a:xfrm>
            <a:custGeom>
              <a:avLst/>
              <a:gdLst>
                <a:gd name="T0" fmla="*/ 0 w 82"/>
                <a:gd name="T1" fmla="*/ 0 h 59"/>
                <a:gd name="T2" fmla="*/ 1 w 82"/>
                <a:gd name="T3" fmla="*/ 0 h 59"/>
                <a:gd name="T4" fmla="*/ 1 w 82"/>
                <a:gd name="T5" fmla="*/ 0 h 59"/>
                <a:gd name="T6" fmla="*/ 1 w 82"/>
                <a:gd name="T7" fmla="*/ 0 h 59"/>
                <a:gd name="T8" fmla="*/ 1 w 82"/>
                <a:gd name="T9" fmla="*/ 0 h 59"/>
                <a:gd name="T10" fmla="*/ 1 w 82"/>
                <a:gd name="T11" fmla="*/ 0 h 59"/>
                <a:gd name="T12" fmla="*/ 1 w 82"/>
                <a:gd name="T13" fmla="*/ 0 h 59"/>
                <a:gd name="T14" fmla="*/ 1 w 82"/>
                <a:gd name="T15" fmla="*/ 0 h 59"/>
                <a:gd name="T16" fmla="*/ 1 w 82"/>
                <a:gd name="T17" fmla="*/ 0 h 59"/>
                <a:gd name="T18" fmla="*/ 1 w 82"/>
                <a:gd name="T19" fmla="*/ 0 h 59"/>
                <a:gd name="T20" fmla="*/ 1 w 82"/>
                <a:gd name="T21" fmla="*/ 0 h 59"/>
                <a:gd name="T22" fmla="*/ 1 w 82"/>
                <a:gd name="T23" fmla="*/ 0 h 59"/>
                <a:gd name="T24" fmla="*/ 1 w 82"/>
                <a:gd name="T25" fmla="*/ 0 h 59"/>
                <a:gd name="T26" fmla="*/ 1 w 82"/>
                <a:gd name="T27" fmla="*/ 0 h 59"/>
                <a:gd name="T28" fmla="*/ 0 w 82"/>
                <a:gd name="T29" fmla="*/ 0 h 5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2"/>
                <a:gd name="T46" fmla="*/ 0 h 59"/>
                <a:gd name="T47" fmla="*/ 82 w 82"/>
                <a:gd name="T48" fmla="*/ 59 h 5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2" h="59">
                  <a:moveTo>
                    <a:pt x="0" y="59"/>
                  </a:moveTo>
                  <a:lnTo>
                    <a:pt x="16" y="39"/>
                  </a:lnTo>
                  <a:lnTo>
                    <a:pt x="34" y="18"/>
                  </a:lnTo>
                  <a:lnTo>
                    <a:pt x="51" y="0"/>
                  </a:lnTo>
                  <a:lnTo>
                    <a:pt x="66" y="0"/>
                  </a:lnTo>
                  <a:lnTo>
                    <a:pt x="82" y="18"/>
                  </a:lnTo>
                  <a:lnTo>
                    <a:pt x="82" y="39"/>
                  </a:lnTo>
                  <a:lnTo>
                    <a:pt x="66" y="39"/>
                  </a:lnTo>
                  <a:lnTo>
                    <a:pt x="51" y="39"/>
                  </a:lnTo>
                  <a:lnTo>
                    <a:pt x="34" y="39"/>
                  </a:lnTo>
                  <a:lnTo>
                    <a:pt x="16" y="39"/>
                  </a:lnTo>
                  <a:lnTo>
                    <a:pt x="0" y="5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84" name="Freeform 153"/>
            <p:cNvSpPr>
              <a:spLocks/>
            </p:cNvSpPr>
            <p:nvPr/>
          </p:nvSpPr>
          <p:spPr bwMode="auto">
            <a:xfrm>
              <a:off x="1812" y="2711"/>
              <a:ext cx="24" cy="139"/>
            </a:xfrm>
            <a:custGeom>
              <a:avLst/>
              <a:gdLst>
                <a:gd name="T0" fmla="*/ 0 w 48"/>
                <a:gd name="T1" fmla="*/ 1 h 277"/>
                <a:gd name="T2" fmla="*/ 0 w 48"/>
                <a:gd name="T3" fmla="*/ 1 h 277"/>
                <a:gd name="T4" fmla="*/ 0 w 48"/>
                <a:gd name="T5" fmla="*/ 1 h 277"/>
                <a:gd name="T6" fmla="*/ 0 w 48"/>
                <a:gd name="T7" fmla="*/ 0 h 277"/>
                <a:gd name="T8" fmla="*/ 1 w 48"/>
                <a:gd name="T9" fmla="*/ 1 h 277"/>
                <a:gd name="T10" fmla="*/ 1 w 48"/>
                <a:gd name="T11" fmla="*/ 1 h 277"/>
                <a:gd name="T12" fmla="*/ 1 w 48"/>
                <a:gd name="T13" fmla="*/ 1 h 277"/>
                <a:gd name="T14" fmla="*/ 1 w 48"/>
                <a:gd name="T15" fmla="*/ 1 h 277"/>
                <a:gd name="T16" fmla="*/ 1 w 48"/>
                <a:gd name="T17" fmla="*/ 1 h 277"/>
                <a:gd name="T18" fmla="*/ 1 w 48"/>
                <a:gd name="T19" fmla="*/ 2 h 277"/>
                <a:gd name="T20" fmla="*/ 1 w 48"/>
                <a:gd name="T21" fmla="*/ 1 h 277"/>
                <a:gd name="T22" fmla="*/ 0 w 48"/>
                <a:gd name="T23" fmla="*/ 1 h 2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
                <a:gd name="T37" fmla="*/ 0 h 277"/>
                <a:gd name="T38" fmla="*/ 48 w 48"/>
                <a:gd name="T39" fmla="*/ 277 h 2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 h="277">
                  <a:moveTo>
                    <a:pt x="0" y="180"/>
                  </a:moveTo>
                  <a:lnTo>
                    <a:pt x="0" y="99"/>
                  </a:lnTo>
                  <a:lnTo>
                    <a:pt x="0" y="40"/>
                  </a:lnTo>
                  <a:lnTo>
                    <a:pt x="0" y="0"/>
                  </a:lnTo>
                  <a:lnTo>
                    <a:pt x="15" y="59"/>
                  </a:lnTo>
                  <a:lnTo>
                    <a:pt x="15" y="80"/>
                  </a:lnTo>
                  <a:lnTo>
                    <a:pt x="31" y="119"/>
                  </a:lnTo>
                  <a:lnTo>
                    <a:pt x="31" y="139"/>
                  </a:lnTo>
                  <a:lnTo>
                    <a:pt x="48" y="238"/>
                  </a:lnTo>
                  <a:lnTo>
                    <a:pt x="48" y="277"/>
                  </a:lnTo>
                  <a:lnTo>
                    <a:pt x="15" y="219"/>
                  </a:lnTo>
                  <a:lnTo>
                    <a:pt x="0" y="18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85" name="Freeform 154"/>
            <p:cNvSpPr>
              <a:spLocks/>
            </p:cNvSpPr>
            <p:nvPr/>
          </p:nvSpPr>
          <p:spPr bwMode="auto">
            <a:xfrm>
              <a:off x="1812" y="2711"/>
              <a:ext cx="24" cy="139"/>
            </a:xfrm>
            <a:custGeom>
              <a:avLst/>
              <a:gdLst>
                <a:gd name="T0" fmla="*/ 0 w 48"/>
                <a:gd name="T1" fmla="*/ 1 h 277"/>
                <a:gd name="T2" fmla="*/ 0 w 48"/>
                <a:gd name="T3" fmla="*/ 1 h 277"/>
                <a:gd name="T4" fmla="*/ 0 w 48"/>
                <a:gd name="T5" fmla="*/ 1 h 277"/>
                <a:gd name="T6" fmla="*/ 0 w 48"/>
                <a:gd name="T7" fmla="*/ 0 h 277"/>
                <a:gd name="T8" fmla="*/ 1 w 48"/>
                <a:gd name="T9" fmla="*/ 1 h 277"/>
                <a:gd name="T10" fmla="*/ 1 w 48"/>
                <a:gd name="T11" fmla="*/ 1 h 277"/>
                <a:gd name="T12" fmla="*/ 1 w 48"/>
                <a:gd name="T13" fmla="*/ 1 h 277"/>
                <a:gd name="T14" fmla="*/ 1 w 48"/>
                <a:gd name="T15" fmla="*/ 1 h 277"/>
                <a:gd name="T16" fmla="*/ 1 w 48"/>
                <a:gd name="T17" fmla="*/ 1 h 277"/>
                <a:gd name="T18" fmla="*/ 1 w 48"/>
                <a:gd name="T19" fmla="*/ 2 h 277"/>
                <a:gd name="T20" fmla="*/ 1 w 48"/>
                <a:gd name="T21" fmla="*/ 1 h 277"/>
                <a:gd name="T22" fmla="*/ 0 w 48"/>
                <a:gd name="T23" fmla="*/ 1 h 2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
                <a:gd name="T37" fmla="*/ 0 h 277"/>
                <a:gd name="T38" fmla="*/ 48 w 48"/>
                <a:gd name="T39" fmla="*/ 277 h 2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 h="277">
                  <a:moveTo>
                    <a:pt x="0" y="180"/>
                  </a:moveTo>
                  <a:lnTo>
                    <a:pt x="0" y="99"/>
                  </a:lnTo>
                  <a:lnTo>
                    <a:pt x="0" y="40"/>
                  </a:lnTo>
                  <a:lnTo>
                    <a:pt x="0" y="0"/>
                  </a:lnTo>
                  <a:lnTo>
                    <a:pt x="15" y="59"/>
                  </a:lnTo>
                  <a:lnTo>
                    <a:pt x="15" y="80"/>
                  </a:lnTo>
                  <a:lnTo>
                    <a:pt x="31" y="119"/>
                  </a:lnTo>
                  <a:lnTo>
                    <a:pt x="31" y="139"/>
                  </a:lnTo>
                  <a:lnTo>
                    <a:pt x="48" y="238"/>
                  </a:lnTo>
                  <a:lnTo>
                    <a:pt x="48" y="277"/>
                  </a:lnTo>
                  <a:lnTo>
                    <a:pt x="15" y="219"/>
                  </a:lnTo>
                  <a:lnTo>
                    <a:pt x="0" y="18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86" name="Freeform 155"/>
            <p:cNvSpPr>
              <a:spLocks/>
            </p:cNvSpPr>
            <p:nvPr/>
          </p:nvSpPr>
          <p:spPr bwMode="auto">
            <a:xfrm>
              <a:off x="1762" y="2771"/>
              <a:ext cx="57" cy="100"/>
            </a:xfrm>
            <a:custGeom>
              <a:avLst/>
              <a:gdLst>
                <a:gd name="T0" fmla="*/ 1 w 114"/>
                <a:gd name="T1" fmla="*/ 1 h 199"/>
                <a:gd name="T2" fmla="*/ 1 w 114"/>
                <a:gd name="T3" fmla="*/ 1 h 199"/>
                <a:gd name="T4" fmla="*/ 1 w 114"/>
                <a:gd name="T5" fmla="*/ 1 h 199"/>
                <a:gd name="T6" fmla="*/ 1 w 114"/>
                <a:gd name="T7" fmla="*/ 1 h 199"/>
                <a:gd name="T8" fmla="*/ 1 w 114"/>
                <a:gd name="T9" fmla="*/ 1 h 199"/>
                <a:gd name="T10" fmla="*/ 0 w 114"/>
                <a:gd name="T11" fmla="*/ 1 h 199"/>
                <a:gd name="T12" fmla="*/ 0 w 114"/>
                <a:gd name="T13" fmla="*/ 0 h 199"/>
                <a:gd name="T14" fmla="*/ 1 w 114"/>
                <a:gd name="T15" fmla="*/ 0 h 199"/>
                <a:gd name="T16" fmla="*/ 1 w 114"/>
                <a:gd name="T17" fmla="*/ 0 h 199"/>
                <a:gd name="T18" fmla="*/ 1 w 114"/>
                <a:gd name="T19" fmla="*/ 1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199"/>
                <a:gd name="T32" fmla="*/ 114 w 114"/>
                <a:gd name="T33" fmla="*/ 199 h 19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199">
                  <a:moveTo>
                    <a:pt x="99" y="39"/>
                  </a:moveTo>
                  <a:lnTo>
                    <a:pt x="114" y="119"/>
                  </a:lnTo>
                  <a:lnTo>
                    <a:pt x="99" y="180"/>
                  </a:lnTo>
                  <a:lnTo>
                    <a:pt x="99" y="199"/>
                  </a:lnTo>
                  <a:lnTo>
                    <a:pt x="49" y="119"/>
                  </a:lnTo>
                  <a:lnTo>
                    <a:pt x="0" y="19"/>
                  </a:lnTo>
                  <a:lnTo>
                    <a:pt x="0" y="0"/>
                  </a:lnTo>
                  <a:lnTo>
                    <a:pt x="49" y="0"/>
                  </a:lnTo>
                  <a:lnTo>
                    <a:pt x="82" y="0"/>
                  </a:lnTo>
                  <a:lnTo>
                    <a:pt x="99"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87" name="Freeform 156"/>
            <p:cNvSpPr>
              <a:spLocks/>
            </p:cNvSpPr>
            <p:nvPr/>
          </p:nvSpPr>
          <p:spPr bwMode="auto">
            <a:xfrm>
              <a:off x="1762" y="2771"/>
              <a:ext cx="57" cy="100"/>
            </a:xfrm>
            <a:custGeom>
              <a:avLst/>
              <a:gdLst>
                <a:gd name="T0" fmla="*/ 1 w 114"/>
                <a:gd name="T1" fmla="*/ 1 h 199"/>
                <a:gd name="T2" fmla="*/ 1 w 114"/>
                <a:gd name="T3" fmla="*/ 1 h 199"/>
                <a:gd name="T4" fmla="*/ 1 w 114"/>
                <a:gd name="T5" fmla="*/ 1 h 199"/>
                <a:gd name="T6" fmla="*/ 1 w 114"/>
                <a:gd name="T7" fmla="*/ 1 h 199"/>
                <a:gd name="T8" fmla="*/ 1 w 114"/>
                <a:gd name="T9" fmla="*/ 1 h 199"/>
                <a:gd name="T10" fmla="*/ 0 w 114"/>
                <a:gd name="T11" fmla="*/ 1 h 199"/>
                <a:gd name="T12" fmla="*/ 0 w 114"/>
                <a:gd name="T13" fmla="*/ 0 h 199"/>
                <a:gd name="T14" fmla="*/ 1 w 114"/>
                <a:gd name="T15" fmla="*/ 0 h 199"/>
                <a:gd name="T16" fmla="*/ 1 w 114"/>
                <a:gd name="T17" fmla="*/ 0 h 199"/>
                <a:gd name="T18" fmla="*/ 1 w 114"/>
                <a:gd name="T19" fmla="*/ 1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199"/>
                <a:gd name="T32" fmla="*/ 114 w 114"/>
                <a:gd name="T33" fmla="*/ 199 h 19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199">
                  <a:moveTo>
                    <a:pt x="99" y="39"/>
                  </a:moveTo>
                  <a:lnTo>
                    <a:pt x="114" y="119"/>
                  </a:lnTo>
                  <a:lnTo>
                    <a:pt x="99" y="180"/>
                  </a:lnTo>
                  <a:lnTo>
                    <a:pt x="99" y="199"/>
                  </a:lnTo>
                  <a:lnTo>
                    <a:pt x="49" y="119"/>
                  </a:lnTo>
                  <a:lnTo>
                    <a:pt x="0" y="19"/>
                  </a:lnTo>
                  <a:lnTo>
                    <a:pt x="0" y="0"/>
                  </a:lnTo>
                  <a:lnTo>
                    <a:pt x="49" y="0"/>
                  </a:lnTo>
                  <a:lnTo>
                    <a:pt x="82" y="0"/>
                  </a:lnTo>
                  <a:lnTo>
                    <a:pt x="99" y="3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88" name="Freeform 157"/>
            <p:cNvSpPr>
              <a:spLocks/>
            </p:cNvSpPr>
            <p:nvPr/>
          </p:nvSpPr>
          <p:spPr bwMode="auto">
            <a:xfrm>
              <a:off x="1803" y="2790"/>
              <a:ext cx="99" cy="390"/>
            </a:xfrm>
            <a:custGeom>
              <a:avLst/>
              <a:gdLst>
                <a:gd name="T0" fmla="*/ 0 w 197"/>
                <a:gd name="T1" fmla="*/ 0 h 779"/>
                <a:gd name="T2" fmla="*/ 1 w 197"/>
                <a:gd name="T3" fmla="*/ 1 h 779"/>
                <a:gd name="T4" fmla="*/ 1 w 197"/>
                <a:gd name="T5" fmla="*/ 3 h 779"/>
                <a:gd name="T6" fmla="*/ 1 w 197"/>
                <a:gd name="T7" fmla="*/ 4 h 779"/>
                <a:gd name="T8" fmla="*/ 1 w 197"/>
                <a:gd name="T9" fmla="*/ 4 h 779"/>
                <a:gd name="T10" fmla="*/ 1 w 197"/>
                <a:gd name="T11" fmla="*/ 3 h 779"/>
                <a:gd name="T12" fmla="*/ 1 w 197"/>
                <a:gd name="T13" fmla="*/ 1 h 779"/>
                <a:gd name="T14" fmla="*/ 1 w 197"/>
                <a:gd name="T15" fmla="*/ 1 h 779"/>
                <a:gd name="T16" fmla="*/ 1 w 197"/>
                <a:gd name="T17" fmla="*/ 1 h 779"/>
                <a:gd name="T18" fmla="*/ 1 w 197"/>
                <a:gd name="T19" fmla="*/ 1 h 779"/>
                <a:gd name="T20" fmla="*/ 1 w 197"/>
                <a:gd name="T21" fmla="*/ 1 h 779"/>
                <a:gd name="T22" fmla="*/ 1 w 197"/>
                <a:gd name="T23" fmla="*/ 0 h 779"/>
                <a:gd name="T24" fmla="*/ 0 w 197"/>
                <a:gd name="T25" fmla="*/ 0 h 7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7"/>
                <a:gd name="T40" fmla="*/ 0 h 779"/>
                <a:gd name="T41" fmla="*/ 197 w 197"/>
                <a:gd name="T42" fmla="*/ 779 h 77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7" h="779">
                  <a:moveTo>
                    <a:pt x="0" y="0"/>
                  </a:moveTo>
                  <a:lnTo>
                    <a:pt x="16" y="201"/>
                  </a:lnTo>
                  <a:lnTo>
                    <a:pt x="65" y="520"/>
                  </a:lnTo>
                  <a:lnTo>
                    <a:pt x="148" y="779"/>
                  </a:lnTo>
                  <a:lnTo>
                    <a:pt x="197" y="779"/>
                  </a:lnTo>
                  <a:lnTo>
                    <a:pt x="197" y="619"/>
                  </a:lnTo>
                  <a:lnTo>
                    <a:pt x="131" y="240"/>
                  </a:lnTo>
                  <a:lnTo>
                    <a:pt x="96" y="141"/>
                  </a:lnTo>
                  <a:lnTo>
                    <a:pt x="65" y="80"/>
                  </a:lnTo>
                  <a:lnTo>
                    <a:pt x="48" y="21"/>
                  </a:lnTo>
                  <a:lnTo>
                    <a:pt x="32" y="21"/>
                  </a:lnTo>
                  <a:lnTo>
                    <a:pt x="3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189" name="Freeform 158"/>
            <p:cNvSpPr>
              <a:spLocks/>
            </p:cNvSpPr>
            <p:nvPr/>
          </p:nvSpPr>
          <p:spPr bwMode="auto">
            <a:xfrm>
              <a:off x="1803" y="2790"/>
              <a:ext cx="99" cy="390"/>
            </a:xfrm>
            <a:custGeom>
              <a:avLst/>
              <a:gdLst>
                <a:gd name="T0" fmla="*/ 0 w 197"/>
                <a:gd name="T1" fmla="*/ 0 h 779"/>
                <a:gd name="T2" fmla="*/ 1 w 197"/>
                <a:gd name="T3" fmla="*/ 1 h 779"/>
                <a:gd name="T4" fmla="*/ 1 w 197"/>
                <a:gd name="T5" fmla="*/ 3 h 779"/>
                <a:gd name="T6" fmla="*/ 1 w 197"/>
                <a:gd name="T7" fmla="*/ 4 h 779"/>
                <a:gd name="T8" fmla="*/ 1 w 197"/>
                <a:gd name="T9" fmla="*/ 4 h 779"/>
                <a:gd name="T10" fmla="*/ 1 w 197"/>
                <a:gd name="T11" fmla="*/ 3 h 779"/>
                <a:gd name="T12" fmla="*/ 1 w 197"/>
                <a:gd name="T13" fmla="*/ 1 h 779"/>
                <a:gd name="T14" fmla="*/ 1 w 197"/>
                <a:gd name="T15" fmla="*/ 1 h 779"/>
                <a:gd name="T16" fmla="*/ 1 w 197"/>
                <a:gd name="T17" fmla="*/ 1 h 779"/>
                <a:gd name="T18" fmla="*/ 1 w 197"/>
                <a:gd name="T19" fmla="*/ 1 h 779"/>
                <a:gd name="T20" fmla="*/ 1 w 197"/>
                <a:gd name="T21" fmla="*/ 1 h 779"/>
                <a:gd name="T22" fmla="*/ 1 w 197"/>
                <a:gd name="T23" fmla="*/ 0 h 779"/>
                <a:gd name="T24" fmla="*/ 0 w 197"/>
                <a:gd name="T25" fmla="*/ 0 h 77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97"/>
                <a:gd name="T40" fmla="*/ 0 h 779"/>
                <a:gd name="T41" fmla="*/ 197 w 197"/>
                <a:gd name="T42" fmla="*/ 779 h 77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97" h="779">
                  <a:moveTo>
                    <a:pt x="0" y="0"/>
                  </a:moveTo>
                  <a:lnTo>
                    <a:pt x="16" y="201"/>
                  </a:lnTo>
                  <a:lnTo>
                    <a:pt x="65" y="520"/>
                  </a:lnTo>
                  <a:lnTo>
                    <a:pt x="148" y="779"/>
                  </a:lnTo>
                  <a:lnTo>
                    <a:pt x="197" y="779"/>
                  </a:lnTo>
                  <a:lnTo>
                    <a:pt x="197" y="619"/>
                  </a:lnTo>
                  <a:lnTo>
                    <a:pt x="131" y="240"/>
                  </a:lnTo>
                  <a:lnTo>
                    <a:pt x="96" y="141"/>
                  </a:lnTo>
                  <a:lnTo>
                    <a:pt x="65" y="80"/>
                  </a:lnTo>
                  <a:lnTo>
                    <a:pt x="48" y="21"/>
                  </a:lnTo>
                  <a:lnTo>
                    <a:pt x="32" y="21"/>
                  </a:lnTo>
                  <a:lnTo>
                    <a:pt x="32" y="0"/>
                  </a:lnTo>
                  <a:lnTo>
                    <a:pt x="0"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90" name="Freeform 159"/>
            <p:cNvSpPr>
              <a:spLocks/>
            </p:cNvSpPr>
            <p:nvPr/>
          </p:nvSpPr>
          <p:spPr bwMode="auto">
            <a:xfrm>
              <a:off x="1885" y="2541"/>
              <a:ext cx="1" cy="19"/>
            </a:xfrm>
            <a:custGeom>
              <a:avLst/>
              <a:gdLst>
                <a:gd name="T0" fmla="*/ 0 w 1"/>
                <a:gd name="T1" fmla="*/ 0 h 39"/>
                <a:gd name="T2" fmla="*/ 0 w 1"/>
                <a:gd name="T3" fmla="*/ 0 h 39"/>
                <a:gd name="T4" fmla="*/ 0 w 1"/>
                <a:gd name="T5" fmla="*/ 0 h 39"/>
                <a:gd name="T6" fmla="*/ 0 w 1"/>
                <a:gd name="T7" fmla="*/ 0 h 39"/>
                <a:gd name="T8" fmla="*/ 0 w 1"/>
                <a:gd name="T9" fmla="*/ 0 h 39"/>
                <a:gd name="T10" fmla="*/ 0 w 1"/>
                <a:gd name="T11" fmla="*/ 0 h 39"/>
                <a:gd name="T12" fmla="*/ 0 w 1"/>
                <a:gd name="T13" fmla="*/ 0 h 39"/>
                <a:gd name="T14" fmla="*/ 0 60000 65536"/>
                <a:gd name="T15" fmla="*/ 0 60000 65536"/>
                <a:gd name="T16" fmla="*/ 0 60000 65536"/>
                <a:gd name="T17" fmla="*/ 0 60000 65536"/>
                <a:gd name="T18" fmla="*/ 0 60000 65536"/>
                <a:gd name="T19" fmla="*/ 0 60000 65536"/>
                <a:gd name="T20" fmla="*/ 0 60000 65536"/>
                <a:gd name="T21" fmla="*/ 0 w 1"/>
                <a:gd name="T22" fmla="*/ 0 h 39"/>
                <a:gd name="T23" fmla="*/ 1 w 1"/>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 h="39">
                  <a:moveTo>
                    <a:pt x="0" y="0"/>
                  </a:moveTo>
                  <a:lnTo>
                    <a:pt x="0" y="0"/>
                  </a:lnTo>
                  <a:lnTo>
                    <a:pt x="0" y="20"/>
                  </a:lnTo>
                  <a:lnTo>
                    <a:pt x="0" y="3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91" name="Line 160"/>
            <p:cNvSpPr>
              <a:spLocks noChangeShapeType="1"/>
            </p:cNvSpPr>
            <p:nvPr/>
          </p:nvSpPr>
          <p:spPr bwMode="auto">
            <a:xfrm>
              <a:off x="1877" y="2601"/>
              <a:ext cx="16" cy="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192" name="Freeform 161"/>
            <p:cNvSpPr>
              <a:spLocks/>
            </p:cNvSpPr>
            <p:nvPr/>
          </p:nvSpPr>
          <p:spPr bwMode="auto">
            <a:xfrm>
              <a:off x="1762" y="2581"/>
              <a:ext cx="25" cy="10"/>
            </a:xfrm>
            <a:custGeom>
              <a:avLst/>
              <a:gdLst>
                <a:gd name="T0" fmla="*/ 1 w 49"/>
                <a:gd name="T1" fmla="*/ 0 h 20"/>
                <a:gd name="T2" fmla="*/ 1 w 49"/>
                <a:gd name="T3" fmla="*/ 1 h 20"/>
                <a:gd name="T4" fmla="*/ 1 w 49"/>
                <a:gd name="T5" fmla="*/ 1 h 20"/>
                <a:gd name="T6" fmla="*/ 1 w 49"/>
                <a:gd name="T7" fmla="*/ 1 h 20"/>
                <a:gd name="T8" fmla="*/ 0 w 49"/>
                <a:gd name="T9" fmla="*/ 1 h 20"/>
                <a:gd name="T10" fmla="*/ 0 w 49"/>
                <a:gd name="T11" fmla="*/ 1 h 20"/>
                <a:gd name="T12" fmla="*/ 0 w 49"/>
                <a:gd name="T13" fmla="*/ 0 h 20"/>
                <a:gd name="T14" fmla="*/ 0 60000 65536"/>
                <a:gd name="T15" fmla="*/ 0 60000 65536"/>
                <a:gd name="T16" fmla="*/ 0 60000 65536"/>
                <a:gd name="T17" fmla="*/ 0 60000 65536"/>
                <a:gd name="T18" fmla="*/ 0 60000 65536"/>
                <a:gd name="T19" fmla="*/ 0 60000 65536"/>
                <a:gd name="T20" fmla="*/ 0 60000 65536"/>
                <a:gd name="T21" fmla="*/ 0 w 49"/>
                <a:gd name="T22" fmla="*/ 0 h 20"/>
                <a:gd name="T23" fmla="*/ 49 w 49"/>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20">
                  <a:moveTo>
                    <a:pt x="49" y="0"/>
                  </a:moveTo>
                  <a:lnTo>
                    <a:pt x="33" y="20"/>
                  </a:lnTo>
                  <a:lnTo>
                    <a:pt x="16" y="20"/>
                  </a:lnTo>
                  <a:lnTo>
                    <a:pt x="0" y="20"/>
                  </a:lnTo>
                  <a:lnTo>
                    <a:pt x="0"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93" name="Freeform 162"/>
            <p:cNvSpPr>
              <a:spLocks/>
            </p:cNvSpPr>
            <p:nvPr/>
          </p:nvSpPr>
          <p:spPr bwMode="auto">
            <a:xfrm>
              <a:off x="1762" y="2521"/>
              <a:ext cx="8" cy="20"/>
            </a:xfrm>
            <a:custGeom>
              <a:avLst/>
              <a:gdLst>
                <a:gd name="T0" fmla="*/ 0 w 15"/>
                <a:gd name="T1" fmla="*/ 1 h 39"/>
                <a:gd name="T2" fmla="*/ 0 w 15"/>
                <a:gd name="T3" fmla="*/ 1 h 39"/>
                <a:gd name="T4" fmla="*/ 0 w 15"/>
                <a:gd name="T5" fmla="*/ 1 h 39"/>
                <a:gd name="T6" fmla="*/ 0 w 15"/>
                <a:gd name="T7" fmla="*/ 1 h 39"/>
                <a:gd name="T8" fmla="*/ 0 w 15"/>
                <a:gd name="T9" fmla="*/ 0 h 39"/>
                <a:gd name="T10" fmla="*/ 0 w 15"/>
                <a:gd name="T11" fmla="*/ 0 h 39"/>
                <a:gd name="T12" fmla="*/ 0 w 15"/>
                <a:gd name="T13" fmla="*/ 0 h 39"/>
                <a:gd name="T14" fmla="*/ 1 w 15"/>
                <a:gd name="T15" fmla="*/ 0 h 39"/>
                <a:gd name="T16" fmla="*/ 1 w 15"/>
                <a:gd name="T17" fmla="*/ 0 h 39"/>
                <a:gd name="T18" fmla="*/ 1 w 15"/>
                <a:gd name="T19" fmla="*/ 0 h 39"/>
                <a:gd name="T20" fmla="*/ 1 w 15"/>
                <a:gd name="T21" fmla="*/ 1 h 39"/>
                <a:gd name="T22" fmla="*/ 1 w 15"/>
                <a:gd name="T23" fmla="*/ 1 h 39"/>
                <a:gd name="T24" fmla="*/ 1 w 15"/>
                <a:gd name="T25" fmla="*/ 1 h 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
                <a:gd name="T40" fmla="*/ 0 h 39"/>
                <a:gd name="T41" fmla="*/ 15 w 15"/>
                <a:gd name="T42" fmla="*/ 39 h 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 h="39">
                  <a:moveTo>
                    <a:pt x="0" y="39"/>
                  </a:moveTo>
                  <a:lnTo>
                    <a:pt x="0" y="39"/>
                  </a:lnTo>
                  <a:lnTo>
                    <a:pt x="0" y="20"/>
                  </a:lnTo>
                  <a:lnTo>
                    <a:pt x="0" y="0"/>
                  </a:lnTo>
                  <a:lnTo>
                    <a:pt x="15" y="0"/>
                  </a:lnTo>
                  <a:lnTo>
                    <a:pt x="15" y="20"/>
                  </a:lnTo>
                  <a:lnTo>
                    <a:pt x="15" y="3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94" name="Freeform 163"/>
            <p:cNvSpPr>
              <a:spLocks/>
            </p:cNvSpPr>
            <p:nvPr/>
          </p:nvSpPr>
          <p:spPr bwMode="auto">
            <a:xfrm>
              <a:off x="2165" y="2941"/>
              <a:ext cx="74" cy="79"/>
            </a:xfrm>
            <a:custGeom>
              <a:avLst/>
              <a:gdLst>
                <a:gd name="T0" fmla="*/ 0 w 147"/>
                <a:gd name="T1" fmla="*/ 1 h 158"/>
                <a:gd name="T2" fmla="*/ 1 w 147"/>
                <a:gd name="T3" fmla="*/ 1 h 158"/>
                <a:gd name="T4" fmla="*/ 1 w 147"/>
                <a:gd name="T5" fmla="*/ 1 h 158"/>
                <a:gd name="T6" fmla="*/ 1 w 147"/>
                <a:gd name="T7" fmla="*/ 1 h 158"/>
                <a:gd name="T8" fmla="*/ 1 w 147"/>
                <a:gd name="T9" fmla="*/ 1 h 158"/>
                <a:gd name="T10" fmla="*/ 1 w 147"/>
                <a:gd name="T11" fmla="*/ 1 h 158"/>
                <a:gd name="T12" fmla="*/ 1 w 147"/>
                <a:gd name="T13" fmla="*/ 0 h 158"/>
                <a:gd name="T14" fmla="*/ 1 w 147"/>
                <a:gd name="T15" fmla="*/ 1 h 158"/>
                <a:gd name="T16" fmla="*/ 1 w 147"/>
                <a:gd name="T17" fmla="*/ 1 h 158"/>
                <a:gd name="T18" fmla="*/ 1 w 147"/>
                <a:gd name="T19" fmla="*/ 1 h 158"/>
                <a:gd name="T20" fmla="*/ 1 w 147"/>
                <a:gd name="T21" fmla="*/ 1 h 158"/>
                <a:gd name="T22" fmla="*/ 1 w 147"/>
                <a:gd name="T23" fmla="*/ 1 h 158"/>
                <a:gd name="T24" fmla="*/ 1 w 147"/>
                <a:gd name="T25" fmla="*/ 1 h 158"/>
                <a:gd name="T26" fmla="*/ 1 w 147"/>
                <a:gd name="T27" fmla="*/ 1 h 158"/>
                <a:gd name="T28" fmla="*/ 1 w 147"/>
                <a:gd name="T29" fmla="*/ 1 h 158"/>
                <a:gd name="T30" fmla="*/ 1 w 147"/>
                <a:gd name="T31" fmla="*/ 1 h 158"/>
                <a:gd name="T32" fmla="*/ 1 w 147"/>
                <a:gd name="T33" fmla="*/ 1 h 158"/>
                <a:gd name="T34" fmla="*/ 1 w 147"/>
                <a:gd name="T35" fmla="*/ 1 h 158"/>
                <a:gd name="T36" fmla="*/ 1 w 147"/>
                <a:gd name="T37" fmla="*/ 1 h 158"/>
                <a:gd name="T38" fmla="*/ 1 w 147"/>
                <a:gd name="T39" fmla="*/ 1 h 158"/>
                <a:gd name="T40" fmla="*/ 1 w 147"/>
                <a:gd name="T41" fmla="*/ 1 h 158"/>
                <a:gd name="T42" fmla="*/ 1 w 147"/>
                <a:gd name="T43" fmla="*/ 1 h 15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7"/>
                <a:gd name="T67" fmla="*/ 0 h 158"/>
                <a:gd name="T68" fmla="*/ 147 w 147"/>
                <a:gd name="T69" fmla="*/ 158 h 15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7" h="158">
                  <a:moveTo>
                    <a:pt x="0" y="58"/>
                  </a:moveTo>
                  <a:lnTo>
                    <a:pt x="16" y="39"/>
                  </a:lnTo>
                  <a:lnTo>
                    <a:pt x="48" y="19"/>
                  </a:lnTo>
                  <a:lnTo>
                    <a:pt x="65" y="19"/>
                  </a:lnTo>
                  <a:lnTo>
                    <a:pt x="97" y="19"/>
                  </a:lnTo>
                  <a:lnTo>
                    <a:pt x="132" y="0"/>
                  </a:lnTo>
                  <a:lnTo>
                    <a:pt x="147" y="19"/>
                  </a:lnTo>
                  <a:lnTo>
                    <a:pt x="147" y="39"/>
                  </a:lnTo>
                  <a:lnTo>
                    <a:pt x="132" y="58"/>
                  </a:lnTo>
                  <a:lnTo>
                    <a:pt x="115" y="58"/>
                  </a:lnTo>
                  <a:lnTo>
                    <a:pt x="97" y="78"/>
                  </a:lnTo>
                  <a:lnTo>
                    <a:pt x="81" y="78"/>
                  </a:lnTo>
                  <a:lnTo>
                    <a:pt x="65" y="98"/>
                  </a:lnTo>
                  <a:lnTo>
                    <a:pt x="48" y="118"/>
                  </a:lnTo>
                  <a:lnTo>
                    <a:pt x="48" y="137"/>
                  </a:lnTo>
                  <a:lnTo>
                    <a:pt x="32" y="137"/>
                  </a:lnTo>
                  <a:lnTo>
                    <a:pt x="16" y="15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95" name="Freeform 164"/>
            <p:cNvSpPr>
              <a:spLocks/>
            </p:cNvSpPr>
            <p:nvPr/>
          </p:nvSpPr>
          <p:spPr bwMode="auto">
            <a:xfrm>
              <a:off x="2239" y="2931"/>
              <a:ext cx="41" cy="20"/>
            </a:xfrm>
            <a:custGeom>
              <a:avLst/>
              <a:gdLst>
                <a:gd name="T0" fmla="*/ 0 w 83"/>
                <a:gd name="T1" fmla="*/ 1 h 40"/>
                <a:gd name="T2" fmla="*/ 0 w 83"/>
                <a:gd name="T3" fmla="*/ 1 h 40"/>
                <a:gd name="T4" fmla="*/ 0 w 83"/>
                <a:gd name="T5" fmla="*/ 1 h 40"/>
                <a:gd name="T6" fmla="*/ 0 w 83"/>
                <a:gd name="T7" fmla="*/ 0 h 40"/>
                <a:gd name="T8" fmla="*/ 0 w 83"/>
                <a:gd name="T9" fmla="*/ 0 h 40"/>
                <a:gd name="T10" fmla="*/ 0 w 83"/>
                <a:gd name="T11" fmla="*/ 0 h 40"/>
                <a:gd name="T12" fmla="*/ 0 60000 65536"/>
                <a:gd name="T13" fmla="*/ 0 60000 65536"/>
                <a:gd name="T14" fmla="*/ 0 60000 65536"/>
                <a:gd name="T15" fmla="*/ 0 60000 65536"/>
                <a:gd name="T16" fmla="*/ 0 60000 65536"/>
                <a:gd name="T17" fmla="*/ 0 60000 65536"/>
                <a:gd name="T18" fmla="*/ 0 w 83"/>
                <a:gd name="T19" fmla="*/ 0 h 40"/>
                <a:gd name="T20" fmla="*/ 83 w 83"/>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83" h="40">
                  <a:moveTo>
                    <a:pt x="0" y="40"/>
                  </a:moveTo>
                  <a:lnTo>
                    <a:pt x="16" y="21"/>
                  </a:lnTo>
                  <a:lnTo>
                    <a:pt x="33" y="21"/>
                  </a:lnTo>
                  <a:lnTo>
                    <a:pt x="65" y="0"/>
                  </a:lnTo>
                  <a:lnTo>
                    <a:pt x="83"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96" name="Freeform 165"/>
            <p:cNvSpPr>
              <a:spLocks/>
            </p:cNvSpPr>
            <p:nvPr/>
          </p:nvSpPr>
          <p:spPr bwMode="auto">
            <a:xfrm>
              <a:off x="2223" y="2961"/>
              <a:ext cx="57" cy="30"/>
            </a:xfrm>
            <a:custGeom>
              <a:avLst/>
              <a:gdLst>
                <a:gd name="T0" fmla="*/ 0 w 115"/>
                <a:gd name="T1" fmla="*/ 1 h 58"/>
                <a:gd name="T2" fmla="*/ 0 w 115"/>
                <a:gd name="T3" fmla="*/ 1 h 58"/>
                <a:gd name="T4" fmla="*/ 0 w 115"/>
                <a:gd name="T5" fmla="*/ 1 h 58"/>
                <a:gd name="T6" fmla="*/ 0 w 115"/>
                <a:gd name="T7" fmla="*/ 1 h 58"/>
                <a:gd name="T8" fmla="*/ 0 w 115"/>
                <a:gd name="T9" fmla="*/ 1 h 58"/>
                <a:gd name="T10" fmla="*/ 0 w 115"/>
                <a:gd name="T11" fmla="*/ 1 h 58"/>
                <a:gd name="T12" fmla="*/ 0 w 115"/>
                <a:gd name="T13" fmla="*/ 0 h 58"/>
                <a:gd name="T14" fmla="*/ 0 w 115"/>
                <a:gd name="T15" fmla="*/ 0 h 58"/>
                <a:gd name="T16" fmla="*/ 0 60000 65536"/>
                <a:gd name="T17" fmla="*/ 0 60000 65536"/>
                <a:gd name="T18" fmla="*/ 0 60000 65536"/>
                <a:gd name="T19" fmla="*/ 0 60000 65536"/>
                <a:gd name="T20" fmla="*/ 0 60000 65536"/>
                <a:gd name="T21" fmla="*/ 0 60000 65536"/>
                <a:gd name="T22" fmla="*/ 0 60000 65536"/>
                <a:gd name="T23" fmla="*/ 0 60000 65536"/>
                <a:gd name="T24" fmla="*/ 0 w 115"/>
                <a:gd name="T25" fmla="*/ 0 h 58"/>
                <a:gd name="T26" fmla="*/ 115 w 115"/>
                <a:gd name="T27" fmla="*/ 58 h 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 h="58">
                  <a:moveTo>
                    <a:pt x="0" y="58"/>
                  </a:moveTo>
                  <a:lnTo>
                    <a:pt x="31" y="39"/>
                  </a:lnTo>
                  <a:lnTo>
                    <a:pt x="65" y="39"/>
                  </a:lnTo>
                  <a:lnTo>
                    <a:pt x="80" y="19"/>
                  </a:lnTo>
                  <a:lnTo>
                    <a:pt x="97" y="19"/>
                  </a:lnTo>
                  <a:lnTo>
                    <a:pt x="115"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97" name="Freeform 166"/>
            <p:cNvSpPr>
              <a:spLocks/>
            </p:cNvSpPr>
            <p:nvPr/>
          </p:nvSpPr>
          <p:spPr bwMode="auto">
            <a:xfrm>
              <a:off x="2223" y="2991"/>
              <a:ext cx="57" cy="30"/>
            </a:xfrm>
            <a:custGeom>
              <a:avLst/>
              <a:gdLst>
                <a:gd name="T0" fmla="*/ 0 w 115"/>
                <a:gd name="T1" fmla="*/ 1 h 60"/>
                <a:gd name="T2" fmla="*/ 0 w 115"/>
                <a:gd name="T3" fmla="*/ 1 h 60"/>
                <a:gd name="T4" fmla="*/ 0 w 115"/>
                <a:gd name="T5" fmla="*/ 1 h 60"/>
                <a:gd name="T6" fmla="*/ 0 w 115"/>
                <a:gd name="T7" fmla="*/ 1 h 60"/>
                <a:gd name="T8" fmla="*/ 0 w 115"/>
                <a:gd name="T9" fmla="*/ 0 h 60"/>
                <a:gd name="T10" fmla="*/ 0 w 115"/>
                <a:gd name="T11" fmla="*/ 0 h 60"/>
                <a:gd name="T12" fmla="*/ 0 60000 65536"/>
                <a:gd name="T13" fmla="*/ 0 60000 65536"/>
                <a:gd name="T14" fmla="*/ 0 60000 65536"/>
                <a:gd name="T15" fmla="*/ 0 60000 65536"/>
                <a:gd name="T16" fmla="*/ 0 60000 65536"/>
                <a:gd name="T17" fmla="*/ 0 60000 65536"/>
                <a:gd name="T18" fmla="*/ 0 w 115"/>
                <a:gd name="T19" fmla="*/ 0 h 60"/>
                <a:gd name="T20" fmla="*/ 115 w 115"/>
                <a:gd name="T21" fmla="*/ 60 h 60"/>
              </a:gdLst>
              <a:ahLst/>
              <a:cxnLst>
                <a:cxn ang="T12">
                  <a:pos x="T0" y="T1"/>
                </a:cxn>
                <a:cxn ang="T13">
                  <a:pos x="T2" y="T3"/>
                </a:cxn>
                <a:cxn ang="T14">
                  <a:pos x="T4" y="T5"/>
                </a:cxn>
                <a:cxn ang="T15">
                  <a:pos x="T6" y="T7"/>
                </a:cxn>
                <a:cxn ang="T16">
                  <a:pos x="T8" y="T9"/>
                </a:cxn>
                <a:cxn ang="T17">
                  <a:pos x="T10" y="T11"/>
                </a:cxn>
              </a:cxnLst>
              <a:rect l="T18" t="T19" r="T20" b="T21"/>
              <a:pathLst>
                <a:path w="115" h="60">
                  <a:moveTo>
                    <a:pt x="0" y="60"/>
                  </a:moveTo>
                  <a:lnTo>
                    <a:pt x="31" y="39"/>
                  </a:lnTo>
                  <a:lnTo>
                    <a:pt x="48" y="20"/>
                  </a:lnTo>
                  <a:lnTo>
                    <a:pt x="80" y="20"/>
                  </a:lnTo>
                  <a:lnTo>
                    <a:pt x="97" y="0"/>
                  </a:lnTo>
                  <a:lnTo>
                    <a:pt x="115"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198" name="Line 167"/>
            <p:cNvSpPr>
              <a:spLocks noChangeShapeType="1"/>
            </p:cNvSpPr>
            <p:nvPr/>
          </p:nvSpPr>
          <p:spPr bwMode="auto">
            <a:xfrm flipV="1">
              <a:off x="1852" y="2511"/>
              <a:ext cx="8" cy="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199" name="Line 168"/>
            <p:cNvSpPr>
              <a:spLocks noChangeShapeType="1"/>
            </p:cNvSpPr>
            <p:nvPr/>
          </p:nvSpPr>
          <p:spPr bwMode="auto">
            <a:xfrm>
              <a:off x="1877" y="2501"/>
              <a:ext cx="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200" name="Freeform 169"/>
            <p:cNvSpPr>
              <a:spLocks/>
            </p:cNvSpPr>
            <p:nvPr/>
          </p:nvSpPr>
          <p:spPr bwMode="auto">
            <a:xfrm>
              <a:off x="1688" y="2632"/>
              <a:ext cx="107" cy="158"/>
            </a:xfrm>
            <a:custGeom>
              <a:avLst/>
              <a:gdLst>
                <a:gd name="T0" fmla="*/ 1 w 212"/>
                <a:gd name="T1" fmla="*/ 0 h 318"/>
                <a:gd name="T2" fmla="*/ 1 w 212"/>
                <a:gd name="T3" fmla="*/ 1 h 318"/>
                <a:gd name="T4" fmla="*/ 1 w 212"/>
                <a:gd name="T5" fmla="*/ 0 h 318"/>
                <a:gd name="T6" fmla="*/ 1 w 212"/>
                <a:gd name="T7" fmla="*/ 0 h 318"/>
                <a:gd name="T8" fmla="*/ 1 w 212"/>
                <a:gd name="T9" fmla="*/ 0 h 318"/>
                <a:gd name="T10" fmla="*/ 1 w 212"/>
                <a:gd name="T11" fmla="*/ 0 h 318"/>
                <a:gd name="T12" fmla="*/ 1 w 212"/>
                <a:gd name="T13" fmla="*/ 0 h 318"/>
                <a:gd name="T14" fmla="*/ 0 w 212"/>
                <a:gd name="T15" fmla="*/ 0 h 318"/>
                <a:gd name="T16" fmla="*/ 0 w 212"/>
                <a:gd name="T17" fmla="*/ 0 h 318"/>
                <a:gd name="T18" fmla="*/ 1 w 212"/>
                <a:gd name="T19" fmla="*/ 0 h 318"/>
                <a:gd name="T20" fmla="*/ 1 w 212"/>
                <a:gd name="T21" fmla="*/ 0 h 3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2"/>
                <a:gd name="T34" fmla="*/ 0 h 318"/>
                <a:gd name="T35" fmla="*/ 212 w 212"/>
                <a:gd name="T36" fmla="*/ 318 h 31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2" h="318">
                  <a:moveTo>
                    <a:pt x="212" y="160"/>
                  </a:moveTo>
                  <a:lnTo>
                    <a:pt x="197" y="318"/>
                  </a:lnTo>
                  <a:lnTo>
                    <a:pt x="99" y="199"/>
                  </a:lnTo>
                  <a:lnTo>
                    <a:pt x="65" y="139"/>
                  </a:lnTo>
                  <a:lnTo>
                    <a:pt x="50" y="100"/>
                  </a:lnTo>
                  <a:lnTo>
                    <a:pt x="17" y="79"/>
                  </a:lnTo>
                  <a:lnTo>
                    <a:pt x="17" y="40"/>
                  </a:lnTo>
                  <a:lnTo>
                    <a:pt x="0" y="20"/>
                  </a:lnTo>
                  <a:lnTo>
                    <a:pt x="0" y="0"/>
                  </a:lnTo>
                  <a:lnTo>
                    <a:pt x="17" y="0"/>
                  </a:lnTo>
                  <a:lnTo>
                    <a:pt x="212" y="16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201" name="Freeform 170"/>
            <p:cNvSpPr>
              <a:spLocks/>
            </p:cNvSpPr>
            <p:nvPr/>
          </p:nvSpPr>
          <p:spPr bwMode="auto">
            <a:xfrm>
              <a:off x="1688" y="2632"/>
              <a:ext cx="107" cy="158"/>
            </a:xfrm>
            <a:custGeom>
              <a:avLst/>
              <a:gdLst>
                <a:gd name="T0" fmla="*/ 1 w 212"/>
                <a:gd name="T1" fmla="*/ 0 h 318"/>
                <a:gd name="T2" fmla="*/ 1 w 212"/>
                <a:gd name="T3" fmla="*/ 1 h 318"/>
                <a:gd name="T4" fmla="*/ 1 w 212"/>
                <a:gd name="T5" fmla="*/ 0 h 318"/>
                <a:gd name="T6" fmla="*/ 1 w 212"/>
                <a:gd name="T7" fmla="*/ 0 h 318"/>
                <a:gd name="T8" fmla="*/ 1 w 212"/>
                <a:gd name="T9" fmla="*/ 0 h 318"/>
                <a:gd name="T10" fmla="*/ 1 w 212"/>
                <a:gd name="T11" fmla="*/ 0 h 318"/>
                <a:gd name="T12" fmla="*/ 1 w 212"/>
                <a:gd name="T13" fmla="*/ 0 h 318"/>
                <a:gd name="T14" fmla="*/ 0 w 212"/>
                <a:gd name="T15" fmla="*/ 0 h 318"/>
                <a:gd name="T16" fmla="*/ 0 w 212"/>
                <a:gd name="T17" fmla="*/ 0 h 318"/>
                <a:gd name="T18" fmla="*/ 1 w 212"/>
                <a:gd name="T19" fmla="*/ 0 h 318"/>
                <a:gd name="T20" fmla="*/ 1 w 212"/>
                <a:gd name="T21" fmla="*/ 0 h 3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2"/>
                <a:gd name="T34" fmla="*/ 0 h 318"/>
                <a:gd name="T35" fmla="*/ 212 w 212"/>
                <a:gd name="T36" fmla="*/ 318 h 31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2" h="318">
                  <a:moveTo>
                    <a:pt x="212" y="160"/>
                  </a:moveTo>
                  <a:lnTo>
                    <a:pt x="197" y="318"/>
                  </a:lnTo>
                  <a:lnTo>
                    <a:pt x="99" y="199"/>
                  </a:lnTo>
                  <a:lnTo>
                    <a:pt x="65" y="139"/>
                  </a:lnTo>
                  <a:lnTo>
                    <a:pt x="50" y="100"/>
                  </a:lnTo>
                  <a:lnTo>
                    <a:pt x="17" y="79"/>
                  </a:lnTo>
                  <a:lnTo>
                    <a:pt x="17" y="40"/>
                  </a:lnTo>
                  <a:lnTo>
                    <a:pt x="0" y="20"/>
                  </a:lnTo>
                  <a:lnTo>
                    <a:pt x="0" y="0"/>
                  </a:lnTo>
                  <a:lnTo>
                    <a:pt x="17" y="0"/>
                  </a:lnTo>
                  <a:lnTo>
                    <a:pt x="212" y="16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202" name="Freeform 171"/>
            <p:cNvSpPr>
              <a:spLocks/>
            </p:cNvSpPr>
            <p:nvPr/>
          </p:nvSpPr>
          <p:spPr bwMode="auto">
            <a:xfrm>
              <a:off x="1787" y="2711"/>
              <a:ext cx="33" cy="90"/>
            </a:xfrm>
            <a:custGeom>
              <a:avLst/>
              <a:gdLst>
                <a:gd name="T0" fmla="*/ 0 w 66"/>
                <a:gd name="T1" fmla="*/ 1 h 179"/>
                <a:gd name="T2" fmla="*/ 1 w 66"/>
                <a:gd name="T3" fmla="*/ 0 h 179"/>
                <a:gd name="T4" fmla="*/ 1 w 66"/>
                <a:gd name="T5" fmla="*/ 0 h 179"/>
                <a:gd name="T6" fmla="*/ 1 w 66"/>
                <a:gd name="T7" fmla="*/ 1 h 179"/>
                <a:gd name="T8" fmla="*/ 1 w 66"/>
                <a:gd name="T9" fmla="*/ 1 h 179"/>
                <a:gd name="T10" fmla="*/ 1 w 66"/>
                <a:gd name="T11" fmla="*/ 1 h 179"/>
                <a:gd name="T12" fmla="*/ 0 w 66"/>
                <a:gd name="T13" fmla="*/ 1 h 179"/>
                <a:gd name="T14" fmla="*/ 0 60000 65536"/>
                <a:gd name="T15" fmla="*/ 0 60000 65536"/>
                <a:gd name="T16" fmla="*/ 0 60000 65536"/>
                <a:gd name="T17" fmla="*/ 0 60000 65536"/>
                <a:gd name="T18" fmla="*/ 0 60000 65536"/>
                <a:gd name="T19" fmla="*/ 0 60000 65536"/>
                <a:gd name="T20" fmla="*/ 0 60000 65536"/>
                <a:gd name="T21" fmla="*/ 0 w 66"/>
                <a:gd name="T22" fmla="*/ 0 h 179"/>
                <a:gd name="T23" fmla="*/ 66 w 66"/>
                <a:gd name="T24" fmla="*/ 179 h 17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179">
                  <a:moveTo>
                    <a:pt x="0" y="119"/>
                  </a:moveTo>
                  <a:lnTo>
                    <a:pt x="15" y="0"/>
                  </a:lnTo>
                  <a:lnTo>
                    <a:pt x="33" y="0"/>
                  </a:lnTo>
                  <a:lnTo>
                    <a:pt x="66" y="59"/>
                  </a:lnTo>
                  <a:lnTo>
                    <a:pt x="66" y="158"/>
                  </a:lnTo>
                  <a:lnTo>
                    <a:pt x="33" y="179"/>
                  </a:lnTo>
                  <a:lnTo>
                    <a:pt x="0" y="11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203" name="Freeform 172"/>
            <p:cNvSpPr>
              <a:spLocks/>
            </p:cNvSpPr>
            <p:nvPr/>
          </p:nvSpPr>
          <p:spPr bwMode="auto">
            <a:xfrm>
              <a:off x="1787" y="2711"/>
              <a:ext cx="33" cy="90"/>
            </a:xfrm>
            <a:custGeom>
              <a:avLst/>
              <a:gdLst>
                <a:gd name="T0" fmla="*/ 0 w 66"/>
                <a:gd name="T1" fmla="*/ 1 h 179"/>
                <a:gd name="T2" fmla="*/ 1 w 66"/>
                <a:gd name="T3" fmla="*/ 0 h 179"/>
                <a:gd name="T4" fmla="*/ 1 w 66"/>
                <a:gd name="T5" fmla="*/ 0 h 179"/>
                <a:gd name="T6" fmla="*/ 1 w 66"/>
                <a:gd name="T7" fmla="*/ 1 h 179"/>
                <a:gd name="T8" fmla="*/ 1 w 66"/>
                <a:gd name="T9" fmla="*/ 1 h 179"/>
                <a:gd name="T10" fmla="*/ 1 w 66"/>
                <a:gd name="T11" fmla="*/ 1 h 179"/>
                <a:gd name="T12" fmla="*/ 0 w 66"/>
                <a:gd name="T13" fmla="*/ 1 h 179"/>
                <a:gd name="T14" fmla="*/ 0 60000 65536"/>
                <a:gd name="T15" fmla="*/ 0 60000 65536"/>
                <a:gd name="T16" fmla="*/ 0 60000 65536"/>
                <a:gd name="T17" fmla="*/ 0 60000 65536"/>
                <a:gd name="T18" fmla="*/ 0 60000 65536"/>
                <a:gd name="T19" fmla="*/ 0 60000 65536"/>
                <a:gd name="T20" fmla="*/ 0 60000 65536"/>
                <a:gd name="T21" fmla="*/ 0 w 66"/>
                <a:gd name="T22" fmla="*/ 0 h 179"/>
                <a:gd name="T23" fmla="*/ 66 w 66"/>
                <a:gd name="T24" fmla="*/ 179 h 17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6" h="179">
                  <a:moveTo>
                    <a:pt x="0" y="119"/>
                  </a:moveTo>
                  <a:lnTo>
                    <a:pt x="15" y="0"/>
                  </a:lnTo>
                  <a:lnTo>
                    <a:pt x="33" y="0"/>
                  </a:lnTo>
                  <a:lnTo>
                    <a:pt x="66" y="59"/>
                  </a:lnTo>
                  <a:lnTo>
                    <a:pt x="66" y="158"/>
                  </a:lnTo>
                  <a:lnTo>
                    <a:pt x="33" y="179"/>
                  </a:lnTo>
                  <a:lnTo>
                    <a:pt x="0" y="11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204" name="Freeform 173"/>
            <p:cNvSpPr>
              <a:spLocks/>
            </p:cNvSpPr>
            <p:nvPr/>
          </p:nvSpPr>
          <p:spPr bwMode="auto">
            <a:xfrm>
              <a:off x="1803" y="2681"/>
              <a:ext cx="16" cy="60"/>
            </a:xfrm>
            <a:custGeom>
              <a:avLst/>
              <a:gdLst>
                <a:gd name="T0" fmla="*/ 0 w 32"/>
                <a:gd name="T1" fmla="*/ 1 h 119"/>
                <a:gd name="T2" fmla="*/ 1 w 32"/>
                <a:gd name="T3" fmla="*/ 0 h 119"/>
                <a:gd name="T4" fmla="*/ 1 w 32"/>
                <a:gd name="T5" fmla="*/ 1 h 119"/>
                <a:gd name="T6" fmla="*/ 0 w 32"/>
                <a:gd name="T7" fmla="*/ 1 h 119"/>
                <a:gd name="T8" fmla="*/ 0 60000 65536"/>
                <a:gd name="T9" fmla="*/ 0 60000 65536"/>
                <a:gd name="T10" fmla="*/ 0 60000 65536"/>
                <a:gd name="T11" fmla="*/ 0 60000 65536"/>
                <a:gd name="T12" fmla="*/ 0 w 32"/>
                <a:gd name="T13" fmla="*/ 0 h 119"/>
                <a:gd name="T14" fmla="*/ 32 w 32"/>
                <a:gd name="T15" fmla="*/ 119 h 119"/>
              </a:gdLst>
              <a:ahLst/>
              <a:cxnLst>
                <a:cxn ang="T8">
                  <a:pos x="T0" y="T1"/>
                </a:cxn>
                <a:cxn ang="T9">
                  <a:pos x="T2" y="T3"/>
                </a:cxn>
                <a:cxn ang="T10">
                  <a:pos x="T4" y="T5"/>
                </a:cxn>
                <a:cxn ang="T11">
                  <a:pos x="T6" y="T7"/>
                </a:cxn>
              </a:cxnLst>
              <a:rect l="T12" t="T13" r="T14" b="T15"/>
              <a:pathLst>
                <a:path w="32" h="119">
                  <a:moveTo>
                    <a:pt x="0" y="60"/>
                  </a:moveTo>
                  <a:lnTo>
                    <a:pt x="16" y="0"/>
                  </a:lnTo>
                  <a:lnTo>
                    <a:pt x="32" y="119"/>
                  </a:lnTo>
                  <a:lnTo>
                    <a:pt x="0" y="6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205" name="Freeform 174"/>
            <p:cNvSpPr>
              <a:spLocks/>
            </p:cNvSpPr>
            <p:nvPr/>
          </p:nvSpPr>
          <p:spPr bwMode="auto">
            <a:xfrm>
              <a:off x="1803" y="2681"/>
              <a:ext cx="16" cy="60"/>
            </a:xfrm>
            <a:custGeom>
              <a:avLst/>
              <a:gdLst>
                <a:gd name="T0" fmla="*/ 0 w 32"/>
                <a:gd name="T1" fmla="*/ 1 h 119"/>
                <a:gd name="T2" fmla="*/ 1 w 32"/>
                <a:gd name="T3" fmla="*/ 0 h 119"/>
                <a:gd name="T4" fmla="*/ 1 w 32"/>
                <a:gd name="T5" fmla="*/ 1 h 119"/>
                <a:gd name="T6" fmla="*/ 0 w 32"/>
                <a:gd name="T7" fmla="*/ 1 h 119"/>
                <a:gd name="T8" fmla="*/ 0 60000 65536"/>
                <a:gd name="T9" fmla="*/ 0 60000 65536"/>
                <a:gd name="T10" fmla="*/ 0 60000 65536"/>
                <a:gd name="T11" fmla="*/ 0 60000 65536"/>
                <a:gd name="T12" fmla="*/ 0 w 32"/>
                <a:gd name="T13" fmla="*/ 0 h 119"/>
                <a:gd name="T14" fmla="*/ 32 w 32"/>
                <a:gd name="T15" fmla="*/ 119 h 119"/>
              </a:gdLst>
              <a:ahLst/>
              <a:cxnLst>
                <a:cxn ang="T8">
                  <a:pos x="T0" y="T1"/>
                </a:cxn>
                <a:cxn ang="T9">
                  <a:pos x="T2" y="T3"/>
                </a:cxn>
                <a:cxn ang="T10">
                  <a:pos x="T4" y="T5"/>
                </a:cxn>
                <a:cxn ang="T11">
                  <a:pos x="T6" y="T7"/>
                </a:cxn>
              </a:cxnLst>
              <a:rect l="T12" t="T13" r="T14" b="T15"/>
              <a:pathLst>
                <a:path w="32" h="119">
                  <a:moveTo>
                    <a:pt x="0" y="60"/>
                  </a:moveTo>
                  <a:lnTo>
                    <a:pt x="16" y="0"/>
                  </a:lnTo>
                  <a:lnTo>
                    <a:pt x="32" y="119"/>
                  </a:lnTo>
                  <a:lnTo>
                    <a:pt x="0" y="6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206" name="Freeform 175"/>
            <p:cNvSpPr>
              <a:spLocks/>
            </p:cNvSpPr>
            <p:nvPr/>
          </p:nvSpPr>
          <p:spPr bwMode="auto">
            <a:xfrm>
              <a:off x="1869" y="3181"/>
              <a:ext cx="58" cy="119"/>
            </a:xfrm>
            <a:custGeom>
              <a:avLst/>
              <a:gdLst>
                <a:gd name="T0" fmla="*/ 0 w 115"/>
                <a:gd name="T1" fmla="*/ 0 h 239"/>
                <a:gd name="T2" fmla="*/ 1 w 115"/>
                <a:gd name="T3" fmla="*/ 0 h 239"/>
                <a:gd name="T4" fmla="*/ 1 w 115"/>
                <a:gd name="T5" fmla="*/ 0 h 239"/>
                <a:gd name="T6" fmla="*/ 1 w 115"/>
                <a:gd name="T7" fmla="*/ 0 h 239"/>
                <a:gd name="T8" fmla="*/ 1 w 115"/>
                <a:gd name="T9" fmla="*/ 0 h 239"/>
                <a:gd name="T10" fmla="*/ 1 w 115"/>
                <a:gd name="T11" fmla="*/ 0 h 239"/>
                <a:gd name="T12" fmla="*/ 1 w 115"/>
                <a:gd name="T13" fmla="*/ 0 h 239"/>
                <a:gd name="T14" fmla="*/ 1 w 115"/>
                <a:gd name="T15" fmla="*/ 0 h 239"/>
                <a:gd name="T16" fmla="*/ 0 w 115"/>
                <a:gd name="T17" fmla="*/ 0 h 239"/>
                <a:gd name="T18" fmla="*/ 0 w 115"/>
                <a:gd name="T19" fmla="*/ 0 h 239"/>
                <a:gd name="T20" fmla="*/ 0 w 115"/>
                <a:gd name="T21" fmla="*/ 0 h 23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5"/>
                <a:gd name="T34" fmla="*/ 0 h 239"/>
                <a:gd name="T35" fmla="*/ 115 w 115"/>
                <a:gd name="T36" fmla="*/ 239 h 23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5" h="239">
                  <a:moveTo>
                    <a:pt x="0" y="239"/>
                  </a:moveTo>
                  <a:lnTo>
                    <a:pt x="65" y="239"/>
                  </a:lnTo>
                  <a:lnTo>
                    <a:pt x="115" y="0"/>
                  </a:lnTo>
                  <a:lnTo>
                    <a:pt x="31" y="0"/>
                  </a:lnTo>
                  <a:lnTo>
                    <a:pt x="31" y="20"/>
                  </a:lnTo>
                  <a:lnTo>
                    <a:pt x="16" y="60"/>
                  </a:lnTo>
                  <a:lnTo>
                    <a:pt x="16" y="99"/>
                  </a:lnTo>
                  <a:lnTo>
                    <a:pt x="16" y="139"/>
                  </a:lnTo>
                  <a:lnTo>
                    <a:pt x="0" y="200"/>
                  </a:lnTo>
                  <a:lnTo>
                    <a:pt x="0" y="219"/>
                  </a:lnTo>
                  <a:lnTo>
                    <a:pt x="0" y="2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207" name="Freeform 176"/>
            <p:cNvSpPr>
              <a:spLocks/>
            </p:cNvSpPr>
            <p:nvPr/>
          </p:nvSpPr>
          <p:spPr bwMode="auto">
            <a:xfrm>
              <a:off x="1869" y="3181"/>
              <a:ext cx="58" cy="119"/>
            </a:xfrm>
            <a:custGeom>
              <a:avLst/>
              <a:gdLst>
                <a:gd name="T0" fmla="*/ 0 w 115"/>
                <a:gd name="T1" fmla="*/ 0 h 239"/>
                <a:gd name="T2" fmla="*/ 1 w 115"/>
                <a:gd name="T3" fmla="*/ 0 h 239"/>
                <a:gd name="T4" fmla="*/ 1 w 115"/>
                <a:gd name="T5" fmla="*/ 0 h 239"/>
                <a:gd name="T6" fmla="*/ 1 w 115"/>
                <a:gd name="T7" fmla="*/ 0 h 239"/>
                <a:gd name="T8" fmla="*/ 1 w 115"/>
                <a:gd name="T9" fmla="*/ 0 h 239"/>
                <a:gd name="T10" fmla="*/ 1 w 115"/>
                <a:gd name="T11" fmla="*/ 0 h 239"/>
                <a:gd name="T12" fmla="*/ 1 w 115"/>
                <a:gd name="T13" fmla="*/ 0 h 239"/>
                <a:gd name="T14" fmla="*/ 1 w 115"/>
                <a:gd name="T15" fmla="*/ 0 h 239"/>
                <a:gd name="T16" fmla="*/ 0 w 115"/>
                <a:gd name="T17" fmla="*/ 0 h 239"/>
                <a:gd name="T18" fmla="*/ 0 w 115"/>
                <a:gd name="T19" fmla="*/ 0 h 239"/>
                <a:gd name="T20" fmla="*/ 0 w 115"/>
                <a:gd name="T21" fmla="*/ 0 h 23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5"/>
                <a:gd name="T34" fmla="*/ 0 h 239"/>
                <a:gd name="T35" fmla="*/ 115 w 115"/>
                <a:gd name="T36" fmla="*/ 239 h 23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5" h="239">
                  <a:moveTo>
                    <a:pt x="0" y="239"/>
                  </a:moveTo>
                  <a:lnTo>
                    <a:pt x="65" y="239"/>
                  </a:lnTo>
                  <a:lnTo>
                    <a:pt x="115" y="0"/>
                  </a:lnTo>
                  <a:lnTo>
                    <a:pt x="31" y="0"/>
                  </a:lnTo>
                  <a:lnTo>
                    <a:pt x="31" y="20"/>
                  </a:lnTo>
                  <a:lnTo>
                    <a:pt x="16" y="60"/>
                  </a:lnTo>
                  <a:lnTo>
                    <a:pt x="16" y="99"/>
                  </a:lnTo>
                  <a:lnTo>
                    <a:pt x="16" y="139"/>
                  </a:lnTo>
                  <a:lnTo>
                    <a:pt x="0" y="200"/>
                  </a:lnTo>
                  <a:lnTo>
                    <a:pt x="0" y="219"/>
                  </a:lnTo>
                  <a:lnTo>
                    <a:pt x="0" y="23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208" name="Freeform 177"/>
            <p:cNvSpPr>
              <a:spLocks/>
            </p:cNvSpPr>
            <p:nvPr/>
          </p:nvSpPr>
          <p:spPr bwMode="auto">
            <a:xfrm>
              <a:off x="1672" y="2641"/>
              <a:ext cx="205" cy="539"/>
            </a:xfrm>
            <a:custGeom>
              <a:avLst/>
              <a:gdLst>
                <a:gd name="T0" fmla="*/ 0 w 411"/>
                <a:gd name="T1" fmla="*/ 0 h 1079"/>
                <a:gd name="T2" fmla="*/ 0 w 411"/>
                <a:gd name="T3" fmla="*/ 0 h 1079"/>
                <a:gd name="T4" fmla="*/ 0 w 411"/>
                <a:gd name="T5" fmla="*/ 0 h 1079"/>
                <a:gd name="T6" fmla="*/ 0 w 411"/>
                <a:gd name="T7" fmla="*/ 0 h 1079"/>
                <a:gd name="T8" fmla="*/ 0 w 411"/>
                <a:gd name="T9" fmla="*/ 0 h 1079"/>
                <a:gd name="T10" fmla="*/ 0 w 411"/>
                <a:gd name="T11" fmla="*/ 0 h 1079"/>
                <a:gd name="T12" fmla="*/ 0 w 411"/>
                <a:gd name="T13" fmla="*/ 0 h 1079"/>
                <a:gd name="T14" fmla="*/ 0 w 411"/>
                <a:gd name="T15" fmla="*/ 1 h 1079"/>
                <a:gd name="T16" fmla="*/ 0 w 411"/>
                <a:gd name="T17" fmla="*/ 1 h 1079"/>
                <a:gd name="T18" fmla="*/ 0 w 411"/>
                <a:gd name="T19" fmla="*/ 1 h 1079"/>
                <a:gd name="T20" fmla="*/ 1 w 411"/>
                <a:gd name="T21" fmla="*/ 1 h 1079"/>
                <a:gd name="T22" fmla="*/ 1 w 411"/>
                <a:gd name="T23" fmla="*/ 1 h 1079"/>
                <a:gd name="T24" fmla="*/ 1 w 411"/>
                <a:gd name="T25" fmla="*/ 2 h 1079"/>
                <a:gd name="T26" fmla="*/ 1 w 411"/>
                <a:gd name="T27" fmla="*/ 2 h 1079"/>
                <a:gd name="T28" fmla="*/ 1 w 411"/>
                <a:gd name="T29" fmla="*/ 2 h 1079"/>
                <a:gd name="T30" fmla="*/ 1 w 411"/>
                <a:gd name="T31" fmla="*/ 3 h 1079"/>
                <a:gd name="T32" fmla="*/ 1 w 411"/>
                <a:gd name="T33" fmla="*/ 3 h 1079"/>
                <a:gd name="T34" fmla="*/ 1 w 411"/>
                <a:gd name="T35" fmla="*/ 3 h 1079"/>
                <a:gd name="T36" fmla="*/ 1 w 411"/>
                <a:gd name="T37" fmla="*/ 4 h 1079"/>
                <a:gd name="T38" fmla="*/ 1 w 411"/>
                <a:gd name="T39" fmla="*/ 4 h 1079"/>
                <a:gd name="T40" fmla="*/ 1 w 411"/>
                <a:gd name="T41" fmla="*/ 4 h 1079"/>
                <a:gd name="T42" fmla="*/ 1 w 411"/>
                <a:gd name="T43" fmla="*/ 3 h 1079"/>
                <a:gd name="T44" fmla="*/ 1 w 411"/>
                <a:gd name="T45" fmla="*/ 3 h 1079"/>
                <a:gd name="T46" fmla="*/ 1 w 411"/>
                <a:gd name="T47" fmla="*/ 3 h 1079"/>
                <a:gd name="T48" fmla="*/ 1 w 411"/>
                <a:gd name="T49" fmla="*/ 2 h 1079"/>
                <a:gd name="T50" fmla="*/ 1 w 411"/>
                <a:gd name="T51" fmla="*/ 2 h 1079"/>
                <a:gd name="T52" fmla="*/ 1 w 411"/>
                <a:gd name="T53" fmla="*/ 2 h 1079"/>
                <a:gd name="T54" fmla="*/ 1 w 411"/>
                <a:gd name="T55" fmla="*/ 2 h 1079"/>
                <a:gd name="T56" fmla="*/ 1 w 411"/>
                <a:gd name="T57" fmla="*/ 2 h 1079"/>
                <a:gd name="T58" fmla="*/ 1 w 411"/>
                <a:gd name="T59" fmla="*/ 2 h 1079"/>
                <a:gd name="T60" fmla="*/ 1 w 411"/>
                <a:gd name="T61" fmla="*/ 2 h 1079"/>
                <a:gd name="T62" fmla="*/ 0 w 411"/>
                <a:gd name="T63" fmla="*/ 2 h 1079"/>
                <a:gd name="T64" fmla="*/ 0 w 411"/>
                <a:gd name="T65" fmla="*/ 1 h 1079"/>
                <a:gd name="T66" fmla="*/ 0 w 411"/>
                <a:gd name="T67" fmla="*/ 1 h 1079"/>
                <a:gd name="T68" fmla="*/ 0 w 411"/>
                <a:gd name="T69" fmla="*/ 1 h 1079"/>
                <a:gd name="T70" fmla="*/ 0 w 411"/>
                <a:gd name="T71" fmla="*/ 1 h 1079"/>
                <a:gd name="T72" fmla="*/ 0 w 411"/>
                <a:gd name="T73" fmla="*/ 1 h 1079"/>
                <a:gd name="T74" fmla="*/ 0 w 411"/>
                <a:gd name="T75" fmla="*/ 1 h 1079"/>
                <a:gd name="T76" fmla="*/ 0 w 411"/>
                <a:gd name="T77" fmla="*/ 1 h 1079"/>
                <a:gd name="T78" fmla="*/ 0 w 411"/>
                <a:gd name="T79" fmla="*/ 1 h 1079"/>
                <a:gd name="T80" fmla="*/ 0 w 411"/>
                <a:gd name="T81" fmla="*/ 0 h 1079"/>
                <a:gd name="T82" fmla="*/ 0 w 411"/>
                <a:gd name="T83" fmla="*/ 0 h 1079"/>
                <a:gd name="T84" fmla="*/ 0 w 411"/>
                <a:gd name="T85" fmla="*/ 0 h 1079"/>
                <a:gd name="T86" fmla="*/ 0 w 411"/>
                <a:gd name="T87" fmla="*/ 0 h 1079"/>
                <a:gd name="T88" fmla="*/ 0 w 411"/>
                <a:gd name="T89" fmla="*/ 0 h 1079"/>
                <a:gd name="T90" fmla="*/ 0 w 411"/>
                <a:gd name="T91" fmla="*/ 0 h 1079"/>
                <a:gd name="T92" fmla="*/ 0 w 411"/>
                <a:gd name="T93" fmla="*/ 0 h 107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411"/>
                <a:gd name="T142" fmla="*/ 0 h 1079"/>
                <a:gd name="T143" fmla="*/ 411 w 411"/>
                <a:gd name="T144" fmla="*/ 1079 h 1079"/>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411" h="1079">
                  <a:moveTo>
                    <a:pt x="32" y="0"/>
                  </a:moveTo>
                  <a:lnTo>
                    <a:pt x="48" y="41"/>
                  </a:lnTo>
                  <a:lnTo>
                    <a:pt x="64" y="81"/>
                  </a:lnTo>
                  <a:lnTo>
                    <a:pt x="97" y="120"/>
                  </a:lnTo>
                  <a:lnTo>
                    <a:pt x="129" y="160"/>
                  </a:lnTo>
                  <a:lnTo>
                    <a:pt x="164" y="201"/>
                  </a:lnTo>
                  <a:lnTo>
                    <a:pt x="196" y="240"/>
                  </a:lnTo>
                  <a:lnTo>
                    <a:pt x="213" y="279"/>
                  </a:lnTo>
                  <a:lnTo>
                    <a:pt x="229" y="300"/>
                  </a:lnTo>
                  <a:lnTo>
                    <a:pt x="245" y="340"/>
                  </a:lnTo>
                  <a:lnTo>
                    <a:pt x="279" y="419"/>
                  </a:lnTo>
                  <a:lnTo>
                    <a:pt x="295" y="480"/>
                  </a:lnTo>
                  <a:lnTo>
                    <a:pt x="311" y="560"/>
                  </a:lnTo>
                  <a:lnTo>
                    <a:pt x="328" y="620"/>
                  </a:lnTo>
                  <a:lnTo>
                    <a:pt x="344" y="720"/>
                  </a:lnTo>
                  <a:lnTo>
                    <a:pt x="359" y="799"/>
                  </a:lnTo>
                  <a:lnTo>
                    <a:pt x="376" y="880"/>
                  </a:lnTo>
                  <a:lnTo>
                    <a:pt x="394" y="979"/>
                  </a:lnTo>
                  <a:lnTo>
                    <a:pt x="411" y="1059"/>
                  </a:lnTo>
                  <a:lnTo>
                    <a:pt x="411" y="1079"/>
                  </a:lnTo>
                  <a:lnTo>
                    <a:pt x="394" y="1059"/>
                  </a:lnTo>
                  <a:lnTo>
                    <a:pt x="376" y="1000"/>
                  </a:lnTo>
                  <a:lnTo>
                    <a:pt x="344" y="919"/>
                  </a:lnTo>
                  <a:lnTo>
                    <a:pt x="311" y="779"/>
                  </a:lnTo>
                  <a:lnTo>
                    <a:pt x="279" y="700"/>
                  </a:lnTo>
                  <a:lnTo>
                    <a:pt x="263" y="620"/>
                  </a:lnTo>
                  <a:lnTo>
                    <a:pt x="263" y="599"/>
                  </a:lnTo>
                  <a:lnTo>
                    <a:pt x="263" y="580"/>
                  </a:lnTo>
                  <a:lnTo>
                    <a:pt x="279" y="560"/>
                  </a:lnTo>
                  <a:lnTo>
                    <a:pt x="263" y="540"/>
                  </a:lnTo>
                  <a:lnTo>
                    <a:pt x="245" y="520"/>
                  </a:lnTo>
                  <a:lnTo>
                    <a:pt x="229" y="501"/>
                  </a:lnTo>
                  <a:lnTo>
                    <a:pt x="229" y="460"/>
                  </a:lnTo>
                  <a:lnTo>
                    <a:pt x="213" y="441"/>
                  </a:lnTo>
                  <a:lnTo>
                    <a:pt x="213" y="400"/>
                  </a:lnTo>
                  <a:lnTo>
                    <a:pt x="180" y="360"/>
                  </a:lnTo>
                  <a:lnTo>
                    <a:pt x="164" y="321"/>
                  </a:lnTo>
                  <a:lnTo>
                    <a:pt x="129" y="260"/>
                  </a:lnTo>
                  <a:lnTo>
                    <a:pt x="114" y="240"/>
                  </a:lnTo>
                  <a:lnTo>
                    <a:pt x="81" y="201"/>
                  </a:lnTo>
                  <a:lnTo>
                    <a:pt x="48" y="140"/>
                  </a:lnTo>
                  <a:lnTo>
                    <a:pt x="32" y="100"/>
                  </a:lnTo>
                  <a:lnTo>
                    <a:pt x="0" y="60"/>
                  </a:lnTo>
                  <a:lnTo>
                    <a:pt x="0" y="41"/>
                  </a:lnTo>
                  <a:lnTo>
                    <a:pt x="3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209" name="Freeform 178"/>
            <p:cNvSpPr>
              <a:spLocks/>
            </p:cNvSpPr>
            <p:nvPr/>
          </p:nvSpPr>
          <p:spPr bwMode="auto">
            <a:xfrm>
              <a:off x="1672" y="2641"/>
              <a:ext cx="205" cy="539"/>
            </a:xfrm>
            <a:custGeom>
              <a:avLst/>
              <a:gdLst>
                <a:gd name="T0" fmla="*/ 0 w 411"/>
                <a:gd name="T1" fmla="*/ 0 h 1079"/>
                <a:gd name="T2" fmla="*/ 0 w 411"/>
                <a:gd name="T3" fmla="*/ 0 h 1079"/>
                <a:gd name="T4" fmla="*/ 0 w 411"/>
                <a:gd name="T5" fmla="*/ 0 h 1079"/>
                <a:gd name="T6" fmla="*/ 0 w 411"/>
                <a:gd name="T7" fmla="*/ 0 h 1079"/>
                <a:gd name="T8" fmla="*/ 0 w 411"/>
                <a:gd name="T9" fmla="*/ 0 h 1079"/>
                <a:gd name="T10" fmla="*/ 0 w 411"/>
                <a:gd name="T11" fmla="*/ 0 h 1079"/>
                <a:gd name="T12" fmla="*/ 0 w 411"/>
                <a:gd name="T13" fmla="*/ 0 h 1079"/>
                <a:gd name="T14" fmla="*/ 0 w 411"/>
                <a:gd name="T15" fmla="*/ 1 h 1079"/>
                <a:gd name="T16" fmla="*/ 0 w 411"/>
                <a:gd name="T17" fmla="*/ 1 h 1079"/>
                <a:gd name="T18" fmla="*/ 0 w 411"/>
                <a:gd name="T19" fmla="*/ 1 h 1079"/>
                <a:gd name="T20" fmla="*/ 1 w 411"/>
                <a:gd name="T21" fmla="*/ 1 h 1079"/>
                <a:gd name="T22" fmla="*/ 1 w 411"/>
                <a:gd name="T23" fmla="*/ 1 h 1079"/>
                <a:gd name="T24" fmla="*/ 1 w 411"/>
                <a:gd name="T25" fmla="*/ 2 h 1079"/>
                <a:gd name="T26" fmla="*/ 1 w 411"/>
                <a:gd name="T27" fmla="*/ 2 h 1079"/>
                <a:gd name="T28" fmla="*/ 1 w 411"/>
                <a:gd name="T29" fmla="*/ 2 h 1079"/>
                <a:gd name="T30" fmla="*/ 1 w 411"/>
                <a:gd name="T31" fmla="*/ 3 h 1079"/>
                <a:gd name="T32" fmla="*/ 1 w 411"/>
                <a:gd name="T33" fmla="*/ 3 h 1079"/>
                <a:gd name="T34" fmla="*/ 1 w 411"/>
                <a:gd name="T35" fmla="*/ 3 h 1079"/>
                <a:gd name="T36" fmla="*/ 1 w 411"/>
                <a:gd name="T37" fmla="*/ 4 h 1079"/>
                <a:gd name="T38" fmla="*/ 1 w 411"/>
                <a:gd name="T39" fmla="*/ 4 h 1079"/>
                <a:gd name="T40" fmla="*/ 1 w 411"/>
                <a:gd name="T41" fmla="*/ 4 h 1079"/>
                <a:gd name="T42" fmla="*/ 1 w 411"/>
                <a:gd name="T43" fmla="*/ 3 h 1079"/>
                <a:gd name="T44" fmla="*/ 1 w 411"/>
                <a:gd name="T45" fmla="*/ 3 h 1079"/>
                <a:gd name="T46" fmla="*/ 1 w 411"/>
                <a:gd name="T47" fmla="*/ 3 h 1079"/>
                <a:gd name="T48" fmla="*/ 1 w 411"/>
                <a:gd name="T49" fmla="*/ 2 h 1079"/>
                <a:gd name="T50" fmla="*/ 1 w 411"/>
                <a:gd name="T51" fmla="*/ 2 h 1079"/>
                <a:gd name="T52" fmla="*/ 1 w 411"/>
                <a:gd name="T53" fmla="*/ 2 h 1079"/>
                <a:gd name="T54" fmla="*/ 1 w 411"/>
                <a:gd name="T55" fmla="*/ 2 h 1079"/>
                <a:gd name="T56" fmla="*/ 1 w 411"/>
                <a:gd name="T57" fmla="*/ 2 h 1079"/>
                <a:gd name="T58" fmla="*/ 1 w 411"/>
                <a:gd name="T59" fmla="*/ 2 h 1079"/>
                <a:gd name="T60" fmla="*/ 1 w 411"/>
                <a:gd name="T61" fmla="*/ 2 h 1079"/>
                <a:gd name="T62" fmla="*/ 0 w 411"/>
                <a:gd name="T63" fmla="*/ 2 h 1079"/>
                <a:gd name="T64" fmla="*/ 0 w 411"/>
                <a:gd name="T65" fmla="*/ 1 h 1079"/>
                <a:gd name="T66" fmla="*/ 0 w 411"/>
                <a:gd name="T67" fmla="*/ 1 h 1079"/>
                <a:gd name="T68" fmla="*/ 0 w 411"/>
                <a:gd name="T69" fmla="*/ 1 h 1079"/>
                <a:gd name="T70" fmla="*/ 0 w 411"/>
                <a:gd name="T71" fmla="*/ 1 h 1079"/>
                <a:gd name="T72" fmla="*/ 0 w 411"/>
                <a:gd name="T73" fmla="*/ 1 h 1079"/>
                <a:gd name="T74" fmla="*/ 0 w 411"/>
                <a:gd name="T75" fmla="*/ 1 h 1079"/>
                <a:gd name="T76" fmla="*/ 0 w 411"/>
                <a:gd name="T77" fmla="*/ 1 h 1079"/>
                <a:gd name="T78" fmla="*/ 0 w 411"/>
                <a:gd name="T79" fmla="*/ 1 h 1079"/>
                <a:gd name="T80" fmla="*/ 0 w 411"/>
                <a:gd name="T81" fmla="*/ 0 h 1079"/>
                <a:gd name="T82" fmla="*/ 0 w 411"/>
                <a:gd name="T83" fmla="*/ 0 h 1079"/>
                <a:gd name="T84" fmla="*/ 0 w 411"/>
                <a:gd name="T85" fmla="*/ 0 h 1079"/>
                <a:gd name="T86" fmla="*/ 0 w 411"/>
                <a:gd name="T87" fmla="*/ 0 h 1079"/>
                <a:gd name="T88" fmla="*/ 0 w 411"/>
                <a:gd name="T89" fmla="*/ 0 h 1079"/>
                <a:gd name="T90" fmla="*/ 0 w 411"/>
                <a:gd name="T91" fmla="*/ 0 h 1079"/>
                <a:gd name="T92" fmla="*/ 0 w 411"/>
                <a:gd name="T93" fmla="*/ 0 h 107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411"/>
                <a:gd name="T142" fmla="*/ 0 h 1079"/>
                <a:gd name="T143" fmla="*/ 411 w 411"/>
                <a:gd name="T144" fmla="*/ 1079 h 1079"/>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411" h="1079">
                  <a:moveTo>
                    <a:pt x="32" y="0"/>
                  </a:moveTo>
                  <a:lnTo>
                    <a:pt x="48" y="41"/>
                  </a:lnTo>
                  <a:lnTo>
                    <a:pt x="64" y="81"/>
                  </a:lnTo>
                  <a:lnTo>
                    <a:pt x="97" y="120"/>
                  </a:lnTo>
                  <a:lnTo>
                    <a:pt x="129" y="160"/>
                  </a:lnTo>
                  <a:lnTo>
                    <a:pt x="164" y="201"/>
                  </a:lnTo>
                  <a:lnTo>
                    <a:pt x="196" y="240"/>
                  </a:lnTo>
                  <a:lnTo>
                    <a:pt x="213" y="279"/>
                  </a:lnTo>
                  <a:lnTo>
                    <a:pt x="229" y="300"/>
                  </a:lnTo>
                  <a:lnTo>
                    <a:pt x="245" y="340"/>
                  </a:lnTo>
                  <a:lnTo>
                    <a:pt x="279" y="419"/>
                  </a:lnTo>
                  <a:lnTo>
                    <a:pt x="295" y="480"/>
                  </a:lnTo>
                  <a:lnTo>
                    <a:pt x="311" y="560"/>
                  </a:lnTo>
                  <a:lnTo>
                    <a:pt x="328" y="620"/>
                  </a:lnTo>
                  <a:lnTo>
                    <a:pt x="344" y="720"/>
                  </a:lnTo>
                  <a:lnTo>
                    <a:pt x="359" y="799"/>
                  </a:lnTo>
                  <a:lnTo>
                    <a:pt x="376" y="880"/>
                  </a:lnTo>
                  <a:lnTo>
                    <a:pt x="394" y="979"/>
                  </a:lnTo>
                  <a:lnTo>
                    <a:pt x="411" y="1059"/>
                  </a:lnTo>
                  <a:lnTo>
                    <a:pt x="411" y="1079"/>
                  </a:lnTo>
                  <a:lnTo>
                    <a:pt x="394" y="1059"/>
                  </a:lnTo>
                  <a:lnTo>
                    <a:pt x="376" y="1000"/>
                  </a:lnTo>
                  <a:lnTo>
                    <a:pt x="344" y="919"/>
                  </a:lnTo>
                  <a:lnTo>
                    <a:pt x="311" y="779"/>
                  </a:lnTo>
                  <a:lnTo>
                    <a:pt x="279" y="700"/>
                  </a:lnTo>
                  <a:lnTo>
                    <a:pt x="263" y="620"/>
                  </a:lnTo>
                  <a:lnTo>
                    <a:pt x="263" y="599"/>
                  </a:lnTo>
                  <a:lnTo>
                    <a:pt x="263" y="580"/>
                  </a:lnTo>
                  <a:lnTo>
                    <a:pt x="279" y="560"/>
                  </a:lnTo>
                  <a:lnTo>
                    <a:pt x="263" y="540"/>
                  </a:lnTo>
                  <a:lnTo>
                    <a:pt x="245" y="520"/>
                  </a:lnTo>
                  <a:lnTo>
                    <a:pt x="229" y="501"/>
                  </a:lnTo>
                  <a:lnTo>
                    <a:pt x="229" y="460"/>
                  </a:lnTo>
                  <a:lnTo>
                    <a:pt x="213" y="441"/>
                  </a:lnTo>
                  <a:lnTo>
                    <a:pt x="213" y="400"/>
                  </a:lnTo>
                  <a:lnTo>
                    <a:pt x="180" y="360"/>
                  </a:lnTo>
                  <a:lnTo>
                    <a:pt x="164" y="321"/>
                  </a:lnTo>
                  <a:lnTo>
                    <a:pt x="129" y="260"/>
                  </a:lnTo>
                  <a:lnTo>
                    <a:pt x="114" y="240"/>
                  </a:lnTo>
                  <a:lnTo>
                    <a:pt x="81" y="201"/>
                  </a:lnTo>
                  <a:lnTo>
                    <a:pt x="48" y="140"/>
                  </a:lnTo>
                  <a:lnTo>
                    <a:pt x="32" y="100"/>
                  </a:lnTo>
                  <a:lnTo>
                    <a:pt x="0" y="60"/>
                  </a:lnTo>
                  <a:lnTo>
                    <a:pt x="0" y="41"/>
                  </a:lnTo>
                  <a:lnTo>
                    <a:pt x="32"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210" name="Freeform 179"/>
            <p:cNvSpPr>
              <a:spLocks/>
            </p:cNvSpPr>
            <p:nvPr/>
          </p:nvSpPr>
          <p:spPr bwMode="auto">
            <a:xfrm>
              <a:off x="1664" y="2311"/>
              <a:ext cx="254" cy="310"/>
            </a:xfrm>
            <a:custGeom>
              <a:avLst/>
              <a:gdLst>
                <a:gd name="T0" fmla="*/ 1 w 508"/>
                <a:gd name="T1" fmla="*/ 3 h 618"/>
                <a:gd name="T2" fmla="*/ 1 w 508"/>
                <a:gd name="T3" fmla="*/ 3 h 618"/>
                <a:gd name="T4" fmla="*/ 1 w 508"/>
                <a:gd name="T5" fmla="*/ 2 h 618"/>
                <a:gd name="T6" fmla="*/ 1 w 508"/>
                <a:gd name="T7" fmla="*/ 2 h 618"/>
                <a:gd name="T8" fmla="*/ 1 w 508"/>
                <a:gd name="T9" fmla="*/ 2 h 618"/>
                <a:gd name="T10" fmla="*/ 1 w 508"/>
                <a:gd name="T11" fmla="*/ 1 h 618"/>
                <a:gd name="T12" fmla="*/ 1 w 508"/>
                <a:gd name="T13" fmla="*/ 1 h 618"/>
                <a:gd name="T14" fmla="*/ 1 w 508"/>
                <a:gd name="T15" fmla="*/ 1 h 618"/>
                <a:gd name="T16" fmla="*/ 1 w 508"/>
                <a:gd name="T17" fmla="*/ 1 h 618"/>
                <a:gd name="T18" fmla="*/ 1 w 508"/>
                <a:gd name="T19" fmla="*/ 1 h 618"/>
                <a:gd name="T20" fmla="*/ 2 w 508"/>
                <a:gd name="T21" fmla="*/ 0 h 618"/>
                <a:gd name="T22" fmla="*/ 2 w 508"/>
                <a:gd name="T23" fmla="*/ 1 h 618"/>
                <a:gd name="T24" fmla="*/ 2 w 508"/>
                <a:gd name="T25" fmla="*/ 1 h 618"/>
                <a:gd name="T26" fmla="*/ 2 w 508"/>
                <a:gd name="T27" fmla="*/ 1 h 618"/>
                <a:gd name="T28" fmla="*/ 2 w 508"/>
                <a:gd name="T29" fmla="*/ 1 h 618"/>
                <a:gd name="T30" fmla="*/ 2 w 508"/>
                <a:gd name="T31" fmla="*/ 1 h 618"/>
                <a:gd name="T32" fmla="*/ 2 w 508"/>
                <a:gd name="T33" fmla="*/ 1 h 618"/>
                <a:gd name="T34" fmla="*/ 2 w 508"/>
                <a:gd name="T35" fmla="*/ 1 h 618"/>
                <a:gd name="T36" fmla="*/ 2 w 508"/>
                <a:gd name="T37" fmla="*/ 1 h 618"/>
                <a:gd name="T38" fmla="*/ 2 w 508"/>
                <a:gd name="T39" fmla="*/ 1 h 618"/>
                <a:gd name="T40" fmla="*/ 2 w 508"/>
                <a:gd name="T41" fmla="*/ 2 h 618"/>
                <a:gd name="T42" fmla="*/ 2 w 508"/>
                <a:gd name="T43" fmla="*/ 2 h 618"/>
                <a:gd name="T44" fmla="*/ 2 w 508"/>
                <a:gd name="T45" fmla="*/ 2 h 618"/>
                <a:gd name="T46" fmla="*/ 2 w 508"/>
                <a:gd name="T47" fmla="*/ 2 h 618"/>
                <a:gd name="T48" fmla="*/ 2 w 508"/>
                <a:gd name="T49" fmla="*/ 2 h 618"/>
                <a:gd name="T50" fmla="*/ 2 w 508"/>
                <a:gd name="T51" fmla="*/ 2 h 618"/>
                <a:gd name="T52" fmla="*/ 2 w 508"/>
                <a:gd name="T53" fmla="*/ 2 h 618"/>
                <a:gd name="T54" fmla="*/ 1 w 508"/>
                <a:gd name="T55" fmla="*/ 2 h 618"/>
                <a:gd name="T56" fmla="*/ 1 w 508"/>
                <a:gd name="T57" fmla="*/ 2 h 618"/>
                <a:gd name="T58" fmla="*/ 1 w 508"/>
                <a:gd name="T59" fmla="*/ 2 h 618"/>
                <a:gd name="T60" fmla="*/ 1 w 508"/>
                <a:gd name="T61" fmla="*/ 2 h 618"/>
                <a:gd name="T62" fmla="*/ 1 w 508"/>
                <a:gd name="T63" fmla="*/ 2 h 618"/>
                <a:gd name="T64" fmla="*/ 1 w 508"/>
                <a:gd name="T65" fmla="*/ 2 h 618"/>
                <a:gd name="T66" fmla="*/ 1 w 508"/>
                <a:gd name="T67" fmla="*/ 2 h 618"/>
                <a:gd name="T68" fmla="*/ 1 w 508"/>
                <a:gd name="T69" fmla="*/ 2 h 618"/>
                <a:gd name="T70" fmla="*/ 1 w 508"/>
                <a:gd name="T71" fmla="*/ 3 h 618"/>
                <a:gd name="T72" fmla="*/ 1 w 508"/>
                <a:gd name="T73" fmla="*/ 3 h 618"/>
                <a:gd name="T74" fmla="*/ 1 w 508"/>
                <a:gd name="T75" fmla="*/ 3 h 618"/>
                <a:gd name="T76" fmla="*/ 1 w 508"/>
                <a:gd name="T77" fmla="*/ 3 h 618"/>
                <a:gd name="T78" fmla="*/ 1 w 508"/>
                <a:gd name="T79" fmla="*/ 3 h 618"/>
                <a:gd name="T80" fmla="*/ 1 w 508"/>
                <a:gd name="T81" fmla="*/ 3 h 61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08"/>
                <a:gd name="T124" fmla="*/ 0 h 618"/>
                <a:gd name="T125" fmla="*/ 508 w 508"/>
                <a:gd name="T126" fmla="*/ 618 h 61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08" h="618">
                  <a:moveTo>
                    <a:pt x="66" y="600"/>
                  </a:moveTo>
                  <a:lnTo>
                    <a:pt x="66" y="579"/>
                  </a:lnTo>
                  <a:lnTo>
                    <a:pt x="50" y="560"/>
                  </a:lnTo>
                  <a:lnTo>
                    <a:pt x="50" y="539"/>
                  </a:lnTo>
                  <a:lnTo>
                    <a:pt x="32" y="479"/>
                  </a:lnTo>
                  <a:lnTo>
                    <a:pt x="17" y="440"/>
                  </a:lnTo>
                  <a:lnTo>
                    <a:pt x="17" y="399"/>
                  </a:lnTo>
                  <a:lnTo>
                    <a:pt x="0" y="320"/>
                  </a:lnTo>
                  <a:lnTo>
                    <a:pt x="17" y="259"/>
                  </a:lnTo>
                  <a:lnTo>
                    <a:pt x="17" y="200"/>
                  </a:lnTo>
                  <a:lnTo>
                    <a:pt x="32" y="159"/>
                  </a:lnTo>
                  <a:lnTo>
                    <a:pt x="66" y="120"/>
                  </a:lnTo>
                  <a:lnTo>
                    <a:pt x="82" y="79"/>
                  </a:lnTo>
                  <a:lnTo>
                    <a:pt x="98" y="79"/>
                  </a:lnTo>
                  <a:lnTo>
                    <a:pt x="114" y="61"/>
                  </a:lnTo>
                  <a:lnTo>
                    <a:pt x="147" y="40"/>
                  </a:lnTo>
                  <a:lnTo>
                    <a:pt x="163" y="40"/>
                  </a:lnTo>
                  <a:lnTo>
                    <a:pt x="181" y="21"/>
                  </a:lnTo>
                  <a:lnTo>
                    <a:pt x="230" y="21"/>
                  </a:lnTo>
                  <a:lnTo>
                    <a:pt x="262" y="21"/>
                  </a:lnTo>
                  <a:lnTo>
                    <a:pt x="280" y="0"/>
                  </a:lnTo>
                  <a:lnTo>
                    <a:pt x="297" y="0"/>
                  </a:lnTo>
                  <a:lnTo>
                    <a:pt x="328" y="21"/>
                  </a:lnTo>
                  <a:lnTo>
                    <a:pt x="377" y="40"/>
                  </a:lnTo>
                  <a:lnTo>
                    <a:pt x="411" y="61"/>
                  </a:lnTo>
                  <a:lnTo>
                    <a:pt x="443" y="79"/>
                  </a:lnTo>
                  <a:lnTo>
                    <a:pt x="460" y="100"/>
                  </a:lnTo>
                  <a:lnTo>
                    <a:pt x="492" y="120"/>
                  </a:lnTo>
                  <a:lnTo>
                    <a:pt x="508" y="140"/>
                  </a:lnTo>
                  <a:lnTo>
                    <a:pt x="508" y="159"/>
                  </a:lnTo>
                  <a:lnTo>
                    <a:pt x="492" y="181"/>
                  </a:lnTo>
                  <a:lnTo>
                    <a:pt x="477" y="181"/>
                  </a:lnTo>
                  <a:lnTo>
                    <a:pt x="443" y="219"/>
                  </a:lnTo>
                  <a:lnTo>
                    <a:pt x="428" y="219"/>
                  </a:lnTo>
                  <a:lnTo>
                    <a:pt x="411" y="240"/>
                  </a:lnTo>
                  <a:lnTo>
                    <a:pt x="393" y="240"/>
                  </a:lnTo>
                  <a:lnTo>
                    <a:pt x="377" y="240"/>
                  </a:lnTo>
                  <a:lnTo>
                    <a:pt x="345" y="259"/>
                  </a:lnTo>
                  <a:lnTo>
                    <a:pt x="345" y="240"/>
                  </a:lnTo>
                  <a:lnTo>
                    <a:pt x="328" y="259"/>
                  </a:lnTo>
                  <a:lnTo>
                    <a:pt x="312" y="280"/>
                  </a:lnTo>
                  <a:lnTo>
                    <a:pt x="297" y="300"/>
                  </a:lnTo>
                  <a:lnTo>
                    <a:pt x="297" y="320"/>
                  </a:lnTo>
                  <a:lnTo>
                    <a:pt x="280" y="320"/>
                  </a:lnTo>
                  <a:lnTo>
                    <a:pt x="297" y="360"/>
                  </a:lnTo>
                  <a:lnTo>
                    <a:pt x="297" y="380"/>
                  </a:lnTo>
                  <a:lnTo>
                    <a:pt x="312" y="399"/>
                  </a:lnTo>
                  <a:lnTo>
                    <a:pt x="297" y="420"/>
                  </a:lnTo>
                  <a:lnTo>
                    <a:pt x="280" y="440"/>
                  </a:lnTo>
                  <a:lnTo>
                    <a:pt x="246" y="440"/>
                  </a:lnTo>
                  <a:lnTo>
                    <a:pt x="246" y="420"/>
                  </a:lnTo>
                  <a:lnTo>
                    <a:pt x="230" y="399"/>
                  </a:lnTo>
                  <a:lnTo>
                    <a:pt x="213" y="399"/>
                  </a:lnTo>
                  <a:lnTo>
                    <a:pt x="213" y="380"/>
                  </a:lnTo>
                  <a:lnTo>
                    <a:pt x="198" y="399"/>
                  </a:lnTo>
                  <a:lnTo>
                    <a:pt x="181" y="399"/>
                  </a:lnTo>
                  <a:lnTo>
                    <a:pt x="163" y="420"/>
                  </a:lnTo>
                  <a:lnTo>
                    <a:pt x="163" y="440"/>
                  </a:lnTo>
                  <a:lnTo>
                    <a:pt x="163" y="459"/>
                  </a:lnTo>
                  <a:lnTo>
                    <a:pt x="163" y="479"/>
                  </a:lnTo>
                  <a:lnTo>
                    <a:pt x="163" y="499"/>
                  </a:lnTo>
                  <a:lnTo>
                    <a:pt x="181" y="518"/>
                  </a:lnTo>
                  <a:lnTo>
                    <a:pt x="181" y="539"/>
                  </a:lnTo>
                  <a:lnTo>
                    <a:pt x="198" y="539"/>
                  </a:lnTo>
                  <a:lnTo>
                    <a:pt x="198" y="560"/>
                  </a:lnTo>
                  <a:lnTo>
                    <a:pt x="181" y="579"/>
                  </a:lnTo>
                  <a:lnTo>
                    <a:pt x="181" y="618"/>
                  </a:lnTo>
                  <a:lnTo>
                    <a:pt x="66" y="6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211" name="Freeform 180"/>
            <p:cNvSpPr>
              <a:spLocks/>
            </p:cNvSpPr>
            <p:nvPr/>
          </p:nvSpPr>
          <p:spPr bwMode="auto">
            <a:xfrm>
              <a:off x="1664" y="2311"/>
              <a:ext cx="254" cy="310"/>
            </a:xfrm>
            <a:custGeom>
              <a:avLst/>
              <a:gdLst>
                <a:gd name="T0" fmla="*/ 1 w 508"/>
                <a:gd name="T1" fmla="*/ 3 h 618"/>
                <a:gd name="T2" fmla="*/ 1 w 508"/>
                <a:gd name="T3" fmla="*/ 3 h 618"/>
                <a:gd name="T4" fmla="*/ 1 w 508"/>
                <a:gd name="T5" fmla="*/ 2 h 618"/>
                <a:gd name="T6" fmla="*/ 1 w 508"/>
                <a:gd name="T7" fmla="*/ 2 h 618"/>
                <a:gd name="T8" fmla="*/ 1 w 508"/>
                <a:gd name="T9" fmla="*/ 2 h 618"/>
                <a:gd name="T10" fmla="*/ 1 w 508"/>
                <a:gd name="T11" fmla="*/ 1 h 618"/>
                <a:gd name="T12" fmla="*/ 1 w 508"/>
                <a:gd name="T13" fmla="*/ 1 h 618"/>
                <a:gd name="T14" fmla="*/ 1 w 508"/>
                <a:gd name="T15" fmla="*/ 1 h 618"/>
                <a:gd name="T16" fmla="*/ 1 w 508"/>
                <a:gd name="T17" fmla="*/ 1 h 618"/>
                <a:gd name="T18" fmla="*/ 1 w 508"/>
                <a:gd name="T19" fmla="*/ 1 h 618"/>
                <a:gd name="T20" fmla="*/ 2 w 508"/>
                <a:gd name="T21" fmla="*/ 0 h 618"/>
                <a:gd name="T22" fmla="*/ 2 w 508"/>
                <a:gd name="T23" fmla="*/ 1 h 618"/>
                <a:gd name="T24" fmla="*/ 2 w 508"/>
                <a:gd name="T25" fmla="*/ 1 h 618"/>
                <a:gd name="T26" fmla="*/ 2 w 508"/>
                <a:gd name="T27" fmla="*/ 1 h 618"/>
                <a:gd name="T28" fmla="*/ 2 w 508"/>
                <a:gd name="T29" fmla="*/ 1 h 618"/>
                <a:gd name="T30" fmla="*/ 2 w 508"/>
                <a:gd name="T31" fmla="*/ 1 h 618"/>
                <a:gd name="T32" fmla="*/ 2 w 508"/>
                <a:gd name="T33" fmla="*/ 1 h 618"/>
                <a:gd name="T34" fmla="*/ 2 w 508"/>
                <a:gd name="T35" fmla="*/ 1 h 618"/>
                <a:gd name="T36" fmla="*/ 2 w 508"/>
                <a:gd name="T37" fmla="*/ 1 h 618"/>
                <a:gd name="T38" fmla="*/ 2 w 508"/>
                <a:gd name="T39" fmla="*/ 1 h 618"/>
                <a:gd name="T40" fmla="*/ 2 w 508"/>
                <a:gd name="T41" fmla="*/ 2 h 618"/>
                <a:gd name="T42" fmla="*/ 2 w 508"/>
                <a:gd name="T43" fmla="*/ 2 h 618"/>
                <a:gd name="T44" fmla="*/ 2 w 508"/>
                <a:gd name="T45" fmla="*/ 2 h 618"/>
                <a:gd name="T46" fmla="*/ 2 w 508"/>
                <a:gd name="T47" fmla="*/ 2 h 618"/>
                <a:gd name="T48" fmla="*/ 2 w 508"/>
                <a:gd name="T49" fmla="*/ 2 h 618"/>
                <a:gd name="T50" fmla="*/ 2 w 508"/>
                <a:gd name="T51" fmla="*/ 2 h 618"/>
                <a:gd name="T52" fmla="*/ 2 w 508"/>
                <a:gd name="T53" fmla="*/ 2 h 618"/>
                <a:gd name="T54" fmla="*/ 1 w 508"/>
                <a:gd name="T55" fmla="*/ 2 h 618"/>
                <a:gd name="T56" fmla="*/ 1 w 508"/>
                <a:gd name="T57" fmla="*/ 2 h 618"/>
                <a:gd name="T58" fmla="*/ 1 w 508"/>
                <a:gd name="T59" fmla="*/ 2 h 618"/>
                <a:gd name="T60" fmla="*/ 1 w 508"/>
                <a:gd name="T61" fmla="*/ 2 h 618"/>
                <a:gd name="T62" fmla="*/ 1 w 508"/>
                <a:gd name="T63" fmla="*/ 2 h 618"/>
                <a:gd name="T64" fmla="*/ 1 w 508"/>
                <a:gd name="T65" fmla="*/ 2 h 618"/>
                <a:gd name="T66" fmla="*/ 1 w 508"/>
                <a:gd name="T67" fmla="*/ 2 h 618"/>
                <a:gd name="T68" fmla="*/ 1 w 508"/>
                <a:gd name="T69" fmla="*/ 2 h 618"/>
                <a:gd name="T70" fmla="*/ 1 w 508"/>
                <a:gd name="T71" fmla="*/ 3 h 618"/>
                <a:gd name="T72" fmla="*/ 1 w 508"/>
                <a:gd name="T73" fmla="*/ 3 h 618"/>
                <a:gd name="T74" fmla="*/ 1 w 508"/>
                <a:gd name="T75" fmla="*/ 3 h 618"/>
                <a:gd name="T76" fmla="*/ 1 w 508"/>
                <a:gd name="T77" fmla="*/ 3 h 618"/>
                <a:gd name="T78" fmla="*/ 1 w 508"/>
                <a:gd name="T79" fmla="*/ 3 h 618"/>
                <a:gd name="T80" fmla="*/ 1 w 508"/>
                <a:gd name="T81" fmla="*/ 3 h 61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508"/>
                <a:gd name="T124" fmla="*/ 0 h 618"/>
                <a:gd name="T125" fmla="*/ 508 w 508"/>
                <a:gd name="T126" fmla="*/ 618 h 61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508" h="618">
                  <a:moveTo>
                    <a:pt x="66" y="600"/>
                  </a:moveTo>
                  <a:lnTo>
                    <a:pt x="66" y="579"/>
                  </a:lnTo>
                  <a:lnTo>
                    <a:pt x="50" y="560"/>
                  </a:lnTo>
                  <a:lnTo>
                    <a:pt x="50" y="539"/>
                  </a:lnTo>
                  <a:lnTo>
                    <a:pt x="32" y="479"/>
                  </a:lnTo>
                  <a:lnTo>
                    <a:pt x="17" y="440"/>
                  </a:lnTo>
                  <a:lnTo>
                    <a:pt x="17" y="399"/>
                  </a:lnTo>
                  <a:lnTo>
                    <a:pt x="0" y="320"/>
                  </a:lnTo>
                  <a:lnTo>
                    <a:pt x="17" y="259"/>
                  </a:lnTo>
                  <a:lnTo>
                    <a:pt x="17" y="200"/>
                  </a:lnTo>
                  <a:lnTo>
                    <a:pt x="32" y="159"/>
                  </a:lnTo>
                  <a:lnTo>
                    <a:pt x="66" y="120"/>
                  </a:lnTo>
                  <a:lnTo>
                    <a:pt x="82" y="79"/>
                  </a:lnTo>
                  <a:lnTo>
                    <a:pt x="98" y="79"/>
                  </a:lnTo>
                  <a:lnTo>
                    <a:pt x="114" y="61"/>
                  </a:lnTo>
                  <a:lnTo>
                    <a:pt x="147" y="40"/>
                  </a:lnTo>
                  <a:lnTo>
                    <a:pt x="163" y="40"/>
                  </a:lnTo>
                  <a:lnTo>
                    <a:pt x="181" y="21"/>
                  </a:lnTo>
                  <a:lnTo>
                    <a:pt x="230" y="21"/>
                  </a:lnTo>
                  <a:lnTo>
                    <a:pt x="262" y="21"/>
                  </a:lnTo>
                  <a:lnTo>
                    <a:pt x="280" y="0"/>
                  </a:lnTo>
                  <a:lnTo>
                    <a:pt x="297" y="0"/>
                  </a:lnTo>
                  <a:lnTo>
                    <a:pt x="328" y="21"/>
                  </a:lnTo>
                  <a:lnTo>
                    <a:pt x="377" y="40"/>
                  </a:lnTo>
                  <a:lnTo>
                    <a:pt x="411" y="61"/>
                  </a:lnTo>
                  <a:lnTo>
                    <a:pt x="443" y="79"/>
                  </a:lnTo>
                  <a:lnTo>
                    <a:pt x="460" y="100"/>
                  </a:lnTo>
                  <a:lnTo>
                    <a:pt x="492" y="120"/>
                  </a:lnTo>
                  <a:lnTo>
                    <a:pt x="508" y="140"/>
                  </a:lnTo>
                  <a:lnTo>
                    <a:pt x="508" y="159"/>
                  </a:lnTo>
                  <a:lnTo>
                    <a:pt x="492" y="181"/>
                  </a:lnTo>
                  <a:lnTo>
                    <a:pt x="477" y="181"/>
                  </a:lnTo>
                  <a:lnTo>
                    <a:pt x="443" y="219"/>
                  </a:lnTo>
                  <a:lnTo>
                    <a:pt x="428" y="219"/>
                  </a:lnTo>
                  <a:lnTo>
                    <a:pt x="411" y="240"/>
                  </a:lnTo>
                  <a:lnTo>
                    <a:pt x="393" y="240"/>
                  </a:lnTo>
                  <a:lnTo>
                    <a:pt x="377" y="240"/>
                  </a:lnTo>
                  <a:lnTo>
                    <a:pt x="345" y="259"/>
                  </a:lnTo>
                  <a:lnTo>
                    <a:pt x="345" y="240"/>
                  </a:lnTo>
                  <a:lnTo>
                    <a:pt x="328" y="259"/>
                  </a:lnTo>
                  <a:lnTo>
                    <a:pt x="312" y="280"/>
                  </a:lnTo>
                  <a:lnTo>
                    <a:pt x="297" y="300"/>
                  </a:lnTo>
                  <a:lnTo>
                    <a:pt x="297" y="320"/>
                  </a:lnTo>
                  <a:lnTo>
                    <a:pt x="280" y="320"/>
                  </a:lnTo>
                  <a:lnTo>
                    <a:pt x="297" y="360"/>
                  </a:lnTo>
                  <a:lnTo>
                    <a:pt x="297" y="380"/>
                  </a:lnTo>
                  <a:lnTo>
                    <a:pt x="312" y="399"/>
                  </a:lnTo>
                  <a:lnTo>
                    <a:pt x="297" y="420"/>
                  </a:lnTo>
                  <a:lnTo>
                    <a:pt x="280" y="440"/>
                  </a:lnTo>
                  <a:lnTo>
                    <a:pt x="246" y="440"/>
                  </a:lnTo>
                  <a:lnTo>
                    <a:pt x="246" y="420"/>
                  </a:lnTo>
                  <a:lnTo>
                    <a:pt x="230" y="399"/>
                  </a:lnTo>
                  <a:lnTo>
                    <a:pt x="213" y="399"/>
                  </a:lnTo>
                  <a:lnTo>
                    <a:pt x="213" y="380"/>
                  </a:lnTo>
                  <a:lnTo>
                    <a:pt x="198" y="399"/>
                  </a:lnTo>
                  <a:lnTo>
                    <a:pt x="181" y="399"/>
                  </a:lnTo>
                  <a:lnTo>
                    <a:pt x="163" y="420"/>
                  </a:lnTo>
                  <a:lnTo>
                    <a:pt x="163" y="440"/>
                  </a:lnTo>
                  <a:lnTo>
                    <a:pt x="163" y="459"/>
                  </a:lnTo>
                  <a:lnTo>
                    <a:pt x="163" y="479"/>
                  </a:lnTo>
                  <a:lnTo>
                    <a:pt x="163" y="499"/>
                  </a:lnTo>
                  <a:lnTo>
                    <a:pt x="181" y="518"/>
                  </a:lnTo>
                  <a:lnTo>
                    <a:pt x="181" y="539"/>
                  </a:lnTo>
                  <a:lnTo>
                    <a:pt x="198" y="539"/>
                  </a:lnTo>
                  <a:lnTo>
                    <a:pt x="198" y="560"/>
                  </a:lnTo>
                  <a:lnTo>
                    <a:pt x="181" y="579"/>
                  </a:lnTo>
                  <a:lnTo>
                    <a:pt x="181" y="618"/>
                  </a:lnTo>
                  <a:lnTo>
                    <a:pt x="66" y="60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212" name="Freeform 181"/>
            <p:cNvSpPr>
              <a:spLocks/>
            </p:cNvSpPr>
            <p:nvPr/>
          </p:nvSpPr>
          <p:spPr bwMode="auto">
            <a:xfrm>
              <a:off x="1557" y="2641"/>
              <a:ext cx="345" cy="669"/>
            </a:xfrm>
            <a:custGeom>
              <a:avLst/>
              <a:gdLst>
                <a:gd name="T0" fmla="*/ 0 w 691"/>
                <a:gd name="T1" fmla="*/ 0 h 1339"/>
                <a:gd name="T2" fmla="*/ 0 w 691"/>
                <a:gd name="T3" fmla="*/ 0 h 1339"/>
                <a:gd name="T4" fmla="*/ 0 w 691"/>
                <a:gd name="T5" fmla="*/ 0 h 1339"/>
                <a:gd name="T6" fmla="*/ 0 w 691"/>
                <a:gd name="T7" fmla="*/ 0 h 1339"/>
                <a:gd name="T8" fmla="*/ 0 w 691"/>
                <a:gd name="T9" fmla="*/ 0 h 1339"/>
                <a:gd name="T10" fmla="*/ 0 w 691"/>
                <a:gd name="T11" fmla="*/ 0 h 1339"/>
                <a:gd name="T12" fmla="*/ 0 w 691"/>
                <a:gd name="T13" fmla="*/ 0 h 1339"/>
                <a:gd name="T14" fmla="*/ 0 w 691"/>
                <a:gd name="T15" fmla="*/ 1 h 1339"/>
                <a:gd name="T16" fmla="*/ 0 w 691"/>
                <a:gd name="T17" fmla="*/ 1 h 1339"/>
                <a:gd name="T18" fmla="*/ 0 w 691"/>
                <a:gd name="T19" fmla="*/ 1 h 1339"/>
                <a:gd name="T20" fmla="*/ 0 w 691"/>
                <a:gd name="T21" fmla="*/ 2 h 1339"/>
                <a:gd name="T22" fmla="*/ 0 w 691"/>
                <a:gd name="T23" fmla="*/ 2 h 1339"/>
                <a:gd name="T24" fmla="*/ 0 w 691"/>
                <a:gd name="T25" fmla="*/ 2 h 1339"/>
                <a:gd name="T26" fmla="*/ 0 w 691"/>
                <a:gd name="T27" fmla="*/ 3 h 1339"/>
                <a:gd name="T28" fmla="*/ 0 w 691"/>
                <a:gd name="T29" fmla="*/ 3 h 1339"/>
                <a:gd name="T30" fmla="*/ 0 w 691"/>
                <a:gd name="T31" fmla="*/ 4 h 1339"/>
                <a:gd name="T32" fmla="*/ 0 w 691"/>
                <a:gd name="T33" fmla="*/ 4 h 1339"/>
                <a:gd name="T34" fmla="*/ 0 w 691"/>
                <a:gd name="T35" fmla="*/ 4 h 1339"/>
                <a:gd name="T36" fmla="*/ 0 w 691"/>
                <a:gd name="T37" fmla="*/ 5 h 1339"/>
                <a:gd name="T38" fmla="*/ 0 w 691"/>
                <a:gd name="T39" fmla="*/ 5 h 1339"/>
                <a:gd name="T40" fmla="*/ 0 w 691"/>
                <a:gd name="T41" fmla="*/ 5 h 1339"/>
                <a:gd name="T42" fmla="*/ 0 w 691"/>
                <a:gd name="T43" fmla="*/ 5 h 1339"/>
                <a:gd name="T44" fmla="*/ 1 w 691"/>
                <a:gd name="T45" fmla="*/ 5 h 1339"/>
                <a:gd name="T46" fmla="*/ 1 w 691"/>
                <a:gd name="T47" fmla="*/ 5 h 1339"/>
                <a:gd name="T48" fmla="*/ 2 w 691"/>
                <a:gd name="T49" fmla="*/ 5 h 1339"/>
                <a:gd name="T50" fmla="*/ 2 w 691"/>
                <a:gd name="T51" fmla="*/ 5 h 1339"/>
                <a:gd name="T52" fmla="*/ 2 w 691"/>
                <a:gd name="T53" fmla="*/ 5 h 1339"/>
                <a:gd name="T54" fmla="*/ 2 w 691"/>
                <a:gd name="T55" fmla="*/ 5 h 1339"/>
                <a:gd name="T56" fmla="*/ 2 w 691"/>
                <a:gd name="T57" fmla="*/ 5 h 1339"/>
                <a:gd name="T58" fmla="*/ 2 w 691"/>
                <a:gd name="T59" fmla="*/ 4 h 1339"/>
                <a:gd name="T60" fmla="*/ 2 w 691"/>
                <a:gd name="T61" fmla="*/ 4 h 1339"/>
                <a:gd name="T62" fmla="*/ 2 w 691"/>
                <a:gd name="T63" fmla="*/ 4 h 1339"/>
                <a:gd name="T64" fmla="*/ 2 w 691"/>
                <a:gd name="T65" fmla="*/ 3 h 1339"/>
                <a:gd name="T66" fmla="*/ 2 w 691"/>
                <a:gd name="T67" fmla="*/ 1 h 1339"/>
                <a:gd name="T68" fmla="*/ 1 w 691"/>
                <a:gd name="T69" fmla="*/ 0 h 1339"/>
                <a:gd name="T70" fmla="*/ 1 w 691"/>
                <a:gd name="T71" fmla="*/ 0 h 133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91"/>
                <a:gd name="T109" fmla="*/ 0 h 1339"/>
                <a:gd name="T110" fmla="*/ 691 w 691"/>
                <a:gd name="T111" fmla="*/ 1339 h 133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91" h="1339">
                  <a:moveTo>
                    <a:pt x="263" y="0"/>
                  </a:moveTo>
                  <a:lnTo>
                    <a:pt x="246" y="0"/>
                  </a:lnTo>
                  <a:lnTo>
                    <a:pt x="231" y="21"/>
                  </a:lnTo>
                  <a:lnTo>
                    <a:pt x="214" y="21"/>
                  </a:lnTo>
                  <a:lnTo>
                    <a:pt x="181" y="41"/>
                  </a:lnTo>
                  <a:lnTo>
                    <a:pt x="166" y="60"/>
                  </a:lnTo>
                  <a:lnTo>
                    <a:pt x="166" y="81"/>
                  </a:lnTo>
                  <a:lnTo>
                    <a:pt x="149" y="100"/>
                  </a:lnTo>
                  <a:lnTo>
                    <a:pt x="130" y="120"/>
                  </a:lnTo>
                  <a:lnTo>
                    <a:pt x="130" y="140"/>
                  </a:lnTo>
                  <a:lnTo>
                    <a:pt x="117" y="160"/>
                  </a:lnTo>
                  <a:lnTo>
                    <a:pt x="99" y="181"/>
                  </a:lnTo>
                  <a:lnTo>
                    <a:pt x="82" y="220"/>
                  </a:lnTo>
                  <a:lnTo>
                    <a:pt x="82" y="240"/>
                  </a:lnTo>
                  <a:lnTo>
                    <a:pt x="65" y="279"/>
                  </a:lnTo>
                  <a:lnTo>
                    <a:pt x="50" y="300"/>
                  </a:lnTo>
                  <a:lnTo>
                    <a:pt x="50" y="321"/>
                  </a:lnTo>
                  <a:lnTo>
                    <a:pt x="33" y="380"/>
                  </a:lnTo>
                  <a:lnTo>
                    <a:pt x="17" y="419"/>
                  </a:lnTo>
                  <a:lnTo>
                    <a:pt x="17" y="460"/>
                  </a:lnTo>
                  <a:lnTo>
                    <a:pt x="0" y="520"/>
                  </a:lnTo>
                  <a:lnTo>
                    <a:pt x="0" y="560"/>
                  </a:lnTo>
                  <a:lnTo>
                    <a:pt x="0" y="599"/>
                  </a:lnTo>
                  <a:lnTo>
                    <a:pt x="0" y="639"/>
                  </a:lnTo>
                  <a:lnTo>
                    <a:pt x="0" y="700"/>
                  </a:lnTo>
                  <a:lnTo>
                    <a:pt x="17" y="760"/>
                  </a:lnTo>
                  <a:lnTo>
                    <a:pt x="17" y="799"/>
                  </a:lnTo>
                  <a:lnTo>
                    <a:pt x="17" y="860"/>
                  </a:lnTo>
                  <a:lnTo>
                    <a:pt x="17" y="919"/>
                  </a:lnTo>
                  <a:lnTo>
                    <a:pt x="33" y="979"/>
                  </a:lnTo>
                  <a:lnTo>
                    <a:pt x="33" y="1019"/>
                  </a:lnTo>
                  <a:lnTo>
                    <a:pt x="33" y="1040"/>
                  </a:lnTo>
                  <a:lnTo>
                    <a:pt x="33" y="1100"/>
                  </a:lnTo>
                  <a:lnTo>
                    <a:pt x="33" y="1119"/>
                  </a:lnTo>
                  <a:lnTo>
                    <a:pt x="50" y="1180"/>
                  </a:lnTo>
                  <a:lnTo>
                    <a:pt x="50" y="1219"/>
                  </a:lnTo>
                  <a:lnTo>
                    <a:pt x="65" y="1260"/>
                  </a:lnTo>
                  <a:lnTo>
                    <a:pt x="82" y="1280"/>
                  </a:lnTo>
                  <a:lnTo>
                    <a:pt x="82" y="1299"/>
                  </a:lnTo>
                  <a:lnTo>
                    <a:pt x="117" y="1319"/>
                  </a:lnTo>
                  <a:lnTo>
                    <a:pt x="149" y="1339"/>
                  </a:lnTo>
                  <a:lnTo>
                    <a:pt x="181" y="1339"/>
                  </a:lnTo>
                  <a:lnTo>
                    <a:pt x="214" y="1339"/>
                  </a:lnTo>
                  <a:lnTo>
                    <a:pt x="246" y="1339"/>
                  </a:lnTo>
                  <a:lnTo>
                    <a:pt x="295" y="1339"/>
                  </a:lnTo>
                  <a:lnTo>
                    <a:pt x="328" y="1339"/>
                  </a:lnTo>
                  <a:lnTo>
                    <a:pt x="377" y="1339"/>
                  </a:lnTo>
                  <a:lnTo>
                    <a:pt x="427" y="1339"/>
                  </a:lnTo>
                  <a:lnTo>
                    <a:pt x="494" y="1339"/>
                  </a:lnTo>
                  <a:lnTo>
                    <a:pt x="542" y="1339"/>
                  </a:lnTo>
                  <a:lnTo>
                    <a:pt x="575" y="1339"/>
                  </a:lnTo>
                  <a:lnTo>
                    <a:pt x="607" y="1339"/>
                  </a:lnTo>
                  <a:lnTo>
                    <a:pt x="642" y="1319"/>
                  </a:lnTo>
                  <a:lnTo>
                    <a:pt x="657" y="1319"/>
                  </a:lnTo>
                  <a:lnTo>
                    <a:pt x="657" y="1299"/>
                  </a:lnTo>
                  <a:lnTo>
                    <a:pt x="657" y="1280"/>
                  </a:lnTo>
                  <a:lnTo>
                    <a:pt x="657" y="1219"/>
                  </a:lnTo>
                  <a:lnTo>
                    <a:pt x="657" y="1180"/>
                  </a:lnTo>
                  <a:lnTo>
                    <a:pt x="673" y="1140"/>
                  </a:lnTo>
                  <a:lnTo>
                    <a:pt x="673" y="1100"/>
                  </a:lnTo>
                  <a:lnTo>
                    <a:pt x="691" y="1040"/>
                  </a:lnTo>
                  <a:lnTo>
                    <a:pt x="657" y="1040"/>
                  </a:lnTo>
                  <a:lnTo>
                    <a:pt x="607" y="799"/>
                  </a:lnTo>
                  <a:lnTo>
                    <a:pt x="559" y="580"/>
                  </a:lnTo>
                  <a:lnTo>
                    <a:pt x="542" y="460"/>
                  </a:lnTo>
                  <a:lnTo>
                    <a:pt x="476" y="300"/>
                  </a:lnTo>
                  <a:lnTo>
                    <a:pt x="395" y="201"/>
                  </a:lnTo>
                  <a:lnTo>
                    <a:pt x="328" y="81"/>
                  </a:lnTo>
                  <a:lnTo>
                    <a:pt x="295" y="41"/>
                  </a:lnTo>
                  <a:lnTo>
                    <a:pt x="26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213" name="Freeform 182"/>
            <p:cNvSpPr>
              <a:spLocks/>
            </p:cNvSpPr>
            <p:nvPr/>
          </p:nvSpPr>
          <p:spPr bwMode="auto">
            <a:xfrm>
              <a:off x="1557" y="2641"/>
              <a:ext cx="345" cy="669"/>
            </a:xfrm>
            <a:custGeom>
              <a:avLst/>
              <a:gdLst>
                <a:gd name="T0" fmla="*/ 0 w 691"/>
                <a:gd name="T1" fmla="*/ 0 h 1339"/>
                <a:gd name="T2" fmla="*/ 0 w 691"/>
                <a:gd name="T3" fmla="*/ 0 h 1339"/>
                <a:gd name="T4" fmla="*/ 0 w 691"/>
                <a:gd name="T5" fmla="*/ 0 h 1339"/>
                <a:gd name="T6" fmla="*/ 0 w 691"/>
                <a:gd name="T7" fmla="*/ 0 h 1339"/>
                <a:gd name="T8" fmla="*/ 0 w 691"/>
                <a:gd name="T9" fmla="*/ 0 h 1339"/>
                <a:gd name="T10" fmla="*/ 0 w 691"/>
                <a:gd name="T11" fmla="*/ 0 h 1339"/>
                <a:gd name="T12" fmla="*/ 0 w 691"/>
                <a:gd name="T13" fmla="*/ 0 h 1339"/>
                <a:gd name="T14" fmla="*/ 0 w 691"/>
                <a:gd name="T15" fmla="*/ 1 h 1339"/>
                <a:gd name="T16" fmla="*/ 0 w 691"/>
                <a:gd name="T17" fmla="*/ 1 h 1339"/>
                <a:gd name="T18" fmla="*/ 0 w 691"/>
                <a:gd name="T19" fmla="*/ 1 h 1339"/>
                <a:gd name="T20" fmla="*/ 0 w 691"/>
                <a:gd name="T21" fmla="*/ 2 h 1339"/>
                <a:gd name="T22" fmla="*/ 0 w 691"/>
                <a:gd name="T23" fmla="*/ 2 h 1339"/>
                <a:gd name="T24" fmla="*/ 0 w 691"/>
                <a:gd name="T25" fmla="*/ 2 h 1339"/>
                <a:gd name="T26" fmla="*/ 0 w 691"/>
                <a:gd name="T27" fmla="*/ 3 h 1339"/>
                <a:gd name="T28" fmla="*/ 0 w 691"/>
                <a:gd name="T29" fmla="*/ 3 h 1339"/>
                <a:gd name="T30" fmla="*/ 0 w 691"/>
                <a:gd name="T31" fmla="*/ 4 h 1339"/>
                <a:gd name="T32" fmla="*/ 0 w 691"/>
                <a:gd name="T33" fmla="*/ 4 h 1339"/>
                <a:gd name="T34" fmla="*/ 0 w 691"/>
                <a:gd name="T35" fmla="*/ 4 h 1339"/>
                <a:gd name="T36" fmla="*/ 0 w 691"/>
                <a:gd name="T37" fmla="*/ 5 h 1339"/>
                <a:gd name="T38" fmla="*/ 0 w 691"/>
                <a:gd name="T39" fmla="*/ 5 h 1339"/>
                <a:gd name="T40" fmla="*/ 0 w 691"/>
                <a:gd name="T41" fmla="*/ 5 h 1339"/>
                <a:gd name="T42" fmla="*/ 0 w 691"/>
                <a:gd name="T43" fmla="*/ 5 h 1339"/>
                <a:gd name="T44" fmla="*/ 1 w 691"/>
                <a:gd name="T45" fmla="*/ 5 h 1339"/>
                <a:gd name="T46" fmla="*/ 1 w 691"/>
                <a:gd name="T47" fmla="*/ 5 h 1339"/>
                <a:gd name="T48" fmla="*/ 2 w 691"/>
                <a:gd name="T49" fmla="*/ 5 h 1339"/>
                <a:gd name="T50" fmla="*/ 2 w 691"/>
                <a:gd name="T51" fmla="*/ 5 h 1339"/>
                <a:gd name="T52" fmla="*/ 2 w 691"/>
                <a:gd name="T53" fmla="*/ 5 h 1339"/>
                <a:gd name="T54" fmla="*/ 2 w 691"/>
                <a:gd name="T55" fmla="*/ 5 h 1339"/>
                <a:gd name="T56" fmla="*/ 2 w 691"/>
                <a:gd name="T57" fmla="*/ 5 h 1339"/>
                <a:gd name="T58" fmla="*/ 2 w 691"/>
                <a:gd name="T59" fmla="*/ 4 h 1339"/>
                <a:gd name="T60" fmla="*/ 2 w 691"/>
                <a:gd name="T61" fmla="*/ 4 h 1339"/>
                <a:gd name="T62" fmla="*/ 2 w 691"/>
                <a:gd name="T63" fmla="*/ 4 h 1339"/>
                <a:gd name="T64" fmla="*/ 2 w 691"/>
                <a:gd name="T65" fmla="*/ 3 h 1339"/>
                <a:gd name="T66" fmla="*/ 2 w 691"/>
                <a:gd name="T67" fmla="*/ 1 h 1339"/>
                <a:gd name="T68" fmla="*/ 1 w 691"/>
                <a:gd name="T69" fmla="*/ 0 h 1339"/>
                <a:gd name="T70" fmla="*/ 1 w 691"/>
                <a:gd name="T71" fmla="*/ 0 h 133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91"/>
                <a:gd name="T109" fmla="*/ 0 h 1339"/>
                <a:gd name="T110" fmla="*/ 691 w 691"/>
                <a:gd name="T111" fmla="*/ 1339 h 133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91" h="1339">
                  <a:moveTo>
                    <a:pt x="263" y="0"/>
                  </a:moveTo>
                  <a:lnTo>
                    <a:pt x="246" y="0"/>
                  </a:lnTo>
                  <a:lnTo>
                    <a:pt x="231" y="21"/>
                  </a:lnTo>
                  <a:lnTo>
                    <a:pt x="214" y="21"/>
                  </a:lnTo>
                  <a:lnTo>
                    <a:pt x="181" y="41"/>
                  </a:lnTo>
                  <a:lnTo>
                    <a:pt x="166" y="60"/>
                  </a:lnTo>
                  <a:lnTo>
                    <a:pt x="166" y="81"/>
                  </a:lnTo>
                  <a:lnTo>
                    <a:pt x="149" y="100"/>
                  </a:lnTo>
                  <a:lnTo>
                    <a:pt x="130" y="120"/>
                  </a:lnTo>
                  <a:lnTo>
                    <a:pt x="130" y="140"/>
                  </a:lnTo>
                  <a:lnTo>
                    <a:pt x="117" y="160"/>
                  </a:lnTo>
                  <a:lnTo>
                    <a:pt x="99" y="181"/>
                  </a:lnTo>
                  <a:lnTo>
                    <a:pt x="82" y="220"/>
                  </a:lnTo>
                  <a:lnTo>
                    <a:pt x="82" y="240"/>
                  </a:lnTo>
                  <a:lnTo>
                    <a:pt x="65" y="279"/>
                  </a:lnTo>
                  <a:lnTo>
                    <a:pt x="50" y="300"/>
                  </a:lnTo>
                  <a:lnTo>
                    <a:pt x="50" y="321"/>
                  </a:lnTo>
                  <a:lnTo>
                    <a:pt x="33" y="380"/>
                  </a:lnTo>
                  <a:lnTo>
                    <a:pt x="17" y="419"/>
                  </a:lnTo>
                  <a:lnTo>
                    <a:pt x="17" y="460"/>
                  </a:lnTo>
                  <a:lnTo>
                    <a:pt x="0" y="520"/>
                  </a:lnTo>
                  <a:lnTo>
                    <a:pt x="0" y="560"/>
                  </a:lnTo>
                  <a:lnTo>
                    <a:pt x="0" y="599"/>
                  </a:lnTo>
                  <a:lnTo>
                    <a:pt x="0" y="639"/>
                  </a:lnTo>
                  <a:lnTo>
                    <a:pt x="0" y="700"/>
                  </a:lnTo>
                  <a:lnTo>
                    <a:pt x="17" y="760"/>
                  </a:lnTo>
                  <a:lnTo>
                    <a:pt x="17" y="799"/>
                  </a:lnTo>
                  <a:lnTo>
                    <a:pt x="17" y="860"/>
                  </a:lnTo>
                  <a:lnTo>
                    <a:pt x="17" y="919"/>
                  </a:lnTo>
                  <a:lnTo>
                    <a:pt x="33" y="979"/>
                  </a:lnTo>
                  <a:lnTo>
                    <a:pt x="33" y="1019"/>
                  </a:lnTo>
                  <a:lnTo>
                    <a:pt x="33" y="1040"/>
                  </a:lnTo>
                  <a:lnTo>
                    <a:pt x="33" y="1100"/>
                  </a:lnTo>
                  <a:lnTo>
                    <a:pt x="33" y="1119"/>
                  </a:lnTo>
                  <a:lnTo>
                    <a:pt x="50" y="1180"/>
                  </a:lnTo>
                  <a:lnTo>
                    <a:pt x="50" y="1219"/>
                  </a:lnTo>
                  <a:lnTo>
                    <a:pt x="65" y="1260"/>
                  </a:lnTo>
                  <a:lnTo>
                    <a:pt x="82" y="1280"/>
                  </a:lnTo>
                  <a:lnTo>
                    <a:pt x="82" y="1299"/>
                  </a:lnTo>
                  <a:lnTo>
                    <a:pt x="117" y="1319"/>
                  </a:lnTo>
                  <a:lnTo>
                    <a:pt x="149" y="1339"/>
                  </a:lnTo>
                  <a:lnTo>
                    <a:pt x="181" y="1339"/>
                  </a:lnTo>
                  <a:lnTo>
                    <a:pt x="214" y="1339"/>
                  </a:lnTo>
                  <a:lnTo>
                    <a:pt x="246" y="1339"/>
                  </a:lnTo>
                  <a:lnTo>
                    <a:pt x="295" y="1339"/>
                  </a:lnTo>
                  <a:lnTo>
                    <a:pt x="328" y="1339"/>
                  </a:lnTo>
                  <a:lnTo>
                    <a:pt x="377" y="1339"/>
                  </a:lnTo>
                  <a:lnTo>
                    <a:pt x="427" y="1339"/>
                  </a:lnTo>
                  <a:lnTo>
                    <a:pt x="494" y="1339"/>
                  </a:lnTo>
                  <a:lnTo>
                    <a:pt x="542" y="1339"/>
                  </a:lnTo>
                  <a:lnTo>
                    <a:pt x="575" y="1339"/>
                  </a:lnTo>
                  <a:lnTo>
                    <a:pt x="607" y="1339"/>
                  </a:lnTo>
                  <a:lnTo>
                    <a:pt x="642" y="1319"/>
                  </a:lnTo>
                  <a:lnTo>
                    <a:pt x="657" y="1319"/>
                  </a:lnTo>
                  <a:lnTo>
                    <a:pt x="657" y="1299"/>
                  </a:lnTo>
                  <a:lnTo>
                    <a:pt x="657" y="1280"/>
                  </a:lnTo>
                  <a:lnTo>
                    <a:pt x="657" y="1219"/>
                  </a:lnTo>
                  <a:lnTo>
                    <a:pt x="657" y="1180"/>
                  </a:lnTo>
                  <a:lnTo>
                    <a:pt x="673" y="1140"/>
                  </a:lnTo>
                  <a:lnTo>
                    <a:pt x="673" y="1100"/>
                  </a:lnTo>
                  <a:lnTo>
                    <a:pt x="691" y="1040"/>
                  </a:lnTo>
                  <a:lnTo>
                    <a:pt x="657" y="1040"/>
                  </a:lnTo>
                  <a:lnTo>
                    <a:pt x="607" y="799"/>
                  </a:lnTo>
                  <a:lnTo>
                    <a:pt x="559" y="580"/>
                  </a:lnTo>
                  <a:lnTo>
                    <a:pt x="542" y="460"/>
                  </a:lnTo>
                  <a:lnTo>
                    <a:pt x="476" y="300"/>
                  </a:lnTo>
                  <a:lnTo>
                    <a:pt x="395" y="201"/>
                  </a:lnTo>
                  <a:lnTo>
                    <a:pt x="328" y="81"/>
                  </a:lnTo>
                  <a:lnTo>
                    <a:pt x="295" y="41"/>
                  </a:lnTo>
                  <a:lnTo>
                    <a:pt x="263"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214" name="Freeform 183"/>
            <p:cNvSpPr>
              <a:spLocks/>
            </p:cNvSpPr>
            <p:nvPr/>
          </p:nvSpPr>
          <p:spPr bwMode="auto">
            <a:xfrm>
              <a:off x="1606" y="2701"/>
              <a:ext cx="271" cy="479"/>
            </a:xfrm>
            <a:custGeom>
              <a:avLst/>
              <a:gdLst>
                <a:gd name="T0" fmla="*/ 0 w 543"/>
                <a:gd name="T1" fmla="*/ 1 h 958"/>
                <a:gd name="T2" fmla="*/ 0 w 543"/>
                <a:gd name="T3" fmla="*/ 1 h 958"/>
                <a:gd name="T4" fmla="*/ 0 w 543"/>
                <a:gd name="T5" fmla="*/ 1 h 958"/>
                <a:gd name="T6" fmla="*/ 0 w 543"/>
                <a:gd name="T7" fmla="*/ 0 h 958"/>
                <a:gd name="T8" fmla="*/ 0 w 543"/>
                <a:gd name="T9" fmla="*/ 0 h 958"/>
                <a:gd name="T10" fmla="*/ 0 w 543"/>
                <a:gd name="T11" fmla="*/ 0 h 958"/>
                <a:gd name="T12" fmla="*/ 0 w 543"/>
                <a:gd name="T13" fmla="*/ 1 h 958"/>
                <a:gd name="T14" fmla="*/ 0 w 543"/>
                <a:gd name="T15" fmla="*/ 1 h 958"/>
                <a:gd name="T16" fmla="*/ 0 w 543"/>
                <a:gd name="T17" fmla="*/ 1 h 958"/>
                <a:gd name="T18" fmla="*/ 0 w 543"/>
                <a:gd name="T19" fmla="*/ 1 h 958"/>
                <a:gd name="T20" fmla="*/ 0 w 543"/>
                <a:gd name="T21" fmla="*/ 1 h 958"/>
                <a:gd name="T22" fmla="*/ 0 w 543"/>
                <a:gd name="T23" fmla="*/ 1 h 958"/>
                <a:gd name="T24" fmla="*/ 0 w 543"/>
                <a:gd name="T25" fmla="*/ 1 h 958"/>
                <a:gd name="T26" fmla="*/ 1 w 543"/>
                <a:gd name="T27" fmla="*/ 1 h 958"/>
                <a:gd name="T28" fmla="*/ 1 w 543"/>
                <a:gd name="T29" fmla="*/ 1 h 958"/>
                <a:gd name="T30" fmla="*/ 1 w 543"/>
                <a:gd name="T31" fmla="*/ 2 h 958"/>
                <a:gd name="T32" fmla="*/ 1 w 543"/>
                <a:gd name="T33" fmla="*/ 2 h 958"/>
                <a:gd name="T34" fmla="*/ 1 w 543"/>
                <a:gd name="T35" fmla="*/ 2 h 958"/>
                <a:gd name="T36" fmla="*/ 1 w 543"/>
                <a:gd name="T37" fmla="*/ 2 h 958"/>
                <a:gd name="T38" fmla="*/ 1 w 543"/>
                <a:gd name="T39" fmla="*/ 2 h 958"/>
                <a:gd name="T40" fmla="*/ 1 w 543"/>
                <a:gd name="T41" fmla="*/ 2 h 958"/>
                <a:gd name="T42" fmla="*/ 1 w 543"/>
                <a:gd name="T43" fmla="*/ 2 h 958"/>
                <a:gd name="T44" fmla="*/ 1 w 543"/>
                <a:gd name="T45" fmla="*/ 2 h 958"/>
                <a:gd name="T46" fmla="*/ 1 w 543"/>
                <a:gd name="T47" fmla="*/ 3 h 958"/>
                <a:gd name="T48" fmla="*/ 1 w 543"/>
                <a:gd name="T49" fmla="*/ 3 h 958"/>
                <a:gd name="T50" fmla="*/ 1 w 543"/>
                <a:gd name="T51" fmla="*/ 3 h 958"/>
                <a:gd name="T52" fmla="*/ 1 w 543"/>
                <a:gd name="T53" fmla="*/ 3 h 958"/>
                <a:gd name="T54" fmla="*/ 0 w 543"/>
                <a:gd name="T55" fmla="*/ 3 h 958"/>
                <a:gd name="T56" fmla="*/ 0 w 543"/>
                <a:gd name="T57" fmla="*/ 3 h 958"/>
                <a:gd name="T58" fmla="*/ 0 w 543"/>
                <a:gd name="T59" fmla="*/ 4 h 958"/>
                <a:gd name="T60" fmla="*/ 0 w 543"/>
                <a:gd name="T61" fmla="*/ 4 h 958"/>
                <a:gd name="T62" fmla="*/ 0 w 543"/>
                <a:gd name="T63" fmla="*/ 4 h 958"/>
                <a:gd name="T64" fmla="*/ 0 w 543"/>
                <a:gd name="T65" fmla="*/ 4 h 958"/>
                <a:gd name="T66" fmla="*/ 0 w 543"/>
                <a:gd name="T67" fmla="*/ 4 h 958"/>
                <a:gd name="T68" fmla="*/ 1 w 543"/>
                <a:gd name="T69" fmla="*/ 4 h 958"/>
                <a:gd name="T70" fmla="*/ 1 w 543"/>
                <a:gd name="T71" fmla="*/ 4 h 958"/>
                <a:gd name="T72" fmla="*/ 1 w 543"/>
                <a:gd name="T73" fmla="*/ 4 h 958"/>
                <a:gd name="T74" fmla="*/ 1 w 543"/>
                <a:gd name="T75" fmla="*/ 4 h 958"/>
                <a:gd name="T76" fmla="*/ 1 w 543"/>
                <a:gd name="T77" fmla="*/ 4 h 958"/>
                <a:gd name="T78" fmla="*/ 1 w 543"/>
                <a:gd name="T79" fmla="*/ 4 h 958"/>
                <a:gd name="T80" fmla="*/ 1 w 543"/>
                <a:gd name="T81" fmla="*/ 4 h 958"/>
                <a:gd name="T82" fmla="*/ 1 w 543"/>
                <a:gd name="T83" fmla="*/ 4 h 958"/>
                <a:gd name="T84" fmla="*/ 1 w 543"/>
                <a:gd name="T85" fmla="*/ 4 h 958"/>
                <a:gd name="T86" fmla="*/ 2 w 543"/>
                <a:gd name="T87" fmla="*/ 4 h 95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543"/>
                <a:gd name="T133" fmla="*/ 0 h 958"/>
                <a:gd name="T134" fmla="*/ 543 w 543"/>
                <a:gd name="T135" fmla="*/ 958 h 95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543" h="958">
                  <a:moveTo>
                    <a:pt x="0" y="60"/>
                  </a:moveTo>
                  <a:lnTo>
                    <a:pt x="31" y="40"/>
                  </a:lnTo>
                  <a:lnTo>
                    <a:pt x="49" y="21"/>
                  </a:lnTo>
                  <a:lnTo>
                    <a:pt x="81" y="0"/>
                  </a:lnTo>
                  <a:lnTo>
                    <a:pt x="97" y="0"/>
                  </a:lnTo>
                  <a:lnTo>
                    <a:pt x="131" y="0"/>
                  </a:lnTo>
                  <a:lnTo>
                    <a:pt x="147" y="21"/>
                  </a:lnTo>
                  <a:lnTo>
                    <a:pt x="180" y="21"/>
                  </a:lnTo>
                  <a:lnTo>
                    <a:pt x="196" y="40"/>
                  </a:lnTo>
                  <a:lnTo>
                    <a:pt x="213" y="80"/>
                  </a:lnTo>
                  <a:lnTo>
                    <a:pt x="229" y="80"/>
                  </a:lnTo>
                  <a:lnTo>
                    <a:pt x="229" y="119"/>
                  </a:lnTo>
                  <a:lnTo>
                    <a:pt x="246" y="139"/>
                  </a:lnTo>
                  <a:lnTo>
                    <a:pt x="261" y="158"/>
                  </a:lnTo>
                  <a:lnTo>
                    <a:pt x="278" y="200"/>
                  </a:lnTo>
                  <a:lnTo>
                    <a:pt x="296" y="259"/>
                  </a:lnTo>
                  <a:lnTo>
                    <a:pt x="296" y="279"/>
                  </a:lnTo>
                  <a:lnTo>
                    <a:pt x="296" y="320"/>
                  </a:lnTo>
                  <a:lnTo>
                    <a:pt x="296" y="339"/>
                  </a:lnTo>
                  <a:lnTo>
                    <a:pt x="296" y="380"/>
                  </a:lnTo>
                  <a:lnTo>
                    <a:pt x="296" y="419"/>
                  </a:lnTo>
                  <a:lnTo>
                    <a:pt x="296" y="439"/>
                  </a:lnTo>
                  <a:lnTo>
                    <a:pt x="296" y="499"/>
                  </a:lnTo>
                  <a:lnTo>
                    <a:pt x="296" y="538"/>
                  </a:lnTo>
                  <a:lnTo>
                    <a:pt x="278" y="579"/>
                  </a:lnTo>
                  <a:lnTo>
                    <a:pt x="278" y="618"/>
                  </a:lnTo>
                  <a:lnTo>
                    <a:pt x="261" y="639"/>
                  </a:lnTo>
                  <a:lnTo>
                    <a:pt x="246" y="658"/>
                  </a:lnTo>
                  <a:lnTo>
                    <a:pt x="246" y="759"/>
                  </a:lnTo>
                  <a:lnTo>
                    <a:pt x="246" y="798"/>
                  </a:lnTo>
                  <a:lnTo>
                    <a:pt x="246" y="819"/>
                  </a:lnTo>
                  <a:lnTo>
                    <a:pt x="246" y="837"/>
                  </a:lnTo>
                  <a:lnTo>
                    <a:pt x="229" y="879"/>
                  </a:lnTo>
                  <a:lnTo>
                    <a:pt x="229" y="898"/>
                  </a:lnTo>
                  <a:lnTo>
                    <a:pt x="296" y="898"/>
                  </a:lnTo>
                  <a:lnTo>
                    <a:pt x="328" y="898"/>
                  </a:lnTo>
                  <a:lnTo>
                    <a:pt x="361" y="919"/>
                  </a:lnTo>
                  <a:lnTo>
                    <a:pt x="377" y="919"/>
                  </a:lnTo>
                  <a:lnTo>
                    <a:pt x="411" y="919"/>
                  </a:lnTo>
                  <a:lnTo>
                    <a:pt x="427" y="938"/>
                  </a:lnTo>
                  <a:lnTo>
                    <a:pt x="460" y="938"/>
                  </a:lnTo>
                  <a:lnTo>
                    <a:pt x="476" y="938"/>
                  </a:lnTo>
                  <a:lnTo>
                    <a:pt x="508" y="958"/>
                  </a:lnTo>
                  <a:lnTo>
                    <a:pt x="543" y="95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215" name="Freeform 184"/>
            <p:cNvSpPr>
              <a:spLocks/>
            </p:cNvSpPr>
            <p:nvPr/>
          </p:nvSpPr>
          <p:spPr bwMode="auto">
            <a:xfrm>
              <a:off x="1828" y="2781"/>
              <a:ext cx="296" cy="399"/>
            </a:xfrm>
            <a:custGeom>
              <a:avLst/>
              <a:gdLst>
                <a:gd name="T0" fmla="*/ 2 w 592"/>
                <a:gd name="T1" fmla="*/ 1 h 799"/>
                <a:gd name="T2" fmla="*/ 2 w 592"/>
                <a:gd name="T3" fmla="*/ 2 h 799"/>
                <a:gd name="T4" fmla="*/ 2 w 592"/>
                <a:gd name="T5" fmla="*/ 2 h 799"/>
                <a:gd name="T6" fmla="*/ 2 w 592"/>
                <a:gd name="T7" fmla="*/ 2 h 799"/>
                <a:gd name="T8" fmla="*/ 1 w 592"/>
                <a:gd name="T9" fmla="*/ 2 h 799"/>
                <a:gd name="T10" fmla="*/ 1 w 592"/>
                <a:gd name="T11" fmla="*/ 2 h 799"/>
                <a:gd name="T12" fmla="*/ 1 w 592"/>
                <a:gd name="T13" fmla="*/ 2 h 799"/>
                <a:gd name="T14" fmla="*/ 1 w 592"/>
                <a:gd name="T15" fmla="*/ 2 h 799"/>
                <a:gd name="T16" fmla="*/ 1 w 592"/>
                <a:gd name="T17" fmla="*/ 2 h 799"/>
                <a:gd name="T18" fmla="*/ 1 w 592"/>
                <a:gd name="T19" fmla="*/ 1 h 799"/>
                <a:gd name="T20" fmla="*/ 1 w 592"/>
                <a:gd name="T21" fmla="*/ 1 h 799"/>
                <a:gd name="T22" fmla="*/ 1 w 592"/>
                <a:gd name="T23" fmla="*/ 1 h 799"/>
                <a:gd name="T24" fmla="*/ 1 w 592"/>
                <a:gd name="T25" fmla="*/ 1 h 799"/>
                <a:gd name="T26" fmla="*/ 1 w 592"/>
                <a:gd name="T27" fmla="*/ 0 h 799"/>
                <a:gd name="T28" fmla="*/ 1 w 592"/>
                <a:gd name="T29" fmla="*/ 0 h 799"/>
                <a:gd name="T30" fmla="*/ 1 w 592"/>
                <a:gd name="T31" fmla="*/ 0 h 799"/>
                <a:gd name="T32" fmla="*/ 1 w 592"/>
                <a:gd name="T33" fmla="*/ 0 h 799"/>
                <a:gd name="T34" fmla="*/ 1 w 592"/>
                <a:gd name="T35" fmla="*/ 0 h 799"/>
                <a:gd name="T36" fmla="*/ 1 w 592"/>
                <a:gd name="T37" fmla="*/ 0 h 799"/>
                <a:gd name="T38" fmla="*/ 0 w 592"/>
                <a:gd name="T39" fmla="*/ 0 h 799"/>
                <a:gd name="T40" fmla="*/ 0 w 592"/>
                <a:gd name="T41" fmla="*/ 0 h 799"/>
                <a:gd name="T42" fmla="*/ 1 w 592"/>
                <a:gd name="T43" fmla="*/ 0 h 799"/>
                <a:gd name="T44" fmla="*/ 1 w 592"/>
                <a:gd name="T45" fmla="*/ 1 h 799"/>
                <a:gd name="T46" fmla="*/ 1 w 592"/>
                <a:gd name="T47" fmla="*/ 1 h 799"/>
                <a:gd name="T48" fmla="*/ 1 w 592"/>
                <a:gd name="T49" fmla="*/ 1 h 799"/>
                <a:gd name="T50" fmla="*/ 1 w 592"/>
                <a:gd name="T51" fmla="*/ 1 h 799"/>
                <a:gd name="T52" fmla="*/ 1 w 592"/>
                <a:gd name="T53" fmla="*/ 2 h 799"/>
                <a:gd name="T54" fmla="*/ 1 w 592"/>
                <a:gd name="T55" fmla="*/ 2 h 799"/>
                <a:gd name="T56" fmla="*/ 1 w 592"/>
                <a:gd name="T57" fmla="*/ 2 h 799"/>
                <a:gd name="T58" fmla="*/ 1 w 592"/>
                <a:gd name="T59" fmla="*/ 2 h 799"/>
                <a:gd name="T60" fmla="*/ 1 w 592"/>
                <a:gd name="T61" fmla="*/ 2 h 799"/>
                <a:gd name="T62" fmla="*/ 1 w 592"/>
                <a:gd name="T63" fmla="*/ 3 h 799"/>
                <a:gd name="T64" fmla="*/ 1 w 592"/>
                <a:gd name="T65" fmla="*/ 3 h 799"/>
                <a:gd name="T66" fmla="*/ 3 w 592"/>
                <a:gd name="T67" fmla="*/ 3 h 799"/>
                <a:gd name="T68" fmla="*/ 3 w 592"/>
                <a:gd name="T69" fmla="*/ 3 h 799"/>
                <a:gd name="T70" fmla="*/ 3 w 592"/>
                <a:gd name="T71" fmla="*/ 2 h 799"/>
                <a:gd name="T72" fmla="*/ 3 w 592"/>
                <a:gd name="T73" fmla="*/ 2 h 799"/>
                <a:gd name="T74" fmla="*/ 3 w 592"/>
                <a:gd name="T75" fmla="*/ 2 h 799"/>
                <a:gd name="T76" fmla="*/ 3 w 592"/>
                <a:gd name="T77" fmla="*/ 2 h 799"/>
                <a:gd name="T78" fmla="*/ 2 w 592"/>
                <a:gd name="T79" fmla="*/ 1 h 79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92"/>
                <a:gd name="T121" fmla="*/ 0 h 799"/>
                <a:gd name="T122" fmla="*/ 592 w 592"/>
                <a:gd name="T123" fmla="*/ 799 h 79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92" h="799">
                  <a:moveTo>
                    <a:pt x="477" y="501"/>
                  </a:moveTo>
                  <a:lnTo>
                    <a:pt x="363" y="580"/>
                  </a:lnTo>
                  <a:lnTo>
                    <a:pt x="314" y="600"/>
                  </a:lnTo>
                  <a:lnTo>
                    <a:pt x="282" y="600"/>
                  </a:lnTo>
                  <a:lnTo>
                    <a:pt x="246" y="620"/>
                  </a:lnTo>
                  <a:lnTo>
                    <a:pt x="231" y="620"/>
                  </a:lnTo>
                  <a:lnTo>
                    <a:pt x="231" y="580"/>
                  </a:lnTo>
                  <a:lnTo>
                    <a:pt x="198" y="519"/>
                  </a:lnTo>
                  <a:lnTo>
                    <a:pt x="180" y="481"/>
                  </a:lnTo>
                  <a:lnTo>
                    <a:pt x="166" y="460"/>
                  </a:lnTo>
                  <a:lnTo>
                    <a:pt x="149" y="341"/>
                  </a:lnTo>
                  <a:lnTo>
                    <a:pt x="132" y="280"/>
                  </a:lnTo>
                  <a:lnTo>
                    <a:pt x="115" y="221"/>
                  </a:lnTo>
                  <a:lnTo>
                    <a:pt x="100" y="182"/>
                  </a:lnTo>
                  <a:lnTo>
                    <a:pt x="83" y="140"/>
                  </a:lnTo>
                  <a:lnTo>
                    <a:pt x="67" y="101"/>
                  </a:lnTo>
                  <a:lnTo>
                    <a:pt x="49" y="82"/>
                  </a:lnTo>
                  <a:lnTo>
                    <a:pt x="17" y="42"/>
                  </a:lnTo>
                  <a:lnTo>
                    <a:pt x="0" y="21"/>
                  </a:lnTo>
                  <a:lnTo>
                    <a:pt x="0" y="0"/>
                  </a:lnTo>
                  <a:lnTo>
                    <a:pt x="17" y="82"/>
                  </a:lnTo>
                  <a:lnTo>
                    <a:pt x="67" y="261"/>
                  </a:lnTo>
                  <a:lnTo>
                    <a:pt x="115" y="361"/>
                  </a:lnTo>
                  <a:lnTo>
                    <a:pt x="132" y="420"/>
                  </a:lnTo>
                  <a:lnTo>
                    <a:pt x="149" y="460"/>
                  </a:lnTo>
                  <a:lnTo>
                    <a:pt x="149" y="519"/>
                  </a:lnTo>
                  <a:lnTo>
                    <a:pt x="166" y="580"/>
                  </a:lnTo>
                  <a:lnTo>
                    <a:pt x="166" y="639"/>
                  </a:lnTo>
                  <a:lnTo>
                    <a:pt x="180" y="678"/>
                  </a:lnTo>
                  <a:lnTo>
                    <a:pt x="180" y="720"/>
                  </a:lnTo>
                  <a:lnTo>
                    <a:pt x="198" y="779"/>
                  </a:lnTo>
                  <a:lnTo>
                    <a:pt x="198" y="799"/>
                  </a:lnTo>
                  <a:lnTo>
                    <a:pt x="525" y="799"/>
                  </a:lnTo>
                  <a:lnTo>
                    <a:pt x="592" y="779"/>
                  </a:lnTo>
                  <a:lnTo>
                    <a:pt x="592" y="760"/>
                  </a:lnTo>
                  <a:lnTo>
                    <a:pt x="592" y="739"/>
                  </a:lnTo>
                  <a:lnTo>
                    <a:pt x="575" y="739"/>
                  </a:lnTo>
                  <a:lnTo>
                    <a:pt x="477" y="50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216" name="Freeform 185"/>
            <p:cNvSpPr>
              <a:spLocks/>
            </p:cNvSpPr>
            <p:nvPr/>
          </p:nvSpPr>
          <p:spPr bwMode="auto">
            <a:xfrm>
              <a:off x="1828" y="2781"/>
              <a:ext cx="296" cy="399"/>
            </a:xfrm>
            <a:custGeom>
              <a:avLst/>
              <a:gdLst>
                <a:gd name="T0" fmla="*/ 2 w 592"/>
                <a:gd name="T1" fmla="*/ 1 h 799"/>
                <a:gd name="T2" fmla="*/ 2 w 592"/>
                <a:gd name="T3" fmla="*/ 2 h 799"/>
                <a:gd name="T4" fmla="*/ 2 w 592"/>
                <a:gd name="T5" fmla="*/ 2 h 799"/>
                <a:gd name="T6" fmla="*/ 2 w 592"/>
                <a:gd name="T7" fmla="*/ 2 h 799"/>
                <a:gd name="T8" fmla="*/ 1 w 592"/>
                <a:gd name="T9" fmla="*/ 2 h 799"/>
                <a:gd name="T10" fmla="*/ 1 w 592"/>
                <a:gd name="T11" fmla="*/ 2 h 799"/>
                <a:gd name="T12" fmla="*/ 1 w 592"/>
                <a:gd name="T13" fmla="*/ 2 h 799"/>
                <a:gd name="T14" fmla="*/ 1 w 592"/>
                <a:gd name="T15" fmla="*/ 2 h 799"/>
                <a:gd name="T16" fmla="*/ 1 w 592"/>
                <a:gd name="T17" fmla="*/ 2 h 799"/>
                <a:gd name="T18" fmla="*/ 1 w 592"/>
                <a:gd name="T19" fmla="*/ 1 h 799"/>
                <a:gd name="T20" fmla="*/ 1 w 592"/>
                <a:gd name="T21" fmla="*/ 1 h 799"/>
                <a:gd name="T22" fmla="*/ 1 w 592"/>
                <a:gd name="T23" fmla="*/ 1 h 799"/>
                <a:gd name="T24" fmla="*/ 1 w 592"/>
                <a:gd name="T25" fmla="*/ 1 h 799"/>
                <a:gd name="T26" fmla="*/ 1 w 592"/>
                <a:gd name="T27" fmla="*/ 0 h 799"/>
                <a:gd name="T28" fmla="*/ 1 w 592"/>
                <a:gd name="T29" fmla="*/ 0 h 799"/>
                <a:gd name="T30" fmla="*/ 1 w 592"/>
                <a:gd name="T31" fmla="*/ 0 h 799"/>
                <a:gd name="T32" fmla="*/ 1 w 592"/>
                <a:gd name="T33" fmla="*/ 0 h 799"/>
                <a:gd name="T34" fmla="*/ 1 w 592"/>
                <a:gd name="T35" fmla="*/ 0 h 799"/>
                <a:gd name="T36" fmla="*/ 1 w 592"/>
                <a:gd name="T37" fmla="*/ 0 h 799"/>
                <a:gd name="T38" fmla="*/ 0 w 592"/>
                <a:gd name="T39" fmla="*/ 0 h 799"/>
                <a:gd name="T40" fmla="*/ 0 w 592"/>
                <a:gd name="T41" fmla="*/ 0 h 799"/>
                <a:gd name="T42" fmla="*/ 1 w 592"/>
                <a:gd name="T43" fmla="*/ 0 h 799"/>
                <a:gd name="T44" fmla="*/ 1 w 592"/>
                <a:gd name="T45" fmla="*/ 1 h 799"/>
                <a:gd name="T46" fmla="*/ 1 w 592"/>
                <a:gd name="T47" fmla="*/ 1 h 799"/>
                <a:gd name="T48" fmla="*/ 1 w 592"/>
                <a:gd name="T49" fmla="*/ 1 h 799"/>
                <a:gd name="T50" fmla="*/ 1 w 592"/>
                <a:gd name="T51" fmla="*/ 1 h 799"/>
                <a:gd name="T52" fmla="*/ 1 w 592"/>
                <a:gd name="T53" fmla="*/ 2 h 799"/>
                <a:gd name="T54" fmla="*/ 1 w 592"/>
                <a:gd name="T55" fmla="*/ 2 h 799"/>
                <a:gd name="T56" fmla="*/ 1 w 592"/>
                <a:gd name="T57" fmla="*/ 2 h 799"/>
                <a:gd name="T58" fmla="*/ 1 w 592"/>
                <a:gd name="T59" fmla="*/ 2 h 799"/>
                <a:gd name="T60" fmla="*/ 1 w 592"/>
                <a:gd name="T61" fmla="*/ 2 h 799"/>
                <a:gd name="T62" fmla="*/ 1 w 592"/>
                <a:gd name="T63" fmla="*/ 3 h 799"/>
                <a:gd name="T64" fmla="*/ 1 w 592"/>
                <a:gd name="T65" fmla="*/ 3 h 799"/>
                <a:gd name="T66" fmla="*/ 3 w 592"/>
                <a:gd name="T67" fmla="*/ 3 h 799"/>
                <a:gd name="T68" fmla="*/ 3 w 592"/>
                <a:gd name="T69" fmla="*/ 3 h 799"/>
                <a:gd name="T70" fmla="*/ 3 w 592"/>
                <a:gd name="T71" fmla="*/ 2 h 799"/>
                <a:gd name="T72" fmla="*/ 3 w 592"/>
                <a:gd name="T73" fmla="*/ 2 h 799"/>
                <a:gd name="T74" fmla="*/ 3 w 592"/>
                <a:gd name="T75" fmla="*/ 2 h 799"/>
                <a:gd name="T76" fmla="*/ 3 w 592"/>
                <a:gd name="T77" fmla="*/ 2 h 799"/>
                <a:gd name="T78" fmla="*/ 2 w 592"/>
                <a:gd name="T79" fmla="*/ 1 h 79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92"/>
                <a:gd name="T121" fmla="*/ 0 h 799"/>
                <a:gd name="T122" fmla="*/ 592 w 592"/>
                <a:gd name="T123" fmla="*/ 799 h 79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92" h="799">
                  <a:moveTo>
                    <a:pt x="477" y="501"/>
                  </a:moveTo>
                  <a:lnTo>
                    <a:pt x="363" y="580"/>
                  </a:lnTo>
                  <a:lnTo>
                    <a:pt x="314" y="600"/>
                  </a:lnTo>
                  <a:lnTo>
                    <a:pt x="282" y="600"/>
                  </a:lnTo>
                  <a:lnTo>
                    <a:pt x="246" y="620"/>
                  </a:lnTo>
                  <a:lnTo>
                    <a:pt x="231" y="620"/>
                  </a:lnTo>
                  <a:lnTo>
                    <a:pt x="231" y="580"/>
                  </a:lnTo>
                  <a:lnTo>
                    <a:pt x="198" y="519"/>
                  </a:lnTo>
                  <a:lnTo>
                    <a:pt x="180" y="481"/>
                  </a:lnTo>
                  <a:lnTo>
                    <a:pt x="166" y="460"/>
                  </a:lnTo>
                  <a:lnTo>
                    <a:pt x="149" y="341"/>
                  </a:lnTo>
                  <a:lnTo>
                    <a:pt x="132" y="280"/>
                  </a:lnTo>
                  <a:lnTo>
                    <a:pt x="115" y="221"/>
                  </a:lnTo>
                  <a:lnTo>
                    <a:pt x="100" y="182"/>
                  </a:lnTo>
                  <a:lnTo>
                    <a:pt x="83" y="140"/>
                  </a:lnTo>
                  <a:lnTo>
                    <a:pt x="67" y="101"/>
                  </a:lnTo>
                  <a:lnTo>
                    <a:pt x="49" y="82"/>
                  </a:lnTo>
                  <a:lnTo>
                    <a:pt x="17" y="42"/>
                  </a:lnTo>
                  <a:lnTo>
                    <a:pt x="0" y="21"/>
                  </a:lnTo>
                  <a:lnTo>
                    <a:pt x="0" y="0"/>
                  </a:lnTo>
                  <a:lnTo>
                    <a:pt x="17" y="82"/>
                  </a:lnTo>
                  <a:lnTo>
                    <a:pt x="67" y="261"/>
                  </a:lnTo>
                  <a:lnTo>
                    <a:pt x="115" y="361"/>
                  </a:lnTo>
                  <a:lnTo>
                    <a:pt x="132" y="420"/>
                  </a:lnTo>
                  <a:lnTo>
                    <a:pt x="149" y="460"/>
                  </a:lnTo>
                  <a:lnTo>
                    <a:pt x="149" y="519"/>
                  </a:lnTo>
                  <a:lnTo>
                    <a:pt x="166" y="580"/>
                  </a:lnTo>
                  <a:lnTo>
                    <a:pt x="166" y="639"/>
                  </a:lnTo>
                  <a:lnTo>
                    <a:pt x="180" y="678"/>
                  </a:lnTo>
                  <a:lnTo>
                    <a:pt x="180" y="720"/>
                  </a:lnTo>
                  <a:lnTo>
                    <a:pt x="198" y="779"/>
                  </a:lnTo>
                  <a:lnTo>
                    <a:pt x="198" y="799"/>
                  </a:lnTo>
                  <a:lnTo>
                    <a:pt x="525" y="799"/>
                  </a:lnTo>
                  <a:lnTo>
                    <a:pt x="592" y="779"/>
                  </a:lnTo>
                  <a:lnTo>
                    <a:pt x="592" y="760"/>
                  </a:lnTo>
                  <a:lnTo>
                    <a:pt x="592" y="739"/>
                  </a:lnTo>
                  <a:lnTo>
                    <a:pt x="575" y="739"/>
                  </a:lnTo>
                  <a:lnTo>
                    <a:pt x="477" y="501"/>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217" name="Freeform 186"/>
            <p:cNvSpPr>
              <a:spLocks/>
            </p:cNvSpPr>
            <p:nvPr/>
          </p:nvSpPr>
          <p:spPr bwMode="auto">
            <a:xfrm>
              <a:off x="1894" y="3131"/>
              <a:ext cx="214" cy="150"/>
            </a:xfrm>
            <a:custGeom>
              <a:avLst/>
              <a:gdLst>
                <a:gd name="T0" fmla="*/ 1 w 428"/>
                <a:gd name="T1" fmla="*/ 2 h 300"/>
                <a:gd name="T2" fmla="*/ 1 w 428"/>
                <a:gd name="T3" fmla="*/ 2 h 300"/>
                <a:gd name="T4" fmla="*/ 1 w 428"/>
                <a:gd name="T5" fmla="*/ 2 h 300"/>
                <a:gd name="T6" fmla="*/ 1 w 428"/>
                <a:gd name="T7" fmla="*/ 2 h 300"/>
                <a:gd name="T8" fmla="*/ 1 w 428"/>
                <a:gd name="T9" fmla="*/ 2 h 300"/>
                <a:gd name="T10" fmla="*/ 1 w 428"/>
                <a:gd name="T11" fmla="*/ 1 h 300"/>
                <a:gd name="T12" fmla="*/ 1 w 428"/>
                <a:gd name="T13" fmla="*/ 1 h 300"/>
                <a:gd name="T14" fmla="*/ 1 w 428"/>
                <a:gd name="T15" fmla="*/ 1 h 300"/>
                <a:gd name="T16" fmla="*/ 2 w 428"/>
                <a:gd name="T17" fmla="*/ 1 h 300"/>
                <a:gd name="T18" fmla="*/ 2 w 428"/>
                <a:gd name="T19" fmla="*/ 1 h 300"/>
                <a:gd name="T20" fmla="*/ 2 w 428"/>
                <a:gd name="T21" fmla="*/ 1 h 300"/>
                <a:gd name="T22" fmla="*/ 2 w 428"/>
                <a:gd name="T23" fmla="*/ 1 h 300"/>
                <a:gd name="T24" fmla="*/ 2 w 428"/>
                <a:gd name="T25" fmla="*/ 1 h 300"/>
                <a:gd name="T26" fmla="*/ 2 w 428"/>
                <a:gd name="T27" fmla="*/ 1 h 300"/>
                <a:gd name="T28" fmla="*/ 2 w 428"/>
                <a:gd name="T29" fmla="*/ 1 h 300"/>
                <a:gd name="T30" fmla="*/ 2 w 428"/>
                <a:gd name="T31" fmla="*/ 1 h 300"/>
                <a:gd name="T32" fmla="*/ 2 w 428"/>
                <a:gd name="T33" fmla="*/ 1 h 300"/>
                <a:gd name="T34" fmla="*/ 2 w 428"/>
                <a:gd name="T35" fmla="*/ 1 h 300"/>
                <a:gd name="T36" fmla="*/ 2 w 428"/>
                <a:gd name="T37" fmla="*/ 1 h 300"/>
                <a:gd name="T38" fmla="*/ 2 w 428"/>
                <a:gd name="T39" fmla="*/ 1 h 300"/>
                <a:gd name="T40" fmla="*/ 2 w 428"/>
                <a:gd name="T41" fmla="*/ 1 h 300"/>
                <a:gd name="T42" fmla="*/ 2 w 428"/>
                <a:gd name="T43" fmla="*/ 1 h 300"/>
                <a:gd name="T44" fmla="*/ 2 w 428"/>
                <a:gd name="T45" fmla="*/ 1 h 300"/>
                <a:gd name="T46" fmla="*/ 2 w 428"/>
                <a:gd name="T47" fmla="*/ 1 h 300"/>
                <a:gd name="T48" fmla="*/ 2 w 428"/>
                <a:gd name="T49" fmla="*/ 1 h 300"/>
                <a:gd name="T50" fmla="*/ 2 w 428"/>
                <a:gd name="T51" fmla="*/ 1 h 300"/>
                <a:gd name="T52" fmla="*/ 2 w 428"/>
                <a:gd name="T53" fmla="*/ 1 h 300"/>
                <a:gd name="T54" fmla="*/ 2 w 428"/>
                <a:gd name="T55" fmla="*/ 1 h 300"/>
                <a:gd name="T56" fmla="*/ 2 w 428"/>
                <a:gd name="T57" fmla="*/ 1 h 300"/>
                <a:gd name="T58" fmla="*/ 2 w 428"/>
                <a:gd name="T59" fmla="*/ 1 h 300"/>
                <a:gd name="T60" fmla="*/ 2 w 428"/>
                <a:gd name="T61" fmla="*/ 1 h 300"/>
                <a:gd name="T62" fmla="*/ 2 w 428"/>
                <a:gd name="T63" fmla="*/ 1 h 300"/>
                <a:gd name="T64" fmla="*/ 2 w 428"/>
                <a:gd name="T65" fmla="*/ 1 h 300"/>
                <a:gd name="T66" fmla="*/ 2 w 428"/>
                <a:gd name="T67" fmla="*/ 1 h 300"/>
                <a:gd name="T68" fmla="*/ 2 w 428"/>
                <a:gd name="T69" fmla="*/ 1 h 300"/>
                <a:gd name="T70" fmla="*/ 2 w 428"/>
                <a:gd name="T71" fmla="*/ 1 h 300"/>
                <a:gd name="T72" fmla="*/ 2 w 428"/>
                <a:gd name="T73" fmla="*/ 1 h 300"/>
                <a:gd name="T74" fmla="*/ 2 w 428"/>
                <a:gd name="T75" fmla="*/ 1 h 300"/>
                <a:gd name="T76" fmla="*/ 2 w 428"/>
                <a:gd name="T77" fmla="*/ 1 h 300"/>
                <a:gd name="T78" fmla="*/ 2 w 428"/>
                <a:gd name="T79" fmla="*/ 1 h 300"/>
                <a:gd name="T80" fmla="*/ 2 w 428"/>
                <a:gd name="T81" fmla="*/ 1 h 300"/>
                <a:gd name="T82" fmla="*/ 2 w 428"/>
                <a:gd name="T83" fmla="*/ 1 h 300"/>
                <a:gd name="T84" fmla="*/ 2 w 428"/>
                <a:gd name="T85" fmla="*/ 1 h 300"/>
                <a:gd name="T86" fmla="*/ 2 w 428"/>
                <a:gd name="T87" fmla="*/ 1 h 300"/>
                <a:gd name="T88" fmla="*/ 1 w 428"/>
                <a:gd name="T89" fmla="*/ 1 h 300"/>
                <a:gd name="T90" fmla="*/ 1 w 428"/>
                <a:gd name="T91" fmla="*/ 0 h 300"/>
                <a:gd name="T92" fmla="*/ 1 w 428"/>
                <a:gd name="T93" fmla="*/ 0 h 300"/>
                <a:gd name="T94" fmla="*/ 1 w 428"/>
                <a:gd name="T95" fmla="*/ 1 h 300"/>
                <a:gd name="T96" fmla="*/ 1 w 428"/>
                <a:gd name="T97" fmla="*/ 1 h 300"/>
                <a:gd name="T98" fmla="*/ 1 w 428"/>
                <a:gd name="T99" fmla="*/ 1 h 300"/>
                <a:gd name="T100" fmla="*/ 1 w 428"/>
                <a:gd name="T101" fmla="*/ 1 h 300"/>
                <a:gd name="T102" fmla="*/ 0 w 428"/>
                <a:gd name="T103" fmla="*/ 2 h 300"/>
                <a:gd name="T104" fmla="*/ 1 w 428"/>
                <a:gd name="T105" fmla="*/ 2 h 30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28"/>
                <a:gd name="T160" fmla="*/ 0 h 300"/>
                <a:gd name="T161" fmla="*/ 428 w 428"/>
                <a:gd name="T162" fmla="*/ 300 h 30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28" h="300">
                  <a:moveTo>
                    <a:pt x="16" y="300"/>
                  </a:moveTo>
                  <a:lnTo>
                    <a:pt x="66" y="300"/>
                  </a:lnTo>
                  <a:lnTo>
                    <a:pt x="98" y="300"/>
                  </a:lnTo>
                  <a:lnTo>
                    <a:pt x="114" y="279"/>
                  </a:lnTo>
                  <a:lnTo>
                    <a:pt x="163" y="260"/>
                  </a:lnTo>
                  <a:lnTo>
                    <a:pt x="197" y="240"/>
                  </a:lnTo>
                  <a:lnTo>
                    <a:pt x="213" y="219"/>
                  </a:lnTo>
                  <a:lnTo>
                    <a:pt x="230" y="219"/>
                  </a:lnTo>
                  <a:lnTo>
                    <a:pt x="262" y="200"/>
                  </a:lnTo>
                  <a:lnTo>
                    <a:pt x="296" y="200"/>
                  </a:lnTo>
                  <a:lnTo>
                    <a:pt x="313" y="200"/>
                  </a:lnTo>
                  <a:lnTo>
                    <a:pt x="328" y="200"/>
                  </a:lnTo>
                  <a:lnTo>
                    <a:pt x="344" y="219"/>
                  </a:lnTo>
                  <a:lnTo>
                    <a:pt x="361" y="219"/>
                  </a:lnTo>
                  <a:lnTo>
                    <a:pt x="378" y="219"/>
                  </a:lnTo>
                  <a:lnTo>
                    <a:pt x="393" y="219"/>
                  </a:lnTo>
                  <a:lnTo>
                    <a:pt x="393" y="200"/>
                  </a:lnTo>
                  <a:lnTo>
                    <a:pt x="411" y="200"/>
                  </a:lnTo>
                  <a:lnTo>
                    <a:pt x="411" y="180"/>
                  </a:lnTo>
                  <a:lnTo>
                    <a:pt x="428" y="180"/>
                  </a:lnTo>
                  <a:lnTo>
                    <a:pt x="428" y="160"/>
                  </a:lnTo>
                  <a:lnTo>
                    <a:pt x="428" y="139"/>
                  </a:lnTo>
                  <a:lnTo>
                    <a:pt x="411" y="139"/>
                  </a:lnTo>
                  <a:lnTo>
                    <a:pt x="411" y="121"/>
                  </a:lnTo>
                  <a:lnTo>
                    <a:pt x="411" y="100"/>
                  </a:lnTo>
                  <a:lnTo>
                    <a:pt x="393" y="80"/>
                  </a:lnTo>
                  <a:lnTo>
                    <a:pt x="361" y="61"/>
                  </a:lnTo>
                  <a:lnTo>
                    <a:pt x="328" y="40"/>
                  </a:lnTo>
                  <a:lnTo>
                    <a:pt x="278" y="19"/>
                  </a:lnTo>
                  <a:lnTo>
                    <a:pt x="262" y="19"/>
                  </a:lnTo>
                  <a:lnTo>
                    <a:pt x="247" y="19"/>
                  </a:lnTo>
                  <a:lnTo>
                    <a:pt x="213" y="0"/>
                  </a:lnTo>
                  <a:lnTo>
                    <a:pt x="181" y="19"/>
                  </a:lnTo>
                  <a:lnTo>
                    <a:pt x="163" y="40"/>
                  </a:lnTo>
                  <a:lnTo>
                    <a:pt x="66" y="100"/>
                  </a:lnTo>
                  <a:lnTo>
                    <a:pt x="16" y="139"/>
                  </a:lnTo>
                  <a:lnTo>
                    <a:pt x="0" y="279"/>
                  </a:lnTo>
                  <a:lnTo>
                    <a:pt x="16" y="30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218" name="Freeform 187"/>
            <p:cNvSpPr>
              <a:spLocks/>
            </p:cNvSpPr>
            <p:nvPr/>
          </p:nvSpPr>
          <p:spPr bwMode="auto">
            <a:xfrm>
              <a:off x="1894" y="3131"/>
              <a:ext cx="214" cy="150"/>
            </a:xfrm>
            <a:custGeom>
              <a:avLst/>
              <a:gdLst>
                <a:gd name="T0" fmla="*/ 1 w 428"/>
                <a:gd name="T1" fmla="*/ 2 h 300"/>
                <a:gd name="T2" fmla="*/ 1 w 428"/>
                <a:gd name="T3" fmla="*/ 2 h 300"/>
                <a:gd name="T4" fmla="*/ 1 w 428"/>
                <a:gd name="T5" fmla="*/ 2 h 300"/>
                <a:gd name="T6" fmla="*/ 1 w 428"/>
                <a:gd name="T7" fmla="*/ 2 h 300"/>
                <a:gd name="T8" fmla="*/ 1 w 428"/>
                <a:gd name="T9" fmla="*/ 2 h 300"/>
                <a:gd name="T10" fmla="*/ 1 w 428"/>
                <a:gd name="T11" fmla="*/ 1 h 300"/>
                <a:gd name="T12" fmla="*/ 1 w 428"/>
                <a:gd name="T13" fmla="*/ 1 h 300"/>
                <a:gd name="T14" fmla="*/ 1 w 428"/>
                <a:gd name="T15" fmla="*/ 1 h 300"/>
                <a:gd name="T16" fmla="*/ 2 w 428"/>
                <a:gd name="T17" fmla="*/ 1 h 300"/>
                <a:gd name="T18" fmla="*/ 2 w 428"/>
                <a:gd name="T19" fmla="*/ 1 h 300"/>
                <a:gd name="T20" fmla="*/ 2 w 428"/>
                <a:gd name="T21" fmla="*/ 1 h 300"/>
                <a:gd name="T22" fmla="*/ 2 w 428"/>
                <a:gd name="T23" fmla="*/ 1 h 300"/>
                <a:gd name="T24" fmla="*/ 2 w 428"/>
                <a:gd name="T25" fmla="*/ 1 h 300"/>
                <a:gd name="T26" fmla="*/ 2 w 428"/>
                <a:gd name="T27" fmla="*/ 1 h 300"/>
                <a:gd name="T28" fmla="*/ 2 w 428"/>
                <a:gd name="T29" fmla="*/ 1 h 300"/>
                <a:gd name="T30" fmla="*/ 2 w 428"/>
                <a:gd name="T31" fmla="*/ 1 h 300"/>
                <a:gd name="T32" fmla="*/ 2 w 428"/>
                <a:gd name="T33" fmla="*/ 1 h 300"/>
                <a:gd name="T34" fmla="*/ 2 w 428"/>
                <a:gd name="T35" fmla="*/ 1 h 300"/>
                <a:gd name="T36" fmla="*/ 2 w 428"/>
                <a:gd name="T37" fmla="*/ 1 h 300"/>
                <a:gd name="T38" fmla="*/ 2 w 428"/>
                <a:gd name="T39" fmla="*/ 1 h 300"/>
                <a:gd name="T40" fmla="*/ 2 w 428"/>
                <a:gd name="T41" fmla="*/ 1 h 300"/>
                <a:gd name="T42" fmla="*/ 2 w 428"/>
                <a:gd name="T43" fmla="*/ 1 h 300"/>
                <a:gd name="T44" fmla="*/ 2 w 428"/>
                <a:gd name="T45" fmla="*/ 1 h 300"/>
                <a:gd name="T46" fmla="*/ 2 w 428"/>
                <a:gd name="T47" fmla="*/ 1 h 300"/>
                <a:gd name="T48" fmla="*/ 2 w 428"/>
                <a:gd name="T49" fmla="*/ 1 h 300"/>
                <a:gd name="T50" fmla="*/ 2 w 428"/>
                <a:gd name="T51" fmla="*/ 1 h 300"/>
                <a:gd name="T52" fmla="*/ 2 w 428"/>
                <a:gd name="T53" fmla="*/ 1 h 300"/>
                <a:gd name="T54" fmla="*/ 2 w 428"/>
                <a:gd name="T55" fmla="*/ 1 h 300"/>
                <a:gd name="T56" fmla="*/ 2 w 428"/>
                <a:gd name="T57" fmla="*/ 1 h 300"/>
                <a:gd name="T58" fmla="*/ 2 w 428"/>
                <a:gd name="T59" fmla="*/ 1 h 300"/>
                <a:gd name="T60" fmla="*/ 2 w 428"/>
                <a:gd name="T61" fmla="*/ 1 h 300"/>
                <a:gd name="T62" fmla="*/ 2 w 428"/>
                <a:gd name="T63" fmla="*/ 1 h 300"/>
                <a:gd name="T64" fmla="*/ 2 w 428"/>
                <a:gd name="T65" fmla="*/ 1 h 300"/>
                <a:gd name="T66" fmla="*/ 2 w 428"/>
                <a:gd name="T67" fmla="*/ 1 h 300"/>
                <a:gd name="T68" fmla="*/ 2 w 428"/>
                <a:gd name="T69" fmla="*/ 1 h 300"/>
                <a:gd name="T70" fmla="*/ 2 w 428"/>
                <a:gd name="T71" fmla="*/ 1 h 300"/>
                <a:gd name="T72" fmla="*/ 2 w 428"/>
                <a:gd name="T73" fmla="*/ 1 h 300"/>
                <a:gd name="T74" fmla="*/ 2 w 428"/>
                <a:gd name="T75" fmla="*/ 1 h 300"/>
                <a:gd name="T76" fmla="*/ 2 w 428"/>
                <a:gd name="T77" fmla="*/ 1 h 300"/>
                <a:gd name="T78" fmla="*/ 2 w 428"/>
                <a:gd name="T79" fmla="*/ 1 h 300"/>
                <a:gd name="T80" fmla="*/ 2 w 428"/>
                <a:gd name="T81" fmla="*/ 1 h 300"/>
                <a:gd name="T82" fmla="*/ 2 w 428"/>
                <a:gd name="T83" fmla="*/ 1 h 300"/>
                <a:gd name="T84" fmla="*/ 2 w 428"/>
                <a:gd name="T85" fmla="*/ 1 h 300"/>
                <a:gd name="T86" fmla="*/ 2 w 428"/>
                <a:gd name="T87" fmla="*/ 1 h 300"/>
                <a:gd name="T88" fmla="*/ 1 w 428"/>
                <a:gd name="T89" fmla="*/ 1 h 300"/>
                <a:gd name="T90" fmla="*/ 1 w 428"/>
                <a:gd name="T91" fmla="*/ 0 h 300"/>
                <a:gd name="T92" fmla="*/ 1 w 428"/>
                <a:gd name="T93" fmla="*/ 0 h 300"/>
                <a:gd name="T94" fmla="*/ 1 w 428"/>
                <a:gd name="T95" fmla="*/ 1 h 300"/>
                <a:gd name="T96" fmla="*/ 1 w 428"/>
                <a:gd name="T97" fmla="*/ 1 h 300"/>
                <a:gd name="T98" fmla="*/ 1 w 428"/>
                <a:gd name="T99" fmla="*/ 1 h 300"/>
                <a:gd name="T100" fmla="*/ 1 w 428"/>
                <a:gd name="T101" fmla="*/ 1 h 300"/>
                <a:gd name="T102" fmla="*/ 0 w 428"/>
                <a:gd name="T103" fmla="*/ 2 h 300"/>
                <a:gd name="T104" fmla="*/ 1 w 428"/>
                <a:gd name="T105" fmla="*/ 2 h 30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28"/>
                <a:gd name="T160" fmla="*/ 0 h 300"/>
                <a:gd name="T161" fmla="*/ 428 w 428"/>
                <a:gd name="T162" fmla="*/ 300 h 30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28" h="300">
                  <a:moveTo>
                    <a:pt x="16" y="300"/>
                  </a:moveTo>
                  <a:lnTo>
                    <a:pt x="66" y="300"/>
                  </a:lnTo>
                  <a:lnTo>
                    <a:pt x="98" y="300"/>
                  </a:lnTo>
                  <a:lnTo>
                    <a:pt x="114" y="279"/>
                  </a:lnTo>
                  <a:lnTo>
                    <a:pt x="163" y="260"/>
                  </a:lnTo>
                  <a:lnTo>
                    <a:pt x="197" y="240"/>
                  </a:lnTo>
                  <a:lnTo>
                    <a:pt x="213" y="219"/>
                  </a:lnTo>
                  <a:lnTo>
                    <a:pt x="230" y="219"/>
                  </a:lnTo>
                  <a:lnTo>
                    <a:pt x="262" y="200"/>
                  </a:lnTo>
                  <a:lnTo>
                    <a:pt x="296" y="200"/>
                  </a:lnTo>
                  <a:lnTo>
                    <a:pt x="313" y="200"/>
                  </a:lnTo>
                  <a:lnTo>
                    <a:pt x="328" y="200"/>
                  </a:lnTo>
                  <a:lnTo>
                    <a:pt x="344" y="219"/>
                  </a:lnTo>
                  <a:lnTo>
                    <a:pt x="361" y="219"/>
                  </a:lnTo>
                  <a:lnTo>
                    <a:pt x="378" y="219"/>
                  </a:lnTo>
                  <a:lnTo>
                    <a:pt x="393" y="219"/>
                  </a:lnTo>
                  <a:lnTo>
                    <a:pt x="393" y="200"/>
                  </a:lnTo>
                  <a:lnTo>
                    <a:pt x="411" y="200"/>
                  </a:lnTo>
                  <a:lnTo>
                    <a:pt x="411" y="180"/>
                  </a:lnTo>
                  <a:lnTo>
                    <a:pt x="428" y="180"/>
                  </a:lnTo>
                  <a:lnTo>
                    <a:pt x="428" y="160"/>
                  </a:lnTo>
                  <a:lnTo>
                    <a:pt x="428" y="139"/>
                  </a:lnTo>
                  <a:lnTo>
                    <a:pt x="411" y="139"/>
                  </a:lnTo>
                  <a:lnTo>
                    <a:pt x="411" y="121"/>
                  </a:lnTo>
                  <a:lnTo>
                    <a:pt x="411" y="100"/>
                  </a:lnTo>
                  <a:lnTo>
                    <a:pt x="393" y="80"/>
                  </a:lnTo>
                  <a:lnTo>
                    <a:pt x="361" y="61"/>
                  </a:lnTo>
                  <a:lnTo>
                    <a:pt x="328" y="40"/>
                  </a:lnTo>
                  <a:lnTo>
                    <a:pt x="278" y="19"/>
                  </a:lnTo>
                  <a:lnTo>
                    <a:pt x="262" y="19"/>
                  </a:lnTo>
                  <a:lnTo>
                    <a:pt x="247" y="19"/>
                  </a:lnTo>
                  <a:lnTo>
                    <a:pt x="213" y="0"/>
                  </a:lnTo>
                  <a:lnTo>
                    <a:pt x="181" y="19"/>
                  </a:lnTo>
                  <a:lnTo>
                    <a:pt x="163" y="40"/>
                  </a:lnTo>
                  <a:lnTo>
                    <a:pt x="66" y="100"/>
                  </a:lnTo>
                  <a:lnTo>
                    <a:pt x="16" y="139"/>
                  </a:lnTo>
                  <a:lnTo>
                    <a:pt x="0" y="279"/>
                  </a:lnTo>
                  <a:lnTo>
                    <a:pt x="16" y="30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219" name="Freeform 188"/>
            <p:cNvSpPr>
              <a:spLocks/>
            </p:cNvSpPr>
            <p:nvPr/>
          </p:nvSpPr>
          <p:spPr bwMode="auto">
            <a:xfrm>
              <a:off x="2009" y="3191"/>
              <a:ext cx="82" cy="39"/>
            </a:xfrm>
            <a:custGeom>
              <a:avLst/>
              <a:gdLst>
                <a:gd name="T0" fmla="*/ 0 w 163"/>
                <a:gd name="T1" fmla="*/ 0 h 79"/>
                <a:gd name="T2" fmla="*/ 1 w 163"/>
                <a:gd name="T3" fmla="*/ 0 h 79"/>
                <a:gd name="T4" fmla="*/ 1 w 163"/>
                <a:gd name="T5" fmla="*/ 0 h 79"/>
                <a:gd name="T6" fmla="*/ 1 w 163"/>
                <a:gd name="T7" fmla="*/ 0 h 79"/>
                <a:gd name="T8" fmla="*/ 1 w 163"/>
                <a:gd name="T9" fmla="*/ 0 h 79"/>
                <a:gd name="T10" fmla="*/ 1 w 163"/>
                <a:gd name="T11" fmla="*/ 0 h 79"/>
                <a:gd name="T12" fmla="*/ 1 w 163"/>
                <a:gd name="T13" fmla="*/ 0 h 79"/>
                <a:gd name="T14" fmla="*/ 1 w 163"/>
                <a:gd name="T15" fmla="*/ 0 h 79"/>
                <a:gd name="T16" fmla="*/ 1 w 163"/>
                <a:gd name="T17" fmla="*/ 0 h 79"/>
                <a:gd name="T18" fmla="*/ 1 w 163"/>
                <a:gd name="T19" fmla="*/ 0 h 79"/>
                <a:gd name="T20" fmla="*/ 1 w 163"/>
                <a:gd name="T21" fmla="*/ 0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3"/>
                <a:gd name="T34" fmla="*/ 0 h 79"/>
                <a:gd name="T35" fmla="*/ 163 w 163"/>
                <a:gd name="T36" fmla="*/ 79 h 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3" h="79">
                  <a:moveTo>
                    <a:pt x="0" y="0"/>
                  </a:moveTo>
                  <a:lnTo>
                    <a:pt x="32" y="0"/>
                  </a:lnTo>
                  <a:lnTo>
                    <a:pt x="48" y="18"/>
                  </a:lnTo>
                  <a:lnTo>
                    <a:pt x="66" y="18"/>
                  </a:lnTo>
                  <a:lnTo>
                    <a:pt x="82" y="40"/>
                  </a:lnTo>
                  <a:lnTo>
                    <a:pt x="97" y="40"/>
                  </a:lnTo>
                  <a:lnTo>
                    <a:pt x="114" y="59"/>
                  </a:lnTo>
                  <a:lnTo>
                    <a:pt x="131" y="59"/>
                  </a:lnTo>
                  <a:lnTo>
                    <a:pt x="148" y="79"/>
                  </a:lnTo>
                  <a:lnTo>
                    <a:pt x="163" y="7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220" name="Freeform 189"/>
            <p:cNvSpPr>
              <a:spLocks/>
            </p:cNvSpPr>
            <p:nvPr/>
          </p:nvSpPr>
          <p:spPr bwMode="auto">
            <a:xfrm>
              <a:off x="2000" y="3161"/>
              <a:ext cx="99" cy="29"/>
            </a:xfrm>
            <a:custGeom>
              <a:avLst/>
              <a:gdLst>
                <a:gd name="T0" fmla="*/ 0 w 198"/>
                <a:gd name="T1" fmla="*/ 0 h 59"/>
                <a:gd name="T2" fmla="*/ 1 w 198"/>
                <a:gd name="T3" fmla="*/ 0 h 59"/>
                <a:gd name="T4" fmla="*/ 1 w 198"/>
                <a:gd name="T5" fmla="*/ 0 h 59"/>
                <a:gd name="T6" fmla="*/ 1 w 198"/>
                <a:gd name="T7" fmla="*/ 0 h 59"/>
                <a:gd name="T8" fmla="*/ 1 w 198"/>
                <a:gd name="T9" fmla="*/ 0 h 59"/>
                <a:gd name="T10" fmla="*/ 1 w 198"/>
                <a:gd name="T11" fmla="*/ 0 h 59"/>
                <a:gd name="T12" fmla="*/ 1 w 198"/>
                <a:gd name="T13" fmla="*/ 0 h 59"/>
                <a:gd name="T14" fmla="*/ 1 w 198"/>
                <a:gd name="T15" fmla="*/ 0 h 59"/>
                <a:gd name="T16" fmla="*/ 1 w 198"/>
                <a:gd name="T17" fmla="*/ 0 h 59"/>
                <a:gd name="T18" fmla="*/ 1 w 198"/>
                <a:gd name="T19" fmla="*/ 0 h 59"/>
                <a:gd name="T20" fmla="*/ 1 w 198"/>
                <a:gd name="T21" fmla="*/ 0 h 59"/>
                <a:gd name="T22" fmla="*/ 1 w 198"/>
                <a:gd name="T23" fmla="*/ 0 h 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8"/>
                <a:gd name="T37" fmla="*/ 0 h 59"/>
                <a:gd name="T38" fmla="*/ 198 w 198"/>
                <a:gd name="T39" fmla="*/ 59 h 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8" h="59">
                  <a:moveTo>
                    <a:pt x="0" y="0"/>
                  </a:moveTo>
                  <a:lnTo>
                    <a:pt x="33" y="0"/>
                  </a:lnTo>
                  <a:lnTo>
                    <a:pt x="49" y="0"/>
                  </a:lnTo>
                  <a:lnTo>
                    <a:pt x="65" y="0"/>
                  </a:lnTo>
                  <a:lnTo>
                    <a:pt x="99" y="0"/>
                  </a:lnTo>
                  <a:lnTo>
                    <a:pt x="114" y="18"/>
                  </a:lnTo>
                  <a:lnTo>
                    <a:pt x="131" y="18"/>
                  </a:lnTo>
                  <a:lnTo>
                    <a:pt x="148" y="39"/>
                  </a:lnTo>
                  <a:lnTo>
                    <a:pt x="165" y="39"/>
                  </a:lnTo>
                  <a:lnTo>
                    <a:pt x="180" y="59"/>
                  </a:lnTo>
                  <a:lnTo>
                    <a:pt x="198" y="5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221" name="Freeform 190"/>
            <p:cNvSpPr>
              <a:spLocks/>
            </p:cNvSpPr>
            <p:nvPr/>
          </p:nvSpPr>
          <p:spPr bwMode="auto">
            <a:xfrm>
              <a:off x="2000" y="3170"/>
              <a:ext cx="99" cy="50"/>
            </a:xfrm>
            <a:custGeom>
              <a:avLst/>
              <a:gdLst>
                <a:gd name="T0" fmla="*/ 0 w 198"/>
                <a:gd name="T1" fmla="*/ 0 h 100"/>
                <a:gd name="T2" fmla="*/ 1 w 198"/>
                <a:gd name="T3" fmla="*/ 0 h 100"/>
                <a:gd name="T4" fmla="*/ 1 w 198"/>
                <a:gd name="T5" fmla="*/ 0 h 100"/>
                <a:gd name="T6" fmla="*/ 1 w 198"/>
                <a:gd name="T7" fmla="*/ 1 h 100"/>
                <a:gd name="T8" fmla="*/ 1 w 198"/>
                <a:gd name="T9" fmla="*/ 1 h 100"/>
                <a:gd name="T10" fmla="*/ 1 w 198"/>
                <a:gd name="T11" fmla="*/ 1 h 100"/>
                <a:gd name="T12" fmla="*/ 1 w 198"/>
                <a:gd name="T13" fmla="*/ 1 h 100"/>
                <a:gd name="T14" fmla="*/ 1 w 198"/>
                <a:gd name="T15" fmla="*/ 1 h 100"/>
                <a:gd name="T16" fmla="*/ 1 w 198"/>
                <a:gd name="T17" fmla="*/ 1 h 100"/>
                <a:gd name="T18" fmla="*/ 1 w 198"/>
                <a:gd name="T19" fmla="*/ 1 h 100"/>
                <a:gd name="T20" fmla="*/ 1 w 198"/>
                <a:gd name="T21" fmla="*/ 1 h 100"/>
                <a:gd name="T22" fmla="*/ 1 w 198"/>
                <a:gd name="T23" fmla="*/ 1 h 100"/>
                <a:gd name="T24" fmla="*/ 1 w 198"/>
                <a:gd name="T25" fmla="*/ 1 h 100"/>
                <a:gd name="T26" fmla="*/ 1 w 198"/>
                <a:gd name="T27" fmla="*/ 1 h 1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98"/>
                <a:gd name="T43" fmla="*/ 0 h 100"/>
                <a:gd name="T44" fmla="*/ 198 w 198"/>
                <a:gd name="T45" fmla="*/ 100 h 1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98" h="100">
                  <a:moveTo>
                    <a:pt x="0" y="0"/>
                  </a:moveTo>
                  <a:lnTo>
                    <a:pt x="16" y="0"/>
                  </a:lnTo>
                  <a:lnTo>
                    <a:pt x="49" y="0"/>
                  </a:lnTo>
                  <a:lnTo>
                    <a:pt x="65" y="21"/>
                  </a:lnTo>
                  <a:lnTo>
                    <a:pt x="81" y="21"/>
                  </a:lnTo>
                  <a:lnTo>
                    <a:pt x="114" y="41"/>
                  </a:lnTo>
                  <a:lnTo>
                    <a:pt x="131" y="41"/>
                  </a:lnTo>
                  <a:lnTo>
                    <a:pt x="148" y="60"/>
                  </a:lnTo>
                  <a:lnTo>
                    <a:pt x="165" y="60"/>
                  </a:lnTo>
                  <a:lnTo>
                    <a:pt x="180" y="82"/>
                  </a:lnTo>
                  <a:lnTo>
                    <a:pt x="198" y="10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222" name="Freeform 191"/>
            <p:cNvSpPr>
              <a:spLocks/>
            </p:cNvSpPr>
            <p:nvPr/>
          </p:nvSpPr>
          <p:spPr bwMode="auto">
            <a:xfrm>
              <a:off x="1918" y="3091"/>
              <a:ext cx="24" cy="20"/>
            </a:xfrm>
            <a:custGeom>
              <a:avLst/>
              <a:gdLst>
                <a:gd name="T0" fmla="*/ 0 w 50"/>
                <a:gd name="T1" fmla="*/ 1 h 39"/>
                <a:gd name="T2" fmla="*/ 0 w 50"/>
                <a:gd name="T3" fmla="*/ 1 h 39"/>
                <a:gd name="T4" fmla="*/ 0 w 50"/>
                <a:gd name="T5" fmla="*/ 1 h 39"/>
                <a:gd name="T6" fmla="*/ 0 w 50"/>
                <a:gd name="T7" fmla="*/ 0 h 39"/>
                <a:gd name="T8" fmla="*/ 0 w 50"/>
                <a:gd name="T9" fmla="*/ 0 h 39"/>
                <a:gd name="T10" fmla="*/ 0 w 50"/>
                <a:gd name="T11" fmla="*/ 0 h 39"/>
                <a:gd name="T12" fmla="*/ 0 w 50"/>
                <a:gd name="T13" fmla="*/ 1 h 39"/>
                <a:gd name="T14" fmla="*/ 0 w 50"/>
                <a:gd name="T15" fmla="*/ 1 h 39"/>
                <a:gd name="T16" fmla="*/ 0 w 50"/>
                <a:gd name="T17" fmla="*/ 1 h 39"/>
                <a:gd name="T18" fmla="*/ 0 w 50"/>
                <a:gd name="T19" fmla="*/ 1 h 39"/>
                <a:gd name="T20" fmla="*/ 0 w 50"/>
                <a:gd name="T21" fmla="*/ 1 h 39"/>
                <a:gd name="T22" fmla="*/ 0 w 50"/>
                <a:gd name="T23" fmla="*/ 1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
                <a:gd name="T37" fmla="*/ 0 h 39"/>
                <a:gd name="T38" fmla="*/ 50 w 50"/>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 h="39">
                  <a:moveTo>
                    <a:pt x="0" y="39"/>
                  </a:moveTo>
                  <a:lnTo>
                    <a:pt x="18" y="20"/>
                  </a:lnTo>
                  <a:lnTo>
                    <a:pt x="35" y="20"/>
                  </a:lnTo>
                  <a:lnTo>
                    <a:pt x="50" y="0"/>
                  </a:lnTo>
                  <a:lnTo>
                    <a:pt x="50" y="20"/>
                  </a:lnTo>
                  <a:lnTo>
                    <a:pt x="35" y="20"/>
                  </a:lnTo>
                  <a:lnTo>
                    <a:pt x="18" y="20"/>
                  </a:lnTo>
                  <a:lnTo>
                    <a:pt x="18" y="39"/>
                  </a:lnTo>
                  <a:lnTo>
                    <a:pt x="0" y="3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223" name="Freeform 192"/>
            <p:cNvSpPr>
              <a:spLocks/>
            </p:cNvSpPr>
            <p:nvPr/>
          </p:nvSpPr>
          <p:spPr bwMode="auto">
            <a:xfrm>
              <a:off x="1918" y="3081"/>
              <a:ext cx="24" cy="20"/>
            </a:xfrm>
            <a:custGeom>
              <a:avLst/>
              <a:gdLst>
                <a:gd name="T0" fmla="*/ 0 w 50"/>
                <a:gd name="T1" fmla="*/ 1 h 39"/>
                <a:gd name="T2" fmla="*/ 0 w 50"/>
                <a:gd name="T3" fmla="*/ 1 h 39"/>
                <a:gd name="T4" fmla="*/ 0 w 50"/>
                <a:gd name="T5" fmla="*/ 0 h 39"/>
                <a:gd name="T6" fmla="*/ 0 60000 65536"/>
                <a:gd name="T7" fmla="*/ 0 60000 65536"/>
                <a:gd name="T8" fmla="*/ 0 60000 65536"/>
                <a:gd name="T9" fmla="*/ 0 w 50"/>
                <a:gd name="T10" fmla="*/ 0 h 39"/>
                <a:gd name="T11" fmla="*/ 50 w 50"/>
                <a:gd name="T12" fmla="*/ 39 h 39"/>
              </a:gdLst>
              <a:ahLst/>
              <a:cxnLst>
                <a:cxn ang="T6">
                  <a:pos x="T0" y="T1"/>
                </a:cxn>
                <a:cxn ang="T7">
                  <a:pos x="T2" y="T3"/>
                </a:cxn>
                <a:cxn ang="T8">
                  <a:pos x="T4" y="T5"/>
                </a:cxn>
              </a:cxnLst>
              <a:rect l="T9" t="T10" r="T11" b="T12"/>
              <a:pathLst>
                <a:path w="50" h="39">
                  <a:moveTo>
                    <a:pt x="0" y="39"/>
                  </a:moveTo>
                  <a:lnTo>
                    <a:pt x="35" y="19"/>
                  </a:lnTo>
                  <a:lnTo>
                    <a:pt x="50"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224" name="Freeform 193"/>
            <p:cNvSpPr>
              <a:spLocks/>
            </p:cNvSpPr>
            <p:nvPr/>
          </p:nvSpPr>
          <p:spPr bwMode="auto">
            <a:xfrm>
              <a:off x="1680" y="3131"/>
              <a:ext cx="41" cy="60"/>
            </a:xfrm>
            <a:custGeom>
              <a:avLst/>
              <a:gdLst>
                <a:gd name="T0" fmla="*/ 0 w 82"/>
                <a:gd name="T1" fmla="*/ 1 h 120"/>
                <a:gd name="T2" fmla="*/ 1 w 82"/>
                <a:gd name="T3" fmla="*/ 1 h 120"/>
                <a:gd name="T4" fmla="*/ 1 w 82"/>
                <a:gd name="T5" fmla="*/ 1 h 120"/>
                <a:gd name="T6" fmla="*/ 1 w 82"/>
                <a:gd name="T7" fmla="*/ 1 h 120"/>
                <a:gd name="T8" fmla="*/ 1 w 82"/>
                <a:gd name="T9" fmla="*/ 0 h 120"/>
                <a:gd name="T10" fmla="*/ 0 60000 65536"/>
                <a:gd name="T11" fmla="*/ 0 60000 65536"/>
                <a:gd name="T12" fmla="*/ 0 60000 65536"/>
                <a:gd name="T13" fmla="*/ 0 60000 65536"/>
                <a:gd name="T14" fmla="*/ 0 60000 65536"/>
                <a:gd name="T15" fmla="*/ 0 w 82"/>
                <a:gd name="T16" fmla="*/ 0 h 120"/>
                <a:gd name="T17" fmla="*/ 82 w 82"/>
                <a:gd name="T18" fmla="*/ 120 h 120"/>
              </a:gdLst>
              <a:ahLst/>
              <a:cxnLst>
                <a:cxn ang="T10">
                  <a:pos x="T0" y="T1"/>
                </a:cxn>
                <a:cxn ang="T11">
                  <a:pos x="T2" y="T3"/>
                </a:cxn>
                <a:cxn ang="T12">
                  <a:pos x="T4" y="T5"/>
                </a:cxn>
                <a:cxn ang="T13">
                  <a:pos x="T6" y="T7"/>
                </a:cxn>
                <a:cxn ang="T14">
                  <a:pos x="T8" y="T9"/>
                </a:cxn>
              </a:cxnLst>
              <a:rect l="T15" t="T16" r="T17" b="T18"/>
              <a:pathLst>
                <a:path w="82" h="120">
                  <a:moveTo>
                    <a:pt x="0" y="120"/>
                  </a:moveTo>
                  <a:lnTo>
                    <a:pt x="17" y="80"/>
                  </a:lnTo>
                  <a:lnTo>
                    <a:pt x="50" y="40"/>
                  </a:lnTo>
                  <a:lnTo>
                    <a:pt x="82" y="19"/>
                  </a:lnTo>
                  <a:lnTo>
                    <a:pt x="82"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225" name="Freeform 194"/>
            <p:cNvSpPr>
              <a:spLocks/>
            </p:cNvSpPr>
            <p:nvPr/>
          </p:nvSpPr>
          <p:spPr bwMode="auto">
            <a:xfrm>
              <a:off x="1680" y="3151"/>
              <a:ext cx="41" cy="40"/>
            </a:xfrm>
            <a:custGeom>
              <a:avLst/>
              <a:gdLst>
                <a:gd name="T0" fmla="*/ 0 w 82"/>
                <a:gd name="T1" fmla="*/ 1 h 80"/>
                <a:gd name="T2" fmla="*/ 1 w 82"/>
                <a:gd name="T3" fmla="*/ 1 h 80"/>
                <a:gd name="T4" fmla="*/ 1 w 82"/>
                <a:gd name="T5" fmla="*/ 1 h 80"/>
                <a:gd name="T6" fmla="*/ 1 w 82"/>
                <a:gd name="T7" fmla="*/ 1 h 80"/>
                <a:gd name="T8" fmla="*/ 1 w 82"/>
                <a:gd name="T9" fmla="*/ 0 h 80"/>
                <a:gd name="T10" fmla="*/ 1 w 82"/>
                <a:gd name="T11" fmla="*/ 0 h 80"/>
                <a:gd name="T12" fmla="*/ 0 60000 65536"/>
                <a:gd name="T13" fmla="*/ 0 60000 65536"/>
                <a:gd name="T14" fmla="*/ 0 60000 65536"/>
                <a:gd name="T15" fmla="*/ 0 60000 65536"/>
                <a:gd name="T16" fmla="*/ 0 60000 65536"/>
                <a:gd name="T17" fmla="*/ 0 60000 65536"/>
                <a:gd name="T18" fmla="*/ 0 w 82"/>
                <a:gd name="T19" fmla="*/ 0 h 80"/>
                <a:gd name="T20" fmla="*/ 82 w 82"/>
                <a:gd name="T21" fmla="*/ 80 h 80"/>
              </a:gdLst>
              <a:ahLst/>
              <a:cxnLst>
                <a:cxn ang="T12">
                  <a:pos x="T0" y="T1"/>
                </a:cxn>
                <a:cxn ang="T13">
                  <a:pos x="T2" y="T3"/>
                </a:cxn>
                <a:cxn ang="T14">
                  <a:pos x="T4" y="T5"/>
                </a:cxn>
                <a:cxn ang="T15">
                  <a:pos x="T6" y="T7"/>
                </a:cxn>
                <a:cxn ang="T16">
                  <a:pos x="T8" y="T9"/>
                </a:cxn>
                <a:cxn ang="T17">
                  <a:pos x="T10" y="T11"/>
                </a:cxn>
              </a:cxnLst>
              <a:rect l="T18" t="T19" r="T20" b="T21"/>
              <a:pathLst>
                <a:path w="82" h="80">
                  <a:moveTo>
                    <a:pt x="0" y="80"/>
                  </a:moveTo>
                  <a:lnTo>
                    <a:pt x="34" y="60"/>
                  </a:lnTo>
                  <a:lnTo>
                    <a:pt x="50" y="60"/>
                  </a:lnTo>
                  <a:lnTo>
                    <a:pt x="67" y="40"/>
                  </a:lnTo>
                  <a:lnTo>
                    <a:pt x="82" y="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226" name="Freeform 195"/>
            <p:cNvSpPr>
              <a:spLocks/>
            </p:cNvSpPr>
            <p:nvPr/>
          </p:nvSpPr>
          <p:spPr bwMode="auto">
            <a:xfrm>
              <a:off x="3267" y="2952"/>
              <a:ext cx="172" cy="238"/>
            </a:xfrm>
            <a:custGeom>
              <a:avLst/>
              <a:gdLst>
                <a:gd name="T0" fmla="*/ 0 w 345"/>
                <a:gd name="T1" fmla="*/ 0 h 478"/>
                <a:gd name="T2" fmla="*/ 0 w 345"/>
                <a:gd name="T3" fmla="*/ 0 h 478"/>
                <a:gd name="T4" fmla="*/ 1 w 345"/>
                <a:gd name="T5" fmla="*/ 1 h 478"/>
                <a:gd name="T6" fmla="*/ 1 w 345"/>
                <a:gd name="T7" fmla="*/ 1 h 478"/>
                <a:gd name="T8" fmla="*/ 0 w 345"/>
                <a:gd name="T9" fmla="*/ 1 h 478"/>
                <a:gd name="T10" fmla="*/ 0 w 345"/>
                <a:gd name="T11" fmla="*/ 0 h 478"/>
                <a:gd name="T12" fmla="*/ 0 60000 65536"/>
                <a:gd name="T13" fmla="*/ 0 60000 65536"/>
                <a:gd name="T14" fmla="*/ 0 60000 65536"/>
                <a:gd name="T15" fmla="*/ 0 60000 65536"/>
                <a:gd name="T16" fmla="*/ 0 60000 65536"/>
                <a:gd name="T17" fmla="*/ 0 60000 65536"/>
                <a:gd name="T18" fmla="*/ 0 w 345"/>
                <a:gd name="T19" fmla="*/ 0 h 478"/>
                <a:gd name="T20" fmla="*/ 345 w 345"/>
                <a:gd name="T21" fmla="*/ 478 h 478"/>
              </a:gdLst>
              <a:ahLst/>
              <a:cxnLst>
                <a:cxn ang="T12">
                  <a:pos x="T0" y="T1"/>
                </a:cxn>
                <a:cxn ang="T13">
                  <a:pos x="T2" y="T3"/>
                </a:cxn>
                <a:cxn ang="T14">
                  <a:pos x="T4" y="T5"/>
                </a:cxn>
                <a:cxn ang="T15">
                  <a:pos x="T6" y="T7"/>
                </a:cxn>
                <a:cxn ang="T16">
                  <a:pos x="T8" y="T9"/>
                </a:cxn>
                <a:cxn ang="T17">
                  <a:pos x="T10" y="T11"/>
                </a:cxn>
              </a:cxnLst>
              <a:rect l="T18" t="T19" r="T20" b="T21"/>
              <a:pathLst>
                <a:path w="345" h="478">
                  <a:moveTo>
                    <a:pt x="0" y="59"/>
                  </a:moveTo>
                  <a:lnTo>
                    <a:pt x="149" y="0"/>
                  </a:lnTo>
                  <a:lnTo>
                    <a:pt x="345" y="338"/>
                  </a:lnTo>
                  <a:lnTo>
                    <a:pt x="329" y="437"/>
                  </a:lnTo>
                  <a:lnTo>
                    <a:pt x="230" y="478"/>
                  </a:lnTo>
                  <a:lnTo>
                    <a:pt x="0" y="5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227" name="Freeform 196"/>
            <p:cNvSpPr>
              <a:spLocks/>
            </p:cNvSpPr>
            <p:nvPr/>
          </p:nvSpPr>
          <p:spPr bwMode="auto">
            <a:xfrm>
              <a:off x="3267" y="2952"/>
              <a:ext cx="172" cy="238"/>
            </a:xfrm>
            <a:custGeom>
              <a:avLst/>
              <a:gdLst>
                <a:gd name="T0" fmla="*/ 0 w 345"/>
                <a:gd name="T1" fmla="*/ 0 h 478"/>
                <a:gd name="T2" fmla="*/ 0 w 345"/>
                <a:gd name="T3" fmla="*/ 0 h 478"/>
                <a:gd name="T4" fmla="*/ 1 w 345"/>
                <a:gd name="T5" fmla="*/ 1 h 478"/>
                <a:gd name="T6" fmla="*/ 1 w 345"/>
                <a:gd name="T7" fmla="*/ 1 h 478"/>
                <a:gd name="T8" fmla="*/ 0 w 345"/>
                <a:gd name="T9" fmla="*/ 1 h 478"/>
                <a:gd name="T10" fmla="*/ 0 w 345"/>
                <a:gd name="T11" fmla="*/ 0 h 478"/>
                <a:gd name="T12" fmla="*/ 0 60000 65536"/>
                <a:gd name="T13" fmla="*/ 0 60000 65536"/>
                <a:gd name="T14" fmla="*/ 0 60000 65536"/>
                <a:gd name="T15" fmla="*/ 0 60000 65536"/>
                <a:gd name="T16" fmla="*/ 0 60000 65536"/>
                <a:gd name="T17" fmla="*/ 0 60000 65536"/>
                <a:gd name="T18" fmla="*/ 0 w 345"/>
                <a:gd name="T19" fmla="*/ 0 h 478"/>
                <a:gd name="T20" fmla="*/ 345 w 345"/>
                <a:gd name="T21" fmla="*/ 478 h 478"/>
              </a:gdLst>
              <a:ahLst/>
              <a:cxnLst>
                <a:cxn ang="T12">
                  <a:pos x="T0" y="T1"/>
                </a:cxn>
                <a:cxn ang="T13">
                  <a:pos x="T2" y="T3"/>
                </a:cxn>
                <a:cxn ang="T14">
                  <a:pos x="T4" y="T5"/>
                </a:cxn>
                <a:cxn ang="T15">
                  <a:pos x="T6" y="T7"/>
                </a:cxn>
                <a:cxn ang="T16">
                  <a:pos x="T8" y="T9"/>
                </a:cxn>
                <a:cxn ang="T17">
                  <a:pos x="T10" y="T11"/>
                </a:cxn>
              </a:cxnLst>
              <a:rect l="T18" t="T19" r="T20" b="T21"/>
              <a:pathLst>
                <a:path w="345" h="478">
                  <a:moveTo>
                    <a:pt x="0" y="59"/>
                  </a:moveTo>
                  <a:lnTo>
                    <a:pt x="149" y="0"/>
                  </a:lnTo>
                  <a:lnTo>
                    <a:pt x="345" y="338"/>
                  </a:lnTo>
                  <a:lnTo>
                    <a:pt x="329" y="437"/>
                  </a:lnTo>
                  <a:lnTo>
                    <a:pt x="230" y="478"/>
                  </a:lnTo>
                  <a:lnTo>
                    <a:pt x="0" y="5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228" name="Freeform 197"/>
            <p:cNvSpPr>
              <a:spLocks/>
            </p:cNvSpPr>
            <p:nvPr/>
          </p:nvSpPr>
          <p:spPr bwMode="auto">
            <a:xfrm>
              <a:off x="3333" y="3051"/>
              <a:ext cx="246" cy="220"/>
            </a:xfrm>
            <a:custGeom>
              <a:avLst/>
              <a:gdLst>
                <a:gd name="T0" fmla="*/ 0 w 494"/>
                <a:gd name="T1" fmla="*/ 1 h 439"/>
                <a:gd name="T2" fmla="*/ 0 w 494"/>
                <a:gd name="T3" fmla="*/ 1 h 439"/>
                <a:gd name="T4" fmla="*/ 0 w 494"/>
                <a:gd name="T5" fmla="*/ 1 h 439"/>
                <a:gd name="T6" fmla="*/ 0 w 494"/>
                <a:gd name="T7" fmla="*/ 1 h 439"/>
                <a:gd name="T8" fmla="*/ 0 w 494"/>
                <a:gd name="T9" fmla="*/ 1 h 439"/>
                <a:gd name="T10" fmla="*/ 0 w 494"/>
                <a:gd name="T11" fmla="*/ 2 h 439"/>
                <a:gd name="T12" fmla="*/ 0 w 494"/>
                <a:gd name="T13" fmla="*/ 2 h 439"/>
                <a:gd name="T14" fmla="*/ 0 w 494"/>
                <a:gd name="T15" fmla="*/ 1 h 439"/>
                <a:gd name="T16" fmla="*/ 0 w 494"/>
                <a:gd name="T17" fmla="*/ 1 h 439"/>
                <a:gd name="T18" fmla="*/ 0 w 494"/>
                <a:gd name="T19" fmla="*/ 1 h 439"/>
                <a:gd name="T20" fmla="*/ 0 w 494"/>
                <a:gd name="T21" fmla="*/ 2 h 439"/>
                <a:gd name="T22" fmla="*/ 0 w 494"/>
                <a:gd name="T23" fmla="*/ 2 h 439"/>
                <a:gd name="T24" fmla="*/ 0 w 494"/>
                <a:gd name="T25" fmla="*/ 2 h 439"/>
                <a:gd name="T26" fmla="*/ 0 w 494"/>
                <a:gd name="T27" fmla="*/ 2 h 439"/>
                <a:gd name="T28" fmla="*/ 0 w 494"/>
                <a:gd name="T29" fmla="*/ 2 h 439"/>
                <a:gd name="T30" fmla="*/ 0 w 494"/>
                <a:gd name="T31" fmla="*/ 2 h 439"/>
                <a:gd name="T32" fmla="*/ 0 w 494"/>
                <a:gd name="T33" fmla="*/ 2 h 439"/>
                <a:gd name="T34" fmla="*/ 0 w 494"/>
                <a:gd name="T35" fmla="*/ 2 h 439"/>
                <a:gd name="T36" fmla="*/ 0 w 494"/>
                <a:gd name="T37" fmla="*/ 2 h 439"/>
                <a:gd name="T38" fmla="*/ 0 w 494"/>
                <a:gd name="T39" fmla="*/ 2 h 439"/>
                <a:gd name="T40" fmla="*/ 0 w 494"/>
                <a:gd name="T41" fmla="*/ 2 h 439"/>
                <a:gd name="T42" fmla="*/ 0 w 494"/>
                <a:gd name="T43" fmla="*/ 2 h 439"/>
                <a:gd name="T44" fmla="*/ 0 w 494"/>
                <a:gd name="T45" fmla="*/ 2 h 439"/>
                <a:gd name="T46" fmla="*/ 0 w 494"/>
                <a:gd name="T47" fmla="*/ 2 h 439"/>
                <a:gd name="T48" fmla="*/ 0 w 494"/>
                <a:gd name="T49" fmla="*/ 2 h 439"/>
                <a:gd name="T50" fmla="*/ 0 w 494"/>
                <a:gd name="T51" fmla="*/ 2 h 439"/>
                <a:gd name="T52" fmla="*/ 1 w 494"/>
                <a:gd name="T53" fmla="*/ 2 h 439"/>
                <a:gd name="T54" fmla="*/ 1 w 494"/>
                <a:gd name="T55" fmla="*/ 2 h 439"/>
                <a:gd name="T56" fmla="*/ 1 w 494"/>
                <a:gd name="T57" fmla="*/ 2 h 439"/>
                <a:gd name="T58" fmla="*/ 1 w 494"/>
                <a:gd name="T59" fmla="*/ 2 h 439"/>
                <a:gd name="T60" fmla="*/ 1 w 494"/>
                <a:gd name="T61" fmla="*/ 2 h 439"/>
                <a:gd name="T62" fmla="*/ 1 w 494"/>
                <a:gd name="T63" fmla="*/ 2 h 439"/>
                <a:gd name="T64" fmla="*/ 1 w 494"/>
                <a:gd name="T65" fmla="*/ 2 h 439"/>
                <a:gd name="T66" fmla="*/ 1 w 494"/>
                <a:gd name="T67" fmla="*/ 1 h 439"/>
                <a:gd name="T68" fmla="*/ 1 w 494"/>
                <a:gd name="T69" fmla="*/ 1 h 439"/>
                <a:gd name="T70" fmla="*/ 1 w 494"/>
                <a:gd name="T71" fmla="*/ 1 h 439"/>
                <a:gd name="T72" fmla="*/ 1 w 494"/>
                <a:gd name="T73" fmla="*/ 1 h 439"/>
                <a:gd name="T74" fmla="*/ 1 w 494"/>
                <a:gd name="T75" fmla="*/ 1 h 439"/>
                <a:gd name="T76" fmla="*/ 1 w 494"/>
                <a:gd name="T77" fmla="*/ 1 h 439"/>
                <a:gd name="T78" fmla="*/ 1 w 494"/>
                <a:gd name="T79" fmla="*/ 1 h 439"/>
                <a:gd name="T80" fmla="*/ 1 w 494"/>
                <a:gd name="T81" fmla="*/ 1 h 439"/>
                <a:gd name="T82" fmla="*/ 0 w 494"/>
                <a:gd name="T83" fmla="*/ 1 h 439"/>
                <a:gd name="T84" fmla="*/ 0 w 494"/>
                <a:gd name="T85" fmla="*/ 0 h 439"/>
                <a:gd name="T86" fmla="*/ 0 w 494"/>
                <a:gd name="T87" fmla="*/ 0 h 439"/>
                <a:gd name="T88" fmla="*/ 0 w 494"/>
                <a:gd name="T89" fmla="*/ 1 h 439"/>
                <a:gd name="T90" fmla="*/ 0 w 494"/>
                <a:gd name="T91" fmla="*/ 1 h 439"/>
                <a:gd name="T92" fmla="*/ 0 w 494"/>
                <a:gd name="T93" fmla="*/ 1 h 439"/>
                <a:gd name="T94" fmla="*/ 0 w 494"/>
                <a:gd name="T95" fmla="*/ 1 h 439"/>
                <a:gd name="T96" fmla="*/ 0 w 494"/>
                <a:gd name="T97" fmla="*/ 1 h 439"/>
                <a:gd name="T98" fmla="*/ 0 w 494"/>
                <a:gd name="T99" fmla="*/ 1 h 439"/>
                <a:gd name="T100" fmla="*/ 0 w 494"/>
                <a:gd name="T101" fmla="*/ 1 h 43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94"/>
                <a:gd name="T154" fmla="*/ 0 h 439"/>
                <a:gd name="T155" fmla="*/ 494 w 494"/>
                <a:gd name="T156" fmla="*/ 439 h 439"/>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94" h="439">
                  <a:moveTo>
                    <a:pt x="213" y="139"/>
                  </a:moveTo>
                  <a:lnTo>
                    <a:pt x="66" y="158"/>
                  </a:lnTo>
                  <a:lnTo>
                    <a:pt x="50" y="179"/>
                  </a:lnTo>
                  <a:lnTo>
                    <a:pt x="33" y="198"/>
                  </a:lnTo>
                  <a:lnTo>
                    <a:pt x="18" y="198"/>
                  </a:lnTo>
                  <a:lnTo>
                    <a:pt x="18" y="219"/>
                  </a:lnTo>
                  <a:lnTo>
                    <a:pt x="0" y="238"/>
                  </a:lnTo>
                  <a:lnTo>
                    <a:pt x="18" y="238"/>
                  </a:lnTo>
                  <a:lnTo>
                    <a:pt x="18" y="258"/>
                  </a:lnTo>
                  <a:lnTo>
                    <a:pt x="33" y="258"/>
                  </a:lnTo>
                  <a:lnTo>
                    <a:pt x="50" y="258"/>
                  </a:lnTo>
                  <a:lnTo>
                    <a:pt x="66" y="238"/>
                  </a:lnTo>
                  <a:lnTo>
                    <a:pt x="98" y="219"/>
                  </a:lnTo>
                  <a:lnTo>
                    <a:pt x="117" y="219"/>
                  </a:lnTo>
                  <a:lnTo>
                    <a:pt x="149" y="219"/>
                  </a:lnTo>
                  <a:lnTo>
                    <a:pt x="197" y="219"/>
                  </a:lnTo>
                  <a:lnTo>
                    <a:pt x="165" y="238"/>
                  </a:lnTo>
                  <a:lnTo>
                    <a:pt x="131" y="258"/>
                  </a:lnTo>
                  <a:lnTo>
                    <a:pt x="117" y="258"/>
                  </a:lnTo>
                  <a:lnTo>
                    <a:pt x="98" y="279"/>
                  </a:lnTo>
                  <a:lnTo>
                    <a:pt x="83" y="279"/>
                  </a:lnTo>
                  <a:lnTo>
                    <a:pt x="66" y="279"/>
                  </a:lnTo>
                  <a:lnTo>
                    <a:pt x="66" y="298"/>
                  </a:lnTo>
                  <a:lnTo>
                    <a:pt x="50" y="319"/>
                  </a:lnTo>
                  <a:lnTo>
                    <a:pt x="66" y="338"/>
                  </a:lnTo>
                  <a:lnTo>
                    <a:pt x="83" y="338"/>
                  </a:lnTo>
                  <a:lnTo>
                    <a:pt x="98" y="338"/>
                  </a:lnTo>
                  <a:lnTo>
                    <a:pt x="98" y="359"/>
                  </a:lnTo>
                  <a:lnTo>
                    <a:pt x="98" y="378"/>
                  </a:lnTo>
                  <a:lnTo>
                    <a:pt x="117" y="378"/>
                  </a:lnTo>
                  <a:lnTo>
                    <a:pt x="131" y="378"/>
                  </a:lnTo>
                  <a:lnTo>
                    <a:pt x="131" y="398"/>
                  </a:lnTo>
                  <a:lnTo>
                    <a:pt x="149" y="418"/>
                  </a:lnTo>
                  <a:lnTo>
                    <a:pt x="149" y="439"/>
                  </a:lnTo>
                  <a:lnTo>
                    <a:pt x="182" y="439"/>
                  </a:lnTo>
                  <a:lnTo>
                    <a:pt x="197" y="439"/>
                  </a:lnTo>
                  <a:lnTo>
                    <a:pt x="229" y="418"/>
                  </a:lnTo>
                  <a:lnTo>
                    <a:pt x="246" y="418"/>
                  </a:lnTo>
                  <a:lnTo>
                    <a:pt x="262" y="418"/>
                  </a:lnTo>
                  <a:lnTo>
                    <a:pt x="279" y="418"/>
                  </a:lnTo>
                  <a:lnTo>
                    <a:pt x="296" y="439"/>
                  </a:lnTo>
                  <a:lnTo>
                    <a:pt x="313" y="439"/>
                  </a:lnTo>
                  <a:lnTo>
                    <a:pt x="328" y="439"/>
                  </a:lnTo>
                  <a:lnTo>
                    <a:pt x="379" y="418"/>
                  </a:lnTo>
                  <a:lnTo>
                    <a:pt x="394" y="418"/>
                  </a:lnTo>
                  <a:lnTo>
                    <a:pt x="427" y="398"/>
                  </a:lnTo>
                  <a:lnTo>
                    <a:pt x="444" y="378"/>
                  </a:lnTo>
                  <a:lnTo>
                    <a:pt x="427" y="359"/>
                  </a:lnTo>
                  <a:lnTo>
                    <a:pt x="427" y="319"/>
                  </a:lnTo>
                  <a:lnTo>
                    <a:pt x="427" y="279"/>
                  </a:lnTo>
                  <a:lnTo>
                    <a:pt x="444" y="258"/>
                  </a:lnTo>
                  <a:lnTo>
                    <a:pt x="494" y="219"/>
                  </a:lnTo>
                  <a:lnTo>
                    <a:pt x="494" y="198"/>
                  </a:lnTo>
                  <a:lnTo>
                    <a:pt x="494" y="139"/>
                  </a:lnTo>
                  <a:lnTo>
                    <a:pt x="476" y="119"/>
                  </a:lnTo>
                  <a:lnTo>
                    <a:pt x="476" y="100"/>
                  </a:lnTo>
                  <a:lnTo>
                    <a:pt x="459" y="80"/>
                  </a:lnTo>
                  <a:lnTo>
                    <a:pt x="427" y="80"/>
                  </a:lnTo>
                  <a:lnTo>
                    <a:pt x="394" y="59"/>
                  </a:lnTo>
                  <a:lnTo>
                    <a:pt x="361" y="59"/>
                  </a:lnTo>
                  <a:lnTo>
                    <a:pt x="345" y="40"/>
                  </a:lnTo>
                  <a:lnTo>
                    <a:pt x="313" y="40"/>
                  </a:lnTo>
                  <a:lnTo>
                    <a:pt x="296" y="40"/>
                  </a:lnTo>
                  <a:lnTo>
                    <a:pt x="279" y="40"/>
                  </a:lnTo>
                  <a:lnTo>
                    <a:pt x="262" y="40"/>
                  </a:lnTo>
                  <a:lnTo>
                    <a:pt x="246" y="19"/>
                  </a:lnTo>
                  <a:lnTo>
                    <a:pt x="229" y="0"/>
                  </a:lnTo>
                  <a:lnTo>
                    <a:pt x="213" y="0"/>
                  </a:lnTo>
                  <a:lnTo>
                    <a:pt x="197" y="0"/>
                  </a:lnTo>
                  <a:lnTo>
                    <a:pt x="182" y="0"/>
                  </a:lnTo>
                  <a:lnTo>
                    <a:pt x="182" y="19"/>
                  </a:lnTo>
                  <a:lnTo>
                    <a:pt x="165" y="19"/>
                  </a:lnTo>
                  <a:lnTo>
                    <a:pt x="149" y="19"/>
                  </a:lnTo>
                  <a:lnTo>
                    <a:pt x="149" y="40"/>
                  </a:lnTo>
                  <a:lnTo>
                    <a:pt x="149" y="59"/>
                  </a:lnTo>
                  <a:lnTo>
                    <a:pt x="149" y="80"/>
                  </a:lnTo>
                  <a:lnTo>
                    <a:pt x="165" y="80"/>
                  </a:lnTo>
                  <a:lnTo>
                    <a:pt x="165" y="100"/>
                  </a:lnTo>
                  <a:lnTo>
                    <a:pt x="182" y="100"/>
                  </a:lnTo>
                  <a:lnTo>
                    <a:pt x="197" y="119"/>
                  </a:lnTo>
                  <a:lnTo>
                    <a:pt x="213" y="1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229" name="Freeform 198"/>
            <p:cNvSpPr>
              <a:spLocks/>
            </p:cNvSpPr>
            <p:nvPr/>
          </p:nvSpPr>
          <p:spPr bwMode="auto">
            <a:xfrm>
              <a:off x="3333" y="3051"/>
              <a:ext cx="246" cy="220"/>
            </a:xfrm>
            <a:custGeom>
              <a:avLst/>
              <a:gdLst>
                <a:gd name="T0" fmla="*/ 0 w 494"/>
                <a:gd name="T1" fmla="*/ 1 h 439"/>
                <a:gd name="T2" fmla="*/ 0 w 494"/>
                <a:gd name="T3" fmla="*/ 1 h 439"/>
                <a:gd name="T4" fmla="*/ 0 w 494"/>
                <a:gd name="T5" fmla="*/ 1 h 439"/>
                <a:gd name="T6" fmla="*/ 0 w 494"/>
                <a:gd name="T7" fmla="*/ 1 h 439"/>
                <a:gd name="T8" fmla="*/ 0 w 494"/>
                <a:gd name="T9" fmla="*/ 1 h 439"/>
                <a:gd name="T10" fmla="*/ 0 w 494"/>
                <a:gd name="T11" fmla="*/ 2 h 439"/>
                <a:gd name="T12" fmla="*/ 0 w 494"/>
                <a:gd name="T13" fmla="*/ 2 h 439"/>
                <a:gd name="T14" fmla="*/ 0 w 494"/>
                <a:gd name="T15" fmla="*/ 1 h 439"/>
                <a:gd name="T16" fmla="*/ 0 w 494"/>
                <a:gd name="T17" fmla="*/ 1 h 439"/>
                <a:gd name="T18" fmla="*/ 0 w 494"/>
                <a:gd name="T19" fmla="*/ 1 h 439"/>
                <a:gd name="T20" fmla="*/ 0 w 494"/>
                <a:gd name="T21" fmla="*/ 2 h 439"/>
                <a:gd name="T22" fmla="*/ 0 w 494"/>
                <a:gd name="T23" fmla="*/ 2 h 439"/>
                <a:gd name="T24" fmla="*/ 0 w 494"/>
                <a:gd name="T25" fmla="*/ 2 h 439"/>
                <a:gd name="T26" fmla="*/ 0 w 494"/>
                <a:gd name="T27" fmla="*/ 2 h 439"/>
                <a:gd name="T28" fmla="*/ 0 w 494"/>
                <a:gd name="T29" fmla="*/ 2 h 439"/>
                <a:gd name="T30" fmla="*/ 0 w 494"/>
                <a:gd name="T31" fmla="*/ 2 h 439"/>
                <a:gd name="T32" fmla="*/ 0 w 494"/>
                <a:gd name="T33" fmla="*/ 2 h 439"/>
                <a:gd name="T34" fmla="*/ 0 w 494"/>
                <a:gd name="T35" fmla="*/ 2 h 439"/>
                <a:gd name="T36" fmla="*/ 0 w 494"/>
                <a:gd name="T37" fmla="*/ 2 h 439"/>
                <a:gd name="T38" fmla="*/ 0 w 494"/>
                <a:gd name="T39" fmla="*/ 2 h 439"/>
                <a:gd name="T40" fmla="*/ 0 w 494"/>
                <a:gd name="T41" fmla="*/ 2 h 439"/>
                <a:gd name="T42" fmla="*/ 0 w 494"/>
                <a:gd name="T43" fmla="*/ 2 h 439"/>
                <a:gd name="T44" fmla="*/ 0 w 494"/>
                <a:gd name="T45" fmla="*/ 2 h 439"/>
                <a:gd name="T46" fmla="*/ 0 w 494"/>
                <a:gd name="T47" fmla="*/ 2 h 439"/>
                <a:gd name="T48" fmla="*/ 0 w 494"/>
                <a:gd name="T49" fmla="*/ 2 h 439"/>
                <a:gd name="T50" fmla="*/ 0 w 494"/>
                <a:gd name="T51" fmla="*/ 2 h 439"/>
                <a:gd name="T52" fmla="*/ 1 w 494"/>
                <a:gd name="T53" fmla="*/ 2 h 439"/>
                <a:gd name="T54" fmla="*/ 1 w 494"/>
                <a:gd name="T55" fmla="*/ 2 h 439"/>
                <a:gd name="T56" fmla="*/ 1 w 494"/>
                <a:gd name="T57" fmla="*/ 2 h 439"/>
                <a:gd name="T58" fmla="*/ 1 w 494"/>
                <a:gd name="T59" fmla="*/ 2 h 439"/>
                <a:gd name="T60" fmla="*/ 1 w 494"/>
                <a:gd name="T61" fmla="*/ 2 h 439"/>
                <a:gd name="T62" fmla="*/ 1 w 494"/>
                <a:gd name="T63" fmla="*/ 2 h 439"/>
                <a:gd name="T64" fmla="*/ 1 w 494"/>
                <a:gd name="T65" fmla="*/ 2 h 439"/>
                <a:gd name="T66" fmla="*/ 1 w 494"/>
                <a:gd name="T67" fmla="*/ 1 h 439"/>
                <a:gd name="T68" fmla="*/ 1 w 494"/>
                <a:gd name="T69" fmla="*/ 1 h 439"/>
                <a:gd name="T70" fmla="*/ 1 w 494"/>
                <a:gd name="T71" fmla="*/ 1 h 439"/>
                <a:gd name="T72" fmla="*/ 1 w 494"/>
                <a:gd name="T73" fmla="*/ 1 h 439"/>
                <a:gd name="T74" fmla="*/ 1 w 494"/>
                <a:gd name="T75" fmla="*/ 1 h 439"/>
                <a:gd name="T76" fmla="*/ 1 w 494"/>
                <a:gd name="T77" fmla="*/ 1 h 439"/>
                <a:gd name="T78" fmla="*/ 1 w 494"/>
                <a:gd name="T79" fmla="*/ 1 h 439"/>
                <a:gd name="T80" fmla="*/ 1 w 494"/>
                <a:gd name="T81" fmla="*/ 1 h 439"/>
                <a:gd name="T82" fmla="*/ 0 w 494"/>
                <a:gd name="T83" fmla="*/ 1 h 439"/>
                <a:gd name="T84" fmla="*/ 0 w 494"/>
                <a:gd name="T85" fmla="*/ 0 h 439"/>
                <a:gd name="T86" fmla="*/ 0 w 494"/>
                <a:gd name="T87" fmla="*/ 0 h 439"/>
                <a:gd name="T88" fmla="*/ 0 w 494"/>
                <a:gd name="T89" fmla="*/ 1 h 439"/>
                <a:gd name="T90" fmla="*/ 0 w 494"/>
                <a:gd name="T91" fmla="*/ 1 h 439"/>
                <a:gd name="T92" fmla="*/ 0 w 494"/>
                <a:gd name="T93" fmla="*/ 1 h 439"/>
                <a:gd name="T94" fmla="*/ 0 w 494"/>
                <a:gd name="T95" fmla="*/ 1 h 439"/>
                <a:gd name="T96" fmla="*/ 0 w 494"/>
                <a:gd name="T97" fmla="*/ 1 h 439"/>
                <a:gd name="T98" fmla="*/ 0 w 494"/>
                <a:gd name="T99" fmla="*/ 1 h 439"/>
                <a:gd name="T100" fmla="*/ 0 w 494"/>
                <a:gd name="T101" fmla="*/ 1 h 43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94"/>
                <a:gd name="T154" fmla="*/ 0 h 439"/>
                <a:gd name="T155" fmla="*/ 494 w 494"/>
                <a:gd name="T156" fmla="*/ 439 h 439"/>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94" h="439">
                  <a:moveTo>
                    <a:pt x="213" y="139"/>
                  </a:moveTo>
                  <a:lnTo>
                    <a:pt x="66" y="158"/>
                  </a:lnTo>
                  <a:lnTo>
                    <a:pt x="50" y="179"/>
                  </a:lnTo>
                  <a:lnTo>
                    <a:pt x="33" y="198"/>
                  </a:lnTo>
                  <a:lnTo>
                    <a:pt x="18" y="198"/>
                  </a:lnTo>
                  <a:lnTo>
                    <a:pt x="18" y="219"/>
                  </a:lnTo>
                  <a:lnTo>
                    <a:pt x="0" y="238"/>
                  </a:lnTo>
                  <a:lnTo>
                    <a:pt x="18" y="238"/>
                  </a:lnTo>
                  <a:lnTo>
                    <a:pt x="18" y="258"/>
                  </a:lnTo>
                  <a:lnTo>
                    <a:pt x="33" y="258"/>
                  </a:lnTo>
                  <a:lnTo>
                    <a:pt x="50" y="258"/>
                  </a:lnTo>
                  <a:lnTo>
                    <a:pt x="66" y="238"/>
                  </a:lnTo>
                  <a:lnTo>
                    <a:pt x="98" y="219"/>
                  </a:lnTo>
                  <a:lnTo>
                    <a:pt x="117" y="219"/>
                  </a:lnTo>
                  <a:lnTo>
                    <a:pt x="149" y="219"/>
                  </a:lnTo>
                  <a:lnTo>
                    <a:pt x="197" y="219"/>
                  </a:lnTo>
                  <a:lnTo>
                    <a:pt x="165" y="238"/>
                  </a:lnTo>
                  <a:lnTo>
                    <a:pt x="131" y="258"/>
                  </a:lnTo>
                  <a:lnTo>
                    <a:pt x="117" y="258"/>
                  </a:lnTo>
                  <a:lnTo>
                    <a:pt x="98" y="279"/>
                  </a:lnTo>
                  <a:lnTo>
                    <a:pt x="83" y="279"/>
                  </a:lnTo>
                  <a:lnTo>
                    <a:pt x="66" y="279"/>
                  </a:lnTo>
                  <a:lnTo>
                    <a:pt x="66" y="298"/>
                  </a:lnTo>
                  <a:lnTo>
                    <a:pt x="50" y="319"/>
                  </a:lnTo>
                  <a:lnTo>
                    <a:pt x="66" y="338"/>
                  </a:lnTo>
                  <a:lnTo>
                    <a:pt x="83" y="338"/>
                  </a:lnTo>
                  <a:lnTo>
                    <a:pt x="98" y="338"/>
                  </a:lnTo>
                  <a:lnTo>
                    <a:pt x="98" y="359"/>
                  </a:lnTo>
                  <a:lnTo>
                    <a:pt x="98" y="378"/>
                  </a:lnTo>
                  <a:lnTo>
                    <a:pt x="117" y="378"/>
                  </a:lnTo>
                  <a:lnTo>
                    <a:pt x="131" y="378"/>
                  </a:lnTo>
                  <a:lnTo>
                    <a:pt x="131" y="398"/>
                  </a:lnTo>
                  <a:lnTo>
                    <a:pt x="149" y="418"/>
                  </a:lnTo>
                  <a:lnTo>
                    <a:pt x="149" y="439"/>
                  </a:lnTo>
                  <a:lnTo>
                    <a:pt x="182" y="439"/>
                  </a:lnTo>
                  <a:lnTo>
                    <a:pt x="197" y="439"/>
                  </a:lnTo>
                  <a:lnTo>
                    <a:pt x="229" y="418"/>
                  </a:lnTo>
                  <a:lnTo>
                    <a:pt x="246" y="418"/>
                  </a:lnTo>
                  <a:lnTo>
                    <a:pt x="262" y="418"/>
                  </a:lnTo>
                  <a:lnTo>
                    <a:pt x="279" y="418"/>
                  </a:lnTo>
                  <a:lnTo>
                    <a:pt x="296" y="439"/>
                  </a:lnTo>
                  <a:lnTo>
                    <a:pt x="313" y="439"/>
                  </a:lnTo>
                  <a:lnTo>
                    <a:pt x="328" y="439"/>
                  </a:lnTo>
                  <a:lnTo>
                    <a:pt x="379" y="418"/>
                  </a:lnTo>
                  <a:lnTo>
                    <a:pt x="394" y="418"/>
                  </a:lnTo>
                  <a:lnTo>
                    <a:pt x="427" y="398"/>
                  </a:lnTo>
                  <a:lnTo>
                    <a:pt x="444" y="378"/>
                  </a:lnTo>
                  <a:lnTo>
                    <a:pt x="427" y="359"/>
                  </a:lnTo>
                  <a:lnTo>
                    <a:pt x="427" y="319"/>
                  </a:lnTo>
                  <a:lnTo>
                    <a:pt x="427" y="279"/>
                  </a:lnTo>
                  <a:lnTo>
                    <a:pt x="444" y="258"/>
                  </a:lnTo>
                  <a:lnTo>
                    <a:pt x="494" y="219"/>
                  </a:lnTo>
                  <a:lnTo>
                    <a:pt x="494" y="198"/>
                  </a:lnTo>
                  <a:lnTo>
                    <a:pt x="494" y="139"/>
                  </a:lnTo>
                  <a:lnTo>
                    <a:pt x="476" y="119"/>
                  </a:lnTo>
                  <a:lnTo>
                    <a:pt x="476" y="100"/>
                  </a:lnTo>
                  <a:lnTo>
                    <a:pt x="459" y="80"/>
                  </a:lnTo>
                  <a:lnTo>
                    <a:pt x="427" y="80"/>
                  </a:lnTo>
                  <a:lnTo>
                    <a:pt x="394" y="59"/>
                  </a:lnTo>
                  <a:lnTo>
                    <a:pt x="361" y="59"/>
                  </a:lnTo>
                  <a:lnTo>
                    <a:pt x="345" y="40"/>
                  </a:lnTo>
                  <a:lnTo>
                    <a:pt x="313" y="40"/>
                  </a:lnTo>
                  <a:lnTo>
                    <a:pt x="296" y="40"/>
                  </a:lnTo>
                  <a:lnTo>
                    <a:pt x="279" y="40"/>
                  </a:lnTo>
                  <a:lnTo>
                    <a:pt x="262" y="40"/>
                  </a:lnTo>
                  <a:lnTo>
                    <a:pt x="246" y="19"/>
                  </a:lnTo>
                  <a:lnTo>
                    <a:pt x="229" y="0"/>
                  </a:lnTo>
                  <a:lnTo>
                    <a:pt x="213" y="0"/>
                  </a:lnTo>
                  <a:lnTo>
                    <a:pt x="197" y="0"/>
                  </a:lnTo>
                  <a:lnTo>
                    <a:pt x="182" y="0"/>
                  </a:lnTo>
                  <a:lnTo>
                    <a:pt x="182" y="19"/>
                  </a:lnTo>
                  <a:lnTo>
                    <a:pt x="165" y="19"/>
                  </a:lnTo>
                  <a:lnTo>
                    <a:pt x="149" y="19"/>
                  </a:lnTo>
                  <a:lnTo>
                    <a:pt x="149" y="40"/>
                  </a:lnTo>
                  <a:lnTo>
                    <a:pt x="149" y="59"/>
                  </a:lnTo>
                  <a:lnTo>
                    <a:pt x="149" y="80"/>
                  </a:lnTo>
                  <a:lnTo>
                    <a:pt x="165" y="80"/>
                  </a:lnTo>
                  <a:lnTo>
                    <a:pt x="165" y="100"/>
                  </a:lnTo>
                  <a:lnTo>
                    <a:pt x="182" y="100"/>
                  </a:lnTo>
                  <a:lnTo>
                    <a:pt x="197" y="119"/>
                  </a:lnTo>
                  <a:lnTo>
                    <a:pt x="213" y="139"/>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230" name="Freeform 199"/>
            <p:cNvSpPr>
              <a:spLocks/>
            </p:cNvSpPr>
            <p:nvPr/>
          </p:nvSpPr>
          <p:spPr bwMode="auto">
            <a:xfrm>
              <a:off x="3563" y="2711"/>
              <a:ext cx="66" cy="400"/>
            </a:xfrm>
            <a:custGeom>
              <a:avLst/>
              <a:gdLst>
                <a:gd name="T0" fmla="*/ 1 w 131"/>
                <a:gd name="T1" fmla="*/ 3 h 798"/>
                <a:gd name="T2" fmla="*/ 1 w 131"/>
                <a:gd name="T3" fmla="*/ 3 h 798"/>
                <a:gd name="T4" fmla="*/ 0 w 131"/>
                <a:gd name="T5" fmla="*/ 3 h 798"/>
                <a:gd name="T6" fmla="*/ 0 w 131"/>
                <a:gd name="T7" fmla="*/ 3 h 798"/>
                <a:gd name="T8" fmla="*/ 0 w 131"/>
                <a:gd name="T9" fmla="*/ 3 h 798"/>
                <a:gd name="T10" fmla="*/ 1 w 131"/>
                <a:gd name="T11" fmla="*/ 2 h 798"/>
                <a:gd name="T12" fmla="*/ 1 w 131"/>
                <a:gd name="T13" fmla="*/ 2 h 798"/>
                <a:gd name="T14" fmla="*/ 1 w 131"/>
                <a:gd name="T15" fmla="*/ 2 h 798"/>
                <a:gd name="T16" fmla="*/ 1 w 131"/>
                <a:gd name="T17" fmla="*/ 1 h 798"/>
                <a:gd name="T18" fmla="*/ 1 w 131"/>
                <a:gd name="T19" fmla="*/ 1 h 798"/>
                <a:gd name="T20" fmla="*/ 1 w 131"/>
                <a:gd name="T21" fmla="*/ 1 h 798"/>
                <a:gd name="T22" fmla="*/ 1 w 131"/>
                <a:gd name="T23" fmla="*/ 1 h 798"/>
                <a:gd name="T24" fmla="*/ 1 w 131"/>
                <a:gd name="T25" fmla="*/ 1 h 798"/>
                <a:gd name="T26" fmla="*/ 1 w 131"/>
                <a:gd name="T27" fmla="*/ 1 h 798"/>
                <a:gd name="T28" fmla="*/ 1 w 131"/>
                <a:gd name="T29" fmla="*/ 0 h 798"/>
                <a:gd name="T30" fmla="*/ 1 w 131"/>
                <a:gd name="T31" fmla="*/ 1 h 798"/>
                <a:gd name="T32" fmla="*/ 1 w 131"/>
                <a:gd name="T33" fmla="*/ 1 h 798"/>
                <a:gd name="T34" fmla="*/ 1 w 131"/>
                <a:gd name="T35" fmla="*/ 1 h 798"/>
                <a:gd name="T36" fmla="*/ 1 w 131"/>
                <a:gd name="T37" fmla="*/ 1 h 798"/>
                <a:gd name="T38" fmla="*/ 1 w 131"/>
                <a:gd name="T39" fmla="*/ 1 h 798"/>
                <a:gd name="T40" fmla="*/ 1 w 131"/>
                <a:gd name="T41" fmla="*/ 1 h 798"/>
                <a:gd name="T42" fmla="*/ 1 w 131"/>
                <a:gd name="T43" fmla="*/ 2 h 798"/>
                <a:gd name="T44" fmla="*/ 1 w 131"/>
                <a:gd name="T45" fmla="*/ 2 h 798"/>
                <a:gd name="T46" fmla="*/ 1 w 131"/>
                <a:gd name="T47" fmla="*/ 2 h 798"/>
                <a:gd name="T48" fmla="*/ 1 w 131"/>
                <a:gd name="T49" fmla="*/ 2 h 798"/>
                <a:gd name="T50" fmla="*/ 1 w 131"/>
                <a:gd name="T51" fmla="*/ 3 h 798"/>
                <a:gd name="T52" fmla="*/ 1 w 131"/>
                <a:gd name="T53" fmla="*/ 3 h 798"/>
                <a:gd name="T54" fmla="*/ 1 w 131"/>
                <a:gd name="T55" fmla="*/ 3 h 798"/>
                <a:gd name="T56" fmla="*/ 1 w 131"/>
                <a:gd name="T57" fmla="*/ 3 h 798"/>
                <a:gd name="T58" fmla="*/ 1 w 131"/>
                <a:gd name="T59" fmla="*/ 4 h 798"/>
                <a:gd name="T60" fmla="*/ 1 w 131"/>
                <a:gd name="T61" fmla="*/ 3 h 79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31"/>
                <a:gd name="T94" fmla="*/ 0 h 798"/>
                <a:gd name="T95" fmla="*/ 131 w 131"/>
                <a:gd name="T96" fmla="*/ 798 h 79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31" h="798">
                  <a:moveTo>
                    <a:pt x="16" y="738"/>
                  </a:moveTo>
                  <a:lnTo>
                    <a:pt x="16" y="698"/>
                  </a:lnTo>
                  <a:lnTo>
                    <a:pt x="0" y="640"/>
                  </a:lnTo>
                  <a:lnTo>
                    <a:pt x="0" y="579"/>
                  </a:lnTo>
                  <a:lnTo>
                    <a:pt x="0" y="539"/>
                  </a:lnTo>
                  <a:lnTo>
                    <a:pt x="16" y="460"/>
                  </a:lnTo>
                  <a:lnTo>
                    <a:pt x="16" y="399"/>
                  </a:lnTo>
                  <a:lnTo>
                    <a:pt x="33" y="299"/>
                  </a:lnTo>
                  <a:lnTo>
                    <a:pt x="33" y="239"/>
                  </a:lnTo>
                  <a:lnTo>
                    <a:pt x="49" y="200"/>
                  </a:lnTo>
                  <a:lnTo>
                    <a:pt x="49" y="159"/>
                  </a:lnTo>
                  <a:lnTo>
                    <a:pt x="65" y="80"/>
                  </a:lnTo>
                  <a:lnTo>
                    <a:pt x="82" y="40"/>
                  </a:lnTo>
                  <a:lnTo>
                    <a:pt x="82" y="19"/>
                  </a:lnTo>
                  <a:lnTo>
                    <a:pt x="99" y="0"/>
                  </a:lnTo>
                  <a:lnTo>
                    <a:pt x="114" y="19"/>
                  </a:lnTo>
                  <a:lnTo>
                    <a:pt x="114" y="40"/>
                  </a:lnTo>
                  <a:lnTo>
                    <a:pt x="131" y="80"/>
                  </a:lnTo>
                  <a:lnTo>
                    <a:pt x="114" y="119"/>
                  </a:lnTo>
                  <a:lnTo>
                    <a:pt x="99" y="200"/>
                  </a:lnTo>
                  <a:lnTo>
                    <a:pt x="65" y="239"/>
                  </a:lnTo>
                  <a:lnTo>
                    <a:pt x="65" y="299"/>
                  </a:lnTo>
                  <a:lnTo>
                    <a:pt x="65" y="359"/>
                  </a:lnTo>
                  <a:lnTo>
                    <a:pt x="65" y="399"/>
                  </a:lnTo>
                  <a:lnTo>
                    <a:pt x="65" y="460"/>
                  </a:lnTo>
                  <a:lnTo>
                    <a:pt x="65" y="539"/>
                  </a:lnTo>
                  <a:lnTo>
                    <a:pt x="65" y="598"/>
                  </a:lnTo>
                  <a:lnTo>
                    <a:pt x="65" y="658"/>
                  </a:lnTo>
                  <a:lnTo>
                    <a:pt x="65" y="738"/>
                  </a:lnTo>
                  <a:lnTo>
                    <a:pt x="49" y="798"/>
                  </a:lnTo>
                  <a:lnTo>
                    <a:pt x="16" y="7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231" name="Freeform 200"/>
            <p:cNvSpPr>
              <a:spLocks/>
            </p:cNvSpPr>
            <p:nvPr/>
          </p:nvSpPr>
          <p:spPr bwMode="auto">
            <a:xfrm>
              <a:off x="3563" y="2711"/>
              <a:ext cx="66" cy="400"/>
            </a:xfrm>
            <a:custGeom>
              <a:avLst/>
              <a:gdLst>
                <a:gd name="T0" fmla="*/ 1 w 131"/>
                <a:gd name="T1" fmla="*/ 3 h 798"/>
                <a:gd name="T2" fmla="*/ 1 w 131"/>
                <a:gd name="T3" fmla="*/ 3 h 798"/>
                <a:gd name="T4" fmla="*/ 0 w 131"/>
                <a:gd name="T5" fmla="*/ 3 h 798"/>
                <a:gd name="T6" fmla="*/ 0 w 131"/>
                <a:gd name="T7" fmla="*/ 3 h 798"/>
                <a:gd name="T8" fmla="*/ 0 w 131"/>
                <a:gd name="T9" fmla="*/ 3 h 798"/>
                <a:gd name="T10" fmla="*/ 1 w 131"/>
                <a:gd name="T11" fmla="*/ 2 h 798"/>
                <a:gd name="T12" fmla="*/ 1 w 131"/>
                <a:gd name="T13" fmla="*/ 2 h 798"/>
                <a:gd name="T14" fmla="*/ 1 w 131"/>
                <a:gd name="T15" fmla="*/ 2 h 798"/>
                <a:gd name="T16" fmla="*/ 1 w 131"/>
                <a:gd name="T17" fmla="*/ 1 h 798"/>
                <a:gd name="T18" fmla="*/ 1 w 131"/>
                <a:gd name="T19" fmla="*/ 1 h 798"/>
                <a:gd name="T20" fmla="*/ 1 w 131"/>
                <a:gd name="T21" fmla="*/ 1 h 798"/>
                <a:gd name="T22" fmla="*/ 1 w 131"/>
                <a:gd name="T23" fmla="*/ 1 h 798"/>
                <a:gd name="T24" fmla="*/ 1 w 131"/>
                <a:gd name="T25" fmla="*/ 1 h 798"/>
                <a:gd name="T26" fmla="*/ 1 w 131"/>
                <a:gd name="T27" fmla="*/ 1 h 798"/>
                <a:gd name="T28" fmla="*/ 1 w 131"/>
                <a:gd name="T29" fmla="*/ 0 h 798"/>
                <a:gd name="T30" fmla="*/ 1 w 131"/>
                <a:gd name="T31" fmla="*/ 1 h 798"/>
                <a:gd name="T32" fmla="*/ 1 w 131"/>
                <a:gd name="T33" fmla="*/ 1 h 798"/>
                <a:gd name="T34" fmla="*/ 1 w 131"/>
                <a:gd name="T35" fmla="*/ 1 h 798"/>
                <a:gd name="T36" fmla="*/ 1 w 131"/>
                <a:gd name="T37" fmla="*/ 1 h 798"/>
                <a:gd name="T38" fmla="*/ 1 w 131"/>
                <a:gd name="T39" fmla="*/ 1 h 798"/>
                <a:gd name="T40" fmla="*/ 1 w 131"/>
                <a:gd name="T41" fmla="*/ 1 h 798"/>
                <a:gd name="T42" fmla="*/ 1 w 131"/>
                <a:gd name="T43" fmla="*/ 2 h 798"/>
                <a:gd name="T44" fmla="*/ 1 w 131"/>
                <a:gd name="T45" fmla="*/ 2 h 798"/>
                <a:gd name="T46" fmla="*/ 1 w 131"/>
                <a:gd name="T47" fmla="*/ 2 h 798"/>
                <a:gd name="T48" fmla="*/ 1 w 131"/>
                <a:gd name="T49" fmla="*/ 2 h 798"/>
                <a:gd name="T50" fmla="*/ 1 w 131"/>
                <a:gd name="T51" fmla="*/ 3 h 798"/>
                <a:gd name="T52" fmla="*/ 1 w 131"/>
                <a:gd name="T53" fmla="*/ 3 h 798"/>
                <a:gd name="T54" fmla="*/ 1 w 131"/>
                <a:gd name="T55" fmla="*/ 3 h 798"/>
                <a:gd name="T56" fmla="*/ 1 w 131"/>
                <a:gd name="T57" fmla="*/ 3 h 798"/>
                <a:gd name="T58" fmla="*/ 1 w 131"/>
                <a:gd name="T59" fmla="*/ 4 h 798"/>
                <a:gd name="T60" fmla="*/ 1 w 131"/>
                <a:gd name="T61" fmla="*/ 3 h 79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31"/>
                <a:gd name="T94" fmla="*/ 0 h 798"/>
                <a:gd name="T95" fmla="*/ 131 w 131"/>
                <a:gd name="T96" fmla="*/ 798 h 79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31" h="798">
                  <a:moveTo>
                    <a:pt x="16" y="738"/>
                  </a:moveTo>
                  <a:lnTo>
                    <a:pt x="16" y="698"/>
                  </a:lnTo>
                  <a:lnTo>
                    <a:pt x="0" y="640"/>
                  </a:lnTo>
                  <a:lnTo>
                    <a:pt x="0" y="579"/>
                  </a:lnTo>
                  <a:lnTo>
                    <a:pt x="0" y="539"/>
                  </a:lnTo>
                  <a:lnTo>
                    <a:pt x="16" y="460"/>
                  </a:lnTo>
                  <a:lnTo>
                    <a:pt x="16" y="399"/>
                  </a:lnTo>
                  <a:lnTo>
                    <a:pt x="33" y="299"/>
                  </a:lnTo>
                  <a:lnTo>
                    <a:pt x="33" y="239"/>
                  </a:lnTo>
                  <a:lnTo>
                    <a:pt x="49" y="200"/>
                  </a:lnTo>
                  <a:lnTo>
                    <a:pt x="49" y="159"/>
                  </a:lnTo>
                  <a:lnTo>
                    <a:pt x="65" y="80"/>
                  </a:lnTo>
                  <a:lnTo>
                    <a:pt x="82" y="40"/>
                  </a:lnTo>
                  <a:lnTo>
                    <a:pt x="82" y="19"/>
                  </a:lnTo>
                  <a:lnTo>
                    <a:pt x="99" y="0"/>
                  </a:lnTo>
                  <a:lnTo>
                    <a:pt x="114" y="19"/>
                  </a:lnTo>
                  <a:lnTo>
                    <a:pt x="114" y="40"/>
                  </a:lnTo>
                  <a:lnTo>
                    <a:pt x="131" y="80"/>
                  </a:lnTo>
                  <a:lnTo>
                    <a:pt x="114" y="119"/>
                  </a:lnTo>
                  <a:lnTo>
                    <a:pt x="99" y="200"/>
                  </a:lnTo>
                  <a:lnTo>
                    <a:pt x="65" y="239"/>
                  </a:lnTo>
                  <a:lnTo>
                    <a:pt x="65" y="299"/>
                  </a:lnTo>
                  <a:lnTo>
                    <a:pt x="65" y="359"/>
                  </a:lnTo>
                  <a:lnTo>
                    <a:pt x="65" y="399"/>
                  </a:lnTo>
                  <a:lnTo>
                    <a:pt x="65" y="460"/>
                  </a:lnTo>
                  <a:lnTo>
                    <a:pt x="65" y="539"/>
                  </a:lnTo>
                  <a:lnTo>
                    <a:pt x="65" y="598"/>
                  </a:lnTo>
                  <a:lnTo>
                    <a:pt x="65" y="658"/>
                  </a:lnTo>
                  <a:lnTo>
                    <a:pt x="65" y="738"/>
                  </a:lnTo>
                  <a:lnTo>
                    <a:pt x="49" y="798"/>
                  </a:lnTo>
                  <a:lnTo>
                    <a:pt x="16" y="738"/>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232" name="Freeform 201"/>
            <p:cNvSpPr>
              <a:spLocks/>
            </p:cNvSpPr>
            <p:nvPr/>
          </p:nvSpPr>
          <p:spPr bwMode="auto">
            <a:xfrm>
              <a:off x="3613" y="2651"/>
              <a:ext cx="16" cy="90"/>
            </a:xfrm>
            <a:custGeom>
              <a:avLst/>
              <a:gdLst>
                <a:gd name="T0" fmla="*/ 1 w 32"/>
                <a:gd name="T1" fmla="*/ 1 h 180"/>
                <a:gd name="T2" fmla="*/ 1 w 32"/>
                <a:gd name="T3" fmla="*/ 1 h 180"/>
                <a:gd name="T4" fmla="*/ 1 w 32"/>
                <a:gd name="T5" fmla="*/ 1 h 180"/>
                <a:gd name="T6" fmla="*/ 1 w 32"/>
                <a:gd name="T7" fmla="*/ 1 h 180"/>
                <a:gd name="T8" fmla="*/ 1 w 32"/>
                <a:gd name="T9" fmla="*/ 1 h 180"/>
                <a:gd name="T10" fmla="*/ 1 w 32"/>
                <a:gd name="T11" fmla="*/ 1 h 180"/>
                <a:gd name="T12" fmla="*/ 0 w 32"/>
                <a:gd name="T13" fmla="*/ 1 h 180"/>
                <a:gd name="T14" fmla="*/ 0 w 32"/>
                <a:gd name="T15" fmla="*/ 1 h 180"/>
                <a:gd name="T16" fmla="*/ 0 w 32"/>
                <a:gd name="T17" fmla="*/ 1 h 180"/>
                <a:gd name="T18" fmla="*/ 0 w 32"/>
                <a:gd name="T19" fmla="*/ 1 h 180"/>
                <a:gd name="T20" fmla="*/ 1 w 32"/>
                <a:gd name="T21" fmla="*/ 1 h 180"/>
                <a:gd name="T22" fmla="*/ 1 w 32"/>
                <a:gd name="T23" fmla="*/ 1 h 180"/>
                <a:gd name="T24" fmla="*/ 1 w 32"/>
                <a:gd name="T25" fmla="*/ 0 h 180"/>
                <a:gd name="T26" fmla="*/ 1 w 32"/>
                <a:gd name="T27" fmla="*/ 1 h 18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2"/>
                <a:gd name="T43" fmla="*/ 0 h 180"/>
                <a:gd name="T44" fmla="*/ 32 w 32"/>
                <a:gd name="T45" fmla="*/ 180 h 18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2" h="180">
                  <a:moveTo>
                    <a:pt x="32" y="21"/>
                  </a:moveTo>
                  <a:lnTo>
                    <a:pt x="32" y="60"/>
                  </a:lnTo>
                  <a:lnTo>
                    <a:pt x="32" y="100"/>
                  </a:lnTo>
                  <a:lnTo>
                    <a:pt x="32" y="119"/>
                  </a:lnTo>
                  <a:lnTo>
                    <a:pt x="16" y="160"/>
                  </a:lnTo>
                  <a:lnTo>
                    <a:pt x="16" y="180"/>
                  </a:lnTo>
                  <a:lnTo>
                    <a:pt x="0" y="160"/>
                  </a:lnTo>
                  <a:lnTo>
                    <a:pt x="0" y="119"/>
                  </a:lnTo>
                  <a:lnTo>
                    <a:pt x="0" y="100"/>
                  </a:lnTo>
                  <a:lnTo>
                    <a:pt x="0" y="60"/>
                  </a:lnTo>
                  <a:lnTo>
                    <a:pt x="16" y="40"/>
                  </a:lnTo>
                  <a:lnTo>
                    <a:pt x="16" y="21"/>
                  </a:lnTo>
                  <a:lnTo>
                    <a:pt x="32" y="0"/>
                  </a:lnTo>
                  <a:lnTo>
                    <a:pt x="32" y="2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233" name="Freeform 202"/>
            <p:cNvSpPr>
              <a:spLocks/>
            </p:cNvSpPr>
            <p:nvPr/>
          </p:nvSpPr>
          <p:spPr bwMode="auto">
            <a:xfrm>
              <a:off x="3613" y="2651"/>
              <a:ext cx="16" cy="90"/>
            </a:xfrm>
            <a:custGeom>
              <a:avLst/>
              <a:gdLst>
                <a:gd name="T0" fmla="*/ 1 w 32"/>
                <a:gd name="T1" fmla="*/ 1 h 180"/>
                <a:gd name="T2" fmla="*/ 1 w 32"/>
                <a:gd name="T3" fmla="*/ 1 h 180"/>
                <a:gd name="T4" fmla="*/ 1 w 32"/>
                <a:gd name="T5" fmla="*/ 1 h 180"/>
                <a:gd name="T6" fmla="*/ 1 w 32"/>
                <a:gd name="T7" fmla="*/ 1 h 180"/>
                <a:gd name="T8" fmla="*/ 1 w 32"/>
                <a:gd name="T9" fmla="*/ 1 h 180"/>
                <a:gd name="T10" fmla="*/ 1 w 32"/>
                <a:gd name="T11" fmla="*/ 1 h 180"/>
                <a:gd name="T12" fmla="*/ 0 w 32"/>
                <a:gd name="T13" fmla="*/ 1 h 180"/>
                <a:gd name="T14" fmla="*/ 0 w 32"/>
                <a:gd name="T15" fmla="*/ 1 h 180"/>
                <a:gd name="T16" fmla="*/ 0 w 32"/>
                <a:gd name="T17" fmla="*/ 1 h 180"/>
                <a:gd name="T18" fmla="*/ 0 w 32"/>
                <a:gd name="T19" fmla="*/ 1 h 180"/>
                <a:gd name="T20" fmla="*/ 1 w 32"/>
                <a:gd name="T21" fmla="*/ 1 h 180"/>
                <a:gd name="T22" fmla="*/ 1 w 32"/>
                <a:gd name="T23" fmla="*/ 1 h 180"/>
                <a:gd name="T24" fmla="*/ 1 w 32"/>
                <a:gd name="T25" fmla="*/ 0 h 180"/>
                <a:gd name="T26" fmla="*/ 1 w 32"/>
                <a:gd name="T27" fmla="*/ 1 h 18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2"/>
                <a:gd name="T43" fmla="*/ 0 h 180"/>
                <a:gd name="T44" fmla="*/ 32 w 32"/>
                <a:gd name="T45" fmla="*/ 180 h 18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2" h="180">
                  <a:moveTo>
                    <a:pt x="32" y="21"/>
                  </a:moveTo>
                  <a:lnTo>
                    <a:pt x="32" y="60"/>
                  </a:lnTo>
                  <a:lnTo>
                    <a:pt x="32" y="100"/>
                  </a:lnTo>
                  <a:lnTo>
                    <a:pt x="32" y="119"/>
                  </a:lnTo>
                  <a:lnTo>
                    <a:pt x="16" y="160"/>
                  </a:lnTo>
                  <a:lnTo>
                    <a:pt x="16" y="180"/>
                  </a:lnTo>
                  <a:lnTo>
                    <a:pt x="0" y="160"/>
                  </a:lnTo>
                  <a:lnTo>
                    <a:pt x="0" y="119"/>
                  </a:lnTo>
                  <a:lnTo>
                    <a:pt x="0" y="100"/>
                  </a:lnTo>
                  <a:lnTo>
                    <a:pt x="0" y="60"/>
                  </a:lnTo>
                  <a:lnTo>
                    <a:pt x="16" y="40"/>
                  </a:lnTo>
                  <a:lnTo>
                    <a:pt x="16" y="21"/>
                  </a:lnTo>
                  <a:lnTo>
                    <a:pt x="32" y="0"/>
                  </a:lnTo>
                  <a:lnTo>
                    <a:pt x="32" y="21"/>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234" name="Freeform 203"/>
            <p:cNvSpPr>
              <a:spLocks/>
            </p:cNvSpPr>
            <p:nvPr/>
          </p:nvSpPr>
          <p:spPr bwMode="auto">
            <a:xfrm>
              <a:off x="3571" y="2601"/>
              <a:ext cx="312" cy="719"/>
            </a:xfrm>
            <a:custGeom>
              <a:avLst/>
              <a:gdLst>
                <a:gd name="T0" fmla="*/ 1 w 625"/>
                <a:gd name="T1" fmla="*/ 1 h 1438"/>
                <a:gd name="T2" fmla="*/ 1 w 625"/>
                <a:gd name="T3" fmla="*/ 1 h 1438"/>
                <a:gd name="T4" fmla="*/ 1 w 625"/>
                <a:gd name="T5" fmla="*/ 1 h 1438"/>
                <a:gd name="T6" fmla="*/ 1 w 625"/>
                <a:gd name="T7" fmla="*/ 1 h 1438"/>
                <a:gd name="T8" fmla="*/ 1 w 625"/>
                <a:gd name="T9" fmla="*/ 1 h 1438"/>
                <a:gd name="T10" fmla="*/ 2 w 625"/>
                <a:gd name="T11" fmla="*/ 1 h 1438"/>
                <a:gd name="T12" fmla="*/ 2 w 625"/>
                <a:gd name="T13" fmla="*/ 2 h 1438"/>
                <a:gd name="T14" fmla="*/ 2 w 625"/>
                <a:gd name="T15" fmla="*/ 2 h 1438"/>
                <a:gd name="T16" fmla="*/ 2 w 625"/>
                <a:gd name="T17" fmla="*/ 2 h 1438"/>
                <a:gd name="T18" fmla="*/ 2 w 625"/>
                <a:gd name="T19" fmla="*/ 2 h 1438"/>
                <a:gd name="T20" fmla="*/ 2 w 625"/>
                <a:gd name="T21" fmla="*/ 2 h 1438"/>
                <a:gd name="T22" fmla="*/ 2 w 625"/>
                <a:gd name="T23" fmla="*/ 2 h 1438"/>
                <a:gd name="T24" fmla="*/ 2 w 625"/>
                <a:gd name="T25" fmla="*/ 3 h 1438"/>
                <a:gd name="T26" fmla="*/ 2 w 625"/>
                <a:gd name="T27" fmla="*/ 3 h 1438"/>
                <a:gd name="T28" fmla="*/ 2 w 625"/>
                <a:gd name="T29" fmla="*/ 3 h 1438"/>
                <a:gd name="T30" fmla="*/ 2 w 625"/>
                <a:gd name="T31" fmla="*/ 3 h 1438"/>
                <a:gd name="T32" fmla="*/ 2 w 625"/>
                <a:gd name="T33" fmla="*/ 4 h 1438"/>
                <a:gd name="T34" fmla="*/ 2 w 625"/>
                <a:gd name="T35" fmla="*/ 4 h 1438"/>
                <a:gd name="T36" fmla="*/ 2 w 625"/>
                <a:gd name="T37" fmla="*/ 4 h 1438"/>
                <a:gd name="T38" fmla="*/ 2 w 625"/>
                <a:gd name="T39" fmla="*/ 4 h 1438"/>
                <a:gd name="T40" fmla="*/ 2 w 625"/>
                <a:gd name="T41" fmla="*/ 5 h 1438"/>
                <a:gd name="T42" fmla="*/ 2 w 625"/>
                <a:gd name="T43" fmla="*/ 5 h 1438"/>
                <a:gd name="T44" fmla="*/ 2 w 625"/>
                <a:gd name="T45" fmla="*/ 5 h 1438"/>
                <a:gd name="T46" fmla="*/ 2 w 625"/>
                <a:gd name="T47" fmla="*/ 5 h 1438"/>
                <a:gd name="T48" fmla="*/ 2 w 625"/>
                <a:gd name="T49" fmla="*/ 5 h 1438"/>
                <a:gd name="T50" fmla="*/ 2 w 625"/>
                <a:gd name="T51" fmla="*/ 5 h 1438"/>
                <a:gd name="T52" fmla="*/ 2 w 625"/>
                <a:gd name="T53" fmla="*/ 5 h 1438"/>
                <a:gd name="T54" fmla="*/ 2 w 625"/>
                <a:gd name="T55" fmla="*/ 6 h 1438"/>
                <a:gd name="T56" fmla="*/ 2 w 625"/>
                <a:gd name="T57" fmla="*/ 6 h 1438"/>
                <a:gd name="T58" fmla="*/ 2 w 625"/>
                <a:gd name="T59" fmla="*/ 6 h 1438"/>
                <a:gd name="T60" fmla="*/ 2 w 625"/>
                <a:gd name="T61" fmla="*/ 6 h 1438"/>
                <a:gd name="T62" fmla="*/ 2 w 625"/>
                <a:gd name="T63" fmla="*/ 6 h 1438"/>
                <a:gd name="T64" fmla="*/ 2 w 625"/>
                <a:gd name="T65" fmla="*/ 6 h 1438"/>
                <a:gd name="T66" fmla="*/ 1 w 625"/>
                <a:gd name="T67" fmla="*/ 6 h 1438"/>
                <a:gd name="T68" fmla="*/ 1 w 625"/>
                <a:gd name="T69" fmla="*/ 6 h 1438"/>
                <a:gd name="T70" fmla="*/ 1 w 625"/>
                <a:gd name="T71" fmla="*/ 6 h 1438"/>
                <a:gd name="T72" fmla="*/ 1 w 625"/>
                <a:gd name="T73" fmla="*/ 6 h 1438"/>
                <a:gd name="T74" fmla="*/ 0 w 625"/>
                <a:gd name="T75" fmla="*/ 6 h 1438"/>
                <a:gd name="T76" fmla="*/ 0 w 625"/>
                <a:gd name="T77" fmla="*/ 6 h 1438"/>
                <a:gd name="T78" fmla="*/ 0 w 625"/>
                <a:gd name="T79" fmla="*/ 6 h 1438"/>
                <a:gd name="T80" fmla="*/ 0 w 625"/>
                <a:gd name="T81" fmla="*/ 6 h 1438"/>
                <a:gd name="T82" fmla="*/ 0 w 625"/>
                <a:gd name="T83" fmla="*/ 6 h 1438"/>
                <a:gd name="T84" fmla="*/ 0 w 625"/>
                <a:gd name="T85" fmla="*/ 6 h 1438"/>
                <a:gd name="T86" fmla="*/ 0 w 625"/>
                <a:gd name="T87" fmla="*/ 6 h 1438"/>
                <a:gd name="T88" fmla="*/ 0 w 625"/>
                <a:gd name="T89" fmla="*/ 6 h 1438"/>
                <a:gd name="T90" fmla="*/ 0 w 625"/>
                <a:gd name="T91" fmla="*/ 5 h 1438"/>
                <a:gd name="T92" fmla="*/ 0 w 625"/>
                <a:gd name="T93" fmla="*/ 5 h 1438"/>
                <a:gd name="T94" fmla="*/ 0 w 625"/>
                <a:gd name="T95" fmla="*/ 5 h 1438"/>
                <a:gd name="T96" fmla="*/ 0 w 625"/>
                <a:gd name="T97" fmla="*/ 5 h 1438"/>
                <a:gd name="T98" fmla="*/ 0 w 625"/>
                <a:gd name="T99" fmla="*/ 5 h 1438"/>
                <a:gd name="T100" fmla="*/ 0 w 625"/>
                <a:gd name="T101" fmla="*/ 5 h 1438"/>
                <a:gd name="T102" fmla="*/ 0 w 625"/>
                <a:gd name="T103" fmla="*/ 5 h 1438"/>
                <a:gd name="T104" fmla="*/ 0 w 625"/>
                <a:gd name="T105" fmla="*/ 3 h 1438"/>
                <a:gd name="T106" fmla="*/ 0 w 625"/>
                <a:gd name="T107" fmla="*/ 3 h 1438"/>
                <a:gd name="T108" fmla="*/ 0 w 625"/>
                <a:gd name="T109" fmla="*/ 2 h 1438"/>
                <a:gd name="T110" fmla="*/ 0 w 625"/>
                <a:gd name="T111" fmla="*/ 1 h 1438"/>
                <a:gd name="T112" fmla="*/ 1 w 625"/>
                <a:gd name="T113" fmla="*/ 1 h 1438"/>
                <a:gd name="T114" fmla="*/ 1 w 625"/>
                <a:gd name="T115" fmla="*/ 0 h 1438"/>
                <a:gd name="T116" fmla="*/ 1 w 625"/>
                <a:gd name="T117" fmla="*/ 1 h 143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625"/>
                <a:gd name="T178" fmla="*/ 0 h 1438"/>
                <a:gd name="T179" fmla="*/ 625 w 625"/>
                <a:gd name="T180" fmla="*/ 1438 h 143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625" h="1438">
                  <a:moveTo>
                    <a:pt x="379" y="21"/>
                  </a:moveTo>
                  <a:lnTo>
                    <a:pt x="411" y="39"/>
                  </a:lnTo>
                  <a:lnTo>
                    <a:pt x="460" y="79"/>
                  </a:lnTo>
                  <a:lnTo>
                    <a:pt x="478" y="120"/>
                  </a:lnTo>
                  <a:lnTo>
                    <a:pt x="510" y="160"/>
                  </a:lnTo>
                  <a:lnTo>
                    <a:pt x="526" y="199"/>
                  </a:lnTo>
                  <a:lnTo>
                    <a:pt x="559" y="280"/>
                  </a:lnTo>
                  <a:lnTo>
                    <a:pt x="576" y="319"/>
                  </a:lnTo>
                  <a:lnTo>
                    <a:pt x="576" y="339"/>
                  </a:lnTo>
                  <a:lnTo>
                    <a:pt x="591" y="400"/>
                  </a:lnTo>
                  <a:lnTo>
                    <a:pt x="591" y="459"/>
                  </a:lnTo>
                  <a:lnTo>
                    <a:pt x="609" y="498"/>
                  </a:lnTo>
                  <a:lnTo>
                    <a:pt x="609" y="539"/>
                  </a:lnTo>
                  <a:lnTo>
                    <a:pt x="609" y="599"/>
                  </a:lnTo>
                  <a:lnTo>
                    <a:pt x="625" y="659"/>
                  </a:lnTo>
                  <a:lnTo>
                    <a:pt x="625" y="738"/>
                  </a:lnTo>
                  <a:lnTo>
                    <a:pt x="625" y="858"/>
                  </a:lnTo>
                  <a:lnTo>
                    <a:pt x="625" y="918"/>
                  </a:lnTo>
                  <a:lnTo>
                    <a:pt x="625" y="959"/>
                  </a:lnTo>
                  <a:lnTo>
                    <a:pt x="625" y="998"/>
                  </a:lnTo>
                  <a:lnTo>
                    <a:pt x="625" y="1098"/>
                  </a:lnTo>
                  <a:lnTo>
                    <a:pt x="625" y="1158"/>
                  </a:lnTo>
                  <a:lnTo>
                    <a:pt x="625" y="1219"/>
                  </a:lnTo>
                  <a:lnTo>
                    <a:pt x="625" y="1259"/>
                  </a:lnTo>
                  <a:lnTo>
                    <a:pt x="625" y="1278"/>
                  </a:lnTo>
                  <a:lnTo>
                    <a:pt x="609" y="1278"/>
                  </a:lnTo>
                  <a:lnTo>
                    <a:pt x="609" y="1298"/>
                  </a:lnTo>
                  <a:lnTo>
                    <a:pt x="591" y="1298"/>
                  </a:lnTo>
                  <a:lnTo>
                    <a:pt x="576" y="1318"/>
                  </a:lnTo>
                  <a:lnTo>
                    <a:pt x="559" y="1339"/>
                  </a:lnTo>
                  <a:lnTo>
                    <a:pt x="526" y="1339"/>
                  </a:lnTo>
                  <a:lnTo>
                    <a:pt x="478" y="1359"/>
                  </a:lnTo>
                  <a:lnTo>
                    <a:pt x="428" y="1378"/>
                  </a:lnTo>
                  <a:lnTo>
                    <a:pt x="379" y="1378"/>
                  </a:lnTo>
                  <a:lnTo>
                    <a:pt x="314" y="1398"/>
                  </a:lnTo>
                  <a:lnTo>
                    <a:pt x="232" y="1398"/>
                  </a:lnTo>
                  <a:lnTo>
                    <a:pt x="165" y="1418"/>
                  </a:lnTo>
                  <a:lnTo>
                    <a:pt x="99" y="1418"/>
                  </a:lnTo>
                  <a:lnTo>
                    <a:pt x="66" y="1438"/>
                  </a:lnTo>
                  <a:lnTo>
                    <a:pt x="34" y="1438"/>
                  </a:lnTo>
                  <a:lnTo>
                    <a:pt x="34" y="1398"/>
                  </a:lnTo>
                  <a:lnTo>
                    <a:pt x="18" y="1359"/>
                  </a:lnTo>
                  <a:lnTo>
                    <a:pt x="0" y="1318"/>
                  </a:lnTo>
                  <a:lnTo>
                    <a:pt x="0" y="1278"/>
                  </a:lnTo>
                  <a:lnTo>
                    <a:pt x="0" y="1219"/>
                  </a:lnTo>
                  <a:lnTo>
                    <a:pt x="0" y="1158"/>
                  </a:lnTo>
                  <a:lnTo>
                    <a:pt x="18" y="1138"/>
                  </a:lnTo>
                  <a:lnTo>
                    <a:pt x="18" y="1119"/>
                  </a:lnTo>
                  <a:lnTo>
                    <a:pt x="66" y="1119"/>
                  </a:lnTo>
                  <a:lnTo>
                    <a:pt x="50" y="1058"/>
                  </a:lnTo>
                  <a:lnTo>
                    <a:pt x="50" y="759"/>
                  </a:lnTo>
                  <a:lnTo>
                    <a:pt x="66" y="520"/>
                  </a:lnTo>
                  <a:lnTo>
                    <a:pt x="99" y="299"/>
                  </a:lnTo>
                  <a:lnTo>
                    <a:pt x="214" y="140"/>
                  </a:lnTo>
                  <a:lnTo>
                    <a:pt x="329" y="39"/>
                  </a:lnTo>
                  <a:lnTo>
                    <a:pt x="363" y="0"/>
                  </a:lnTo>
                  <a:lnTo>
                    <a:pt x="379" y="2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2235" name="Freeform 204"/>
            <p:cNvSpPr>
              <a:spLocks/>
            </p:cNvSpPr>
            <p:nvPr/>
          </p:nvSpPr>
          <p:spPr bwMode="auto">
            <a:xfrm>
              <a:off x="3571" y="2601"/>
              <a:ext cx="312" cy="719"/>
            </a:xfrm>
            <a:custGeom>
              <a:avLst/>
              <a:gdLst>
                <a:gd name="T0" fmla="*/ 1 w 625"/>
                <a:gd name="T1" fmla="*/ 1 h 1438"/>
                <a:gd name="T2" fmla="*/ 1 w 625"/>
                <a:gd name="T3" fmla="*/ 1 h 1438"/>
                <a:gd name="T4" fmla="*/ 1 w 625"/>
                <a:gd name="T5" fmla="*/ 1 h 1438"/>
                <a:gd name="T6" fmla="*/ 1 w 625"/>
                <a:gd name="T7" fmla="*/ 1 h 1438"/>
                <a:gd name="T8" fmla="*/ 1 w 625"/>
                <a:gd name="T9" fmla="*/ 1 h 1438"/>
                <a:gd name="T10" fmla="*/ 2 w 625"/>
                <a:gd name="T11" fmla="*/ 1 h 1438"/>
                <a:gd name="T12" fmla="*/ 2 w 625"/>
                <a:gd name="T13" fmla="*/ 2 h 1438"/>
                <a:gd name="T14" fmla="*/ 2 w 625"/>
                <a:gd name="T15" fmla="*/ 2 h 1438"/>
                <a:gd name="T16" fmla="*/ 2 w 625"/>
                <a:gd name="T17" fmla="*/ 2 h 1438"/>
                <a:gd name="T18" fmla="*/ 2 w 625"/>
                <a:gd name="T19" fmla="*/ 2 h 1438"/>
                <a:gd name="T20" fmla="*/ 2 w 625"/>
                <a:gd name="T21" fmla="*/ 2 h 1438"/>
                <a:gd name="T22" fmla="*/ 2 w 625"/>
                <a:gd name="T23" fmla="*/ 2 h 1438"/>
                <a:gd name="T24" fmla="*/ 2 w 625"/>
                <a:gd name="T25" fmla="*/ 3 h 1438"/>
                <a:gd name="T26" fmla="*/ 2 w 625"/>
                <a:gd name="T27" fmla="*/ 3 h 1438"/>
                <a:gd name="T28" fmla="*/ 2 w 625"/>
                <a:gd name="T29" fmla="*/ 3 h 1438"/>
                <a:gd name="T30" fmla="*/ 2 w 625"/>
                <a:gd name="T31" fmla="*/ 3 h 1438"/>
                <a:gd name="T32" fmla="*/ 2 w 625"/>
                <a:gd name="T33" fmla="*/ 4 h 1438"/>
                <a:gd name="T34" fmla="*/ 2 w 625"/>
                <a:gd name="T35" fmla="*/ 4 h 1438"/>
                <a:gd name="T36" fmla="*/ 2 w 625"/>
                <a:gd name="T37" fmla="*/ 4 h 1438"/>
                <a:gd name="T38" fmla="*/ 2 w 625"/>
                <a:gd name="T39" fmla="*/ 4 h 1438"/>
                <a:gd name="T40" fmla="*/ 2 w 625"/>
                <a:gd name="T41" fmla="*/ 5 h 1438"/>
                <a:gd name="T42" fmla="*/ 2 w 625"/>
                <a:gd name="T43" fmla="*/ 5 h 1438"/>
                <a:gd name="T44" fmla="*/ 2 w 625"/>
                <a:gd name="T45" fmla="*/ 5 h 1438"/>
                <a:gd name="T46" fmla="*/ 2 w 625"/>
                <a:gd name="T47" fmla="*/ 5 h 1438"/>
                <a:gd name="T48" fmla="*/ 2 w 625"/>
                <a:gd name="T49" fmla="*/ 5 h 1438"/>
                <a:gd name="T50" fmla="*/ 2 w 625"/>
                <a:gd name="T51" fmla="*/ 5 h 1438"/>
                <a:gd name="T52" fmla="*/ 2 w 625"/>
                <a:gd name="T53" fmla="*/ 5 h 1438"/>
                <a:gd name="T54" fmla="*/ 2 w 625"/>
                <a:gd name="T55" fmla="*/ 6 h 1438"/>
                <a:gd name="T56" fmla="*/ 2 w 625"/>
                <a:gd name="T57" fmla="*/ 6 h 1438"/>
                <a:gd name="T58" fmla="*/ 2 w 625"/>
                <a:gd name="T59" fmla="*/ 6 h 1438"/>
                <a:gd name="T60" fmla="*/ 2 w 625"/>
                <a:gd name="T61" fmla="*/ 6 h 1438"/>
                <a:gd name="T62" fmla="*/ 2 w 625"/>
                <a:gd name="T63" fmla="*/ 6 h 1438"/>
                <a:gd name="T64" fmla="*/ 2 w 625"/>
                <a:gd name="T65" fmla="*/ 6 h 1438"/>
                <a:gd name="T66" fmla="*/ 1 w 625"/>
                <a:gd name="T67" fmla="*/ 6 h 1438"/>
                <a:gd name="T68" fmla="*/ 1 w 625"/>
                <a:gd name="T69" fmla="*/ 6 h 1438"/>
                <a:gd name="T70" fmla="*/ 1 w 625"/>
                <a:gd name="T71" fmla="*/ 6 h 1438"/>
                <a:gd name="T72" fmla="*/ 1 w 625"/>
                <a:gd name="T73" fmla="*/ 6 h 1438"/>
                <a:gd name="T74" fmla="*/ 0 w 625"/>
                <a:gd name="T75" fmla="*/ 6 h 1438"/>
                <a:gd name="T76" fmla="*/ 0 w 625"/>
                <a:gd name="T77" fmla="*/ 6 h 1438"/>
                <a:gd name="T78" fmla="*/ 0 w 625"/>
                <a:gd name="T79" fmla="*/ 6 h 1438"/>
                <a:gd name="T80" fmla="*/ 0 w 625"/>
                <a:gd name="T81" fmla="*/ 6 h 1438"/>
                <a:gd name="T82" fmla="*/ 0 w 625"/>
                <a:gd name="T83" fmla="*/ 6 h 1438"/>
                <a:gd name="T84" fmla="*/ 0 w 625"/>
                <a:gd name="T85" fmla="*/ 6 h 1438"/>
                <a:gd name="T86" fmla="*/ 0 w 625"/>
                <a:gd name="T87" fmla="*/ 6 h 1438"/>
                <a:gd name="T88" fmla="*/ 0 w 625"/>
                <a:gd name="T89" fmla="*/ 6 h 1438"/>
                <a:gd name="T90" fmla="*/ 0 w 625"/>
                <a:gd name="T91" fmla="*/ 5 h 1438"/>
                <a:gd name="T92" fmla="*/ 0 w 625"/>
                <a:gd name="T93" fmla="*/ 5 h 1438"/>
                <a:gd name="T94" fmla="*/ 0 w 625"/>
                <a:gd name="T95" fmla="*/ 5 h 1438"/>
                <a:gd name="T96" fmla="*/ 0 w 625"/>
                <a:gd name="T97" fmla="*/ 5 h 1438"/>
                <a:gd name="T98" fmla="*/ 0 w 625"/>
                <a:gd name="T99" fmla="*/ 5 h 1438"/>
                <a:gd name="T100" fmla="*/ 0 w 625"/>
                <a:gd name="T101" fmla="*/ 5 h 1438"/>
                <a:gd name="T102" fmla="*/ 0 w 625"/>
                <a:gd name="T103" fmla="*/ 5 h 1438"/>
                <a:gd name="T104" fmla="*/ 0 w 625"/>
                <a:gd name="T105" fmla="*/ 3 h 1438"/>
                <a:gd name="T106" fmla="*/ 0 w 625"/>
                <a:gd name="T107" fmla="*/ 3 h 1438"/>
                <a:gd name="T108" fmla="*/ 0 w 625"/>
                <a:gd name="T109" fmla="*/ 2 h 1438"/>
                <a:gd name="T110" fmla="*/ 0 w 625"/>
                <a:gd name="T111" fmla="*/ 1 h 1438"/>
                <a:gd name="T112" fmla="*/ 1 w 625"/>
                <a:gd name="T113" fmla="*/ 1 h 1438"/>
                <a:gd name="T114" fmla="*/ 1 w 625"/>
                <a:gd name="T115" fmla="*/ 0 h 1438"/>
                <a:gd name="T116" fmla="*/ 1 w 625"/>
                <a:gd name="T117" fmla="*/ 1 h 143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625"/>
                <a:gd name="T178" fmla="*/ 0 h 1438"/>
                <a:gd name="T179" fmla="*/ 625 w 625"/>
                <a:gd name="T180" fmla="*/ 1438 h 143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625" h="1438">
                  <a:moveTo>
                    <a:pt x="379" y="21"/>
                  </a:moveTo>
                  <a:lnTo>
                    <a:pt x="411" y="39"/>
                  </a:lnTo>
                  <a:lnTo>
                    <a:pt x="460" y="79"/>
                  </a:lnTo>
                  <a:lnTo>
                    <a:pt x="478" y="120"/>
                  </a:lnTo>
                  <a:lnTo>
                    <a:pt x="510" y="160"/>
                  </a:lnTo>
                  <a:lnTo>
                    <a:pt x="526" y="199"/>
                  </a:lnTo>
                  <a:lnTo>
                    <a:pt x="559" y="280"/>
                  </a:lnTo>
                  <a:lnTo>
                    <a:pt x="576" y="319"/>
                  </a:lnTo>
                  <a:lnTo>
                    <a:pt x="576" y="339"/>
                  </a:lnTo>
                  <a:lnTo>
                    <a:pt x="591" y="400"/>
                  </a:lnTo>
                  <a:lnTo>
                    <a:pt x="591" y="459"/>
                  </a:lnTo>
                  <a:lnTo>
                    <a:pt x="609" y="498"/>
                  </a:lnTo>
                  <a:lnTo>
                    <a:pt x="609" y="539"/>
                  </a:lnTo>
                  <a:lnTo>
                    <a:pt x="609" y="599"/>
                  </a:lnTo>
                  <a:lnTo>
                    <a:pt x="625" y="659"/>
                  </a:lnTo>
                  <a:lnTo>
                    <a:pt x="625" y="738"/>
                  </a:lnTo>
                  <a:lnTo>
                    <a:pt x="625" y="858"/>
                  </a:lnTo>
                  <a:lnTo>
                    <a:pt x="625" y="918"/>
                  </a:lnTo>
                  <a:lnTo>
                    <a:pt x="625" y="959"/>
                  </a:lnTo>
                  <a:lnTo>
                    <a:pt x="625" y="998"/>
                  </a:lnTo>
                  <a:lnTo>
                    <a:pt x="625" y="1098"/>
                  </a:lnTo>
                  <a:lnTo>
                    <a:pt x="625" y="1158"/>
                  </a:lnTo>
                  <a:lnTo>
                    <a:pt x="625" y="1219"/>
                  </a:lnTo>
                  <a:lnTo>
                    <a:pt x="625" y="1259"/>
                  </a:lnTo>
                  <a:lnTo>
                    <a:pt x="625" y="1278"/>
                  </a:lnTo>
                  <a:lnTo>
                    <a:pt x="609" y="1278"/>
                  </a:lnTo>
                  <a:lnTo>
                    <a:pt x="609" y="1298"/>
                  </a:lnTo>
                  <a:lnTo>
                    <a:pt x="591" y="1298"/>
                  </a:lnTo>
                  <a:lnTo>
                    <a:pt x="576" y="1318"/>
                  </a:lnTo>
                  <a:lnTo>
                    <a:pt x="559" y="1339"/>
                  </a:lnTo>
                  <a:lnTo>
                    <a:pt x="526" y="1339"/>
                  </a:lnTo>
                  <a:lnTo>
                    <a:pt x="478" y="1359"/>
                  </a:lnTo>
                  <a:lnTo>
                    <a:pt x="428" y="1378"/>
                  </a:lnTo>
                  <a:lnTo>
                    <a:pt x="379" y="1378"/>
                  </a:lnTo>
                  <a:lnTo>
                    <a:pt x="314" y="1398"/>
                  </a:lnTo>
                  <a:lnTo>
                    <a:pt x="232" y="1398"/>
                  </a:lnTo>
                  <a:lnTo>
                    <a:pt x="165" y="1418"/>
                  </a:lnTo>
                  <a:lnTo>
                    <a:pt x="99" y="1418"/>
                  </a:lnTo>
                  <a:lnTo>
                    <a:pt x="66" y="1438"/>
                  </a:lnTo>
                  <a:lnTo>
                    <a:pt x="34" y="1438"/>
                  </a:lnTo>
                  <a:lnTo>
                    <a:pt x="34" y="1398"/>
                  </a:lnTo>
                  <a:lnTo>
                    <a:pt x="18" y="1359"/>
                  </a:lnTo>
                  <a:lnTo>
                    <a:pt x="0" y="1318"/>
                  </a:lnTo>
                  <a:lnTo>
                    <a:pt x="0" y="1278"/>
                  </a:lnTo>
                  <a:lnTo>
                    <a:pt x="0" y="1219"/>
                  </a:lnTo>
                  <a:lnTo>
                    <a:pt x="0" y="1158"/>
                  </a:lnTo>
                  <a:lnTo>
                    <a:pt x="18" y="1138"/>
                  </a:lnTo>
                  <a:lnTo>
                    <a:pt x="18" y="1119"/>
                  </a:lnTo>
                  <a:lnTo>
                    <a:pt x="66" y="1119"/>
                  </a:lnTo>
                  <a:lnTo>
                    <a:pt x="50" y="1058"/>
                  </a:lnTo>
                  <a:lnTo>
                    <a:pt x="50" y="759"/>
                  </a:lnTo>
                  <a:lnTo>
                    <a:pt x="66" y="520"/>
                  </a:lnTo>
                  <a:lnTo>
                    <a:pt x="99" y="299"/>
                  </a:lnTo>
                  <a:lnTo>
                    <a:pt x="214" y="140"/>
                  </a:lnTo>
                  <a:lnTo>
                    <a:pt x="329" y="39"/>
                  </a:lnTo>
                  <a:lnTo>
                    <a:pt x="363" y="0"/>
                  </a:lnTo>
                  <a:lnTo>
                    <a:pt x="379" y="21"/>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2236" name="Freeform 205"/>
            <p:cNvSpPr>
              <a:spLocks/>
            </p:cNvSpPr>
            <p:nvPr/>
          </p:nvSpPr>
          <p:spPr bwMode="auto">
            <a:xfrm>
              <a:off x="3522" y="2352"/>
              <a:ext cx="213" cy="299"/>
            </a:xfrm>
            <a:custGeom>
              <a:avLst/>
              <a:gdLst>
                <a:gd name="T0" fmla="*/ 1 w 425"/>
                <a:gd name="T1" fmla="*/ 2 h 599"/>
                <a:gd name="T2" fmla="*/ 1 w 425"/>
                <a:gd name="T3" fmla="*/ 2 h 599"/>
                <a:gd name="T4" fmla="*/ 1 w 425"/>
                <a:gd name="T5" fmla="*/ 2 h 599"/>
                <a:gd name="T6" fmla="*/ 1 w 425"/>
                <a:gd name="T7" fmla="*/ 2 h 599"/>
                <a:gd name="T8" fmla="*/ 1 w 425"/>
                <a:gd name="T9" fmla="*/ 2 h 599"/>
                <a:gd name="T10" fmla="*/ 1 w 425"/>
                <a:gd name="T11" fmla="*/ 1 h 599"/>
                <a:gd name="T12" fmla="*/ 1 w 425"/>
                <a:gd name="T13" fmla="*/ 1 h 599"/>
                <a:gd name="T14" fmla="*/ 1 w 425"/>
                <a:gd name="T15" fmla="*/ 1 h 599"/>
                <a:gd name="T16" fmla="*/ 1 w 425"/>
                <a:gd name="T17" fmla="*/ 1 h 599"/>
                <a:gd name="T18" fmla="*/ 1 w 425"/>
                <a:gd name="T19" fmla="*/ 1 h 599"/>
                <a:gd name="T20" fmla="*/ 1 w 425"/>
                <a:gd name="T21" fmla="*/ 1 h 599"/>
                <a:gd name="T22" fmla="*/ 1 w 425"/>
                <a:gd name="T23" fmla="*/ 1 h 599"/>
                <a:gd name="T24" fmla="*/ 1 w 425"/>
                <a:gd name="T25" fmla="*/ 1 h 599"/>
                <a:gd name="T26" fmla="*/ 1 w 425"/>
                <a:gd name="T27" fmla="*/ 1 h 599"/>
                <a:gd name="T28" fmla="*/ 1 w 425"/>
                <a:gd name="T29" fmla="*/ 1 h 599"/>
                <a:gd name="T30" fmla="*/ 1 w 425"/>
                <a:gd name="T31" fmla="*/ 1 h 599"/>
                <a:gd name="T32" fmla="*/ 1 w 425"/>
                <a:gd name="T33" fmla="*/ 1 h 599"/>
                <a:gd name="T34" fmla="*/ 1 w 425"/>
                <a:gd name="T35" fmla="*/ 1 h 599"/>
                <a:gd name="T36" fmla="*/ 1 w 425"/>
                <a:gd name="T37" fmla="*/ 1 h 599"/>
                <a:gd name="T38" fmla="*/ 1 w 425"/>
                <a:gd name="T39" fmla="*/ 1 h 599"/>
                <a:gd name="T40" fmla="*/ 0 w 425"/>
                <a:gd name="T41" fmla="*/ 1 h 599"/>
                <a:gd name="T42" fmla="*/ 0 w 425"/>
                <a:gd name="T43" fmla="*/ 1 h 599"/>
                <a:gd name="T44" fmla="*/ 1 w 425"/>
                <a:gd name="T45" fmla="*/ 0 h 599"/>
                <a:gd name="T46" fmla="*/ 1 w 425"/>
                <a:gd name="T47" fmla="*/ 0 h 599"/>
                <a:gd name="T48" fmla="*/ 1 w 425"/>
                <a:gd name="T49" fmla="*/ 0 h 599"/>
                <a:gd name="T50" fmla="*/ 1 w 425"/>
                <a:gd name="T51" fmla="*/ 0 h 599"/>
                <a:gd name="T52" fmla="*/ 1 w 425"/>
                <a:gd name="T53" fmla="*/ 0 h 599"/>
                <a:gd name="T54" fmla="*/ 1 w 425"/>
                <a:gd name="T55" fmla="*/ 0 h 599"/>
                <a:gd name="T56" fmla="*/ 1 w 425"/>
                <a:gd name="T57" fmla="*/ 0 h 599"/>
                <a:gd name="T58" fmla="*/ 1 w 425"/>
                <a:gd name="T59" fmla="*/ 0 h 599"/>
                <a:gd name="T60" fmla="*/ 1 w 425"/>
                <a:gd name="T61" fmla="*/ 0 h 599"/>
                <a:gd name="T62" fmla="*/ 2 w 425"/>
                <a:gd name="T63" fmla="*/ 0 h 599"/>
                <a:gd name="T64" fmla="*/ 2 w 425"/>
                <a:gd name="T65" fmla="*/ 0 h 599"/>
                <a:gd name="T66" fmla="*/ 2 w 425"/>
                <a:gd name="T67" fmla="*/ 1 h 599"/>
                <a:gd name="T68" fmla="*/ 2 w 425"/>
                <a:gd name="T69" fmla="*/ 1 h 599"/>
                <a:gd name="T70" fmla="*/ 2 w 425"/>
                <a:gd name="T71" fmla="*/ 1 h 599"/>
                <a:gd name="T72" fmla="*/ 2 w 425"/>
                <a:gd name="T73" fmla="*/ 1 h 599"/>
                <a:gd name="T74" fmla="*/ 2 w 425"/>
                <a:gd name="T75" fmla="*/ 1 h 599"/>
                <a:gd name="T76" fmla="*/ 1 w 425"/>
                <a:gd name="T77" fmla="*/ 2 h 599"/>
                <a:gd name="T78" fmla="*/ 1 w 425"/>
                <a:gd name="T79" fmla="*/ 2 h 59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425"/>
                <a:gd name="T121" fmla="*/ 0 h 599"/>
                <a:gd name="T122" fmla="*/ 425 w 425"/>
                <a:gd name="T123" fmla="*/ 599 h 59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425" h="599">
                  <a:moveTo>
                    <a:pt x="230" y="599"/>
                  </a:moveTo>
                  <a:lnTo>
                    <a:pt x="180" y="520"/>
                  </a:lnTo>
                  <a:lnTo>
                    <a:pt x="147" y="520"/>
                  </a:lnTo>
                  <a:lnTo>
                    <a:pt x="131" y="520"/>
                  </a:lnTo>
                  <a:lnTo>
                    <a:pt x="97" y="520"/>
                  </a:lnTo>
                  <a:lnTo>
                    <a:pt x="81" y="500"/>
                  </a:lnTo>
                  <a:lnTo>
                    <a:pt x="64" y="480"/>
                  </a:lnTo>
                  <a:lnTo>
                    <a:pt x="64" y="440"/>
                  </a:lnTo>
                  <a:lnTo>
                    <a:pt x="81" y="420"/>
                  </a:lnTo>
                  <a:lnTo>
                    <a:pt x="64" y="399"/>
                  </a:lnTo>
                  <a:lnTo>
                    <a:pt x="49" y="380"/>
                  </a:lnTo>
                  <a:lnTo>
                    <a:pt x="64" y="380"/>
                  </a:lnTo>
                  <a:lnTo>
                    <a:pt x="49" y="360"/>
                  </a:lnTo>
                  <a:lnTo>
                    <a:pt x="49" y="340"/>
                  </a:lnTo>
                  <a:lnTo>
                    <a:pt x="49" y="301"/>
                  </a:lnTo>
                  <a:lnTo>
                    <a:pt x="32" y="319"/>
                  </a:lnTo>
                  <a:lnTo>
                    <a:pt x="15" y="301"/>
                  </a:lnTo>
                  <a:lnTo>
                    <a:pt x="0" y="301"/>
                  </a:lnTo>
                  <a:lnTo>
                    <a:pt x="0" y="280"/>
                  </a:lnTo>
                  <a:lnTo>
                    <a:pt x="49" y="160"/>
                  </a:lnTo>
                  <a:lnTo>
                    <a:pt x="49" y="140"/>
                  </a:lnTo>
                  <a:lnTo>
                    <a:pt x="49" y="121"/>
                  </a:lnTo>
                  <a:lnTo>
                    <a:pt x="49" y="101"/>
                  </a:lnTo>
                  <a:lnTo>
                    <a:pt x="49" y="79"/>
                  </a:lnTo>
                  <a:lnTo>
                    <a:pt x="49" y="60"/>
                  </a:lnTo>
                  <a:lnTo>
                    <a:pt x="64" y="20"/>
                  </a:lnTo>
                  <a:lnTo>
                    <a:pt x="97" y="0"/>
                  </a:lnTo>
                  <a:lnTo>
                    <a:pt x="230" y="40"/>
                  </a:lnTo>
                  <a:lnTo>
                    <a:pt x="360" y="121"/>
                  </a:lnTo>
                  <a:lnTo>
                    <a:pt x="425" y="160"/>
                  </a:lnTo>
                  <a:lnTo>
                    <a:pt x="425" y="301"/>
                  </a:lnTo>
                  <a:lnTo>
                    <a:pt x="410" y="380"/>
                  </a:lnTo>
                  <a:lnTo>
                    <a:pt x="393" y="399"/>
                  </a:lnTo>
                  <a:lnTo>
                    <a:pt x="377" y="420"/>
                  </a:lnTo>
                  <a:lnTo>
                    <a:pt x="377" y="480"/>
                  </a:lnTo>
                  <a:lnTo>
                    <a:pt x="245" y="599"/>
                  </a:lnTo>
                  <a:lnTo>
                    <a:pt x="230" y="5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05" name="Rectangle 4"/>
          <p:cNvSpPr>
            <a:spLocks noChangeArrowheads="1"/>
          </p:cNvSpPr>
          <p:nvPr/>
        </p:nvSpPr>
        <p:spPr bwMode="auto">
          <a:xfrm>
            <a:off x="35832" y="53340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ea typeface="幼圆" pitchFamily="49" charset="-122"/>
              </a:rPr>
              <a:t>部分练习</a:t>
            </a:r>
          </a:p>
        </p:txBody>
      </p:sp>
    </p:spTree>
    <p:extLst>
      <p:ext uri="{BB962C8B-B14F-4D97-AF65-F5344CB8AC3E}">
        <p14:creationId xmlns:p14="http://schemas.microsoft.com/office/powerpoint/2010/main" val="1052698000"/>
      </p:ext>
    </p:extLst>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3475">
                                            <p:txEl>
                                              <p:pRg st="0" end="0"/>
                                            </p:txEl>
                                          </p:spTgt>
                                        </p:tgtEl>
                                        <p:attrNameLst>
                                          <p:attrName>style.visibility</p:attrName>
                                        </p:attrNameLst>
                                      </p:cBhvr>
                                      <p:to>
                                        <p:strVal val="visible"/>
                                      </p:to>
                                    </p:set>
                                    <p:animEffect transition="in" filter="wipe(left)">
                                      <p:cBhvr>
                                        <p:cTn id="7" dur="500"/>
                                        <p:tgtEl>
                                          <p:spTgt spid="23347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33475">
                                            <p:txEl>
                                              <p:pRg st="1" end="1"/>
                                            </p:txEl>
                                          </p:spTgt>
                                        </p:tgtEl>
                                        <p:attrNameLst>
                                          <p:attrName>style.visibility</p:attrName>
                                        </p:attrNameLst>
                                      </p:cBhvr>
                                      <p:to>
                                        <p:strVal val="visible"/>
                                      </p:to>
                                    </p:set>
                                    <p:animEffect transition="in" filter="wipe(left)">
                                      <p:cBhvr>
                                        <p:cTn id="10" dur="500"/>
                                        <p:tgtEl>
                                          <p:spTgt spid="233475">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33475">
                                            <p:txEl>
                                              <p:pRg st="2" end="2"/>
                                            </p:txEl>
                                          </p:spTgt>
                                        </p:tgtEl>
                                        <p:attrNameLst>
                                          <p:attrName>style.visibility</p:attrName>
                                        </p:attrNameLst>
                                      </p:cBhvr>
                                      <p:to>
                                        <p:strVal val="visible"/>
                                      </p:to>
                                    </p:set>
                                    <p:animEffect transition="in" filter="wipe(left)">
                                      <p:cBhvr>
                                        <p:cTn id="13" dur="500"/>
                                        <p:tgtEl>
                                          <p:spTgt spid="233475">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33475">
                                            <p:txEl>
                                              <p:pRg st="3" end="3"/>
                                            </p:txEl>
                                          </p:spTgt>
                                        </p:tgtEl>
                                        <p:attrNameLst>
                                          <p:attrName>style.visibility</p:attrName>
                                        </p:attrNameLst>
                                      </p:cBhvr>
                                      <p:to>
                                        <p:strVal val="visible"/>
                                      </p:to>
                                    </p:set>
                                    <p:animEffect transition="in" filter="wipe(left)">
                                      <p:cBhvr>
                                        <p:cTn id="16" dur="500"/>
                                        <p:tgtEl>
                                          <p:spTgt spid="233475">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33475">
                                            <p:txEl>
                                              <p:pRg st="4" end="4"/>
                                            </p:txEl>
                                          </p:spTgt>
                                        </p:tgtEl>
                                        <p:attrNameLst>
                                          <p:attrName>style.visibility</p:attrName>
                                        </p:attrNameLst>
                                      </p:cBhvr>
                                      <p:to>
                                        <p:strVal val="visible"/>
                                      </p:to>
                                    </p:set>
                                    <p:animEffect transition="in" filter="wipe(left)">
                                      <p:cBhvr>
                                        <p:cTn id="21" dur="500"/>
                                        <p:tgtEl>
                                          <p:spTgt spid="233475">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33475">
                                            <p:txEl>
                                              <p:pRg st="5" end="5"/>
                                            </p:txEl>
                                          </p:spTgt>
                                        </p:tgtEl>
                                        <p:attrNameLst>
                                          <p:attrName>style.visibility</p:attrName>
                                        </p:attrNameLst>
                                      </p:cBhvr>
                                      <p:to>
                                        <p:strVal val="visible"/>
                                      </p:to>
                                    </p:set>
                                    <p:animEffect transition="in" filter="wipe(left)">
                                      <p:cBhvr>
                                        <p:cTn id="26" dur="500"/>
                                        <p:tgtEl>
                                          <p:spTgt spid="233475">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33475">
                                            <p:txEl>
                                              <p:pRg st="6" end="6"/>
                                            </p:txEl>
                                          </p:spTgt>
                                        </p:tgtEl>
                                        <p:attrNameLst>
                                          <p:attrName>style.visibility</p:attrName>
                                        </p:attrNameLst>
                                      </p:cBhvr>
                                      <p:to>
                                        <p:strVal val="visible"/>
                                      </p:to>
                                    </p:set>
                                    <p:animEffect transition="in" filter="wipe(left)">
                                      <p:cBhvr>
                                        <p:cTn id="31" dur="500"/>
                                        <p:tgtEl>
                                          <p:spTgt spid="23347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75" grpId="0" build="p" autoUpdateAnimBg="0"/>
    </p:bldLst>
  </p:timing>
</p:sld>
</file>

<file path=ppt/slides/slide1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1667" name="Rectangle 3"/>
          <p:cNvSpPr>
            <a:spLocks noGrp="1" noChangeArrowheads="1"/>
          </p:cNvSpPr>
          <p:nvPr>
            <p:ph type="body" sz="half" idx="1"/>
          </p:nvPr>
        </p:nvSpPr>
        <p:spPr>
          <a:xfrm>
            <a:off x="0" y="1077913"/>
            <a:ext cx="9144000" cy="5780087"/>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【1】下面的程序是求数组中的最小元素，请填空。</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findmin ( int *s, int t, int *k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  int p;</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for ( p=0, *k=p; p&lt;t; p++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if ( s[p] &lt; s[*k]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      </a:t>
            </a: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  </a:t>
            </a:r>
            <a:r>
              <a:rPr kumimoji="1" lang="en-US" altLang="zh-CN" sz="2400" b="1" u="sng">
                <a:solidFill>
                  <a:schemeClr val="tx2"/>
                </a:solidFill>
                <a:latin typeface="幼圆" pitchFamily="49" charset="-122"/>
                <a:ea typeface="幼圆" pitchFamily="49" charset="-122"/>
              </a:rPr>
              <a:t>①  ;</a:t>
            </a:r>
            <a:r>
              <a:rPr kumimoji="1" lang="zh-CN" altLang="en-US" sz="2400" b="1" u="sng">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 }</a:t>
            </a:r>
            <a:endParaRPr kumimoji="1" lang="en-US" altLang="zh-CN" sz="2400" b="1" u="sng">
              <a:solidFill>
                <a:schemeClr val="tx2"/>
              </a:solidFill>
              <a:latin typeface="幼圆" pitchFamily="49" charset="-122"/>
              <a:ea typeface="幼圆" pitchFamily="49" charset="-122"/>
            </a:endParaRP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main (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  int a[10], i, *k=&amp;i;</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for ( i=0; i&lt;10; i++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scanf (</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%d</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&amp;a[i]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findmin (a, 10, k);</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printf (</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%d,%d\n</a:t>
            </a:r>
            <a:r>
              <a:rPr kumimoji="1" lang="en-US" altLang="zh-CN" sz="2400" b="1">
                <a:solidFill>
                  <a:schemeClr val="tx2"/>
                </a:solidFill>
                <a:latin typeface="Arial" pitchFamily="34" charset="0"/>
                <a:ea typeface="幼圆" pitchFamily="49" charset="-122"/>
              </a:rPr>
              <a:t>”</a:t>
            </a:r>
            <a:r>
              <a:rPr kumimoji="1" lang="en-US" altLang="zh-CN" sz="2400" b="1">
                <a:solidFill>
                  <a:schemeClr val="tx2"/>
                </a:solidFill>
                <a:latin typeface="幼圆" pitchFamily="49" charset="-122"/>
                <a:ea typeface="幼圆" pitchFamily="49" charset="-122"/>
              </a:rPr>
              <a:t>, *k, a[*k]);</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endParaRPr kumimoji="1" lang="zh-CN" altLang="en-US" sz="2400" b="1">
              <a:solidFill>
                <a:schemeClr val="tx2"/>
              </a:solidFill>
              <a:latin typeface="幼圆" pitchFamily="49" charset="-122"/>
              <a:ea typeface="幼圆" pitchFamily="49" charset="-122"/>
            </a:endParaRPr>
          </a:p>
        </p:txBody>
      </p:sp>
      <p:sp>
        <p:nvSpPr>
          <p:cNvPr id="180227" name="Rectangle 4"/>
          <p:cNvSpPr>
            <a:spLocks noChangeArrowheads="1"/>
          </p:cNvSpPr>
          <p:nvPr/>
        </p:nvSpPr>
        <p:spPr bwMode="auto">
          <a:xfrm>
            <a:off x="6400800" y="3048000"/>
            <a:ext cx="15748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lnSpc>
                <a:spcPct val="80000"/>
              </a:lnSpc>
              <a:spcBef>
                <a:spcPct val="20000"/>
              </a:spcBef>
              <a:buClr>
                <a:schemeClr val="tx1"/>
              </a:buClr>
              <a:buSzPct val="60000"/>
              <a:buFont typeface="宋体" pitchFamily="2" charset="-122"/>
              <a:buNone/>
            </a:pPr>
            <a:r>
              <a:rPr kumimoji="1" lang="zh-CN" altLang="en-US" b="1">
                <a:solidFill>
                  <a:srgbClr val="FF0000"/>
                </a:solidFill>
                <a:ea typeface="幼圆" pitchFamily="49" charset="-122"/>
              </a:rPr>
              <a:t>① </a:t>
            </a:r>
            <a:r>
              <a:rPr kumimoji="1" lang="en-US" altLang="zh-CN" b="1">
                <a:solidFill>
                  <a:srgbClr val="FF0000"/>
                </a:solidFill>
                <a:ea typeface="幼圆" pitchFamily="49" charset="-122"/>
              </a:rPr>
              <a:t>*k=p</a:t>
            </a:r>
          </a:p>
        </p:txBody>
      </p:sp>
      <p:sp>
        <p:nvSpPr>
          <p:cNvPr id="5" name="Rectangle 4"/>
          <p:cNvSpPr>
            <a:spLocks noChangeArrowheads="1"/>
          </p:cNvSpPr>
          <p:nvPr/>
        </p:nvSpPr>
        <p:spPr bwMode="auto">
          <a:xfrm>
            <a:off x="35832" y="53340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ea typeface="幼圆" pitchFamily="49" charset="-122"/>
              </a:rPr>
              <a:t>部分练习</a:t>
            </a:r>
          </a:p>
        </p:txBody>
      </p:sp>
    </p:spTree>
    <p:extLst>
      <p:ext uri="{BB962C8B-B14F-4D97-AF65-F5344CB8AC3E}">
        <p14:creationId xmlns:p14="http://schemas.microsoft.com/office/powerpoint/2010/main" val="1652524409"/>
      </p:ext>
    </p:extLst>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1667">
                                            <p:txEl>
                                              <p:pRg st="0" end="0"/>
                                            </p:txEl>
                                          </p:spTgt>
                                        </p:tgtEl>
                                        <p:attrNameLst>
                                          <p:attrName>style.visibility</p:attrName>
                                        </p:attrNameLst>
                                      </p:cBhvr>
                                      <p:to>
                                        <p:strVal val="visible"/>
                                      </p:to>
                                    </p:set>
                                    <p:animEffect transition="in" filter="wipe(left)">
                                      <p:cBhvr>
                                        <p:cTn id="7" dur="500"/>
                                        <p:tgtEl>
                                          <p:spTgt spid="2416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1667">
                                            <p:txEl>
                                              <p:pRg st="1" end="1"/>
                                            </p:txEl>
                                          </p:spTgt>
                                        </p:tgtEl>
                                        <p:attrNameLst>
                                          <p:attrName>style.visibility</p:attrName>
                                        </p:attrNameLst>
                                      </p:cBhvr>
                                      <p:to>
                                        <p:strVal val="visible"/>
                                      </p:to>
                                    </p:set>
                                    <p:animEffect transition="in" filter="wipe(left)">
                                      <p:cBhvr>
                                        <p:cTn id="12" dur="500"/>
                                        <p:tgtEl>
                                          <p:spTgt spid="2416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1667">
                                            <p:txEl>
                                              <p:pRg st="2" end="2"/>
                                            </p:txEl>
                                          </p:spTgt>
                                        </p:tgtEl>
                                        <p:attrNameLst>
                                          <p:attrName>style.visibility</p:attrName>
                                        </p:attrNameLst>
                                      </p:cBhvr>
                                      <p:to>
                                        <p:strVal val="visible"/>
                                      </p:to>
                                    </p:set>
                                    <p:animEffect transition="in" filter="wipe(left)">
                                      <p:cBhvr>
                                        <p:cTn id="17" dur="500"/>
                                        <p:tgtEl>
                                          <p:spTgt spid="24166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1667">
                                            <p:txEl>
                                              <p:pRg st="3" end="3"/>
                                            </p:txEl>
                                          </p:spTgt>
                                        </p:tgtEl>
                                        <p:attrNameLst>
                                          <p:attrName>style.visibility</p:attrName>
                                        </p:attrNameLst>
                                      </p:cBhvr>
                                      <p:to>
                                        <p:strVal val="visible"/>
                                      </p:to>
                                    </p:set>
                                    <p:animEffect transition="in" filter="wipe(left)">
                                      <p:cBhvr>
                                        <p:cTn id="22" dur="500"/>
                                        <p:tgtEl>
                                          <p:spTgt spid="24166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1667">
                                            <p:txEl>
                                              <p:pRg st="4" end="4"/>
                                            </p:txEl>
                                          </p:spTgt>
                                        </p:tgtEl>
                                        <p:attrNameLst>
                                          <p:attrName>style.visibility</p:attrName>
                                        </p:attrNameLst>
                                      </p:cBhvr>
                                      <p:to>
                                        <p:strVal val="visible"/>
                                      </p:to>
                                    </p:set>
                                    <p:animEffect transition="in" filter="wipe(left)">
                                      <p:cBhvr>
                                        <p:cTn id="27" dur="500"/>
                                        <p:tgtEl>
                                          <p:spTgt spid="24166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1667">
                                            <p:txEl>
                                              <p:pRg st="5" end="5"/>
                                            </p:txEl>
                                          </p:spTgt>
                                        </p:tgtEl>
                                        <p:attrNameLst>
                                          <p:attrName>style.visibility</p:attrName>
                                        </p:attrNameLst>
                                      </p:cBhvr>
                                      <p:to>
                                        <p:strVal val="visible"/>
                                      </p:to>
                                    </p:set>
                                    <p:animEffect transition="in" filter="wipe(left)">
                                      <p:cBhvr>
                                        <p:cTn id="32" dur="500"/>
                                        <p:tgtEl>
                                          <p:spTgt spid="24166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1667">
                                            <p:txEl>
                                              <p:pRg st="6" end="6"/>
                                            </p:txEl>
                                          </p:spTgt>
                                        </p:tgtEl>
                                        <p:attrNameLst>
                                          <p:attrName>style.visibility</p:attrName>
                                        </p:attrNameLst>
                                      </p:cBhvr>
                                      <p:to>
                                        <p:strVal val="visible"/>
                                      </p:to>
                                    </p:set>
                                    <p:animEffect transition="in" filter="wipe(left)">
                                      <p:cBhvr>
                                        <p:cTn id="37" dur="500"/>
                                        <p:tgtEl>
                                          <p:spTgt spid="241667">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1667">
                                            <p:txEl>
                                              <p:pRg st="7" end="7"/>
                                            </p:txEl>
                                          </p:spTgt>
                                        </p:tgtEl>
                                        <p:attrNameLst>
                                          <p:attrName>style.visibility</p:attrName>
                                        </p:attrNameLst>
                                      </p:cBhvr>
                                      <p:to>
                                        <p:strVal val="visible"/>
                                      </p:to>
                                    </p:set>
                                    <p:animEffect transition="in" filter="wipe(left)">
                                      <p:cBhvr>
                                        <p:cTn id="42" dur="500"/>
                                        <p:tgtEl>
                                          <p:spTgt spid="241667">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41667">
                                            <p:txEl>
                                              <p:pRg st="8" end="8"/>
                                            </p:txEl>
                                          </p:spTgt>
                                        </p:tgtEl>
                                        <p:attrNameLst>
                                          <p:attrName>style.visibility</p:attrName>
                                        </p:attrNameLst>
                                      </p:cBhvr>
                                      <p:to>
                                        <p:strVal val="visible"/>
                                      </p:to>
                                    </p:set>
                                    <p:animEffect transition="in" filter="wipe(left)">
                                      <p:cBhvr>
                                        <p:cTn id="47" dur="500"/>
                                        <p:tgtEl>
                                          <p:spTgt spid="241667">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41667">
                                            <p:txEl>
                                              <p:pRg st="9" end="9"/>
                                            </p:txEl>
                                          </p:spTgt>
                                        </p:tgtEl>
                                        <p:attrNameLst>
                                          <p:attrName>style.visibility</p:attrName>
                                        </p:attrNameLst>
                                      </p:cBhvr>
                                      <p:to>
                                        <p:strVal val="visible"/>
                                      </p:to>
                                    </p:set>
                                    <p:animEffect transition="in" filter="wipe(left)">
                                      <p:cBhvr>
                                        <p:cTn id="52" dur="500"/>
                                        <p:tgtEl>
                                          <p:spTgt spid="241667">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41667">
                                            <p:txEl>
                                              <p:pRg st="10" end="10"/>
                                            </p:txEl>
                                          </p:spTgt>
                                        </p:tgtEl>
                                        <p:attrNameLst>
                                          <p:attrName>style.visibility</p:attrName>
                                        </p:attrNameLst>
                                      </p:cBhvr>
                                      <p:to>
                                        <p:strVal val="visible"/>
                                      </p:to>
                                    </p:set>
                                    <p:animEffect transition="in" filter="wipe(left)">
                                      <p:cBhvr>
                                        <p:cTn id="57" dur="500"/>
                                        <p:tgtEl>
                                          <p:spTgt spid="241667">
                                            <p:txEl>
                                              <p:pRg st="10" end="1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41667">
                                            <p:txEl>
                                              <p:pRg st="11" end="11"/>
                                            </p:txEl>
                                          </p:spTgt>
                                        </p:tgtEl>
                                        <p:attrNameLst>
                                          <p:attrName>style.visibility</p:attrName>
                                        </p:attrNameLst>
                                      </p:cBhvr>
                                      <p:to>
                                        <p:strVal val="visible"/>
                                      </p:to>
                                    </p:set>
                                    <p:animEffect transition="in" filter="wipe(left)">
                                      <p:cBhvr>
                                        <p:cTn id="62" dur="500"/>
                                        <p:tgtEl>
                                          <p:spTgt spid="241667">
                                            <p:txEl>
                                              <p:pRg st="11" end="11"/>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41667">
                                            <p:txEl>
                                              <p:pRg st="12" end="12"/>
                                            </p:txEl>
                                          </p:spTgt>
                                        </p:tgtEl>
                                        <p:attrNameLst>
                                          <p:attrName>style.visibility</p:attrName>
                                        </p:attrNameLst>
                                      </p:cBhvr>
                                      <p:to>
                                        <p:strVal val="visible"/>
                                      </p:to>
                                    </p:set>
                                    <p:animEffect transition="in" filter="wipe(left)">
                                      <p:cBhvr>
                                        <p:cTn id="67" dur="500"/>
                                        <p:tgtEl>
                                          <p:spTgt spid="24166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7" grpId="0" build="p" autoUpdateAnimBg="0"/>
    </p:bldLst>
  </p:timing>
</p:sld>
</file>

<file path=ppt/slides/slide1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2691" name="Rectangle 3"/>
          <p:cNvSpPr>
            <a:spLocks noGrp="1" noChangeArrowheads="1"/>
          </p:cNvSpPr>
          <p:nvPr>
            <p:ph type="body" sz="half" idx="1"/>
          </p:nvPr>
        </p:nvSpPr>
        <p:spPr>
          <a:xfrm>
            <a:off x="0" y="1143000"/>
            <a:ext cx="8534400" cy="3121025"/>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【2】下面的函数是求1到</a:t>
            </a:r>
            <a:r>
              <a:rPr kumimoji="1" lang="en-US" altLang="en-US" sz="2400" b="1">
                <a:solidFill>
                  <a:schemeClr val="tx2"/>
                </a:solidFill>
                <a:latin typeface="幼圆" pitchFamily="49" charset="-122"/>
                <a:ea typeface="幼圆" pitchFamily="49" charset="-122"/>
              </a:rPr>
              <a:t>n</a:t>
            </a:r>
            <a:r>
              <a:rPr kumimoji="1" lang="zh-CN" altLang="en-US" sz="2400" b="1">
                <a:solidFill>
                  <a:schemeClr val="tx2"/>
                </a:solidFill>
                <a:latin typeface="幼圆" pitchFamily="49" charset="-122"/>
                <a:ea typeface="幼圆" pitchFamily="49" charset="-122"/>
              </a:rPr>
              <a:t>之和。请填空。</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int add ( int x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   if ( n == 1 )   ①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else return (   ②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p>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　　　</a:t>
            </a:r>
            <a:r>
              <a:rPr kumimoji="1" lang="zh-CN" altLang="en-US" sz="2400" b="1">
                <a:solidFill>
                  <a:srgbClr val="FF0000"/>
                </a:solidFill>
                <a:latin typeface="幼圆" pitchFamily="49" charset="-122"/>
                <a:ea typeface="幼圆" pitchFamily="49" charset="-122"/>
              </a:rPr>
              <a:t>答案：① </a:t>
            </a:r>
            <a:r>
              <a:rPr kumimoji="1" lang="en-US" altLang="en-US" sz="2400" b="1">
                <a:solidFill>
                  <a:srgbClr val="FF0000"/>
                </a:solidFill>
                <a:latin typeface="幼圆" pitchFamily="49" charset="-122"/>
                <a:ea typeface="幼圆" pitchFamily="49" charset="-122"/>
              </a:rPr>
              <a:t>return (1)</a:t>
            </a:r>
            <a:r>
              <a:rPr kumimoji="1" lang="en-US" altLang="zh-CN" sz="2400" b="1">
                <a:solidFill>
                  <a:srgbClr val="FF0000"/>
                </a:solidFill>
                <a:latin typeface="幼圆" pitchFamily="49" charset="-122"/>
                <a:ea typeface="幼圆" pitchFamily="49" charset="-122"/>
              </a:rPr>
              <a:t>  </a:t>
            </a:r>
          </a:p>
          <a:p>
            <a:pPr marL="0" indent="0" eaLnBrk="1" hangingPunct="1">
              <a:buClr>
                <a:schemeClr val="tx1"/>
              </a:buClr>
              <a:buSzPct val="60000"/>
              <a:buFont typeface="宋体" pitchFamily="2" charset="-122"/>
              <a:buNone/>
            </a:pPr>
            <a:r>
              <a:rPr kumimoji="1" lang="en-US" altLang="zh-CN" sz="2400" b="1">
                <a:solidFill>
                  <a:srgbClr val="FF0000"/>
                </a:solidFill>
                <a:latin typeface="幼圆" pitchFamily="49" charset="-122"/>
                <a:ea typeface="幼圆" pitchFamily="49" charset="-122"/>
              </a:rPr>
              <a:t>           </a:t>
            </a:r>
            <a:r>
              <a:rPr kumimoji="1" lang="zh-CN" altLang="en-US" sz="2400" b="1">
                <a:solidFill>
                  <a:srgbClr val="FF0000"/>
                </a:solidFill>
                <a:latin typeface="幼圆" pitchFamily="49" charset="-122"/>
                <a:ea typeface="幼圆" pitchFamily="49" charset="-122"/>
              </a:rPr>
              <a:t>　</a:t>
            </a:r>
            <a:r>
              <a:rPr kumimoji="1" lang="en-US" altLang="zh-CN" sz="2400" b="1">
                <a:solidFill>
                  <a:srgbClr val="FF0000"/>
                </a:solidFill>
                <a:latin typeface="幼圆" pitchFamily="49" charset="-122"/>
                <a:ea typeface="幼圆" pitchFamily="49" charset="-122"/>
              </a:rPr>
              <a:t>② n + add(n-1)</a:t>
            </a:r>
          </a:p>
        </p:txBody>
      </p:sp>
      <p:sp>
        <p:nvSpPr>
          <p:cNvPr id="4" name="Rectangle 4"/>
          <p:cNvSpPr>
            <a:spLocks noChangeArrowheads="1"/>
          </p:cNvSpPr>
          <p:nvPr/>
        </p:nvSpPr>
        <p:spPr bwMode="auto">
          <a:xfrm>
            <a:off x="35832" y="53340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ea typeface="幼圆" pitchFamily="49" charset="-122"/>
              </a:rPr>
              <a:t>部分练习</a:t>
            </a:r>
          </a:p>
        </p:txBody>
      </p:sp>
    </p:spTree>
    <p:extLst>
      <p:ext uri="{BB962C8B-B14F-4D97-AF65-F5344CB8AC3E}">
        <p14:creationId xmlns:p14="http://schemas.microsoft.com/office/powerpoint/2010/main" val="829514961"/>
      </p:ext>
    </p:extLst>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2691">
                                            <p:txEl>
                                              <p:pRg st="0" end="0"/>
                                            </p:txEl>
                                          </p:spTgt>
                                        </p:tgtEl>
                                        <p:attrNameLst>
                                          <p:attrName>style.visibility</p:attrName>
                                        </p:attrNameLst>
                                      </p:cBhvr>
                                      <p:to>
                                        <p:strVal val="visible"/>
                                      </p:to>
                                    </p:set>
                                    <p:animEffect transition="in" filter="wipe(left)">
                                      <p:cBhvr>
                                        <p:cTn id="7" dur="500"/>
                                        <p:tgtEl>
                                          <p:spTgt spid="2426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2691">
                                            <p:txEl>
                                              <p:pRg st="1" end="1"/>
                                            </p:txEl>
                                          </p:spTgt>
                                        </p:tgtEl>
                                        <p:attrNameLst>
                                          <p:attrName>style.visibility</p:attrName>
                                        </p:attrNameLst>
                                      </p:cBhvr>
                                      <p:to>
                                        <p:strVal val="visible"/>
                                      </p:to>
                                    </p:set>
                                    <p:animEffect transition="in" filter="wipe(left)">
                                      <p:cBhvr>
                                        <p:cTn id="12" dur="500"/>
                                        <p:tgtEl>
                                          <p:spTgt spid="2426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2691">
                                            <p:txEl>
                                              <p:pRg st="2" end="2"/>
                                            </p:txEl>
                                          </p:spTgt>
                                        </p:tgtEl>
                                        <p:attrNameLst>
                                          <p:attrName>style.visibility</p:attrName>
                                        </p:attrNameLst>
                                      </p:cBhvr>
                                      <p:to>
                                        <p:strVal val="visible"/>
                                      </p:to>
                                    </p:set>
                                    <p:animEffect transition="in" filter="wipe(left)">
                                      <p:cBhvr>
                                        <p:cTn id="17" dur="500"/>
                                        <p:tgtEl>
                                          <p:spTgt spid="2426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2691">
                                            <p:txEl>
                                              <p:pRg st="3" end="3"/>
                                            </p:txEl>
                                          </p:spTgt>
                                        </p:tgtEl>
                                        <p:attrNameLst>
                                          <p:attrName>style.visibility</p:attrName>
                                        </p:attrNameLst>
                                      </p:cBhvr>
                                      <p:to>
                                        <p:strVal val="visible"/>
                                      </p:to>
                                    </p:set>
                                    <p:animEffect transition="in" filter="wipe(left)">
                                      <p:cBhvr>
                                        <p:cTn id="22" dur="500"/>
                                        <p:tgtEl>
                                          <p:spTgt spid="2426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2691">
                                            <p:txEl>
                                              <p:pRg st="4" end="4"/>
                                            </p:txEl>
                                          </p:spTgt>
                                        </p:tgtEl>
                                        <p:attrNameLst>
                                          <p:attrName>style.visibility</p:attrName>
                                        </p:attrNameLst>
                                      </p:cBhvr>
                                      <p:to>
                                        <p:strVal val="visible"/>
                                      </p:to>
                                    </p:set>
                                    <p:animEffect transition="in" filter="wipe(left)">
                                      <p:cBhvr>
                                        <p:cTn id="27" dur="500"/>
                                        <p:tgtEl>
                                          <p:spTgt spid="24269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2691">
                                            <p:txEl>
                                              <p:pRg st="5" end="5"/>
                                            </p:txEl>
                                          </p:spTgt>
                                        </p:tgtEl>
                                        <p:attrNameLst>
                                          <p:attrName>style.visibility</p:attrName>
                                        </p:attrNameLst>
                                      </p:cBhvr>
                                      <p:to>
                                        <p:strVal val="visible"/>
                                      </p:to>
                                    </p:set>
                                    <p:animEffect transition="in" filter="wipe(left)">
                                      <p:cBhvr>
                                        <p:cTn id="32" dur="500"/>
                                        <p:tgtEl>
                                          <p:spTgt spid="24269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2691">
                                            <p:txEl>
                                              <p:pRg st="6" end="6"/>
                                            </p:txEl>
                                          </p:spTgt>
                                        </p:tgtEl>
                                        <p:attrNameLst>
                                          <p:attrName>style.visibility</p:attrName>
                                        </p:attrNameLst>
                                      </p:cBhvr>
                                      <p:to>
                                        <p:strVal val="visible"/>
                                      </p:to>
                                    </p:set>
                                    <p:animEffect transition="in" filter="wipe(left)">
                                      <p:cBhvr>
                                        <p:cTn id="37" dur="500"/>
                                        <p:tgtEl>
                                          <p:spTgt spid="24269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1" grpId="0" build="p" autoUpdateAnimBg="0"/>
    </p:bldLst>
  </p:timing>
</p:sld>
</file>

<file path=ppt/slides/slide1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4739" name="Rectangle 3"/>
          <p:cNvSpPr>
            <a:spLocks noGrp="1" noChangeArrowheads="1"/>
          </p:cNvSpPr>
          <p:nvPr>
            <p:ph type="body" sz="half" idx="1"/>
          </p:nvPr>
        </p:nvSpPr>
        <p:spPr>
          <a:xfrm>
            <a:off x="0" y="1219200"/>
            <a:ext cx="8839200" cy="5203825"/>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spcBef>
                <a:spcPct val="0"/>
              </a:spcBef>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【3】程序读入20个整数，统计非负数个数，计算非负数之和。</a:t>
            </a:r>
          </a:p>
          <a:p>
            <a:pPr marL="0" indent="0" eaLnBrk="1" hangingPunct="1">
              <a:spcBef>
                <a:spcPct val="0"/>
              </a:spcBef>
              <a:buClr>
                <a:schemeClr val="tx1"/>
              </a:buClr>
              <a:buSzPct val="60000"/>
              <a:buFont typeface="宋体" pitchFamily="2" charset="-122"/>
              <a:buNone/>
            </a:pPr>
            <a:r>
              <a:rPr kumimoji="1" lang="zh-CN" altLang="zh-CN" sz="2400" b="1">
                <a:solidFill>
                  <a:schemeClr val="tx2"/>
                </a:solidFill>
                <a:latin typeface="幼圆" pitchFamily="49" charset="-122"/>
                <a:ea typeface="幼圆" pitchFamily="49" charset="-122"/>
              </a:rPr>
              <a:t> </a:t>
            </a:r>
            <a:r>
              <a:rPr kumimoji="1" lang="zh-CN" altLang="en-US" sz="2400" b="1">
                <a:solidFill>
                  <a:schemeClr val="tx2"/>
                </a:solidFill>
                <a:latin typeface="幼圆" pitchFamily="49" charset="-122"/>
                <a:ea typeface="幼圆" pitchFamily="49" charset="-122"/>
              </a:rPr>
              <a:t> </a:t>
            </a:r>
            <a:r>
              <a:rPr kumimoji="1" lang="en-US" altLang="zh-CN" sz="2400" b="1">
                <a:solidFill>
                  <a:schemeClr val="tx2"/>
                </a:solidFill>
                <a:latin typeface="幼圆" pitchFamily="49" charset="-122"/>
                <a:ea typeface="幼圆" pitchFamily="49" charset="-122"/>
              </a:rPr>
              <a:t>main ( )</a:t>
            </a:r>
          </a:p>
          <a:p>
            <a:pPr marL="0" indent="0" eaLnBrk="1" hangingPunct="1">
              <a:spcBef>
                <a:spcPct val="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    int i, a[20], s, count;</a:t>
            </a:r>
          </a:p>
          <a:p>
            <a:pPr marL="0" indent="0" eaLnBrk="1" hangingPunct="1">
              <a:spcBef>
                <a:spcPct val="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s=count=0;</a:t>
            </a:r>
          </a:p>
          <a:p>
            <a:pPr marL="0" indent="0" eaLnBrk="1" hangingPunct="1">
              <a:spcBef>
                <a:spcPct val="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for ( i=0; i&lt;20; i++ )</a:t>
            </a:r>
          </a:p>
          <a:p>
            <a:pPr marL="0" indent="0" eaLnBrk="1" hangingPunct="1">
              <a:spcBef>
                <a:spcPct val="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scanf("%d",    ①   );</a:t>
            </a:r>
          </a:p>
          <a:p>
            <a:pPr marL="0" indent="0" eaLnBrk="1" hangingPunct="1">
              <a:spcBef>
                <a:spcPct val="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for ( i=0; i&lt;20; i++ )</a:t>
            </a:r>
          </a:p>
          <a:p>
            <a:pPr marL="0" indent="0" eaLnBrk="1" hangingPunct="1">
              <a:spcBef>
                <a:spcPct val="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   if ( a[i]&lt;0 )</a:t>
            </a:r>
          </a:p>
          <a:p>
            <a:pPr marL="0" indent="0" eaLnBrk="1" hangingPunct="1">
              <a:spcBef>
                <a:spcPct val="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②   ;</a:t>
            </a:r>
          </a:p>
          <a:p>
            <a:pPr marL="0" indent="0" eaLnBrk="1" hangingPunct="1">
              <a:spcBef>
                <a:spcPct val="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s += a[i];</a:t>
            </a:r>
          </a:p>
          <a:p>
            <a:pPr marL="0" indent="0" eaLnBrk="1" hangingPunct="1">
              <a:spcBef>
                <a:spcPct val="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count++;</a:t>
            </a:r>
          </a:p>
          <a:p>
            <a:pPr marL="0" indent="0" eaLnBrk="1" hangingPunct="1">
              <a:spcBef>
                <a:spcPct val="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p>
          <a:p>
            <a:pPr marL="0" indent="0" eaLnBrk="1" hangingPunct="1">
              <a:spcBef>
                <a:spcPct val="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printf ("s=%d\t count=%d\n", s, count);</a:t>
            </a:r>
          </a:p>
          <a:p>
            <a:pPr marL="0" indent="0" eaLnBrk="1" hangingPunct="1">
              <a:spcBef>
                <a:spcPct val="0"/>
              </a:spcBef>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endParaRPr kumimoji="1" lang="zh-CN" altLang="en-US" sz="2400" b="1">
              <a:solidFill>
                <a:schemeClr val="tx2"/>
              </a:solidFill>
              <a:latin typeface="幼圆" pitchFamily="49" charset="-122"/>
              <a:ea typeface="幼圆" pitchFamily="49" charset="-122"/>
            </a:endParaRPr>
          </a:p>
        </p:txBody>
      </p:sp>
      <p:sp>
        <p:nvSpPr>
          <p:cNvPr id="183299" name="Rectangle 4"/>
          <p:cNvSpPr>
            <a:spLocks noChangeArrowheads="1"/>
          </p:cNvSpPr>
          <p:nvPr/>
        </p:nvSpPr>
        <p:spPr bwMode="auto">
          <a:xfrm>
            <a:off x="4572000" y="3886200"/>
            <a:ext cx="4572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kumimoji="1" lang="zh-CN" altLang="en-US" b="1">
                <a:solidFill>
                  <a:srgbClr val="FF0000"/>
                </a:solidFill>
                <a:ea typeface="幼圆" pitchFamily="49" charset="-122"/>
              </a:rPr>
              <a:t>答案：① &amp;</a:t>
            </a:r>
            <a:r>
              <a:rPr kumimoji="1" lang="en-US" altLang="zh-CN" b="1">
                <a:solidFill>
                  <a:srgbClr val="FF0000"/>
                </a:solidFill>
                <a:ea typeface="幼圆" pitchFamily="49" charset="-122"/>
              </a:rPr>
              <a:t>a[i]</a:t>
            </a:r>
          </a:p>
          <a:p>
            <a:pPr eaLnBrk="1" hangingPunct="1"/>
            <a:r>
              <a:rPr kumimoji="1" lang="en-US" altLang="zh-CN" b="1">
                <a:solidFill>
                  <a:srgbClr val="FF0000"/>
                </a:solidFill>
                <a:ea typeface="幼圆" pitchFamily="49" charset="-122"/>
              </a:rPr>
              <a:t>           ② continue</a:t>
            </a:r>
            <a:endParaRPr kumimoji="1" lang="zh-CN" altLang="en-US" b="1">
              <a:solidFill>
                <a:srgbClr val="FF0000"/>
              </a:solidFill>
              <a:ea typeface="幼圆" pitchFamily="49" charset="-122"/>
            </a:endParaRPr>
          </a:p>
        </p:txBody>
      </p:sp>
      <p:pic>
        <p:nvPicPr>
          <p:cNvPr id="183300" name="Picture 35" descr="MCj0240341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48400" y="2057400"/>
            <a:ext cx="2057400" cy="150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4"/>
          <p:cNvSpPr>
            <a:spLocks noChangeArrowheads="1"/>
          </p:cNvSpPr>
          <p:nvPr/>
        </p:nvSpPr>
        <p:spPr bwMode="auto">
          <a:xfrm>
            <a:off x="35832" y="53340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ea typeface="幼圆" pitchFamily="49" charset="-122"/>
              </a:rPr>
              <a:t>部分练习</a:t>
            </a:r>
          </a:p>
        </p:txBody>
      </p:sp>
    </p:spTree>
    <p:extLst>
      <p:ext uri="{BB962C8B-B14F-4D97-AF65-F5344CB8AC3E}">
        <p14:creationId xmlns:p14="http://schemas.microsoft.com/office/powerpoint/2010/main" val="887062030"/>
      </p:ext>
    </p:extLst>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4739">
                                            <p:txEl>
                                              <p:pRg st="0" end="0"/>
                                            </p:txEl>
                                          </p:spTgt>
                                        </p:tgtEl>
                                        <p:attrNameLst>
                                          <p:attrName>style.visibility</p:attrName>
                                        </p:attrNameLst>
                                      </p:cBhvr>
                                      <p:to>
                                        <p:strVal val="visible"/>
                                      </p:to>
                                    </p:set>
                                    <p:animEffect transition="in" filter="wipe(left)">
                                      <p:cBhvr>
                                        <p:cTn id="7" dur="500"/>
                                        <p:tgtEl>
                                          <p:spTgt spid="2447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4739">
                                            <p:txEl>
                                              <p:pRg st="1" end="1"/>
                                            </p:txEl>
                                          </p:spTgt>
                                        </p:tgtEl>
                                        <p:attrNameLst>
                                          <p:attrName>style.visibility</p:attrName>
                                        </p:attrNameLst>
                                      </p:cBhvr>
                                      <p:to>
                                        <p:strVal val="visible"/>
                                      </p:to>
                                    </p:set>
                                    <p:animEffect transition="in" filter="wipe(left)">
                                      <p:cBhvr>
                                        <p:cTn id="12" dur="500"/>
                                        <p:tgtEl>
                                          <p:spTgt spid="2447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4739">
                                            <p:txEl>
                                              <p:pRg st="2" end="2"/>
                                            </p:txEl>
                                          </p:spTgt>
                                        </p:tgtEl>
                                        <p:attrNameLst>
                                          <p:attrName>style.visibility</p:attrName>
                                        </p:attrNameLst>
                                      </p:cBhvr>
                                      <p:to>
                                        <p:strVal val="visible"/>
                                      </p:to>
                                    </p:set>
                                    <p:animEffect transition="in" filter="wipe(left)">
                                      <p:cBhvr>
                                        <p:cTn id="17" dur="500"/>
                                        <p:tgtEl>
                                          <p:spTgt spid="2447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4739">
                                            <p:txEl>
                                              <p:pRg st="3" end="3"/>
                                            </p:txEl>
                                          </p:spTgt>
                                        </p:tgtEl>
                                        <p:attrNameLst>
                                          <p:attrName>style.visibility</p:attrName>
                                        </p:attrNameLst>
                                      </p:cBhvr>
                                      <p:to>
                                        <p:strVal val="visible"/>
                                      </p:to>
                                    </p:set>
                                    <p:animEffect transition="in" filter="wipe(left)">
                                      <p:cBhvr>
                                        <p:cTn id="22" dur="500"/>
                                        <p:tgtEl>
                                          <p:spTgt spid="2447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4739">
                                            <p:txEl>
                                              <p:pRg st="4" end="4"/>
                                            </p:txEl>
                                          </p:spTgt>
                                        </p:tgtEl>
                                        <p:attrNameLst>
                                          <p:attrName>style.visibility</p:attrName>
                                        </p:attrNameLst>
                                      </p:cBhvr>
                                      <p:to>
                                        <p:strVal val="visible"/>
                                      </p:to>
                                    </p:set>
                                    <p:animEffect transition="in" filter="wipe(left)">
                                      <p:cBhvr>
                                        <p:cTn id="27" dur="500"/>
                                        <p:tgtEl>
                                          <p:spTgt spid="24473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4739">
                                            <p:txEl>
                                              <p:pRg st="5" end="5"/>
                                            </p:txEl>
                                          </p:spTgt>
                                        </p:tgtEl>
                                        <p:attrNameLst>
                                          <p:attrName>style.visibility</p:attrName>
                                        </p:attrNameLst>
                                      </p:cBhvr>
                                      <p:to>
                                        <p:strVal val="visible"/>
                                      </p:to>
                                    </p:set>
                                    <p:animEffect transition="in" filter="wipe(left)">
                                      <p:cBhvr>
                                        <p:cTn id="32" dur="500"/>
                                        <p:tgtEl>
                                          <p:spTgt spid="24473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4739">
                                            <p:txEl>
                                              <p:pRg st="6" end="6"/>
                                            </p:txEl>
                                          </p:spTgt>
                                        </p:tgtEl>
                                        <p:attrNameLst>
                                          <p:attrName>style.visibility</p:attrName>
                                        </p:attrNameLst>
                                      </p:cBhvr>
                                      <p:to>
                                        <p:strVal val="visible"/>
                                      </p:to>
                                    </p:set>
                                    <p:animEffect transition="in" filter="wipe(left)">
                                      <p:cBhvr>
                                        <p:cTn id="37" dur="500"/>
                                        <p:tgtEl>
                                          <p:spTgt spid="24473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4739">
                                            <p:txEl>
                                              <p:pRg st="7" end="7"/>
                                            </p:txEl>
                                          </p:spTgt>
                                        </p:tgtEl>
                                        <p:attrNameLst>
                                          <p:attrName>style.visibility</p:attrName>
                                        </p:attrNameLst>
                                      </p:cBhvr>
                                      <p:to>
                                        <p:strVal val="visible"/>
                                      </p:to>
                                    </p:set>
                                    <p:animEffect transition="in" filter="wipe(left)">
                                      <p:cBhvr>
                                        <p:cTn id="42" dur="500"/>
                                        <p:tgtEl>
                                          <p:spTgt spid="244739">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44739">
                                            <p:txEl>
                                              <p:pRg st="8" end="8"/>
                                            </p:txEl>
                                          </p:spTgt>
                                        </p:tgtEl>
                                        <p:attrNameLst>
                                          <p:attrName>style.visibility</p:attrName>
                                        </p:attrNameLst>
                                      </p:cBhvr>
                                      <p:to>
                                        <p:strVal val="visible"/>
                                      </p:to>
                                    </p:set>
                                    <p:animEffect transition="in" filter="wipe(left)">
                                      <p:cBhvr>
                                        <p:cTn id="47" dur="500"/>
                                        <p:tgtEl>
                                          <p:spTgt spid="244739">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44739">
                                            <p:txEl>
                                              <p:pRg st="9" end="9"/>
                                            </p:txEl>
                                          </p:spTgt>
                                        </p:tgtEl>
                                        <p:attrNameLst>
                                          <p:attrName>style.visibility</p:attrName>
                                        </p:attrNameLst>
                                      </p:cBhvr>
                                      <p:to>
                                        <p:strVal val="visible"/>
                                      </p:to>
                                    </p:set>
                                    <p:animEffect transition="in" filter="wipe(left)">
                                      <p:cBhvr>
                                        <p:cTn id="52" dur="500"/>
                                        <p:tgtEl>
                                          <p:spTgt spid="244739">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44739">
                                            <p:txEl>
                                              <p:pRg st="10" end="10"/>
                                            </p:txEl>
                                          </p:spTgt>
                                        </p:tgtEl>
                                        <p:attrNameLst>
                                          <p:attrName>style.visibility</p:attrName>
                                        </p:attrNameLst>
                                      </p:cBhvr>
                                      <p:to>
                                        <p:strVal val="visible"/>
                                      </p:to>
                                    </p:set>
                                    <p:animEffect transition="in" filter="wipe(left)">
                                      <p:cBhvr>
                                        <p:cTn id="57" dur="500"/>
                                        <p:tgtEl>
                                          <p:spTgt spid="244739">
                                            <p:txEl>
                                              <p:pRg st="10" end="1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44739">
                                            <p:txEl>
                                              <p:pRg st="11" end="11"/>
                                            </p:txEl>
                                          </p:spTgt>
                                        </p:tgtEl>
                                        <p:attrNameLst>
                                          <p:attrName>style.visibility</p:attrName>
                                        </p:attrNameLst>
                                      </p:cBhvr>
                                      <p:to>
                                        <p:strVal val="visible"/>
                                      </p:to>
                                    </p:set>
                                    <p:animEffect transition="in" filter="wipe(left)">
                                      <p:cBhvr>
                                        <p:cTn id="62" dur="500"/>
                                        <p:tgtEl>
                                          <p:spTgt spid="244739">
                                            <p:txEl>
                                              <p:pRg st="11" end="11"/>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44739">
                                            <p:txEl>
                                              <p:pRg st="12" end="12"/>
                                            </p:txEl>
                                          </p:spTgt>
                                        </p:tgtEl>
                                        <p:attrNameLst>
                                          <p:attrName>style.visibility</p:attrName>
                                        </p:attrNameLst>
                                      </p:cBhvr>
                                      <p:to>
                                        <p:strVal val="visible"/>
                                      </p:to>
                                    </p:set>
                                    <p:animEffect transition="in" filter="wipe(left)">
                                      <p:cBhvr>
                                        <p:cTn id="67" dur="500"/>
                                        <p:tgtEl>
                                          <p:spTgt spid="244739">
                                            <p:txEl>
                                              <p:pRg st="12" end="12"/>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44739">
                                            <p:txEl>
                                              <p:pRg st="13" end="13"/>
                                            </p:txEl>
                                          </p:spTgt>
                                        </p:tgtEl>
                                        <p:attrNameLst>
                                          <p:attrName>style.visibility</p:attrName>
                                        </p:attrNameLst>
                                      </p:cBhvr>
                                      <p:to>
                                        <p:strVal val="visible"/>
                                      </p:to>
                                    </p:set>
                                    <p:animEffect transition="in" filter="wipe(left)">
                                      <p:cBhvr>
                                        <p:cTn id="72" dur="500"/>
                                        <p:tgtEl>
                                          <p:spTgt spid="244739">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39" grpId="0" build="p" autoUpdateAnimBg="0"/>
    </p:bldLst>
  </p:timing>
</p:sld>
</file>

<file path=ppt/slides/slide1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63" name="Rectangle 3"/>
          <p:cNvSpPr>
            <a:spLocks noGrp="1" noChangeArrowheads="1"/>
          </p:cNvSpPr>
          <p:nvPr>
            <p:ph type="body" sz="half" idx="1"/>
          </p:nvPr>
        </p:nvSpPr>
        <p:spPr>
          <a:xfrm>
            <a:off x="0" y="990600"/>
            <a:ext cx="9144000" cy="5632450"/>
          </a:xfrm>
          <a:gradFill rotWithShape="1">
            <a:gsLst>
              <a:gs pos="0">
                <a:srgbClr val="CCFF66"/>
              </a:gs>
              <a:gs pos="100000">
                <a:srgbClr val="FFFFFF"/>
              </a:gs>
            </a:gsLst>
            <a:path path="shape">
              <a:fillToRect l="50000" t="50000" r="50000" b="50000"/>
            </a:path>
          </a:gradFill>
        </p:spPr>
        <p:txBody>
          <a:bodyPr>
            <a:spAutoFit/>
          </a:bodyPr>
          <a:lstStyle/>
          <a:p>
            <a:pPr marL="0" indent="0" eaLnBrk="1" hangingPunct="1">
              <a:buClr>
                <a:schemeClr val="tx1"/>
              </a:buClr>
              <a:buSzPct val="60000"/>
              <a:buFont typeface="宋体" pitchFamily="2" charset="-122"/>
              <a:buNone/>
            </a:pPr>
            <a:r>
              <a:rPr kumimoji="1" lang="zh-CN" altLang="en-US" sz="2400" b="1">
                <a:solidFill>
                  <a:schemeClr val="tx2"/>
                </a:solidFill>
                <a:latin typeface="幼圆" pitchFamily="49" charset="-122"/>
                <a:ea typeface="幼圆" pitchFamily="49" charset="-122"/>
              </a:rPr>
              <a:t>【4】</a:t>
            </a:r>
            <a:r>
              <a:rPr kumimoji="1" lang="zh-CN" altLang="en-US" sz="2400" b="1">
                <a:solidFill>
                  <a:schemeClr val="tx2"/>
                </a:solidFill>
                <a:latin typeface="幼圆" pitchFamily="49" charset="-122"/>
                <a:ea typeface="幼圆" pitchFamily="49" charset="-122"/>
                <a:cs typeface="Times New Roman" pitchFamily="18" charset="0"/>
              </a:rPr>
              <a:t>下面的函数</a:t>
            </a:r>
            <a:r>
              <a:rPr kumimoji="1" lang="en-US" altLang="zh-CN" sz="2400" b="1">
                <a:solidFill>
                  <a:schemeClr val="tx2"/>
                </a:solidFill>
                <a:latin typeface="幼圆" pitchFamily="49" charset="-122"/>
                <a:ea typeface="幼圆" pitchFamily="49" charset="-122"/>
                <a:cs typeface="Times New Roman" pitchFamily="18" charset="0"/>
              </a:rPr>
              <a:t>fun</a:t>
            </a:r>
            <a:r>
              <a:rPr kumimoji="1" lang="zh-CN" altLang="en-US" sz="2400" b="1">
                <a:solidFill>
                  <a:schemeClr val="tx2"/>
                </a:solidFill>
                <a:latin typeface="幼圆" pitchFamily="49" charset="-122"/>
                <a:ea typeface="幼圆" pitchFamily="49" charset="-122"/>
                <a:cs typeface="Times New Roman" pitchFamily="18" charset="0"/>
              </a:rPr>
              <a:t>的功能是将形参</a:t>
            </a:r>
            <a:r>
              <a:rPr kumimoji="1" lang="en-US" altLang="zh-CN" sz="2400" b="1">
                <a:solidFill>
                  <a:schemeClr val="tx2"/>
                </a:solidFill>
                <a:latin typeface="幼圆" pitchFamily="49" charset="-122"/>
                <a:ea typeface="幼圆" pitchFamily="49" charset="-122"/>
                <a:cs typeface="Times New Roman" pitchFamily="18" charset="0"/>
              </a:rPr>
              <a:t>x</a:t>
            </a:r>
            <a:r>
              <a:rPr kumimoji="1" lang="zh-CN" altLang="en-US" sz="2400" b="1">
                <a:solidFill>
                  <a:schemeClr val="tx2"/>
                </a:solidFill>
                <a:latin typeface="幼圆" pitchFamily="49" charset="-122"/>
                <a:ea typeface="幼圆" pitchFamily="49" charset="-122"/>
                <a:cs typeface="Times New Roman" pitchFamily="18" charset="0"/>
              </a:rPr>
              <a:t>的值转换成二进制数，所得二进制数的每一位放在一维数组中返回，二进制的最低位放在下标为0的元素中，其它依次类推。</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cs typeface="Times New Roman" pitchFamily="18" charset="0"/>
              </a:rPr>
              <a:t>	fun( int x, int b[ ]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cs typeface="Times New Roman" pitchFamily="18" charset="0"/>
              </a:rPr>
              <a:t>	{  int k=0, r；</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cs typeface="Times New Roman" pitchFamily="18" charset="0"/>
              </a:rPr>
              <a:t>	   do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cs typeface="Times New Roman" pitchFamily="18" charset="0"/>
              </a:rPr>
              <a:t>	   {  r = x%  </a:t>
            </a:r>
            <a:r>
              <a:rPr kumimoji="1" lang="en-US" altLang="zh-CN" sz="2400" b="1">
                <a:solidFill>
                  <a:schemeClr val="tx2"/>
                </a:solidFill>
                <a:latin typeface="幼圆" pitchFamily="49" charset="-122"/>
                <a:ea typeface="幼圆" pitchFamily="49" charset="-122"/>
              </a:rPr>
              <a:t> ①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b [ k++ ] = r；</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x /=    ②   ；</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 while (x)；</a:t>
            </a:r>
          </a:p>
          <a:p>
            <a:pPr marL="0" indent="0" eaLnBrk="1" hangingPunct="1">
              <a:buClr>
                <a:schemeClr val="tx1"/>
              </a:buClr>
              <a:buSzPct val="60000"/>
              <a:buFont typeface="宋体" pitchFamily="2" charset="-122"/>
              <a:buNone/>
            </a:pPr>
            <a:r>
              <a:rPr kumimoji="1" lang="en-US" altLang="zh-CN" sz="2400" b="1">
                <a:solidFill>
                  <a:schemeClr val="tx2"/>
                </a:solidFill>
                <a:latin typeface="幼圆" pitchFamily="49" charset="-122"/>
                <a:ea typeface="幼圆" pitchFamily="49" charset="-122"/>
              </a:rPr>
              <a:t>	}</a:t>
            </a:r>
          </a:p>
          <a:p>
            <a:pPr marL="0" indent="0" eaLnBrk="1" hangingPunct="1">
              <a:buClr>
                <a:schemeClr val="tx1"/>
              </a:buClr>
              <a:buSzPct val="60000"/>
              <a:buFont typeface="宋体" pitchFamily="2" charset="-122"/>
              <a:buNone/>
            </a:pPr>
            <a:r>
              <a:rPr kumimoji="1" lang="zh-CN" altLang="en-US" sz="2400" b="1">
                <a:solidFill>
                  <a:srgbClr val="FF0000"/>
                </a:solidFill>
                <a:latin typeface="幼圆" pitchFamily="49" charset="-122"/>
                <a:ea typeface="幼圆" pitchFamily="49" charset="-122"/>
              </a:rPr>
              <a:t>答案：① 2</a:t>
            </a:r>
          </a:p>
          <a:p>
            <a:pPr marL="0" indent="0" eaLnBrk="1" hangingPunct="1">
              <a:buClr>
                <a:schemeClr val="tx1"/>
              </a:buClr>
              <a:buSzPct val="60000"/>
              <a:buFont typeface="宋体" pitchFamily="2" charset="-122"/>
              <a:buNone/>
            </a:pPr>
            <a:r>
              <a:rPr kumimoji="1" lang="zh-CN" altLang="en-US" sz="2400" b="1">
                <a:solidFill>
                  <a:srgbClr val="FF0000"/>
                </a:solidFill>
                <a:latin typeface="幼圆" pitchFamily="49" charset="-122"/>
                <a:ea typeface="幼圆" pitchFamily="49" charset="-122"/>
              </a:rPr>
              <a:t>　　　</a:t>
            </a:r>
            <a:r>
              <a:rPr kumimoji="1" lang="en-US" altLang="zh-CN" sz="2400" b="1">
                <a:solidFill>
                  <a:srgbClr val="FF0000"/>
                </a:solidFill>
                <a:latin typeface="幼圆" pitchFamily="49" charset="-122"/>
                <a:ea typeface="幼圆" pitchFamily="49" charset="-122"/>
              </a:rPr>
              <a:t>② 2</a:t>
            </a:r>
          </a:p>
        </p:txBody>
      </p:sp>
      <p:graphicFrame>
        <p:nvGraphicFramePr>
          <p:cNvPr id="184323" name="Object 8">
            <a:hlinkClick r:id="" action="ppaction://ole?verb=0"/>
          </p:cNvPr>
          <p:cNvGraphicFramePr>
            <a:graphicFrameLocks noGrp="1"/>
          </p:cNvGraphicFramePr>
          <p:nvPr>
            <p:ph sz="half" idx="2"/>
          </p:nvPr>
        </p:nvGraphicFramePr>
        <p:xfrm>
          <a:off x="5181600" y="3276600"/>
          <a:ext cx="3168650" cy="1284288"/>
        </p:xfrm>
        <a:graphic>
          <a:graphicData uri="http://schemas.openxmlformats.org/presentationml/2006/ole">
            <mc:AlternateContent xmlns:mc="http://schemas.openxmlformats.org/markup-compatibility/2006">
              <mc:Choice xmlns:v="urn:schemas-microsoft-com:vml" Requires="v">
                <p:oleObj name="Microsoft ClipArt Gallery" r:id="rId2" imgW="3138274" imgH="1252305" progId="">
                  <p:embed/>
                </p:oleObj>
              </mc:Choice>
              <mc:Fallback>
                <p:oleObj name="Microsoft ClipArt Gallery" r:id="rId2" imgW="3138274" imgH="1252305" progId="">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3276600"/>
                        <a:ext cx="3168650" cy="1284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Rectangle 4"/>
          <p:cNvSpPr>
            <a:spLocks noChangeArrowheads="1"/>
          </p:cNvSpPr>
          <p:nvPr/>
        </p:nvSpPr>
        <p:spPr bwMode="auto">
          <a:xfrm>
            <a:off x="35832" y="45720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1" hangingPunct="1"/>
            <a:r>
              <a:rPr lang="zh-CN" altLang="en-US" sz="3200" b="1" dirty="0">
                <a:solidFill>
                  <a:schemeClr val="bg1"/>
                </a:solidFill>
                <a:ea typeface="幼圆" pitchFamily="49" charset="-122"/>
              </a:rPr>
              <a:t>部分练习</a:t>
            </a:r>
          </a:p>
        </p:txBody>
      </p:sp>
    </p:spTree>
    <p:extLst>
      <p:ext uri="{BB962C8B-B14F-4D97-AF65-F5344CB8AC3E}">
        <p14:creationId xmlns:p14="http://schemas.microsoft.com/office/powerpoint/2010/main" val="1119959240"/>
      </p:ext>
    </p:extLst>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763">
                                            <p:txEl>
                                              <p:pRg st="0" end="0"/>
                                            </p:txEl>
                                          </p:spTgt>
                                        </p:tgtEl>
                                        <p:attrNameLst>
                                          <p:attrName>style.visibility</p:attrName>
                                        </p:attrNameLst>
                                      </p:cBhvr>
                                      <p:to>
                                        <p:strVal val="visible"/>
                                      </p:to>
                                    </p:set>
                                    <p:animEffect transition="in" filter="wipe(left)">
                                      <p:cBhvr>
                                        <p:cTn id="7" dur="500"/>
                                        <p:tgtEl>
                                          <p:spTgt spid="2457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5763">
                                            <p:txEl>
                                              <p:pRg st="1" end="1"/>
                                            </p:txEl>
                                          </p:spTgt>
                                        </p:tgtEl>
                                        <p:attrNameLst>
                                          <p:attrName>style.visibility</p:attrName>
                                        </p:attrNameLst>
                                      </p:cBhvr>
                                      <p:to>
                                        <p:strVal val="visible"/>
                                      </p:to>
                                    </p:set>
                                    <p:animEffect transition="in" filter="wipe(left)">
                                      <p:cBhvr>
                                        <p:cTn id="12" dur="500"/>
                                        <p:tgtEl>
                                          <p:spTgt spid="2457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5763">
                                            <p:txEl>
                                              <p:pRg st="2" end="2"/>
                                            </p:txEl>
                                          </p:spTgt>
                                        </p:tgtEl>
                                        <p:attrNameLst>
                                          <p:attrName>style.visibility</p:attrName>
                                        </p:attrNameLst>
                                      </p:cBhvr>
                                      <p:to>
                                        <p:strVal val="visible"/>
                                      </p:to>
                                    </p:set>
                                    <p:animEffect transition="in" filter="wipe(left)">
                                      <p:cBhvr>
                                        <p:cTn id="17" dur="500"/>
                                        <p:tgtEl>
                                          <p:spTgt spid="24576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5763">
                                            <p:txEl>
                                              <p:pRg st="3" end="3"/>
                                            </p:txEl>
                                          </p:spTgt>
                                        </p:tgtEl>
                                        <p:attrNameLst>
                                          <p:attrName>style.visibility</p:attrName>
                                        </p:attrNameLst>
                                      </p:cBhvr>
                                      <p:to>
                                        <p:strVal val="visible"/>
                                      </p:to>
                                    </p:set>
                                    <p:animEffect transition="in" filter="wipe(left)">
                                      <p:cBhvr>
                                        <p:cTn id="22" dur="500"/>
                                        <p:tgtEl>
                                          <p:spTgt spid="24576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5763">
                                            <p:txEl>
                                              <p:pRg st="4" end="4"/>
                                            </p:txEl>
                                          </p:spTgt>
                                        </p:tgtEl>
                                        <p:attrNameLst>
                                          <p:attrName>style.visibility</p:attrName>
                                        </p:attrNameLst>
                                      </p:cBhvr>
                                      <p:to>
                                        <p:strVal val="visible"/>
                                      </p:to>
                                    </p:set>
                                    <p:animEffect transition="in" filter="wipe(left)">
                                      <p:cBhvr>
                                        <p:cTn id="27" dur="500"/>
                                        <p:tgtEl>
                                          <p:spTgt spid="24576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5763">
                                            <p:txEl>
                                              <p:pRg st="5" end="5"/>
                                            </p:txEl>
                                          </p:spTgt>
                                        </p:tgtEl>
                                        <p:attrNameLst>
                                          <p:attrName>style.visibility</p:attrName>
                                        </p:attrNameLst>
                                      </p:cBhvr>
                                      <p:to>
                                        <p:strVal val="visible"/>
                                      </p:to>
                                    </p:set>
                                    <p:animEffect transition="in" filter="wipe(left)">
                                      <p:cBhvr>
                                        <p:cTn id="32" dur="500"/>
                                        <p:tgtEl>
                                          <p:spTgt spid="24576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5763">
                                            <p:txEl>
                                              <p:pRg st="6" end="6"/>
                                            </p:txEl>
                                          </p:spTgt>
                                        </p:tgtEl>
                                        <p:attrNameLst>
                                          <p:attrName>style.visibility</p:attrName>
                                        </p:attrNameLst>
                                      </p:cBhvr>
                                      <p:to>
                                        <p:strVal val="visible"/>
                                      </p:to>
                                    </p:set>
                                    <p:animEffect transition="in" filter="wipe(left)">
                                      <p:cBhvr>
                                        <p:cTn id="37" dur="500"/>
                                        <p:tgtEl>
                                          <p:spTgt spid="24576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5763">
                                            <p:txEl>
                                              <p:pRg st="7" end="7"/>
                                            </p:txEl>
                                          </p:spTgt>
                                        </p:tgtEl>
                                        <p:attrNameLst>
                                          <p:attrName>style.visibility</p:attrName>
                                        </p:attrNameLst>
                                      </p:cBhvr>
                                      <p:to>
                                        <p:strVal val="visible"/>
                                      </p:to>
                                    </p:set>
                                    <p:animEffect transition="in" filter="wipe(left)">
                                      <p:cBhvr>
                                        <p:cTn id="42" dur="500"/>
                                        <p:tgtEl>
                                          <p:spTgt spid="24576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45763">
                                            <p:txEl>
                                              <p:pRg st="8" end="8"/>
                                            </p:txEl>
                                          </p:spTgt>
                                        </p:tgtEl>
                                        <p:attrNameLst>
                                          <p:attrName>style.visibility</p:attrName>
                                        </p:attrNameLst>
                                      </p:cBhvr>
                                      <p:to>
                                        <p:strVal val="visible"/>
                                      </p:to>
                                    </p:set>
                                    <p:animEffect transition="in" filter="wipe(left)">
                                      <p:cBhvr>
                                        <p:cTn id="47" dur="500"/>
                                        <p:tgtEl>
                                          <p:spTgt spid="245763">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45763">
                                            <p:txEl>
                                              <p:pRg st="9" end="9"/>
                                            </p:txEl>
                                          </p:spTgt>
                                        </p:tgtEl>
                                        <p:attrNameLst>
                                          <p:attrName>style.visibility</p:attrName>
                                        </p:attrNameLst>
                                      </p:cBhvr>
                                      <p:to>
                                        <p:strVal val="visible"/>
                                      </p:to>
                                    </p:set>
                                    <p:animEffect transition="in" filter="wipe(left)">
                                      <p:cBhvr>
                                        <p:cTn id="52" dur="500"/>
                                        <p:tgtEl>
                                          <p:spTgt spid="245763">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45763">
                                            <p:txEl>
                                              <p:pRg st="10" end="10"/>
                                            </p:txEl>
                                          </p:spTgt>
                                        </p:tgtEl>
                                        <p:attrNameLst>
                                          <p:attrName>style.visibility</p:attrName>
                                        </p:attrNameLst>
                                      </p:cBhvr>
                                      <p:to>
                                        <p:strVal val="visible"/>
                                      </p:to>
                                    </p:set>
                                    <p:animEffect transition="in" filter="wipe(left)">
                                      <p:cBhvr>
                                        <p:cTn id="57" dur="500"/>
                                        <p:tgtEl>
                                          <p:spTgt spid="24576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3" grpId="0" build="p" autoUpdateAnimBg="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5" name="WordArt 5"/>
          <p:cNvSpPr>
            <a:spLocks noChangeArrowheads="1" noChangeShapeType="1" noTextEdit="1"/>
          </p:cNvSpPr>
          <p:nvPr/>
        </p:nvSpPr>
        <p:spPr bwMode="gray">
          <a:xfrm>
            <a:off x="2209800" y="3048000"/>
            <a:ext cx="4343400" cy="1600200"/>
          </a:xfrm>
          <a:prstGeom prst="rect">
            <a:avLst/>
          </a:prstGeom>
        </p:spPr>
        <p:txBody>
          <a:bodyPr wrap="none" fromWordArt="1">
            <a:prstTxWarp prst="textDeflate">
              <a:avLst>
                <a:gd name="adj" fmla="val 0"/>
              </a:avLst>
            </a:prstTxWarp>
          </a:bodyPr>
          <a:lstStyle/>
          <a:p>
            <a:pPr algn="ctr"/>
            <a:r>
              <a:rPr lang="fr-FR" sz="3600" b="1" kern="10" dirty="0">
                <a:ln w="19050">
                  <a:solidFill>
                    <a:srgbClr val="FFFFFF"/>
                  </a:solidFill>
                  <a:round/>
                  <a:headEnd/>
                  <a:tailEnd/>
                </a:ln>
                <a:gradFill rotWithShape="1">
                  <a:gsLst>
                    <a:gs pos="0">
                      <a:schemeClr val="bg2"/>
                    </a:gs>
                    <a:gs pos="100000">
                      <a:schemeClr val="bg2">
                        <a:gamma/>
                        <a:shade val="46275"/>
                        <a:invGamma/>
                      </a:schemeClr>
                    </a:gs>
                  </a:gsLst>
                  <a:lin ang="0" scaled="1"/>
                </a:gradFill>
                <a:effectLst>
                  <a:outerShdw dist="71842" dir="2700000" algn="ctr" rotWithShape="0">
                    <a:schemeClr val="tx1">
                      <a:alpha val="50000"/>
                    </a:schemeClr>
                  </a:outerShdw>
                </a:effectLst>
                <a:latin typeface="Arial"/>
                <a:cs typeface="Arial"/>
              </a:rPr>
              <a:t>Thank You !</a:t>
            </a:r>
          </a:p>
          <a:p>
            <a:pPr algn="ctr"/>
            <a:r>
              <a:rPr lang="en-US" altLang="zh-CN" sz="3600" b="1" kern="10" dirty="0">
                <a:ln w="19050">
                  <a:solidFill>
                    <a:srgbClr val="FFFFFF"/>
                  </a:solidFill>
                  <a:round/>
                  <a:headEnd/>
                  <a:tailEnd/>
                </a:ln>
                <a:gradFill rotWithShape="1">
                  <a:gsLst>
                    <a:gs pos="0">
                      <a:schemeClr val="bg2"/>
                    </a:gs>
                    <a:gs pos="100000">
                      <a:schemeClr val="bg2">
                        <a:gamma/>
                        <a:shade val="46275"/>
                        <a:invGamma/>
                      </a:schemeClr>
                    </a:gs>
                  </a:gsLst>
                  <a:lin ang="0" scaled="1"/>
                </a:gradFill>
                <a:effectLst>
                  <a:outerShdw dist="71842" dir="2700000" algn="ctr" rotWithShape="0">
                    <a:schemeClr val="tx1">
                      <a:alpha val="50000"/>
                    </a:schemeClr>
                  </a:outerShdw>
                </a:effectLst>
                <a:latin typeface="Arial"/>
                <a:cs typeface="Arial"/>
              </a:rPr>
              <a:t>Q&amp;A</a:t>
            </a:r>
            <a:endParaRPr lang="fr-FR" sz="3600" b="1" kern="10" dirty="0">
              <a:ln w="19050">
                <a:solidFill>
                  <a:srgbClr val="FFFFFF"/>
                </a:solidFill>
                <a:round/>
                <a:headEnd/>
                <a:tailEnd/>
              </a:ln>
              <a:gradFill rotWithShape="1">
                <a:gsLst>
                  <a:gs pos="0">
                    <a:schemeClr val="bg2"/>
                  </a:gs>
                  <a:gs pos="100000">
                    <a:schemeClr val="bg2">
                      <a:gamma/>
                      <a:shade val="46275"/>
                      <a:invGamma/>
                    </a:schemeClr>
                  </a:gs>
                </a:gsLst>
                <a:lin ang="0" scaled="1"/>
              </a:gradFill>
              <a:effectLst>
                <a:outerShdw dist="71842" dir="2700000" algn="ctr" rotWithShape="0">
                  <a:schemeClr val="tx1">
                    <a:alpha val="50000"/>
                  </a:schemeClr>
                </a:outerShdw>
              </a:effectLst>
              <a:latin typeface="Arial"/>
              <a:cs typeface="Arial"/>
            </a:endParaRPr>
          </a:p>
        </p:txBody>
      </p:sp>
    </p:spTree>
  </p:cSld>
  <p:clrMapOvr>
    <a:masterClrMapping/>
  </p:clrMapOvr>
</p:sld>
</file>

<file path=ppt/theme/theme1.xml><?xml version="1.0" encoding="utf-8"?>
<a:theme xmlns:a="http://schemas.openxmlformats.org/drawingml/2006/main" name="sample">
  <a:themeElements>
    <a:clrScheme name="自定义 1">
      <a:dk1>
        <a:srgbClr val="000000"/>
      </a:dk1>
      <a:lt1>
        <a:srgbClr val="FFFFFF"/>
      </a:lt1>
      <a:dk2>
        <a:srgbClr val="335175"/>
      </a:dk2>
      <a:lt2>
        <a:srgbClr val="7C92B6"/>
      </a:lt2>
      <a:accent1>
        <a:srgbClr val="4B93D5"/>
      </a:accent1>
      <a:accent2>
        <a:srgbClr val="65B737"/>
      </a:accent2>
      <a:accent3>
        <a:srgbClr val="DDE4EB"/>
      </a:accent3>
      <a:accent4>
        <a:srgbClr val="000000"/>
      </a:accent4>
      <a:accent5>
        <a:srgbClr val="B1C8E7"/>
      </a:accent5>
      <a:accent6>
        <a:srgbClr val="5BA631"/>
      </a:accent6>
      <a:hlink>
        <a:srgbClr val="CF9F49"/>
      </a:hlink>
      <a:folHlink>
        <a:srgbClr val="C382D0"/>
      </a:folHlink>
    </a:clrScheme>
    <a:fontScheme name="samp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000066"/>
        </a:dk1>
        <a:lt1>
          <a:srgbClr val="FFFFFF"/>
        </a:lt1>
        <a:dk2>
          <a:srgbClr val="40297B"/>
        </a:dk2>
        <a:lt2>
          <a:srgbClr val="DDDDDD"/>
        </a:lt2>
        <a:accent1>
          <a:srgbClr val="35978E"/>
        </a:accent1>
        <a:accent2>
          <a:srgbClr val="1E86E4"/>
        </a:accent2>
        <a:accent3>
          <a:srgbClr val="FFFFFF"/>
        </a:accent3>
        <a:accent4>
          <a:srgbClr val="000056"/>
        </a:accent4>
        <a:accent5>
          <a:srgbClr val="AEC9C6"/>
        </a:accent5>
        <a:accent6>
          <a:srgbClr val="1A79CF"/>
        </a:accent6>
        <a:hlink>
          <a:srgbClr val="9CAA32"/>
        </a:hlink>
        <a:folHlink>
          <a:srgbClr val="ACB3D0"/>
        </a:folHlink>
      </a:clrScheme>
      <a:clrMap bg1="lt1" tx1="dk1" bg2="lt2" tx2="dk2" accent1="accent1" accent2="accent2" accent3="accent3" accent4="accent4" accent5="accent5" accent6="accent6" hlink="hlink" folHlink="folHlink"/>
    </a:extraClrScheme>
    <a:extraClrScheme>
      <a:clrScheme name="sample 2">
        <a:dk1>
          <a:srgbClr val="000066"/>
        </a:dk1>
        <a:lt1>
          <a:srgbClr val="FFFFFF"/>
        </a:lt1>
        <a:dk2>
          <a:srgbClr val="0F5ABD"/>
        </a:dk2>
        <a:lt2>
          <a:srgbClr val="DDDDDD"/>
        </a:lt2>
        <a:accent1>
          <a:srgbClr val="7061C9"/>
        </a:accent1>
        <a:accent2>
          <a:srgbClr val="53BB9B"/>
        </a:accent2>
        <a:accent3>
          <a:srgbClr val="FFFFFF"/>
        </a:accent3>
        <a:accent4>
          <a:srgbClr val="000056"/>
        </a:accent4>
        <a:accent5>
          <a:srgbClr val="BBB7E1"/>
        </a:accent5>
        <a:accent6>
          <a:srgbClr val="4AA98C"/>
        </a:accent6>
        <a:hlink>
          <a:srgbClr val="57B2D7"/>
        </a:hlink>
        <a:folHlink>
          <a:srgbClr val="BCC8AC"/>
        </a:folHlink>
      </a:clrScheme>
      <a:clrMap bg1="lt1" tx1="dk1" bg2="lt2" tx2="dk2" accent1="accent1" accent2="accent2" accent3="accent3" accent4="accent4" accent5="accent5" accent6="accent6" hlink="hlink" folHlink="folHlink"/>
    </a:extraClrScheme>
    <a:extraClrScheme>
      <a:clrScheme name="sample 3">
        <a:dk1>
          <a:srgbClr val="003366"/>
        </a:dk1>
        <a:lt1>
          <a:srgbClr val="FFFFFF"/>
        </a:lt1>
        <a:dk2>
          <a:srgbClr val="99190B"/>
        </a:dk2>
        <a:lt2>
          <a:srgbClr val="DDDDDD"/>
        </a:lt2>
        <a:accent1>
          <a:srgbClr val="1F63AD"/>
        </a:accent1>
        <a:accent2>
          <a:srgbClr val="D28302"/>
        </a:accent2>
        <a:accent3>
          <a:srgbClr val="FFFFFF"/>
        </a:accent3>
        <a:accent4>
          <a:srgbClr val="002A56"/>
        </a:accent4>
        <a:accent5>
          <a:srgbClr val="ABB7D3"/>
        </a:accent5>
        <a:accent6>
          <a:srgbClr val="BE7602"/>
        </a:accent6>
        <a:hlink>
          <a:srgbClr val="3CA051"/>
        </a:hlink>
        <a:folHlink>
          <a:srgbClr val="97ADB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13537</TotalTime>
  <Words>15983</Words>
  <Application>Microsoft Office PowerPoint</Application>
  <PresentationFormat>全屏显示(4:3)</PresentationFormat>
  <Paragraphs>1888</Paragraphs>
  <Slides>149</Slides>
  <Notes>34</Notes>
  <HiddenSlides>0</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4</vt:i4>
      </vt:variant>
      <vt:variant>
        <vt:lpstr>幻灯片标题</vt:lpstr>
      </vt:variant>
      <vt:variant>
        <vt:i4>149</vt:i4>
      </vt:variant>
    </vt:vector>
  </HeadingPairs>
  <TitlesOfParts>
    <vt:vector size="171" baseType="lpstr">
      <vt:lpstr>Futura Bk</vt:lpstr>
      <vt:lpstr>Monotype Sorts</vt:lpstr>
      <vt:lpstr>仿宋_GB2312</vt:lpstr>
      <vt:lpstr>华文楷体</vt:lpstr>
      <vt:lpstr>华文新魏</vt:lpstr>
      <vt:lpstr>楷体_GB2312</vt:lpstr>
      <vt:lpstr>隶书</vt:lpstr>
      <vt:lpstr>宋体</vt:lpstr>
      <vt:lpstr>微软雅黑</vt:lpstr>
      <vt:lpstr>幼圆</vt:lpstr>
      <vt:lpstr>Arial</vt:lpstr>
      <vt:lpstr>Calibri</vt:lpstr>
      <vt:lpstr>Tahoma</vt:lpstr>
      <vt:lpstr>Times New Roman</vt:lpstr>
      <vt:lpstr>Verdana</vt:lpstr>
      <vt:lpstr>Wingdings</vt:lpstr>
      <vt:lpstr>sample</vt:lpstr>
      <vt:lpstr>自定义设计方案</vt:lpstr>
      <vt:lpstr>Clip</vt:lpstr>
      <vt:lpstr>Microsoft ClipArt Gallery</vt:lpstr>
      <vt:lpstr>BMP 图像</vt:lpstr>
      <vt:lpstr>多媒體項目</vt:lpstr>
      <vt:lpstr>计算机科学与程序设计</vt:lpstr>
      <vt:lpstr>关于考试</vt:lpstr>
      <vt:lpstr>关于考试</vt:lpstr>
      <vt:lpstr>关于答疑</vt:lpstr>
      <vt:lpstr>PowerPoint 演示文稿</vt:lpstr>
      <vt:lpstr>复习内容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复习内容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复习内容</vt:lpstr>
      <vt:lpstr>PowerPoint 演示文稿</vt:lpstr>
      <vt:lpstr>PowerPoint 演示文稿</vt:lpstr>
      <vt:lpstr>PowerPoint 演示文稿</vt:lpstr>
      <vt:lpstr>复习内容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复习内容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复习内容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复习内容</vt:lpstr>
      <vt:lpstr>PowerPoint 演示文稿</vt:lpstr>
      <vt:lpstr>PowerPoint 演示文稿</vt:lpstr>
      <vt:lpstr>PowerPoint 演示文稿</vt:lpstr>
      <vt:lpstr>PowerPoint 演示文稿</vt:lpstr>
      <vt:lpstr>PowerPoint 演示文稿</vt:lpstr>
      <vt:lpstr>PowerPoint 演示文稿</vt:lpstr>
      <vt:lpstr>存储类型小结</vt:lpstr>
      <vt:lpstr>PowerPoint 演示文稿</vt:lpstr>
      <vt:lpstr>复习内容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复习内容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Guilddesign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Sung Ha, Park</dc:creator>
  <cp:lastModifiedBy>Wu Hao</cp:lastModifiedBy>
  <cp:revision>1086</cp:revision>
  <dcterms:created xsi:type="dcterms:W3CDTF">2004-08-26T06:30:40Z</dcterms:created>
  <dcterms:modified xsi:type="dcterms:W3CDTF">2021-12-23T02:39:45Z</dcterms:modified>
</cp:coreProperties>
</file>