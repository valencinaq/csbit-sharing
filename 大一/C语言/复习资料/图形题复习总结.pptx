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63" d="100"/>
          <a:sy n="63" d="100"/>
        </p:scale>
        <p:origin x="4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4DD8E-B2B4-5B9B-26ED-EAE6AD9C8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AB2064-CCE4-8769-C14E-132E3D990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14864F-F75E-DD4B-2DB9-8E1D8BEE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149CFF-8414-9E43-C355-B223C4355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D22ED3-6B99-AFCC-45E1-2339BADAF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0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8117F4-6F57-3132-D220-C4F14842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B1215-93B3-4AA9-AE55-A853743F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C13FA-4188-D9DF-0058-436081EC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D91A17-0409-0774-C7CE-14D47021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4A213-0B99-EEEE-435F-B76AF3A1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3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7B268B-FE9F-3050-5A6A-4B4077F9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92CF5-21B6-E485-618E-805988B1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BA20C3-7A70-FA46-458D-7B6B914C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06C1A-0F4A-0964-6871-119DC060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CFAFA-5753-615C-676C-4B6DF94E8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30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8C1D1-1661-11C9-8346-6988EBF3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7333D-5038-C3C9-3010-2B40727C7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53E860-05A7-800B-1C16-7190B1F35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905BE3-D3D1-1F1D-9156-8FDDF983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CE205-D2BA-7014-BC82-7609F9F8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067A6F-E845-DC01-EBB5-7EDA66E8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6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B0194-35BD-FD47-FC08-D82AF09E2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AECF74-A418-E340-26F4-4793FE4BC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299B54-B073-1DE3-90CF-B52748C3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D50E991-E6F6-0E19-64E4-EECE54F56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B7D91E-22AC-4C6D-5A0C-8EEF600A0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47DD8D-8DC4-DEDB-6E93-A1829C68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B31E45-130F-0059-CA50-EB2F00E1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1CCC47-AD6C-64BB-B89C-AF48E273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84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5174B-B90C-DCA2-D468-504303E4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2BED7E-C114-7E61-6066-C1632F1C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07E62A-BE10-9CE3-0412-746D2B74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161984-F860-242E-30CF-802EB154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480DFF-0F39-C6A0-B262-5B41209DD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E06528-FC8A-F872-81BC-5B755981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54B70-BB19-66CB-B5FA-3F940E8F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0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35B54-F9DD-0D70-A931-988BA4DC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785EA-6132-1149-7449-D99EE14EF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D69F19-E760-65E7-E4B5-65A6E2ACA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41C66-FC3E-3738-216A-21241FE28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80CEC-C947-214E-DE3F-C5B49F1D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9642C4-0265-446E-FA35-76E4962E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13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50896C-34B6-CC84-13C6-A7492A94C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ADF8A2-5C2A-38B1-31F4-782B69784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C70DB9-2838-FC9F-30C9-6A33EBE6D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E05B92-1B73-82FA-D2D8-F74D69A68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EFD1C6-99E4-4D8C-D06E-A02E60D1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AB2B8F-AE37-EF61-C154-6AD377031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34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F12AC-30CD-4568-BC75-7756C484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6FA3EF-E0E9-7E00-5491-0DA3ACFF9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6691D6-5EEE-FBD0-8D69-CFC20FAED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4D626-D48B-9C3C-95EE-3EB7CF9B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3F1759-14F6-22FF-7943-F743E39B2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61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C50F0E-736D-1B36-7CC1-25C4043B77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FE7A46-116A-B642-664A-6404EB06D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736759-9A81-B67F-AB3A-C548B1B93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0B8F6A-399D-7B07-05E1-C2DA048F5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24DDB-4043-166C-A477-49DCD801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106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97ABE7-1A8B-2F72-DC06-6637C15D8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2F4F98-898A-DB47-0B07-C124E8671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61F6B-5242-2618-EAD0-F58349466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2C67A-A71E-4C9F-BA95-4F5CB42C6CC8}" type="datetimeFigureOut">
              <a:rPr lang="zh-CN" altLang="en-US" smtClean="0"/>
              <a:t>2023/12/25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AD3A6-1FF9-7065-B7D6-93615CF50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1D060-1447-8C98-0DA0-D0CCB342F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0E441-A6C0-437B-B819-89ED56DE22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484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5F3241E-C9FE-64B0-762C-239762A03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9106" y="497688"/>
            <a:ext cx="6557042" cy="677969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图形题复习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EDBBF9-0028-C0AC-6D76-CC0FAADA5C6E}"/>
              </a:ext>
            </a:extLst>
          </p:cNvPr>
          <p:cNvSpPr txBox="1"/>
          <p:nvPr/>
        </p:nvSpPr>
        <p:spPr>
          <a:xfrm>
            <a:off x="1524000" y="1394460"/>
            <a:ext cx="995934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一、终端屏幕特点</a:t>
            </a:r>
            <a:endParaRPr lang="en-US" altLang="zh-CN" sz="3200" b="1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终端图形由字符组成，输出必须从左向右（列）输出一行然后换行再同样的方式输出其余行。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b="1" dirty="0"/>
              <a:t>二、两种输出法</a:t>
            </a:r>
            <a:endParaRPr lang="en-US" altLang="zh-CN" sz="3200" b="1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（</a:t>
            </a:r>
            <a:r>
              <a:rPr lang="en-US" altLang="zh-CN" sz="3200" dirty="0"/>
              <a:t>1</a:t>
            </a:r>
            <a:r>
              <a:rPr lang="zh-CN" altLang="en-US" sz="3200" dirty="0"/>
              <a:t>）按终端输出顺序遍历逐个字符输出</a:t>
            </a:r>
            <a:endParaRPr lang="en-US" altLang="zh-CN" sz="3200" dirty="0"/>
          </a:p>
          <a:p>
            <a:r>
              <a:rPr lang="en-US" altLang="zh-CN" sz="3200" dirty="0"/>
              <a:t>       </a:t>
            </a:r>
            <a:r>
              <a:rPr lang="zh-CN" altLang="en-US" sz="3200" dirty="0"/>
              <a:t>（</a:t>
            </a:r>
            <a:r>
              <a:rPr lang="en-US" altLang="zh-CN" sz="3200" dirty="0"/>
              <a:t>2</a:t>
            </a:r>
            <a:r>
              <a:rPr lang="zh-CN" altLang="en-US" sz="3200" dirty="0"/>
              <a:t>）先输出到终端对应的映像二维数组中，再按 </a:t>
            </a:r>
            <a:endParaRPr lang="en-US" altLang="zh-CN" sz="3200" dirty="0"/>
          </a:p>
          <a:p>
            <a:r>
              <a:rPr lang="en-US" altLang="zh-CN" sz="3200" dirty="0"/>
              <a:t>                 </a:t>
            </a:r>
            <a:r>
              <a:rPr lang="zh-CN" altLang="en-US" sz="3200" dirty="0"/>
              <a:t>终端输出顺序输出数组。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583294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AF94BC-F6E6-D26C-EA99-EED5E2F2FCBE}"/>
              </a:ext>
            </a:extLst>
          </p:cNvPr>
          <p:cNvSpPr/>
          <p:nvPr/>
        </p:nvSpPr>
        <p:spPr>
          <a:xfrm>
            <a:off x="1738848" y="2046249"/>
            <a:ext cx="4242852" cy="2723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669E19-5256-DE6D-4BCB-1FBFDC2E1CCB}"/>
              </a:ext>
            </a:extLst>
          </p:cNvPr>
          <p:cNvSpPr txBox="1"/>
          <p:nvPr/>
        </p:nvSpPr>
        <p:spPr>
          <a:xfrm>
            <a:off x="1053046" y="1817648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B0CB2E-A7F5-101F-6CF4-894B7FEFBA43}"/>
              </a:ext>
            </a:extLst>
          </p:cNvPr>
          <p:cNvSpPr txBox="1"/>
          <p:nvPr/>
        </p:nvSpPr>
        <p:spPr>
          <a:xfrm>
            <a:off x="1039107" y="4611696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1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C72464-E4D8-580C-CDD2-7E747DB5A09C}"/>
              </a:ext>
            </a:extLst>
          </p:cNvPr>
          <p:cNvSpPr txBox="1"/>
          <p:nvPr/>
        </p:nvSpPr>
        <p:spPr>
          <a:xfrm>
            <a:off x="6072026" y="1817648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n</a:t>
            </a:r>
            <a:endParaRPr lang="zh-CN" altLang="en-US" sz="20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5CEC0B-F8BC-22D0-0EF3-5C4CBEB4E61A}"/>
              </a:ext>
            </a:extLst>
          </p:cNvPr>
          <p:cNvSpPr txBox="1"/>
          <p:nvPr/>
        </p:nvSpPr>
        <p:spPr>
          <a:xfrm>
            <a:off x="6072026" y="4485459"/>
            <a:ext cx="791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n</a:t>
            </a:r>
            <a:endParaRPr lang="zh-CN" altLang="en-US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1C54B0-8F0E-E278-7168-5F2E8A81207B}"/>
              </a:ext>
            </a:extLst>
          </p:cNvPr>
          <p:cNvSpPr txBox="1"/>
          <p:nvPr/>
        </p:nvSpPr>
        <p:spPr>
          <a:xfrm>
            <a:off x="264003" y="996394"/>
            <a:ext cx="33489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三 建立虚拟屏幕坐标</a:t>
            </a:r>
          </a:p>
        </p:txBody>
      </p:sp>
      <p:sp>
        <p:nvSpPr>
          <p:cNvPr id="9" name="星形: 六角 8">
            <a:extLst>
              <a:ext uri="{FF2B5EF4-FFF2-40B4-BE49-F238E27FC236}">
                <a16:creationId xmlns:a16="http://schemas.microsoft.com/office/drawing/2014/main" id="{9B8FDF7A-80DD-91F3-81D6-8098324F637F}"/>
              </a:ext>
            </a:extLst>
          </p:cNvPr>
          <p:cNvSpPr/>
          <p:nvPr/>
        </p:nvSpPr>
        <p:spPr>
          <a:xfrm>
            <a:off x="9083040" y="3169920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星形: 六角 10">
            <a:extLst>
              <a:ext uri="{FF2B5EF4-FFF2-40B4-BE49-F238E27FC236}">
                <a16:creationId xmlns:a16="http://schemas.microsoft.com/office/drawing/2014/main" id="{3C3E727D-03F5-08FC-3F24-241E22D32046}"/>
              </a:ext>
            </a:extLst>
          </p:cNvPr>
          <p:cNvSpPr/>
          <p:nvPr/>
        </p:nvSpPr>
        <p:spPr>
          <a:xfrm>
            <a:off x="9083040" y="3162300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574DEC-E1B1-4D5A-F3A5-3BE6F1181FAF}"/>
              </a:ext>
            </a:extLst>
          </p:cNvPr>
          <p:cNvSpPr txBox="1"/>
          <p:nvPr/>
        </p:nvSpPr>
        <p:spPr>
          <a:xfrm>
            <a:off x="6802803" y="1817648"/>
            <a:ext cx="4392838" cy="32771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</a:rPr>
              <a:t>i,j,n</a:t>
            </a:r>
            <a:r>
              <a:rPr lang="en-US" altLang="zh-CN" sz="2000" b="1" dirty="0">
                <a:latin typeface="Consolas" panose="020B0609020204030204" pitchFamily="49" charset="0"/>
              </a:rPr>
              <a:t>;  n=xxx;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for(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=1; 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&lt;=n; 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++){  //</a:t>
            </a:r>
            <a:r>
              <a:rPr lang="zh-CN" altLang="en-US" sz="2000" b="1" dirty="0">
                <a:latin typeface="Consolas" panose="020B0609020204030204" pitchFamily="49" charset="0"/>
              </a:rPr>
              <a:t>行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for(j=1; j&lt;=n; </a:t>
            </a:r>
            <a:r>
              <a:rPr lang="en-US" altLang="zh-CN" sz="2000" b="1" dirty="0" err="1">
                <a:latin typeface="Consolas" panose="020B0609020204030204" pitchFamily="49" charset="0"/>
              </a:rPr>
              <a:t>j++</a:t>
            </a:r>
            <a:r>
              <a:rPr lang="en-US" altLang="zh-CN" sz="2000" b="1" dirty="0">
                <a:latin typeface="Consolas" panose="020B0609020204030204" pitchFamily="49" charset="0"/>
              </a:rPr>
              <a:t>){ //</a:t>
            </a:r>
            <a:r>
              <a:rPr lang="zh-CN" altLang="en-US" sz="2000" b="1" dirty="0">
                <a:latin typeface="Consolas" panose="020B0609020204030204" pitchFamily="49" charset="0"/>
              </a:rPr>
              <a:t>列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      //</a:t>
            </a:r>
            <a:r>
              <a:rPr lang="zh-CN" altLang="en-US" sz="2000" b="1" dirty="0">
                <a:latin typeface="Consolas" panose="020B0609020204030204" pitchFamily="49" charset="0"/>
              </a:rPr>
              <a:t>输出一个字符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2000" b="1" dirty="0">
                <a:latin typeface="Consolas" panose="020B0609020204030204" pitchFamily="49" charset="0"/>
              </a:rPr>
              <a:t>(“\n”);</a:t>
            </a:r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b="1" dirty="0"/>
              <a:t> }</a:t>
            </a:r>
            <a:r>
              <a:rPr lang="en-US" altLang="zh-CN" sz="2000" dirty="0"/>
              <a:t>	</a:t>
            </a:r>
            <a:endParaRPr lang="zh-CN" altLang="en-US" sz="2000" dirty="0"/>
          </a:p>
        </p:txBody>
      </p:sp>
      <p:sp>
        <p:nvSpPr>
          <p:cNvPr id="13" name="星形: 六角 12">
            <a:extLst>
              <a:ext uri="{FF2B5EF4-FFF2-40B4-BE49-F238E27FC236}">
                <a16:creationId xmlns:a16="http://schemas.microsoft.com/office/drawing/2014/main" id="{7EE2EAB1-EEF6-25FF-3C67-9A62106D22C7}"/>
              </a:ext>
            </a:extLst>
          </p:cNvPr>
          <p:cNvSpPr/>
          <p:nvPr/>
        </p:nvSpPr>
        <p:spPr>
          <a:xfrm>
            <a:off x="9029700" y="2788920"/>
            <a:ext cx="160020" cy="17955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星形: 六角 13">
            <a:extLst>
              <a:ext uri="{FF2B5EF4-FFF2-40B4-BE49-F238E27FC236}">
                <a16:creationId xmlns:a16="http://schemas.microsoft.com/office/drawing/2014/main" id="{68E1B747-21EE-785F-6032-6ECF54EAB444}"/>
              </a:ext>
            </a:extLst>
          </p:cNvPr>
          <p:cNvSpPr/>
          <p:nvPr/>
        </p:nvSpPr>
        <p:spPr>
          <a:xfrm>
            <a:off x="7673340" y="5694035"/>
            <a:ext cx="297180" cy="259080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6F2B48-3E04-E4C0-223D-492596D92613}"/>
              </a:ext>
            </a:extLst>
          </p:cNvPr>
          <p:cNvSpPr txBox="1"/>
          <p:nvPr/>
        </p:nvSpPr>
        <p:spPr>
          <a:xfrm>
            <a:off x="7970520" y="5638909"/>
            <a:ext cx="293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列循环条件能控制右边界</a:t>
            </a:r>
          </a:p>
        </p:txBody>
      </p:sp>
    </p:spTree>
    <p:extLst>
      <p:ext uri="{BB962C8B-B14F-4D97-AF65-F5344CB8AC3E}">
        <p14:creationId xmlns:p14="http://schemas.microsoft.com/office/powerpoint/2010/main" val="419928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D6BFF53-24FD-3621-6B3C-AB9EF151E1B9}"/>
              </a:ext>
            </a:extLst>
          </p:cNvPr>
          <p:cNvSpPr txBox="1"/>
          <p:nvPr/>
        </p:nvSpPr>
        <p:spPr>
          <a:xfrm>
            <a:off x="502920" y="266700"/>
            <a:ext cx="6484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四  水平线、垂直线、对角线、反对角线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19A74F-BDE9-FE03-80D7-ED53D1C35CD3}"/>
              </a:ext>
            </a:extLst>
          </p:cNvPr>
          <p:cNvSpPr/>
          <p:nvPr/>
        </p:nvSpPr>
        <p:spPr>
          <a:xfrm>
            <a:off x="548640" y="1485900"/>
            <a:ext cx="4503420" cy="262128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A2F60AC-ED8C-AB84-7BD7-5D825ECB6F57}"/>
              </a:ext>
            </a:extLst>
          </p:cNvPr>
          <p:cNvCxnSpPr>
            <a:cxnSpLocks/>
          </p:cNvCxnSpPr>
          <p:nvPr/>
        </p:nvCxnSpPr>
        <p:spPr>
          <a:xfrm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84E650F-7913-0381-9664-56CF2BFD34D5}"/>
              </a:ext>
            </a:extLst>
          </p:cNvPr>
          <p:cNvCxnSpPr/>
          <p:nvPr/>
        </p:nvCxnSpPr>
        <p:spPr>
          <a:xfrm flipV="1"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587FDC4-50BB-5ED8-124C-526A7B32FC8B}"/>
              </a:ext>
            </a:extLst>
          </p:cNvPr>
          <p:cNvSpPr txBox="1"/>
          <p:nvPr/>
        </p:nvSpPr>
        <p:spPr>
          <a:xfrm>
            <a:off x="5143500" y="873681"/>
            <a:ext cx="6957060" cy="5977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b="1" dirty="0"/>
              <a:t>#include &lt;stdio.h&gt;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int main()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int i,j,n=10;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for(i=1; i&lt;=n; i++){  //行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for(j=1; j&lt;=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; j++){ //列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   //输出一个字符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      if(i==1||i==n||j==1||j==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) printf(“*”);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水平垂直 </a:t>
            </a: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else 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</a:t>
            </a:r>
            <a:r>
              <a:rPr lang="zh-CN" altLang="en-US" sz="2000" b="1" dirty="0"/>
              <a:t>if(i==</a:t>
            </a:r>
            <a:r>
              <a:rPr lang="en-US" altLang="zh-CN" sz="2000" b="1" dirty="0"/>
              <a:t>j</a:t>
            </a:r>
            <a:r>
              <a:rPr lang="zh-CN" altLang="en-US" sz="2000" b="1" dirty="0"/>
              <a:t>||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=n-j+1</a:t>
            </a:r>
            <a:r>
              <a:rPr lang="zh-CN" altLang="en-US" sz="2000" b="1" dirty="0"/>
              <a:t>) printf(“*”);  </a:t>
            </a:r>
            <a:r>
              <a:rPr lang="en-US" altLang="zh-CN" sz="2000" b="1" dirty="0"/>
              <a:t>//</a:t>
            </a:r>
            <a:r>
              <a:rPr lang="zh-CN" altLang="en-US" sz="2000" b="1" dirty="0"/>
              <a:t>对角线</a:t>
            </a:r>
            <a:endParaRPr lang="en-US" altLang="zh-CN" sz="2000" b="1" dirty="0"/>
          </a:p>
          <a:p>
            <a:pPr>
              <a:lnSpc>
                <a:spcPct val="120000"/>
              </a:lnSpc>
            </a:pPr>
            <a:r>
              <a:rPr lang="en-US" altLang="zh-CN" sz="2000" b="1" dirty="0"/>
              <a:t>          </a:t>
            </a:r>
            <a:r>
              <a:rPr lang="zh-CN" altLang="en-US" sz="2000" b="1" dirty="0"/>
              <a:t>else printf(" ");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}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    printf("\n");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	}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	return 0;</a:t>
            </a:r>
          </a:p>
          <a:p>
            <a:pPr>
              <a:lnSpc>
                <a:spcPct val="120000"/>
              </a:lnSpc>
            </a:pPr>
            <a:r>
              <a:rPr lang="zh-CN" altLang="en-US" sz="2000" b="1" dirty="0"/>
              <a:t>} 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E8871C9-2177-9CA2-AB53-D758C0E68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76" y="4336248"/>
            <a:ext cx="2400304" cy="222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49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8D0DEE8-A3CB-268B-105D-7785E1073517}"/>
              </a:ext>
            </a:extLst>
          </p:cNvPr>
          <p:cNvSpPr txBox="1"/>
          <p:nvPr/>
        </p:nvSpPr>
        <p:spPr>
          <a:xfrm>
            <a:off x="936703" y="522992"/>
            <a:ext cx="2051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五  平移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73E4A3-4FD8-5A32-BABF-B37761CE260D}"/>
              </a:ext>
            </a:extLst>
          </p:cNvPr>
          <p:cNvSpPr/>
          <p:nvPr/>
        </p:nvSpPr>
        <p:spPr>
          <a:xfrm>
            <a:off x="548640" y="1485900"/>
            <a:ext cx="4503420" cy="262128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7DD3A4-13A8-E743-1719-2C5E477C71AA}"/>
              </a:ext>
            </a:extLst>
          </p:cNvPr>
          <p:cNvCxnSpPr>
            <a:cxnSpLocks/>
          </p:cNvCxnSpPr>
          <p:nvPr/>
        </p:nvCxnSpPr>
        <p:spPr>
          <a:xfrm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AE915C4-0651-9E40-DC94-C816D623AE0F}"/>
              </a:ext>
            </a:extLst>
          </p:cNvPr>
          <p:cNvCxnSpPr/>
          <p:nvPr/>
        </p:nvCxnSpPr>
        <p:spPr>
          <a:xfrm flipV="1">
            <a:off x="548640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B61FB7-5C06-04E0-2666-35B866324118}"/>
              </a:ext>
            </a:extLst>
          </p:cNvPr>
          <p:cNvCxnSpPr>
            <a:cxnSpLocks/>
          </p:cNvCxnSpPr>
          <p:nvPr/>
        </p:nvCxnSpPr>
        <p:spPr>
          <a:xfrm>
            <a:off x="7139942" y="1485900"/>
            <a:ext cx="4503420" cy="26212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3C9F43A-77D0-4D75-DFF9-A92BB248203E}"/>
              </a:ext>
            </a:extLst>
          </p:cNvPr>
          <p:cNvCxnSpPr/>
          <p:nvPr/>
        </p:nvCxnSpPr>
        <p:spPr>
          <a:xfrm>
            <a:off x="5052060" y="1485900"/>
            <a:ext cx="208788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C315A2-B585-593C-CAA2-1767F1C012AF}"/>
              </a:ext>
            </a:extLst>
          </p:cNvPr>
          <p:cNvCxnSpPr/>
          <p:nvPr/>
        </p:nvCxnSpPr>
        <p:spPr>
          <a:xfrm>
            <a:off x="5052060" y="4107180"/>
            <a:ext cx="659130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6330508-2FA5-7E7A-DBBB-DB0A42EF71E4}"/>
              </a:ext>
            </a:extLst>
          </p:cNvPr>
          <p:cNvSpPr txBox="1"/>
          <p:nvPr/>
        </p:nvSpPr>
        <p:spPr>
          <a:xfrm>
            <a:off x="847493" y="4687221"/>
            <a:ext cx="2843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=j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平移</a:t>
            </a:r>
            <a:r>
              <a:rPr lang="en-US" altLang="zh-CN" sz="2000" b="1" dirty="0">
                <a:latin typeface="Consolas" panose="020B0609020204030204" pitchFamily="49" charset="0"/>
              </a:rPr>
              <a:t>k</a:t>
            </a:r>
            <a:r>
              <a:rPr lang="zh-CN" altLang="en-US" sz="2000" b="1" dirty="0">
                <a:latin typeface="Consolas" panose="020B0609020204030204" pitchFamily="49" charset="0"/>
              </a:rPr>
              <a:t>个字符后：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j-k=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endParaRPr lang="zh-CN" altLang="en-US" sz="2000" b="1" dirty="0"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516FA3-2C1A-6682-C46D-19A5D594C4FF}"/>
              </a:ext>
            </a:extLst>
          </p:cNvPr>
          <p:cNvSpPr txBox="1"/>
          <p:nvPr/>
        </p:nvSpPr>
        <p:spPr>
          <a:xfrm>
            <a:off x="3520069" y="4533334"/>
            <a:ext cx="2843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=j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平移</a:t>
            </a:r>
            <a:r>
              <a:rPr lang="en-US" altLang="zh-CN" sz="2000" b="1" dirty="0">
                <a:latin typeface="Consolas" panose="020B0609020204030204" pitchFamily="49" charset="0"/>
              </a:rPr>
              <a:t>n-1</a:t>
            </a:r>
            <a:r>
              <a:rPr lang="zh-CN" altLang="en-US" sz="2000" b="1" dirty="0">
                <a:latin typeface="Consolas" panose="020B0609020204030204" pitchFamily="49" charset="0"/>
              </a:rPr>
              <a:t>个字符后：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j-(n-1)=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（三角形）</a:t>
            </a:r>
          </a:p>
        </p:txBody>
      </p:sp>
    </p:spTree>
    <p:extLst>
      <p:ext uri="{BB962C8B-B14F-4D97-AF65-F5344CB8AC3E}">
        <p14:creationId xmlns:p14="http://schemas.microsoft.com/office/powerpoint/2010/main" val="68948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1FE2660-C546-84F6-C375-F6BACBFCCBC3}"/>
              </a:ext>
            </a:extLst>
          </p:cNvPr>
          <p:cNvSpPr txBox="1"/>
          <p:nvPr/>
        </p:nvSpPr>
        <p:spPr>
          <a:xfrm>
            <a:off x="792480" y="586740"/>
            <a:ext cx="2613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六 旋转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AACE54-8E54-6B77-3AC3-A09B0C8B01D8}"/>
              </a:ext>
            </a:extLst>
          </p:cNvPr>
          <p:cNvSpPr/>
          <p:nvPr/>
        </p:nvSpPr>
        <p:spPr>
          <a:xfrm>
            <a:off x="1196340" y="1645920"/>
            <a:ext cx="3771900" cy="26441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7F319C7-EC58-1DA9-B37C-E1E6868ECD8E}"/>
              </a:ext>
            </a:extLst>
          </p:cNvPr>
          <p:cNvCxnSpPr/>
          <p:nvPr/>
        </p:nvCxnSpPr>
        <p:spPr>
          <a:xfrm>
            <a:off x="1196340" y="1645920"/>
            <a:ext cx="3771900" cy="264414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4DB7D31-0FB7-4919-EC9B-635DF71E9F03}"/>
              </a:ext>
            </a:extLst>
          </p:cNvPr>
          <p:cNvCxnSpPr/>
          <p:nvPr/>
        </p:nvCxnSpPr>
        <p:spPr>
          <a:xfrm flipV="1">
            <a:off x="1196340" y="1645920"/>
            <a:ext cx="3771900" cy="26441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箭头: 上弧形 7">
            <a:extLst>
              <a:ext uri="{FF2B5EF4-FFF2-40B4-BE49-F238E27FC236}">
                <a16:creationId xmlns:a16="http://schemas.microsoft.com/office/drawing/2014/main" id="{9A62D2F9-4699-DDAF-2C22-7DEA2D21175F}"/>
              </a:ext>
            </a:extLst>
          </p:cNvPr>
          <p:cNvSpPr/>
          <p:nvPr/>
        </p:nvSpPr>
        <p:spPr>
          <a:xfrm>
            <a:off x="2407920" y="2118360"/>
            <a:ext cx="1447800" cy="3429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3D9D2F-3365-5383-C435-DF1F4D82B1D1}"/>
              </a:ext>
            </a:extLst>
          </p:cNvPr>
          <p:cNvSpPr txBox="1"/>
          <p:nvPr/>
        </p:nvSpPr>
        <p:spPr>
          <a:xfrm>
            <a:off x="754380" y="1325880"/>
            <a:ext cx="53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1,1</a:t>
            </a:r>
            <a:endParaRPr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0F704E-FBD9-2EED-46FE-1FA75244E1BA}"/>
              </a:ext>
            </a:extLst>
          </p:cNvPr>
          <p:cNvSpPr txBox="1"/>
          <p:nvPr/>
        </p:nvSpPr>
        <p:spPr>
          <a:xfrm>
            <a:off x="4877682" y="1325880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1,n</a:t>
            </a:r>
            <a:endParaRPr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00F45A-6D96-0B23-E8A8-CEE620741F46}"/>
              </a:ext>
            </a:extLst>
          </p:cNvPr>
          <p:cNvSpPr txBox="1"/>
          <p:nvPr/>
        </p:nvSpPr>
        <p:spPr>
          <a:xfrm>
            <a:off x="4877682" y="4209990"/>
            <a:ext cx="545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/>
              <a:t>n,n</a:t>
            </a:r>
            <a:endParaRPr lang="zh-CN" altLang="en-US" sz="20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F86A45-B0F8-0EAA-98C6-3E0B1D769519}"/>
              </a:ext>
            </a:extLst>
          </p:cNvPr>
          <p:cNvSpPr txBox="1"/>
          <p:nvPr/>
        </p:nvSpPr>
        <p:spPr>
          <a:xfrm>
            <a:off x="792480" y="4209990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n,1</a:t>
            </a:r>
            <a:endParaRPr lang="zh-CN" altLang="en-US" sz="20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47CFE6-E53C-C142-5DC8-C171DC24550B}"/>
              </a:ext>
            </a:extLst>
          </p:cNvPr>
          <p:cNvSpPr txBox="1"/>
          <p:nvPr/>
        </p:nvSpPr>
        <p:spPr>
          <a:xfrm>
            <a:off x="1611630" y="4627900"/>
            <a:ext cx="35890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行   列</a:t>
            </a:r>
            <a:endParaRPr lang="en-US" altLang="zh-CN" sz="2800" b="1" dirty="0"/>
          </a:p>
          <a:p>
            <a:r>
              <a:rPr lang="en-US" altLang="zh-CN" sz="2800" b="1" dirty="0" err="1"/>
              <a:t>i</a:t>
            </a:r>
            <a:r>
              <a:rPr lang="en-US" altLang="zh-CN" sz="2800" b="1" dirty="0"/>
              <a:t>,     j </a:t>
            </a:r>
          </a:p>
          <a:p>
            <a:r>
              <a:rPr lang="zh-CN" altLang="en-US" sz="2800" b="1" dirty="0"/>
              <a:t>    旋转后：</a:t>
            </a:r>
            <a:endParaRPr lang="en-US" altLang="zh-CN" sz="2800" b="1" dirty="0"/>
          </a:p>
          <a:p>
            <a:r>
              <a:rPr lang="en-US" altLang="zh-CN" sz="2800" b="1" dirty="0"/>
              <a:t>j,     n-i+1</a:t>
            </a:r>
            <a:endParaRPr lang="zh-CN" altLang="en-US" sz="28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17CDA1-8451-D3D3-481D-C1492B46EC98}"/>
              </a:ext>
            </a:extLst>
          </p:cNvPr>
          <p:cNvSpPr txBox="1"/>
          <p:nvPr/>
        </p:nvSpPr>
        <p:spPr>
          <a:xfrm>
            <a:off x="5921296" y="174777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</a:rPr>
              <a:t>i,j,n</a:t>
            </a:r>
            <a:r>
              <a:rPr lang="en-US" altLang="zh-CN" sz="2000" b="1" dirty="0">
                <a:latin typeface="Consolas" panose="020B0609020204030204" pitchFamily="49" charset="0"/>
              </a:rPr>
              <a:t>=5,a[n][n],b[n][n];</a:t>
            </a:r>
          </a:p>
          <a:p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latin typeface="Consolas" panose="020B0609020204030204" pitchFamily="49" charset="0"/>
              </a:rPr>
              <a:t>//****</a:t>
            </a:r>
            <a:r>
              <a:rPr lang="zh-CN" altLang="en-US" sz="2000" b="1" dirty="0">
                <a:latin typeface="Consolas" panose="020B0609020204030204" pitchFamily="49" charset="0"/>
              </a:rPr>
              <a:t>初始化</a:t>
            </a:r>
            <a:r>
              <a:rPr lang="en-US" altLang="zh-CN" sz="2000" b="1" dirty="0">
                <a:latin typeface="Consolas" panose="020B0609020204030204" pitchFamily="49" charset="0"/>
              </a:rPr>
              <a:t>a</a:t>
            </a:r>
          </a:p>
          <a:p>
            <a:endParaRPr lang="en-US" altLang="zh-CN" sz="2000" b="1" dirty="0"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latin typeface="Consolas" panose="020B0609020204030204" pitchFamily="49" charset="0"/>
              </a:rPr>
              <a:t>for(i=1; i&lt;=n; i++) //旋转</a:t>
            </a:r>
            <a:r>
              <a:rPr lang="en-US" altLang="zh-CN" sz="2000" b="1" dirty="0">
                <a:latin typeface="Consolas" panose="020B0609020204030204" pitchFamily="49" charset="0"/>
              </a:rPr>
              <a:t>a-&gt;b</a:t>
            </a:r>
            <a:r>
              <a:rPr lang="zh-CN" altLang="en-US" sz="2000" b="1" dirty="0">
                <a:latin typeface="Consolas" panose="020B0609020204030204" pitchFamily="49" charset="0"/>
              </a:rPr>
              <a:t>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for(j=1; j&lt;=n; j++){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	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b[j][n-i+1]=a[i][j] </a:t>
            </a:r>
            <a:r>
              <a:rPr lang="zh-CN" altLang="en-US" sz="2000" b="1" dirty="0">
                <a:latin typeface="Consolas" panose="020B0609020204030204" pitchFamily="49" charset="0"/>
              </a:rPr>
              <a:t>;   </a:t>
            </a:r>
          </a:p>
          <a:p>
            <a:r>
              <a:rPr lang="zh-CN" altLang="en-US" sz="2000" b="1" dirty="0">
                <a:latin typeface="Consolas" panose="020B0609020204030204" pitchFamily="49" charset="0"/>
              </a:rPr>
              <a:t>    }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7890F4FA-D861-3D4A-23FE-4654CC01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0" y="3607704"/>
            <a:ext cx="1943111" cy="309076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63BD8E2-4B70-9BFC-D753-F5CDBBC43579}"/>
              </a:ext>
            </a:extLst>
          </p:cNvPr>
          <p:cNvSpPr txBox="1"/>
          <p:nvPr/>
        </p:nvSpPr>
        <p:spPr>
          <a:xfrm>
            <a:off x="10995660" y="3084484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a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563F71-5BC8-E474-76E7-33168AFA739E}"/>
              </a:ext>
            </a:extLst>
          </p:cNvPr>
          <p:cNvSpPr txBox="1"/>
          <p:nvPr/>
        </p:nvSpPr>
        <p:spPr>
          <a:xfrm>
            <a:off x="10989248" y="3062696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a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55249C-708D-5ECF-D62D-B68F3E6CFD5B}"/>
              </a:ext>
            </a:extLst>
          </p:cNvPr>
          <p:cNvSpPr txBox="1"/>
          <p:nvPr/>
        </p:nvSpPr>
        <p:spPr>
          <a:xfrm>
            <a:off x="10920668" y="4891474"/>
            <a:ext cx="58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highlight>
                  <a:srgbClr val="00FF00"/>
                </a:highlight>
              </a:rPr>
              <a:t>b</a:t>
            </a:r>
            <a:endParaRPr lang="zh-CN" altLang="en-US" sz="2800" dirty="0">
              <a:solidFill>
                <a:srgbClr val="FF0000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804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A6E432-B8A9-185F-D22B-AF8B4782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24" y="876582"/>
            <a:ext cx="2964954" cy="31457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8FA7994-7285-3A72-0BD7-7E383514C3F7}"/>
              </a:ext>
            </a:extLst>
          </p:cNvPr>
          <p:cNvSpPr txBox="1"/>
          <p:nvPr/>
        </p:nvSpPr>
        <p:spPr>
          <a:xfrm>
            <a:off x="4206798" y="907122"/>
            <a:ext cx="7446226" cy="375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int i,j,n=10;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for(i=1; i&lt;=n; i++){  //行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for(j=1; </a:t>
            </a:r>
            <a:r>
              <a:rPr lang="zh-CN" altLang="en-US" sz="2000" dirty="0">
                <a:highlight>
                  <a:srgbClr val="00FF00"/>
                </a:highlight>
                <a:latin typeface="Consolas" panose="020B0609020204030204" pitchFamily="49" charset="0"/>
              </a:rPr>
              <a:t>j&lt;=n+n-1</a:t>
            </a:r>
            <a:r>
              <a:rPr lang="zh-CN" altLang="en-US" sz="2000" dirty="0">
                <a:latin typeface="Consolas" panose="020B0609020204030204" pitchFamily="49" charset="0"/>
              </a:rPr>
              <a:t>; j++){ //列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     //输出一个字符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if(i==j||i==n-j+1||</a:t>
            </a:r>
            <a:r>
              <a:rPr lang="zh-CN" altLang="en-US" sz="2000" dirty="0">
                <a:highlight>
                  <a:srgbClr val="00FF00"/>
                </a:highlight>
                <a:latin typeface="Consolas" panose="020B0609020204030204" pitchFamily="49" charset="0"/>
              </a:rPr>
              <a:t>i==j-n+1</a:t>
            </a:r>
            <a:r>
              <a:rPr lang="zh-CN" altLang="en-US" sz="2000" dirty="0">
                <a:latin typeface="Consolas" panose="020B0609020204030204" pitchFamily="49" charset="0"/>
              </a:rPr>
              <a:t>) printf("*");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else printf(" 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      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    printf("\n");</a:t>
            </a:r>
          </a:p>
          <a:p>
            <a:pPr>
              <a:lnSpc>
                <a:spcPct val="120000"/>
              </a:lnSpc>
            </a:pPr>
            <a:r>
              <a:rPr lang="zh-CN" altLang="en-US" sz="2000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632511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24B81E2-13C2-84BA-7C54-42AE1B6F7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09" y="767975"/>
            <a:ext cx="2973990" cy="25238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228D300-E2EA-1383-8B5A-220F19C13B42}"/>
              </a:ext>
            </a:extLst>
          </p:cNvPr>
          <p:cNvSpPr txBox="1"/>
          <p:nvPr/>
        </p:nvSpPr>
        <p:spPr>
          <a:xfrm>
            <a:off x="4775510" y="967243"/>
            <a:ext cx="6094140" cy="36592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int i,j,n=10;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for(i=1; i&lt;=n; i++){  //行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for(j=1; 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j&lt;=n+n-1</a:t>
            </a:r>
            <a:r>
              <a:rPr lang="zh-CN" altLang="en-US" sz="2000" b="1" dirty="0">
                <a:latin typeface="Consolas" panose="020B0609020204030204" pitchFamily="49" charset="0"/>
              </a:rPr>
              <a:t>; j++){ //列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      //输出一个字符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 if(</a:t>
            </a:r>
            <a:r>
              <a:rPr lang="zh-CN" altLang="en-US" sz="2000" b="1" dirty="0">
                <a:highlight>
                  <a:srgbClr val="00FF00"/>
                </a:highlight>
                <a:latin typeface="Consolas" panose="020B0609020204030204" pitchFamily="49" charset="0"/>
              </a:rPr>
              <a:t>j&gt;=n-i+1&amp;&amp;j&lt;=i+n-1</a:t>
            </a:r>
            <a:r>
              <a:rPr lang="zh-CN" altLang="en-US" sz="2000" b="1" dirty="0">
                <a:latin typeface="Consolas" panose="020B0609020204030204" pitchFamily="49" charset="0"/>
              </a:rPr>
              <a:t>) printf("*");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	else printf(" ");   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    printf("\n");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1632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A8DF821-DBF5-CADA-D1C3-22EB5636BACB}"/>
              </a:ext>
            </a:extLst>
          </p:cNvPr>
          <p:cNvSpPr txBox="1"/>
          <p:nvPr/>
        </p:nvSpPr>
        <p:spPr>
          <a:xfrm>
            <a:off x="729104" y="791365"/>
            <a:ext cx="3746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Consolas" panose="020B0609020204030204" pitchFamily="49" charset="0"/>
              </a:rPr>
              <a:t>七 用字符填充图形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2E83C1-3AC3-C80A-2120-81C0E87BF0DE}"/>
              </a:ext>
            </a:extLst>
          </p:cNvPr>
          <p:cNvSpPr txBox="1"/>
          <p:nvPr/>
        </p:nvSpPr>
        <p:spPr>
          <a:xfrm>
            <a:off x="614710" y="1585236"/>
            <a:ext cx="4234675" cy="44012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         A</a:t>
            </a:r>
            <a:endParaRPr lang="zh-CN" altLang="en-US" sz="2800" dirty="0">
              <a:latin typeface="Consolas" panose="020B0609020204030204" pitchFamily="49" charset="0"/>
            </a:endParaRPr>
          </a:p>
          <a:p>
            <a:r>
              <a:rPr lang="zh-CN" altLang="en-US" sz="2800" dirty="0">
                <a:latin typeface="Consolas" panose="020B0609020204030204" pitchFamily="49" charset="0"/>
              </a:rPr>
              <a:t>        BCD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  CDEFG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 DEFGHIJ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 EFGHIJKLM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 FGHIJKLMNOP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 GHIJKLMNOPQRS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 HIJKLMNOPQRSTUV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 IJKLMNOPQRSTUVWXY</a:t>
            </a:r>
          </a:p>
          <a:p>
            <a:r>
              <a:rPr lang="zh-CN" altLang="en-US" sz="2800" dirty="0">
                <a:latin typeface="Consolas" panose="020B0609020204030204" pitchFamily="49" charset="0"/>
              </a:rPr>
              <a:t>JKLMNOPQRSTUVWXYZAB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7B5C3D-5186-A90E-4ABD-1AEDE49842D8}"/>
              </a:ext>
            </a:extLst>
          </p:cNvPr>
          <p:cNvSpPr txBox="1"/>
          <p:nvPr/>
        </p:nvSpPr>
        <p:spPr>
          <a:xfrm>
            <a:off x="5181600" y="1751618"/>
            <a:ext cx="238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字母循环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130425-FA6A-DA9A-795B-24443D96F531}"/>
              </a:ext>
            </a:extLst>
          </p:cNvPr>
          <p:cNvSpPr txBox="1"/>
          <p:nvPr/>
        </p:nvSpPr>
        <p:spPr>
          <a:xfrm>
            <a:off x="5181600" y="2274838"/>
            <a:ext cx="6873240" cy="36618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ctype.h</a:t>
            </a:r>
            <a:r>
              <a:rPr lang="en-US" altLang="zh-CN" sz="2000" b="1" dirty="0"/>
              <a:t>&gt;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char nextchar(char c, int n)  //字母循环转换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char c0;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if(isupper(c))	c0='A';  //是否大写字母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if(islower(c)) c0='a';  //是否小写字母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return c;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return (((c-c0)+n)%26+</a:t>
            </a:r>
            <a:r>
              <a:rPr lang="zh-CN" altLang="en-US" sz="2000" b="1" dirty="0">
                <a:highlight>
                  <a:srgbClr val="00FF00"/>
                </a:highlight>
              </a:rPr>
              <a:t>26)%26 </a:t>
            </a:r>
            <a:r>
              <a:rPr lang="zh-CN" altLang="en-US" sz="2000" b="1" dirty="0"/>
              <a:t>+ c0;  //</a:t>
            </a:r>
            <a:r>
              <a:rPr lang="zh-CN" altLang="en-US" sz="2000" b="1" dirty="0">
                <a:highlight>
                  <a:srgbClr val="00FF00"/>
                </a:highlight>
              </a:rPr>
              <a:t>n可以为负</a:t>
            </a:r>
            <a:r>
              <a:rPr lang="zh-CN" altLang="en-US" sz="2000" b="1" dirty="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450520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31C6F55-379F-9590-3FD3-8DC50612178A}"/>
              </a:ext>
            </a:extLst>
          </p:cNvPr>
          <p:cNvSpPr txBox="1"/>
          <p:nvPr/>
        </p:nvSpPr>
        <p:spPr>
          <a:xfrm>
            <a:off x="315022" y="58846"/>
            <a:ext cx="11538723" cy="67403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>
                <a:latin typeface="Consolas" panose="020B0609020204030204" pitchFamily="49" charset="0"/>
              </a:rPr>
              <a:t>int main()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latin typeface="Consolas" panose="020B0609020204030204" pitchFamily="49" charset="0"/>
              </a:rPr>
              <a:t>   </a:t>
            </a:r>
            <a:r>
              <a:rPr lang="zh-CN" altLang="en-US" sz="2400" b="1" dirty="0">
                <a:latin typeface="Consolas" panose="020B0609020204030204" pitchFamily="49" charset="0"/>
              </a:rPr>
              <a:t>int i,j,n=10;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char c='0',d='0';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for(i=1; i&lt;=n; i++){  //行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c=d;     </a:t>
            </a:r>
            <a:r>
              <a:rPr lang="en-US" altLang="zh-CN" sz="2400" b="1" dirty="0">
                <a:latin typeface="Consolas" panose="020B0609020204030204" pitchFamily="49" charset="0"/>
              </a:rPr>
              <a:t>		</a:t>
            </a:r>
            <a:r>
              <a:rPr lang="zh-CN" altLang="en-US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//</a:t>
            </a:r>
            <a:r>
              <a:rPr lang="zh-CN" altLang="en-US" sz="2400" b="1" dirty="0">
                <a:latin typeface="Consolas" panose="020B0609020204030204" pitchFamily="49" charset="0"/>
              </a:rPr>
              <a:t>设置行首字符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latin typeface="Consolas" panose="020B0609020204030204" pitchFamily="49" charset="0"/>
              </a:rPr>
              <a:t>	</a:t>
            </a:r>
            <a:r>
              <a:rPr lang="zh-CN" altLang="en-US" sz="2400" b="1" dirty="0">
                <a:latin typeface="Consolas" panose="020B0609020204030204" pitchFamily="49" charset="0"/>
              </a:rPr>
              <a:t>for(j=1; j&lt;=n+n-1; j++){ //列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    //输出一个字符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    if(j&gt;=n-i+1&amp;&amp;j&lt;=i+n-1){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	  putchar(c); c=nextchar(c,1);}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    else printf(" ");          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 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d=nextchar(d,1);   </a:t>
            </a:r>
            <a:r>
              <a:rPr lang="en-US" altLang="zh-CN" sz="2400" b="1" dirty="0">
                <a:latin typeface="Consolas" panose="020B0609020204030204" pitchFamily="49" charset="0"/>
              </a:rPr>
              <a:t>//</a:t>
            </a:r>
            <a:r>
              <a:rPr lang="zh-CN" altLang="en-US" sz="2400" b="1" dirty="0">
                <a:latin typeface="Consolas" panose="020B0609020204030204" pitchFamily="49" charset="0"/>
              </a:rPr>
              <a:t>下一个行首字符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  printf("\n");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    }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	return 0;</a:t>
            </a:r>
          </a:p>
          <a:p>
            <a:r>
              <a:rPr lang="zh-CN" altLang="en-US" sz="2400" b="1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938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C2E83C1-3AC3-C80A-2120-81C0E87BF0DE}"/>
              </a:ext>
            </a:extLst>
          </p:cNvPr>
          <p:cNvSpPr txBox="1"/>
          <p:nvPr/>
        </p:nvSpPr>
        <p:spPr>
          <a:xfrm>
            <a:off x="614710" y="1585236"/>
            <a:ext cx="4234675" cy="440120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nsolas" panose="020B0609020204030204" pitchFamily="49" charset="0"/>
              </a:rPr>
              <a:t>         0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  123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 23456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 3456789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 456789012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 56789012345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 6789012345678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 789012345678901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 89012345678901234</a:t>
            </a:r>
          </a:p>
          <a:p>
            <a:r>
              <a:rPr lang="en-US" altLang="zh-CN" sz="2800" dirty="0">
                <a:latin typeface="Consolas" panose="020B0609020204030204" pitchFamily="49" charset="0"/>
              </a:rPr>
              <a:t>9012345678901234567</a:t>
            </a:r>
            <a:endParaRPr lang="zh-CN" altLang="en-US" sz="2800" dirty="0"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27B5C3D-5186-A90E-4ABD-1AEDE49842D8}"/>
              </a:ext>
            </a:extLst>
          </p:cNvPr>
          <p:cNvSpPr txBox="1"/>
          <p:nvPr/>
        </p:nvSpPr>
        <p:spPr>
          <a:xfrm>
            <a:off x="5181600" y="1751618"/>
            <a:ext cx="2380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字母循环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130425-FA6A-DA9A-795B-24443D96F531}"/>
              </a:ext>
            </a:extLst>
          </p:cNvPr>
          <p:cNvSpPr txBox="1"/>
          <p:nvPr/>
        </p:nvSpPr>
        <p:spPr>
          <a:xfrm>
            <a:off x="5181600" y="2274838"/>
            <a:ext cx="6873240" cy="326172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ctype.h</a:t>
            </a:r>
            <a:r>
              <a:rPr lang="en-US" altLang="zh-CN" sz="2000" b="1" dirty="0"/>
              <a:t>&gt;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char nextchar(char c, int n)  //数字循环转换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{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char c0;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if(is</a:t>
            </a:r>
            <a:r>
              <a:rPr lang="en-US" altLang="zh-CN" sz="2000" b="1" dirty="0"/>
              <a:t>digit</a:t>
            </a:r>
            <a:r>
              <a:rPr lang="zh-CN" altLang="en-US" sz="2000" b="1" dirty="0"/>
              <a:t>(c))	c0=‘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’;  //是否数字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else return c;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	return (((c-c0)+n)%</a:t>
            </a:r>
            <a:r>
              <a:rPr lang="en-US" altLang="zh-CN" sz="2000" b="1" dirty="0"/>
              <a:t>10</a:t>
            </a:r>
            <a:r>
              <a:rPr lang="zh-CN" altLang="en-US" sz="2000" b="1" dirty="0"/>
              <a:t>+</a:t>
            </a:r>
            <a:r>
              <a:rPr lang="en-US" altLang="zh-CN" sz="2000" b="1" dirty="0">
                <a:highlight>
                  <a:srgbClr val="00FF00"/>
                </a:highlight>
              </a:rPr>
              <a:t>10</a:t>
            </a:r>
            <a:r>
              <a:rPr lang="zh-CN" altLang="en-US" sz="2000" b="1" dirty="0">
                <a:highlight>
                  <a:srgbClr val="00FF00"/>
                </a:highlight>
              </a:rPr>
              <a:t>)%</a:t>
            </a:r>
            <a:r>
              <a:rPr lang="en-US" altLang="zh-CN" sz="2000" b="1" dirty="0">
                <a:highlight>
                  <a:srgbClr val="00FF00"/>
                </a:highlight>
              </a:rPr>
              <a:t>10</a:t>
            </a:r>
            <a:r>
              <a:rPr lang="zh-CN" altLang="en-US" sz="2000" b="1" dirty="0">
                <a:highlight>
                  <a:srgbClr val="00FF00"/>
                </a:highlight>
              </a:rPr>
              <a:t> </a:t>
            </a:r>
            <a:r>
              <a:rPr lang="zh-CN" altLang="en-US" sz="2000" b="1" dirty="0"/>
              <a:t>+ c0;  //</a:t>
            </a:r>
            <a:r>
              <a:rPr lang="zh-CN" altLang="en-US" sz="2000" b="1" dirty="0">
                <a:highlight>
                  <a:srgbClr val="00FF00"/>
                </a:highlight>
              </a:rPr>
              <a:t>n可以为负</a:t>
            </a:r>
            <a:r>
              <a:rPr lang="zh-CN" altLang="en-US" sz="2000" b="1" dirty="0"/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57459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969</Words>
  <Application>Microsoft Office PowerPoint</Application>
  <PresentationFormat>宽屏</PresentationFormat>
  <Paragraphs>144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qing zhou</dc:creator>
  <cp:lastModifiedBy>qing zhou</cp:lastModifiedBy>
  <cp:revision>1</cp:revision>
  <dcterms:created xsi:type="dcterms:W3CDTF">2023-12-25T17:23:38Z</dcterms:created>
  <dcterms:modified xsi:type="dcterms:W3CDTF">2023-12-25T22:28:00Z</dcterms:modified>
</cp:coreProperties>
</file>