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7"/>
  </p:notesMasterIdLst>
  <p:handoutMasterIdLst>
    <p:handoutMasterId r:id="rId28"/>
  </p:handoutMasterIdLst>
  <p:sldIdLst>
    <p:sldId id="265" r:id="rId2"/>
    <p:sldId id="266" r:id="rId3"/>
    <p:sldId id="270" r:id="rId4"/>
    <p:sldId id="271" r:id="rId5"/>
    <p:sldId id="272" r:id="rId6"/>
    <p:sldId id="273" r:id="rId7"/>
    <p:sldId id="267" r:id="rId8"/>
    <p:sldId id="264" r:id="rId9"/>
    <p:sldId id="268" r:id="rId10"/>
    <p:sldId id="269" r:id="rId11"/>
    <p:sldId id="256" r:id="rId12"/>
    <p:sldId id="257" r:id="rId13"/>
    <p:sldId id="258" r:id="rId14"/>
    <p:sldId id="259" r:id="rId15"/>
    <p:sldId id="260" r:id="rId16"/>
    <p:sldId id="261" r:id="rId17"/>
    <p:sldId id="274" r:id="rId18"/>
    <p:sldId id="275" r:id="rId19"/>
    <p:sldId id="276" r:id="rId20"/>
    <p:sldId id="277" r:id="rId21"/>
    <p:sldId id="278" r:id="rId22"/>
    <p:sldId id="281" r:id="rId23"/>
    <p:sldId id="280" r:id="rId24"/>
    <p:sldId id="262" r:id="rId25"/>
    <p:sldId id="263" r:id="rId2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CF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956"/>
    <p:restoredTop sz="94721"/>
  </p:normalViewPr>
  <p:slideViewPr>
    <p:cSldViewPr>
      <p:cViewPr>
        <p:scale>
          <a:sx n="111" d="100"/>
          <a:sy n="111" d="100"/>
        </p:scale>
        <p:origin x="144" y="1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2141" y="-8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427745-1560-49DB-B47F-65718E573065}" type="datetimeFigureOut">
              <a:rPr lang="zh-CN" altLang="en-US" smtClean="0"/>
              <a:t>23/12/27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60B9BF-9609-4FB6-A966-339C6660A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6934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F28A10-1B81-417C-B928-AD35D2B01972}" type="datetimeFigureOut">
              <a:rPr lang="zh-CN" altLang="en-US" smtClean="0"/>
              <a:t>23/12/27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54FC17-DC2F-4259-AC8A-7AF4EFA5E5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954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54FC17-DC2F-4259-AC8A-7AF4EFA5E5C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879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1B56F-57BB-4222-8976-142921A4167B}" type="datetimeFigureOut">
              <a:rPr lang="zh-CN" altLang="en-US" smtClean="0"/>
              <a:t>23/12/27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CF64-99CB-4F19-B406-616A91670C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6294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1B56F-57BB-4222-8976-142921A4167B}" type="datetimeFigureOut">
              <a:rPr lang="zh-CN" altLang="en-US" smtClean="0"/>
              <a:t>23/12/27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CF64-99CB-4F19-B406-616A91670C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332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1B56F-57BB-4222-8976-142921A4167B}" type="datetimeFigureOut">
              <a:rPr lang="zh-CN" altLang="en-US" smtClean="0"/>
              <a:t>23/12/27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CF64-99CB-4F19-B406-616A91670C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060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1B56F-57BB-4222-8976-142921A4167B}" type="datetimeFigureOut">
              <a:rPr lang="zh-CN" altLang="en-US" smtClean="0"/>
              <a:t>23/12/27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CF64-99CB-4F19-B406-616A91670C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022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1B56F-57BB-4222-8976-142921A4167B}" type="datetimeFigureOut">
              <a:rPr lang="zh-CN" altLang="en-US" smtClean="0"/>
              <a:t>23/12/27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CF64-99CB-4F19-B406-616A91670C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406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1B56F-57BB-4222-8976-142921A4167B}" type="datetimeFigureOut">
              <a:rPr lang="zh-CN" altLang="en-US" smtClean="0"/>
              <a:t>23/12/27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CF64-99CB-4F19-B406-616A91670C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05962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1B56F-57BB-4222-8976-142921A4167B}" type="datetimeFigureOut">
              <a:rPr lang="zh-CN" altLang="en-US" smtClean="0"/>
              <a:t>23/12/27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CF64-99CB-4F19-B406-616A91670C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45407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1B56F-57BB-4222-8976-142921A4167B}" type="datetimeFigureOut">
              <a:rPr lang="zh-CN" altLang="en-US" smtClean="0"/>
              <a:t>23/12/27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CF64-99CB-4F19-B406-616A91670C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8725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1B56F-57BB-4222-8976-142921A4167B}" type="datetimeFigureOut">
              <a:rPr lang="zh-CN" altLang="en-US" smtClean="0"/>
              <a:t>23/12/27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CF64-99CB-4F19-B406-616A91670C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3096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1B56F-57BB-4222-8976-142921A4167B}" type="datetimeFigureOut">
              <a:rPr lang="zh-CN" altLang="en-US" smtClean="0"/>
              <a:t>23/12/27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CF64-99CB-4F19-B406-616A91670C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3827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1B56F-57BB-4222-8976-142921A4167B}" type="datetimeFigureOut">
              <a:rPr lang="zh-CN" altLang="en-US" smtClean="0"/>
              <a:t>23/12/27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CF64-99CB-4F19-B406-616A91670C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3451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1B56F-57BB-4222-8976-142921A4167B}" type="datetimeFigureOut">
              <a:rPr lang="zh-CN" altLang="en-US" smtClean="0"/>
              <a:t>23/12/27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8BCF64-99CB-4F19-B406-616A91670C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9200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字符串定义</a:t>
            </a:r>
            <a:endParaRPr kumimoji="1"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27584" y="1312367"/>
            <a:ext cx="531106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smtClean="0">
                <a:latin typeface="Consolas" charset="0"/>
                <a:ea typeface="宋体" charset="-122"/>
              </a:rPr>
              <a:t>#include &lt;</a:t>
            </a:r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stdio.h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&gt;</a:t>
            </a:r>
          </a:p>
          <a:p>
            <a:r>
              <a:rPr kumimoji="1" lang="en-US" altLang="zh-CN" sz="2800" dirty="0" smtClean="0">
                <a:latin typeface="Consolas" charset="0"/>
                <a:ea typeface="宋体" charset="-122"/>
              </a:rPr>
              <a:t>char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 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s[20]={"Hello"},*p=s;</a:t>
            </a:r>
          </a:p>
          <a:p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len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 = </a:t>
            </a:r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strlen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(s);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872132"/>
              </p:ext>
            </p:extLst>
          </p:nvPr>
        </p:nvGraphicFramePr>
        <p:xfrm>
          <a:off x="1259632" y="3485232"/>
          <a:ext cx="5400598" cy="663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514"/>
                <a:gridCol w="771514"/>
                <a:gridCol w="771514"/>
                <a:gridCol w="771514"/>
                <a:gridCol w="771514"/>
                <a:gridCol w="771514"/>
                <a:gridCol w="771514"/>
              </a:tblGrid>
              <a:tr h="6638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/>
                        <a:t>H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e</a:t>
                      </a:r>
                      <a:endParaRPr lang="zh-CN" altLang="en-US" sz="2800" u="none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>
                          <a:latin typeface="+mn-lt"/>
                          <a:ea typeface="+mj-ea"/>
                        </a:rPr>
                        <a:t>l</a:t>
                      </a:r>
                      <a:endParaRPr lang="zh-CN" altLang="en-US" sz="2800" u="none" baseline="0" dirty="0">
                        <a:latin typeface="+mn-lt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>
                          <a:latin typeface="+mn-lt"/>
                        </a:rPr>
                        <a:t>l</a:t>
                      </a:r>
                      <a:endParaRPr lang="zh-CN" altLang="en-US" sz="2800" u="none" baseline="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o</a:t>
                      </a:r>
                      <a:endParaRPr lang="zh-CN" altLang="en-US" sz="2800" u="none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>
                          <a:latin typeface="+mn-lt"/>
                        </a:rPr>
                        <a:t>\0</a:t>
                      </a:r>
                      <a:endParaRPr lang="zh-CN" altLang="en-US" sz="2800" u="none" baseline="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>
                          <a:latin typeface="+mn-lt"/>
                          <a:ea typeface="宋体" pitchFamily="2" charset="-122"/>
                        </a:rPr>
                        <a:t>xx</a:t>
                      </a:r>
                      <a:endParaRPr lang="zh-CN" altLang="en-US" sz="2800" u="none" baseline="0" dirty="0">
                        <a:latin typeface="+mn-lt"/>
                        <a:ea typeface="宋体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043606" y="290916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s</a:t>
            </a:r>
            <a:r>
              <a:rPr kumimoji="1" lang="en-US" altLang="zh-CN" sz="2800" dirty="0" smtClean="0"/>
              <a:t>[0]</a:t>
            </a:r>
            <a:endParaRPr kumimoji="1" lang="zh-CN" altLang="en-US" sz="2800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4257700" y="27319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smtClean="0"/>
              <a:t>s[len-1]</a:t>
            </a:r>
            <a:endParaRPr kumimoji="1" lang="zh-CN" altLang="en-US" sz="2800" dirty="0" smtClean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250509"/>
              </p:ext>
            </p:extLst>
          </p:nvPr>
        </p:nvGraphicFramePr>
        <p:xfrm>
          <a:off x="1259634" y="5069408"/>
          <a:ext cx="5400598" cy="663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514"/>
                <a:gridCol w="771514"/>
                <a:gridCol w="771514"/>
                <a:gridCol w="771514"/>
                <a:gridCol w="771514"/>
                <a:gridCol w="771514"/>
                <a:gridCol w="771514"/>
              </a:tblGrid>
              <a:tr h="6638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/>
                        <a:t>H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e</a:t>
                      </a:r>
                      <a:endParaRPr lang="zh-CN" altLang="en-US" sz="2800" u="none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>
                          <a:latin typeface="+mn-lt"/>
                          <a:ea typeface="+mj-ea"/>
                        </a:rPr>
                        <a:t>l</a:t>
                      </a:r>
                      <a:endParaRPr lang="zh-CN" altLang="en-US" sz="2800" u="none" baseline="0" dirty="0">
                        <a:latin typeface="+mn-lt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>
                          <a:latin typeface="+mn-lt"/>
                        </a:rPr>
                        <a:t>l</a:t>
                      </a:r>
                      <a:endParaRPr lang="zh-CN" altLang="en-US" sz="2800" u="none" baseline="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o</a:t>
                      </a:r>
                      <a:endParaRPr lang="zh-CN" altLang="en-US" sz="2800" u="none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>
                          <a:latin typeface="+mn-lt"/>
                        </a:rPr>
                        <a:t>\0</a:t>
                      </a:r>
                      <a:endParaRPr lang="zh-CN" altLang="en-US" sz="2800" u="none" baseline="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>
                          <a:latin typeface="+mn-lt"/>
                          <a:ea typeface="宋体" pitchFamily="2" charset="-122"/>
                        </a:rPr>
                        <a:t>xx</a:t>
                      </a:r>
                      <a:endParaRPr lang="zh-CN" altLang="en-US" sz="2800" u="none" baseline="0" dirty="0">
                        <a:latin typeface="+mn-lt"/>
                        <a:ea typeface="宋体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043608" y="449334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p</a:t>
            </a:r>
            <a:endParaRPr kumimoji="1" lang="zh-CN" altLang="en-US" sz="2800" dirty="0" smtClean="0"/>
          </a:p>
        </p:txBody>
      </p:sp>
      <p:sp>
        <p:nvSpPr>
          <p:cNvPr id="10" name="文本框 9"/>
          <p:cNvSpPr txBox="1"/>
          <p:nvPr/>
        </p:nvSpPr>
        <p:spPr>
          <a:xfrm>
            <a:off x="2047558" y="4489956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smtClean="0"/>
              <a:t>p+1</a:t>
            </a:r>
            <a:endParaRPr kumimoji="1" lang="zh-CN" altLang="en-US" sz="2800" dirty="0" smtClean="0"/>
          </a:p>
        </p:txBody>
      </p:sp>
      <p:sp>
        <p:nvSpPr>
          <p:cNvPr id="11" name="文本框 10"/>
          <p:cNvSpPr txBox="1"/>
          <p:nvPr/>
        </p:nvSpPr>
        <p:spPr>
          <a:xfrm>
            <a:off x="5913396" y="2606190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smtClean="0"/>
              <a:t>s[</a:t>
            </a:r>
            <a:r>
              <a:rPr kumimoji="1" lang="en-US" altLang="zh-CN" sz="2800" dirty="0" err="1" smtClean="0"/>
              <a:t>len</a:t>
            </a:r>
            <a:r>
              <a:rPr kumimoji="1" lang="en-US" altLang="zh-CN" sz="2800" dirty="0" smtClean="0"/>
              <a:t>]</a:t>
            </a:r>
            <a:endParaRPr kumimoji="1" lang="zh-CN" altLang="en-US" sz="2800" dirty="0" smtClean="0"/>
          </a:p>
        </p:txBody>
      </p:sp>
      <p:sp>
        <p:nvSpPr>
          <p:cNvPr id="12" name="文本框 11"/>
          <p:cNvSpPr txBox="1"/>
          <p:nvPr/>
        </p:nvSpPr>
        <p:spPr>
          <a:xfrm>
            <a:off x="1043608" y="564208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s</a:t>
            </a:r>
            <a:endParaRPr kumimoji="1" lang="zh-CN" altLang="en-US" sz="2800" dirty="0" smtClean="0"/>
          </a:p>
        </p:txBody>
      </p:sp>
      <p:sp>
        <p:nvSpPr>
          <p:cNvPr id="13" name="文本框 12"/>
          <p:cNvSpPr txBox="1"/>
          <p:nvPr/>
        </p:nvSpPr>
        <p:spPr>
          <a:xfrm>
            <a:off x="2047558" y="5642084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s</a:t>
            </a:r>
            <a:r>
              <a:rPr kumimoji="1" lang="en-US" altLang="zh-CN" sz="2800" smtClean="0"/>
              <a:t>+1</a:t>
            </a:r>
            <a:endParaRPr kumimoji="1" lang="zh-CN" altLang="en-US" sz="2800" dirty="0" smtClean="0"/>
          </a:p>
        </p:txBody>
      </p:sp>
      <p:cxnSp>
        <p:nvCxnSpPr>
          <p:cNvPr id="15" name="直线箭头连接符 14"/>
          <p:cNvCxnSpPr/>
          <p:nvPr/>
        </p:nvCxnSpPr>
        <p:spPr>
          <a:xfrm flipH="1">
            <a:off x="4775868" y="3241092"/>
            <a:ext cx="297915" cy="26161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/>
          <p:cNvCxnSpPr/>
          <p:nvPr/>
        </p:nvCxnSpPr>
        <p:spPr>
          <a:xfrm flipH="1">
            <a:off x="5688139" y="3106234"/>
            <a:ext cx="450514" cy="360887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4058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简单遍历字符串</a:t>
            </a:r>
            <a:endParaRPr kumimoji="1"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043608" y="1556792"/>
            <a:ext cx="5705408" cy="95410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int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 </a:t>
            </a:r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i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=0;</a:t>
            </a:r>
          </a:p>
          <a:p>
            <a:r>
              <a:rPr kumimoji="1" lang="en-US" altLang="zh-CN" sz="2800" dirty="0" smtClean="0">
                <a:latin typeface="Consolas" charset="0"/>
                <a:ea typeface="宋体" charset="-122"/>
              </a:rPr>
              <a:t>while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(s[</a:t>
            </a:r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i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]) </a:t>
            </a:r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putchar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(s[</a:t>
            </a:r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i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++]);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71877" y="2780928"/>
            <a:ext cx="7085594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sz="2800" dirty="0" smtClean="0">
                <a:latin typeface="Consolas" charset="0"/>
                <a:ea typeface="宋体" charset="-122"/>
              </a:rPr>
              <a:t>for(</a:t>
            </a:r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i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=0; </a:t>
            </a:r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i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&lt;</a:t>
            </a:r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len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; </a:t>
            </a:r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i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++) </a:t>
            </a:r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putchar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(s[</a:t>
            </a:r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i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]);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43608" y="3573016"/>
            <a:ext cx="4916731" cy="95410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sz="2800" smtClean="0">
                <a:latin typeface="Consolas" charset="0"/>
                <a:ea typeface="宋体" charset="-122"/>
              </a:rPr>
              <a:t>p=s;</a:t>
            </a:r>
          </a:p>
          <a:p>
            <a:r>
              <a:rPr kumimoji="1" lang="en-US" altLang="zh-CN" sz="2800" dirty="0" smtClean="0">
                <a:latin typeface="Consolas" charset="0"/>
                <a:ea typeface="宋体" charset="-122"/>
              </a:rPr>
              <a:t>while(*p) </a:t>
            </a:r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putchar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(*p++);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9478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32138" y="291491"/>
            <a:ext cx="1827423" cy="585418"/>
          </a:xfrm>
          <a:prstGeom prst="rect">
            <a:avLst/>
          </a:prstGeom>
          <a:noFill/>
          <a:ln w="38100">
            <a:noFill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>
              <a:defRPr/>
            </a:pPr>
            <a:r>
              <a:rPr kumimoji="1" lang="zh-CN" altLang="en-US" sz="3200" b="1" dirty="0"/>
              <a:t>搜索子串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60438" y="1143000"/>
            <a:ext cx="8247062" cy="461963"/>
          </a:xfrm>
          <a:prstGeom prst="rect">
            <a:avLst/>
          </a:prstGeom>
          <a:noFill/>
          <a:ln w="38100">
            <a:noFill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>
              <a:defRPr/>
            </a:pPr>
            <a:r>
              <a:rPr kumimoji="1" lang="zh-CN" altLang="en-US" sz="2400" dirty="0"/>
              <a:t>输入字符串</a:t>
            </a:r>
            <a:r>
              <a:rPr kumimoji="1" lang="en-US" altLang="zh-CN" sz="2400" dirty="0"/>
              <a:t>s</a:t>
            </a:r>
            <a:r>
              <a:rPr kumimoji="1" lang="zh-CN" altLang="en-US" sz="2400" dirty="0"/>
              <a:t>和</a:t>
            </a:r>
            <a:r>
              <a:rPr kumimoji="1" lang="en-US" altLang="zh-CN" sz="2400" dirty="0"/>
              <a:t>t</a:t>
            </a:r>
            <a:r>
              <a:rPr kumimoji="1" lang="zh-CN" altLang="en-US" sz="2400" dirty="0"/>
              <a:t>，在字符串</a:t>
            </a:r>
            <a:r>
              <a:rPr kumimoji="1" lang="en-US" altLang="zh-CN" sz="2400" dirty="0"/>
              <a:t>s</a:t>
            </a:r>
            <a:r>
              <a:rPr kumimoji="1" lang="zh-CN" altLang="en-US" sz="2400" dirty="0"/>
              <a:t>中搜索子串</a:t>
            </a:r>
            <a:r>
              <a:rPr kumimoji="1" lang="en-US" altLang="zh-CN" sz="2400" dirty="0"/>
              <a:t>t</a:t>
            </a:r>
            <a:r>
              <a:rPr kumimoji="1" lang="zh-CN" altLang="en-US" sz="2400" dirty="0"/>
              <a:t>首次出现的位置。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4412" y="1019171"/>
            <a:ext cx="698909" cy="708528"/>
          </a:xfrm>
          <a:prstGeom prst="rect">
            <a:avLst/>
          </a:prstGeom>
          <a:noFill/>
          <a:ln w="38100">
            <a:noFill/>
            <a:round/>
            <a:headEnd/>
            <a:tailEnd/>
          </a:ln>
          <a:effectLst/>
          <a:scene3d>
            <a:camera prst="orthographicFront">
              <a:rot lat="900000" lon="0" rev="120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>
              <a:defRPr/>
            </a:pPr>
            <a:r>
              <a:rPr kumimoji="1" lang="zh-CN" altLang="en-US" sz="4000">
                <a:solidFill>
                  <a:srgbClr val="CC0000"/>
                </a:solidFill>
              </a:rPr>
              <a:t>例</a:t>
            </a:r>
            <a:endParaRPr kumimoji="1" lang="zh-CN" altLang="en-US" sz="4000" dirty="0">
              <a:solidFill>
                <a:srgbClr val="CC0000"/>
              </a:solidFill>
            </a:endParaRPr>
          </a:p>
        </p:txBody>
      </p:sp>
      <p:sp>
        <p:nvSpPr>
          <p:cNvPr id="55300" name="矩形 4"/>
          <p:cNvSpPr>
            <a:spLocks noChangeArrowheads="1"/>
          </p:cNvSpPr>
          <p:nvPr/>
        </p:nvSpPr>
        <p:spPr bwMode="auto">
          <a:xfrm>
            <a:off x="596900" y="1989138"/>
            <a:ext cx="6927850" cy="4032250"/>
          </a:xfrm>
          <a:prstGeom prst="rect">
            <a:avLst/>
          </a:prstGeom>
          <a:noFill/>
          <a:ln w="38100">
            <a:solidFill>
              <a:srgbClr val="822216"/>
            </a:solidFill>
            <a:round/>
            <a:headEnd/>
            <a:tailEnd/>
          </a:ln>
          <a:effectLst>
            <a:outerShdw dist="35921" sx="999" sy="999" kx="2115321" algn="bl" rotWithShape="0">
              <a:srgbClr val="C0C0C0"/>
            </a:outerShdw>
          </a:effectLst>
        </p:spPr>
        <p:txBody>
          <a:bodyPr wrap="none"/>
          <a:lstStyle>
            <a:lvl1pPr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lent=</a:t>
            </a:r>
            <a:r>
              <a:rPr lang="en-US" altLang="zh-CN" sz="2000" dirty="0" err="1"/>
              <a:t>strlen</a:t>
            </a:r>
            <a:r>
              <a:rPr lang="en-US" altLang="zh-CN" sz="2000" dirty="0"/>
              <a:t>(t)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for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=0 to lens-lent</a:t>
            </a:r>
            <a:r>
              <a:rPr lang="zh-CN" altLang="en-US" sz="2000" dirty="0"/>
              <a:t>    </a:t>
            </a:r>
            <a:r>
              <a:rPr lang="en-US" altLang="zh-CN" sz="2000" dirty="0"/>
              <a:t>  // </a:t>
            </a:r>
            <a:r>
              <a:rPr lang="zh-CN" altLang="en-US" sz="2000" dirty="0"/>
              <a:t>假设</a:t>
            </a:r>
            <a:r>
              <a:rPr lang="en-US" altLang="zh-CN" sz="2000" dirty="0"/>
              <a:t>t</a:t>
            </a:r>
            <a:r>
              <a:rPr lang="zh-CN" altLang="en-US" sz="2000" dirty="0"/>
              <a:t>在</a:t>
            </a:r>
            <a:r>
              <a:rPr lang="en-US" altLang="zh-CN" sz="2000" dirty="0"/>
              <a:t>s</a:t>
            </a:r>
            <a:r>
              <a:rPr lang="zh-CN" altLang="en-US" sz="2000" dirty="0"/>
              <a:t>中</a:t>
            </a:r>
            <a:r>
              <a:rPr lang="en-US" altLang="zh-CN" sz="2000" dirty="0" err="1"/>
              <a:t>i</a:t>
            </a:r>
            <a:r>
              <a:rPr lang="zh-CN" altLang="en-US" sz="2000" dirty="0"/>
              <a:t>位置出现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	n=0;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        while(</a:t>
            </a:r>
            <a:r>
              <a:rPr lang="zh-CN" altLang="en-US" sz="2000" dirty="0"/>
              <a:t> </a:t>
            </a:r>
            <a:r>
              <a:rPr lang="en-US" altLang="zh-CN" sz="2000" dirty="0"/>
              <a:t>t[n]</a:t>
            </a:r>
            <a:r>
              <a:rPr lang="zh-CN" altLang="en-US" sz="2000" dirty="0"/>
              <a:t>  </a:t>
            </a:r>
            <a:r>
              <a:rPr lang="en-US" altLang="zh-CN" sz="2000" dirty="0"/>
              <a:t>&amp;&amp;</a:t>
            </a:r>
            <a:r>
              <a:rPr lang="zh-CN" altLang="en-US" sz="2000" dirty="0"/>
              <a:t>   </a:t>
            </a:r>
            <a:r>
              <a:rPr lang="en-US" altLang="zh-CN" sz="2000" dirty="0"/>
              <a:t>s[</a:t>
            </a:r>
            <a:r>
              <a:rPr lang="en-US" altLang="zh-CN" sz="2000" dirty="0" err="1"/>
              <a:t>i+n</a:t>
            </a:r>
            <a:r>
              <a:rPr lang="en-US" altLang="zh-CN" sz="2000" dirty="0"/>
              <a:t>]==t[n]) </a:t>
            </a:r>
            <a:r>
              <a:rPr lang="zh-CN" altLang="en-US" sz="2000" dirty="0"/>
              <a:t>   </a:t>
            </a:r>
            <a:r>
              <a:rPr lang="en-US" altLang="zh-CN" sz="2000" dirty="0"/>
              <a:t>n++;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                  T                              n==lent?                                  F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                      </a:t>
            </a:r>
            <a:r>
              <a:rPr lang="zh-CN" altLang="en-US" sz="2000" dirty="0"/>
              <a:t>打印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                         continue</a:t>
            </a:r>
          </a:p>
          <a:p>
            <a:r>
              <a:rPr lang="en-US" altLang="zh-CN" sz="2000" dirty="0"/>
              <a:t>                     </a:t>
            </a:r>
            <a:r>
              <a:rPr lang="zh-CN" altLang="en-US" sz="2000" dirty="0"/>
              <a:t> </a:t>
            </a:r>
            <a:r>
              <a:rPr lang="en-US" altLang="zh-CN" sz="2000" dirty="0"/>
              <a:t>return</a:t>
            </a:r>
            <a:r>
              <a:rPr lang="zh-CN" altLang="en-US" sz="2000" dirty="0"/>
              <a:t> </a:t>
            </a:r>
            <a:r>
              <a:rPr lang="en-US" altLang="zh-CN" sz="2000" dirty="0"/>
              <a:t>0</a:t>
            </a:r>
          </a:p>
        </p:txBody>
      </p:sp>
      <p:sp>
        <p:nvSpPr>
          <p:cNvPr id="55301" name="矩形 5"/>
          <p:cNvSpPr>
            <a:spLocks noChangeArrowheads="1"/>
          </p:cNvSpPr>
          <p:nvPr/>
        </p:nvSpPr>
        <p:spPr bwMode="auto">
          <a:xfrm>
            <a:off x="596900" y="1989138"/>
            <a:ext cx="6927850" cy="1055687"/>
          </a:xfrm>
          <a:prstGeom prst="rect">
            <a:avLst/>
          </a:prstGeom>
          <a:noFill/>
          <a:ln w="38100">
            <a:solidFill>
              <a:srgbClr val="822216"/>
            </a:solidFill>
            <a:round/>
            <a:headEnd/>
            <a:tailEnd/>
          </a:ln>
          <a:effectLst>
            <a:outerShdw dist="35921" sx="999" sy="999" kx="2115321" algn="bl" rotWithShape="0">
              <a:srgbClr val="C0C0C0"/>
            </a:outerShdw>
          </a:effectLst>
        </p:spPr>
        <p:txBody>
          <a:bodyPr wrap="none"/>
          <a:lstStyle>
            <a:lvl1pPr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r>
              <a:rPr lang="zh-CN" altLang="en-US" sz="2000" dirty="0"/>
              <a:t>输入字符串</a:t>
            </a:r>
            <a:r>
              <a:rPr lang="en-US" altLang="zh-CN" sz="2000" dirty="0"/>
              <a:t>s</a:t>
            </a:r>
            <a:r>
              <a:rPr lang="zh-CN" altLang="en-US" sz="2000" dirty="0"/>
              <a:t>和</a:t>
            </a:r>
            <a:r>
              <a:rPr lang="en-US" altLang="zh-CN" sz="2000" dirty="0"/>
              <a:t>t</a:t>
            </a:r>
          </a:p>
          <a:p>
            <a:r>
              <a:rPr lang="en-US" altLang="zh-CN" sz="2000" dirty="0"/>
              <a:t>lens=</a:t>
            </a:r>
            <a:r>
              <a:rPr lang="en-US" altLang="zh-CN" sz="2000" dirty="0" err="1"/>
              <a:t>strlen</a:t>
            </a:r>
            <a:r>
              <a:rPr lang="en-US" altLang="zh-CN" sz="2000" dirty="0"/>
              <a:t>(s) </a:t>
            </a:r>
            <a:endParaRPr lang="zh-CN" altLang="en-US" sz="2000" dirty="0"/>
          </a:p>
        </p:txBody>
      </p:sp>
      <p:sp>
        <p:nvSpPr>
          <p:cNvPr id="55302" name="矩形 7"/>
          <p:cNvSpPr>
            <a:spLocks noChangeArrowheads="1"/>
          </p:cNvSpPr>
          <p:nvPr/>
        </p:nvSpPr>
        <p:spPr bwMode="auto">
          <a:xfrm>
            <a:off x="1162050" y="3833813"/>
            <a:ext cx="6059488" cy="2187575"/>
          </a:xfrm>
          <a:prstGeom prst="rect">
            <a:avLst/>
          </a:prstGeom>
          <a:noFill/>
          <a:ln w="38100">
            <a:solidFill>
              <a:srgbClr val="822216"/>
            </a:solidFill>
            <a:round/>
            <a:headEnd/>
            <a:tailEnd/>
          </a:ln>
          <a:effectLst>
            <a:outerShdw dist="35921" sx="999" sy="999" kx="2115321" algn="bl" rotWithShape="0">
              <a:srgbClr val="C0C0C0"/>
            </a:outerShdw>
          </a:effectLst>
        </p:spPr>
        <p:txBody>
          <a:bodyPr wrap="none"/>
          <a:lstStyle>
            <a:lvl1pPr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 algn="ctr"/>
            <a:endParaRPr lang="zh-CN" altLang="en-US" sz="2000"/>
          </a:p>
        </p:txBody>
      </p:sp>
      <p:cxnSp>
        <p:nvCxnSpPr>
          <p:cNvPr id="55303" name="直线连接符 10"/>
          <p:cNvCxnSpPr>
            <a:cxnSpLocks noChangeShapeType="1"/>
          </p:cNvCxnSpPr>
          <p:nvPr/>
        </p:nvCxnSpPr>
        <p:spPr bwMode="auto">
          <a:xfrm>
            <a:off x="1162050" y="4841875"/>
            <a:ext cx="6059488" cy="0"/>
          </a:xfrm>
          <a:prstGeom prst="line">
            <a:avLst/>
          </a:prstGeom>
          <a:noFill/>
          <a:ln w="38100">
            <a:solidFill>
              <a:srgbClr val="822216"/>
            </a:solidFill>
            <a:round/>
            <a:headEnd/>
            <a:tailEnd/>
          </a:ln>
          <a:effectLst>
            <a:outerShdw dist="35921" sx="999" sy="999" kx="2115321" algn="bl" rotWithShape="0">
              <a:srgbClr val="C0C0C0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直线连接符 13"/>
          <p:cNvCxnSpPr/>
          <p:nvPr/>
        </p:nvCxnSpPr>
        <p:spPr bwMode="auto">
          <a:xfrm>
            <a:off x="1162050" y="4424363"/>
            <a:ext cx="3030538" cy="417512"/>
          </a:xfrm>
          <a:prstGeom prst="line">
            <a:avLst/>
          </a:prstGeom>
          <a:ln w="38100">
            <a:solidFill>
              <a:srgbClr val="82221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05" name="直线连接符 15"/>
          <p:cNvCxnSpPr>
            <a:cxnSpLocks noChangeShapeType="1"/>
          </p:cNvCxnSpPr>
          <p:nvPr/>
        </p:nvCxnSpPr>
        <p:spPr bwMode="auto">
          <a:xfrm flipV="1">
            <a:off x="4167188" y="4424363"/>
            <a:ext cx="3054350" cy="417512"/>
          </a:xfrm>
          <a:prstGeom prst="line">
            <a:avLst/>
          </a:prstGeom>
          <a:noFill/>
          <a:ln w="38100">
            <a:solidFill>
              <a:srgbClr val="822216"/>
            </a:solidFill>
            <a:round/>
            <a:headEnd/>
            <a:tailEnd/>
          </a:ln>
          <a:effectLst>
            <a:outerShdw dist="35921" sx="999" sy="999" kx="2115321" algn="bl" rotWithShape="0">
              <a:srgbClr val="C0C0C0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06" name="直线连接符 19"/>
          <p:cNvCxnSpPr>
            <a:cxnSpLocks noChangeShapeType="1"/>
          </p:cNvCxnSpPr>
          <p:nvPr/>
        </p:nvCxnSpPr>
        <p:spPr bwMode="auto">
          <a:xfrm>
            <a:off x="4167188" y="4841875"/>
            <a:ext cx="0" cy="1179513"/>
          </a:xfrm>
          <a:prstGeom prst="line">
            <a:avLst/>
          </a:prstGeom>
          <a:noFill/>
          <a:ln w="38100">
            <a:solidFill>
              <a:srgbClr val="822216"/>
            </a:solidFill>
            <a:round/>
            <a:headEnd/>
            <a:tailEnd/>
          </a:ln>
          <a:effectLst>
            <a:outerShdw dist="35921" sx="999" sy="999" kx="2115321" algn="bl" rotWithShape="0">
              <a:srgbClr val="C0C0C0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5307" name="矩形 22"/>
          <p:cNvSpPr>
            <a:spLocks noChangeArrowheads="1"/>
          </p:cNvSpPr>
          <p:nvPr/>
        </p:nvSpPr>
        <p:spPr bwMode="auto">
          <a:xfrm>
            <a:off x="1892300" y="3933825"/>
            <a:ext cx="649288" cy="358775"/>
          </a:xfrm>
          <a:prstGeom prst="rect">
            <a:avLst/>
          </a:prstGeom>
          <a:noFill/>
          <a:ln w="25400">
            <a:solidFill>
              <a:srgbClr val="92D050"/>
            </a:solidFill>
            <a:round/>
            <a:headEnd/>
            <a:tailEnd/>
          </a:ln>
          <a:effectLst>
            <a:outerShdw dist="35921" sx="999" sy="999" kx="2115321" algn="bl" rotWithShape="0">
              <a:srgbClr val="C0C0C0"/>
            </a:outerShdw>
          </a:effectLst>
        </p:spPr>
        <p:txBody>
          <a:bodyPr wrap="none"/>
          <a:lstStyle>
            <a:lvl1pPr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 algn="ctr"/>
            <a:endParaRPr lang="zh-CN" altLang="en-US" sz="2000"/>
          </a:p>
        </p:txBody>
      </p:sp>
      <p:sp>
        <p:nvSpPr>
          <p:cNvPr id="55308" name="矩形 23"/>
          <p:cNvSpPr>
            <a:spLocks noChangeArrowheads="1"/>
          </p:cNvSpPr>
          <p:nvPr/>
        </p:nvSpPr>
        <p:spPr bwMode="auto">
          <a:xfrm>
            <a:off x="3117850" y="3906838"/>
            <a:ext cx="1727200" cy="458787"/>
          </a:xfrm>
          <a:prstGeom prst="rect">
            <a:avLst/>
          </a:prstGeom>
          <a:noFill/>
          <a:ln w="25400">
            <a:solidFill>
              <a:srgbClr val="CCFFCC"/>
            </a:solidFill>
            <a:round/>
            <a:headEnd/>
            <a:tailEnd/>
          </a:ln>
          <a:effectLst>
            <a:outerShdw dist="35921" sx="999" sy="999" kx="2115321" algn="bl" rotWithShape="0">
              <a:srgbClr val="C0C0C0"/>
            </a:outerShdw>
          </a:effectLst>
        </p:spPr>
        <p:txBody>
          <a:bodyPr wrap="none"/>
          <a:lstStyle>
            <a:lvl1pPr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 algn="ctr"/>
            <a:endParaRPr lang="zh-CN" altLang="en-US" sz="2000"/>
          </a:p>
        </p:txBody>
      </p:sp>
      <p:cxnSp>
        <p:nvCxnSpPr>
          <p:cNvPr id="55309" name="直线连接符 28"/>
          <p:cNvCxnSpPr>
            <a:cxnSpLocks noChangeShapeType="1"/>
          </p:cNvCxnSpPr>
          <p:nvPr/>
        </p:nvCxnSpPr>
        <p:spPr bwMode="auto">
          <a:xfrm>
            <a:off x="1187450" y="3429000"/>
            <a:ext cx="6337300" cy="0"/>
          </a:xfrm>
          <a:prstGeom prst="line">
            <a:avLst/>
          </a:prstGeom>
          <a:noFill/>
          <a:ln w="38100">
            <a:solidFill>
              <a:srgbClr val="822216"/>
            </a:solidFill>
            <a:round/>
            <a:headEnd/>
            <a:tailEnd/>
          </a:ln>
          <a:effectLst>
            <a:outerShdw dist="35921" sx="999" sy="999" kx="2115321" algn="bl" rotWithShape="0">
              <a:srgbClr val="C0C0C0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10" name="直线连接符 30"/>
          <p:cNvCxnSpPr>
            <a:cxnSpLocks noChangeShapeType="1"/>
          </p:cNvCxnSpPr>
          <p:nvPr/>
        </p:nvCxnSpPr>
        <p:spPr bwMode="auto">
          <a:xfrm>
            <a:off x="1162050" y="3429000"/>
            <a:ext cx="0" cy="404813"/>
          </a:xfrm>
          <a:prstGeom prst="line">
            <a:avLst/>
          </a:prstGeom>
          <a:noFill/>
          <a:ln w="38100">
            <a:solidFill>
              <a:srgbClr val="822216"/>
            </a:solidFill>
            <a:round/>
            <a:headEnd/>
            <a:tailEnd/>
          </a:ln>
          <a:effectLst>
            <a:outerShdw dist="35921" sx="999" sy="999" kx="2115321" algn="bl" rotWithShape="0">
              <a:srgbClr val="C0C0C0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11" name="直线连接符 9"/>
          <p:cNvCxnSpPr>
            <a:cxnSpLocks noChangeShapeType="1"/>
          </p:cNvCxnSpPr>
          <p:nvPr/>
        </p:nvCxnSpPr>
        <p:spPr bwMode="auto">
          <a:xfrm flipH="1" flipV="1">
            <a:off x="1162050" y="4410075"/>
            <a:ext cx="658813" cy="14288"/>
          </a:xfrm>
          <a:prstGeom prst="line">
            <a:avLst/>
          </a:prstGeom>
          <a:noFill/>
          <a:ln w="38100">
            <a:solidFill>
              <a:srgbClr val="822216"/>
            </a:solidFill>
            <a:round/>
            <a:headEnd/>
            <a:tailEnd/>
          </a:ln>
          <a:effectLst>
            <a:outerShdw dist="35921" sx="999" sy="999" kx="2115321" algn="bl" rotWithShape="0">
              <a:srgbClr val="C0C0C0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12" name="直线连接符 14"/>
          <p:cNvCxnSpPr>
            <a:cxnSpLocks noChangeShapeType="1"/>
          </p:cNvCxnSpPr>
          <p:nvPr/>
        </p:nvCxnSpPr>
        <p:spPr bwMode="auto">
          <a:xfrm>
            <a:off x="1857375" y="4410075"/>
            <a:ext cx="5364163" cy="14288"/>
          </a:xfrm>
          <a:prstGeom prst="line">
            <a:avLst/>
          </a:prstGeom>
          <a:noFill/>
          <a:ln w="38100">
            <a:solidFill>
              <a:srgbClr val="822216"/>
            </a:solidFill>
            <a:round/>
            <a:headEnd/>
            <a:tailEnd/>
          </a:ln>
          <a:effectLst>
            <a:outerShdw dist="35921" sx="999" sy="999" kx="2115321" algn="bl" rotWithShape="0">
              <a:srgbClr val="C0C0C0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661850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32138" y="291491"/>
            <a:ext cx="1827423" cy="585418"/>
          </a:xfrm>
          <a:prstGeom prst="rect">
            <a:avLst/>
          </a:prstGeom>
          <a:noFill/>
          <a:ln w="38100">
            <a:noFill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>
              <a:defRPr/>
            </a:pPr>
            <a:r>
              <a:rPr kumimoji="1" lang="zh-CN" altLang="en-US" sz="3200" b="1" dirty="0"/>
              <a:t>删除子串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60438" y="1142828"/>
            <a:ext cx="7880362" cy="462307"/>
          </a:xfrm>
          <a:prstGeom prst="rect">
            <a:avLst/>
          </a:prstGeom>
          <a:noFill/>
          <a:ln w="38100">
            <a:noFill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>
              <a:defRPr/>
            </a:pPr>
            <a:r>
              <a:rPr kumimoji="1" lang="zh-CN" altLang="en-US" sz="2400" dirty="0"/>
              <a:t>输入字符串</a:t>
            </a:r>
            <a:r>
              <a:rPr kumimoji="1" lang="en-US" altLang="zh-CN" sz="2400" dirty="0"/>
              <a:t>s</a:t>
            </a:r>
            <a:r>
              <a:rPr kumimoji="1" lang="zh-CN" altLang="en-US" sz="2400" dirty="0"/>
              <a:t>和整数</a:t>
            </a:r>
            <a:r>
              <a:rPr kumimoji="1" lang="en-US" altLang="zh-CN" sz="2400" dirty="0"/>
              <a:t>m</a:t>
            </a:r>
            <a:r>
              <a:rPr kumimoji="1" lang="zh-CN" altLang="en-US" sz="2400" dirty="0"/>
              <a:t>，</a:t>
            </a:r>
            <a:r>
              <a:rPr kumimoji="1" lang="en-US" altLang="zh-CN" sz="2400" dirty="0"/>
              <a:t>n,  </a:t>
            </a:r>
            <a:r>
              <a:rPr kumimoji="1" lang="zh-CN" altLang="en-US" sz="2400" dirty="0"/>
              <a:t>删除从</a:t>
            </a:r>
            <a:r>
              <a:rPr kumimoji="1" lang="en-US" altLang="zh-CN" sz="2400" dirty="0"/>
              <a:t>m</a:t>
            </a:r>
            <a:r>
              <a:rPr kumimoji="1" lang="zh-CN" altLang="en-US" sz="2400" dirty="0"/>
              <a:t>索引开始的</a:t>
            </a:r>
            <a:r>
              <a:rPr kumimoji="1" lang="en-US" altLang="zh-CN" sz="2400" dirty="0"/>
              <a:t>n</a:t>
            </a:r>
            <a:r>
              <a:rPr kumimoji="1" lang="zh-CN" altLang="en-US" sz="2400" dirty="0"/>
              <a:t>个字符。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4412" y="1019171"/>
            <a:ext cx="698909" cy="708528"/>
          </a:xfrm>
          <a:prstGeom prst="rect">
            <a:avLst/>
          </a:prstGeom>
          <a:noFill/>
          <a:ln w="38100">
            <a:noFill/>
            <a:round/>
            <a:headEnd/>
            <a:tailEnd/>
          </a:ln>
          <a:effectLst/>
          <a:scene3d>
            <a:camera prst="orthographicFront">
              <a:rot lat="900000" lon="0" rev="120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>
              <a:defRPr/>
            </a:pPr>
            <a:r>
              <a:rPr kumimoji="1" lang="zh-CN" altLang="en-US" sz="4000">
                <a:solidFill>
                  <a:srgbClr val="CC0000"/>
                </a:solidFill>
              </a:rPr>
              <a:t>例</a:t>
            </a:r>
            <a:endParaRPr kumimoji="1" lang="zh-CN" altLang="en-US" sz="4000" dirty="0">
              <a:solidFill>
                <a:srgbClr val="CC0000"/>
              </a:solidFill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/>
        </p:nvGraphicFramePr>
        <p:xfrm>
          <a:off x="736600" y="2781300"/>
          <a:ext cx="7219950" cy="549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995"/>
                <a:gridCol w="721995"/>
                <a:gridCol w="721995"/>
                <a:gridCol w="721995"/>
                <a:gridCol w="721995"/>
                <a:gridCol w="721995"/>
                <a:gridCol w="721995"/>
                <a:gridCol w="721995"/>
                <a:gridCol w="721995"/>
                <a:gridCol w="721995"/>
              </a:tblGrid>
              <a:tr h="549275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B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B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s-IS" altLang="zh-CN" sz="1800" dirty="0" smtClean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B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s-IS" altLang="zh-CN" sz="180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B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B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s-IS" altLang="zh-CN" sz="180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olidFill>
                            <a:schemeClr val="tx1"/>
                          </a:solidFill>
                        </a:rPr>
                        <a:t>'\0'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BFF"/>
                    </a:solidFill>
                  </a:tcPr>
                </a:tc>
              </a:tr>
            </a:tbl>
          </a:graphicData>
        </a:graphic>
      </p:graphicFrame>
      <p:grpSp>
        <p:nvGrpSpPr>
          <p:cNvPr id="56348" name="组 56"/>
          <p:cNvGrpSpPr>
            <a:grpSpLocks/>
          </p:cNvGrpSpPr>
          <p:nvPr/>
        </p:nvGrpSpPr>
        <p:grpSpPr bwMode="auto">
          <a:xfrm>
            <a:off x="690563" y="2243581"/>
            <a:ext cx="7573676" cy="1526733"/>
            <a:chOff x="690356" y="2244311"/>
            <a:chExt cx="7573235" cy="1525407"/>
          </a:xfrm>
        </p:grpSpPr>
        <p:sp>
          <p:nvSpPr>
            <p:cNvPr id="33" name="文本框 32"/>
            <p:cNvSpPr txBox="1"/>
            <p:nvPr/>
          </p:nvSpPr>
          <p:spPr>
            <a:xfrm>
              <a:off x="690356" y="2244311"/>
              <a:ext cx="698868" cy="400404"/>
            </a:xfrm>
            <a:prstGeom prst="rect">
              <a:avLst/>
            </a:prstGeom>
            <a:noFill/>
            <a:ln w="38100">
              <a:noFill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defRPr/>
              </a:pPr>
              <a:r>
                <a:rPr kumimoji="1" lang="en-US" altLang="zh-CN" sz="2000"/>
                <a:t>S[0]</a:t>
              </a:r>
              <a:endParaRPr kumimoji="1" lang="zh-CN" altLang="en-US" sz="2000" dirty="0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3735004" y="2300969"/>
              <a:ext cx="698459" cy="399703"/>
            </a:xfrm>
            <a:prstGeom prst="rect">
              <a:avLst/>
            </a:prstGeom>
            <a:noFill/>
            <a:ln w="38100">
              <a:noFill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defRPr/>
              </a:pPr>
              <a:r>
                <a:rPr kumimoji="1" lang="en-US" altLang="zh-CN" sz="2000" dirty="0"/>
                <a:t>S[m]</a:t>
              </a:r>
              <a:endParaRPr kumimoji="1" lang="zh-CN" altLang="en-US" sz="2000" dirty="0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4973181" y="2324410"/>
              <a:ext cx="1211799" cy="400404"/>
            </a:xfrm>
            <a:prstGeom prst="rect">
              <a:avLst/>
            </a:prstGeom>
            <a:noFill/>
            <a:ln w="38100">
              <a:noFill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defRPr/>
              </a:pPr>
              <a:r>
                <a:rPr kumimoji="1" lang="en-US" altLang="zh-CN" sz="2000" dirty="0"/>
                <a:t>S[m+n-1]</a:t>
              </a:r>
              <a:endParaRPr kumimoji="1" lang="zh-CN" altLang="en-US" sz="2000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7308257" y="2290309"/>
              <a:ext cx="955334" cy="400404"/>
            </a:xfrm>
            <a:prstGeom prst="rect">
              <a:avLst/>
            </a:prstGeom>
            <a:noFill/>
            <a:ln w="38100">
              <a:noFill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defRPr/>
              </a:pPr>
              <a:r>
                <a:rPr kumimoji="1" lang="en-US" altLang="zh-CN" sz="2000" dirty="0"/>
                <a:t>S[</a:t>
              </a:r>
              <a:r>
                <a:rPr kumimoji="1" lang="en-US" altLang="zh-CN" sz="2000" dirty="0" err="1"/>
                <a:t>len</a:t>
              </a:r>
              <a:r>
                <a:rPr kumimoji="1" lang="en-US" altLang="zh-CN" sz="2000" dirty="0"/>
                <a:t>]</a:t>
              </a:r>
              <a:endParaRPr kumimoji="1" lang="zh-CN" altLang="en-US" sz="2000" dirty="0"/>
            </a:p>
          </p:txBody>
        </p:sp>
        <p:sp>
          <p:nvSpPr>
            <p:cNvPr id="56361" name="矩形 37"/>
            <p:cNvSpPr>
              <a:spLocks noChangeArrowheads="1"/>
            </p:cNvSpPr>
            <p:nvPr/>
          </p:nvSpPr>
          <p:spPr bwMode="auto">
            <a:xfrm>
              <a:off x="3635896" y="2780928"/>
              <a:ext cx="720080" cy="549423"/>
            </a:xfrm>
            <a:prstGeom prst="rect">
              <a:avLst/>
            </a:prstGeom>
            <a:solidFill>
              <a:srgbClr val="822216"/>
            </a:solidFill>
            <a:ln w="38100">
              <a:solidFill>
                <a:srgbClr val="822216"/>
              </a:solidFill>
              <a:round/>
              <a:headEnd/>
              <a:tailEnd/>
            </a:ln>
            <a:effectLst>
              <a:outerShdw dist="35921" sx="999" sy="999" kx="2115321" algn="bl" rotWithShape="0">
                <a:srgbClr val="C0C0C0"/>
              </a:outerShdw>
            </a:effectLst>
          </p:spPr>
          <p:txBody>
            <a:bodyPr wrap="none"/>
            <a:lstStyle>
              <a:lvl1pPr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9pPr>
            </a:lstStyle>
            <a:p>
              <a:pPr algn="ctr"/>
              <a:endParaRPr lang="zh-CN" altLang="en-US" sz="2000"/>
            </a:p>
          </p:txBody>
        </p:sp>
        <p:sp>
          <p:nvSpPr>
            <p:cNvPr id="56362" name="矩形 38"/>
            <p:cNvSpPr>
              <a:spLocks noChangeArrowheads="1"/>
            </p:cNvSpPr>
            <p:nvPr/>
          </p:nvSpPr>
          <p:spPr bwMode="auto">
            <a:xfrm>
              <a:off x="5076056" y="2780928"/>
              <a:ext cx="720080" cy="549423"/>
            </a:xfrm>
            <a:prstGeom prst="rect">
              <a:avLst/>
            </a:prstGeom>
            <a:solidFill>
              <a:srgbClr val="822216"/>
            </a:solidFill>
            <a:ln w="38100">
              <a:solidFill>
                <a:srgbClr val="822216"/>
              </a:solidFill>
              <a:round/>
              <a:headEnd/>
              <a:tailEnd/>
            </a:ln>
            <a:effectLst>
              <a:outerShdw dist="35921" sx="999" sy="999" kx="2115321" algn="bl" rotWithShape="0">
                <a:srgbClr val="C0C0C0"/>
              </a:outerShdw>
            </a:effectLst>
          </p:spPr>
          <p:txBody>
            <a:bodyPr wrap="none"/>
            <a:lstStyle>
              <a:lvl1pPr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9pPr>
            </a:lstStyle>
            <a:p>
              <a:pPr algn="ctr"/>
              <a:endParaRPr lang="zh-CN" altLang="en-US" sz="2000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5689102" y="3368429"/>
              <a:ext cx="969906" cy="401289"/>
            </a:xfrm>
            <a:prstGeom prst="rect">
              <a:avLst/>
            </a:prstGeom>
            <a:noFill/>
            <a:ln w="38100">
              <a:noFill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defRPr/>
              </a:pPr>
              <a:r>
                <a:rPr kumimoji="1" lang="en-US" altLang="zh-CN" sz="2000" dirty="0"/>
                <a:t>S[</a:t>
              </a:r>
              <a:r>
                <a:rPr kumimoji="1" lang="en-US" altLang="zh-CN" sz="2000" dirty="0" err="1"/>
                <a:t>m+n</a:t>
              </a:r>
              <a:r>
                <a:rPr kumimoji="1" lang="en-US" altLang="zh-CN" sz="2000" dirty="0"/>
                <a:t>]</a:t>
              </a:r>
              <a:endParaRPr kumimoji="1" lang="zh-CN" altLang="en-US" sz="2000" dirty="0"/>
            </a:p>
          </p:txBody>
        </p:sp>
        <p:sp>
          <p:nvSpPr>
            <p:cNvPr id="56364" name="矩形 41"/>
            <p:cNvSpPr>
              <a:spLocks noChangeArrowheads="1"/>
            </p:cNvSpPr>
            <p:nvPr/>
          </p:nvSpPr>
          <p:spPr bwMode="auto">
            <a:xfrm>
              <a:off x="5796136" y="2769690"/>
              <a:ext cx="720080" cy="549381"/>
            </a:xfrm>
            <a:prstGeom prst="rect">
              <a:avLst/>
            </a:prstGeom>
            <a:solidFill>
              <a:srgbClr val="00FFFF"/>
            </a:solidFill>
            <a:ln w="38100">
              <a:solidFill>
                <a:srgbClr val="00FFFF"/>
              </a:solidFill>
              <a:round/>
              <a:headEnd/>
              <a:tailEnd/>
            </a:ln>
            <a:effectLst>
              <a:outerShdw dist="35921" sx="999" sy="999" kx="2115321" algn="bl" rotWithShape="0">
                <a:srgbClr val="C0C0C0"/>
              </a:outerShdw>
            </a:effectLst>
          </p:spPr>
          <p:txBody>
            <a:bodyPr wrap="none"/>
            <a:lstStyle>
              <a:lvl1pPr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9pPr>
            </a:lstStyle>
            <a:p>
              <a:pPr algn="ctr"/>
              <a:endParaRPr lang="zh-CN" altLang="en-US" sz="2000"/>
            </a:p>
          </p:txBody>
        </p:sp>
        <p:sp>
          <p:nvSpPr>
            <p:cNvPr id="56365" name="左大括号 42"/>
            <p:cNvSpPr>
              <a:spLocks/>
            </p:cNvSpPr>
            <p:nvPr/>
          </p:nvSpPr>
          <p:spPr bwMode="auto">
            <a:xfrm rot="-5400000">
              <a:off x="4514809" y="2448465"/>
              <a:ext cx="347407" cy="2153336"/>
            </a:xfrm>
            <a:prstGeom prst="leftBrace">
              <a:avLst>
                <a:gd name="adj1" fmla="val 8322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>
              <a:outerShdw dist="35921" sx="999" sy="999" kx="2115321" algn="bl" rotWithShape="0">
                <a:srgbClr val="C0C0C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9pPr>
            </a:lstStyle>
            <a:p>
              <a:pPr algn="ctr"/>
              <a:endParaRPr kumimoji="1" lang="zh-CN" altLang="en-US"/>
            </a:p>
          </p:txBody>
        </p:sp>
      </p:grpSp>
      <p:sp>
        <p:nvSpPr>
          <p:cNvPr id="44" name="文本框 43"/>
          <p:cNvSpPr txBox="1"/>
          <p:nvPr/>
        </p:nvSpPr>
        <p:spPr>
          <a:xfrm>
            <a:off x="13563600" y="5556250"/>
            <a:ext cx="185738" cy="647700"/>
          </a:xfrm>
          <a:prstGeom prst="rect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>
              <a:defRPr/>
            </a:pPr>
            <a:endParaRPr kumimoji="1" lang="zh-CN" altLang="en-US" dirty="0"/>
          </a:p>
        </p:txBody>
      </p:sp>
      <p:sp>
        <p:nvSpPr>
          <p:cNvPr id="45" name="文本框 44"/>
          <p:cNvSpPr txBox="1"/>
          <p:nvPr/>
        </p:nvSpPr>
        <p:spPr>
          <a:xfrm>
            <a:off x="4108450" y="3770313"/>
            <a:ext cx="1084263" cy="400050"/>
          </a:xfrm>
          <a:prstGeom prst="rect">
            <a:avLst/>
          </a:prstGeom>
          <a:noFill/>
          <a:ln w="38100">
            <a:noFill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>
              <a:defRPr/>
            </a:pPr>
            <a:r>
              <a:rPr kumimoji="1" lang="en-US" altLang="zh-CN" sz="2000" dirty="0"/>
              <a:t>n</a:t>
            </a:r>
            <a:r>
              <a:rPr kumimoji="1" lang="zh-CN" altLang="en-US" sz="2000" dirty="0"/>
              <a:t>个字符</a:t>
            </a:r>
          </a:p>
        </p:txBody>
      </p:sp>
      <p:grpSp>
        <p:nvGrpSpPr>
          <p:cNvPr id="56351" name="组 54"/>
          <p:cNvGrpSpPr>
            <a:grpSpLocks/>
          </p:cNvGrpSpPr>
          <p:nvPr/>
        </p:nvGrpSpPr>
        <p:grpSpPr bwMode="auto">
          <a:xfrm>
            <a:off x="930275" y="4221163"/>
            <a:ext cx="6089650" cy="2308225"/>
            <a:chOff x="930207" y="4220515"/>
            <a:chExt cx="6090065" cy="2308966"/>
          </a:xfrm>
        </p:grpSpPr>
        <p:sp>
          <p:nvSpPr>
            <p:cNvPr id="56352" name="文本框 39"/>
            <p:cNvSpPr txBox="1">
              <a:spLocks noChangeArrowheads="1"/>
            </p:cNvSpPr>
            <p:nvPr/>
          </p:nvSpPr>
          <p:spPr bwMode="auto">
            <a:xfrm>
              <a:off x="939195" y="4220515"/>
              <a:ext cx="6072088" cy="2308966"/>
            </a:xfrm>
            <a:prstGeom prst="rect">
              <a:avLst/>
            </a:prstGeom>
            <a:solidFill>
              <a:srgbClr val="FCEBFF"/>
            </a:solidFill>
            <a:ln w="38100">
              <a:solidFill>
                <a:srgbClr val="800000"/>
              </a:solidFill>
              <a:round/>
              <a:headEnd/>
              <a:tailEnd/>
            </a:ln>
          </p:spPr>
          <p:txBody>
            <a:bodyPr lIns="92075" tIns="46038" rIns="92075" bIns="46038" anchor="ctr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kumimoji="1" lang="zh-CN" altLang="en-US" sz="2400"/>
                <a:t>输入</a:t>
              </a:r>
              <a:r>
                <a:rPr kumimoji="1" lang="en-US" altLang="zh-CN" sz="2400"/>
                <a:t>s, m, n</a:t>
              </a:r>
            </a:p>
            <a:p>
              <a:pPr>
                <a:lnSpc>
                  <a:spcPct val="150000"/>
                </a:lnSpc>
              </a:pPr>
              <a:r>
                <a:rPr kumimoji="1" lang="en-US" altLang="zh-CN" sz="2400"/>
                <a:t>len=s</a:t>
              </a:r>
              <a:r>
                <a:rPr kumimoji="1" lang="zh-CN" altLang="en-US" sz="2400"/>
                <a:t>的长度，</a:t>
              </a:r>
              <a:r>
                <a:rPr kumimoji="1" lang="en-US" altLang="zh-CN" sz="2400">
                  <a:solidFill>
                    <a:srgbClr val="FF0000"/>
                  </a:solidFill>
                </a:rPr>
                <a:t>s[m]='\0'</a:t>
              </a:r>
            </a:p>
            <a:p>
              <a:pPr>
                <a:lnSpc>
                  <a:spcPct val="150000"/>
                </a:lnSpc>
              </a:pPr>
              <a:r>
                <a:rPr kumimoji="1" lang="en-US" altLang="zh-CN" sz="2400"/>
                <a:t>for i=m+n to len</a:t>
              </a:r>
            </a:p>
            <a:p>
              <a:pPr>
                <a:lnSpc>
                  <a:spcPct val="150000"/>
                </a:lnSpc>
              </a:pPr>
              <a:r>
                <a:rPr kumimoji="1" lang="en-US" altLang="zh-CN" sz="2400"/>
                <a:t>	s[i-n] = s[i]</a:t>
              </a:r>
              <a:endParaRPr kumimoji="1" lang="zh-CN" altLang="en-US" sz="2400"/>
            </a:p>
          </p:txBody>
        </p:sp>
        <p:cxnSp>
          <p:nvCxnSpPr>
            <p:cNvPr id="56353" name="直线连接符 46"/>
            <p:cNvCxnSpPr>
              <a:cxnSpLocks noChangeShapeType="1"/>
            </p:cNvCxnSpPr>
            <p:nvPr/>
          </p:nvCxnSpPr>
          <p:spPr bwMode="auto">
            <a:xfrm>
              <a:off x="1538675" y="5969154"/>
              <a:ext cx="5472608" cy="0"/>
            </a:xfrm>
            <a:prstGeom prst="line">
              <a:avLst/>
            </a:prstGeom>
            <a:noFill/>
            <a:ln w="38100">
              <a:solidFill>
                <a:srgbClr val="822216"/>
              </a:solidFill>
              <a:round/>
              <a:headEnd/>
              <a:tailEnd/>
            </a:ln>
            <a:effectLst>
              <a:outerShdw dist="35921" sx="999" sy="999" kx="2115321" algn="bl" rotWithShape="0">
                <a:srgbClr val="C0C0C0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354" name="直线连接符 48"/>
            <p:cNvCxnSpPr>
              <a:cxnSpLocks noChangeShapeType="1"/>
            </p:cNvCxnSpPr>
            <p:nvPr/>
          </p:nvCxnSpPr>
          <p:spPr bwMode="auto">
            <a:xfrm>
              <a:off x="1547664" y="5969154"/>
              <a:ext cx="0" cy="560327"/>
            </a:xfrm>
            <a:prstGeom prst="line">
              <a:avLst/>
            </a:prstGeom>
            <a:noFill/>
            <a:ln w="38100">
              <a:solidFill>
                <a:srgbClr val="822216"/>
              </a:solidFill>
              <a:round/>
              <a:headEnd/>
              <a:tailEnd/>
            </a:ln>
            <a:effectLst>
              <a:outerShdw dist="35921" sx="999" sy="999" kx="2115321" algn="bl" rotWithShape="0">
                <a:srgbClr val="C0C0C0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355" name="直线连接符 50"/>
            <p:cNvCxnSpPr>
              <a:cxnSpLocks noChangeShapeType="1"/>
              <a:stCxn id="56352" idx="1"/>
              <a:endCxn id="56352" idx="3"/>
            </p:cNvCxnSpPr>
            <p:nvPr/>
          </p:nvCxnSpPr>
          <p:spPr bwMode="auto">
            <a:xfrm>
              <a:off x="939195" y="5374998"/>
              <a:ext cx="6072088" cy="0"/>
            </a:xfrm>
            <a:prstGeom prst="line">
              <a:avLst/>
            </a:prstGeom>
            <a:noFill/>
            <a:ln w="38100">
              <a:solidFill>
                <a:srgbClr val="822216"/>
              </a:solidFill>
              <a:round/>
              <a:headEnd/>
              <a:tailEnd/>
            </a:ln>
            <a:effectLst>
              <a:outerShdw dist="35921" sx="999" sy="999" kx="2115321" algn="bl" rotWithShape="0">
                <a:srgbClr val="C0C0C0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356" name="直线连接符 52"/>
            <p:cNvCxnSpPr>
              <a:cxnSpLocks noChangeShapeType="1"/>
            </p:cNvCxnSpPr>
            <p:nvPr/>
          </p:nvCxnSpPr>
          <p:spPr bwMode="auto">
            <a:xfrm>
              <a:off x="930207" y="4725144"/>
              <a:ext cx="6090065" cy="72008"/>
            </a:xfrm>
            <a:prstGeom prst="line">
              <a:avLst/>
            </a:prstGeom>
            <a:noFill/>
            <a:ln w="38100">
              <a:solidFill>
                <a:srgbClr val="822216"/>
              </a:solidFill>
              <a:round/>
              <a:headEnd/>
              <a:tailEnd/>
            </a:ln>
            <a:effectLst>
              <a:outerShdw dist="35921" sx="999" sy="999" kx="2115321" algn="bl" rotWithShape="0">
                <a:srgbClr val="C0C0C0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897495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32138" y="291491"/>
            <a:ext cx="1827423" cy="585418"/>
          </a:xfrm>
          <a:prstGeom prst="rect">
            <a:avLst/>
          </a:prstGeom>
          <a:noFill/>
          <a:ln w="38100">
            <a:noFill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>
              <a:defRPr/>
            </a:pPr>
            <a:r>
              <a:rPr kumimoji="1" lang="zh-CN" altLang="en-US" sz="3200" b="1" dirty="0"/>
              <a:t>插入子串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60438" y="1143000"/>
            <a:ext cx="6307137" cy="461963"/>
          </a:xfrm>
          <a:prstGeom prst="rect">
            <a:avLst/>
          </a:prstGeom>
          <a:noFill/>
          <a:ln w="38100">
            <a:noFill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>
              <a:defRPr/>
            </a:pPr>
            <a:r>
              <a:rPr kumimoji="1" lang="zh-CN" altLang="en-US" sz="2400" dirty="0"/>
              <a:t>输入字符串</a:t>
            </a:r>
            <a:r>
              <a:rPr kumimoji="1" lang="en-US" altLang="zh-CN" sz="2400" dirty="0"/>
              <a:t>s</a:t>
            </a:r>
            <a:r>
              <a:rPr kumimoji="1" lang="zh-CN" altLang="en-US" sz="2400" dirty="0"/>
              <a:t>、</a:t>
            </a:r>
            <a:r>
              <a:rPr kumimoji="1" lang="en-US" altLang="zh-CN" sz="2400" dirty="0"/>
              <a:t>t</a:t>
            </a:r>
            <a:r>
              <a:rPr kumimoji="1" lang="zh-CN" altLang="en-US" sz="2400" dirty="0"/>
              <a:t>和</a:t>
            </a:r>
            <a:r>
              <a:rPr kumimoji="1" lang="en-US" altLang="zh-CN" sz="2400" dirty="0"/>
              <a:t>m</a:t>
            </a:r>
            <a:r>
              <a:rPr kumimoji="1" lang="zh-CN" altLang="en-US" sz="2400" dirty="0"/>
              <a:t>，在</a:t>
            </a:r>
            <a:r>
              <a:rPr kumimoji="1" lang="en-US" altLang="zh-CN" sz="2400" dirty="0"/>
              <a:t>s</a:t>
            </a:r>
            <a:r>
              <a:rPr kumimoji="1" lang="zh-CN" altLang="en-US" sz="2400" dirty="0"/>
              <a:t>的</a:t>
            </a:r>
            <a:r>
              <a:rPr kumimoji="1" lang="en-US" altLang="zh-CN" sz="2400" dirty="0"/>
              <a:t>m</a:t>
            </a:r>
            <a:r>
              <a:rPr kumimoji="1" lang="zh-CN" altLang="en-US" sz="2400" dirty="0"/>
              <a:t>索引位置插入</a:t>
            </a:r>
            <a:r>
              <a:rPr kumimoji="1" lang="en-US" altLang="zh-CN" sz="2400" dirty="0"/>
              <a:t>t</a:t>
            </a:r>
            <a:r>
              <a:rPr kumimoji="1" lang="zh-CN" altLang="en-US" sz="2400" dirty="0"/>
              <a:t>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4412" y="1019171"/>
            <a:ext cx="698909" cy="708528"/>
          </a:xfrm>
          <a:prstGeom prst="rect">
            <a:avLst/>
          </a:prstGeom>
          <a:noFill/>
          <a:ln w="38100">
            <a:noFill/>
            <a:round/>
            <a:headEnd/>
            <a:tailEnd/>
          </a:ln>
          <a:effectLst/>
          <a:scene3d>
            <a:camera prst="orthographicFront">
              <a:rot lat="900000" lon="0" rev="120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>
              <a:defRPr/>
            </a:pPr>
            <a:r>
              <a:rPr kumimoji="1" lang="zh-CN" altLang="en-US" sz="4000"/>
              <a:t>例</a:t>
            </a:r>
            <a:endParaRPr kumimoji="1" lang="zh-CN" altLang="en-US" sz="4000" dirty="0"/>
          </a:p>
        </p:txBody>
      </p:sp>
      <p:graphicFrame>
        <p:nvGraphicFramePr>
          <p:cNvPr id="32" name="表格 31"/>
          <p:cNvGraphicFramePr>
            <a:graphicFrameLocks noGrp="1"/>
          </p:cNvGraphicFramePr>
          <p:nvPr/>
        </p:nvGraphicFramePr>
        <p:xfrm>
          <a:off x="736600" y="2781300"/>
          <a:ext cx="7219950" cy="549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995"/>
                <a:gridCol w="721995"/>
                <a:gridCol w="721995"/>
                <a:gridCol w="721995"/>
                <a:gridCol w="721995"/>
                <a:gridCol w="721995"/>
                <a:gridCol w="721995"/>
                <a:gridCol w="721995"/>
                <a:gridCol w="721995"/>
                <a:gridCol w="721995"/>
              </a:tblGrid>
              <a:tr h="549275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B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B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s-IS" altLang="zh-CN" sz="1800" dirty="0" smtClean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B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s-IS" altLang="zh-CN" sz="180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B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B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s-IS" altLang="zh-CN" sz="180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olidFill>
                            <a:schemeClr val="tx1"/>
                          </a:solidFill>
                        </a:rPr>
                        <a:t>'\0'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BFF"/>
                    </a:solidFill>
                  </a:tcPr>
                </a:tc>
              </a:tr>
            </a:tbl>
          </a:graphicData>
        </a:graphic>
      </p:graphicFrame>
      <p:grpSp>
        <p:nvGrpSpPr>
          <p:cNvPr id="57373" name="组 56"/>
          <p:cNvGrpSpPr>
            <a:grpSpLocks/>
          </p:cNvGrpSpPr>
          <p:nvPr/>
        </p:nvGrpSpPr>
        <p:grpSpPr bwMode="auto">
          <a:xfrm>
            <a:off x="690563" y="2243582"/>
            <a:ext cx="7700330" cy="1526290"/>
            <a:chOff x="690356" y="2244311"/>
            <a:chExt cx="7700871" cy="1524964"/>
          </a:xfrm>
        </p:grpSpPr>
        <p:sp>
          <p:nvSpPr>
            <p:cNvPr id="33" name="文本框 32"/>
            <p:cNvSpPr txBox="1"/>
            <p:nvPr/>
          </p:nvSpPr>
          <p:spPr>
            <a:xfrm>
              <a:off x="690356" y="2244311"/>
              <a:ext cx="698958" cy="400404"/>
            </a:xfrm>
            <a:prstGeom prst="rect">
              <a:avLst/>
            </a:prstGeom>
            <a:noFill/>
            <a:ln w="38100">
              <a:noFill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defRPr/>
              </a:pPr>
              <a:r>
                <a:rPr kumimoji="1" lang="en-US" altLang="zh-CN" sz="2000" dirty="0"/>
                <a:t>S[0]</a:t>
              </a:r>
              <a:endParaRPr kumimoji="1" lang="zh-CN" altLang="en-US" sz="2000" dirty="0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3735395" y="2300969"/>
              <a:ext cx="696961" cy="399703"/>
            </a:xfrm>
            <a:prstGeom prst="rect">
              <a:avLst/>
            </a:prstGeom>
            <a:noFill/>
            <a:ln w="38100">
              <a:noFill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defRPr/>
              </a:pPr>
              <a:r>
                <a:rPr kumimoji="1" lang="en-US" altLang="zh-CN" sz="2000" dirty="0"/>
                <a:t>S[m]</a:t>
              </a:r>
              <a:endParaRPr kumimoji="1" lang="zh-CN" altLang="en-US" sz="2000" dirty="0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4778455" y="2298238"/>
              <a:ext cx="1596703" cy="400404"/>
            </a:xfrm>
            <a:prstGeom prst="rect">
              <a:avLst/>
            </a:prstGeom>
            <a:noFill/>
            <a:ln w="38100">
              <a:noFill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defRPr/>
              </a:pPr>
              <a:r>
                <a:rPr kumimoji="1" lang="en-US" altLang="zh-CN" sz="2000"/>
                <a:t>S[m+lent-1</a:t>
              </a:r>
              <a:r>
                <a:rPr kumimoji="1" lang="en-US" altLang="zh-CN" sz="2000" dirty="0"/>
                <a:t>]</a:t>
              </a:r>
              <a:endParaRPr kumimoji="1" lang="zh-CN" altLang="en-US" sz="2000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7307521" y="2290309"/>
              <a:ext cx="1083706" cy="400404"/>
            </a:xfrm>
            <a:prstGeom prst="rect">
              <a:avLst/>
            </a:prstGeom>
            <a:noFill/>
            <a:ln w="38100">
              <a:noFill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defRPr/>
              </a:pPr>
              <a:r>
                <a:rPr kumimoji="1" lang="en-US" altLang="zh-CN" sz="2000" dirty="0"/>
                <a:t>S[lens]</a:t>
              </a:r>
              <a:endParaRPr kumimoji="1" lang="zh-CN" altLang="en-US" sz="2000" dirty="0"/>
            </a:p>
          </p:txBody>
        </p:sp>
        <p:sp>
          <p:nvSpPr>
            <p:cNvPr id="57387" name="矩形 37"/>
            <p:cNvSpPr>
              <a:spLocks noChangeArrowheads="1"/>
            </p:cNvSpPr>
            <p:nvPr/>
          </p:nvSpPr>
          <p:spPr bwMode="auto">
            <a:xfrm>
              <a:off x="3635896" y="2780928"/>
              <a:ext cx="720080" cy="549423"/>
            </a:xfrm>
            <a:prstGeom prst="rect">
              <a:avLst/>
            </a:prstGeom>
            <a:solidFill>
              <a:srgbClr val="822216"/>
            </a:solidFill>
            <a:ln w="38100">
              <a:solidFill>
                <a:srgbClr val="822216"/>
              </a:solidFill>
              <a:round/>
              <a:headEnd/>
              <a:tailEnd/>
            </a:ln>
            <a:effectLst>
              <a:outerShdw dist="35921" sx="999" sy="999" kx="2115321" algn="bl" rotWithShape="0">
                <a:srgbClr val="C0C0C0"/>
              </a:outerShdw>
            </a:effectLst>
          </p:spPr>
          <p:txBody>
            <a:bodyPr wrap="none"/>
            <a:lstStyle>
              <a:lvl1pPr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9pPr>
            </a:lstStyle>
            <a:p>
              <a:pPr algn="ctr"/>
              <a:endParaRPr lang="zh-CN" altLang="en-US" sz="2000"/>
            </a:p>
          </p:txBody>
        </p:sp>
        <p:sp>
          <p:nvSpPr>
            <p:cNvPr id="57388" name="矩形 38"/>
            <p:cNvSpPr>
              <a:spLocks noChangeArrowheads="1"/>
            </p:cNvSpPr>
            <p:nvPr/>
          </p:nvSpPr>
          <p:spPr bwMode="auto">
            <a:xfrm>
              <a:off x="5076056" y="2780928"/>
              <a:ext cx="720080" cy="549423"/>
            </a:xfrm>
            <a:prstGeom prst="rect">
              <a:avLst/>
            </a:prstGeom>
            <a:solidFill>
              <a:srgbClr val="822216"/>
            </a:solidFill>
            <a:ln w="38100">
              <a:solidFill>
                <a:srgbClr val="822216"/>
              </a:solidFill>
              <a:round/>
              <a:headEnd/>
              <a:tailEnd/>
            </a:ln>
            <a:effectLst>
              <a:outerShdw dist="35921" sx="999" sy="999" kx="2115321" algn="bl" rotWithShape="0">
                <a:srgbClr val="C0C0C0"/>
              </a:outerShdw>
            </a:effectLst>
          </p:spPr>
          <p:txBody>
            <a:bodyPr wrap="none"/>
            <a:lstStyle>
              <a:lvl1pPr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9pPr>
            </a:lstStyle>
            <a:p>
              <a:pPr algn="ctr"/>
              <a:endParaRPr lang="zh-CN" altLang="en-US" sz="2000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5689744" y="3368871"/>
              <a:ext cx="1340204" cy="400404"/>
            </a:xfrm>
            <a:prstGeom prst="rect">
              <a:avLst/>
            </a:prstGeom>
            <a:noFill/>
            <a:ln w="38100">
              <a:noFill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defRPr/>
              </a:pPr>
              <a:r>
                <a:rPr kumimoji="1" lang="en-US" altLang="zh-CN" sz="2000" dirty="0"/>
                <a:t>S[</a:t>
              </a:r>
              <a:r>
                <a:rPr kumimoji="1" lang="en-US" altLang="zh-CN" sz="2000" dirty="0" err="1"/>
                <a:t>m+lent</a:t>
              </a:r>
              <a:r>
                <a:rPr kumimoji="1" lang="en-US" altLang="zh-CN" sz="2000" dirty="0"/>
                <a:t>]</a:t>
              </a:r>
              <a:endParaRPr kumimoji="1" lang="zh-CN" altLang="en-US" sz="2000" dirty="0"/>
            </a:p>
          </p:txBody>
        </p:sp>
        <p:sp>
          <p:nvSpPr>
            <p:cNvPr id="57390" name="矩形 41"/>
            <p:cNvSpPr>
              <a:spLocks noChangeArrowheads="1"/>
            </p:cNvSpPr>
            <p:nvPr/>
          </p:nvSpPr>
          <p:spPr bwMode="auto">
            <a:xfrm>
              <a:off x="5796136" y="2769690"/>
              <a:ext cx="720080" cy="549381"/>
            </a:xfrm>
            <a:prstGeom prst="rect">
              <a:avLst/>
            </a:prstGeom>
            <a:solidFill>
              <a:srgbClr val="00FFFF"/>
            </a:solidFill>
            <a:ln w="38100">
              <a:solidFill>
                <a:srgbClr val="00FFFF"/>
              </a:solidFill>
              <a:round/>
              <a:headEnd/>
              <a:tailEnd/>
            </a:ln>
            <a:effectLst>
              <a:outerShdw dist="35921" sx="999" sy="999" kx="2115321" algn="bl" rotWithShape="0">
                <a:srgbClr val="C0C0C0"/>
              </a:outerShdw>
            </a:effectLst>
          </p:spPr>
          <p:txBody>
            <a:bodyPr wrap="none"/>
            <a:lstStyle>
              <a:lvl1pPr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9pPr>
            </a:lstStyle>
            <a:p>
              <a:pPr algn="ctr"/>
              <a:endParaRPr lang="zh-CN" altLang="en-US" sz="2000"/>
            </a:p>
          </p:txBody>
        </p:sp>
        <p:sp>
          <p:nvSpPr>
            <p:cNvPr id="57391" name="左大括号 42"/>
            <p:cNvSpPr>
              <a:spLocks/>
            </p:cNvSpPr>
            <p:nvPr/>
          </p:nvSpPr>
          <p:spPr bwMode="auto">
            <a:xfrm rot="-5400000">
              <a:off x="4514809" y="2448465"/>
              <a:ext cx="347407" cy="2153336"/>
            </a:xfrm>
            <a:prstGeom prst="leftBrace">
              <a:avLst>
                <a:gd name="adj1" fmla="val 8322"/>
                <a:gd name="adj2" fmla="val 50000"/>
              </a:avLst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>
              <a:outerShdw dist="35921" sx="999" sy="999" kx="2115321" algn="bl" rotWithShape="0">
                <a:srgbClr val="C0C0C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9pPr>
            </a:lstStyle>
            <a:p>
              <a:pPr algn="ctr"/>
              <a:endParaRPr kumimoji="1" lang="zh-CN" altLang="en-US"/>
            </a:p>
          </p:txBody>
        </p:sp>
      </p:grpSp>
      <p:sp>
        <p:nvSpPr>
          <p:cNvPr id="44" name="文本框 43"/>
          <p:cNvSpPr txBox="1"/>
          <p:nvPr/>
        </p:nvSpPr>
        <p:spPr>
          <a:xfrm>
            <a:off x="13563600" y="5556250"/>
            <a:ext cx="185738" cy="647700"/>
          </a:xfrm>
          <a:prstGeom prst="rect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>
              <a:defRPr/>
            </a:pPr>
            <a:endParaRPr kumimoji="1" lang="zh-CN" altLang="en-US" dirty="0"/>
          </a:p>
        </p:txBody>
      </p:sp>
      <p:sp>
        <p:nvSpPr>
          <p:cNvPr id="45" name="文本框 44"/>
          <p:cNvSpPr txBox="1"/>
          <p:nvPr/>
        </p:nvSpPr>
        <p:spPr>
          <a:xfrm>
            <a:off x="4108450" y="3769962"/>
            <a:ext cx="1468351" cy="400752"/>
          </a:xfrm>
          <a:prstGeom prst="rect">
            <a:avLst/>
          </a:prstGeom>
          <a:noFill/>
          <a:ln w="38100">
            <a:noFill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>
              <a:defRPr/>
            </a:pPr>
            <a:r>
              <a:rPr kumimoji="1" lang="en-US" altLang="zh-CN" sz="2000" dirty="0"/>
              <a:t>lent</a:t>
            </a:r>
            <a:r>
              <a:rPr kumimoji="1" lang="zh-CN" altLang="en-US" sz="2000" dirty="0"/>
              <a:t>个字符</a:t>
            </a:r>
          </a:p>
        </p:txBody>
      </p:sp>
      <p:grpSp>
        <p:nvGrpSpPr>
          <p:cNvPr id="57376" name="组 54"/>
          <p:cNvGrpSpPr>
            <a:grpSpLocks/>
          </p:cNvGrpSpPr>
          <p:nvPr/>
        </p:nvGrpSpPr>
        <p:grpSpPr bwMode="auto">
          <a:xfrm>
            <a:off x="1063625" y="4227513"/>
            <a:ext cx="6089650" cy="2309812"/>
            <a:chOff x="930207" y="4220515"/>
            <a:chExt cx="6090065" cy="2308966"/>
          </a:xfrm>
        </p:grpSpPr>
        <p:sp>
          <p:nvSpPr>
            <p:cNvPr id="57378" name="文本框 39"/>
            <p:cNvSpPr txBox="1">
              <a:spLocks noChangeArrowheads="1"/>
            </p:cNvSpPr>
            <p:nvPr/>
          </p:nvSpPr>
          <p:spPr bwMode="auto">
            <a:xfrm>
              <a:off x="939195" y="4220515"/>
              <a:ext cx="6072088" cy="2308966"/>
            </a:xfrm>
            <a:prstGeom prst="rect">
              <a:avLst/>
            </a:prstGeom>
            <a:solidFill>
              <a:srgbClr val="FCEBFF"/>
            </a:solidFill>
            <a:ln w="38100">
              <a:solidFill>
                <a:srgbClr val="800000"/>
              </a:solidFill>
              <a:round/>
              <a:headEnd/>
              <a:tailEnd/>
            </a:ln>
          </p:spPr>
          <p:txBody>
            <a:bodyPr lIns="92075" tIns="46038" rIns="92075" bIns="46038" anchor="ctr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kumimoji="1" lang="zh-CN" altLang="en-US" sz="2400" dirty="0"/>
                <a:t>输入</a:t>
              </a:r>
              <a:r>
                <a:rPr kumimoji="1" lang="en-US" altLang="zh-CN" sz="2400" dirty="0"/>
                <a:t>s, t, m</a:t>
              </a:r>
            </a:p>
            <a:p>
              <a:pPr>
                <a:lnSpc>
                  <a:spcPct val="150000"/>
                </a:lnSpc>
              </a:pPr>
              <a:r>
                <a:rPr kumimoji="1" lang="en-US" altLang="zh-CN" sz="2400" dirty="0"/>
                <a:t>lens=s</a:t>
              </a:r>
              <a:r>
                <a:rPr kumimoji="1" lang="zh-CN" altLang="en-US" sz="2400" dirty="0"/>
                <a:t>的长度</a:t>
              </a:r>
              <a:endParaRPr kumimoji="1" lang="en-US" altLang="zh-CN" sz="2400" dirty="0"/>
            </a:p>
            <a:p>
              <a:pPr>
                <a:lnSpc>
                  <a:spcPct val="150000"/>
                </a:lnSpc>
              </a:pPr>
              <a:r>
                <a:rPr kumimoji="1" lang="en-US" altLang="zh-CN" sz="2400" dirty="0"/>
                <a:t>for </a:t>
              </a:r>
              <a:r>
                <a:rPr kumimoji="1" lang="en-US" altLang="zh-CN" sz="2400" dirty="0" err="1"/>
                <a:t>i</a:t>
              </a:r>
              <a:r>
                <a:rPr kumimoji="1" lang="en-US" altLang="zh-CN" sz="2400" dirty="0"/>
                <a:t>=lens to m    </a:t>
              </a:r>
              <a:r>
                <a:rPr kumimoji="1" lang="zh-CN" altLang="en-US" sz="2400" dirty="0"/>
                <a:t>步长</a:t>
              </a:r>
              <a:r>
                <a:rPr kumimoji="1" lang="en-US" altLang="zh-CN" sz="2400" dirty="0" err="1"/>
                <a:t>i</a:t>
              </a:r>
              <a:r>
                <a:rPr kumimoji="1" lang="en-US" altLang="zh-CN" sz="2400" dirty="0"/>
                <a:t>--</a:t>
              </a:r>
            </a:p>
            <a:p>
              <a:pPr>
                <a:lnSpc>
                  <a:spcPct val="150000"/>
                </a:lnSpc>
              </a:pPr>
              <a:r>
                <a:rPr kumimoji="1" lang="en-US" altLang="zh-CN" sz="2400" dirty="0"/>
                <a:t>	s[</a:t>
              </a:r>
              <a:r>
                <a:rPr kumimoji="1" lang="en-US" altLang="zh-CN" sz="2400" dirty="0" err="1"/>
                <a:t>i+lent</a:t>
              </a:r>
              <a:r>
                <a:rPr kumimoji="1" lang="en-US" altLang="zh-CN" sz="2400" dirty="0"/>
                <a:t>] = s[</a:t>
              </a:r>
              <a:r>
                <a:rPr kumimoji="1" lang="en-US" altLang="zh-CN" sz="2400" dirty="0" err="1"/>
                <a:t>i</a:t>
              </a:r>
              <a:r>
                <a:rPr kumimoji="1" lang="en-US" altLang="zh-CN" sz="2400" dirty="0"/>
                <a:t>]</a:t>
              </a:r>
              <a:endParaRPr kumimoji="1" lang="zh-CN" altLang="en-US" sz="2400" dirty="0"/>
            </a:p>
          </p:txBody>
        </p:sp>
        <p:cxnSp>
          <p:nvCxnSpPr>
            <p:cNvPr id="57379" name="直线连接符 46"/>
            <p:cNvCxnSpPr>
              <a:cxnSpLocks noChangeShapeType="1"/>
            </p:cNvCxnSpPr>
            <p:nvPr/>
          </p:nvCxnSpPr>
          <p:spPr bwMode="auto">
            <a:xfrm>
              <a:off x="1538675" y="5969154"/>
              <a:ext cx="5472608" cy="0"/>
            </a:xfrm>
            <a:prstGeom prst="line">
              <a:avLst/>
            </a:prstGeom>
            <a:noFill/>
            <a:ln w="38100">
              <a:solidFill>
                <a:srgbClr val="822216"/>
              </a:solidFill>
              <a:round/>
              <a:headEnd/>
              <a:tailEnd/>
            </a:ln>
            <a:effectLst>
              <a:outerShdw dist="35921" sx="999" sy="999" kx="2115321" algn="bl" rotWithShape="0">
                <a:srgbClr val="C0C0C0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380" name="直线连接符 48"/>
            <p:cNvCxnSpPr>
              <a:cxnSpLocks noChangeShapeType="1"/>
            </p:cNvCxnSpPr>
            <p:nvPr/>
          </p:nvCxnSpPr>
          <p:spPr bwMode="auto">
            <a:xfrm>
              <a:off x="1547664" y="5969154"/>
              <a:ext cx="0" cy="560327"/>
            </a:xfrm>
            <a:prstGeom prst="line">
              <a:avLst/>
            </a:prstGeom>
            <a:noFill/>
            <a:ln w="38100">
              <a:solidFill>
                <a:srgbClr val="822216"/>
              </a:solidFill>
              <a:round/>
              <a:headEnd/>
              <a:tailEnd/>
            </a:ln>
            <a:effectLst>
              <a:outerShdw dist="35921" sx="999" sy="999" kx="2115321" algn="bl" rotWithShape="0">
                <a:srgbClr val="C0C0C0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381" name="直线连接符 50"/>
            <p:cNvCxnSpPr>
              <a:cxnSpLocks noChangeShapeType="1"/>
              <a:stCxn id="57378" idx="1"/>
              <a:endCxn id="57378" idx="3"/>
            </p:cNvCxnSpPr>
            <p:nvPr/>
          </p:nvCxnSpPr>
          <p:spPr bwMode="auto">
            <a:xfrm>
              <a:off x="939195" y="5374998"/>
              <a:ext cx="6072088" cy="0"/>
            </a:xfrm>
            <a:prstGeom prst="line">
              <a:avLst/>
            </a:prstGeom>
            <a:noFill/>
            <a:ln w="38100">
              <a:solidFill>
                <a:srgbClr val="822216"/>
              </a:solidFill>
              <a:round/>
              <a:headEnd/>
              <a:tailEnd/>
            </a:ln>
            <a:effectLst>
              <a:outerShdw dist="35921" sx="999" sy="999" kx="2115321" algn="bl" rotWithShape="0">
                <a:srgbClr val="C0C0C0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382" name="直线连接符 52"/>
            <p:cNvCxnSpPr>
              <a:cxnSpLocks noChangeShapeType="1"/>
            </p:cNvCxnSpPr>
            <p:nvPr/>
          </p:nvCxnSpPr>
          <p:spPr bwMode="auto">
            <a:xfrm>
              <a:off x="930207" y="4725144"/>
              <a:ext cx="6090065" cy="72008"/>
            </a:xfrm>
            <a:prstGeom prst="line">
              <a:avLst/>
            </a:prstGeom>
            <a:noFill/>
            <a:ln w="38100">
              <a:solidFill>
                <a:srgbClr val="822216"/>
              </a:solidFill>
              <a:round/>
              <a:headEnd/>
              <a:tailEnd/>
            </a:ln>
            <a:effectLst>
              <a:outerShdw dist="35921" sx="999" sy="999" kx="2115321" algn="bl" rotWithShape="0">
                <a:srgbClr val="C0C0C0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" name="文本框 4"/>
          <p:cNvSpPr txBox="1"/>
          <p:nvPr/>
        </p:nvSpPr>
        <p:spPr>
          <a:xfrm>
            <a:off x="930275" y="1669263"/>
            <a:ext cx="5572038" cy="523862"/>
          </a:xfrm>
          <a:prstGeom prst="rect">
            <a:avLst/>
          </a:prstGeom>
          <a:noFill/>
          <a:ln w="38100">
            <a:noFill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>
              <a:defRPr/>
            </a:pPr>
            <a:r>
              <a:rPr kumimoji="1" lang="en-US" altLang="zh-CN" sz="2800" dirty="0"/>
              <a:t>lent=t</a:t>
            </a:r>
            <a:r>
              <a:rPr kumimoji="1" lang="zh-CN" altLang="en-US" sz="2800" dirty="0"/>
              <a:t>的长度      </a:t>
            </a:r>
            <a:r>
              <a:rPr kumimoji="1" lang="en-US" altLang="zh-CN" sz="2800" dirty="0"/>
              <a:t>lens=s</a:t>
            </a:r>
            <a:r>
              <a:rPr kumimoji="1" lang="zh-CN" altLang="en-US" sz="2800" dirty="0"/>
              <a:t>的长度</a:t>
            </a:r>
          </a:p>
        </p:txBody>
      </p:sp>
    </p:spTree>
    <p:extLst>
      <p:ext uri="{BB962C8B-B14F-4D97-AF65-F5344CB8AC3E}">
        <p14:creationId xmlns:p14="http://schemas.microsoft.com/office/powerpoint/2010/main" val="1069113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32138" y="291491"/>
            <a:ext cx="1827423" cy="585418"/>
          </a:xfrm>
          <a:prstGeom prst="rect">
            <a:avLst/>
          </a:prstGeom>
          <a:noFill/>
          <a:ln w="38100">
            <a:noFill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>
              <a:defRPr/>
            </a:pPr>
            <a:r>
              <a:rPr kumimoji="1" lang="zh-CN" altLang="en-US" sz="3200" b="1" dirty="0"/>
              <a:t>插入子串</a:t>
            </a:r>
          </a:p>
        </p:txBody>
      </p:sp>
      <p:sp>
        <p:nvSpPr>
          <p:cNvPr id="58370" name="矩形 2"/>
          <p:cNvSpPr>
            <a:spLocks noChangeArrowheads="1"/>
          </p:cNvSpPr>
          <p:nvPr/>
        </p:nvSpPr>
        <p:spPr bwMode="auto">
          <a:xfrm>
            <a:off x="836571" y="3212976"/>
            <a:ext cx="6081157" cy="1439862"/>
          </a:xfrm>
          <a:prstGeom prst="rect">
            <a:avLst/>
          </a:prstGeom>
          <a:solidFill>
            <a:srgbClr val="FCEBFF"/>
          </a:solidFill>
          <a:ln w="38100">
            <a:solidFill>
              <a:srgbClr val="822216"/>
            </a:solidFill>
            <a:round/>
            <a:headEnd/>
            <a:tailEnd/>
          </a:ln>
          <a:effectLst>
            <a:outerShdw dist="35921" sx="999" sy="999" kx="2115321" algn="bl" rotWithShape="0">
              <a:srgbClr val="C0C0C0"/>
            </a:outerShdw>
          </a:effectLst>
        </p:spPr>
        <p:txBody>
          <a:bodyPr wrap="none"/>
          <a:lstStyle>
            <a:lvl1pPr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 smtClean="0"/>
              <a:t>for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=0 to lent-1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        s[</a:t>
            </a:r>
            <a:r>
              <a:rPr lang="en-US" altLang="zh-CN" sz="2000" dirty="0" err="1"/>
              <a:t>m+i</a:t>
            </a:r>
            <a:r>
              <a:rPr lang="en-US" altLang="zh-CN" sz="2000" dirty="0"/>
              <a:t>] = t[</a:t>
            </a:r>
            <a:r>
              <a:rPr lang="en-US" altLang="zh-CN" sz="2000" dirty="0" err="1"/>
              <a:t>i</a:t>
            </a:r>
            <a:r>
              <a:rPr lang="en-US" altLang="zh-CN" sz="2000" dirty="0" smtClean="0"/>
              <a:t>]</a:t>
            </a:r>
            <a:r>
              <a:rPr lang="zh-CN" altLang="en-US" sz="2000" dirty="0" smtClean="0"/>
              <a:t>       </a:t>
            </a:r>
            <a:r>
              <a:rPr lang="en-US" altLang="zh-CN" sz="2000" dirty="0" smtClean="0"/>
              <a:t>//</a:t>
            </a:r>
            <a:r>
              <a:rPr lang="zh-CN" altLang="en-US" sz="2000" dirty="0" smtClean="0"/>
              <a:t>插入</a:t>
            </a:r>
            <a:r>
              <a:rPr lang="en-US" altLang="zh-CN" sz="2000" dirty="0" smtClean="0"/>
              <a:t>t</a:t>
            </a:r>
            <a:endParaRPr lang="zh-CN" altLang="en-US" sz="2000" dirty="0"/>
          </a:p>
        </p:txBody>
      </p:sp>
      <p:cxnSp>
        <p:nvCxnSpPr>
          <p:cNvPr id="58371" name="直线连接符 4"/>
          <p:cNvCxnSpPr>
            <a:cxnSpLocks noChangeShapeType="1"/>
          </p:cNvCxnSpPr>
          <p:nvPr/>
        </p:nvCxnSpPr>
        <p:spPr bwMode="auto">
          <a:xfrm>
            <a:off x="1258888" y="3789536"/>
            <a:ext cx="5658346" cy="0"/>
          </a:xfrm>
          <a:prstGeom prst="line">
            <a:avLst/>
          </a:prstGeom>
          <a:noFill/>
          <a:ln w="38100">
            <a:solidFill>
              <a:srgbClr val="822216"/>
            </a:solidFill>
            <a:round/>
            <a:headEnd/>
            <a:tailEnd/>
          </a:ln>
          <a:effectLst>
            <a:outerShdw dist="35921" sx="999" sy="999" kx="2115321" algn="bl" rotWithShape="0">
              <a:srgbClr val="C0C0C0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72" name="直线连接符 6"/>
          <p:cNvCxnSpPr>
            <a:cxnSpLocks noChangeShapeType="1"/>
          </p:cNvCxnSpPr>
          <p:nvPr/>
        </p:nvCxnSpPr>
        <p:spPr bwMode="auto">
          <a:xfrm>
            <a:off x="1258888" y="3789536"/>
            <a:ext cx="0" cy="863600"/>
          </a:xfrm>
          <a:prstGeom prst="line">
            <a:avLst/>
          </a:prstGeom>
          <a:noFill/>
          <a:ln w="38100">
            <a:solidFill>
              <a:srgbClr val="822216"/>
            </a:solidFill>
            <a:round/>
            <a:headEnd/>
            <a:tailEnd/>
          </a:ln>
          <a:effectLst>
            <a:outerShdw dist="35921" sx="999" sy="999" kx="2115321" algn="bl" rotWithShape="0">
              <a:srgbClr val="C0C0C0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" name="组 54"/>
          <p:cNvGrpSpPr>
            <a:grpSpLocks/>
          </p:cNvGrpSpPr>
          <p:nvPr/>
        </p:nvGrpSpPr>
        <p:grpSpPr bwMode="auto">
          <a:xfrm>
            <a:off x="827584" y="908720"/>
            <a:ext cx="6089650" cy="2309812"/>
            <a:chOff x="930207" y="4220515"/>
            <a:chExt cx="6090065" cy="2308966"/>
          </a:xfrm>
        </p:grpSpPr>
        <p:sp>
          <p:nvSpPr>
            <p:cNvPr id="7" name="文本框 39"/>
            <p:cNvSpPr txBox="1">
              <a:spLocks noChangeArrowheads="1"/>
            </p:cNvSpPr>
            <p:nvPr/>
          </p:nvSpPr>
          <p:spPr bwMode="auto">
            <a:xfrm>
              <a:off x="939195" y="4220515"/>
              <a:ext cx="6072088" cy="2308966"/>
            </a:xfrm>
            <a:prstGeom prst="rect">
              <a:avLst/>
            </a:prstGeom>
            <a:solidFill>
              <a:srgbClr val="FCEBFF"/>
            </a:solidFill>
            <a:ln w="38100">
              <a:solidFill>
                <a:srgbClr val="800000"/>
              </a:solidFill>
              <a:round/>
              <a:headEnd/>
              <a:tailEnd/>
            </a:ln>
          </p:spPr>
          <p:txBody>
            <a:bodyPr lIns="92075" tIns="46038" rIns="92075" bIns="46038" anchor="ctr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charset="0"/>
                  <a:ea typeface="宋体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kumimoji="1" lang="zh-CN" altLang="en-US" sz="2400" dirty="0"/>
                <a:t>输入</a:t>
              </a:r>
              <a:r>
                <a:rPr kumimoji="1" lang="en-US" altLang="zh-CN" sz="2400" dirty="0"/>
                <a:t>s, t, m</a:t>
              </a:r>
            </a:p>
            <a:p>
              <a:pPr>
                <a:lnSpc>
                  <a:spcPct val="150000"/>
                </a:lnSpc>
              </a:pPr>
              <a:r>
                <a:rPr kumimoji="1" lang="en-US" altLang="zh-CN" sz="2400" dirty="0"/>
                <a:t>lens=s</a:t>
              </a:r>
              <a:r>
                <a:rPr kumimoji="1" lang="zh-CN" altLang="en-US" sz="2400" dirty="0"/>
                <a:t>的长度</a:t>
              </a:r>
              <a:endParaRPr kumimoji="1" lang="en-US" altLang="zh-CN" sz="2400" dirty="0"/>
            </a:p>
            <a:p>
              <a:pPr>
                <a:lnSpc>
                  <a:spcPct val="150000"/>
                </a:lnSpc>
              </a:pPr>
              <a:r>
                <a:rPr kumimoji="1" lang="en-US" altLang="zh-CN" sz="2400" dirty="0"/>
                <a:t>for </a:t>
              </a:r>
              <a:r>
                <a:rPr kumimoji="1" lang="en-US" altLang="zh-CN" sz="2400" dirty="0" err="1"/>
                <a:t>i</a:t>
              </a:r>
              <a:r>
                <a:rPr kumimoji="1" lang="en-US" altLang="zh-CN" sz="2400" dirty="0"/>
                <a:t>=lens to m    </a:t>
              </a:r>
              <a:r>
                <a:rPr kumimoji="1" lang="zh-CN" altLang="en-US" sz="2400" dirty="0"/>
                <a:t>步长</a:t>
              </a:r>
              <a:r>
                <a:rPr kumimoji="1" lang="en-US" altLang="zh-CN" sz="2400" dirty="0" err="1"/>
                <a:t>i</a:t>
              </a:r>
              <a:r>
                <a:rPr kumimoji="1" lang="en-US" altLang="zh-CN" sz="2400" dirty="0"/>
                <a:t>-</a:t>
              </a:r>
              <a:r>
                <a:rPr kumimoji="1" lang="en-US" altLang="zh-CN" sz="2400" dirty="0" smtClean="0"/>
                <a:t>-</a:t>
              </a:r>
              <a:r>
                <a:rPr kumimoji="1" lang="zh-CN" altLang="en-US" sz="2400" dirty="0" smtClean="0"/>
                <a:t>      </a:t>
              </a:r>
              <a:r>
                <a:rPr kumimoji="1" lang="en-US" altLang="zh-CN" sz="2400" dirty="0" smtClean="0"/>
                <a:t>//</a:t>
              </a:r>
              <a:r>
                <a:rPr kumimoji="1" lang="zh-CN" altLang="en-US" sz="2400" dirty="0" smtClean="0"/>
                <a:t>右侧向后移动</a:t>
              </a:r>
              <a:endParaRPr kumimoji="1" lang="en-US" altLang="zh-CN" sz="2400" dirty="0"/>
            </a:p>
            <a:p>
              <a:pPr>
                <a:lnSpc>
                  <a:spcPct val="150000"/>
                </a:lnSpc>
              </a:pPr>
              <a:r>
                <a:rPr kumimoji="1" lang="en-US" altLang="zh-CN" sz="2400" dirty="0"/>
                <a:t>	s[</a:t>
              </a:r>
              <a:r>
                <a:rPr kumimoji="1" lang="en-US" altLang="zh-CN" sz="2400" dirty="0" err="1"/>
                <a:t>i+lent</a:t>
              </a:r>
              <a:r>
                <a:rPr kumimoji="1" lang="en-US" altLang="zh-CN" sz="2400" dirty="0"/>
                <a:t>] = s[</a:t>
              </a:r>
              <a:r>
                <a:rPr kumimoji="1" lang="en-US" altLang="zh-CN" sz="2400" dirty="0" err="1"/>
                <a:t>i</a:t>
              </a:r>
              <a:r>
                <a:rPr kumimoji="1" lang="en-US" altLang="zh-CN" sz="2400" dirty="0"/>
                <a:t>]</a:t>
              </a:r>
              <a:endParaRPr kumimoji="1" lang="zh-CN" altLang="en-US" sz="2400" dirty="0"/>
            </a:p>
          </p:txBody>
        </p:sp>
        <p:cxnSp>
          <p:nvCxnSpPr>
            <p:cNvPr id="8" name="直线连接符 46"/>
            <p:cNvCxnSpPr>
              <a:cxnSpLocks noChangeShapeType="1"/>
            </p:cNvCxnSpPr>
            <p:nvPr/>
          </p:nvCxnSpPr>
          <p:spPr bwMode="auto">
            <a:xfrm>
              <a:off x="1538675" y="5969154"/>
              <a:ext cx="5472608" cy="0"/>
            </a:xfrm>
            <a:prstGeom prst="line">
              <a:avLst/>
            </a:prstGeom>
            <a:noFill/>
            <a:ln w="38100">
              <a:solidFill>
                <a:srgbClr val="822216"/>
              </a:solidFill>
              <a:round/>
              <a:headEnd/>
              <a:tailEnd/>
            </a:ln>
            <a:effectLst>
              <a:outerShdw dist="35921" sx="999" sy="999" kx="2115321" algn="bl" rotWithShape="0">
                <a:srgbClr val="C0C0C0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直线连接符 48"/>
            <p:cNvCxnSpPr>
              <a:cxnSpLocks noChangeShapeType="1"/>
            </p:cNvCxnSpPr>
            <p:nvPr/>
          </p:nvCxnSpPr>
          <p:spPr bwMode="auto">
            <a:xfrm>
              <a:off x="1547664" y="5969154"/>
              <a:ext cx="0" cy="560327"/>
            </a:xfrm>
            <a:prstGeom prst="line">
              <a:avLst/>
            </a:prstGeom>
            <a:noFill/>
            <a:ln w="38100">
              <a:solidFill>
                <a:srgbClr val="822216"/>
              </a:solidFill>
              <a:round/>
              <a:headEnd/>
              <a:tailEnd/>
            </a:ln>
            <a:effectLst>
              <a:outerShdw dist="35921" sx="999" sy="999" kx="2115321" algn="bl" rotWithShape="0">
                <a:srgbClr val="C0C0C0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直线连接符 50"/>
            <p:cNvCxnSpPr>
              <a:cxnSpLocks noChangeShapeType="1"/>
            </p:cNvCxnSpPr>
            <p:nvPr/>
          </p:nvCxnSpPr>
          <p:spPr bwMode="auto">
            <a:xfrm>
              <a:off x="939195" y="5374998"/>
              <a:ext cx="6072088" cy="0"/>
            </a:xfrm>
            <a:prstGeom prst="line">
              <a:avLst/>
            </a:prstGeom>
            <a:noFill/>
            <a:ln w="38100">
              <a:solidFill>
                <a:srgbClr val="822216"/>
              </a:solidFill>
              <a:round/>
              <a:headEnd/>
              <a:tailEnd/>
            </a:ln>
            <a:effectLst>
              <a:outerShdw dist="35921" sx="999" sy="999" kx="2115321" algn="bl" rotWithShape="0">
                <a:srgbClr val="C0C0C0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直线连接符 52"/>
            <p:cNvCxnSpPr>
              <a:cxnSpLocks noChangeShapeType="1"/>
            </p:cNvCxnSpPr>
            <p:nvPr/>
          </p:nvCxnSpPr>
          <p:spPr bwMode="auto">
            <a:xfrm>
              <a:off x="930207" y="4725144"/>
              <a:ext cx="6090065" cy="72008"/>
            </a:xfrm>
            <a:prstGeom prst="line">
              <a:avLst/>
            </a:prstGeom>
            <a:noFill/>
            <a:ln w="38100">
              <a:solidFill>
                <a:srgbClr val="822216"/>
              </a:solidFill>
              <a:round/>
              <a:headEnd/>
              <a:tailEnd/>
            </a:ln>
            <a:effectLst>
              <a:outerShdw dist="35921" sx="999" sy="999" kx="2115321" algn="bl" rotWithShape="0">
                <a:srgbClr val="C0C0C0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60028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357560"/>
            <a:ext cx="8229600" cy="1143000"/>
          </a:xfrm>
        </p:spPr>
        <p:txBody>
          <a:bodyPr/>
          <a:lstStyle/>
          <a:p>
            <a:r>
              <a:rPr kumimoji="1" lang="zh-CN" altLang="en-US" dirty="0" smtClean="0"/>
              <a:t>字符串排序（选择）</a:t>
            </a:r>
            <a:endParaRPr kumimoji="1"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909005"/>
              </p:ext>
            </p:extLst>
          </p:nvPr>
        </p:nvGraphicFramePr>
        <p:xfrm>
          <a:off x="3059832" y="1772816"/>
          <a:ext cx="5400598" cy="66384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71514"/>
                <a:gridCol w="771514"/>
                <a:gridCol w="771514"/>
                <a:gridCol w="771514"/>
                <a:gridCol w="771514"/>
                <a:gridCol w="771514"/>
                <a:gridCol w="771514"/>
              </a:tblGrid>
              <a:tr h="6638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/>
                        <a:t>z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/>
                        <a:t>h</a:t>
                      </a:r>
                      <a:endParaRPr lang="zh-CN" altLang="en-US" sz="2800" u="none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/>
                        <a:t>o</a:t>
                      </a:r>
                      <a:endParaRPr lang="zh-CN" altLang="en-US" sz="2800" u="none" baseline="0" dirty="0">
                        <a:latin typeface="+mn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/>
                        <a:t>u</a:t>
                      </a:r>
                      <a:endParaRPr lang="zh-CN" altLang="en-US" sz="2800" u="none" baseline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/>
                        <a:t>\0</a:t>
                      </a:r>
                      <a:endParaRPr lang="zh-CN" altLang="en-US" sz="2800" u="none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u="none" baseline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u="none" baseline="0" dirty="0">
                        <a:latin typeface="+mn-lt"/>
                        <a:ea typeface="宋体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991315"/>
              </p:ext>
            </p:extLst>
          </p:nvPr>
        </p:nvGraphicFramePr>
        <p:xfrm>
          <a:off x="3059832" y="3717032"/>
          <a:ext cx="5400598" cy="66384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71514"/>
                <a:gridCol w="771514"/>
                <a:gridCol w="771514"/>
                <a:gridCol w="771514"/>
                <a:gridCol w="771514"/>
                <a:gridCol w="771514"/>
                <a:gridCol w="771514"/>
              </a:tblGrid>
              <a:tr h="6638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/>
                        <a:t>l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err="1" smtClean="0"/>
                        <a:t>i</a:t>
                      </a:r>
                      <a:endParaRPr lang="zh-CN" altLang="en-US" sz="2800" u="none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/>
                        <a:t>\0</a:t>
                      </a:r>
                      <a:endParaRPr lang="zh-CN" altLang="en-US" sz="2800" u="none" baseline="0" dirty="0">
                        <a:latin typeface="+mn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u="none" baseline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u="none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u="none" baseline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u="none" baseline="0" dirty="0">
                        <a:latin typeface="+mn-lt"/>
                        <a:ea typeface="宋体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82454"/>
              </p:ext>
            </p:extLst>
          </p:nvPr>
        </p:nvGraphicFramePr>
        <p:xfrm>
          <a:off x="3059832" y="2708920"/>
          <a:ext cx="5400598" cy="66384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71514"/>
                <a:gridCol w="771514"/>
                <a:gridCol w="771514"/>
                <a:gridCol w="771514"/>
                <a:gridCol w="771514"/>
                <a:gridCol w="771514"/>
                <a:gridCol w="771514"/>
              </a:tblGrid>
              <a:tr h="6638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/>
                        <a:t>z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/>
                        <a:t>h</a:t>
                      </a:r>
                      <a:endParaRPr lang="zh-CN" altLang="en-US" sz="2800" u="none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/>
                        <a:t>a</a:t>
                      </a:r>
                      <a:endParaRPr lang="zh-CN" altLang="en-US" sz="2800" u="none" baseline="0" dirty="0">
                        <a:latin typeface="+mn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/>
                        <a:t>n</a:t>
                      </a:r>
                      <a:endParaRPr lang="zh-CN" altLang="en-US" sz="2800" u="none" baseline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/>
                        <a:t>g</a:t>
                      </a:r>
                      <a:endParaRPr lang="zh-CN" altLang="en-US" sz="2800" u="none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/>
                        <a:t>\0</a:t>
                      </a:r>
                      <a:endParaRPr lang="zh-CN" altLang="en-US" sz="2800" u="none" baseline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u="none" baseline="0" dirty="0">
                        <a:latin typeface="+mn-lt"/>
                        <a:ea typeface="宋体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950752"/>
              </p:ext>
            </p:extLst>
          </p:nvPr>
        </p:nvGraphicFramePr>
        <p:xfrm>
          <a:off x="3059832" y="4725144"/>
          <a:ext cx="5400598" cy="663848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771514"/>
                <a:gridCol w="771514"/>
                <a:gridCol w="771514"/>
                <a:gridCol w="771514"/>
                <a:gridCol w="771514"/>
                <a:gridCol w="771514"/>
                <a:gridCol w="771514"/>
              </a:tblGrid>
              <a:tr h="6638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/>
                        <a:t>t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/>
                        <a:t>a</a:t>
                      </a:r>
                      <a:endParaRPr lang="zh-CN" altLang="en-US" sz="2800" u="none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/>
                        <a:t>n</a:t>
                      </a:r>
                      <a:endParaRPr lang="zh-CN" altLang="en-US" sz="2800" u="none" baseline="0" dirty="0">
                        <a:latin typeface="+mn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/>
                        <a:t>g</a:t>
                      </a:r>
                      <a:endParaRPr lang="zh-CN" altLang="en-US" sz="2800" u="none" baseline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/>
                        <a:t>\0</a:t>
                      </a:r>
                      <a:endParaRPr lang="zh-CN" altLang="en-US" sz="2800" u="none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u="none" baseline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u="none" baseline="0" dirty="0">
                        <a:latin typeface="+mn-lt"/>
                        <a:ea typeface="宋体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2195736" y="1885839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smtClean="0">
                <a:latin typeface="Consolas" charset="0"/>
                <a:ea typeface="宋体" charset="-122"/>
              </a:rPr>
              <a:t>a[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0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]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87994" y="1181067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idx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[</a:t>
            </a:r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i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]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014378"/>
              </p:ext>
            </p:extLst>
          </p:nvPr>
        </p:nvGraphicFramePr>
        <p:xfrm>
          <a:off x="410166" y="1869446"/>
          <a:ext cx="633441" cy="351954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633441"/>
              </a:tblGrid>
              <a:tr h="69675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94093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94093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94093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2195736" y="2740341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smtClean="0">
                <a:latin typeface="Consolas" charset="0"/>
                <a:ea typeface="宋体" charset="-122"/>
              </a:rPr>
              <a:t>a[1]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195735" y="3768182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smtClean="0">
                <a:latin typeface="Consolas" charset="0"/>
                <a:ea typeface="宋体" charset="-122"/>
              </a:rPr>
              <a:t>a[2]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195735" y="4733913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smtClean="0">
                <a:latin typeface="Consolas" charset="0"/>
                <a:ea typeface="宋体" charset="-122"/>
              </a:rPr>
              <a:t>a[3]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  <p:cxnSp>
        <p:nvCxnSpPr>
          <p:cNvPr id="15" name="直线箭头连接符 14"/>
          <p:cNvCxnSpPr/>
          <p:nvPr/>
        </p:nvCxnSpPr>
        <p:spPr>
          <a:xfrm>
            <a:off x="1079611" y="2204864"/>
            <a:ext cx="1152129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/>
          <p:cNvCxnSpPr/>
          <p:nvPr/>
        </p:nvCxnSpPr>
        <p:spPr>
          <a:xfrm>
            <a:off x="1043607" y="2204864"/>
            <a:ext cx="1656185" cy="1656184"/>
          </a:xfrm>
          <a:prstGeom prst="straightConnector1">
            <a:avLst/>
          </a:prstGeom>
          <a:ln w="2222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673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字符串排序（选择）</a:t>
            </a:r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205680" y="1884888"/>
            <a:ext cx="8686800" cy="489364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400" b="1" dirty="0" smtClean="0"/>
              <a:t>for</a:t>
            </a:r>
            <a:r>
              <a:rPr lang="zh-CN" altLang="en-US" sz="2400" b="1" dirty="0"/>
              <a:t>(i=0; i&lt;n; i++) scanf("%s",a[i]);  /</a:t>
            </a:r>
            <a:r>
              <a:rPr lang="zh-CN" altLang="en-US" sz="2400" b="1" dirty="0" smtClean="0"/>
              <a:t>/ </a:t>
            </a:r>
            <a:r>
              <a:rPr lang="zh-CN" altLang="en-US" sz="2400" b="1" dirty="0"/>
              <a:t>	</a:t>
            </a:r>
            <a:endParaRPr lang="en-US" altLang="zh-CN" sz="2400" b="1" dirty="0" smtClean="0"/>
          </a:p>
          <a:p>
            <a:r>
              <a:rPr lang="zh-CN" altLang="en-US" sz="2400" b="1" dirty="0" smtClean="0"/>
              <a:t>for</a:t>
            </a:r>
            <a:r>
              <a:rPr lang="zh-CN" altLang="en-US" sz="2400" b="1" dirty="0"/>
              <a:t>(i=0; i&lt;n; i++) idx[i]=i</a:t>
            </a:r>
            <a:r>
              <a:rPr lang="zh-CN" altLang="en-US" sz="2400" b="1" dirty="0" smtClean="0"/>
              <a:t>;  </a:t>
            </a:r>
            <a:r>
              <a:rPr lang="en-US" altLang="zh-CN" sz="2400" b="1" dirty="0" smtClean="0"/>
              <a:t>//</a:t>
            </a:r>
            <a:r>
              <a:rPr lang="zh-CN" altLang="en-US" sz="2400" b="1" dirty="0" smtClean="0"/>
              <a:t>给字符串编号</a:t>
            </a:r>
            <a:r>
              <a:rPr lang="zh-CN" altLang="en-US" sz="2400" b="1" dirty="0"/>
              <a:t>	</a:t>
            </a:r>
            <a:endParaRPr lang="en-US" altLang="zh-CN" sz="2400" b="1" dirty="0" smtClean="0"/>
          </a:p>
          <a:p>
            <a:r>
              <a:rPr lang="zh-CN" altLang="en-US" sz="2400" b="1" dirty="0"/>
              <a:t>	</a:t>
            </a:r>
            <a:endParaRPr lang="en-US" altLang="zh-CN" sz="2400" b="1" dirty="0" smtClean="0"/>
          </a:p>
          <a:p>
            <a:r>
              <a:rPr lang="zh-CN" altLang="en-US" sz="2400" b="1" dirty="0" smtClean="0"/>
              <a:t>for</a:t>
            </a:r>
            <a:r>
              <a:rPr lang="zh-CN" altLang="en-US" sz="2400" b="1" dirty="0"/>
              <a:t>(i=0; i&lt;n-1; i++){ /</a:t>
            </a:r>
            <a:r>
              <a:rPr lang="zh-CN" altLang="en-US" sz="2400" b="1" dirty="0" smtClean="0"/>
              <a:t>/对</a:t>
            </a:r>
            <a:r>
              <a:rPr lang="en-US" altLang="zh-CN" sz="2400" b="1" dirty="0" err="1" smtClean="0"/>
              <a:t>idx</a:t>
            </a:r>
            <a:r>
              <a:rPr lang="zh-CN" altLang="en-US" sz="2400" b="1" dirty="0" smtClean="0"/>
              <a:t>［］排序 </a:t>
            </a:r>
            <a:r>
              <a:rPr lang="zh-CN" altLang="en-US" sz="2400" b="1" dirty="0"/>
              <a:t>		</a:t>
            </a:r>
            <a:endParaRPr lang="en-US" altLang="zh-CN" sz="2400" b="1" dirty="0" smtClean="0"/>
          </a:p>
          <a:p>
            <a:r>
              <a:rPr lang="en-US" altLang="zh-CN" sz="2400" b="1" dirty="0"/>
              <a:t>	</a:t>
            </a:r>
            <a:r>
              <a:rPr lang="zh-CN" altLang="en-US" sz="2400" b="1" dirty="0" smtClean="0"/>
              <a:t>k</a:t>
            </a:r>
            <a:r>
              <a:rPr lang="zh-CN" altLang="en-US" sz="2400" b="1" dirty="0"/>
              <a:t>=i;				</a:t>
            </a:r>
            <a:endParaRPr lang="en-US" altLang="zh-CN" sz="2400" b="1" dirty="0" smtClean="0"/>
          </a:p>
          <a:p>
            <a:r>
              <a:rPr lang="en-US" altLang="zh-CN" sz="2400" b="1" dirty="0"/>
              <a:t>	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for</a:t>
            </a:r>
            <a:r>
              <a:rPr lang="zh-CN" altLang="en-US" sz="2400" b="1" dirty="0">
                <a:solidFill>
                  <a:srgbClr val="C00000"/>
                </a:solidFill>
              </a:rPr>
              <a:t>(j=i+1; j&lt;n; j++)	</a:t>
            </a:r>
            <a:r>
              <a:rPr lang="en-US" altLang="zh-CN" sz="2400" b="1" dirty="0" smtClean="0">
                <a:solidFill>
                  <a:srgbClr val="C00000"/>
                </a:solidFill>
              </a:rPr>
              <a:t>//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从小到大排序</a:t>
            </a:r>
            <a:endParaRPr lang="en-US" altLang="zh-CN" sz="2400" b="1" dirty="0" smtClean="0">
              <a:solidFill>
                <a:srgbClr val="C00000"/>
              </a:solidFill>
            </a:endParaRPr>
          </a:p>
          <a:p>
            <a:r>
              <a:rPr lang="en-US" altLang="zh-CN" sz="2400" b="1" dirty="0">
                <a:solidFill>
                  <a:srgbClr val="C00000"/>
                </a:solidFill>
              </a:rPr>
              <a:t>	</a:t>
            </a:r>
            <a:r>
              <a:rPr lang="en-US" altLang="zh-CN" sz="2400" b="1" dirty="0" smtClean="0">
                <a:solidFill>
                  <a:srgbClr val="C00000"/>
                </a:solidFill>
              </a:rPr>
              <a:t>	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if</a:t>
            </a:r>
            <a:r>
              <a:rPr lang="zh-CN" altLang="en-US" sz="2400" b="1" dirty="0">
                <a:solidFill>
                  <a:srgbClr val="C00000"/>
                </a:solidFill>
              </a:rPr>
              <a:t>( str_cmp(a[idx[k]], a[idx[j]]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)</a:t>
            </a:r>
            <a:r>
              <a:rPr lang="en-US" altLang="zh-CN" sz="2400" b="1" dirty="0">
                <a:solidFill>
                  <a:srgbClr val="C00000"/>
                </a:solidFill>
              </a:rPr>
              <a:t>&gt;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0 </a:t>
            </a:r>
            <a:r>
              <a:rPr lang="zh-CN" altLang="en-US" sz="2400" b="1" dirty="0">
                <a:solidFill>
                  <a:srgbClr val="C00000"/>
                </a:solidFill>
              </a:rPr>
              <a:t>) k=j; 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 </a:t>
            </a:r>
            <a:r>
              <a:rPr lang="zh-CN" altLang="en-US" sz="2400" b="1" dirty="0"/>
              <a:t>	</a:t>
            </a:r>
            <a:r>
              <a:rPr lang="zh-CN" altLang="en-US" sz="2400" b="1" dirty="0" smtClean="0"/>
              <a:t>if</a:t>
            </a:r>
            <a:r>
              <a:rPr lang="zh-CN" altLang="en-US" sz="2400" b="1" dirty="0"/>
              <a:t>(k!=i</a:t>
            </a:r>
            <a:r>
              <a:rPr lang="zh-CN" altLang="en-US" sz="2400" b="1" dirty="0" smtClean="0"/>
              <a:t>)｛</a:t>
            </a:r>
            <a:endParaRPr lang="en-US" altLang="zh-CN" sz="2400" b="1" dirty="0" smtClean="0"/>
          </a:p>
          <a:p>
            <a:r>
              <a:rPr lang="en-US" altLang="zh-CN" sz="2400" b="1" dirty="0"/>
              <a:t>	</a:t>
            </a:r>
            <a:r>
              <a:rPr lang="en-US" altLang="zh-CN" sz="2400" b="1" dirty="0" smtClean="0"/>
              <a:t>	</a:t>
            </a:r>
            <a:r>
              <a:rPr lang="zh-CN" altLang="en-US" sz="2400" b="1" dirty="0" smtClean="0"/>
              <a:t>t</a:t>
            </a:r>
            <a:r>
              <a:rPr lang="zh-CN" altLang="en-US" sz="2400" b="1" dirty="0"/>
              <a:t>=idx[k]</a:t>
            </a:r>
            <a:r>
              <a:rPr lang="zh-CN" altLang="en-US" sz="2400" b="1" dirty="0" smtClean="0"/>
              <a:t>;</a:t>
            </a:r>
            <a:endParaRPr lang="en-US" altLang="zh-CN" sz="2400" b="1" dirty="0" smtClean="0"/>
          </a:p>
          <a:p>
            <a:r>
              <a:rPr lang="zh-CN" altLang="en-US" sz="2400" b="1" dirty="0"/>
              <a:t>		</a:t>
            </a:r>
            <a:r>
              <a:rPr lang="zh-CN" altLang="en-US" sz="2400" b="1" dirty="0" smtClean="0"/>
              <a:t>idx</a:t>
            </a:r>
            <a:r>
              <a:rPr lang="zh-CN" altLang="en-US" sz="2400" b="1" dirty="0"/>
              <a:t>[k]=idx[i];			</a:t>
            </a:r>
            <a:r>
              <a:rPr lang="en-US" altLang="zh-CN" sz="2400" b="1" dirty="0" smtClean="0"/>
              <a:t>	</a:t>
            </a:r>
          </a:p>
          <a:p>
            <a:r>
              <a:rPr lang="en-US" altLang="zh-CN" sz="2400" b="1" dirty="0" smtClean="0"/>
              <a:t>		</a:t>
            </a:r>
            <a:r>
              <a:rPr lang="zh-CN" altLang="en-US" sz="2400" b="1" dirty="0" smtClean="0"/>
              <a:t>idx</a:t>
            </a:r>
            <a:r>
              <a:rPr lang="zh-CN" altLang="en-US" sz="2400" b="1" dirty="0"/>
              <a:t>[i]=t</a:t>
            </a:r>
            <a:r>
              <a:rPr lang="zh-CN" altLang="en-US" sz="2400" b="1" dirty="0" smtClean="0"/>
              <a:t>;   </a:t>
            </a:r>
            <a:r>
              <a:rPr lang="en-US" altLang="zh-CN" sz="2400" b="1" dirty="0" smtClean="0"/>
              <a:t>//</a:t>
            </a:r>
            <a:r>
              <a:rPr lang="zh-CN" altLang="en-US" sz="2400" b="1" dirty="0" smtClean="0"/>
              <a:t>对</a:t>
            </a:r>
            <a:r>
              <a:rPr lang="en-US" altLang="zh-CN" sz="2400" b="1" dirty="0" err="1" smtClean="0"/>
              <a:t>idx</a:t>
            </a:r>
            <a:r>
              <a:rPr lang="en-US" altLang="zh-CN" sz="2400" b="1" dirty="0" smtClean="0"/>
              <a:t>[]</a:t>
            </a:r>
            <a:r>
              <a:rPr lang="zh-CN" altLang="en-US" sz="2400" b="1" dirty="0" smtClean="0"/>
              <a:t>排序</a:t>
            </a:r>
            <a:r>
              <a:rPr lang="zh-CN" altLang="en-US" sz="2400" b="1" dirty="0"/>
              <a:t>		</a:t>
            </a:r>
            <a:endParaRPr lang="en-US" altLang="zh-CN" sz="2400" b="1" dirty="0" smtClean="0"/>
          </a:p>
          <a:p>
            <a:r>
              <a:rPr lang="en-US" altLang="zh-CN" sz="2400" b="1" dirty="0"/>
              <a:t>	</a:t>
            </a:r>
            <a:r>
              <a:rPr lang="zh-CN" altLang="en-US" sz="2400" b="1" dirty="0" smtClean="0"/>
              <a:t>}</a:t>
            </a:r>
            <a:r>
              <a:rPr lang="zh-CN" altLang="en-US" sz="2400" b="1" dirty="0"/>
              <a:t>	</a:t>
            </a:r>
            <a:endParaRPr lang="en-US" altLang="zh-CN" sz="2400" b="1" dirty="0" smtClean="0"/>
          </a:p>
          <a:p>
            <a:r>
              <a:rPr lang="zh-CN" altLang="en-US" sz="2400" b="1" dirty="0" smtClean="0"/>
              <a:t>}</a:t>
            </a:r>
            <a:endParaRPr lang="zh-CN" altLang="en-US" sz="2400" b="1" dirty="0"/>
          </a:p>
        </p:txBody>
      </p:sp>
      <p:sp>
        <p:nvSpPr>
          <p:cNvPr id="4" name="矩形 3"/>
          <p:cNvSpPr/>
          <p:nvPr/>
        </p:nvSpPr>
        <p:spPr>
          <a:xfrm>
            <a:off x="1150891" y="3717032"/>
            <a:ext cx="7571184" cy="792088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6765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/>
          <a:lstStyle/>
          <a:p>
            <a:r>
              <a:rPr kumimoji="1" lang="zh-CN" altLang="en-US" dirty="0" smtClean="0"/>
              <a:t>合并字符串</a:t>
            </a:r>
            <a:endParaRPr kumimoji="1"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99592" y="1275601"/>
            <a:ext cx="7366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要求，将两个已经</a:t>
            </a:r>
            <a:r>
              <a:rPr lang="zh-CN" altLang="en-US" sz="2000" dirty="0" smtClean="0"/>
              <a:t>排好升序</a:t>
            </a:r>
            <a:r>
              <a:rPr lang="zh-CN" altLang="en-US" sz="2000" dirty="0"/>
              <a:t>的字符</a:t>
            </a:r>
            <a:r>
              <a:rPr lang="zh-CN" altLang="en-US" sz="2000" dirty="0" smtClean="0"/>
              <a:t>串</a:t>
            </a:r>
            <a:r>
              <a:rPr lang="en-US" altLang="zh-CN" sz="2000" dirty="0" err="1" smtClean="0"/>
              <a:t>a,b</a:t>
            </a:r>
            <a:r>
              <a:rPr lang="zh-CN" altLang="en-US" sz="2000" dirty="0" smtClean="0"/>
              <a:t>合并</a:t>
            </a:r>
            <a:r>
              <a:rPr lang="zh-CN" altLang="en-US" sz="2000" dirty="0"/>
              <a:t>到一个字</a:t>
            </a:r>
            <a:r>
              <a:rPr lang="zh-CN" altLang="en-US" sz="2000" dirty="0" smtClean="0"/>
              <a:t>符串</a:t>
            </a:r>
            <a:r>
              <a:rPr lang="en-US" altLang="zh-CN" sz="2000" dirty="0" smtClean="0"/>
              <a:t>c</a:t>
            </a:r>
            <a:r>
              <a:rPr lang="zh-CN" altLang="en-US" sz="2000" dirty="0" smtClean="0"/>
              <a:t>里</a:t>
            </a:r>
            <a:endParaRPr kumimoji="1" lang="zh-CN" altLang="en-US" sz="2000" dirty="0">
              <a:latin typeface="Consolas" charset="0"/>
              <a:ea typeface="宋体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7544" y="2774490"/>
            <a:ext cx="8352928" cy="18158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de-DE" altLang="zh-CN" sz="2800" dirty="0" err="1" smtClean="0">
                <a:solidFill>
                  <a:srgbClr val="545251"/>
                </a:solidFill>
                <a:latin typeface="Arial" charset="0"/>
              </a:rPr>
              <a:t>while</a:t>
            </a:r>
            <a:r>
              <a:rPr lang="de-DE" altLang="zh-CN" sz="2800" dirty="0">
                <a:solidFill>
                  <a:srgbClr val="545251"/>
                </a:solidFill>
                <a:latin typeface="Arial" charset="0"/>
              </a:rPr>
              <a:t>( </a:t>
            </a:r>
            <a:r>
              <a:rPr lang="de-DE" altLang="zh-CN" sz="2800" dirty="0" smtClean="0">
                <a:solidFill>
                  <a:srgbClr val="545251"/>
                </a:solidFill>
                <a:latin typeface="Arial" charset="0"/>
              </a:rPr>
              <a:t>a[i] </a:t>
            </a:r>
            <a:r>
              <a:rPr lang="de-DE" altLang="zh-CN" sz="2800" dirty="0">
                <a:solidFill>
                  <a:srgbClr val="545251"/>
                </a:solidFill>
                <a:latin typeface="Arial" charset="0"/>
              </a:rPr>
              <a:t>&amp;&amp; </a:t>
            </a:r>
            <a:r>
              <a:rPr lang="de-DE" altLang="zh-CN" sz="2800" dirty="0" smtClean="0">
                <a:solidFill>
                  <a:srgbClr val="545251"/>
                </a:solidFill>
                <a:latin typeface="Arial" charset="0"/>
              </a:rPr>
              <a:t>b[</a:t>
            </a:r>
            <a:r>
              <a:rPr lang="de-DE" altLang="zh-CN" sz="2800" dirty="0" err="1" smtClean="0">
                <a:solidFill>
                  <a:srgbClr val="545251"/>
                </a:solidFill>
                <a:latin typeface="Arial" charset="0"/>
              </a:rPr>
              <a:t>j</a:t>
            </a:r>
            <a:r>
              <a:rPr lang="de-DE" altLang="zh-CN" sz="2800" dirty="0" smtClean="0">
                <a:solidFill>
                  <a:srgbClr val="545251"/>
                </a:solidFill>
                <a:latin typeface="Arial" charset="0"/>
              </a:rPr>
              <a:t>] )</a:t>
            </a:r>
            <a:r>
              <a:rPr lang="en-US" altLang="zh-CN" sz="2800" dirty="0" smtClean="0">
                <a:solidFill>
                  <a:srgbClr val="545251"/>
                </a:solidFill>
                <a:latin typeface="Arial" charset="0"/>
              </a:rPr>
              <a:t>{</a:t>
            </a:r>
            <a:r>
              <a:rPr lang="de-DE" altLang="zh-CN" sz="2800" dirty="0" smtClean="0">
                <a:solidFill>
                  <a:srgbClr val="545251"/>
                </a:solidFill>
                <a:latin typeface="Arial" charset="0"/>
              </a:rPr>
              <a:t>           </a:t>
            </a:r>
          </a:p>
          <a:p>
            <a:r>
              <a:rPr lang="de-DE" altLang="zh-CN" sz="2800" dirty="0">
                <a:solidFill>
                  <a:srgbClr val="545251"/>
                </a:solidFill>
                <a:latin typeface="Arial" charset="0"/>
              </a:rPr>
              <a:t> </a:t>
            </a:r>
            <a:r>
              <a:rPr lang="de-DE" altLang="zh-CN" sz="2800" dirty="0" smtClean="0">
                <a:solidFill>
                  <a:srgbClr val="545251"/>
                </a:solidFill>
                <a:latin typeface="Arial" charset="0"/>
              </a:rPr>
              <a:t>    </a:t>
            </a:r>
            <a:r>
              <a:rPr lang="de-DE" altLang="zh-CN" sz="2800" dirty="0" err="1" smtClean="0">
                <a:solidFill>
                  <a:srgbClr val="545251"/>
                </a:solidFill>
                <a:latin typeface="Arial" charset="0"/>
              </a:rPr>
              <a:t>if</a:t>
            </a:r>
            <a:r>
              <a:rPr lang="de-DE" altLang="zh-CN" sz="2800" dirty="0" smtClean="0">
                <a:solidFill>
                  <a:srgbClr val="545251"/>
                </a:solidFill>
                <a:latin typeface="Arial" charset="0"/>
              </a:rPr>
              <a:t>(a[i] &gt; b[</a:t>
            </a:r>
            <a:r>
              <a:rPr lang="de-DE" altLang="zh-CN" sz="2800" dirty="0" err="1" smtClean="0">
                <a:solidFill>
                  <a:srgbClr val="545251"/>
                </a:solidFill>
                <a:latin typeface="Arial" charset="0"/>
              </a:rPr>
              <a:t>j</a:t>
            </a:r>
            <a:r>
              <a:rPr lang="de-DE" altLang="zh-CN" sz="2800" dirty="0" smtClean="0">
                <a:solidFill>
                  <a:srgbClr val="545251"/>
                </a:solidFill>
                <a:latin typeface="Arial" charset="0"/>
              </a:rPr>
              <a:t>])  c[</a:t>
            </a:r>
            <a:r>
              <a:rPr lang="de-DE" altLang="zh-CN" sz="2800" dirty="0" err="1" smtClean="0">
                <a:solidFill>
                  <a:srgbClr val="545251"/>
                </a:solidFill>
                <a:latin typeface="Arial" charset="0"/>
              </a:rPr>
              <a:t>k</a:t>
            </a:r>
            <a:r>
              <a:rPr lang="de-DE" altLang="zh-CN" sz="2800" dirty="0" smtClean="0">
                <a:solidFill>
                  <a:srgbClr val="545251"/>
                </a:solidFill>
                <a:latin typeface="Arial" charset="0"/>
              </a:rPr>
              <a:t>++] </a:t>
            </a:r>
            <a:r>
              <a:rPr lang="de-DE" altLang="zh-CN" sz="2800" dirty="0">
                <a:solidFill>
                  <a:srgbClr val="545251"/>
                </a:solidFill>
                <a:latin typeface="Arial" charset="0"/>
              </a:rPr>
              <a:t>= </a:t>
            </a:r>
            <a:r>
              <a:rPr lang="de-DE" altLang="zh-CN" sz="2800" dirty="0" smtClean="0">
                <a:solidFill>
                  <a:srgbClr val="545251"/>
                </a:solidFill>
                <a:latin typeface="Arial" charset="0"/>
              </a:rPr>
              <a:t>b[</a:t>
            </a:r>
            <a:r>
              <a:rPr lang="de-DE" altLang="zh-CN" sz="2800" dirty="0" err="1" smtClean="0">
                <a:solidFill>
                  <a:srgbClr val="545251"/>
                </a:solidFill>
                <a:latin typeface="Arial" charset="0"/>
              </a:rPr>
              <a:t>j</a:t>
            </a:r>
            <a:r>
              <a:rPr lang="en-US" altLang="zh-CN" sz="2800" dirty="0" smtClean="0">
                <a:solidFill>
                  <a:srgbClr val="545251"/>
                </a:solidFill>
                <a:latin typeface="Arial" charset="0"/>
              </a:rPr>
              <a:t>++</a:t>
            </a:r>
            <a:r>
              <a:rPr lang="de-DE" altLang="zh-CN" sz="2800" dirty="0" smtClean="0">
                <a:solidFill>
                  <a:srgbClr val="545251"/>
                </a:solidFill>
                <a:latin typeface="Arial" charset="0"/>
              </a:rPr>
              <a:t>];          </a:t>
            </a:r>
          </a:p>
          <a:p>
            <a:r>
              <a:rPr lang="de-DE" altLang="zh-CN" sz="2800" dirty="0">
                <a:solidFill>
                  <a:srgbClr val="545251"/>
                </a:solidFill>
                <a:latin typeface="Arial" charset="0"/>
              </a:rPr>
              <a:t> </a:t>
            </a:r>
            <a:r>
              <a:rPr lang="de-DE" altLang="zh-CN" sz="2800" dirty="0" smtClean="0">
                <a:solidFill>
                  <a:srgbClr val="545251"/>
                </a:solidFill>
                <a:latin typeface="Arial" charset="0"/>
              </a:rPr>
              <a:t>    </a:t>
            </a:r>
            <a:r>
              <a:rPr lang="de-DE" altLang="zh-CN" sz="2800" dirty="0" err="1" smtClean="0">
                <a:solidFill>
                  <a:srgbClr val="545251"/>
                </a:solidFill>
                <a:latin typeface="Arial" charset="0"/>
              </a:rPr>
              <a:t>else</a:t>
            </a:r>
            <a:r>
              <a:rPr lang="de-DE" altLang="zh-CN" sz="2800" dirty="0" smtClean="0">
                <a:solidFill>
                  <a:srgbClr val="545251"/>
                </a:solidFill>
                <a:latin typeface="Arial" charset="0"/>
              </a:rPr>
              <a:t>   c[</a:t>
            </a:r>
            <a:r>
              <a:rPr lang="de-DE" altLang="zh-CN" sz="2800" dirty="0" err="1" smtClean="0">
                <a:solidFill>
                  <a:srgbClr val="545251"/>
                </a:solidFill>
                <a:latin typeface="Arial" charset="0"/>
              </a:rPr>
              <a:t>k</a:t>
            </a:r>
            <a:r>
              <a:rPr lang="de-DE" altLang="zh-CN" sz="2800" dirty="0" smtClean="0">
                <a:solidFill>
                  <a:srgbClr val="545251"/>
                </a:solidFill>
                <a:latin typeface="Arial" charset="0"/>
              </a:rPr>
              <a:t>++] </a:t>
            </a:r>
            <a:r>
              <a:rPr lang="de-DE" altLang="zh-CN" sz="2800" dirty="0">
                <a:solidFill>
                  <a:srgbClr val="545251"/>
                </a:solidFill>
                <a:latin typeface="Arial" charset="0"/>
              </a:rPr>
              <a:t>= </a:t>
            </a:r>
            <a:r>
              <a:rPr lang="de-DE" altLang="zh-CN" sz="2800" dirty="0" smtClean="0">
                <a:solidFill>
                  <a:srgbClr val="545251"/>
                </a:solidFill>
                <a:latin typeface="Arial" charset="0"/>
              </a:rPr>
              <a:t>a[i]++;</a:t>
            </a:r>
          </a:p>
          <a:p>
            <a:r>
              <a:rPr lang="de-DE" altLang="zh-CN" sz="2800" dirty="0">
                <a:solidFill>
                  <a:srgbClr val="545251"/>
                </a:solidFill>
                <a:latin typeface="Arial" charset="0"/>
              </a:rPr>
              <a:t>}</a:t>
            </a:r>
            <a:r>
              <a:rPr lang="de-DE" altLang="zh-CN" sz="2800" dirty="0" smtClean="0">
                <a:solidFill>
                  <a:srgbClr val="545251"/>
                </a:solidFill>
                <a:latin typeface="Arial" charset="0"/>
              </a:rPr>
              <a:t>           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67544" y="4781470"/>
            <a:ext cx="5245347" cy="181588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e-DE" altLang="zh-CN" sz="2800" dirty="0" err="1">
                <a:solidFill>
                  <a:srgbClr val="545251"/>
                </a:solidFill>
                <a:latin typeface="Arial" charset="0"/>
              </a:rPr>
              <a:t>while</a:t>
            </a:r>
            <a:r>
              <a:rPr lang="de-DE" altLang="zh-CN" sz="2800" dirty="0">
                <a:solidFill>
                  <a:srgbClr val="545251"/>
                </a:solidFill>
                <a:latin typeface="Arial" charset="0"/>
              </a:rPr>
              <a:t>(a[i]) (c[</a:t>
            </a:r>
            <a:r>
              <a:rPr lang="de-DE" altLang="zh-CN" sz="2800" dirty="0" err="1">
                <a:solidFill>
                  <a:srgbClr val="545251"/>
                </a:solidFill>
                <a:latin typeface="Arial" charset="0"/>
              </a:rPr>
              <a:t>k</a:t>
            </a:r>
            <a:r>
              <a:rPr lang="de-DE" altLang="zh-CN" sz="2800" dirty="0">
                <a:solidFill>
                  <a:srgbClr val="545251"/>
                </a:solidFill>
                <a:latin typeface="Arial" charset="0"/>
              </a:rPr>
              <a:t>++]=a[i++]);          </a:t>
            </a:r>
          </a:p>
          <a:p>
            <a:r>
              <a:rPr lang="de-DE" altLang="zh-CN" sz="2800" dirty="0" err="1">
                <a:solidFill>
                  <a:srgbClr val="545251"/>
                </a:solidFill>
                <a:latin typeface="Arial" charset="0"/>
              </a:rPr>
              <a:t>while</a:t>
            </a:r>
            <a:r>
              <a:rPr lang="de-DE" altLang="zh-CN" sz="2800" dirty="0">
                <a:solidFill>
                  <a:srgbClr val="545251"/>
                </a:solidFill>
                <a:latin typeface="Arial" charset="0"/>
              </a:rPr>
              <a:t>(b[i]) (c[</a:t>
            </a:r>
            <a:r>
              <a:rPr lang="de-DE" altLang="zh-CN" sz="2800" dirty="0" err="1">
                <a:solidFill>
                  <a:srgbClr val="545251"/>
                </a:solidFill>
                <a:latin typeface="Arial" charset="0"/>
              </a:rPr>
              <a:t>k</a:t>
            </a:r>
            <a:r>
              <a:rPr lang="de-DE" altLang="zh-CN" sz="2800" dirty="0">
                <a:solidFill>
                  <a:srgbClr val="545251"/>
                </a:solidFill>
                <a:latin typeface="Arial" charset="0"/>
              </a:rPr>
              <a:t>++]=b[i++]);</a:t>
            </a:r>
          </a:p>
          <a:p>
            <a:r>
              <a:rPr lang="de-DE" altLang="zh-CN" sz="2800" dirty="0">
                <a:solidFill>
                  <a:srgbClr val="FF0000"/>
                </a:solidFill>
                <a:latin typeface="Arial" charset="0"/>
              </a:rPr>
              <a:t>a[</a:t>
            </a:r>
            <a:r>
              <a:rPr lang="de-DE" altLang="zh-CN" sz="2800" dirty="0" err="1">
                <a:solidFill>
                  <a:srgbClr val="FF0000"/>
                </a:solidFill>
                <a:latin typeface="Arial" charset="0"/>
              </a:rPr>
              <a:t>k</a:t>
            </a:r>
            <a:r>
              <a:rPr lang="de-DE" altLang="zh-CN" sz="2800" dirty="0">
                <a:solidFill>
                  <a:srgbClr val="FF0000"/>
                </a:solidFill>
                <a:latin typeface="Arial" charset="0"/>
              </a:rPr>
              <a:t>]='\0'; </a:t>
            </a:r>
            <a:endParaRPr lang="zh-CN" altLang="en-US" sz="2800" dirty="0">
              <a:solidFill>
                <a:srgbClr val="FF0000"/>
              </a:solidFill>
            </a:endParaRPr>
          </a:p>
          <a:p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5536" y="2201888"/>
            <a:ext cx="145424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altLang="zh-CN" sz="2800" dirty="0">
                <a:solidFill>
                  <a:srgbClr val="545251"/>
                </a:solidFill>
                <a:latin typeface="Arial" charset="0"/>
              </a:rPr>
              <a:t>i=</a:t>
            </a:r>
            <a:r>
              <a:rPr lang="de-DE" altLang="zh-CN" sz="2800" dirty="0" err="1">
                <a:solidFill>
                  <a:srgbClr val="545251"/>
                </a:solidFill>
                <a:latin typeface="Arial" charset="0"/>
              </a:rPr>
              <a:t>j</a:t>
            </a:r>
            <a:r>
              <a:rPr lang="de-DE" altLang="zh-CN" sz="2800" dirty="0">
                <a:solidFill>
                  <a:srgbClr val="545251"/>
                </a:solidFill>
                <a:latin typeface="Arial" charset="0"/>
              </a:rPr>
              <a:t>=</a:t>
            </a:r>
            <a:r>
              <a:rPr lang="de-DE" altLang="zh-CN" sz="2800" dirty="0" err="1">
                <a:solidFill>
                  <a:srgbClr val="545251"/>
                </a:solidFill>
                <a:latin typeface="Arial" charset="0"/>
              </a:rPr>
              <a:t>k</a:t>
            </a:r>
            <a:r>
              <a:rPr lang="de-DE" altLang="zh-CN" sz="2800" dirty="0">
                <a:solidFill>
                  <a:srgbClr val="545251"/>
                </a:solidFill>
                <a:latin typeface="Arial" charset="0"/>
              </a:rPr>
              <a:t>=0;</a:t>
            </a:r>
          </a:p>
          <a:p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67929" y="1678668"/>
            <a:ext cx="1620957" cy="52322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zh-CN" altLang="en-US" sz="2800" dirty="0" smtClean="0">
                <a:latin typeface="Consolas" charset="0"/>
                <a:ea typeface="宋体" charset="-122"/>
              </a:rPr>
              <a:t>解法一：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264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合并字符串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67929" y="1678668"/>
            <a:ext cx="1656223" cy="52322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zh-CN" altLang="en-US" sz="2800" dirty="0" smtClean="0">
                <a:latin typeface="Consolas" charset="0"/>
                <a:ea typeface="宋体" charset="-122"/>
              </a:rPr>
              <a:t>解法二：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68146" y="2724237"/>
            <a:ext cx="5705408" cy="13849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de-DE" altLang="zh-CN" sz="2800" dirty="0" err="1" smtClean="0">
                <a:latin typeface="Consolas" charset="0"/>
                <a:ea typeface="宋体" charset="-122"/>
              </a:rPr>
              <a:t>while</a:t>
            </a:r>
            <a:r>
              <a:rPr kumimoji="1" lang="de-DE" altLang="zh-CN" sz="2800" dirty="0">
                <a:latin typeface="Consolas" charset="0"/>
                <a:ea typeface="宋体" charset="-122"/>
              </a:rPr>
              <a:t>( *a &amp;&amp; *b ) </a:t>
            </a:r>
            <a:endParaRPr kumimoji="1" lang="de-DE" altLang="zh-CN" sz="2800" dirty="0" smtClean="0">
              <a:latin typeface="Consolas" charset="0"/>
              <a:ea typeface="宋体" charset="-122"/>
            </a:endParaRPr>
          </a:p>
          <a:p>
            <a:r>
              <a:rPr kumimoji="1" lang="de-DE" altLang="zh-CN" sz="2800" dirty="0">
                <a:latin typeface="Consolas" charset="0"/>
                <a:ea typeface="宋体" charset="-122"/>
              </a:rPr>
              <a:t> </a:t>
            </a:r>
            <a:r>
              <a:rPr kumimoji="1" lang="de-DE" altLang="zh-CN" sz="2800" dirty="0" smtClean="0">
                <a:latin typeface="Consolas" charset="0"/>
                <a:ea typeface="宋体" charset="-122"/>
              </a:rPr>
              <a:t>  </a:t>
            </a:r>
            <a:r>
              <a:rPr kumimoji="1" lang="de-DE" altLang="zh-CN" sz="2800" dirty="0" err="1" smtClean="0">
                <a:latin typeface="Consolas" charset="0"/>
                <a:ea typeface="宋体" charset="-122"/>
              </a:rPr>
              <a:t>if</a:t>
            </a:r>
            <a:r>
              <a:rPr kumimoji="1" lang="de-DE" altLang="zh-CN" sz="2800" dirty="0">
                <a:latin typeface="Consolas" charset="0"/>
                <a:ea typeface="宋体" charset="-122"/>
              </a:rPr>
              <a:t>(*</a:t>
            </a:r>
            <a:r>
              <a:rPr kumimoji="1" lang="de-DE" altLang="zh-CN" sz="2800" dirty="0" smtClean="0">
                <a:latin typeface="Consolas" charset="0"/>
                <a:ea typeface="宋体" charset="-122"/>
              </a:rPr>
              <a:t>a &gt; *</a:t>
            </a:r>
            <a:r>
              <a:rPr kumimoji="1" lang="de-DE" altLang="zh-CN" sz="2800" dirty="0">
                <a:latin typeface="Consolas" charset="0"/>
                <a:ea typeface="宋体" charset="-122"/>
              </a:rPr>
              <a:t>b</a:t>
            </a:r>
            <a:r>
              <a:rPr kumimoji="1" lang="de-DE" altLang="zh-CN" sz="2800" dirty="0" smtClean="0">
                <a:latin typeface="Consolas" charset="0"/>
                <a:ea typeface="宋体" charset="-122"/>
              </a:rPr>
              <a:t>) *</a:t>
            </a:r>
            <a:r>
              <a:rPr kumimoji="1" lang="de-DE" altLang="zh-CN" sz="2800" dirty="0" err="1">
                <a:latin typeface="Consolas" charset="0"/>
                <a:ea typeface="宋体" charset="-122"/>
              </a:rPr>
              <a:t>c++</a:t>
            </a:r>
            <a:r>
              <a:rPr kumimoji="1" lang="de-DE" altLang="zh-CN" sz="2800" dirty="0">
                <a:latin typeface="Consolas" charset="0"/>
                <a:ea typeface="宋体" charset="-122"/>
              </a:rPr>
              <a:t> = *b++; </a:t>
            </a:r>
            <a:endParaRPr kumimoji="1" lang="de-DE" altLang="zh-CN" sz="2800" dirty="0" smtClean="0">
              <a:latin typeface="Consolas" charset="0"/>
              <a:ea typeface="宋体" charset="-122"/>
            </a:endParaRPr>
          </a:p>
          <a:p>
            <a:r>
              <a:rPr kumimoji="1" lang="de-DE" altLang="zh-CN" sz="2800" dirty="0" smtClean="0">
                <a:latin typeface="Consolas" charset="0"/>
                <a:ea typeface="宋体" charset="-122"/>
              </a:rPr>
              <a:t>   </a:t>
            </a:r>
            <a:r>
              <a:rPr kumimoji="1" lang="de-DE" altLang="zh-CN" sz="2800" dirty="0" err="1" smtClean="0">
                <a:latin typeface="Consolas" charset="0"/>
                <a:ea typeface="宋体" charset="-122"/>
              </a:rPr>
              <a:t>else</a:t>
            </a:r>
            <a:r>
              <a:rPr kumimoji="1" lang="de-DE" altLang="zh-CN" sz="2800" dirty="0" smtClean="0">
                <a:latin typeface="Consolas" charset="0"/>
                <a:ea typeface="宋体" charset="-122"/>
              </a:rPr>
              <a:t>        *</a:t>
            </a:r>
            <a:r>
              <a:rPr kumimoji="1" lang="de-DE" altLang="zh-CN" sz="2800" dirty="0" err="1">
                <a:latin typeface="Consolas" charset="0"/>
                <a:ea typeface="宋体" charset="-122"/>
              </a:rPr>
              <a:t>c++</a:t>
            </a:r>
            <a:r>
              <a:rPr kumimoji="1" lang="de-DE" altLang="zh-CN" sz="2800" dirty="0">
                <a:latin typeface="Consolas" charset="0"/>
                <a:ea typeface="宋体" charset="-122"/>
              </a:rPr>
              <a:t> = *a</a:t>
            </a:r>
            <a:r>
              <a:rPr kumimoji="1" lang="de-DE" altLang="zh-CN" sz="2800" dirty="0" smtClean="0">
                <a:latin typeface="Consolas" charset="0"/>
                <a:ea typeface="宋体" charset="-122"/>
              </a:rPr>
              <a:t>++;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68146" y="4365104"/>
            <a:ext cx="6704079" cy="95410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de-DE" altLang="zh-CN" sz="2800" dirty="0" err="1">
                <a:latin typeface="Consolas" charset="0"/>
                <a:ea typeface="宋体" charset="-122"/>
              </a:rPr>
              <a:t>if</a:t>
            </a:r>
            <a:r>
              <a:rPr kumimoji="1" lang="de-DE" altLang="zh-CN" sz="2800" dirty="0" smtClean="0">
                <a:latin typeface="Consolas" charset="0"/>
                <a:ea typeface="宋体" charset="-122"/>
              </a:rPr>
              <a:t>(!*a)   </a:t>
            </a:r>
            <a:r>
              <a:rPr kumimoji="1" lang="de-DE" altLang="zh-CN" sz="2800" dirty="0">
                <a:latin typeface="Consolas" charset="0"/>
                <a:ea typeface="宋体" charset="-122"/>
              </a:rPr>
              <a:t>a = b; </a:t>
            </a:r>
          </a:p>
          <a:p>
            <a:r>
              <a:rPr kumimoji="1" lang="de-DE" altLang="zh-CN" sz="2800" dirty="0" err="1">
                <a:latin typeface="Consolas" charset="0"/>
                <a:ea typeface="宋体" charset="-122"/>
              </a:rPr>
              <a:t>while</a:t>
            </a:r>
            <a:r>
              <a:rPr kumimoji="1" lang="de-DE" altLang="zh-CN" sz="2800" dirty="0">
                <a:latin typeface="Consolas" charset="0"/>
                <a:ea typeface="宋体" charset="-122"/>
              </a:rPr>
              <a:t>( (*</a:t>
            </a:r>
            <a:r>
              <a:rPr kumimoji="1" lang="de-DE" altLang="zh-CN" sz="2800" dirty="0" err="1">
                <a:latin typeface="Consolas" charset="0"/>
                <a:ea typeface="宋体" charset="-122"/>
              </a:rPr>
              <a:t>c++</a:t>
            </a:r>
            <a:r>
              <a:rPr kumimoji="1" lang="de-DE" altLang="zh-CN" sz="2800" dirty="0">
                <a:latin typeface="Consolas" charset="0"/>
                <a:ea typeface="宋体" charset="-122"/>
              </a:rPr>
              <a:t> = *a++) </a:t>
            </a:r>
            <a:r>
              <a:rPr kumimoji="1" lang="de-DE" altLang="zh-CN" sz="2800" dirty="0" smtClean="0">
                <a:latin typeface="Consolas" charset="0"/>
                <a:ea typeface="宋体" charset="-122"/>
              </a:rPr>
              <a:t>);//</a:t>
            </a:r>
            <a:r>
              <a:rPr kumimoji="1" lang="zh-CN" altLang="en-US" sz="2000" dirty="0" smtClean="0">
                <a:latin typeface="Consolas" charset="0"/>
                <a:ea typeface="宋体" charset="-122"/>
              </a:rPr>
              <a:t>已经</a:t>
            </a:r>
            <a:r>
              <a:rPr kumimoji="1" lang="zh-CN" altLang="en-US" sz="2000" dirty="0">
                <a:latin typeface="Consolas" charset="0"/>
                <a:ea typeface="宋体" charset="-122"/>
              </a:rPr>
              <a:t>复制</a:t>
            </a:r>
            <a:r>
              <a:rPr kumimoji="1" lang="en-US" altLang="zh-CN" sz="2000" dirty="0">
                <a:latin typeface="Consolas" charset="0"/>
                <a:ea typeface="宋体" charset="-122"/>
              </a:rPr>
              <a:t>'\0</a:t>
            </a:r>
            <a:r>
              <a:rPr kumimoji="1" lang="en-US" altLang="zh-CN" sz="2000" dirty="0" smtClean="0">
                <a:latin typeface="Consolas" charset="0"/>
                <a:ea typeface="宋体" charset="-122"/>
              </a:rPr>
              <a:t>'</a:t>
            </a:r>
            <a:endParaRPr kumimoji="1" lang="zh-CN" altLang="en-US" sz="2000" dirty="0">
              <a:latin typeface="Consolas" charset="0"/>
              <a:ea typeface="宋体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7584" y="2257705"/>
            <a:ext cx="39677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smtClean="0">
                <a:latin typeface="Consolas" charset="0"/>
                <a:ea typeface="宋体" charset="-122"/>
              </a:rPr>
              <a:t>设</a:t>
            </a:r>
            <a:r>
              <a:rPr kumimoji="1" lang="en-US" altLang="zh-CN" sz="2000" dirty="0" err="1" smtClean="0">
                <a:latin typeface="Consolas" charset="0"/>
                <a:ea typeface="宋体" charset="-122"/>
              </a:rPr>
              <a:t>a,b,c</a:t>
            </a:r>
            <a:r>
              <a:rPr kumimoji="1" lang="zh-CN" altLang="en-US" sz="2000" dirty="0" smtClean="0">
                <a:latin typeface="Consolas" charset="0"/>
                <a:ea typeface="宋体" charset="-122"/>
              </a:rPr>
              <a:t>为三个字符串的指针变量</a:t>
            </a:r>
            <a:endParaRPr kumimoji="1" lang="zh-CN" altLang="en-US" sz="2000" dirty="0">
              <a:latin typeface="Consolas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2914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777968"/>
              </p:ext>
            </p:extLst>
          </p:nvPr>
        </p:nvGraphicFramePr>
        <p:xfrm>
          <a:off x="1619674" y="2060848"/>
          <a:ext cx="5400598" cy="663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514"/>
                <a:gridCol w="771514"/>
                <a:gridCol w="771514"/>
                <a:gridCol w="771514"/>
                <a:gridCol w="771514"/>
                <a:gridCol w="771514"/>
                <a:gridCol w="771514"/>
              </a:tblGrid>
              <a:tr h="6638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/>
                        <a:t>a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  <a:endParaRPr lang="zh-CN" altLang="en-US" sz="2800" u="none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>
                          <a:latin typeface="+mn-lt"/>
                          <a:ea typeface="+mj-ea"/>
                        </a:rPr>
                        <a:t>c</a:t>
                      </a:r>
                      <a:endParaRPr lang="zh-CN" altLang="en-US" sz="2800" u="none" baseline="0" dirty="0">
                        <a:latin typeface="+mn-lt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>
                          <a:latin typeface="+mn-lt"/>
                        </a:rPr>
                        <a:t>b</a:t>
                      </a:r>
                      <a:endParaRPr lang="zh-CN" altLang="en-US" sz="2800" u="none" baseline="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e</a:t>
                      </a:r>
                      <a:endParaRPr lang="zh-CN" altLang="en-US" sz="2800" u="none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>
                          <a:latin typeface="+mn-lt"/>
                        </a:rPr>
                        <a:t>f</a:t>
                      </a:r>
                      <a:endParaRPr lang="zh-CN" altLang="en-US" sz="2800" u="none" baseline="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>
                          <a:latin typeface="+mn-lt"/>
                          <a:ea typeface="宋体" pitchFamily="2" charset="-122"/>
                        </a:rPr>
                        <a:t>g</a:t>
                      </a:r>
                      <a:endParaRPr lang="zh-CN" altLang="en-US" sz="2800" u="none" baseline="0" dirty="0">
                        <a:latin typeface="+mn-lt"/>
                        <a:ea typeface="宋体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555776" y="769059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2818209" y="630559"/>
            <a:ext cx="3240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b="1" dirty="0" smtClean="0"/>
              <a:t>折叠字符串</a:t>
            </a:r>
            <a:endParaRPr kumimoji="1" lang="zh-CN" altLang="en-US" sz="3600" b="1" dirty="0"/>
          </a:p>
        </p:txBody>
      </p:sp>
      <p:cxnSp>
        <p:nvCxnSpPr>
          <p:cNvPr id="8" name="直线箭头连接符 7"/>
          <p:cNvCxnSpPr/>
          <p:nvPr/>
        </p:nvCxnSpPr>
        <p:spPr>
          <a:xfrm flipV="1">
            <a:off x="2771800" y="2724696"/>
            <a:ext cx="0" cy="504056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3415710" y="337276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smtClean="0"/>
              <a:t>n</a:t>
            </a:r>
            <a:endParaRPr kumimoji="1" lang="zh-CN" altLang="en-US" sz="2800" dirty="0" smtClean="0"/>
          </a:p>
        </p:txBody>
      </p:sp>
      <p:cxnSp>
        <p:nvCxnSpPr>
          <p:cNvPr id="10" name="直线箭头连接符 9"/>
          <p:cNvCxnSpPr/>
          <p:nvPr/>
        </p:nvCxnSpPr>
        <p:spPr>
          <a:xfrm flipV="1">
            <a:off x="3597811" y="2724696"/>
            <a:ext cx="0" cy="504056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/>
          <p:cNvCxnSpPr/>
          <p:nvPr/>
        </p:nvCxnSpPr>
        <p:spPr>
          <a:xfrm flipV="1">
            <a:off x="4319973" y="2724696"/>
            <a:ext cx="0" cy="504056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2589699" y="337276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i</a:t>
            </a:r>
            <a:endParaRPr kumimoji="1" lang="zh-CN" altLang="en-US" sz="2800" dirty="0" smtClean="0"/>
          </a:p>
        </p:txBody>
      </p:sp>
      <p:sp>
        <p:nvSpPr>
          <p:cNvPr id="13" name="文本框 12"/>
          <p:cNvSpPr txBox="1"/>
          <p:nvPr/>
        </p:nvSpPr>
        <p:spPr>
          <a:xfrm>
            <a:off x="4137872" y="335360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j</a:t>
            </a:r>
            <a:endParaRPr kumimoji="1" lang="zh-CN" altLang="en-US" sz="2800" dirty="0" smtClean="0"/>
          </a:p>
        </p:txBody>
      </p:sp>
      <p:cxnSp>
        <p:nvCxnSpPr>
          <p:cNvPr id="15" name="直线箭头连接符 14"/>
          <p:cNvCxnSpPr/>
          <p:nvPr/>
        </p:nvCxnSpPr>
        <p:spPr>
          <a:xfrm>
            <a:off x="4319973" y="3228752"/>
            <a:ext cx="2484275" cy="0"/>
          </a:xfrm>
          <a:prstGeom prst="straightConnector1">
            <a:avLst/>
          </a:prstGeom>
          <a:ln w="22225">
            <a:solidFill>
              <a:schemeClr val="accent1">
                <a:shade val="95000"/>
                <a:satMod val="10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/>
          <p:cNvCxnSpPr/>
          <p:nvPr/>
        </p:nvCxnSpPr>
        <p:spPr>
          <a:xfrm flipH="1">
            <a:off x="1691681" y="3228752"/>
            <a:ext cx="1080119" cy="0"/>
          </a:xfrm>
          <a:prstGeom prst="straightConnector1">
            <a:avLst/>
          </a:prstGeom>
          <a:ln w="222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6820501" y="2940720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smtClean="0"/>
              <a:t>j++</a:t>
            </a:r>
            <a:endParaRPr kumimoji="1" lang="zh-CN" altLang="en-US" sz="2800" dirty="0" smtClean="0"/>
          </a:p>
        </p:txBody>
      </p:sp>
      <p:sp>
        <p:nvSpPr>
          <p:cNvPr id="19" name="文本框 18"/>
          <p:cNvSpPr txBox="1"/>
          <p:nvPr/>
        </p:nvSpPr>
        <p:spPr>
          <a:xfrm>
            <a:off x="894783" y="2940720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err="1" smtClean="0"/>
              <a:t>i</a:t>
            </a:r>
            <a:r>
              <a:rPr kumimoji="1" lang="en-US" altLang="zh-CN" sz="2800" dirty="0" smtClean="0"/>
              <a:t>--</a:t>
            </a:r>
            <a:endParaRPr kumimoji="1" lang="zh-CN" altLang="en-US" sz="2800" dirty="0" smtClean="0"/>
          </a:p>
        </p:txBody>
      </p:sp>
      <p:sp>
        <p:nvSpPr>
          <p:cNvPr id="27" name="文本框 26"/>
          <p:cNvSpPr txBox="1"/>
          <p:nvPr/>
        </p:nvSpPr>
        <p:spPr>
          <a:xfrm>
            <a:off x="1403648" y="148478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smtClean="0"/>
              <a:t>0</a:t>
            </a:r>
            <a:endParaRPr kumimoji="1" lang="zh-CN" altLang="en-US" sz="2800" dirty="0" smtClean="0"/>
          </a:p>
        </p:txBody>
      </p:sp>
      <p:sp>
        <p:nvSpPr>
          <p:cNvPr id="28" name="文本框 27"/>
          <p:cNvSpPr txBox="1"/>
          <p:nvPr/>
        </p:nvSpPr>
        <p:spPr>
          <a:xfrm>
            <a:off x="6479098" y="1421120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smtClean="0"/>
              <a:t>len-1</a:t>
            </a:r>
            <a:endParaRPr kumimoji="1" lang="zh-CN" altLang="en-US" sz="2800" dirty="0" smtClean="0"/>
          </a:p>
        </p:txBody>
      </p:sp>
      <p:sp>
        <p:nvSpPr>
          <p:cNvPr id="30" name="文本框 29"/>
          <p:cNvSpPr txBox="1"/>
          <p:nvPr/>
        </p:nvSpPr>
        <p:spPr>
          <a:xfrm>
            <a:off x="1585749" y="3986338"/>
            <a:ext cx="5724644" cy="28623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chemeClr val="accent6">
                  <a:lumMod val="50000"/>
                </a:schemeClr>
              </a:buClr>
              <a:buSzPct val="70000"/>
              <a:buFont typeface="+mj-lt"/>
              <a:buAutoNum type="arabicPeriod"/>
            </a:pPr>
            <a:r>
              <a:rPr kumimoji="1" lang="en-US" altLang="zh-CN" sz="2400" dirty="0" smtClean="0">
                <a:latin typeface="Consolas" charset="0"/>
                <a:ea typeface="Consolas" charset="0"/>
                <a:cs typeface="Consolas" charset="0"/>
              </a:rPr>
              <a:t>b[0]=a[n]; </a:t>
            </a:r>
            <a:r>
              <a:rPr kumimoji="1" lang="en-US" altLang="zh-CN" sz="2400" dirty="0" err="1" smtClean="0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kumimoji="1" lang="en-US" altLang="zh-CN" sz="2400" dirty="0" smtClean="0">
                <a:latin typeface="Consolas" charset="0"/>
                <a:ea typeface="Consolas" charset="0"/>
                <a:cs typeface="Consolas" charset="0"/>
              </a:rPr>
              <a:t>=n-1;j=n+1</a:t>
            </a:r>
          </a:p>
          <a:p>
            <a:pPr marL="457200" indent="-457200">
              <a:lnSpc>
                <a:spcPct val="150000"/>
              </a:lnSpc>
              <a:buClr>
                <a:schemeClr val="accent6">
                  <a:lumMod val="50000"/>
                </a:schemeClr>
              </a:buClr>
              <a:buSzPct val="70000"/>
              <a:buFont typeface="+mj-lt"/>
              <a:buAutoNum type="arabicPeriod"/>
            </a:pPr>
            <a:r>
              <a:rPr kumimoji="1" lang="en-US" altLang="zh-CN" sz="2400" dirty="0">
                <a:latin typeface="Consolas" charset="0"/>
                <a:ea typeface="Consolas" charset="0"/>
                <a:cs typeface="Consolas" charset="0"/>
              </a:rPr>
              <a:t>while(</a:t>
            </a:r>
            <a:r>
              <a:rPr kumimoji="1" lang="en-US" altLang="zh-CN" sz="2400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kumimoji="1" lang="en-US" altLang="zh-CN" sz="2400" dirty="0">
                <a:latin typeface="Consolas" charset="0"/>
                <a:ea typeface="Consolas" charset="0"/>
                <a:cs typeface="Consolas" charset="0"/>
              </a:rPr>
              <a:t>&gt;=0&amp;&amp;j&lt;</a:t>
            </a:r>
            <a:r>
              <a:rPr kumimoji="1" lang="en-US" altLang="zh-CN" sz="2400" dirty="0" err="1">
                <a:latin typeface="Consolas" charset="0"/>
                <a:ea typeface="Consolas" charset="0"/>
                <a:cs typeface="Consolas" charset="0"/>
              </a:rPr>
              <a:t>len</a:t>
            </a:r>
            <a:r>
              <a:rPr kumimoji="1" lang="en-US" altLang="zh-CN" sz="2400" dirty="0" smtClean="0">
                <a:latin typeface="Consolas" charset="0"/>
                <a:ea typeface="Consolas" charset="0"/>
                <a:cs typeface="Consolas" charset="0"/>
              </a:rPr>
              <a:t>){</a:t>
            </a:r>
          </a:p>
          <a:p>
            <a:pPr marL="457200" indent="-457200">
              <a:lnSpc>
                <a:spcPct val="150000"/>
              </a:lnSpc>
              <a:buClr>
                <a:schemeClr val="accent6">
                  <a:lumMod val="50000"/>
                </a:schemeClr>
              </a:buClr>
              <a:buSzPct val="70000"/>
              <a:buFont typeface="+mj-lt"/>
              <a:buAutoNum type="arabicPeriod"/>
            </a:pPr>
            <a:r>
              <a:rPr kumimoji="1" lang="en-US" altLang="zh-CN" sz="2400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kumimoji="1" lang="zh-CN" altLang="en-US" sz="2400" dirty="0" smtClean="0">
                <a:latin typeface="Consolas" charset="0"/>
                <a:ea typeface="Consolas" charset="0"/>
                <a:cs typeface="Consolas" charset="0"/>
              </a:rPr>
              <a:t>比较</a:t>
            </a:r>
            <a:r>
              <a:rPr kumimoji="1" lang="en-US" altLang="zh-CN" sz="2400" dirty="0">
                <a:latin typeface="Consolas" charset="0"/>
                <a:ea typeface="Consolas" charset="0"/>
                <a:cs typeface="Consolas" charset="0"/>
              </a:rPr>
              <a:t>a[</a:t>
            </a:r>
            <a:r>
              <a:rPr kumimoji="1" lang="en-US" altLang="zh-CN" sz="2400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kumimoji="1" lang="en-US" altLang="zh-CN" sz="2400" dirty="0">
                <a:latin typeface="Consolas" charset="0"/>
                <a:ea typeface="Consolas" charset="0"/>
                <a:cs typeface="Consolas" charset="0"/>
              </a:rPr>
              <a:t>]</a:t>
            </a:r>
            <a:r>
              <a:rPr kumimoji="1" lang="zh-CN" altLang="en-US" sz="2400" dirty="0">
                <a:latin typeface="Consolas" charset="0"/>
                <a:ea typeface="Consolas" charset="0"/>
                <a:cs typeface="Consolas" charset="0"/>
              </a:rPr>
              <a:t>和</a:t>
            </a:r>
            <a:r>
              <a:rPr kumimoji="1" lang="en-US" altLang="zh-CN" sz="2400" dirty="0">
                <a:latin typeface="Consolas" charset="0"/>
                <a:ea typeface="Consolas" charset="0"/>
                <a:cs typeface="Consolas" charset="0"/>
              </a:rPr>
              <a:t>a[j]</a:t>
            </a:r>
            <a:r>
              <a:rPr kumimoji="1" lang="zh-CN" altLang="en-US" sz="2400" dirty="0">
                <a:latin typeface="Consolas" charset="0"/>
                <a:ea typeface="Consolas" charset="0"/>
                <a:cs typeface="Consolas" charset="0"/>
              </a:rPr>
              <a:t>后填入</a:t>
            </a:r>
            <a:r>
              <a:rPr kumimoji="1" lang="en-US" altLang="zh-CN" sz="2400" dirty="0">
                <a:latin typeface="Consolas" charset="0"/>
                <a:ea typeface="Consolas" charset="0"/>
                <a:cs typeface="Consolas" charset="0"/>
              </a:rPr>
              <a:t>b</a:t>
            </a:r>
            <a:r>
              <a:rPr kumimoji="1" lang="zh-CN" altLang="en-US" sz="2400" dirty="0">
                <a:latin typeface="Consolas" charset="0"/>
                <a:ea typeface="Consolas" charset="0"/>
                <a:cs typeface="Consolas" charset="0"/>
              </a:rPr>
              <a:t>数组	</a:t>
            </a:r>
            <a:endParaRPr kumimoji="1" lang="en-US" altLang="zh-CN" sz="2400" dirty="0" smtClean="0">
              <a:latin typeface="Consolas" charset="0"/>
              <a:ea typeface="Consolas" charset="0"/>
              <a:cs typeface="Consolas" charset="0"/>
            </a:endParaRPr>
          </a:p>
          <a:p>
            <a:pPr marL="457200" indent="-457200">
              <a:lnSpc>
                <a:spcPct val="150000"/>
              </a:lnSpc>
              <a:buClr>
                <a:schemeClr val="accent6">
                  <a:lumMod val="50000"/>
                </a:schemeClr>
              </a:buClr>
              <a:buSzPct val="70000"/>
              <a:buFont typeface="+mj-lt"/>
              <a:buAutoNum type="arabicPeriod"/>
            </a:pPr>
            <a:r>
              <a:rPr kumimoji="1" lang="en-US" altLang="zh-CN" sz="2400" dirty="0" smtClean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kumimoji="1" lang="en-US" altLang="zh-CN" sz="2400" dirty="0" err="1" smtClean="0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kumimoji="1" lang="en-US" altLang="zh-CN" sz="2400" dirty="0" smtClean="0">
                <a:latin typeface="Consolas" charset="0"/>
                <a:ea typeface="Consolas" charset="0"/>
                <a:cs typeface="Consolas" charset="0"/>
              </a:rPr>
              <a:t>-</a:t>
            </a:r>
            <a:r>
              <a:rPr kumimoji="1" lang="en-US" altLang="zh-CN" sz="2400" dirty="0">
                <a:latin typeface="Consolas" charset="0"/>
                <a:ea typeface="Consolas" charset="0"/>
                <a:cs typeface="Consolas" charset="0"/>
              </a:rPr>
              <a:t>-;</a:t>
            </a:r>
            <a:r>
              <a:rPr kumimoji="1" lang="en-US" altLang="zh-CN" sz="2400" dirty="0" err="1">
                <a:latin typeface="Consolas" charset="0"/>
                <a:ea typeface="Consolas" charset="0"/>
                <a:cs typeface="Consolas" charset="0"/>
              </a:rPr>
              <a:t>j</a:t>
            </a:r>
            <a:r>
              <a:rPr kumimoji="1" lang="en-US" altLang="zh-CN" sz="2400" dirty="0" err="1" smtClean="0">
                <a:latin typeface="Consolas" charset="0"/>
                <a:ea typeface="Consolas" charset="0"/>
                <a:cs typeface="Consolas" charset="0"/>
              </a:rPr>
              <a:t>++</a:t>
            </a:r>
            <a:r>
              <a:rPr kumimoji="1" lang="en-US" altLang="zh-CN" sz="2400" dirty="0" smtClean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457200" indent="-457200">
              <a:lnSpc>
                <a:spcPct val="150000"/>
              </a:lnSpc>
              <a:buClr>
                <a:schemeClr val="accent6">
                  <a:lumMod val="50000"/>
                </a:schemeClr>
              </a:buClr>
              <a:buSzPct val="70000"/>
              <a:buFont typeface="+mj-lt"/>
              <a:buAutoNum type="arabicPeriod"/>
            </a:pPr>
            <a:r>
              <a:rPr kumimoji="1" lang="en-US" altLang="zh-CN" sz="2400" dirty="0" smtClean="0">
                <a:latin typeface="Consolas" charset="0"/>
                <a:ea typeface="Consolas" charset="0"/>
                <a:cs typeface="Consolas" charset="0"/>
              </a:rPr>
              <a:t>}		</a:t>
            </a:r>
            <a:endParaRPr kumimoji="1" lang="zh-CN" altLang="en-US" sz="2400" dirty="0" smtClean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435840" y="4430829"/>
            <a:ext cx="165622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smtClean="0">
                <a:latin typeface="Consolas" charset="0"/>
                <a:ea typeface="宋体" charset="-122"/>
              </a:rPr>
              <a:t>1.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字符串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r>
              <a:rPr kumimoji="1" lang="zh-CN" altLang="en-US" sz="2800" dirty="0" smtClean="0">
                <a:latin typeface="Consolas" charset="0"/>
                <a:ea typeface="宋体" charset="-122"/>
              </a:rPr>
              <a:t>左右字符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r>
              <a:rPr kumimoji="1" lang="zh-CN" altLang="en-US" sz="2800" dirty="0" smtClean="0">
                <a:latin typeface="Consolas" charset="0"/>
                <a:ea typeface="宋体" charset="-122"/>
              </a:rPr>
              <a:t>正常处理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4678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99592" y="2132856"/>
            <a:ext cx="7571303" cy="26776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marL="514350" indent="-514350">
              <a:buClr>
                <a:schemeClr val="accent6">
                  <a:lumMod val="50000"/>
                </a:schemeClr>
              </a:buClr>
              <a:buSzPct val="70000"/>
              <a:buFont typeface="+mj-lt"/>
              <a:buAutoNum type="arabicPeriod"/>
            </a:pPr>
            <a:r>
              <a:rPr kumimoji="1" lang="en-US" altLang="zh-CN" sz="2800" dirty="0" smtClean="0">
                <a:latin typeface="Consolas" charset="0"/>
                <a:ea typeface="宋体" charset="-122"/>
              </a:rPr>
              <a:t>if(</a:t>
            </a:r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i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&lt;0)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  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pPr marL="514350" indent="-514350">
              <a:buClr>
                <a:schemeClr val="accent6">
                  <a:lumMod val="50000"/>
                </a:schemeClr>
              </a:buClr>
              <a:buSzPct val="70000"/>
              <a:buFont typeface="+mj-lt"/>
              <a:buAutoNum type="arabicPeriod"/>
            </a:pPr>
            <a:r>
              <a:rPr kumimoji="1" lang="en-US" altLang="zh-CN" sz="2800" dirty="0" smtClean="0">
                <a:latin typeface="Consolas" charset="0"/>
                <a:ea typeface="宋体" charset="-122"/>
              </a:rPr>
              <a:t>	for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(;j&lt;</a:t>
            </a:r>
            <a:r>
              <a:rPr kumimoji="1" lang="en-US" altLang="zh-CN" sz="2800" dirty="0" err="1">
                <a:latin typeface="Consolas" charset="0"/>
                <a:ea typeface="宋体" charset="-122"/>
              </a:rPr>
              <a:t>len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; </a:t>
            </a:r>
            <a:r>
              <a:rPr kumimoji="1" lang="en-US" altLang="zh-CN" sz="2800" dirty="0" err="1">
                <a:latin typeface="Consolas" charset="0"/>
                <a:ea typeface="宋体" charset="-122"/>
              </a:rPr>
              <a:t>j++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) b[k++]=a[j];	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pPr marL="514350" indent="-514350">
              <a:buClr>
                <a:schemeClr val="accent6">
                  <a:lumMod val="50000"/>
                </a:schemeClr>
              </a:buClr>
              <a:buSzPct val="70000"/>
              <a:buFont typeface="+mj-lt"/>
              <a:buAutoNum type="arabicPeriod"/>
            </a:pPr>
            <a:r>
              <a:rPr kumimoji="1" lang="en-US" altLang="zh-CN" sz="2800" dirty="0" smtClean="0">
                <a:latin typeface="Consolas" charset="0"/>
                <a:ea typeface="宋体" charset="-122"/>
              </a:rPr>
              <a:t>else 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if(j&gt;=</a:t>
            </a:r>
            <a:r>
              <a:rPr kumimoji="1" lang="en-US" altLang="zh-CN" sz="2800" dirty="0" err="1">
                <a:latin typeface="Consolas" charset="0"/>
                <a:ea typeface="宋体" charset="-122"/>
              </a:rPr>
              <a:t>len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) </a:t>
            </a:r>
          </a:p>
          <a:p>
            <a:pPr marL="514350" indent="-514350">
              <a:buClr>
                <a:schemeClr val="accent6">
                  <a:lumMod val="50000"/>
                </a:schemeClr>
              </a:buClr>
              <a:buSzPct val="70000"/>
              <a:buFont typeface="+mj-lt"/>
              <a:buAutoNum type="arabicPeriod"/>
            </a:pPr>
            <a:r>
              <a:rPr kumimoji="1" lang="en-US" altLang="zh-CN" sz="2800" dirty="0">
                <a:latin typeface="Consolas" charset="0"/>
                <a:ea typeface="宋体" charset="-122"/>
              </a:rPr>
              <a:t>	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for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(;</a:t>
            </a:r>
            <a:r>
              <a:rPr kumimoji="1" lang="en-US" altLang="zh-CN" sz="2800" dirty="0" err="1">
                <a:latin typeface="Consolas" charset="0"/>
                <a:ea typeface="宋体" charset="-122"/>
              </a:rPr>
              <a:t>i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&gt;=0; </a:t>
            </a:r>
            <a:r>
              <a:rPr kumimoji="1" lang="en-US" altLang="zh-CN" sz="2800" dirty="0" err="1">
                <a:latin typeface="Consolas" charset="0"/>
                <a:ea typeface="宋体" charset="-122"/>
              </a:rPr>
              <a:t>i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--) b[k++]=a[</a:t>
            </a:r>
            <a:r>
              <a:rPr kumimoji="1" lang="en-US" altLang="zh-CN" sz="2800" dirty="0" err="1">
                <a:latin typeface="Consolas" charset="0"/>
                <a:ea typeface="宋体" charset="-122"/>
              </a:rPr>
              <a:t>i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];	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pPr marL="514350" indent="-514350">
              <a:buClr>
                <a:schemeClr val="accent6">
                  <a:lumMod val="50000"/>
                </a:schemeClr>
              </a:buClr>
              <a:buSzPct val="70000"/>
              <a:buFont typeface="+mj-lt"/>
              <a:buAutoNum type="arabicPeriod"/>
            </a:pP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pPr marL="514350" indent="-514350">
              <a:buClr>
                <a:schemeClr val="accent6">
                  <a:lumMod val="50000"/>
                </a:schemeClr>
              </a:buClr>
              <a:buSzPct val="70000"/>
              <a:buFont typeface="+mj-lt"/>
              <a:buAutoNum type="arabicPeriod"/>
            </a:pPr>
            <a:r>
              <a:rPr kumimoji="1" lang="en-US" altLang="zh-CN" sz="2800" dirty="0" smtClean="0">
                <a:latin typeface="Consolas" charset="0"/>
                <a:ea typeface="宋体" charset="-122"/>
              </a:rPr>
              <a:t>b[k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]='\0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';  //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别忘记最后结束标记</a:t>
            </a:r>
          </a:p>
        </p:txBody>
      </p:sp>
      <p:sp>
        <p:nvSpPr>
          <p:cNvPr id="4" name="标题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b="1" dirty="0" smtClean="0"/>
              <a:t>折叠字符串</a:t>
            </a:r>
            <a:endParaRPr kumimoji="1" lang="zh-CN" altLang="en-US" sz="36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899592" y="1417638"/>
            <a:ext cx="48878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smtClean="0">
                <a:latin typeface="Consolas" charset="0"/>
                <a:ea typeface="宋体" charset="-122"/>
              </a:rPr>
              <a:t>2.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字符串左或右多余字符处理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8007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/>
              <a:t>折叠字符串</a:t>
            </a:r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115616" y="2780928"/>
            <a:ext cx="6441187" cy="35394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>
              <a:buClr>
                <a:schemeClr val="accent6">
                  <a:lumMod val="50000"/>
                </a:schemeClr>
              </a:buClr>
              <a:buSzPct val="70000"/>
            </a:pPr>
            <a:r>
              <a:rPr kumimoji="1" lang="zh-CN" altLang="en-US" sz="2800" dirty="0">
                <a:latin typeface="Consolas" charset="0"/>
                <a:ea typeface="宋体" charset="-122"/>
              </a:rPr>
              <a:t>c=toupper(a[i])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;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pPr>
              <a:buClr>
                <a:schemeClr val="accent6">
                  <a:lumMod val="50000"/>
                </a:schemeClr>
              </a:buClr>
              <a:buSzPct val="70000"/>
            </a:pPr>
            <a:r>
              <a:rPr kumimoji="1" lang="zh-CN" altLang="en-US" sz="2800" dirty="0" smtClean="0">
                <a:latin typeface="Consolas" charset="0"/>
                <a:ea typeface="宋体" charset="-122"/>
              </a:rPr>
              <a:t>d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=toupper(a[j])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;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pPr>
              <a:buClr>
                <a:schemeClr val="accent6">
                  <a:lumMod val="50000"/>
                </a:schemeClr>
              </a:buClr>
              <a:buSzPct val="70000"/>
            </a:pPr>
            <a:r>
              <a:rPr kumimoji="1" lang="zh-CN" altLang="en-US" sz="2800" dirty="0" smtClean="0">
                <a:latin typeface="Consolas" charset="0"/>
                <a:ea typeface="宋体" charset="-122"/>
              </a:rPr>
              <a:t>if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(c&lt;=d)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{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pPr>
              <a:buClr>
                <a:schemeClr val="accent6">
                  <a:lumMod val="50000"/>
                </a:schemeClr>
              </a:buClr>
              <a:buSzPct val="70000"/>
            </a:pPr>
            <a:r>
              <a:rPr kumimoji="1" lang="zh-CN" altLang="en-US" sz="2800" dirty="0">
                <a:latin typeface="Consolas" charset="0"/>
                <a:ea typeface="宋体" charset="-122"/>
              </a:rPr>
              <a:t> 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 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	b[k++]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=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 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a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[i];	b[k++]=a[j]; 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pPr>
              <a:buClr>
                <a:schemeClr val="accent6">
                  <a:lumMod val="50000"/>
                </a:schemeClr>
              </a:buClr>
              <a:buSzPct val="70000"/>
            </a:pPr>
            <a:r>
              <a:rPr kumimoji="1" lang="zh-CN" altLang="en-US" sz="2800" dirty="0" smtClean="0">
                <a:latin typeface="Consolas" charset="0"/>
                <a:ea typeface="宋体" charset="-122"/>
              </a:rPr>
              <a:t>}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pPr>
              <a:buClr>
                <a:schemeClr val="accent6">
                  <a:lumMod val="50000"/>
                </a:schemeClr>
              </a:buClr>
              <a:buSzPct val="70000"/>
            </a:pPr>
            <a:r>
              <a:rPr kumimoji="1" lang="zh-CN" altLang="en-US" sz="2800" dirty="0" smtClean="0">
                <a:latin typeface="Consolas" charset="0"/>
                <a:ea typeface="宋体" charset="-122"/>
              </a:rPr>
              <a:t>else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{	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pPr lvl="1">
              <a:buClr>
                <a:schemeClr val="accent6">
                  <a:lumMod val="50000"/>
                </a:schemeClr>
              </a:buClr>
              <a:buSzPct val="70000"/>
            </a:pPr>
            <a:r>
              <a:rPr kumimoji="1" lang="zh-CN" altLang="en-US" sz="2800" dirty="0" smtClean="0">
                <a:latin typeface="Consolas" charset="0"/>
                <a:ea typeface="宋体" charset="-122"/>
              </a:rPr>
              <a:t>  b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[k++]=a[j];	b[k++]=a[i]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;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pPr>
              <a:buClr>
                <a:schemeClr val="accent6">
                  <a:lumMod val="50000"/>
                </a:schemeClr>
              </a:buClr>
              <a:buSzPct val="70000"/>
            </a:pPr>
            <a:r>
              <a:rPr kumimoji="1" lang="zh-CN" altLang="en-US" sz="2800" dirty="0" smtClean="0">
                <a:latin typeface="Consolas" charset="0"/>
                <a:ea typeface="宋体" charset="-122"/>
              </a:rPr>
              <a:t>}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99592" y="1599634"/>
            <a:ext cx="6480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 smtClean="0">
                <a:latin typeface="Consolas" charset="0"/>
                <a:ea typeface="宋体" charset="-122"/>
              </a:rPr>
              <a:t>3.</a:t>
            </a:r>
            <a:r>
              <a:rPr kumimoji="1" lang="zh-CN" altLang="en-US" sz="2800" dirty="0">
                <a:latin typeface="Consolas" charset="0"/>
                <a:ea typeface="Consolas" charset="0"/>
                <a:cs typeface="Consolas" charset="0"/>
              </a:rPr>
              <a:t>比较</a:t>
            </a:r>
            <a:r>
              <a:rPr kumimoji="1" lang="en-US" altLang="zh-CN" sz="2800" dirty="0">
                <a:latin typeface="Consolas" charset="0"/>
                <a:ea typeface="Consolas" charset="0"/>
                <a:cs typeface="Consolas" charset="0"/>
              </a:rPr>
              <a:t>a[</a:t>
            </a:r>
            <a:r>
              <a:rPr kumimoji="1" lang="en-US" altLang="zh-CN" sz="2800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kumimoji="1" lang="en-US" altLang="zh-CN" sz="2800" dirty="0">
                <a:latin typeface="Consolas" charset="0"/>
                <a:ea typeface="Consolas" charset="0"/>
                <a:cs typeface="Consolas" charset="0"/>
              </a:rPr>
              <a:t>]</a:t>
            </a:r>
            <a:r>
              <a:rPr kumimoji="1" lang="zh-CN" altLang="en-US" sz="2800" dirty="0">
                <a:latin typeface="Consolas" charset="0"/>
                <a:ea typeface="Consolas" charset="0"/>
                <a:cs typeface="Consolas" charset="0"/>
              </a:rPr>
              <a:t>和</a:t>
            </a:r>
            <a:r>
              <a:rPr kumimoji="1" lang="en-US" altLang="zh-CN" sz="2800" dirty="0">
                <a:latin typeface="Consolas" charset="0"/>
                <a:ea typeface="Consolas" charset="0"/>
                <a:cs typeface="Consolas" charset="0"/>
              </a:rPr>
              <a:t>a[j]</a:t>
            </a:r>
            <a:r>
              <a:rPr kumimoji="1" lang="zh-CN" altLang="en-US" sz="2800" dirty="0">
                <a:latin typeface="Consolas" charset="0"/>
                <a:ea typeface="Consolas" charset="0"/>
                <a:cs typeface="Consolas" charset="0"/>
              </a:rPr>
              <a:t>后填入</a:t>
            </a:r>
            <a:r>
              <a:rPr kumimoji="1" lang="en-US" altLang="zh-CN" sz="2800" dirty="0">
                <a:latin typeface="Consolas" charset="0"/>
                <a:ea typeface="Consolas" charset="0"/>
                <a:cs typeface="Consolas" charset="0"/>
              </a:rPr>
              <a:t>b</a:t>
            </a:r>
            <a:r>
              <a:rPr kumimoji="1" lang="zh-CN" altLang="en-US" sz="2800" dirty="0">
                <a:latin typeface="Consolas" charset="0"/>
                <a:ea typeface="Consolas" charset="0"/>
                <a:cs typeface="Consolas" charset="0"/>
              </a:rPr>
              <a:t>数组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4126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 smtClean="0"/>
              <a:t>子串连续出现最大次数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99592" y="2475341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smtClean="0">
                <a:latin typeface="Consolas" charset="0"/>
                <a:ea typeface="宋体" charset="-122"/>
              </a:rPr>
              <a:t>s1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13053" y="4682591"/>
            <a:ext cx="7314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 smtClean="0">
                <a:latin typeface="Consolas" charset="0"/>
                <a:ea typeface="宋体" charset="-122"/>
              </a:rPr>
              <a:t>s2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235309"/>
              </p:ext>
            </p:extLst>
          </p:nvPr>
        </p:nvGraphicFramePr>
        <p:xfrm>
          <a:off x="1523999" y="2474420"/>
          <a:ext cx="5640285" cy="5216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3745"/>
                <a:gridCol w="576064"/>
                <a:gridCol w="576064"/>
                <a:gridCol w="576064"/>
                <a:gridCol w="648072"/>
                <a:gridCol w="648072"/>
                <a:gridCol w="648072"/>
                <a:gridCol w="576064"/>
                <a:gridCol w="648068"/>
              </a:tblGrid>
              <a:tr h="5216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latin typeface="+mn-lt"/>
                        </a:rPr>
                        <a:t>a</a:t>
                      </a:r>
                      <a:endParaRPr lang="zh-CN" altLang="en-US" sz="28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latin typeface="+mn-lt"/>
                        </a:rPr>
                        <a:t>a</a:t>
                      </a:r>
                      <a:endParaRPr lang="zh-CN" altLang="en-US" sz="28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latin typeface="+mn-lt"/>
                        </a:rPr>
                        <a:t>b</a:t>
                      </a:r>
                      <a:endParaRPr lang="zh-CN" altLang="en-US" sz="28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latin typeface="+mn-lt"/>
                        </a:rPr>
                        <a:t>c</a:t>
                      </a:r>
                      <a:endParaRPr lang="zh-CN" altLang="en-US" sz="28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latin typeface="+mn-lt"/>
                        </a:rPr>
                        <a:t>a</a:t>
                      </a:r>
                      <a:endParaRPr lang="zh-CN" altLang="en-US" sz="28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latin typeface="+mn-lt"/>
                        </a:rPr>
                        <a:t>a</a:t>
                      </a:r>
                      <a:endParaRPr lang="zh-CN" altLang="en-US" sz="28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latin typeface="+mn-lt"/>
                        </a:rPr>
                        <a:t>b</a:t>
                      </a:r>
                      <a:endParaRPr lang="zh-CN" altLang="en-US" sz="28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latin typeface="+mn-lt"/>
                        </a:rPr>
                        <a:t>a</a:t>
                      </a:r>
                      <a:endParaRPr lang="zh-CN" altLang="en-US" sz="28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latin typeface="+mn-lt"/>
                        </a:rPr>
                        <a:t>b</a:t>
                      </a:r>
                      <a:endParaRPr lang="zh-CN" altLang="en-US" sz="28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887256"/>
              </p:ext>
            </p:extLst>
          </p:nvPr>
        </p:nvGraphicFramePr>
        <p:xfrm>
          <a:off x="1524001" y="4691876"/>
          <a:ext cx="1103783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836"/>
                <a:gridCol w="57494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latin typeface="+mn-lt"/>
                        </a:rPr>
                        <a:t>a</a:t>
                      </a:r>
                      <a:endParaRPr lang="zh-CN" altLang="en-US" sz="28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latin typeface="+mn-lt"/>
                        </a:rPr>
                        <a:t>b</a:t>
                      </a:r>
                      <a:endParaRPr lang="zh-CN" altLang="en-US" sz="28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524000" y="3697868"/>
            <a:ext cx="4272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 smtClean="0">
                <a:latin typeface="Consolas" charset="0"/>
                <a:ea typeface="宋体" charset="-122"/>
              </a:rPr>
              <a:t>i1- 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验证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s1[i1]==s2[i2]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24001" y="5786100"/>
            <a:ext cx="776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smtClean="0">
                <a:latin typeface="Consolas" charset="0"/>
                <a:ea typeface="宋体" charset="-122"/>
              </a:rPr>
              <a:t>i2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-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  <p:cxnSp>
        <p:nvCxnSpPr>
          <p:cNvPr id="14" name="直线箭头连接符 13"/>
          <p:cNvCxnSpPr/>
          <p:nvPr/>
        </p:nvCxnSpPr>
        <p:spPr>
          <a:xfrm flipV="1">
            <a:off x="1813502" y="2993501"/>
            <a:ext cx="0" cy="581124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/>
          <p:cNvCxnSpPr/>
          <p:nvPr/>
        </p:nvCxnSpPr>
        <p:spPr>
          <a:xfrm flipV="1">
            <a:off x="1813502" y="5204976"/>
            <a:ext cx="0" cy="581124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1523999" y="1410823"/>
            <a:ext cx="33249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ni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-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假设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s2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出现位置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  <p:cxnSp>
        <p:nvCxnSpPr>
          <p:cNvPr id="18" name="直线箭头连接符 17"/>
          <p:cNvCxnSpPr/>
          <p:nvPr/>
        </p:nvCxnSpPr>
        <p:spPr>
          <a:xfrm>
            <a:off x="1813502" y="1934043"/>
            <a:ext cx="26" cy="541298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/>
          <p:cNvCxnSpPr/>
          <p:nvPr/>
        </p:nvCxnSpPr>
        <p:spPr>
          <a:xfrm>
            <a:off x="1923967" y="2060848"/>
            <a:ext cx="5061284" cy="0"/>
          </a:xfrm>
          <a:prstGeom prst="straightConnector1">
            <a:avLst/>
          </a:prstGeom>
          <a:ln w="222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/>
          <p:cNvCxnSpPr/>
          <p:nvPr/>
        </p:nvCxnSpPr>
        <p:spPr>
          <a:xfrm flipV="1">
            <a:off x="1835696" y="3333128"/>
            <a:ext cx="1008112" cy="23865"/>
          </a:xfrm>
          <a:prstGeom prst="straightConnector1">
            <a:avLst/>
          </a:prstGeom>
          <a:ln w="222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/>
          <p:cNvCxnSpPr/>
          <p:nvPr/>
        </p:nvCxnSpPr>
        <p:spPr>
          <a:xfrm>
            <a:off x="1835696" y="5495538"/>
            <a:ext cx="792088" cy="0"/>
          </a:xfrm>
          <a:prstGeom prst="straightConnector1">
            <a:avLst/>
          </a:prstGeom>
          <a:ln w="222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/>
          <p:cNvCxnSpPr/>
          <p:nvPr/>
        </p:nvCxnSpPr>
        <p:spPr>
          <a:xfrm>
            <a:off x="2843808" y="3068960"/>
            <a:ext cx="0" cy="505665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/>
          <p:cNvCxnSpPr/>
          <p:nvPr/>
        </p:nvCxnSpPr>
        <p:spPr>
          <a:xfrm>
            <a:off x="6876256" y="5495538"/>
            <a:ext cx="0" cy="0"/>
          </a:xfrm>
          <a:prstGeom prst="line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连接符 33"/>
          <p:cNvCxnSpPr/>
          <p:nvPr/>
        </p:nvCxnSpPr>
        <p:spPr>
          <a:xfrm>
            <a:off x="2627784" y="5280435"/>
            <a:ext cx="0" cy="505665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5778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子串连续出现最大次数</a:t>
            </a:r>
          </a:p>
        </p:txBody>
      </p:sp>
      <p:sp>
        <p:nvSpPr>
          <p:cNvPr id="3" name="矩形 2"/>
          <p:cNvSpPr/>
          <p:nvPr/>
        </p:nvSpPr>
        <p:spPr>
          <a:xfrm>
            <a:off x="755576" y="2708920"/>
            <a:ext cx="7931224" cy="34163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400" dirty="0"/>
              <a:t>while(s1[ni</a:t>
            </a:r>
            <a:r>
              <a:rPr lang="zh-CN" altLang="en-US" sz="2400" dirty="0" smtClean="0"/>
              <a:t>])</a:t>
            </a:r>
            <a:r>
              <a:rPr lang="zh-CN" altLang="en-US" sz="2400" dirty="0"/>
              <a:t>{			</a:t>
            </a:r>
            <a:endParaRPr lang="en-US" altLang="zh-CN" sz="2400" dirty="0" smtClean="0"/>
          </a:p>
          <a:p>
            <a:r>
              <a:rPr lang="en-US" altLang="zh-CN" sz="2400" dirty="0" smtClean="0"/>
              <a:t>  </a:t>
            </a:r>
            <a:r>
              <a:rPr lang="zh-CN" altLang="en-US" sz="2400" dirty="0" smtClean="0"/>
              <a:t>i1 </a:t>
            </a:r>
            <a:r>
              <a:rPr lang="zh-CN" altLang="en-US" sz="2400" dirty="0"/>
              <a:t>= ni;  //设定s1开始比较位置	</a:t>
            </a:r>
            <a:endParaRPr lang="en-US" altLang="zh-CN" sz="2400" dirty="0" smtClean="0"/>
          </a:p>
          <a:p>
            <a:r>
              <a:rPr lang="en-US" altLang="zh-CN" sz="2400" dirty="0" smtClean="0"/>
              <a:t>  </a:t>
            </a:r>
            <a:r>
              <a:rPr lang="zh-CN" altLang="en-US" sz="2400" dirty="0" smtClean="0"/>
              <a:t>i2 </a:t>
            </a:r>
            <a:r>
              <a:rPr lang="zh-CN" altLang="en-US" sz="2400" dirty="0"/>
              <a:t>= 0;   //复位s2位置		</a:t>
            </a:r>
            <a:endParaRPr lang="en-US" altLang="zh-CN" sz="2400" dirty="0" smtClean="0"/>
          </a:p>
          <a:p>
            <a:r>
              <a:rPr lang="en-US" altLang="zh-CN" sz="2400" dirty="0" smtClean="0"/>
              <a:t>  </a:t>
            </a:r>
            <a:r>
              <a:rPr lang="zh-CN" altLang="en-US" sz="2400" dirty="0" smtClean="0"/>
              <a:t>while</a:t>
            </a:r>
            <a:r>
              <a:rPr lang="zh-CN" altLang="en-US" sz="2400" dirty="0"/>
              <a:t>(s1[i1] &amp;&amp; s2[i2] &amp;&amp; s1[i1]==s2[i2])</a:t>
            </a:r>
            <a:r>
              <a:rPr lang="zh-CN" altLang="en-US" sz="2400" dirty="0" smtClean="0"/>
              <a:t>{</a:t>
            </a:r>
            <a:endParaRPr lang="en-US" altLang="zh-CN" sz="2400" dirty="0" smtClean="0"/>
          </a:p>
          <a:p>
            <a:r>
              <a:rPr lang="en-US" altLang="zh-CN" sz="2400" dirty="0"/>
              <a:t>	</a:t>
            </a:r>
            <a:r>
              <a:rPr lang="zh-CN" altLang="en-US" sz="2400" dirty="0" smtClean="0"/>
              <a:t>i1</a:t>
            </a:r>
            <a:r>
              <a:rPr lang="zh-CN" altLang="en-US" sz="2400" dirty="0"/>
              <a:t>++;	</a:t>
            </a:r>
            <a:r>
              <a:rPr lang="zh-CN" altLang="en-US" sz="2400" dirty="0" smtClean="0"/>
              <a:t>i2</a:t>
            </a:r>
            <a:r>
              <a:rPr lang="zh-CN" altLang="en-US" sz="2400" dirty="0"/>
              <a:t>++;	 </a:t>
            </a:r>
            <a:r>
              <a:rPr lang="en-US" altLang="zh-CN" sz="2400" dirty="0" smtClean="0"/>
              <a:t>     </a:t>
            </a:r>
            <a:r>
              <a:rPr lang="zh-CN" altLang="en-US" sz="2400" dirty="0" smtClean="0"/>
              <a:t>/</a:t>
            </a:r>
            <a:r>
              <a:rPr lang="zh-CN" altLang="en-US" sz="2400" dirty="0"/>
              <a:t>/有效字符</a:t>
            </a:r>
            <a:r>
              <a:rPr lang="zh-CN" altLang="en-US" sz="2400" dirty="0" smtClean="0"/>
              <a:t>比较</a:t>
            </a:r>
            <a:r>
              <a:rPr lang="zh-CN" altLang="en-US" sz="2400" dirty="0"/>
              <a:t>		</a:t>
            </a:r>
            <a:endParaRPr lang="en-US" altLang="zh-CN" sz="2400" dirty="0" smtClean="0"/>
          </a:p>
          <a:p>
            <a:r>
              <a:rPr lang="en-US" altLang="zh-CN" sz="2400" dirty="0" smtClean="0"/>
              <a:t>  </a:t>
            </a:r>
            <a:r>
              <a:rPr lang="zh-CN" altLang="en-US" sz="2400" dirty="0" smtClean="0"/>
              <a:t>}</a:t>
            </a:r>
            <a:r>
              <a:rPr lang="zh-CN" altLang="en-US" sz="2400" dirty="0"/>
              <a:t>		</a:t>
            </a:r>
            <a:endParaRPr lang="en-US" altLang="zh-CN" sz="2400" dirty="0" smtClean="0"/>
          </a:p>
          <a:p>
            <a:r>
              <a:rPr lang="en-US" altLang="zh-CN" sz="2400" dirty="0"/>
              <a:t> 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/</a:t>
            </a:r>
            <a:r>
              <a:rPr lang="zh-CN" altLang="en-US" sz="2400" dirty="0"/>
              <a:t>/分析退出条件		</a:t>
            </a:r>
            <a:endParaRPr lang="en-US" altLang="zh-CN" sz="2400" dirty="0" smtClean="0"/>
          </a:p>
          <a:p>
            <a:r>
              <a:rPr lang="en-US" altLang="zh-CN" sz="2400" dirty="0"/>
              <a:t> </a:t>
            </a:r>
            <a:r>
              <a:rPr lang="en-US" altLang="zh-CN" sz="2400" dirty="0" smtClean="0"/>
              <a:t>       </a:t>
            </a:r>
            <a:r>
              <a:rPr lang="zh-CN" altLang="en-US" sz="2400" dirty="0" smtClean="0"/>
              <a:t>.</a:t>
            </a:r>
            <a:r>
              <a:rPr lang="zh-CN" altLang="en-US" sz="2400" dirty="0"/>
              <a:t>..	</a:t>
            </a:r>
            <a:endParaRPr lang="en-US" altLang="zh-CN" sz="2400" dirty="0" smtClean="0"/>
          </a:p>
          <a:p>
            <a:r>
              <a:rPr lang="zh-CN" altLang="en-US" sz="2400" dirty="0" smtClean="0"/>
              <a:t>}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821803" y="2025570"/>
            <a:ext cx="2374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smtClean="0">
                <a:latin typeface="Consolas" charset="0"/>
                <a:ea typeface="宋体" charset="-122"/>
              </a:rPr>
              <a:t>1.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程序主结构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5086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子串连续出现最大次数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21718" y="1621649"/>
            <a:ext cx="2733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smtClean="0">
                <a:latin typeface="Consolas" charset="0"/>
                <a:ea typeface="宋体" charset="-122"/>
              </a:rPr>
              <a:t>2.</a:t>
            </a:r>
            <a:r>
              <a:rPr lang="zh-CN" altLang="en-US" sz="2800" dirty="0"/>
              <a:t>分析退出条件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54997" y="2564904"/>
            <a:ext cx="5926546" cy="286232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000" dirty="0" smtClean="0"/>
              <a:t>if</a:t>
            </a:r>
            <a:r>
              <a:rPr lang="zh-CN" altLang="en-US" sz="2000" dirty="0"/>
              <a:t>(s2[i2]==0){  //出现</a:t>
            </a:r>
            <a:r>
              <a:rPr lang="zh-CN" altLang="en-US" sz="2000" dirty="0" smtClean="0"/>
              <a:t>s2</a:t>
            </a:r>
            <a:r>
              <a:rPr lang="zh-CN" altLang="en-US" sz="2000" dirty="0"/>
              <a:t>		</a:t>
            </a:r>
            <a:endParaRPr lang="en-US" altLang="zh-CN" sz="2000" dirty="0" smtClean="0"/>
          </a:p>
          <a:p>
            <a:r>
              <a:rPr lang="en-US" altLang="zh-CN" sz="2000" dirty="0" smtClean="0"/>
              <a:t>     </a:t>
            </a:r>
            <a:r>
              <a:rPr lang="zh-CN" altLang="en-US" sz="2000" dirty="0" smtClean="0"/>
              <a:t>c</a:t>
            </a:r>
            <a:r>
              <a:rPr lang="zh-CN" altLang="en-US" sz="2000" dirty="0"/>
              <a:t>++;   //</a:t>
            </a:r>
            <a:r>
              <a:rPr lang="zh-CN" altLang="en-US" sz="2000" dirty="0" smtClean="0"/>
              <a:t>c：当前连续</a:t>
            </a:r>
            <a:r>
              <a:rPr lang="zh-CN" altLang="en-US" sz="2000" dirty="0"/>
              <a:t>出现次数	</a:t>
            </a:r>
            <a:r>
              <a:rPr lang="en-US" altLang="zh-CN" sz="2000" dirty="0" smtClean="0"/>
              <a:t> </a:t>
            </a:r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   </a:t>
            </a:r>
            <a:r>
              <a:rPr lang="zh-CN" altLang="en-US" sz="2000" dirty="0" smtClean="0"/>
              <a:t>if(c&gt;count</a:t>
            </a:r>
            <a:r>
              <a:rPr lang="zh-CN" altLang="en-US" sz="2000" dirty="0"/>
              <a:t>) count = c;  </a:t>
            </a:r>
            <a:endParaRPr lang="en-US" altLang="zh-CN" sz="2000" dirty="0" smtClean="0"/>
          </a:p>
          <a:p>
            <a:r>
              <a:rPr lang="en-US" altLang="zh-CN" sz="2000" dirty="0"/>
              <a:t>	</a:t>
            </a:r>
            <a:r>
              <a:rPr lang="zh-CN" altLang="en-US" sz="2000" dirty="0"/>
              <a:t> </a:t>
            </a:r>
            <a:r>
              <a:rPr lang="zh-CN" altLang="en-US" sz="2000" dirty="0" smtClean="0"/>
              <a:t>      /</a:t>
            </a:r>
            <a:r>
              <a:rPr lang="zh-CN" altLang="en-US" sz="2000" dirty="0"/>
              <a:t>/count 最多连续出现</a:t>
            </a:r>
            <a:r>
              <a:rPr lang="zh-CN" altLang="en-US" sz="2000" dirty="0" smtClean="0"/>
              <a:t>次数</a:t>
            </a:r>
            <a:r>
              <a:rPr lang="zh-CN" altLang="en-US" sz="2000" dirty="0"/>
              <a:t>	</a:t>
            </a:r>
            <a:endParaRPr lang="en-US" altLang="zh-CN" sz="2000" dirty="0" smtClean="0"/>
          </a:p>
          <a:p>
            <a:r>
              <a:rPr lang="zh-CN" altLang="en-US" sz="2000" dirty="0">
                <a:solidFill>
                  <a:srgbClr val="00B0F0"/>
                </a:solidFill>
              </a:rPr>
              <a:t> </a:t>
            </a:r>
            <a:r>
              <a:rPr lang="zh-CN" altLang="en-US" sz="2000" dirty="0" smtClean="0">
                <a:solidFill>
                  <a:srgbClr val="00B0F0"/>
                </a:solidFill>
              </a:rPr>
              <a:t>    ni </a:t>
            </a:r>
            <a:r>
              <a:rPr lang="zh-CN" altLang="en-US" sz="2000" dirty="0">
                <a:solidFill>
                  <a:srgbClr val="00B0F0"/>
                </a:solidFill>
              </a:rPr>
              <a:t>= i1</a:t>
            </a:r>
            <a:r>
              <a:rPr lang="zh-CN" altLang="en-US" sz="2000" dirty="0" smtClean="0">
                <a:solidFill>
                  <a:srgbClr val="00B0F0"/>
                </a:solidFill>
              </a:rPr>
              <a:t>;</a:t>
            </a:r>
            <a:r>
              <a:rPr lang="en-US" altLang="zh-CN" sz="2000" dirty="0" smtClean="0">
                <a:solidFill>
                  <a:srgbClr val="00B0F0"/>
                </a:solidFill>
              </a:rPr>
              <a:t> //</a:t>
            </a:r>
            <a:r>
              <a:rPr lang="zh-CN" altLang="en-US" sz="2000" dirty="0" smtClean="0">
                <a:solidFill>
                  <a:srgbClr val="00B0F0"/>
                </a:solidFill>
              </a:rPr>
              <a:t>继续下一个搜索</a:t>
            </a:r>
            <a:endParaRPr lang="en-US" altLang="zh-CN" sz="2000" dirty="0" smtClean="0">
              <a:solidFill>
                <a:srgbClr val="00B0F0"/>
              </a:solidFill>
            </a:endParaRPr>
          </a:p>
          <a:p>
            <a:r>
              <a:rPr lang="zh-CN" altLang="en-US" sz="2000" dirty="0" smtClean="0"/>
              <a:t>}</a:t>
            </a:r>
            <a:r>
              <a:rPr lang="en-US" altLang="zh-CN" sz="2000" dirty="0" smtClean="0"/>
              <a:t>  </a:t>
            </a:r>
          </a:p>
          <a:p>
            <a:r>
              <a:rPr lang="zh-CN" altLang="en-US" sz="2000" dirty="0" smtClean="0"/>
              <a:t>else </a:t>
            </a:r>
            <a:r>
              <a:rPr lang="en-US" altLang="zh-CN" sz="2000" dirty="0" smtClean="0"/>
              <a:t>if(s1[i1])</a:t>
            </a:r>
            <a:r>
              <a:rPr lang="zh-CN" altLang="en-US" sz="2000" dirty="0" smtClean="0"/>
              <a:t>{  </a:t>
            </a:r>
            <a:r>
              <a:rPr lang="zh-CN" altLang="en-US" sz="2000" dirty="0"/>
              <a:t>/</a:t>
            </a:r>
            <a:r>
              <a:rPr lang="zh-CN" altLang="en-US" sz="2000" dirty="0" smtClean="0"/>
              <a:t>/</a:t>
            </a:r>
            <a:r>
              <a:rPr lang="en-US" altLang="zh-CN" sz="2000" dirty="0" err="1" smtClean="0"/>
              <a:t>ni</a:t>
            </a:r>
            <a:r>
              <a:rPr lang="zh-CN" altLang="en-US" sz="2000" dirty="0" smtClean="0"/>
              <a:t>位置</a:t>
            </a:r>
            <a:r>
              <a:rPr lang="zh-CN" altLang="en-US" sz="2000" dirty="0" smtClean="0"/>
              <a:t>匹配失败</a:t>
            </a:r>
            <a:r>
              <a:rPr lang="zh-CN" altLang="en-US" sz="2000" dirty="0"/>
              <a:t>		</a:t>
            </a:r>
            <a:endParaRPr lang="en-US" altLang="zh-CN" sz="2000" dirty="0" smtClean="0"/>
          </a:p>
          <a:p>
            <a:r>
              <a:rPr lang="zh-CN" altLang="en-US" sz="2000" dirty="0">
                <a:solidFill>
                  <a:srgbClr val="00B0F0"/>
                </a:solidFill>
              </a:rPr>
              <a:t> </a:t>
            </a:r>
            <a:r>
              <a:rPr lang="zh-CN" altLang="en-US" sz="2000" dirty="0" smtClean="0">
                <a:solidFill>
                  <a:srgbClr val="00B0F0"/>
                </a:solidFill>
              </a:rPr>
              <a:t>   </a:t>
            </a:r>
            <a:r>
              <a:rPr lang="zh-CN" altLang="en-US" sz="2000" dirty="0" smtClean="0">
                <a:solidFill>
                  <a:srgbClr val="00B0F0"/>
                </a:solidFill>
              </a:rPr>
              <a:t>ni</a:t>
            </a:r>
            <a:r>
              <a:rPr lang="en-US" altLang="zh-CN" sz="2000" dirty="0" smtClean="0">
                <a:solidFill>
                  <a:srgbClr val="00B0F0"/>
                </a:solidFill>
              </a:rPr>
              <a:t>++</a:t>
            </a:r>
            <a:r>
              <a:rPr lang="zh-CN" altLang="en-US" sz="2000" dirty="0" smtClean="0">
                <a:solidFill>
                  <a:srgbClr val="00B0F0"/>
                </a:solidFill>
              </a:rPr>
              <a:t>; </a:t>
            </a:r>
            <a:r>
              <a:rPr lang="zh-CN" altLang="en-US" sz="2000" dirty="0">
                <a:solidFill>
                  <a:srgbClr val="00B0F0"/>
                </a:solidFill>
              </a:rPr>
              <a:t>c = 0;  /</a:t>
            </a:r>
            <a:r>
              <a:rPr lang="zh-CN" altLang="en-US" sz="2000" dirty="0" smtClean="0">
                <a:solidFill>
                  <a:srgbClr val="00B0F0"/>
                </a:solidFill>
              </a:rPr>
              <a:t>/继续搜索</a:t>
            </a:r>
            <a:r>
              <a:rPr lang="zh-CN" altLang="en-US" sz="2000" dirty="0">
                <a:solidFill>
                  <a:srgbClr val="00B0F0"/>
                </a:solidFill>
              </a:rPr>
              <a:t>	</a:t>
            </a:r>
            <a:r>
              <a:rPr lang="zh-CN" altLang="en-US" sz="2000" dirty="0"/>
              <a:t>	</a:t>
            </a:r>
            <a:endParaRPr lang="en-US" altLang="zh-CN" sz="2000" dirty="0" smtClean="0"/>
          </a:p>
          <a:p>
            <a:r>
              <a:rPr lang="zh-CN" altLang="en-US" sz="2000" dirty="0" smtClean="0"/>
              <a:t>}</a:t>
            </a:r>
            <a:r>
              <a:rPr lang="en-US" altLang="zh-CN" sz="2000" dirty="0" smtClean="0"/>
              <a:t>else break;</a:t>
            </a:r>
            <a:r>
              <a:rPr lang="zh-CN" altLang="en-US" sz="2000" dirty="0"/>
              <a:t>	</a:t>
            </a:r>
            <a:r>
              <a:rPr lang="en-US" altLang="zh-CN" sz="2000" dirty="0" smtClean="0"/>
              <a:t>//s1</a:t>
            </a:r>
            <a:r>
              <a:rPr lang="zh-CN" altLang="en-US" sz="2000" dirty="0" smtClean="0"/>
              <a:t>结束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39860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共有子串</a:t>
            </a:r>
            <a:r>
              <a:rPr lang="zh-CN" altLang="en-US" dirty="0"/>
              <a:t> </a:t>
            </a:r>
            <a:endParaRPr kumimoji="1"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115616" y="1196752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charset="2"/>
              <a:buChar char="n"/>
            </a:pPr>
            <a:r>
              <a:rPr lang="zh-CN" altLang="en-US" sz="2000" b="1" dirty="0"/>
              <a:t>找</a:t>
            </a:r>
            <a:r>
              <a:rPr lang="zh-CN" altLang="en-US" sz="2000" b="1" dirty="0" smtClean="0"/>
              <a:t>出</a:t>
            </a:r>
            <a:r>
              <a:rPr lang="en-US" altLang="zh-CN" sz="2000" b="1" dirty="0" smtClean="0"/>
              <a:t>s</a:t>
            </a:r>
            <a:r>
              <a:rPr lang="zh-CN" altLang="en-US" sz="2000" b="1" dirty="0" smtClean="0"/>
              <a:t>、</a:t>
            </a:r>
            <a:r>
              <a:rPr lang="en-US" altLang="zh-CN" sz="2000" b="1" dirty="0" smtClean="0"/>
              <a:t>t</a:t>
            </a:r>
            <a:r>
              <a:rPr lang="zh-CN" altLang="en-US" sz="2000" b="1" dirty="0" smtClean="0"/>
              <a:t>中同时</a:t>
            </a:r>
            <a:r>
              <a:rPr lang="zh-CN" altLang="en-US" sz="2000" b="1" dirty="0"/>
              <a:t>出现在两个字符串中最长的</a:t>
            </a:r>
            <a:r>
              <a:rPr lang="zh-CN" altLang="en-US" sz="2000" b="1" dirty="0" smtClean="0"/>
              <a:t>子串</a:t>
            </a:r>
            <a:r>
              <a:rPr lang="en-US" altLang="zh-CN" sz="2000" b="1" dirty="0" smtClean="0"/>
              <a:t>a</a:t>
            </a:r>
            <a:endParaRPr lang="zh-CN" altLang="en-US" sz="2000" dirty="0"/>
          </a:p>
          <a:p>
            <a:endParaRPr kumimoji="1" lang="zh-CN" altLang="en-US" sz="2000" dirty="0">
              <a:latin typeface="Consolas" charset="0"/>
              <a:ea typeface="宋体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761758"/>
              </p:ext>
            </p:extLst>
          </p:nvPr>
        </p:nvGraphicFramePr>
        <p:xfrm>
          <a:off x="1763688" y="2007828"/>
          <a:ext cx="5400598" cy="66384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20080"/>
                <a:gridCol w="822948"/>
                <a:gridCol w="771514"/>
                <a:gridCol w="771514"/>
                <a:gridCol w="771514"/>
                <a:gridCol w="771514"/>
                <a:gridCol w="771514"/>
              </a:tblGrid>
              <a:tr h="6638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/>
                        <a:t>a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/>
                        <a:t>d</a:t>
                      </a:r>
                      <a:endParaRPr lang="zh-CN" altLang="en-US" sz="2800" u="none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/>
                        <a:t>c</a:t>
                      </a:r>
                      <a:endParaRPr lang="zh-CN" altLang="en-US" sz="2800" u="none" baseline="0" dirty="0">
                        <a:latin typeface="+mn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/>
                        <a:t>b</a:t>
                      </a:r>
                      <a:endParaRPr lang="zh-CN" altLang="en-US" sz="2800" u="none" baseline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/>
                        <a:t>e</a:t>
                      </a:r>
                      <a:endParaRPr lang="zh-CN" altLang="en-US" sz="2800" u="none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/>
                        <a:t>f</a:t>
                      </a:r>
                      <a:endParaRPr lang="zh-CN" altLang="en-US" sz="2800" u="none" baseline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/>
                        <a:t>g</a:t>
                      </a:r>
                      <a:endParaRPr lang="zh-CN" altLang="en-US" sz="2800" u="none" baseline="0" dirty="0">
                        <a:latin typeface="+mn-lt"/>
                        <a:ea typeface="宋体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17023"/>
              </p:ext>
            </p:extLst>
          </p:nvPr>
        </p:nvGraphicFramePr>
        <p:xfrm>
          <a:off x="1763688" y="3789040"/>
          <a:ext cx="5400598" cy="66384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71514"/>
                <a:gridCol w="771514"/>
                <a:gridCol w="771514"/>
                <a:gridCol w="771514"/>
                <a:gridCol w="771514"/>
                <a:gridCol w="771514"/>
                <a:gridCol w="771514"/>
              </a:tblGrid>
              <a:tr h="6638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/>
                        <a:t>t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/>
                        <a:t>s</a:t>
                      </a:r>
                      <a:endParaRPr lang="zh-CN" altLang="en-US" sz="2800" u="none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/>
                        <a:t>c</a:t>
                      </a:r>
                      <a:endParaRPr lang="zh-CN" altLang="en-US" sz="2800" u="none" baseline="0" dirty="0">
                        <a:latin typeface="+mn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/>
                        <a:t>b</a:t>
                      </a:r>
                      <a:endParaRPr lang="zh-CN" altLang="en-US" sz="2800" u="none" baseline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/>
                        <a:t>e</a:t>
                      </a:r>
                      <a:endParaRPr lang="zh-CN" altLang="en-US" sz="2800" u="none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/>
                        <a:t>a</a:t>
                      </a:r>
                      <a:endParaRPr lang="zh-CN" altLang="en-US" sz="2800" u="none" baseline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u="none" baseline="0" dirty="0" smtClean="0"/>
                        <a:t>d</a:t>
                      </a:r>
                      <a:endParaRPr lang="zh-CN" altLang="en-US" sz="2800" u="none" baseline="0" dirty="0">
                        <a:latin typeface="+mn-lt"/>
                        <a:ea typeface="宋体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115616" y="2028951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smtClean="0">
                <a:latin typeface="Consolas" charset="0"/>
                <a:ea typeface="宋体" charset="-122"/>
              </a:rPr>
              <a:t>s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616" y="3975834"/>
            <a:ext cx="38183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smtClean="0">
                <a:latin typeface="Consolas" charset="0"/>
                <a:ea typeface="宋体" charset="-122"/>
              </a:rPr>
              <a:t>t</a:t>
            </a:r>
          </a:p>
          <a:p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  <p:cxnSp>
        <p:nvCxnSpPr>
          <p:cNvPr id="10" name="直线箭头连接符 9"/>
          <p:cNvCxnSpPr/>
          <p:nvPr/>
        </p:nvCxnSpPr>
        <p:spPr>
          <a:xfrm>
            <a:off x="3491880" y="3212976"/>
            <a:ext cx="2088232" cy="0"/>
          </a:xfrm>
          <a:prstGeom prst="straightConnector1">
            <a:avLst/>
          </a:prstGeom>
          <a:ln w="222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/>
          <p:cNvCxnSpPr/>
          <p:nvPr/>
        </p:nvCxnSpPr>
        <p:spPr>
          <a:xfrm>
            <a:off x="3347864" y="2852936"/>
            <a:ext cx="0" cy="720080"/>
          </a:xfrm>
          <a:prstGeom prst="line">
            <a:avLst/>
          </a:prstGeom>
          <a:ln w="22225"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/>
          <p:cNvCxnSpPr/>
          <p:nvPr/>
        </p:nvCxnSpPr>
        <p:spPr>
          <a:xfrm>
            <a:off x="5652120" y="2852936"/>
            <a:ext cx="0" cy="720080"/>
          </a:xfrm>
          <a:prstGeom prst="line">
            <a:avLst/>
          </a:prstGeom>
          <a:ln w="22225"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3347864" y="3092743"/>
            <a:ext cx="381836" cy="475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smtClean="0">
                <a:latin typeface="Consolas" charset="0"/>
                <a:ea typeface="宋体" charset="-122"/>
              </a:rPr>
              <a:t>q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347864" y="1399528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smtClean="0">
                <a:latin typeface="Consolas" charset="0"/>
                <a:ea typeface="宋体" charset="-122"/>
              </a:rPr>
              <a:t>p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  <p:cxnSp>
        <p:nvCxnSpPr>
          <p:cNvPr id="20" name="直线箭头连接符 19"/>
          <p:cNvCxnSpPr/>
          <p:nvPr/>
        </p:nvCxnSpPr>
        <p:spPr>
          <a:xfrm>
            <a:off x="3538782" y="1772816"/>
            <a:ext cx="0" cy="235012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/>
          <p:cNvCxnSpPr>
            <a:stCxn id="17" idx="2"/>
          </p:cNvCxnSpPr>
          <p:nvPr/>
        </p:nvCxnSpPr>
        <p:spPr>
          <a:xfrm>
            <a:off x="3538782" y="3568398"/>
            <a:ext cx="0" cy="220642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6033955" y="2951366"/>
            <a:ext cx="776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smtClean="0">
                <a:latin typeface="Consolas" charset="0"/>
                <a:ea typeface="宋体" charset="-122"/>
              </a:rPr>
              <a:t>r=3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727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87370"/>
            <a:ext cx="8229600" cy="1143000"/>
          </a:xfrm>
        </p:spPr>
        <p:txBody>
          <a:bodyPr/>
          <a:lstStyle/>
          <a:p>
            <a:r>
              <a:rPr kumimoji="1" lang="zh-CN" altLang="en-US" dirty="0" smtClean="0"/>
              <a:t>共有子串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11560" y="1844824"/>
            <a:ext cx="7920880" cy="440120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l-PL" altLang="zh-CN" sz="2800" dirty="0"/>
              <a:t>    </a:t>
            </a:r>
            <a:r>
              <a:rPr lang="pl-PL" altLang="zh-CN" sz="2800" b="1" dirty="0" err="1"/>
              <a:t>while</a:t>
            </a:r>
            <a:r>
              <a:rPr lang="pl-PL" altLang="zh-CN" sz="2800" dirty="0"/>
              <a:t>(*p) {   </a:t>
            </a:r>
          </a:p>
          <a:p>
            <a:r>
              <a:rPr lang="pl-PL" altLang="zh-CN" sz="2800" dirty="0"/>
              <a:t>        q=t;  </a:t>
            </a:r>
          </a:p>
          <a:p>
            <a:r>
              <a:rPr lang="pl-PL" altLang="zh-CN" sz="2800" dirty="0"/>
              <a:t>        </a:t>
            </a:r>
            <a:r>
              <a:rPr lang="pl-PL" altLang="zh-CN" sz="2800" b="1" dirty="0" err="1"/>
              <a:t>while</a:t>
            </a:r>
            <a:r>
              <a:rPr lang="pl-PL" altLang="zh-CN" sz="2800" dirty="0"/>
              <a:t>(*q) {  </a:t>
            </a:r>
          </a:p>
          <a:p>
            <a:r>
              <a:rPr lang="pl-PL" altLang="zh-CN" sz="2800" dirty="0"/>
              <a:t>            r=</a:t>
            </a:r>
            <a:r>
              <a:rPr lang="pl-PL" altLang="zh-CN" sz="2800" dirty="0" err="1"/>
              <a:t>findsub</a:t>
            </a:r>
            <a:r>
              <a:rPr lang="pl-PL" altLang="zh-CN" sz="2800" dirty="0"/>
              <a:t>(</a:t>
            </a:r>
            <a:r>
              <a:rPr lang="pl-PL" altLang="zh-CN" sz="2800" dirty="0" err="1"/>
              <a:t>p,q</a:t>
            </a:r>
            <a:r>
              <a:rPr lang="pl-PL" altLang="zh-CN" sz="2800" dirty="0" smtClean="0"/>
              <a:t>);</a:t>
            </a:r>
            <a:r>
              <a:rPr lang="pl-PL" altLang="zh-CN" sz="2800" dirty="0"/>
              <a:t> </a:t>
            </a:r>
            <a:r>
              <a:rPr lang="pl-PL" altLang="zh-CN" sz="2800" dirty="0" smtClean="0"/>
              <a:t>//r</a:t>
            </a:r>
            <a:r>
              <a:rPr lang="zh-CN" altLang="en-US" sz="2800" dirty="0" smtClean="0"/>
              <a:t>共有字符数</a:t>
            </a:r>
            <a:r>
              <a:rPr lang="pl-PL" altLang="zh-CN" sz="2800" dirty="0"/>
              <a:t>  </a:t>
            </a:r>
          </a:p>
          <a:p>
            <a:r>
              <a:rPr lang="pl-PL" altLang="zh-CN" sz="2800" dirty="0"/>
              <a:t>            </a:t>
            </a:r>
            <a:r>
              <a:rPr lang="pl-PL" altLang="zh-CN" sz="2800" b="1" dirty="0" err="1"/>
              <a:t>if</a:t>
            </a:r>
            <a:r>
              <a:rPr lang="pl-PL" altLang="zh-CN" sz="2800" dirty="0"/>
              <a:t>(r&gt;=2&amp;&amp;n&lt;r) {  </a:t>
            </a:r>
            <a:r>
              <a:rPr lang="pl-PL" altLang="zh-CN" sz="2800" dirty="0" smtClean="0"/>
              <a:t>//</a:t>
            </a:r>
            <a:r>
              <a:rPr lang="zh-CN" altLang="en-US" sz="2800" dirty="0" smtClean="0"/>
              <a:t>保留最新</a:t>
            </a:r>
            <a:endParaRPr lang="pl-PL" altLang="zh-CN" sz="2800" dirty="0"/>
          </a:p>
          <a:p>
            <a:r>
              <a:rPr lang="pl-PL" altLang="zh-CN" sz="2800" dirty="0"/>
              <a:t>                n=r;  </a:t>
            </a:r>
          </a:p>
          <a:p>
            <a:r>
              <a:rPr lang="pl-PL" altLang="zh-CN" sz="2800" dirty="0"/>
              <a:t>                </a:t>
            </a:r>
            <a:r>
              <a:rPr lang="pl-PL" altLang="zh-CN" sz="2800" dirty="0" err="1"/>
              <a:t>pn</a:t>
            </a:r>
            <a:r>
              <a:rPr lang="pl-PL" altLang="zh-CN" sz="2800" dirty="0"/>
              <a:t>=p;  </a:t>
            </a:r>
            <a:r>
              <a:rPr lang="pl-PL" altLang="zh-CN" sz="2800" dirty="0" smtClean="0"/>
              <a:t>}</a:t>
            </a:r>
            <a:r>
              <a:rPr lang="pl-PL" altLang="zh-CN" sz="2800" dirty="0"/>
              <a:t>  </a:t>
            </a:r>
          </a:p>
          <a:p>
            <a:r>
              <a:rPr lang="pl-PL" altLang="zh-CN" sz="2800" dirty="0"/>
              <a:t>            q++;  </a:t>
            </a:r>
            <a:r>
              <a:rPr lang="pl-PL" altLang="zh-CN" sz="2800" dirty="0" smtClean="0"/>
              <a:t>}</a:t>
            </a:r>
            <a:r>
              <a:rPr lang="pl-PL" altLang="zh-CN" sz="2800" dirty="0"/>
              <a:t>  </a:t>
            </a:r>
          </a:p>
          <a:p>
            <a:r>
              <a:rPr lang="pl-PL" altLang="zh-CN" sz="2800" dirty="0"/>
              <a:t>        p++;  </a:t>
            </a:r>
          </a:p>
          <a:p>
            <a:r>
              <a:rPr lang="pl-PL" altLang="zh-CN" sz="2800" dirty="0"/>
              <a:t>    }  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11560" y="1268760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smtClean="0">
                <a:latin typeface="Consolas" charset="0"/>
                <a:ea typeface="宋体" charset="-122"/>
              </a:rPr>
              <a:t>p=s;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5601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共有子串</a:t>
            </a:r>
            <a:endParaRPr kumimoji="1"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403648" y="1700808"/>
            <a:ext cx="6109365" cy="35394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altLang="zh-CN" sz="2800" b="1" dirty="0" err="1"/>
              <a:t>int</a:t>
            </a:r>
            <a:r>
              <a:rPr lang="pl-PL" altLang="zh-CN" sz="2800" dirty="0"/>
              <a:t> </a:t>
            </a:r>
            <a:r>
              <a:rPr lang="pl-PL" altLang="zh-CN" sz="2800" dirty="0" err="1"/>
              <a:t>findsub</a:t>
            </a:r>
            <a:r>
              <a:rPr lang="pl-PL" altLang="zh-CN" sz="2800" dirty="0"/>
              <a:t>(</a:t>
            </a:r>
            <a:r>
              <a:rPr lang="pl-PL" altLang="zh-CN" sz="2800" b="1" dirty="0"/>
              <a:t>char</a:t>
            </a:r>
            <a:r>
              <a:rPr lang="pl-PL" altLang="zh-CN" sz="2800" dirty="0"/>
              <a:t> *p, </a:t>
            </a:r>
            <a:r>
              <a:rPr lang="pl-PL" altLang="zh-CN" sz="2800" b="1" dirty="0"/>
              <a:t>char</a:t>
            </a:r>
            <a:r>
              <a:rPr lang="pl-PL" altLang="zh-CN" sz="2800" dirty="0"/>
              <a:t> *q) {  </a:t>
            </a:r>
          </a:p>
          <a:p>
            <a:r>
              <a:rPr lang="pl-PL" altLang="zh-CN" sz="2800" dirty="0"/>
              <a:t>    </a:t>
            </a:r>
            <a:r>
              <a:rPr lang="pl-PL" altLang="zh-CN" sz="2800" b="1" dirty="0" smtClean="0"/>
              <a:t>char *z=p</a:t>
            </a:r>
            <a:r>
              <a:rPr lang="pl-PL" altLang="zh-CN" sz="2800" dirty="0" smtClean="0"/>
              <a:t>;</a:t>
            </a:r>
            <a:r>
              <a:rPr lang="pl-PL" altLang="zh-CN" sz="2800" dirty="0"/>
              <a:t>  </a:t>
            </a:r>
          </a:p>
          <a:p>
            <a:r>
              <a:rPr lang="pl-PL" altLang="zh-CN" sz="2800" dirty="0"/>
              <a:t>    </a:t>
            </a:r>
            <a:r>
              <a:rPr lang="pl-PL" altLang="zh-CN" sz="2800" b="1" dirty="0" err="1" smtClean="0"/>
              <a:t>while</a:t>
            </a:r>
            <a:r>
              <a:rPr lang="pl-PL" altLang="zh-CN" sz="2800" b="1" dirty="0" smtClean="0"/>
              <a:t>(*p&amp;&amp;*q&amp;&amp;*p==*q){</a:t>
            </a:r>
          </a:p>
          <a:p>
            <a:r>
              <a:rPr lang="pl-PL" altLang="zh-CN" sz="2800" b="1" dirty="0"/>
              <a:t>	 </a:t>
            </a:r>
            <a:r>
              <a:rPr lang="pl-PL" altLang="zh-CN" sz="2800" b="1" dirty="0" smtClean="0"/>
              <a:t>p++;q++</a:t>
            </a:r>
          </a:p>
          <a:p>
            <a:r>
              <a:rPr lang="pl-PL" altLang="zh-CN" sz="2800" b="1" dirty="0"/>
              <a:t> </a:t>
            </a:r>
            <a:r>
              <a:rPr lang="pl-PL" altLang="zh-CN" sz="2800" b="1" dirty="0" smtClean="0"/>
              <a:t>   }</a:t>
            </a:r>
            <a:r>
              <a:rPr lang="en-US" altLang="zh-CN" sz="2800" b="1" dirty="0" smtClean="0"/>
              <a:t>;</a:t>
            </a:r>
            <a:endParaRPr lang="pl-PL" altLang="zh-CN" sz="2800" dirty="0"/>
          </a:p>
          <a:p>
            <a:r>
              <a:rPr lang="pl-PL" altLang="zh-CN" sz="2800" dirty="0"/>
              <a:t>    </a:t>
            </a:r>
            <a:r>
              <a:rPr lang="pl-PL" altLang="zh-CN" sz="2800" b="1" dirty="0"/>
              <a:t>return</a:t>
            </a:r>
            <a:r>
              <a:rPr lang="pl-PL" altLang="zh-CN" sz="2800" dirty="0"/>
              <a:t> </a:t>
            </a:r>
            <a:r>
              <a:rPr lang="pl-PL" altLang="zh-CN" sz="2800" dirty="0" smtClean="0"/>
              <a:t>p-z;</a:t>
            </a:r>
            <a:r>
              <a:rPr lang="pl-PL" altLang="zh-CN" sz="2800" dirty="0"/>
              <a:t>  </a:t>
            </a:r>
          </a:p>
          <a:p>
            <a:r>
              <a:rPr lang="pl-PL" altLang="zh-CN" sz="2800" dirty="0"/>
              <a:t>}  </a:t>
            </a:r>
          </a:p>
          <a:p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6122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常用字符函数</a:t>
            </a:r>
            <a:endParaRPr kumimoji="1"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18138" y="1268760"/>
            <a:ext cx="54617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 smtClean="0">
                <a:latin typeface="Consolas" charset="0"/>
                <a:ea typeface="宋体" charset="-122"/>
              </a:rPr>
              <a:t>#include &lt;</a:t>
            </a:r>
            <a:r>
              <a:rPr kumimoji="1" lang="en-US" altLang="zh-CN" sz="2400" dirty="0" err="1" smtClean="0">
                <a:latin typeface="Consolas" charset="0"/>
                <a:ea typeface="宋体" charset="-122"/>
              </a:rPr>
              <a:t>ctype.h</a:t>
            </a:r>
            <a:r>
              <a:rPr kumimoji="1" lang="en-US" altLang="zh-CN" sz="2400" dirty="0" smtClean="0">
                <a:latin typeface="Consolas" charset="0"/>
                <a:ea typeface="宋体" charset="-122"/>
              </a:rPr>
              <a:t>&gt;</a:t>
            </a:r>
            <a:r>
              <a:rPr kumimoji="1" lang="zh-CN" altLang="en-US" sz="2400" dirty="0" smtClean="0">
                <a:latin typeface="Consolas" charset="0"/>
                <a:ea typeface="宋体" charset="-122"/>
              </a:rPr>
              <a:t>  </a:t>
            </a:r>
            <a:r>
              <a:rPr kumimoji="1" lang="en-US" altLang="zh-CN" sz="2400" dirty="0" smtClean="0">
                <a:latin typeface="Consolas" charset="0"/>
                <a:ea typeface="宋体" charset="-122"/>
              </a:rPr>
              <a:t>//</a:t>
            </a:r>
            <a:r>
              <a:rPr kumimoji="1" lang="zh-CN" altLang="en-US" sz="2400" dirty="0" smtClean="0">
                <a:latin typeface="Consolas" charset="0"/>
                <a:ea typeface="宋体" charset="-122"/>
              </a:rPr>
              <a:t>针对单字符</a:t>
            </a:r>
            <a:endParaRPr kumimoji="1" lang="zh-CN" altLang="en-US" sz="2400" dirty="0">
              <a:latin typeface="Consolas" charset="0"/>
              <a:ea typeface="宋体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8138" y="1916832"/>
            <a:ext cx="359265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isalpha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() 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是否字母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isdigit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()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 是否数字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isspace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()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 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是否分隔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isupper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()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 是否大写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islower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()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 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是否小写</a:t>
            </a:r>
            <a:endParaRPr kumimoji="1" lang="en-US" altLang="zh-CN" sz="2800" dirty="0">
              <a:latin typeface="Consolas" charset="0"/>
              <a:ea typeface="宋体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8138" y="4581128"/>
            <a:ext cx="359265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toupper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() 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转换大写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tolower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()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 转换小写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1173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常用字符串函数</a:t>
            </a:r>
            <a:endParaRPr kumimoji="1"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18138" y="1268760"/>
            <a:ext cx="56316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 smtClean="0">
                <a:latin typeface="Consolas" charset="0"/>
                <a:ea typeface="宋体" charset="-122"/>
              </a:rPr>
              <a:t>#include &lt;</a:t>
            </a:r>
            <a:r>
              <a:rPr kumimoji="1" lang="en-US" altLang="zh-CN" sz="2400" dirty="0" err="1" smtClean="0">
                <a:latin typeface="Consolas" charset="0"/>
                <a:ea typeface="宋体" charset="-122"/>
              </a:rPr>
              <a:t>string.h</a:t>
            </a:r>
            <a:r>
              <a:rPr kumimoji="1" lang="en-US" altLang="zh-CN" sz="2400" dirty="0" smtClean="0">
                <a:latin typeface="Consolas" charset="0"/>
                <a:ea typeface="宋体" charset="-122"/>
              </a:rPr>
              <a:t>&gt;</a:t>
            </a:r>
            <a:r>
              <a:rPr kumimoji="1" lang="zh-CN" altLang="en-US" sz="2400" dirty="0" smtClean="0">
                <a:latin typeface="Consolas" charset="0"/>
                <a:ea typeface="宋体" charset="-122"/>
              </a:rPr>
              <a:t>  </a:t>
            </a:r>
            <a:r>
              <a:rPr kumimoji="1" lang="en-US" altLang="zh-CN" sz="2400" dirty="0" smtClean="0">
                <a:latin typeface="Consolas" charset="0"/>
                <a:ea typeface="宋体" charset="-122"/>
              </a:rPr>
              <a:t>//</a:t>
            </a:r>
            <a:r>
              <a:rPr kumimoji="1" lang="zh-CN" altLang="en-US" sz="2400" dirty="0" smtClean="0">
                <a:latin typeface="Consolas" charset="0"/>
                <a:ea typeface="宋体" charset="-122"/>
              </a:rPr>
              <a:t>针对字符串</a:t>
            </a:r>
            <a:endParaRPr kumimoji="1" lang="zh-CN" altLang="en-US" sz="2400" dirty="0">
              <a:latin typeface="Consolas" charset="0"/>
              <a:ea typeface="宋体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64871" y="2187615"/>
            <a:ext cx="737413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strlen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(s)    s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字符数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strcpy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(</a:t>
            </a:r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a,b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)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  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b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复制到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a</a:t>
            </a:r>
          </a:p>
          <a:p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strcat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(</a:t>
            </a:r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a,b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)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  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b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拼接到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a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后面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strcmp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(</a:t>
            </a:r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a,b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) 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 比较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a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和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b</a:t>
            </a:r>
          </a:p>
          <a:p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memset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(s,'\0',sizeof(s))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 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用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'\0'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填充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s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531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常用算法</a:t>
            </a:r>
            <a:endParaRPr kumimoji="1"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018572" y="2083443"/>
            <a:ext cx="2339102" cy="310854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zh-CN" altLang="en-US" sz="2800" dirty="0" smtClean="0">
                <a:latin typeface="Consolas" charset="0"/>
                <a:ea typeface="宋体" charset="-122"/>
              </a:rPr>
              <a:t>三大排序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r>
              <a:rPr kumimoji="1" lang="zh-CN" altLang="en-US" sz="2800" dirty="0" smtClean="0">
                <a:latin typeface="Consolas" charset="0"/>
                <a:ea typeface="宋体" charset="-122"/>
              </a:rPr>
              <a:t>求最大最小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r>
              <a:rPr kumimoji="1" lang="zh-CN" altLang="en-US" sz="2800" dirty="0" smtClean="0">
                <a:latin typeface="Consolas" charset="0"/>
                <a:ea typeface="宋体" charset="-122"/>
              </a:rPr>
              <a:t>枚举（效率）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r>
              <a:rPr kumimoji="1" lang="zh-CN" altLang="en-US" sz="2800" dirty="0" smtClean="0">
                <a:latin typeface="Consolas" charset="0"/>
                <a:ea typeface="宋体" charset="-122"/>
              </a:rPr>
              <a:t>递推（迭代）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r>
              <a:rPr kumimoji="1" lang="zh-CN" altLang="en-US" sz="2800" dirty="0" smtClean="0">
                <a:latin typeface="Consolas" charset="0"/>
                <a:ea typeface="宋体" charset="-122"/>
              </a:rPr>
              <a:t>递归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r>
              <a:rPr kumimoji="1" lang="zh-CN" altLang="en-US" sz="2800" dirty="0" smtClean="0">
                <a:latin typeface="Consolas" charset="0"/>
                <a:ea typeface="宋体" charset="-122"/>
              </a:rPr>
              <a:t>折半查找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r>
              <a:rPr kumimoji="1" lang="zh-CN" altLang="en-US" sz="2800" dirty="0" smtClean="0">
                <a:latin typeface="Consolas" charset="0"/>
                <a:ea typeface="宋体" charset="-122"/>
              </a:rPr>
              <a:t>搜索重复元素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2483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Consolas" charset="0"/>
                <a:ea typeface="宋体" charset="-122"/>
              </a:rPr>
              <a:t>经典</a:t>
            </a:r>
            <a:r>
              <a:rPr kumimoji="1" lang="zh-CN" altLang="en-US" dirty="0" smtClean="0">
                <a:solidFill>
                  <a:srgbClr val="FF0000"/>
                </a:solidFill>
                <a:latin typeface="Consolas" charset="0"/>
                <a:ea typeface="宋体" charset="-122"/>
              </a:rPr>
              <a:t>错误</a:t>
            </a:r>
            <a:r>
              <a:rPr kumimoji="1" lang="zh-CN" altLang="en-US" dirty="0">
                <a:latin typeface="Consolas" charset="0"/>
                <a:ea typeface="宋体" charset="-122"/>
              </a:rPr>
              <a:t/>
            </a:r>
            <a:br>
              <a:rPr kumimoji="1" lang="zh-CN" altLang="en-US" dirty="0">
                <a:latin typeface="Consolas" charset="0"/>
                <a:ea typeface="宋体" charset="-122"/>
              </a:rPr>
            </a:br>
            <a:endParaRPr kumimoji="1"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09267" y="1196752"/>
            <a:ext cx="8725466" cy="483209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sz="2800" dirty="0" smtClean="0">
                <a:latin typeface="Consolas" charset="0"/>
                <a:ea typeface="宋体" charset="-122"/>
              </a:rPr>
              <a:t>1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）变量未初始化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，每次循环前都需变量初始化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  <a:p>
            <a:r>
              <a:rPr kumimoji="1" lang="en-US" altLang="zh-CN" sz="2800" dirty="0">
                <a:latin typeface="Consolas" charset="0"/>
                <a:ea typeface="宋体" charset="-122"/>
              </a:rPr>
              <a:t>2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）字符串没有设置结束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位置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'\0'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  <a:p>
            <a:r>
              <a:rPr kumimoji="1" lang="en-US" altLang="zh-CN" sz="2800" dirty="0">
                <a:latin typeface="Consolas" charset="0"/>
                <a:ea typeface="宋体" charset="-122"/>
              </a:rPr>
              <a:t>3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）字符串修改结束标志</a:t>
            </a:r>
          </a:p>
          <a:p>
            <a:r>
              <a:rPr kumimoji="1" lang="en-US" altLang="zh-CN" sz="2800" dirty="0">
                <a:latin typeface="Consolas" charset="0"/>
                <a:ea typeface="宋体" charset="-122"/>
              </a:rPr>
              <a:t>4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）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%d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后操作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gets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和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%c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前未过滤换行符</a:t>
            </a:r>
          </a:p>
          <a:p>
            <a:r>
              <a:rPr kumimoji="1" lang="en-US" altLang="zh-CN" sz="2800" dirty="0">
                <a:latin typeface="Consolas" charset="0"/>
                <a:ea typeface="宋体" charset="-122"/>
              </a:rPr>
              <a:t>5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）数组越界：循环变量范围或者下标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表达式错误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  <a:p>
            <a:r>
              <a:rPr kumimoji="1" lang="en-US" altLang="zh-CN" sz="2800" dirty="0">
                <a:latin typeface="Consolas" charset="0"/>
                <a:ea typeface="宋体" charset="-122"/>
              </a:rPr>
              <a:t>6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）真值函数返回值，</a:t>
            </a:r>
            <a:r>
              <a:rPr kumimoji="1" lang="en-US" altLang="zh-CN" sz="2800" dirty="0" err="1">
                <a:latin typeface="Consolas" charset="0"/>
                <a:ea typeface="宋体" charset="-122"/>
              </a:rPr>
              <a:t>isxxx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()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，</a:t>
            </a:r>
            <a:r>
              <a:rPr kumimoji="1" lang="en-US" altLang="zh-CN" sz="2800" dirty="0" err="1">
                <a:latin typeface="Consolas" charset="0"/>
                <a:ea typeface="宋体" charset="-122"/>
              </a:rPr>
              <a:t>strcmp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返回值非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1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和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0</a:t>
            </a:r>
          </a:p>
          <a:p>
            <a:r>
              <a:rPr kumimoji="1" lang="en-US" altLang="zh-CN" sz="2800" dirty="0">
                <a:latin typeface="Consolas" charset="0"/>
                <a:ea typeface="宋体" charset="-122"/>
              </a:rPr>
              <a:t>7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）选择排序中，交换不应放在内循环之内</a:t>
            </a:r>
          </a:p>
          <a:p>
            <a:r>
              <a:rPr kumimoji="1" lang="en-US" altLang="zh-CN" sz="2800" dirty="0">
                <a:latin typeface="Consolas" charset="0"/>
                <a:ea typeface="宋体" charset="-122"/>
              </a:rPr>
              <a:t>8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）把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char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当作大数组下标使用，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-128~127</a:t>
            </a:r>
          </a:p>
          <a:p>
            <a:r>
              <a:rPr kumimoji="1" lang="en-US" altLang="zh-CN" sz="2800" dirty="0">
                <a:latin typeface="Consolas" charset="0"/>
                <a:ea typeface="宋体" charset="-122"/>
              </a:rPr>
              <a:t>9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）读单词遇到行尾或文件尾需特殊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处理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r>
              <a:rPr kumimoji="1" lang="en-US" altLang="zh-CN" sz="2800" dirty="0" smtClean="0">
                <a:latin typeface="Consolas" charset="0"/>
                <a:ea typeface="宋体" charset="-122"/>
              </a:rPr>
              <a:t>10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) </a:t>
            </a:r>
            <a:r>
              <a:rPr kumimoji="1" lang="zh-CN" altLang="en-US" sz="2800" dirty="0">
                <a:latin typeface="Consolas" charset="0"/>
                <a:ea typeface="宋体" charset="-122"/>
              </a:rPr>
              <a:t>先定义动态数组，再输入数组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大小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r>
              <a:rPr kumimoji="1" lang="en-US" altLang="zh-CN" sz="2800" dirty="0">
                <a:latin typeface="Consolas" charset="0"/>
                <a:ea typeface="宋体" charset="-122"/>
              </a:rPr>
              <a:t>	</a:t>
            </a:r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int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 a[n];</a:t>
            </a:r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scanf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("%</a:t>
            </a:r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d",&amp;n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);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3841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台阶问题（递归）</a:t>
            </a:r>
            <a:endParaRPr kumimoji="1"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481354" y="1446314"/>
            <a:ext cx="75985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 smtClean="0">
                <a:latin typeface="Consolas" charset="0"/>
                <a:ea typeface="宋体" charset="-122"/>
              </a:rPr>
              <a:t>有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n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个台阶，一只青蛙每次可以跳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1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或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2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级台阶，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r>
              <a:rPr kumimoji="1" lang="zh-CN" altLang="en-US" sz="2800" dirty="0" smtClean="0">
                <a:latin typeface="Consolas" charset="0"/>
                <a:ea typeface="宋体" charset="-122"/>
              </a:rPr>
              <a:t>请问一共有多少种跳法？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788024" y="3861048"/>
            <a:ext cx="2448272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148064" y="3501008"/>
            <a:ext cx="2084895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580112" y="3212976"/>
            <a:ext cx="1652847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989121" y="2878266"/>
            <a:ext cx="1243838" cy="3113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42956" y="2869124"/>
            <a:ext cx="373371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smtClean="0">
                <a:latin typeface="Consolas" charset="0"/>
                <a:ea typeface="宋体" charset="-122"/>
              </a:rPr>
              <a:t>f(n)=f(n-1)+f(n-2)</a:t>
            </a:r>
          </a:p>
          <a:p>
            <a:r>
              <a:rPr kumimoji="1" lang="en-US" altLang="zh-CN" sz="2800" dirty="0" smtClean="0">
                <a:latin typeface="Consolas" charset="0"/>
                <a:ea typeface="宋体" charset="-122"/>
              </a:rPr>
              <a:t>f(1)=1</a:t>
            </a:r>
          </a:p>
          <a:p>
            <a:r>
              <a:rPr kumimoji="1" lang="en-US" altLang="zh-CN" sz="2800" dirty="0" smtClean="0">
                <a:latin typeface="Consolas" charset="0"/>
                <a:ea typeface="宋体" charset="-122"/>
              </a:rPr>
              <a:t>f(2)=2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1053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整数分解（递归）</a:t>
            </a:r>
            <a:endParaRPr kumimoji="1"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388962" y="2338086"/>
            <a:ext cx="704231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 smtClean="0">
                <a:latin typeface="Consolas" charset="0"/>
                <a:ea typeface="宋体" charset="-122"/>
              </a:rPr>
              <a:t>一个整数数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n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，可以分解为由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m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以内的若干整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r>
              <a:rPr kumimoji="1" lang="zh-CN" altLang="en-US" sz="2800" dirty="0" smtClean="0">
                <a:latin typeface="Consolas" charset="0"/>
                <a:ea typeface="宋体" charset="-122"/>
              </a:rPr>
              <a:t>数之和，请问一共有多少种分解方法？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r>
              <a:rPr kumimoji="1" lang="zh-CN" altLang="en-US" sz="2800" dirty="0" smtClean="0">
                <a:latin typeface="Consolas" charset="0"/>
                <a:ea typeface="宋体" charset="-122"/>
              </a:rPr>
              <a:t>（可重复使用分解的整数</a:t>
            </a:r>
            <a:r>
              <a:rPr kumimoji="1" lang="zh-CN" altLang="en-US" sz="2800" dirty="0" smtClean="0">
                <a:latin typeface="Consolas" charset="0"/>
                <a:ea typeface="宋体" charset="-122"/>
              </a:rPr>
              <a:t>）</a:t>
            </a:r>
            <a:endParaRPr kumimoji="1" lang="en-US" altLang="zh-CN" sz="2800" dirty="0" smtClean="0">
              <a:latin typeface="Consolas" charset="0"/>
              <a:ea typeface="宋体" charset="-122"/>
            </a:endParaRPr>
          </a:p>
          <a:p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14892" y="3676914"/>
            <a:ext cx="156485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smtClean="0">
                <a:latin typeface="Consolas" charset="0"/>
                <a:ea typeface="宋体" charset="-122"/>
              </a:rPr>
              <a:t>3=1+1+1</a:t>
            </a:r>
          </a:p>
          <a:p>
            <a:r>
              <a:rPr kumimoji="1" lang="en-US" altLang="zh-CN" sz="2800" dirty="0" smtClean="0">
                <a:latin typeface="Consolas" charset="0"/>
                <a:ea typeface="宋体" charset="-122"/>
              </a:rPr>
              <a:t>3=1+2</a:t>
            </a:r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14892" y="4869160"/>
            <a:ext cx="701638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Consolas" charset="0"/>
                <a:ea typeface="宋体" charset="-122"/>
              </a:rPr>
              <a:t>f(n,1)=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1 or f(1,m)=1 </a:t>
            </a:r>
          </a:p>
          <a:p>
            <a:r>
              <a:rPr kumimoji="1" lang="en-US" altLang="zh-CN" sz="2800" dirty="0" smtClean="0">
                <a:latin typeface="Consolas" charset="0"/>
                <a:ea typeface="宋体" charset="-122"/>
              </a:rPr>
              <a:t>f(n,n-1)+1  : n&lt;=m</a:t>
            </a:r>
            <a:endParaRPr kumimoji="1" lang="en-US" altLang="zh-CN" sz="2800" dirty="0">
              <a:latin typeface="Consolas" charset="0"/>
              <a:ea typeface="宋体" charset="-122"/>
            </a:endParaRPr>
          </a:p>
          <a:p>
            <a:r>
              <a:rPr kumimoji="1" lang="en-US" altLang="zh-CN" sz="2800" dirty="0" smtClean="0">
                <a:latin typeface="Consolas" charset="0"/>
                <a:ea typeface="宋体" charset="-122"/>
              </a:rPr>
              <a:t>f(</a:t>
            </a:r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n,m</a:t>
            </a:r>
            <a:r>
              <a:rPr kumimoji="1" lang="en-US" altLang="zh-CN" sz="2800" dirty="0">
                <a:latin typeface="Consolas" charset="0"/>
                <a:ea typeface="宋体" charset="-122"/>
              </a:rPr>
              <a:t>)=f(n,m-1)+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f(n-</a:t>
            </a:r>
            <a:r>
              <a:rPr kumimoji="1" lang="en-US" altLang="zh-CN" sz="2800" dirty="0" err="1" smtClean="0">
                <a:latin typeface="Consolas" charset="0"/>
                <a:ea typeface="宋体" charset="-122"/>
              </a:rPr>
              <a:t>m,m</a:t>
            </a:r>
            <a:r>
              <a:rPr kumimoji="1" lang="en-US" altLang="zh-CN" sz="2800" dirty="0" smtClean="0">
                <a:latin typeface="Consolas" charset="0"/>
                <a:ea typeface="宋体" charset="-122"/>
              </a:rPr>
              <a:t>)  : m&lt;n </a:t>
            </a:r>
            <a:endParaRPr kumimoji="1" lang="en-US" altLang="zh-CN" sz="2800" dirty="0">
              <a:latin typeface="Consolas" charset="0"/>
              <a:ea typeface="宋体" charset="-122"/>
            </a:endParaRPr>
          </a:p>
          <a:p>
            <a:endParaRPr kumimoji="1" lang="zh-CN" altLang="en-US" sz="2800" dirty="0">
              <a:latin typeface="Consolas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4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自定义 2">
      <a:dk1>
        <a:srgbClr val="000000"/>
      </a:dk1>
      <a:lt1>
        <a:srgbClr val="000000"/>
      </a:lt1>
      <a:dk2>
        <a:srgbClr val="FFFFFF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onsolas"/>
        <a:ea typeface="宋体"/>
        <a:cs typeface=""/>
      </a:majorFont>
      <a:minorFont>
        <a:latin typeface="宋体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2225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kumimoji="1" sz="2800" dirty="0">
            <a:latin typeface="Consolas" charset="0"/>
            <a:ea typeface="宋体" charset="-122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1680</TotalTime>
  <Words>1056</Words>
  <Application>Microsoft Macintosh PowerPoint</Application>
  <PresentationFormat>全屏显示(4:3)</PresentationFormat>
  <Paragraphs>321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2" baseType="lpstr">
      <vt:lpstr>Calibri</vt:lpstr>
      <vt:lpstr>宋体</vt:lpstr>
      <vt:lpstr>Arial</vt:lpstr>
      <vt:lpstr>Consolas</vt:lpstr>
      <vt:lpstr>Times New Roman</vt:lpstr>
      <vt:lpstr>Wingdings</vt:lpstr>
      <vt:lpstr>Office 主题​​</vt:lpstr>
      <vt:lpstr>字符串定义</vt:lpstr>
      <vt:lpstr>简单遍历字符串</vt:lpstr>
      <vt:lpstr>PowerPoint 演示文稿</vt:lpstr>
      <vt:lpstr>PowerPoint 演示文稿</vt:lpstr>
      <vt:lpstr>PowerPoint 演示文稿</vt:lpstr>
      <vt:lpstr>PowerPoint 演示文稿</vt:lpstr>
      <vt:lpstr>字符串排序（选择）</vt:lpstr>
      <vt:lpstr>字符串排序（选择）</vt:lpstr>
      <vt:lpstr>合并字符串</vt:lpstr>
      <vt:lpstr>合并字符串</vt:lpstr>
      <vt:lpstr>PowerPoint 演示文稿</vt:lpstr>
      <vt:lpstr>折叠字符串</vt:lpstr>
      <vt:lpstr>折叠字符串</vt:lpstr>
      <vt:lpstr>子串连续出现最大次数</vt:lpstr>
      <vt:lpstr>子串连续出现最大次数</vt:lpstr>
      <vt:lpstr>子串连续出现最大次数</vt:lpstr>
      <vt:lpstr>共有子串 </vt:lpstr>
      <vt:lpstr>共有子串</vt:lpstr>
      <vt:lpstr>共有子串</vt:lpstr>
      <vt:lpstr>常用字符函数</vt:lpstr>
      <vt:lpstr>常用字符串函数</vt:lpstr>
      <vt:lpstr>常用算法</vt:lpstr>
      <vt:lpstr>经典错误 </vt:lpstr>
      <vt:lpstr>台阶问题（递归）</vt:lpstr>
      <vt:lpstr>整数分解（递归）</vt:lpstr>
    </vt:vector>
  </TitlesOfParts>
  <LinksUpToDate>false</LinksUpToDate>
  <SharedDoc>false</SharedDoc>
  <HyperlinksChanged>false</HyperlinksChanged>
  <AppVersion>15.0040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zhoouqing</dc:creator>
  <cp:lastModifiedBy>Microsoft Office 用户</cp:lastModifiedBy>
  <cp:revision>44</cp:revision>
  <dcterms:created xsi:type="dcterms:W3CDTF">2023-11-13T12:46:05Z</dcterms:created>
  <dcterms:modified xsi:type="dcterms:W3CDTF">2023-12-28T05:20:39Z</dcterms:modified>
</cp:coreProperties>
</file>