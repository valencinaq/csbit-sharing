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66DC2-9EE3-4EDF-9DC6-D0C91C876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1FA09-B682-42A2-B614-1CB917E37C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9091" y="193450"/>
            <a:ext cx="377539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大学计算机基础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8627" y="1120676"/>
            <a:ext cx="1094722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计算机理论：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、计算理论的核心领域：可计算性理论、计算的复杂性理论、自动机理论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、计算机学科的方法论：抽象、理论、自动化设计及实现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、计算机的发展：按照构成电子元器件分为电子管、晶体管、集成电路、大规模集成电路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、图灵机：无限长纸带、读写头、有限状态控制器，能模拟任何现代计算机，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</a:t>
            </a:r>
            <a:r>
              <a:rPr lang="zh-CN" altLang="en-US" dirty="0">
                <a:solidFill>
                  <a:srgbClr val="FF0000"/>
                </a:solidFill>
              </a:rPr>
              <a:t>凡是能用算法方法解决的问题也一定能用图灵机解决；凡是图灵机解决不了的问题人和算法也解决不了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计算机编码：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、国标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区位</a:t>
            </a:r>
            <a:r>
              <a:rPr lang="en-US" altLang="zh-CN" dirty="0">
                <a:solidFill>
                  <a:srgbClr val="FF0000"/>
                </a:solidFill>
              </a:rPr>
              <a:t>+2020H</a:t>
            </a:r>
            <a:r>
              <a:rPr lang="zh-CN" altLang="en-US" dirty="0">
                <a:solidFill>
                  <a:srgbClr val="FF0000"/>
                </a:solidFill>
              </a:rPr>
              <a:t>，机内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国标</a:t>
            </a:r>
            <a:r>
              <a:rPr lang="en-US" altLang="zh-CN" dirty="0">
                <a:solidFill>
                  <a:srgbClr val="FF0000"/>
                </a:solidFill>
              </a:rPr>
              <a:t>+8080H</a:t>
            </a:r>
            <a:r>
              <a:rPr lang="zh-CN" altLang="en-US" dirty="0">
                <a:solidFill>
                  <a:srgbClr val="FF0000"/>
                </a:solidFill>
              </a:rPr>
              <a:t>；输入码、字形码不唯一，国标码、内码唯一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BCD</a:t>
            </a:r>
            <a:r>
              <a:rPr lang="zh-CN" altLang="en-US" dirty="0">
                <a:solidFill>
                  <a:srgbClr val="FF0000"/>
                </a:solidFill>
              </a:rPr>
              <a:t>码：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位二进制编码</a:t>
            </a:r>
            <a:r>
              <a:rPr lang="en-US" altLang="zh-CN" dirty="0">
                <a:solidFill>
                  <a:srgbClr val="FF0000"/>
                </a:solidFill>
              </a:rPr>
              <a:t>1-9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、计算机字的字长依计算机而定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计算机软硬件：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CPU</a:t>
            </a:r>
            <a:r>
              <a:rPr lang="zh-CN" altLang="en-US" dirty="0">
                <a:solidFill>
                  <a:srgbClr val="FF0000"/>
                </a:solidFill>
              </a:rPr>
              <a:t>通过总线直接与内存交换信息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CPU</a:t>
            </a:r>
            <a:r>
              <a:rPr lang="zh-CN" altLang="en-US" dirty="0">
                <a:solidFill>
                  <a:srgbClr val="FF0000"/>
                </a:solidFill>
              </a:rPr>
              <a:t>输出数据的速度远远高于打印机的打印速度：缓冲技术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、多个任务宏观上可以“同时”执行：分时技术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5134"/>
          <a:stretch>
            <a:fillRect/>
          </a:stretch>
        </p:blipFill>
        <p:spPr>
          <a:xfrm>
            <a:off x="1106283" y="662151"/>
            <a:ext cx="9706163" cy="5349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4135" y="150587"/>
            <a:ext cx="22365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数据运算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1496" y="970657"/>
            <a:ext cx="407355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运算优先级：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15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：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( )  [ ]  .  -&gt;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14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!  ~  ++  --  -  &amp;  *  (type)  </a:t>
            </a:r>
            <a:r>
              <a:rPr lang="en-US" altLang="zh-CN" dirty="0" err="1">
                <a:solidFill>
                  <a:srgbClr val="FF0000"/>
                </a:solidFill>
              </a:rPr>
              <a:t>sizeof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13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*  /  %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12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+  -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&lt;&lt;  &gt;&gt;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&lt;  &lt;=  &gt;  &gt;=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==  !=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8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7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^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|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&amp;&amp;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：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||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? 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=  op=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902" y="5766971"/>
            <a:ext cx="4955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算术运算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>
                <a:solidFill>
                  <a:srgbClr val="FF0000"/>
                </a:solidFill>
              </a:rPr>
              <a:t>位运算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>
                <a:solidFill>
                  <a:srgbClr val="FF0000"/>
                </a:solidFill>
              </a:rPr>
              <a:t>关系运算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>
                <a:solidFill>
                  <a:srgbClr val="FF0000"/>
                </a:solidFill>
              </a:rPr>
              <a:t>位运算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>
                <a:solidFill>
                  <a:srgbClr val="FF0000"/>
                </a:solidFill>
              </a:rPr>
              <a:t>逻辑运算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14975" y="970657"/>
            <a:ext cx="46923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变量：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、字母、下划线开头的数字、字母、下划线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、不能使用关键字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、关键字不包括</a:t>
            </a:r>
            <a:r>
              <a:rPr lang="en-US" altLang="zh-CN" dirty="0">
                <a:solidFill>
                  <a:srgbClr val="FF0000"/>
                </a:solidFill>
              </a:rPr>
              <a:t>include scanf printf</a:t>
            </a:r>
            <a:r>
              <a:rPr lang="zh-CN" altLang="en-US" dirty="0">
                <a:solidFill>
                  <a:srgbClr val="FF0000"/>
                </a:solidFill>
              </a:rPr>
              <a:t>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14975" y="2436019"/>
            <a:ext cx="3696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整型：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012</a:t>
            </a:r>
            <a:r>
              <a:rPr lang="zh-CN" altLang="en-US" dirty="0">
                <a:solidFill>
                  <a:srgbClr val="FF0000"/>
                </a:solidFill>
              </a:rPr>
              <a:t>八进制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0x12</a:t>
            </a:r>
            <a:r>
              <a:rPr lang="zh-CN" altLang="en-US" dirty="0">
                <a:solidFill>
                  <a:srgbClr val="FF0000"/>
                </a:solidFill>
              </a:rPr>
              <a:t>十六进制</a:t>
            </a:r>
            <a:r>
              <a:rPr lang="en-US" altLang="zh-CN" dirty="0">
                <a:solidFill>
                  <a:srgbClr val="FF0000"/>
                </a:solidFill>
              </a:rPr>
              <a:t>H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、长整型可在整型后加</a:t>
            </a:r>
            <a:r>
              <a:rPr lang="en-US" altLang="zh-CN" dirty="0">
                <a:solidFill>
                  <a:srgbClr val="FF0000"/>
                </a:solidFill>
              </a:rPr>
              <a:t>L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long/short/signed/</a:t>
            </a:r>
            <a:r>
              <a:rPr lang="en-US" altLang="zh-CN" dirty="0" err="1">
                <a:solidFill>
                  <a:srgbClr val="FF0000"/>
                </a:solidFill>
              </a:rPr>
              <a:t>unsigned+int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14975" y="3831432"/>
            <a:ext cx="54136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实型：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、正确的：</a:t>
            </a:r>
            <a:r>
              <a:rPr lang="en-US" altLang="zh-CN" dirty="0">
                <a:solidFill>
                  <a:srgbClr val="FF0000"/>
                </a:solidFill>
              </a:rPr>
              <a:t>0.123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.123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123.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0.0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0.612e3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</a:t>
            </a:r>
            <a:r>
              <a:rPr lang="zh-CN" altLang="en-US" dirty="0">
                <a:solidFill>
                  <a:srgbClr val="FF0000"/>
                </a:solidFill>
              </a:rPr>
              <a:t>错误的：</a:t>
            </a:r>
            <a:r>
              <a:rPr lang="en-US" altLang="zh-CN" dirty="0">
                <a:solidFill>
                  <a:srgbClr val="FF0000"/>
                </a:solidFill>
              </a:rPr>
              <a:t>e3 3e e-9 2e3.5 e .e8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e</a:t>
            </a:r>
            <a:r>
              <a:rPr lang="zh-CN" altLang="en-US" dirty="0">
                <a:solidFill>
                  <a:srgbClr val="FF0000"/>
                </a:solidFill>
              </a:rPr>
              <a:t>前</a:t>
            </a:r>
            <a:r>
              <a:rPr lang="en-US" altLang="zh-CN" dirty="0">
                <a:solidFill>
                  <a:srgbClr val="FF0000"/>
                </a:solidFill>
              </a:rPr>
              <a:t>e</a:t>
            </a:r>
            <a:r>
              <a:rPr lang="zh-CN" altLang="en-US" dirty="0">
                <a:solidFill>
                  <a:srgbClr val="FF0000"/>
                </a:solidFill>
              </a:rPr>
              <a:t>后必有数，前可省整数或小数，后必为整数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float/double/long double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4135" y="150587"/>
            <a:ext cx="22365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数据运算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1496" y="970657"/>
            <a:ext cx="300915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转义字符：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\n </a:t>
            </a:r>
            <a:r>
              <a:rPr lang="zh-CN" altLang="en-US" dirty="0">
                <a:solidFill>
                  <a:srgbClr val="FF0000"/>
                </a:solidFill>
              </a:rPr>
              <a:t>换行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\t </a:t>
            </a:r>
            <a:r>
              <a:rPr lang="zh-CN" altLang="en-US" dirty="0">
                <a:solidFill>
                  <a:srgbClr val="FF0000"/>
                </a:solidFill>
              </a:rPr>
              <a:t>水平跳格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\b </a:t>
            </a:r>
            <a:r>
              <a:rPr lang="zh-CN" altLang="en-US" dirty="0">
                <a:solidFill>
                  <a:srgbClr val="FF0000"/>
                </a:solidFill>
              </a:rPr>
              <a:t>退格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\r </a:t>
            </a:r>
            <a:r>
              <a:rPr lang="zh-CN" altLang="en-US" dirty="0">
                <a:solidFill>
                  <a:srgbClr val="FF0000"/>
                </a:solidFill>
              </a:rPr>
              <a:t>回车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\f </a:t>
            </a:r>
            <a:r>
              <a:rPr lang="zh-CN" altLang="en-US" dirty="0">
                <a:solidFill>
                  <a:srgbClr val="FF0000"/>
                </a:solidFill>
              </a:rPr>
              <a:t>走纸换页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\\ \’ \” </a:t>
            </a:r>
            <a:r>
              <a:rPr lang="zh-CN" altLang="en-US" dirty="0">
                <a:solidFill>
                  <a:srgbClr val="FF0000"/>
                </a:solidFill>
              </a:rPr>
              <a:t>输出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</a:t>
            </a:r>
            <a:r>
              <a:rPr lang="en-US" altLang="zh-CN" dirty="0" err="1">
                <a:solidFill>
                  <a:srgbClr val="FF0000"/>
                </a:solidFill>
              </a:rPr>
              <a:t>ddd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八进制数表示的字符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</a:t>
            </a:r>
            <a:r>
              <a:rPr lang="en-US" altLang="zh-CN" dirty="0" err="1">
                <a:solidFill>
                  <a:srgbClr val="FF0000"/>
                </a:solidFill>
              </a:rPr>
              <a:t>xdd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十六进制数表示的字符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\a</a:t>
            </a:r>
            <a:r>
              <a:rPr lang="zh-CN" altLang="en-US" dirty="0">
                <a:solidFill>
                  <a:srgbClr val="FF0000"/>
                </a:solidFill>
              </a:rPr>
              <a:t> 响铃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\0 </a:t>
            </a:r>
            <a:r>
              <a:rPr lang="zh-CN" altLang="en-US" dirty="0">
                <a:solidFill>
                  <a:srgbClr val="FF0000"/>
                </a:solidFill>
              </a:rPr>
              <a:t>空字符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1496" y="4286250"/>
            <a:ext cx="110799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位运算：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与 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或 </a:t>
            </a:r>
            <a:r>
              <a:rPr lang="en-US" altLang="zh-CN" dirty="0">
                <a:solidFill>
                  <a:srgbClr val="FF0000"/>
                </a:solidFill>
              </a:rPr>
              <a:t>|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异或 </a:t>
            </a:r>
            <a:r>
              <a:rPr lang="en-US" altLang="zh-CN" dirty="0">
                <a:solidFill>
                  <a:srgbClr val="FF0000"/>
                </a:solidFill>
              </a:rPr>
              <a:t>^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求反 </a:t>
            </a:r>
            <a:r>
              <a:rPr lang="en-US" altLang="zh-CN" dirty="0">
                <a:solidFill>
                  <a:srgbClr val="FF0000"/>
                </a:solidFill>
              </a:rPr>
              <a:t>~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左移 </a:t>
            </a:r>
            <a:r>
              <a:rPr lang="en-US" altLang="zh-CN" dirty="0">
                <a:solidFill>
                  <a:srgbClr val="FF0000"/>
                </a:solidFill>
              </a:rPr>
              <a:t>&lt;&lt;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右移 </a:t>
            </a:r>
            <a:r>
              <a:rPr lang="en-US" altLang="zh-CN" dirty="0">
                <a:solidFill>
                  <a:srgbClr val="FF0000"/>
                </a:solidFill>
              </a:rPr>
              <a:t>&gt;&gt;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21931" y="970657"/>
            <a:ext cx="61847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输入输出：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、输入：</a:t>
            </a:r>
            <a:r>
              <a:rPr lang="en-US" altLang="zh-CN" dirty="0">
                <a:solidFill>
                  <a:srgbClr val="FF0000"/>
                </a:solidFill>
              </a:rPr>
              <a:t>getchar scanf gets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、输出：</a:t>
            </a:r>
            <a:r>
              <a:rPr lang="en-US" altLang="zh-CN" dirty="0">
                <a:solidFill>
                  <a:srgbClr val="FF0000"/>
                </a:solidFill>
              </a:rPr>
              <a:t>putchar printf puts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、格式符：</a:t>
            </a:r>
            <a:r>
              <a:rPr lang="en-US" altLang="zh-CN" dirty="0">
                <a:solidFill>
                  <a:srgbClr val="FF0000"/>
                </a:solidFill>
              </a:rPr>
              <a:t>%d %c %s %o %x %u %e %g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              %m.nd</a:t>
            </a:r>
            <a:r>
              <a:rPr lang="zh-CN" altLang="en-US" dirty="0">
                <a:solidFill>
                  <a:srgbClr val="FF0000"/>
                </a:solidFill>
              </a:rPr>
              <a:t>：右对齐，保留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位小数，输出宽度为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              %-m.nd</a:t>
            </a:r>
            <a:r>
              <a:rPr lang="zh-CN" altLang="en-US" dirty="0">
                <a:solidFill>
                  <a:srgbClr val="FF0000"/>
                </a:solidFill>
              </a:rPr>
              <a:t>：左对齐，保留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位小数，输出宽度为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              %.ns</a:t>
            </a:r>
            <a:r>
              <a:rPr lang="zh-CN" altLang="en-US" dirty="0">
                <a:solidFill>
                  <a:srgbClr val="FF0000"/>
                </a:solidFill>
              </a:rPr>
              <a:t>对字符串同样适用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21931" y="3243263"/>
            <a:ext cx="2358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Switch</a:t>
            </a:r>
            <a:r>
              <a:rPr lang="zh-CN" altLang="en-US" dirty="0">
                <a:solidFill>
                  <a:srgbClr val="FF0000"/>
                </a:solidFill>
              </a:rPr>
              <a:t>的应用：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、可以嵌套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、应用格式：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switch(A)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{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case a:xxxx;break;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case b:xxxx;break;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……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default:xxxx;break;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0616" y="150587"/>
            <a:ext cx="172354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字符串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0916" y="977900"/>
            <a:ext cx="40446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char a[6]=“China” </a:t>
            </a:r>
            <a:r>
              <a:rPr lang="zh-CN" altLang="en-US" dirty="0">
                <a:solidFill>
                  <a:srgbClr val="FF0000"/>
                </a:solidFill>
              </a:rPr>
              <a:t>自动添加</a:t>
            </a:r>
            <a:r>
              <a:rPr lang="en-US" altLang="zh-CN" dirty="0">
                <a:solidFill>
                  <a:srgbClr val="FF0000"/>
                </a:solidFill>
              </a:rPr>
              <a:t>\0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char a[]=“China” </a:t>
            </a:r>
            <a:r>
              <a:rPr lang="zh-CN" altLang="en-US" dirty="0">
                <a:solidFill>
                  <a:srgbClr val="FF0000"/>
                </a:solidFill>
              </a:rPr>
              <a:t>自动添加</a:t>
            </a:r>
            <a:r>
              <a:rPr lang="en-US" altLang="zh-CN" dirty="0">
                <a:solidFill>
                  <a:srgbClr val="FF0000"/>
                </a:solidFill>
              </a:rPr>
              <a:t>\0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char a[6]={‘C’,’h’,’I’,’n’,’a’} </a:t>
            </a:r>
            <a:r>
              <a:rPr lang="zh-CN" altLang="en-US" dirty="0">
                <a:solidFill>
                  <a:srgbClr val="FF0000"/>
                </a:solidFill>
              </a:rPr>
              <a:t>不自动添加</a:t>
            </a:r>
            <a:r>
              <a:rPr lang="en-US" altLang="zh-CN" dirty="0">
                <a:solidFill>
                  <a:srgbClr val="FF0000"/>
                </a:solidFill>
              </a:rPr>
              <a:t>\0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915" y="2020657"/>
            <a:ext cx="557235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字符串处理函数：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strcpy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复制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strlen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求长度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strcat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链接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strcmp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比较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en-US" altLang="zh-CN" dirty="0" err="1">
                <a:solidFill>
                  <a:srgbClr val="FF0000"/>
                </a:solidFill>
              </a:rPr>
              <a:t>strcmp</a:t>
            </a:r>
            <a:r>
              <a:rPr lang="en-US" altLang="zh-CN" dirty="0">
                <a:solidFill>
                  <a:srgbClr val="FF0000"/>
                </a:solidFill>
              </a:rPr>
              <a:t>(s1,s2),ASCII</a:t>
            </a:r>
            <a:r>
              <a:rPr lang="zh-CN" altLang="en-US" dirty="0">
                <a:solidFill>
                  <a:srgbClr val="FF0000"/>
                </a:solidFill>
              </a:rPr>
              <a:t>码越大字符串越大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      </a:t>
            </a:r>
            <a:r>
              <a:rPr lang="en-US" altLang="zh-CN" dirty="0">
                <a:solidFill>
                  <a:srgbClr val="FF0000"/>
                </a:solidFill>
              </a:rPr>
              <a:t>s1&gt;s2,</a:t>
            </a:r>
            <a:r>
              <a:rPr lang="zh-CN" altLang="en-US" dirty="0">
                <a:solidFill>
                  <a:srgbClr val="FF0000"/>
                </a:solidFill>
              </a:rPr>
              <a:t>返回</a:t>
            </a:r>
            <a:r>
              <a:rPr lang="en-US" altLang="zh-CN" dirty="0">
                <a:solidFill>
                  <a:srgbClr val="FF0000"/>
                </a:solidFill>
              </a:rPr>
              <a:t>&gt;0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s1=s2,</a:t>
            </a:r>
            <a:r>
              <a:rPr lang="zh-CN" altLang="en-US" dirty="0">
                <a:solidFill>
                  <a:srgbClr val="FF0000"/>
                </a:solidFill>
              </a:rPr>
              <a:t>返回</a:t>
            </a:r>
            <a:r>
              <a:rPr lang="en-US" altLang="zh-CN" dirty="0">
                <a:solidFill>
                  <a:srgbClr val="FF0000"/>
                </a:solidFill>
              </a:rPr>
              <a:t>=0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s1&lt;s2,</a:t>
            </a:r>
            <a:r>
              <a:rPr lang="zh-CN" altLang="en-US" dirty="0">
                <a:solidFill>
                  <a:srgbClr val="FF0000"/>
                </a:solidFill>
              </a:rPr>
              <a:t>返回</a:t>
            </a:r>
            <a:r>
              <a:rPr lang="en-US" altLang="zh-CN" dirty="0">
                <a:solidFill>
                  <a:srgbClr val="FF0000"/>
                </a:solidFill>
              </a:rPr>
              <a:t>&lt;0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strlwr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strupr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大小写转换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strstr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查找子串：</a:t>
            </a:r>
            <a:r>
              <a:rPr lang="en-US" altLang="zh-CN" dirty="0">
                <a:solidFill>
                  <a:srgbClr val="FF0000"/>
                </a:solidFill>
              </a:rPr>
              <a:t>*p=</a:t>
            </a:r>
            <a:r>
              <a:rPr lang="en-US" altLang="zh-CN" dirty="0" err="1">
                <a:solidFill>
                  <a:srgbClr val="FF0000"/>
                </a:solidFill>
              </a:rPr>
              <a:t>strstr</a:t>
            </a:r>
            <a:r>
              <a:rPr lang="en-US" altLang="zh-CN" dirty="0">
                <a:solidFill>
                  <a:srgbClr val="FF0000"/>
                </a:solidFill>
              </a:rPr>
              <a:t>(s1,s2)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</a:t>
            </a:r>
            <a:r>
              <a:rPr lang="zh-CN" altLang="en-US" dirty="0">
                <a:solidFill>
                  <a:srgbClr val="FF0000"/>
                </a:solidFill>
              </a:rPr>
              <a:t>在</a:t>
            </a:r>
            <a:r>
              <a:rPr lang="en-US" altLang="zh-CN" dirty="0">
                <a:solidFill>
                  <a:srgbClr val="FF0000"/>
                </a:solidFill>
              </a:rPr>
              <a:t>s1</a:t>
            </a:r>
            <a:r>
              <a:rPr lang="zh-CN" altLang="en-US" dirty="0">
                <a:solidFill>
                  <a:srgbClr val="FF0000"/>
                </a:solidFill>
              </a:rPr>
              <a:t>中寻找</a:t>
            </a:r>
            <a:r>
              <a:rPr lang="en-US" altLang="zh-CN" dirty="0">
                <a:solidFill>
                  <a:srgbClr val="FF0000"/>
                </a:solidFill>
              </a:rPr>
              <a:t>s2</a:t>
            </a:r>
            <a:r>
              <a:rPr lang="zh-CN" altLang="en-US" dirty="0">
                <a:solidFill>
                  <a:srgbClr val="FF0000"/>
                </a:solidFill>
              </a:rPr>
              <a:t>，找到返回指针，找不到返回</a:t>
            </a:r>
            <a:r>
              <a:rPr lang="en-US" altLang="zh-CN" dirty="0">
                <a:solidFill>
                  <a:srgbClr val="FF0000"/>
                </a:solidFill>
              </a:rPr>
              <a:t>NULL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0915" y="4813300"/>
            <a:ext cx="3207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二维字符数组初始化：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char s[ ][8]={“str1”,”str2”,”str3”}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31347" y="150587"/>
            <a:ext cx="12105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函数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128" y="1076209"/>
            <a:ext cx="6282213" cy="321131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41935" y="456719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汉诺塔递归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7096" y="150587"/>
            <a:ext cx="121058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指针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866" y="958850"/>
            <a:ext cx="4745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int *max(</a:t>
            </a:r>
            <a:r>
              <a:rPr lang="en-US" altLang="zh-CN" dirty="0" err="1">
                <a:solidFill>
                  <a:srgbClr val="FF0000"/>
                </a:solidFill>
              </a:rPr>
              <a:t>a,b</a:t>
            </a:r>
            <a:r>
              <a:rPr lang="en-US" altLang="zh-CN" dirty="0">
                <a:solidFill>
                  <a:srgbClr val="FF0000"/>
                </a:solidFill>
              </a:rPr>
              <a:t>) </a:t>
            </a:r>
            <a:r>
              <a:rPr lang="zh-CN" altLang="en-US" dirty="0">
                <a:solidFill>
                  <a:srgbClr val="FF0000"/>
                </a:solidFill>
              </a:rPr>
              <a:t>函数的返回值是指向整型的指针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int (*p)(</a:t>
            </a:r>
            <a:r>
              <a:rPr lang="en-US" altLang="zh-CN" dirty="0" err="1">
                <a:solidFill>
                  <a:srgbClr val="FF0000"/>
                </a:solidFill>
              </a:rPr>
              <a:t>a,b</a:t>
            </a:r>
            <a:r>
              <a:rPr lang="en-US" altLang="zh-CN" dirty="0">
                <a:solidFill>
                  <a:srgbClr val="FF0000"/>
                </a:solidFill>
              </a:rPr>
              <a:t>) </a:t>
            </a:r>
            <a:r>
              <a:rPr lang="zh-CN" altLang="en-US" dirty="0">
                <a:solidFill>
                  <a:srgbClr val="FF0000"/>
                </a:solidFill>
              </a:rPr>
              <a:t>指针指向函数，函数返回整型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int (*p)[5] </a:t>
            </a:r>
            <a:r>
              <a:rPr lang="zh-CN" altLang="en-US" dirty="0">
                <a:solidFill>
                  <a:srgbClr val="FF0000"/>
                </a:solidFill>
              </a:rPr>
              <a:t>指针指向一维数组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int *p[5] </a:t>
            </a:r>
            <a:r>
              <a:rPr lang="zh-CN" altLang="en-US" dirty="0">
                <a:solidFill>
                  <a:srgbClr val="FF0000"/>
                </a:solidFill>
              </a:rPr>
              <a:t>指针数组，数组盛放指针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866" y="2489200"/>
            <a:ext cx="4745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二级指针：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Int a[m][n];*p=&amp;a[0][0];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a[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][j]=*(*(</a:t>
            </a:r>
            <a:r>
              <a:rPr lang="en-US" altLang="zh-CN" dirty="0" err="1">
                <a:solidFill>
                  <a:srgbClr val="FF0000"/>
                </a:solidFill>
              </a:rPr>
              <a:t>p+i</a:t>
            </a:r>
            <a:r>
              <a:rPr lang="en-US" altLang="zh-CN" dirty="0">
                <a:solidFill>
                  <a:srgbClr val="FF0000"/>
                </a:solidFill>
              </a:rPr>
              <a:t>)+j);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7096" y="3833587"/>
            <a:ext cx="121058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结构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1866" y="4800600"/>
            <a:ext cx="47455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、结构类型和结构变量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struct node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{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int data;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struct node *p;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struct node s1;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0" y="543351"/>
            <a:ext cx="47455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、结构数组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struct node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{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int data;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struct node *p;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struct node s1[100]; </a:t>
            </a:r>
            <a:r>
              <a:rPr lang="zh-CN" altLang="en-US" dirty="0">
                <a:solidFill>
                  <a:srgbClr val="FF0000"/>
                </a:solidFill>
              </a:rPr>
              <a:t>引用：</a:t>
            </a:r>
            <a:r>
              <a:rPr lang="en-US" altLang="zh-CN" dirty="0">
                <a:solidFill>
                  <a:srgbClr val="FF0000"/>
                </a:solidFill>
              </a:rPr>
              <a:t>s1[3].data=……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0" y="2645201"/>
            <a:ext cx="47455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、结构指针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struct node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{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int data;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char name[10];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struct node *</a:t>
            </a:r>
            <a:r>
              <a:rPr lang="en-US" altLang="zh-CN" dirty="0" err="1">
                <a:solidFill>
                  <a:srgbClr val="FF0000"/>
                </a:solidFill>
              </a:rPr>
              <a:t>pdata,today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</a:rPr>
              <a:t>pdata</a:t>
            </a:r>
            <a:r>
              <a:rPr lang="en-US" altLang="zh-CN" dirty="0">
                <a:solidFill>
                  <a:srgbClr val="FF0000"/>
                </a:solidFill>
              </a:rPr>
              <a:t>=&amp;today;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67097" y="150587"/>
            <a:ext cx="121058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结构</a:t>
            </a:r>
            <a:endParaRPr lang="en-US" altLang="zh-CN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64460" y="181364"/>
            <a:ext cx="4745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联合 </a:t>
            </a:r>
            <a:r>
              <a:rPr lang="en-US" altLang="zh-CN" dirty="0">
                <a:solidFill>
                  <a:srgbClr val="FF0000"/>
                </a:solidFill>
              </a:rPr>
              <a:t>union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枚举 </a:t>
            </a:r>
            <a:r>
              <a:rPr lang="en-US" altLang="zh-CN" dirty="0" err="1">
                <a:solidFill>
                  <a:srgbClr val="FF0000"/>
                </a:solidFill>
              </a:rPr>
              <a:t>enum</a:t>
            </a:r>
            <a:r>
              <a:rPr lang="en-US" altLang="zh-CN" dirty="0">
                <a:solidFill>
                  <a:srgbClr val="FF0000"/>
                </a:solidFill>
              </a:rPr>
              <a:t> node{</a:t>
            </a:r>
            <a:r>
              <a:rPr lang="en-US" altLang="zh-CN" dirty="0" err="1">
                <a:solidFill>
                  <a:srgbClr val="FF0000"/>
                </a:solidFill>
              </a:rPr>
              <a:t>a,b,c</a:t>
            </a:r>
            <a:r>
              <a:rPr lang="en-US" altLang="zh-CN" dirty="0">
                <a:solidFill>
                  <a:srgbClr val="FF0000"/>
                </a:solidFill>
              </a:rPr>
              <a:t>……}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05626" y="0"/>
            <a:ext cx="4745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链表：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、定义结构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26" y="646331"/>
            <a:ext cx="2705239" cy="132086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26" y="2406421"/>
            <a:ext cx="4476980" cy="445157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205626" y="2055910"/>
            <a:ext cx="474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、建立链表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6" y="1547436"/>
            <a:ext cx="2914800" cy="2279767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43306" y="1093838"/>
            <a:ext cx="474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、输出链表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96" y="4402245"/>
            <a:ext cx="3943553" cy="2305168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43306" y="4032913"/>
            <a:ext cx="474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、主函数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7098" y="150587"/>
            <a:ext cx="12105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文件</a:t>
            </a:r>
            <a:endParaRPr lang="en-US" altLang="zh-CN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1355" y="966853"/>
            <a:ext cx="474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操作方式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55" y="1444565"/>
            <a:ext cx="6096547" cy="394684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501" y="150587"/>
            <a:ext cx="4545993" cy="329088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111" y="3429000"/>
            <a:ext cx="4525383" cy="32908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2035</Words>
  <Application>WPS 演示</Application>
  <PresentationFormat>宽屏</PresentationFormat>
  <Paragraphs>176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翔宇 陈</dc:creator>
  <cp:lastModifiedBy>553</cp:lastModifiedBy>
  <cp:revision>15</cp:revision>
  <dcterms:created xsi:type="dcterms:W3CDTF">2024-01-09T07:09:00Z</dcterms:created>
  <dcterms:modified xsi:type="dcterms:W3CDTF">2024-12-24T10:07:11Z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17D88C0D8A834D688909597691FA9D29_12</vt:lpwstr>
  </property>
  <property fmtid="{D5CDD505-2E9C-101B-9397-08002B2CF9AE}" pid="3" name="KSOProductBuildVer">
    <vt:lpwstr>2052-12.1.0.19302</vt:lpwstr>
  </property>
</Properties>
</file>