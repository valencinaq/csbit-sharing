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media/image63.jpg" ContentType="image/gif"/>
  <Override PartName="/ppt/media/image64.jpg" ContentType="image/gif"/>
  <Override PartName="/ppt/media/image65.jpg" ContentType="image/gif"/>
  <Override PartName="/ppt/media/image66.jpg" ContentType="image/gif"/>
  <Override PartName="/ppt/notesSlides/notesSlide1.xml" ContentType="application/vnd.openxmlformats-officedocument.presentationml.notesSlide+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9"/>
  </p:notesMasterIdLst>
  <p:sldIdLst>
    <p:sldId id="386" r:id="rId2"/>
    <p:sldId id="296" r:id="rId3"/>
    <p:sldId id="295" r:id="rId4"/>
    <p:sldId id="297" r:id="rId5"/>
    <p:sldId id="387" r:id="rId6"/>
    <p:sldId id="388" r:id="rId7"/>
    <p:sldId id="298" r:id="rId8"/>
    <p:sldId id="299" r:id="rId9"/>
    <p:sldId id="300" r:id="rId10"/>
    <p:sldId id="321" r:id="rId11"/>
    <p:sldId id="322" r:id="rId12"/>
    <p:sldId id="323" r:id="rId13"/>
    <p:sldId id="325" r:id="rId14"/>
    <p:sldId id="326" r:id="rId15"/>
    <p:sldId id="327" r:id="rId16"/>
    <p:sldId id="328" r:id="rId17"/>
    <p:sldId id="331" r:id="rId18"/>
    <p:sldId id="324" r:id="rId19"/>
    <p:sldId id="330" r:id="rId20"/>
    <p:sldId id="332" r:id="rId21"/>
    <p:sldId id="335" r:id="rId22"/>
    <p:sldId id="336" r:id="rId23"/>
    <p:sldId id="337" r:id="rId24"/>
    <p:sldId id="338" r:id="rId25"/>
    <p:sldId id="339" r:id="rId26"/>
    <p:sldId id="340" r:id="rId27"/>
    <p:sldId id="341" r:id="rId28"/>
    <p:sldId id="342" r:id="rId29"/>
    <p:sldId id="343" r:id="rId30"/>
    <p:sldId id="344" r:id="rId31"/>
    <p:sldId id="314" r:id="rId32"/>
    <p:sldId id="316" r:id="rId33"/>
    <p:sldId id="318" r:id="rId34"/>
    <p:sldId id="319" r:id="rId35"/>
    <p:sldId id="320" r:id="rId36"/>
    <p:sldId id="257" r:id="rId37"/>
    <p:sldId id="258" r:id="rId38"/>
    <p:sldId id="282" r:id="rId39"/>
    <p:sldId id="280" r:id="rId40"/>
    <p:sldId id="281" r:id="rId41"/>
    <p:sldId id="292" r:id="rId42"/>
    <p:sldId id="293" r:id="rId43"/>
    <p:sldId id="294" r:id="rId44"/>
    <p:sldId id="389" r:id="rId45"/>
    <p:sldId id="390" r:id="rId46"/>
    <p:sldId id="391" r:id="rId47"/>
    <p:sldId id="392" r:id="rId48"/>
    <p:sldId id="393" r:id="rId49"/>
    <p:sldId id="394" r:id="rId50"/>
    <p:sldId id="395" r:id="rId51"/>
    <p:sldId id="301" r:id="rId52"/>
    <p:sldId id="305" r:id="rId53"/>
    <p:sldId id="306" r:id="rId54"/>
    <p:sldId id="396" r:id="rId55"/>
    <p:sldId id="307" r:id="rId56"/>
    <p:sldId id="304" r:id="rId57"/>
    <p:sldId id="303" r:id="rId58"/>
    <p:sldId id="356" r:id="rId59"/>
    <p:sldId id="357" r:id="rId60"/>
    <p:sldId id="278" r:id="rId61"/>
    <p:sldId id="302" r:id="rId62"/>
    <p:sldId id="283" r:id="rId63"/>
    <p:sldId id="284" r:id="rId64"/>
    <p:sldId id="285" r:id="rId65"/>
    <p:sldId id="286" r:id="rId66"/>
    <p:sldId id="287" r:id="rId67"/>
    <p:sldId id="288" r:id="rId68"/>
    <p:sldId id="289" r:id="rId69"/>
    <p:sldId id="397" r:id="rId70"/>
    <p:sldId id="290" r:id="rId71"/>
    <p:sldId id="398" r:id="rId72"/>
    <p:sldId id="399" r:id="rId73"/>
    <p:sldId id="400" r:id="rId74"/>
    <p:sldId id="291" r:id="rId75"/>
    <p:sldId id="279" r:id="rId76"/>
    <p:sldId id="401" r:id="rId77"/>
    <p:sldId id="402" r:id="rId78"/>
    <p:sldId id="263" r:id="rId79"/>
    <p:sldId id="264" r:id="rId80"/>
    <p:sldId id="403" r:id="rId81"/>
    <p:sldId id="345" r:id="rId82"/>
    <p:sldId id="346" r:id="rId83"/>
    <p:sldId id="347" r:id="rId84"/>
    <p:sldId id="348" r:id="rId85"/>
    <p:sldId id="351" r:id="rId86"/>
    <p:sldId id="349" r:id="rId87"/>
    <p:sldId id="352" r:id="rId88"/>
    <p:sldId id="353" r:id="rId89"/>
    <p:sldId id="354" r:id="rId90"/>
    <p:sldId id="350" r:id="rId91"/>
    <p:sldId id="265" r:id="rId92"/>
    <p:sldId id="404" r:id="rId93"/>
    <p:sldId id="405" r:id="rId94"/>
    <p:sldId id="406" r:id="rId95"/>
    <p:sldId id="407" r:id="rId96"/>
    <p:sldId id="408" r:id="rId97"/>
    <p:sldId id="259" r:id="rId98"/>
    <p:sldId id="260" r:id="rId99"/>
    <p:sldId id="261" r:id="rId100"/>
    <p:sldId id="262" r:id="rId101"/>
    <p:sldId id="409" r:id="rId102"/>
    <p:sldId id="410" r:id="rId103"/>
    <p:sldId id="411" r:id="rId104"/>
    <p:sldId id="412" r:id="rId105"/>
    <p:sldId id="266" r:id="rId106"/>
    <p:sldId id="267" r:id="rId107"/>
    <p:sldId id="268" r:id="rId108"/>
    <p:sldId id="413" r:id="rId109"/>
    <p:sldId id="269" r:id="rId110"/>
    <p:sldId id="270" r:id="rId111"/>
    <p:sldId id="271" r:id="rId112"/>
    <p:sldId id="414" r:id="rId113"/>
    <p:sldId id="415" r:id="rId114"/>
    <p:sldId id="416" r:id="rId115"/>
    <p:sldId id="272" r:id="rId116"/>
    <p:sldId id="273" r:id="rId117"/>
    <p:sldId id="417" r:id="rId118"/>
    <p:sldId id="418" r:id="rId119"/>
    <p:sldId id="419" r:id="rId120"/>
    <p:sldId id="420" r:id="rId121"/>
    <p:sldId id="421" r:id="rId122"/>
    <p:sldId id="432" r:id="rId123"/>
    <p:sldId id="423" r:id="rId124"/>
    <p:sldId id="422" r:id="rId125"/>
    <p:sldId id="424" r:id="rId126"/>
    <p:sldId id="425" r:id="rId127"/>
    <p:sldId id="426" r:id="rId128"/>
    <p:sldId id="427" r:id="rId129"/>
    <p:sldId id="428" r:id="rId130"/>
    <p:sldId id="274" r:id="rId131"/>
    <p:sldId id="429" r:id="rId132"/>
    <p:sldId id="275" r:id="rId133"/>
    <p:sldId id="430" r:id="rId134"/>
    <p:sldId id="431" r:id="rId135"/>
    <p:sldId id="276" r:id="rId136"/>
    <p:sldId id="433" r:id="rId137"/>
    <p:sldId id="277" r:id="rId13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0" d="100"/>
          <a:sy n="100" d="100"/>
        </p:scale>
        <p:origin x="420"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notesMaster" Target="notesMasters/notes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theme" Target="theme/theme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75D590E-49C1-4B94-B437-7842407AAE27}" type="doc">
      <dgm:prSet loTypeId="urn:microsoft.com/office/officeart/2005/8/layout/matrix2" loCatId="matrix" qsTypeId="urn:microsoft.com/office/officeart/2005/8/quickstyle/simple1" qsCatId="simple" csTypeId="urn:microsoft.com/office/officeart/2005/8/colors/accent1_2" csCatId="accent1" phldr="1"/>
      <dgm:spPr/>
      <dgm:t>
        <a:bodyPr/>
        <a:lstStyle/>
        <a:p>
          <a:endParaRPr lang="zh-CN" altLang="en-US"/>
        </a:p>
      </dgm:t>
    </dgm:pt>
    <dgm:pt modelId="{D888EE11-F6B1-4BAF-885A-D1F7DCDAFF42}">
      <dgm:prSet phldrT="[文本]"/>
      <dgm:spPr>
        <a:solidFill>
          <a:schemeClr val="accent6">
            <a:lumMod val="75000"/>
          </a:schemeClr>
        </a:solidFill>
      </dgm:spPr>
      <dgm:t>
        <a:bodyPr/>
        <a:lstStyle/>
        <a:p>
          <a:r>
            <a:rPr lang="en-US" b="1" dirty="0"/>
            <a:t>Volume</a:t>
          </a:r>
          <a:endParaRPr lang="zh-CN" altLang="en-US" dirty="0"/>
        </a:p>
      </dgm:t>
    </dgm:pt>
    <dgm:pt modelId="{BF21289E-0108-4C00-9E78-B53BF85180F9}" type="parTrans" cxnId="{EDC86C69-918A-416D-93D8-4C30C3F9AB5B}">
      <dgm:prSet/>
      <dgm:spPr/>
      <dgm:t>
        <a:bodyPr/>
        <a:lstStyle/>
        <a:p>
          <a:endParaRPr lang="zh-CN" altLang="en-US"/>
        </a:p>
      </dgm:t>
    </dgm:pt>
    <dgm:pt modelId="{A69C7A0B-5872-4153-A21B-46DBE2D2F5EF}" type="sibTrans" cxnId="{EDC86C69-918A-416D-93D8-4C30C3F9AB5B}">
      <dgm:prSet/>
      <dgm:spPr/>
      <dgm:t>
        <a:bodyPr/>
        <a:lstStyle/>
        <a:p>
          <a:endParaRPr lang="zh-CN" altLang="en-US"/>
        </a:p>
      </dgm:t>
    </dgm:pt>
    <dgm:pt modelId="{6315A3A7-0FA0-43B5-AF2B-142690D56F64}">
      <dgm:prSet phldrT="[文本]"/>
      <dgm:spPr>
        <a:solidFill>
          <a:schemeClr val="accent6">
            <a:lumMod val="75000"/>
          </a:schemeClr>
        </a:solidFill>
      </dgm:spPr>
      <dgm:t>
        <a:bodyPr/>
        <a:lstStyle/>
        <a:p>
          <a:r>
            <a:rPr lang="en-US" b="1" dirty="0"/>
            <a:t>Velocity</a:t>
          </a:r>
          <a:endParaRPr lang="zh-CN" altLang="en-US" dirty="0"/>
        </a:p>
      </dgm:t>
    </dgm:pt>
    <dgm:pt modelId="{C2D4A5E7-4C71-4AE5-B3E4-BB2C43FCD32C}" type="parTrans" cxnId="{F4C238ED-294F-400F-9F87-A1CA5097A9F7}">
      <dgm:prSet/>
      <dgm:spPr/>
      <dgm:t>
        <a:bodyPr/>
        <a:lstStyle/>
        <a:p>
          <a:endParaRPr lang="zh-CN" altLang="en-US"/>
        </a:p>
      </dgm:t>
    </dgm:pt>
    <dgm:pt modelId="{0FB6745E-D34B-4871-A618-381AC72E440A}" type="sibTrans" cxnId="{F4C238ED-294F-400F-9F87-A1CA5097A9F7}">
      <dgm:prSet/>
      <dgm:spPr/>
      <dgm:t>
        <a:bodyPr/>
        <a:lstStyle/>
        <a:p>
          <a:endParaRPr lang="zh-CN" altLang="en-US"/>
        </a:p>
      </dgm:t>
    </dgm:pt>
    <dgm:pt modelId="{27AABF26-098F-48C2-8DE4-F71DDB382D12}">
      <dgm:prSet phldrT="[文本]"/>
      <dgm:spPr>
        <a:solidFill>
          <a:schemeClr val="accent6">
            <a:lumMod val="75000"/>
          </a:schemeClr>
        </a:solidFill>
      </dgm:spPr>
      <dgm:t>
        <a:bodyPr/>
        <a:lstStyle/>
        <a:p>
          <a:r>
            <a:rPr lang="en-US" b="1" dirty="0"/>
            <a:t>Variety</a:t>
          </a:r>
          <a:endParaRPr lang="zh-CN" altLang="en-US" dirty="0"/>
        </a:p>
      </dgm:t>
    </dgm:pt>
    <dgm:pt modelId="{0FF46351-2313-4ECD-A87D-459FB5E2154C}" type="parTrans" cxnId="{7F133C1A-9714-4F89-94C4-68FE259AF33C}">
      <dgm:prSet/>
      <dgm:spPr/>
      <dgm:t>
        <a:bodyPr/>
        <a:lstStyle/>
        <a:p>
          <a:endParaRPr lang="zh-CN" altLang="en-US"/>
        </a:p>
      </dgm:t>
    </dgm:pt>
    <dgm:pt modelId="{CC6D4963-9EBC-4A56-AE1E-213AC1B84D7B}" type="sibTrans" cxnId="{7F133C1A-9714-4F89-94C4-68FE259AF33C}">
      <dgm:prSet/>
      <dgm:spPr/>
      <dgm:t>
        <a:bodyPr/>
        <a:lstStyle/>
        <a:p>
          <a:endParaRPr lang="zh-CN" altLang="en-US"/>
        </a:p>
      </dgm:t>
    </dgm:pt>
    <dgm:pt modelId="{B6504E50-CA4A-4BD4-8F77-D33A0DE6F6BD}">
      <dgm:prSet phldrT="[文本]"/>
      <dgm:spPr>
        <a:solidFill>
          <a:schemeClr val="accent6">
            <a:lumMod val="75000"/>
          </a:schemeClr>
        </a:solidFill>
      </dgm:spPr>
      <dgm:t>
        <a:bodyPr/>
        <a:lstStyle/>
        <a:p>
          <a:r>
            <a:rPr lang="en-US" b="1" dirty="0"/>
            <a:t>Value</a:t>
          </a:r>
          <a:endParaRPr lang="zh-CN" altLang="en-US" dirty="0"/>
        </a:p>
      </dgm:t>
    </dgm:pt>
    <dgm:pt modelId="{23786CDD-5BEE-4E07-85AB-FD70B06481D8}" type="parTrans" cxnId="{D9D3A344-8FEA-4D30-9008-446FC22B0BD4}">
      <dgm:prSet/>
      <dgm:spPr/>
      <dgm:t>
        <a:bodyPr/>
        <a:lstStyle/>
        <a:p>
          <a:endParaRPr lang="zh-CN" altLang="en-US"/>
        </a:p>
      </dgm:t>
    </dgm:pt>
    <dgm:pt modelId="{187FD3F1-ACC7-4BE7-85F2-AA778070B19A}" type="sibTrans" cxnId="{D9D3A344-8FEA-4D30-9008-446FC22B0BD4}">
      <dgm:prSet/>
      <dgm:spPr/>
      <dgm:t>
        <a:bodyPr/>
        <a:lstStyle/>
        <a:p>
          <a:endParaRPr lang="zh-CN" altLang="en-US"/>
        </a:p>
      </dgm:t>
    </dgm:pt>
    <dgm:pt modelId="{CDCECE90-BFCA-4937-AD3C-BDF23DC2CCFF}" type="pres">
      <dgm:prSet presAssocID="{E75D590E-49C1-4B94-B437-7842407AAE27}" presName="matrix" presStyleCnt="0">
        <dgm:presLayoutVars>
          <dgm:chMax val="1"/>
          <dgm:dir/>
          <dgm:resizeHandles val="exact"/>
        </dgm:presLayoutVars>
      </dgm:prSet>
      <dgm:spPr/>
    </dgm:pt>
    <dgm:pt modelId="{04DCDB72-C017-431C-B799-DE6C63D4C75C}" type="pres">
      <dgm:prSet presAssocID="{E75D590E-49C1-4B94-B437-7842407AAE27}" presName="axisShape" presStyleLbl="bgShp" presStyleIdx="0" presStyleCnt="1"/>
      <dgm:spPr>
        <a:solidFill>
          <a:schemeClr val="accent5">
            <a:lumMod val="25000"/>
          </a:schemeClr>
        </a:solidFill>
      </dgm:spPr>
    </dgm:pt>
    <dgm:pt modelId="{B81D3447-BABA-4661-A664-8D0EA2DBD7C4}" type="pres">
      <dgm:prSet presAssocID="{E75D590E-49C1-4B94-B437-7842407AAE27}" presName="rect1" presStyleLbl="node1" presStyleIdx="0" presStyleCnt="4">
        <dgm:presLayoutVars>
          <dgm:chMax val="0"/>
          <dgm:chPref val="0"/>
          <dgm:bulletEnabled val="1"/>
        </dgm:presLayoutVars>
      </dgm:prSet>
      <dgm:spPr/>
    </dgm:pt>
    <dgm:pt modelId="{800887D6-67A4-485C-A700-C34846AF0238}" type="pres">
      <dgm:prSet presAssocID="{E75D590E-49C1-4B94-B437-7842407AAE27}" presName="rect2" presStyleLbl="node1" presStyleIdx="1" presStyleCnt="4">
        <dgm:presLayoutVars>
          <dgm:chMax val="0"/>
          <dgm:chPref val="0"/>
          <dgm:bulletEnabled val="1"/>
        </dgm:presLayoutVars>
      </dgm:prSet>
      <dgm:spPr/>
    </dgm:pt>
    <dgm:pt modelId="{D80397DD-0F10-4768-9BDA-7CFAC74FAC8D}" type="pres">
      <dgm:prSet presAssocID="{E75D590E-49C1-4B94-B437-7842407AAE27}" presName="rect3" presStyleLbl="node1" presStyleIdx="2" presStyleCnt="4">
        <dgm:presLayoutVars>
          <dgm:chMax val="0"/>
          <dgm:chPref val="0"/>
          <dgm:bulletEnabled val="1"/>
        </dgm:presLayoutVars>
      </dgm:prSet>
      <dgm:spPr/>
    </dgm:pt>
    <dgm:pt modelId="{412F753A-9F37-492E-9FDE-1297C98FB21C}" type="pres">
      <dgm:prSet presAssocID="{E75D590E-49C1-4B94-B437-7842407AAE27}" presName="rect4" presStyleLbl="node1" presStyleIdx="3" presStyleCnt="4">
        <dgm:presLayoutVars>
          <dgm:chMax val="0"/>
          <dgm:chPref val="0"/>
          <dgm:bulletEnabled val="1"/>
        </dgm:presLayoutVars>
      </dgm:prSet>
      <dgm:spPr/>
    </dgm:pt>
  </dgm:ptLst>
  <dgm:cxnLst>
    <dgm:cxn modelId="{42B6E40F-4683-4D76-8DB5-9AA709B9BDB8}" type="presOf" srcId="{E75D590E-49C1-4B94-B437-7842407AAE27}" destId="{CDCECE90-BFCA-4937-AD3C-BDF23DC2CCFF}" srcOrd="0" destOrd="0" presId="urn:microsoft.com/office/officeart/2005/8/layout/matrix2"/>
    <dgm:cxn modelId="{7F133C1A-9714-4F89-94C4-68FE259AF33C}" srcId="{E75D590E-49C1-4B94-B437-7842407AAE27}" destId="{27AABF26-098F-48C2-8DE4-F71DDB382D12}" srcOrd="2" destOrd="0" parTransId="{0FF46351-2313-4ECD-A87D-459FB5E2154C}" sibTransId="{CC6D4963-9EBC-4A56-AE1E-213AC1B84D7B}"/>
    <dgm:cxn modelId="{D9D3A344-8FEA-4D30-9008-446FC22B0BD4}" srcId="{E75D590E-49C1-4B94-B437-7842407AAE27}" destId="{B6504E50-CA4A-4BD4-8F77-D33A0DE6F6BD}" srcOrd="3" destOrd="0" parTransId="{23786CDD-5BEE-4E07-85AB-FD70B06481D8}" sibTransId="{187FD3F1-ACC7-4BE7-85F2-AA778070B19A}"/>
    <dgm:cxn modelId="{EDC86C69-918A-416D-93D8-4C30C3F9AB5B}" srcId="{E75D590E-49C1-4B94-B437-7842407AAE27}" destId="{D888EE11-F6B1-4BAF-885A-D1F7DCDAFF42}" srcOrd="0" destOrd="0" parTransId="{BF21289E-0108-4C00-9E78-B53BF85180F9}" sibTransId="{A69C7A0B-5872-4153-A21B-46DBE2D2F5EF}"/>
    <dgm:cxn modelId="{477E3C4C-6BD5-4611-BAE9-B974C4280C2E}" type="presOf" srcId="{D888EE11-F6B1-4BAF-885A-D1F7DCDAFF42}" destId="{B81D3447-BABA-4661-A664-8D0EA2DBD7C4}" srcOrd="0" destOrd="0" presId="urn:microsoft.com/office/officeart/2005/8/layout/matrix2"/>
    <dgm:cxn modelId="{A8B53E98-9C12-4E28-9C2D-94E48C88622C}" type="presOf" srcId="{27AABF26-098F-48C2-8DE4-F71DDB382D12}" destId="{D80397DD-0F10-4768-9BDA-7CFAC74FAC8D}" srcOrd="0" destOrd="0" presId="urn:microsoft.com/office/officeart/2005/8/layout/matrix2"/>
    <dgm:cxn modelId="{9F3518E2-6B1F-42E5-A4FE-A4FAED09380D}" type="presOf" srcId="{B6504E50-CA4A-4BD4-8F77-D33A0DE6F6BD}" destId="{412F753A-9F37-492E-9FDE-1297C98FB21C}" srcOrd="0" destOrd="0" presId="urn:microsoft.com/office/officeart/2005/8/layout/matrix2"/>
    <dgm:cxn modelId="{F4C238ED-294F-400F-9F87-A1CA5097A9F7}" srcId="{E75D590E-49C1-4B94-B437-7842407AAE27}" destId="{6315A3A7-0FA0-43B5-AF2B-142690D56F64}" srcOrd="1" destOrd="0" parTransId="{C2D4A5E7-4C71-4AE5-B3E4-BB2C43FCD32C}" sibTransId="{0FB6745E-D34B-4871-A618-381AC72E440A}"/>
    <dgm:cxn modelId="{AF9A30FC-B459-4010-8064-569CEF775E84}" type="presOf" srcId="{6315A3A7-0FA0-43B5-AF2B-142690D56F64}" destId="{800887D6-67A4-485C-A700-C34846AF0238}" srcOrd="0" destOrd="0" presId="urn:microsoft.com/office/officeart/2005/8/layout/matrix2"/>
    <dgm:cxn modelId="{E613C4F2-3AC4-477B-B2CA-12321F816DA2}" type="presParOf" srcId="{CDCECE90-BFCA-4937-AD3C-BDF23DC2CCFF}" destId="{04DCDB72-C017-431C-B799-DE6C63D4C75C}" srcOrd="0" destOrd="0" presId="urn:microsoft.com/office/officeart/2005/8/layout/matrix2"/>
    <dgm:cxn modelId="{826DB792-BA70-4678-9457-A0E26F031717}" type="presParOf" srcId="{CDCECE90-BFCA-4937-AD3C-BDF23DC2CCFF}" destId="{B81D3447-BABA-4661-A664-8D0EA2DBD7C4}" srcOrd="1" destOrd="0" presId="urn:microsoft.com/office/officeart/2005/8/layout/matrix2"/>
    <dgm:cxn modelId="{085B8232-731D-48C9-8993-22D7EACF0C4E}" type="presParOf" srcId="{CDCECE90-BFCA-4937-AD3C-BDF23DC2CCFF}" destId="{800887D6-67A4-485C-A700-C34846AF0238}" srcOrd="2" destOrd="0" presId="urn:microsoft.com/office/officeart/2005/8/layout/matrix2"/>
    <dgm:cxn modelId="{4FA4A012-1A6C-4ABC-9C33-9D6B383BBE07}" type="presParOf" srcId="{CDCECE90-BFCA-4937-AD3C-BDF23DC2CCFF}" destId="{D80397DD-0F10-4768-9BDA-7CFAC74FAC8D}" srcOrd="3" destOrd="0" presId="urn:microsoft.com/office/officeart/2005/8/layout/matrix2"/>
    <dgm:cxn modelId="{E74CA7C2-09F7-4BFC-885F-BAA5E1075007}" type="presParOf" srcId="{CDCECE90-BFCA-4937-AD3C-BDF23DC2CCFF}" destId="{412F753A-9F37-492E-9FDE-1297C98FB21C}" srcOrd="4" destOrd="0" presId="urn:microsoft.com/office/officeart/2005/8/layout/matrix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DCDB72-C017-431C-B799-DE6C63D4C75C}">
      <dsp:nvSpPr>
        <dsp:cNvPr id="0" name=""/>
        <dsp:cNvSpPr/>
      </dsp:nvSpPr>
      <dsp:spPr>
        <a:xfrm>
          <a:off x="1016000" y="0"/>
          <a:ext cx="4064000" cy="4064000"/>
        </a:xfrm>
        <a:prstGeom prst="quadArrow">
          <a:avLst>
            <a:gd name="adj1" fmla="val 2000"/>
            <a:gd name="adj2" fmla="val 4000"/>
            <a:gd name="adj3" fmla="val 5000"/>
          </a:avLst>
        </a:prstGeom>
        <a:solidFill>
          <a:schemeClr val="accent5">
            <a:lumMod val="25000"/>
          </a:schemeClr>
        </a:solidFill>
        <a:ln>
          <a:noFill/>
        </a:ln>
        <a:effectLst/>
      </dsp:spPr>
      <dsp:style>
        <a:lnRef idx="0">
          <a:scrgbClr r="0" g="0" b="0"/>
        </a:lnRef>
        <a:fillRef idx="1">
          <a:scrgbClr r="0" g="0" b="0"/>
        </a:fillRef>
        <a:effectRef idx="0">
          <a:scrgbClr r="0" g="0" b="0"/>
        </a:effectRef>
        <a:fontRef idx="minor"/>
      </dsp:style>
    </dsp:sp>
    <dsp:sp modelId="{B81D3447-BABA-4661-A664-8D0EA2DBD7C4}">
      <dsp:nvSpPr>
        <dsp:cNvPr id="0" name=""/>
        <dsp:cNvSpPr/>
      </dsp:nvSpPr>
      <dsp:spPr>
        <a:xfrm>
          <a:off x="1280160" y="264160"/>
          <a:ext cx="1625600" cy="1625600"/>
        </a:xfrm>
        <a:prstGeom prst="roundRect">
          <a:avLst/>
        </a:prstGeom>
        <a:solidFill>
          <a:schemeClr val="accent6">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b="1" kern="1200" dirty="0"/>
            <a:t>Volume</a:t>
          </a:r>
          <a:endParaRPr lang="zh-CN" altLang="en-US" sz="2700" kern="1200" dirty="0"/>
        </a:p>
      </dsp:txBody>
      <dsp:txXfrm>
        <a:off x="1359515" y="343515"/>
        <a:ext cx="1466890" cy="1466890"/>
      </dsp:txXfrm>
    </dsp:sp>
    <dsp:sp modelId="{800887D6-67A4-485C-A700-C34846AF0238}">
      <dsp:nvSpPr>
        <dsp:cNvPr id="0" name=""/>
        <dsp:cNvSpPr/>
      </dsp:nvSpPr>
      <dsp:spPr>
        <a:xfrm>
          <a:off x="3190240" y="264160"/>
          <a:ext cx="1625600" cy="1625600"/>
        </a:xfrm>
        <a:prstGeom prst="roundRect">
          <a:avLst/>
        </a:prstGeom>
        <a:solidFill>
          <a:schemeClr val="accent6">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b="1" kern="1200" dirty="0"/>
            <a:t>Velocity</a:t>
          </a:r>
          <a:endParaRPr lang="zh-CN" altLang="en-US" sz="2700" kern="1200" dirty="0"/>
        </a:p>
      </dsp:txBody>
      <dsp:txXfrm>
        <a:off x="3269595" y="343515"/>
        <a:ext cx="1466890" cy="1466890"/>
      </dsp:txXfrm>
    </dsp:sp>
    <dsp:sp modelId="{D80397DD-0F10-4768-9BDA-7CFAC74FAC8D}">
      <dsp:nvSpPr>
        <dsp:cNvPr id="0" name=""/>
        <dsp:cNvSpPr/>
      </dsp:nvSpPr>
      <dsp:spPr>
        <a:xfrm>
          <a:off x="1280160" y="2174240"/>
          <a:ext cx="1625600" cy="1625600"/>
        </a:xfrm>
        <a:prstGeom prst="roundRect">
          <a:avLst/>
        </a:prstGeom>
        <a:solidFill>
          <a:schemeClr val="accent6">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b="1" kern="1200" dirty="0"/>
            <a:t>Variety</a:t>
          </a:r>
          <a:endParaRPr lang="zh-CN" altLang="en-US" sz="2700" kern="1200" dirty="0"/>
        </a:p>
      </dsp:txBody>
      <dsp:txXfrm>
        <a:off x="1359515" y="2253595"/>
        <a:ext cx="1466890" cy="1466890"/>
      </dsp:txXfrm>
    </dsp:sp>
    <dsp:sp modelId="{412F753A-9F37-492E-9FDE-1297C98FB21C}">
      <dsp:nvSpPr>
        <dsp:cNvPr id="0" name=""/>
        <dsp:cNvSpPr/>
      </dsp:nvSpPr>
      <dsp:spPr>
        <a:xfrm>
          <a:off x="3190240" y="2174240"/>
          <a:ext cx="1625600" cy="1625600"/>
        </a:xfrm>
        <a:prstGeom prst="roundRect">
          <a:avLst/>
        </a:prstGeom>
        <a:solidFill>
          <a:schemeClr val="accent6">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b="1" kern="1200" dirty="0"/>
            <a:t>Value</a:t>
          </a:r>
          <a:endParaRPr lang="zh-CN" altLang="en-US" sz="2700" kern="1200" dirty="0"/>
        </a:p>
      </dsp:txBody>
      <dsp:txXfrm>
        <a:off x="3269595" y="2253595"/>
        <a:ext cx="1466890" cy="1466890"/>
      </dsp:txXfrm>
    </dsp:sp>
  </dsp:spTree>
</dsp:drawing>
</file>

<file path=ppt/diagrams/layout1.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2-15T08:14:40.243"/>
    </inkml:context>
    <inkml:brush xml:id="br0">
      <inkml:brushProperty name="width" value="0.09701" units="cm"/>
      <inkml:brushProperty name="height" value="0.09701" units="cm"/>
      <inkml:brushProperty name="color" value="#FF0000"/>
    </inkml:brush>
  </inkml:definitions>
  <inkml:trace contextRef="#ctx0" brushRef="#br0">799 612,'24'0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462633-F5B7-4534-804A-E3882359FFB0}" type="datetimeFigureOut">
              <a:rPr lang="zh-CN" altLang="en-US" smtClean="0"/>
              <a:t>2023/12/16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4A18AE-A216-40B2-9FA1-B5D4486EDFFA}" type="slidenum">
              <a:rPr lang="zh-CN" altLang="en-US" smtClean="0"/>
              <a:t>‹#›</a:t>
            </a:fld>
            <a:endParaRPr lang="zh-CN" altLang="en-US"/>
          </a:p>
        </p:txBody>
      </p:sp>
    </p:spTree>
    <p:extLst>
      <p:ext uri="{BB962C8B-B14F-4D97-AF65-F5344CB8AC3E}">
        <p14:creationId xmlns:p14="http://schemas.microsoft.com/office/powerpoint/2010/main" val="38061173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14A18AE-A216-40B2-9FA1-B5D4486EDFFA}" type="slidenum">
              <a:rPr lang="zh-CN" altLang="en-US" smtClean="0"/>
              <a:t>137</a:t>
            </a:fld>
            <a:endParaRPr lang="zh-CN" altLang="en-US"/>
          </a:p>
        </p:txBody>
      </p:sp>
    </p:spTree>
    <p:extLst>
      <p:ext uri="{BB962C8B-B14F-4D97-AF65-F5344CB8AC3E}">
        <p14:creationId xmlns:p14="http://schemas.microsoft.com/office/powerpoint/2010/main" val="19433384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B82310-82DF-4A83-841D-0FC24C958BF3}"/>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8B2555D9-1602-4DC2-95AD-D58D4A3ACB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AACADA3F-62B2-42D9-AE75-CD4BC1CE06A9}"/>
              </a:ext>
            </a:extLst>
          </p:cNvPr>
          <p:cNvSpPr>
            <a:spLocks noGrp="1"/>
          </p:cNvSpPr>
          <p:nvPr>
            <p:ph type="dt" sz="half" idx="10"/>
          </p:nvPr>
        </p:nvSpPr>
        <p:spPr/>
        <p:txBody>
          <a:bodyPr/>
          <a:lstStyle/>
          <a:p>
            <a:fld id="{6593F7F3-2E04-4088-8C1F-EC78F0CD260E}" type="datetimeFigureOut">
              <a:rPr lang="zh-CN" altLang="en-US" smtClean="0"/>
              <a:t>2023/12/16</a:t>
            </a:fld>
            <a:endParaRPr lang="zh-CN" altLang="en-US"/>
          </a:p>
        </p:txBody>
      </p:sp>
      <p:sp>
        <p:nvSpPr>
          <p:cNvPr id="5" name="页脚占位符 4">
            <a:extLst>
              <a:ext uri="{FF2B5EF4-FFF2-40B4-BE49-F238E27FC236}">
                <a16:creationId xmlns:a16="http://schemas.microsoft.com/office/drawing/2014/main" id="{980826D4-F816-4D4D-81C1-E45869E9B80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03BB76A-DD23-4757-B8D3-6782EB71185D}"/>
              </a:ext>
            </a:extLst>
          </p:cNvPr>
          <p:cNvSpPr>
            <a:spLocks noGrp="1"/>
          </p:cNvSpPr>
          <p:nvPr>
            <p:ph type="sldNum" sz="quarter" idx="12"/>
          </p:nvPr>
        </p:nvSpPr>
        <p:spPr/>
        <p:txBody>
          <a:bodyPr/>
          <a:lstStyle/>
          <a:p>
            <a:fld id="{D399DFA1-92EF-4737-8566-5467410A3072}" type="slidenum">
              <a:rPr lang="zh-CN" altLang="en-US" smtClean="0"/>
              <a:t>‹#›</a:t>
            </a:fld>
            <a:endParaRPr lang="zh-CN" altLang="en-US"/>
          </a:p>
        </p:txBody>
      </p:sp>
    </p:spTree>
    <p:extLst>
      <p:ext uri="{BB962C8B-B14F-4D97-AF65-F5344CB8AC3E}">
        <p14:creationId xmlns:p14="http://schemas.microsoft.com/office/powerpoint/2010/main" val="41648858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C9236E-70E8-48F1-8973-606860DD070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E3AE940-0965-4134-B417-3088E3829092}"/>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EF12305-2528-4A4B-BCA0-23F6D9B1625F}"/>
              </a:ext>
            </a:extLst>
          </p:cNvPr>
          <p:cNvSpPr>
            <a:spLocks noGrp="1"/>
          </p:cNvSpPr>
          <p:nvPr>
            <p:ph type="dt" sz="half" idx="10"/>
          </p:nvPr>
        </p:nvSpPr>
        <p:spPr/>
        <p:txBody>
          <a:bodyPr/>
          <a:lstStyle/>
          <a:p>
            <a:fld id="{6593F7F3-2E04-4088-8C1F-EC78F0CD260E}" type="datetimeFigureOut">
              <a:rPr lang="zh-CN" altLang="en-US" smtClean="0"/>
              <a:t>2023/12/16</a:t>
            </a:fld>
            <a:endParaRPr lang="zh-CN" altLang="en-US"/>
          </a:p>
        </p:txBody>
      </p:sp>
      <p:sp>
        <p:nvSpPr>
          <p:cNvPr id="5" name="页脚占位符 4">
            <a:extLst>
              <a:ext uri="{FF2B5EF4-FFF2-40B4-BE49-F238E27FC236}">
                <a16:creationId xmlns:a16="http://schemas.microsoft.com/office/drawing/2014/main" id="{D6C51F0F-4B32-4FBF-B1E7-E3B037759E0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698E588-C7D1-4627-88AA-82AD1A58DB79}"/>
              </a:ext>
            </a:extLst>
          </p:cNvPr>
          <p:cNvSpPr>
            <a:spLocks noGrp="1"/>
          </p:cNvSpPr>
          <p:nvPr>
            <p:ph type="sldNum" sz="quarter" idx="12"/>
          </p:nvPr>
        </p:nvSpPr>
        <p:spPr/>
        <p:txBody>
          <a:bodyPr/>
          <a:lstStyle/>
          <a:p>
            <a:fld id="{D399DFA1-92EF-4737-8566-5467410A3072}" type="slidenum">
              <a:rPr lang="zh-CN" altLang="en-US" smtClean="0"/>
              <a:t>‹#›</a:t>
            </a:fld>
            <a:endParaRPr lang="zh-CN" altLang="en-US"/>
          </a:p>
        </p:txBody>
      </p:sp>
    </p:spTree>
    <p:extLst>
      <p:ext uri="{BB962C8B-B14F-4D97-AF65-F5344CB8AC3E}">
        <p14:creationId xmlns:p14="http://schemas.microsoft.com/office/powerpoint/2010/main" val="24350610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BAEA23-3C71-412F-8DE7-1A3B4F04D18F}"/>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1650AE66-A81C-4AA1-9B38-93EEC9D2CB3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E78D719D-3808-41FB-95CC-D970D23FA7B0}"/>
              </a:ext>
            </a:extLst>
          </p:cNvPr>
          <p:cNvSpPr>
            <a:spLocks noGrp="1"/>
          </p:cNvSpPr>
          <p:nvPr>
            <p:ph type="dt" sz="half" idx="10"/>
          </p:nvPr>
        </p:nvSpPr>
        <p:spPr/>
        <p:txBody>
          <a:bodyPr/>
          <a:lstStyle/>
          <a:p>
            <a:fld id="{6593F7F3-2E04-4088-8C1F-EC78F0CD260E}" type="datetimeFigureOut">
              <a:rPr lang="zh-CN" altLang="en-US" smtClean="0"/>
              <a:t>2023/12/16</a:t>
            </a:fld>
            <a:endParaRPr lang="zh-CN" altLang="en-US"/>
          </a:p>
        </p:txBody>
      </p:sp>
      <p:sp>
        <p:nvSpPr>
          <p:cNvPr id="5" name="页脚占位符 4">
            <a:extLst>
              <a:ext uri="{FF2B5EF4-FFF2-40B4-BE49-F238E27FC236}">
                <a16:creationId xmlns:a16="http://schemas.microsoft.com/office/drawing/2014/main" id="{9DE88A3E-8974-4EF0-AED8-293FF0D8462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D80EFF4-1F43-42E5-A8F4-4516329E41BF}"/>
              </a:ext>
            </a:extLst>
          </p:cNvPr>
          <p:cNvSpPr>
            <a:spLocks noGrp="1"/>
          </p:cNvSpPr>
          <p:nvPr>
            <p:ph type="sldNum" sz="quarter" idx="12"/>
          </p:nvPr>
        </p:nvSpPr>
        <p:spPr/>
        <p:txBody>
          <a:bodyPr/>
          <a:lstStyle/>
          <a:p>
            <a:fld id="{D399DFA1-92EF-4737-8566-5467410A3072}" type="slidenum">
              <a:rPr lang="zh-CN" altLang="en-US" smtClean="0"/>
              <a:t>‹#›</a:t>
            </a:fld>
            <a:endParaRPr lang="zh-CN" altLang="en-US"/>
          </a:p>
        </p:txBody>
      </p:sp>
    </p:spTree>
    <p:extLst>
      <p:ext uri="{BB962C8B-B14F-4D97-AF65-F5344CB8AC3E}">
        <p14:creationId xmlns:p14="http://schemas.microsoft.com/office/powerpoint/2010/main" val="35689565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36D2ED-1E3B-476F-8330-C95BDFB1899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1BF0623-E8AA-4EE7-8D11-C315AAE6D4C9}"/>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1B4C521D-A6BE-4A1A-A3F1-B9BC311DC175}"/>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AF87C5AC-F3D5-48D4-B161-347390BB8FD8}"/>
              </a:ext>
            </a:extLst>
          </p:cNvPr>
          <p:cNvSpPr>
            <a:spLocks noGrp="1"/>
          </p:cNvSpPr>
          <p:nvPr>
            <p:ph type="dt" sz="half" idx="10"/>
          </p:nvPr>
        </p:nvSpPr>
        <p:spPr/>
        <p:txBody>
          <a:bodyPr/>
          <a:lstStyle/>
          <a:p>
            <a:fld id="{6593F7F3-2E04-4088-8C1F-EC78F0CD260E}" type="datetimeFigureOut">
              <a:rPr lang="zh-CN" altLang="en-US" smtClean="0"/>
              <a:t>2023/12/16</a:t>
            </a:fld>
            <a:endParaRPr lang="zh-CN" altLang="en-US"/>
          </a:p>
        </p:txBody>
      </p:sp>
      <p:sp>
        <p:nvSpPr>
          <p:cNvPr id="6" name="页脚占位符 5">
            <a:extLst>
              <a:ext uri="{FF2B5EF4-FFF2-40B4-BE49-F238E27FC236}">
                <a16:creationId xmlns:a16="http://schemas.microsoft.com/office/drawing/2014/main" id="{10F591C4-3343-47E3-BE82-028D9BA1DF1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9DBCB8A-85F2-4D27-9162-27D6C1A90C87}"/>
              </a:ext>
            </a:extLst>
          </p:cNvPr>
          <p:cNvSpPr>
            <a:spLocks noGrp="1"/>
          </p:cNvSpPr>
          <p:nvPr>
            <p:ph type="sldNum" sz="quarter" idx="12"/>
          </p:nvPr>
        </p:nvSpPr>
        <p:spPr/>
        <p:txBody>
          <a:bodyPr/>
          <a:lstStyle/>
          <a:p>
            <a:fld id="{D399DFA1-92EF-4737-8566-5467410A3072}" type="slidenum">
              <a:rPr lang="zh-CN" altLang="en-US" smtClean="0"/>
              <a:t>‹#›</a:t>
            </a:fld>
            <a:endParaRPr lang="zh-CN" altLang="en-US"/>
          </a:p>
        </p:txBody>
      </p:sp>
    </p:spTree>
    <p:extLst>
      <p:ext uri="{BB962C8B-B14F-4D97-AF65-F5344CB8AC3E}">
        <p14:creationId xmlns:p14="http://schemas.microsoft.com/office/powerpoint/2010/main" val="41964650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2F846D-FBB0-43A4-92A6-2D270F57BC68}"/>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1507FAA-1203-4E83-80E1-E8DC8DC6E95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336AA074-30C7-4325-A003-A0351B902AC4}"/>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2C65753D-F662-485E-9B44-FFDC9346A7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7795C9E7-C445-41A6-B71D-E4C1B2E26DE2}"/>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D6D45AD7-8A4F-499F-AE7D-7E22682E6A70}"/>
              </a:ext>
            </a:extLst>
          </p:cNvPr>
          <p:cNvSpPr>
            <a:spLocks noGrp="1"/>
          </p:cNvSpPr>
          <p:nvPr>
            <p:ph type="dt" sz="half" idx="10"/>
          </p:nvPr>
        </p:nvSpPr>
        <p:spPr/>
        <p:txBody>
          <a:bodyPr/>
          <a:lstStyle/>
          <a:p>
            <a:fld id="{6593F7F3-2E04-4088-8C1F-EC78F0CD260E}" type="datetimeFigureOut">
              <a:rPr lang="zh-CN" altLang="en-US" smtClean="0"/>
              <a:t>2023/12/16</a:t>
            </a:fld>
            <a:endParaRPr lang="zh-CN" altLang="en-US"/>
          </a:p>
        </p:txBody>
      </p:sp>
      <p:sp>
        <p:nvSpPr>
          <p:cNvPr id="8" name="页脚占位符 7">
            <a:extLst>
              <a:ext uri="{FF2B5EF4-FFF2-40B4-BE49-F238E27FC236}">
                <a16:creationId xmlns:a16="http://schemas.microsoft.com/office/drawing/2014/main" id="{C7A22850-705C-4C6B-AAB3-EF8A75CEAF31}"/>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475C1371-A9E5-4499-81CC-0BC9411357AC}"/>
              </a:ext>
            </a:extLst>
          </p:cNvPr>
          <p:cNvSpPr>
            <a:spLocks noGrp="1"/>
          </p:cNvSpPr>
          <p:nvPr>
            <p:ph type="sldNum" sz="quarter" idx="12"/>
          </p:nvPr>
        </p:nvSpPr>
        <p:spPr/>
        <p:txBody>
          <a:bodyPr/>
          <a:lstStyle/>
          <a:p>
            <a:fld id="{D399DFA1-92EF-4737-8566-5467410A3072}" type="slidenum">
              <a:rPr lang="zh-CN" altLang="en-US" smtClean="0"/>
              <a:t>‹#›</a:t>
            </a:fld>
            <a:endParaRPr lang="zh-CN" altLang="en-US"/>
          </a:p>
        </p:txBody>
      </p:sp>
    </p:spTree>
    <p:extLst>
      <p:ext uri="{BB962C8B-B14F-4D97-AF65-F5344CB8AC3E}">
        <p14:creationId xmlns:p14="http://schemas.microsoft.com/office/powerpoint/2010/main" val="40990874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621699-7279-4444-956A-38D106EB983D}"/>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F59F432-0865-487C-B966-E80FEC500901}"/>
              </a:ext>
            </a:extLst>
          </p:cNvPr>
          <p:cNvSpPr>
            <a:spLocks noGrp="1"/>
          </p:cNvSpPr>
          <p:nvPr>
            <p:ph type="dt" sz="half" idx="10"/>
          </p:nvPr>
        </p:nvSpPr>
        <p:spPr/>
        <p:txBody>
          <a:bodyPr/>
          <a:lstStyle/>
          <a:p>
            <a:fld id="{6593F7F3-2E04-4088-8C1F-EC78F0CD260E}" type="datetimeFigureOut">
              <a:rPr lang="zh-CN" altLang="en-US" smtClean="0"/>
              <a:t>2023/12/16</a:t>
            </a:fld>
            <a:endParaRPr lang="zh-CN" altLang="en-US"/>
          </a:p>
        </p:txBody>
      </p:sp>
      <p:sp>
        <p:nvSpPr>
          <p:cNvPr id="4" name="页脚占位符 3">
            <a:extLst>
              <a:ext uri="{FF2B5EF4-FFF2-40B4-BE49-F238E27FC236}">
                <a16:creationId xmlns:a16="http://schemas.microsoft.com/office/drawing/2014/main" id="{35486AA6-5995-4263-91C0-87F3482CA1D6}"/>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F1D5B101-82BE-4D2B-B59B-E6FE8EFC3E93}"/>
              </a:ext>
            </a:extLst>
          </p:cNvPr>
          <p:cNvSpPr>
            <a:spLocks noGrp="1"/>
          </p:cNvSpPr>
          <p:nvPr>
            <p:ph type="sldNum" sz="quarter" idx="12"/>
          </p:nvPr>
        </p:nvSpPr>
        <p:spPr/>
        <p:txBody>
          <a:bodyPr/>
          <a:lstStyle/>
          <a:p>
            <a:fld id="{D399DFA1-92EF-4737-8566-5467410A3072}" type="slidenum">
              <a:rPr lang="zh-CN" altLang="en-US" smtClean="0"/>
              <a:t>‹#›</a:t>
            </a:fld>
            <a:endParaRPr lang="zh-CN" altLang="en-US"/>
          </a:p>
        </p:txBody>
      </p:sp>
    </p:spTree>
    <p:extLst>
      <p:ext uri="{BB962C8B-B14F-4D97-AF65-F5344CB8AC3E}">
        <p14:creationId xmlns:p14="http://schemas.microsoft.com/office/powerpoint/2010/main" val="19994028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6D53DA9-A68F-4B41-9C32-D00E21238000}"/>
              </a:ext>
            </a:extLst>
          </p:cNvPr>
          <p:cNvSpPr>
            <a:spLocks noGrp="1"/>
          </p:cNvSpPr>
          <p:nvPr>
            <p:ph type="dt" sz="half" idx="10"/>
          </p:nvPr>
        </p:nvSpPr>
        <p:spPr/>
        <p:txBody>
          <a:bodyPr/>
          <a:lstStyle/>
          <a:p>
            <a:fld id="{6593F7F3-2E04-4088-8C1F-EC78F0CD260E}" type="datetimeFigureOut">
              <a:rPr lang="zh-CN" altLang="en-US" smtClean="0"/>
              <a:t>2023/12/16</a:t>
            </a:fld>
            <a:endParaRPr lang="zh-CN" altLang="en-US"/>
          </a:p>
        </p:txBody>
      </p:sp>
      <p:sp>
        <p:nvSpPr>
          <p:cNvPr id="3" name="页脚占位符 2">
            <a:extLst>
              <a:ext uri="{FF2B5EF4-FFF2-40B4-BE49-F238E27FC236}">
                <a16:creationId xmlns:a16="http://schemas.microsoft.com/office/drawing/2014/main" id="{9F0DBC16-D3AC-4725-BBB3-493A21ED954F}"/>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03AF38A3-6134-4E81-B793-79059D91557F}"/>
              </a:ext>
            </a:extLst>
          </p:cNvPr>
          <p:cNvSpPr>
            <a:spLocks noGrp="1"/>
          </p:cNvSpPr>
          <p:nvPr>
            <p:ph type="sldNum" sz="quarter" idx="12"/>
          </p:nvPr>
        </p:nvSpPr>
        <p:spPr/>
        <p:txBody>
          <a:bodyPr/>
          <a:lstStyle/>
          <a:p>
            <a:fld id="{D399DFA1-92EF-4737-8566-5467410A3072}" type="slidenum">
              <a:rPr lang="zh-CN" altLang="en-US" smtClean="0"/>
              <a:t>‹#›</a:t>
            </a:fld>
            <a:endParaRPr lang="zh-CN" altLang="en-US"/>
          </a:p>
        </p:txBody>
      </p:sp>
    </p:spTree>
    <p:extLst>
      <p:ext uri="{BB962C8B-B14F-4D97-AF65-F5344CB8AC3E}">
        <p14:creationId xmlns:p14="http://schemas.microsoft.com/office/powerpoint/2010/main" val="21246285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BBB6A1-BD1F-49B5-A7AF-5653AE604E4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B1CF1E97-DF07-4C2B-8D1A-A3CE65E477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C85BE4C2-C969-4ED7-8C7D-5D17164FED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5DC05219-F622-4709-BD0C-72C0FBC8FAB0}"/>
              </a:ext>
            </a:extLst>
          </p:cNvPr>
          <p:cNvSpPr>
            <a:spLocks noGrp="1"/>
          </p:cNvSpPr>
          <p:nvPr>
            <p:ph type="dt" sz="half" idx="10"/>
          </p:nvPr>
        </p:nvSpPr>
        <p:spPr/>
        <p:txBody>
          <a:bodyPr/>
          <a:lstStyle/>
          <a:p>
            <a:fld id="{6593F7F3-2E04-4088-8C1F-EC78F0CD260E}" type="datetimeFigureOut">
              <a:rPr lang="zh-CN" altLang="en-US" smtClean="0"/>
              <a:t>2023/12/16</a:t>
            </a:fld>
            <a:endParaRPr lang="zh-CN" altLang="en-US"/>
          </a:p>
        </p:txBody>
      </p:sp>
      <p:sp>
        <p:nvSpPr>
          <p:cNvPr id="6" name="页脚占位符 5">
            <a:extLst>
              <a:ext uri="{FF2B5EF4-FFF2-40B4-BE49-F238E27FC236}">
                <a16:creationId xmlns:a16="http://schemas.microsoft.com/office/drawing/2014/main" id="{DB3838D2-7CB9-43F5-9F67-6C5A8C7FA28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2CDB74F-E11F-4E1E-9314-7669FBE02846}"/>
              </a:ext>
            </a:extLst>
          </p:cNvPr>
          <p:cNvSpPr>
            <a:spLocks noGrp="1"/>
          </p:cNvSpPr>
          <p:nvPr>
            <p:ph type="sldNum" sz="quarter" idx="12"/>
          </p:nvPr>
        </p:nvSpPr>
        <p:spPr/>
        <p:txBody>
          <a:bodyPr/>
          <a:lstStyle/>
          <a:p>
            <a:fld id="{D399DFA1-92EF-4737-8566-5467410A3072}" type="slidenum">
              <a:rPr lang="zh-CN" altLang="en-US" smtClean="0"/>
              <a:t>‹#›</a:t>
            </a:fld>
            <a:endParaRPr lang="zh-CN" altLang="en-US"/>
          </a:p>
        </p:txBody>
      </p:sp>
    </p:spTree>
    <p:extLst>
      <p:ext uri="{BB962C8B-B14F-4D97-AF65-F5344CB8AC3E}">
        <p14:creationId xmlns:p14="http://schemas.microsoft.com/office/powerpoint/2010/main" val="7374656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8DB5BD-C588-46E8-9C43-0E788C93B20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DEC21B6B-FBFB-42E9-8B10-82EAA44F9C1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B0B4FD05-B9CD-4645-BD0A-351EF53EC3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EBCFDB1D-7F5A-47C2-B6F9-26754A70AB5C}"/>
              </a:ext>
            </a:extLst>
          </p:cNvPr>
          <p:cNvSpPr>
            <a:spLocks noGrp="1"/>
          </p:cNvSpPr>
          <p:nvPr>
            <p:ph type="dt" sz="half" idx="10"/>
          </p:nvPr>
        </p:nvSpPr>
        <p:spPr/>
        <p:txBody>
          <a:bodyPr/>
          <a:lstStyle/>
          <a:p>
            <a:fld id="{6593F7F3-2E04-4088-8C1F-EC78F0CD260E}" type="datetimeFigureOut">
              <a:rPr lang="zh-CN" altLang="en-US" smtClean="0"/>
              <a:t>2023/12/16</a:t>
            </a:fld>
            <a:endParaRPr lang="zh-CN" altLang="en-US"/>
          </a:p>
        </p:txBody>
      </p:sp>
      <p:sp>
        <p:nvSpPr>
          <p:cNvPr id="6" name="页脚占位符 5">
            <a:extLst>
              <a:ext uri="{FF2B5EF4-FFF2-40B4-BE49-F238E27FC236}">
                <a16:creationId xmlns:a16="http://schemas.microsoft.com/office/drawing/2014/main" id="{019824E6-80B1-4CF8-BF7E-6725087DABB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EA6369D-F92F-4F2E-BC8B-5DADDF7A484A}"/>
              </a:ext>
            </a:extLst>
          </p:cNvPr>
          <p:cNvSpPr>
            <a:spLocks noGrp="1"/>
          </p:cNvSpPr>
          <p:nvPr>
            <p:ph type="sldNum" sz="quarter" idx="12"/>
          </p:nvPr>
        </p:nvSpPr>
        <p:spPr/>
        <p:txBody>
          <a:bodyPr/>
          <a:lstStyle/>
          <a:p>
            <a:fld id="{D399DFA1-92EF-4737-8566-5467410A3072}" type="slidenum">
              <a:rPr lang="zh-CN" altLang="en-US" smtClean="0"/>
              <a:t>‹#›</a:t>
            </a:fld>
            <a:endParaRPr lang="zh-CN" altLang="en-US"/>
          </a:p>
        </p:txBody>
      </p:sp>
    </p:spTree>
    <p:extLst>
      <p:ext uri="{BB962C8B-B14F-4D97-AF65-F5344CB8AC3E}">
        <p14:creationId xmlns:p14="http://schemas.microsoft.com/office/powerpoint/2010/main" val="39785575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2E34FD-40BD-4F0A-9188-D2A424D6A147}"/>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683C4EFB-8579-42C0-A30D-DFA29EA28CB8}"/>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EFF3E9E0-CE25-497A-BB32-89CBD4D3DB38}"/>
              </a:ext>
            </a:extLst>
          </p:cNvPr>
          <p:cNvSpPr>
            <a:spLocks noGrp="1"/>
          </p:cNvSpPr>
          <p:nvPr>
            <p:ph type="dt" sz="half" idx="10"/>
          </p:nvPr>
        </p:nvSpPr>
        <p:spPr/>
        <p:txBody>
          <a:bodyPr/>
          <a:lstStyle/>
          <a:p>
            <a:fld id="{6593F7F3-2E04-4088-8C1F-EC78F0CD260E}" type="datetimeFigureOut">
              <a:rPr lang="zh-CN" altLang="en-US" smtClean="0"/>
              <a:t>2023/12/16</a:t>
            </a:fld>
            <a:endParaRPr lang="zh-CN" altLang="en-US"/>
          </a:p>
        </p:txBody>
      </p:sp>
      <p:sp>
        <p:nvSpPr>
          <p:cNvPr id="5" name="页脚占位符 4">
            <a:extLst>
              <a:ext uri="{FF2B5EF4-FFF2-40B4-BE49-F238E27FC236}">
                <a16:creationId xmlns:a16="http://schemas.microsoft.com/office/drawing/2014/main" id="{CAB10C09-9AD0-415E-88F3-B8A955C7D91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B857197-73F6-47EE-A08B-CB9CEEE3DB14}"/>
              </a:ext>
            </a:extLst>
          </p:cNvPr>
          <p:cNvSpPr>
            <a:spLocks noGrp="1"/>
          </p:cNvSpPr>
          <p:nvPr>
            <p:ph type="sldNum" sz="quarter" idx="12"/>
          </p:nvPr>
        </p:nvSpPr>
        <p:spPr/>
        <p:txBody>
          <a:bodyPr/>
          <a:lstStyle/>
          <a:p>
            <a:fld id="{D399DFA1-92EF-4737-8566-5467410A3072}" type="slidenum">
              <a:rPr lang="zh-CN" altLang="en-US" smtClean="0"/>
              <a:t>‹#›</a:t>
            </a:fld>
            <a:endParaRPr lang="zh-CN" altLang="en-US"/>
          </a:p>
        </p:txBody>
      </p:sp>
    </p:spTree>
    <p:extLst>
      <p:ext uri="{BB962C8B-B14F-4D97-AF65-F5344CB8AC3E}">
        <p14:creationId xmlns:p14="http://schemas.microsoft.com/office/powerpoint/2010/main" val="3969060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D453FC7-7782-4E7F-B102-71E8AE83EEAC}"/>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A05E40BE-CB15-4561-AD14-EFEFDB107832}"/>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A8B4E7DE-23D2-459C-A8EE-A06F5CD164FC}"/>
              </a:ext>
            </a:extLst>
          </p:cNvPr>
          <p:cNvSpPr>
            <a:spLocks noGrp="1"/>
          </p:cNvSpPr>
          <p:nvPr>
            <p:ph type="dt" sz="half" idx="10"/>
          </p:nvPr>
        </p:nvSpPr>
        <p:spPr/>
        <p:txBody>
          <a:bodyPr/>
          <a:lstStyle/>
          <a:p>
            <a:fld id="{6593F7F3-2E04-4088-8C1F-EC78F0CD260E}" type="datetimeFigureOut">
              <a:rPr lang="zh-CN" altLang="en-US" smtClean="0"/>
              <a:t>2023/12/16</a:t>
            </a:fld>
            <a:endParaRPr lang="zh-CN" altLang="en-US"/>
          </a:p>
        </p:txBody>
      </p:sp>
      <p:sp>
        <p:nvSpPr>
          <p:cNvPr id="5" name="页脚占位符 4">
            <a:extLst>
              <a:ext uri="{FF2B5EF4-FFF2-40B4-BE49-F238E27FC236}">
                <a16:creationId xmlns:a16="http://schemas.microsoft.com/office/drawing/2014/main" id="{8A61F4E4-26D1-4693-A06E-5EC07734F8D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5A27A4C-3CBE-4973-B0F3-21D6DFD587A5}"/>
              </a:ext>
            </a:extLst>
          </p:cNvPr>
          <p:cNvSpPr>
            <a:spLocks noGrp="1"/>
          </p:cNvSpPr>
          <p:nvPr>
            <p:ph type="sldNum" sz="quarter" idx="12"/>
          </p:nvPr>
        </p:nvSpPr>
        <p:spPr/>
        <p:txBody>
          <a:bodyPr/>
          <a:lstStyle/>
          <a:p>
            <a:fld id="{D399DFA1-92EF-4737-8566-5467410A3072}" type="slidenum">
              <a:rPr lang="zh-CN" altLang="en-US" smtClean="0"/>
              <a:t>‹#›</a:t>
            </a:fld>
            <a:endParaRPr lang="zh-CN" altLang="en-US"/>
          </a:p>
        </p:txBody>
      </p:sp>
    </p:spTree>
    <p:extLst>
      <p:ext uri="{BB962C8B-B14F-4D97-AF65-F5344CB8AC3E}">
        <p14:creationId xmlns:p14="http://schemas.microsoft.com/office/powerpoint/2010/main" val="7713771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80383E6C-1F44-4312-ABC6-54D63A1632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B34511B7-FA21-4C36-BE5F-4887E181BA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CAB2FC48-D772-4331-AFA3-2581250FE90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93F7F3-2E04-4088-8C1F-EC78F0CD260E}" type="datetimeFigureOut">
              <a:rPr lang="zh-CN" altLang="en-US" smtClean="0"/>
              <a:t>2023/12/16</a:t>
            </a:fld>
            <a:endParaRPr lang="zh-CN" altLang="en-US"/>
          </a:p>
        </p:txBody>
      </p:sp>
      <p:sp>
        <p:nvSpPr>
          <p:cNvPr id="5" name="页脚占位符 4">
            <a:extLst>
              <a:ext uri="{FF2B5EF4-FFF2-40B4-BE49-F238E27FC236}">
                <a16:creationId xmlns:a16="http://schemas.microsoft.com/office/drawing/2014/main" id="{AB11EADE-4F4D-4FB4-9AF1-007CF44CCE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C63DE548-3106-4657-8DC9-1D5D1959D3A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99DFA1-92EF-4737-8566-5467410A3072}" type="slidenum">
              <a:rPr lang="zh-CN" altLang="en-US" smtClean="0"/>
              <a:t>‹#›</a:t>
            </a:fld>
            <a:endParaRPr lang="zh-CN" altLang="en-US"/>
          </a:p>
        </p:txBody>
      </p:sp>
    </p:spTree>
    <p:extLst>
      <p:ext uri="{BB962C8B-B14F-4D97-AF65-F5344CB8AC3E}">
        <p14:creationId xmlns:p14="http://schemas.microsoft.com/office/powerpoint/2010/main" val="9321216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2.xml"/><Relationship Id="rId5" Type="http://schemas.openxmlformats.org/officeDocument/2006/relationships/image" Target="../media/image2.pn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2.png"/><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2.png"/><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2.png"/><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6.xml"/><Relationship Id="rId5" Type="http://schemas.openxmlformats.org/officeDocument/2006/relationships/image" Target="../media/image2.png"/><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3.png"/><Relationship Id="rId7" Type="http://schemas.openxmlformats.org/officeDocument/2006/relationships/image" Target="../media/image6.jpeg"/><Relationship Id="rId2" Type="http://schemas.openxmlformats.org/officeDocument/2006/relationships/slideLayout" Target="../slideLayouts/slideLayout2.xml"/><Relationship Id="rId1" Type="http://schemas.openxmlformats.org/officeDocument/2006/relationships/tags" Target="../tags/tag7.xml"/><Relationship Id="rId6" Type="http://schemas.openxmlformats.org/officeDocument/2006/relationships/image" Target="../media/image5.png"/><Relationship Id="rId11" Type="http://schemas.openxmlformats.org/officeDocument/2006/relationships/image" Target="../media/image2.png"/><Relationship Id="rId5" Type="http://schemas.openxmlformats.org/officeDocument/2006/relationships/oleObject" Target="../embeddings/oleObject1.bin"/><Relationship Id="rId10" Type="http://schemas.openxmlformats.org/officeDocument/2006/relationships/image" Target="../media/image8.png"/><Relationship Id="rId4" Type="http://schemas.openxmlformats.org/officeDocument/2006/relationships/image" Target="../media/image4.svg"/><Relationship Id="rId9" Type="http://schemas.openxmlformats.org/officeDocument/2006/relationships/oleObject" Target="../embeddings/oleObject2.bin"/></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8.xml"/><Relationship Id="rId5" Type="http://schemas.openxmlformats.org/officeDocument/2006/relationships/image" Target="../media/image2.png"/><Relationship Id="rId4" Type="http://schemas.openxmlformats.org/officeDocument/2006/relationships/image" Target="../media/image4.sv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9.xml"/><Relationship Id="rId5" Type="http://schemas.openxmlformats.org/officeDocument/2006/relationships/image" Target="../media/image2.png"/><Relationship Id="rId4" Type="http://schemas.openxmlformats.org/officeDocument/2006/relationships/image" Target="../media/image4.sv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10.xml"/><Relationship Id="rId5" Type="http://schemas.openxmlformats.org/officeDocument/2006/relationships/image" Target="../media/image2.png"/><Relationship Id="rId4" Type="http://schemas.openxmlformats.org/officeDocument/2006/relationships/image" Target="../media/image4.sv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11.xml"/><Relationship Id="rId5" Type="http://schemas.openxmlformats.org/officeDocument/2006/relationships/image" Target="../media/image2.png"/><Relationship Id="rId4" Type="http://schemas.openxmlformats.org/officeDocument/2006/relationships/image" Target="../media/image4.sv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12.xml"/><Relationship Id="rId5" Type="http://schemas.openxmlformats.org/officeDocument/2006/relationships/image" Target="../media/image2.png"/><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13.xml"/><Relationship Id="rId5" Type="http://schemas.openxmlformats.org/officeDocument/2006/relationships/image" Target="../media/image2.png"/><Relationship Id="rId4" Type="http://schemas.openxmlformats.org/officeDocument/2006/relationships/image" Target="../media/image4.sv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14.xml"/><Relationship Id="rId5" Type="http://schemas.openxmlformats.org/officeDocument/2006/relationships/image" Target="../media/image2.png"/><Relationship Id="rId4" Type="http://schemas.openxmlformats.org/officeDocument/2006/relationships/image" Target="../media/image4.sv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15.xml"/><Relationship Id="rId5" Type="http://schemas.openxmlformats.org/officeDocument/2006/relationships/image" Target="../media/image2.png"/><Relationship Id="rId4" Type="http://schemas.openxmlformats.org/officeDocument/2006/relationships/image" Target="../media/image4.sv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16.xml"/><Relationship Id="rId5" Type="http://schemas.openxmlformats.org/officeDocument/2006/relationships/image" Target="../media/image2.png"/><Relationship Id="rId4" Type="http://schemas.openxmlformats.org/officeDocument/2006/relationships/image" Target="../media/image4.svg"/></Relationships>
</file>

<file path=ppt/slides/_rels/slide1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0.wmf"/><Relationship Id="rId5" Type="http://schemas.openxmlformats.org/officeDocument/2006/relationships/oleObject" Target="../embeddings/oleObject3.bin"/><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2.wmf"/><Relationship Id="rId5" Type="http://schemas.openxmlformats.org/officeDocument/2006/relationships/oleObject" Target="../embeddings/oleObject4.bin"/><Relationship Id="rId4" Type="http://schemas.openxmlformats.org/officeDocument/2006/relationships/image" Target="../media/image9.png"/></Relationships>
</file>

<file path=ppt/slides/_rels/slide2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3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3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3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3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3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3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3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17.xml"/><Relationship Id="rId5" Type="http://schemas.openxmlformats.org/officeDocument/2006/relationships/image" Target="../media/image2.png"/><Relationship Id="rId4" Type="http://schemas.openxmlformats.org/officeDocument/2006/relationships/image" Target="../media/image4.sv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image" Target="../media/image2.png"/><Relationship Id="rId5" Type="http://schemas.openxmlformats.org/officeDocument/2006/relationships/image" Target="../media/image4.svg"/><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20.xml"/><Relationship Id="rId5" Type="http://schemas.openxmlformats.org/officeDocument/2006/relationships/image" Target="../media/image2.png"/><Relationship Id="rId4" Type="http://schemas.openxmlformats.org/officeDocument/2006/relationships/image" Target="../media/image4.svg"/></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21.xml"/><Relationship Id="rId5" Type="http://schemas.openxmlformats.org/officeDocument/2006/relationships/image" Target="../media/image2.png"/><Relationship Id="rId4" Type="http://schemas.openxmlformats.org/officeDocument/2006/relationships/image" Target="../media/image4.svg"/></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22.xml"/><Relationship Id="rId5" Type="http://schemas.openxmlformats.org/officeDocument/2006/relationships/image" Target="../media/image2.png"/><Relationship Id="rId4" Type="http://schemas.openxmlformats.org/officeDocument/2006/relationships/image" Target="../media/image4.sv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png"/><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image" Target="../media/image14.png"/><Relationship Id="rId5" Type="http://schemas.openxmlformats.org/officeDocument/2006/relationships/image" Target="../media/image4.svg"/><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png"/><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image" Target="../media/image15.png"/><Relationship Id="rId5" Type="http://schemas.openxmlformats.org/officeDocument/2006/relationships/image" Target="../media/image4.svg"/><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27.xml"/><Relationship Id="rId5" Type="http://schemas.openxmlformats.org/officeDocument/2006/relationships/image" Target="../media/image2.png"/><Relationship Id="rId4" Type="http://schemas.openxmlformats.org/officeDocument/2006/relationships/image" Target="../media/image4.svg"/></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28.xml"/><Relationship Id="rId5" Type="http://schemas.openxmlformats.org/officeDocument/2006/relationships/image" Target="../media/image2.png"/><Relationship Id="rId4" Type="http://schemas.openxmlformats.org/officeDocument/2006/relationships/image" Target="../media/image4.svg"/></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29.xml"/><Relationship Id="rId4" Type="http://schemas.openxmlformats.org/officeDocument/2006/relationships/image" Target="../media/image2.png"/></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30.xml"/><Relationship Id="rId4" Type="http://schemas.openxmlformats.org/officeDocument/2006/relationships/image" Target="../media/image2.png"/></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31.xml"/><Relationship Id="rId4" Type="http://schemas.openxmlformats.org/officeDocument/2006/relationships/image" Target="../media/image2.png"/></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32.xml"/><Relationship Id="rId4" Type="http://schemas.openxmlformats.org/officeDocument/2006/relationships/image" Target="../media/image2.png"/></Relationships>
</file>

<file path=ppt/slides/_rels/slide50.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35.xml"/><Relationship Id="rId7" Type="http://schemas.openxmlformats.org/officeDocument/2006/relationships/image" Target="../media/image17.png"/><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image" Target="../media/image16.png"/><Relationship Id="rId5" Type="http://schemas.openxmlformats.org/officeDocument/2006/relationships/image" Target="../media/image1.png"/><Relationship Id="rId4"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36.xml"/><Relationship Id="rId4" Type="http://schemas.openxmlformats.org/officeDocument/2006/relationships/image" Target="../media/image2.png"/></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image" Target="../media/image2.png"/><Relationship Id="rId5" Type="http://schemas.openxmlformats.org/officeDocument/2006/relationships/image" Target="../media/image18.png"/><Relationship Id="rId4" Type="http://schemas.openxmlformats.org/officeDocument/2006/relationships/image" Target="../media/image1.png"/></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39.xml"/><Relationship Id="rId4" Type="http://schemas.openxmlformats.org/officeDocument/2006/relationships/image" Target="../media/image2.png"/></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image" Target="../media/image2.png"/><Relationship Id="rId5" Type="http://schemas.openxmlformats.org/officeDocument/2006/relationships/image" Target="../media/image19.png"/><Relationship Id="rId4" Type="http://schemas.openxmlformats.org/officeDocument/2006/relationships/image" Target="../media/image1.png"/></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42.xml"/><Relationship Id="rId4" Type="http://schemas.openxmlformats.org/officeDocument/2006/relationships/image" Target="../media/image2.png"/></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43.xml"/><Relationship Id="rId4" Type="http://schemas.openxmlformats.org/officeDocument/2006/relationships/image" Target="../media/image2.png"/></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44.xml"/><Relationship Id="rId4" Type="http://schemas.openxmlformats.org/officeDocument/2006/relationships/image" Target="../media/image2.png"/></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45.xml"/><Relationship Id="rId4" Type="http://schemas.openxmlformats.org/officeDocument/2006/relationships/image" Target="../media/image2.png"/></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46.xml"/><Relationship Id="rId4" Type="http://schemas.openxmlformats.org/officeDocument/2006/relationships/image" Target="../media/image2.png"/></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47.xml"/><Relationship Id="rId4" Type="http://schemas.openxmlformats.org/officeDocument/2006/relationships/image" Target="../media/image2.png"/></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48.xml"/><Relationship Id="rId4" Type="http://schemas.openxmlformats.org/officeDocument/2006/relationships/image" Target="../media/image2.png"/></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49.xml"/><Relationship Id="rId4" Type="http://schemas.openxmlformats.org/officeDocument/2006/relationships/image" Target="../media/image2.png"/></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1.xml"/><Relationship Id="rId1" Type="http://schemas.openxmlformats.org/officeDocument/2006/relationships/tags" Target="../tags/tag50.xml"/><Relationship Id="rId5" Type="http://schemas.openxmlformats.org/officeDocument/2006/relationships/image" Target="../media/image2.png"/><Relationship Id="rId4" Type="http://schemas.openxmlformats.org/officeDocument/2006/relationships/image" Target="../media/image1.png"/></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3.xml"/><Relationship Id="rId1" Type="http://schemas.openxmlformats.org/officeDocument/2006/relationships/tags" Target="../tags/tag52.xml"/><Relationship Id="rId6" Type="http://schemas.openxmlformats.org/officeDocument/2006/relationships/image" Target="../media/image2.png"/><Relationship Id="rId5" Type="http://schemas.openxmlformats.org/officeDocument/2006/relationships/image" Target="../media/image20.png"/><Relationship Id="rId4" Type="http://schemas.openxmlformats.org/officeDocument/2006/relationships/image" Target="../media/image1.png"/></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image" Target="../media/image2.png"/><Relationship Id="rId5" Type="http://schemas.openxmlformats.org/officeDocument/2006/relationships/image" Target="../media/image21.png"/><Relationship Id="rId4" Type="http://schemas.openxmlformats.org/officeDocument/2006/relationships/image" Target="../media/image1.png"/></Relationships>
</file>

<file path=ppt/slides/_rels/slide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56.xml"/><Relationship Id="rId4" Type="http://schemas.openxmlformats.org/officeDocument/2006/relationships/image" Target="../media/image2.png"/></Relationships>
</file>

<file path=ppt/slides/_rels/slide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57.xml"/><Relationship Id="rId4" Type="http://schemas.openxmlformats.org/officeDocument/2006/relationships/image" Target="../media/image2.png"/></Relationships>
</file>

<file path=ppt/slides/_rels/slide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58.xml"/><Relationship Id="rId4" Type="http://schemas.openxmlformats.org/officeDocument/2006/relationships/image" Target="../media/image2.png"/></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image" Target="../media/image2.png"/><Relationship Id="rId5" Type="http://schemas.openxmlformats.org/officeDocument/2006/relationships/image" Target="../media/image22.png"/><Relationship Id="rId4" Type="http://schemas.openxmlformats.org/officeDocument/2006/relationships/image" Target="../media/image1.png"/></Relationships>
</file>

<file path=ppt/slides/_rels/slide7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61.xml"/><Relationship Id="rId4" Type="http://schemas.openxmlformats.org/officeDocument/2006/relationships/image" Target="../media/image2.png"/></Relationships>
</file>

<file path=ppt/slides/_rels/slide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62.xml"/><Relationship Id="rId4" Type="http://schemas.openxmlformats.org/officeDocument/2006/relationships/image" Target="../media/image2.png"/></Relationships>
</file>

<file path=ppt/slides/_rels/slide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63.xml"/><Relationship Id="rId4" Type="http://schemas.openxmlformats.org/officeDocument/2006/relationships/image" Target="../media/image2.png"/></Relationships>
</file>

<file path=ppt/slides/_rels/slide7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64.xml"/><Relationship Id="rId4" Type="http://schemas.openxmlformats.org/officeDocument/2006/relationships/image" Target="../media/image2.png"/></Relationships>
</file>

<file path=ppt/slides/_rels/slide7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65.xml"/><Relationship Id="rId4" Type="http://schemas.openxmlformats.org/officeDocument/2006/relationships/image" Target="../media/image2.png"/></Relationships>
</file>

<file path=ppt/slides/_rels/slide7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66.xml"/><Relationship Id="rId4" Type="http://schemas.openxmlformats.org/officeDocument/2006/relationships/image" Target="../media/image2.png"/></Relationships>
</file>

<file path=ppt/slides/_rels/slide7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67.xml"/><Relationship Id="rId4" Type="http://schemas.openxmlformats.org/officeDocument/2006/relationships/image" Target="../media/image2.png"/></Relationships>
</file>

<file path=ppt/slides/_rels/slide7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68.xml"/><Relationship Id="rId4" Type="http://schemas.openxmlformats.org/officeDocument/2006/relationships/image" Target="../media/image2.png"/></Relationships>
</file>

<file path=ppt/slides/_rels/slide7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69.xml"/><Relationship Id="rId4" Type="http://schemas.openxmlformats.org/officeDocument/2006/relationships/image" Target="../media/image2.png"/></Relationships>
</file>

<file path=ppt/slides/_rels/slide7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70.xml"/><Relationship Id="rId4" Type="http://schemas.openxmlformats.org/officeDocument/2006/relationships/image" Target="../media/image2.png"/></Relationships>
</file>

<file path=ppt/slides/_rels/slide80.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tags" Target="../tags/tag73.xml"/><Relationship Id="rId7" Type="http://schemas.openxmlformats.org/officeDocument/2006/relationships/image" Target="../media/image23.png"/><Relationship Id="rId2" Type="http://schemas.openxmlformats.org/officeDocument/2006/relationships/tags" Target="../tags/tag72.xml"/><Relationship Id="rId1" Type="http://schemas.openxmlformats.org/officeDocument/2006/relationships/tags" Target="../tags/tag71.xml"/><Relationship Id="rId6" Type="http://schemas.openxmlformats.org/officeDocument/2006/relationships/image" Target="../media/image1.png"/><Relationship Id="rId5" Type="http://schemas.openxmlformats.org/officeDocument/2006/relationships/slideLayout" Target="../slideLayouts/slideLayout2.xml"/><Relationship Id="rId10" Type="http://schemas.openxmlformats.org/officeDocument/2006/relationships/image" Target="../media/image2.png"/><Relationship Id="rId4" Type="http://schemas.openxmlformats.org/officeDocument/2006/relationships/tags" Target="../tags/tag74.xml"/><Relationship Id="rId9" Type="http://schemas.openxmlformats.org/officeDocument/2006/relationships/image" Target="../media/image25.png"/></Relationships>
</file>

<file path=ppt/slides/_rels/slide8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75.xml"/><Relationship Id="rId4" Type="http://schemas.openxmlformats.org/officeDocument/2006/relationships/image" Target="../media/image2.png"/></Relationships>
</file>

<file path=ppt/slides/_rels/slide8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7.xml"/><Relationship Id="rId1" Type="http://schemas.openxmlformats.org/officeDocument/2006/relationships/tags" Target="../tags/tag76.xml"/><Relationship Id="rId6" Type="http://schemas.openxmlformats.org/officeDocument/2006/relationships/image" Target="../media/image2.png"/><Relationship Id="rId5" Type="http://schemas.openxmlformats.org/officeDocument/2006/relationships/image" Target="../media/image26.png"/><Relationship Id="rId4" Type="http://schemas.openxmlformats.org/officeDocument/2006/relationships/image" Target="../media/image1.png"/></Relationships>
</file>

<file path=ppt/slides/_rels/slide8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80.xml"/><Relationship Id="rId7" Type="http://schemas.openxmlformats.org/officeDocument/2006/relationships/image" Target="../media/image28.png"/><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image" Target="../media/image27.png"/><Relationship Id="rId5" Type="http://schemas.openxmlformats.org/officeDocument/2006/relationships/image" Target="../media/image1.png"/><Relationship Id="rId4"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2.xml"/><Relationship Id="rId1" Type="http://schemas.openxmlformats.org/officeDocument/2006/relationships/tags" Target="../tags/tag81.xml"/><Relationship Id="rId6" Type="http://schemas.openxmlformats.org/officeDocument/2006/relationships/image" Target="../media/image2.png"/><Relationship Id="rId5" Type="http://schemas.openxmlformats.org/officeDocument/2006/relationships/image" Target="../media/image29.png"/><Relationship Id="rId4" Type="http://schemas.openxmlformats.org/officeDocument/2006/relationships/image" Target="../media/image1.png"/></Relationships>
</file>

<file path=ppt/slides/_rels/slide8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83.xml"/><Relationship Id="rId4" Type="http://schemas.openxmlformats.org/officeDocument/2006/relationships/image" Target="../media/image2.png"/></Relationships>
</file>

<file path=ppt/slides/_rels/slide8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84.xml"/><Relationship Id="rId4" Type="http://schemas.openxmlformats.org/officeDocument/2006/relationships/image" Target="../media/image2.png"/></Relationships>
</file>

<file path=ppt/slides/_rels/slide8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85.xml"/><Relationship Id="rId4" Type="http://schemas.openxmlformats.org/officeDocument/2006/relationships/image" Target="../media/image2.png"/></Relationships>
</file>

<file path=ppt/slides/_rels/slide8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86.xml"/><Relationship Id="rId4" Type="http://schemas.openxmlformats.org/officeDocument/2006/relationships/image" Target="../media/image2.png"/></Relationships>
</file>

<file path=ppt/slides/_rels/slide8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87.xml"/><Relationship Id="rId4" Type="http://schemas.openxmlformats.org/officeDocument/2006/relationships/image" Target="../media/image2.png"/></Relationships>
</file>

<file path=ppt/slides/_rels/slide9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88.xml"/><Relationship Id="rId4" Type="http://schemas.openxmlformats.org/officeDocument/2006/relationships/image" Target="../media/image2.png"/></Relationships>
</file>

<file path=ppt/slides/_rels/slide9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89.xml"/><Relationship Id="rId4" Type="http://schemas.openxmlformats.org/officeDocument/2006/relationships/image" Target="../media/image2.png"/></Relationships>
</file>

<file path=ppt/slides/_rels/slide9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31.svg"/><Relationship Id="rId4" Type="http://schemas.openxmlformats.org/officeDocument/2006/relationships/image" Target="../media/image30.png"/></Relationships>
</file>

<file path=ppt/slides/_rels/slide9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31.svg"/><Relationship Id="rId4" Type="http://schemas.openxmlformats.org/officeDocument/2006/relationships/image" Target="../media/image30.png"/></Relationships>
</file>

<file path=ppt/slides/_rels/slide94.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33.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svg"/><Relationship Id="rId4" Type="http://schemas.openxmlformats.org/officeDocument/2006/relationships/image" Target="../media/image30.png"/></Relationships>
</file>

<file path=ppt/slides/_rels/slide95.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openxmlformats.org/officeDocument/2006/relationships/image" Target="../media/image4.svg"/><Relationship Id="rId7" Type="http://schemas.openxmlformats.org/officeDocument/2006/relationships/diagramLayout" Target="../diagrams/layout1.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Data" Target="../diagrams/data1.xml"/><Relationship Id="rId5" Type="http://schemas.openxmlformats.org/officeDocument/2006/relationships/image" Target="../media/image31.svg"/><Relationship Id="rId10" Type="http://schemas.microsoft.com/office/2007/relationships/diagramDrawing" Target="../diagrams/drawing1.xml"/><Relationship Id="rId4" Type="http://schemas.openxmlformats.org/officeDocument/2006/relationships/image" Target="../media/image30.png"/><Relationship Id="rId9" Type="http://schemas.openxmlformats.org/officeDocument/2006/relationships/diagramColors" Target="../diagrams/colors1.xml"/></Relationships>
</file>

<file path=ppt/slides/_rels/slide9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34.jpeg"/></Relationships>
</file>

<file path=ppt/slides/_rels/slide9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35.jpeg"/></Relationships>
</file>

<file path=ppt/slides/_rels/slide98.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31.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37.png"/><Relationship Id="rId4" Type="http://schemas.openxmlformats.org/officeDocument/2006/relationships/image" Target="../media/image36.png"/></Relationships>
</file>

<file path=ppt/slides/_rels/slide9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36.png"/></Relationships>
</file>

<file path=ppt/slides/_rels/slide100.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4.svg"/><Relationship Id="rId7" Type="http://schemas.openxmlformats.org/officeDocument/2006/relationships/image" Target="../media/image41.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40.png"/><Relationship Id="rId5" Type="http://schemas.openxmlformats.org/officeDocument/2006/relationships/image" Target="../media/image39.svg"/><Relationship Id="rId4" Type="http://schemas.openxmlformats.org/officeDocument/2006/relationships/image" Target="../media/image38.png"/><Relationship Id="rId9" Type="http://schemas.openxmlformats.org/officeDocument/2006/relationships/image" Target="../media/image31.svg"/></Relationships>
</file>

<file path=ppt/slides/_rels/slide101.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4.svg"/><Relationship Id="rId7" Type="http://schemas.openxmlformats.org/officeDocument/2006/relationships/image" Target="../media/image30.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gif"/></Relationships>
</file>

<file path=ppt/slides/_rels/slide10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31.svg"/><Relationship Id="rId4" Type="http://schemas.openxmlformats.org/officeDocument/2006/relationships/image" Target="../media/image30.png"/></Relationships>
</file>

<file path=ppt/slides/_rels/slide10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31.svg"/><Relationship Id="rId4" Type="http://schemas.openxmlformats.org/officeDocument/2006/relationships/image" Target="../media/image30.png"/></Relationships>
</file>

<file path=ppt/slides/_rels/slide104.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svg"/><Relationship Id="rId7" Type="http://schemas.openxmlformats.org/officeDocument/2006/relationships/image" Target="../media/image46.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45.gif"/></Relationships>
</file>

<file path=ppt/slides/_rels/slide10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48.emf"/></Relationships>
</file>

<file path=ppt/slides/_rels/slide10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31.svg"/><Relationship Id="rId4" Type="http://schemas.openxmlformats.org/officeDocument/2006/relationships/image" Target="../media/image30.png"/></Relationships>
</file>

<file path=ppt/slides/_rels/slide10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31.svg"/><Relationship Id="rId4" Type="http://schemas.openxmlformats.org/officeDocument/2006/relationships/image" Target="../media/image30.png"/></Relationships>
</file>

<file path=ppt/slides/_rels/slide10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49.emf"/><Relationship Id="rId5" Type="http://schemas.openxmlformats.org/officeDocument/2006/relationships/image" Target="../media/image31.svg"/><Relationship Id="rId4" Type="http://schemas.openxmlformats.org/officeDocument/2006/relationships/image" Target="../media/image30.png"/></Relationships>
</file>

<file path=ppt/slides/_rels/slide10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31.svg"/><Relationship Id="rId4" Type="http://schemas.openxmlformats.org/officeDocument/2006/relationships/image" Target="../media/image30.png"/></Relationships>
</file>

<file path=ppt/slides/_rels/slide1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31.svg"/><Relationship Id="rId4" Type="http://schemas.openxmlformats.org/officeDocument/2006/relationships/image" Target="../media/image30.png"/></Relationships>
</file>

<file path=ppt/slides/_rels/slide111.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4.svg"/><Relationship Id="rId7" Type="http://schemas.openxmlformats.org/officeDocument/2006/relationships/image" Target="../media/image30.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52.jpg"/><Relationship Id="rId5" Type="http://schemas.openxmlformats.org/officeDocument/2006/relationships/image" Target="../media/image51.emf"/><Relationship Id="rId4" Type="http://schemas.openxmlformats.org/officeDocument/2006/relationships/image" Target="../media/image50.emf"/></Relationships>
</file>

<file path=ppt/slides/_rels/slide1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52.jpg"/></Relationships>
</file>

<file path=ppt/slides/_rels/slide1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31.svg"/><Relationship Id="rId4" Type="http://schemas.openxmlformats.org/officeDocument/2006/relationships/image" Target="../media/image30.png"/></Relationships>
</file>

<file path=ppt/slides/_rels/slide11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31.svg"/><Relationship Id="rId4" Type="http://schemas.openxmlformats.org/officeDocument/2006/relationships/image" Target="../media/image30.png"/></Relationships>
</file>

<file path=ppt/slides/_rels/slide115.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4.svg"/><Relationship Id="rId7" Type="http://schemas.openxmlformats.org/officeDocument/2006/relationships/image" Target="../media/image53.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31.svg"/><Relationship Id="rId5" Type="http://schemas.openxmlformats.org/officeDocument/2006/relationships/image" Target="../media/image30.png"/><Relationship Id="rId10" Type="http://schemas.openxmlformats.org/officeDocument/2006/relationships/image" Target="../media/image56.png"/><Relationship Id="rId4" Type="http://schemas.openxmlformats.org/officeDocument/2006/relationships/image" Target="../media/image52.jpg"/><Relationship Id="rId9" Type="http://schemas.openxmlformats.org/officeDocument/2006/relationships/image" Target="../media/image55.png"/></Relationships>
</file>

<file path=ppt/slides/_rels/slide1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57.png"/></Relationships>
</file>

<file path=ppt/slides/_rels/slide11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31.svg"/><Relationship Id="rId4" Type="http://schemas.openxmlformats.org/officeDocument/2006/relationships/image" Target="../media/image30.png"/></Relationships>
</file>

<file path=ppt/slides/_rels/slide11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31.svg"/><Relationship Id="rId4" Type="http://schemas.openxmlformats.org/officeDocument/2006/relationships/image" Target="../media/image30.png"/></Relationships>
</file>

<file path=ppt/slides/_rels/slide1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31.svg"/><Relationship Id="rId4" Type="http://schemas.openxmlformats.org/officeDocument/2006/relationships/image" Target="../media/image30.png"/></Relationships>
</file>

<file path=ppt/slides/_rels/slide12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31.svg"/><Relationship Id="rId4" Type="http://schemas.openxmlformats.org/officeDocument/2006/relationships/image" Target="../media/image30.png"/></Relationships>
</file>

<file path=ppt/slides/_rels/slide12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31.svg"/><Relationship Id="rId4" Type="http://schemas.openxmlformats.org/officeDocument/2006/relationships/image" Target="../media/image30.png"/></Relationships>
</file>

<file path=ppt/slides/_rels/slide12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31.svg"/><Relationship Id="rId4" Type="http://schemas.openxmlformats.org/officeDocument/2006/relationships/image" Target="../media/image30.png"/></Relationships>
</file>

<file path=ppt/slides/_rels/slide12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31.svg"/><Relationship Id="rId4" Type="http://schemas.openxmlformats.org/officeDocument/2006/relationships/image" Target="../media/image30.png"/></Relationships>
</file>

<file path=ppt/slides/_rels/slide12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31.svg"/><Relationship Id="rId4" Type="http://schemas.openxmlformats.org/officeDocument/2006/relationships/image" Target="../media/image30.png"/></Relationships>
</file>

<file path=ppt/slides/_rels/slide12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31.svg"/><Relationship Id="rId4" Type="http://schemas.openxmlformats.org/officeDocument/2006/relationships/image" Target="../media/image30.png"/></Relationships>
</file>

<file path=ppt/slides/_rels/slide12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31.svg"/><Relationship Id="rId4" Type="http://schemas.openxmlformats.org/officeDocument/2006/relationships/image" Target="../media/image30.png"/></Relationships>
</file>

<file path=ppt/slides/_rels/slide12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31.svg"/><Relationship Id="rId4" Type="http://schemas.openxmlformats.org/officeDocument/2006/relationships/image" Target="../media/image30.png"/></Relationships>
</file>

<file path=ppt/slides/_rels/slide12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31.svg"/><Relationship Id="rId4" Type="http://schemas.openxmlformats.org/officeDocument/2006/relationships/image" Target="../media/image30.png"/></Relationships>
</file>

<file path=ppt/slides/_rels/slide12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31.svg"/><Relationship Id="rId4" Type="http://schemas.openxmlformats.org/officeDocument/2006/relationships/image" Target="../media/image30.png"/></Relationships>
</file>

<file path=ppt/slides/_rels/slide13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31.svg"/><Relationship Id="rId4" Type="http://schemas.openxmlformats.org/officeDocument/2006/relationships/image" Target="../media/image30.png"/></Relationships>
</file>

<file path=ppt/slides/_rels/slide13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31.svg"/><Relationship Id="rId2" Type="http://schemas.openxmlformats.org/officeDocument/2006/relationships/image" Target="../media/image58.gif"/><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59.png"/><Relationship Id="rId4" Type="http://schemas.openxmlformats.org/officeDocument/2006/relationships/image" Target="../media/image4.svg"/></Relationships>
</file>

<file path=ppt/slides/_rels/slide13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60.png"/></Relationships>
</file>

<file path=ppt/slides/_rels/slide13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61.jpg"/><Relationship Id="rId5" Type="http://schemas.openxmlformats.org/officeDocument/2006/relationships/image" Target="../media/image31.svg"/><Relationship Id="rId4" Type="http://schemas.openxmlformats.org/officeDocument/2006/relationships/image" Target="../media/image30.png"/></Relationships>
</file>

<file path=ppt/slides/_rels/slide13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62.png"/></Relationships>
</file>

<file path=ppt/slides/_rels/slide13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31.svg"/><Relationship Id="rId4" Type="http://schemas.openxmlformats.org/officeDocument/2006/relationships/image" Target="../media/image30.png"/></Relationships>
</file>

<file path=ppt/slides/_rels/slide136.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4.svg"/><Relationship Id="rId7" Type="http://schemas.openxmlformats.org/officeDocument/2006/relationships/image" Target="../media/image66.jp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65.jpg"/><Relationship Id="rId5" Type="http://schemas.openxmlformats.org/officeDocument/2006/relationships/image" Target="../media/image64.jpg"/><Relationship Id="rId4" Type="http://schemas.openxmlformats.org/officeDocument/2006/relationships/image" Target="../media/image63.jpg"/><Relationship Id="rId9" Type="http://schemas.openxmlformats.org/officeDocument/2006/relationships/image" Target="../media/image31.svg"/></Relationships>
</file>

<file path=ppt/slides/_rels/slide137.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3.png"/><Relationship Id="rId7" Type="http://schemas.openxmlformats.org/officeDocument/2006/relationships/image" Target="../media/image67.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31.svg"/><Relationship Id="rId5" Type="http://schemas.openxmlformats.org/officeDocument/2006/relationships/image" Target="../media/image30.png"/><Relationship Id="rId10" Type="http://schemas.openxmlformats.org/officeDocument/2006/relationships/image" Target="../media/image73.png"/><Relationship Id="rId4" Type="http://schemas.openxmlformats.org/officeDocument/2006/relationships/image" Target="../media/image4.svg"/><Relationship Id="rId9" Type="http://schemas.openxmlformats.org/officeDocument/2006/relationships/customXml" Target="../ink/ink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rPr>
              <a:t>大计基串讲</a:t>
            </a:r>
            <a:r>
              <a:rPr kumimoji="0" lang="en-US" altLang="zh-CN"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rPr>
              <a:t>part.1</a:t>
            </a:r>
          </a:p>
        </p:txBody>
      </p:sp>
      <p:sp>
        <p:nvSpPr>
          <p:cNvPr id="3" name="矩形 2"/>
          <p:cNvSpPr/>
          <p:nvPr/>
        </p:nvSpPr>
        <p:spPr>
          <a:xfrm>
            <a:off x="2193289" y="1965324"/>
            <a:ext cx="5921049" cy="2554545"/>
          </a:xfrm>
          <a:prstGeom prst="rect">
            <a:avLst/>
          </a:prstGeom>
          <a:noFill/>
          <a:ln>
            <a:noFill/>
          </a:ln>
        </p:spPr>
        <p:txBody>
          <a:bodyPr wrap="square" rtlCol="0" anchor="t">
            <a:spAutoFit/>
          </a:bodyPr>
          <a:lstStyle/>
          <a:p>
            <a:r>
              <a:rPr lang="zh-CN" altLang="en-US" sz="3200" b="1" dirty="0">
                <a:ln/>
                <a:solidFill>
                  <a:schemeClr val="tx1"/>
                </a:solidFill>
                <a:effectLst>
                  <a:outerShdw blurRad="38100" dist="19050" dir="2700000" algn="tl" rotWithShape="0">
                    <a:schemeClr val="dk1">
                      <a:alpha val="40000"/>
                    </a:schemeClr>
                  </a:outerShdw>
                </a:effectLst>
              </a:rPr>
              <a:t>第一章</a:t>
            </a:r>
            <a:r>
              <a:rPr lang="en-US" altLang="zh-CN" sz="3200" b="1" dirty="0">
                <a:ln/>
                <a:solidFill>
                  <a:schemeClr val="tx1"/>
                </a:solidFill>
                <a:effectLst>
                  <a:outerShdw blurRad="38100" dist="19050" dir="2700000" algn="tl" rotWithShape="0">
                    <a:schemeClr val="dk1">
                      <a:alpha val="40000"/>
                    </a:schemeClr>
                  </a:outerShdw>
                </a:effectLst>
              </a:rPr>
              <a:t>  </a:t>
            </a:r>
            <a:r>
              <a:rPr lang="zh-CN" altLang="en-US" sz="3200" b="1" dirty="0">
                <a:ln/>
                <a:solidFill>
                  <a:schemeClr val="tx1"/>
                </a:solidFill>
                <a:effectLst>
                  <a:outerShdw blurRad="38100" dist="19050" dir="2700000" algn="tl" rotWithShape="0">
                    <a:schemeClr val="dk1">
                      <a:alpha val="40000"/>
                    </a:schemeClr>
                  </a:outerShdw>
                </a:effectLst>
              </a:rPr>
              <a:t>基于计算机的问题求解</a:t>
            </a:r>
            <a:endParaRPr lang="en-US" altLang="zh-CN" sz="3200" b="1" dirty="0">
              <a:ln/>
              <a:solidFill>
                <a:schemeClr val="tx1"/>
              </a:solidFill>
              <a:effectLst>
                <a:outerShdw blurRad="38100" dist="19050" dir="2700000" algn="tl" rotWithShape="0">
                  <a:schemeClr val="dk1">
                    <a:alpha val="40000"/>
                  </a:schemeClr>
                </a:outerShdw>
              </a:effectLst>
            </a:endParaRPr>
          </a:p>
          <a:p>
            <a:endParaRPr lang="zh-CN" altLang="en-US" sz="3200" b="1" dirty="0">
              <a:ln/>
              <a:solidFill>
                <a:schemeClr val="tx1"/>
              </a:solidFill>
              <a:effectLst>
                <a:outerShdw blurRad="38100" dist="19050" dir="2700000" algn="tl" rotWithShape="0">
                  <a:schemeClr val="dk1">
                    <a:alpha val="40000"/>
                  </a:schemeClr>
                </a:outerShdw>
              </a:effectLst>
            </a:endParaRPr>
          </a:p>
          <a:p>
            <a:pPr algn="l"/>
            <a:r>
              <a:rPr lang="zh-CN" altLang="en-US" sz="3200" b="1" dirty="0">
                <a:ln/>
                <a:solidFill>
                  <a:schemeClr val="tx1"/>
                </a:solidFill>
                <a:effectLst>
                  <a:outerShdw blurRad="38100" dist="19050" dir="2700000" algn="tl" rotWithShape="0">
                    <a:schemeClr val="dk1">
                      <a:alpha val="40000"/>
                    </a:schemeClr>
                  </a:outerShdw>
                </a:effectLst>
              </a:rPr>
              <a:t>第二章</a:t>
            </a:r>
            <a:r>
              <a:rPr lang="en-US" altLang="zh-CN" sz="3200" b="1" dirty="0">
                <a:ln/>
                <a:solidFill>
                  <a:schemeClr val="tx1"/>
                </a:solidFill>
                <a:effectLst>
                  <a:outerShdw blurRad="38100" dist="19050" dir="2700000" algn="tl" rotWithShape="0">
                    <a:schemeClr val="dk1">
                      <a:alpha val="40000"/>
                    </a:schemeClr>
                  </a:outerShdw>
                </a:effectLst>
              </a:rPr>
              <a:t>  </a:t>
            </a:r>
            <a:r>
              <a:rPr lang="zh-CN" altLang="en-US" sz="3200" b="1" dirty="0">
                <a:ln/>
                <a:solidFill>
                  <a:schemeClr val="tx1"/>
                </a:solidFill>
                <a:effectLst>
                  <a:outerShdw blurRad="38100" dist="19050" dir="2700000" algn="tl" rotWithShape="0">
                    <a:schemeClr val="dk1">
                      <a:alpha val="40000"/>
                    </a:schemeClr>
                  </a:outerShdw>
                </a:effectLst>
              </a:rPr>
              <a:t>计算机信息数字化基础</a:t>
            </a:r>
            <a:endParaRPr lang="en-US" altLang="zh-CN" sz="3200" b="1" dirty="0">
              <a:ln/>
              <a:solidFill>
                <a:schemeClr val="tx1"/>
              </a:solidFill>
              <a:effectLst>
                <a:outerShdw blurRad="38100" dist="19050" dir="2700000" algn="tl" rotWithShape="0">
                  <a:schemeClr val="dk1">
                    <a:alpha val="40000"/>
                  </a:schemeClr>
                </a:outerShdw>
              </a:effectLst>
            </a:endParaRPr>
          </a:p>
          <a:p>
            <a:pPr algn="l"/>
            <a:endParaRPr lang="en-US" altLang="zh-CN" sz="3200" b="1" dirty="0">
              <a:ln/>
              <a:solidFill>
                <a:schemeClr val="tx1"/>
              </a:solidFill>
              <a:effectLst>
                <a:outerShdw blurRad="38100" dist="19050" dir="2700000" algn="tl" rotWithShape="0">
                  <a:schemeClr val="dk1">
                    <a:alpha val="40000"/>
                  </a:schemeClr>
                </a:outerShdw>
              </a:effectLst>
            </a:endParaRPr>
          </a:p>
          <a:p>
            <a:pPr algn="l"/>
            <a:r>
              <a:rPr lang="zh-CN" altLang="en-US" sz="3200" b="1" dirty="0">
                <a:ln/>
                <a:solidFill>
                  <a:schemeClr val="tx1"/>
                </a:solidFill>
                <a:effectLst>
                  <a:outerShdw blurRad="38100" dist="19050" dir="2700000" algn="tl" rotWithShape="0">
                    <a:schemeClr val="dk1">
                      <a:alpha val="40000"/>
                    </a:schemeClr>
                  </a:outerShdw>
                </a:effectLst>
              </a:rPr>
              <a:t>第七章</a:t>
            </a:r>
            <a:r>
              <a:rPr lang="en-US" altLang="zh-CN" sz="3200" b="1" dirty="0">
                <a:ln/>
                <a:effectLst>
                  <a:outerShdw blurRad="38100" dist="19050" dir="2700000" algn="tl" rotWithShape="0">
                    <a:schemeClr val="dk1">
                      <a:alpha val="40000"/>
                    </a:schemeClr>
                  </a:outerShdw>
                </a:effectLst>
              </a:rPr>
              <a:t>  </a:t>
            </a:r>
            <a:r>
              <a:rPr lang="zh-CN" altLang="en-US" sz="3200" b="1" dirty="0">
                <a:ln/>
                <a:effectLst>
                  <a:outerShdw blurRad="38100" dist="19050" dir="2700000" algn="tl" rotWithShape="0">
                    <a:schemeClr val="dk1">
                      <a:alpha val="40000"/>
                    </a:schemeClr>
                  </a:outerShdw>
                </a:effectLst>
              </a:rPr>
              <a:t>计算与计算学科</a:t>
            </a:r>
            <a:endParaRPr lang="zh-CN" altLang="en-US" sz="3200" b="1" dirty="0">
              <a:ln/>
              <a:solidFill>
                <a:schemeClr val="tx1"/>
              </a:solidFill>
              <a:effectLst>
                <a:outerShdw blurRad="38100" dist="19050" dir="2700000" algn="tl" rotWithShape="0">
                  <a:schemeClr val="dk1">
                    <a:alpha val="40000"/>
                  </a:schemeClr>
                </a:outerShdw>
              </a:effectLst>
            </a:endParaRPr>
          </a:p>
        </p:txBody>
      </p:sp>
      <p:sp>
        <p:nvSpPr>
          <p:cNvPr id="4" name="文本框 3"/>
          <p:cNvSpPr txBox="1"/>
          <p:nvPr/>
        </p:nvSpPr>
        <p:spPr>
          <a:xfrm>
            <a:off x="8504555" y="5601970"/>
            <a:ext cx="1751965" cy="418465"/>
          </a:xfrm>
          <a:prstGeom prst="rect">
            <a:avLst/>
          </a:prstGeom>
          <a:noFill/>
        </p:spPr>
        <p:txBody>
          <a:bodyPr wrap="square" rtlCol="0">
            <a:noAutofit/>
          </a:bodyPr>
          <a:lstStyle/>
          <a:p>
            <a:r>
              <a:rPr lang="en-US" altLang="zh-CN" b="1"/>
              <a:t>2023.12.15</a:t>
            </a:r>
          </a:p>
        </p:txBody>
      </p:sp>
      <p:pic>
        <p:nvPicPr>
          <p:cNvPr id="15" name="图形 13">
            <a:extLst>
              <a:ext uri="{FF2B5EF4-FFF2-40B4-BE49-F238E27FC236}">
                <a16:creationId xmlns:a16="http://schemas.microsoft.com/office/drawing/2014/main" id="{952AF0FC-A2D9-4191-9231-B2C0BE5714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9154" y="6219714"/>
            <a:ext cx="2457450" cy="542925"/>
          </a:xfrm>
          <a:prstGeom prst="rect">
            <a:avLst/>
          </a:prstGeom>
        </p:spPr>
      </p:pic>
      <p:sp>
        <p:nvSpPr>
          <p:cNvPr id="16" name="文本框 15">
            <a:extLst>
              <a:ext uri="{FF2B5EF4-FFF2-40B4-BE49-F238E27FC236}">
                <a16:creationId xmlns:a16="http://schemas.microsoft.com/office/drawing/2014/main" id="{9D4F75B1-DF51-4FC9-899F-03ADEF0080A6}"/>
              </a:ext>
            </a:extLst>
          </p:cNvPr>
          <p:cNvSpPr txBox="1"/>
          <p:nvPr/>
        </p:nvSpPr>
        <p:spPr>
          <a:xfrm>
            <a:off x="5053330" y="6322695"/>
            <a:ext cx="3491865" cy="398780"/>
          </a:xfrm>
          <a:prstGeom prst="rect">
            <a:avLst/>
          </a:prstGeom>
          <a:noFill/>
        </p:spPr>
        <p:txBody>
          <a:bodyPr wrap="square" rtlCol="0">
            <a:spAutoFit/>
          </a:bodyPr>
          <a:lstStyle/>
          <a:p>
            <a:r>
              <a:rPr lang="zh-CN" altLang="en-US" sz="2000" dirty="0">
                <a:latin typeface="汉仪黑方简" panose="00020600040101010101" charset="-122"/>
                <a:ea typeface="汉仪黑方简" panose="00020600040101010101" charset="-122"/>
              </a:rPr>
              <a:t>网络开拓者协会</a:t>
            </a:r>
          </a:p>
        </p:txBody>
      </p:sp>
      <p:pic>
        <p:nvPicPr>
          <p:cNvPr id="17" name="图片 16" descr="联想截图_20231214002915">
            <a:extLst>
              <a:ext uri="{FF2B5EF4-FFF2-40B4-BE49-F238E27FC236}">
                <a16:creationId xmlns:a16="http://schemas.microsoft.com/office/drawing/2014/main" id="{26A3137B-133E-49FB-BDD3-ACC2CF67FE0B}"/>
              </a:ext>
            </a:extLst>
          </p:cNvPr>
          <p:cNvPicPr>
            <a:picLocks noChangeAspect="1"/>
          </p:cNvPicPr>
          <p:nvPr>
            <p:custDataLst>
              <p:tags r:id="rId1"/>
            </p:custDataLst>
          </p:nvPr>
        </p:nvPicPr>
        <p:blipFill>
          <a:blip r:embed="rId4"/>
          <a:stretch>
            <a:fillRect/>
          </a:stretch>
        </p:blipFill>
        <p:spPr>
          <a:xfrm>
            <a:off x="4435475" y="6219825"/>
            <a:ext cx="545465" cy="546735"/>
          </a:xfrm>
          <a:prstGeom prst="rect">
            <a:avLst/>
          </a:prstGeom>
        </p:spPr>
      </p:pic>
    </p:spTree>
    <p:extLst>
      <p:ext uri="{BB962C8B-B14F-4D97-AF65-F5344CB8AC3E}">
        <p14:creationId xmlns:p14="http://schemas.microsoft.com/office/powerpoint/2010/main" val="18757522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rPr>
              <a:t>计算思维</a:t>
            </a:r>
            <a:endParaRPr kumimoji="0" lang="en-US" altLang="zh-CN" sz="3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endParaRP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21" name="Rectangle 4">
            <a:extLst>
              <a:ext uri="{FF2B5EF4-FFF2-40B4-BE49-F238E27FC236}">
                <a16:creationId xmlns:a16="http://schemas.microsoft.com/office/drawing/2014/main" id="{0B431F06-C932-428C-9722-E5F8F712C5D3}"/>
              </a:ext>
            </a:extLst>
          </p:cNvPr>
          <p:cNvSpPr>
            <a:spLocks noChangeArrowheads="1"/>
          </p:cNvSpPr>
          <p:nvPr/>
        </p:nvSpPr>
        <p:spPr bwMode="auto">
          <a:xfrm>
            <a:off x="1820863" y="1032843"/>
            <a:ext cx="8678863" cy="585788"/>
          </a:xfrm>
          <a:prstGeom prst="rect">
            <a:avLst/>
          </a:prstGeom>
          <a:solidFill>
            <a:schemeClr val="accent5">
              <a:lumMod val="20000"/>
              <a:lumOff val="80000"/>
            </a:schemeClr>
          </a:solidFill>
          <a:ln w="9525">
            <a:noFill/>
            <a:miter lim="800000"/>
          </a:ln>
        </p:spPr>
        <p:txBody>
          <a:bodyPr>
            <a:spAutoFit/>
          </a:bodyPr>
          <a:lstStyle/>
          <a:p>
            <a:pPr marL="0" marR="0" lvl="0" indent="269875" algn="just" defTabSz="914400" rtl="0" eaLnBrk="0" fontAlgn="base" latinLnBrk="0" hangingPunct="0">
              <a:lnSpc>
                <a:spcPct val="100000"/>
              </a:lnSpc>
              <a:spcBef>
                <a:spcPct val="15000"/>
              </a:spcBef>
              <a:spcAft>
                <a:spcPct val="0"/>
              </a:spcAft>
              <a:buClrTx/>
              <a:buSzTx/>
              <a:buFontTx/>
              <a:buNone/>
              <a:defRPr/>
            </a:pPr>
            <a:r>
              <a:rPr kumimoji="1" lang="zh-CN" altLang="en-US" sz="3200" b="1" i="0" u="none" strike="noStrike" kern="1200" cap="none" spc="0" normalizeH="0" baseline="0" noProof="0" dirty="0">
                <a:ln>
                  <a:noFill/>
                </a:ln>
                <a:solidFill>
                  <a:srgbClr val="002060"/>
                </a:solidFill>
                <a:effectLst/>
                <a:uLnTx/>
                <a:uFillTx/>
                <a:latin typeface="楷体_GB2312" pitchFamily="49" charset="-122"/>
                <a:ea typeface="楷体_GB2312" pitchFamily="49" charset="-122"/>
                <a:cs typeface="+mn-cs"/>
              </a:rPr>
              <a:t>科学研究的三大方法是</a:t>
            </a:r>
            <a:r>
              <a:rPr kumimoji="1" lang="zh-CN" altLang="en-US" sz="3200" b="1" i="0" u="none" strike="noStrike" kern="1200" cap="none" spc="0" normalizeH="0" baseline="0" noProof="0" dirty="0">
                <a:ln>
                  <a:noFill/>
                </a:ln>
                <a:solidFill>
                  <a:srgbClr val="0000FF"/>
                </a:solidFill>
                <a:effectLst/>
                <a:uLnTx/>
                <a:uFillTx/>
                <a:latin typeface="楷体_GB2312" pitchFamily="49" charset="-122"/>
                <a:ea typeface="楷体_GB2312" pitchFamily="49" charset="-122"/>
                <a:cs typeface="+mn-cs"/>
              </a:rPr>
              <a:t>理论、实验</a:t>
            </a:r>
            <a:r>
              <a:rPr kumimoji="1" lang="zh-CN" altLang="en-US" sz="3200" b="1" i="0" u="none" strike="noStrike" kern="1200" cap="none" spc="0" normalizeH="0" baseline="0" noProof="0" dirty="0">
                <a:ln>
                  <a:noFill/>
                </a:ln>
                <a:solidFill>
                  <a:srgbClr val="002060"/>
                </a:solidFill>
                <a:effectLst/>
                <a:uLnTx/>
                <a:uFillTx/>
                <a:latin typeface="楷体_GB2312" pitchFamily="49" charset="-122"/>
                <a:ea typeface="楷体_GB2312" pitchFamily="49" charset="-122"/>
                <a:cs typeface="+mn-cs"/>
              </a:rPr>
              <a:t>和</a:t>
            </a:r>
            <a:r>
              <a:rPr kumimoji="1" lang="zh-CN" altLang="en-US" sz="3200" b="1" i="0" u="none" strike="noStrike" kern="1200" cap="none" spc="0" normalizeH="0" baseline="0" noProof="0" dirty="0">
                <a:ln>
                  <a:noFill/>
                </a:ln>
                <a:solidFill>
                  <a:srgbClr val="0000FF"/>
                </a:solidFill>
                <a:effectLst/>
                <a:uLnTx/>
                <a:uFillTx/>
                <a:latin typeface="楷体_GB2312" pitchFamily="49" charset="-122"/>
                <a:ea typeface="楷体_GB2312" pitchFamily="49" charset="-122"/>
                <a:cs typeface="+mn-cs"/>
              </a:rPr>
              <a:t>计算</a:t>
            </a:r>
            <a:endParaRPr kumimoji="1" lang="en-US" altLang="zh-CN" sz="3200" b="1" i="0" u="none" strike="noStrike" kern="1200" cap="none" spc="0" normalizeH="0" baseline="0" noProof="0" dirty="0">
              <a:ln>
                <a:noFill/>
              </a:ln>
              <a:solidFill>
                <a:srgbClr val="0000FF"/>
              </a:solidFill>
              <a:effectLst/>
              <a:uLnTx/>
              <a:uFillTx/>
              <a:latin typeface="楷体_GB2312" pitchFamily="49" charset="-122"/>
              <a:ea typeface="楷体_GB2312" pitchFamily="49" charset="-122"/>
              <a:cs typeface="+mn-cs"/>
            </a:endParaRPr>
          </a:p>
        </p:txBody>
      </p:sp>
      <p:sp>
        <p:nvSpPr>
          <p:cNvPr id="22" name="AutoShape 8">
            <a:extLst>
              <a:ext uri="{FF2B5EF4-FFF2-40B4-BE49-F238E27FC236}">
                <a16:creationId xmlns:a16="http://schemas.microsoft.com/office/drawing/2014/main" id="{6F4EEE83-2014-4CEC-A863-6E10C991EFE6}"/>
              </a:ext>
            </a:extLst>
          </p:cNvPr>
          <p:cNvSpPr/>
          <p:nvPr/>
        </p:nvSpPr>
        <p:spPr>
          <a:xfrm>
            <a:off x="2424113" y="2123455"/>
            <a:ext cx="295275" cy="2159000"/>
          </a:xfrm>
          <a:prstGeom prst="leftBrace">
            <a:avLst>
              <a:gd name="adj1" fmla="val 62726"/>
              <a:gd name="adj2" fmla="val 50000"/>
            </a:avLst>
          </a:prstGeom>
          <a:noFill/>
          <a:ln w="38100" cap="flat" cmpd="sng">
            <a:solidFill>
              <a:schemeClr val="tx1"/>
            </a:solidFill>
            <a:prstDash val="solid"/>
            <a:headEnd type="none" w="med" len="med"/>
            <a:tailEnd type="none" w="med" len="med"/>
          </a:ln>
        </p:spPr>
        <p:txBody>
          <a:bodyPr wrap="none" anchor="ctr" anchorCtr="0"/>
          <a:lstStyle/>
          <a:p>
            <a:pPr algn="ctr"/>
            <a:endParaRPr lang="zh-CN" altLang="en-US" sz="2400" b="1" dirty="0">
              <a:latin typeface="楷体_GB2312" pitchFamily="49" charset="-122"/>
              <a:ea typeface="楷体_GB2312" pitchFamily="49" charset="-122"/>
            </a:endParaRPr>
          </a:p>
        </p:txBody>
      </p:sp>
      <p:sp>
        <p:nvSpPr>
          <p:cNvPr id="23" name="Rectangle 9">
            <a:extLst>
              <a:ext uri="{FF2B5EF4-FFF2-40B4-BE49-F238E27FC236}">
                <a16:creationId xmlns:a16="http://schemas.microsoft.com/office/drawing/2014/main" id="{01B02FD9-64F9-409B-931C-2B9022C5C313}"/>
              </a:ext>
            </a:extLst>
          </p:cNvPr>
          <p:cNvSpPr/>
          <p:nvPr/>
        </p:nvSpPr>
        <p:spPr>
          <a:xfrm>
            <a:off x="2424113" y="1902793"/>
            <a:ext cx="7902575" cy="887412"/>
          </a:xfrm>
          <a:prstGeom prst="rect">
            <a:avLst/>
          </a:prstGeom>
          <a:noFill/>
          <a:ln w="9525">
            <a:noFill/>
          </a:ln>
        </p:spPr>
        <p:txBody>
          <a:bodyPr>
            <a:spAutoFit/>
          </a:bodyPr>
          <a:lstStyle/>
          <a:p>
            <a:pPr indent="269875">
              <a:spcBef>
                <a:spcPct val="15000"/>
              </a:spcBef>
            </a:pPr>
            <a:r>
              <a:rPr lang="zh-CN" altLang="en-US" sz="2400" b="1" dirty="0">
                <a:solidFill>
                  <a:srgbClr val="0000FF"/>
                </a:solidFill>
                <a:latin typeface="楷体_GB2312" pitchFamily="49" charset="-122"/>
                <a:ea typeface="楷体_GB2312" pitchFamily="49" charset="-122"/>
              </a:rPr>
              <a:t>理论思维（逻辑思维）</a:t>
            </a:r>
            <a:r>
              <a:rPr lang="zh-CN" altLang="en-US" sz="2400" b="1" dirty="0">
                <a:solidFill>
                  <a:srgbClr val="000066"/>
                </a:solidFill>
                <a:latin typeface="楷体_GB2312" pitchFamily="49" charset="-122"/>
                <a:ea typeface="楷体_GB2312" pitchFamily="49" charset="-122"/>
              </a:rPr>
              <a:t>特征：推理和演绎</a:t>
            </a:r>
          </a:p>
          <a:p>
            <a:pPr indent="269875">
              <a:spcBef>
                <a:spcPct val="15000"/>
              </a:spcBef>
            </a:pPr>
            <a:r>
              <a:rPr lang="zh-CN" altLang="en-US" sz="2400" b="1" dirty="0">
                <a:solidFill>
                  <a:srgbClr val="000066"/>
                </a:solidFill>
                <a:latin typeface="楷体_GB2312" pitchFamily="49" charset="-122"/>
                <a:ea typeface="楷体_GB2312" pitchFamily="49" charset="-122"/>
              </a:rPr>
              <a:t>                    </a:t>
            </a:r>
            <a:r>
              <a:rPr lang="zh-CN" altLang="en-US" sz="2400" b="1" dirty="0">
                <a:solidFill>
                  <a:srgbClr val="CC0099"/>
                </a:solidFill>
                <a:latin typeface="楷体_GB2312" pitchFamily="49" charset="-122"/>
                <a:ea typeface="楷体_GB2312" pitchFamily="49" charset="-122"/>
              </a:rPr>
              <a:t>代表学科：数学学科（推理）</a:t>
            </a:r>
            <a:r>
              <a:rPr lang="zh-CN" altLang="en-US" sz="2400" b="1" dirty="0">
                <a:latin typeface="楷体_GB2312" pitchFamily="49" charset="-122"/>
                <a:ea typeface="楷体_GB2312" pitchFamily="49" charset="-122"/>
              </a:rPr>
              <a:t> </a:t>
            </a:r>
            <a:endParaRPr lang="zh-CN" altLang="en-US" sz="2400" b="1" dirty="0">
              <a:solidFill>
                <a:srgbClr val="000066"/>
              </a:solidFill>
              <a:latin typeface="楷体_GB2312" pitchFamily="49" charset="-122"/>
              <a:ea typeface="楷体_GB2312" pitchFamily="49" charset="-122"/>
            </a:endParaRPr>
          </a:p>
        </p:txBody>
      </p:sp>
      <p:sp>
        <p:nvSpPr>
          <p:cNvPr id="24" name="Rectangle 10">
            <a:extLst>
              <a:ext uri="{FF2B5EF4-FFF2-40B4-BE49-F238E27FC236}">
                <a16:creationId xmlns:a16="http://schemas.microsoft.com/office/drawing/2014/main" id="{E1540EE9-F178-46CA-AA4D-49C10DF9E174}"/>
              </a:ext>
            </a:extLst>
          </p:cNvPr>
          <p:cNvSpPr/>
          <p:nvPr/>
        </p:nvSpPr>
        <p:spPr>
          <a:xfrm>
            <a:off x="2424113" y="2915618"/>
            <a:ext cx="7948612" cy="887412"/>
          </a:xfrm>
          <a:prstGeom prst="rect">
            <a:avLst/>
          </a:prstGeom>
          <a:noFill/>
          <a:ln w="9525">
            <a:noFill/>
          </a:ln>
        </p:spPr>
        <p:txBody>
          <a:bodyPr>
            <a:spAutoFit/>
          </a:bodyPr>
          <a:lstStyle/>
          <a:p>
            <a:pPr indent="269875">
              <a:spcBef>
                <a:spcPct val="15000"/>
              </a:spcBef>
            </a:pPr>
            <a:r>
              <a:rPr lang="zh-CN" altLang="en-US" sz="2400" b="1" dirty="0">
                <a:solidFill>
                  <a:srgbClr val="0000FF"/>
                </a:solidFill>
                <a:latin typeface="楷体_GB2312" pitchFamily="49" charset="-122"/>
                <a:ea typeface="楷体_GB2312" pitchFamily="49" charset="-122"/>
              </a:rPr>
              <a:t>实验思维（实证思维）</a:t>
            </a:r>
            <a:r>
              <a:rPr lang="zh-CN" altLang="en-US" sz="2400" b="1" dirty="0">
                <a:solidFill>
                  <a:srgbClr val="000066"/>
                </a:solidFill>
                <a:latin typeface="楷体_GB2312" pitchFamily="49" charset="-122"/>
                <a:ea typeface="楷体_GB2312" pitchFamily="49" charset="-122"/>
              </a:rPr>
              <a:t>特征：观察和总结自然规律</a:t>
            </a:r>
          </a:p>
          <a:p>
            <a:pPr indent="269875">
              <a:spcBef>
                <a:spcPct val="15000"/>
              </a:spcBef>
            </a:pPr>
            <a:r>
              <a:rPr lang="zh-CN" altLang="en-US" sz="2400" b="1" dirty="0">
                <a:solidFill>
                  <a:srgbClr val="000066"/>
                </a:solidFill>
                <a:latin typeface="楷体_GB2312" pitchFamily="49" charset="-122"/>
                <a:ea typeface="楷体_GB2312" pitchFamily="49" charset="-122"/>
              </a:rPr>
              <a:t>                    </a:t>
            </a:r>
            <a:r>
              <a:rPr lang="zh-CN" altLang="en-US" sz="2400" b="1" dirty="0">
                <a:solidFill>
                  <a:srgbClr val="CC0099"/>
                </a:solidFill>
                <a:latin typeface="楷体_GB2312" pitchFamily="49" charset="-122"/>
                <a:ea typeface="楷体_GB2312" pitchFamily="49" charset="-122"/>
              </a:rPr>
              <a:t>代表学科：物理学科（归纳）</a:t>
            </a:r>
          </a:p>
        </p:txBody>
      </p:sp>
      <p:sp>
        <p:nvSpPr>
          <p:cNvPr id="25" name="Rectangle 11">
            <a:extLst>
              <a:ext uri="{FF2B5EF4-FFF2-40B4-BE49-F238E27FC236}">
                <a16:creationId xmlns:a16="http://schemas.microsoft.com/office/drawing/2014/main" id="{3A5256C0-1092-415E-A34E-BE99618F74BA}"/>
              </a:ext>
            </a:extLst>
          </p:cNvPr>
          <p:cNvSpPr/>
          <p:nvPr/>
        </p:nvSpPr>
        <p:spPr>
          <a:xfrm>
            <a:off x="2424113" y="3925268"/>
            <a:ext cx="8243887" cy="887412"/>
          </a:xfrm>
          <a:prstGeom prst="rect">
            <a:avLst/>
          </a:prstGeom>
          <a:noFill/>
          <a:ln w="9525">
            <a:noFill/>
          </a:ln>
        </p:spPr>
        <p:txBody>
          <a:bodyPr>
            <a:spAutoFit/>
          </a:bodyPr>
          <a:lstStyle/>
          <a:p>
            <a:pPr indent="269875" eaLnBrk="1" hangingPunct="1">
              <a:spcBef>
                <a:spcPct val="15000"/>
              </a:spcBef>
            </a:pPr>
            <a:r>
              <a:rPr lang="zh-CN" altLang="en-US" sz="2400" b="1" dirty="0">
                <a:solidFill>
                  <a:srgbClr val="0000FF"/>
                </a:solidFill>
                <a:latin typeface="楷体_GB2312" pitchFamily="49" charset="-122"/>
                <a:ea typeface="楷体_GB2312" pitchFamily="49" charset="-122"/>
              </a:rPr>
              <a:t>计算思维（构造思维）</a:t>
            </a:r>
            <a:r>
              <a:rPr lang="zh-CN" altLang="en-US" sz="2400" b="1" dirty="0">
                <a:solidFill>
                  <a:srgbClr val="000066"/>
                </a:solidFill>
                <a:latin typeface="楷体_GB2312" pitchFamily="49" charset="-122"/>
                <a:ea typeface="楷体_GB2312" pitchFamily="49" charset="-122"/>
              </a:rPr>
              <a:t>特征：设计和构造</a:t>
            </a:r>
          </a:p>
          <a:p>
            <a:pPr indent="269875" eaLnBrk="1" hangingPunct="1">
              <a:spcBef>
                <a:spcPct val="15000"/>
              </a:spcBef>
            </a:pPr>
            <a:r>
              <a:rPr lang="zh-CN" altLang="en-US" sz="2400" b="1" dirty="0">
                <a:solidFill>
                  <a:srgbClr val="000066"/>
                </a:solidFill>
                <a:latin typeface="楷体_GB2312" pitchFamily="49" charset="-122"/>
                <a:ea typeface="楷体_GB2312" pitchFamily="49" charset="-122"/>
              </a:rPr>
              <a:t>                    </a:t>
            </a:r>
            <a:r>
              <a:rPr lang="zh-CN" altLang="en-US" sz="2400" b="1" dirty="0">
                <a:solidFill>
                  <a:srgbClr val="CC0099"/>
                </a:solidFill>
                <a:latin typeface="楷体_GB2312" pitchFamily="49" charset="-122"/>
                <a:ea typeface="楷体_GB2312" pitchFamily="49" charset="-122"/>
              </a:rPr>
              <a:t>代表学科：计算机学科（自动求解） </a:t>
            </a:r>
          </a:p>
        </p:txBody>
      </p:sp>
      <p:sp>
        <p:nvSpPr>
          <p:cNvPr id="26" name="矩形 25">
            <a:extLst>
              <a:ext uri="{FF2B5EF4-FFF2-40B4-BE49-F238E27FC236}">
                <a16:creationId xmlns:a16="http://schemas.microsoft.com/office/drawing/2014/main" id="{907CD057-BBEB-4A13-857B-16B3886515C2}"/>
              </a:ext>
            </a:extLst>
          </p:cNvPr>
          <p:cNvSpPr/>
          <p:nvPr/>
        </p:nvSpPr>
        <p:spPr bwMode="auto">
          <a:xfrm>
            <a:off x="1881188" y="4974605"/>
            <a:ext cx="8572500" cy="785813"/>
          </a:xfrm>
          <a:prstGeom prst="rect">
            <a:avLst/>
          </a:prstGeom>
          <a:solidFill>
            <a:schemeClr val="accent1">
              <a:lumMod val="20000"/>
              <a:lumOff val="80000"/>
            </a:schemeClr>
          </a:solidFill>
          <a:ln w="9525" cap="flat" cmpd="sng" algn="ctr">
            <a:solidFill>
              <a:schemeClr val="accent1"/>
            </a:solidFill>
            <a:prstDash val="solid"/>
            <a:round/>
            <a:headEnd type="none" w="med" len="med"/>
            <a:tailEnd type="none" w="med" len="med"/>
          </a:ln>
          <a:effectLst/>
        </p:spPr>
        <p:txBody>
          <a:bodyPr wrap="none" lIns="90000" tIns="46800" rIns="90000" bIns="4680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3600" b="1" i="0" u="none" strike="noStrike" kern="1200" cap="none" spc="0" normalizeH="0" baseline="0" noProof="0" dirty="0">
                <a:ln>
                  <a:noFill/>
                </a:ln>
                <a:solidFill>
                  <a:schemeClr val="accent2">
                    <a:lumMod val="50000"/>
                  </a:schemeClr>
                </a:solidFill>
                <a:effectLst/>
                <a:uLnTx/>
                <a:uFillTx/>
                <a:latin typeface="+mj-ea"/>
                <a:ea typeface="+mj-ea"/>
                <a:cs typeface="+mn-cs"/>
              </a:rPr>
              <a:t>计算思维的本质是抽象和自动化</a:t>
            </a:r>
          </a:p>
        </p:txBody>
      </p:sp>
      <p:pic>
        <p:nvPicPr>
          <p:cNvPr id="15" name="图片 14" descr="联想截图_20231214002915">
            <a:extLst>
              <a:ext uri="{FF2B5EF4-FFF2-40B4-BE49-F238E27FC236}">
                <a16:creationId xmlns:a16="http://schemas.microsoft.com/office/drawing/2014/main" id="{18DA2B12-D39E-426F-AA2A-97422B81C9EC}"/>
              </a:ext>
            </a:extLst>
          </p:cNvPr>
          <p:cNvPicPr>
            <a:picLocks noChangeAspect="1"/>
          </p:cNvPicPr>
          <p:nvPr>
            <p:custDataLst>
              <p:tags r:id="rId1"/>
            </p:custDataLst>
          </p:nvPr>
        </p:nvPicPr>
        <p:blipFill>
          <a:blip r:embed="rId5"/>
          <a:stretch>
            <a:fillRect/>
          </a:stretch>
        </p:blipFill>
        <p:spPr>
          <a:xfrm>
            <a:off x="4435475" y="6219825"/>
            <a:ext cx="545465" cy="546735"/>
          </a:xfrm>
          <a:prstGeom prst="rect">
            <a:avLst/>
          </a:prstGeom>
        </p:spPr>
      </p:pic>
    </p:spTree>
    <p:extLst>
      <p:ext uri="{BB962C8B-B14F-4D97-AF65-F5344CB8AC3E}">
        <p14:creationId xmlns:p14="http://schemas.microsoft.com/office/powerpoint/2010/main" val="3234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box(in)">
                                      <p:cBhvr>
                                        <p:cTn id="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6331"/>
          </a:xfrm>
          <a:prstGeom prst="rect">
            <a:avLst/>
          </a:prstGeom>
          <a:noFill/>
        </p:spPr>
        <p:txBody>
          <a:bodyPr wrap="square" rtlCol="0">
            <a:spAutoFit/>
          </a:bodyPr>
          <a:lstStyle/>
          <a:p>
            <a:pPr lvl="0">
              <a:defRPr/>
            </a:pPr>
            <a:r>
              <a:rPr kumimoji="1" lang="zh-CN" altLang="en-US" sz="3600" b="1" dirty="0">
                <a:solidFill>
                  <a:srgbClr val="3333CC"/>
                </a:solidFill>
                <a:latin typeface="华文楷体" panose="02010600040101010101" pitchFamily="2" charset="-122"/>
                <a:ea typeface="华文楷体" panose="02010600040101010101" pitchFamily="2" charset="-122"/>
              </a:rPr>
              <a:t>面向计算机的问题抽象</a:t>
            </a:r>
            <a:endParaRPr kumimoji="0" lang="en-US" altLang="zh-CN"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endParaRP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41" name="Text Box 24">
            <a:extLst>
              <a:ext uri="{FF2B5EF4-FFF2-40B4-BE49-F238E27FC236}">
                <a16:creationId xmlns:a16="http://schemas.microsoft.com/office/drawing/2014/main" id="{8C6E96B6-EF26-4AD7-A073-BFB62AB18BA2}"/>
              </a:ext>
            </a:extLst>
          </p:cNvPr>
          <p:cNvSpPr txBox="1">
            <a:spLocks noChangeArrowheads="1"/>
          </p:cNvSpPr>
          <p:nvPr/>
        </p:nvSpPr>
        <p:spPr bwMode="auto">
          <a:xfrm>
            <a:off x="1996262" y="2189562"/>
            <a:ext cx="9043081" cy="525401"/>
          </a:xfrm>
          <a:prstGeom prst="rect">
            <a:avLst/>
          </a:prstGeom>
          <a:noFill/>
          <a:ln>
            <a:noFill/>
          </a:ln>
          <a:effectLst>
            <a:prstShdw prst="shdw17" dist="17961" dir="2700000">
              <a:schemeClr val="accent1">
                <a:gamma/>
                <a:shade val="60000"/>
                <a:invGamma/>
              </a:schemeClr>
            </a:prstShdw>
          </a:effectLst>
        </p:spPr>
        <p:txBody>
          <a:bodyPr wrap="square" lIns="90000" tIns="46800" rIns="90000" bIns="46800">
            <a:spAutoFit/>
          </a:bodyPr>
          <a:lstStyle/>
          <a:p>
            <a:pPr marR="0" defTabSz="914400" eaLnBrk="1" hangingPunct="1">
              <a:spcBef>
                <a:spcPct val="50000"/>
              </a:spcBef>
              <a:buClrTx/>
              <a:buSzTx/>
              <a:buFontTx/>
              <a:buNone/>
              <a:defRPr/>
            </a:pPr>
            <a:r>
              <a:rPr kumimoji="1" lang="zh-CN" altLang="en-US" sz="2800" b="1" kern="1200" cap="none" spc="0" normalizeH="0" baseline="0" noProof="0" dirty="0">
                <a:latin typeface="华文楷体" panose="02010600040101010101" pitchFamily="2" charset="-122"/>
                <a:ea typeface="华文楷体" panose="02010600040101010101" pitchFamily="2" charset="-122"/>
                <a:cs typeface="+mn-cs"/>
              </a:rPr>
              <a:t>计算机抽象包括：</a:t>
            </a:r>
            <a:r>
              <a:rPr kumimoji="1" lang="zh-CN" altLang="en-US" sz="2800" b="1" kern="1200" cap="none" spc="0" normalizeH="0" baseline="0" noProof="0" dirty="0">
                <a:solidFill>
                  <a:srgbClr val="FF0000"/>
                </a:solidFill>
                <a:latin typeface="华文楷体" panose="02010600040101010101" pitchFamily="2" charset="-122"/>
                <a:ea typeface="华文楷体" panose="02010600040101010101" pitchFamily="2" charset="-122"/>
                <a:cs typeface="+mn-cs"/>
              </a:rPr>
              <a:t>过程抽象  数据抽象</a:t>
            </a:r>
          </a:p>
        </p:txBody>
      </p:sp>
      <p:sp>
        <p:nvSpPr>
          <p:cNvPr id="42" name="Text Box 24">
            <a:extLst>
              <a:ext uri="{FF2B5EF4-FFF2-40B4-BE49-F238E27FC236}">
                <a16:creationId xmlns:a16="http://schemas.microsoft.com/office/drawing/2014/main" id="{F1AB2CEC-2B5C-4EA6-A566-699C72E1EC9D}"/>
              </a:ext>
            </a:extLst>
          </p:cNvPr>
          <p:cNvSpPr txBox="1">
            <a:spLocks noChangeArrowheads="1"/>
          </p:cNvSpPr>
          <p:nvPr/>
        </p:nvSpPr>
        <p:spPr bwMode="auto">
          <a:xfrm>
            <a:off x="1996261" y="3157558"/>
            <a:ext cx="9043080" cy="2218172"/>
          </a:xfrm>
          <a:prstGeom prst="rect">
            <a:avLst/>
          </a:prstGeom>
          <a:noFill/>
          <a:ln>
            <a:noFill/>
          </a:ln>
          <a:effectLst>
            <a:prstShdw prst="shdw17" dist="17961" dir="2700000">
              <a:schemeClr val="accent1">
                <a:gamma/>
                <a:shade val="60000"/>
                <a:invGamma/>
              </a:schemeClr>
            </a:prstShdw>
          </a:effectLst>
        </p:spPr>
        <p:txBody>
          <a:bodyPr wrap="square" lIns="90000" tIns="46800" rIns="90000" bIns="46800">
            <a:spAutoFit/>
          </a:bodyPr>
          <a:lstStyle/>
          <a:p>
            <a:pPr marL="457200" marR="0" indent="-457200" defTabSz="914400" eaLnBrk="1" hangingPunct="1">
              <a:spcBef>
                <a:spcPct val="50000"/>
              </a:spcBef>
              <a:buClr>
                <a:srgbClr val="C00000"/>
              </a:buClr>
              <a:buSzTx/>
              <a:buFont typeface="Wingdings" panose="05000000000000000000" pitchFamily="2" charset="2"/>
              <a:buChar char="§"/>
              <a:defRPr/>
            </a:pPr>
            <a:r>
              <a:rPr kumimoji="1" lang="zh-CN" altLang="en-US" sz="2400" b="1" kern="1200" cap="none" spc="0" normalizeH="0" baseline="0" noProof="0" dirty="0">
                <a:latin typeface="华文楷体" panose="02010600040101010101" pitchFamily="2" charset="-122"/>
                <a:ea typeface="华文楷体" panose="02010600040101010101" pitchFamily="2" charset="-122"/>
                <a:cs typeface="+mn-cs"/>
              </a:rPr>
              <a:t>过程抽象是针对对象的</a:t>
            </a:r>
            <a:r>
              <a:rPr kumimoji="1" lang="zh-CN" altLang="en-US" sz="2400" b="1" kern="1200" cap="none" spc="0" normalizeH="0" baseline="0" noProof="0" dirty="0">
                <a:solidFill>
                  <a:schemeClr val="accent5">
                    <a:lumMod val="75000"/>
                  </a:schemeClr>
                </a:solidFill>
                <a:latin typeface="华文楷体" panose="02010600040101010101" pitchFamily="2" charset="-122"/>
                <a:ea typeface="华文楷体" panose="02010600040101010101" pitchFamily="2" charset="-122"/>
                <a:cs typeface="+mn-cs"/>
              </a:rPr>
              <a:t>行为特征，抽象为方法（如双击鼠标、关闭窗口等）</a:t>
            </a:r>
            <a:endParaRPr kumimoji="1" lang="en-US" altLang="zh-CN" sz="2400" b="1" kern="1200" cap="none" spc="0" normalizeH="0" baseline="0" noProof="0" dirty="0">
              <a:solidFill>
                <a:schemeClr val="accent5">
                  <a:lumMod val="75000"/>
                </a:schemeClr>
              </a:solidFill>
              <a:latin typeface="华文楷体" panose="02010600040101010101" pitchFamily="2" charset="-122"/>
              <a:ea typeface="华文楷体" panose="02010600040101010101" pitchFamily="2" charset="-122"/>
              <a:cs typeface="+mn-cs"/>
            </a:endParaRPr>
          </a:p>
          <a:p>
            <a:pPr marL="457200" marR="0" indent="-457200" defTabSz="914400" eaLnBrk="1" hangingPunct="1">
              <a:spcBef>
                <a:spcPct val="50000"/>
              </a:spcBef>
              <a:buClr>
                <a:srgbClr val="C00000"/>
              </a:buClr>
              <a:buSzTx/>
              <a:buFont typeface="Wingdings" panose="05000000000000000000" pitchFamily="2" charset="2"/>
              <a:buChar char="§"/>
              <a:defRPr/>
            </a:pPr>
            <a:r>
              <a:rPr kumimoji="1" lang="zh-CN" altLang="en-US" sz="2400" b="1" kern="1200" cap="none" spc="0" normalizeH="0" baseline="0" noProof="0" dirty="0">
                <a:latin typeface="华文楷体" panose="02010600040101010101" pitchFamily="2" charset="-122"/>
                <a:ea typeface="华文楷体" panose="02010600040101010101" pitchFamily="2" charset="-122"/>
                <a:cs typeface="+mn-cs"/>
              </a:rPr>
              <a:t>数据抽象就是针对对象的</a:t>
            </a:r>
            <a:r>
              <a:rPr kumimoji="1" lang="zh-CN" altLang="en-US" sz="2400" b="1" kern="1200" cap="none" spc="0" normalizeH="0" baseline="0" noProof="0" dirty="0">
                <a:solidFill>
                  <a:schemeClr val="accent5">
                    <a:lumMod val="75000"/>
                  </a:schemeClr>
                </a:solidFill>
                <a:latin typeface="华文楷体" panose="02010600040101010101" pitchFamily="2" charset="-122"/>
                <a:ea typeface="华文楷体" panose="02010600040101010101" pitchFamily="2" charset="-122"/>
                <a:cs typeface="+mn-cs"/>
              </a:rPr>
              <a:t>属性（人：姓名、性别、年龄、身高等）</a:t>
            </a:r>
            <a:endParaRPr kumimoji="1" lang="en-US" altLang="zh-CN" sz="2400" b="1" kern="1200" cap="none" spc="0" normalizeH="0" baseline="0" noProof="0" dirty="0">
              <a:solidFill>
                <a:schemeClr val="accent5">
                  <a:lumMod val="75000"/>
                </a:schemeClr>
              </a:solidFill>
              <a:latin typeface="华文楷体" panose="02010600040101010101" pitchFamily="2" charset="-122"/>
              <a:ea typeface="华文楷体" panose="02010600040101010101" pitchFamily="2" charset="-122"/>
              <a:cs typeface="+mn-cs"/>
            </a:endParaRPr>
          </a:p>
          <a:p>
            <a:pPr marR="0" defTabSz="914400" eaLnBrk="1" hangingPunct="1">
              <a:spcBef>
                <a:spcPct val="50000"/>
              </a:spcBef>
              <a:buClrTx/>
              <a:buSzTx/>
              <a:buFontTx/>
              <a:buNone/>
              <a:defRPr/>
            </a:pPr>
            <a:endParaRPr kumimoji="1" lang="zh-CN" altLang="en-US" sz="2000" b="1" kern="1200" cap="none" spc="0" normalizeH="0" baseline="0" noProof="0" dirty="0">
              <a:latin typeface="华文楷体" panose="02010600040101010101" pitchFamily="2" charset="-122"/>
              <a:ea typeface="华文楷体" panose="02010600040101010101" pitchFamily="2" charset="-122"/>
              <a:cs typeface="+mn-cs"/>
            </a:endParaRPr>
          </a:p>
        </p:txBody>
      </p:sp>
      <p:pic>
        <p:nvPicPr>
          <p:cNvPr id="11" name="图片 10" descr="联想截图_20231214002915">
            <a:extLst>
              <a:ext uri="{FF2B5EF4-FFF2-40B4-BE49-F238E27FC236}">
                <a16:creationId xmlns:a16="http://schemas.microsoft.com/office/drawing/2014/main" id="{E3DEB88F-A709-40D5-B16F-95265DA4BA10}"/>
              </a:ext>
            </a:extLst>
          </p:cNvPr>
          <p:cNvPicPr>
            <a:picLocks noChangeAspect="1"/>
          </p:cNvPicPr>
          <p:nvPr>
            <p:custDataLst>
              <p:tags r:id="rId1"/>
            </p:custDataLst>
          </p:nvPr>
        </p:nvPicPr>
        <p:blipFill>
          <a:blip r:embed="rId5"/>
          <a:stretch>
            <a:fillRect/>
          </a:stretch>
        </p:blipFill>
        <p:spPr>
          <a:xfrm>
            <a:off x="4435475" y="6219825"/>
            <a:ext cx="545465" cy="546735"/>
          </a:xfrm>
          <a:prstGeom prst="rect">
            <a:avLst/>
          </a:prstGeom>
        </p:spPr>
      </p:pic>
    </p:spTree>
    <p:extLst>
      <p:ext uri="{BB962C8B-B14F-4D97-AF65-F5344CB8AC3E}">
        <p14:creationId xmlns:p14="http://schemas.microsoft.com/office/powerpoint/2010/main" val="33692008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6331"/>
          </a:xfrm>
          <a:prstGeom prst="rect">
            <a:avLst/>
          </a:prstGeom>
          <a:noFill/>
        </p:spPr>
        <p:txBody>
          <a:bodyPr wrap="square" rtlCol="0">
            <a:spAutoFit/>
          </a:bodyPr>
          <a:lstStyle/>
          <a:p>
            <a:pPr lvl="0">
              <a:defRPr/>
            </a:pPr>
            <a:r>
              <a:rPr kumimoji="1" lang="zh-CN" altLang="en-US" sz="3600" b="1" dirty="0">
                <a:solidFill>
                  <a:srgbClr val="3333CC"/>
                </a:solidFill>
                <a:latin typeface="华文楷体" panose="02010600040101010101" pitchFamily="2" charset="-122"/>
                <a:ea typeface="华文楷体" panose="02010600040101010101" pitchFamily="2" charset="-122"/>
              </a:rPr>
              <a:t>求解问题的</a:t>
            </a:r>
            <a:r>
              <a:rPr kumimoji="1" lang="zh-CN" altLang="en-US" sz="3600" b="1" dirty="0">
                <a:solidFill>
                  <a:srgbClr val="CC0066"/>
                </a:solidFill>
                <a:latin typeface="华文楷体" panose="02010600040101010101" pitchFamily="2" charset="-122"/>
                <a:ea typeface="华文楷体" panose="02010600040101010101" pitchFamily="2" charset="-122"/>
              </a:rPr>
              <a:t>程序方法</a:t>
            </a:r>
            <a:endParaRPr kumimoji="0" lang="en-US" altLang="zh-CN"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endParaRP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11" name="Text Box 24">
            <a:extLst>
              <a:ext uri="{FF2B5EF4-FFF2-40B4-BE49-F238E27FC236}">
                <a16:creationId xmlns:a16="http://schemas.microsoft.com/office/drawing/2014/main" id="{2CB92E31-FCFF-4EAC-8FE6-4D3442664191}"/>
              </a:ext>
            </a:extLst>
          </p:cNvPr>
          <p:cNvSpPr txBox="1">
            <a:spLocks noChangeArrowheads="1"/>
          </p:cNvSpPr>
          <p:nvPr/>
        </p:nvSpPr>
        <p:spPr bwMode="auto">
          <a:xfrm>
            <a:off x="1521350" y="1423409"/>
            <a:ext cx="7991475" cy="1817688"/>
          </a:xfrm>
          <a:prstGeom prst="rect">
            <a:avLst/>
          </a:prstGeom>
          <a:noFill/>
          <a:ln>
            <a:noFill/>
          </a:ln>
          <a:effectLst>
            <a:prstShdw prst="shdw17" dist="17961" dir="2700000">
              <a:schemeClr val="accent1">
                <a:gamma/>
                <a:shade val="60000"/>
                <a:invGamma/>
              </a:schemeClr>
            </a:prstShdw>
          </a:effectLst>
        </p:spPr>
        <p:txBody>
          <a:bodyPr lIns="90000" tIns="46800" rIns="90000" bIns="46800">
            <a:spAutoFit/>
          </a:bodyPr>
          <a:lstStyle/>
          <a:p>
            <a:pPr marR="0" defTabSz="914400" eaLnBrk="1" hangingPunct="1">
              <a:spcBef>
                <a:spcPct val="50000"/>
              </a:spcBef>
              <a:buClrTx/>
              <a:buSzTx/>
              <a:buFontTx/>
              <a:buNone/>
              <a:defRPr/>
            </a:pPr>
            <a:r>
              <a:rPr kumimoji="1" lang="zh-CN" altLang="en-US" sz="2800" b="1" kern="1200" cap="none" spc="0" normalizeH="0" baseline="0" noProof="0" dirty="0">
                <a:latin typeface="华文楷体" panose="02010600040101010101" pitchFamily="2" charset="-122"/>
                <a:ea typeface="华文楷体" panose="02010600040101010101" pitchFamily="2" charset="-122"/>
                <a:cs typeface="+mn-cs"/>
              </a:rPr>
              <a:t>通过编程解决问题。程序主要包含两方面信息：</a:t>
            </a:r>
            <a:endParaRPr kumimoji="1" lang="en-US" altLang="zh-CN" sz="2800" b="1" kern="1200" cap="none" spc="0" normalizeH="0" baseline="0" noProof="0" dirty="0">
              <a:latin typeface="华文楷体" panose="02010600040101010101" pitchFamily="2" charset="-122"/>
              <a:ea typeface="华文楷体" panose="02010600040101010101" pitchFamily="2" charset="-122"/>
              <a:cs typeface="+mn-cs"/>
            </a:endParaRPr>
          </a:p>
          <a:p>
            <a:pPr marR="0" defTabSz="914400" eaLnBrk="1" hangingPunct="1">
              <a:spcBef>
                <a:spcPct val="50000"/>
              </a:spcBef>
              <a:buClrTx/>
              <a:buSzTx/>
              <a:buFontTx/>
              <a:buNone/>
              <a:defRPr/>
            </a:pPr>
            <a:r>
              <a:rPr kumimoji="1" lang="zh-CN" altLang="en-US" sz="2800" b="1" kern="1200" cap="none" spc="0" normalizeH="0" baseline="0" noProof="0" dirty="0">
                <a:solidFill>
                  <a:srgbClr val="7030A0"/>
                </a:solidFill>
                <a:latin typeface="华文楷体" panose="02010600040101010101" pitchFamily="2" charset="-122"/>
                <a:ea typeface="华文楷体" panose="02010600040101010101" pitchFamily="2" charset="-122"/>
                <a:cs typeface="+mn-cs"/>
              </a:rPr>
              <a:t>（</a:t>
            </a:r>
            <a:r>
              <a:rPr kumimoji="1" lang="en-US" altLang="zh-CN" sz="2800" b="1" kern="1200" cap="none" spc="0" normalizeH="0" baseline="0" noProof="0" dirty="0">
                <a:solidFill>
                  <a:srgbClr val="7030A0"/>
                </a:solidFill>
                <a:latin typeface="华文楷体" panose="02010600040101010101" pitchFamily="2" charset="-122"/>
                <a:ea typeface="华文楷体" panose="02010600040101010101" pitchFamily="2" charset="-122"/>
                <a:cs typeface="+mn-cs"/>
              </a:rPr>
              <a:t>1</a:t>
            </a:r>
            <a:r>
              <a:rPr kumimoji="1" lang="zh-CN" altLang="en-US" sz="2800" b="1" kern="1200" cap="none" spc="0" normalizeH="0" baseline="0" noProof="0" dirty="0">
                <a:solidFill>
                  <a:srgbClr val="7030A0"/>
                </a:solidFill>
                <a:latin typeface="华文楷体" panose="02010600040101010101" pitchFamily="2" charset="-122"/>
                <a:ea typeface="华文楷体" panose="02010600040101010101" pitchFamily="2" charset="-122"/>
                <a:cs typeface="+mn-cs"/>
              </a:rPr>
              <a:t>）对程序中操作的描述</a:t>
            </a:r>
            <a:r>
              <a:rPr kumimoji="1" lang="en-US" altLang="zh-CN" sz="2800" b="1" kern="1200" cap="none" spc="0" normalizeH="0" baseline="0" noProof="0" dirty="0">
                <a:solidFill>
                  <a:srgbClr val="7030A0"/>
                </a:solidFill>
                <a:latin typeface="华文楷体" panose="02010600040101010101" pitchFamily="2" charset="-122"/>
                <a:ea typeface="华文楷体" panose="02010600040101010101" pitchFamily="2" charset="-122"/>
                <a:cs typeface="+mn-cs"/>
              </a:rPr>
              <a:t>——</a:t>
            </a:r>
            <a:r>
              <a:rPr kumimoji="1" lang="zh-CN" altLang="en-US" sz="2800" b="1" kern="1200" cap="none" spc="0" normalizeH="0" baseline="0" noProof="0" dirty="0">
                <a:solidFill>
                  <a:srgbClr val="CC0066"/>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cs typeface="+mn-cs"/>
              </a:rPr>
              <a:t>算法</a:t>
            </a:r>
            <a:endParaRPr kumimoji="1" lang="en-US" altLang="zh-CN" sz="2800" b="1" kern="1200" cap="none" spc="0" normalizeH="0" baseline="0" noProof="0" dirty="0">
              <a:solidFill>
                <a:srgbClr val="CC0066"/>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cs typeface="+mn-cs"/>
            </a:endParaRPr>
          </a:p>
          <a:p>
            <a:pPr marR="0" defTabSz="914400" eaLnBrk="1" hangingPunct="1">
              <a:spcBef>
                <a:spcPct val="50000"/>
              </a:spcBef>
              <a:buClrTx/>
              <a:buSzTx/>
              <a:buFontTx/>
              <a:buNone/>
              <a:defRPr/>
            </a:pPr>
            <a:r>
              <a:rPr kumimoji="1" lang="zh-CN" altLang="en-US" sz="2800" b="1" kern="1200" cap="none" spc="0" normalizeH="0" baseline="0" noProof="0" dirty="0">
                <a:solidFill>
                  <a:srgbClr val="7030A0"/>
                </a:solidFill>
                <a:latin typeface="华文楷体" panose="02010600040101010101" pitchFamily="2" charset="-122"/>
                <a:ea typeface="华文楷体" panose="02010600040101010101" pitchFamily="2" charset="-122"/>
                <a:cs typeface="+mn-cs"/>
              </a:rPr>
              <a:t>（</a:t>
            </a:r>
            <a:r>
              <a:rPr kumimoji="1" lang="en-US" altLang="zh-CN" sz="2800" b="1" kern="1200" cap="none" spc="0" normalizeH="0" baseline="0" noProof="0" dirty="0">
                <a:solidFill>
                  <a:srgbClr val="7030A0"/>
                </a:solidFill>
                <a:latin typeface="华文楷体" panose="02010600040101010101" pitchFamily="2" charset="-122"/>
                <a:ea typeface="华文楷体" panose="02010600040101010101" pitchFamily="2" charset="-122"/>
                <a:cs typeface="+mn-cs"/>
              </a:rPr>
              <a:t>2</a:t>
            </a:r>
            <a:r>
              <a:rPr kumimoji="1" lang="zh-CN" altLang="en-US" sz="2800" b="1" kern="1200" cap="none" spc="0" normalizeH="0" baseline="0" noProof="0" dirty="0">
                <a:solidFill>
                  <a:srgbClr val="7030A0"/>
                </a:solidFill>
                <a:latin typeface="华文楷体" panose="02010600040101010101" pitchFamily="2" charset="-122"/>
                <a:ea typeface="华文楷体" panose="02010600040101010101" pitchFamily="2" charset="-122"/>
                <a:cs typeface="+mn-cs"/>
              </a:rPr>
              <a:t>）对程序中数据的描述</a:t>
            </a:r>
            <a:r>
              <a:rPr kumimoji="1" lang="en-US" altLang="zh-CN" sz="2800" b="1" kern="1200" cap="none" spc="0" normalizeH="0" baseline="0" noProof="0" dirty="0">
                <a:solidFill>
                  <a:srgbClr val="7030A0"/>
                </a:solidFill>
                <a:latin typeface="华文楷体" panose="02010600040101010101" pitchFamily="2" charset="-122"/>
                <a:ea typeface="华文楷体" panose="02010600040101010101" pitchFamily="2" charset="-122"/>
                <a:cs typeface="+mn-cs"/>
              </a:rPr>
              <a:t>——</a:t>
            </a:r>
            <a:r>
              <a:rPr kumimoji="1" lang="zh-CN" altLang="en-US" sz="2800" b="1" kern="1200" cap="none" spc="0" normalizeH="0" baseline="0" noProof="0" dirty="0">
                <a:solidFill>
                  <a:srgbClr val="CC0066"/>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cs typeface="+mn-cs"/>
              </a:rPr>
              <a:t>数据结构</a:t>
            </a:r>
          </a:p>
        </p:txBody>
      </p:sp>
      <p:sp>
        <p:nvSpPr>
          <p:cNvPr id="4" name="矩形 3">
            <a:extLst>
              <a:ext uri="{FF2B5EF4-FFF2-40B4-BE49-F238E27FC236}">
                <a16:creationId xmlns:a16="http://schemas.microsoft.com/office/drawing/2014/main" id="{9EDC85A5-7E6D-44E7-9DC2-8CCB1E5D43F8}"/>
              </a:ext>
            </a:extLst>
          </p:cNvPr>
          <p:cNvSpPr/>
          <p:nvPr/>
        </p:nvSpPr>
        <p:spPr>
          <a:xfrm>
            <a:off x="1521350" y="3578727"/>
            <a:ext cx="4155347" cy="1569660"/>
          </a:xfrm>
          <a:prstGeom prst="rect">
            <a:avLst/>
          </a:prstGeom>
        </p:spPr>
        <p:txBody>
          <a:bodyPr wrap="square">
            <a:spAutoFit/>
          </a:bodyPr>
          <a:lstStyle/>
          <a:p>
            <a:pPr lvl="0" fontAlgn="base">
              <a:spcBef>
                <a:spcPct val="50000"/>
              </a:spcBef>
              <a:spcAft>
                <a:spcPct val="0"/>
              </a:spcAft>
              <a:defRPr/>
            </a:pPr>
            <a:r>
              <a:rPr kumimoji="1" lang="zh-CN" altLang="en-US" sz="2400" b="1" dirty="0">
                <a:latin typeface="方正姚体" panose="02010601030101010101" pitchFamily="2" charset="-122"/>
                <a:ea typeface="方正姚体" panose="02010601030101010101" pitchFamily="2" charset="-122"/>
              </a:rPr>
              <a:t>计算机程序求解的关键问题</a:t>
            </a:r>
            <a:r>
              <a:rPr kumimoji="1" lang="en-US" altLang="zh-CN" sz="2400" b="1" dirty="0">
                <a:latin typeface="方正姚体" panose="02010601030101010101" pitchFamily="2" charset="-122"/>
                <a:ea typeface="方正姚体" panose="02010601030101010101" pitchFamily="2" charset="-122"/>
              </a:rPr>
              <a:t>?</a:t>
            </a:r>
          </a:p>
          <a:p>
            <a:pPr marL="285750" lvl="0" indent="-285750" fontAlgn="base">
              <a:spcBef>
                <a:spcPct val="50000"/>
              </a:spcBef>
              <a:spcAft>
                <a:spcPct val="0"/>
              </a:spcAft>
              <a:buFont typeface="Arial" panose="020B0604020202020204" pitchFamily="34" charset="0"/>
              <a:buChar char="•"/>
              <a:defRPr/>
            </a:pPr>
            <a:r>
              <a:rPr kumimoji="1" lang="zh-CN" altLang="en-US" sz="2400" b="1" dirty="0">
                <a:solidFill>
                  <a:srgbClr val="CC0066"/>
                </a:solidFill>
                <a:latin typeface="+mj-ea"/>
              </a:rPr>
              <a:t>可计算</a:t>
            </a:r>
            <a:r>
              <a:rPr kumimoji="1" lang="zh-CN" altLang="en-US" sz="2400" b="1" dirty="0">
                <a:solidFill>
                  <a:srgbClr val="0033CC"/>
                </a:solidFill>
                <a:latin typeface="+mj-ea"/>
              </a:rPr>
              <a:t>，即能够</a:t>
            </a:r>
            <a:r>
              <a:rPr kumimoji="1" lang="zh-CN" altLang="en-US" sz="2400" b="1" dirty="0">
                <a:solidFill>
                  <a:srgbClr val="CC0066"/>
                </a:solidFill>
                <a:latin typeface="+mj-ea"/>
              </a:rPr>
              <a:t>形式化</a:t>
            </a:r>
            <a:r>
              <a:rPr kumimoji="1" lang="zh-CN" altLang="en-US" sz="2400" b="1" dirty="0">
                <a:solidFill>
                  <a:srgbClr val="0033CC"/>
                </a:solidFill>
                <a:latin typeface="+mj-ea"/>
              </a:rPr>
              <a:t>描述</a:t>
            </a:r>
            <a:endParaRPr kumimoji="1" lang="en-US" altLang="zh-CN" sz="2400" b="1" dirty="0">
              <a:solidFill>
                <a:srgbClr val="0033CC"/>
              </a:solidFill>
              <a:latin typeface="+mj-ea"/>
            </a:endParaRPr>
          </a:p>
          <a:p>
            <a:pPr marL="285750" lvl="0" indent="-285750" fontAlgn="base">
              <a:spcBef>
                <a:spcPct val="50000"/>
              </a:spcBef>
              <a:spcAft>
                <a:spcPct val="0"/>
              </a:spcAft>
              <a:buFont typeface="Arial" panose="020B0604020202020204" pitchFamily="34" charset="0"/>
              <a:buChar char="•"/>
              <a:defRPr/>
            </a:pPr>
            <a:r>
              <a:rPr kumimoji="1" lang="zh-CN" altLang="en-US" sz="2400" b="1" dirty="0">
                <a:solidFill>
                  <a:srgbClr val="CC0066"/>
                </a:solidFill>
                <a:latin typeface="+mj-ea"/>
              </a:rPr>
              <a:t>有限步骤</a:t>
            </a:r>
            <a:r>
              <a:rPr kumimoji="1" lang="zh-CN" altLang="en-US" sz="2400" b="1" dirty="0">
                <a:solidFill>
                  <a:srgbClr val="0033CC"/>
                </a:solidFill>
                <a:latin typeface="+mj-ea"/>
              </a:rPr>
              <a:t>，即能</a:t>
            </a:r>
            <a:r>
              <a:rPr kumimoji="1" lang="zh-CN" altLang="en-US" sz="2400" b="1" dirty="0">
                <a:solidFill>
                  <a:srgbClr val="CC0066"/>
                </a:solidFill>
                <a:latin typeface="+mj-ea"/>
              </a:rPr>
              <a:t>自动化</a:t>
            </a:r>
            <a:r>
              <a:rPr kumimoji="1" lang="zh-CN" altLang="en-US" sz="2400" b="1" dirty="0">
                <a:solidFill>
                  <a:srgbClr val="0033CC"/>
                </a:solidFill>
                <a:latin typeface="+mj-ea"/>
              </a:rPr>
              <a:t>执行</a:t>
            </a:r>
            <a:endParaRPr lang="zh-CN" altLang="en-US" sz="2400" dirty="0"/>
          </a:p>
        </p:txBody>
      </p:sp>
      <p:sp>
        <p:nvSpPr>
          <p:cNvPr id="6" name="箭头: 右 5">
            <a:extLst>
              <a:ext uri="{FF2B5EF4-FFF2-40B4-BE49-F238E27FC236}">
                <a16:creationId xmlns:a16="http://schemas.microsoft.com/office/drawing/2014/main" id="{3ABC87F0-45BD-4EBB-8D9A-7AEA4FE6564B}"/>
              </a:ext>
            </a:extLst>
          </p:cNvPr>
          <p:cNvSpPr/>
          <p:nvPr/>
        </p:nvSpPr>
        <p:spPr>
          <a:xfrm>
            <a:off x="5727132" y="4174815"/>
            <a:ext cx="1082180" cy="37748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FCA12F37-B987-46C8-9BF7-B3377E538631}"/>
              </a:ext>
            </a:extLst>
          </p:cNvPr>
          <p:cNvSpPr/>
          <p:nvPr/>
        </p:nvSpPr>
        <p:spPr>
          <a:xfrm>
            <a:off x="6964391" y="3645252"/>
            <a:ext cx="3468864" cy="1569660"/>
          </a:xfrm>
          <a:prstGeom prst="rect">
            <a:avLst/>
          </a:prstGeom>
        </p:spPr>
        <p:txBody>
          <a:bodyPr wrap="square">
            <a:spAutoFit/>
          </a:bodyPr>
          <a:lstStyle/>
          <a:p>
            <a:pPr lvl="0" fontAlgn="base">
              <a:spcBef>
                <a:spcPct val="50000"/>
              </a:spcBef>
              <a:spcAft>
                <a:spcPct val="0"/>
              </a:spcAft>
              <a:defRPr/>
            </a:pPr>
            <a:r>
              <a:rPr kumimoji="1" lang="zh-CN" altLang="en-US" sz="2400" b="1" dirty="0">
                <a:latin typeface="方正姚体" panose="02010601030101010101" pitchFamily="2" charset="-122"/>
                <a:ea typeface="方正姚体" panose="02010601030101010101" pitchFamily="2" charset="-122"/>
              </a:rPr>
              <a:t>计算思维核心是计算</a:t>
            </a:r>
            <a:endParaRPr kumimoji="1" lang="en-US" altLang="zh-CN" sz="2400" b="1" dirty="0">
              <a:latin typeface="方正姚体" panose="02010601030101010101" pitchFamily="2" charset="-122"/>
              <a:ea typeface="方正姚体" panose="02010601030101010101" pitchFamily="2" charset="-122"/>
            </a:endParaRPr>
          </a:p>
          <a:p>
            <a:pPr marL="285750" lvl="0" indent="-285750" fontAlgn="base">
              <a:spcBef>
                <a:spcPct val="50000"/>
              </a:spcBef>
              <a:spcAft>
                <a:spcPct val="0"/>
              </a:spcAft>
              <a:buFont typeface="Arial" panose="020B0604020202020204" pitchFamily="34" charset="0"/>
              <a:buChar char="•"/>
              <a:defRPr/>
            </a:pPr>
            <a:r>
              <a:rPr kumimoji="1" lang="zh-CN" altLang="en-US" sz="2400" b="1" dirty="0">
                <a:solidFill>
                  <a:srgbClr val="CC0066"/>
                </a:solidFill>
                <a:latin typeface="+mj-ea"/>
              </a:rPr>
              <a:t>形式化（抽象）</a:t>
            </a:r>
            <a:endParaRPr kumimoji="1" lang="en-US" altLang="zh-CN" sz="2400" b="1" dirty="0">
              <a:solidFill>
                <a:srgbClr val="0033CC"/>
              </a:solidFill>
              <a:latin typeface="+mj-ea"/>
            </a:endParaRPr>
          </a:p>
          <a:p>
            <a:pPr marL="285750" lvl="0" indent="-285750" fontAlgn="base">
              <a:spcBef>
                <a:spcPct val="50000"/>
              </a:spcBef>
              <a:spcAft>
                <a:spcPct val="0"/>
              </a:spcAft>
              <a:buFont typeface="Arial" panose="020B0604020202020204" pitchFamily="34" charset="0"/>
              <a:buChar char="•"/>
              <a:defRPr/>
            </a:pPr>
            <a:r>
              <a:rPr kumimoji="1" lang="zh-CN" altLang="en-US" sz="2400" b="1" dirty="0">
                <a:solidFill>
                  <a:srgbClr val="CC0066"/>
                </a:solidFill>
                <a:latin typeface="+mj-ea"/>
              </a:rPr>
              <a:t>自动化</a:t>
            </a:r>
            <a:endParaRPr lang="zh-CN" altLang="en-US" dirty="0"/>
          </a:p>
        </p:txBody>
      </p:sp>
      <p:pic>
        <p:nvPicPr>
          <p:cNvPr id="16" name="图片 15" descr="联想截图_20231214002915">
            <a:extLst>
              <a:ext uri="{FF2B5EF4-FFF2-40B4-BE49-F238E27FC236}">
                <a16:creationId xmlns:a16="http://schemas.microsoft.com/office/drawing/2014/main" id="{772BB59F-36EC-483B-A12C-5074114A2926}"/>
              </a:ext>
            </a:extLst>
          </p:cNvPr>
          <p:cNvPicPr>
            <a:picLocks noChangeAspect="1"/>
          </p:cNvPicPr>
          <p:nvPr>
            <p:custDataLst>
              <p:tags r:id="rId1"/>
            </p:custDataLst>
          </p:nvPr>
        </p:nvPicPr>
        <p:blipFill>
          <a:blip r:embed="rId5"/>
          <a:stretch>
            <a:fillRect/>
          </a:stretch>
        </p:blipFill>
        <p:spPr>
          <a:xfrm>
            <a:off x="4435475" y="6219825"/>
            <a:ext cx="545465" cy="546735"/>
          </a:xfrm>
          <a:prstGeom prst="rect">
            <a:avLst/>
          </a:prstGeom>
        </p:spPr>
      </p:pic>
    </p:spTree>
    <p:extLst>
      <p:ext uri="{BB962C8B-B14F-4D97-AF65-F5344CB8AC3E}">
        <p14:creationId xmlns:p14="http://schemas.microsoft.com/office/powerpoint/2010/main" val="1804470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6331"/>
          </a:xfrm>
          <a:prstGeom prst="rect">
            <a:avLst/>
          </a:prstGeom>
          <a:noFill/>
        </p:spPr>
        <p:txBody>
          <a:bodyPr wrap="square" rtlCol="0">
            <a:spAutoFit/>
          </a:bodyPr>
          <a:lstStyle/>
          <a:p>
            <a:pPr lvl="0">
              <a:defRPr/>
            </a:pPr>
            <a:r>
              <a:rPr lang="zh-CN" altLang="en-US" sz="3600" b="1" dirty="0">
                <a:latin typeface="华文楷体" panose="02010600040101010101" pitchFamily="2" charset="-122"/>
                <a:ea typeface="华文楷体" panose="02010600040101010101" pitchFamily="2" charset="-122"/>
              </a:rPr>
              <a:t>计算的本质</a:t>
            </a:r>
            <a:endParaRPr kumimoji="0" lang="en-US" altLang="zh-CN" sz="3600" b="0" i="0" u="none" strike="noStrike" kern="1200" cap="none" spc="0" normalizeH="0" baseline="0" noProof="0" dirty="0">
              <a:ln>
                <a:noFill/>
              </a:ln>
              <a:effectLst/>
              <a:uLnTx/>
              <a:uFillTx/>
              <a:latin typeface="方正公文黑体" panose="02000500000000000000" pitchFamily="2" charset="-122"/>
              <a:ea typeface="方正公文黑体" panose="02000500000000000000" pitchFamily="2" charset="-122"/>
            </a:endParaRP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pic>
        <p:nvPicPr>
          <p:cNvPr id="25" name="图片 24" descr="联想截图_20231214002915">
            <a:extLst>
              <a:ext uri="{FF2B5EF4-FFF2-40B4-BE49-F238E27FC236}">
                <a16:creationId xmlns:a16="http://schemas.microsoft.com/office/drawing/2014/main" id="{5ABB2CEE-4F2A-4C94-820B-1388A134CAC5}"/>
              </a:ext>
            </a:extLst>
          </p:cNvPr>
          <p:cNvPicPr>
            <a:picLocks noChangeAspect="1"/>
          </p:cNvPicPr>
          <p:nvPr>
            <p:custDataLst>
              <p:tags r:id="rId1"/>
            </p:custDataLst>
          </p:nvPr>
        </p:nvPicPr>
        <p:blipFill>
          <a:blip r:embed="rId5"/>
          <a:stretch>
            <a:fillRect/>
          </a:stretch>
        </p:blipFill>
        <p:spPr>
          <a:xfrm>
            <a:off x="4435475" y="6219825"/>
            <a:ext cx="545465" cy="546735"/>
          </a:xfrm>
          <a:prstGeom prst="rect">
            <a:avLst/>
          </a:prstGeom>
        </p:spPr>
      </p:pic>
      <p:sp>
        <p:nvSpPr>
          <p:cNvPr id="4" name="矩形 3">
            <a:extLst>
              <a:ext uri="{FF2B5EF4-FFF2-40B4-BE49-F238E27FC236}">
                <a16:creationId xmlns:a16="http://schemas.microsoft.com/office/drawing/2014/main" id="{F00FF78E-FE60-477B-99DD-A1BA12E18B56}"/>
              </a:ext>
            </a:extLst>
          </p:cNvPr>
          <p:cNvSpPr/>
          <p:nvPr/>
        </p:nvSpPr>
        <p:spPr>
          <a:xfrm>
            <a:off x="1722782" y="1263430"/>
            <a:ext cx="8216348" cy="1200329"/>
          </a:xfrm>
          <a:prstGeom prst="rect">
            <a:avLst/>
          </a:prstGeom>
        </p:spPr>
        <p:txBody>
          <a:bodyPr wrap="square">
            <a:spAutoFit/>
          </a:bodyPr>
          <a:lstStyle/>
          <a:p>
            <a:pPr lvl="0" indent="269875" fontAlgn="base">
              <a:spcBef>
                <a:spcPts val="600"/>
              </a:spcBef>
              <a:spcAft>
                <a:spcPts val="600"/>
              </a:spcAft>
              <a:defRPr/>
            </a:pPr>
            <a:r>
              <a:rPr kumimoji="1" lang="zh-CN" altLang="en-US" sz="2400" b="1" dirty="0">
                <a:latin typeface="华文楷体" panose="02010600040101010101" pitchFamily="2" charset="-122"/>
                <a:ea typeface="华文楷体" panose="02010600040101010101" pitchFamily="2" charset="-122"/>
              </a:rPr>
              <a:t>图灵机模型的关键是</a:t>
            </a:r>
            <a:r>
              <a:rPr kumimoji="1" lang="zh-CN" altLang="en-US" sz="2400" b="1" dirty="0">
                <a:solidFill>
                  <a:srgbClr val="FF0000"/>
                </a:solidFill>
                <a:latin typeface="华文楷体" panose="02010600040101010101" pitchFamily="2" charset="-122"/>
                <a:ea typeface="华文楷体" panose="02010600040101010101" pitchFamily="2" charset="-122"/>
              </a:rPr>
              <a:t>形式化方法</a:t>
            </a:r>
            <a:r>
              <a:rPr kumimoji="1" lang="zh-CN" altLang="en-US" sz="2400" b="1" dirty="0">
                <a:latin typeface="华文楷体" panose="02010600040101010101" pitchFamily="2" charset="-122"/>
                <a:ea typeface="华文楷体" panose="02010600040101010101" pitchFamily="2" charset="-122"/>
              </a:rPr>
              <a:t>。用“纸带符号串→控制有限步骤→读</a:t>
            </a:r>
            <a:r>
              <a:rPr kumimoji="1" lang="en-US" altLang="zh-CN" sz="2400" b="1" dirty="0">
                <a:latin typeface="华文楷体" panose="02010600040101010101" pitchFamily="2" charset="-122"/>
                <a:ea typeface="华文楷体" panose="02010600040101010101" pitchFamily="2" charset="-122"/>
              </a:rPr>
              <a:t>/</a:t>
            </a:r>
            <a:r>
              <a:rPr kumimoji="1" lang="zh-CN" altLang="en-US" sz="2400" b="1" dirty="0">
                <a:latin typeface="华文楷体" panose="02010600040101010101" pitchFamily="2" charset="-122"/>
                <a:ea typeface="华文楷体" panose="02010600040101010101" pitchFamily="2" charset="-122"/>
              </a:rPr>
              <a:t>写头→结果”这一形式表述计算过程的本质。</a:t>
            </a:r>
            <a:r>
              <a:rPr kumimoji="1" lang="zh-CN" altLang="en-US" sz="2400" b="1" dirty="0">
                <a:solidFill>
                  <a:schemeClr val="accent2">
                    <a:lumMod val="50000"/>
                  </a:schemeClr>
                </a:solidFill>
                <a:latin typeface="华文楷体" panose="02010600040101010101" pitchFamily="2" charset="-122"/>
                <a:ea typeface="华文楷体" panose="02010600040101010101" pitchFamily="2" charset="-122"/>
              </a:rPr>
              <a:t>任何在算法上可以计算的问题，同样可由图灵机计算。</a:t>
            </a:r>
            <a:endParaRPr kumimoji="1" lang="en-US" altLang="zh-CN" sz="2400" b="1" dirty="0">
              <a:solidFill>
                <a:schemeClr val="accent2">
                  <a:lumMod val="50000"/>
                </a:schemeClr>
              </a:solidFill>
              <a:latin typeface="华文楷体" panose="02010600040101010101" pitchFamily="2" charset="-122"/>
              <a:ea typeface="华文楷体" panose="02010600040101010101" pitchFamily="2" charset="-122"/>
            </a:endParaRPr>
          </a:p>
        </p:txBody>
      </p:sp>
      <p:sp>
        <p:nvSpPr>
          <p:cNvPr id="11" name="矩形 1">
            <a:extLst>
              <a:ext uri="{FF2B5EF4-FFF2-40B4-BE49-F238E27FC236}">
                <a16:creationId xmlns:a16="http://schemas.microsoft.com/office/drawing/2014/main" id="{3AC239EB-4DE5-45B8-853E-5B028152CEDD}"/>
              </a:ext>
            </a:extLst>
          </p:cNvPr>
          <p:cNvSpPr/>
          <p:nvPr/>
        </p:nvSpPr>
        <p:spPr>
          <a:xfrm>
            <a:off x="1649154" y="2819455"/>
            <a:ext cx="8569325" cy="954107"/>
          </a:xfrm>
          <a:prstGeom prst="rect">
            <a:avLst/>
          </a:prstGeom>
          <a:noFill/>
          <a:ln w="9525">
            <a:noFill/>
          </a:ln>
        </p:spPr>
        <p:txBody>
          <a:bodyPr>
            <a:spAutoFit/>
          </a:bodyPr>
          <a:lstStyle/>
          <a:p>
            <a:pPr indent="269875"/>
            <a:r>
              <a:rPr lang="zh-CN" altLang="en-US" sz="2800" b="1" dirty="0">
                <a:solidFill>
                  <a:srgbClr val="0000FF"/>
                </a:solidFill>
                <a:latin typeface="华文楷体" panose="02010600040101010101" pitchFamily="2" charset="-122"/>
                <a:ea typeface="华文楷体" panose="02010600040101010101" pitchFamily="2" charset="-122"/>
              </a:rPr>
              <a:t>一个可计算问题是“当且仅当它在图灵机上经过有限步骤之后可以得到正确的结果”</a:t>
            </a:r>
            <a:endParaRPr lang="en-US" altLang="en-US" sz="2800" b="1" dirty="0">
              <a:solidFill>
                <a:srgbClr val="0000FF"/>
              </a:solidFill>
              <a:latin typeface="华文楷体" panose="02010600040101010101" pitchFamily="2" charset="-122"/>
              <a:ea typeface="华文楷体" panose="02010600040101010101" pitchFamily="2" charset="-122"/>
            </a:endParaRPr>
          </a:p>
        </p:txBody>
      </p:sp>
      <p:sp>
        <p:nvSpPr>
          <p:cNvPr id="8" name="矩形 7">
            <a:extLst>
              <a:ext uri="{FF2B5EF4-FFF2-40B4-BE49-F238E27FC236}">
                <a16:creationId xmlns:a16="http://schemas.microsoft.com/office/drawing/2014/main" id="{D2B8FE4A-1A25-4C47-885D-2F8E6286501E}"/>
              </a:ext>
            </a:extLst>
          </p:cNvPr>
          <p:cNvSpPr/>
          <p:nvPr/>
        </p:nvSpPr>
        <p:spPr>
          <a:xfrm>
            <a:off x="1649154" y="4129258"/>
            <a:ext cx="8569325" cy="1200329"/>
          </a:xfrm>
          <a:prstGeom prst="rect">
            <a:avLst/>
          </a:prstGeom>
        </p:spPr>
        <p:txBody>
          <a:bodyPr wrap="square">
            <a:spAutoFit/>
          </a:bodyPr>
          <a:lstStyle/>
          <a:p>
            <a:pPr lvl="0" indent="269875" fontAlgn="base">
              <a:spcBef>
                <a:spcPct val="0"/>
              </a:spcBef>
              <a:spcAft>
                <a:spcPct val="0"/>
              </a:spcAft>
              <a:defRPr/>
            </a:pPr>
            <a:r>
              <a:rPr kumimoji="1" lang="zh-CN" altLang="en-US" sz="2400" b="1" dirty="0">
                <a:latin typeface="华文楷体" panose="02010600040101010101" pitchFamily="2" charset="-122"/>
                <a:ea typeface="华文楷体" panose="02010600040101010101" pitchFamily="2" charset="-122"/>
              </a:rPr>
              <a:t>实际上对可计算问题可否实际计算还需要判断其复杂性。因为图灵机模型中的 “有限步骤”是一个过于宽松的限制，它甚至包括了需要计算好几百年才能完成的那些问题</a:t>
            </a:r>
          </a:p>
        </p:txBody>
      </p:sp>
    </p:spTree>
    <p:extLst>
      <p:ext uri="{BB962C8B-B14F-4D97-AF65-F5344CB8AC3E}">
        <p14:creationId xmlns:p14="http://schemas.microsoft.com/office/powerpoint/2010/main" val="21796513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6331"/>
          </a:xfrm>
          <a:prstGeom prst="rect">
            <a:avLst/>
          </a:prstGeom>
          <a:noFill/>
        </p:spPr>
        <p:txBody>
          <a:bodyPr wrap="square" rtlCol="0">
            <a:spAutoFit/>
          </a:bodyPr>
          <a:lstStyle/>
          <a:p>
            <a:pPr lvl="0">
              <a:defRPr/>
            </a:pPr>
            <a:r>
              <a:rPr lang="zh-CN" altLang="en-US" sz="3600" b="1" dirty="0">
                <a:latin typeface="华文楷体" panose="02010600040101010101" pitchFamily="2" charset="-122"/>
                <a:ea typeface="华文楷体" panose="02010600040101010101" pitchFamily="2" charset="-122"/>
              </a:rPr>
              <a:t>计算复杂性</a:t>
            </a:r>
            <a:endParaRPr kumimoji="0" lang="en-US" altLang="zh-CN" sz="3600" b="0" i="0" u="none" strike="noStrike" kern="1200" cap="none" spc="0" normalizeH="0" baseline="0" noProof="0" dirty="0">
              <a:ln>
                <a:noFill/>
              </a:ln>
              <a:effectLst/>
              <a:uLnTx/>
              <a:uFillTx/>
              <a:latin typeface="方正公文黑体" panose="02000500000000000000" pitchFamily="2" charset="-122"/>
              <a:ea typeface="方正公文黑体" panose="02000500000000000000" pitchFamily="2" charset="-122"/>
            </a:endParaRP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pic>
        <p:nvPicPr>
          <p:cNvPr id="25" name="图片 24" descr="联想截图_20231214002915">
            <a:extLst>
              <a:ext uri="{FF2B5EF4-FFF2-40B4-BE49-F238E27FC236}">
                <a16:creationId xmlns:a16="http://schemas.microsoft.com/office/drawing/2014/main" id="{5ABB2CEE-4F2A-4C94-820B-1388A134CAC5}"/>
              </a:ext>
            </a:extLst>
          </p:cNvPr>
          <p:cNvPicPr>
            <a:picLocks noChangeAspect="1"/>
          </p:cNvPicPr>
          <p:nvPr>
            <p:custDataLst>
              <p:tags r:id="rId1"/>
            </p:custDataLst>
          </p:nvPr>
        </p:nvPicPr>
        <p:blipFill>
          <a:blip r:embed="rId5"/>
          <a:stretch>
            <a:fillRect/>
          </a:stretch>
        </p:blipFill>
        <p:spPr>
          <a:xfrm>
            <a:off x="4435475" y="6219825"/>
            <a:ext cx="545465" cy="546735"/>
          </a:xfrm>
          <a:prstGeom prst="rect">
            <a:avLst/>
          </a:prstGeom>
        </p:spPr>
      </p:pic>
      <p:sp>
        <p:nvSpPr>
          <p:cNvPr id="12" name="矩形 6">
            <a:extLst>
              <a:ext uri="{FF2B5EF4-FFF2-40B4-BE49-F238E27FC236}">
                <a16:creationId xmlns:a16="http://schemas.microsoft.com/office/drawing/2014/main" id="{14B36798-6814-41B0-835E-82ED1828AD9E}"/>
              </a:ext>
            </a:extLst>
          </p:cNvPr>
          <p:cNvSpPr>
            <a:spLocks noChangeArrowheads="1"/>
          </p:cNvSpPr>
          <p:nvPr/>
        </p:nvSpPr>
        <p:spPr bwMode="auto">
          <a:xfrm>
            <a:off x="1473867" y="1032843"/>
            <a:ext cx="9244266"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269875">
              <a:defRPr kumimoji="1" sz="3200">
                <a:solidFill>
                  <a:schemeClr val="tx1"/>
                </a:solidFill>
                <a:latin typeface="Times New Roman" panose="02020603050405020304" pitchFamily="18" charset="0"/>
                <a:ea typeface="宋体" panose="02010600030101010101" pitchFamily="2" charset="-122"/>
              </a:defRPr>
            </a:lvl1pPr>
            <a:lvl2pPr marL="742950" indent="-285750">
              <a:defRPr kumimoji="1" sz="3200">
                <a:solidFill>
                  <a:schemeClr val="tx1"/>
                </a:solidFill>
                <a:latin typeface="Times New Roman" panose="02020603050405020304" pitchFamily="18" charset="0"/>
                <a:ea typeface="宋体" panose="02010600030101010101" pitchFamily="2" charset="-122"/>
              </a:defRPr>
            </a:lvl2pPr>
            <a:lvl3pPr marL="1143000" indent="-228600">
              <a:defRPr kumimoji="1" sz="3200">
                <a:solidFill>
                  <a:schemeClr val="tx1"/>
                </a:solidFill>
                <a:latin typeface="Times New Roman" panose="02020603050405020304" pitchFamily="18" charset="0"/>
                <a:ea typeface="宋体" panose="02010600030101010101" pitchFamily="2" charset="-122"/>
              </a:defRPr>
            </a:lvl3pPr>
            <a:lvl4pPr marL="1600200" indent="-228600">
              <a:defRPr kumimoji="1" sz="3200">
                <a:solidFill>
                  <a:schemeClr val="tx1"/>
                </a:solidFill>
                <a:latin typeface="Times New Roman" panose="02020603050405020304" pitchFamily="18" charset="0"/>
                <a:ea typeface="宋体" panose="02010600030101010101" pitchFamily="2" charset="-122"/>
              </a:defRPr>
            </a:lvl4pPr>
            <a:lvl5pPr marL="2057400" indent="-22860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lvl="0" fontAlgn="base">
              <a:spcBef>
                <a:spcPct val="0"/>
              </a:spcBef>
              <a:spcAft>
                <a:spcPct val="0"/>
              </a:spcAft>
              <a:defRPr/>
            </a:pPr>
            <a:r>
              <a:rPr lang="zh-CN" altLang="en-US" sz="2400" b="1" dirty="0">
                <a:latin typeface="华文楷体" panose="02010600040101010101" pitchFamily="2" charset="-122"/>
                <a:ea typeface="华文楷体" panose="02010600040101010101" pitchFamily="2" charset="-122"/>
              </a:rPr>
              <a:t>库克论题</a:t>
            </a:r>
            <a:endParaRPr kumimoji="1" lang="en-US" altLang="zh-CN" sz="24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mn-cs"/>
            </a:endParaRPr>
          </a:p>
          <a:p>
            <a:pPr marL="0" marR="0" lvl="0" indent="269875" algn="l" defTabSz="914400" rtl="0" eaLnBrk="1" fontAlgn="base" latinLnBrk="0" hangingPunct="1">
              <a:lnSpc>
                <a:spcPct val="100000"/>
              </a:lnSpc>
              <a:spcBef>
                <a:spcPct val="0"/>
              </a:spcBef>
              <a:spcAft>
                <a:spcPct val="0"/>
              </a:spcAft>
              <a:buClrTx/>
              <a:buSzTx/>
              <a:buFontTx/>
              <a:buNone/>
              <a:defRPr/>
            </a:pPr>
            <a:r>
              <a:rPr kumimoji="1" lang="zh-CN" altLang="en-US" sz="24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mn-cs"/>
              </a:rPr>
              <a:t>一个问题是实际可计算的，当且仅当它能够在图灵机上经过多项式步骤得到正确结果（易解性等同于多项式时间可计算性）。它界定了计算机的实际计算能力限度</a:t>
            </a:r>
            <a:r>
              <a:rPr kumimoji="1" lang="zh-CN" altLang="en-US" sz="2400" b="1"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。超过这个限度的问题一般被认为是难解问题。 </a:t>
            </a:r>
            <a:endParaRPr kumimoji="1" lang="en-US" altLang="zh-CN" sz="2400" b="1"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269875" algn="l" defTabSz="914400" rtl="0" eaLnBrk="1" fontAlgn="base" latinLnBrk="0" hangingPunct="1">
              <a:lnSpc>
                <a:spcPct val="100000"/>
              </a:lnSpc>
              <a:spcBef>
                <a:spcPct val="0"/>
              </a:spcBef>
              <a:spcAft>
                <a:spcPct val="0"/>
              </a:spcAft>
              <a:buClrTx/>
              <a:buSzTx/>
              <a:buFontTx/>
              <a:buNone/>
              <a:defRPr/>
            </a:pPr>
            <a:r>
              <a:rPr kumimoji="1" lang="zh-CN" altLang="en-US" sz="2400" b="1" i="0" u="none" strike="noStrike" kern="1200" cap="none" spc="0" normalizeH="0" baseline="0" noProof="0" dirty="0">
                <a:ln>
                  <a:noFill/>
                </a:ln>
                <a:solidFill>
                  <a:schemeClr val="accent1">
                    <a:lumMod val="50000"/>
                  </a:schemeClr>
                </a:solidFill>
                <a:effectLst/>
                <a:uLnTx/>
                <a:uFillTx/>
                <a:latin typeface="华文楷体" panose="02010600040101010101" pitchFamily="2" charset="-122"/>
                <a:ea typeface="华文楷体" panose="02010600040101010101" pitchFamily="2" charset="-122"/>
                <a:cs typeface="+mn-cs"/>
              </a:rPr>
              <a:t>多项式时间</a:t>
            </a:r>
            <a:r>
              <a:rPr kumimoji="1" lang="zh-CN" altLang="en-US" sz="2400" b="1"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在计算复杂度理论中指的是一个问题的计算时间 </a:t>
            </a:r>
            <a:r>
              <a:rPr kumimoji="1" lang="en-US" altLang="zh-CN" sz="2400" b="1"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m</a:t>
            </a:r>
            <a:r>
              <a:rPr kumimoji="1" lang="zh-CN" altLang="en-US" sz="2400" b="1"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1" lang="en-US" altLang="zh-CN" sz="2400" b="1"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n</a:t>
            </a:r>
            <a:r>
              <a:rPr kumimoji="1" lang="zh-CN" altLang="en-US" sz="2400" b="1"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）不大于问题（算法）大小 </a:t>
            </a:r>
            <a:r>
              <a:rPr kumimoji="1" lang="en-US" altLang="zh-CN" sz="2400" b="1"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n </a:t>
            </a:r>
            <a:r>
              <a:rPr kumimoji="1" lang="zh-CN" altLang="en-US" sz="2400" b="1"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的多项式倍数。</a:t>
            </a:r>
            <a:endParaRPr kumimoji="1" lang="en-US" altLang="zh-CN" sz="2400" b="1"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269875" algn="l"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mn-cs"/>
              </a:rPr>
              <a:t>【</a:t>
            </a:r>
            <a:r>
              <a:rPr kumimoji="1" lang="zh-CN" altLang="en-US" sz="2400" b="1" i="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mn-cs"/>
              </a:rPr>
              <a:t>例如</a:t>
            </a:r>
            <a:r>
              <a:rPr kumimoji="1" lang="en-US" altLang="zh-CN" sz="2400" b="1" i="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mn-cs"/>
              </a:rPr>
              <a:t>】n</a:t>
            </a:r>
            <a:r>
              <a:rPr kumimoji="1" lang="en-US" altLang="zh-CN" sz="2400" b="1" i="0" u="none" strike="noStrike" kern="1200" cap="none" spc="0" normalizeH="0" baseline="30000" noProof="0" dirty="0">
                <a:ln>
                  <a:noFill/>
                </a:ln>
                <a:effectLst/>
                <a:uLnTx/>
                <a:uFillTx/>
                <a:latin typeface="华文楷体" panose="02010600040101010101" pitchFamily="2" charset="-122"/>
                <a:ea typeface="华文楷体" panose="02010600040101010101" pitchFamily="2" charset="-122"/>
                <a:cs typeface="+mn-cs"/>
              </a:rPr>
              <a:t>2 </a:t>
            </a:r>
            <a:r>
              <a:rPr kumimoji="1" lang="zh-CN" altLang="en-US" sz="2400" b="1" i="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mn-cs"/>
              </a:rPr>
              <a:t>是 </a:t>
            </a:r>
            <a:r>
              <a:rPr kumimoji="1" lang="en-US" altLang="zh-CN" sz="2400" b="1" i="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mn-cs"/>
              </a:rPr>
              <a:t>n </a:t>
            </a:r>
            <a:r>
              <a:rPr kumimoji="1" lang="zh-CN" altLang="en-US" sz="2400" b="1" i="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mn-cs"/>
              </a:rPr>
              <a:t>的多项式，</a:t>
            </a:r>
            <a:r>
              <a:rPr kumimoji="1" lang="en-US" altLang="zh-CN" sz="2400" b="1" i="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mn-cs"/>
              </a:rPr>
              <a:t>2</a:t>
            </a:r>
            <a:r>
              <a:rPr kumimoji="1" lang="en-US" altLang="zh-CN" sz="2400" b="1" i="0" u="none" strike="noStrike" kern="1200" cap="none" spc="0" normalizeH="0" baseline="30000" noProof="0" dirty="0">
                <a:ln>
                  <a:noFill/>
                </a:ln>
                <a:effectLst/>
                <a:uLnTx/>
                <a:uFillTx/>
                <a:latin typeface="华文楷体" panose="02010600040101010101" pitchFamily="2" charset="-122"/>
                <a:ea typeface="华文楷体" panose="02010600040101010101" pitchFamily="2" charset="-122"/>
                <a:cs typeface="+mn-cs"/>
              </a:rPr>
              <a:t>n </a:t>
            </a:r>
            <a:r>
              <a:rPr kumimoji="1" lang="zh-CN" altLang="en-US" sz="2400" b="1" i="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mn-cs"/>
              </a:rPr>
              <a:t>不是 </a:t>
            </a:r>
            <a:r>
              <a:rPr kumimoji="1" lang="en-US" altLang="zh-CN" sz="2400" b="1" i="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mn-cs"/>
              </a:rPr>
              <a:t>n </a:t>
            </a:r>
            <a:r>
              <a:rPr kumimoji="1" lang="zh-CN" altLang="en-US" sz="2400" b="1" i="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mn-cs"/>
              </a:rPr>
              <a:t>的多项式</a:t>
            </a:r>
          </a:p>
        </p:txBody>
      </p:sp>
      <p:sp>
        <p:nvSpPr>
          <p:cNvPr id="9" name="矩形 8">
            <a:extLst>
              <a:ext uri="{FF2B5EF4-FFF2-40B4-BE49-F238E27FC236}">
                <a16:creationId xmlns:a16="http://schemas.microsoft.com/office/drawing/2014/main" id="{BE936DA7-F254-4142-BF63-C0D9FB245C10}"/>
              </a:ext>
            </a:extLst>
          </p:cNvPr>
          <p:cNvSpPr/>
          <p:nvPr/>
        </p:nvSpPr>
        <p:spPr>
          <a:xfrm>
            <a:off x="1649154" y="4545916"/>
            <a:ext cx="8615980" cy="461665"/>
          </a:xfrm>
          <a:prstGeom prst="rect">
            <a:avLst/>
          </a:prstGeom>
        </p:spPr>
        <p:txBody>
          <a:bodyPr wrap="square">
            <a:spAutoFit/>
          </a:bodyPr>
          <a:lstStyle/>
          <a:p>
            <a:r>
              <a:rPr kumimoji="1" lang="zh-CN" altLang="en-US" sz="2400" b="1" dirty="0">
                <a:latin typeface="华文楷体" panose="02010600040101010101" pitchFamily="2" charset="-122"/>
                <a:ea typeface="华文楷体" panose="02010600040101010101" pitchFamily="2" charset="-122"/>
              </a:rPr>
              <a:t>问题（算法）大小 </a:t>
            </a:r>
            <a:r>
              <a:rPr kumimoji="1" lang="en-US" altLang="zh-CN" sz="2400" b="1" dirty="0">
                <a:latin typeface="华文楷体" panose="02010600040101010101" pitchFamily="2" charset="-122"/>
                <a:ea typeface="华文楷体" panose="02010600040101010101" pitchFamily="2" charset="-122"/>
              </a:rPr>
              <a:t>n </a:t>
            </a:r>
            <a:r>
              <a:rPr kumimoji="1" lang="zh-CN" altLang="en-US" sz="2400" b="1" dirty="0">
                <a:latin typeface="华文楷体" panose="02010600040101010101" pitchFamily="2" charset="-122"/>
                <a:ea typeface="华文楷体" panose="02010600040101010101" pitchFamily="2" charset="-122"/>
              </a:rPr>
              <a:t>可以理解为问题的数据规模。</a:t>
            </a:r>
            <a:r>
              <a:rPr kumimoji="1" lang="en-US" altLang="zh-CN" sz="2400" b="1" dirty="0">
                <a:latin typeface="华文楷体" panose="02010600040101010101" pitchFamily="2" charset="-122"/>
                <a:ea typeface="华文楷体" panose="02010600040101010101" pitchFamily="2" charset="-122"/>
              </a:rPr>
              <a:t> </a:t>
            </a:r>
            <a:endParaRPr lang="zh-CN" altLang="en-US" sz="2400" dirty="0"/>
          </a:p>
        </p:txBody>
      </p:sp>
      <p:sp>
        <p:nvSpPr>
          <p:cNvPr id="11" name="矩形 10">
            <a:extLst>
              <a:ext uri="{FF2B5EF4-FFF2-40B4-BE49-F238E27FC236}">
                <a16:creationId xmlns:a16="http://schemas.microsoft.com/office/drawing/2014/main" id="{A69DB1D8-D81A-4C78-A323-6D7E1A331948}"/>
              </a:ext>
            </a:extLst>
          </p:cNvPr>
          <p:cNvSpPr/>
          <p:nvPr/>
        </p:nvSpPr>
        <p:spPr>
          <a:xfrm>
            <a:off x="1649154" y="5192250"/>
            <a:ext cx="8615980" cy="461665"/>
          </a:xfrm>
          <a:prstGeom prst="rect">
            <a:avLst/>
          </a:prstGeom>
        </p:spPr>
        <p:txBody>
          <a:bodyPr wrap="square">
            <a:spAutoFit/>
          </a:bodyPr>
          <a:lstStyle/>
          <a:p>
            <a:r>
              <a:rPr lang="zh-CN" altLang="en-US" sz="2400" b="1" dirty="0">
                <a:latin typeface="华文楷体" panose="02010600040101010101" pitchFamily="2" charset="-122"/>
                <a:ea typeface="华文楷体" panose="02010600040101010101" pitchFamily="2" charset="-122"/>
              </a:rPr>
              <a:t>计算复杂性可以分为：</a:t>
            </a:r>
            <a:r>
              <a:rPr lang="zh-CN" altLang="en-US" sz="2400" b="1" dirty="0">
                <a:solidFill>
                  <a:srgbClr val="FF0000"/>
                </a:solidFill>
                <a:latin typeface="华文楷体" panose="02010600040101010101" pitchFamily="2" charset="-122"/>
                <a:ea typeface="华文楷体" panose="02010600040101010101" pitchFamily="2" charset="-122"/>
              </a:rPr>
              <a:t>时间复杂性</a:t>
            </a:r>
            <a:r>
              <a:rPr lang="zh-CN" altLang="en-US" sz="2400" b="1" dirty="0">
                <a:latin typeface="华文楷体" panose="02010600040101010101" pitchFamily="2" charset="-122"/>
                <a:ea typeface="华文楷体" panose="02010600040101010101" pitchFamily="2" charset="-122"/>
              </a:rPr>
              <a:t>和</a:t>
            </a:r>
            <a:r>
              <a:rPr lang="zh-CN" altLang="en-US" sz="2400" b="1" dirty="0">
                <a:solidFill>
                  <a:srgbClr val="FF0000"/>
                </a:solidFill>
                <a:latin typeface="华文楷体" panose="02010600040101010101" pitchFamily="2" charset="-122"/>
                <a:ea typeface="华文楷体" panose="02010600040101010101" pitchFamily="2" charset="-122"/>
              </a:rPr>
              <a:t>空间复杂性</a:t>
            </a:r>
          </a:p>
        </p:txBody>
      </p:sp>
    </p:spTree>
    <p:extLst>
      <p:ext uri="{BB962C8B-B14F-4D97-AF65-F5344CB8AC3E}">
        <p14:creationId xmlns:p14="http://schemas.microsoft.com/office/powerpoint/2010/main" val="26862549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6331"/>
          </a:xfrm>
          <a:prstGeom prst="rect">
            <a:avLst/>
          </a:prstGeom>
          <a:noFill/>
        </p:spPr>
        <p:txBody>
          <a:bodyPr wrap="square" rtlCol="0">
            <a:spAutoFit/>
          </a:bodyPr>
          <a:lstStyle/>
          <a:p>
            <a:pPr lvl="0">
              <a:defRPr/>
            </a:pPr>
            <a:r>
              <a:rPr lang="zh-CN" altLang="en-US" sz="3600" dirty="0">
                <a:solidFill>
                  <a:srgbClr val="000066"/>
                </a:solidFill>
                <a:latin typeface="华文楷体" panose="02010600040101010101" pitchFamily="2" charset="-122"/>
                <a:ea typeface="华文楷体" panose="02010600040101010101" pitchFamily="2" charset="-122"/>
              </a:rPr>
              <a:t>计算机的分代</a:t>
            </a:r>
            <a:endParaRPr kumimoji="0" lang="en-US" altLang="zh-CN" sz="3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endParaRP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11" name="灯片编号占位符 5">
            <a:extLst>
              <a:ext uri="{FF2B5EF4-FFF2-40B4-BE49-F238E27FC236}">
                <a16:creationId xmlns:a16="http://schemas.microsoft.com/office/drawing/2014/main" id="{895DA835-3D62-4C44-8122-CA9E9D359744}"/>
              </a:ext>
            </a:extLst>
          </p:cNvPr>
          <p:cNvSpPr txBox="1">
            <a:spLocks/>
          </p:cNvSpPr>
          <p:nvPr/>
        </p:nvSpPr>
        <p:spPr>
          <a:xfrm>
            <a:off x="7699153" y="5662502"/>
            <a:ext cx="1905000" cy="43497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defPPr>
              <a:defRPr lang="zh-CN"/>
            </a:defPPr>
            <a:lvl1pPr marL="0" algn="l" defTabSz="895985" rtl="0" eaLnBrk="1" latinLnBrk="0" hangingPunct="1">
              <a:spcBef>
                <a:spcPct val="20000"/>
              </a:spcBef>
              <a:buChar char="•"/>
              <a:defRPr kumimoji="1" sz="2470" b="1" kern="1200" baseline="0">
                <a:solidFill>
                  <a:schemeClr val="bg1"/>
                </a:solidFill>
                <a:latin typeface="Times New Roman" panose="02020603050405020304" pitchFamily="18" charset="0"/>
                <a:ea typeface="宋体" panose="02010600030101010101" pitchFamily="2" charset="-122"/>
                <a:cs typeface="+mn-cs"/>
              </a:defRPr>
            </a:lvl1pPr>
            <a:lvl2pPr marL="509270" indent="-196215" algn="l" defTabSz="895985" rtl="0" eaLnBrk="1" latinLnBrk="0" hangingPunct="1">
              <a:spcBef>
                <a:spcPct val="20000"/>
              </a:spcBef>
              <a:defRPr kumimoji="1" sz="2055" kern="1200">
                <a:solidFill>
                  <a:schemeClr val="bg1"/>
                </a:solidFill>
                <a:latin typeface="Times New Roman" panose="02020603050405020304" pitchFamily="18" charset="0"/>
                <a:ea typeface="宋体" panose="02010600030101010101" pitchFamily="2" charset="-122"/>
                <a:cs typeface="+mn-cs"/>
              </a:defRPr>
            </a:lvl2pPr>
            <a:lvl3pPr marL="783590" indent="-156845" algn="l" defTabSz="895985" rtl="0" eaLnBrk="1" latinLnBrk="0" hangingPunct="1">
              <a:spcBef>
                <a:spcPct val="20000"/>
              </a:spcBef>
              <a:buChar char="•"/>
              <a:defRPr kumimoji="1" sz="2400" kern="1200">
                <a:solidFill>
                  <a:schemeClr val="bg1"/>
                </a:solidFill>
                <a:latin typeface="Times New Roman" panose="02020603050405020304" pitchFamily="18" charset="0"/>
                <a:ea typeface="宋体" panose="02010600030101010101" pitchFamily="2" charset="-122"/>
                <a:cs typeface="+mn-cs"/>
              </a:defRPr>
            </a:lvl3pPr>
            <a:lvl4pPr marL="1097280" indent="-156845" algn="l" defTabSz="895985" rtl="0" eaLnBrk="1" latinLnBrk="0" hangingPunct="1">
              <a:spcBef>
                <a:spcPct val="20000"/>
              </a:spcBef>
              <a:buChar char="–"/>
              <a:defRPr kumimoji="1" sz="1990" kern="1200">
                <a:solidFill>
                  <a:schemeClr val="bg1"/>
                </a:solidFill>
                <a:latin typeface="Times New Roman" panose="02020603050405020304" pitchFamily="18" charset="0"/>
                <a:ea typeface="宋体" panose="02010600030101010101" pitchFamily="2" charset="-122"/>
                <a:cs typeface="+mn-cs"/>
              </a:defRPr>
            </a:lvl4pPr>
            <a:lvl5pPr marL="1410970" indent="-156845" algn="l" defTabSz="895985" rtl="0" eaLnBrk="1" latinLnBrk="0" hangingPunct="1">
              <a:spcBef>
                <a:spcPct val="20000"/>
              </a:spcBef>
              <a:buChar char="»"/>
              <a:defRPr kumimoji="1" sz="1990" kern="1200">
                <a:solidFill>
                  <a:schemeClr val="bg1"/>
                </a:solidFill>
                <a:latin typeface="Times New Roman" panose="02020603050405020304" pitchFamily="18" charset="0"/>
                <a:ea typeface="宋体" panose="02010600030101010101" pitchFamily="2" charset="-122"/>
                <a:cs typeface="+mn-cs"/>
              </a:defRPr>
            </a:lvl5pPr>
            <a:lvl6pPr marL="1724025" indent="-156845" algn="l" defTabSz="895985" rtl="0" eaLnBrk="0" fontAlgn="base" latinLnBrk="0" hangingPunct="0">
              <a:spcBef>
                <a:spcPct val="20000"/>
              </a:spcBef>
              <a:spcAft>
                <a:spcPct val="0"/>
              </a:spcAft>
              <a:buChar char="»"/>
              <a:defRPr kumimoji="1" sz="1990" kern="1200">
                <a:solidFill>
                  <a:schemeClr val="bg1"/>
                </a:solidFill>
                <a:latin typeface="Times New Roman" panose="02020603050405020304" pitchFamily="18" charset="0"/>
                <a:ea typeface="宋体" panose="02010600030101010101" pitchFamily="2" charset="-122"/>
                <a:cs typeface="+mn-cs"/>
              </a:defRPr>
            </a:lvl6pPr>
            <a:lvl7pPr marL="2037715" indent="-156845" algn="l" defTabSz="895985" rtl="0" eaLnBrk="0" fontAlgn="base" latinLnBrk="0" hangingPunct="0">
              <a:spcBef>
                <a:spcPct val="20000"/>
              </a:spcBef>
              <a:spcAft>
                <a:spcPct val="0"/>
              </a:spcAft>
              <a:buChar char="»"/>
              <a:defRPr kumimoji="1" sz="1990" kern="1200">
                <a:solidFill>
                  <a:schemeClr val="bg1"/>
                </a:solidFill>
                <a:latin typeface="Times New Roman" panose="02020603050405020304" pitchFamily="18" charset="0"/>
                <a:ea typeface="宋体" panose="02010600030101010101" pitchFamily="2" charset="-122"/>
                <a:cs typeface="+mn-cs"/>
              </a:defRPr>
            </a:lvl7pPr>
            <a:lvl8pPr marL="2351405" indent="-156845" algn="l" defTabSz="895985" rtl="0" eaLnBrk="0" fontAlgn="base" latinLnBrk="0" hangingPunct="0">
              <a:spcBef>
                <a:spcPct val="20000"/>
              </a:spcBef>
              <a:spcAft>
                <a:spcPct val="0"/>
              </a:spcAft>
              <a:buChar char="»"/>
              <a:defRPr kumimoji="1" sz="1990" kern="1200">
                <a:solidFill>
                  <a:schemeClr val="bg1"/>
                </a:solidFill>
                <a:latin typeface="Times New Roman" panose="02020603050405020304" pitchFamily="18" charset="0"/>
                <a:ea typeface="宋体" panose="02010600030101010101" pitchFamily="2" charset="-122"/>
                <a:cs typeface="+mn-cs"/>
              </a:defRPr>
            </a:lvl8pPr>
            <a:lvl9pPr marL="2664460" indent="-156845" algn="l" defTabSz="895985" rtl="0" eaLnBrk="0" fontAlgn="base" latinLnBrk="0" hangingPunct="0">
              <a:spcBef>
                <a:spcPct val="20000"/>
              </a:spcBef>
              <a:spcAft>
                <a:spcPct val="0"/>
              </a:spcAft>
              <a:buChar char="»"/>
              <a:defRPr kumimoji="1" sz="1990" kern="1200">
                <a:solidFill>
                  <a:schemeClr val="bg1"/>
                </a:solidFill>
                <a:latin typeface="Times New Roman" panose="02020603050405020304" pitchFamily="18" charset="0"/>
                <a:ea typeface="宋体" panose="02010600030101010101" pitchFamily="2" charset="-122"/>
                <a:cs typeface="+mn-cs"/>
              </a:defRPr>
            </a:lvl9pPr>
          </a:lstStyle>
          <a:p>
            <a:pPr>
              <a:spcBef>
                <a:spcPct val="50000"/>
              </a:spcBef>
              <a:buFontTx/>
              <a:buNone/>
              <a:defRPr/>
            </a:pPr>
            <a:fld id="{F0A49BC3-0D2B-4C06-97A0-FC9A7BBB7C51}" type="slidenum">
              <a:rPr lang="en-US" altLang="zh-CN" sz="1645" b="0" smtClean="0"/>
              <a:pPr>
                <a:spcBef>
                  <a:spcPct val="50000"/>
                </a:spcBef>
                <a:buFontTx/>
                <a:buNone/>
                <a:defRPr/>
              </a:pPr>
              <a:t>7</a:t>
            </a:fld>
            <a:endParaRPr lang="en-US" altLang="zh-CN" sz="1645" b="0"/>
          </a:p>
        </p:txBody>
      </p:sp>
      <p:graphicFrame>
        <p:nvGraphicFramePr>
          <p:cNvPr id="12" name="Group 1066">
            <a:extLst>
              <a:ext uri="{FF2B5EF4-FFF2-40B4-BE49-F238E27FC236}">
                <a16:creationId xmlns:a16="http://schemas.microsoft.com/office/drawing/2014/main" id="{52A3828B-D4CF-4B1C-86D0-9964344B0EBE}"/>
              </a:ext>
            </a:extLst>
          </p:cNvPr>
          <p:cNvGraphicFramePr>
            <a:graphicFrameLocks noGrp="1"/>
          </p:cNvGraphicFramePr>
          <p:nvPr/>
        </p:nvGraphicFramePr>
        <p:xfrm>
          <a:off x="1857153" y="1233377"/>
          <a:ext cx="8158162" cy="2787651"/>
        </p:xfrm>
        <a:graphic>
          <a:graphicData uri="http://schemas.openxmlformats.org/drawingml/2006/table">
            <a:tbl>
              <a:tblPr/>
              <a:tblGrid>
                <a:gridCol w="652088">
                  <a:extLst>
                    <a:ext uri="{9D8B030D-6E8A-4147-A177-3AD203B41FA5}">
                      <a16:colId xmlns:a16="http://schemas.microsoft.com/office/drawing/2014/main" val="20000"/>
                    </a:ext>
                  </a:extLst>
                </a:gridCol>
                <a:gridCol w="1036372">
                  <a:extLst>
                    <a:ext uri="{9D8B030D-6E8A-4147-A177-3AD203B41FA5}">
                      <a16:colId xmlns:a16="http://schemas.microsoft.com/office/drawing/2014/main" val="20001"/>
                    </a:ext>
                  </a:extLst>
                </a:gridCol>
                <a:gridCol w="1728737">
                  <a:extLst>
                    <a:ext uri="{9D8B030D-6E8A-4147-A177-3AD203B41FA5}">
                      <a16:colId xmlns:a16="http://schemas.microsoft.com/office/drawing/2014/main" val="20002"/>
                    </a:ext>
                  </a:extLst>
                </a:gridCol>
                <a:gridCol w="1728737">
                  <a:extLst>
                    <a:ext uri="{9D8B030D-6E8A-4147-A177-3AD203B41FA5}">
                      <a16:colId xmlns:a16="http://schemas.microsoft.com/office/drawing/2014/main" val="20003"/>
                    </a:ext>
                  </a:extLst>
                </a:gridCol>
                <a:gridCol w="1777726">
                  <a:extLst>
                    <a:ext uri="{9D8B030D-6E8A-4147-A177-3AD203B41FA5}">
                      <a16:colId xmlns:a16="http://schemas.microsoft.com/office/drawing/2014/main" val="20004"/>
                    </a:ext>
                  </a:extLst>
                </a:gridCol>
                <a:gridCol w="1234502">
                  <a:extLst>
                    <a:ext uri="{9D8B030D-6E8A-4147-A177-3AD203B41FA5}">
                      <a16:colId xmlns:a16="http://schemas.microsoft.com/office/drawing/2014/main" val="20005"/>
                    </a:ext>
                  </a:extLst>
                </a:gridCol>
              </a:tblGrid>
              <a:tr h="417132">
                <a:tc>
                  <a:txBody>
                    <a:bodyPr/>
                    <a:lstStyle/>
                    <a:p>
                      <a:pPr marL="0" marR="0" lvl="0" indent="0" algn="ctr" defTabSz="1306830" rtl="0" eaLnBrk="1" fontAlgn="base" latinLnBrk="0" hangingPunct="1">
                        <a:lnSpc>
                          <a:spcPct val="100000"/>
                        </a:lnSpc>
                        <a:spcBef>
                          <a:spcPct val="20000"/>
                        </a:spcBef>
                        <a:spcAft>
                          <a:spcPct val="0"/>
                        </a:spcAft>
                        <a:buClrTx/>
                        <a:buSzTx/>
                        <a:buFontTx/>
                        <a:buNone/>
                      </a:pPr>
                      <a:r>
                        <a:rPr kumimoji="1" lang="zh-CN" altLang="en-US" sz="1600" b="0" i="0" u="none" strike="noStrike" cap="none" normalizeH="0" baseline="0" dirty="0">
                          <a:ln>
                            <a:noFill/>
                          </a:ln>
                          <a:solidFill>
                            <a:srgbClr val="5850C2"/>
                          </a:solidFill>
                          <a:effectLst/>
                          <a:latin typeface="Times New Roman" panose="02020603050405020304" pitchFamily="18" charset="0"/>
                          <a:ea typeface="黑体" panose="02010609060101010101" pitchFamily="49" charset="-122"/>
                        </a:rPr>
                        <a:t>时代</a:t>
                      </a:r>
                    </a:p>
                  </a:txBody>
                  <a:tcPr marL="91342" marR="91342" marT="44456" marB="44456"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1306830" rtl="0" eaLnBrk="1" fontAlgn="base" latinLnBrk="0" hangingPunct="1">
                        <a:lnSpc>
                          <a:spcPct val="100000"/>
                        </a:lnSpc>
                        <a:spcBef>
                          <a:spcPct val="20000"/>
                        </a:spcBef>
                        <a:spcAft>
                          <a:spcPct val="0"/>
                        </a:spcAft>
                        <a:buClrTx/>
                        <a:buSzTx/>
                        <a:buFontTx/>
                        <a:buNone/>
                      </a:pPr>
                      <a:r>
                        <a:rPr kumimoji="1" lang="zh-CN" altLang="en-US" sz="1600" b="0" i="0" u="none" strike="noStrike" cap="none" normalizeH="0" baseline="0" dirty="0">
                          <a:ln>
                            <a:noFill/>
                          </a:ln>
                          <a:solidFill>
                            <a:srgbClr val="5850C2"/>
                          </a:solidFill>
                          <a:effectLst/>
                          <a:latin typeface="Times New Roman" panose="02020603050405020304" pitchFamily="18" charset="0"/>
                          <a:ea typeface="黑体" panose="02010609060101010101" pitchFamily="49" charset="-122"/>
                        </a:rPr>
                        <a:t>年份</a:t>
                      </a:r>
                    </a:p>
                  </a:txBody>
                  <a:tcPr marL="91342" marR="91342" marT="44456" marB="4445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1306830" rtl="0" eaLnBrk="1" fontAlgn="base" latinLnBrk="0" hangingPunct="1">
                        <a:lnSpc>
                          <a:spcPct val="100000"/>
                        </a:lnSpc>
                        <a:spcBef>
                          <a:spcPct val="20000"/>
                        </a:spcBef>
                        <a:spcAft>
                          <a:spcPct val="0"/>
                        </a:spcAft>
                        <a:buClrTx/>
                        <a:buSzTx/>
                        <a:buFontTx/>
                        <a:buNone/>
                      </a:pPr>
                      <a:r>
                        <a:rPr kumimoji="1" lang="zh-CN" altLang="en-US" sz="1600" b="0" i="0" u="none" strike="noStrike" cap="none" normalizeH="0" baseline="0">
                          <a:ln>
                            <a:noFill/>
                          </a:ln>
                          <a:solidFill>
                            <a:srgbClr val="5850C2"/>
                          </a:solidFill>
                          <a:effectLst/>
                          <a:latin typeface="Times New Roman" panose="02020603050405020304" pitchFamily="18" charset="0"/>
                          <a:ea typeface="黑体" panose="02010609060101010101" pitchFamily="49" charset="-122"/>
                        </a:rPr>
                        <a:t>器件</a:t>
                      </a:r>
                    </a:p>
                  </a:txBody>
                  <a:tcPr marL="91342" marR="91342" marT="44456" marB="4445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1306830" rtl="0" eaLnBrk="1" fontAlgn="base" latinLnBrk="0" hangingPunct="1">
                        <a:lnSpc>
                          <a:spcPct val="100000"/>
                        </a:lnSpc>
                        <a:spcBef>
                          <a:spcPct val="20000"/>
                        </a:spcBef>
                        <a:spcAft>
                          <a:spcPct val="0"/>
                        </a:spcAft>
                        <a:buClrTx/>
                        <a:buSzTx/>
                        <a:buFontTx/>
                        <a:buNone/>
                      </a:pPr>
                      <a:r>
                        <a:rPr kumimoji="1" lang="zh-CN" altLang="en-US" sz="1600" b="0" i="0" u="none" strike="noStrike" cap="none" normalizeH="0" baseline="0">
                          <a:ln>
                            <a:noFill/>
                          </a:ln>
                          <a:solidFill>
                            <a:srgbClr val="5850C2"/>
                          </a:solidFill>
                          <a:effectLst/>
                          <a:latin typeface="Times New Roman" panose="02020603050405020304" pitchFamily="18" charset="0"/>
                          <a:ea typeface="黑体" panose="02010609060101010101" pitchFamily="49" charset="-122"/>
                        </a:rPr>
                        <a:t>运算速度</a:t>
                      </a:r>
                    </a:p>
                  </a:txBody>
                  <a:tcPr marL="91342" marR="91342" marT="44456" marB="4445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1306830" rtl="0" eaLnBrk="1" fontAlgn="base" latinLnBrk="0" hangingPunct="1">
                        <a:lnSpc>
                          <a:spcPct val="100000"/>
                        </a:lnSpc>
                        <a:spcBef>
                          <a:spcPct val="20000"/>
                        </a:spcBef>
                        <a:spcAft>
                          <a:spcPct val="0"/>
                        </a:spcAft>
                        <a:buClrTx/>
                        <a:buSzTx/>
                        <a:buFontTx/>
                        <a:buNone/>
                      </a:pPr>
                      <a:r>
                        <a:rPr kumimoji="1" lang="zh-CN" altLang="en-US" sz="1600" b="0" i="0" u="none" strike="noStrike" cap="none" normalizeH="0" baseline="0">
                          <a:ln>
                            <a:noFill/>
                          </a:ln>
                          <a:solidFill>
                            <a:srgbClr val="5850C2"/>
                          </a:solidFill>
                          <a:effectLst/>
                          <a:latin typeface="Times New Roman" panose="02020603050405020304" pitchFamily="18" charset="0"/>
                          <a:ea typeface="黑体" panose="02010609060101010101" pitchFamily="49" charset="-122"/>
                        </a:rPr>
                        <a:t>软件</a:t>
                      </a:r>
                    </a:p>
                  </a:txBody>
                  <a:tcPr marL="91342" marR="91342" marT="44456" marB="4445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1306830" rtl="0" eaLnBrk="1" fontAlgn="base" latinLnBrk="0" hangingPunct="1">
                        <a:lnSpc>
                          <a:spcPct val="100000"/>
                        </a:lnSpc>
                        <a:spcBef>
                          <a:spcPct val="20000"/>
                        </a:spcBef>
                        <a:spcAft>
                          <a:spcPct val="0"/>
                        </a:spcAft>
                        <a:buClrTx/>
                        <a:buSzTx/>
                        <a:buFontTx/>
                        <a:buNone/>
                      </a:pPr>
                      <a:r>
                        <a:rPr kumimoji="1" lang="zh-CN" altLang="en-US" sz="1600" b="0" i="0" u="none" strike="noStrike" cap="none" normalizeH="0" baseline="0">
                          <a:ln>
                            <a:noFill/>
                          </a:ln>
                          <a:solidFill>
                            <a:srgbClr val="5850C2"/>
                          </a:solidFill>
                          <a:effectLst/>
                          <a:latin typeface="Times New Roman" panose="02020603050405020304" pitchFamily="18" charset="0"/>
                          <a:ea typeface="黑体" panose="02010609060101010101" pitchFamily="49" charset="-122"/>
                        </a:rPr>
                        <a:t>应用</a:t>
                      </a:r>
                    </a:p>
                  </a:txBody>
                  <a:tcPr marL="91342" marR="91342" marT="44456" marB="4445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640964">
                <a:tc>
                  <a:txBody>
                    <a:bodyPr/>
                    <a:lstStyle/>
                    <a:p>
                      <a:pPr marL="0" marR="0" lvl="0" indent="0" algn="ctr" defTabSz="1306830" rtl="0" eaLnBrk="1" fontAlgn="base" latinLnBrk="0" hangingPunct="1">
                        <a:lnSpc>
                          <a:spcPct val="100000"/>
                        </a:lnSpc>
                        <a:spcBef>
                          <a:spcPct val="20000"/>
                        </a:spcBef>
                        <a:spcAft>
                          <a:spcPct val="0"/>
                        </a:spcAft>
                        <a:buClrTx/>
                        <a:buSzTx/>
                        <a:buFontTx/>
                        <a:buNone/>
                      </a:pPr>
                      <a:r>
                        <a:rPr kumimoji="1" lang="zh-CN" altLang="en-US" sz="1600" b="0" i="0" u="none" strike="noStrike" cap="none" normalizeH="0" baseline="0">
                          <a:ln>
                            <a:noFill/>
                          </a:ln>
                          <a:solidFill>
                            <a:srgbClr val="5850C2"/>
                          </a:solidFill>
                          <a:effectLst/>
                          <a:latin typeface="Times New Roman" panose="02020603050405020304" pitchFamily="18" charset="0"/>
                          <a:ea typeface="黑体" panose="02010609060101010101" pitchFamily="49" charset="-122"/>
                        </a:rPr>
                        <a:t>一 </a:t>
                      </a:r>
                    </a:p>
                  </a:txBody>
                  <a:tcPr marL="91342" marR="91342" marT="44456" marB="44456"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130683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dirty="0">
                          <a:ln>
                            <a:noFill/>
                          </a:ln>
                          <a:solidFill>
                            <a:srgbClr val="5850C2"/>
                          </a:solidFill>
                          <a:effectLst/>
                          <a:latin typeface="Times New Roman" panose="02020603050405020304" pitchFamily="18" charset="0"/>
                          <a:ea typeface="黑体" panose="02010609060101010101" pitchFamily="49" charset="-122"/>
                        </a:rPr>
                        <a:t>46-58</a:t>
                      </a:r>
                    </a:p>
                  </a:txBody>
                  <a:tcPr marL="91342" marR="91342" marT="44456" marB="4445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1306830" rtl="0" eaLnBrk="1" fontAlgn="base" latinLnBrk="0" hangingPunct="1">
                        <a:lnSpc>
                          <a:spcPct val="100000"/>
                        </a:lnSpc>
                        <a:spcBef>
                          <a:spcPct val="20000"/>
                        </a:spcBef>
                        <a:spcAft>
                          <a:spcPct val="0"/>
                        </a:spcAft>
                        <a:buClrTx/>
                        <a:buSzTx/>
                        <a:buFontTx/>
                        <a:buNone/>
                      </a:pPr>
                      <a:r>
                        <a:rPr kumimoji="1" lang="zh-CN" altLang="en-US" sz="1600" b="0" i="0" u="none" strike="noStrike" cap="none" normalizeH="0" baseline="0" dirty="0">
                          <a:ln>
                            <a:noFill/>
                          </a:ln>
                          <a:solidFill>
                            <a:srgbClr val="5850C2"/>
                          </a:solidFill>
                          <a:effectLst/>
                          <a:latin typeface="Times New Roman" panose="02020603050405020304" pitchFamily="18" charset="0"/>
                          <a:ea typeface="黑体" panose="02010609060101010101" pitchFamily="49" charset="-122"/>
                        </a:rPr>
                        <a:t>电子管</a:t>
                      </a:r>
                    </a:p>
                  </a:txBody>
                  <a:tcPr marL="91342" marR="91342" marT="44456" marB="4445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1306830" rtl="0" eaLnBrk="1" fontAlgn="base" latinLnBrk="0" hangingPunct="1">
                        <a:lnSpc>
                          <a:spcPct val="100000"/>
                        </a:lnSpc>
                        <a:spcBef>
                          <a:spcPct val="20000"/>
                        </a:spcBef>
                        <a:spcAft>
                          <a:spcPct val="0"/>
                        </a:spcAft>
                        <a:buClrTx/>
                        <a:buSzTx/>
                        <a:buFontTx/>
                        <a:buNone/>
                      </a:pPr>
                      <a:r>
                        <a:rPr kumimoji="1" lang="zh-CN" altLang="en-US" sz="1600" b="0" i="0" u="none" strike="noStrike" cap="none" normalizeH="0" baseline="0">
                          <a:ln>
                            <a:noFill/>
                          </a:ln>
                          <a:solidFill>
                            <a:srgbClr val="5850C2"/>
                          </a:solidFill>
                          <a:effectLst/>
                          <a:latin typeface="Times New Roman" panose="02020603050405020304" pitchFamily="18" charset="0"/>
                          <a:ea typeface="黑体" panose="02010609060101010101" pitchFamily="49" charset="-122"/>
                        </a:rPr>
                        <a:t>每秒几千次 </a:t>
                      </a:r>
                    </a:p>
                  </a:txBody>
                  <a:tcPr marL="91342" marR="91342" marT="44456" marB="4445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1306830" rtl="0" eaLnBrk="1" fontAlgn="base" latinLnBrk="0" hangingPunct="1">
                        <a:lnSpc>
                          <a:spcPct val="100000"/>
                        </a:lnSpc>
                        <a:spcBef>
                          <a:spcPct val="20000"/>
                        </a:spcBef>
                        <a:spcAft>
                          <a:spcPct val="0"/>
                        </a:spcAft>
                        <a:buClrTx/>
                        <a:buSzTx/>
                        <a:buFontTx/>
                        <a:buNone/>
                      </a:pPr>
                      <a:r>
                        <a:rPr kumimoji="1" lang="zh-CN" altLang="en-US" sz="1600" b="0" i="0" u="none" strike="noStrike" cap="none" normalizeH="0" baseline="0">
                          <a:ln>
                            <a:noFill/>
                          </a:ln>
                          <a:solidFill>
                            <a:srgbClr val="5850C2"/>
                          </a:solidFill>
                          <a:effectLst/>
                          <a:latin typeface="Times New Roman" panose="02020603050405020304" pitchFamily="18" charset="0"/>
                          <a:ea typeface="黑体" panose="02010609060101010101" pitchFamily="49" charset="-122"/>
                        </a:rPr>
                        <a:t>机器语言</a:t>
                      </a:r>
                    </a:p>
                    <a:p>
                      <a:pPr marL="0" marR="0" lvl="0" indent="0" algn="ctr" defTabSz="1306830" rtl="0" eaLnBrk="1" fontAlgn="base" latinLnBrk="0" hangingPunct="1">
                        <a:lnSpc>
                          <a:spcPct val="100000"/>
                        </a:lnSpc>
                        <a:spcBef>
                          <a:spcPct val="20000"/>
                        </a:spcBef>
                        <a:spcAft>
                          <a:spcPct val="0"/>
                        </a:spcAft>
                        <a:buClrTx/>
                        <a:buSzTx/>
                        <a:buFontTx/>
                        <a:buNone/>
                      </a:pPr>
                      <a:r>
                        <a:rPr kumimoji="1" lang="zh-CN" altLang="en-US" sz="1600" b="0" i="0" u="none" strike="noStrike" cap="none" normalizeH="0" baseline="0">
                          <a:ln>
                            <a:noFill/>
                          </a:ln>
                          <a:solidFill>
                            <a:srgbClr val="5850C2"/>
                          </a:solidFill>
                          <a:effectLst/>
                          <a:latin typeface="Times New Roman" panose="02020603050405020304" pitchFamily="18" charset="0"/>
                          <a:ea typeface="黑体" panose="02010609060101010101" pitchFamily="49" charset="-122"/>
                        </a:rPr>
                        <a:t>汇编语言 </a:t>
                      </a:r>
                    </a:p>
                  </a:txBody>
                  <a:tcPr marL="91342" marR="91342" marT="44456" marB="4445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1306830" rtl="0" eaLnBrk="1" fontAlgn="base" latinLnBrk="0" hangingPunct="1">
                        <a:lnSpc>
                          <a:spcPct val="100000"/>
                        </a:lnSpc>
                        <a:spcBef>
                          <a:spcPct val="20000"/>
                        </a:spcBef>
                        <a:spcAft>
                          <a:spcPct val="0"/>
                        </a:spcAft>
                        <a:buClrTx/>
                        <a:buSzTx/>
                        <a:buFontTx/>
                        <a:buNone/>
                      </a:pPr>
                      <a:r>
                        <a:rPr kumimoji="1" lang="zh-CN" altLang="en-US" sz="1600" b="0" i="0" u="none" strike="noStrike" cap="none" normalizeH="0" baseline="0">
                          <a:ln>
                            <a:noFill/>
                          </a:ln>
                          <a:solidFill>
                            <a:srgbClr val="5850C2"/>
                          </a:solidFill>
                          <a:effectLst/>
                          <a:latin typeface="Times New Roman" panose="02020603050405020304" pitchFamily="18" charset="0"/>
                          <a:ea typeface="黑体" panose="02010609060101010101" pitchFamily="49" charset="-122"/>
                        </a:rPr>
                        <a:t>科学计算</a:t>
                      </a:r>
                    </a:p>
                    <a:p>
                      <a:pPr marL="0" marR="0" lvl="0" indent="0" algn="ctr" defTabSz="1306830" rtl="0" eaLnBrk="1" fontAlgn="base" latinLnBrk="0" hangingPunct="1">
                        <a:lnSpc>
                          <a:spcPct val="100000"/>
                        </a:lnSpc>
                        <a:spcBef>
                          <a:spcPct val="20000"/>
                        </a:spcBef>
                        <a:spcAft>
                          <a:spcPct val="0"/>
                        </a:spcAft>
                        <a:buClrTx/>
                        <a:buSzTx/>
                        <a:buFontTx/>
                        <a:buNone/>
                      </a:pPr>
                      <a:r>
                        <a:rPr kumimoji="1" lang="zh-CN" altLang="en-US" sz="1600" b="0" i="0" u="none" strike="noStrike" cap="none" normalizeH="0" baseline="0">
                          <a:ln>
                            <a:noFill/>
                          </a:ln>
                          <a:solidFill>
                            <a:srgbClr val="5850C2"/>
                          </a:solidFill>
                          <a:effectLst/>
                          <a:latin typeface="Times New Roman" panose="02020603050405020304" pitchFamily="18" charset="0"/>
                          <a:ea typeface="黑体" panose="02010609060101010101" pitchFamily="49" charset="-122"/>
                        </a:rPr>
                        <a:t>军事领域</a:t>
                      </a:r>
                    </a:p>
                  </a:txBody>
                  <a:tcPr marL="91342" marR="91342" marT="44456" marB="4445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1"/>
                  </a:ext>
                </a:extLst>
              </a:tr>
              <a:tr h="640964">
                <a:tc>
                  <a:txBody>
                    <a:bodyPr/>
                    <a:lstStyle/>
                    <a:p>
                      <a:pPr marL="0" marR="0" lvl="0" indent="0" algn="ctr" defTabSz="1306830" rtl="0" eaLnBrk="1" fontAlgn="base" latinLnBrk="0" hangingPunct="1">
                        <a:lnSpc>
                          <a:spcPct val="100000"/>
                        </a:lnSpc>
                        <a:spcBef>
                          <a:spcPct val="20000"/>
                        </a:spcBef>
                        <a:spcAft>
                          <a:spcPct val="0"/>
                        </a:spcAft>
                        <a:buClrTx/>
                        <a:buSzTx/>
                        <a:buFontTx/>
                        <a:buNone/>
                      </a:pPr>
                      <a:r>
                        <a:rPr kumimoji="1" lang="zh-CN" altLang="en-US" sz="1600" b="0" i="0" u="none" strike="noStrike" cap="none" normalizeH="0" baseline="0">
                          <a:ln>
                            <a:noFill/>
                          </a:ln>
                          <a:solidFill>
                            <a:srgbClr val="5850C2"/>
                          </a:solidFill>
                          <a:effectLst/>
                          <a:latin typeface="Times New Roman" panose="02020603050405020304" pitchFamily="18" charset="0"/>
                          <a:ea typeface="黑体" panose="02010609060101010101" pitchFamily="49" charset="-122"/>
                        </a:rPr>
                        <a:t>二</a:t>
                      </a:r>
                    </a:p>
                  </a:txBody>
                  <a:tcPr marL="91342" marR="91342" marT="44456" marB="44456"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130683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rgbClr val="5850C2"/>
                          </a:solidFill>
                          <a:effectLst/>
                          <a:latin typeface="Times New Roman" panose="02020603050405020304" pitchFamily="18" charset="0"/>
                          <a:ea typeface="黑体" panose="02010609060101010101" pitchFamily="49" charset="-122"/>
                        </a:rPr>
                        <a:t>58-64</a:t>
                      </a:r>
                    </a:p>
                  </a:txBody>
                  <a:tcPr marL="91342" marR="91342" marT="44456" marB="4445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1306830" rtl="0" eaLnBrk="1" fontAlgn="base" latinLnBrk="0" hangingPunct="1">
                        <a:lnSpc>
                          <a:spcPct val="100000"/>
                        </a:lnSpc>
                        <a:spcBef>
                          <a:spcPct val="20000"/>
                        </a:spcBef>
                        <a:spcAft>
                          <a:spcPct val="0"/>
                        </a:spcAft>
                        <a:buClrTx/>
                        <a:buSzTx/>
                        <a:buFontTx/>
                        <a:buNone/>
                      </a:pPr>
                      <a:r>
                        <a:rPr kumimoji="1" lang="zh-CN" altLang="en-US" sz="1600" b="0" i="0" u="none" strike="noStrike" cap="none" normalizeH="0" baseline="0" dirty="0">
                          <a:ln>
                            <a:noFill/>
                          </a:ln>
                          <a:solidFill>
                            <a:srgbClr val="5850C2"/>
                          </a:solidFill>
                          <a:effectLst/>
                          <a:latin typeface="Times New Roman" panose="02020603050405020304" pitchFamily="18" charset="0"/>
                          <a:ea typeface="黑体" panose="02010609060101010101" pitchFamily="49" charset="-122"/>
                        </a:rPr>
                        <a:t>晶体管</a:t>
                      </a:r>
                    </a:p>
                  </a:txBody>
                  <a:tcPr marL="91342" marR="91342" marT="44456" marB="4445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1306830" rtl="0" eaLnBrk="1" fontAlgn="base" latinLnBrk="0" hangingPunct="1">
                        <a:lnSpc>
                          <a:spcPct val="100000"/>
                        </a:lnSpc>
                        <a:spcBef>
                          <a:spcPct val="20000"/>
                        </a:spcBef>
                        <a:spcAft>
                          <a:spcPct val="0"/>
                        </a:spcAft>
                        <a:buClrTx/>
                        <a:buSzTx/>
                        <a:buFontTx/>
                        <a:buNone/>
                      </a:pPr>
                      <a:r>
                        <a:rPr kumimoji="1" lang="zh-CN" altLang="en-US" sz="1600" b="0" i="0" u="none" strike="noStrike" cap="none" normalizeH="0" baseline="0" dirty="0">
                          <a:ln>
                            <a:noFill/>
                          </a:ln>
                          <a:solidFill>
                            <a:srgbClr val="5850C2"/>
                          </a:solidFill>
                          <a:effectLst/>
                          <a:latin typeface="Times New Roman" panose="02020603050405020304" pitchFamily="18" charset="0"/>
                          <a:ea typeface="黑体" panose="02010609060101010101" pitchFamily="49" charset="-122"/>
                        </a:rPr>
                        <a:t>每秒几十万次 </a:t>
                      </a:r>
                    </a:p>
                  </a:txBody>
                  <a:tcPr marL="91342" marR="91342" marT="44456" marB="4445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1306830" rtl="0" eaLnBrk="1" fontAlgn="base" latinLnBrk="0" hangingPunct="1">
                        <a:lnSpc>
                          <a:spcPct val="100000"/>
                        </a:lnSpc>
                        <a:spcBef>
                          <a:spcPct val="20000"/>
                        </a:spcBef>
                        <a:spcAft>
                          <a:spcPct val="0"/>
                        </a:spcAft>
                        <a:buClrTx/>
                        <a:buSzTx/>
                        <a:buFontTx/>
                        <a:buNone/>
                      </a:pPr>
                      <a:r>
                        <a:rPr kumimoji="1" lang="zh-CN" altLang="en-US" sz="1600" b="0" i="0" u="none" strike="noStrike" cap="none" normalizeH="0" baseline="0" dirty="0">
                          <a:ln>
                            <a:noFill/>
                          </a:ln>
                          <a:solidFill>
                            <a:srgbClr val="5850C2"/>
                          </a:solidFill>
                          <a:effectLst/>
                          <a:latin typeface="Times New Roman" panose="02020603050405020304" pitchFamily="18" charset="0"/>
                          <a:ea typeface="黑体" panose="02010609060101010101" pitchFamily="49" charset="-122"/>
                        </a:rPr>
                        <a:t>高级语言</a:t>
                      </a:r>
                    </a:p>
                  </a:txBody>
                  <a:tcPr marL="91342" marR="91342" marT="44456" marB="4445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1306830" rtl="0" eaLnBrk="1" fontAlgn="base" latinLnBrk="0" hangingPunct="1">
                        <a:lnSpc>
                          <a:spcPct val="100000"/>
                        </a:lnSpc>
                        <a:spcBef>
                          <a:spcPct val="20000"/>
                        </a:spcBef>
                        <a:spcAft>
                          <a:spcPct val="0"/>
                        </a:spcAft>
                        <a:buClrTx/>
                        <a:buSzTx/>
                        <a:buFontTx/>
                        <a:buNone/>
                      </a:pPr>
                      <a:r>
                        <a:rPr kumimoji="1" lang="zh-CN" altLang="en-US" sz="1600" b="0" i="0" u="none" strike="noStrike" cap="none" normalizeH="0" baseline="0">
                          <a:ln>
                            <a:noFill/>
                          </a:ln>
                          <a:solidFill>
                            <a:srgbClr val="5850C2"/>
                          </a:solidFill>
                          <a:effectLst/>
                          <a:latin typeface="Times New Roman" panose="02020603050405020304" pitchFamily="18" charset="0"/>
                          <a:ea typeface="黑体" panose="02010609060101010101" pitchFamily="49" charset="-122"/>
                        </a:rPr>
                        <a:t>数据处理</a:t>
                      </a:r>
                    </a:p>
                    <a:p>
                      <a:pPr marL="0" marR="0" lvl="0" indent="0" algn="ctr" defTabSz="1306830" rtl="0" eaLnBrk="1" fontAlgn="base" latinLnBrk="0" hangingPunct="1">
                        <a:lnSpc>
                          <a:spcPct val="100000"/>
                        </a:lnSpc>
                        <a:spcBef>
                          <a:spcPct val="20000"/>
                        </a:spcBef>
                        <a:spcAft>
                          <a:spcPct val="0"/>
                        </a:spcAft>
                        <a:buClrTx/>
                        <a:buSzTx/>
                        <a:buFontTx/>
                        <a:buNone/>
                      </a:pPr>
                      <a:r>
                        <a:rPr kumimoji="1" lang="zh-CN" altLang="en-US" sz="1600" b="0" i="0" u="none" strike="noStrike" cap="none" normalizeH="0" baseline="0">
                          <a:ln>
                            <a:noFill/>
                          </a:ln>
                          <a:solidFill>
                            <a:srgbClr val="5850C2"/>
                          </a:solidFill>
                          <a:effectLst/>
                          <a:latin typeface="Times New Roman" panose="02020603050405020304" pitchFamily="18" charset="0"/>
                          <a:ea typeface="黑体" panose="02010609060101010101" pitchFamily="49" charset="-122"/>
                        </a:rPr>
                        <a:t>工业控制 </a:t>
                      </a:r>
                    </a:p>
                  </a:txBody>
                  <a:tcPr marL="91342" marR="91342" marT="44456" marB="4445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2"/>
                  </a:ext>
                </a:extLst>
              </a:tr>
              <a:tr h="640964">
                <a:tc>
                  <a:txBody>
                    <a:bodyPr/>
                    <a:lstStyle/>
                    <a:p>
                      <a:pPr marL="0" marR="0" lvl="0" indent="0" algn="ctr" defTabSz="1306830" rtl="0" eaLnBrk="1" fontAlgn="base" latinLnBrk="0" hangingPunct="1">
                        <a:lnSpc>
                          <a:spcPct val="100000"/>
                        </a:lnSpc>
                        <a:spcBef>
                          <a:spcPct val="20000"/>
                        </a:spcBef>
                        <a:spcAft>
                          <a:spcPct val="0"/>
                        </a:spcAft>
                        <a:buClrTx/>
                        <a:buSzTx/>
                        <a:buFontTx/>
                        <a:buNone/>
                      </a:pPr>
                      <a:r>
                        <a:rPr kumimoji="1" lang="zh-CN" altLang="en-US" sz="1600" b="0" i="0" u="none" strike="noStrike" cap="none" normalizeH="0" baseline="0">
                          <a:ln>
                            <a:noFill/>
                          </a:ln>
                          <a:solidFill>
                            <a:srgbClr val="5850C2"/>
                          </a:solidFill>
                          <a:effectLst/>
                          <a:latin typeface="Times New Roman" panose="02020603050405020304" pitchFamily="18" charset="0"/>
                          <a:ea typeface="黑体" panose="02010609060101010101" pitchFamily="49" charset="-122"/>
                        </a:rPr>
                        <a:t>三</a:t>
                      </a:r>
                    </a:p>
                  </a:txBody>
                  <a:tcPr marL="91342" marR="91342" marT="44456" marB="44456"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130683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dirty="0">
                          <a:ln>
                            <a:noFill/>
                          </a:ln>
                          <a:solidFill>
                            <a:srgbClr val="5850C2"/>
                          </a:solidFill>
                          <a:effectLst/>
                          <a:latin typeface="Times New Roman" panose="02020603050405020304" pitchFamily="18" charset="0"/>
                          <a:ea typeface="黑体" panose="02010609060101010101" pitchFamily="49" charset="-122"/>
                        </a:rPr>
                        <a:t>64-70</a:t>
                      </a:r>
                    </a:p>
                  </a:txBody>
                  <a:tcPr marL="91342" marR="91342" marT="44456" marB="4445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1306830" rtl="0" eaLnBrk="1" fontAlgn="base" latinLnBrk="0" hangingPunct="1">
                        <a:lnSpc>
                          <a:spcPct val="100000"/>
                        </a:lnSpc>
                        <a:spcBef>
                          <a:spcPct val="20000"/>
                        </a:spcBef>
                        <a:spcAft>
                          <a:spcPct val="0"/>
                        </a:spcAft>
                        <a:buClrTx/>
                        <a:buSzTx/>
                        <a:buFontTx/>
                        <a:buNone/>
                      </a:pPr>
                      <a:r>
                        <a:rPr kumimoji="1" lang="zh-CN" altLang="en-US" sz="1600" b="0" i="0" u="none" strike="noStrike" cap="none" normalizeH="0" baseline="0" dirty="0">
                          <a:ln>
                            <a:noFill/>
                          </a:ln>
                          <a:solidFill>
                            <a:srgbClr val="5850C2"/>
                          </a:solidFill>
                          <a:effectLst/>
                          <a:latin typeface="Times New Roman" panose="02020603050405020304" pitchFamily="18" charset="0"/>
                          <a:ea typeface="黑体" panose="02010609060101010101" pitchFamily="49" charset="-122"/>
                        </a:rPr>
                        <a:t>集成电路</a:t>
                      </a:r>
                    </a:p>
                  </a:txBody>
                  <a:tcPr marL="91342" marR="91342" marT="44456" marB="4445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1306830" rtl="0" eaLnBrk="1" fontAlgn="base" latinLnBrk="0" hangingPunct="1">
                        <a:lnSpc>
                          <a:spcPct val="100000"/>
                        </a:lnSpc>
                        <a:spcBef>
                          <a:spcPct val="20000"/>
                        </a:spcBef>
                        <a:spcAft>
                          <a:spcPct val="0"/>
                        </a:spcAft>
                        <a:buClrTx/>
                        <a:buSzTx/>
                        <a:buFontTx/>
                        <a:buNone/>
                      </a:pPr>
                      <a:r>
                        <a:rPr kumimoji="1" lang="zh-CN" altLang="en-US" sz="1600" b="0" i="0" u="none" strike="noStrike" cap="none" normalizeH="0" baseline="0">
                          <a:ln>
                            <a:noFill/>
                          </a:ln>
                          <a:solidFill>
                            <a:srgbClr val="5850C2"/>
                          </a:solidFill>
                          <a:effectLst/>
                          <a:latin typeface="Times New Roman" panose="02020603050405020304" pitchFamily="18" charset="0"/>
                          <a:ea typeface="黑体" panose="02010609060101010101" pitchFamily="49" charset="-122"/>
                        </a:rPr>
                        <a:t>每秒几百万次 </a:t>
                      </a:r>
                    </a:p>
                  </a:txBody>
                  <a:tcPr marL="91342" marR="91342" marT="44456" marB="4445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1306830" rtl="0" eaLnBrk="1" fontAlgn="base" latinLnBrk="0" hangingPunct="1">
                        <a:lnSpc>
                          <a:spcPct val="100000"/>
                        </a:lnSpc>
                        <a:spcBef>
                          <a:spcPct val="20000"/>
                        </a:spcBef>
                        <a:spcAft>
                          <a:spcPct val="0"/>
                        </a:spcAft>
                        <a:buClrTx/>
                        <a:buSzTx/>
                        <a:buFontTx/>
                        <a:buNone/>
                      </a:pPr>
                      <a:r>
                        <a:rPr kumimoji="1" lang="zh-CN" altLang="en-US" sz="1600" b="0" i="0" u="none" strike="noStrike" cap="none" normalizeH="0" baseline="0" dirty="0">
                          <a:ln>
                            <a:noFill/>
                          </a:ln>
                          <a:solidFill>
                            <a:srgbClr val="5850C2"/>
                          </a:solidFill>
                          <a:effectLst/>
                          <a:latin typeface="Times New Roman" panose="02020603050405020304" pitchFamily="18" charset="0"/>
                          <a:ea typeface="黑体" panose="02010609060101010101" pitchFamily="49" charset="-122"/>
                        </a:rPr>
                        <a:t>操作系统</a:t>
                      </a:r>
                    </a:p>
                  </a:txBody>
                  <a:tcPr marL="91342" marR="91342" marT="44456" marB="4445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1306830" rtl="0" eaLnBrk="1" fontAlgn="base" latinLnBrk="0" hangingPunct="1">
                        <a:lnSpc>
                          <a:spcPct val="100000"/>
                        </a:lnSpc>
                        <a:spcBef>
                          <a:spcPct val="20000"/>
                        </a:spcBef>
                        <a:spcAft>
                          <a:spcPct val="0"/>
                        </a:spcAft>
                        <a:buClrTx/>
                        <a:buSzTx/>
                        <a:buFontTx/>
                        <a:buNone/>
                      </a:pPr>
                      <a:r>
                        <a:rPr kumimoji="1" lang="zh-CN" altLang="en-US" sz="1600" b="0" i="0" u="none" strike="noStrike" cap="none" normalizeH="0" baseline="0">
                          <a:ln>
                            <a:noFill/>
                          </a:ln>
                          <a:solidFill>
                            <a:srgbClr val="5850C2"/>
                          </a:solidFill>
                          <a:effectLst/>
                          <a:latin typeface="Times New Roman" panose="02020603050405020304" pitchFamily="18" charset="0"/>
                          <a:ea typeface="黑体" panose="02010609060101010101" pitchFamily="49" charset="-122"/>
                        </a:rPr>
                        <a:t>文字处理</a:t>
                      </a:r>
                    </a:p>
                    <a:p>
                      <a:pPr marL="0" marR="0" lvl="0" indent="0" algn="ctr" defTabSz="1306830" rtl="0" eaLnBrk="1" fontAlgn="base" latinLnBrk="0" hangingPunct="1">
                        <a:lnSpc>
                          <a:spcPct val="100000"/>
                        </a:lnSpc>
                        <a:spcBef>
                          <a:spcPct val="20000"/>
                        </a:spcBef>
                        <a:spcAft>
                          <a:spcPct val="0"/>
                        </a:spcAft>
                        <a:buClrTx/>
                        <a:buSzTx/>
                        <a:buFontTx/>
                        <a:buNone/>
                      </a:pPr>
                      <a:r>
                        <a:rPr kumimoji="1" lang="zh-CN" altLang="en-US" sz="1600" b="0" i="0" u="none" strike="noStrike" cap="none" normalizeH="0" baseline="0">
                          <a:ln>
                            <a:noFill/>
                          </a:ln>
                          <a:solidFill>
                            <a:srgbClr val="5850C2"/>
                          </a:solidFill>
                          <a:effectLst/>
                          <a:latin typeface="Times New Roman" panose="02020603050405020304" pitchFamily="18" charset="0"/>
                          <a:ea typeface="黑体" panose="02010609060101010101" pitchFamily="49" charset="-122"/>
                        </a:rPr>
                        <a:t>图形处理</a:t>
                      </a:r>
                    </a:p>
                  </a:txBody>
                  <a:tcPr marL="91342" marR="91342" marT="44456" marB="4445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3"/>
                  </a:ext>
                </a:extLst>
              </a:tr>
              <a:tr h="447627">
                <a:tc>
                  <a:txBody>
                    <a:bodyPr/>
                    <a:lstStyle/>
                    <a:p>
                      <a:pPr marL="0" marR="0" lvl="0" indent="0" algn="ctr" defTabSz="1306830" rtl="0" eaLnBrk="1" fontAlgn="base" latinLnBrk="0" hangingPunct="1">
                        <a:lnSpc>
                          <a:spcPct val="100000"/>
                        </a:lnSpc>
                        <a:spcBef>
                          <a:spcPct val="20000"/>
                        </a:spcBef>
                        <a:spcAft>
                          <a:spcPct val="0"/>
                        </a:spcAft>
                        <a:buClrTx/>
                        <a:buSzTx/>
                        <a:buFontTx/>
                        <a:buNone/>
                      </a:pPr>
                      <a:r>
                        <a:rPr kumimoji="1" lang="zh-CN" altLang="en-US" sz="1600" b="0" i="0" u="none" strike="noStrike" cap="none" normalizeH="0" baseline="0">
                          <a:ln>
                            <a:noFill/>
                          </a:ln>
                          <a:solidFill>
                            <a:srgbClr val="5850C2"/>
                          </a:solidFill>
                          <a:effectLst/>
                          <a:latin typeface="Times New Roman" panose="02020603050405020304" pitchFamily="18" charset="0"/>
                          <a:ea typeface="黑体" panose="02010609060101010101" pitchFamily="49" charset="-122"/>
                        </a:rPr>
                        <a:t>四</a:t>
                      </a:r>
                    </a:p>
                  </a:txBody>
                  <a:tcPr marL="91342" marR="91342" marT="44456" marB="44456"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1306830" rtl="0" eaLnBrk="1" fontAlgn="ctr" latinLnBrk="0" hangingPunct="1">
                        <a:lnSpc>
                          <a:spcPct val="100000"/>
                        </a:lnSpc>
                        <a:spcBef>
                          <a:spcPct val="20000"/>
                        </a:spcBef>
                        <a:spcAft>
                          <a:spcPct val="0"/>
                        </a:spcAft>
                        <a:buClrTx/>
                        <a:buSzTx/>
                        <a:buFontTx/>
                        <a:buNone/>
                      </a:pPr>
                      <a:r>
                        <a:rPr kumimoji="1" lang="en-US" altLang="zh-CN" sz="1600" b="0" i="0" u="none" strike="noStrike" cap="none" normalizeH="0" baseline="0" dirty="0">
                          <a:ln>
                            <a:noFill/>
                          </a:ln>
                          <a:solidFill>
                            <a:srgbClr val="5850C2"/>
                          </a:solidFill>
                          <a:effectLst/>
                          <a:latin typeface="Times New Roman" panose="02020603050405020304" pitchFamily="18" charset="0"/>
                          <a:ea typeface="黑体" panose="02010609060101010101" pitchFamily="49" charset="-122"/>
                        </a:rPr>
                        <a:t>71</a:t>
                      </a:r>
                      <a:r>
                        <a:rPr kumimoji="1" lang="zh-CN" altLang="en-US" sz="1600" b="0" i="0" u="none" strike="noStrike" cap="none" normalizeH="0" baseline="0" dirty="0">
                          <a:ln>
                            <a:noFill/>
                          </a:ln>
                          <a:solidFill>
                            <a:srgbClr val="5850C2"/>
                          </a:solidFill>
                          <a:effectLst/>
                          <a:latin typeface="Times New Roman" panose="02020603050405020304" pitchFamily="18" charset="0"/>
                          <a:ea typeface="黑体" panose="02010609060101010101" pitchFamily="49" charset="-122"/>
                        </a:rPr>
                        <a:t>年迄今</a:t>
                      </a:r>
                    </a:p>
                  </a:txBody>
                  <a:tcPr marL="91342" marR="91342" marT="44456" marB="4445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1306830" rtl="0" eaLnBrk="1" fontAlgn="ctr" latinLnBrk="0" hangingPunct="1">
                        <a:lnSpc>
                          <a:spcPct val="100000"/>
                        </a:lnSpc>
                        <a:spcBef>
                          <a:spcPct val="20000"/>
                        </a:spcBef>
                        <a:spcAft>
                          <a:spcPct val="0"/>
                        </a:spcAft>
                        <a:buClrTx/>
                        <a:buSzTx/>
                        <a:buFontTx/>
                        <a:buNone/>
                      </a:pPr>
                      <a:r>
                        <a:rPr kumimoji="1" lang="zh-CN" altLang="en-US" sz="1600" b="0" i="0" u="none" strike="noStrike" cap="none" normalizeH="0" baseline="0" dirty="0">
                          <a:ln>
                            <a:noFill/>
                          </a:ln>
                          <a:solidFill>
                            <a:srgbClr val="5850C2"/>
                          </a:solidFill>
                          <a:effectLst/>
                          <a:latin typeface="Times New Roman" panose="02020603050405020304" pitchFamily="18" charset="0"/>
                          <a:ea typeface="黑体" panose="02010609060101010101" pitchFamily="49" charset="-122"/>
                        </a:rPr>
                        <a:t>大规模集成电路</a:t>
                      </a:r>
                    </a:p>
                  </a:txBody>
                  <a:tcPr marL="91342" marR="91342" marT="44456" marB="4445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1306830" rtl="0" eaLnBrk="1" fontAlgn="base" latinLnBrk="0" hangingPunct="1">
                        <a:lnSpc>
                          <a:spcPct val="100000"/>
                        </a:lnSpc>
                        <a:spcBef>
                          <a:spcPct val="20000"/>
                        </a:spcBef>
                        <a:spcAft>
                          <a:spcPct val="0"/>
                        </a:spcAft>
                        <a:buClrTx/>
                        <a:buSzTx/>
                        <a:buFontTx/>
                        <a:buNone/>
                      </a:pPr>
                      <a:r>
                        <a:rPr kumimoji="1" lang="zh-CN" altLang="en-US" sz="1600" b="0" i="0" u="none" strike="noStrike" cap="none" normalizeH="0" baseline="0" dirty="0">
                          <a:ln>
                            <a:noFill/>
                          </a:ln>
                          <a:solidFill>
                            <a:srgbClr val="5850C2"/>
                          </a:solidFill>
                          <a:effectLst/>
                          <a:latin typeface="Times New Roman" panose="02020603050405020304" pitchFamily="18" charset="0"/>
                          <a:ea typeface="黑体" panose="02010609060101010101" pitchFamily="49" charset="-122"/>
                        </a:rPr>
                        <a:t>达到每秒亿亿次 </a:t>
                      </a:r>
                    </a:p>
                  </a:txBody>
                  <a:tcPr marL="91342" marR="91342" marT="44456" marB="4445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1306830" rtl="0" eaLnBrk="1" fontAlgn="base" latinLnBrk="0" hangingPunct="1">
                        <a:lnSpc>
                          <a:spcPct val="100000"/>
                        </a:lnSpc>
                        <a:spcBef>
                          <a:spcPct val="20000"/>
                        </a:spcBef>
                        <a:spcAft>
                          <a:spcPct val="0"/>
                        </a:spcAft>
                        <a:buClrTx/>
                        <a:buSzTx/>
                        <a:buFontTx/>
                        <a:buNone/>
                      </a:pPr>
                      <a:r>
                        <a:rPr kumimoji="1" lang="zh-CN" altLang="en-US" sz="1600" b="0" i="0" u="none" strike="noStrike" cap="none" normalizeH="0" baseline="0" dirty="0">
                          <a:ln>
                            <a:noFill/>
                          </a:ln>
                          <a:solidFill>
                            <a:srgbClr val="5850C2"/>
                          </a:solidFill>
                          <a:effectLst/>
                          <a:latin typeface="Times New Roman" panose="02020603050405020304" pitchFamily="18" charset="0"/>
                          <a:ea typeface="黑体" panose="02010609060101010101" pitchFamily="49" charset="-122"/>
                        </a:rPr>
                        <a:t>数据库、网络等</a:t>
                      </a:r>
                    </a:p>
                  </a:txBody>
                  <a:tcPr marL="91342" marR="91342" marT="44456" marB="4445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1306830" rtl="0" eaLnBrk="1" fontAlgn="base" latinLnBrk="0" hangingPunct="1">
                        <a:lnSpc>
                          <a:spcPct val="100000"/>
                        </a:lnSpc>
                        <a:spcBef>
                          <a:spcPct val="20000"/>
                        </a:spcBef>
                        <a:spcAft>
                          <a:spcPct val="0"/>
                        </a:spcAft>
                        <a:buClrTx/>
                        <a:buSzTx/>
                        <a:buFontTx/>
                        <a:buNone/>
                      </a:pPr>
                      <a:r>
                        <a:rPr kumimoji="1" lang="zh-CN" altLang="en-US" sz="1600" b="0" i="0" u="none" strike="noStrike" cap="none" normalizeH="0" baseline="0" dirty="0">
                          <a:ln>
                            <a:noFill/>
                          </a:ln>
                          <a:solidFill>
                            <a:srgbClr val="5850C2"/>
                          </a:solidFill>
                          <a:effectLst/>
                          <a:latin typeface="Times New Roman" panose="02020603050405020304" pitchFamily="18" charset="0"/>
                          <a:ea typeface="黑体" panose="02010609060101010101" pitchFamily="49" charset="-122"/>
                        </a:rPr>
                        <a:t>各个领域</a:t>
                      </a:r>
                    </a:p>
                  </a:txBody>
                  <a:tcPr marL="91342" marR="91342" marT="44456" marB="4445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4"/>
                  </a:ext>
                </a:extLst>
              </a:tr>
            </a:tbl>
          </a:graphicData>
        </a:graphic>
      </p:graphicFrame>
      <p:graphicFrame>
        <p:nvGraphicFramePr>
          <p:cNvPr id="13" name="Object 346">
            <a:extLst>
              <a:ext uri="{FF2B5EF4-FFF2-40B4-BE49-F238E27FC236}">
                <a16:creationId xmlns:a16="http://schemas.microsoft.com/office/drawing/2014/main" id="{7851D44F-3DB7-4BED-AAC3-FF0289DD5E1F}"/>
              </a:ext>
            </a:extLst>
          </p:cNvPr>
          <p:cNvGraphicFramePr/>
          <p:nvPr/>
        </p:nvGraphicFramePr>
        <p:xfrm>
          <a:off x="1819053" y="4298839"/>
          <a:ext cx="1358900" cy="1462088"/>
        </p:xfrm>
        <a:graphic>
          <a:graphicData uri="http://schemas.openxmlformats.org/presentationml/2006/ole">
            <mc:AlternateContent xmlns:mc="http://schemas.openxmlformats.org/markup-compatibility/2006">
              <mc:Choice xmlns:v="urn:schemas-microsoft-com:vml" Requires="v">
                <p:oleObj name="Image" r:id="rId5" imgW="1244600" imgH="1803400" progId="">
                  <p:embed/>
                </p:oleObj>
              </mc:Choice>
              <mc:Fallback>
                <p:oleObj name="Image" r:id="rId5" imgW="1244600" imgH="1803400" progId="">
                  <p:embed/>
                  <p:pic>
                    <p:nvPicPr>
                      <p:cNvPr id="13" name="Object 346">
                        <a:extLst>
                          <a:ext uri="{FF2B5EF4-FFF2-40B4-BE49-F238E27FC236}">
                            <a16:creationId xmlns:a16="http://schemas.microsoft.com/office/drawing/2014/main" id="{7851D44F-3DB7-4BED-AAC3-FF0289DD5E1F}"/>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19053" y="4298839"/>
                        <a:ext cx="1358900" cy="1462088"/>
                      </a:xfrm>
                      <a:prstGeom prst="rect">
                        <a:avLst/>
                      </a:prstGeom>
                      <a:noFill/>
                      <a:ln>
                        <a:noFill/>
                      </a:ln>
                      <a:effectLst/>
                    </p:spPr>
                  </p:pic>
                </p:oleObj>
              </mc:Fallback>
            </mc:AlternateContent>
          </a:graphicData>
        </a:graphic>
      </p:graphicFrame>
      <p:pic>
        <p:nvPicPr>
          <p:cNvPr id="15" name="Picture 349" descr="图2-1-6">
            <a:extLst>
              <a:ext uri="{FF2B5EF4-FFF2-40B4-BE49-F238E27FC236}">
                <a16:creationId xmlns:a16="http://schemas.microsoft.com/office/drawing/2014/main" id="{BFEA777B-0EDA-48C1-97F2-A280D63E10C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240365" y="4113102"/>
            <a:ext cx="2873375"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350" descr="图2-1-14">
            <a:extLst>
              <a:ext uri="{FF2B5EF4-FFF2-40B4-BE49-F238E27FC236}">
                <a16:creationId xmlns:a16="http://schemas.microsoft.com/office/drawing/2014/main" id="{39ED8626-FE25-4B04-8E78-A663BEACAE8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97028" y="4476639"/>
            <a:ext cx="1828800" cy="1254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7" name="Object 352">
            <a:extLst>
              <a:ext uri="{FF2B5EF4-FFF2-40B4-BE49-F238E27FC236}">
                <a16:creationId xmlns:a16="http://schemas.microsoft.com/office/drawing/2014/main" id="{22D232B7-D94D-4CA9-87AE-A2E2F90AF693}"/>
              </a:ext>
            </a:extLst>
          </p:cNvPr>
          <p:cNvGraphicFramePr/>
          <p:nvPr/>
        </p:nvGraphicFramePr>
        <p:xfrm>
          <a:off x="5487765" y="4529027"/>
          <a:ext cx="1514475" cy="1201737"/>
        </p:xfrm>
        <a:graphic>
          <a:graphicData uri="http://schemas.openxmlformats.org/presentationml/2006/ole">
            <mc:AlternateContent xmlns:mc="http://schemas.openxmlformats.org/markup-compatibility/2006">
              <mc:Choice xmlns:v="urn:schemas-microsoft-com:vml" Requires="v">
                <p:oleObj name="Image" r:id="rId9" imgW="1384300" imgH="1155700" progId="">
                  <p:embed/>
                </p:oleObj>
              </mc:Choice>
              <mc:Fallback>
                <p:oleObj name="Image" r:id="rId9" imgW="1384300" imgH="1155700" progId="">
                  <p:embed/>
                  <p:pic>
                    <p:nvPicPr>
                      <p:cNvPr id="17" name="Object 352">
                        <a:extLst>
                          <a:ext uri="{FF2B5EF4-FFF2-40B4-BE49-F238E27FC236}">
                            <a16:creationId xmlns:a16="http://schemas.microsoft.com/office/drawing/2014/main" id="{22D232B7-D94D-4CA9-87AE-A2E2F90AF693}"/>
                          </a:ext>
                        </a:extLst>
                      </p:cNvPr>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87765" y="4529027"/>
                        <a:ext cx="1514475" cy="1201737"/>
                      </a:xfrm>
                      <a:prstGeom prst="rect">
                        <a:avLst/>
                      </a:prstGeom>
                      <a:noFill/>
                      <a:ln>
                        <a:noFill/>
                      </a:ln>
                      <a:effectLst/>
                    </p:spPr>
                  </p:pic>
                </p:oleObj>
              </mc:Fallback>
            </mc:AlternateContent>
          </a:graphicData>
        </a:graphic>
      </p:graphicFrame>
      <p:sp>
        <p:nvSpPr>
          <p:cNvPr id="18" name="Rectangle 354">
            <a:extLst>
              <a:ext uri="{FF2B5EF4-FFF2-40B4-BE49-F238E27FC236}">
                <a16:creationId xmlns:a16="http://schemas.microsoft.com/office/drawing/2014/main" id="{5953FC5B-C87C-4095-9371-4EE568BD7135}"/>
              </a:ext>
            </a:extLst>
          </p:cNvPr>
          <p:cNvSpPr>
            <a:spLocks noChangeArrowheads="1"/>
          </p:cNvSpPr>
          <p:nvPr/>
        </p:nvSpPr>
        <p:spPr bwMode="auto">
          <a:xfrm>
            <a:off x="2015903" y="5789502"/>
            <a:ext cx="1185862"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1306830">
              <a:spcBef>
                <a:spcPct val="20000"/>
              </a:spcBef>
              <a:buChar char="•"/>
              <a:defRPr kumimoji="1" sz="3600" b="1">
                <a:solidFill>
                  <a:schemeClr val="bg1"/>
                </a:solidFill>
                <a:latin typeface="Times New Roman" panose="02020603050405020304" pitchFamily="18" charset="0"/>
                <a:ea typeface="宋体" panose="02010600030101010101" pitchFamily="2" charset="-122"/>
              </a:defRPr>
            </a:lvl1pPr>
            <a:lvl2pPr marL="742950" indent="-285750" defTabSz="1306830">
              <a:spcBef>
                <a:spcPct val="20000"/>
              </a:spcBef>
              <a:defRPr kumimoji="1" sz="3000">
                <a:solidFill>
                  <a:schemeClr val="bg1"/>
                </a:solidFill>
                <a:latin typeface="Times New Roman" panose="02020603050405020304" pitchFamily="18" charset="0"/>
                <a:ea typeface="宋体" panose="02010600030101010101" pitchFamily="2" charset="-122"/>
              </a:defRPr>
            </a:lvl2pPr>
            <a:lvl3pPr marL="1143000" indent="-228600" defTabSz="1306830">
              <a:spcBef>
                <a:spcPct val="20000"/>
              </a:spcBef>
              <a:buChar char="•"/>
              <a:defRPr kumimoji="1" sz="3500">
                <a:solidFill>
                  <a:schemeClr val="bg1"/>
                </a:solidFill>
                <a:latin typeface="Times New Roman" panose="02020603050405020304" pitchFamily="18" charset="0"/>
                <a:ea typeface="宋体" panose="02010600030101010101" pitchFamily="2" charset="-122"/>
              </a:defRPr>
            </a:lvl3pPr>
            <a:lvl4pPr marL="1600200" indent="-228600" defTabSz="1306830">
              <a:spcBef>
                <a:spcPct val="20000"/>
              </a:spcBef>
              <a:buChar char="–"/>
              <a:defRPr kumimoji="1" sz="2900">
                <a:solidFill>
                  <a:schemeClr val="bg1"/>
                </a:solidFill>
                <a:latin typeface="Times New Roman" panose="02020603050405020304" pitchFamily="18" charset="0"/>
                <a:ea typeface="宋体" panose="02010600030101010101" pitchFamily="2" charset="-122"/>
              </a:defRPr>
            </a:lvl4pPr>
            <a:lvl5pPr marL="2057400" indent="-228600" defTabSz="1306830">
              <a:spcBef>
                <a:spcPct val="20000"/>
              </a:spcBef>
              <a:buChar char="»"/>
              <a:defRPr kumimoji="1" sz="2900">
                <a:solidFill>
                  <a:schemeClr val="bg1"/>
                </a:solidFill>
                <a:latin typeface="Times New Roman" panose="02020603050405020304" pitchFamily="18" charset="0"/>
                <a:ea typeface="宋体" panose="02010600030101010101" pitchFamily="2" charset="-122"/>
              </a:defRPr>
            </a:lvl5pPr>
            <a:lvl6pPr marL="2514600" indent="-228600" defTabSz="1306830" eaLnBrk="0" fontAlgn="base" hangingPunct="0">
              <a:spcBef>
                <a:spcPct val="20000"/>
              </a:spcBef>
              <a:spcAft>
                <a:spcPct val="0"/>
              </a:spcAft>
              <a:buChar char="»"/>
              <a:defRPr kumimoji="1" sz="2900">
                <a:solidFill>
                  <a:schemeClr val="bg1"/>
                </a:solidFill>
                <a:latin typeface="Times New Roman" panose="02020603050405020304" pitchFamily="18" charset="0"/>
                <a:ea typeface="宋体" panose="02010600030101010101" pitchFamily="2" charset="-122"/>
              </a:defRPr>
            </a:lvl6pPr>
            <a:lvl7pPr marL="2971800" indent="-228600" defTabSz="1306830" eaLnBrk="0" fontAlgn="base" hangingPunct="0">
              <a:spcBef>
                <a:spcPct val="20000"/>
              </a:spcBef>
              <a:spcAft>
                <a:spcPct val="0"/>
              </a:spcAft>
              <a:buChar char="»"/>
              <a:defRPr kumimoji="1" sz="2900">
                <a:solidFill>
                  <a:schemeClr val="bg1"/>
                </a:solidFill>
                <a:latin typeface="Times New Roman" panose="02020603050405020304" pitchFamily="18" charset="0"/>
                <a:ea typeface="宋体" panose="02010600030101010101" pitchFamily="2" charset="-122"/>
              </a:defRPr>
            </a:lvl7pPr>
            <a:lvl8pPr marL="3429000" indent="-228600" defTabSz="1306830" eaLnBrk="0" fontAlgn="base" hangingPunct="0">
              <a:spcBef>
                <a:spcPct val="20000"/>
              </a:spcBef>
              <a:spcAft>
                <a:spcPct val="0"/>
              </a:spcAft>
              <a:buChar char="»"/>
              <a:defRPr kumimoji="1" sz="2900">
                <a:solidFill>
                  <a:schemeClr val="bg1"/>
                </a:solidFill>
                <a:latin typeface="Times New Roman" panose="02020603050405020304" pitchFamily="18" charset="0"/>
                <a:ea typeface="宋体" panose="02010600030101010101" pitchFamily="2" charset="-122"/>
              </a:defRPr>
            </a:lvl8pPr>
            <a:lvl9pPr marL="3886200" indent="-228600" defTabSz="1306830" eaLnBrk="0" fontAlgn="base" hangingPunct="0">
              <a:spcBef>
                <a:spcPct val="20000"/>
              </a:spcBef>
              <a:spcAft>
                <a:spcPct val="0"/>
              </a:spcAft>
              <a:buChar char="»"/>
              <a:defRPr kumimoji="1" sz="2900">
                <a:solidFill>
                  <a:schemeClr val="bg1"/>
                </a:solidFill>
                <a:latin typeface="Times New Roman" panose="02020603050405020304" pitchFamily="18" charset="0"/>
                <a:ea typeface="宋体" panose="02010600030101010101" pitchFamily="2" charset="-122"/>
              </a:defRPr>
            </a:lvl9pPr>
          </a:lstStyle>
          <a:p>
            <a:pPr algn="ctr" eaLnBrk="1" hangingPunct="1">
              <a:spcBef>
                <a:spcPct val="0"/>
              </a:spcBef>
              <a:buFontTx/>
              <a:buNone/>
              <a:defRPr/>
            </a:pPr>
            <a:r>
              <a:rPr lang="zh-CN" altLang="en-US" sz="2195">
                <a:solidFill>
                  <a:srgbClr val="000066"/>
                </a:solidFill>
              </a:rPr>
              <a:t>电子管</a:t>
            </a:r>
          </a:p>
        </p:txBody>
      </p:sp>
      <p:sp>
        <p:nvSpPr>
          <p:cNvPr id="19" name="Rectangle 355">
            <a:extLst>
              <a:ext uri="{FF2B5EF4-FFF2-40B4-BE49-F238E27FC236}">
                <a16:creationId xmlns:a16="http://schemas.microsoft.com/office/drawing/2014/main" id="{CE18FE1D-AF73-4436-A975-41B6B7998EEA}"/>
              </a:ext>
            </a:extLst>
          </p:cNvPr>
          <p:cNvSpPr>
            <a:spLocks noChangeArrowheads="1"/>
          </p:cNvSpPr>
          <p:nvPr/>
        </p:nvSpPr>
        <p:spPr bwMode="auto">
          <a:xfrm>
            <a:off x="3744690" y="5743464"/>
            <a:ext cx="1235075"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1306830">
              <a:spcBef>
                <a:spcPct val="20000"/>
              </a:spcBef>
              <a:buChar char="•"/>
              <a:defRPr kumimoji="1" sz="3600" b="1">
                <a:solidFill>
                  <a:schemeClr val="bg1"/>
                </a:solidFill>
                <a:latin typeface="Times New Roman" panose="02020603050405020304" pitchFamily="18" charset="0"/>
                <a:ea typeface="宋体" panose="02010600030101010101" pitchFamily="2" charset="-122"/>
              </a:defRPr>
            </a:lvl1pPr>
            <a:lvl2pPr marL="742950" indent="-285750" defTabSz="1306830">
              <a:spcBef>
                <a:spcPct val="20000"/>
              </a:spcBef>
              <a:defRPr kumimoji="1" sz="3000">
                <a:solidFill>
                  <a:schemeClr val="bg1"/>
                </a:solidFill>
                <a:latin typeface="Times New Roman" panose="02020603050405020304" pitchFamily="18" charset="0"/>
                <a:ea typeface="宋体" panose="02010600030101010101" pitchFamily="2" charset="-122"/>
              </a:defRPr>
            </a:lvl2pPr>
            <a:lvl3pPr marL="1143000" indent="-228600" defTabSz="1306830">
              <a:spcBef>
                <a:spcPct val="20000"/>
              </a:spcBef>
              <a:buChar char="•"/>
              <a:defRPr kumimoji="1" sz="3500">
                <a:solidFill>
                  <a:schemeClr val="bg1"/>
                </a:solidFill>
                <a:latin typeface="Times New Roman" panose="02020603050405020304" pitchFamily="18" charset="0"/>
                <a:ea typeface="宋体" panose="02010600030101010101" pitchFamily="2" charset="-122"/>
              </a:defRPr>
            </a:lvl3pPr>
            <a:lvl4pPr marL="1600200" indent="-228600" defTabSz="1306830">
              <a:spcBef>
                <a:spcPct val="20000"/>
              </a:spcBef>
              <a:buChar char="–"/>
              <a:defRPr kumimoji="1" sz="2900">
                <a:solidFill>
                  <a:schemeClr val="bg1"/>
                </a:solidFill>
                <a:latin typeface="Times New Roman" panose="02020603050405020304" pitchFamily="18" charset="0"/>
                <a:ea typeface="宋体" panose="02010600030101010101" pitchFamily="2" charset="-122"/>
              </a:defRPr>
            </a:lvl4pPr>
            <a:lvl5pPr marL="2057400" indent="-228600" defTabSz="1306830">
              <a:spcBef>
                <a:spcPct val="20000"/>
              </a:spcBef>
              <a:buChar char="»"/>
              <a:defRPr kumimoji="1" sz="2900">
                <a:solidFill>
                  <a:schemeClr val="bg1"/>
                </a:solidFill>
                <a:latin typeface="Times New Roman" panose="02020603050405020304" pitchFamily="18" charset="0"/>
                <a:ea typeface="宋体" panose="02010600030101010101" pitchFamily="2" charset="-122"/>
              </a:defRPr>
            </a:lvl5pPr>
            <a:lvl6pPr marL="2514600" indent="-228600" defTabSz="1306830" eaLnBrk="0" fontAlgn="base" hangingPunct="0">
              <a:spcBef>
                <a:spcPct val="20000"/>
              </a:spcBef>
              <a:spcAft>
                <a:spcPct val="0"/>
              </a:spcAft>
              <a:buChar char="»"/>
              <a:defRPr kumimoji="1" sz="2900">
                <a:solidFill>
                  <a:schemeClr val="bg1"/>
                </a:solidFill>
                <a:latin typeface="Times New Roman" panose="02020603050405020304" pitchFamily="18" charset="0"/>
                <a:ea typeface="宋体" panose="02010600030101010101" pitchFamily="2" charset="-122"/>
              </a:defRPr>
            </a:lvl6pPr>
            <a:lvl7pPr marL="2971800" indent="-228600" defTabSz="1306830" eaLnBrk="0" fontAlgn="base" hangingPunct="0">
              <a:spcBef>
                <a:spcPct val="20000"/>
              </a:spcBef>
              <a:spcAft>
                <a:spcPct val="0"/>
              </a:spcAft>
              <a:buChar char="»"/>
              <a:defRPr kumimoji="1" sz="2900">
                <a:solidFill>
                  <a:schemeClr val="bg1"/>
                </a:solidFill>
                <a:latin typeface="Times New Roman" panose="02020603050405020304" pitchFamily="18" charset="0"/>
                <a:ea typeface="宋体" panose="02010600030101010101" pitchFamily="2" charset="-122"/>
              </a:defRPr>
            </a:lvl7pPr>
            <a:lvl8pPr marL="3429000" indent="-228600" defTabSz="1306830" eaLnBrk="0" fontAlgn="base" hangingPunct="0">
              <a:spcBef>
                <a:spcPct val="20000"/>
              </a:spcBef>
              <a:spcAft>
                <a:spcPct val="0"/>
              </a:spcAft>
              <a:buChar char="»"/>
              <a:defRPr kumimoji="1" sz="2900">
                <a:solidFill>
                  <a:schemeClr val="bg1"/>
                </a:solidFill>
                <a:latin typeface="Times New Roman" panose="02020603050405020304" pitchFamily="18" charset="0"/>
                <a:ea typeface="宋体" panose="02010600030101010101" pitchFamily="2" charset="-122"/>
              </a:defRPr>
            </a:lvl8pPr>
            <a:lvl9pPr marL="3886200" indent="-228600" defTabSz="1306830" eaLnBrk="0" fontAlgn="base" hangingPunct="0">
              <a:spcBef>
                <a:spcPct val="20000"/>
              </a:spcBef>
              <a:spcAft>
                <a:spcPct val="0"/>
              </a:spcAft>
              <a:buChar char="»"/>
              <a:defRPr kumimoji="1" sz="2900">
                <a:solidFill>
                  <a:schemeClr val="bg1"/>
                </a:solidFill>
                <a:latin typeface="Times New Roman" panose="02020603050405020304" pitchFamily="18" charset="0"/>
                <a:ea typeface="宋体" panose="02010600030101010101" pitchFamily="2" charset="-122"/>
              </a:defRPr>
            </a:lvl9pPr>
          </a:lstStyle>
          <a:p>
            <a:pPr algn="ctr" eaLnBrk="1" hangingPunct="1">
              <a:spcBef>
                <a:spcPct val="0"/>
              </a:spcBef>
              <a:buFontTx/>
              <a:buNone/>
              <a:defRPr/>
            </a:pPr>
            <a:r>
              <a:rPr lang="zh-CN" altLang="en-US" sz="2195">
                <a:solidFill>
                  <a:srgbClr val="000066"/>
                </a:solidFill>
              </a:rPr>
              <a:t>晶体管</a:t>
            </a:r>
          </a:p>
        </p:txBody>
      </p:sp>
      <p:sp>
        <p:nvSpPr>
          <p:cNvPr id="20" name="Rectangle 356">
            <a:extLst>
              <a:ext uri="{FF2B5EF4-FFF2-40B4-BE49-F238E27FC236}">
                <a16:creationId xmlns:a16="http://schemas.microsoft.com/office/drawing/2014/main" id="{B50B7FFB-901D-41A5-862D-E24D1FA23F80}"/>
              </a:ext>
            </a:extLst>
          </p:cNvPr>
          <p:cNvSpPr>
            <a:spLocks noChangeArrowheads="1"/>
          </p:cNvSpPr>
          <p:nvPr/>
        </p:nvSpPr>
        <p:spPr bwMode="auto">
          <a:xfrm>
            <a:off x="5522690" y="5743464"/>
            <a:ext cx="1479550"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1306830">
              <a:spcBef>
                <a:spcPct val="20000"/>
              </a:spcBef>
              <a:buChar char="•"/>
              <a:defRPr kumimoji="1" sz="3600" b="1">
                <a:solidFill>
                  <a:schemeClr val="bg1"/>
                </a:solidFill>
                <a:latin typeface="Times New Roman" panose="02020603050405020304" pitchFamily="18" charset="0"/>
                <a:ea typeface="宋体" panose="02010600030101010101" pitchFamily="2" charset="-122"/>
              </a:defRPr>
            </a:lvl1pPr>
            <a:lvl2pPr marL="742950" indent="-285750" defTabSz="1306830">
              <a:spcBef>
                <a:spcPct val="20000"/>
              </a:spcBef>
              <a:defRPr kumimoji="1" sz="3000">
                <a:solidFill>
                  <a:schemeClr val="bg1"/>
                </a:solidFill>
                <a:latin typeface="Times New Roman" panose="02020603050405020304" pitchFamily="18" charset="0"/>
                <a:ea typeface="宋体" panose="02010600030101010101" pitchFamily="2" charset="-122"/>
              </a:defRPr>
            </a:lvl2pPr>
            <a:lvl3pPr marL="1143000" indent="-228600" defTabSz="1306830">
              <a:spcBef>
                <a:spcPct val="20000"/>
              </a:spcBef>
              <a:buChar char="•"/>
              <a:defRPr kumimoji="1" sz="3500">
                <a:solidFill>
                  <a:schemeClr val="bg1"/>
                </a:solidFill>
                <a:latin typeface="Times New Roman" panose="02020603050405020304" pitchFamily="18" charset="0"/>
                <a:ea typeface="宋体" panose="02010600030101010101" pitchFamily="2" charset="-122"/>
              </a:defRPr>
            </a:lvl3pPr>
            <a:lvl4pPr marL="1600200" indent="-228600" defTabSz="1306830">
              <a:spcBef>
                <a:spcPct val="20000"/>
              </a:spcBef>
              <a:buChar char="–"/>
              <a:defRPr kumimoji="1" sz="2900">
                <a:solidFill>
                  <a:schemeClr val="bg1"/>
                </a:solidFill>
                <a:latin typeface="Times New Roman" panose="02020603050405020304" pitchFamily="18" charset="0"/>
                <a:ea typeface="宋体" panose="02010600030101010101" pitchFamily="2" charset="-122"/>
              </a:defRPr>
            </a:lvl4pPr>
            <a:lvl5pPr marL="2057400" indent="-228600" defTabSz="1306830">
              <a:spcBef>
                <a:spcPct val="20000"/>
              </a:spcBef>
              <a:buChar char="»"/>
              <a:defRPr kumimoji="1" sz="2900">
                <a:solidFill>
                  <a:schemeClr val="bg1"/>
                </a:solidFill>
                <a:latin typeface="Times New Roman" panose="02020603050405020304" pitchFamily="18" charset="0"/>
                <a:ea typeface="宋体" panose="02010600030101010101" pitchFamily="2" charset="-122"/>
              </a:defRPr>
            </a:lvl5pPr>
            <a:lvl6pPr marL="2514600" indent="-228600" defTabSz="1306830" eaLnBrk="0" fontAlgn="base" hangingPunct="0">
              <a:spcBef>
                <a:spcPct val="20000"/>
              </a:spcBef>
              <a:spcAft>
                <a:spcPct val="0"/>
              </a:spcAft>
              <a:buChar char="»"/>
              <a:defRPr kumimoji="1" sz="2900">
                <a:solidFill>
                  <a:schemeClr val="bg1"/>
                </a:solidFill>
                <a:latin typeface="Times New Roman" panose="02020603050405020304" pitchFamily="18" charset="0"/>
                <a:ea typeface="宋体" panose="02010600030101010101" pitchFamily="2" charset="-122"/>
              </a:defRPr>
            </a:lvl6pPr>
            <a:lvl7pPr marL="2971800" indent="-228600" defTabSz="1306830" eaLnBrk="0" fontAlgn="base" hangingPunct="0">
              <a:spcBef>
                <a:spcPct val="20000"/>
              </a:spcBef>
              <a:spcAft>
                <a:spcPct val="0"/>
              </a:spcAft>
              <a:buChar char="»"/>
              <a:defRPr kumimoji="1" sz="2900">
                <a:solidFill>
                  <a:schemeClr val="bg1"/>
                </a:solidFill>
                <a:latin typeface="Times New Roman" panose="02020603050405020304" pitchFamily="18" charset="0"/>
                <a:ea typeface="宋体" panose="02010600030101010101" pitchFamily="2" charset="-122"/>
              </a:defRPr>
            </a:lvl7pPr>
            <a:lvl8pPr marL="3429000" indent="-228600" defTabSz="1306830" eaLnBrk="0" fontAlgn="base" hangingPunct="0">
              <a:spcBef>
                <a:spcPct val="20000"/>
              </a:spcBef>
              <a:spcAft>
                <a:spcPct val="0"/>
              </a:spcAft>
              <a:buChar char="»"/>
              <a:defRPr kumimoji="1" sz="2900">
                <a:solidFill>
                  <a:schemeClr val="bg1"/>
                </a:solidFill>
                <a:latin typeface="Times New Roman" panose="02020603050405020304" pitchFamily="18" charset="0"/>
                <a:ea typeface="宋体" panose="02010600030101010101" pitchFamily="2" charset="-122"/>
              </a:defRPr>
            </a:lvl8pPr>
            <a:lvl9pPr marL="3886200" indent="-228600" defTabSz="1306830" eaLnBrk="0" fontAlgn="base" hangingPunct="0">
              <a:spcBef>
                <a:spcPct val="20000"/>
              </a:spcBef>
              <a:spcAft>
                <a:spcPct val="0"/>
              </a:spcAft>
              <a:buChar char="»"/>
              <a:defRPr kumimoji="1" sz="2900">
                <a:solidFill>
                  <a:schemeClr val="bg1"/>
                </a:solidFill>
                <a:latin typeface="Times New Roman" panose="02020603050405020304" pitchFamily="18" charset="0"/>
                <a:ea typeface="宋体" panose="02010600030101010101" pitchFamily="2" charset="-122"/>
              </a:defRPr>
            </a:lvl9pPr>
          </a:lstStyle>
          <a:p>
            <a:pPr algn="ctr" eaLnBrk="1" hangingPunct="1">
              <a:spcBef>
                <a:spcPct val="0"/>
              </a:spcBef>
              <a:buFontTx/>
              <a:buNone/>
              <a:defRPr/>
            </a:pPr>
            <a:r>
              <a:rPr lang="zh-CN" altLang="en-US" sz="2195">
                <a:solidFill>
                  <a:srgbClr val="000066"/>
                </a:solidFill>
              </a:rPr>
              <a:t>集成电路</a:t>
            </a:r>
          </a:p>
        </p:txBody>
      </p:sp>
      <p:sp>
        <p:nvSpPr>
          <p:cNvPr id="21" name="Rectangle 357">
            <a:extLst>
              <a:ext uri="{FF2B5EF4-FFF2-40B4-BE49-F238E27FC236}">
                <a16:creationId xmlns:a16="http://schemas.microsoft.com/office/drawing/2014/main" id="{489ACA4B-98C0-437D-96C8-1DC0079C7B35}"/>
              </a:ext>
            </a:extLst>
          </p:cNvPr>
          <p:cNvSpPr>
            <a:spLocks noChangeArrowheads="1"/>
          </p:cNvSpPr>
          <p:nvPr/>
        </p:nvSpPr>
        <p:spPr bwMode="auto">
          <a:xfrm>
            <a:off x="7595965" y="5743464"/>
            <a:ext cx="2233613"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1306830">
              <a:spcBef>
                <a:spcPct val="20000"/>
              </a:spcBef>
              <a:buChar char="•"/>
              <a:defRPr kumimoji="1" sz="3600" b="1">
                <a:solidFill>
                  <a:schemeClr val="bg1"/>
                </a:solidFill>
                <a:latin typeface="Times New Roman" panose="02020603050405020304" pitchFamily="18" charset="0"/>
                <a:ea typeface="宋体" panose="02010600030101010101" pitchFamily="2" charset="-122"/>
              </a:defRPr>
            </a:lvl1pPr>
            <a:lvl2pPr marL="742950" indent="-285750" defTabSz="1306830">
              <a:spcBef>
                <a:spcPct val="20000"/>
              </a:spcBef>
              <a:defRPr kumimoji="1" sz="3000">
                <a:solidFill>
                  <a:schemeClr val="bg1"/>
                </a:solidFill>
                <a:latin typeface="Times New Roman" panose="02020603050405020304" pitchFamily="18" charset="0"/>
                <a:ea typeface="宋体" panose="02010600030101010101" pitchFamily="2" charset="-122"/>
              </a:defRPr>
            </a:lvl2pPr>
            <a:lvl3pPr marL="1143000" indent="-228600" defTabSz="1306830">
              <a:spcBef>
                <a:spcPct val="20000"/>
              </a:spcBef>
              <a:buChar char="•"/>
              <a:defRPr kumimoji="1" sz="3500">
                <a:solidFill>
                  <a:schemeClr val="bg1"/>
                </a:solidFill>
                <a:latin typeface="Times New Roman" panose="02020603050405020304" pitchFamily="18" charset="0"/>
                <a:ea typeface="宋体" panose="02010600030101010101" pitchFamily="2" charset="-122"/>
              </a:defRPr>
            </a:lvl3pPr>
            <a:lvl4pPr marL="1600200" indent="-228600" defTabSz="1306830">
              <a:spcBef>
                <a:spcPct val="20000"/>
              </a:spcBef>
              <a:buChar char="–"/>
              <a:defRPr kumimoji="1" sz="2900">
                <a:solidFill>
                  <a:schemeClr val="bg1"/>
                </a:solidFill>
                <a:latin typeface="Times New Roman" panose="02020603050405020304" pitchFamily="18" charset="0"/>
                <a:ea typeface="宋体" panose="02010600030101010101" pitchFamily="2" charset="-122"/>
              </a:defRPr>
            </a:lvl4pPr>
            <a:lvl5pPr marL="2057400" indent="-228600" defTabSz="1306830">
              <a:spcBef>
                <a:spcPct val="20000"/>
              </a:spcBef>
              <a:buChar char="»"/>
              <a:defRPr kumimoji="1" sz="2900">
                <a:solidFill>
                  <a:schemeClr val="bg1"/>
                </a:solidFill>
                <a:latin typeface="Times New Roman" panose="02020603050405020304" pitchFamily="18" charset="0"/>
                <a:ea typeface="宋体" panose="02010600030101010101" pitchFamily="2" charset="-122"/>
              </a:defRPr>
            </a:lvl5pPr>
            <a:lvl6pPr marL="2514600" indent="-228600" defTabSz="1306830" eaLnBrk="0" fontAlgn="base" hangingPunct="0">
              <a:spcBef>
                <a:spcPct val="20000"/>
              </a:spcBef>
              <a:spcAft>
                <a:spcPct val="0"/>
              </a:spcAft>
              <a:buChar char="»"/>
              <a:defRPr kumimoji="1" sz="2900">
                <a:solidFill>
                  <a:schemeClr val="bg1"/>
                </a:solidFill>
                <a:latin typeface="Times New Roman" panose="02020603050405020304" pitchFamily="18" charset="0"/>
                <a:ea typeface="宋体" panose="02010600030101010101" pitchFamily="2" charset="-122"/>
              </a:defRPr>
            </a:lvl6pPr>
            <a:lvl7pPr marL="2971800" indent="-228600" defTabSz="1306830" eaLnBrk="0" fontAlgn="base" hangingPunct="0">
              <a:spcBef>
                <a:spcPct val="20000"/>
              </a:spcBef>
              <a:spcAft>
                <a:spcPct val="0"/>
              </a:spcAft>
              <a:buChar char="»"/>
              <a:defRPr kumimoji="1" sz="2900">
                <a:solidFill>
                  <a:schemeClr val="bg1"/>
                </a:solidFill>
                <a:latin typeface="Times New Roman" panose="02020603050405020304" pitchFamily="18" charset="0"/>
                <a:ea typeface="宋体" panose="02010600030101010101" pitchFamily="2" charset="-122"/>
              </a:defRPr>
            </a:lvl7pPr>
            <a:lvl8pPr marL="3429000" indent="-228600" defTabSz="1306830" eaLnBrk="0" fontAlgn="base" hangingPunct="0">
              <a:spcBef>
                <a:spcPct val="20000"/>
              </a:spcBef>
              <a:spcAft>
                <a:spcPct val="0"/>
              </a:spcAft>
              <a:buChar char="»"/>
              <a:defRPr kumimoji="1" sz="2900">
                <a:solidFill>
                  <a:schemeClr val="bg1"/>
                </a:solidFill>
                <a:latin typeface="Times New Roman" panose="02020603050405020304" pitchFamily="18" charset="0"/>
                <a:ea typeface="宋体" panose="02010600030101010101" pitchFamily="2" charset="-122"/>
              </a:defRPr>
            </a:lvl8pPr>
            <a:lvl9pPr marL="3886200" indent="-228600" defTabSz="1306830" eaLnBrk="0" fontAlgn="base" hangingPunct="0">
              <a:spcBef>
                <a:spcPct val="20000"/>
              </a:spcBef>
              <a:spcAft>
                <a:spcPct val="0"/>
              </a:spcAft>
              <a:buChar char="»"/>
              <a:defRPr kumimoji="1" sz="2900">
                <a:solidFill>
                  <a:schemeClr val="bg1"/>
                </a:solidFill>
                <a:latin typeface="Times New Roman" panose="02020603050405020304" pitchFamily="18" charset="0"/>
                <a:ea typeface="宋体" panose="02010600030101010101" pitchFamily="2" charset="-122"/>
              </a:defRPr>
            </a:lvl9pPr>
          </a:lstStyle>
          <a:p>
            <a:pPr algn="ctr" eaLnBrk="1" hangingPunct="1">
              <a:spcBef>
                <a:spcPct val="0"/>
              </a:spcBef>
              <a:buFontTx/>
              <a:buNone/>
              <a:defRPr/>
            </a:pPr>
            <a:r>
              <a:rPr lang="zh-CN" altLang="en-US" sz="2195">
                <a:solidFill>
                  <a:srgbClr val="000066"/>
                </a:solidFill>
              </a:rPr>
              <a:t>大规模集成电路</a:t>
            </a:r>
          </a:p>
        </p:txBody>
      </p:sp>
      <p:sp>
        <p:nvSpPr>
          <p:cNvPr id="22" name="Rectangle 22">
            <a:extLst>
              <a:ext uri="{FF2B5EF4-FFF2-40B4-BE49-F238E27FC236}">
                <a16:creationId xmlns:a16="http://schemas.microsoft.com/office/drawing/2014/main" id="{C2467768-5C01-4EDB-AF1B-D737644831DB}"/>
              </a:ext>
            </a:extLst>
          </p:cNvPr>
          <p:cNvSpPr>
            <a:spLocks noChangeArrowheads="1"/>
          </p:cNvSpPr>
          <p:nvPr/>
        </p:nvSpPr>
        <p:spPr bwMode="auto">
          <a:xfrm>
            <a:off x="7842028" y="4652852"/>
            <a:ext cx="1876425" cy="403225"/>
          </a:xfrm>
          <a:prstGeom prst="rect">
            <a:avLst/>
          </a:prstGeom>
          <a:solidFill>
            <a:srgbClr val="000066"/>
          </a:solidFill>
          <a:ln>
            <a:noFill/>
          </a:ln>
          <a:extLst>
            <a:ext uri="{91240B29-F687-4F45-9708-019B960494DF}">
              <a14:hiddenLine xmlns:a14="http://schemas.microsoft.com/office/drawing/2010/main" w="19050">
                <a:solidFill>
                  <a:srgbClr val="000000"/>
                </a:solidFill>
                <a:miter lim="800000"/>
                <a:headEnd/>
                <a:tailEnd/>
              </a14:hiddenLine>
            </a:ext>
          </a:extLst>
        </p:spPr>
        <p:txBody>
          <a:bodyPr lIns="61714" tIns="32091" rIns="61714" bIns="32091" anchor="ctr">
            <a:spAutoFit/>
          </a:bodyPr>
          <a:lstStyle>
            <a:lvl1pPr>
              <a:spcBef>
                <a:spcPct val="20000"/>
              </a:spcBef>
              <a:buChar char="•"/>
              <a:defRPr kumimoji="1" sz="3600" b="1">
                <a:solidFill>
                  <a:schemeClr val="bg1"/>
                </a:solidFill>
                <a:latin typeface="Times New Roman" panose="02020603050405020304" pitchFamily="18" charset="0"/>
                <a:ea typeface="宋体" panose="02010600030101010101" pitchFamily="2" charset="-122"/>
              </a:defRPr>
            </a:lvl1pPr>
            <a:lvl2pPr marL="742950" indent="-285750">
              <a:spcBef>
                <a:spcPct val="20000"/>
              </a:spcBef>
              <a:defRPr kumimoji="1" sz="3000">
                <a:solidFill>
                  <a:schemeClr val="bg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3500">
                <a:solidFill>
                  <a:schemeClr val="bg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900">
                <a:solidFill>
                  <a:schemeClr val="bg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900">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900">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900">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900">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900">
                <a:solidFill>
                  <a:schemeClr val="bg1"/>
                </a:solidFill>
                <a:latin typeface="Times New Roman" panose="02020603050405020304" pitchFamily="18" charset="0"/>
                <a:ea typeface="宋体" panose="02010600030101010101" pitchFamily="2" charset="-122"/>
              </a:defRPr>
            </a:lvl9pPr>
          </a:lstStyle>
          <a:p>
            <a:pPr algn="ctr" eaLnBrk="1" hangingPunct="1">
              <a:buFontTx/>
              <a:buNone/>
              <a:defRPr/>
            </a:pPr>
            <a:r>
              <a:rPr lang="zh-CN" altLang="zh-CN" sz="2195"/>
              <a:t>微型机诞生</a:t>
            </a:r>
            <a:endParaRPr lang="zh-CN" altLang="en-US" sz="2195"/>
          </a:p>
        </p:txBody>
      </p:sp>
      <p:sp>
        <p:nvSpPr>
          <p:cNvPr id="23" name="Rectangle 23">
            <a:extLst>
              <a:ext uri="{FF2B5EF4-FFF2-40B4-BE49-F238E27FC236}">
                <a16:creationId xmlns:a16="http://schemas.microsoft.com/office/drawing/2014/main" id="{5860F82B-8C53-45D6-8C38-6BE74682D271}"/>
              </a:ext>
            </a:extLst>
          </p:cNvPr>
          <p:cNvSpPr>
            <a:spLocks noChangeArrowheads="1"/>
          </p:cNvSpPr>
          <p:nvPr/>
        </p:nvSpPr>
        <p:spPr bwMode="auto">
          <a:xfrm>
            <a:off x="3546253" y="3620977"/>
            <a:ext cx="1728787" cy="365125"/>
          </a:xfrm>
          <a:prstGeom prst="rect">
            <a:avLst/>
          </a:prstGeom>
          <a:noFill/>
          <a:ln w="76200" cap="sq">
            <a:solidFill>
              <a:srgbClr val="66FF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600" b="1">
                <a:solidFill>
                  <a:schemeClr val="bg1"/>
                </a:solidFill>
                <a:latin typeface="Times New Roman" panose="02020603050405020304" pitchFamily="18" charset="0"/>
                <a:ea typeface="宋体" panose="02010600030101010101" pitchFamily="2" charset="-122"/>
              </a:defRPr>
            </a:lvl1pPr>
            <a:lvl2pPr marL="742950" indent="-285750">
              <a:spcBef>
                <a:spcPct val="20000"/>
              </a:spcBef>
              <a:defRPr kumimoji="1" sz="3000">
                <a:solidFill>
                  <a:schemeClr val="bg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3500">
                <a:solidFill>
                  <a:schemeClr val="bg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900">
                <a:solidFill>
                  <a:schemeClr val="bg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900">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900">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900">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900">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900">
                <a:solidFill>
                  <a:schemeClr val="bg1"/>
                </a:solidFill>
                <a:latin typeface="Times New Roman" panose="02020603050405020304" pitchFamily="18" charset="0"/>
                <a:ea typeface="宋体" panose="02010600030101010101" pitchFamily="2" charset="-122"/>
              </a:defRPr>
            </a:lvl9pPr>
          </a:lstStyle>
          <a:p>
            <a:pPr algn="ctr" eaLnBrk="1" hangingPunct="1">
              <a:spcBef>
                <a:spcPct val="0"/>
              </a:spcBef>
              <a:buFontTx/>
              <a:buNone/>
              <a:defRPr/>
            </a:pPr>
            <a:endParaRPr lang="zh-CN" altLang="en-US" sz="2195">
              <a:solidFill>
                <a:schemeClr val="tx2"/>
              </a:solidFill>
            </a:endParaRPr>
          </a:p>
        </p:txBody>
      </p:sp>
      <p:cxnSp>
        <p:nvCxnSpPr>
          <p:cNvPr id="24" name="直接箭头连接符 23">
            <a:extLst>
              <a:ext uri="{FF2B5EF4-FFF2-40B4-BE49-F238E27FC236}">
                <a16:creationId xmlns:a16="http://schemas.microsoft.com/office/drawing/2014/main" id="{633EA535-2CF3-4F8B-BAB2-6F4F400A428A}"/>
              </a:ext>
            </a:extLst>
          </p:cNvPr>
          <p:cNvCxnSpPr>
            <a:cxnSpLocks noChangeShapeType="1"/>
          </p:cNvCxnSpPr>
          <p:nvPr/>
        </p:nvCxnSpPr>
        <p:spPr bwMode="auto">
          <a:xfrm>
            <a:off x="4830540" y="4063889"/>
            <a:ext cx="3011488" cy="741363"/>
          </a:xfrm>
          <a:prstGeom prst="straightConnector1">
            <a:avLst/>
          </a:prstGeom>
          <a:noFill/>
          <a:ln w="76200" algn="ctr">
            <a:solidFill>
              <a:srgbClr val="0000FF"/>
            </a:solidFill>
            <a:round/>
            <a:tailEnd type="arrow" w="med" len="med"/>
          </a:ln>
          <a:extLst>
            <a:ext uri="{909E8E84-426E-40DD-AFC4-6F175D3DCCD1}">
              <a14:hiddenFill xmlns:a14="http://schemas.microsoft.com/office/drawing/2010/main">
                <a:noFill/>
              </a14:hiddenFill>
            </a:ext>
          </a:extLst>
        </p:spPr>
      </p:cxnSp>
      <p:pic>
        <p:nvPicPr>
          <p:cNvPr id="25" name="图片 24" descr="联想截图_20231214002915">
            <a:extLst>
              <a:ext uri="{FF2B5EF4-FFF2-40B4-BE49-F238E27FC236}">
                <a16:creationId xmlns:a16="http://schemas.microsoft.com/office/drawing/2014/main" id="{5ABB2CEE-4F2A-4C94-820B-1388A134CAC5}"/>
              </a:ext>
            </a:extLst>
          </p:cNvPr>
          <p:cNvPicPr>
            <a:picLocks noChangeAspect="1"/>
          </p:cNvPicPr>
          <p:nvPr>
            <p:custDataLst>
              <p:tags r:id="rId1"/>
            </p:custDataLst>
          </p:nvPr>
        </p:nvPicPr>
        <p:blipFill>
          <a:blip r:embed="rId11"/>
          <a:stretch>
            <a:fillRect/>
          </a:stretch>
        </p:blipFill>
        <p:spPr>
          <a:xfrm>
            <a:off x="4435475" y="6219825"/>
            <a:ext cx="545465" cy="546735"/>
          </a:xfrm>
          <a:prstGeom prst="rect">
            <a:avLst/>
          </a:prstGeom>
        </p:spPr>
      </p:pic>
    </p:spTree>
    <p:extLst>
      <p:ext uri="{BB962C8B-B14F-4D97-AF65-F5344CB8AC3E}">
        <p14:creationId xmlns:p14="http://schemas.microsoft.com/office/powerpoint/2010/main" val="4250435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box(out)">
                                      <p:cBhvr>
                                        <p:cTn id="7" dur="500"/>
                                        <p:tgtEl>
                                          <p:spTgt spid="23"/>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par>
                          <p:cTn id="11" fill="hold">
                            <p:stCondLst>
                              <p:cond delay="500"/>
                            </p:stCondLst>
                            <p:childTnLst>
                              <p:par>
                                <p:cTn id="12" presetID="9" presetClass="entr" presetSubtype="0" fill="hold" grpId="0" nodeType="after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dissolve">
                                      <p:cBhvr>
                                        <p:cTn id="14"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autoUpdateAnimBg="0"/>
      <p:bldP spid="2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rPr>
              <a:t>第一章</a:t>
            </a:r>
            <a:r>
              <a:rPr lang="zh-CN" altLang="en-US" sz="3600" dirty="0">
                <a:solidFill>
                  <a:prstClr val="black"/>
                </a:solidFill>
                <a:latin typeface="华文楷体" panose="02010600040101010101" pitchFamily="2" charset="-122"/>
                <a:ea typeface="华文楷体" panose="02010600040101010101" pitchFamily="2" charset="-122"/>
              </a:rPr>
              <a:t>与第七章例题</a:t>
            </a:r>
            <a:endParaRPr kumimoji="0" lang="en-US" altLang="zh-CN" sz="3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endParaRP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6" name="矩形 5">
            <a:extLst>
              <a:ext uri="{FF2B5EF4-FFF2-40B4-BE49-F238E27FC236}">
                <a16:creationId xmlns:a16="http://schemas.microsoft.com/office/drawing/2014/main" id="{C0AD5A8A-6D87-4D08-87A5-489E9B46623B}"/>
              </a:ext>
            </a:extLst>
          </p:cNvPr>
          <p:cNvSpPr/>
          <p:nvPr/>
        </p:nvSpPr>
        <p:spPr>
          <a:xfrm>
            <a:off x="1524000" y="1344147"/>
            <a:ext cx="6096000" cy="707886"/>
          </a:xfrm>
          <a:prstGeom prst="rect">
            <a:avLst/>
          </a:prstGeom>
        </p:spPr>
        <p:txBody>
          <a:bodyPr>
            <a:spAutoFit/>
          </a:bodyPr>
          <a:lstStyle/>
          <a:p>
            <a:r>
              <a:rPr lang="zh-CN" altLang="zh-CN" sz="2000" kern="100" dirty="0">
                <a:latin typeface="Times New Roman" panose="02020603050405020304" pitchFamily="18" charset="0"/>
                <a:ea typeface="宋体" panose="02010600030101010101" pitchFamily="2" charset="-122"/>
                <a:cs typeface="Times New Roman" panose="02020603050405020304" pitchFamily="18" charset="0"/>
              </a:rPr>
              <a:t>世界上公认的第一台电子计算机诞生在</a:t>
            </a:r>
            <a:r>
              <a:rPr lang="en-US" altLang="zh-CN" sz="2000" kern="100" dirty="0">
                <a:latin typeface="Times New Roman" panose="02020603050405020304" pitchFamily="18" charset="0"/>
                <a:ea typeface="宋体" panose="02010600030101010101" pitchFamily="2" charset="-122"/>
              </a:rPr>
              <a:t>____</a:t>
            </a:r>
            <a:r>
              <a:rPr lang="zh-CN" altLang="zh-CN" sz="2000" kern="100" dirty="0">
                <a:latin typeface="Times New Roman" panose="02020603050405020304" pitchFamily="18" charset="0"/>
                <a:ea typeface="宋体" panose="02010600030101010101" pitchFamily="2" charset="-122"/>
                <a:cs typeface="Times New Roman" panose="02020603050405020304" pitchFamily="18" charset="0"/>
              </a:rPr>
              <a:t>。</a:t>
            </a:r>
            <a:br>
              <a:rPr lang="en-US" altLang="zh-CN" sz="2000" kern="100" dirty="0">
                <a:latin typeface="Times New Roman" panose="02020603050405020304" pitchFamily="18" charset="0"/>
                <a:ea typeface="宋体" panose="02010600030101010101" pitchFamily="2" charset="-122"/>
              </a:rPr>
            </a:br>
            <a:r>
              <a:rPr lang="en-US" altLang="zh-CN" sz="2000" kern="100" dirty="0">
                <a:latin typeface="Times New Roman" panose="02020603050405020304" pitchFamily="18" charset="0"/>
                <a:ea typeface="宋体" panose="02010600030101010101" pitchFamily="2" charset="-122"/>
              </a:rPr>
              <a:t>A)1945</a:t>
            </a:r>
            <a:r>
              <a:rPr lang="zh-CN" altLang="zh-CN" sz="2000" kern="100" dirty="0">
                <a:latin typeface="Times New Roman" panose="02020603050405020304" pitchFamily="18" charset="0"/>
                <a:ea typeface="宋体" panose="02010600030101010101" pitchFamily="2" charset="-122"/>
                <a:cs typeface="Times New Roman" panose="02020603050405020304" pitchFamily="18" charset="0"/>
              </a:rPr>
              <a:t>年</a:t>
            </a:r>
            <a:r>
              <a:rPr lang="en-US" altLang="zh-CN" sz="2000" kern="100" dirty="0">
                <a:latin typeface="Times New Roman" panose="02020603050405020304" pitchFamily="18" charset="0"/>
                <a:ea typeface="宋体" panose="02010600030101010101" pitchFamily="2" charset="-122"/>
              </a:rPr>
              <a:t>       B)1946</a:t>
            </a:r>
            <a:r>
              <a:rPr lang="zh-CN" altLang="zh-CN" sz="2000" kern="100" dirty="0">
                <a:latin typeface="Times New Roman" panose="02020603050405020304" pitchFamily="18" charset="0"/>
                <a:ea typeface="宋体" panose="02010600030101010101" pitchFamily="2" charset="-122"/>
                <a:cs typeface="Times New Roman" panose="02020603050405020304" pitchFamily="18" charset="0"/>
              </a:rPr>
              <a:t>年</a:t>
            </a:r>
            <a:r>
              <a:rPr lang="en-US" altLang="zh-CN" sz="2000" kern="100" dirty="0">
                <a:latin typeface="Times New Roman" panose="02020603050405020304" pitchFamily="18" charset="0"/>
                <a:ea typeface="宋体" panose="02010600030101010101" pitchFamily="2" charset="-122"/>
              </a:rPr>
              <a:t>       C)1948</a:t>
            </a:r>
            <a:r>
              <a:rPr lang="zh-CN" altLang="zh-CN" sz="2000" kern="100" dirty="0">
                <a:latin typeface="Times New Roman" panose="02020603050405020304" pitchFamily="18" charset="0"/>
                <a:ea typeface="宋体" panose="02010600030101010101" pitchFamily="2" charset="-122"/>
                <a:cs typeface="Times New Roman" panose="02020603050405020304" pitchFamily="18" charset="0"/>
              </a:rPr>
              <a:t>年</a:t>
            </a:r>
            <a:r>
              <a:rPr lang="en-US" altLang="zh-CN" sz="2000" kern="100" dirty="0">
                <a:latin typeface="Times New Roman" panose="02020603050405020304" pitchFamily="18" charset="0"/>
                <a:ea typeface="宋体" panose="02010600030101010101" pitchFamily="2" charset="-122"/>
              </a:rPr>
              <a:t>        D)1952</a:t>
            </a:r>
            <a:r>
              <a:rPr lang="zh-CN" altLang="zh-CN" sz="2000" kern="100" dirty="0">
                <a:latin typeface="Times New Roman" panose="02020603050405020304" pitchFamily="18" charset="0"/>
                <a:ea typeface="宋体" panose="02010600030101010101" pitchFamily="2" charset="-122"/>
                <a:cs typeface="Times New Roman" panose="02020603050405020304" pitchFamily="18" charset="0"/>
              </a:rPr>
              <a:t>年</a:t>
            </a:r>
            <a:endParaRPr lang="zh-CN" altLang="en-US" sz="2000" dirty="0"/>
          </a:p>
        </p:txBody>
      </p:sp>
      <p:sp>
        <p:nvSpPr>
          <p:cNvPr id="11" name="矩形 10">
            <a:extLst>
              <a:ext uri="{FF2B5EF4-FFF2-40B4-BE49-F238E27FC236}">
                <a16:creationId xmlns:a16="http://schemas.microsoft.com/office/drawing/2014/main" id="{7C9DF09C-90CB-46A9-A661-0D957BF62A5C}"/>
              </a:ext>
            </a:extLst>
          </p:cNvPr>
          <p:cNvSpPr/>
          <p:nvPr/>
        </p:nvSpPr>
        <p:spPr>
          <a:xfrm>
            <a:off x="1523999" y="2304603"/>
            <a:ext cx="8291119" cy="1015663"/>
          </a:xfrm>
          <a:prstGeom prst="rect">
            <a:avLst/>
          </a:prstGeom>
        </p:spPr>
        <p:txBody>
          <a:bodyPr wrap="square">
            <a:spAutoFit/>
          </a:bodyPr>
          <a:lstStyle/>
          <a:p>
            <a:r>
              <a:rPr lang="zh-CN" altLang="zh-CN" sz="2000" kern="100" dirty="0">
                <a:latin typeface="Times New Roman" panose="02020603050405020304" pitchFamily="18" charset="0"/>
                <a:ea typeface="宋体" panose="02010600030101010101" pitchFamily="2" charset="-122"/>
                <a:cs typeface="Times New Roman" panose="02020603050405020304" pitchFamily="18" charset="0"/>
              </a:rPr>
              <a:t>解答：世界上公认的第一台电子计算机</a:t>
            </a:r>
            <a:r>
              <a:rPr lang="en-US" altLang="zh-CN" sz="2000" kern="100" dirty="0">
                <a:latin typeface="Times New Roman" panose="02020603050405020304" pitchFamily="18" charset="0"/>
                <a:ea typeface="宋体" panose="02010600030101010101" pitchFamily="2" charset="-122"/>
              </a:rPr>
              <a:t>ENIAC(</a:t>
            </a:r>
            <a:r>
              <a:rPr lang="zh-CN" altLang="zh-CN" sz="2000" kern="100" dirty="0">
                <a:latin typeface="Times New Roman" panose="02020603050405020304" pitchFamily="18" charset="0"/>
                <a:ea typeface="宋体" panose="02010600030101010101" pitchFamily="2" charset="-122"/>
                <a:cs typeface="Times New Roman" panose="02020603050405020304" pitchFamily="18" charset="0"/>
              </a:rPr>
              <a:t>埃尼阿克</a:t>
            </a:r>
            <a:r>
              <a:rPr lang="en-US" altLang="zh-CN" sz="2000" kern="100" dirty="0">
                <a:latin typeface="Times New Roman" panose="02020603050405020304" pitchFamily="18" charset="0"/>
                <a:ea typeface="宋体" panose="02010600030101010101" pitchFamily="2" charset="-122"/>
              </a:rPr>
              <a:t>)</a:t>
            </a:r>
            <a:r>
              <a:rPr lang="zh-CN" altLang="zh-CN" sz="2000" kern="100" dirty="0">
                <a:latin typeface="Times New Roman" panose="02020603050405020304" pitchFamily="18" charset="0"/>
                <a:ea typeface="宋体" panose="02010600030101010101" pitchFamily="2" charset="-122"/>
                <a:cs typeface="Times New Roman" panose="02020603050405020304" pitchFamily="18" charset="0"/>
              </a:rPr>
              <a:t>于</a:t>
            </a:r>
            <a:r>
              <a:rPr lang="en-US" altLang="zh-CN" sz="2000" kern="100" dirty="0">
                <a:latin typeface="Times New Roman" panose="02020603050405020304" pitchFamily="18" charset="0"/>
                <a:ea typeface="宋体" panose="02010600030101010101" pitchFamily="2" charset="-122"/>
              </a:rPr>
              <a:t>1946</a:t>
            </a:r>
            <a:r>
              <a:rPr lang="zh-CN" altLang="zh-CN" sz="2000" kern="100" dirty="0">
                <a:latin typeface="Times New Roman" panose="02020603050405020304" pitchFamily="18" charset="0"/>
                <a:ea typeface="宋体" panose="02010600030101010101" pitchFamily="2" charset="-122"/>
                <a:cs typeface="Times New Roman" panose="02020603050405020304" pitchFamily="18" charset="0"/>
              </a:rPr>
              <a:t>年在美国诞生。</a:t>
            </a:r>
            <a:br>
              <a:rPr lang="en-US" altLang="zh-CN" sz="2000" kern="100" dirty="0">
                <a:latin typeface="Times New Roman" panose="02020603050405020304" pitchFamily="18" charset="0"/>
                <a:ea typeface="宋体" panose="02010600030101010101" pitchFamily="2" charset="-122"/>
              </a:rPr>
            </a:br>
            <a:r>
              <a:rPr lang="zh-CN" altLang="zh-CN" sz="2000" kern="100" dirty="0">
                <a:latin typeface="Times New Roman" panose="02020603050405020304" pitchFamily="18" charset="0"/>
                <a:ea typeface="宋体" panose="02010600030101010101" pitchFamily="2" charset="-122"/>
                <a:cs typeface="Times New Roman" panose="02020603050405020304" pitchFamily="18" charset="0"/>
              </a:rPr>
              <a:t>本题正确答案为</a:t>
            </a:r>
            <a:r>
              <a:rPr lang="en-US" altLang="zh-CN" sz="2000" kern="100" dirty="0">
                <a:latin typeface="Times New Roman" panose="02020603050405020304" pitchFamily="18" charset="0"/>
                <a:ea typeface="宋体" panose="02010600030101010101" pitchFamily="2" charset="-122"/>
              </a:rPr>
              <a:t>B</a:t>
            </a:r>
            <a:r>
              <a:rPr lang="zh-CN" altLang="zh-CN" sz="2000" kern="1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en-US" sz="2000" dirty="0"/>
          </a:p>
        </p:txBody>
      </p:sp>
      <p:sp>
        <p:nvSpPr>
          <p:cNvPr id="13" name="矩形 12">
            <a:extLst>
              <a:ext uri="{FF2B5EF4-FFF2-40B4-BE49-F238E27FC236}">
                <a16:creationId xmlns:a16="http://schemas.microsoft.com/office/drawing/2014/main" id="{2BD99C74-EC7B-4853-9644-B34C49EAC17F}"/>
              </a:ext>
            </a:extLst>
          </p:cNvPr>
          <p:cNvSpPr/>
          <p:nvPr/>
        </p:nvSpPr>
        <p:spPr>
          <a:xfrm>
            <a:off x="1561942" y="3527513"/>
            <a:ext cx="7716281" cy="707886"/>
          </a:xfrm>
          <a:prstGeom prst="rect">
            <a:avLst/>
          </a:prstGeom>
        </p:spPr>
        <p:txBody>
          <a:bodyPr wrap="square">
            <a:spAutoFit/>
          </a:bodyPr>
          <a:lstStyle/>
          <a:p>
            <a:r>
              <a:rPr lang="zh-CN" altLang="zh-CN" sz="2000" kern="100" dirty="0">
                <a:ea typeface="黑体" panose="02010609060101010101" pitchFamily="49" charset="-122"/>
                <a:cs typeface="Times New Roman" panose="02020603050405020304" pitchFamily="18" charset="0"/>
              </a:rPr>
              <a:t> 当前的计算机一般称为第四代计算机，它所采用的逻辑元件是（</a:t>
            </a:r>
            <a:r>
              <a:rPr lang="en-US" altLang="zh-CN" sz="2000" kern="100" dirty="0">
                <a:ea typeface="黑体" panose="02010609060101010101" pitchFamily="49" charset="-122"/>
                <a:cs typeface="Times New Roman" panose="02020603050405020304" pitchFamily="18" charset="0"/>
              </a:rPr>
              <a:t> </a:t>
            </a:r>
            <a:r>
              <a:rPr lang="zh-CN" altLang="zh-CN" sz="2000" kern="100" dirty="0">
                <a:ea typeface="黑体" panose="02010609060101010101" pitchFamily="49" charset="-122"/>
                <a:cs typeface="Times New Roman" panose="02020603050405020304" pitchFamily="18" charset="0"/>
              </a:rPr>
              <a:t>）。</a:t>
            </a:r>
            <a:endParaRPr lang="en-US" altLang="zh-CN" sz="2000" kern="100" dirty="0">
              <a:ea typeface="黑体" panose="02010609060101010101" pitchFamily="49" charset="-122"/>
              <a:cs typeface="Times New Roman" panose="02020603050405020304" pitchFamily="18" charset="0"/>
            </a:endParaRPr>
          </a:p>
          <a:p>
            <a:r>
              <a:rPr lang="en-US" altLang="zh-CN" sz="2000" kern="100" dirty="0">
                <a:latin typeface="黑体" panose="02010609060101010101" pitchFamily="49" charset="-122"/>
                <a:ea typeface="宋体" panose="02010600030101010101" pitchFamily="2" charset="-122"/>
              </a:rPr>
              <a:t> A</a:t>
            </a:r>
            <a:r>
              <a:rPr lang="zh-CN" altLang="zh-CN" sz="2000" kern="100" dirty="0">
                <a:latin typeface="Times New Roman" panose="02020603050405020304" pitchFamily="18" charset="0"/>
                <a:ea typeface="黑体" panose="02010609060101010101" pitchFamily="49" charset="-122"/>
              </a:rPr>
              <a:t>晶体管</a:t>
            </a:r>
            <a:r>
              <a:rPr lang="en-US" altLang="zh-CN" sz="2000" kern="100" dirty="0">
                <a:latin typeface="Times New Roman" panose="02020603050405020304" pitchFamily="18" charset="0"/>
                <a:ea typeface="黑体" panose="02010609060101010101" pitchFamily="49" charset="-122"/>
              </a:rPr>
              <a:t>	B</a:t>
            </a:r>
            <a:r>
              <a:rPr lang="zh-CN" altLang="zh-CN" sz="2000" kern="100" dirty="0">
                <a:latin typeface="Times New Roman" panose="02020603050405020304" pitchFamily="18" charset="0"/>
                <a:ea typeface="黑体" panose="02010609060101010101" pitchFamily="49" charset="-122"/>
              </a:rPr>
              <a:t>集成电路</a:t>
            </a:r>
            <a:r>
              <a:rPr lang="en-US" altLang="zh-CN" sz="2000" kern="100" dirty="0">
                <a:latin typeface="Times New Roman" panose="02020603050405020304" pitchFamily="18" charset="0"/>
                <a:ea typeface="黑体" panose="02010609060101010101" pitchFamily="49" charset="-122"/>
              </a:rPr>
              <a:t>	C</a:t>
            </a:r>
            <a:r>
              <a:rPr lang="zh-CN" altLang="zh-CN" sz="2000" kern="100" dirty="0">
                <a:latin typeface="Times New Roman" panose="02020603050405020304" pitchFamily="18" charset="0"/>
                <a:ea typeface="黑体" panose="02010609060101010101" pitchFamily="49" charset="-122"/>
              </a:rPr>
              <a:t>电子管</a:t>
            </a:r>
            <a:r>
              <a:rPr lang="en-US" altLang="zh-CN" sz="2000" kern="100" dirty="0">
                <a:latin typeface="Times New Roman" panose="02020603050405020304" pitchFamily="18" charset="0"/>
                <a:ea typeface="黑体" panose="02010609060101010101" pitchFamily="49" charset="-122"/>
              </a:rPr>
              <a:t>	D</a:t>
            </a:r>
            <a:r>
              <a:rPr lang="zh-CN" altLang="zh-CN" sz="2000" kern="100" dirty="0">
                <a:latin typeface="Times New Roman" panose="02020603050405020304" pitchFamily="18" charset="0"/>
                <a:ea typeface="黑体" panose="02010609060101010101" pitchFamily="49" charset="-122"/>
              </a:rPr>
              <a:t>大规模集成电路</a:t>
            </a:r>
            <a:endParaRPr lang="zh-CN" altLang="zh-CN" sz="2000" kern="100" dirty="0">
              <a:latin typeface="Times New Roman" panose="02020603050405020304" pitchFamily="18" charset="0"/>
              <a:ea typeface="宋体" panose="02010600030101010101" pitchFamily="2" charset="-122"/>
            </a:endParaRPr>
          </a:p>
        </p:txBody>
      </p:sp>
      <p:sp>
        <p:nvSpPr>
          <p:cNvPr id="17" name="矩形 16">
            <a:extLst>
              <a:ext uri="{FF2B5EF4-FFF2-40B4-BE49-F238E27FC236}">
                <a16:creationId xmlns:a16="http://schemas.microsoft.com/office/drawing/2014/main" id="{DFE8BFF3-D0A9-4D03-B153-DA2CB125E539}"/>
              </a:ext>
            </a:extLst>
          </p:cNvPr>
          <p:cNvSpPr/>
          <p:nvPr/>
        </p:nvSpPr>
        <p:spPr>
          <a:xfrm>
            <a:off x="1561942" y="4497824"/>
            <a:ext cx="8291119" cy="707886"/>
          </a:xfrm>
          <a:prstGeom prst="rect">
            <a:avLst/>
          </a:prstGeom>
        </p:spPr>
        <p:txBody>
          <a:bodyPr wrap="square">
            <a:spAutoFit/>
          </a:bodyPr>
          <a:lstStyle/>
          <a:p>
            <a:r>
              <a:rPr lang="zh-CN" altLang="zh-CN" sz="2000" kern="100" dirty="0">
                <a:latin typeface="Times New Roman" panose="02020603050405020304" pitchFamily="18" charset="0"/>
                <a:ea typeface="宋体" panose="02010600030101010101" pitchFamily="2" charset="-122"/>
                <a:cs typeface="Times New Roman" panose="02020603050405020304" pitchFamily="18" charset="0"/>
              </a:rPr>
              <a:t>解答：</a:t>
            </a:r>
            <a:r>
              <a:rPr lang="zh-CN" altLang="en-US" sz="2000" kern="100" dirty="0">
                <a:latin typeface="Times New Roman" panose="02020603050405020304" pitchFamily="18" charset="0"/>
                <a:ea typeface="宋体" panose="02010600030101010101" pitchFamily="2" charset="-122"/>
                <a:cs typeface="Times New Roman" panose="02020603050405020304" pitchFamily="18" charset="0"/>
              </a:rPr>
              <a:t>历史问题。也可以根据最先进的是第四代推理得出</a:t>
            </a:r>
            <a:endParaRPr lang="en-US" altLang="zh-CN" sz="2000" kern="100" dirty="0">
              <a:latin typeface="Times New Roman" panose="02020603050405020304" pitchFamily="18" charset="0"/>
              <a:ea typeface="宋体" panose="02010600030101010101" pitchFamily="2" charset="-122"/>
              <a:cs typeface="Times New Roman" panose="02020603050405020304" pitchFamily="18" charset="0"/>
            </a:endParaRPr>
          </a:p>
          <a:p>
            <a:r>
              <a:rPr lang="zh-CN" altLang="zh-CN" sz="2000" kern="100" dirty="0">
                <a:latin typeface="Times New Roman" panose="02020603050405020304" pitchFamily="18" charset="0"/>
                <a:ea typeface="宋体" panose="02010600030101010101" pitchFamily="2" charset="-122"/>
                <a:cs typeface="Times New Roman" panose="02020603050405020304" pitchFamily="18" charset="0"/>
              </a:rPr>
              <a:t>本题正确答案为</a:t>
            </a:r>
            <a:r>
              <a:rPr lang="en-US" altLang="zh-CN" sz="2000" kern="100" dirty="0">
                <a:latin typeface="Times New Roman" panose="02020603050405020304" pitchFamily="18" charset="0"/>
                <a:ea typeface="宋体" panose="02010600030101010101" pitchFamily="2" charset="-122"/>
                <a:cs typeface="Times New Roman" panose="02020603050405020304" pitchFamily="18" charset="0"/>
              </a:rPr>
              <a:t>D</a:t>
            </a:r>
            <a:r>
              <a:rPr lang="zh-CN" altLang="en-US" sz="2000" kern="1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en-US" sz="2000" dirty="0"/>
          </a:p>
        </p:txBody>
      </p:sp>
      <p:pic>
        <p:nvPicPr>
          <p:cNvPr id="12" name="图片 11" descr="联想截图_20231214002915">
            <a:extLst>
              <a:ext uri="{FF2B5EF4-FFF2-40B4-BE49-F238E27FC236}">
                <a16:creationId xmlns:a16="http://schemas.microsoft.com/office/drawing/2014/main" id="{683BA885-5B7E-4E2F-BB7B-A85635826181}"/>
              </a:ext>
            </a:extLst>
          </p:cNvPr>
          <p:cNvPicPr>
            <a:picLocks noChangeAspect="1"/>
          </p:cNvPicPr>
          <p:nvPr>
            <p:custDataLst>
              <p:tags r:id="rId1"/>
            </p:custDataLst>
          </p:nvPr>
        </p:nvPicPr>
        <p:blipFill>
          <a:blip r:embed="rId5"/>
          <a:stretch>
            <a:fillRect/>
          </a:stretch>
        </p:blipFill>
        <p:spPr>
          <a:xfrm>
            <a:off x="4435475" y="6219825"/>
            <a:ext cx="545465" cy="546735"/>
          </a:xfrm>
          <a:prstGeom prst="rect">
            <a:avLst/>
          </a:prstGeom>
        </p:spPr>
      </p:pic>
    </p:spTree>
    <p:extLst>
      <p:ext uri="{BB962C8B-B14F-4D97-AF65-F5344CB8AC3E}">
        <p14:creationId xmlns:p14="http://schemas.microsoft.com/office/powerpoint/2010/main" val="1177402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600" dirty="0">
                <a:solidFill>
                  <a:prstClr val="black"/>
                </a:solidFill>
                <a:latin typeface="华文楷体" panose="02010600040101010101" pitchFamily="2" charset="-122"/>
                <a:ea typeface="华文楷体" panose="02010600040101010101" pitchFamily="2" charset="-122"/>
              </a:rPr>
              <a:t>第二章</a:t>
            </a:r>
            <a:endParaRPr kumimoji="0" lang="en-US" altLang="zh-CN" sz="3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endParaRP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9" name="TextBox 7">
            <a:extLst>
              <a:ext uri="{FF2B5EF4-FFF2-40B4-BE49-F238E27FC236}">
                <a16:creationId xmlns:a16="http://schemas.microsoft.com/office/drawing/2014/main" id="{559353E2-BD05-4130-A688-47F9227851E6}"/>
              </a:ext>
            </a:extLst>
          </p:cNvPr>
          <p:cNvSpPr txBox="1"/>
          <p:nvPr/>
        </p:nvSpPr>
        <p:spPr>
          <a:xfrm>
            <a:off x="1524000" y="1032843"/>
            <a:ext cx="8786874" cy="1477328"/>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zh-CN" altLang="en-US" b="1" dirty="0">
                <a:solidFill>
                  <a:schemeClr val="accent4">
                    <a:lumMod val="75000"/>
                  </a:schemeClr>
                </a:solidFill>
                <a:latin typeface="华文楷体" pitchFamily="2" charset="-122"/>
                <a:ea typeface="华文楷体" pitchFamily="2" charset="-122"/>
              </a:rPr>
              <a:t>具有两种稳定状态的电子元件却非常容易找到</a:t>
            </a:r>
            <a:endParaRPr lang="en-US" altLang="zh-CN" b="1" dirty="0">
              <a:solidFill>
                <a:schemeClr val="accent4">
                  <a:lumMod val="75000"/>
                </a:schemeClr>
              </a:solidFill>
              <a:latin typeface="华文楷体" pitchFamily="2" charset="-122"/>
              <a:ea typeface="华文楷体" pitchFamily="2" charset="-122"/>
            </a:endParaRPr>
          </a:p>
          <a:p>
            <a:pPr algn="ctr"/>
            <a:r>
              <a:rPr lang="zh-CN" altLang="en-US" sz="2400" b="1" dirty="0">
                <a:solidFill>
                  <a:srgbClr val="0033CC"/>
                </a:solidFill>
                <a:latin typeface="华文楷体" pitchFamily="2" charset="-122"/>
                <a:ea typeface="华文楷体" pitchFamily="2" charset="-122"/>
              </a:rPr>
              <a:t>如继电器的接通和断开、电脉冲的高和低、晶体管的导通和截止</a:t>
            </a:r>
            <a:endParaRPr lang="en-US" altLang="zh-CN" sz="2400" b="1" dirty="0">
              <a:solidFill>
                <a:srgbClr val="0033CC"/>
              </a:solidFill>
              <a:latin typeface="华文楷体" pitchFamily="2" charset="-122"/>
              <a:ea typeface="华文楷体" pitchFamily="2" charset="-122"/>
            </a:endParaRPr>
          </a:p>
          <a:p>
            <a:pPr algn="ctr"/>
            <a:r>
              <a:rPr lang="zh-CN" altLang="en-US" sz="2400" b="1" dirty="0">
                <a:latin typeface="华文楷体" pitchFamily="2" charset="-122"/>
                <a:ea typeface="华文楷体" pitchFamily="2" charset="-122"/>
              </a:rPr>
              <a:t>“</a:t>
            </a:r>
            <a:r>
              <a:rPr lang="en-US" sz="2400" b="1" dirty="0">
                <a:latin typeface="华文楷体" pitchFamily="2" charset="-122"/>
                <a:ea typeface="华文楷体" pitchFamily="2" charset="-122"/>
              </a:rPr>
              <a:t>1</a:t>
            </a:r>
            <a:r>
              <a:rPr lang="zh-CN" altLang="en-US" sz="2400" b="1" dirty="0">
                <a:latin typeface="华文楷体" pitchFamily="2" charset="-122"/>
                <a:ea typeface="华文楷体" pitchFamily="2" charset="-122"/>
              </a:rPr>
              <a:t>”表示</a:t>
            </a:r>
            <a:r>
              <a:rPr lang="zh-CN" altLang="en-US" sz="2400" b="1" dirty="0">
                <a:solidFill>
                  <a:schemeClr val="accent4">
                    <a:lumMod val="60000"/>
                    <a:lumOff val="40000"/>
                  </a:schemeClr>
                </a:solidFill>
                <a:latin typeface="华文楷体" pitchFamily="2" charset="-122"/>
                <a:ea typeface="华文楷体" pitchFamily="2" charset="-122"/>
              </a:rPr>
              <a:t>高电平</a:t>
            </a:r>
            <a:r>
              <a:rPr lang="zh-CN" altLang="en-US" sz="2400" b="1" dirty="0">
                <a:latin typeface="华文楷体" pitchFamily="2" charset="-122"/>
                <a:ea typeface="华文楷体" pitchFamily="2" charset="-122"/>
              </a:rPr>
              <a:t>，“</a:t>
            </a:r>
            <a:r>
              <a:rPr lang="en-US" sz="2400" b="1" dirty="0">
                <a:latin typeface="华文楷体" pitchFamily="2" charset="-122"/>
                <a:ea typeface="华文楷体" pitchFamily="2" charset="-122"/>
              </a:rPr>
              <a:t>0</a:t>
            </a:r>
            <a:r>
              <a:rPr lang="zh-CN" altLang="en-US" sz="2400" b="1" dirty="0">
                <a:latin typeface="华文楷体" pitchFamily="2" charset="-122"/>
                <a:ea typeface="华文楷体" pitchFamily="2" charset="-122"/>
              </a:rPr>
              <a:t>”表示</a:t>
            </a:r>
            <a:r>
              <a:rPr lang="zh-CN" altLang="en-US" sz="2400" b="1" dirty="0">
                <a:solidFill>
                  <a:schemeClr val="accent4">
                    <a:lumMod val="60000"/>
                    <a:lumOff val="40000"/>
                  </a:schemeClr>
                </a:solidFill>
                <a:latin typeface="华文楷体" pitchFamily="2" charset="-122"/>
                <a:ea typeface="华文楷体" pitchFamily="2" charset="-122"/>
              </a:rPr>
              <a:t>低电平</a:t>
            </a:r>
            <a:endParaRPr lang="en-US" altLang="zh-CN" sz="2400" b="1" dirty="0">
              <a:solidFill>
                <a:schemeClr val="accent4">
                  <a:lumMod val="60000"/>
                  <a:lumOff val="40000"/>
                </a:schemeClr>
              </a:solidFill>
              <a:latin typeface="华文楷体" pitchFamily="2" charset="-122"/>
              <a:ea typeface="华文楷体" pitchFamily="2" charset="-122"/>
            </a:endParaRPr>
          </a:p>
          <a:p>
            <a:pPr algn="ctr"/>
            <a:r>
              <a:rPr lang="zh-CN" altLang="en-US" sz="2400" b="1" dirty="0">
                <a:latin typeface="华文楷体" pitchFamily="2" charset="-122"/>
                <a:ea typeface="华文楷体" pitchFamily="2" charset="-122"/>
              </a:rPr>
              <a:t>             “</a:t>
            </a:r>
            <a:r>
              <a:rPr lang="en-US" sz="2400" b="1" dirty="0">
                <a:latin typeface="华文楷体" pitchFamily="2" charset="-122"/>
                <a:ea typeface="华文楷体" pitchFamily="2" charset="-122"/>
              </a:rPr>
              <a:t>1</a:t>
            </a:r>
            <a:r>
              <a:rPr lang="zh-CN" altLang="en-US" sz="2400" b="1" dirty="0">
                <a:latin typeface="华文楷体" pitchFamily="2" charset="-122"/>
                <a:ea typeface="华文楷体" pitchFamily="2" charset="-122"/>
              </a:rPr>
              <a:t>”表示</a:t>
            </a:r>
            <a:r>
              <a:rPr lang="zh-CN" altLang="en-US" sz="2400" b="1" dirty="0">
                <a:solidFill>
                  <a:schemeClr val="accent4">
                    <a:lumMod val="60000"/>
                    <a:lumOff val="40000"/>
                  </a:schemeClr>
                </a:solidFill>
                <a:latin typeface="华文楷体" pitchFamily="2" charset="-122"/>
                <a:ea typeface="华文楷体" pitchFamily="2" charset="-122"/>
              </a:rPr>
              <a:t>接通状态</a:t>
            </a:r>
            <a:r>
              <a:rPr lang="zh-CN" altLang="en-US" sz="2400" b="1" dirty="0">
                <a:latin typeface="华文楷体" pitchFamily="2" charset="-122"/>
                <a:ea typeface="华文楷体" pitchFamily="2" charset="-122"/>
              </a:rPr>
              <a:t>，“</a:t>
            </a:r>
            <a:r>
              <a:rPr lang="en-US" sz="2400" b="1" dirty="0">
                <a:latin typeface="华文楷体" pitchFamily="2" charset="-122"/>
                <a:ea typeface="华文楷体" pitchFamily="2" charset="-122"/>
              </a:rPr>
              <a:t>0</a:t>
            </a:r>
            <a:r>
              <a:rPr lang="zh-CN" altLang="en-US" sz="2400" b="1" dirty="0">
                <a:latin typeface="华文楷体" pitchFamily="2" charset="-122"/>
                <a:ea typeface="华文楷体" pitchFamily="2" charset="-122"/>
              </a:rPr>
              <a:t>”表示</a:t>
            </a:r>
            <a:r>
              <a:rPr lang="zh-CN" altLang="en-US" sz="2400" b="1" dirty="0">
                <a:solidFill>
                  <a:schemeClr val="accent4">
                    <a:lumMod val="60000"/>
                    <a:lumOff val="40000"/>
                  </a:schemeClr>
                </a:solidFill>
                <a:latin typeface="华文楷体" pitchFamily="2" charset="-122"/>
                <a:ea typeface="华文楷体" pitchFamily="2" charset="-122"/>
              </a:rPr>
              <a:t>断开状态</a:t>
            </a:r>
          </a:p>
        </p:txBody>
      </p:sp>
      <p:sp>
        <p:nvSpPr>
          <p:cNvPr id="11" name="TextBox 8">
            <a:extLst>
              <a:ext uri="{FF2B5EF4-FFF2-40B4-BE49-F238E27FC236}">
                <a16:creationId xmlns:a16="http://schemas.microsoft.com/office/drawing/2014/main" id="{91F410C2-EF3F-4783-94D5-E2F440012AF1}"/>
              </a:ext>
            </a:extLst>
          </p:cNvPr>
          <p:cNvSpPr txBox="1"/>
          <p:nvPr/>
        </p:nvSpPr>
        <p:spPr>
          <a:xfrm>
            <a:off x="4310082" y="2877108"/>
            <a:ext cx="3214710" cy="461665"/>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zh-CN" altLang="en-US" sz="2400" b="1" dirty="0">
                <a:latin typeface="华文楷体" pitchFamily="2" charset="-122"/>
                <a:ea typeface="华文楷体" pitchFamily="2" charset="-122"/>
              </a:rPr>
              <a:t>计算机中的二进制</a:t>
            </a:r>
          </a:p>
        </p:txBody>
      </p:sp>
      <p:cxnSp>
        <p:nvCxnSpPr>
          <p:cNvPr id="12" name="直接箭头连接符 11">
            <a:extLst>
              <a:ext uri="{FF2B5EF4-FFF2-40B4-BE49-F238E27FC236}">
                <a16:creationId xmlns:a16="http://schemas.microsoft.com/office/drawing/2014/main" id="{C283B8D9-B80B-466C-9B06-2A8F9F3142ED}"/>
              </a:ext>
            </a:extLst>
          </p:cNvPr>
          <p:cNvCxnSpPr>
            <a:stCxn id="9" idx="2"/>
            <a:endCxn id="11" idx="0"/>
          </p:cNvCxnSpPr>
          <p:nvPr/>
        </p:nvCxnSpPr>
        <p:spPr bwMode="auto">
          <a:xfrm>
            <a:off x="5917437" y="2510171"/>
            <a:ext cx="0" cy="366937"/>
          </a:xfrm>
          <a:prstGeom prst="straightConnector1">
            <a:avLst/>
          </a:prstGeom>
          <a:ln>
            <a:headEnd type="none" w="med" len="med"/>
            <a:tailEnd type="arrow"/>
          </a:ln>
        </p:spPr>
        <p:style>
          <a:lnRef idx="1">
            <a:schemeClr val="accent4"/>
          </a:lnRef>
          <a:fillRef idx="0">
            <a:schemeClr val="accent4"/>
          </a:fillRef>
          <a:effectRef idx="0">
            <a:schemeClr val="accent4"/>
          </a:effectRef>
          <a:fontRef idx="minor">
            <a:schemeClr val="tx1"/>
          </a:fontRef>
        </p:style>
      </p:cxnSp>
      <p:sp>
        <p:nvSpPr>
          <p:cNvPr id="15" name="文本框 14">
            <a:extLst>
              <a:ext uri="{FF2B5EF4-FFF2-40B4-BE49-F238E27FC236}">
                <a16:creationId xmlns:a16="http://schemas.microsoft.com/office/drawing/2014/main" id="{79B8B566-1833-4777-AD29-2BE8BBF5E1EC}"/>
              </a:ext>
            </a:extLst>
          </p:cNvPr>
          <p:cNvSpPr txBox="1"/>
          <p:nvPr/>
        </p:nvSpPr>
        <p:spPr>
          <a:xfrm>
            <a:off x="1524000" y="3716713"/>
            <a:ext cx="9335902" cy="461665"/>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rPr>
              <a:t>用二进制表示两种状态：</a:t>
            </a:r>
            <a:r>
              <a:rPr lang="en-US" altLang="zh-CN" sz="2400" dirty="0">
                <a:latin typeface="微软雅黑" panose="020B0503020204020204" pitchFamily="34" charset="-122"/>
                <a:ea typeface="微软雅黑" panose="020B0503020204020204" pitchFamily="34" charset="-122"/>
              </a:rPr>
              <a:t>True</a:t>
            </a:r>
            <a:r>
              <a:rPr lang="zh-CN" altLang="en-US" sz="2400" dirty="0">
                <a:latin typeface="微软雅黑" panose="020B0503020204020204" pitchFamily="34" charset="-122"/>
                <a:ea typeface="微软雅黑" panose="020B0503020204020204" pitchFamily="34" charset="-122"/>
              </a:rPr>
              <a:t>（真）和</a:t>
            </a:r>
            <a:r>
              <a:rPr lang="en-US" altLang="zh-CN" sz="2400" dirty="0">
                <a:latin typeface="微软雅黑" panose="020B0503020204020204" pitchFamily="34" charset="-122"/>
                <a:ea typeface="微软雅黑" panose="020B0503020204020204" pitchFamily="34" charset="-122"/>
              </a:rPr>
              <a:t>False</a:t>
            </a:r>
            <a:r>
              <a:rPr lang="zh-CN" altLang="en-US" sz="2400" dirty="0">
                <a:latin typeface="微软雅黑" panose="020B0503020204020204" pitchFamily="34" charset="-122"/>
                <a:ea typeface="微软雅黑" panose="020B0503020204020204" pitchFamily="34" charset="-122"/>
              </a:rPr>
              <a:t>（假）</a:t>
            </a:r>
          </a:p>
        </p:txBody>
      </p:sp>
      <p:sp>
        <p:nvSpPr>
          <p:cNvPr id="16" name="文本框 15">
            <a:extLst>
              <a:ext uri="{FF2B5EF4-FFF2-40B4-BE49-F238E27FC236}">
                <a16:creationId xmlns:a16="http://schemas.microsoft.com/office/drawing/2014/main" id="{2E4570F3-A4FB-4C61-BD1A-1778BC750D54}"/>
              </a:ext>
            </a:extLst>
          </p:cNvPr>
          <p:cNvSpPr txBox="1"/>
          <p:nvPr/>
        </p:nvSpPr>
        <p:spPr>
          <a:xfrm>
            <a:off x="1554760" y="4319517"/>
            <a:ext cx="5109091" cy="830997"/>
          </a:xfrm>
          <a:prstGeom prst="rect">
            <a:avLst/>
          </a:prstGeom>
          <a:noFill/>
        </p:spPr>
        <p:txBody>
          <a:bodyPr wrap="none" rtlCol="0">
            <a:spAutoFit/>
          </a:bodyPr>
          <a:lstStyle/>
          <a:p>
            <a:r>
              <a:rPr lang="zh-CN" altLang="en-US" sz="2400" dirty="0">
                <a:latin typeface="微软雅黑" panose="020B0503020204020204" pitchFamily="34" charset="-122"/>
                <a:ea typeface="微软雅黑" panose="020B0503020204020204" pitchFamily="34" charset="-122"/>
              </a:rPr>
              <a:t>电路闭合，电流流过，代表“真”；</a:t>
            </a:r>
            <a:endParaRPr lang="en-US" altLang="zh-CN"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电路断开，无电流流过，代表“假”</a:t>
            </a:r>
          </a:p>
        </p:txBody>
      </p:sp>
      <p:sp>
        <p:nvSpPr>
          <p:cNvPr id="17" name="文本框 16">
            <a:extLst>
              <a:ext uri="{FF2B5EF4-FFF2-40B4-BE49-F238E27FC236}">
                <a16:creationId xmlns:a16="http://schemas.microsoft.com/office/drawing/2014/main" id="{6508B8E8-2A62-450D-8FD7-5FF29D907548}"/>
              </a:ext>
            </a:extLst>
          </p:cNvPr>
          <p:cNvSpPr txBox="1"/>
          <p:nvPr/>
        </p:nvSpPr>
        <p:spPr>
          <a:xfrm>
            <a:off x="1554760" y="5280395"/>
            <a:ext cx="6444906" cy="461665"/>
          </a:xfrm>
          <a:prstGeom prst="rect">
            <a:avLst/>
          </a:prstGeom>
          <a:noFill/>
        </p:spPr>
        <p:txBody>
          <a:bodyPr wrap="none" rtlCol="0">
            <a:spAutoFit/>
          </a:bodyPr>
          <a:lstStyle/>
          <a:p>
            <a:r>
              <a:rPr lang="zh-CN" altLang="en-US" sz="2400" dirty="0">
                <a:latin typeface="微软雅黑" panose="020B0503020204020204" pitchFamily="34" charset="-122"/>
                <a:ea typeface="微软雅黑" panose="020B0503020204020204" pitchFamily="34" charset="-122"/>
              </a:rPr>
              <a:t>二进制也可以写成 </a:t>
            </a:r>
            <a:r>
              <a:rPr lang="en-US" altLang="zh-CN" sz="2400" dirty="0">
                <a:latin typeface="微软雅黑" panose="020B0503020204020204" pitchFamily="34" charset="-122"/>
                <a:ea typeface="微软雅黑" panose="020B0503020204020204" pitchFamily="34" charset="-122"/>
              </a:rPr>
              <a:t>1 </a:t>
            </a:r>
            <a:r>
              <a:rPr lang="zh-CN" altLang="en-US" sz="2400" dirty="0">
                <a:latin typeface="微软雅黑" panose="020B0503020204020204" pitchFamily="34" charset="-122"/>
                <a:ea typeface="微软雅黑" panose="020B0503020204020204" pitchFamily="34" charset="-122"/>
              </a:rPr>
              <a:t>和 </a:t>
            </a:r>
            <a:r>
              <a:rPr lang="en-US" altLang="zh-CN" sz="2400" dirty="0">
                <a:latin typeface="微软雅黑" panose="020B0503020204020204" pitchFamily="34" charset="-122"/>
                <a:ea typeface="微软雅黑" panose="020B0503020204020204" pitchFamily="34" charset="-122"/>
              </a:rPr>
              <a:t>0</a:t>
            </a:r>
            <a:r>
              <a:rPr lang="zh-CN" altLang="en-US" sz="2400" dirty="0">
                <a:latin typeface="微软雅黑" panose="020B0503020204020204" pitchFamily="34" charset="-122"/>
                <a:ea typeface="微软雅黑" panose="020B0503020204020204" pitchFamily="34" charset="-122"/>
              </a:rPr>
              <a:t>，替代 </a:t>
            </a:r>
            <a:r>
              <a:rPr lang="en-US" altLang="zh-CN" sz="2400" dirty="0">
                <a:latin typeface="微软雅黑" panose="020B0503020204020204" pitchFamily="34" charset="-122"/>
                <a:ea typeface="微软雅黑" panose="020B0503020204020204" pitchFamily="34" charset="-122"/>
              </a:rPr>
              <a:t>True </a:t>
            </a:r>
            <a:r>
              <a:rPr lang="zh-CN" altLang="en-US" sz="2400" dirty="0">
                <a:latin typeface="微软雅黑" panose="020B0503020204020204" pitchFamily="34" charset="-122"/>
                <a:ea typeface="微软雅黑" panose="020B0503020204020204" pitchFamily="34" charset="-122"/>
              </a:rPr>
              <a:t>和 </a:t>
            </a:r>
            <a:r>
              <a:rPr lang="en-US" altLang="zh-CN" sz="2400" dirty="0">
                <a:latin typeface="微软雅黑" panose="020B0503020204020204" pitchFamily="34" charset="-122"/>
                <a:ea typeface="微软雅黑" panose="020B0503020204020204" pitchFamily="34" charset="-122"/>
              </a:rPr>
              <a:t>False</a:t>
            </a:r>
            <a:endParaRPr lang="zh-CN" altLang="en-US" sz="2400" dirty="0">
              <a:latin typeface="微软雅黑" panose="020B0503020204020204" pitchFamily="34" charset="-122"/>
              <a:ea typeface="微软雅黑" panose="020B0503020204020204" pitchFamily="34" charset="-122"/>
            </a:endParaRPr>
          </a:p>
        </p:txBody>
      </p:sp>
      <p:pic>
        <p:nvPicPr>
          <p:cNvPr id="18" name="图片 17" descr="联想截图_20231214002915">
            <a:extLst>
              <a:ext uri="{FF2B5EF4-FFF2-40B4-BE49-F238E27FC236}">
                <a16:creationId xmlns:a16="http://schemas.microsoft.com/office/drawing/2014/main" id="{85DE16E2-9C28-44C4-AFA1-7E6B14CC0DCF}"/>
              </a:ext>
            </a:extLst>
          </p:cNvPr>
          <p:cNvPicPr>
            <a:picLocks noChangeAspect="1"/>
          </p:cNvPicPr>
          <p:nvPr>
            <p:custDataLst>
              <p:tags r:id="rId1"/>
            </p:custDataLst>
          </p:nvPr>
        </p:nvPicPr>
        <p:blipFill>
          <a:blip r:embed="rId5"/>
          <a:stretch>
            <a:fillRect/>
          </a:stretch>
        </p:blipFill>
        <p:spPr>
          <a:xfrm>
            <a:off x="4435475" y="6219825"/>
            <a:ext cx="545465" cy="546735"/>
          </a:xfrm>
          <a:prstGeom prst="rect">
            <a:avLst/>
          </a:prstGeom>
        </p:spPr>
      </p:pic>
    </p:spTree>
    <p:extLst>
      <p:ext uri="{BB962C8B-B14F-4D97-AF65-F5344CB8AC3E}">
        <p14:creationId xmlns:p14="http://schemas.microsoft.com/office/powerpoint/2010/main" val="38215360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600" dirty="0">
                <a:solidFill>
                  <a:prstClr val="black"/>
                </a:solidFill>
                <a:latin typeface="华文楷体" panose="02010600040101010101" pitchFamily="2" charset="-122"/>
                <a:ea typeface="华文楷体" panose="02010600040101010101" pitchFamily="2" charset="-122"/>
              </a:rPr>
              <a:t>第二章</a:t>
            </a:r>
            <a:endParaRPr kumimoji="0" lang="en-US" altLang="zh-CN" sz="3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endParaRP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18" name="Text Box 3">
            <a:extLst>
              <a:ext uri="{FF2B5EF4-FFF2-40B4-BE49-F238E27FC236}">
                <a16:creationId xmlns:a16="http://schemas.microsoft.com/office/drawing/2014/main" id="{55EA76A4-E138-48B8-8A99-9B5651EA3662}"/>
              </a:ext>
            </a:extLst>
          </p:cNvPr>
          <p:cNvSpPr txBox="1">
            <a:spLocks noChangeArrowheads="1"/>
          </p:cNvSpPr>
          <p:nvPr/>
        </p:nvSpPr>
        <p:spPr bwMode="auto">
          <a:xfrm>
            <a:off x="1437177" y="1522790"/>
            <a:ext cx="9028226" cy="3194721"/>
          </a:xfrm>
          <a:prstGeom prst="rect">
            <a:avLst/>
          </a:prstGeom>
          <a:noFill/>
          <a:ln w="9525">
            <a:noFill/>
            <a:miter lim="800000"/>
          </a:ln>
          <a:effectLst/>
        </p:spPr>
        <p:txBody>
          <a:bodyPr wrap="square">
            <a:spAutoFit/>
          </a:bodyPr>
          <a:lstStyle/>
          <a:p>
            <a:pPr>
              <a:lnSpc>
                <a:spcPct val="180000"/>
              </a:lnSpc>
              <a:defRPr/>
            </a:pPr>
            <a:r>
              <a:rPr lang="zh-CN" altLang="en-US" sz="2800" b="1" dirty="0">
                <a:latin typeface="华文仿宋" panose="02010600040101010101" pitchFamily="2" charset="-122"/>
                <a:ea typeface="华文仿宋" panose="02010600040101010101" pitchFamily="2" charset="-122"/>
              </a:rPr>
              <a:t>十进制	</a:t>
            </a:r>
            <a:r>
              <a:rPr lang="en-US" altLang="zh-CN" sz="2800" b="1" dirty="0">
                <a:effectLst>
                  <a:outerShdw blurRad="38100" dist="38100" dir="2700000" algn="tl">
                    <a:srgbClr val="C0C0C0"/>
                  </a:outerShdw>
                </a:effectLst>
                <a:latin typeface="华文仿宋" panose="02010600040101010101" pitchFamily="2" charset="-122"/>
                <a:ea typeface="华文仿宋" panose="02010600040101010101" pitchFamily="2" charset="-122"/>
              </a:rPr>
              <a:t>R</a:t>
            </a:r>
            <a:r>
              <a:rPr lang="en-US" altLang="zh-CN" sz="2800" b="1" dirty="0">
                <a:latin typeface="华文仿宋" panose="02010600040101010101" pitchFamily="2" charset="-122"/>
                <a:ea typeface="华文仿宋" panose="02010600040101010101" pitchFamily="2" charset="-122"/>
              </a:rPr>
              <a:t>=10</a:t>
            </a:r>
            <a:r>
              <a:rPr lang="zh-CN" altLang="en-US" sz="2800" b="1" dirty="0">
                <a:latin typeface="华文仿宋" panose="02010600040101010101" pitchFamily="2" charset="-122"/>
                <a:ea typeface="华文仿宋" panose="02010600040101010101" pitchFamily="2" charset="-122"/>
              </a:rPr>
              <a:t>，只可使用</a:t>
            </a:r>
            <a:r>
              <a:rPr lang="en-US" altLang="zh-CN" sz="2800" b="1" dirty="0">
                <a:latin typeface="华文仿宋" panose="02010600040101010101" pitchFamily="2" charset="-122"/>
                <a:ea typeface="华文仿宋" panose="02010600040101010101" pitchFamily="2" charset="-122"/>
              </a:rPr>
              <a:t>0,1,2,3,4,5,6,7,8,9</a:t>
            </a:r>
          </a:p>
          <a:p>
            <a:pPr>
              <a:lnSpc>
                <a:spcPct val="180000"/>
              </a:lnSpc>
              <a:defRPr/>
            </a:pPr>
            <a:r>
              <a:rPr lang="zh-CN" altLang="en-US" sz="2800" b="1" dirty="0">
                <a:latin typeface="华文仿宋" panose="02010600040101010101" pitchFamily="2" charset="-122"/>
                <a:ea typeface="华文仿宋" panose="02010600040101010101" pitchFamily="2" charset="-122"/>
              </a:rPr>
              <a:t>二进制	</a:t>
            </a:r>
            <a:r>
              <a:rPr lang="en-US" altLang="zh-CN" sz="2800" b="1" dirty="0">
                <a:effectLst>
                  <a:outerShdw blurRad="38100" dist="38100" dir="2700000" algn="tl">
                    <a:srgbClr val="C0C0C0"/>
                  </a:outerShdw>
                </a:effectLst>
                <a:latin typeface="华文仿宋" panose="02010600040101010101" pitchFamily="2" charset="-122"/>
                <a:ea typeface="华文仿宋" panose="02010600040101010101" pitchFamily="2" charset="-122"/>
              </a:rPr>
              <a:t>R</a:t>
            </a:r>
            <a:r>
              <a:rPr lang="en-US" altLang="zh-CN" sz="2800" b="1" dirty="0">
                <a:latin typeface="华文仿宋" panose="02010600040101010101" pitchFamily="2" charset="-122"/>
                <a:ea typeface="华文仿宋" panose="02010600040101010101" pitchFamily="2" charset="-122"/>
              </a:rPr>
              <a:t>=2 </a:t>
            </a:r>
            <a:r>
              <a:rPr lang="zh-CN" altLang="en-US" sz="2800" b="1" dirty="0">
                <a:latin typeface="华文仿宋" panose="02010600040101010101" pitchFamily="2" charset="-122"/>
                <a:ea typeface="华文仿宋" panose="02010600040101010101" pitchFamily="2" charset="-122"/>
              </a:rPr>
              <a:t>，只可使用</a:t>
            </a:r>
            <a:r>
              <a:rPr lang="en-US" altLang="zh-CN" sz="2800" b="1" dirty="0">
                <a:latin typeface="华文仿宋" panose="02010600040101010101" pitchFamily="2" charset="-122"/>
                <a:ea typeface="华文仿宋" panose="02010600040101010101" pitchFamily="2" charset="-122"/>
              </a:rPr>
              <a:t>0,1</a:t>
            </a:r>
          </a:p>
          <a:p>
            <a:pPr>
              <a:lnSpc>
                <a:spcPct val="180000"/>
              </a:lnSpc>
              <a:defRPr/>
            </a:pPr>
            <a:r>
              <a:rPr lang="zh-CN" altLang="en-US" sz="2800" b="1" dirty="0">
                <a:latin typeface="华文仿宋" panose="02010600040101010101" pitchFamily="2" charset="-122"/>
                <a:ea typeface="华文仿宋" panose="02010600040101010101" pitchFamily="2" charset="-122"/>
              </a:rPr>
              <a:t>八进制	</a:t>
            </a:r>
            <a:r>
              <a:rPr lang="en-US" altLang="zh-CN" sz="2800" b="1" dirty="0">
                <a:effectLst>
                  <a:outerShdw blurRad="38100" dist="38100" dir="2700000" algn="tl">
                    <a:srgbClr val="C0C0C0"/>
                  </a:outerShdw>
                </a:effectLst>
                <a:latin typeface="华文仿宋" panose="02010600040101010101" pitchFamily="2" charset="-122"/>
                <a:ea typeface="华文仿宋" panose="02010600040101010101" pitchFamily="2" charset="-122"/>
              </a:rPr>
              <a:t>R</a:t>
            </a:r>
            <a:r>
              <a:rPr lang="en-US" altLang="zh-CN" sz="2800" b="1" dirty="0">
                <a:latin typeface="华文仿宋" panose="02010600040101010101" pitchFamily="2" charset="-122"/>
                <a:ea typeface="华文仿宋" panose="02010600040101010101" pitchFamily="2" charset="-122"/>
              </a:rPr>
              <a:t>=8 </a:t>
            </a:r>
            <a:r>
              <a:rPr lang="zh-CN" altLang="en-US" sz="2800" b="1" dirty="0">
                <a:latin typeface="华文仿宋" panose="02010600040101010101" pitchFamily="2" charset="-122"/>
                <a:ea typeface="华文仿宋" panose="02010600040101010101" pitchFamily="2" charset="-122"/>
              </a:rPr>
              <a:t>，只可使用</a:t>
            </a:r>
            <a:r>
              <a:rPr lang="en-US" altLang="zh-CN" sz="2800" b="1" dirty="0">
                <a:latin typeface="华文仿宋" panose="02010600040101010101" pitchFamily="2" charset="-122"/>
                <a:ea typeface="华文仿宋" panose="02010600040101010101" pitchFamily="2" charset="-122"/>
              </a:rPr>
              <a:t>0,1,2,3,4,5,6,7</a:t>
            </a:r>
          </a:p>
          <a:p>
            <a:pPr>
              <a:lnSpc>
                <a:spcPct val="180000"/>
              </a:lnSpc>
              <a:defRPr/>
            </a:pPr>
            <a:r>
              <a:rPr lang="zh-CN" altLang="en-US" sz="2800" b="1" dirty="0">
                <a:latin typeface="华文仿宋" panose="02010600040101010101" pitchFamily="2" charset="-122"/>
                <a:ea typeface="华文仿宋" panose="02010600040101010101" pitchFamily="2" charset="-122"/>
              </a:rPr>
              <a:t>十六进制	</a:t>
            </a:r>
            <a:r>
              <a:rPr lang="en-US" altLang="zh-CN" sz="2800" b="1" dirty="0">
                <a:effectLst>
                  <a:outerShdw blurRad="38100" dist="38100" dir="2700000" algn="tl">
                    <a:srgbClr val="C0C0C0"/>
                  </a:outerShdw>
                </a:effectLst>
                <a:latin typeface="华文仿宋" panose="02010600040101010101" pitchFamily="2" charset="-122"/>
                <a:ea typeface="华文仿宋" panose="02010600040101010101" pitchFamily="2" charset="-122"/>
              </a:rPr>
              <a:t>R</a:t>
            </a:r>
            <a:r>
              <a:rPr lang="en-US" altLang="zh-CN" sz="2800" b="1" dirty="0">
                <a:latin typeface="华文仿宋" panose="02010600040101010101" pitchFamily="2" charset="-122"/>
                <a:ea typeface="华文仿宋" panose="02010600040101010101" pitchFamily="2" charset="-122"/>
              </a:rPr>
              <a:t>=16 </a:t>
            </a:r>
            <a:r>
              <a:rPr lang="zh-CN" altLang="en-US" sz="2800" b="1" dirty="0">
                <a:latin typeface="华文仿宋" panose="02010600040101010101" pitchFamily="2" charset="-122"/>
                <a:ea typeface="华文仿宋" panose="02010600040101010101" pitchFamily="2" charset="-122"/>
              </a:rPr>
              <a:t>，只可使用</a:t>
            </a:r>
            <a:r>
              <a:rPr lang="en-US" altLang="zh-CN" sz="2800" b="1" dirty="0">
                <a:latin typeface="华文仿宋" panose="02010600040101010101" pitchFamily="2" charset="-122"/>
                <a:ea typeface="华文仿宋" panose="02010600040101010101" pitchFamily="2" charset="-122"/>
              </a:rPr>
              <a:t>0,1,2,3,4,5,6,7,8,9,A,B,C,D,E,F</a:t>
            </a:r>
          </a:p>
        </p:txBody>
      </p:sp>
      <p:sp>
        <p:nvSpPr>
          <p:cNvPr id="19" name="Text Box 4">
            <a:extLst>
              <a:ext uri="{FF2B5EF4-FFF2-40B4-BE49-F238E27FC236}">
                <a16:creationId xmlns:a16="http://schemas.microsoft.com/office/drawing/2014/main" id="{161A717F-3F63-4460-B63A-8576935D2C95}"/>
              </a:ext>
            </a:extLst>
          </p:cNvPr>
          <p:cNvSpPr txBox="1">
            <a:spLocks noChangeArrowheads="1"/>
          </p:cNvSpPr>
          <p:nvPr/>
        </p:nvSpPr>
        <p:spPr bwMode="auto">
          <a:xfrm>
            <a:off x="3070970" y="5125965"/>
            <a:ext cx="5427661" cy="646331"/>
          </a:xfrm>
          <a:prstGeom prst="rect">
            <a:avLst/>
          </a:prstGeom>
          <a:noFill/>
          <a:ln w="9525">
            <a:noFill/>
            <a:miter lim="800000"/>
          </a:ln>
          <a:effectLst/>
        </p:spPr>
        <p:txBody>
          <a:bodyPr wrap="square">
            <a:spAutoFit/>
          </a:bodyPr>
          <a:lstStyle/>
          <a:p>
            <a:pPr>
              <a:defRPr/>
            </a:pPr>
            <a:r>
              <a:rPr lang="en-US" altLang="zh-CN" sz="3600" dirty="0">
                <a:solidFill>
                  <a:srgbClr val="FF0000"/>
                </a:solidFill>
                <a:latin typeface="微软雅黑" panose="020B0503020204020204" pitchFamily="34" charset="-122"/>
                <a:ea typeface="微软雅黑" panose="020B0503020204020204" pitchFamily="34" charset="-122"/>
              </a:rPr>
              <a:t>“</a:t>
            </a:r>
            <a:r>
              <a:rPr lang="zh-CN" altLang="en-US" sz="3600" dirty="0">
                <a:solidFill>
                  <a:srgbClr val="FF0000"/>
                </a:solidFill>
                <a:latin typeface="微软雅黑" panose="020B0503020204020204" pitchFamily="34" charset="-122"/>
                <a:ea typeface="微软雅黑" panose="020B0503020204020204" pitchFamily="34" charset="-122"/>
              </a:rPr>
              <a:t>逢</a:t>
            </a:r>
            <a:r>
              <a:rPr lang="en-US" altLang="zh-CN" sz="3600" dirty="0">
                <a:solidFill>
                  <a:srgbClr val="FF0000"/>
                </a:solidFill>
                <a:latin typeface="微软雅黑" panose="020B0503020204020204" pitchFamily="34" charset="-122"/>
                <a:ea typeface="微软雅黑" panose="020B0503020204020204" pitchFamily="34" charset="-122"/>
              </a:rPr>
              <a:t>R</a:t>
            </a:r>
            <a:r>
              <a:rPr lang="zh-CN" altLang="en-US" sz="3600" dirty="0">
                <a:solidFill>
                  <a:srgbClr val="FF0000"/>
                </a:solidFill>
                <a:latin typeface="微软雅黑" panose="020B0503020204020204" pitchFamily="34" charset="-122"/>
                <a:ea typeface="微软雅黑" panose="020B0503020204020204" pitchFamily="34" charset="-122"/>
              </a:rPr>
              <a:t>进一，借一当</a:t>
            </a:r>
            <a:r>
              <a:rPr lang="en-US" altLang="zh-CN" sz="3600" dirty="0">
                <a:solidFill>
                  <a:srgbClr val="FF0000"/>
                </a:solidFill>
                <a:latin typeface="微软雅黑" panose="020B0503020204020204" pitchFamily="34" charset="-122"/>
                <a:ea typeface="微软雅黑" panose="020B0503020204020204" pitchFamily="34" charset="-122"/>
              </a:rPr>
              <a:t>R”</a:t>
            </a:r>
          </a:p>
        </p:txBody>
      </p:sp>
      <p:sp>
        <p:nvSpPr>
          <p:cNvPr id="20" name="Text Box 9">
            <a:extLst>
              <a:ext uri="{FF2B5EF4-FFF2-40B4-BE49-F238E27FC236}">
                <a16:creationId xmlns:a16="http://schemas.microsoft.com/office/drawing/2014/main" id="{C207681F-2F4B-4B25-9086-F180416CBDDD}"/>
              </a:ext>
            </a:extLst>
          </p:cNvPr>
          <p:cNvSpPr txBox="1">
            <a:spLocks noChangeArrowheads="1"/>
          </p:cNvSpPr>
          <p:nvPr/>
        </p:nvSpPr>
        <p:spPr bwMode="auto">
          <a:xfrm>
            <a:off x="1327183" y="964936"/>
            <a:ext cx="9138220" cy="6046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square" lIns="73125" tIns="38025" rIns="73125" bIns="73125" anchor="ctr">
            <a:spAutoFit/>
          </a:bodyPr>
          <a:lstStyle>
            <a:lvl1pPr eaLnBrk="0" hangingPunct="0">
              <a:defRPr sz="2000">
                <a:solidFill>
                  <a:schemeClr val="tx1"/>
                </a:solidFill>
                <a:latin typeface="Arial" panose="020B0604020202020204" pitchFamily="34" charset="0"/>
                <a:ea typeface="宋体" panose="02010600030101010101" pitchFamily="2" charset="-122"/>
              </a:defRPr>
            </a:lvl1pPr>
            <a:lvl2pPr marL="742950" indent="-285750" eaLnBrk="0" hangingPunct="0">
              <a:defRPr sz="2000">
                <a:solidFill>
                  <a:schemeClr val="tx1"/>
                </a:solidFill>
                <a:latin typeface="Arial" panose="020B0604020202020204" pitchFamily="34" charset="0"/>
                <a:ea typeface="宋体" panose="02010600030101010101" pitchFamily="2" charset="-122"/>
              </a:defRPr>
            </a:lvl2pPr>
            <a:lvl3pPr marL="1143000" indent="-228600" eaLnBrk="0" hangingPunct="0">
              <a:defRPr sz="2000">
                <a:solidFill>
                  <a:schemeClr val="tx1"/>
                </a:solidFill>
                <a:latin typeface="Arial" panose="020B0604020202020204" pitchFamily="34" charset="0"/>
                <a:ea typeface="宋体" panose="02010600030101010101" pitchFamily="2" charset="-122"/>
              </a:defRPr>
            </a:lvl3pPr>
            <a:lvl4pPr marL="1600200" indent="-228600" eaLnBrk="0" hangingPunct="0">
              <a:defRPr sz="2000">
                <a:solidFill>
                  <a:schemeClr val="tx1"/>
                </a:solidFill>
                <a:latin typeface="Arial" panose="020B0604020202020204" pitchFamily="34" charset="0"/>
                <a:ea typeface="宋体" panose="02010600030101010101" pitchFamily="2" charset="-122"/>
              </a:defRPr>
            </a:lvl4pPr>
            <a:lvl5pPr marL="2057400" indent="-228600" eaLnBrk="0" hangingPunct="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r>
              <a:rPr lang="en-US" altLang="zh-CN" sz="3200" b="1" dirty="0">
                <a:latin typeface="华文仿宋" panose="02010600040101010101" pitchFamily="2" charset="-122"/>
                <a:ea typeface="华文仿宋" panose="02010600040101010101" pitchFamily="2" charset="-122"/>
              </a:rPr>
              <a:t>  </a:t>
            </a:r>
            <a:r>
              <a:rPr lang="zh-CN" altLang="en-US" sz="3200" b="1" dirty="0">
                <a:latin typeface="华文仿宋" panose="02010600040101010101" pitchFamily="2" charset="-122"/>
                <a:ea typeface="华文仿宋" panose="02010600040101010101" pitchFamily="2" charset="-122"/>
              </a:rPr>
              <a:t>数制中所含数字符号的个数称为</a:t>
            </a:r>
            <a:r>
              <a:rPr lang="zh-CN" altLang="en-US" sz="3200" b="1" dirty="0">
                <a:solidFill>
                  <a:srgbClr val="C00000"/>
                </a:solidFill>
                <a:latin typeface="华文仿宋" panose="02010600040101010101" pitchFamily="2" charset="-122"/>
                <a:ea typeface="华文仿宋" panose="02010600040101010101" pitchFamily="2" charset="-122"/>
              </a:rPr>
              <a:t>基数</a:t>
            </a:r>
            <a:r>
              <a:rPr lang="zh-CN" altLang="en-US" sz="3200" b="1" dirty="0">
                <a:latin typeface="华文仿宋" panose="02010600040101010101" pitchFamily="2" charset="-122"/>
                <a:ea typeface="华文仿宋" panose="02010600040101010101" pitchFamily="2" charset="-122"/>
              </a:rPr>
              <a:t>，用</a:t>
            </a:r>
            <a:r>
              <a:rPr lang="en-US" altLang="zh-CN" sz="3200" b="1" dirty="0">
                <a:latin typeface="华文仿宋" panose="02010600040101010101" pitchFamily="2" charset="-122"/>
                <a:ea typeface="华文仿宋" panose="02010600040101010101" pitchFamily="2" charset="-122"/>
              </a:rPr>
              <a:t>R</a:t>
            </a:r>
            <a:r>
              <a:rPr lang="zh-CN" altLang="en-US" sz="3200" b="1" dirty="0">
                <a:latin typeface="华文仿宋" panose="02010600040101010101" pitchFamily="2" charset="-122"/>
                <a:ea typeface="华文仿宋" panose="02010600040101010101" pitchFamily="2" charset="-122"/>
              </a:rPr>
              <a:t>表示</a:t>
            </a:r>
            <a:endParaRPr lang="zh-CN" altLang="en-US" sz="3200" dirty="0">
              <a:latin typeface="华文仿宋" panose="02010600040101010101" pitchFamily="2" charset="-122"/>
              <a:ea typeface="华文仿宋" panose="02010600040101010101" pitchFamily="2" charset="-122"/>
            </a:endParaRPr>
          </a:p>
        </p:txBody>
      </p:sp>
      <p:pic>
        <p:nvPicPr>
          <p:cNvPr id="11" name="图片 10" descr="联想截图_20231214002915">
            <a:extLst>
              <a:ext uri="{FF2B5EF4-FFF2-40B4-BE49-F238E27FC236}">
                <a16:creationId xmlns:a16="http://schemas.microsoft.com/office/drawing/2014/main" id="{6445100D-1CE9-4437-8F40-FAFAB1D2BFF8}"/>
              </a:ext>
            </a:extLst>
          </p:cNvPr>
          <p:cNvPicPr>
            <a:picLocks noChangeAspect="1"/>
          </p:cNvPicPr>
          <p:nvPr>
            <p:custDataLst>
              <p:tags r:id="rId1"/>
            </p:custDataLst>
          </p:nvPr>
        </p:nvPicPr>
        <p:blipFill>
          <a:blip r:embed="rId5"/>
          <a:stretch>
            <a:fillRect/>
          </a:stretch>
        </p:blipFill>
        <p:spPr>
          <a:xfrm>
            <a:off x="4435475" y="6219825"/>
            <a:ext cx="545465" cy="546735"/>
          </a:xfrm>
          <a:prstGeom prst="rect">
            <a:avLst/>
          </a:prstGeom>
        </p:spPr>
      </p:pic>
    </p:spTree>
    <p:extLst>
      <p:ext uri="{BB962C8B-B14F-4D97-AF65-F5344CB8AC3E}">
        <p14:creationId xmlns:p14="http://schemas.microsoft.com/office/powerpoint/2010/main" val="4138856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600" dirty="0">
                <a:solidFill>
                  <a:prstClr val="black"/>
                </a:solidFill>
                <a:latin typeface="华文楷体" panose="02010600040101010101" pitchFamily="2" charset="-122"/>
                <a:ea typeface="华文楷体" panose="02010600040101010101" pitchFamily="2" charset="-122"/>
              </a:rPr>
              <a:t>第二章</a:t>
            </a:r>
            <a:endParaRPr kumimoji="0" lang="en-US" altLang="zh-CN" sz="3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endParaRP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9" name="Text Box 5">
            <a:extLst>
              <a:ext uri="{FF2B5EF4-FFF2-40B4-BE49-F238E27FC236}">
                <a16:creationId xmlns:a16="http://schemas.microsoft.com/office/drawing/2014/main" id="{A3B71669-56AC-4393-B40F-02D03A7EB2EC}"/>
              </a:ext>
            </a:extLst>
          </p:cNvPr>
          <p:cNvSpPr txBox="1">
            <a:spLocks noChangeArrowheads="1"/>
          </p:cNvSpPr>
          <p:nvPr/>
        </p:nvSpPr>
        <p:spPr bwMode="auto">
          <a:xfrm>
            <a:off x="1524000" y="1425260"/>
            <a:ext cx="4530725" cy="523220"/>
          </a:xfrm>
          <a:prstGeom prst="rect">
            <a:avLst/>
          </a:prstGeom>
          <a:noFill/>
          <a:ln w="9525" algn="ctr">
            <a:noFill/>
            <a:miter lim="800000"/>
          </a:ln>
        </p:spPr>
        <p:txBody>
          <a:bodyPr>
            <a:spAutoFit/>
          </a:bodyPr>
          <a:lstStyle/>
          <a:p>
            <a:pPr eaLnBrk="1" hangingPunct="1">
              <a:spcBef>
                <a:spcPct val="50000"/>
              </a:spcBef>
            </a:pPr>
            <a:r>
              <a:rPr lang="zh-CN" altLang="en-US" sz="2800" b="1" dirty="0"/>
              <a:t>   不同数制数的表示：</a:t>
            </a:r>
            <a:endParaRPr lang="zh-CN" altLang="en-US" sz="2800" dirty="0"/>
          </a:p>
        </p:txBody>
      </p:sp>
      <p:sp>
        <p:nvSpPr>
          <p:cNvPr id="11" name="Text Box 7">
            <a:extLst>
              <a:ext uri="{FF2B5EF4-FFF2-40B4-BE49-F238E27FC236}">
                <a16:creationId xmlns:a16="http://schemas.microsoft.com/office/drawing/2014/main" id="{0D88FEED-BD3C-4004-8B97-D271FA0D56DC}"/>
              </a:ext>
            </a:extLst>
          </p:cNvPr>
          <p:cNvSpPr txBox="1">
            <a:spLocks noChangeArrowheads="1"/>
          </p:cNvSpPr>
          <p:nvPr/>
        </p:nvSpPr>
        <p:spPr bwMode="auto">
          <a:xfrm>
            <a:off x="1820581" y="2075724"/>
            <a:ext cx="2017713" cy="3387725"/>
          </a:xfrm>
          <a:prstGeom prst="rect">
            <a:avLst/>
          </a:prstGeom>
          <a:noFill/>
          <a:ln w="9525" algn="ctr">
            <a:noFill/>
            <a:miter lim="800000"/>
          </a:ln>
        </p:spPr>
        <p:txBody>
          <a:bodyPr>
            <a:spAutoFit/>
          </a:bodyPr>
          <a:lstStyle/>
          <a:p>
            <a:pPr eaLnBrk="1" hangingPunct="1">
              <a:lnSpc>
                <a:spcPct val="150000"/>
              </a:lnSpc>
            </a:pPr>
            <a:r>
              <a:rPr kumimoji="0" lang="en-US" altLang="zh-CN" sz="3600" b="1" dirty="0">
                <a:solidFill>
                  <a:srgbClr val="FF0000"/>
                </a:solidFill>
              </a:rPr>
              <a:t>(</a:t>
            </a:r>
            <a:r>
              <a:rPr kumimoji="0" lang="en-US" altLang="zh-CN" sz="3600" b="1" dirty="0"/>
              <a:t>1</a:t>
            </a:r>
            <a:r>
              <a:rPr lang="en-US" altLang="zh-CN" sz="3600" b="1" dirty="0"/>
              <a:t>001</a:t>
            </a:r>
            <a:r>
              <a:rPr lang="en-US" altLang="zh-CN" sz="3600" b="1" dirty="0">
                <a:solidFill>
                  <a:srgbClr val="FF0000"/>
                </a:solidFill>
              </a:rPr>
              <a:t>)</a:t>
            </a:r>
            <a:r>
              <a:rPr lang="en-US" altLang="zh-CN" sz="3600" b="1" baseline="-25000" dirty="0">
                <a:solidFill>
                  <a:srgbClr val="FF0000"/>
                </a:solidFill>
              </a:rPr>
              <a:t>2</a:t>
            </a:r>
          </a:p>
          <a:p>
            <a:pPr eaLnBrk="1" hangingPunct="1">
              <a:lnSpc>
                <a:spcPct val="150000"/>
              </a:lnSpc>
            </a:pPr>
            <a:r>
              <a:rPr lang="en-US" altLang="zh-CN" sz="3600" b="1" dirty="0">
                <a:solidFill>
                  <a:srgbClr val="FF0000"/>
                </a:solidFill>
              </a:rPr>
              <a:t>(</a:t>
            </a:r>
            <a:r>
              <a:rPr lang="en-US" altLang="zh-CN" sz="3600" b="1" dirty="0"/>
              <a:t>1001</a:t>
            </a:r>
            <a:r>
              <a:rPr lang="en-US" altLang="zh-CN" sz="3600" b="1" dirty="0">
                <a:solidFill>
                  <a:srgbClr val="FF0000"/>
                </a:solidFill>
              </a:rPr>
              <a:t>)</a:t>
            </a:r>
            <a:r>
              <a:rPr lang="en-US" altLang="zh-CN" sz="3600" b="1" baseline="-25000" dirty="0">
                <a:solidFill>
                  <a:srgbClr val="FF0000"/>
                </a:solidFill>
              </a:rPr>
              <a:t>8</a:t>
            </a:r>
          </a:p>
          <a:p>
            <a:pPr eaLnBrk="1" hangingPunct="1">
              <a:lnSpc>
                <a:spcPct val="150000"/>
              </a:lnSpc>
            </a:pPr>
            <a:r>
              <a:rPr lang="en-US" altLang="zh-CN" sz="3600" b="1" dirty="0">
                <a:solidFill>
                  <a:srgbClr val="FF0000"/>
                </a:solidFill>
              </a:rPr>
              <a:t>(</a:t>
            </a:r>
            <a:r>
              <a:rPr lang="en-US" altLang="zh-CN" sz="3600" b="1" dirty="0"/>
              <a:t>1001</a:t>
            </a:r>
            <a:r>
              <a:rPr lang="en-US" altLang="zh-CN" sz="3600" b="1" dirty="0">
                <a:solidFill>
                  <a:srgbClr val="FF0000"/>
                </a:solidFill>
              </a:rPr>
              <a:t>)</a:t>
            </a:r>
            <a:r>
              <a:rPr lang="en-US" altLang="zh-CN" sz="3600" b="1" baseline="-25000" dirty="0">
                <a:solidFill>
                  <a:srgbClr val="FF0000"/>
                </a:solidFill>
              </a:rPr>
              <a:t>10</a:t>
            </a:r>
          </a:p>
          <a:p>
            <a:pPr eaLnBrk="1" hangingPunct="1">
              <a:lnSpc>
                <a:spcPct val="150000"/>
              </a:lnSpc>
            </a:pPr>
            <a:r>
              <a:rPr lang="en-US" altLang="zh-CN" sz="3600" b="1" dirty="0">
                <a:solidFill>
                  <a:srgbClr val="FF0000"/>
                </a:solidFill>
              </a:rPr>
              <a:t>(</a:t>
            </a:r>
            <a:r>
              <a:rPr lang="en-US" altLang="zh-CN" sz="3600" b="1" dirty="0"/>
              <a:t>1001</a:t>
            </a:r>
            <a:r>
              <a:rPr lang="en-US" altLang="zh-CN" sz="3600" b="1" dirty="0">
                <a:solidFill>
                  <a:srgbClr val="FF0000"/>
                </a:solidFill>
              </a:rPr>
              <a:t>)</a:t>
            </a:r>
            <a:r>
              <a:rPr lang="en-US" altLang="zh-CN" sz="3600" b="1" baseline="-25000" dirty="0">
                <a:solidFill>
                  <a:srgbClr val="FF0000"/>
                </a:solidFill>
              </a:rPr>
              <a:t>16</a:t>
            </a:r>
          </a:p>
        </p:txBody>
      </p:sp>
      <p:sp>
        <p:nvSpPr>
          <p:cNvPr id="12" name="AutoShape 9">
            <a:extLst>
              <a:ext uri="{FF2B5EF4-FFF2-40B4-BE49-F238E27FC236}">
                <a16:creationId xmlns:a16="http://schemas.microsoft.com/office/drawing/2014/main" id="{48D12CE9-E200-4CA4-BEC9-78E6B79F1226}"/>
              </a:ext>
            </a:extLst>
          </p:cNvPr>
          <p:cNvSpPr>
            <a:spLocks noChangeArrowheads="1"/>
          </p:cNvSpPr>
          <p:nvPr/>
        </p:nvSpPr>
        <p:spPr bwMode="auto">
          <a:xfrm>
            <a:off x="3587800" y="2491079"/>
            <a:ext cx="431800" cy="287338"/>
          </a:xfrm>
          <a:prstGeom prst="leftRightArrow">
            <a:avLst>
              <a:gd name="adj1" fmla="val 50000"/>
              <a:gd name="adj2" fmla="val 30055"/>
            </a:avLst>
          </a:prstGeom>
          <a:solidFill>
            <a:schemeClr val="bg1">
              <a:lumMod val="65000"/>
            </a:schemeClr>
          </a:solidFill>
          <a:ln w="9525" algn="ctr">
            <a:noFill/>
            <a:miter lim="800000"/>
          </a:ln>
        </p:spPr>
        <p:txBody>
          <a:bodyPr wrap="none" anchor="ctr"/>
          <a:lstStyle/>
          <a:p>
            <a:pPr algn="ctr" eaLnBrk="1" hangingPunct="1"/>
            <a:endParaRPr lang="zh-CN" altLang="en-US"/>
          </a:p>
        </p:txBody>
      </p:sp>
      <p:sp>
        <p:nvSpPr>
          <p:cNvPr id="13" name="AutoShape 10">
            <a:extLst>
              <a:ext uri="{FF2B5EF4-FFF2-40B4-BE49-F238E27FC236}">
                <a16:creationId xmlns:a16="http://schemas.microsoft.com/office/drawing/2014/main" id="{CE81FA96-A2AB-4BC8-88ED-1EC433E7516E}"/>
              </a:ext>
            </a:extLst>
          </p:cNvPr>
          <p:cNvSpPr>
            <a:spLocks noChangeArrowheads="1"/>
          </p:cNvSpPr>
          <p:nvPr/>
        </p:nvSpPr>
        <p:spPr bwMode="auto">
          <a:xfrm>
            <a:off x="3587800" y="3351820"/>
            <a:ext cx="431800" cy="287338"/>
          </a:xfrm>
          <a:prstGeom prst="leftRightArrow">
            <a:avLst>
              <a:gd name="adj1" fmla="val 50000"/>
              <a:gd name="adj2" fmla="val 30055"/>
            </a:avLst>
          </a:prstGeom>
          <a:solidFill>
            <a:schemeClr val="bg1">
              <a:lumMod val="65000"/>
            </a:schemeClr>
          </a:solidFill>
          <a:ln w="9525" algn="ctr">
            <a:noFill/>
            <a:miter lim="800000"/>
          </a:ln>
        </p:spPr>
        <p:txBody>
          <a:bodyPr wrap="none" anchor="ctr"/>
          <a:lstStyle/>
          <a:p>
            <a:pPr algn="ctr" eaLnBrk="1" hangingPunct="1"/>
            <a:endParaRPr lang="zh-CN" altLang="en-US"/>
          </a:p>
        </p:txBody>
      </p:sp>
      <p:sp>
        <p:nvSpPr>
          <p:cNvPr id="15" name="AutoShape 11">
            <a:extLst>
              <a:ext uri="{FF2B5EF4-FFF2-40B4-BE49-F238E27FC236}">
                <a16:creationId xmlns:a16="http://schemas.microsoft.com/office/drawing/2014/main" id="{4960094C-382D-4649-9702-09267F840864}"/>
              </a:ext>
            </a:extLst>
          </p:cNvPr>
          <p:cNvSpPr>
            <a:spLocks noChangeArrowheads="1"/>
          </p:cNvSpPr>
          <p:nvPr/>
        </p:nvSpPr>
        <p:spPr bwMode="auto">
          <a:xfrm>
            <a:off x="3596032" y="4169056"/>
            <a:ext cx="431800" cy="287337"/>
          </a:xfrm>
          <a:prstGeom prst="leftRightArrow">
            <a:avLst>
              <a:gd name="adj1" fmla="val 50000"/>
              <a:gd name="adj2" fmla="val 30055"/>
            </a:avLst>
          </a:prstGeom>
          <a:solidFill>
            <a:schemeClr val="bg1">
              <a:lumMod val="65000"/>
            </a:schemeClr>
          </a:solidFill>
          <a:ln w="9525" algn="ctr">
            <a:noFill/>
            <a:miter lim="800000"/>
          </a:ln>
        </p:spPr>
        <p:txBody>
          <a:bodyPr wrap="none" anchor="ctr"/>
          <a:lstStyle/>
          <a:p>
            <a:pPr algn="ctr" eaLnBrk="1" hangingPunct="1"/>
            <a:endParaRPr lang="zh-CN" altLang="en-US"/>
          </a:p>
        </p:txBody>
      </p:sp>
      <p:sp>
        <p:nvSpPr>
          <p:cNvPr id="16" name="AutoShape 12">
            <a:extLst>
              <a:ext uri="{FF2B5EF4-FFF2-40B4-BE49-F238E27FC236}">
                <a16:creationId xmlns:a16="http://schemas.microsoft.com/office/drawing/2014/main" id="{937AB228-3FC7-4918-8028-98B9731FBE16}"/>
              </a:ext>
            </a:extLst>
          </p:cNvPr>
          <p:cNvSpPr>
            <a:spLocks noChangeArrowheads="1"/>
          </p:cNvSpPr>
          <p:nvPr/>
        </p:nvSpPr>
        <p:spPr bwMode="auto">
          <a:xfrm>
            <a:off x="3587800" y="4913645"/>
            <a:ext cx="431800" cy="287338"/>
          </a:xfrm>
          <a:prstGeom prst="leftRightArrow">
            <a:avLst>
              <a:gd name="adj1" fmla="val 50000"/>
              <a:gd name="adj2" fmla="val 30055"/>
            </a:avLst>
          </a:prstGeom>
          <a:solidFill>
            <a:schemeClr val="bg1">
              <a:lumMod val="65000"/>
            </a:schemeClr>
          </a:solidFill>
          <a:ln w="9525" algn="ctr">
            <a:noFill/>
            <a:miter lim="800000"/>
          </a:ln>
        </p:spPr>
        <p:txBody>
          <a:bodyPr wrap="none" anchor="ctr"/>
          <a:lstStyle/>
          <a:p>
            <a:pPr algn="ctr" eaLnBrk="1" hangingPunct="1"/>
            <a:endParaRPr lang="zh-CN" altLang="en-US"/>
          </a:p>
        </p:txBody>
      </p:sp>
      <p:sp>
        <p:nvSpPr>
          <p:cNvPr id="17" name="Text Box 13">
            <a:extLst>
              <a:ext uri="{FF2B5EF4-FFF2-40B4-BE49-F238E27FC236}">
                <a16:creationId xmlns:a16="http://schemas.microsoft.com/office/drawing/2014/main" id="{010ACFFB-1761-4A66-8189-FDB15C0C05F9}"/>
              </a:ext>
            </a:extLst>
          </p:cNvPr>
          <p:cNvSpPr txBox="1">
            <a:spLocks noChangeArrowheads="1"/>
          </p:cNvSpPr>
          <p:nvPr/>
        </p:nvSpPr>
        <p:spPr bwMode="auto">
          <a:xfrm>
            <a:off x="4144987" y="2108569"/>
            <a:ext cx="6691314" cy="3416320"/>
          </a:xfrm>
          <a:prstGeom prst="rect">
            <a:avLst/>
          </a:prstGeom>
          <a:noFill/>
          <a:ln w="9525" algn="ctr">
            <a:noFill/>
            <a:miter lim="800000"/>
          </a:ln>
        </p:spPr>
        <p:txBody>
          <a:bodyPr wrap="square">
            <a:spAutoFit/>
          </a:bodyPr>
          <a:lstStyle/>
          <a:p>
            <a:pPr eaLnBrk="1" hangingPunct="1">
              <a:lnSpc>
                <a:spcPct val="150000"/>
              </a:lnSpc>
            </a:pPr>
            <a:r>
              <a:rPr kumimoji="0" lang="en-US" altLang="zh-CN" sz="3600" b="1" dirty="0"/>
              <a:t>1</a:t>
            </a:r>
            <a:r>
              <a:rPr lang="en-US" altLang="zh-CN" sz="3600" b="1" dirty="0"/>
              <a:t>001</a:t>
            </a:r>
            <a:r>
              <a:rPr lang="en-US" altLang="zh-CN" sz="3600" b="1" dirty="0">
                <a:solidFill>
                  <a:srgbClr val="FF0000"/>
                </a:solidFill>
              </a:rPr>
              <a:t>B</a:t>
            </a:r>
            <a:r>
              <a:rPr lang="en-US" altLang="zh-CN" sz="3600" b="1" dirty="0">
                <a:solidFill>
                  <a:srgbClr val="A50021"/>
                </a:solidFill>
              </a:rPr>
              <a:t>          </a:t>
            </a:r>
            <a:r>
              <a:rPr lang="zh-CN" altLang="en-US" b="1" dirty="0"/>
              <a:t>二进制 </a:t>
            </a:r>
            <a:r>
              <a:rPr lang="en-US" altLang="zh-CN" b="1" dirty="0"/>
              <a:t>Binary</a:t>
            </a:r>
            <a:endParaRPr lang="en-US" altLang="zh-CN" b="1" baseline="-25000" dirty="0"/>
          </a:p>
          <a:p>
            <a:pPr eaLnBrk="1" hangingPunct="1">
              <a:lnSpc>
                <a:spcPct val="150000"/>
              </a:lnSpc>
            </a:pPr>
            <a:r>
              <a:rPr lang="en-US" altLang="zh-CN" sz="3600" b="1" dirty="0"/>
              <a:t>1001</a:t>
            </a:r>
            <a:r>
              <a:rPr lang="en-US" altLang="zh-CN" sz="3600" b="1" dirty="0">
                <a:solidFill>
                  <a:srgbClr val="FF0000"/>
                </a:solidFill>
              </a:rPr>
              <a:t>O</a:t>
            </a:r>
            <a:r>
              <a:rPr lang="en-US" altLang="zh-CN" sz="3600" b="1" dirty="0"/>
              <a:t>(</a:t>
            </a:r>
            <a:r>
              <a:rPr lang="en-US" altLang="zh-CN" sz="3600" b="1" dirty="0">
                <a:solidFill>
                  <a:srgbClr val="FF0000"/>
                </a:solidFill>
              </a:rPr>
              <a:t>Q</a:t>
            </a:r>
            <a:r>
              <a:rPr lang="en-US" altLang="zh-CN" sz="3600" b="1" dirty="0"/>
              <a:t>)    </a:t>
            </a:r>
            <a:r>
              <a:rPr lang="zh-CN" altLang="en-US" b="1" dirty="0"/>
              <a:t>八进制 </a:t>
            </a:r>
            <a:r>
              <a:rPr lang="en-US" altLang="zh-CN" b="1" dirty="0"/>
              <a:t>Octal</a:t>
            </a:r>
            <a:endParaRPr lang="en-US" altLang="zh-CN" b="1" baseline="-25000" dirty="0"/>
          </a:p>
          <a:p>
            <a:pPr eaLnBrk="1" hangingPunct="1">
              <a:lnSpc>
                <a:spcPct val="150000"/>
              </a:lnSpc>
            </a:pPr>
            <a:r>
              <a:rPr lang="en-US" altLang="zh-CN" sz="3600" b="1" dirty="0"/>
              <a:t>1001</a:t>
            </a:r>
            <a:r>
              <a:rPr lang="en-US" altLang="zh-CN" sz="3600" b="1" dirty="0">
                <a:solidFill>
                  <a:srgbClr val="FF0000"/>
                </a:solidFill>
              </a:rPr>
              <a:t>D</a:t>
            </a:r>
            <a:r>
              <a:rPr lang="en-US" altLang="zh-CN" sz="3600" b="1" dirty="0"/>
              <a:t>          </a:t>
            </a:r>
            <a:r>
              <a:rPr lang="zh-CN" altLang="en-US" b="1" dirty="0"/>
              <a:t>十进制 </a:t>
            </a:r>
            <a:r>
              <a:rPr lang="en-US" altLang="zh-CN" b="1" dirty="0"/>
              <a:t>Decimal</a:t>
            </a:r>
            <a:endParaRPr lang="en-US" altLang="zh-CN" b="1" baseline="-25000" dirty="0"/>
          </a:p>
          <a:p>
            <a:pPr eaLnBrk="1" hangingPunct="1">
              <a:lnSpc>
                <a:spcPct val="150000"/>
              </a:lnSpc>
            </a:pPr>
            <a:r>
              <a:rPr lang="en-US" altLang="zh-CN" sz="3600" b="1" dirty="0"/>
              <a:t>1001</a:t>
            </a:r>
            <a:r>
              <a:rPr lang="en-US" altLang="zh-CN" sz="3600" b="1" dirty="0">
                <a:solidFill>
                  <a:srgbClr val="FF0000"/>
                </a:solidFill>
              </a:rPr>
              <a:t>H </a:t>
            </a:r>
            <a:r>
              <a:rPr lang="en-US" altLang="zh-CN" sz="3600" b="1" dirty="0">
                <a:solidFill>
                  <a:srgbClr val="A50021"/>
                </a:solidFill>
              </a:rPr>
              <a:t>         </a:t>
            </a:r>
            <a:r>
              <a:rPr lang="zh-CN" altLang="en-US" b="1" dirty="0"/>
              <a:t>十六进制 </a:t>
            </a:r>
            <a:r>
              <a:rPr lang="en-US" altLang="zh-CN" b="1" dirty="0"/>
              <a:t>Hexadecimal</a:t>
            </a:r>
            <a:endParaRPr lang="en-US" altLang="zh-CN" b="1" baseline="-25000" dirty="0"/>
          </a:p>
        </p:txBody>
      </p:sp>
      <p:pic>
        <p:nvPicPr>
          <p:cNvPr id="19" name="图片 18" descr="联想截图_20231214002915">
            <a:extLst>
              <a:ext uri="{FF2B5EF4-FFF2-40B4-BE49-F238E27FC236}">
                <a16:creationId xmlns:a16="http://schemas.microsoft.com/office/drawing/2014/main" id="{530F0D99-F5F0-4B02-BE1F-2170CD8AF183}"/>
              </a:ext>
            </a:extLst>
          </p:cNvPr>
          <p:cNvPicPr>
            <a:picLocks noChangeAspect="1"/>
          </p:cNvPicPr>
          <p:nvPr>
            <p:custDataLst>
              <p:tags r:id="rId1"/>
            </p:custDataLst>
          </p:nvPr>
        </p:nvPicPr>
        <p:blipFill>
          <a:blip r:embed="rId5"/>
          <a:stretch>
            <a:fillRect/>
          </a:stretch>
        </p:blipFill>
        <p:spPr>
          <a:xfrm>
            <a:off x="4435475" y="6219825"/>
            <a:ext cx="545465" cy="546735"/>
          </a:xfrm>
          <a:prstGeom prst="rect">
            <a:avLst/>
          </a:prstGeom>
        </p:spPr>
      </p:pic>
    </p:spTree>
    <p:extLst>
      <p:ext uri="{BB962C8B-B14F-4D97-AF65-F5344CB8AC3E}">
        <p14:creationId xmlns:p14="http://schemas.microsoft.com/office/powerpoint/2010/main" val="4038951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500"/>
                                        <p:tgtEl>
                                          <p:spTgt spid="1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animBg="1"/>
      <p:bldP spid="13" grpId="0" animBg="1"/>
      <p:bldP spid="15" grpId="0" animBg="1"/>
      <p:bldP spid="16" grpId="0" animBg="1"/>
      <p:bldP spid="1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6331"/>
          </a:xfrm>
          <a:prstGeom prst="rect">
            <a:avLst/>
          </a:prstGeom>
          <a:noFill/>
        </p:spPr>
        <p:txBody>
          <a:bodyPr wrap="square" rtlCol="0">
            <a:spAutoFit/>
          </a:bodyPr>
          <a:lstStyle/>
          <a:p>
            <a:pPr>
              <a:defRPr/>
            </a:pPr>
            <a:r>
              <a:rPr lang="zh-CN" altLang="en-US" sz="3600" b="1" dirty="0">
                <a:latin typeface="华文楷体" pitchFamily="2" charset="-122"/>
                <a:ea typeface="华文楷体" pitchFamily="2" charset="-122"/>
              </a:rPr>
              <a:t>数值的按权展开</a:t>
            </a: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9" name="Text Box 13">
            <a:extLst>
              <a:ext uri="{FF2B5EF4-FFF2-40B4-BE49-F238E27FC236}">
                <a16:creationId xmlns:a16="http://schemas.microsoft.com/office/drawing/2014/main" id="{377DBEDA-924E-45A9-BC94-8AA31BB20B84}"/>
              </a:ext>
            </a:extLst>
          </p:cNvPr>
          <p:cNvSpPr txBox="1">
            <a:spLocks noChangeArrowheads="1"/>
          </p:cNvSpPr>
          <p:nvPr/>
        </p:nvSpPr>
        <p:spPr bwMode="auto">
          <a:xfrm>
            <a:off x="1524000" y="1947166"/>
            <a:ext cx="8938963" cy="525401"/>
          </a:xfrm>
          <a:prstGeom prst="rect">
            <a:avLst/>
          </a:prstGeom>
          <a:noFill/>
          <a:ln w="28575">
            <a:noFill/>
            <a:miter lim="800000"/>
            <a:headEnd/>
            <a:tailEnd/>
          </a:ln>
        </p:spPr>
        <p:txBody>
          <a:bodyPr wrap="none" lIns="90000" tIns="46800" rIns="90000" bIns="46800" anchor="ctr">
            <a:spAutoFit/>
          </a:bodyPr>
          <a:lstStyle/>
          <a:p>
            <a:r>
              <a:rPr lang="zh-CN" altLang="en-US" sz="2800" b="1" dirty="0"/>
              <a:t>（</a:t>
            </a:r>
            <a:r>
              <a:rPr lang="en-US" sz="2800" b="1" dirty="0"/>
              <a:t>256.12</a:t>
            </a:r>
            <a:r>
              <a:rPr lang="zh-CN" altLang="en-US" sz="2800" b="1" dirty="0"/>
              <a:t>）</a:t>
            </a:r>
            <a:r>
              <a:rPr lang="en-US" sz="2800" b="1" baseline="-25000" dirty="0">
                <a:solidFill>
                  <a:srgbClr val="CC0066"/>
                </a:solidFill>
              </a:rPr>
              <a:t>10</a:t>
            </a:r>
            <a:r>
              <a:rPr lang="en-US" sz="2800" b="1" dirty="0"/>
              <a:t>=2</a:t>
            </a:r>
            <a:r>
              <a:rPr lang="en-US" altLang="zh-CN" sz="2800" b="1" dirty="0"/>
              <a:t>×</a:t>
            </a:r>
            <a:r>
              <a:rPr lang="en-US" sz="2800" b="1" dirty="0">
                <a:solidFill>
                  <a:srgbClr val="CC0066"/>
                </a:solidFill>
              </a:rPr>
              <a:t>10</a:t>
            </a:r>
            <a:r>
              <a:rPr lang="en-US" sz="2800" b="1" baseline="30000" dirty="0">
                <a:solidFill>
                  <a:srgbClr val="CC0066"/>
                </a:solidFill>
              </a:rPr>
              <a:t>2</a:t>
            </a:r>
            <a:r>
              <a:rPr lang="zh-CN" altLang="en-US" sz="2800" b="1" dirty="0"/>
              <a:t>＋</a:t>
            </a:r>
            <a:r>
              <a:rPr lang="en-US" sz="2800" b="1" dirty="0"/>
              <a:t>5</a:t>
            </a:r>
            <a:r>
              <a:rPr lang="en-US" altLang="zh-CN" sz="2800" b="1" dirty="0"/>
              <a:t>×</a:t>
            </a:r>
            <a:r>
              <a:rPr lang="en-US" sz="2800" b="1" dirty="0">
                <a:solidFill>
                  <a:srgbClr val="CC0066"/>
                </a:solidFill>
              </a:rPr>
              <a:t>10</a:t>
            </a:r>
            <a:r>
              <a:rPr lang="en-US" sz="2800" b="1" baseline="30000" dirty="0">
                <a:solidFill>
                  <a:srgbClr val="CC0066"/>
                </a:solidFill>
              </a:rPr>
              <a:t>1</a:t>
            </a:r>
            <a:r>
              <a:rPr lang="zh-CN" altLang="en-US" sz="2800" b="1" dirty="0"/>
              <a:t>＋</a:t>
            </a:r>
            <a:r>
              <a:rPr lang="en-US" sz="2800" b="1" dirty="0"/>
              <a:t>6</a:t>
            </a:r>
            <a:r>
              <a:rPr lang="en-US" altLang="zh-CN" sz="2800" b="1" dirty="0"/>
              <a:t>×</a:t>
            </a:r>
            <a:r>
              <a:rPr lang="en-US" sz="2800" b="1" dirty="0">
                <a:solidFill>
                  <a:srgbClr val="CC0066"/>
                </a:solidFill>
              </a:rPr>
              <a:t>10</a:t>
            </a:r>
            <a:r>
              <a:rPr lang="en-US" sz="2800" b="1" baseline="30000" dirty="0">
                <a:solidFill>
                  <a:srgbClr val="CC0066"/>
                </a:solidFill>
              </a:rPr>
              <a:t>0</a:t>
            </a:r>
            <a:r>
              <a:rPr lang="zh-CN" altLang="en-US" sz="2800" b="1" dirty="0"/>
              <a:t>＋</a:t>
            </a:r>
            <a:r>
              <a:rPr lang="en-US" sz="2800" b="1" dirty="0"/>
              <a:t>1</a:t>
            </a:r>
            <a:r>
              <a:rPr lang="en-US" altLang="zh-CN" sz="2800" b="1" dirty="0"/>
              <a:t>×</a:t>
            </a:r>
            <a:r>
              <a:rPr lang="en-US" sz="2800" b="1" dirty="0">
                <a:solidFill>
                  <a:srgbClr val="CC0066"/>
                </a:solidFill>
              </a:rPr>
              <a:t>10</a:t>
            </a:r>
            <a:r>
              <a:rPr lang="en-US" sz="2800" b="1" baseline="30000" dirty="0">
                <a:solidFill>
                  <a:srgbClr val="CC0066"/>
                </a:solidFill>
              </a:rPr>
              <a:t>–1</a:t>
            </a:r>
            <a:r>
              <a:rPr lang="en-US" sz="2800" b="1" dirty="0"/>
              <a:t>+2</a:t>
            </a:r>
            <a:r>
              <a:rPr lang="en-US" altLang="zh-CN" sz="2800" b="1" dirty="0"/>
              <a:t>×</a:t>
            </a:r>
            <a:r>
              <a:rPr lang="en-US" sz="2800" b="1" dirty="0">
                <a:solidFill>
                  <a:srgbClr val="CC0066"/>
                </a:solidFill>
              </a:rPr>
              <a:t>10</a:t>
            </a:r>
            <a:r>
              <a:rPr lang="en-US" sz="2800" b="1" baseline="30000" dirty="0">
                <a:solidFill>
                  <a:srgbClr val="CC0066"/>
                </a:solidFill>
              </a:rPr>
              <a:t>–2</a:t>
            </a:r>
            <a:endParaRPr lang="zh-CN" altLang="en-US" sz="2800" b="1" dirty="0">
              <a:solidFill>
                <a:srgbClr val="CC0066"/>
              </a:solidFill>
            </a:endParaRPr>
          </a:p>
        </p:txBody>
      </p:sp>
      <p:sp>
        <p:nvSpPr>
          <p:cNvPr id="11" name="AutoShape 23">
            <a:extLst>
              <a:ext uri="{FF2B5EF4-FFF2-40B4-BE49-F238E27FC236}">
                <a16:creationId xmlns:a16="http://schemas.microsoft.com/office/drawing/2014/main" id="{FBBEE951-A6A0-49D5-8168-2AA115B2FB06}"/>
              </a:ext>
            </a:extLst>
          </p:cNvPr>
          <p:cNvSpPr>
            <a:spLocks noChangeArrowheads="1"/>
          </p:cNvSpPr>
          <p:nvPr/>
        </p:nvSpPr>
        <p:spPr bwMode="auto">
          <a:xfrm>
            <a:off x="6169180" y="2718071"/>
            <a:ext cx="1668463" cy="1006475"/>
          </a:xfrm>
          <a:prstGeom prst="star8">
            <a:avLst>
              <a:gd name="adj" fmla="val 38250"/>
            </a:avLst>
          </a:prstGeom>
          <a:solidFill>
            <a:srgbClr val="FF0066"/>
          </a:solidFill>
          <a:ln w="28575">
            <a:solidFill>
              <a:srgbClr val="FFFFCC"/>
            </a:solidFill>
            <a:miter lim="800000"/>
            <a:headEnd/>
            <a:tailEnd/>
          </a:ln>
        </p:spPr>
        <p:txBody>
          <a:bodyPr wrap="none" lIns="90000" tIns="46800" rIns="90000" bIns="46800" anchor="ctr"/>
          <a:lstStyle/>
          <a:p>
            <a:pPr algn="ctr" eaLnBrk="1" hangingPunct="1"/>
            <a:r>
              <a:rPr kumimoji="0" lang="zh-CN" altLang="en-US" sz="3600" b="1">
                <a:latin typeface="华文楷体" pitchFamily="2" charset="-122"/>
                <a:ea typeface="华文楷体" pitchFamily="2" charset="-122"/>
              </a:rPr>
              <a:t>权</a:t>
            </a:r>
          </a:p>
        </p:txBody>
      </p:sp>
      <p:sp>
        <p:nvSpPr>
          <p:cNvPr id="12" name="Text Box 13">
            <a:extLst>
              <a:ext uri="{FF2B5EF4-FFF2-40B4-BE49-F238E27FC236}">
                <a16:creationId xmlns:a16="http://schemas.microsoft.com/office/drawing/2014/main" id="{098FAAD4-4F5F-460A-8F6F-A605D4BE022A}"/>
              </a:ext>
            </a:extLst>
          </p:cNvPr>
          <p:cNvSpPr txBox="1">
            <a:spLocks noChangeArrowheads="1"/>
          </p:cNvSpPr>
          <p:nvPr/>
        </p:nvSpPr>
        <p:spPr bwMode="auto">
          <a:xfrm>
            <a:off x="1849469" y="3952179"/>
            <a:ext cx="7921056" cy="525401"/>
          </a:xfrm>
          <a:prstGeom prst="rect">
            <a:avLst/>
          </a:prstGeom>
          <a:noFill/>
          <a:ln w="28575">
            <a:noFill/>
            <a:miter lim="800000"/>
            <a:headEnd/>
            <a:tailEnd/>
          </a:ln>
        </p:spPr>
        <p:txBody>
          <a:bodyPr wrap="none" lIns="90000" tIns="46800" rIns="90000" bIns="46800" anchor="ctr">
            <a:spAutoFit/>
          </a:bodyPr>
          <a:lstStyle/>
          <a:p>
            <a:r>
              <a:rPr lang="zh-CN" altLang="en-US" sz="2800" b="1" dirty="0"/>
              <a:t>（</a:t>
            </a:r>
            <a:r>
              <a:rPr lang="en-US" sz="2800" b="1" dirty="0"/>
              <a:t>101.01</a:t>
            </a:r>
            <a:r>
              <a:rPr lang="zh-CN" altLang="en-US" sz="2800" b="1" dirty="0"/>
              <a:t>）</a:t>
            </a:r>
            <a:r>
              <a:rPr lang="en-US" sz="2800" b="1" baseline="-25000" dirty="0">
                <a:solidFill>
                  <a:srgbClr val="CC0066"/>
                </a:solidFill>
              </a:rPr>
              <a:t>2</a:t>
            </a:r>
            <a:r>
              <a:rPr lang="en-US" sz="2800" b="1" dirty="0"/>
              <a:t>=1</a:t>
            </a:r>
            <a:r>
              <a:rPr lang="en-US" altLang="zh-CN" sz="2800" b="1" dirty="0"/>
              <a:t>×</a:t>
            </a:r>
            <a:r>
              <a:rPr lang="en-US" sz="2800" b="1" dirty="0">
                <a:solidFill>
                  <a:srgbClr val="CC0066"/>
                </a:solidFill>
              </a:rPr>
              <a:t>2</a:t>
            </a:r>
            <a:r>
              <a:rPr lang="en-US" sz="2800" b="1" baseline="30000" dirty="0">
                <a:solidFill>
                  <a:srgbClr val="CC0066"/>
                </a:solidFill>
              </a:rPr>
              <a:t>2</a:t>
            </a:r>
            <a:r>
              <a:rPr lang="zh-CN" altLang="en-US" sz="2800" b="1" dirty="0"/>
              <a:t>＋</a:t>
            </a:r>
            <a:r>
              <a:rPr lang="en-US" sz="2800" b="1" dirty="0"/>
              <a:t>0</a:t>
            </a:r>
            <a:r>
              <a:rPr lang="en-US" altLang="zh-CN" sz="2800" b="1" dirty="0"/>
              <a:t>×</a:t>
            </a:r>
            <a:r>
              <a:rPr lang="en-US" sz="2800" b="1" dirty="0">
                <a:solidFill>
                  <a:srgbClr val="CC0066"/>
                </a:solidFill>
              </a:rPr>
              <a:t>2</a:t>
            </a:r>
            <a:r>
              <a:rPr lang="en-US" sz="2800" b="1" baseline="30000" dirty="0">
                <a:solidFill>
                  <a:srgbClr val="CC0066"/>
                </a:solidFill>
              </a:rPr>
              <a:t>1</a:t>
            </a:r>
            <a:r>
              <a:rPr lang="zh-CN" altLang="en-US" sz="2800" b="1" dirty="0"/>
              <a:t>＋</a:t>
            </a:r>
            <a:r>
              <a:rPr lang="en-US" sz="2800" b="1" dirty="0"/>
              <a:t>1</a:t>
            </a:r>
            <a:r>
              <a:rPr lang="en-US" altLang="zh-CN" sz="2800" b="1" dirty="0"/>
              <a:t>×</a:t>
            </a:r>
            <a:r>
              <a:rPr lang="en-US" sz="2800" b="1" dirty="0">
                <a:solidFill>
                  <a:srgbClr val="CC0066"/>
                </a:solidFill>
              </a:rPr>
              <a:t>2</a:t>
            </a:r>
            <a:r>
              <a:rPr lang="en-US" sz="2800" b="1" baseline="30000" dirty="0">
                <a:solidFill>
                  <a:srgbClr val="CC0066"/>
                </a:solidFill>
              </a:rPr>
              <a:t>0</a:t>
            </a:r>
            <a:r>
              <a:rPr lang="zh-CN" altLang="en-US" sz="2800" b="1" dirty="0"/>
              <a:t>＋</a:t>
            </a:r>
            <a:r>
              <a:rPr lang="en-US" sz="2800" b="1" dirty="0"/>
              <a:t>0</a:t>
            </a:r>
            <a:r>
              <a:rPr lang="en-US" altLang="zh-CN" sz="2800" b="1" dirty="0"/>
              <a:t>×</a:t>
            </a:r>
            <a:r>
              <a:rPr lang="en-US" sz="2800" b="1" dirty="0">
                <a:solidFill>
                  <a:srgbClr val="CC0066"/>
                </a:solidFill>
              </a:rPr>
              <a:t>2</a:t>
            </a:r>
            <a:r>
              <a:rPr lang="en-US" sz="2800" b="1" baseline="30000" dirty="0">
                <a:solidFill>
                  <a:srgbClr val="CC0066"/>
                </a:solidFill>
              </a:rPr>
              <a:t>–1</a:t>
            </a:r>
            <a:r>
              <a:rPr lang="en-US" sz="2800" b="1" dirty="0"/>
              <a:t>+1</a:t>
            </a:r>
            <a:r>
              <a:rPr lang="en-US" altLang="zh-CN" sz="2800" b="1" dirty="0"/>
              <a:t>×</a:t>
            </a:r>
            <a:r>
              <a:rPr lang="en-US" sz="2800" b="1" dirty="0">
                <a:solidFill>
                  <a:srgbClr val="CC0066"/>
                </a:solidFill>
              </a:rPr>
              <a:t>2</a:t>
            </a:r>
            <a:r>
              <a:rPr lang="en-US" sz="2800" b="1" baseline="30000" dirty="0">
                <a:solidFill>
                  <a:srgbClr val="CC0066"/>
                </a:solidFill>
              </a:rPr>
              <a:t>–2</a:t>
            </a:r>
            <a:endParaRPr kumimoji="0" lang="en-US" altLang="zh-CN" sz="2800" b="1" dirty="0">
              <a:solidFill>
                <a:srgbClr val="CC0066"/>
              </a:solidFill>
              <a:latin typeface="Arial" pitchFamily="34" charset="0"/>
              <a:sym typeface="Symbol" pitchFamily="18" charset="2"/>
            </a:endParaRPr>
          </a:p>
        </p:txBody>
      </p:sp>
      <p:grpSp>
        <p:nvGrpSpPr>
          <p:cNvPr id="15" name="组合 14">
            <a:extLst>
              <a:ext uri="{FF2B5EF4-FFF2-40B4-BE49-F238E27FC236}">
                <a16:creationId xmlns:a16="http://schemas.microsoft.com/office/drawing/2014/main" id="{5CA59DD6-730F-43BF-B89D-65B7AA54A669}"/>
              </a:ext>
            </a:extLst>
          </p:cNvPr>
          <p:cNvGrpSpPr/>
          <p:nvPr/>
        </p:nvGrpSpPr>
        <p:grpSpPr>
          <a:xfrm>
            <a:off x="4278368" y="2502777"/>
            <a:ext cx="5961068" cy="215900"/>
            <a:chOff x="2897212" y="2133586"/>
            <a:chExt cx="5961068" cy="215900"/>
          </a:xfrm>
        </p:grpSpPr>
        <p:grpSp>
          <p:nvGrpSpPr>
            <p:cNvPr id="16" name="Group 33">
              <a:extLst>
                <a:ext uri="{FF2B5EF4-FFF2-40B4-BE49-F238E27FC236}">
                  <a16:creationId xmlns:a16="http://schemas.microsoft.com/office/drawing/2014/main" id="{6E782710-FCCB-4320-A0A2-0663C994A279}"/>
                </a:ext>
              </a:extLst>
            </p:cNvPr>
            <p:cNvGrpSpPr>
              <a:grpSpLocks/>
            </p:cNvGrpSpPr>
            <p:nvPr/>
          </p:nvGrpSpPr>
          <p:grpSpPr bwMode="auto">
            <a:xfrm>
              <a:off x="2897212" y="2133586"/>
              <a:ext cx="5961068" cy="215900"/>
              <a:chOff x="1973" y="1729"/>
              <a:chExt cx="3755" cy="136"/>
            </a:xfrm>
          </p:grpSpPr>
          <p:sp>
            <p:nvSpPr>
              <p:cNvPr id="19" name="Line 14">
                <a:extLst>
                  <a:ext uri="{FF2B5EF4-FFF2-40B4-BE49-F238E27FC236}">
                    <a16:creationId xmlns:a16="http://schemas.microsoft.com/office/drawing/2014/main" id="{BA48FFD7-848F-4B25-AA93-691AA349706B}"/>
                  </a:ext>
                </a:extLst>
              </p:cNvPr>
              <p:cNvSpPr>
                <a:spLocks noChangeShapeType="1"/>
              </p:cNvSpPr>
              <p:nvPr/>
            </p:nvSpPr>
            <p:spPr bwMode="auto">
              <a:xfrm>
                <a:off x="1973" y="1762"/>
                <a:ext cx="266" cy="0"/>
              </a:xfrm>
              <a:prstGeom prst="line">
                <a:avLst/>
              </a:prstGeom>
              <a:noFill/>
              <a:ln w="38100">
                <a:solidFill>
                  <a:srgbClr val="0033CC"/>
                </a:solidFill>
                <a:round/>
                <a:headEnd/>
                <a:tailEnd/>
              </a:ln>
            </p:spPr>
            <p:txBody>
              <a:bodyPr wrap="none" lIns="90000" tIns="46800" rIns="90000" bIns="46800" anchor="ctr"/>
              <a:lstStyle/>
              <a:p>
                <a:endParaRPr lang="zh-CN" altLang="en-US"/>
              </a:p>
            </p:txBody>
          </p:sp>
          <p:sp>
            <p:nvSpPr>
              <p:cNvPr id="20" name="Line 15">
                <a:extLst>
                  <a:ext uri="{FF2B5EF4-FFF2-40B4-BE49-F238E27FC236}">
                    <a16:creationId xmlns:a16="http://schemas.microsoft.com/office/drawing/2014/main" id="{6047AD8F-C2A9-4EC5-AC8D-EC897F9093D2}"/>
                  </a:ext>
                </a:extLst>
              </p:cNvPr>
              <p:cNvSpPr>
                <a:spLocks noChangeShapeType="1"/>
              </p:cNvSpPr>
              <p:nvPr/>
            </p:nvSpPr>
            <p:spPr bwMode="auto">
              <a:xfrm>
                <a:off x="2848" y="1735"/>
                <a:ext cx="265" cy="0"/>
              </a:xfrm>
              <a:prstGeom prst="line">
                <a:avLst/>
              </a:prstGeom>
              <a:noFill/>
              <a:ln w="38100">
                <a:solidFill>
                  <a:srgbClr val="0033CC"/>
                </a:solidFill>
                <a:round/>
                <a:headEnd/>
                <a:tailEnd/>
              </a:ln>
            </p:spPr>
            <p:txBody>
              <a:bodyPr wrap="none" lIns="90000" tIns="46800" rIns="90000" bIns="46800" anchor="ctr"/>
              <a:lstStyle/>
              <a:p>
                <a:endParaRPr lang="zh-CN" altLang="en-US"/>
              </a:p>
            </p:txBody>
          </p:sp>
          <p:sp>
            <p:nvSpPr>
              <p:cNvPr id="21" name="Line 16">
                <a:extLst>
                  <a:ext uri="{FF2B5EF4-FFF2-40B4-BE49-F238E27FC236}">
                    <a16:creationId xmlns:a16="http://schemas.microsoft.com/office/drawing/2014/main" id="{D5CFC935-59E7-43CC-9EDC-426E12CF2533}"/>
                  </a:ext>
                </a:extLst>
              </p:cNvPr>
              <p:cNvSpPr>
                <a:spLocks noChangeShapeType="1"/>
              </p:cNvSpPr>
              <p:nvPr/>
            </p:nvSpPr>
            <p:spPr bwMode="auto">
              <a:xfrm>
                <a:off x="3703" y="1750"/>
                <a:ext cx="266" cy="0"/>
              </a:xfrm>
              <a:prstGeom prst="line">
                <a:avLst/>
              </a:prstGeom>
              <a:noFill/>
              <a:ln w="38100">
                <a:solidFill>
                  <a:srgbClr val="0033CC"/>
                </a:solidFill>
                <a:round/>
                <a:headEnd/>
                <a:tailEnd/>
              </a:ln>
            </p:spPr>
            <p:txBody>
              <a:bodyPr wrap="none" lIns="90000" tIns="46800" rIns="90000" bIns="46800" anchor="ctr"/>
              <a:lstStyle/>
              <a:p>
                <a:endParaRPr lang="zh-CN" altLang="en-US"/>
              </a:p>
            </p:txBody>
          </p:sp>
          <p:sp>
            <p:nvSpPr>
              <p:cNvPr id="22" name="Line 17">
                <a:extLst>
                  <a:ext uri="{FF2B5EF4-FFF2-40B4-BE49-F238E27FC236}">
                    <a16:creationId xmlns:a16="http://schemas.microsoft.com/office/drawing/2014/main" id="{55DE97EA-FBB5-44A4-836F-EDB6B9B37E72}"/>
                  </a:ext>
                </a:extLst>
              </p:cNvPr>
              <p:cNvSpPr>
                <a:spLocks noChangeShapeType="1"/>
              </p:cNvSpPr>
              <p:nvPr/>
            </p:nvSpPr>
            <p:spPr bwMode="auto">
              <a:xfrm>
                <a:off x="5450" y="1752"/>
                <a:ext cx="278" cy="0"/>
              </a:xfrm>
              <a:prstGeom prst="line">
                <a:avLst/>
              </a:prstGeom>
              <a:noFill/>
              <a:ln w="38100">
                <a:solidFill>
                  <a:srgbClr val="0033CC"/>
                </a:solidFill>
                <a:round/>
                <a:headEnd/>
                <a:tailEnd/>
              </a:ln>
            </p:spPr>
            <p:txBody>
              <a:bodyPr wrap="none" lIns="90000" tIns="46800" rIns="90000" bIns="46800" anchor="ctr"/>
              <a:lstStyle/>
              <a:p>
                <a:endParaRPr lang="zh-CN" altLang="en-US"/>
              </a:p>
            </p:txBody>
          </p:sp>
          <p:sp>
            <p:nvSpPr>
              <p:cNvPr id="23" name="Line 18">
                <a:extLst>
                  <a:ext uri="{FF2B5EF4-FFF2-40B4-BE49-F238E27FC236}">
                    <a16:creationId xmlns:a16="http://schemas.microsoft.com/office/drawing/2014/main" id="{DD0F7E44-9CE9-4749-9551-A7A751A2869C}"/>
                  </a:ext>
                </a:extLst>
              </p:cNvPr>
              <p:cNvSpPr>
                <a:spLocks noChangeShapeType="1"/>
              </p:cNvSpPr>
              <p:nvPr/>
            </p:nvSpPr>
            <p:spPr bwMode="auto">
              <a:xfrm flipH="1">
                <a:off x="2075" y="1750"/>
                <a:ext cx="0" cy="115"/>
              </a:xfrm>
              <a:prstGeom prst="line">
                <a:avLst/>
              </a:prstGeom>
              <a:noFill/>
              <a:ln w="38100">
                <a:solidFill>
                  <a:srgbClr val="0033CC"/>
                </a:solidFill>
                <a:round/>
                <a:headEnd/>
                <a:tailEnd/>
              </a:ln>
            </p:spPr>
            <p:txBody>
              <a:bodyPr wrap="none" lIns="90000" tIns="46800" rIns="90000" bIns="46800" anchor="ctr"/>
              <a:lstStyle/>
              <a:p>
                <a:endParaRPr lang="zh-CN" altLang="en-US"/>
              </a:p>
            </p:txBody>
          </p:sp>
          <p:sp>
            <p:nvSpPr>
              <p:cNvPr id="24" name="Line 19">
                <a:extLst>
                  <a:ext uri="{FF2B5EF4-FFF2-40B4-BE49-F238E27FC236}">
                    <a16:creationId xmlns:a16="http://schemas.microsoft.com/office/drawing/2014/main" id="{503ADDF5-0A84-44E4-BA5F-62986B4D76B6}"/>
                  </a:ext>
                </a:extLst>
              </p:cNvPr>
              <p:cNvSpPr>
                <a:spLocks noChangeShapeType="1"/>
              </p:cNvSpPr>
              <p:nvPr/>
            </p:nvSpPr>
            <p:spPr bwMode="auto">
              <a:xfrm flipH="1">
                <a:off x="2967" y="1729"/>
                <a:ext cx="0" cy="114"/>
              </a:xfrm>
              <a:prstGeom prst="line">
                <a:avLst/>
              </a:prstGeom>
              <a:noFill/>
              <a:ln w="38100">
                <a:solidFill>
                  <a:srgbClr val="0033CC"/>
                </a:solidFill>
                <a:round/>
                <a:headEnd/>
                <a:tailEnd/>
              </a:ln>
            </p:spPr>
            <p:txBody>
              <a:bodyPr wrap="none" lIns="90000" tIns="46800" rIns="90000" bIns="46800" anchor="ctr"/>
              <a:lstStyle/>
              <a:p>
                <a:endParaRPr lang="zh-CN" altLang="en-US"/>
              </a:p>
            </p:txBody>
          </p:sp>
          <p:sp>
            <p:nvSpPr>
              <p:cNvPr id="25" name="Line 20">
                <a:extLst>
                  <a:ext uri="{FF2B5EF4-FFF2-40B4-BE49-F238E27FC236}">
                    <a16:creationId xmlns:a16="http://schemas.microsoft.com/office/drawing/2014/main" id="{3A2194FE-8AEA-4E7A-84EA-B118F53333F1}"/>
                  </a:ext>
                </a:extLst>
              </p:cNvPr>
              <p:cNvSpPr>
                <a:spLocks noChangeShapeType="1"/>
              </p:cNvSpPr>
              <p:nvPr/>
            </p:nvSpPr>
            <p:spPr bwMode="auto">
              <a:xfrm>
                <a:off x="3839" y="1750"/>
                <a:ext cx="5" cy="115"/>
              </a:xfrm>
              <a:prstGeom prst="line">
                <a:avLst/>
              </a:prstGeom>
              <a:noFill/>
              <a:ln w="38100">
                <a:solidFill>
                  <a:srgbClr val="0033CC"/>
                </a:solidFill>
                <a:round/>
                <a:headEnd/>
                <a:tailEnd/>
              </a:ln>
            </p:spPr>
            <p:txBody>
              <a:bodyPr wrap="none" lIns="90000" tIns="46800" rIns="90000" bIns="46800" anchor="ctr"/>
              <a:lstStyle/>
              <a:p>
                <a:endParaRPr lang="zh-CN" altLang="en-US"/>
              </a:p>
            </p:txBody>
          </p:sp>
          <p:sp>
            <p:nvSpPr>
              <p:cNvPr id="26" name="Line 21">
                <a:extLst>
                  <a:ext uri="{FF2B5EF4-FFF2-40B4-BE49-F238E27FC236}">
                    <a16:creationId xmlns:a16="http://schemas.microsoft.com/office/drawing/2014/main" id="{784307F3-098B-4E84-9B18-C27862952744}"/>
                  </a:ext>
                </a:extLst>
              </p:cNvPr>
              <p:cNvSpPr>
                <a:spLocks noChangeShapeType="1"/>
              </p:cNvSpPr>
              <p:nvPr/>
            </p:nvSpPr>
            <p:spPr bwMode="auto">
              <a:xfrm flipH="1">
                <a:off x="5568" y="1754"/>
                <a:ext cx="0" cy="111"/>
              </a:xfrm>
              <a:prstGeom prst="line">
                <a:avLst/>
              </a:prstGeom>
              <a:noFill/>
              <a:ln w="38100">
                <a:solidFill>
                  <a:srgbClr val="0033CC"/>
                </a:solidFill>
                <a:round/>
                <a:headEnd/>
                <a:tailEnd/>
              </a:ln>
            </p:spPr>
            <p:txBody>
              <a:bodyPr wrap="none" lIns="90000" tIns="46800" rIns="90000" bIns="46800" anchor="ctr"/>
              <a:lstStyle/>
              <a:p>
                <a:endParaRPr lang="zh-CN" altLang="en-US"/>
              </a:p>
            </p:txBody>
          </p:sp>
          <p:sp>
            <p:nvSpPr>
              <p:cNvPr id="27" name="Line 22">
                <a:extLst>
                  <a:ext uri="{FF2B5EF4-FFF2-40B4-BE49-F238E27FC236}">
                    <a16:creationId xmlns:a16="http://schemas.microsoft.com/office/drawing/2014/main" id="{571145B9-CEB4-43C5-8405-3A0A4B58C0FB}"/>
                  </a:ext>
                </a:extLst>
              </p:cNvPr>
              <p:cNvSpPr>
                <a:spLocks noChangeShapeType="1"/>
              </p:cNvSpPr>
              <p:nvPr/>
            </p:nvSpPr>
            <p:spPr bwMode="auto">
              <a:xfrm flipV="1">
                <a:off x="2079" y="1855"/>
                <a:ext cx="3514" cy="0"/>
              </a:xfrm>
              <a:prstGeom prst="line">
                <a:avLst/>
              </a:prstGeom>
              <a:noFill/>
              <a:ln w="38100">
                <a:solidFill>
                  <a:srgbClr val="0033CC"/>
                </a:solidFill>
                <a:round/>
                <a:headEnd/>
                <a:tailEnd/>
              </a:ln>
            </p:spPr>
            <p:txBody>
              <a:bodyPr wrap="none" lIns="90000" tIns="46800" rIns="90000" bIns="46800" anchor="ctr"/>
              <a:lstStyle/>
              <a:p>
                <a:endParaRPr lang="zh-CN" altLang="en-US"/>
              </a:p>
            </p:txBody>
          </p:sp>
        </p:grpSp>
        <p:sp>
          <p:nvSpPr>
            <p:cNvPr id="17" name="Line 16">
              <a:extLst>
                <a:ext uri="{FF2B5EF4-FFF2-40B4-BE49-F238E27FC236}">
                  <a16:creationId xmlns:a16="http://schemas.microsoft.com/office/drawing/2014/main" id="{34EF2891-470A-4593-A12D-7FB0D758770C}"/>
                </a:ext>
              </a:extLst>
            </p:cNvPr>
            <p:cNvSpPr>
              <a:spLocks noChangeShapeType="1"/>
            </p:cNvSpPr>
            <p:nvPr/>
          </p:nvSpPr>
          <p:spPr bwMode="auto">
            <a:xfrm>
              <a:off x="7078683" y="2143116"/>
              <a:ext cx="422275" cy="0"/>
            </a:xfrm>
            <a:prstGeom prst="line">
              <a:avLst/>
            </a:prstGeom>
            <a:noFill/>
            <a:ln w="38100">
              <a:solidFill>
                <a:srgbClr val="0033CC"/>
              </a:solidFill>
              <a:round/>
              <a:headEnd/>
              <a:tailEnd/>
            </a:ln>
          </p:spPr>
          <p:txBody>
            <a:bodyPr wrap="none" lIns="90000" tIns="46800" rIns="90000" bIns="46800" anchor="ctr"/>
            <a:lstStyle>
              <a:defPPr>
                <a:defRPr lang="zh-CN"/>
              </a:defPPr>
              <a:lvl1pPr algn="l" rtl="0" eaLnBrk="0" fontAlgn="base" hangingPunct="0">
                <a:spcBef>
                  <a:spcPct val="0"/>
                </a:spcBef>
                <a:spcAft>
                  <a:spcPct val="0"/>
                </a:spcAft>
                <a:defRPr kumimoji="1" sz="32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32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32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32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32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32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32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32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3200" kern="1200">
                  <a:solidFill>
                    <a:schemeClr val="tx1"/>
                  </a:solidFill>
                  <a:latin typeface="Times New Roman" pitchFamily="18" charset="0"/>
                  <a:ea typeface="宋体" pitchFamily="2" charset="-122"/>
                  <a:cs typeface="+mn-cs"/>
                </a:defRPr>
              </a:lvl9pPr>
            </a:lstStyle>
            <a:p>
              <a:endParaRPr lang="zh-CN" altLang="en-US"/>
            </a:p>
          </p:txBody>
        </p:sp>
        <p:sp>
          <p:nvSpPr>
            <p:cNvPr id="18" name="Line 20">
              <a:extLst>
                <a:ext uri="{FF2B5EF4-FFF2-40B4-BE49-F238E27FC236}">
                  <a16:creationId xmlns:a16="http://schemas.microsoft.com/office/drawing/2014/main" id="{88D72681-CE0B-4001-A93D-141F9AEA5BAF}"/>
                </a:ext>
              </a:extLst>
            </p:cNvPr>
            <p:cNvSpPr>
              <a:spLocks noChangeShapeType="1"/>
            </p:cNvSpPr>
            <p:nvPr/>
          </p:nvSpPr>
          <p:spPr bwMode="auto">
            <a:xfrm>
              <a:off x="7294582" y="2143117"/>
              <a:ext cx="0" cy="205764"/>
            </a:xfrm>
            <a:prstGeom prst="line">
              <a:avLst/>
            </a:prstGeom>
            <a:noFill/>
            <a:ln w="38100">
              <a:solidFill>
                <a:srgbClr val="0033CC"/>
              </a:solidFill>
              <a:round/>
              <a:headEnd/>
              <a:tailEnd/>
            </a:ln>
          </p:spPr>
          <p:txBody>
            <a:bodyPr wrap="none" lIns="90000" tIns="46800" rIns="90000" bIns="46800" anchor="ctr"/>
            <a:lstStyle>
              <a:defPPr>
                <a:defRPr lang="zh-CN"/>
              </a:defPPr>
              <a:lvl1pPr algn="l" rtl="0" eaLnBrk="0" fontAlgn="base" hangingPunct="0">
                <a:spcBef>
                  <a:spcPct val="0"/>
                </a:spcBef>
                <a:spcAft>
                  <a:spcPct val="0"/>
                </a:spcAft>
                <a:defRPr kumimoji="1" sz="32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32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32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32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32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32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32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32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3200" kern="1200">
                  <a:solidFill>
                    <a:schemeClr val="tx1"/>
                  </a:solidFill>
                  <a:latin typeface="Times New Roman" pitchFamily="18" charset="0"/>
                  <a:ea typeface="宋体" pitchFamily="2" charset="-122"/>
                  <a:cs typeface="+mn-cs"/>
                </a:defRPr>
              </a:lvl9pPr>
            </a:lstStyle>
            <a:p>
              <a:endParaRPr lang="zh-CN" altLang="en-US"/>
            </a:p>
          </p:txBody>
        </p:sp>
      </p:grpSp>
      <p:grpSp>
        <p:nvGrpSpPr>
          <p:cNvPr id="28" name="组合 27">
            <a:extLst>
              <a:ext uri="{FF2B5EF4-FFF2-40B4-BE49-F238E27FC236}">
                <a16:creationId xmlns:a16="http://schemas.microsoft.com/office/drawing/2014/main" id="{87208117-CA54-4E95-8C4E-AD9012BE3C42}"/>
              </a:ext>
            </a:extLst>
          </p:cNvPr>
          <p:cNvGrpSpPr/>
          <p:nvPr/>
        </p:nvGrpSpPr>
        <p:grpSpPr>
          <a:xfrm>
            <a:off x="4416456" y="3726183"/>
            <a:ext cx="5137100" cy="288033"/>
            <a:chOff x="3035300" y="3356992"/>
            <a:chExt cx="5137100" cy="288033"/>
          </a:xfrm>
        </p:grpSpPr>
        <p:grpSp>
          <p:nvGrpSpPr>
            <p:cNvPr id="29" name="组合 28">
              <a:extLst>
                <a:ext uri="{FF2B5EF4-FFF2-40B4-BE49-F238E27FC236}">
                  <a16:creationId xmlns:a16="http://schemas.microsoft.com/office/drawing/2014/main" id="{0403EA87-8C2D-44A8-9FA6-DCF794557BB2}"/>
                </a:ext>
              </a:extLst>
            </p:cNvPr>
            <p:cNvGrpSpPr/>
            <p:nvPr/>
          </p:nvGrpSpPr>
          <p:grpSpPr>
            <a:xfrm>
              <a:off x="3035300" y="3356993"/>
              <a:ext cx="4992541" cy="288032"/>
              <a:chOff x="3035300" y="3395665"/>
              <a:chExt cx="6540575" cy="258762"/>
            </a:xfrm>
          </p:grpSpPr>
          <p:grpSp>
            <p:nvGrpSpPr>
              <p:cNvPr id="32" name="Group 32">
                <a:extLst>
                  <a:ext uri="{FF2B5EF4-FFF2-40B4-BE49-F238E27FC236}">
                    <a16:creationId xmlns:a16="http://schemas.microsoft.com/office/drawing/2014/main" id="{A9FD9672-CA3D-4887-9DC9-1DEB48CAF75C}"/>
                  </a:ext>
                </a:extLst>
              </p:cNvPr>
              <p:cNvGrpSpPr>
                <a:grpSpLocks/>
              </p:cNvGrpSpPr>
              <p:nvPr/>
            </p:nvGrpSpPr>
            <p:grpSpPr bwMode="auto">
              <a:xfrm>
                <a:off x="3035300" y="3395665"/>
                <a:ext cx="6540575" cy="258762"/>
                <a:chOff x="1912" y="2466"/>
                <a:chExt cx="3196" cy="163"/>
              </a:xfrm>
            </p:grpSpPr>
            <p:sp>
              <p:nvSpPr>
                <p:cNvPr id="35" name="Line 14">
                  <a:extLst>
                    <a:ext uri="{FF2B5EF4-FFF2-40B4-BE49-F238E27FC236}">
                      <a16:creationId xmlns:a16="http://schemas.microsoft.com/office/drawing/2014/main" id="{31CBD074-8C41-44FB-BED6-BCD233747ACE}"/>
                    </a:ext>
                  </a:extLst>
                </p:cNvPr>
                <p:cNvSpPr>
                  <a:spLocks noChangeShapeType="1"/>
                </p:cNvSpPr>
                <p:nvPr/>
              </p:nvSpPr>
              <p:spPr bwMode="auto">
                <a:xfrm flipV="1">
                  <a:off x="1912" y="2629"/>
                  <a:ext cx="266" cy="0"/>
                </a:xfrm>
                <a:prstGeom prst="line">
                  <a:avLst/>
                </a:prstGeom>
                <a:noFill/>
                <a:ln w="38100">
                  <a:solidFill>
                    <a:srgbClr val="0033CC"/>
                  </a:solidFill>
                  <a:round/>
                  <a:headEnd/>
                  <a:tailEnd/>
                </a:ln>
              </p:spPr>
              <p:txBody>
                <a:bodyPr wrap="none" lIns="90000" tIns="46800" rIns="90000" bIns="46800" anchor="ctr"/>
                <a:lstStyle/>
                <a:p>
                  <a:endParaRPr lang="zh-CN" altLang="en-US"/>
                </a:p>
              </p:txBody>
            </p:sp>
            <p:sp>
              <p:nvSpPr>
                <p:cNvPr id="36" name="Line 15">
                  <a:extLst>
                    <a:ext uri="{FF2B5EF4-FFF2-40B4-BE49-F238E27FC236}">
                      <a16:creationId xmlns:a16="http://schemas.microsoft.com/office/drawing/2014/main" id="{F5B40B42-9EFB-49A6-B3BD-965CC99E5BC5}"/>
                    </a:ext>
                  </a:extLst>
                </p:cNvPr>
                <p:cNvSpPr>
                  <a:spLocks noChangeShapeType="1"/>
                </p:cNvSpPr>
                <p:nvPr/>
              </p:nvSpPr>
              <p:spPr bwMode="auto">
                <a:xfrm flipV="1">
                  <a:off x="2744" y="2614"/>
                  <a:ext cx="265" cy="0"/>
                </a:xfrm>
                <a:prstGeom prst="line">
                  <a:avLst/>
                </a:prstGeom>
                <a:noFill/>
                <a:ln w="38100">
                  <a:solidFill>
                    <a:srgbClr val="0033CC"/>
                  </a:solidFill>
                  <a:round/>
                  <a:headEnd/>
                  <a:tailEnd/>
                </a:ln>
              </p:spPr>
              <p:txBody>
                <a:bodyPr wrap="none" lIns="90000" tIns="46800" rIns="90000" bIns="46800" anchor="ctr"/>
                <a:lstStyle/>
                <a:p>
                  <a:endParaRPr lang="zh-CN" altLang="en-US"/>
                </a:p>
              </p:txBody>
            </p:sp>
            <p:sp>
              <p:nvSpPr>
                <p:cNvPr id="37" name="Line 16">
                  <a:extLst>
                    <a:ext uri="{FF2B5EF4-FFF2-40B4-BE49-F238E27FC236}">
                      <a16:creationId xmlns:a16="http://schemas.microsoft.com/office/drawing/2014/main" id="{08D5FCD9-DFB6-4381-A5C5-84FF420DC1B5}"/>
                    </a:ext>
                  </a:extLst>
                </p:cNvPr>
                <p:cNvSpPr>
                  <a:spLocks noChangeShapeType="1"/>
                </p:cNvSpPr>
                <p:nvPr/>
              </p:nvSpPr>
              <p:spPr bwMode="auto">
                <a:xfrm flipV="1">
                  <a:off x="3465" y="2617"/>
                  <a:ext cx="266" cy="0"/>
                </a:xfrm>
                <a:prstGeom prst="line">
                  <a:avLst/>
                </a:prstGeom>
                <a:noFill/>
                <a:ln w="38100">
                  <a:solidFill>
                    <a:srgbClr val="0033CC"/>
                  </a:solidFill>
                  <a:round/>
                  <a:headEnd/>
                  <a:tailEnd/>
                </a:ln>
              </p:spPr>
              <p:txBody>
                <a:bodyPr wrap="none" lIns="90000" tIns="46800" rIns="90000" bIns="46800" anchor="ctr"/>
                <a:lstStyle/>
                <a:p>
                  <a:endParaRPr lang="zh-CN" altLang="en-US"/>
                </a:p>
              </p:txBody>
            </p:sp>
            <p:sp>
              <p:nvSpPr>
                <p:cNvPr id="38" name="Line 17">
                  <a:extLst>
                    <a:ext uri="{FF2B5EF4-FFF2-40B4-BE49-F238E27FC236}">
                      <a16:creationId xmlns:a16="http://schemas.microsoft.com/office/drawing/2014/main" id="{01E34D84-9BF3-4F62-B254-A7086C13CBA2}"/>
                    </a:ext>
                  </a:extLst>
                </p:cNvPr>
                <p:cNvSpPr>
                  <a:spLocks noChangeShapeType="1"/>
                </p:cNvSpPr>
                <p:nvPr/>
              </p:nvSpPr>
              <p:spPr bwMode="auto">
                <a:xfrm flipV="1">
                  <a:off x="4185" y="2619"/>
                  <a:ext cx="278" cy="0"/>
                </a:xfrm>
                <a:prstGeom prst="line">
                  <a:avLst/>
                </a:prstGeom>
                <a:noFill/>
                <a:ln w="38100">
                  <a:solidFill>
                    <a:srgbClr val="0033CC"/>
                  </a:solidFill>
                  <a:round/>
                  <a:headEnd/>
                  <a:tailEnd/>
                </a:ln>
              </p:spPr>
              <p:txBody>
                <a:bodyPr wrap="none" lIns="90000" tIns="46800" rIns="90000" bIns="46800" anchor="ctr"/>
                <a:lstStyle/>
                <a:p>
                  <a:endParaRPr lang="zh-CN" altLang="en-US"/>
                </a:p>
              </p:txBody>
            </p:sp>
            <p:sp>
              <p:nvSpPr>
                <p:cNvPr id="39" name="Line 18">
                  <a:extLst>
                    <a:ext uri="{FF2B5EF4-FFF2-40B4-BE49-F238E27FC236}">
                      <a16:creationId xmlns:a16="http://schemas.microsoft.com/office/drawing/2014/main" id="{2B3DDF5F-1E22-4778-92A2-4EB86E36EB99}"/>
                    </a:ext>
                  </a:extLst>
                </p:cNvPr>
                <p:cNvSpPr>
                  <a:spLocks noChangeShapeType="1"/>
                </p:cNvSpPr>
                <p:nvPr/>
              </p:nvSpPr>
              <p:spPr bwMode="auto">
                <a:xfrm flipV="1">
                  <a:off x="2039" y="2478"/>
                  <a:ext cx="0" cy="138"/>
                </a:xfrm>
                <a:prstGeom prst="line">
                  <a:avLst/>
                </a:prstGeom>
                <a:noFill/>
                <a:ln w="38100">
                  <a:solidFill>
                    <a:srgbClr val="0033CC"/>
                  </a:solidFill>
                  <a:round/>
                  <a:headEnd/>
                  <a:tailEnd/>
                </a:ln>
              </p:spPr>
              <p:txBody>
                <a:bodyPr wrap="none" lIns="90000" tIns="46800" rIns="90000" bIns="46800" anchor="ctr"/>
                <a:lstStyle/>
                <a:p>
                  <a:endParaRPr lang="zh-CN" altLang="en-US"/>
                </a:p>
              </p:txBody>
            </p:sp>
            <p:sp>
              <p:nvSpPr>
                <p:cNvPr id="40" name="Line 19">
                  <a:extLst>
                    <a:ext uri="{FF2B5EF4-FFF2-40B4-BE49-F238E27FC236}">
                      <a16:creationId xmlns:a16="http://schemas.microsoft.com/office/drawing/2014/main" id="{79B871FB-2A0E-4715-B914-F60223F942A6}"/>
                    </a:ext>
                  </a:extLst>
                </p:cNvPr>
                <p:cNvSpPr>
                  <a:spLocks noChangeShapeType="1"/>
                </p:cNvSpPr>
                <p:nvPr/>
              </p:nvSpPr>
              <p:spPr bwMode="auto">
                <a:xfrm flipV="1">
                  <a:off x="2880" y="2480"/>
                  <a:ext cx="0" cy="138"/>
                </a:xfrm>
                <a:prstGeom prst="line">
                  <a:avLst/>
                </a:prstGeom>
                <a:noFill/>
                <a:ln w="38100">
                  <a:solidFill>
                    <a:srgbClr val="0033CC"/>
                  </a:solidFill>
                  <a:round/>
                  <a:headEnd/>
                  <a:tailEnd/>
                </a:ln>
              </p:spPr>
              <p:txBody>
                <a:bodyPr wrap="none" lIns="90000" tIns="46800" rIns="90000" bIns="46800" anchor="ctr"/>
                <a:lstStyle/>
                <a:p>
                  <a:endParaRPr lang="zh-CN" altLang="en-US"/>
                </a:p>
              </p:txBody>
            </p:sp>
            <p:sp>
              <p:nvSpPr>
                <p:cNvPr id="41" name="Line 20">
                  <a:extLst>
                    <a:ext uri="{FF2B5EF4-FFF2-40B4-BE49-F238E27FC236}">
                      <a16:creationId xmlns:a16="http://schemas.microsoft.com/office/drawing/2014/main" id="{1DB8BEFF-6722-4B57-A1F8-5BA1FB1EB2FF}"/>
                    </a:ext>
                  </a:extLst>
                </p:cNvPr>
                <p:cNvSpPr>
                  <a:spLocks noChangeShapeType="1"/>
                </p:cNvSpPr>
                <p:nvPr/>
              </p:nvSpPr>
              <p:spPr bwMode="auto">
                <a:xfrm flipV="1">
                  <a:off x="3601" y="2478"/>
                  <a:ext cx="0" cy="138"/>
                </a:xfrm>
                <a:prstGeom prst="line">
                  <a:avLst/>
                </a:prstGeom>
                <a:noFill/>
                <a:ln w="38100">
                  <a:solidFill>
                    <a:srgbClr val="0033CC"/>
                  </a:solidFill>
                  <a:round/>
                  <a:headEnd/>
                  <a:tailEnd/>
                </a:ln>
              </p:spPr>
              <p:txBody>
                <a:bodyPr wrap="none" lIns="90000" tIns="46800" rIns="90000" bIns="46800" anchor="ctr"/>
                <a:lstStyle/>
                <a:p>
                  <a:endParaRPr lang="zh-CN" altLang="en-US"/>
                </a:p>
              </p:txBody>
            </p:sp>
            <p:sp>
              <p:nvSpPr>
                <p:cNvPr id="42" name="Line 21">
                  <a:extLst>
                    <a:ext uri="{FF2B5EF4-FFF2-40B4-BE49-F238E27FC236}">
                      <a16:creationId xmlns:a16="http://schemas.microsoft.com/office/drawing/2014/main" id="{4B6D0642-2CB2-46BC-881C-68A4533BA34A}"/>
                    </a:ext>
                  </a:extLst>
                </p:cNvPr>
                <p:cNvSpPr>
                  <a:spLocks noChangeShapeType="1"/>
                </p:cNvSpPr>
                <p:nvPr/>
              </p:nvSpPr>
              <p:spPr bwMode="auto">
                <a:xfrm flipV="1">
                  <a:off x="4333" y="2482"/>
                  <a:ext cx="0" cy="138"/>
                </a:xfrm>
                <a:prstGeom prst="line">
                  <a:avLst/>
                </a:prstGeom>
                <a:noFill/>
                <a:ln w="38100">
                  <a:solidFill>
                    <a:srgbClr val="0033CC"/>
                  </a:solidFill>
                  <a:round/>
                  <a:headEnd/>
                  <a:tailEnd/>
                </a:ln>
              </p:spPr>
              <p:txBody>
                <a:bodyPr wrap="none" lIns="90000" tIns="46800" rIns="90000" bIns="46800" anchor="ctr"/>
                <a:lstStyle/>
                <a:p>
                  <a:endParaRPr lang="zh-CN" altLang="en-US"/>
                </a:p>
              </p:txBody>
            </p:sp>
            <p:sp>
              <p:nvSpPr>
                <p:cNvPr id="43" name="Line 22">
                  <a:extLst>
                    <a:ext uri="{FF2B5EF4-FFF2-40B4-BE49-F238E27FC236}">
                      <a16:creationId xmlns:a16="http://schemas.microsoft.com/office/drawing/2014/main" id="{F9698939-F3D9-4F81-8110-52EDA1A7DEF7}"/>
                    </a:ext>
                  </a:extLst>
                </p:cNvPr>
                <p:cNvSpPr>
                  <a:spLocks noChangeShapeType="1"/>
                </p:cNvSpPr>
                <p:nvPr/>
              </p:nvSpPr>
              <p:spPr bwMode="auto">
                <a:xfrm flipV="1">
                  <a:off x="2035" y="2466"/>
                  <a:ext cx="3073" cy="0"/>
                </a:xfrm>
                <a:prstGeom prst="line">
                  <a:avLst/>
                </a:prstGeom>
                <a:noFill/>
                <a:ln w="38100">
                  <a:solidFill>
                    <a:srgbClr val="0033CC"/>
                  </a:solidFill>
                  <a:round/>
                  <a:headEnd/>
                  <a:tailEnd/>
                </a:ln>
              </p:spPr>
              <p:txBody>
                <a:bodyPr wrap="none" lIns="90000" tIns="46800" rIns="90000" bIns="46800" anchor="ctr"/>
                <a:lstStyle/>
                <a:p>
                  <a:endParaRPr lang="zh-CN" altLang="en-US"/>
                </a:p>
              </p:txBody>
            </p:sp>
          </p:grpSp>
          <p:sp>
            <p:nvSpPr>
              <p:cNvPr id="33" name="Line 17">
                <a:extLst>
                  <a:ext uri="{FF2B5EF4-FFF2-40B4-BE49-F238E27FC236}">
                    <a16:creationId xmlns:a16="http://schemas.microsoft.com/office/drawing/2014/main" id="{22F62B2F-EAC6-4C6E-86AA-AEFDF73466DF}"/>
                  </a:ext>
                </a:extLst>
              </p:cNvPr>
              <p:cNvSpPr>
                <a:spLocks noChangeShapeType="1"/>
              </p:cNvSpPr>
              <p:nvPr/>
            </p:nvSpPr>
            <p:spPr bwMode="auto">
              <a:xfrm flipV="1">
                <a:off x="7786710" y="3638550"/>
                <a:ext cx="441325" cy="0"/>
              </a:xfrm>
              <a:prstGeom prst="line">
                <a:avLst/>
              </a:prstGeom>
              <a:noFill/>
              <a:ln w="38100">
                <a:solidFill>
                  <a:srgbClr val="0033CC"/>
                </a:solidFill>
                <a:round/>
                <a:headEnd/>
                <a:tailEnd/>
              </a:ln>
            </p:spPr>
            <p:txBody>
              <a:bodyPr wrap="none" lIns="90000" tIns="46800" rIns="90000" bIns="46800" anchor="ctr"/>
              <a:lstStyle/>
              <a:p>
                <a:endParaRPr lang="zh-CN" altLang="en-US"/>
              </a:p>
            </p:txBody>
          </p:sp>
          <p:sp>
            <p:nvSpPr>
              <p:cNvPr id="34" name="Line 21">
                <a:extLst>
                  <a:ext uri="{FF2B5EF4-FFF2-40B4-BE49-F238E27FC236}">
                    <a16:creationId xmlns:a16="http://schemas.microsoft.com/office/drawing/2014/main" id="{F8421A8C-F28D-410D-9F5B-7EFA29FB960C}"/>
                  </a:ext>
                </a:extLst>
              </p:cNvPr>
              <p:cNvSpPr>
                <a:spLocks noChangeShapeType="1"/>
              </p:cNvSpPr>
              <p:nvPr/>
            </p:nvSpPr>
            <p:spPr bwMode="auto">
              <a:xfrm flipV="1">
                <a:off x="8021660" y="3421063"/>
                <a:ext cx="0" cy="219075"/>
              </a:xfrm>
              <a:prstGeom prst="line">
                <a:avLst/>
              </a:prstGeom>
              <a:noFill/>
              <a:ln w="38100">
                <a:solidFill>
                  <a:srgbClr val="0033CC"/>
                </a:solidFill>
                <a:round/>
                <a:headEnd/>
                <a:tailEnd/>
              </a:ln>
            </p:spPr>
            <p:txBody>
              <a:bodyPr wrap="none" lIns="90000" tIns="46800" rIns="90000" bIns="46800" anchor="ctr"/>
              <a:lstStyle/>
              <a:p>
                <a:endParaRPr lang="zh-CN" altLang="en-US"/>
              </a:p>
            </p:txBody>
          </p:sp>
        </p:grpSp>
        <p:cxnSp>
          <p:nvCxnSpPr>
            <p:cNvPr id="30" name="直接连接符 29">
              <a:extLst>
                <a:ext uri="{FF2B5EF4-FFF2-40B4-BE49-F238E27FC236}">
                  <a16:creationId xmlns:a16="http://schemas.microsoft.com/office/drawing/2014/main" id="{88855A7D-F472-4089-9E48-41D7F6A2F21D}"/>
                </a:ext>
              </a:extLst>
            </p:cNvPr>
            <p:cNvCxnSpPr/>
            <p:nvPr/>
          </p:nvCxnSpPr>
          <p:spPr bwMode="auto">
            <a:xfrm>
              <a:off x="8028384" y="3356992"/>
              <a:ext cx="0" cy="288032"/>
            </a:xfrm>
            <a:prstGeom prst="line">
              <a:avLst/>
            </a:prstGeom>
            <a:solidFill>
              <a:schemeClr val="accent1"/>
            </a:solidFill>
            <a:ln w="28575" cap="flat" cmpd="sng" algn="ctr">
              <a:solidFill>
                <a:srgbClr val="0033CC"/>
              </a:solidFill>
              <a:prstDash val="solid"/>
              <a:round/>
              <a:headEnd type="none" w="med" len="med"/>
              <a:tailEnd type="none" w="med" len="med"/>
            </a:ln>
            <a:effectLst/>
          </p:spPr>
        </p:cxnSp>
        <p:cxnSp>
          <p:nvCxnSpPr>
            <p:cNvPr id="31" name="直接连接符 30">
              <a:extLst>
                <a:ext uri="{FF2B5EF4-FFF2-40B4-BE49-F238E27FC236}">
                  <a16:creationId xmlns:a16="http://schemas.microsoft.com/office/drawing/2014/main" id="{110F201B-D7DF-4838-AEFB-34691ED14165}"/>
                </a:ext>
              </a:extLst>
            </p:cNvPr>
            <p:cNvCxnSpPr/>
            <p:nvPr/>
          </p:nvCxnSpPr>
          <p:spPr bwMode="auto">
            <a:xfrm>
              <a:off x="7812360" y="3645024"/>
              <a:ext cx="360040" cy="0"/>
            </a:xfrm>
            <a:prstGeom prst="line">
              <a:avLst/>
            </a:prstGeom>
            <a:solidFill>
              <a:schemeClr val="accent1"/>
            </a:solidFill>
            <a:ln w="28575" cap="flat" cmpd="sng" algn="ctr">
              <a:solidFill>
                <a:srgbClr val="0033CC"/>
              </a:solidFill>
              <a:prstDash val="solid"/>
              <a:round/>
              <a:headEnd type="none" w="med" len="med"/>
              <a:tailEnd type="none" w="med" len="med"/>
            </a:ln>
            <a:effectLst/>
          </p:spPr>
        </p:cxnSp>
      </p:grpSp>
      <p:pic>
        <p:nvPicPr>
          <p:cNvPr id="44" name="图片 43" descr="联想截图_20231214002915">
            <a:extLst>
              <a:ext uri="{FF2B5EF4-FFF2-40B4-BE49-F238E27FC236}">
                <a16:creationId xmlns:a16="http://schemas.microsoft.com/office/drawing/2014/main" id="{95464408-B0D2-43C2-9D2F-CA51434E26F7}"/>
              </a:ext>
            </a:extLst>
          </p:cNvPr>
          <p:cNvPicPr>
            <a:picLocks noChangeAspect="1"/>
          </p:cNvPicPr>
          <p:nvPr>
            <p:custDataLst>
              <p:tags r:id="rId1"/>
            </p:custDataLst>
          </p:nvPr>
        </p:nvPicPr>
        <p:blipFill>
          <a:blip r:embed="rId5"/>
          <a:stretch>
            <a:fillRect/>
          </a:stretch>
        </p:blipFill>
        <p:spPr>
          <a:xfrm>
            <a:off x="4435475" y="6219825"/>
            <a:ext cx="545465" cy="546735"/>
          </a:xfrm>
          <a:prstGeom prst="rect">
            <a:avLst/>
          </a:prstGeom>
        </p:spPr>
      </p:pic>
    </p:spTree>
    <p:extLst>
      <p:ext uri="{BB962C8B-B14F-4D97-AF65-F5344CB8AC3E}">
        <p14:creationId xmlns:p14="http://schemas.microsoft.com/office/powerpoint/2010/main" val="1401284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ppt_x</p:attrName>
                                        </p:attrNameLst>
                                      </p:cBhvr>
                                      <p:tavLst>
                                        <p:tav tm="0">
                                          <p:val>
                                            <p:strVal val="#ppt_x-#ppt_w/2"/>
                                          </p:val>
                                        </p:tav>
                                        <p:tav tm="100000">
                                          <p:val>
                                            <p:strVal val="#ppt_x"/>
                                          </p:val>
                                        </p:tav>
                                      </p:tavLst>
                                    </p:anim>
                                    <p:anim calcmode="lin" valueType="num">
                                      <p:cBhvr>
                                        <p:cTn id="8" dur="500" fill="hold"/>
                                        <p:tgtEl>
                                          <p:spTgt spid="9"/>
                                        </p:tgtEl>
                                        <p:attrNameLst>
                                          <p:attrName>ppt_y</p:attrName>
                                        </p:attrNameLst>
                                      </p:cBhvr>
                                      <p:tavLst>
                                        <p:tav tm="0">
                                          <p:val>
                                            <p:strVal val="#ppt_y"/>
                                          </p:val>
                                        </p:tav>
                                        <p:tav tm="100000">
                                          <p:val>
                                            <p:strVal val="#ppt_y"/>
                                          </p:val>
                                        </p:tav>
                                      </p:tavLst>
                                    </p:anim>
                                    <p:anim calcmode="lin" valueType="num">
                                      <p:cBhvr>
                                        <p:cTn id="9" dur="500" fill="hold"/>
                                        <p:tgtEl>
                                          <p:spTgt spid="9"/>
                                        </p:tgtEl>
                                        <p:attrNameLst>
                                          <p:attrName>ppt_w</p:attrName>
                                        </p:attrNameLst>
                                      </p:cBhvr>
                                      <p:tavLst>
                                        <p:tav tm="0">
                                          <p:val>
                                            <p:fltVal val="0"/>
                                          </p:val>
                                        </p:tav>
                                        <p:tav tm="100000">
                                          <p:val>
                                            <p:strVal val="#ppt_w"/>
                                          </p:val>
                                        </p:tav>
                                      </p:tavLst>
                                    </p:anim>
                                    <p:anim calcmode="lin" valueType="num">
                                      <p:cBhvr>
                                        <p:cTn id="10" dur="500" fill="hold"/>
                                        <p:tgtEl>
                                          <p:spTgt spid="9"/>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2"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1+#ppt_w/2"/>
                                          </p:val>
                                        </p:tav>
                                        <p:tav tm="100000">
                                          <p:val>
                                            <p:strVal val="#ppt_x"/>
                                          </p:val>
                                        </p:tav>
                                      </p:tavLst>
                                    </p:anim>
                                    <p:anim calcmode="lin" valueType="num">
                                      <p:cBhvr additive="base">
                                        <p:cTn id="16"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7" presetClass="entr" presetSubtype="8"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p:cTn id="21" dur="500" fill="hold"/>
                                        <p:tgtEl>
                                          <p:spTgt spid="12"/>
                                        </p:tgtEl>
                                        <p:attrNameLst>
                                          <p:attrName>ppt_x</p:attrName>
                                        </p:attrNameLst>
                                      </p:cBhvr>
                                      <p:tavLst>
                                        <p:tav tm="0">
                                          <p:val>
                                            <p:strVal val="#ppt_x-#ppt_w/2"/>
                                          </p:val>
                                        </p:tav>
                                        <p:tav tm="100000">
                                          <p:val>
                                            <p:strVal val="#ppt_x"/>
                                          </p:val>
                                        </p:tav>
                                      </p:tavLst>
                                    </p:anim>
                                    <p:anim calcmode="lin" valueType="num">
                                      <p:cBhvr>
                                        <p:cTn id="22" dur="500" fill="hold"/>
                                        <p:tgtEl>
                                          <p:spTgt spid="12"/>
                                        </p:tgtEl>
                                        <p:attrNameLst>
                                          <p:attrName>ppt_y</p:attrName>
                                        </p:attrNameLst>
                                      </p:cBhvr>
                                      <p:tavLst>
                                        <p:tav tm="0">
                                          <p:val>
                                            <p:strVal val="#ppt_y"/>
                                          </p:val>
                                        </p:tav>
                                        <p:tav tm="100000">
                                          <p:val>
                                            <p:strVal val="#ppt_y"/>
                                          </p:val>
                                        </p:tav>
                                      </p:tavLst>
                                    </p:anim>
                                    <p:anim calcmode="lin" valueType="num">
                                      <p:cBhvr>
                                        <p:cTn id="23" dur="500" fill="hold"/>
                                        <p:tgtEl>
                                          <p:spTgt spid="12"/>
                                        </p:tgtEl>
                                        <p:attrNameLst>
                                          <p:attrName>ppt_w</p:attrName>
                                        </p:attrNameLst>
                                      </p:cBhvr>
                                      <p:tavLst>
                                        <p:tav tm="0">
                                          <p:val>
                                            <p:fltVal val="0"/>
                                          </p:val>
                                        </p:tav>
                                        <p:tav tm="100000">
                                          <p:val>
                                            <p:strVal val="#ppt_w"/>
                                          </p:val>
                                        </p:tav>
                                      </p:tavLst>
                                    </p:anim>
                                    <p:anim calcmode="lin" valueType="num">
                                      <p:cBhvr>
                                        <p:cTn id="24" dur="500" fill="hold"/>
                                        <p:tgtEl>
                                          <p:spTgt spid="12"/>
                                        </p:tgtEl>
                                        <p:attrNameLst>
                                          <p:attrName>ppt_h</p:attrName>
                                        </p:attrNameLst>
                                      </p:cBhvr>
                                      <p:tavLst>
                                        <p:tav tm="0">
                                          <p:val>
                                            <p:strVal val="#ppt_h"/>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2" fill="hold" nodeType="clickEffect">
                                  <p:stCondLst>
                                    <p:cond delay="0"/>
                                  </p:stCondLst>
                                  <p:childTnLst>
                                    <p:set>
                                      <p:cBhvr>
                                        <p:cTn id="28" dur="1" fill="hold">
                                          <p:stCondLst>
                                            <p:cond delay="0"/>
                                          </p:stCondLst>
                                        </p:cTn>
                                        <p:tgtEl>
                                          <p:spTgt spid="28"/>
                                        </p:tgtEl>
                                        <p:attrNameLst>
                                          <p:attrName>style.visibility</p:attrName>
                                        </p:attrNameLst>
                                      </p:cBhvr>
                                      <p:to>
                                        <p:strVal val="visible"/>
                                      </p:to>
                                    </p:set>
                                    <p:anim calcmode="lin" valueType="num">
                                      <p:cBhvr additive="base">
                                        <p:cTn id="29" dur="500" fill="hold"/>
                                        <p:tgtEl>
                                          <p:spTgt spid="28"/>
                                        </p:tgtEl>
                                        <p:attrNameLst>
                                          <p:attrName>ppt_x</p:attrName>
                                        </p:attrNameLst>
                                      </p:cBhvr>
                                      <p:tavLst>
                                        <p:tav tm="0">
                                          <p:val>
                                            <p:strVal val="1+#ppt_w/2"/>
                                          </p:val>
                                        </p:tav>
                                        <p:tav tm="100000">
                                          <p:val>
                                            <p:strVal val="#ppt_x"/>
                                          </p:val>
                                        </p:tav>
                                      </p:tavLst>
                                    </p:anim>
                                    <p:anim calcmode="lin" valueType="num">
                                      <p:cBhvr additive="base">
                                        <p:cTn id="30" dur="500" fill="hold"/>
                                        <p:tgtEl>
                                          <p:spTgt spid="28"/>
                                        </p:tgtEl>
                                        <p:attrNameLst>
                                          <p:attrName>ppt_y</p:attrName>
                                        </p:attrNameLst>
                                      </p:cBhvr>
                                      <p:tavLst>
                                        <p:tav tm="0">
                                          <p:val>
                                            <p:strVal val="#ppt_y"/>
                                          </p:val>
                                        </p:tav>
                                        <p:tav tm="100000">
                                          <p:val>
                                            <p:strVal val="#ppt_y"/>
                                          </p:val>
                                        </p:tav>
                                      </p:tavLst>
                                    </p:anim>
                                  </p:childTnLst>
                                </p:cTn>
                              </p:par>
                            </p:childTnLst>
                          </p:cTn>
                        </p:par>
                        <p:par>
                          <p:cTn id="31" fill="hold">
                            <p:stCondLst>
                              <p:cond delay="500"/>
                            </p:stCondLst>
                            <p:childTnLst>
                              <p:par>
                                <p:cTn id="32" presetID="4" presetClass="entr" presetSubtype="32"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box(out)">
                                      <p:cBhvr>
                                        <p:cTn id="3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p:bldP spid="11" grpId="0" animBg="1" autoUpdateAnimBg="0"/>
      <p:bldP spid="12"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600" dirty="0">
                <a:solidFill>
                  <a:prstClr val="black"/>
                </a:solidFill>
                <a:latin typeface="华文楷体" panose="02010600040101010101" pitchFamily="2" charset="-122"/>
                <a:ea typeface="华文楷体" panose="02010600040101010101" pitchFamily="2" charset="-122"/>
              </a:rPr>
              <a:t>第二章</a:t>
            </a:r>
            <a:endParaRPr kumimoji="0" lang="en-US" altLang="zh-CN" sz="3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endParaRP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9" name="Text Box 51">
            <a:extLst>
              <a:ext uri="{FF2B5EF4-FFF2-40B4-BE49-F238E27FC236}">
                <a16:creationId xmlns:a16="http://schemas.microsoft.com/office/drawing/2014/main" id="{6805920F-94DE-4E98-AFEB-8911BFF41679}"/>
              </a:ext>
            </a:extLst>
          </p:cNvPr>
          <p:cNvSpPr txBox="1">
            <a:spLocks noChangeArrowheads="1"/>
          </p:cNvSpPr>
          <p:nvPr/>
        </p:nvSpPr>
        <p:spPr bwMode="auto">
          <a:xfrm>
            <a:off x="3236150" y="3682117"/>
            <a:ext cx="60687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000">
                <a:solidFill>
                  <a:schemeClr val="tx1"/>
                </a:solidFill>
                <a:latin typeface="Arial" panose="020B0604020202020204" pitchFamily="34" charset="0"/>
                <a:ea typeface="宋体" panose="02010600030101010101" pitchFamily="2" charset="-122"/>
              </a:defRPr>
            </a:lvl1pPr>
            <a:lvl2pPr marL="742950" indent="-285750" eaLnBrk="0" hangingPunct="0">
              <a:defRPr sz="2000">
                <a:solidFill>
                  <a:schemeClr val="tx1"/>
                </a:solidFill>
                <a:latin typeface="Arial" panose="020B0604020202020204" pitchFamily="34" charset="0"/>
                <a:ea typeface="宋体" panose="02010600030101010101" pitchFamily="2" charset="-122"/>
              </a:defRPr>
            </a:lvl2pPr>
            <a:lvl3pPr marL="1143000" indent="-228600" eaLnBrk="0" hangingPunct="0">
              <a:defRPr sz="2000">
                <a:solidFill>
                  <a:schemeClr val="tx1"/>
                </a:solidFill>
                <a:latin typeface="Arial" panose="020B0604020202020204" pitchFamily="34" charset="0"/>
                <a:ea typeface="宋体" panose="02010600030101010101" pitchFamily="2" charset="-122"/>
              </a:defRPr>
            </a:lvl3pPr>
            <a:lvl4pPr marL="1600200" indent="-228600" eaLnBrk="0" hangingPunct="0">
              <a:defRPr sz="2000">
                <a:solidFill>
                  <a:schemeClr val="tx1"/>
                </a:solidFill>
                <a:latin typeface="Arial" panose="020B0604020202020204" pitchFamily="34" charset="0"/>
                <a:ea typeface="宋体" panose="02010600030101010101" pitchFamily="2" charset="-122"/>
              </a:defRPr>
            </a:lvl4pPr>
            <a:lvl5pPr marL="2057400" indent="-228600" eaLnBrk="0" hangingPunct="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20000"/>
              </a:spcBef>
              <a:buClr>
                <a:srgbClr val="336600"/>
              </a:buClr>
              <a:buSzPct val="60000"/>
              <a:buFont typeface="Wingdings" panose="05000000000000000000" pitchFamily="2" charset="2"/>
              <a:buNone/>
            </a:pPr>
            <a:r>
              <a:rPr lang="en-US" altLang="zh-CN" b="1" dirty="0">
                <a:solidFill>
                  <a:srgbClr val="000066"/>
                </a:solidFill>
                <a:latin typeface="Tahoma" panose="020B0604030504040204" pitchFamily="34" charset="0"/>
              </a:rPr>
              <a:t>2</a:t>
            </a:r>
            <a:endParaRPr lang="zh-CN" altLang="en-US" sz="2400" b="1" dirty="0">
              <a:solidFill>
                <a:srgbClr val="000066"/>
              </a:solidFill>
              <a:latin typeface="Tahoma" panose="020B0604030504040204" pitchFamily="34" charset="0"/>
            </a:endParaRPr>
          </a:p>
        </p:txBody>
      </p:sp>
      <p:sp>
        <p:nvSpPr>
          <p:cNvPr id="11" name="Text Box 50">
            <a:extLst>
              <a:ext uri="{FF2B5EF4-FFF2-40B4-BE49-F238E27FC236}">
                <a16:creationId xmlns:a16="http://schemas.microsoft.com/office/drawing/2014/main" id="{18722FFD-338E-49F6-8CB4-FF7698D6C9D8}"/>
              </a:ext>
            </a:extLst>
          </p:cNvPr>
          <p:cNvSpPr txBox="1">
            <a:spLocks noChangeArrowheads="1"/>
          </p:cNvSpPr>
          <p:nvPr/>
        </p:nvSpPr>
        <p:spPr bwMode="auto">
          <a:xfrm flipH="1">
            <a:off x="2958916" y="3620298"/>
            <a:ext cx="24114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000">
                <a:solidFill>
                  <a:schemeClr val="tx1"/>
                </a:solidFill>
                <a:latin typeface="Arial" panose="020B0604020202020204" pitchFamily="34" charset="0"/>
                <a:ea typeface="宋体" panose="02010600030101010101" pitchFamily="2" charset="-122"/>
              </a:defRPr>
            </a:lvl1pPr>
            <a:lvl2pPr marL="742950" indent="-285750" eaLnBrk="0" hangingPunct="0">
              <a:defRPr sz="2000">
                <a:solidFill>
                  <a:schemeClr val="tx1"/>
                </a:solidFill>
                <a:latin typeface="Arial" panose="020B0604020202020204" pitchFamily="34" charset="0"/>
                <a:ea typeface="宋体" panose="02010600030101010101" pitchFamily="2" charset="-122"/>
              </a:defRPr>
            </a:lvl2pPr>
            <a:lvl3pPr marL="1143000" indent="-228600" eaLnBrk="0" hangingPunct="0">
              <a:defRPr sz="2000">
                <a:solidFill>
                  <a:schemeClr val="tx1"/>
                </a:solidFill>
                <a:latin typeface="Arial" panose="020B0604020202020204" pitchFamily="34" charset="0"/>
                <a:ea typeface="宋体" panose="02010600030101010101" pitchFamily="2" charset="-122"/>
              </a:defRPr>
            </a:lvl3pPr>
            <a:lvl4pPr marL="1600200" indent="-228600" eaLnBrk="0" hangingPunct="0">
              <a:defRPr sz="2000">
                <a:solidFill>
                  <a:schemeClr val="tx1"/>
                </a:solidFill>
                <a:latin typeface="Arial" panose="020B0604020202020204" pitchFamily="34" charset="0"/>
                <a:ea typeface="宋体" panose="02010600030101010101" pitchFamily="2" charset="-122"/>
              </a:defRPr>
            </a:lvl4pPr>
            <a:lvl5pPr marL="2057400" indent="-228600" eaLnBrk="0" hangingPunct="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en-US" altLang="zh-CN" b="1" dirty="0">
              <a:solidFill>
                <a:srgbClr val="FF3300"/>
              </a:solidFill>
              <a:latin typeface="Tahoma" panose="020B0604030504040204" pitchFamily="34" charset="0"/>
            </a:endParaRPr>
          </a:p>
        </p:txBody>
      </p:sp>
      <p:sp>
        <p:nvSpPr>
          <p:cNvPr id="12" name="Text Box 6">
            <a:extLst>
              <a:ext uri="{FF2B5EF4-FFF2-40B4-BE49-F238E27FC236}">
                <a16:creationId xmlns:a16="http://schemas.microsoft.com/office/drawing/2014/main" id="{63E90B8D-7C5D-4420-8A3D-A842A33DC28D}"/>
              </a:ext>
            </a:extLst>
          </p:cNvPr>
          <p:cNvSpPr txBox="1">
            <a:spLocks noChangeArrowheads="1"/>
          </p:cNvSpPr>
          <p:nvPr/>
        </p:nvSpPr>
        <p:spPr bwMode="auto">
          <a:xfrm>
            <a:off x="3558050" y="1477411"/>
            <a:ext cx="474521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Arial" panose="020B0604020202020204" pitchFamily="34" charset="0"/>
                <a:ea typeface="宋体" panose="02010600030101010101" pitchFamily="2" charset="-122"/>
              </a:defRPr>
            </a:lvl1pPr>
            <a:lvl2pPr marL="742950" indent="-285750" eaLnBrk="0" hangingPunct="0">
              <a:defRPr sz="2000">
                <a:solidFill>
                  <a:schemeClr val="tx1"/>
                </a:solidFill>
                <a:latin typeface="Arial" panose="020B0604020202020204" pitchFamily="34" charset="0"/>
                <a:ea typeface="宋体" panose="02010600030101010101" pitchFamily="2" charset="-122"/>
              </a:defRPr>
            </a:lvl2pPr>
            <a:lvl3pPr marL="1143000" indent="-228600" eaLnBrk="0" hangingPunct="0">
              <a:defRPr sz="2000">
                <a:solidFill>
                  <a:schemeClr val="tx1"/>
                </a:solidFill>
                <a:latin typeface="Arial" panose="020B0604020202020204" pitchFamily="34" charset="0"/>
                <a:ea typeface="宋体" panose="02010600030101010101" pitchFamily="2" charset="-122"/>
              </a:defRPr>
            </a:lvl3pPr>
            <a:lvl4pPr marL="1600200" indent="-228600" eaLnBrk="0" hangingPunct="0">
              <a:defRPr sz="2000">
                <a:solidFill>
                  <a:schemeClr val="tx1"/>
                </a:solidFill>
                <a:latin typeface="Arial" panose="020B0604020202020204" pitchFamily="34" charset="0"/>
                <a:ea typeface="宋体" panose="02010600030101010101" pitchFamily="2" charset="-122"/>
              </a:defRPr>
            </a:lvl4pPr>
            <a:lvl5pPr marL="2057400" indent="-228600" eaLnBrk="0" hangingPunct="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r>
              <a:rPr lang="zh-CN" altLang="en-US" sz="3200" b="1" dirty="0">
                <a:latin typeface="华文仿宋" panose="02010600040101010101" pitchFamily="2" charset="-122"/>
                <a:ea typeface="华文仿宋" panose="02010600040101010101" pitchFamily="2" charset="-122"/>
              </a:rPr>
              <a:t>例如：</a:t>
            </a:r>
            <a:r>
              <a:rPr lang="en-US" altLang="zh-CN" sz="3200" b="1" dirty="0">
                <a:latin typeface="华文仿宋" panose="02010600040101010101" pitchFamily="2" charset="-122"/>
                <a:ea typeface="华文仿宋" panose="02010600040101010101" pitchFamily="2" charset="-122"/>
              </a:rPr>
              <a:t>( 35 )</a:t>
            </a:r>
            <a:r>
              <a:rPr lang="en-US" altLang="zh-CN" sz="3200" b="1" baseline="-25000" dirty="0">
                <a:latin typeface="华文仿宋" panose="02010600040101010101" pitchFamily="2" charset="-122"/>
                <a:ea typeface="华文仿宋" panose="02010600040101010101" pitchFamily="2" charset="-122"/>
              </a:rPr>
              <a:t>10</a:t>
            </a:r>
            <a:r>
              <a:rPr lang="zh-CN" altLang="en-US" sz="3200" b="1" baseline="-25000" dirty="0">
                <a:latin typeface="华文仿宋" panose="02010600040101010101" pitchFamily="2" charset="-122"/>
                <a:ea typeface="华文仿宋" panose="02010600040101010101" pitchFamily="2" charset="-122"/>
              </a:rPr>
              <a:t>  </a:t>
            </a:r>
            <a:r>
              <a:rPr lang="en-US" altLang="zh-CN" sz="3200" b="1" dirty="0">
                <a:latin typeface="华文仿宋" panose="02010600040101010101" pitchFamily="2" charset="-122"/>
                <a:ea typeface="华文仿宋" panose="02010600040101010101" pitchFamily="2" charset="-122"/>
              </a:rPr>
              <a:t>= ( 100011 )</a:t>
            </a:r>
            <a:r>
              <a:rPr lang="en-US" altLang="zh-CN" sz="3200" b="1" baseline="-25000" dirty="0">
                <a:latin typeface="华文仿宋" panose="02010600040101010101" pitchFamily="2" charset="-122"/>
                <a:ea typeface="华文仿宋" panose="02010600040101010101" pitchFamily="2" charset="-122"/>
              </a:rPr>
              <a:t>2</a:t>
            </a:r>
            <a:endParaRPr lang="zh-CN" altLang="en-US" sz="3200" b="1" baseline="-25000" dirty="0">
              <a:latin typeface="华文仿宋" panose="02010600040101010101" pitchFamily="2" charset="-122"/>
              <a:ea typeface="华文仿宋" panose="02010600040101010101" pitchFamily="2" charset="-122"/>
            </a:endParaRPr>
          </a:p>
        </p:txBody>
      </p:sp>
      <p:sp>
        <p:nvSpPr>
          <p:cNvPr id="13" name="Text Box 28">
            <a:extLst>
              <a:ext uri="{FF2B5EF4-FFF2-40B4-BE49-F238E27FC236}">
                <a16:creationId xmlns:a16="http://schemas.microsoft.com/office/drawing/2014/main" id="{537836E8-DD61-4ADE-ADE9-D1E4A1F762AD}"/>
              </a:ext>
            </a:extLst>
          </p:cNvPr>
          <p:cNvSpPr txBox="1">
            <a:spLocks noChangeArrowheads="1"/>
          </p:cNvSpPr>
          <p:nvPr/>
        </p:nvSpPr>
        <p:spPr bwMode="auto">
          <a:xfrm>
            <a:off x="6199887" y="2505669"/>
            <a:ext cx="257314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Arial" panose="020B0604020202020204" pitchFamily="34" charset="0"/>
                <a:ea typeface="宋体" panose="02010600030101010101" pitchFamily="2" charset="-122"/>
              </a:defRPr>
            </a:lvl1pPr>
            <a:lvl2pPr marL="742950" indent="-285750" eaLnBrk="0" hangingPunct="0">
              <a:defRPr sz="2000">
                <a:solidFill>
                  <a:schemeClr val="tx1"/>
                </a:solidFill>
                <a:latin typeface="Arial" panose="020B0604020202020204" pitchFamily="34" charset="0"/>
                <a:ea typeface="宋体" panose="02010600030101010101" pitchFamily="2" charset="-122"/>
              </a:defRPr>
            </a:lvl2pPr>
            <a:lvl3pPr marL="1143000" indent="-228600" eaLnBrk="0" hangingPunct="0">
              <a:defRPr sz="2000">
                <a:solidFill>
                  <a:schemeClr val="tx1"/>
                </a:solidFill>
                <a:latin typeface="Arial" panose="020B0604020202020204" pitchFamily="34" charset="0"/>
                <a:ea typeface="宋体" panose="02010600030101010101" pitchFamily="2" charset="-122"/>
              </a:defRPr>
            </a:lvl3pPr>
            <a:lvl4pPr marL="1600200" indent="-228600" eaLnBrk="0" hangingPunct="0">
              <a:defRPr sz="2000">
                <a:solidFill>
                  <a:schemeClr val="tx1"/>
                </a:solidFill>
                <a:latin typeface="Arial" panose="020B0604020202020204" pitchFamily="34" charset="0"/>
                <a:ea typeface="宋体" panose="02010600030101010101" pitchFamily="2" charset="-122"/>
              </a:defRPr>
            </a:lvl4pPr>
            <a:lvl5pPr marL="2057400" indent="-228600" eaLnBrk="0" hangingPunct="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r>
              <a:rPr lang="en-US" altLang="zh-CN" sz="2400" dirty="0">
                <a:solidFill>
                  <a:srgbClr val="EA2D00"/>
                </a:solidFill>
              </a:rPr>
              <a:t>1   0   0   0   1   1</a:t>
            </a:r>
          </a:p>
        </p:txBody>
      </p:sp>
      <p:sp>
        <p:nvSpPr>
          <p:cNvPr id="15" name="Rectangle 29">
            <a:extLst>
              <a:ext uri="{FF2B5EF4-FFF2-40B4-BE49-F238E27FC236}">
                <a16:creationId xmlns:a16="http://schemas.microsoft.com/office/drawing/2014/main" id="{0B504A74-66D4-4182-9C82-BFB7446B5CB8}"/>
              </a:ext>
            </a:extLst>
          </p:cNvPr>
          <p:cNvSpPr>
            <a:spLocks noChangeArrowheads="1"/>
          </p:cNvSpPr>
          <p:nvPr/>
        </p:nvSpPr>
        <p:spPr bwMode="auto">
          <a:xfrm>
            <a:off x="1387273" y="762242"/>
            <a:ext cx="5819775" cy="804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sz="2000">
                <a:solidFill>
                  <a:schemeClr val="tx1"/>
                </a:solidFill>
                <a:latin typeface="Arial" panose="020B0604020202020204" pitchFamily="34" charset="0"/>
                <a:ea typeface="宋体" panose="02010600030101010101" pitchFamily="2" charset="-122"/>
              </a:defRPr>
            </a:lvl1pPr>
            <a:lvl2pPr marL="742950" indent="-285750" eaLnBrk="0" hangingPunct="0">
              <a:defRPr sz="2000">
                <a:solidFill>
                  <a:schemeClr val="tx1"/>
                </a:solidFill>
                <a:latin typeface="Arial" panose="020B0604020202020204" pitchFamily="34" charset="0"/>
                <a:ea typeface="宋体" panose="02010600030101010101" pitchFamily="2" charset="-122"/>
              </a:defRPr>
            </a:lvl2pPr>
            <a:lvl3pPr marL="1143000" indent="-228600" eaLnBrk="0" hangingPunct="0">
              <a:defRPr sz="2000">
                <a:solidFill>
                  <a:schemeClr val="tx1"/>
                </a:solidFill>
                <a:latin typeface="Arial" panose="020B0604020202020204" pitchFamily="34" charset="0"/>
                <a:ea typeface="宋体" panose="02010600030101010101" pitchFamily="2" charset="-122"/>
              </a:defRPr>
            </a:lvl3pPr>
            <a:lvl4pPr marL="1600200" indent="-228600" eaLnBrk="0" hangingPunct="0">
              <a:defRPr sz="2000">
                <a:solidFill>
                  <a:schemeClr val="tx1"/>
                </a:solidFill>
                <a:latin typeface="Arial" panose="020B0604020202020204" pitchFamily="34" charset="0"/>
                <a:ea typeface="宋体" panose="02010600030101010101" pitchFamily="2" charset="-122"/>
              </a:defRPr>
            </a:lvl4pPr>
            <a:lvl5pPr marL="2057400" indent="-228600" eaLnBrk="0" hangingPunct="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r>
              <a:rPr lang="zh-CN" altLang="en-US" sz="3250" b="1" dirty="0">
                <a:solidFill>
                  <a:srgbClr val="FF0000"/>
                </a:solidFill>
                <a:ea typeface="黑体" panose="02010609060101010101" pitchFamily="49" charset="-122"/>
              </a:rPr>
              <a:t>十进制</a:t>
            </a:r>
            <a:r>
              <a:rPr lang="zh-CN" altLang="en-US" sz="3250" b="1" dirty="0">
                <a:solidFill>
                  <a:srgbClr val="FF0000"/>
                </a:solidFill>
                <a:latin typeface="黑体" panose="02010609060101010101" pitchFamily="49" charset="-122"/>
                <a:ea typeface="黑体" panose="02010609060101010101" pitchFamily="49" charset="-122"/>
              </a:rPr>
              <a:t>→</a:t>
            </a:r>
            <a:r>
              <a:rPr lang="zh-CN" altLang="en-US" sz="3250" b="1" dirty="0">
                <a:solidFill>
                  <a:srgbClr val="FF0000"/>
                </a:solidFill>
                <a:ea typeface="黑体" panose="02010609060101010101" pitchFamily="49" charset="-122"/>
              </a:rPr>
              <a:t>二进制</a:t>
            </a:r>
          </a:p>
        </p:txBody>
      </p:sp>
      <p:sp>
        <p:nvSpPr>
          <p:cNvPr id="16" name="Line 46">
            <a:extLst>
              <a:ext uri="{FF2B5EF4-FFF2-40B4-BE49-F238E27FC236}">
                <a16:creationId xmlns:a16="http://schemas.microsoft.com/office/drawing/2014/main" id="{AAFCAAB7-6F47-4DAF-BAFD-CEC679051CEE}"/>
              </a:ext>
            </a:extLst>
          </p:cNvPr>
          <p:cNvSpPr>
            <a:spLocks noChangeShapeType="1"/>
          </p:cNvSpPr>
          <p:nvPr/>
        </p:nvSpPr>
        <p:spPr bwMode="auto">
          <a:xfrm flipH="1">
            <a:off x="5272334" y="3133289"/>
            <a:ext cx="0" cy="904167"/>
          </a:xfrm>
          <a:prstGeom prst="line">
            <a:avLst/>
          </a:prstGeom>
          <a:noFill/>
          <a:ln w="57150">
            <a:solidFill>
              <a:srgbClr val="FFC000"/>
            </a:solidFill>
            <a:round/>
            <a:headEnd type="triangl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nvGrpSpPr>
          <p:cNvPr id="17" name="组合 16">
            <a:extLst>
              <a:ext uri="{FF2B5EF4-FFF2-40B4-BE49-F238E27FC236}">
                <a16:creationId xmlns:a16="http://schemas.microsoft.com/office/drawing/2014/main" id="{F932F020-459D-4B63-9358-2C9052E31A3B}"/>
              </a:ext>
            </a:extLst>
          </p:cNvPr>
          <p:cNvGrpSpPr/>
          <p:nvPr/>
        </p:nvGrpSpPr>
        <p:grpSpPr>
          <a:xfrm>
            <a:off x="2315930" y="2314684"/>
            <a:ext cx="1499674" cy="400110"/>
            <a:chOff x="3306610" y="4149080"/>
            <a:chExt cx="1499674" cy="400110"/>
          </a:xfrm>
        </p:grpSpPr>
        <p:sp>
          <p:nvSpPr>
            <p:cNvPr id="18" name="Line 38">
              <a:extLst>
                <a:ext uri="{FF2B5EF4-FFF2-40B4-BE49-F238E27FC236}">
                  <a16:creationId xmlns:a16="http://schemas.microsoft.com/office/drawing/2014/main" id="{1163B9A2-9B01-400C-AC20-364A680280EA}"/>
                </a:ext>
              </a:extLst>
            </p:cNvPr>
            <p:cNvSpPr>
              <a:spLocks noChangeShapeType="1"/>
            </p:cNvSpPr>
            <p:nvPr/>
          </p:nvSpPr>
          <p:spPr bwMode="auto">
            <a:xfrm>
              <a:off x="3631651" y="4499487"/>
              <a:ext cx="1174633" cy="0"/>
            </a:xfrm>
            <a:prstGeom prst="line">
              <a:avLst/>
            </a:prstGeom>
            <a:noFill/>
            <a:ln w="9525">
              <a:solidFill>
                <a:srgbClr val="8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9" name="Line 39">
              <a:extLst>
                <a:ext uri="{FF2B5EF4-FFF2-40B4-BE49-F238E27FC236}">
                  <a16:creationId xmlns:a16="http://schemas.microsoft.com/office/drawing/2014/main" id="{ADFF51DC-0F1E-43CD-B519-EB5E8B649287}"/>
                </a:ext>
              </a:extLst>
            </p:cNvPr>
            <p:cNvSpPr>
              <a:spLocks noChangeShapeType="1"/>
            </p:cNvSpPr>
            <p:nvPr/>
          </p:nvSpPr>
          <p:spPr bwMode="auto">
            <a:xfrm>
              <a:off x="3631651" y="4230340"/>
              <a:ext cx="0" cy="269147"/>
            </a:xfrm>
            <a:prstGeom prst="line">
              <a:avLst/>
            </a:prstGeom>
            <a:noFill/>
            <a:ln w="9525">
              <a:solidFill>
                <a:srgbClr val="8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0" name="Text Box 47">
              <a:extLst>
                <a:ext uri="{FF2B5EF4-FFF2-40B4-BE49-F238E27FC236}">
                  <a16:creationId xmlns:a16="http://schemas.microsoft.com/office/drawing/2014/main" id="{87BD6342-774B-4CBF-AB57-7DA5692D379F}"/>
                </a:ext>
              </a:extLst>
            </p:cNvPr>
            <p:cNvSpPr txBox="1">
              <a:spLocks noChangeArrowheads="1"/>
            </p:cNvSpPr>
            <p:nvPr/>
          </p:nvSpPr>
          <p:spPr bwMode="auto">
            <a:xfrm>
              <a:off x="3306610" y="4149080"/>
              <a:ext cx="127791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Arial" panose="020B0604020202020204" pitchFamily="34" charset="0"/>
                  <a:ea typeface="宋体" panose="02010600030101010101" pitchFamily="2" charset="-122"/>
                </a:defRPr>
              </a:lvl1pPr>
              <a:lvl2pPr marL="742950" indent="-285750" eaLnBrk="0" hangingPunct="0">
                <a:defRPr sz="2000">
                  <a:solidFill>
                    <a:schemeClr val="tx1"/>
                  </a:solidFill>
                  <a:latin typeface="Arial" panose="020B0604020202020204" pitchFamily="34" charset="0"/>
                  <a:ea typeface="宋体" panose="02010600030101010101" pitchFamily="2" charset="-122"/>
                </a:defRPr>
              </a:lvl2pPr>
              <a:lvl3pPr marL="1143000" indent="-228600" eaLnBrk="0" hangingPunct="0">
                <a:defRPr sz="2000">
                  <a:solidFill>
                    <a:schemeClr val="tx1"/>
                  </a:solidFill>
                  <a:latin typeface="Arial" panose="020B0604020202020204" pitchFamily="34" charset="0"/>
                  <a:ea typeface="宋体" panose="02010600030101010101" pitchFamily="2" charset="-122"/>
                </a:defRPr>
              </a:lvl3pPr>
              <a:lvl4pPr marL="1600200" indent="-228600" eaLnBrk="0" hangingPunct="0">
                <a:defRPr sz="2000">
                  <a:solidFill>
                    <a:schemeClr val="tx1"/>
                  </a:solidFill>
                  <a:latin typeface="Arial" panose="020B0604020202020204" pitchFamily="34" charset="0"/>
                  <a:ea typeface="宋体" panose="02010600030101010101" pitchFamily="2" charset="-122"/>
                </a:defRPr>
              </a:lvl4pPr>
              <a:lvl5pPr marL="2057400" indent="-228600" eaLnBrk="0" hangingPunct="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r>
                <a:rPr lang="en-US" altLang="zh-CN" b="1" dirty="0">
                  <a:solidFill>
                    <a:srgbClr val="000066"/>
                  </a:solidFill>
                  <a:latin typeface="Tahoma" panose="020B0604030504040204" pitchFamily="34" charset="0"/>
                </a:rPr>
                <a:t>2        35</a:t>
              </a:r>
              <a:endParaRPr lang="zh-CN" altLang="en-US" b="1" dirty="0">
                <a:solidFill>
                  <a:srgbClr val="000066"/>
                </a:solidFill>
                <a:latin typeface="Tahoma" panose="020B0604030504040204" pitchFamily="34" charset="0"/>
              </a:endParaRPr>
            </a:p>
          </p:txBody>
        </p:sp>
      </p:grpSp>
      <p:sp>
        <p:nvSpPr>
          <p:cNvPr id="21" name="Text Box 48">
            <a:extLst>
              <a:ext uri="{FF2B5EF4-FFF2-40B4-BE49-F238E27FC236}">
                <a16:creationId xmlns:a16="http://schemas.microsoft.com/office/drawing/2014/main" id="{7DEF8579-B0B7-4F96-A161-45471BC3C12C}"/>
              </a:ext>
            </a:extLst>
          </p:cNvPr>
          <p:cNvSpPr txBox="1">
            <a:spLocks noChangeArrowheads="1"/>
          </p:cNvSpPr>
          <p:nvPr/>
        </p:nvSpPr>
        <p:spPr bwMode="auto">
          <a:xfrm>
            <a:off x="3080653" y="2647563"/>
            <a:ext cx="568049" cy="3998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000">
                <a:solidFill>
                  <a:schemeClr val="tx1"/>
                </a:solidFill>
                <a:latin typeface="Arial" panose="020B0604020202020204" pitchFamily="34" charset="0"/>
                <a:ea typeface="宋体" panose="02010600030101010101" pitchFamily="2" charset="-122"/>
              </a:defRPr>
            </a:lvl1pPr>
            <a:lvl2pPr marL="742950" indent="-285750" eaLnBrk="0" hangingPunct="0">
              <a:defRPr sz="2000">
                <a:solidFill>
                  <a:schemeClr val="tx1"/>
                </a:solidFill>
                <a:latin typeface="Arial" panose="020B0604020202020204" pitchFamily="34" charset="0"/>
                <a:ea typeface="宋体" panose="02010600030101010101" pitchFamily="2" charset="-122"/>
              </a:defRPr>
            </a:lvl2pPr>
            <a:lvl3pPr marL="1143000" indent="-228600" eaLnBrk="0" hangingPunct="0">
              <a:defRPr sz="2000">
                <a:solidFill>
                  <a:schemeClr val="tx1"/>
                </a:solidFill>
                <a:latin typeface="Arial" panose="020B0604020202020204" pitchFamily="34" charset="0"/>
                <a:ea typeface="宋体" panose="02010600030101010101" pitchFamily="2" charset="-122"/>
              </a:defRPr>
            </a:lvl3pPr>
            <a:lvl4pPr marL="1600200" indent="-228600" eaLnBrk="0" hangingPunct="0">
              <a:defRPr sz="2000">
                <a:solidFill>
                  <a:schemeClr val="tx1"/>
                </a:solidFill>
                <a:latin typeface="Arial" panose="020B0604020202020204" pitchFamily="34" charset="0"/>
                <a:ea typeface="宋体" panose="02010600030101010101" pitchFamily="2" charset="-122"/>
              </a:defRPr>
            </a:lvl4pPr>
            <a:lvl5pPr marL="2057400" indent="-228600" eaLnBrk="0" hangingPunct="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dirty="0">
                <a:solidFill>
                  <a:srgbClr val="000066"/>
                </a:solidFill>
                <a:latin typeface="Tahoma" panose="020B0604030504040204" pitchFamily="34" charset="0"/>
              </a:rPr>
              <a:t>17</a:t>
            </a:r>
            <a:endParaRPr lang="en-US" altLang="zh-CN" b="1" dirty="0">
              <a:solidFill>
                <a:srgbClr val="FF3300"/>
              </a:solidFill>
              <a:latin typeface="Tahoma" panose="020B0604030504040204" pitchFamily="34" charset="0"/>
            </a:endParaRPr>
          </a:p>
        </p:txBody>
      </p:sp>
      <p:sp>
        <p:nvSpPr>
          <p:cNvPr id="22" name="Text Box 49">
            <a:extLst>
              <a:ext uri="{FF2B5EF4-FFF2-40B4-BE49-F238E27FC236}">
                <a16:creationId xmlns:a16="http://schemas.microsoft.com/office/drawing/2014/main" id="{130593E7-E318-43E6-B6CE-B497E14842B5}"/>
              </a:ext>
            </a:extLst>
          </p:cNvPr>
          <p:cNvSpPr txBox="1">
            <a:spLocks noChangeArrowheads="1"/>
          </p:cNvSpPr>
          <p:nvPr/>
        </p:nvSpPr>
        <p:spPr bwMode="auto">
          <a:xfrm>
            <a:off x="3227043" y="2983121"/>
            <a:ext cx="362002" cy="3998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000">
                <a:solidFill>
                  <a:schemeClr val="tx1"/>
                </a:solidFill>
                <a:latin typeface="Arial" panose="020B0604020202020204" pitchFamily="34" charset="0"/>
                <a:ea typeface="宋体" panose="02010600030101010101" pitchFamily="2" charset="-122"/>
              </a:defRPr>
            </a:lvl1pPr>
            <a:lvl2pPr marL="742950" indent="-285750" eaLnBrk="0" hangingPunct="0">
              <a:defRPr sz="2000">
                <a:solidFill>
                  <a:schemeClr val="tx1"/>
                </a:solidFill>
                <a:latin typeface="Arial" panose="020B0604020202020204" pitchFamily="34" charset="0"/>
                <a:ea typeface="宋体" panose="02010600030101010101" pitchFamily="2" charset="-122"/>
              </a:defRPr>
            </a:lvl2pPr>
            <a:lvl3pPr marL="1143000" indent="-228600" eaLnBrk="0" hangingPunct="0">
              <a:defRPr sz="2000">
                <a:solidFill>
                  <a:schemeClr val="tx1"/>
                </a:solidFill>
                <a:latin typeface="Arial" panose="020B0604020202020204" pitchFamily="34" charset="0"/>
                <a:ea typeface="宋体" panose="02010600030101010101" pitchFamily="2" charset="-122"/>
              </a:defRPr>
            </a:lvl3pPr>
            <a:lvl4pPr marL="1600200" indent="-228600" eaLnBrk="0" hangingPunct="0">
              <a:defRPr sz="2000">
                <a:solidFill>
                  <a:schemeClr val="tx1"/>
                </a:solidFill>
                <a:latin typeface="Arial" panose="020B0604020202020204" pitchFamily="34" charset="0"/>
                <a:ea typeface="宋体" panose="02010600030101010101" pitchFamily="2" charset="-122"/>
              </a:defRPr>
            </a:lvl4pPr>
            <a:lvl5pPr marL="2057400" indent="-228600" eaLnBrk="0" hangingPunct="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dirty="0">
                <a:solidFill>
                  <a:srgbClr val="000066"/>
                </a:solidFill>
                <a:latin typeface="Tahoma" panose="020B0604030504040204" pitchFamily="34" charset="0"/>
              </a:rPr>
              <a:t>8</a:t>
            </a:r>
            <a:endParaRPr lang="en-US" altLang="zh-CN" b="1" dirty="0">
              <a:solidFill>
                <a:srgbClr val="FF3300"/>
              </a:solidFill>
              <a:latin typeface="Tahoma" panose="020B0604030504040204" pitchFamily="34" charset="0"/>
            </a:endParaRPr>
          </a:p>
        </p:txBody>
      </p:sp>
      <p:sp>
        <p:nvSpPr>
          <p:cNvPr id="23" name="Text Box 50">
            <a:extLst>
              <a:ext uri="{FF2B5EF4-FFF2-40B4-BE49-F238E27FC236}">
                <a16:creationId xmlns:a16="http://schemas.microsoft.com/office/drawing/2014/main" id="{F0B5C57A-B3FA-4770-B00F-42A63387D4B1}"/>
              </a:ext>
            </a:extLst>
          </p:cNvPr>
          <p:cNvSpPr txBox="1">
            <a:spLocks noChangeArrowheads="1"/>
          </p:cNvSpPr>
          <p:nvPr/>
        </p:nvSpPr>
        <p:spPr bwMode="auto">
          <a:xfrm>
            <a:off x="3227044" y="3308161"/>
            <a:ext cx="494508" cy="3998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000">
                <a:solidFill>
                  <a:schemeClr val="tx1"/>
                </a:solidFill>
                <a:latin typeface="Arial" panose="020B0604020202020204" pitchFamily="34" charset="0"/>
                <a:ea typeface="宋体" panose="02010600030101010101" pitchFamily="2" charset="-122"/>
              </a:defRPr>
            </a:lvl1pPr>
            <a:lvl2pPr marL="742950" indent="-285750" eaLnBrk="0" hangingPunct="0">
              <a:defRPr sz="2000">
                <a:solidFill>
                  <a:schemeClr val="tx1"/>
                </a:solidFill>
                <a:latin typeface="Arial" panose="020B0604020202020204" pitchFamily="34" charset="0"/>
                <a:ea typeface="宋体" panose="02010600030101010101" pitchFamily="2" charset="-122"/>
              </a:defRPr>
            </a:lvl2pPr>
            <a:lvl3pPr marL="1143000" indent="-228600" eaLnBrk="0" hangingPunct="0">
              <a:defRPr sz="2000">
                <a:solidFill>
                  <a:schemeClr val="tx1"/>
                </a:solidFill>
                <a:latin typeface="Arial" panose="020B0604020202020204" pitchFamily="34" charset="0"/>
                <a:ea typeface="宋体" panose="02010600030101010101" pitchFamily="2" charset="-122"/>
              </a:defRPr>
            </a:lvl3pPr>
            <a:lvl4pPr marL="1600200" indent="-228600" eaLnBrk="0" hangingPunct="0">
              <a:defRPr sz="2000">
                <a:solidFill>
                  <a:schemeClr val="tx1"/>
                </a:solidFill>
                <a:latin typeface="Arial" panose="020B0604020202020204" pitchFamily="34" charset="0"/>
                <a:ea typeface="宋体" panose="02010600030101010101" pitchFamily="2" charset="-122"/>
              </a:defRPr>
            </a:lvl4pPr>
            <a:lvl5pPr marL="2057400" indent="-228600" eaLnBrk="0" hangingPunct="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dirty="0">
                <a:solidFill>
                  <a:srgbClr val="000066"/>
                </a:solidFill>
                <a:latin typeface="Tahoma" panose="020B0604030504040204" pitchFamily="34" charset="0"/>
              </a:rPr>
              <a:t>4</a:t>
            </a:r>
            <a:endParaRPr lang="en-US" altLang="zh-CN" b="1" dirty="0">
              <a:solidFill>
                <a:srgbClr val="FF3300"/>
              </a:solidFill>
              <a:latin typeface="Tahoma" panose="020B0604030504040204" pitchFamily="34" charset="0"/>
            </a:endParaRPr>
          </a:p>
        </p:txBody>
      </p:sp>
      <p:sp>
        <p:nvSpPr>
          <p:cNvPr id="24" name="Rectangle 52">
            <a:extLst>
              <a:ext uri="{FF2B5EF4-FFF2-40B4-BE49-F238E27FC236}">
                <a16:creationId xmlns:a16="http://schemas.microsoft.com/office/drawing/2014/main" id="{A1750181-04C2-4165-A5E8-76BB1DCBF183}"/>
              </a:ext>
            </a:extLst>
          </p:cNvPr>
          <p:cNvSpPr>
            <a:spLocks noChangeArrowheads="1"/>
          </p:cNvSpPr>
          <p:nvPr/>
        </p:nvSpPr>
        <p:spPr bwMode="auto">
          <a:xfrm>
            <a:off x="3253647" y="4016285"/>
            <a:ext cx="34817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Arial" panose="020B0604020202020204" pitchFamily="34" charset="0"/>
                <a:ea typeface="宋体" panose="02010600030101010101" pitchFamily="2" charset="-122"/>
              </a:defRPr>
            </a:lvl1pPr>
            <a:lvl2pPr marL="742950" indent="-285750" eaLnBrk="0" hangingPunct="0">
              <a:defRPr sz="2000">
                <a:solidFill>
                  <a:schemeClr val="tx1"/>
                </a:solidFill>
                <a:latin typeface="Arial" panose="020B0604020202020204" pitchFamily="34" charset="0"/>
                <a:ea typeface="宋体" panose="02010600030101010101" pitchFamily="2" charset="-122"/>
              </a:defRPr>
            </a:lvl2pPr>
            <a:lvl3pPr marL="1143000" indent="-228600" eaLnBrk="0" hangingPunct="0">
              <a:defRPr sz="2000">
                <a:solidFill>
                  <a:schemeClr val="tx1"/>
                </a:solidFill>
                <a:latin typeface="Arial" panose="020B0604020202020204" pitchFamily="34" charset="0"/>
                <a:ea typeface="宋体" panose="02010600030101010101" pitchFamily="2" charset="-122"/>
              </a:defRPr>
            </a:lvl3pPr>
            <a:lvl4pPr marL="1600200" indent="-228600" eaLnBrk="0" hangingPunct="0">
              <a:defRPr sz="2000">
                <a:solidFill>
                  <a:schemeClr val="tx1"/>
                </a:solidFill>
                <a:latin typeface="Arial" panose="020B0604020202020204" pitchFamily="34" charset="0"/>
                <a:ea typeface="宋体" panose="02010600030101010101" pitchFamily="2" charset="-122"/>
              </a:defRPr>
            </a:lvl4pPr>
            <a:lvl5pPr marL="2057400" indent="-228600" eaLnBrk="0" hangingPunct="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20000"/>
              </a:spcBef>
              <a:buClr>
                <a:srgbClr val="336600"/>
              </a:buClr>
              <a:buSzPct val="60000"/>
            </a:pPr>
            <a:r>
              <a:rPr lang="en-US" altLang="zh-CN" b="1" dirty="0">
                <a:solidFill>
                  <a:srgbClr val="000066"/>
                </a:solidFill>
                <a:latin typeface="Tahoma" panose="020B0604030504040204" pitchFamily="34" charset="0"/>
              </a:rPr>
              <a:t>1</a:t>
            </a:r>
          </a:p>
        </p:txBody>
      </p:sp>
      <p:sp>
        <p:nvSpPr>
          <p:cNvPr id="25" name="矩形 24">
            <a:extLst>
              <a:ext uri="{FF2B5EF4-FFF2-40B4-BE49-F238E27FC236}">
                <a16:creationId xmlns:a16="http://schemas.microsoft.com/office/drawing/2014/main" id="{05F6A4FC-200A-4F46-968F-736B08199090}"/>
              </a:ext>
            </a:extLst>
          </p:cNvPr>
          <p:cNvSpPr/>
          <p:nvPr/>
        </p:nvSpPr>
        <p:spPr>
          <a:xfrm>
            <a:off x="1524000" y="4729919"/>
            <a:ext cx="9437465" cy="584775"/>
          </a:xfrm>
          <a:prstGeom prst="rect">
            <a:avLst/>
          </a:prstGeom>
          <a:solidFill>
            <a:srgbClr val="C00000"/>
          </a:solidFill>
        </p:spPr>
        <p:txBody>
          <a:bodyPr wrap="square">
            <a:spAutoFit/>
          </a:bodyPr>
          <a:lstStyle/>
          <a:p>
            <a:pPr eaLnBrk="1" hangingPunct="1">
              <a:spcBef>
                <a:spcPct val="20000"/>
              </a:spcBef>
              <a:buClr>
                <a:schemeClr val="folHlink"/>
              </a:buClr>
              <a:buSzPct val="60000"/>
              <a:buFont typeface="Wingdings" panose="05000000000000000000" pitchFamily="2" charset="2"/>
              <a:buNone/>
            </a:pPr>
            <a:r>
              <a:rPr lang="zh-CN" altLang="en-GB" dirty="0">
                <a:solidFill>
                  <a:schemeClr val="bg1"/>
                </a:solidFill>
                <a:latin typeface="微软雅黑" panose="020B0503020204020204" pitchFamily="34" charset="-122"/>
                <a:ea typeface="微软雅黑" panose="020B0503020204020204" pitchFamily="34" charset="-122"/>
              </a:rPr>
              <a:t>十进制整数转换为二进制整数：除</a:t>
            </a:r>
            <a:r>
              <a:rPr lang="en-GB" altLang="zh-CN" dirty="0">
                <a:solidFill>
                  <a:schemeClr val="bg1"/>
                </a:solidFill>
                <a:latin typeface="微软雅黑" panose="020B0503020204020204" pitchFamily="34" charset="-122"/>
                <a:ea typeface="微软雅黑" panose="020B0503020204020204" pitchFamily="34" charset="-122"/>
              </a:rPr>
              <a:t>2</a:t>
            </a:r>
            <a:r>
              <a:rPr lang="zh-CN" altLang="en-GB" dirty="0">
                <a:solidFill>
                  <a:schemeClr val="bg1"/>
                </a:solidFill>
                <a:latin typeface="微软雅黑" panose="020B0503020204020204" pitchFamily="34" charset="-122"/>
                <a:ea typeface="微软雅黑" panose="020B0503020204020204" pitchFamily="34" charset="-122"/>
              </a:rPr>
              <a:t>取余，直至为</a:t>
            </a:r>
            <a:r>
              <a:rPr lang="en-GB" altLang="zh-CN" dirty="0">
                <a:solidFill>
                  <a:schemeClr val="bg1"/>
                </a:solidFill>
                <a:latin typeface="微软雅黑" panose="020B0503020204020204" pitchFamily="34" charset="-122"/>
                <a:ea typeface="微软雅黑" panose="020B0503020204020204" pitchFamily="34" charset="-122"/>
              </a:rPr>
              <a:t>0</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26" name="矩形 25">
            <a:extLst>
              <a:ext uri="{FF2B5EF4-FFF2-40B4-BE49-F238E27FC236}">
                <a16:creationId xmlns:a16="http://schemas.microsoft.com/office/drawing/2014/main" id="{BB143CD7-926C-4870-8992-B9B155F9B9F5}"/>
              </a:ext>
            </a:extLst>
          </p:cNvPr>
          <p:cNvSpPr/>
          <p:nvPr/>
        </p:nvSpPr>
        <p:spPr>
          <a:xfrm>
            <a:off x="4844828" y="2441645"/>
            <a:ext cx="1008609" cy="584775"/>
          </a:xfrm>
          <a:prstGeom prst="rect">
            <a:avLst/>
          </a:prstGeom>
        </p:spPr>
        <p:txBody>
          <a:bodyPr wrap="none">
            <a:spAutoFit/>
          </a:bodyPr>
          <a:lstStyle/>
          <a:p>
            <a:pPr eaLnBrk="1" hangingPunct="1"/>
            <a:r>
              <a:rPr lang="zh-CN" altLang="en-US" b="1" dirty="0">
                <a:solidFill>
                  <a:srgbClr val="000066"/>
                </a:solidFill>
                <a:latin typeface="华文仿宋" panose="02010600040101010101" pitchFamily="2" charset="-122"/>
                <a:ea typeface="华文仿宋" panose="02010600040101010101" pitchFamily="2" charset="-122"/>
              </a:rPr>
              <a:t>低位</a:t>
            </a:r>
          </a:p>
        </p:txBody>
      </p:sp>
      <p:sp>
        <p:nvSpPr>
          <p:cNvPr id="27" name="矩形 26">
            <a:extLst>
              <a:ext uri="{FF2B5EF4-FFF2-40B4-BE49-F238E27FC236}">
                <a16:creationId xmlns:a16="http://schemas.microsoft.com/office/drawing/2014/main" id="{22B165C2-7434-42D4-992F-E61ECEBCA228}"/>
              </a:ext>
            </a:extLst>
          </p:cNvPr>
          <p:cNvSpPr/>
          <p:nvPr/>
        </p:nvSpPr>
        <p:spPr>
          <a:xfrm>
            <a:off x="4767925" y="4105636"/>
            <a:ext cx="1008609" cy="535531"/>
          </a:xfrm>
          <a:prstGeom prst="rect">
            <a:avLst/>
          </a:prstGeom>
        </p:spPr>
        <p:txBody>
          <a:bodyPr wrap="none">
            <a:spAutoFit/>
          </a:bodyPr>
          <a:lstStyle/>
          <a:p>
            <a:pPr eaLnBrk="1" hangingPunct="1">
              <a:lnSpc>
                <a:spcPct val="90000"/>
              </a:lnSpc>
              <a:spcBef>
                <a:spcPct val="20000"/>
              </a:spcBef>
              <a:buClr>
                <a:srgbClr val="336600"/>
              </a:buClr>
              <a:buSzPct val="60000"/>
              <a:buFont typeface="Wingdings" panose="05000000000000000000" pitchFamily="2" charset="2"/>
              <a:buNone/>
            </a:pPr>
            <a:r>
              <a:rPr lang="zh-CN" altLang="en-US" b="1" dirty="0">
                <a:solidFill>
                  <a:srgbClr val="000066"/>
                </a:solidFill>
                <a:latin typeface="华文仿宋" panose="02010600040101010101" pitchFamily="2" charset="-122"/>
                <a:ea typeface="华文仿宋" panose="02010600040101010101" pitchFamily="2" charset="-122"/>
              </a:rPr>
              <a:t>高位</a:t>
            </a:r>
            <a:endParaRPr lang="zh-CN" altLang="en-US" sz="2400" b="1" dirty="0">
              <a:solidFill>
                <a:srgbClr val="000066"/>
              </a:solidFill>
              <a:latin typeface="华文仿宋" panose="02010600040101010101" pitchFamily="2" charset="-122"/>
              <a:ea typeface="华文仿宋" panose="02010600040101010101" pitchFamily="2" charset="-122"/>
            </a:endParaRPr>
          </a:p>
        </p:txBody>
      </p:sp>
      <p:sp>
        <p:nvSpPr>
          <p:cNvPr id="28" name="矩形 27">
            <a:extLst>
              <a:ext uri="{FF2B5EF4-FFF2-40B4-BE49-F238E27FC236}">
                <a16:creationId xmlns:a16="http://schemas.microsoft.com/office/drawing/2014/main" id="{7EEF665E-B500-4A85-8762-C15992268FEE}"/>
              </a:ext>
            </a:extLst>
          </p:cNvPr>
          <p:cNvSpPr/>
          <p:nvPr/>
        </p:nvSpPr>
        <p:spPr>
          <a:xfrm>
            <a:off x="4046083" y="2627846"/>
            <a:ext cx="348172" cy="400110"/>
          </a:xfrm>
          <a:prstGeom prst="rect">
            <a:avLst/>
          </a:prstGeom>
        </p:spPr>
        <p:txBody>
          <a:bodyPr wrap="none">
            <a:spAutoFit/>
          </a:bodyPr>
          <a:lstStyle/>
          <a:p>
            <a:r>
              <a:rPr lang="en-US" altLang="zh-CN" sz="2000" b="1" dirty="0">
                <a:solidFill>
                  <a:srgbClr val="FF3300"/>
                </a:solidFill>
                <a:latin typeface="Tahoma" panose="020B0604030504040204" pitchFamily="34" charset="0"/>
              </a:rPr>
              <a:t>1</a:t>
            </a:r>
            <a:endParaRPr lang="zh-CN" altLang="en-US" sz="2000" dirty="0"/>
          </a:p>
        </p:txBody>
      </p:sp>
      <p:sp>
        <p:nvSpPr>
          <p:cNvPr id="29" name="矩形 28">
            <a:extLst>
              <a:ext uri="{FF2B5EF4-FFF2-40B4-BE49-F238E27FC236}">
                <a16:creationId xmlns:a16="http://schemas.microsoft.com/office/drawing/2014/main" id="{E371EE13-385A-4119-81A0-22C347A67BBB}"/>
              </a:ext>
            </a:extLst>
          </p:cNvPr>
          <p:cNvSpPr/>
          <p:nvPr/>
        </p:nvSpPr>
        <p:spPr>
          <a:xfrm>
            <a:off x="4046083" y="2987886"/>
            <a:ext cx="348172" cy="400110"/>
          </a:xfrm>
          <a:prstGeom prst="rect">
            <a:avLst/>
          </a:prstGeom>
        </p:spPr>
        <p:txBody>
          <a:bodyPr wrap="none">
            <a:spAutoFit/>
          </a:bodyPr>
          <a:lstStyle/>
          <a:p>
            <a:r>
              <a:rPr lang="en-US" altLang="zh-CN" sz="2000" b="1" dirty="0">
                <a:solidFill>
                  <a:srgbClr val="FF3300"/>
                </a:solidFill>
                <a:latin typeface="Tahoma" panose="020B0604030504040204" pitchFamily="34" charset="0"/>
              </a:rPr>
              <a:t>1</a:t>
            </a:r>
            <a:endParaRPr lang="zh-CN" altLang="en-US" sz="2000" dirty="0"/>
          </a:p>
        </p:txBody>
      </p:sp>
      <p:sp>
        <p:nvSpPr>
          <p:cNvPr id="30" name="矩形 29">
            <a:extLst>
              <a:ext uri="{FF2B5EF4-FFF2-40B4-BE49-F238E27FC236}">
                <a16:creationId xmlns:a16="http://schemas.microsoft.com/office/drawing/2014/main" id="{9BACE560-B2B5-430D-A078-305B689EF124}"/>
              </a:ext>
            </a:extLst>
          </p:cNvPr>
          <p:cNvSpPr/>
          <p:nvPr/>
        </p:nvSpPr>
        <p:spPr>
          <a:xfrm>
            <a:off x="4046083" y="3275918"/>
            <a:ext cx="348172" cy="400110"/>
          </a:xfrm>
          <a:prstGeom prst="rect">
            <a:avLst/>
          </a:prstGeom>
        </p:spPr>
        <p:txBody>
          <a:bodyPr wrap="none">
            <a:spAutoFit/>
          </a:bodyPr>
          <a:lstStyle/>
          <a:p>
            <a:pPr eaLnBrk="1" hangingPunct="1">
              <a:spcBef>
                <a:spcPct val="50000"/>
              </a:spcBef>
            </a:pPr>
            <a:r>
              <a:rPr lang="en-US" altLang="zh-CN" sz="2000" b="1" dirty="0">
                <a:solidFill>
                  <a:srgbClr val="FF3300"/>
                </a:solidFill>
                <a:latin typeface="Tahoma" panose="020B0604030504040204" pitchFamily="34" charset="0"/>
              </a:rPr>
              <a:t>0</a:t>
            </a:r>
          </a:p>
        </p:txBody>
      </p:sp>
      <p:sp>
        <p:nvSpPr>
          <p:cNvPr id="31" name="矩形 30">
            <a:extLst>
              <a:ext uri="{FF2B5EF4-FFF2-40B4-BE49-F238E27FC236}">
                <a16:creationId xmlns:a16="http://schemas.microsoft.com/office/drawing/2014/main" id="{FF566BBB-9550-4A43-B108-7FDEE0989BE2}"/>
              </a:ext>
            </a:extLst>
          </p:cNvPr>
          <p:cNvSpPr/>
          <p:nvPr/>
        </p:nvSpPr>
        <p:spPr>
          <a:xfrm>
            <a:off x="4046083" y="3653923"/>
            <a:ext cx="348172" cy="400110"/>
          </a:xfrm>
          <a:prstGeom prst="rect">
            <a:avLst/>
          </a:prstGeom>
        </p:spPr>
        <p:txBody>
          <a:bodyPr wrap="none">
            <a:spAutoFit/>
          </a:bodyPr>
          <a:lstStyle/>
          <a:p>
            <a:pPr eaLnBrk="1" hangingPunct="1">
              <a:spcBef>
                <a:spcPct val="50000"/>
              </a:spcBef>
            </a:pPr>
            <a:r>
              <a:rPr lang="en-US" altLang="zh-CN" sz="2000" b="1" dirty="0">
                <a:solidFill>
                  <a:srgbClr val="FF3300"/>
                </a:solidFill>
                <a:latin typeface="Tahoma" panose="020B0604030504040204" pitchFamily="34" charset="0"/>
              </a:rPr>
              <a:t>0</a:t>
            </a:r>
          </a:p>
        </p:txBody>
      </p:sp>
      <p:sp>
        <p:nvSpPr>
          <p:cNvPr id="32" name="矩形 31">
            <a:extLst>
              <a:ext uri="{FF2B5EF4-FFF2-40B4-BE49-F238E27FC236}">
                <a16:creationId xmlns:a16="http://schemas.microsoft.com/office/drawing/2014/main" id="{22B9E49D-8C20-443E-945F-C379BDE71B9D}"/>
              </a:ext>
            </a:extLst>
          </p:cNvPr>
          <p:cNvSpPr/>
          <p:nvPr/>
        </p:nvSpPr>
        <p:spPr>
          <a:xfrm>
            <a:off x="4046083" y="4021248"/>
            <a:ext cx="348172" cy="369332"/>
          </a:xfrm>
          <a:prstGeom prst="rect">
            <a:avLst/>
          </a:prstGeom>
        </p:spPr>
        <p:txBody>
          <a:bodyPr wrap="none">
            <a:spAutoFit/>
          </a:bodyPr>
          <a:lstStyle/>
          <a:p>
            <a:pPr eaLnBrk="1" hangingPunct="1">
              <a:lnSpc>
                <a:spcPct val="90000"/>
              </a:lnSpc>
              <a:spcBef>
                <a:spcPct val="20000"/>
              </a:spcBef>
              <a:buClr>
                <a:srgbClr val="336600"/>
              </a:buClr>
              <a:buSzPct val="60000"/>
              <a:buFont typeface="Wingdings" panose="05000000000000000000" pitchFamily="2" charset="2"/>
              <a:buNone/>
            </a:pPr>
            <a:r>
              <a:rPr lang="en-US" altLang="zh-CN" sz="2000" b="1" dirty="0">
                <a:solidFill>
                  <a:srgbClr val="FF3300"/>
                </a:solidFill>
                <a:latin typeface="Tahoma" panose="020B0604030504040204" pitchFamily="34" charset="0"/>
              </a:rPr>
              <a:t>0</a:t>
            </a:r>
            <a:endParaRPr lang="zh-CN" altLang="en-US" sz="2000" b="1" dirty="0">
              <a:solidFill>
                <a:srgbClr val="000066"/>
              </a:solidFill>
              <a:latin typeface="Tahoma" panose="020B0604030504040204" pitchFamily="34" charset="0"/>
            </a:endParaRPr>
          </a:p>
        </p:txBody>
      </p:sp>
      <p:sp>
        <p:nvSpPr>
          <p:cNvPr id="33" name="Rectangle 52">
            <a:extLst>
              <a:ext uri="{FF2B5EF4-FFF2-40B4-BE49-F238E27FC236}">
                <a16:creationId xmlns:a16="http://schemas.microsoft.com/office/drawing/2014/main" id="{3A7EB076-3915-467C-A5DF-1F474DF02550}"/>
              </a:ext>
            </a:extLst>
          </p:cNvPr>
          <p:cNvSpPr>
            <a:spLocks noChangeArrowheads="1"/>
          </p:cNvSpPr>
          <p:nvPr/>
        </p:nvSpPr>
        <p:spPr bwMode="auto">
          <a:xfrm>
            <a:off x="4046083" y="4319043"/>
            <a:ext cx="348258" cy="3998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Arial" panose="020B0604020202020204" pitchFamily="34" charset="0"/>
                <a:ea typeface="宋体" panose="02010600030101010101" pitchFamily="2" charset="-122"/>
              </a:defRPr>
            </a:lvl1pPr>
            <a:lvl2pPr marL="742950" indent="-285750" eaLnBrk="0" hangingPunct="0">
              <a:defRPr sz="2000">
                <a:solidFill>
                  <a:schemeClr val="tx1"/>
                </a:solidFill>
                <a:latin typeface="Arial" panose="020B0604020202020204" pitchFamily="34" charset="0"/>
                <a:ea typeface="宋体" panose="02010600030101010101" pitchFamily="2" charset="-122"/>
              </a:defRPr>
            </a:lvl2pPr>
            <a:lvl3pPr marL="1143000" indent="-228600" eaLnBrk="0" hangingPunct="0">
              <a:defRPr sz="2000">
                <a:solidFill>
                  <a:schemeClr val="tx1"/>
                </a:solidFill>
                <a:latin typeface="Arial" panose="020B0604020202020204" pitchFamily="34" charset="0"/>
                <a:ea typeface="宋体" panose="02010600030101010101" pitchFamily="2" charset="-122"/>
              </a:defRPr>
            </a:lvl3pPr>
            <a:lvl4pPr marL="1600200" indent="-228600" eaLnBrk="0" hangingPunct="0">
              <a:defRPr sz="2000">
                <a:solidFill>
                  <a:schemeClr val="tx1"/>
                </a:solidFill>
                <a:latin typeface="Arial" panose="020B0604020202020204" pitchFamily="34" charset="0"/>
                <a:ea typeface="宋体" panose="02010600030101010101" pitchFamily="2" charset="-122"/>
              </a:defRPr>
            </a:lvl4pPr>
            <a:lvl5pPr marL="2057400" indent="-228600" eaLnBrk="0" hangingPunct="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dirty="0">
                <a:solidFill>
                  <a:srgbClr val="FF3300"/>
                </a:solidFill>
                <a:latin typeface="Tahoma" panose="020B0604030504040204" pitchFamily="34" charset="0"/>
              </a:rPr>
              <a:t>1</a:t>
            </a:r>
          </a:p>
        </p:txBody>
      </p:sp>
      <p:grpSp>
        <p:nvGrpSpPr>
          <p:cNvPr id="34" name="组合 33">
            <a:extLst>
              <a:ext uri="{FF2B5EF4-FFF2-40B4-BE49-F238E27FC236}">
                <a16:creationId xmlns:a16="http://schemas.microsoft.com/office/drawing/2014/main" id="{CE7AA8A7-26EB-4E87-9405-3A37E01EE2BB}"/>
              </a:ext>
            </a:extLst>
          </p:cNvPr>
          <p:cNvGrpSpPr/>
          <p:nvPr/>
        </p:nvGrpSpPr>
        <p:grpSpPr>
          <a:xfrm>
            <a:off x="2815338" y="4005859"/>
            <a:ext cx="1000266" cy="400110"/>
            <a:chOff x="1707992" y="4170692"/>
            <a:chExt cx="1000266" cy="400110"/>
          </a:xfrm>
        </p:grpSpPr>
        <p:sp>
          <p:nvSpPr>
            <p:cNvPr id="35" name="Line 42">
              <a:extLst>
                <a:ext uri="{FF2B5EF4-FFF2-40B4-BE49-F238E27FC236}">
                  <a16:creationId xmlns:a16="http://schemas.microsoft.com/office/drawing/2014/main" id="{DCF7656B-7326-446F-9C2F-E4DA113E29B8}"/>
                </a:ext>
              </a:extLst>
            </p:cNvPr>
            <p:cNvSpPr>
              <a:spLocks noChangeShapeType="1"/>
            </p:cNvSpPr>
            <p:nvPr/>
          </p:nvSpPr>
          <p:spPr bwMode="auto">
            <a:xfrm flipV="1">
              <a:off x="2075189" y="4513055"/>
              <a:ext cx="633069" cy="2469"/>
            </a:xfrm>
            <a:prstGeom prst="line">
              <a:avLst/>
            </a:prstGeom>
            <a:noFill/>
            <a:ln w="9525">
              <a:solidFill>
                <a:srgbClr val="8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 name="Line 45">
              <a:extLst>
                <a:ext uri="{FF2B5EF4-FFF2-40B4-BE49-F238E27FC236}">
                  <a16:creationId xmlns:a16="http://schemas.microsoft.com/office/drawing/2014/main" id="{5A146EAF-D431-4AE2-A424-75DECC2227E3}"/>
                </a:ext>
              </a:extLst>
            </p:cNvPr>
            <p:cNvSpPr>
              <a:spLocks noChangeShapeType="1"/>
            </p:cNvSpPr>
            <p:nvPr/>
          </p:nvSpPr>
          <p:spPr bwMode="auto">
            <a:xfrm>
              <a:off x="2087281" y="4225006"/>
              <a:ext cx="0" cy="269147"/>
            </a:xfrm>
            <a:prstGeom prst="line">
              <a:avLst/>
            </a:prstGeom>
            <a:noFill/>
            <a:ln w="9525">
              <a:solidFill>
                <a:srgbClr val="8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7" name="Text Box 50">
              <a:extLst>
                <a:ext uri="{FF2B5EF4-FFF2-40B4-BE49-F238E27FC236}">
                  <a16:creationId xmlns:a16="http://schemas.microsoft.com/office/drawing/2014/main" id="{E38DC251-54FA-4299-B670-2BE5F5083FFE}"/>
                </a:ext>
              </a:extLst>
            </p:cNvPr>
            <p:cNvSpPr txBox="1">
              <a:spLocks noChangeArrowheads="1"/>
            </p:cNvSpPr>
            <p:nvPr/>
          </p:nvSpPr>
          <p:spPr bwMode="auto">
            <a:xfrm>
              <a:off x="1707992" y="4170692"/>
              <a:ext cx="26966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000">
                  <a:solidFill>
                    <a:schemeClr val="tx1"/>
                  </a:solidFill>
                  <a:latin typeface="Arial" panose="020B0604020202020204" pitchFamily="34" charset="0"/>
                  <a:ea typeface="宋体" panose="02010600030101010101" pitchFamily="2" charset="-122"/>
                </a:defRPr>
              </a:lvl1pPr>
              <a:lvl2pPr marL="742950" indent="-285750" eaLnBrk="0" hangingPunct="0">
                <a:defRPr sz="2000">
                  <a:solidFill>
                    <a:schemeClr val="tx1"/>
                  </a:solidFill>
                  <a:latin typeface="Arial" panose="020B0604020202020204" pitchFamily="34" charset="0"/>
                  <a:ea typeface="宋体" panose="02010600030101010101" pitchFamily="2" charset="-122"/>
                </a:defRPr>
              </a:lvl2pPr>
              <a:lvl3pPr marL="1143000" indent="-228600" eaLnBrk="0" hangingPunct="0">
                <a:defRPr sz="2000">
                  <a:solidFill>
                    <a:schemeClr val="tx1"/>
                  </a:solidFill>
                  <a:latin typeface="Arial" panose="020B0604020202020204" pitchFamily="34" charset="0"/>
                  <a:ea typeface="宋体" panose="02010600030101010101" pitchFamily="2" charset="-122"/>
                </a:defRPr>
              </a:lvl3pPr>
              <a:lvl4pPr marL="1600200" indent="-228600" eaLnBrk="0" hangingPunct="0">
                <a:defRPr sz="2000">
                  <a:solidFill>
                    <a:schemeClr val="tx1"/>
                  </a:solidFill>
                  <a:latin typeface="Arial" panose="020B0604020202020204" pitchFamily="34" charset="0"/>
                  <a:ea typeface="宋体" panose="02010600030101010101" pitchFamily="2" charset="-122"/>
                </a:defRPr>
              </a:lvl4pPr>
              <a:lvl5pPr marL="2057400" indent="-228600" eaLnBrk="0" hangingPunct="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dirty="0">
                  <a:solidFill>
                    <a:srgbClr val="000066"/>
                  </a:solidFill>
                  <a:latin typeface="Tahoma" panose="020B0604030504040204" pitchFamily="34" charset="0"/>
                </a:rPr>
                <a:t>2</a:t>
              </a:r>
              <a:endParaRPr lang="en-US" altLang="zh-CN" b="1" dirty="0">
                <a:solidFill>
                  <a:srgbClr val="FF3300"/>
                </a:solidFill>
                <a:latin typeface="Tahoma" panose="020B0604030504040204" pitchFamily="34" charset="0"/>
              </a:endParaRPr>
            </a:p>
          </p:txBody>
        </p:sp>
      </p:grpSp>
      <p:sp>
        <p:nvSpPr>
          <p:cNvPr id="38" name="Text Box 50">
            <a:extLst>
              <a:ext uri="{FF2B5EF4-FFF2-40B4-BE49-F238E27FC236}">
                <a16:creationId xmlns:a16="http://schemas.microsoft.com/office/drawing/2014/main" id="{8BDF5EE1-C2F2-4A3A-A156-A26B412A13FB}"/>
              </a:ext>
            </a:extLst>
          </p:cNvPr>
          <p:cNvSpPr txBox="1">
            <a:spLocks noChangeArrowheads="1"/>
          </p:cNvSpPr>
          <p:nvPr/>
        </p:nvSpPr>
        <p:spPr bwMode="auto">
          <a:xfrm>
            <a:off x="3253997" y="4310907"/>
            <a:ext cx="24507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000">
                <a:solidFill>
                  <a:schemeClr val="tx1"/>
                </a:solidFill>
                <a:latin typeface="Arial" panose="020B0604020202020204" pitchFamily="34" charset="0"/>
                <a:ea typeface="宋体" panose="02010600030101010101" pitchFamily="2" charset="-122"/>
              </a:defRPr>
            </a:lvl1pPr>
            <a:lvl2pPr marL="742950" indent="-285750" eaLnBrk="0" hangingPunct="0">
              <a:defRPr sz="2000">
                <a:solidFill>
                  <a:schemeClr val="tx1"/>
                </a:solidFill>
                <a:latin typeface="Arial" panose="020B0604020202020204" pitchFamily="34" charset="0"/>
                <a:ea typeface="宋体" panose="02010600030101010101" pitchFamily="2" charset="-122"/>
              </a:defRPr>
            </a:lvl2pPr>
            <a:lvl3pPr marL="1143000" indent="-228600" eaLnBrk="0" hangingPunct="0">
              <a:defRPr sz="2000">
                <a:solidFill>
                  <a:schemeClr val="tx1"/>
                </a:solidFill>
                <a:latin typeface="Arial" panose="020B0604020202020204" pitchFamily="34" charset="0"/>
                <a:ea typeface="宋体" panose="02010600030101010101" pitchFamily="2" charset="-122"/>
              </a:defRPr>
            </a:lvl3pPr>
            <a:lvl4pPr marL="1600200" indent="-228600" eaLnBrk="0" hangingPunct="0">
              <a:defRPr sz="2000">
                <a:solidFill>
                  <a:schemeClr val="tx1"/>
                </a:solidFill>
                <a:latin typeface="Arial" panose="020B0604020202020204" pitchFamily="34" charset="0"/>
                <a:ea typeface="宋体" panose="02010600030101010101" pitchFamily="2" charset="-122"/>
              </a:defRPr>
            </a:lvl4pPr>
            <a:lvl5pPr marL="2057400" indent="-228600" eaLnBrk="0" hangingPunct="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dirty="0">
                <a:solidFill>
                  <a:srgbClr val="000066"/>
                </a:solidFill>
                <a:latin typeface="Tahoma" panose="020B0604030504040204" pitchFamily="34" charset="0"/>
              </a:rPr>
              <a:t>0</a:t>
            </a:r>
            <a:endParaRPr lang="en-US" altLang="zh-CN" b="1" dirty="0">
              <a:solidFill>
                <a:srgbClr val="FF3300"/>
              </a:solidFill>
              <a:latin typeface="Tahoma" panose="020B0604030504040204" pitchFamily="34" charset="0"/>
            </a:endParaRPr>
          </a:p>
        </p:txBody>
      </p:sp>
      <p:sp>
        <p:nvSpPr>
          <p:cNvPr id="39" name="Text Box 32">
            <a:extLst>
              <a:ext uri="{FF2B5EF4-FFF2-40B4-BE49-F238E27FC236}">
                <a16:creationId xmlns:a16="http://schemas.microsoft.com/office/drawing/2014/main" id="{ACE382EA-F988-4425-BDF9-2C422DE508B1}"/>
              </a:ext>
            </a:extLst>
          </p:cNvPr>
          <p:cNvSpPr txBox="1">
            <a:spLocks noChangeArrowheads="1"/>
          </p:cNvSpPr>
          <p:nvPr/>
        </p:nvSpPr>
        <p:spPr bwMode="auto">
          <a:xfrm>
            <a:off x="3918885" y="2258213"/>
            <a:ext cx="878384" cy="4617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000">
                <a:solidFill>
                  <a:schemeClr val="tx1"/>
                </a:solidFill>
                <a:latin typeface="Arial" panose="020B0604020202020204" pitchFamily="34" charset="0"/>
                <a:ea typeface="宋体" panose="02010600030101010101" pitchFamily="2" charset="-122"/>
              </a:defRPr>
            </a:lvl1pPr>
            <a:lvl2pPr marL="742950" indent="-285750" eaLnBrk="0" hangingPunct="0">
              <a:defRPr sz="2000">
                <a:solidFill>
                  <a:schemeClr val="tx1"/>
                </a:solidFill>
                <a:latin typeface="Arial" panose="020B0604020202020204" pitchFamily="34" charset="0"/>
                <a:ea typeface="宋体" panose="02010600030101010101" pitchFamily="2" charset="-122"/>
              </a:defRPr>
            </a:lvl2pPr>
            <a:lvl3pPr marL="1143000" indent="-228600" eaLnBrk="0" hangingPunct="0">
              <a:defRPr sz="2000">
                <a:solidFill>
                  <a:schemeClr val="tx1"/>
                </a:solidFill>
                <a:latin typeface="Arial" panose="020B0604020202020204" pitchFamily="34" charset="0"/>
                <a:ea typeface="宋体" panose="02010600030101010101" pitchFamily="2" charset="-122"/>
              </a:defRPr>
            </a:lvl3pPr>
            <a:lvl4pPr marL="1600200" indent="-228600" eaLnBrk="0" hangingPunct="0">
              <a:defRPr sz="2000">
                <a:solidFill>
                  <a:schemeClr val="tx1"/>
                </a:solidFill>
                <a:latin typeface="Arial" panose="020B0604020202020204" pitchFamily="34" charset="0"/>
                <a:ea typeface="宋体" panose="02010600030101010101" pitchFamily="2" charset="-122"/>
              </a:defRPr>
            </a:lvl4pPr>
            <a:lvl5pPr marL="2057400" indent="-228600" eaLnBrk="0" hangingPunct="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solidFill>
                  <a:srgbClr val="FF0000"/>
                </a:solidFill>
                <a:ea typeface="黑体" panose="02010609060101010101" pitchFamily="49" charset="-122"/>
              </a:rPr>
              <a:t>余数</a:t>
            </a:r>
          </a:p>
        </p:txBody>
      </p:sp>
      <p:grpSp>
        <p:nvGrpSpPr>
          <p:cNvPr id="40" name="组合 39">
            <a:extLst>
              <a:ext uri="{FF2B5EF4-FFF2-40B4-BE49-F238E27FC236}">
                <a16:creationId xmlns:a16="http://schemas.microsoft.com/office/drawing/2014/main" id="{45565FFF-3C57-4DBD-B829-BDCB93FD44BB}"/>
              </a:ext>
            </a:extLst>
          </p:cNvPr>
          <p:cNvGrpSpPr/>
          <p:nvPr/>
        </p:nvGrpSpPr>
        <p:grpSpPr>
          <a:xfrm>
            <a:off x="2417495" y="2648910"/>
            <a:ext cx="1463367" cy="400110"/>
            <a:chOff x="1310149" y="2883593"/>
            <a:chExt cx="1463367" cy="400110"/>
          </a:xfrm>
        </p:grpSpPr>
        <p:sp>
          <p:nvSpPr>
            <p:cNvPr id="41" name="Line 40">
              <a:extLst>
                <a:ext uri="{FF2B5EF4-FFF2-40B4-BE49-F238E27FC236}">
                  <a16:creationId xmlns:a16="http://schemas.microsoft.com/office/drawing/2014/main" id="{BF4B1C0A-C5C4-496D-8890-EC72DE52FEA7}"/>
                </a:ext>
              </a:extLst>
            </p:cNvPr>
            <p:cNvSpPr>
              <a:spLocks noChangeShapeType="1"/>
            </p:cNvSpPr>
            <p:nvPr/>
          </p:nvSpPr>
          <p:spPr bwMode="auto">
            <a:xfrm>
              <a:off x="1664140" y="3236209"/>
              <a:ext cx="1109376" cy="0"/>
            </a:xfrm>
            <a:prstGeom prst="line">
              <a:avLst/>
            </a:prstGeom>
            <a:noFill/>
            <a:ln w="9525">
              <a:solidFill>
                <a:srgbClr val="8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2" name="Line 43">
              <a:extLst>
                <a:ext uri="{FF2B5EF4-FFF2-40B4-BE49-F238E27FC236}">
                  <a16:creationId xmlns:a16="http://schemas.microsoft.com/office/drawing/2014/main" id="{A658F1BC-13E1-48FD-A5B4-66D70068E4D6}"/>
                </a:ext>
              </a:extLst>
            </p:cNvPr>
            <p:cNvSpPr>
              <a:spLocks noChangeShapeType="1"/>
            </p:cNvSpPr>
            <p:nvPr/>
          </p:nvSpPr>
          <p:spPr bwMode="auto">
            <a:xfrm>
              <a:off x="1664140" y="2899774"/>
              <a:ext cx="0" cy="336434"/>
            </a:xfrm>
            <a:prstGeom prst="line">
              <a:avLst/>
            </a:prstGeom>
            <a:noFill/>
            <a:ln w="9525">
              <a:solidFill>
                <a:srgbClr val="8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3" name="Text Box 50">
              <a:extLst>
                <a:ext uri="{FF2B5EF4-FFF2-40B4-BE49-F238E27FC236}">
                  <a16:creationId xmlns:a16="http://schemas.microsoft.com/office/drawing/2014/main" id="{379DB0F8-BA47-498D-BEAD-3C587F636404}"/>
                </a:ext>
              </a:extLst>
            </p:cNvPr>
            <p:cNvSpPr txBox="1">
              <a:spLocks noChangeArrowheads="1"/>
            </p:cNvSpPr>
            <p:nvPr/>
          </p:nvSpPr>
          <p:spPr bwMode="auto">
            <a:xfrm>
              <a:off x="1310149" y="2883593"/>
              <a:ext cx="24507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000">
                  <a:solidFill>
                    <a:schemeClr val="tx1"/>
                  </a:solidFill>
                  <a:latin typeface="Arial" panose="020B0604020202020204" pitchFamily="34" charset="0"/>
                  <a:ea typeface="宋体" panose="02010600030101010101" pitchFamily="2" charset="-122"/>
                </a:defRPr>
              </a:lvl1pPr>
              <a:lvl2pPr marL="742950" indent="-285750" eaLnBrk="0" hangingPunct="0">
                <a:defRPr sz="2000">
                  <a:solidFill>
                    <a:schemeClr val="tx1"/>
                  </a:solidFill>
                  <a:latin typeface="Arial" panose="020B0604020202020204" pitchFamily="34" charset="0"/>
                  <a:ea typeface="宋体" panose="02010600030101010101" pitchFamily="2" charset="-122"/>
                </a:defRPr>
              </a:lvl2pPr>
              <a:lvl3pPr marL="1143000" indent="-228600" eaLnBrk="0" hangingPunct="0">
                <a:defRPr sz="2000">
                  <a:solidFill>
                    <a:schemeClr val="tx1"/>
                  </a:solidFill>
                  <a:latin typeface="Arial" panose="020B0604020202020204" pitchFamily="34" charset="0"/>
                  <a:ea typeface="宋体" panose="02010600030101010101" pitchFamily="2" charset="-122"/>
                </a:defRPr>
              </a:lvl3pPr>
              <a:lvl4pPr marL="1600200" indent="-228600" eaLnBrk="0" hangingPunct="0">
                <a:defRPr sz="2000">
                  <a:solidFill>
                    <a:schemeClr val="tx1"/>
                  </a:solidFill>
                  <a:latin typeface="Arial" panose="020B0604020202020204" pitchFamily="34" charset="0"/>
                  <a:ea typeface="宋体" panose="02010600030101010101" pitchFamily="2" charset="-122"/>
                </a:defRPr>
              </a:lvl4pPr>
              <a:lvl5pPr marL="2057400" indent="-228600" eaLnBrk="0" hangingPunct="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dirty="0">
                  <a:solidFill>
                    <a:srgbClr val="000066"/>
                  </a:solidFill>
                  <a:latin typeface="Tahoma" panose="020B0604030504040204" pitchFamily="34" charset="0"/>
                </a:rPr>
                <a:t>2</a:t>
              </a:r>
              <a:endParaRPr lang="en-US" altLang="zh-CN" b="1" dirty="0">
                <a:solidFill>
                  <a:srgbClr val="FF3300"/>
                </a:solidFill>
                <a:latin typeface="Tahoma" panose="020B0604030504040204" pitchFamily="34" charset="0"/>
              </a:endParaRPr>
            </a:p>
          </p:txBody>
        </p:sp>
      </p:grpSp>
      <p:grpSp>
        <p:nvGrpSpPr>
          <p:cNvPr id="44" name="组合 43">
            <a:extLst>
              <a:ext uri="{FF2B5EF4-FFF2-40B4-BE49-F238E27FC236}">
                <a16:creationId xmlns:a16="http://schemas.microsoft.com/office/drawing/2014/main" id="{87132507-B04F-417A-ABF6-DA012FAFBD77}"/>
              </a:ext>
            </a:extLst>
          </p:cNvPr>
          <p:cNvGrpSpPr/>
          <p:nvPr/>
        </p:nvGrpSpPr>
        <p:grpSpPr>
          <a:xfrm>
            <a:off x="2462402" y="2987886"/>
            <a:ext cx="1353202" cy="400110"/>
            <a:chOff x="1355056" y="3222569"/>
            <a:chExt cx="1353202" cy="400110"/>
          </a:xfrm>
        </p:grpSpPr>
        <p:sp>
          <p:nvSpPr>
            <p:cNvPr id="45" name="Line 41">
              <a:extLst>
                <a:ext uri="{FF2B5EF4-FFF2-40B4-BE49-F238E27FC236}">
                  <a16:creationId xmlns:a16="http://schemas.microsoft.com/office/drawing/2014/main" id="{71070BFA-D5FA-45A1-9EEA-63D0569D0C4A}"/>
                </a:ext>
              </a:extLst>
            </p:cNvPr>
            <p:cNvSpPr>
              <a:spLocks noChangeShapeType="1"/>
            </p:cNvSpPr>
            <p:nvPr/>
          </p:nvSpPr>
          <p:spPr bwMode="auto">
            <a:xfrm>
              <a:off x="1729397" y="3572643"/>
              <a:ext cx="978861" cy="0"/>
            </a:xfrm>
            <a:prstGeom prst="line">
              <a:avLst/>
            </a:prstGeom>
            <a:noFill/>
            <a:ln w="9525">
              <a:solidFill>
                <a:srgbClr val="8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6" name="Line 44">
              <a:extLst>
                <a:ext uri="{FF2B5EF4-FFF2-40B4-BE49-F238E27FC236}">
                  <a16:creationId xmlns:a16="http://schemas.microsoft.com/office/drawing/2014/main" id="{18336556-3580-4553-B10B-D74D16EC101D}"/>
                </a:ext>
              </a:extLst>
            </p:cNvPr>
            <p:cNvSpPr>
              <a:spLocks noChangeShapeType="1"/>
            </p:cNvSpPr>
            <p:nvPr/>
          </p:nvSpPr>
          <p:spPr bwMode="auto">
            <a:xfrm>
              <a:off x="1729397" y="3236209"/>
              <a:ext cx="0" cy="336434"/>
            </a:xfrm>
            <a:prstGeom prst="line">
              <a:avLst/>
            </a:prstGeom>
            <a:noFill/>
            <a:ln w="9525">
              <a:solidFill>
                <a:srgbClr val="8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7" name="Text Box 50">
              <a:extLst>
                <a:ext uri="{FF2B5EF4-FFF2-40B4-BE49-F238E27FC236}">
                  <a16:creationId xmlns:a16="http://schemas.microsoft.com/office/drawing/2014/main" id="{CA455849-4224-4F91-BF79-E96A51555325}"/>
                </a:ext>
              </a:extLst>
            </p:cNvPr>
            <p:cNvSpPr txBox="1">
              <a:spLocks noChangeArrowheads="1"/>
            </p:cNvSpPr>
            <p:nvPr/>
          </p:nvSpPr>
          <p:spPr bwMode="auto">
            <a:xfrm>
              <a:off x="1355056" y="3222569"/>
              <a:ext cx="24507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000">
                  <a:solidFill>
                    <a:schemeClr val="tx1"/>
                  </a:solidFill>
                  <a:latin typeface="Arial" panose="020B0604020202020204" pitchFamily="34" charset="0"/>
                  <a:ea typeface="宋体" panose="02010600030101010101" pitchFamily="2" charset="-122"/>
                </a:defRPr>
              </a:lvl1pPr>
              <a:lvl2pPr marL="742950" indent="-285750" eaLnBrk="0" hangingPunct="0">
                <a:defRPr sz="2000">
                  <a:solidFill>
                    <a:schemeClr val="tx1"/>
                  </a:solidFill>
                  <a:latin typeface="Arial" panose="020B0604020202020204" pitchFamily="34" charset="0"/>
                  <a:ea typeface="宋体" panose="02010600030101010101" pitchFamily="2" charset="-122"/>
                </a:defRPr>
              </a:lvl2pPr>
              <a:lvl3pPr marL="1143000" indent="-228600" eaLnBrk="0" hangingPunct="0">
                <a:defRPr sz="2000">
                  <a:solidFill>
                    <a:schemeClr val="tx1"/>
                  </a:solidFill>
                  <a:latin typeface="Arial" panose="020B0604020202020204" pitchFamily="34" charset="0"/>
                  <a:ea typeface="宋体" panose="02010600030101010101" pitchFamily="2" charset="-122"/>
                </a:defRPr>
              </a:lvl3pPr>
              <a:lvl4pPr marL="1600200" indent="-228600" eaLnBrk="0" hangingPunct="0">
                <a:defRPr sz="2000">
                  <a:solidFill>
                    <a:schemeClr val="tx1"/>
                  </a:solidFill>
                  <a:latin typeface="Arial" panose="020B0604020202020204" pitchFamily="34" charset="0"/>
                  <a:ea typeface="宋体" panose="02010600030101010101" pitchFamily="2" charset="-122"/>
                </a:defRPr>
              </a:lvl4pPr>
              <a:lvl5pPr marL="2057400" indent="-228600" eaLnBrk="0" hangingPunct="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dirty="0">
                  <a:solidFill>
                    <a:srgbClr val="000066"/>
                  </a:solidFill>
                  <a:latin typeface="Tahoma" panose="020B0604030504040204" pitchFamily="34" charset="0"/>
                </a:rPr>
                <a:t>2</a:t>
              </a:r>
              <a:endParaRPr lang="en-US" altLang="zh-CN" b="1" dirty="0">
                <a:solidFill>
                  <a:srgbClr val="FF3300"/>
                </a:solidFill>
                <a:latin typeface="Tahoma" panose="020B0604030504040204" pitchFamily="34" charset="0"/>
              </a:endParaRPr>
            </a:p>
          </p:txBody>
        </p:sp>
      </p:grpSp>
      <p:grpSp>
        <p:nvGrpSpPr>
          <p:cNvPr id="48" name="组合 47">
            <a:extLst>
              <a:ext uri="{FF2B5EF4-FFF2-40B4-BE49-F238E27FC236}">
                <a16:creationId xmlns:a16="http://schemas.microsoft.com/office/drawing/2014/main" id="{55818A5F-66B9-4B84-A397-B896A086C16C}"/>
              </a:ext>
            </a:extLst>
          </p:cNvPr>
          <p:cNvGrpSpPr/>
          <p:nvPr/>
        </p:nvGrpSpPr>
        <p:grpSpPr>
          <a:xfrm>
            <a:off x="2548031" y="3335729"/>
            <a:ext cx="1332831" cy="400110"/>
            <a:chOff x="1440685" y="3535487"/>
            <a:chExt cx="1332831" cy="400110"/>
          </a:xfrm>
        </p:grpSpPr>
        <p:sp>
          <p:nvSpPr>
            <p:cNvPr id="49" name="Line 42">
              <a:extLst>
                <a:ext uri="{FF2B5EF4-FFF2-40B4-BE49-F238E27FC236}">
                  <a16:creationId xmlns:a16="http://schemas.microsoft.com/office/drawing/2014/main" id="{CDAA9C94-B038-4444-8B87-75AF6CE5FDA9}"/>
                </a:ext>
              </a:extLst>
            </p:cNvPr>
            <p:cNvSpPr>
              <a:spLocks noChangeShapeType="1"/>
            </p:cNvSpPr>
            <p:nvPr/>
          </p:nvSpPr>
          <p:spPr bwMode="auto">
            <a:xfrm>
              <a:off x="1859912" y="3841790"/>
              <a:ext cx="913604" cy="0"/>
            </a:xfrm>
            <a:prstGeom prst="line">
              <a:avLst/>
            </a:prstGeom>
            <a:noFill/>
            <a:ln w="9525">
              <a:solidFill>
                <a:srgbClr val="8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0" name="Line 45">
              <a:extLst>
                <a:ext uri="{FF2B5EF4-FFF2-40B4-BE49-F238E27FC236}">
                  <a16:creationId xmlns:a16="http://schemas.microsoft.com/office/drawing/2014/main" id="{26699238-930F-43C9-9508-58DF6F9C32FC}"/>
                </a:ext>
              </a:extLst>
            </p:cNvPr>
            <p:cNvSpPr>
              <a:spLocks noChangeShapeType="1"/>
            </p:cNvSpPr>
            <p:nvPr/>
          </p:nvSpPr>
          <p:spPr bwMode="auto">
            <a:xfrm>
              <a:off x="1859912" y="3572643"/>
              <a:ext cx="0" cy="269147"/>
            </a:xfrm>
            <a:prstGeom prst="line">
              <a:avLst/>
            </a:prstGeom>
            <a:noFill/>
            <a:ln w="9525">
              <a:solidFill>
                <a:srgbClr val="8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 name="Text Box 50">
              <a:extLst>
                <a:ext uri="{FF2B5EF4-FFF2-40B4-BE49-F238E27FC236}">
                  <a16:creationId xmlns:a16="http://schemas.microsoft.com/office/drawing/2014/main" id="{8DC728C6-4F30-46BE-8897-66B9F6D8F8A2}"/>
                </a:ext>
              </a:extLst>
            </p:cNvPr>
            <p:cNvSpPr txBox="1">
              <a:spLocks noChangeArrowheads="1"/>
            </p:cNvSpPr>
            <p:nvPr/>
          </p:nvSpPr>
          <p:spPr bwMode="auto">
            <a:xfrm>
              <a:off x="1440685" y="3535487"/>
              <a:ext cx="24507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000">
                  <a:solidFill>
                    <a:schemeClr val="tx1"/>
                  </a:solidFill>
                  <a:latin typeface="Arial" panose="020B0604020202020204" pitchFamily="34" charset="0"/>
                  <a:ea typeface="宋体" panose="02010600030101010101" pitchFamily="2" charset="-122"/>
                </a:defRPr>
              </a:lvl1pPr>
              <a:lvl2pPr marL="742950" indent="-285750" eaLnBrk="0" hangingPunct="0">
                <a:defRPr sz="2000">
                  <a:solidFill>
                    <a:schemeClr val="tx1"/>
                  </a:solidFill>
                  <a:latin typeface="Arial" panose="020B0604020202020204" pitchFamily="34" charset="0"/>
                  <a:ea typeface="宋体" panose="02010600030101010101" pitchFamily="2" charset="-122"/>
                </a:defRPr>
              </a:lvl2pPr>
              <a:lvl3pPr marL="1143000" indent="-228600" eaLnBrk="0" hangingPunct="0">
                <a:defRPr sz="2000">
                  <a:solidFill>
                    <a:schemeClr val="tx1"/>
                  </a:solidFill>
                  <a:latin typeface="Arial" panose="020B0604020202020204" pitchFamily="34" charset="0"/>
                  <a:ea typeface="宋体" panose="02010600030101010101" pitchFamily="2" charset="-122"/>
                </a:defRPr>
              </a:lvl3pPr>
              <a:lvl4pPr marL="1600200" indent="-228600" eaLnBrk="0" hangingPunct="0">
                <a:defRPr sz="2000">
                  <a:solidFill>
                    <a:schemeClr val="tx1"/>
                  </a:solidFill>
                  <a:latin typeface="Arial" panose="020B0604020202020204" pitchFamily="34" charset="0"/>
                  <a:ea typeface="宋体" panose="02010600030101010101" pitchFamily="2" charset="-122"/>
                </a:defRPr>
              </a:lvl4pPr>
              <a:lvl5pPr marL="2057400" indent="-228600" eaLnBrk="0" hangingPunct="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dirty="0">
                  <a:solidFill>
                    <a:srgbClr val="000066"/>
                  </a:solidFill>
                  <a:latin typeface="Tahoma" panose="020B0604030504040204" pitchFamily="34" charset="0"/>
                </a:rPr>
                <a:t>2</a:t>
              </a:r>
              <a:endParaRPr lang="en-US" altLang="zh-CN" b="1" dirty="0">
                <a:solidFill>
                  <a:srgbClr val="FF3300"/>
                </a:solidFill>
                <a:latin typeface="Tahoma" panose="020B0604030504040204" pitchFamily="34" charset="0"/>
              </a:endParaRPr>
            </a:p>
          </p:txBody>
        </p:sp>
      </p:grpSp>
      <p:grpSp>
        <p:nvGrpSpPr>
          <p:cNvPr id="52" name="组合 51">
            <a:extLst>
              <a:ext uri="{FF2B5EF4-FFF2-40B4-BE49-F238E27FC236}">
                <a16:creationId xmlns:a16="http://schemas.microsoft.com/office/drawing/2014/main" id="{D9878BF4-48C2-474A-B9AA-886B8678105F}"/>
              </a:ext>
            </a:extLst>
          </p:cNvPr>
          <p:cNvGrpSpPr/>
          <p:nvPr/>
        </p:nvGrpSpPr>
        <p:grpSpPr>
          <a:xfrm>
            <a:off x="2690951" y="3690842"/>
            <a:ext cx="1190549" cy="404274"/>
            <a:chOff x="1583605" y="3855675"/>
            <a:chExt cx="1190549" cy="404274"/>
          </a:xfrm>
        </p:grpSpPr>
        <p:sp>
          <p:nvSpPr>
            <p:cNvPr id="53" name="Line 42">
              <a:extLst>
                <a:ext uri="{FF2B5EF4-FFF2-40B4-BE49-F238E27FC236}">
                  <a16:creationId xmlns:a16="http://schemas.microsoft.com/office/drawing/2014/main" id="{4CE06109-269A-45D0-B21D-CA9E5CA1A4DC}"/>
                </a:ext>
              </a:extLst>
            </p:cNvPr>
            <p:cNvSpPr>
              <a:spLocks noChangeShapeType="1"/>
            </p:cNvSpPr>
            <p:nvPr/>
          </p:nvSpPr>
          <p:spPr bwMode="auto">
            <a:xfrm>
              <a:off x="1951535" y="4146194"/>
              <a:ext cx="822619" cy="0"/>
            </a:xfrm>
            <a:prstGeom prst="line">
              <a:avLst/>
            </a:prstGeom>
            <a:noFill/>
            <a:ln w="9525">
              <a:solidFill>
                <a:srgbClr val="8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4" name="Line 45">
              <a:extLst>
                <a:ext uri="{FF2B5EF4-FFF2-40B4-BE49-F238E27FC236}">
                  <a16:creationId xmlns:a16="http://schemas.microsoft.com/office/drawing/2014/main" id="{811B8469-6E8F-497B-9077-8FA2D93173EC}"/>
                </a:ext>
              </a:extLst>
            </p:cNvPr>
            <p:cNvSpPr>
              <a:spLocks noChangeShapeType="1"/>
            </p:cNvSpPr>
            <p:nvPr/>
          </p:nvSpPr>
          <p:spPr bwMode="auto">
            <a:xfrm>
              <a:off x="1963628" y="3855675"/>
              <a:ext cx="0" cy="269147"/>
            </a:xfrm>
            <a:prstGeom prst="line">
              <a:avLst/>
            </a:prstGeom>
            <a:noFill/>
            <a:ln w="9525">
              <a:solidFill>
                <a:srgbClr val="8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5" name="Text Box 50">
              <a:extLst>
                <a:ext uri="{FF2B5EF4-FFF2-40B4-BE49-F238E27FC236}">
                  <a16:creationId xmlns:a16="http://schemas.microsoft.com/office/drawing/2014/main" id="{3F96320A-E50B-4096-BA67-0B7D5C3C3AB8}"/>
                </a:ext>
              </a:extLst>
            </p:cNvPr>
            <p:cNvSpPr txBox="1">
              <a:spLocks noChangeArrowheads="1"/>
            </p:cNvSpPr>
            <p:nvPr/>
          </p:nvSpPr>
          <p:spPr bwMode="auto">
            <a:xfrm>
              <a:off x="1583605" y="3859839"/>
              <a:ext cx="24507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000">
                  <a:solidFill>
                    <a:schemeClr val="tx1"/>
                  </a:solidFill>
                  <a:latin typeface="Arial" panose="020B0604020202020204" pitchFamily="34" charset="0"/>
                  <a:ea typeface="宋体" panose="02010600030101010101" pitchFamily="2" charset="-122"/>
                </a:defRPr>
              </a:lvl1pPr>
              <a:lvl2pPr marL="742950" indent="-285750" eaLnBrk="0" hangingPunct="0">
                <a:defRPr sz="2000">
                  <a:solidFill>
                    <a:schemeClr val="tx1"/>
                  </a:solidFill>
                  <a:latin typeface="Arial" panose="020B0604020202020204" pitchFamily="34" charset="0"/>
                  <a:ea typeface="宋体" panose="02010600030101010101" pitchFamily="2" charset="-122"/>
                </a:defRPr>
              </a:lvl2pPr>
              <a:lvl3pPr marL="1143000" indent="-228600" eaLnBrk="0" hangingPunct="0">
                <a:defRPr sz="2000">
                  <a:solidFill>
                    <a:schemeClr val="tx1"/>
                  </a:solidFill>
                  <a:latin typeface="Arial" panose="020B0604020202020204" pitchFamily="34" charset="0"/>
                  <a:ea typeface="宋体" panose="02010600030101010101" pitchFamily="2" charset="-122"/>
                </a:defRPr>
              </a:lvl3pPr>
              <a:lvl4pPr marL="1600200" indent="-228600" eaLnBrk="0" hangingPunct="0">
                <a:defRPr sz="2000">
                  <a:solidFill>
                    <a:schemeClr val="tx1"/>
                  </a:solidFill>
                  <a:latin typeface="Arial" panose="020B0604020202020204" pitchFamily="34" charset="0"/>
                  <a:ea typeface="宋体" panose="02010600030101010101" pitchFamily="2" charset="-122"/>
                </a:defRPr>
              </a:lvl4pPr>
              <a:lvl5pPr marL="2057400" indent="-228600" eaLnBrk="0" hangingPunct="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dirty="0">
                  <a:solidFill>
                    <a:srgbClr val="000066"/>
                  </a:solidFill>
                  <a:latin typeface="Tahoma" panose="020B0604030504040204" pitchFamily="34" charset="0"/>
                </a:rPr>
                <a:t>2</a:t>
              </a:r>
              <a:endParaRPr lang="en-US" altLang="zh-CN" b="1" dirty="0">
                <a:solidFill>
                  <a:srgbClr val="FF3300"/>
                </a:solidFill>
                <a:latin typeface="Tahoma" panose="020B0604030504040204" pitchFamily="34" charset="0"/>
              </a:endParaRPr>
            </a:p>
          </p:txBody>
        </p:sp>
      </p:grpSp>
      <p:sp>
        <p:nvSpPr>
          <p:cNvPr id="56" name="Text Box 6">
            <a:extLst>
              <a:ext uri="{FF2B5EF4-FFF2-40B4-BE49-F238E27FC236}">
                <a16:creationId xmlns:a16="http://schemas.microsoft.com/office/drawing/2014/main" id="{AC146899-B0EC-469B-9A3C-9E22D10C3F52}"/>
              </a:ext>
            </a:extLst>
          </p:cNvPr>
          <p:cNvSpPr txBox="1">
            <a:spLocks noChangeArrowheads="1"/>
          </p:cNvSpPr>
          <p:nvPr/>
        </p:nvSpPr>
        <p:spPr bwMode="auto">
          <a:xfrm>
            <a:off x="1387273" y="5361910"/>
            <a:ext cx="1016816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Arial" panose="020B0604020202020204" pitchFamily="34" charset="0"/>
                <a:ea typeface="宋体" panose="02010600030101010101" pitchFamily="2" charset="-122"/>
              </a:defRPr>
            </a:lvl1pPr>
            <a:lvl2pPr marL="742950" indent="-285750" eaLnBrk="0" hangingPunct="0">
              <a:defRPr sz="2000">
                <a:solidFill>
                  <a:schemeClr val="tx1"/>
                </a:solidFill>
                <a:latin typeface="Arial" panose="020B0604020202020204" pitchFamily="34" charset="0"/>
                <a:ea typeface="宋体" panose="02010600030101010101" pitchFamily="2" charset="-122"/>
              </a:defRPr>
            </a:lvl2pPr>
            <a:lvl3pPr marL="1143000" indent="-228600" eaLnBrk="0" hangingPunct="0">
              <a:defRPr sz="2000">
                <a:solidFill>
                  <a:schemeClr val="tx1"/>
                </a:solidFill>
                <a:latin typeface="Arial" panose="020B0604020202020204" pitchFamily="34" charset="0"/>
                <a:ea typeface="宋体" panose="02010600030101010101" pitchFamily="2" charset="-122"/>
              </a:defRPr>
            </a:lvl3pPr>
            <a:lvl4pPr marL="1600200" indent="-228600" eaLnBrk="0" hangingPunct="0">
              <a:defRPr sz="2000">
                <a:solidFill>
                  <a:schemeClr val="tx1"/>
                </a:solidFill>
                <a:latin typeface="Arial" panose="020B0604020202020204" pitchFamily="34" charset="0"/>
                <a:ea typeface="宋体" panose="02010600030101010101" pitchFamily="2" charset="-122"/>
              </a:defRPr>
            </a:lvl4pPr>
            <a:lvl5pPr marL="2057400" indent="-228600" eaLnBrk="0" hangingPunct="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r>
              <a:rPr lang="en-US" altLang="zh-CN" sz="3200" b="1" dirty="0">
                <a:latin typeface="华文仿宋" panose="02010600040101010101" pitchFamily="2" charset="-122"/>
                <a:ea typeface="华文仿宋" panose="02010600040101010101" pitchFamily="2" charset="-122"/>
              </a:rPr>
              <a:t>( 35 )</a:t>
            </a:r>
            <a:r>
              <a:rPr lang="en-US" altLang="zh-CN" sz="3200" b="1" baseline="-25000" dirty="0">
                <a:latin typeface="华文仿宋" panose="02010600040101010101" pitchFamily="2" charset="-122"/>
                <a:ea typeface="华文仿宋" panose="02010600040101010101" pitchFamily="2" charset="-122"/>
              </a:rPr>
              <a:t>10</a:t>
            </a:r>
            <a:r>
              <a:rPr lang="zh-CN" altLang="en-US" sz="3200" b="1" baseline="-25000" dirty="0">
                <a:latin typeface="华文仿宋" panose="02010600040101010101" pitchFamily="2" charset="-122"/>
                <a:ea typeface="华文仿宋" panose="02010600040101010101" pitchFamily="2" charset="-122"/>
              </a:rPr>
              <a:t>  </a:t>
            </a:r>
            <a:r>
              <a:rPr lang="en-US" altLang="zh-CN" sz="3200" b="1" dirty="0"/>
              <a:t>=1×</a:t>
            </a:r>
            <a:r>
              <a:rPr lang="en-US" altLang="zh-CN" sz="3200" b="1" dirty="0">
                <a:solidFill>
                  <a:srgbClr val="CC0066"/>
                </a:solidFill>
              </a:rPr>
              <a:t>2</a:t>
            </a:r>
            <a:r>
              <a:rPr lang="en-US" altLang="zh-CN" sz="3200" b="1" baseline="30000" dirty="0">
                <a:solidFill>
                  <a:srgbClr val="CC0066"/>
                </a:solidFill>
              </a:rPr>
              <a:t>5</a:t>
            </a:r>
            <a:r>
              <a:rPr lang="zh-CN" altLang="en-US" sz="3200" b="1" dirty="0"/>
              <a:t>＋</a:t>
            </a:r>
            <a:r>
              <a:rPr lang="en-US" altLang="zh-CN" sz="3200" b="1" dirty="0"/>
              <a:t>0×</a:t>
            </a:r>
            <a:r>
              <a:rPr lang="en-US" altLang="zh-CN" sz="3200" b="1" dirty="0">
                <a:solidFill>
                  <a:srgbClr val="CC0066"/>
                </a:solidFill>
              </a:rPr>
              <a:t>2</a:t>
            </a:r>
            <a:r>
              <a:rPr lang="en-US" altLang="zh-CN" sz="3200" b="1" baseline="30000" dirty="0">
                <a:solidFill>
                  <a:srgbClr val="CC0066"/>
                </a:solidFill>
              </a:rPr>
              <a:t>4</a:t>
            </a:r>
            <a:r>
              <a:rPr lang="zh-CN" altLang="en-US" sz="3200" b="1" dirty="0"/>
              <a:t>＋</a:t>
            </a:r>
            <a:r>
              <a:rPr lang="en-US" altLang="zh-CN" sz="3200" b="1" dirty="0"/>
              <a:t>0×</a:t>
            </a:r>
            <a:r>
              <a:rPr lang="en-US" altLang="zh-CN" sz="3200" b="1" dirty="0">
                <a:solidFill>
                  <a:srgbClr val="CC0066"/>
                </a:solidFill>
              </a:rPr>
              <a:t>2</a:t>
            </a:r>
            <a:r>
              <a:rPr lang="en-US" altLang="zh-CN" sz="3200" b="1" baseline="30000" dirty="0">
                <a:solidFill>
                  <a:srgbClr val="CC0066"/>
                </a:solidFill>
              </a:rPr>
              <a:t>3</a:t>
            </a:r>
            <a:r>
              <a:rPr lang="zh-CN" altLang="en-US" sz="3200" b="1" dirty="0"/>
              <a:t> ＋</a:t>
            </a:r>
            <a:r>
              <a:rPr lang="en-US" altLang="zh-CN" sz="3200" b="1" dirty="0"/>
              <a:t>0×</a:t>
            </a:r>
            <a:r>
              <a:rPr lang="en-US" altLang="zh-CN" sz="3200" b="1" dirty="0">
                <a:solidFill>
                  <a:srgbClr val="CC0066"/>
                </a:solidFill>
              </a:rPr>
              <a:t>2</a:t>
            </a:r>
            <a:r>
              <a:rPr lang="en-US" altLang="zh-CN" sz="3200" b="1" baseline="30000" dirty="0">
                <a:solidFill>
                  <a:srgbClr val="CC0066"/>
                </a:solidFill>
              </a:rPr>
              <a:t>2</a:t>
            </a:r>
            <a:r>
              <a:rPr lang="zh-CN" altLang="en-US" sz="3200" b="1" dirty="0"/>
              <a:t> ＋</a:t>
            </a:r>
            <a:r>
              <a:rPr lang="en-US" altLang="zh-CN" sz="3200" b="1" dirty="0"/>
              <a:t>1×</a:t>
            </a:r>
            <a:r>
              <a:rPr lang="en-US" altLang="zh-CN" sz="3200" b="1" dirty="0">
                <a:solidFill>
                  <a:srgbClr val="CC0066"/>
                </a:solidFill>
              </a:rPr>
              <a:t>2</a:t>
            </a:r>
            <a:r>
              <a:rPr lang="en-US" altLang="zh-CN" sz="3200" b="1" baseline="30000" dirty="0">
                <a:solidFill>
                  <a:srgbClr val="CC0066"/>
                </a:solidFill>
              </a:rPr>
              <a:t>1</a:t>
            </a:r>
            <a:r>
              <a:rPr lang="zh-CN" altLang="en-US" sz="3200" b="1" dirty="0"/>
              <a:t> ＋</a:t>
            </a:r>
            <a:r>
              <a:rPr lang="en-US" altLang="zh-CN" sz="3200" b="1" dirty="0"/>
              <a:t>1×</a:t>
            </a:r>
            <a:r>
              <a:rPr lang="en-US" altLang="zh-CN" sz="3200" b="1" dirty="0">
                <a:solidFill>
                  <a:srgbClr val="CC0066"/>
                </a:solidFill>
              </a:rPr>
              <a:t>2</a:t>
            </a:r>
            <a:r>
              <a:rPr lang="en-US" altLang="zh-CN" sz="3200" b="1" baseline="30000" dirty="0">
                <a:solidFill>
                  <a:srgbClr val="CC0066"/>
                </a:solidFill>
              </a:rPr>
              <a:t>0</a:t>
            </a:r>
            <a:endParaRPr lang="zh-CN" altLang="en-US" sz="3200" b="1" baseline="-25000" dirty="0">
              <a:latin typeface="华文仿宋" panose="02010600040101010101" pitchFamily="2" charset="-122"/>
              <a:ea typeface="华文仿宋" panose="02010600040101010101" pitchFamily="2" charset="-122"/>
            </a:endParaRPr>
          </a:p>
        </p:txBody>
      </p:sp>
      <p:pic>
        <p:nvPicPr>
          <p:cNvPr id="57" name="图片 56" descr="联想截图_20231214002915">
            <a:extLst>
              <a:ext uri="{FF2B5EF4-FFF2-40B4-BE49-F238E27FC236}">
                <a16:creationId xmlns:a16="http://schemas.microsoft.com/office/drawing/2014/main" id="{14F9A2E3-EA55-41ED-A3BD-87898B9CF3B9}"/>
              </a:ext>
            </a:extLst>
          </p:cNvPr>
          <p:cNvPicPr>
            <a:picLocks noChangeAspect="1"/>
          </p:cNvPicPr>
          <p:nvPr>
            <p:custDataLst>
              <p:tags r:id="rId1"/>
            </p:custDataLst>
          </p:nvPr>
        </p:nvPicPr>
        <p:blipFill>
          <a:blip r:embed="rId5"/>
          <a:stretch>
            <a:fillRect/>
          </a:stretch>
        </p:blipFill>
        <p:spPr>
          <a:xfrm>
            <a:off x="4435475" y="6219825"/>
            <a:ext cx="545465" cy="546735"/>
          </a:xfrm>
          <a:prstGeom prst="rect">
            <a:avLst/>
          </a:prstGeom>
        </p:spPr>
      </p:pic>
    </p:spTree>
    <p:extLst>
      <p:ext uri="{BB962C8B-B14F-4D97-AF65-F5344CB8AC3E}">
        <p14:creationId xmlns:p14="http://schemas.microsoft.com/office/powerpoint/2010/main" val="1374274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fade">
                                      <p:cBhvr>
                                        <p:cTn id="17" dur="500"/>
                                        <p:tgtEl>
                                          <p:spTgt spid="3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500"/>
                                        <p:tgtEl>
                                          <p:spTgt spid="2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40"/>
                                        </p:tgtEl>
                                        <p:attrNameLst>
                                          <p:attrName>style.visibility</p:attrName>
                                        </p:attrNameLst>
                                      </p:cBhvr>
                                      <p:to>
                                        <p:strVal val="visible"/>
                                      </p:to>
                                    </p:set>
                                    <p:animEffect transition="in" filter="fade">
                                      <p:cBhvr>
                                        <p:cTn id="25" dur="500"/>
                                        <p:tgtEl>
                                          <p:spTgt spid="40"/>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fade">
                                      <p:cBhvr>
                                        <p:cTn id="30" dur="500"/>
                                        <p:tgtEl>
                                          <p:spTgt spid="2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fade">
                                      <p:cBhvr>
                                        <p:cTn id="35" dur="500"/>
                                        <p:tgtEl>
                                          <p:spTgt spid="2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44"/>
                                        </p:tgtEl>
                                        <p:attrNameLst>
                                          <p:attrName>style.visibility</p:attrName>
                                        </p:attrNameLst>
                                      </p:cBhvr>
                                      <p:to>
                                        <p:strVal val="visible"/>
                                      </p:to>
                                    </p:set>
                                    <p:animEffect transition="in" filter="fade">
                                      <p:cBhvr>
                                        <p:cTn id="40" dur="500"/>
                                        <p:tgtEl>
                                          <p:spTgt spid="44"/>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3"/>
                                        </p:tgtEl>
                                        <p:attrNameLst>
                                          <p:attrName>style.visibility</p:attrName>
                                        </p:attrNameLst>
                                      </p:cBhvr>
                                      <p:to>
                                        <p:strVal val="visible"/>
                                      </p:to>
                                    </p:set>
                                    <p:animEffect transition="in" filter="fade">
                                      <p:cBhvr>
                                        <p:cTn id="45" dur="500"/>
                                        <p:tgtEl>
                                          <p:spTgt spid="23"/>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30"/>
                                        </p:tgtEl>
                                        <p:attrNameLst>
                                          <p:attrName>style.visibility</p:attrName>
                                        </p:attrNameLst>
                                      </p:cBhvr>
                                      <p:to>
                                        <p:strVal val="visible"/>
                                      </p:to>
                                    </p:set>
                                    <p:animEffect transition="in" filter="fade">
                                      <p:cBhvr>
                                        <p:cTn id="50" dur="500"/>
                                        <p:tgtEl>
                                          <p:spTgt spid="30"/>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48"/>
                                        </p:tgtEl>
                                        <p:attrNameLst>
                                          <p:attrName>style.visibility</p:attrName>
                                        </p:attrNameLst>
                                      </p:cBhvr>
                                      <p:to>
                                        <p:strVal val="visible"/>
                                      </p:to>
                                    </p:set>
                                    <p:animEffect transition="in" filter="fade">
                                      <p:cBhvr>
                                        <p:cTn id="55" dur="500"/>
                                        <p:tgtEl>
                                          <p:spTgt spid="48"/>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9"/>
                                        </p:tgtEl>
                                        <p:attrNameLst>
                                          <p:attrName>style.visibility</p:attrName>
                                        </p:attrNameLst>
                                      </p:cBhvr>
                                      <p:to>
                                        <p:strVal val="visible"/>
                                      </p:to>
                                    </p:set>
                                    <p:animEffect transition="in" filter="fade">
                                      <p:cBhvr>
                                        <p:cTn id="60" dur="500"/>
                                        <p:tgtEl>
                                          <p:spTgt spid="9"/>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31"/>
                                        </p:tgtEl>
                                        <p:attrNameLst>
                                          <p:attrName>style.visibility</p:attrName>
                                        </p:attrNameLst>
                                      </p:cBhvr>
                                      <p:to>
                                        <p:strVal val="visible"/>
                                      </p:to>
                                    </p:set>
                                    <p:animEffect transition="in" filter="fade">
                                      <p:cBhvr>
                                        <p:cTn id="65" dur="500"/>
                                        <p:tgtEl>
                                          <p:spTgt spid="31"/>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52"/>
                                        </p:tgtEl>
                                        <p:attrNameLst>
                                          <p:attrName>style.visibility</p:attrName>
                                        </p:attrNameLst>
                                      </p:cBhvr>
                                      <p:to>
                                        <p:strVal val="visible"/>
                                      </p:to>
                                    </p:set>
                                    <p:animEffect transition="in" filter="fade">
                                      <p:cBhvr>
                                        <p:cTn id="70" dur="500"/>
                                        <p:tgtEl>
                                          <p:spTgt spid="52"/>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4"/>
                                        </p:tgtEl>
                                        <p:attrNameLst>
                                          <p:attrName>style.visibility</p:attrName>
                                        </p:attrNameLst>
                                      </p:cBhvr>
                                      <p:to>
                                        <p:strVal val="visible"/>
                                      </p:to>
                                    </p:set>
                                    <p:animEffect transition="in" filter="fade">
                                      <p:cBhvr>
                                        <p:cTn id="75" dur="500"/>
                                        <p:tgtEl>
                                          <p:spTgt spid="24"/>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32"/>
                                        </p:tgtEl>
                                        <p:attrNameLst>
                                          <p:attrName>style.visibility</p:attrName>
                                        </p:attrNameLst>
                                      </p:cBhvr>
                                      <p:to>
                                        <p:strVal val="visible"/>
                                      </p:to>
                                    </p:set>
                                    <p:animEffect transition="in" filter="fade">
                                      <p:cBhvr>
                                        <p:cTn id="80" dur="500"/>
                                        <p:tgtEl>
                                          <p:spTgt spid="32"/>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nodeType="clickEffect">
                                  <p:stCondLst>
                                    <p:cond delay="0"/>
                                  </p:stCondLst>
                                  <p:childTnLst>
                                    <p:set>
                                      <p:cBhvr>
                                        <p:cTn id="84" dur="1" fill="hold">
                                          <p:stCondLst>
                                            <p:cond delay="0"/>
                                          </p:stCondLst>
                                        </p:cTn>
                                        <p:tgtEl>
                                          <p:spTgt spid="34"/>
                                        </p:tgtEl>
                                        <p:attrNameLst>
                                          <p:attrName>style.visibility</p:attrName>
                                        </p:attrNameLst>
                                      </p:cBhvr>
                                      <p:to>
                                        <p:strVal val="visible"/>
                                      </p:to>
                                    </p:set>
                                    <p:animEffect transition="in" filter="fade">
                                      <p:cBhvr>
                                        <p:cTn id="85" dur="500"/>
                                        <p:tgtEl>
                                          <p:spTgt spid="34"/>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38"/>
                                        </p:tgtEl>
                                        <p:attrNameLst>
                                          <p:attrName>style.visibility</p:attrName>
                                        </p:attrNameLst>
                                      </p:cBhvr>
                                      <p:to>
                                        <p:strVal val="visible"/>
                                      </p:to>
                                    </p:set>
                                    <p:animEffect transition="in" filter="fade">
                                      <p:cBhvr>
                                        <p:cTn id="90" dur="500"/>
                                        <p:tgtEl>
                                          <p:spTgt spid="38"/>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grpId="0" nodeType="clickEffect">
                                  <p:stCondLst>
                                    <p:cond delay="0"/>
                                  </p:stCondLst>
                                  <p:childTnLst>
                                    <p:set>
                                      <p:cBhvr>
                                        <p:cTn id="94" dur="1" fill="hold">
                                          <p:stCondLst>
                                            <p:cond delay="0"/>
                                          </p:stCondLst>
                                        </p:cTn>
                                        <p:tgtEl>
                                          <p:spTgt spid="33"/>
                                        </p:tgtEl>
                                        <p:attrNameLst>
                                          <p:attrName>style.visibility</p:attrName>
                                        </p:attrNameLst>
                                      </p:cBhvr>
                                      <p:to>
                                        <p:strVal val="visible"/>
                                      </p:to>
                                    </p:set>
                                    <p:animEffect transition="in" filter="fade">
                                      <p:cBhvr>
                                        <p:cTn id="95" dur="500"/>
                                        <p:tgtEl>
                                          <p:spTgt spid="33"/>
                                        </p:tgtEl>
                                      </p:cBhvr>
                                    </p:animEffect>
                                  </p:childTnLst>
                                </p:cTn>
                              </p:par>
                            </p:childTnLst>
                          </p:cTn>
                        </p:par>
                      </p:childTnLst>
                    </p:cTn>
                  </p:par>
                  <p:par>
                    <p:cTn id="96" fill="hold">
                      <p:stCondLst>
                        <p:cond delay="indefinite"/>
                      </p:stCondLst>
                      <p:childTnLst>
                        <p:par>
                          <p:cTn id="97" fill="hold">
                            <p:stCondLst>
                              <p:cond delay="0"/>
                            </p:stCondLst>
                            <p:childTnLst>
                              <p:par>
                                <p:cTn id="98" presetID="10" presetClass="entr" presetSubtype="0" fill="hold" grpId="0" nodeType="clickEffect">
                                  <p:stCondLst>
                                    <p:cond delay="0"/>
                                  </p:stCondLst>
                                  <p:childTnLst>
                                    <p:set>
                                      <p:cBhvr>
                                        <p:cTn id="99" dur="1" fill="hold">
                                          <p:stCondLst>
                                            <p:cond delay="0"/>
                                          </p:stCondLst>
                                        </p:cTn>
                                        <p:tgtEl>
                                          <p:spTgt spid="27"/>
                                        </p:tgtEl>
                                        <p:attrNameLst>
                                          <p:attrName>style.visibility</p:attrName>
                                        </p:attrNameLst>
                                      </p:cBhvr>
                                      <p:to>
                                        <p:strVal val="visible"/>
                                      </p:to>
                                    </p:set>
                                    <p:animEffect transition="in" filter="fade">
                                      <p:cBhvr>
                                        <p:cTn id="100" dur="500"/>
                                        <p:tgtEl>
                                          <p:spTgt spid="27"/>
                                        </p:tgtEl>
                                      </p:cBhvr>
                                    </p:animEffect>
                                  </p:childTnLst>
                                </p:cTn>
                              </p:par>
                            </p:childTnLst>
                          </p:cTn>
                        </p:par>
                      </p:childTnLst>
                    </p:cTn>
                  </p:par>
                  <p:par>
                    <p:cTn id="101" fill="hold">
                      <p:stCondLst>
                        <p:cond delay="indefinite"/>
                      </p:stCondLst>
                      <p:childTnLst>
                        <p:par>
                          <p:cTn id="102" fill="hold">
                            <p:stCondLst>
                              <p:cond delay="0"/>
                            </p:stCondLst>
                            <p:childTnLst>
                              <p:par>
                                <p:cTn id="103" presetID="10" presetClass="entr" presetSubtype="0" fill="hold" grpId="0" nodeType="clickEffect">
                                  <p:stCondLst>
                                    <p:cond delay="0"/>
                                  </p:stCondLst>
                                  <p:childTnLst>
                                    <p:set>
                                      <p:cBhvr>
                                        <p:cTn id="104" dur="1" fill="hold">
                                          <p:stCondLst>
                                            <p:cond delay="0"/>
                                          </p:stCondLst>
                                        </p:cTn>
                                        <p:tgtEl>
                                          <p:spTgt spid="16"/>
                                        </p:tgtEl>
                                        <p:attrNameLst>
                                          <p:attrName>style.visibility</p:attrName>
                                        </p:attrNameLst>
                                      </p:cBhvr>
                                      <p:to>
                                        <p:strVal val="visible"/>
                                      </p:to>
                                    </p:set>
                                    <p:animEffect transition="in" filter="fade">
                                      <p:cBhvr>
                                        <p:cTn id="105" dur="500"/>
                                        <p:tgtEl>
                                          <p:spTgt spid="16"/>
                                        </p:tgtEl>
                                      </p:cBhvr>
                                    </p:animEffect>
                                  </p:childTnLst>
                                </p:cTn>
                              </p:par>
                            </p:childTnLst>
                          </p:cTn>
                        </p:par>
                      </p:childTnLst>
                    </p:cTn>
                  </p:par>
                  <p:par>
                    <p:cTn id="106" fill="hold">
                      <p:stCondLst>
                        <p:cond delay="indefinite"/>
                      </p:stCondLst>
                      <p:childTnLst>
                        <p:par>
                          <p:cTn id="107" fill="hold">
                            <p:stCondLst>
                              <p:cond delay="0"/>
                            </p:stCondLst>
                            <p:childTnLst>
                              <p:par>
                                <p:cTn id="108" presetID="10" presetClass="entr" presetSubtype="0" fill="hold" grpId="0" nodeType="clickEffect">
                                  <p:stCondLst>
                                    <p:cond delay="0"/>
                                  </p:stCondLst>
                                  <p:childTnLst>
                                    <p:set>
                                      <p:cBhvr>
                                        <p:cTn id="109" dur="1" fill="hold">
                                          <p:stCondLst>
                                            <p:cond delay="0"/>
                                          </p:stCondLst>
                                        </p:cTn>
                                        <p:tgtEl>
                                          <p:spTgt spid="26"/>
                                        </p:tgtEl>
                                        <p:attrNameLst>
                                          <p:attrName>style.visibility</p:attrName>
                                        </p:attrNameLst>
                                      </p:cBhvr>
                                      <p:to>
                                        <p:strVal val="visible"/>
                                      </p:to>
                                    </p:set>
                                    <p:animEffect transition="in" filter="fade">
                                      <p:cBhvr>
                                        <p:cTn id="110" dur="500"/>
                                        <p:tgtEl>
                                          <p:spTgt spid="26"/>
                                        </p:tgtEl>
                                      </p:cBhvr>
                                    </p:animEffect>
                                  </p:childTnLst>
                                </p:cTn>
                              </p:par>
                            </p:childTnLst>
                          </p:cTn>
                        </p:par>
                      </p:childTnLst>
                    </p:cTn>
                  </p:par>
                  <p:par>
                    <p:cTn id="111" fill="hold">
                      <p:stCondLst>
                        <p:cond delay="indefinite"/>
                      </p:stCondLst>
                      <p:childTnLst>
                        <p:par>
                          <p:cTn id="112" fill="hold">
                            <p:stCondLst>
                              <p:cond delay="0"/>
                            </p:stCondLst>
                            <p:childTnLst>
                              <p:par>
                                <p:cTn id="113" presetID="22" presetClass="entr" presetSubtype="8" fill="hold" grpId="0" nodeType="clickEffect">
                                  <p:stCondLst>
                                    <p:cond delay="0"/>
                                  </p:stCondLst>
                                  <p:childTnLst>
                                    <p:set>
                                      <p:cBhvr>
                                        <p:cTn id="114" dur="1" fill="hold">
                                          <p:stCondLst>
                                            <p:cond delay="0"/>
                                          </p:stCondLst>
                                        </p:cTn>
                                        <p:tgtEl>
                                          <p:spTgt spid="13"/>
                                        </p:tgtEl>
                                        <p:attrNameLst>
                                          <p:attrName>style.visibility</p:attrName>
                                        </p:attrNameLst>
                                      </p:cBhvr>
                                      <p:to>
                                        <p:strVal val="visible"/>
                                      </p:to>
                                    </p:set>
                                    <p:animEffect transition="in" filter="wipe(left)">
                                      <p:cBhvr>
                                        <p:cTn id="115" dur="1000"/>
                                        <p:tgtEl>
                                          <p:spTgt spid="13"/>
                                        </p:tgtEl>
                                      </p:cBhvr>
                                    </p:animEffect>
                                  </p:childTnLst>
                                </p:cTn>
                              </p:par>
                            </p:childTnLst>
                          </p:cTn>
                        </p:par>
                      </p:childTnLst>
                    </p:cTn>
                  </p:par>
                  <p:par>
                    <p:cTn id="116" fill="hold">
                      <p:stCondLst>
                        <p:cond delay="indefinite"/>
                      </p:stCondLst>
                      <p:childTnLst>
                        <p:par>
                          <p:cTn id="117" fill="hold">
                            <p:stCondLst>
                              <p:cond delay="0"/>
                            </p:stCondLst>
                            <p:childTnLst>
                              <p:par>
                                <p:cTn id="118" presetID="10" presetClass="entr" presetSubtype="0" fill="hold" grpId="0" nodeType="clickEffect">
                                  <p:stCondLst>
                                    <p:cond delay="0"/>
                                  </p:stCondLst>
                                  <p:childTnLst>
                                    <p:set>
                                      <p:cBhvr>
                                        <p:cTn id="119" dur="1" fill="hold">
                                          <p:stCondLst>
                                            <p:cond delay="0"/>
                                          </p:stCondLst>
                                        </p:cTn>
                                        <p:tgtEl>
                                          <p:spTgt spid="25"/>
                                        </p:tgtEl>
                                        <p:attrNameLst>
                                          <p:attrName>style.visibility</p:attrName>
                                        </p:attrNameLst>
                                      </p:cBhvr>
                                      <p:to>
                                        <p:strVal val="visible"/>
                                      </p:to>
                                    </p:set>
                                    <p:animEffect transition="in" filter="fade">
                                      <p:cBhvr>
                                        <p:cTn id="12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3" grpId="0"/>
      <p:bldP spid="16" grpId="0" animBg="1"/>
      <p:bldP spid="21" grpId="0"/>
      <p:bldP spid="22" grpId="0"/>
      <p:bldP spid="23" grpId="0"/>
      <p:bldP spid="24" grpId="0"/>
      <p:bldP spid="25" grpId="0" animBg="1"/>
      <p:bldP spid="26" grpId="0"/>
      <p:bldP spid="27" grpId="0"/>
      <p:bldP spid="28" grpId="0"/>
      <p:bldP spid="29" grpId="0"/>
      <p:bldP spid="30" grpId="0"/>
      <p:bldP spid="31" grpId="0"/>
      <p:bldP spid="32" grpId="0"/>
      <p:bldP spid="33" grpId="0"/>
      <p:bldP spid="38" grpId="0"/>
      <p:bldP spid="3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600" dirty="0">
                <a:solidFill>
                  <a:prstClr val="black"/>
                </a:solidFill>
                <a:latin typeface="华文楷体" panose="02010600040101010101" pitchFamily="2" charset="-122"/>
                <a:ea typeface="华文楷体" panose="02010600040101010101" pitchFamily="2" charset="-122"/>
              </a:rPr>
              <a:t>第二章</a:t>
            </a:r>
            <a:endParaRPr kumimoji="0" lang="en-US" altLang="zh-CN" sz="3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endParaRP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9" name="Text Box 25">
            <a:extLst>
              <a:ext uri="{FF2B5EF4-FFF2-40B4-BE49-F238E27FC236}">
                <a16:creationId xmlns:a16="http://schemas.microsoft.com/office/drawing/2014/main" id="{561195DD-0B0C-41EF-8A81-505C58DF454B}"/>
              </a:ext>
            </a:extLst>
          </p:cNvPr>
          <p:cNvSpPr txBox="1">
            <a:spLocks noChangeArrowheads="1"/>
          </p:cNvSpPr>
          <p:nvPr/>
        </p:nvSpPr>
        <p:spPr bwMode="auto">
          <a:xfrm>
            <a:off x="1868488" y="2859863"/>
            <a:ext cx="464730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000">
                <a:solidFill>
                  <a:schemeClr val="tx1"/>
                </a:solidFill>
                <a:latin typeface="Arial" panose="020B0604020202020204" pitchFamily="34" charset="0"/>
                <a:ea typeface="宋体" panose="02010600030101010101" pitchFamily="2" charset="-122"/>
              </a:defRPr>
            </a:lvl1pPr>
            <a:lvl2pPr marL="742950" indent="-285750" eaLnBrk="0" hangingPunct="0">
              <a:defRPr sz="2000">
                <a:solidFill>
                  <a:schemeClr val="tx1"/>
                </a:solidFill>
                <a:latin typeface="Arial" panose="020B0604020202020204" pitchFamily="34" charset="0"/>
                <a:ea typeface="宋体" panose="02010600030101010101" pitchFamily="2" charset="-122"/>
              </a:defRPr>
            </a:lvl2pPr>
            <a:lvl3pPr marL="1143000" indent="-228600" eaLnBrk="0" hangingPunct="0">
              <a:defRPr sz="2000">
                <a:solidFill>
                  <a:schemeClr val="tx1"/>
                </a:solidFill>
                <a:latin typeface="Arial" panose="020B0604020202020204" pitchFamily="34" charset="0"/>
                <a:ea typeface="宋体" panose="02010600030101010101" pitchFamily="2" charset="-122"/>
              </a:defRPr>
            </a:lvl3pPr>
            <a:lvl4pPr marL="1600200" indent="-228600" eaLnBrk="0" hangingPunct="0">
              <a:defRPr sz="2000">
                <a:solidFill>
                  <a:schemeClr val="tx1"/>
                </a:solidFill>
                <a:latin typeface="Arial" panose="020B0604020202020204" pitchFamily="34" charset="0"/>
                <a:ea typeface="宋体" panose="02010600030101010101" pitchFamily="2" charset="-122"/>
              </a:defRPr>
            </a:lvl4pPr>
            <a:lvl5pPr marL="2057400" indent="-228600" eaLnBrk="0" hangingPunct="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30000"/>
              </a:spcBef>
            </a:pPr>
            <a:r>
              <a:rPr lang="en-US" altLang="zh-CN" sz="2400" b="1" dirty="0">
                <a:solidFill>
                  <a:srgbClr val="000066"/>
                </a:solidFill>
                <a:latin typeface="楷体_GB2312" pitchFamily="49" charset="-122"/>
                <a:ea typeface="楷体_GB2312" pitchFamily="49" charset="-122"/>
              </a:rPr>
              <a:t>0.6875×2 = </a:t>
            </a:r>
            <a:r>
              <a:rPr lang="en-US" altLang="zh-CN" sz="2400" b="1" dirty="0">
                <a:solidFill>
                  <a:srgbClr val="FF0000"/>
                </a:solidFill>
                <a:latin typeface="楷体_GB2312" pitchFamily="49" charset="-122"/>
                <a:ea typeface="楷体_GB2312" pitchFamily="49" charset="-122"/>
              </a:rPr>
              <a:t>1</a:t>
            </a:r>
            <a:r>
              <a:rPr lang="en-US" altLang="zh-CN" sz="2400" b="1" dirty="0">
                <a:solidFill>
                  <a:srgbClr val="000066"/>
                </a:solidFill>
                <a:latin typeface="楷体_GB2312" pitchFamily="49" charset="-122"/>
                <a:ea typeface="楷体_GB2312" pitchFamily="49" charset="-122"/>
              </a:rPr>
              <a:t>.375   </a:t>
            </a:r>
            <a:r>
              <a:rPr lang="zh-CN" altLang="en-US" sz="2400" b="1" dirty="0">
                <a:solidFill>
                  <a:srgbClr val="000066"/>
                </a:solidFill>
                <a:latin typeface="楷体_GB2312" pitchFamily="49" charset="-122"/>
                <a:ea typeface="楷体_GB2312" pitchFamily="49" charset="-122"/>
              </a:rPr>
              <a:t>整数 </a:t>
            </a:r>
            <a:r>
              <a:rPr lang="en-US" altLang="zh-CN" sz="2400" b="1" dirty="0">
                <a:solidFill>
                  <a:srgbClr val="FF0000"/>
                </a:solidFill>
                <a:latin typeface="楷体_GB2312" pitchFamily="49" charset="-122"/>
                <a:ea typeface="楷体_GB2312" pitchFamily="49" charset="-122"/>
              </a:rPr>
              <a:t>1</a:t>
            </a:r>
            <a:r>
              <a:rPr lang="en-US" altLang="zh-CN" sz="2400" b="1" dirty="0">
                <a:solidFill>
                  <a:srgbClr val="000066"/>
                </a:solidFill>
                <a:latin typeface="楷体_GB2312" pitchFamily="49" charset="-122"/>
                <a:ea typeface="楷体_GB2312" pitchFamily="49" charset="-122"/>
              </a:rPr>
              <a:t>  </a:t>
            </a:r>
          </a:p>
        </p:txBody>
      </p:sp>
      <p:sp>
        <p:nvSpPr>
          <p:cNvPr id="11" name="Rectangle 29">
            <a:extLst>
              <a:ext uri="{FF2B5EF4-FFF2-40B4-BE49-F238E27FC236}">
                <a16:creationId xmlns:a16="http://schemas.microsoft.com/office/drawing/2014/main" id="{F80DF4E0-DE75-44B3-976D-006633F50C67}"/>
              </a:ext>
            </a:extLst>
          </p:cNvPr>
          <p:cNvSpPr>
            <a:spLocks noChangeArrowheads="1"/>
          </p:cNvSpPr>
          <p:nvPr/>
        </p:nvSpPr>
        <p:spPr bwMode="auto">
          <a:xfrm>
            <a:off x="1524000" y="1032312"/>
            <a:ext cx="5819775" cy="804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sz="2000">
                <a:solidFill>
                  <a:schemeClr val="tx1"/>
                </a:solidFill>
                <a:latin typeface="Arial" panose="020B0604020202020204" pitchFamily="34" charset="0"/>
                <a:ea typeface="宋体" panose="02010600030101010101" pitchFamily="2" charset="-122"/>
              </a:defRPr>
            </a:lvl1pPr>
            <a:lvl2pPr marL="742950" indent="-285750" eaLnBrk="0" hangingPunct="0">
              <a:defRPr sz="2000">
                <a:solidFill>
                  <a:schemeClr val="tx1"/>
                </a:solidFill>
                <a:latin typeface="Arial" panose="020B0604020202020204" pitchFamily="34" charset="0"/>
                <a:ea typeface="宋体" panose="02010600030101010101" pitchFamily="2" charset="-122"/>
              </a:defRPr>
            </a:lvl2pPr>
            <a:lvl3pPr marL="1143000" indent="-228600" eaLnBrk="0" hangingPunct="0">
              <a:defRPr sz="2000">
                <a:solidFill>
                  <a:schemeClr val="tx1"/>
                </a:solidFill>
                <a:latin typeface="Arial" panose="020B0604020202020204" pitchFamily="34" charset="0"/>
                <a:ea typeface="宋体" panose="02010600030101010101" pitchFamily="2" charset="-122"/>
              </a:defRPr>
            </a:lvl3pPr>
            <a:lvl4pPr marL="1600200" indent="-228600" eaLnBrk="0" hangingPunct="0">
              <a:defRPr sz="2000">
                <a:solidFill>
                  <a:schemeClr val="tx1"/>
                </a:solidFill>
                <a:latin typeface="Arial" panose="020B0604020202020204" pitchFamily="34" charset="0"/>
                <a:ea typeface="宋体" panose="02010600030101010101" pitchFamily="2" charset="-122"/>
              </a:defRPr>
            </a:lvl4pPr>
            <a:lvl5pPr marL="2057400" indent="-228600" eaLnBrk="0" hangingPunct="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r>
              <a:rPr lang="zh-CN" altLang="en-US" sz="3250" b="1" dirty="0">
                <a:solidFill>
                  <a:srgbClr val="FF0000"/>
                </a:solidFill>
                <a:ea typeface="黑体" panose="02010609060101010101" pitchFamily="49" charset="-122"/>
              </a:rPr>
              <a:t>十进制</a:t>
            </a:r>
            <a:r>
              <a:rPr lang="zh-CN" altLang="en-US" sz="3250" b="1" dirty="0">
                <a:solidFill>
                  <a:srgbClr val="FF0000"/>
                </a:solidFill>
                <a:latin typeface="黑体" panose="02010609060101010101" pitchFamily="49" charset="-122"/>
                <a:ea typeface="黑体" panose="02010609060101010101" pitchFamily="49" charset="-122"/>
              </a:rPr>
              <a:t>→</a:t>
            </a:r>
            <a:r>
              <a:rPr lang="zh-CN" altLang="en-US" sz="3250" b="1" dirty="0">
                <a:solidFill>
                  <a:srgbClr val="FF0000"/>
                </a:solidFill>
                <a:ea typeface="黑体" panose="02010609060101010101" pitchFamily="49" charset="-122"/>
              </a:rPr>
              <a:t>二进制</a:t>
            </a:r>
          </a:p>
        </p:txBody>
      </p:sp>
      <p:sp>
        <p:nvSpPr>
          <p:cNvPr id="12" name="Text Box 35">
            <a:extLst>
              <a:ext uri="{FF2B5EF4-FFF2-40B4-BE49-F238E27FC236}">
                <a16:creationId xmlns:a16="http://schemas.microsoft.com/office/drawing/2014/main" id="{D21A5692-1786-4DD8-B726-88D8289A7C63}"/>
              </a:ext>
            </a:extLst>
          </p:cNvPr>
          <p:cNvSpPr txBox="1">
            <a:spLocks noChangeArrowheads="1"/>
          </p:cNvSpPr>
          <p:nvPr/>
        </p:nvSpPr>
        <p:spPr bwMode="auto">
          <a:xfrm>
            <a:off x="3147403" y="1840242"/>
            <a:ext cx="665919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a:solidFill>
                  <a:schemeClr val="tx1"/>
                </a:solidFill>
                <a:latin typeface="Arial" panose="020B0604020202020204" pitchFamily="34" charset="0"/>
                <a:ea typeface="宋体" panose="02010600030101010101" pitchFamily="2" charset="-122"/>
              </a:defRPr>
            </a:lvl1pPr>
            <a:lvl2pPr marL="742950" indent="-285750" eaLnBrk="0" hangingPunct="0">
              <a:defRPr sz="2000">
                <a:solidFill>
                  <a:schemeClr val="tx1"/>
                </a:solidFill>
                <a:latin typeface="Arial" panose="020B0604020202020204" pitchFamily="34" charset="0"/>
                <a:ea typeface="宋体" panose="02010600030101010101" pitchFamily="2" charset="-122"/>
              </a:defRPr>
            </a:lvl2pPr>
            <a:lvl3pPr marL="1143000" indent="-228600" eaLnBrk="0" hangingPunct="0">
              <a:defRPr sz="2000">
                <a:solidFill>
                  <a:schemeClr val="tx1"/>
                </a:solidFill>
                <a:latin typeface="Arial" panose="020B0604020202020204" pitchFamily="34" charset="0"/>
                <a:ea typeface="宋体" panose="02010600030101010101" pitchFamily="2" charset="-122"/>
              </a:defRPr>
            </a:lvl3pPr>
            <a:lvl4pPr marL="1600200" indent="-228600" eaLnBrk="0" hangingPunct="0">
              <a:defRPr sz="2000">
                <a:solidFill>
                  <a:schemeClr val="tx1"/>
                </a:solidFill>
                <a:latin typeface="Arial" panose="020B0604020202020204" pitchFamily="34" charset="0"/>
                <a:ea typeface="宋体" panose="02010600030101010101" pitchFamily="2" charset="-122"/>
              </a:defRPr>
            </a:lvl4pPr>
            <a:lvl5pPr marL="2057400" indent="-228600" eaLnBrk="0" hangingPunct="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r>
              <a:rPr lang="zh-CN" altLang="en-US" sz="3200" b="1" dirty="0">
                <a:solidFill>
                  <a:schemeClr val="accent2"/>
                </a:solidFill>
                <a:latin typeface="隶书" panose="02010509060101010101" pitchFamily="49" charset="-122"/>
                <a:ea typeface="隶书" panose="02010509060101010101" pitchFamily="49" charset="-122"/>
              </a:rPr>
              <a:t>例如：</a:t>
            </a:r>
            <a:r>
              <a:rPr lang="en-US" altLang="zh-CN" sz="3200" b="1" dirty="0">
                <a:solidFill>
                  <a:schemeClr val="accent2"/>
                </a:solidFill>
                <a:latin typeface="隶书" panose="02010509060101010101" pitchFamily="49" charset="-122"/>
                <a:ea typeface="隶书" panose="02010509060101010101" pitchFamily="49" charset="-122"/>
              </a:rPr>
              <a:t>( 0.6875 )</a:t>
            </a:r>
            <a:r>
              <a:rPr lang="en-US" altLang="zh-CN" sz="3200" b="1" baseline="-25000" dirty="0">
                <a:solidFill>
                  <a:schemeClr val="accent2"/>
                </a:solidFill>
                <a:latin typeface="隶书" panose="02010509060101010101" pitchFamily="49" charset="-122"/>
                <a:ea typeface="隶书" panose="02010509060101010101" pitchFamily="49" charset="-122"/>
              </a:rPr>
              <a:t>10</a:t>
            </a:r>
            <a:r>
              <a:rPr lang="zh-CN" altLang="en-US" sz="3200" b="1" baseline="-25000" dirty="0">
                <a:solidFill>
                  <a:schemeClr val="accent2"/>
                </a:solidFill>
                <a:latin typeface="隶书" panose="02010509060101010101" pitchFamily="49" charset="-122"/>
                <a:ea typeface="隶书" panose="02010509060101010101" pitchFamily="49" charset="-122"/>
              </a:rPr>
              <a:t>  </a:t>
            </a:r>
            <a:r>
              <a:rPr lang="en-US" altLang="zh-CN" sz="3200" b="1" dirty="0">
                <a:solidFill>
                  <a:schemeClr val="accent2"/>
                </a:solidFill>
                <a:latin typeface="隶书" panose="02010509060101010101" pitchFamily="49" charset="-122"/>
                <a:ea typeface="隶书" panose="02010509060101010101" pitchFamily="49" charset="-122"/>
              </a:rPr>
              <a:t>= ( 0.1011 )</a:t>
            </a:r>
            <a:r>
              <a:rPr lang="en-US" altLang="zh-CN" sz="3200" b="1" baseline="-25000" dirty="0">
                <a:solidFill>
                  <a:schemeClr val="accent2"/>
                </a:solidFill>
                <a:latin typeface="隶书" panose="02010509060101010101" pitchFamily="49" charset="-122"/>
                <a:ea typeface="隶书" panose="02010509060101010101" pitchFamily="49" charset="-122"/>
              </a:rPr>
              <a:t>2</a:t>
            </a:r>
            <a:endParaRPr lang="zh-CN" altLang="en-US" sz="3200" b="1" baseline="-25000" dirty="0">
              <a:solidFill>
                <a:schemeClr val="accent2"/>
              </a:solidFill>
              <a:latin typeface="隶书" panose="02010509060101010101" pitchFamily="49" charset="-122"/>
              <a:ea typeface="隶书" panose="02010509060101010101" pitchFamily="49" charset="-122"/>
            </a:endParaRPr>
          </a:p>
        </p:txBody>
      </p:sp>
      <p:sp>
        <p:nvSpPr>
          <p:cNvPr id="13" name="Text Box 39">
            <a:extLst>
              <a:ext uri="{FF2B5EF4-FFF2-40B4-BE49-F238E27FC236}">
                <a16:creationId xmlns:a16="http://schemas.microsoft.com/office/drawing/2014/main" id="{96DA6837-6869-4049-8F3B-1D63F3146CA8}"/>
              </a:ext>
            </a:extLst>
          </p:cNvPr>
          <p:cNvSpPr txBox="1">
            <a:spLocks noChangeArrowheads="1"/>
          </p:cNvSpPr>
          <p:nvPr/>
        </p:nvSpPr>
        <p:spPr bwMode="auto">
          <a:xfrm>
            <a:off x="7928424" y="3001929"/>
            <a:ext cx="2365001" cy="4617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000">
                <a:solidFill>
                  <a:schemeClr val="tx1"/>
                </a:solidFill>
                <a:latin typeface="Arial" panose="020B0604020202020204" pitchFamily="34" charset="0"/>
                <a:ea typeface="宋体" panose="02010600030101010101" pitchFamily="2" charset="-122"/>
              </a:defRPr>
            </a:lvl1pPr>
            <a:lvl2pPr marL="742950" indent="-285750" eaLnBrk="0" hangingPunct="0">
              <a:defRPr sz="2000">
                <a:solidFill>
                  <a:schemeClr val="tx1"/>
                </a:solidFill>
                <a:latin typeface="Arial" panose="020B0604020202020204" pitchFamily="34" charset="0"/>
                <a:ea typeface="宋体" panose="02010600030101010101" pitchFamily="2" charset="-122"/>
              </a:defRPr>
            </a:lvl2pPr>
            <a:lvl3pPr marL="1143000" indent="-228600" eaLnBrk="0" hangingPunct="0">
              <a:defRPr sz="2000">
                <a:solidFill>
                  <a:schemeClr val="tx1"/>
                </a:solidFill>
                <a:latin typeface="Arial" panose="020B0604020202020204" pitchFamily="34" charset="0"/>
                <a:ea typeface="宋体" panose="02010600030101010101" pitchFamily="2" charset="-122"/>
              </a:defRPr>
            </a:lvl3pPr>
            <a:lvl4pPr marL="1600200" indent="-228600" eaLnBrk="0" hangingPunct="0">
              <a:defRPr sz="2000">
                <a:solidFill>
                  <a:schemeClr val="tx1"/>
                </a:solidFill>
                <a:latin typeface="Arial" panose="020B0604020202020204" pitchFamily="34" charset="0"/>
                <a:ea typeface="宋体" panose="02010600030101010101" pitchFamily="2" charset="-122"/>
              </a:defRPr>
            </a:lvl4pPr>
            <a:lvl5pPr marL="2057400" indent="-228600" eaLnBrk="0" hangingPunct="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275" dirty="0"/>
              <a:t>   </a:t>
            </a:r>
            <a:r>
              <a:rPr lang="en-US" altLang="zh-CN" sz="2400" dirty="0">
                <a:solidFill>
                  <a:srgbClr val="EA2D00"/>
                </a:solidFill>
              </a:rPr>
              <a:t>1  0  1  1  </a:t>
            </a:r>
          </a:p>
        </p:txBody>
      </p:sp>
      <p:sp>
        <p:nvSpPr>
          <p:cNvPr id="15" name="矩形 14">
            <a:extLst>
              <a:ext uri="{FF2B5EF4-FFF2-40B4-BE49-F238E27FC236}">
                <a16:creationId xmlns:a16="http://schemas.microsoft.com/office/drawing/2014/main" id="{F013FFBA-6B7C-40FE-AED0-329707CC3551}"/>
              </a:ext>
            </a:extLst>
          </p:cNvPr>
          <p:cNvSpPr/>
          <p:nvPr/>
        </p:nvSpPr>
        <p:spPr>
          <a:xfrm>
            <a:off x="1524000" y="5143765"/>
            <a:ext cx="9217024" cy="584775"/>
          </a:xfrm>
          <a:prstGeom prst="rect">
            <a:avLst/>
          </a:prstGeom>
          <a:solidFill>
            <a:srgbClr val="C00000"/>
          </a:solidFill>
        </p:spPr>
        <p:txBody>
          <a:bodyPr wrap="square">
            <a:spAutoFit/>
          </a:bodyPr>
          <a:lstStyle/>
          <a:p>
            <a:pPr eaLnBrk="1" hangingPunct="1">
              <a:spcBef>
                <a:spcPct val="20000"/>
              </a:spcBef>
              <a:buClr>
                <a:schemeClr val="folHlink"/>
              </a:buClr>
              <a:buSzPct val="60000"/>
              <a:buFont typeface="Wingdings" panose="05000000000000000000" pitchFamily="2" charset="2"/>
              <a:buNone/>
            </a:pPr>
            <a:r>
              <a:rPr lang="zh-CN" altLang="en-GB" dirty="0">
                <a:solidFill>
                  <a:schemeClr val="bg1"/>
                </a:solidFill>
                <a:latin typeface="微软雅黑" panose="020B0503020204020204" pitchFamily="34" charset="-122"/>
                <a:ea typeface="微软雅黑" panose="020B0503020204020204" pitchFamily="34" charset="-122"/>
              </a:rPr>
              <a:t>十进制小数转换为二进制小数：乘</a:t>
            </a:r>
            <a:r>
              <a:rPr lang="en-GB" altLang="zh-CN" dirty="0">
                <a:solidFill>
                  <a:schemeClr val="bg1"/>
                </a:solidFill>
                <a:latin typeface="微软雅黑" panose="020B0503020204020204" pitchFamily="34" charset="-122"/>
                <a:ea typeface="微软雅黑" panose="020B0503020204020204" pitchFamily="34" charset="-122"/>
              </a:rPr>
              <a:t>2</a:t>
            </a:r>
            <a:r>
              <a:rPr lang="zh-CN" altLang="en-GB" dirty="0">
                <a:solidFill>
                  <a:schemeClr val="bg1"/>
                </a:solidFill>
                <a:latin typeface="微软雅黑" panose="020B0503020204020204" pitchFamily="34" charset="-122"/>
                <a:ea typeface="微软雅黑" panose="020B0503020204020204" pitchFamily="34" charset="-122"/>
              </a:rPr>
              <a:t>取整，直至为</a:t>
            </a:r>
            <a:r>
              <a:rPr lang="en-GB" altLang="zh-CN" dirty="0">
                <a:solidFill>
                  <a:schemeClr val="bg1"/>
                </a:solidFill>
                <a:latin typeface="微软雅黑" panose="020B0503020204020204" pitchFamily="34" charset="-122"/>
                <a:ea typeface="微软雅黑" panose="020B0503020204020204" pitchFamily="34" charset="-122"/>
              </a:rPr>
              <a:t>0</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16" name="Text Box 27">
            <a:extLst>
              <a:ext uri="{FF2B5EF4-FFF2-40B4-BE49-F238E27FC236}">
                <a16:creationId xmlns:a16="http://schemas.microsoft.com/office/drawing/2014/main" id="{C4AE3299-FDF6-4BC6-BD3C-81D6E3431666}"/>
              </a:ext>
            </a:extLst>
          </p:cNvPr>
          <p:cNvSpPr txBox="1">
            <a:spLocks noChangeArrowheads="1"/>
          </p:cNvSpPr>
          <p:nvPr/>
        </p:nvSpPr>
        <p:spPr bwMode="auto">
          <a:xfrm>
            <a:off x="6725809" y="2866740"/>
            <a:ext cx="910630" cy="4617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a:solidFill>
                  <a:schemeClr val="tx1"/>
                </a:solidFill>
                <a:latin typeface="Arial" panose="020B0604020202020204" pitchFamily="34" charset="0"/>
                <a:ea typeface="宋体" panose="02010600030101010101" pitchFamily="2" charset="-122"/>
              </a:defRPr>
            </a:lvl1pPr>
            <a:lvl2pPr marL="742950" indent="-285750" eaLnBrk="0" hangingPunct="0">
              <a:defRPr sz="2000">
                <a:solidFill>
                  <a:schemeClr val="tx1"/>
                </a:solidFill>
                <a:latin typeface="Arial" panose="020B0604020202020204" pitchFamily="34" charset="0"/>
                <a:ea typeface="宋体" panose="02010600030101010101" pitchFamily="2" charset="-122"/>
              </a:defRPr>
            </a:lvl2pPr>
            <a:lvl3pPr marL="1143000" indent="-228600" eaLnBrk="0" hangingPunct="0">
              <a:defRPr sz="2000">
                <a:solidFill>
                  <a:schemeClr val="tx1"/>
                </a:solidFill>
                <a:latin typeface="Arial" panose="020B0604020202020204" pitchFamily="34" charset="0"/>
                <a:ea typeface="宋体" panose="02010600030101010101" pitchFamily="2" charset="-122"/>
              </a:defRPr>
            </a:lvl3pPr>
            <a:lvl4pPr marL="1600200" indent="-228600" eaLnBrk="0" hangingPunct="0">
              <a:defRPr sz="2000">
                <a:solidFill>
                  <a:schemeClr val="tx1"/>
                </a:solidFill>
                <a:latin typeface="Arial" panose="020B0604020202020204" pitchFamily="34" charset="0"/>
                <a:ea typeface="宋体" panose="02010600030101010101" pitchFamily="2" charset="-122"/>
              </a:defRPr>
            </a:lvl4pPr>
            <a:lvl5pPr marL="2057400" indent="-228600" eaLnBrk="0" hangingPunct="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400" b="1" dirty="0">
                <a:solidFill>
                  <a:schemeClr val="hlink"/>
                </a:solidFill>
                <a:latin typeface="Tahoma" panose="020B0604030504040204" pitchFamily="34" charset="0"/>
                <a:ea typeface="楷体_GB2312" pitchFamily="49" charset="-122"/>
              </a:rPr>
              <a:t>高位</a:t>
            </a:r>
          </a:p>
        </p:txBody>
      </p:sp>
      <p:sp>
        <p:nvSpPr>
          <p:cNvPr id="17" name="Line 46">
            <a:extLst>
              <a:ext uri="{FF2B5EF4-FFF2-40B4-BE49-F238E27FC236}">
                <a16:creationId xmlns:a16="http://schemas.microsoft.com/office/drawing/2014/main" id="{19B6FF3D-B3FE-4AAD-93C9-34963B64905A}"/>
              </a:ext>
            </a:extLst>
          </p:cNvPr>
          <p:cNvSpPr>
            <a:spLocks noChangeShapeType="1"/>
          </p:cNvSpPr>
          <p:nvPr/>
        </p:nvSpPr>
        <p:spPr bwMode="auto">
          <a:xfrm flipH="1" flipV="1">
            <a:off x="7181124" y="3299008"/>
            <a:ext cx="12071" cy="993826"/>
          </a:xfrm>
          <a:prstGeom prst="line">
            <a:avLst/>
          </a:prstGeom>
          <a:noFill/>
          <a:ln w="57150">
            <a:solidFill>
              <a:srgbClr val="800000"/>
            </a:solidFill>
            <a:round/>
            <a:headEnd type="triangl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600" dirty="0"/>
          </a:p>
        </p:txBody>
      </p:sp>
      <p:sp>
        <p:nvSpPr>
          <p:cNvPr id="18" name="Text Box 28">
            <a:extLst>
              <a:ext uri="{FF2B5EF4-FFF2-40B4-BE49-F238E27FC236}">
                <a16:creationId xmlns:a16="http://schemas.microsoft.com/office/drawing/2014/main" id="{60EFE832-E8F4-4EFB-847E-8FF06FB696C1}"/>
              </a:ext>
            </a:extLst>
          </p:cNvPr>
          <p:cNvSpPr txBox="1">
            <a:spLocks noChangeArrowheads="1"/>
          </p:cNvSpPr>
          <p:nvPr/>
        </p:nvSpPr>
        <p:spPr bwMode="auto">
          <a:xfrm>
            <a:off x="6769683" y="4265145"/>
            <a:ext cx="910630" cy="4617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a:solidFill>
                  <a:schemeClr val="tx1"/>
                </a:solidFill>
                <a:latin typeface="Arial" panose="020B0604020202020204" pitchFamily="34" charset="0"/>
                <a:ea typeface="宋体" panose="02010600030101010101" pitchFamily="2" charset="-122"/>
              </a:defRPr>
            </a:lvl1pPr>
            <a:lvl2pPr marL="742950" indent="-285750" eaLnBrk="0" hangingPunct="0">
              <a:defRPr sz="2000">
                <a:solidFill>
                  <a:schemeClr val="tx1"/>
                </a:solidFill>
                <a:latin typeface="Arial" panose="020B0604020202020204" pitchFamily="34" charset="0"/>
                <a:ea typeface="宋体" panose="02010600030101010101" pitchFamily="2" charset="-122"/>
              </a:defRPr>
            </a:lvl2pPr>
            <a:lvl3pPr marL="1143000" indent="-228600" eaLnBrk="0" hangingPunct="0">
              <a:defRPr sz="2000">
                <a:solidFill>
                  <a:schemeClr val="tx1"/>
                </a:solidFill>
                <a:latin typeface="Arial" panose="020B0604020202020204" pitchFamily="34" charset="0"/>
                <a:ea typeface="宋体" panose="02010600030101010101" pitchFamily="2" charset="-122"/>
              </a:defRPr>
            </a:lvl3pPr>
            <a:lvl4pPr marL="1600200" indent="-228600" eaLnBrk="0" hangingPunct="0">
              <a:defRPr sz="2000">
                <a:solidFill>
                  <a:schemeClr val="tx1"/>
                </a:solidFill>
                <a:latin typeface="Arial" panose="020B0604020202020204" pitchFamily="34" charset="0"/>
                <a:ea typeface="宋体" panose="02010600030101010101" pitchFamily="2" charset="-122"/>
              </a:defRPr>
            </a:lvl4pPr>
            <a:lvl5pPr marL="2057400" indent="-228600" eaLnBrk="0" hangingPunct="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400" b="1" dirty="0">
                <a:solidFill>
                  <a:schemeClr val="hlink"/>
                </a:solidFill>
                <a:latin typeface="Tahoma" panose="020B0604030504040204" pitchFamily="34" charset="0"/>
                <a:ea typeface="楷体_GB2312" pitchFamily="49" charset="-122"/>
              </a:rPr>
              <a:t>低位</a:t>
            </a:r>
          </a:p>
        </p:txBody>
      </p:sp>
      <p:sp>
        <p:nvSpPr>
          <p:cNvPr id="19" name="矩形 18">
            <a:extLst>
              <a:ext uri="{FF2B5EF4-FFF2-40B4-BE49-F238E27FC236}">
                <a16:creationId xmlns:a16="http://schemas.microsoft.com/office/drawing/2014/main" id="{F9A24F48-76B5-40E4-BBB0-36504E3FFF73}"/>
              </a:ext>
            </a:extLst>
          </p:cNvPr>
          <p:cNvSpPr/>
          <p:nvPr/>
        </p:nvSpPr>
        <p:spPr>
          <a:xfrm>
            <a:off x="2023722" y="3280472"/>
            <a:ext cx="4837212" cy="461665"/>
          </a:xfrm>
          <a:prstGeom prst="rect">
            <a:avLst/>
          </a:prstGeom>
        </p:spPr>
        <p:txBody>
          <a:bodyPr wrap="square">
            <a:spAutoFit/>
          </a:bodyPr>
          <a:lstStyle/>
          <a:p>
            <a:pPr eaLnBrk="1" hangingPunct="1">
              <a:spcBef>
                <a:spcPct val="30000"/>
              </a:spcBef>
            </a:pPr>
            <a:r>
              <a:rPr lang="en-US" altLang="zh-CN" sz="2400" b="1" dirty="0">
                <a:solidFill>
                  <a:srgbClr val="000066"/>
                </a:solidFill>
                <a:latin typeface="楷体_GB2312" pitchFamily="49" charset="-122"/>
                <a:ea typeface="楷体_GB2312" pitchFamily="49" charset="-122"/>
              </a:rPr>
              <a:t>0.375×2 = </a:t>
            </a:r>
            <a:r>
              <a:rPr lang="en-US" altLang="zh-CN" sz="2400" b="1" dirty="0">
                <a:solidFill>
                  <a:srgbClr val="FF0000"/>
                </a:solidFill>
                <a:latin typeface="楷体_GB2312" pitchFamily="49" charset="-122"/>
                <a:ea typeface="楷体_GB2312" pitchFamily="49" charset="-122"/>
              </a:rPr>
              <a:t>0</a:t>
            </a:r>
            <a:r>
              <a:rPr lang="en-US" altLang="zh-CN" sz="2400" b="1" dirty="0">
                <a:solidFill>
                  <a:srgbClr val="000066"/>
                </a:solidFill>
                <a:latin typeface="楷体_GB2312" pitchFamily="49" charset="-122"/>
                <a:ea typeface="楷体_GB2312" pitchFamily="49" charset="-122"/>
              </a:rPr>
              <a:t>.75    </a:t>
            </a:r>
            <a:r>
              <a:rPr lang="zh-CN" altLang="en-US" sz="2400" b="1" dirty="0">
                <a:solidFill>
                  <a:srgbClr val="000066"/>
                </a:solidFill>
                <a:latin typeface="楷体_GB2312" pitchFamily="49" charset="-122"/>
                <a:ea typeface="楷体_GB2312" pitchFamily="49" charset="-122"/>
              </a:rPr>
              <a:t>整数 </a:t>
            </a:r>
            <a:r>
              <a:rPr lang="en-US" altLang="zh-CN" sz="2400" b="1" dirty="0">
                <a:solidFill>
                  <a:srgbClr val="FF0000"/>
                </a:solidFill>
                <a:latin typeface="楷体_GB2312" pitchFamily="49" charset="-122"/>
                <a:ea typeface="楷体_GB2312" pitchFamily="49" charset="-122"/>
              </a:rPr>
              <a:t>0</a:t>
            </a:r>
          </a:p>
        </p:txBody>
      </p:sp>
      <p:sp>
        <p:nvSpPr>
          <p:cNvPr id="20" name="矩形 19">
            <a:extLst>
              <a:ext uri="{FF2B5EF4-FFF2-40B4-BE49-F238E27FC236}">
                <a16:creationId xmlns:a16="http://schemas.microsoft.com/office/drawing/2014/main" id="{1B531114-C7C8-492B-98F5-1B497966BA49}"/>
              </a:ext>
            </a:extLst>
          </p:cNvPr>
          <p:cNvSpPr/>
          <p:nvPr/>
        </p:nvSpPr>
        <p:spPr>
          <a:xfrm>
            <a:off x="2171971" y="3714442"/>
            <a:ext cx="4717168" cy="461665"/>
          </a:xfrm>
          <a:prstGeom prst="rect">
            <a:avLst/>
          </a:prstGeom>
        </p:spPr>
        <p:txBody>
          <a:bodyPr wrap="square">
            <a:spAutoFit/>
          </a:bodyPr>
          <a:lstStyle/>
          <a:p>
            <a:pPr eaLnBrk="1" hangingPunct="1">
              <a:spcBef>
                <a:spcPct val="30000"/>
              </a:spcBef>
            </a:pPr>
            <a:r>
              <a:rPr lang="en-US" altLang="zh-CN" sz="2400" b="1" dirty="0">
                <a:solidFill>
                  <a:srgbClr val="000066"/>
                </a:solidFill>
                <a:latin typeface="楷体_GB2312" pitchFamily="49" charset="-122"/>
                <a:ea typeface="楷体_GB2312" pitchFamily="49" charset="-122"/>
              </a:rPr>
              <a:t>0.75×2 = </a:t>
            </a:r>
            <a:r>
              <a:rPr lang="en-US" altLang="zh-CN" sz="2400" b="1" dirty="0">
                <a:solidFill>
                  <a:srgbClr val="FF0000"/>
                </a:solidFill>
                <a:latin typeface="楷体_GB2312" pitchFamily="49" charset="-122"/>
                <a:ea typeface="楷体_GB2312" pitchFamily="49" charset="-122"/>
              </a:rPr>
              <a:t>1</a:t>
            </a:r>
            <a:r>
              <a:rPr lang="en-US" altLang="zh-CN" sz="2400" b="1" dirty="0">
                <a:solidFill>
                  <a:srgbClr val="000066"/>
                </a:solidFill>
                <a:latin typeface="楷体_GB2312" pitchFamily="49" charset="-122"/>
                <a:ea typeface="楷体_GB2312" pitchFamily="49" charset="-122"/>
              </a:rPr>
              <a:t>.5     </a:t>
            </a:r>
            <a:r>
              <a:rPr lang="zh-CN" altLang="en-US" sz="2400" b="1" dirty="0">
                <a:solidFill>
                  <a:srgbClr val="000066"/>
                </a:solidFill>
                <a:latin typeface="楷体_GB2312" pitchFamily="49" charset="-122"/>
                <a:ea typeface="楷体_GB2312" pitchFamily="49" charset="-122"/>
              </a:rPr>
              <a:t>整数 </a:t>
            </a:r>
            <a:r>
              <a:rPr lang="en-US" altLang="zh-CN" sz="2400" b="1" dirty="0">
                <a:solidFill>
                  <a:srgbClr val="FF0000"/>
                </a:solidFill>
                <a:latin typeface="楷体_GB2312" pitchFamily="49" charset="-122"/>
                <a:ea typeface="楷体_GB2312" pitchFamily="49" charset="-122"/>
              </a:rPr>
              <a:t>1</a:t>
            </a:r>
          </a:p>
        </p:txBody>
      </p:sp>
      <p:sp>
        <p:nvSpPr>
          <p:cNvPr id="21" name="矩形 20">
            <a:extLst>
              <a:ext uri="{FF2B5EF4-FFF2-40B4-BE49-F238E27FC236}">
                <a16:creationId xmlns:a16="http://schemas.microsoft.com/office/drawing/2014/main" id="{C14C2E4F-543A-4985-AFCE-D42D41ED5E9F}"/>
              </a:ext>
            </a:extLst>
          </p:cNvPr>
          <p:cNvSpPr/>
          <p:nvPr/>
        </p:nvSpPr>
        <p:spPr>
          <a:xfrm>
            <a:off x="2324453" y="4157149"/>
            <a:ext cx="4573152" cy="461665"/>
          </a:xfrm>
          <a:prstGeom prst="rect">
            <a:avLst/>
          </a:prstGeom>
        </p:spPr>
        <p:txBody>
          <a:bodyPr wrap="square">
            <a:spAutoFit/>
          </a:bodyPr>
          <a:lstStyle/>
          <a:p>
            <a:pPr eaLnBrk="1" hangingPunct="1">
              <a:spcBef>
                <a:spcPct val="30000"/>
              </a:spcBef>
            </a:pPr>
            <a:r>
              <a:rPr lang="en-US" altLang="zh-CN" sz="2400" b="1" dirty="0">
                <a:solidFill>
                  <a:srgbClr val="000066"/>
                </a:solidFill>
                <a:latin typeface="楷体_GB2312" pitchFamily="49" charset="-122"/>
                <a:ea typeface="楷体_GB2312" pitchFamily="49" charset="-122"/>
              </a:rPr>
              <a:t>0.5×2 = </a:t>
            </a:r>
            <a:r>
              <a:rPr lang="en-US" altLang="zh-CN" sz="2400" b="1" dirty="0">
                <a:solidFill>
                  <a:srgbClr val="FF0000"/>
                </a:solidFill>
                <a:latin typeface="楷体_GB2312" pitchFamily="49" charset="-122"/>
                <a:ea typeface="楷体_GB2312" pitchFamily="49" charset="-122"/>
              </a:rPr>
              <a:t>1</a:t>
            </a:r>
            <a:r>
              <a:rPr lang="en-US" altLang="zh-CN" sz="2400" b="1" dirty="0">
                <a:solidFill>
                  <a:srgbClr val="000066"/>
                </a:solidFill>
                <a:latin typeface="楷体_GB2312" pitchFamily="49" charset="-122"/>
                <a:ea typeface="楷体_GB2312" pitchFamily="49" charset="-122"/>
              </a:rPr>
              <a:t>.</a:t>
            </a:r>
            <a:r>
              <a:rPr lang="en-US" altLang="zh-CN" sz="2400" b="1" dirty="0">
                <a:solidFill>
                  <a:srgbClr val="B928BD"/>
                </a:solidFill>
                <a:latin typeface="楷体_GB2312" pitchFamily="49" charset="-122"/>
                <a:ea typeface="楷体_GB2312" pitchFamily="49" charset="-122"/>
              </a:rPr>
              <a:t>0</a:t>
            </a:r>
            <a:r>
              <a:rPr lang="en-US" altLang="zh-CN" sz="2400" b="1" dirty="0">
                <a:solidFill>
                  <a:srgbClr val="000066"/>
                </a:solidFill>
                <a:latin typeface="楷体_GB2312" pitchFamily="49" charset="-122"/>
                <a:ea typeface="楷体_GB2312" pitchFamily="49" charset="-122"/>
              </a:rPr>
              <a:t>     </a:t>
            </a:r>
            <a:r>
              <a:rPr lang="zh-CN" altLang="en-US" sz="2400" b="1" dirty="0">
                <a:solidFill>
                  <a:srgbClr val="000066"/>
                </a:solidFill>
                <a:latin typeface="楷体_GB2312" pitchFamily="49" charset="-122"/>
                <a:ea typeface="楷体_GB2312" pitchFamily="49" charset="-122"/>
              </a:rPr>
              <a:t>整数 </a:t>
            </a:r>
            <a:r>
              <a:rPr lang="en-US" altLang="zh-CN" sz="2400" b="1" dirty="0">
                <a:solidFill>
                  <a:srgbClr val="EA2D00"/>
                </a:solidFill>
                <a:latin typeface="楷体_GB2312" pitchFamily="49" charset="-122"/>
                <a:ea typeface="楷体_GB2312" pitchFamily="49" charset="-122"/>
              </a:rPr>
              <a:t>1</a:t>
            </a:r>
          </a:p>
        </p:txBody>
      </p:sp>
      <p:pic>
        <p:nvPicPr>
          <p:cNvPr id="22" name="图片 21" descr="联想截图_20231214002915">
            <a:extLst>
              <a:ext uri="{FF2B5EF4-FFF2-40B4-BE49-F238E27FC236}">
                <a16:creationId xmlns:a16="http://schemas.microsoft.com/office/drawing/2014/main" id="{664DDD31-93D0-40C7-BB24-4C3339A67B0E}"/>
              </a:ext>
            </a:extLst>
          </p:cNvPr>
          <p:cNvPicPr>
            <a:picLocks noChangeAspect="1"/>
          </p:cNvPicPr>
          <p:nvPr>
            <p:custDataLst>
              <p:tags r:id="rId1"/>
            </p:custDataLst>
          </p:nvPr>
        </p:nvPicPr>
        <p:blipFill>
          <a:blip r:embed="rId5"/>
          <a:stretch>
            <a:fillRect/>
          </a:stretch>
        </p:blipFill>
        <p:spPr>
          <a:xfrm>
            <a:off x="4435475" y="6219825"/>
            <a:ext cx="545465" cy="546735"/>
          </a:xfrm>
          <a:prstGeom prst="rect">
            <a:avLst/>
          </a:prstGeom>
        </p:spPr>
      </p:pic>
    </p:spTree>
    <p:extLst>
      <p:ext uri="{BB962C8B-B14F-4D97-AF65-F5344CB8AC3E}">
        <p14:creationId xmlns:p14="http://schemas.microsoft.com/office/powerpoint/2010/main" val="2440052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500"/>
                                        <p:tgtEl>
                                          <p:spTgt spid="1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left)">
                                      <p:cBhvr>
                                        <p:cTn id="42" dur="5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3" grpId="0"/>
      <p:bldP spid="15" grpId="0" animBg="1"/>
      <p:bldP spid="16" grpId="0"/>
      <p:bldP spid="17" grpId="0" animBg="1"/>
      <p:bldP spid="18" grpId="0"/>
      <p:bldP spid="19" grpId="0"/>
      <p:bldP spid="20" grpId="0"/>
      <p:bldP spid="2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780146" y="5686843"/>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6331"/>
          </a:xfrm>
          <a:prstGeom prst="rect">
            <a:avLst/>
          </a:prstGeom>
          <a:noFill/>
        </p:spPr>
        <p:txBody>
          <a:bodyPr wrap="square" rtlCol="0">
            <a:spAutoFit/>
          </a:bodyPr>
          <a:lstStyle/>
          <a:p>
            <a:pPr lvl="0">
              <a:defRPr/>
            </a:pPr>
            <a:r>
              <a:rPr kumimoji="1" lang="zh-CN" altLang="en-US" sz="3600" b="1" dirty="0">
                <a:latin typeface="华文楷体" panose="02010600040101010101" pitchFamily="2" charset="-122"/>
                <a:ea typeface="华文楷体" panose="02010600040101010101" pitchFamily="2" charset="-122"/>
              </a:rPr>
              <a:t>四种常见数制的对应关系</a:t>
            </a:r>
            <a:endParaRPr kumimoji="0" lang="en-US" altLang="zh-CN" sz="3600" b="0" i="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endParaRP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11" name="Rectangle 4">
            <a:extLst>
              <a:ext uri="{FF2B5EF4-FFF2-40B4-BE49-F238E27FC236}">
                <a16:creationId xmlns:a16="http://schemas.microsoft.com/office/drawing/2014/main" id="{D6761441-E71C-4274-9312-5407E142D323}"/>
              </a:ext>
            </a:extLst>
          </p:cNvPr>
          <p:cNvSpPr>
            <a:spLocks noChangeArrowheads="1"/>
          </p:cNvSpPr>
          <p:nvPr/>
        </p:nvSpPr>
        <p:spPr bwMode="auto">
          <a:xfrm>
            <a:off x="1649154" y="1559154"/>
            <a:ext cx="3931444" cy="3931444"/>
          </a:xfrm>
          <a:prstGeom prst="rect">
            <a:avLst/>
          </a:prstGeom>
          <a:solidFill>
            <a:schemeClr val="accent3">
              <a:lumMod val="20000"/>
              <a:lumOff val="80000"/>
            </a:schemeClr>
          </a:solidFill>
          <a:ln w="9525">
            <a:noFill/>
            <a:miter lim="800000"/>
          </a:ln>
        </p:spPr>
        <p:txBody>
          <a:bodyPr lIns="74811" tIns="37406" rIns="74811" bIns="74811"/>
          <a:lstStyle/>
          <a:p>
            <a:pPr indent="309880">
              <a:lnSpc>
                <a:spcPct val="70000"/>
              </a:lnSpc>
              <a:spcBef>
                <a:spcPct val="20000"/>
              </a:spcBef>
              <a:defRPr/>
            </a:pPr>
            <a:r>
              <a:rPr lang="en-US" altLang="zh-CN" sz="2800" b="1" dirty="0">
                <a:solidFill>
                  <a:srgbClr val="FF6699"/>
                </a:solidFill>
                <a:latin typeface="华文仿宋" panose="02010600040101010101" pitchFamily="2" charset="-122"/>
                <a:ea typeface="华文仿宋" panose="02010600040101010101" pitchFamily="2" charset="-122"/>
              </a:rPr>
              <a:t> </a:t>
            </a:r>
            <a:r>
              <a:rPr lang="zh-CN" altLang="en-US" sz="2800" b="1" dirty="0">
                <a:latin typeface="华文仿宋" panose="02010600040101010101" pitchFamily="2" charset="-122"/>
                <a:ea typeface="华文仿宋" panose="02010600040101010101" pitchFamily="2" charset="-122"/>
              </a:rPr>
              <a:t>十</a:t>
            </a:r>
            <a:r>
              <a:rPr lang="zh-CN" altLang="en-US" sz="2800" b="1" dirty="0">
                <a:solidFill>
                  <a:srgbClr val="FF6699"/>
                </a:solidFill>
                <a:latin typeface="华文仿宋" panose="02010600040101010101" pitchFamily="2" charset="-122"/>
                <a:ea typeface="华文仿宋" panose="02010600040101010101" pitchFamily="2" charset="-122"/>
              </a:rPr>
              <a:t>      </a:t>
            </a:r>
            <a:r>
              <a:rPr lang="zh-CN" altLang="en-US" sz="2800" b="1" dirty="0">
                <a:solidFill>
                  <a:srgbClr val="FF0000"/>
                </a:solidFill>
                <a:latin typeface="华文仿宋" panose="02010600040101010101" pitchFamily="2" charset="-122"/>
                <a:ea typeface="华文仿宋" panose="02010600040101010101" pitchFamily="2" charset="-122"/>
              </a:rPr>
              <a:t>二</a:t>
            </a:r>
            <a:r>
              <a:rPr lang="zh-CN" altLang="en-US" sz="2800" b="1" dirty="0">
                <a:solidFill>
                  <a:srgbClr val="FFFF00"/>
                </a:solidFill>
                <a:latin typeface="华文仿宋" panose="02010600040101010101" pitchFamily="2" charset="-122"/>
                <a:ea typeface="华文仿宋" panose="02010600040101010101" pitchFamily="2" charset="-122"/>
              </a:rPr>
              <a:t>     </a:t>
            </a:r>
            <a:r>
              <a:rPr lang="zh-CN" altLang="en-US" sz="2800" b="1" dirty="0">
                <a:solidFill>
                  <a:schemeClr val="accent2">
                    <a:lumMod val="75000"/>
                  </a:schemeClr>
                </a:solidFill>
                <a:latin typeface="华文仿宋" panose="02010600040101010101" pitchFamily="2" charset="-122"/>
                <a:ea typeface="华文仿宋" panose="02010600040101010101" pitchFamily="2" charset="-122"/>
              </a:rPr>
              <a:t>八</a:t>
            </a:r>
            <a:r>
              <a:rPr lang="zh-CN" altLang="en-US" sz="2800" b="1" dirty="0">
                <a:solidFill>
                  <a:srgbClr val="FF9900"/>
                </a:solidFill>
                <a:latin typeface="华文仿宋" panose="02010600040101010101" pitchFamily="2" charset="-122"/>
                <a:ea typeface="华文仿宋" panose="02010600040101010101" pitchFamily="2" charset="-122"/>
              </a:rPr>
              <a:t>   </a:t>
            </a:r>
            <a:r>
              <a:rPr lang="zh-CN" altLang="en-US" sz="2800" b="1" dirty="0">
                <a:solidFill>
                  <a:srgbClr val="009999"/>
                </a:solidFill>
                <a:latin typeface="华文仿宋" panose="02010600040101010101" pitchFamily="2" charset="-122"/>
                <a:ea typeface="华文仿宋" panose="02010600040101010101" pitchFamily="2" charset="-122"/>
              </a:rPr>
              <a:t>十六</a:t>
            </a:r>
            <a:endParaRPr lang="en-US" altLang="zh-CN" sz="2800" b="1" dirty="0">
              <a:solidFill>
                <a:srgbClr val="009999"/>
              </a:solidFill>
              <a:latin typeface="华文仿宋" panose="02010600040101010101" pitchFamily="2" charset="-122"/>
              <a:ea typeface="华文仿宋" panose="02010600040101010101" pitchFamily="2" charset="-122"/>
            </a:endParaRPr>
          </a:p>
          <a:p>
            <a:pPr indent="309880">
              <a:lnSpc>
                <a:spcPct val="70000"/>
              </a:lnSpc>
              <a:spcBef>
                <a:spcPct val="20000"/>
              </a:spcBef>
              <a:defRPr/>
            </a:pPr>
            <a:r>
              <a:rPr lang="zh-CN" altLang="en-US" sz="2800" b="1" dirty="0">
                <a:latin typeface="华文仿宋" panose="02010600040101010101" pitchFamily="2" charset="-122"/>
                <a:ea typeface="华文仿宋" panose="02010600040101010101" pitchFamily="2" charset="-122"/>
              </a:rPr>
              <a:t>进制</a:t>
            </a:r>
            <a:r>
              <a:rPr lang="zh-CN" altLang="en-US" sz="2800" b="1" dirty="0">
                <a:solidFill>
                  <a:srgbClr val="FF6699"/>
                </a:solidFill>
                <a:latin typeface="华文仿宋" panose="02010600040101010101" pitchFamily="2" charset="-122"/>
                <a:ea typeface="华文仿宋" panose="02010600040101010101" pitchFamily="2" charset="-122"/>
              </a:rPr>
              <a:t> </a:t>
            </a:r>
            <a:r>
              <a:rPr lang="zh-CN" altLang="en-US" sz="2800" b="1" dirty="0">
                <a:solidFill>
                  <a:srgbClr val="FF0000"/>
                </a:solidFill>
                <a:latin typeface="华文仿宋" panose="02010600040101010101" pitchFamily="2" charset="-122"/>
                <a:ea typeface="华文仿宋" panose="02010600040101010101" pitchFamily="2" charset="-122"/>
              </a:rPr>
              <a:t>进制</a:t>
            </a:r>
            <a:r>
              <a:rPr lang="zh-CN" altLang="en-US" sz="2800" b="1" dirty="0">
                <a:solidFill>
                  <a:srgbClr val="FF6699"/>
                </a:solidFill>
                <a:latin typeface="华文仿宋" panose="02010600040101010101" pitchFamily="2" charset="-122"/>
                <a:ea typeface="华文仿宋" panose="02010600040101010101" pitchFamily="2" charset="-122"/>
              </a:rPr>
              <a:t> </a:t>
            </a:r>
            <a:r>
              <a:rPr lang="zh-CN" altLang="en-US" sz="2800" b="1" dirty="0">
                <a:solidFill>
                  <a:schemeClr val="accent2">
                    <a:lumMod val="75000"/>
                  </a:schemeClr>
                </a:solidFill>
                <a:latin typeface="华文仿宋" panose="02010600040101010101" pitchFamily="2" charset="-122"/>
                <a:ea typeface="华文仿宋" panose="02010600040101010101" pitchFamily="2" charset="-122"/>
              </a:rPr>
              <a:t>进制</a:t>
            </a:r>
            <a:r>
              <a:rPr lang="zh-CN" altLang="en-US" sz="2800" b="1" dirty="0">
                <a:solidFill>
                  <a:srgbClr val="FF6699"/>
                </a:solidFill>
                <a:latin typeface="华文仿宋" panose="02010600040101010101" pitchFamily="2" charset="-122"/>
                <a:ea typeface="华文仿宋" panose="02010600040101010101" pitchFamily="2" charset="-122"/>
              </a:rPr>
              <a:t> </a:t>
            </a:r>
            <a:r>
              <a:rPr lang="zh-CN" altLang="en-US" sz="2800" b="1" dirty="0">
                <a:solidFill>
                  <a:srgbClr val="009999"/>
                </a:solidFill>
                <a:latin typeface="华文仿宋" panose="02010600040101010101" pitchFamily="2" charset="-122"/>
                <a:ea typeface="华文仿宋" panose="02010600040101010101" pitchFamily="2" charset="-122"/>
              </a:rPr>
              <a:t>进制</a:t>
            </a:r>
            <a:r>
              <a:rPr lang="zh-CN" altLang="en-US" sz="2800" b="1" dirty="0">
                <a:solidFill>
                  <a:srgbClr val="00FFFF"/>
                </a:solidFill>
                <a:latin typeface="华文仿宋" panose="02010600040101010101" pitchFamily="2" charset="-122"/>
                <a:ea typeface="华文仿宋" panose="02010600040101010101" pitchFamily="2" charset="-122"/>
              </a:rPr>
              <a:t> </a:t>
            </a:r>
            <a:endParaRPr lang="zh-CN" altLang="en-US" sz="2800" b="1" i="1" baseline="-25000" dirty="0">
              <a:solidFill>
                <a:srgbClr val="FF0000"/>
              </a:solidFill>
              <a:latin typeface="华文仿宋" panose="02010600040101010101" pitchFamily="2" charset="-122"/>
              <a:ea typeface="华文仿宋" panose="02010600040101010101" pitchFamily="2" charset="-122"/>
            </a:endParaRPr>
          </a:p>
          <a:p>
            <a:pPr indent="309880">
              <a:lnSpc>
                <a:spcPct val="70000"/>
              </a:lnSpc>
              <a:spcBef>
                <a:spcPct val="20000"/>
              </a:spcBef>
              <a:defRPr/>
            </a:pPr>
            <a:r>
              <a:rPr lang="zh-CN" altLang="en-US" sz="2800" b="1" dirty="0">
                <a:solidFill>
                  <a:srgbClr val="FF6699"/>
                </a:solidFill>
                <a:latin typeface="华文仿宋" panose="02010600040101010101" pitchFamily="2" charset="-122"/>
                <a:ea typeface="华文仿宋" panose="02010600040101010101" pitchFamily="2" charset="-122"/>
              </a:rPr>
              <a:t>  </a:t>
            </a:r>
            <a:r>
              <a:rPr lang="en-US" altLang="zh-CN" sz="2800" b="1" dirty="0">
                <a:latin typeface="华文仿宋" panose="02010600040101010101" pitchFamily="2" charset="-122"/>
                <a:ea typeface="华文仿宋" panose="02010600040101010101" pitchFamily="2" charset="-122"/>
              </a:rPr>
              <a:t>0</a:t>
            </a:r>
            <a:r>
              <a:rPr lang="en-US" altLang="zh-CN" sz="2800" b="1" dirty="0">
                <a:solidFill>
                  <a:srgbClr val="FF6699"/>
                </a:solidFill>
                <a:latin typeface="华文仿宋" panose="02010600040101010101" pitchFamily="2" charset="-122"/>
                <a:ea typeface="华文仿宋" panose="02010600040101010101" pitchFamily="2" charset="-122"/>
              </a:rPr>
              <a:t>     </a:t>
            </a:r>
            <a:r>
              <a:rPr lang="en-US" altLang="zh-CN" sz="2800" b="1" dirty="0">
                <a:solidFill>
                  <a:srgbClr val="FF0000"/>
                </a:solidFill>
                <a:latin typeface="华文仿宋" panose="02010600040101010101" pitchFamily="2" charset="-122"/>
                <a:ea typeface="华文仿宋" panose="02010600040101010101" pitchFamily="2" charset="-122"/>
              </a:rPr>
              <a:t>0000</a:t>
            </a:r>
            <a:r>
              <a:rPr lang="en-US" altLang="zh-CN" sz="2800" b="1" dirty="0">
                <a:solidFill>
                  <a:srgbClr val="FF6699"/>
                </a:solidFill>
                <a:latin typeface="华文仿宋" panose="02010600040101010101" pitchFamily="2" charset="-122"/>
                <a:ea typeface="华文仿宋" panose="02010600040101010101" pitchFamily="2" charset="-122"/>
              </a:rPr>
              <a:t>     </a:t>
            </a:r>
            <a:r>
              <a:rPr lang="en-US" altLang="zh-CN" sz="2800" b="1" dirty="0">
                <a:solidFill>
                  <a:schemeClr val="accent2">
                    <a:lumMod val="75000"/>
                  </a:schemeClr>
                </a:solidFill>
                <a:latin typeface="华文仿宋" panose="02010600040101010101" pitchFamily="2" charset="-122"/>
                <a:ea typeface="华文仿宋" panose="02010600040101010101" pitchFamily="2" charset="-122"/>
              </a:rPr>
              <a:t>0</a:t>
            </a:r>
            <a:r>
              <a:rPr lang="en-US" altLang="zh-CN" sz="2800" b="1" dirty="0">
                <a:solidFill>
                  <a:srgbClr val="FF6699"/>
                </a:solidFill>
                <a:latin typeface="华文仿宋" panose="02010600040101010101" pitchFamily="2" charset="-122"/>
                <a:ea typeface="华文仿宋" panose="02010600040101010101" pitchFamily="2" charset="-122"/>
              </a:rPr>
              <a:t>      </a:t>
            </a:r>
            <a:r>
              <a:rPr lang="en-US" altLang="zh-CN" sz="2800" b="1" dirty="0">
                <a:solidFill>
                  <a:srgbClr val="009999"/>
                </a:solidFill>
                <a:latin typeface="华文仿宋" panose="02010600040101010101" pitchFamily="2" charset="-122"/>
                <a:ea typeface="华文仿宋" panose="02010600040101010101" pitchFamily="2" charset="-122"/>
              </a:rPr>
              <a:t>0</a:t>
            </a:r>
            <a:r>
              <a:rPr lang="en-US" altLang="zh-CN" sz="2800" b="1" dirty="0">
                <a:solidFill>
                  <a:srgbClr val="00FFFF"/>
                </a:solidFill>
                <a:latin typeface="华文仿宋" panose="02010600040101010101" pitchFamily="2" charset="-122"/>
                <a:ea typeface="华文仿宋" panose="02010600040101010101" pitchFamily="2" charset="-122"/>
              </a:rPr>
              <a:t> </a:t>
            </a:r>
            <a:endParaRPr lang="en-US" altLang="zh-CN" sz="2800" b="1" i="1" baseline="-25000" dirty="0">
              <a:solidFill>
                <a:srgbClr val="FF0000"/>
              </a:solidFill>
              <a:latin typeface="华文仿宋" panose="02010600040101010101" pitchFamily="2" charset="-122"/>
              <a:ea typeface="华文仿宋" panose="02010600040101010101" pitchFamily="2" charset="-122"/>
            </a:endParaRPr>
          </a:p>
          <a:p>
            <a:pPr indent="309880">
              <a:lnSpc>
                <a:spcPct val="70000"/>
              </a:lnSpc>
              <a:spcBef>
                <a:spcPct val="20000"/>
              </a:spcBef>
              <a:defRPr/>
            </a:pPr>
            <a:r>
              <a:rPr lang="en-US" altLang="zh-CN" sz="2800" b="1" dirty="0">
                <a:solidFill>
                  <a:srgbClr val="FF6699"/>
                </a:solidFill>
                <a:latin typeface="华文仿宋" panose="02010600040101010101" pitchFamily="2" charset="-122"/>
                <a:ea typeface="华文仿宋" panose="02010600040101010101" pitchFamily="2" charset="-122"/>
              </a:rPr>
              <a:t>  </a:t>
            </a:r>
            <a:r>
              <a:rPr lang="en-US" altLang="zh-CN" sz="2800" b="1" dirty="0">
                <a:latin typeface="华文仿宋" panose="02010600040101010101" pitchFamily="2" charset="-122"/>
                <a:ea typeface="华文仿宋" panose="02010600040101010101" pitchFamily="2" charset="-122"/>
              </a:rPr>
              <a:t>1</a:t>
            </a:r>
            <a:r>
              <a:rPr lang="en-US" altLang="zh-CN" sz="2800" b="1" dirty="0">
                <a:solidFill>
                  <a:srgbClr val="FF6699"/>
                </a:solidFill>
                <a:latin typeface="华文仿宋" panose="02010600040101010101" pitchFamily="2" charset="-122"/>
                <a:ea typeface="华文仿宋" panose="02010600040101010101" pitchFamily="2" charset="-122"/>
              </a:rPr>
              <a:t>     </a:t>
            </a:r>
            <a:r>
              <a:rPr lang="en-US" altLang="zh-CN" sz="2800" b="1" dirty="0">
                <a:solidFill>
                  <a:srgbClr val="FF0000"/>
                </a:solidFill>
                <a:latin typeface="华文仿宋" panose="02010600040101010101" pitchFamily="2" charset="-122"/>
                <a:ea typeface="华文仿宋" panose="02010600040101010101" pitchFamily="2" charset="-122"/>
              </a:rPr>
              <a:t>0001</a:t>
            </a:r>
            <a:r>
              <a:rPr lang="en-US" altLang="zh-CN" sz="2800" b="1" dirty="0">
                <a:solidFill>
                  <a:srgbClr val="FF6699"/>
                </a:solidFill>
                <a:latin typeface="华文仿宋" panose="02010600040101010101" pitchFamily="2" charset="-122"/>
                <a:ea typeface="华文仿宋" panose="02010600040101010101" pitchFamily="2" charset="-122"/>
              </a:rPr>
              <a:t>     </a:t>
            </a:r>
            <a:r>
              <a:rPr lang="en-US" altLang="zh-CN" sz="2800" b="1" dirty="0">
                <a:solidFill>
                  <a:schemeClr val="accent2">
                    <a:lumMod val="75000"/>
                  </a:schemeClr>
                </a:solidFill>
                <a:latin typeface="华文仿宋" panose="02010600040101010101" pitchFamily="2" charset="-122"/>
                <a:ea typeface="华文仿宋" panose="02010600040101010101" pitchFamily="2" charset="-122"/>
              </a:rPr>
              <a:t>1</a:t>
            </a:r>
            <a:r>
              <a:rPr lang="en-US" altLang="zh-CN" sz="2800" b="1" dirty="0">
                <a:solidFill>
                  <a:srgbClr val="00FF00"/>
                </a:solidFill>
                <a:latin typeface="华文仿宋" panose="02010600040101010101" pitchFamily="2" charset="-122"/>
                <a:ea typeface="华文仿宋" panose="02010600040101010101" pitchFamily="2" charset="-122"/>
              </a:rPr>
              <a:t> </a:t>
            </a:r>
            <a:r>
              <a:rPr lang="en-US" altLang="zh-CN" sz="2800" b="1" dirty="0">
                <a:solidFill>
                  <a:srgbClr val="FF6699"/>
                </a:solidFill>
                <a:latin typeface="华文仿宋" panose="02010600040101010101" pitchFamily="2" charset="-122"/>
                <a:ea typeface="华文仿宋" panose="02010600040101010101" pitchFamily="2" charset="-122"/>
              </a:rPr>
              <a:t>     </a:t>
            </a:r>
            <a:r>
              <a:rPr lang="en-US" altLang="zh-CN" sz="2800" b="1" dirty="0">
                <a:solidFill>
                  <a:srgbClr val="009999"/>
                </a:solidFill>
                <a:latin typeface="华文仿宋" panose="02010600040101010101" pitchFamily="2" charset="-122"/>
                <a:ea typeface="华文仿宋" panose="02010600040101010101" pitchFamily="2" charset="-122"/>
              </a:rPr>
              <a:t>1 </a:t>
            </a:r>
            <a:endParaRPr lang="en-US" altLang="zh-CN" sz="2800" b="1" i="1" baseline="-25000" dirty="0">
              <a:solidFill>
                <a:srgbClr val="009999"/>
              </a:solidFill>
              <a:latin typeface="华文仿宋" panose="02010600040101010101" pitchFamily="2" charset="-122"/>
              <a:ea typeface="华文仿宋" panose="02010600040101010101" pitchFamily="2" charset="-122"/>
            </a:endParaRPr>
          </a:p>
          <a:p>
            <a:pPr indent="309880">
              <a:lnSpc>
                <a:spcPct val="70000"/>
              </a:lnSpc>
              <a:spcBef>
                <a:spcPct val="20000"/>
              </a:spcBef>
              <a:defRPr/>
            </a:pPr>
            <a:r>
              <a:rPr lang="en-US" altLang="zh-CN" sz="2800" b="1" dirty="0">
                <a:solidFill>
                  <a:srgbClr val="FF6699"/>
                </a:solidFill>
                <a:latin typeface="华文仿宋" panose="02010600040101010101" pitchFamily="2" charset="-122"/>
                <a:ea typeface="华文仿宋" panose="02010600040101010101" pitchFamily="2" charset="-122"/>
              </a:rPr>
              <a:t>  </a:t>
            </a:r>
            <a:r>
              <a:rPr lang="en-US" altLang="zh-CN" sz="2800" b="1" dirty="0">
                <a:latin typeface="华文仿宋" panose="02010600040101010101" pitchFamily="2" charset="-122"/>
                <a:ea typeface="华文仿宋" panose="02010600040101010101" pitchFamily="2" charset="-122"/>
              </a:rPr>
              <a:t>2</a:t>
            </a:r>
            <a:r>
              <a:rPr lang="en-US" altLang="zh-CN" sz="2800" b="1" dirty="0">
                <a:solidFill>
                  <a:srgbClr val="FF6699"/>
                </a:solidFill>
                <a:latin typeface="华文仿宋" panose="02010600040101010101" pitchFamily="2" charset="-122"/>
                <a:ea typeface="华文仿宋" panose="02010600040101010101" pitchFamily="2" charset="-122"/>
              </a:rPr>
              <a:t>     </a:t>
            </a:r>
            <a:r>
              <a:rPr lang="en-US" altLang="zh-CN" sz="2800" b="1" dirty="0">
                <a:solidFill>
                  <a:srgbClr val="FF0000"/>
                </a:solidFill>
                <a:latin typeface="华文仿宋" panose="02010600040101010101" pitchFamily="2" charset="-122"/>
                <a:ea typeface="华文仿宋" panose="02010600040101010101" pitchFamily="2" charset="-122"/>
              </a:rPr>
              <a:t>00</a:t>
            </a:r>
            <a:r>
              <a:rPr lang="en-US" altLang="zh-CN" sz="2800" b="1" dirty="0">
                <a:latin typeface="华文仿宋" panose="02010600040101010101" pitchFamily="2" charset="-122"/>
                <a:ea typeface="华文仿宋" panose="02010600040101010101" pitchFamily="2" charset="-122"/>
              </a:rPr>
              <a:t>1</a:t>
            </a:r>
            <a:r>
              <a:rPr lang="en-US" altLang="zh-CN" sz="2800" b="1" dirty="0">
                <a:solidFill>
                  <a:srgbClr val="FF0000"/>
                </a:solidFill>
                <a:latin typeface="华文仿宋" panose="02010600040101010101" pitchFamily="2" charset="-122"/>
                <a:ea typeface="华文仿宋" panose="02010600040101010101" pitchFamily="2" charset="-122"/>
              </a:rPr>
              <a:t>0</a:t>
            </a:r>
            <a:r>
              <a:rPr lang="en-US" altLang="zh-CN" sz="2800" b="1" dirty="0">
                <a:solidFill>
                  <a:srgbClr val="FF6699"/>
                </a:solidFill>
                <a:latin typeface="华文仿宋" panose="02010600040101010101" pitchFamily="2" charset="-122"/>
                <a:ea typeface="华文仿宋" panose="02010600040101010101" pitchFamily="2" charset="-122"/>
              </a:rPr>
              <a:t>     </a:t>
            </a:r>
            <a:r>
              <a:rPr lang="en-US" altLang="zh-CN" sz="2800" b="1" dirty="0">
                <a:solidFill>
                  <a:schemeClr val="accent2">
                    <a:lumMod val="75000"/>
                  </a:schemeClr>
                </a:solidFill>
                <a:latin typeface="华文仿宋" panose="02010600040101010101" pitchFamily="2" charset="-122"/>
                <a:ea typeface="华文仿宋" panose="02010600040101010101" pitchFamily="2" charset="-122"/>
              </a:rPr>
              <a:t>2</a:t>
            </a:r>
            <a:r>
              <a:rPr lang="en-US" altLang="zh-CN" sz="2800" b="1" dirty="0">
                <a:solidFill>
                  <a:srgbClr val="FF6699"/>
                </a:solidFill>
                <a:latin typeface="华文仿宋" panose="02010600040101010101" pitchFamily="2" charset="-122"/>
                <a:ea typeface="华文仿宋" panose="02010600040101010101" pitchFamily="2" charset="-122"/>
              </a:rPr>
              <a:t>      </a:t>
            </a:r>
            <a:r>
              <a:rPr lang="en-US" altLang="zh-CN" sz="2800" b="1" dirty="0">
                <a:solidFill>
                  <a:srgbClr val="009999"/>
                </a:solidFill>
                <a:latin typeface="华文仿宋" panose="02010600040101010101" pitchFamily="2" charset="-122"/>
                <a:ea typeface="华文仿宋" panose="02010600040101010101" pitchFamily="2" charset="-122"/>
              </a:rPr>
              <a:t>2 </a:t>
            </a:r>
            <a:endParaRPr lang="en-US" altLang="zh-CN" sz="2800" b="1" i="1" baseline="-25000" dirty="0">
              <a:solidFill>
                <a:srgbClr val="009999"/>
              </a:solidFill>
              <a:latin typeface="华文仿宋" panose="02010600040101010101" pitchFamily="2" charset="-122"/>
              <a:ea typeface="华文仿宋" panose="02010600040101010101" pitchFamily="2" charset="-122"/>
            </a:endParaRPr>
          </a:p>
          <a:p>
            <a:pPr indent="309880">
              <a:lnSpc>
                <a:spcPct val="70000"/>
              </a:lnSpc>
              <a:spcBef>
                <a:spcPct val="20000"/>
              </a:spcBef>
              <a:defRPr/>
            </a:pPr>
            <a:r>
              <a:rPr lang="en-US" altLang="zh-CN" sz="2800" b="1" dirty="0">
                <a:solidFill>
                  <a:srgbClr val="FF6699"/>
                </a:solidFill>
                <a:latin typeface="华文仿宋" panose="02010600040101010101" pitchFamily="2" charset="-122"/>
                <a:ea typeface="华文仿宋" panose="02010600040101010101" pitchFamily="2" charset="-122"/>
              </a:rPr>
              <a:t>  </a:t>
            </a:r>
            <a:r>
              <a:rPr lang="en-US" altLang="zh-CN" sz="2800" b="1" dirty="0">
                <a:latin typeface="华文仿宋" panose="02010600040101010101" pitchFamily="2" charset="-122"/>
                <a:ea typeface="华文仿宋" panose="02010600040101010101" pitchFamily="2" charset="-122"/>
              </a:rPr>
              <a:t>3</a:t>
            </a:r>
            <a:r>
              <a:rPr lang="en-US" altLang="zh-CN" sz="2800" b="1" dirty="0">
                <a:solidFill>
                  <a:srgbClr val="FF6699"/>
                </a:solidFill>
                <a:latin typeface="华文仿宋" panose="02010600040101010101" pitchFamily="2" charset="-122"/>
                <a:ea typeface="华文仿宋" panose="02010600040101010101" pitchFamily="2" charset="-122"/>
              </a:rPr>
              <a:t>     </a:t>
            </a:r>
            <a:r>
              <a:rPr lang="en-US" altLang="zh-CN" sz="2800" b="1" dirty="0">
                <a:solidFill>
                  <a:srgbClr val="FF0000"/>
                </a:solidFill>
                <a:latin typeface="华文仿宋" panose="02010600040101010101" pitchFamily="2" charset="-122"/>
                <a:ea typeface="华文仿宋" panose="02010600040101010101" pitchFamily="2" charset="-122"/>
              </a:rPr>
              <a:t>0011</a:t>
            </a:r>
            <a:r>
              <a:rPr lang="en-US" altLang="zh-CN" sz="2800" b="1" dirty="0">
                <a:solidFill>
                  <a:srgbClr val="FF6699"/>
                </a:solidFill>
                <a:latin typeface="华文仿宋" panose="02010600040101010101" pitchFamily="2" charset="-122"/>
                <a:ea typeface="华文仿宋" panose="02010600040101010101" pitchFamily="2" charset="-122"/>
              </a:rPr>
              <a:t>     </a:t>
            </a:r>
            <a:r>
              <a:rPr lang="en-US" altLang="zh-CN" sz="2800" b="1" dirty="0">
                <a:solidFill>
                  <a:schemeClr val="accent2">
                    <a:lumMod val="75000"/>
                  </a:schemeClr>
                </a:solidFill>
                <a:latin typeface="华文仿宋" panose="02010600040101010101" pitchFamily="2" charset="-122"/>
                <a:ea typeface="华文仿宋" panose="02010600040101010101" pitchFamily="2" charset="-122"/>
              </a:rPr>
              <a:t>3</a:t>
            </a:r>
            <a:r>
              <a:rPr lang="en-US" altLang="zh-CN" sz="2800" b="1" dirty="0">
                <a:solidFill>
                  <a:srgbClr val="FF6699"/>
                </a:solidFill>
                <a:latin typeface="华文仿宋" panose="02010600040101010101" pitchFamily="2" charset="-122"/>
                <a:ea typeface="华文仿宋" panose="02010600040101010101" pitchFamily="2" charset="-122"/>
              </a:rPr>
              <a:t>      </a:t>
            </a:r>
            <a:r>
              <a:rPr lang="en-US" altLang="zh-CN" sz="2800" b="1" dirty="0">
                <a:solidFill>
                  <a:srgbClr val="009999"/>
                </a:solidFill>
                <a:latin typeface="华文仿宋" panose="02010600040101010101" pitchFamily="2" charset="-122"/>
                <a:ea typeface="华文仿宋" panose="02010600040101010101" pitchFamily="2" charset="-122"/>
              </a:rPr>
              <a:t>3</a:t>
            </a:r>
            <a:r>
              <a:rPr lang="en-US" altLang="zh-CN" sz="2800" b="1" dirty="0">
                <a:solidFill>
                  <a:srgbClr val="00FFFF"/>
                </a:solidFill>
                <a:latin typeface="华文仿宋" panose="02010600040101010101" pitchFamily="2" charset="-122"/>
                <a:ea typeface="华文仿宋" panose="02010600040101010101" pitchFamily="2" charset="-122"/>
              </a:rPr>
              <a:t> </a:t>
            </a:r>
            <a:endParaRPr lang="en-US" altLang="zh-CN" sz="2800" b="1" i="1" baseline="-25000" dirty="0">
              <a:solidFill>
                <a:srgbClr val="FF0000"/>
              </a:solidFill>
              <a:latin typeface="华文仿宋" panose="02010600040101010101" pitchFamily="2" charset="-122"/>
              <a:ea typeface="华文仿宋" panose="02010600040101010101" pitchFamily="2" charset="-122"/>
            </a:endParaRPr>
          </a:p>
          <a:p>
            <a:pPr indent="309880">
              <a:lnSpc>
                <a:spcPct val="70000"/>
              </a:lnSpc>
              <a:spcBef>
                <a:spcPct val="20000"/>
              </a:spcBef>
              <a:defRPr/>
            </a:pPr>
            <a:r>
              <a:rPr lang="en-US" altLang="zh-CN" sz="2800" b="1" dirty="0">
                <a:solidFill>
                  <a:srgbClr val="FF6699"/>
                </a:solidFill>
                <a:latin typeface="华文仿宋" panose="02010600040101010101" pitchFamily="2" charset="-122"/>
                <a:ea typeface="华文仿宋" panose="02010600040101010101" pitchFamily="2" charset="-122"/>
              </a:rPr>
              <a:t>  </a:t>
            </a:r>
            <a:r>
              <a:rPr lang="en-US" altLang="zh-CN" sz="2800" b="1" dirty="0">
                <a:latin typeface="华文仿宋" panose="02010600040101010101" pitchFamily="2" charset="-122"/>
                <a:ea typeface="华文仿宋" panose="02010600040101010101" pitchFamily="2" charset="-122"/>
              </a:rPr>
              <a:t>4</a:t>
            </a:r>
            <a:r>
              <a:rPr lang="en-US" altLang="zh-CN" sz="2800" b="1" dirty="0">
                <a:solidFill>
                  <a:srgbClr val="FF6699"/>
                </a:solidFill>
                <a:latin typeface="华文仿宋" panose="02010600040101010101" pitchFamily="2" charset="-122"/>
                <a:ea typeface="华文仿宋" panose="02010600040101010101" pitchFamily="2" charset="-122"/>
              </a:rPr>
              <a:t>     </a:t>
            </a:r>
            <a:r>
              <a:rPr lang="en-US" altLang="zh-CN" sz="2800" b="1" dirty="0">
                <a:solidFill>
                  <a:srgbClr val="FF0000"/>
                </a:solidFill>
                <a:latin typeface="华文仿宋" panose="02010600040101010101" pitchFamily="2" charset="-122"/>
                <a:ea typeface="华文仿宋" panose="02010600040101010101" pitchFamily="2" charset="-122"/>
              </a:rPr>
              <a:t>0100</a:t>
            </a:r>
            <a:r>
              <a:rPr lang="en-US" altLang="zh-CN" sz="2800" b="1" dirty="0">
                <a:solidFill>
                  <a:srgbClr val="FF6699"/>
                </a:solidFill>
                <a:latin typeface="华文仿宋" panose="02010600040101010101" pitchFamily="2" charset="-122"/>
                <a:ea typeface="华文仿宋" panose="02010600040101010101" pitchFamily="2" charset="-122"/>
              </a:rPr>
              <a:t>     </a:t>
            </a:r>
            <a:r>
              <a:rPr lang="en-US" altLang="zh-CN" sz="2800" b="1" dirty="0">
                <a:solidFill>
                  <a:schemeClr val="accent2">
                    <a:lumMod val="75000"/>
                  </a:schemeClr>
                </a:solidFill>
                <a:latin typeface="华文仿宋" panose="02010600040101010101" pitchFamily="2" charset="-122"/>
                <a:ea typeface="华文仿宋" panose="02010600040101010101" pitchFamily="2" charset="-122"/>
              </a:rPr>
              <a:t>4</a:t>
            </a:r>
            <a:r>
              <a:rPr lang="en-US" altLang="zh-CN" sz="2800" b="1" dirty="0">
                <a:solidFill>
                  <a:srgbClr val="FF6699"/>
                </a:solidFill>
                <a:latin typeface="华文仿宋" panose="02010600040101010101" pitchFamily="2" charset="-122"/>
                <a:ea typeface="华文仿宋" panose="02010600040101010101" pitchFamily="2" charset="-122"/>
              </a:rPr>
              <a:t>      </a:t>
            </a:r>
            <a:r>
              <a:rPr lang="en-US" altLang="zh-CN" sz="2800" b="1" dirty="0">
                <a:solidFill>
                  <a:srgbClr val="009999"/>
                </a:solidFill>
                <a:latin typeface="华文仿宋" panose="02010600040101010101" pitchFamily="2" charset="-122"/>
                <a:ea typeface="华文仿宋" panose="02010600040101010101" pitchFamily="2" charset="-122"/>
              </a:rPr>
              <a:t>4 </a:t>
            </a:r>
            <a:endParaRPr lang="en-US" altLang="zh-CN" sz="2800" b="1" i="1" baseline="-25000" dirty="0">
              <a:solidFill>
                <a:srgbClr val="009999"/>
              </a:solidFill>
              <a:latin typeface="华文仿宋" panose="02010600040101010101" pitchFamily="2" charset="-122"/>
              <a:ea typeface="华文仿宋" panose="02010600040101010101" pitchFamily="2" charset="-122"/>
            </a:endParaRPr>
          </a:p>
          <a:p>
            <a:pPr indent="309880">
              <a:lnSpc>
                <a:spcPct val="70000"/>
              </a:lnSpc>
              <a:spcBef>
                <a:spcPct val="20000"/>
              </a:spcBef>
              <a:defRPr/>
            </a:pPr>
            <a:r>
              <a:rPr lang="en-US" altLang="zh-CN" sz="2800" b="1" dirty="0">
                <a:solidFill>
                  <a:srgbClr val="FF6699"/>
                </a:solidFill>
                <a:latin typeface="华文仿宋" panose="02010600040101010101" pitchFamily="2" charset="-122"/>
                <a:ea typeface="华文仿宋" panose="02010600040101010101" pitchFamily="2" charset="-122"/>
              </a:rPr>
              <a:t>  </a:t>
            </a:r>
            <a:r>
              <a:rPr lang="en-US" altLang="zh-CN" sz="2800" b="1" dirty="0">
                <a:latin typeface="华文仿宋" panose="02010600040101010101" pitchFamily="2" charset="-122"/>
                <a:ea typeface="华文仿宋" panose="02010600040101010101" pitchFamily="2" charset="-122"/>
              </a:rPr>
              <a:t>5</a:t>
            </a:r>
            <a:r>
              <a:rPr lang="en-US" altLang="zh-CN" sz="2800" b="1" dirty="0">
                <a:solidFill>
                  <a:srgbClr val="FF6699"/>
                </a:solidFill>
                <a:latin typeface="华文仿宋" panose="02010600040101010101" pitchFamily="2" charset="-122"/>
                <a:ea typeface="华文仿宋" panose="02010600040101010101" pitchFamily="2" charset="-122"/>
              </a:rPr>
              <a:t>     </a:t>
            </a:r>
            <a:r>
              <a:rPr lang="en-US" altLang="zh-CN" sz="2800" b="1" dirty="0">
                <a:solidFill>
                  <a:srgbClr val="FF0000"/>
                </a:solidFill>
                <a:latin typeface="华文仿宋" panose="02010600040101010101" pitchFamily="2" charset="-122"/>
                <a:ea typeface="华文仿宋" panose="02010600040101010101" pitchFamily="2" charset="-122"/>
              </a:rPr>
              <a:t>0101</a:t>
            </a:r>
            <a:r>
              <a:rPr lang="en-US" altLang="zh-CN" sz="2800" b="1" dirty="0">
                <a:solidFill>
                  <a:srgbClr val="FF6699"/>
                </a:solidFill>
                <a:latin typeface="华文仿宋" panose="02010600040101010101" pitchFamily="2" charset="-122"/>
                <a:ea typeface="华文仿宋" panose="02010600040101010101" pitchFamily="2" charset="-122"/>
              </a:rPr>
              <a:t>     </a:t>
            </a:r>
            <a:r>
              <a:rPr lang="en-US" altLang="zh-CN" sz="2800" b="1" dirty="0">
                <a:solidFill>
                  <a:schemeClr val="accent2">
                    <a:lumMod val="75000"/>
                  </a:schemeClr>
                </a:solidFill>
                <a:latin typeface="华文仿宋" panose="02010600040101010101" pitchFamily="2" charset="-122"/>
                <a:ea typeface="华文仿宋" panose="02010600040101010101" pitchFamily="2" charset="-122"/>
              </a:rPr>
              <a:t>5</a:t>
            </a:r>
            <a:r>
              <a:rPr lang="en-US" altLang="zh-CN" sz="2800" b="1" dirty="0">
                <a:solidFill>
                  <a:srgbClr val="FF6699"/>
                </a:solidFill>
                <a:latin typeface="华文仿宋" panose="02010600040101010101" pitchFamily="2" charset="-122"/>
                <a:ea typeface="华文仿宋" panose="02010600040101010101" pitchFamily="2" charset="-122"/>
              </a:rPr>
              <a:t>      </a:t>
            </a:r>
            <a:r>
              <a:rPr lang="en-US" altLang="zh-CN" sz="2800" b="1" dirty="0">
                <a:solidFill>
                  <a:srgbClr val="009999"/>
                </a:solidFill>
                <a:latin typeface="华文仿宋" panose="02010600040101010101" pitchFamily="2" charset="-122"/>
                <a:ea typeface="华文仿宋" panose="02010600040101010101" pitchFamily="2" charset="-122"/>
              </a:rPr>
              <a:t>5</a:t>
            </a:r>
            <a:r>
              <a:rPr lang="en-US" altLang="zh-CN" sz="2800" b="1" dirty="0">
                <a:solidFill>
                  <a:srgbClr val="00FFFF"/>
                </a:solidFill>
                <a:latin typeface="华文仿宋" panose="02010600040101010101" pitchFamily="2" charset="-122"/>
                <a:ea typeface="华文仿宋" panose="02010600040101010101" pitchFamily="2" charset="-122"/>
              </a:rPr>
              <a:t> </a:t>
            </a:r>
            <a:endParaRPr lang="en-US" altLang="zh-CN" sz="2800" b="1" i="1" baseline="-25000" dirty="0">
              <a:solidFill>
                <a:srgbClr val="FF0000"/>
              </a:solidFill>
              <a:latin typeface="华文仿宋" panose="02010600040101010101" pitchFamily="2" charset="-122"/>
              <a:ea typeface="华文仿宋" panose="02010600040101010101" pitchFamily="2" charset="-122"/>
            </a:endParaRPr>
          </a:p>
          <a:p>
            <a:pPr indent="309880">
              <a:lnSpc>
                <a:spcPct val="70000"/>
              </a:lnSpc>
              <a:spcBef>
                <a:spcPct val="20000"/>
              </a:spcBef>
              <a:defRPr/>
            </a:pPr>
            <a:r>
              <a:rPr lang="en-US" altLang="zh-CN" sz="2800" b="1" dirty="0">
                <a:solidFill>
                  <a:srgbClr val="FF6699"/>
                </a:solidFill>
                <a:latin typeface="华文仿宋" panose="02010600040101010101" pitchFamily="2" charset="-122"/>
                <a:ea typeface="华文仿宋" panose="02010600040101010101" pitchFamily="2" charset="-122"/>
              </a:rPr>
              <a:t>  </a:t>
            </a:r>
            <a:r>
              <a:rPr lang="en-US" altLang="zh-CN" sz="2800" b="1" dirty="0">
                <a:latin typeface="华文仿宋" panose="02010600040101010101" pitchFamily="2" charset="-122"/>
                <a:ea typeface="华文仿宋" panose="02010600040101010101" pitchFamily="2" charset="-122"/>
              </a:rPr>
              <a:t>6    </a:t>
            </a:r>
            <a:r>
              <a:rPr lang="en-US" altLang="zh-CN" sz="2800" b="1" dirty="0">
                <a:solidFill>
                  <a:srgbClr val="FF6699"/>
                </a:solidFill>
                <a:latin typeface="华文仿宋" panose="02010600040101010101" pitchFamily="2" charset="-122"/>
                <a:ea typeface="华文仿宋" panose="02010600040101010101" pitchFamily="2" charset="-122"/>
              </a:rPr>
              <a:t> </a:t>
            </a:r>
            <a:r>
              <a:rPr lang="en-US" altLang="zh-CN" sz="2800" b="1" dirty="0">
                <a:solidFill>
                  <a:srgbClr val="FF0000"/>
                </a:solidFill>
                <a:latin typeface="华文仿宋" panose="02010600040101010101" pitchFamily="2" charset="-122"/>
                <a:ea typeface="华文仿宋" panose="02010600040101010101" pitchFamily="2" charset="-122"/>
              </a:rPr>
              <a:t>0110</a:t>
            </a:r>
            <a:r>
              <a:rPr lang="en-US" altLang="zh-CN" sz="2800" b="1" dirty="0">
                <a:solidFill>
                  <a:srgbClr val="FF6699"/>
                </a:solidFill>
                <a:latin typeface="华文仿宋" panose="02010600040101010101" pitchFamily="2" charset="-122"/>
                <a:ea typeface="华文仿宋" panose="02010600040101010101" pitchFamily="2" charset="-122"/>
              </a:rPr>
              <a:t>     </a:t>
            </a:r>
            <a:r>
              <a:rPr lang="en-US" altLang="zh-CN" sz="2800" b="1" dirty="0">
                <a:solidFill>
                  <a:schemeClr val="accent2">
                    <a:lumMod val="75000"/>
                  </a:schemeClr>
                </a:solidFill>
                <a:latin typeface="华文仿宋" panose="02010600040101010101" pitchFamily="2" charset="-122"/>
                <a:ea typeface="华文仿宋" panose="02010600040101010101" pitchFamily="2" charset="-122"/>
              </a:rPr>
              <a:t>6</a:t>
            </a:r>
            <a:r>
              <a:rPr lang="en-US" altLang="zh-CN" sz="2800" b="1" dirty="0">
                <a:solidFill>
                  <a:srgbClr val="FF6699"/>
                </a:solidFill>
                <a:latin typeface="华文仿宋" panose="02010600040101010101" pitchFamily="2" charset="-122"/>
                <a:ea typeface="华文仿宋" panose="02010600040101010101" pitchFamily="2" charset="-122"/>
              </a:rPr>
              <a:t>      </a:t>
            </a:r>
            <a:r>
              <a:rPr lang="en-US" altLang="zh-CN" sz="2800" b="1" dirty="0">
                <a:solidFill>
                  <a:srgbClr val="009999"/>
                </a:solidFill>
                <a:latin typeface="华文仿宋" panose="02010600040101010101" pitchFamily="2" charset="-122"/>
                <a:ea typeface="华文仿宋" panose="02010600040101010101" pitchFamily="2" charset="-122"/>
              </a:rPr>
              <a:t>6 </a:t>
            </a:r>
            <a:endParaRPr lang="en-US" altLang="zh-CN" sz="2800" b="1" i="1" baseline="-25000" dirty="0">
              <a:solidFill>
                <a:srgbClr val="009999"/>
              </a:solidFill>
              <a:latin typeface="华文仿宋" panose="02010600040101010101" pitchFamily="2" charset="-122"/>
              <a:ea typeface="华文仿宋" panose="02010600040101010101" pitchFamily="2" charset="-122"/>
            </a:endParaRPr>
          </a:p>
          <a:p>
            <a:pPr indent="309880">
              <a:lnSpc>
                <a:spcPct val="70000"/>
              </a:lnSpc>
              <a:spcBef>
                <a:spcPct val="20000"/>
              </a:spcBef>
              <a:defRPr/>
            </a:pPr>
            <a:r>
              <a:rPr lang="en-US" altLang="zh-CN" sz="2800" b="1" dirty="0">
                <a:solidFill>
                  <a:srgbClr val="FF6699"/>
                </a:solidFill>
                <a:latin typeface="华文仿宋" panose="02010600040101010101" pitchFamily="2" charset="-122"/>
                <a:ea typeface="华文仿宋" panose="02010600040101010101" pitchFamily="2" charset="-122"/>
              </a:rPr>
              <a:t>  </a:t>
            </a:r>
            <a:r>
              <a:rPr lang="en-US" altLang="zh-CN" sz="2800" b="1" dirty="0">
                <a:latin typeface="华文仿宋" panose="02010600040101010101" pitchFamily="2" charset="-122"/>
                <a:ea typeface="华文仿宋" panose="02010600040101010101" pitchFamily="2" charset="-122"/>
              </a:rPr>
              <a:t>7</a:t>
            </a:r>
            <a:r>
              <a:rPr lang="en-US" altLang="zh-CN" sz="2800" b="1" dirty="0">
                <a:solidFill>
                  <a:srgbClr val="FF6699"/>
                </a:solidFill>
                <a:latin typeface="华文仿宋" panose="02010600040101010101" pitchFamily="2" charset="-122"/>
                <a:ea typeface="华文仿宋" panose="02010600040101010101" pitchFamily="2" charset="-122"/>
              </a:rPr>
              <a:t>     </a:t>
            </a:r>
            <a:r>
              <a:rPr lang="en-US" altLang="zh-CN" sz="2800" b="1" dirty="0">
                <a:solidFill>
                  <a:srgbClr val="FF0000"/>
                </a:solidFill>
                <a:latin typeface="华文仿宋" panose="02010600040101010101" pitchFamily="2" charset="-122"/>
                <a:ea typeface="华文仿宋" panose="02010600040101010101" pitchFamily="2" charset="-122"/>
              </a:rPr>
              <a:t>0111</a:t>
            </a:r>
            <a:r>
              <a:rPr lang="en-US" altLang="zh-CN" sz="2800" b="1" dirty="0">
                <a:solidFill>
                  <a:srgbClr val="FF6699"/>
                </a:solidFill>
                <a:latin typeface="华文仿宋" panose="02010600040101010101" pitchFamily="2" charset="-122"/>
                <a:ea typeface="华文仿宋" panose="02010600040101010101" pitchFamily="2" charset="-122"/>
              </a:rPr>
              <a:t>     </a:t>
            </a:r>
            <a:r>
              <a:rPr lang="en-US" altLang="zh-CN" sz="2800" b="1" dirty="0">
                <a:solidFill>
                  <a:schemeClr val="accent2">
                    <a:lumMod val="75000"/>
                  </a:schemeClr>
                </a:solidFill>
                <a:latin typeface="华文仿宋" panose="02010600040101010101" pitchFamily="2" charset="-122"/>
                <a:ea typeface="华文仿宋" panose="02010600040101010101" pitchFamily="2" charset="-122"/>
              </a:rPr>
              <a:t>7</a:t>
            </a:r>
            <a:r>
              <a:rPr lang="en-US" altLang="zh-CN" sz="2800" b="1" dirty="0">
                <a:solidFill>
                  <a:srgbClr val="FF6699"/>
                </a:solidFill>
                <a:latin typeface="华文仿宋" panose="02010600040101010101" pitchFamily="2" charset="-122"/>
                <a:ea typeface="华文仿宋" panose="02010600040101010101" pitchFamily="2" charset="-122"/>
              </a:rPr>
              <a:t>      </a:t>
            </a:r>
            <a:r>
              <a:rPr lang="en-US" altLang="zh-CN" sz="2800" b="1" dirty="0">
                <a:solidFill>
                  <a:srgbClr val="009999"/>
                </a:solidFill>
                <a:latin typeface="华文仿宋" panose="02010600040101010101" pitchFamily="2" charset="-122"/>
                <a:ea typeface="华文仿宋" panose="02010600040101010101" pitchFamily="2" charset="-122"/>
              </a:rPr>
              <a:t>7</a:t>
            </a:r>
          </a:p>
        </p:txBody>
      </p:sp>
      <p:sp>
        <p:nvSpPr>
          <p:cNvPr id="12" name="Rectangle 5">
            <a:extLst>
              <a:ext uri="{FF2B5EF4-FFF2-40B4-BE49-F238E27FC236}">
                <a16:creationId xmlns:a16="http://schemas.microsoft.com/office/drawing/2014/main" id="{CB27CA42-2095-4DE4-85CF-D2E73D4CE19D}"/>
              </a:ext>
            </a:extLst>
          </p:cNvPr>
          <p:cNvSpPr>
            <a:spLocks noChangeArrowheads="1"/>
          </p:cNvSpPr>
          <p:nvPr/>
        </p:nvSpPr>
        <p:spPr bwMode="auto">
          <a:xfrm>
            <a:off x="6303552" y="1559154"/>
            <a:ext cx="4287441" cy="3924995"/>
          </a:xfrm>
          <a:prstGeom prst="rect">
            <a:avLst/>
          </a:prstGeom>
          <a:solidFill>
            <a:schemeClr val="accent3">
              <a:lumMod val="20000"/>
              <a:lumOff val="80000"/>
            </a:schemeClr>
          </a:solidFill>
          <a:ln w="9525">
            <a:noFill/>
            <a:miter lim="800000"/>
          </a:ln>
        </p:spPr>
        <p:txBody>
          <a:bodyPr lIns="74811" tIns="37406" rIns="74811" bIns="74811"/>
          <a:lstStyle/>
          <a:p>
            <a:pPr indent="309880">
              <a:lnSpc>
                <a:spcPct val="70000"/>
              </a:lnSpc>
              <a:spcBef>
                <a:spcPct val="20000"/>
              </a:spcBef>
              <a:defRPr/>
            </a:pPr>
            <a:r>
              <a:rPr lang="en-US" altLang="zh-CN" sz="2800" b="1" dirty="0">
                <a:solidFill>
                  <a:srgbClr val="FF6699"/>
                </a:solidFill>
                <a:latin typeface="华文仿宋" panose="02010600040101010101" pitchFamily="2" charset="-122"/>
                <a:ea typeface="华文仿宋" panose="02010600040101010101" pitchFamily="2" charset="-122"/>
              </a:rPr>
              <a:t> </a:t>
            </a:r>
            <a:r>
              <a:rPr lang="zh-CN" altLang="en-US" sz="2800" b="1" dirty="0">
                <a:latin typeface="华文仿宋" panose="02010600040101010101" pitchFamily="2" charset="-122"/>
                <a:ea typeface="华文仿宋" panose="02010600040101010101" pitchFamily="2" charset="-122"/>
              </a:rPr>
              <a:t>十</a:t>
            </a:r>
            <a:r>
              <a:rPr lang="zh-CN" altLang="en-US" sz="2800" b="1" dirty="0">
                <a:solidFill>
                  <a:srgbClr val="FF6699"/>
                </a:solidFill>
                <a:latin typeface="华文仿宋" panose="02010600040101010101" pitchFamily="2" charset="-122"/>
                <a:ea typeface="华文仿宋" panose="02010600040101010101" pitchFamily="2" charset="-122"/>
              </a:rPr>
              <a:t>      </a:t>
            </a:r>
            <a:r>
              <a:rPr lang="zh-CN" altLang="en-US" sz="2800" b="1" dirty="0">
                <a:solidFill>
                  <a:srgbClr val="FF0000"/>
                </a:solidFill>
                <a:latin typeface="华文仿宋" panose="02010600040101010101" pitchFamily="2" charset="-122"/>
                <a:ea typeface="华文仿宋" panose="02010600040101010101" pitchFamily="2" charset="-122"/>
              </a:rPr>
              <a:t>二</a:t>
            </a:r>
            <a:r>
              <a:rPr lang="zh-CN" altLang="en-US" sz="2800" b="1" dirty="0">
                <a:solidFill>
                  <a:srgbClr val="FFFF00"/>
                </a:solidFill>
                <a:latin typeface="华文仿宋" panose="02010600040101010101" pitchFamily="2" charset="-122"/>
                <a:ea typeface="华文仿宋" panose="02010600040101010101" pitchFamily="2" charset="-122"/>
              </a:rPr>
              <a:t>     </a:t>
            </a:r>
            <a:r>
              <a:rPr lang="zh-CN" altLang="en-US" sz="2800" b="1" dirty="0">
                <a:solidFill>
                  <a:schemeClr val="accent2">
                    <a:lumMod val="75000"/>
                  </a:schemeClr>
                </a:solidFill>
                <a:latin typeface="华文仿宋" panose="02010600040101010101" pitchFamily="2" charset="-122"/>
                <a:ea typeface="华文仿宋" panose="02010600040101010101" pitchFamily="2" charset="-122"/>
              </a:rPr>
              <a:t>八</a:t>
            </a:r>
            <a:r>
              <a:rPr lang="zh-CN" altLang="en-US" sz="2800" b="1" dirty="0">
                <a:solidFill>
                  <a:srgbClr val="FF9900"/>
                </a:solidFill>
                <a:latin typeface="华文仿宋" panose="02010600040101010101" pitchFamily="2" charset="-122"/>
                <a:ea typeface="华文仿宋" panose="02010600040101010101" pitchFamily="2" charset="-122"/>
              </a:rPr>
              <a:t>   </a:t>
            </a:r>
            <a:r>
              <a:rPr lang="zh-CN" altLang="en-US" sz="2800" b="1" dirty="0">
                <a:solidFill>
                  <a:srgbClr val="009999"/>
                </a:solidFill>
                <a:latin typeface="华文仿宋" panose="02010600040101010101" pitchFamily="2" charset="-122"/>
                <a:ea typeface="华文仿宋" panose="02010600040101010101" pitchFamily="2" charset="-122"/>
              </a:rPr>
              <a:t>十六</a:t>
            </a:r>
          </a:p>
          <a:p>
            <a:pPr indent="309880">
              <a:lnSpc>
                <a:spcPct val="70000"/>
              </a:lnSpc>
              <a:spcBef>
                <a:spcPct val="20000"/>
              </a:spcBef>
              <a:defRPr/>
            </a:pPr>
            <a:r>
              <a:rPr lang="zh-CN" altLang="en-US" sz="2800" b="1" dirty="0">
                <a:latin typeface="华文仿宋" panose="02010600040101010101" pitchFamily="2" charset="-122"/>
                <a:ea typeface="华文仿宋" panose="02010600040101010101" pitchFamily="2" charset="-122"/>
              </a:rPr>
              <a:t>进制</a:t>
            </a:r>
            <a:r>
              <a:rPr lang="zh-CN" altLang="en-US" sz="2800" b="1" dirty="0">
                <a:solidFill>
                  <a:srgbClr val="FF6699"/>
                </a:solidFill>
                <a:latin typeface="华文仿宋" panose="02010600040101010101" pitchFamily="2" charset="-122"/>
                <a:ea typeface="华文仿宋" panose="02010600040101010101" pitchFamily="2" charset="-122"/>
              </a:rPr>
              <a:t> </a:t>
            </a:r>
            <a:r>
              <a:rPr lang="zh-CN" altLang="en-US" sz="2800" b="1" dirty="0">
                <a:solidFill>
                  <a:srgbClr val="FF0000"/>
                </a:solidFill>
                <a:latin typeface="华文仿宋" panose="02010600040101010101" pitchFamily="2" charset="-122"/>
                <a:ea typeface="华文仿宋" panose="02010600040101010101" pitchFamily="2" charset="-122"/>
              </a:rPr>
              <a:t>进制</a:t>
            </a:r>
            <a:r>
              <a:rPr lang="zh-CN" altLang="en-US" sz="2800" b="1" dirty="0">
                <a:solidFill>
                  <a:srgbClr val="FF6699"/>
                </a:solidFill>
                <a:latin typeface="华文仿宋" panose="02010600040101010101" pitchFamily="2" charset="-122"/>
                <a:ea typeface="华文仿宋" panose="02010600040101010101" pitchFamily="2" charset="-122"/>
              </a:rPr>
              <a:t> </a:t>
            </a:r>
            <a:r>
              <a:rPr lang="zh-CN" altLang="en-US" sz="2800" b="1" dirty="0">
                <a:solidFill>
                  <a:schemeClr val="accent2">
                    <a:lumMod val="75000"/>
                  </a:schemeClr>
                </a:solidFill>
                <a:latin typeface="华文仿宋" panose="02010600040101010101" pitchFamily="2" charset="-122"/>
                <a:ea typeface="华文仿宋" panose="02010600040101010101" pitchFamily="2" charset="-122"/>
              </a:rPr>
              <a:t>进制</a:t>
            </a:r>
            <a:r>
              <a:rPr lang="zh-CN" altLang="en-US" sz="2800" b="1" dirty="0">
                <a:solidFill>
                  <a:srgbClr val="FF6699"/>
                </a:solidFill>
                <a:latin typeface="华文仿宋" panose="02010600040101010101" pitchFamily="2" charset="-122"/>
                <a:ea typeface="华文仿宋" panose="02010600040101010101" pitchFamily="2" charset="-122"/>
              </a:rPr>
              <a:t> </a:t>
            </a:r>
            <a:r>
              <a:rPr lang="zh-CN" altLang="en-US" sz="2800" b="1" dirty="0">
                <a:solidFill>
                  <a:srgbClr val="009999"/>
                </a:solidFill>
                <a:latin typeface="华文仿宋" panose="02010600040101010101" pitchFamily="2" charset="-122"/>
                <a:ea typeface="华文仿宋" panose="02010600040101010101" pitchFamily="2" charset="-122"/>
              </a:rPr>
              <a:t>进制</a:t>
            </a:r>
            <a:r>
              <a:rPr lang="zh-CN" altLang="en-US" sz="2800" b="1" dirty="0">
                <a:solidFill>
                  <a:srgbClr val="00FFFF"/>
                </a:solidFill>
                <a:latin typeface="华文仿宋" panose="02010600040101010101" pitchFamily="2" charset="-122"/>
                <a:ea typeface="华文仿宋" panose="02010600040101010101" pitchFamily="2" charset="-122"/>
              </a:rPr>
              <a:t> </a:t>
            </a:r>
            <a:endParaRPr lang="zh-CN" altLang="en-US" sz="2800" b="1" i="1" baseline="-25000" dirty="0">
              <a:solidFill>
                <a:srgbClr val="FF0000"/>
              </a:solidFill>
              <a:latin typeface="华文仿宋" panose="02010600040101010101" pitchFamily="2" charset="-122"/>
              <a:ea typeface="华文仿宋" panose="02010600040101010101" pitchFamily="2" charset="-122"/>
            </a:endParaRPr>
          </a:p>
          <a:p>
            <a:pPr indent="309880">
              <a:lnSpc>
                <a:spcPct val="70000"/>
              </a:lnSpc>
              <a:spcBef>
                <a:spcPct val="20000"/>
              </a:spcBef>
              <a:defRPr/>
            </a:pPr>
            <a:r>
              <a:rPr lang="zh-CN" altLang="en-US" sz="2800" b="1" dirty="0">
                <a:solidFill>
                  <a:srgbClr val="FF6699"/>
                </a:solidFill>
                <a:latin typeface="华文仿宋" panose="02010600040101010101" pitchFamily="2" charset="-122"/>
                <a:ea typeface="华文仿宋" panose="02010600040101010101" pitchFamily="2" charset="-122"/>
              </a:rPr>
              <a:t>  </a:t>
            </a:r>
            <a:r>
              <a:rPr lang="en-US" altLang="zh-CN" sz="2800" b="1" dirty="0">
                <a:latin typeface="华文仿宋" panose="02010600040101010101" pitchFamily="2" charset="-122"/>
                <a:ea typeface="华文仿宋" panose="02010600040101010101" pitchFamily="2" charset="-122"/>
              </a:rPr>
              <a:t>8</a:t>
            </a:r>
            <a:r>
              <a:rPr lang="en-US" altLang="zh-CN" sz="2800" b="1" dirty="0">
                <a:solidFill>
                  <a:srgbClr val="FF6699"/>
                </a:solidFill>
                <a:latin typeface="华文仿宋" panose="02010600040101010101" pitchFamily="2" charset="-122"/>
                <a:ea typeface="华文仿宋" panose="02010600040101010101" pitchFamily="2" charset="-122"/>
              </a:rPr>
              <a:t>     </a:t>
            </a:r>
            <a:r>
              <a:rPr lang="en-US" altLang="zh-CN" sz="2800" b="1" dirty="0">
                <a:solidFill>
                  <a:srgbClr val="FF0000"/>
                </a:solidFill>
                <a:latin typeface="华文仿宋" panose="02010600040101010101" pitchFamily="2" charset="-122"/>
                <a:ea typeface="华文仿宋" panose="02010600040101010101" pitchFamily="2" charset="-122"/>
              </a:rPr>
              <a:t>1000</a:t>
            </a:r>
            <a:r>
              <a:rPr lang="en-US" altLang="zh-CN" sz="2800" b="1" dirty="0">
                <a:solidFill>
                  <a:srgbClr val="FFFF00"/>
                </a:solidFill>
                <a:latin typeface="华文仿宋" panose="02010600040101010101" pitchFamily="2" charset="-122"/>
                <a:ea typeface="华文仿宋" panose="02010600040101010101" pitchFamily="2" charset="-122"/>
              </a:rPr>
              <a:t> </a:t>
            </a:r>
            <a:r>
              <a:rPr lang="en-US" altLang="zh-CN" sz="2800" b="1" dirty="0">
                <a:solidFill>
                  <a:srgbClr val="FF6699"/>
                </a:solidFill>
                <a:latin typeface="华文仿宋" panose="02010600040101010101" pitchFamily="2" charset="-122"/>
                <a:ea typeface="华文仿宋" panose="02010600040101010101" pitchFamily="2" charset="-122"/>
              </a:rPr>
              <a:t>  </a:t>
            </a:r>
            <a:r>
              <a:rPr lang="en-US" altLang="zh-CN" sz="2800" b="1" dirty="0">
                <a:latin typeface="华文仿宋" panose="02010600040101010101" pitchFamily="2" charset="-122"/>
                <a:ea typeface="华文仿宋" panose="02010600040101010101" pitchFamily="2" charset="-122"/>
              </a:rPr>
              <a:t>1</a:t>
            </a:r>
            <a:r>
              <a:rPr lang="en-US" altLang="zh-CN" sz="2800" b="1" dirty="0">
                <a:solidFill>
                  <a:schemeClr val="accent2">
                    <a:lumMod val="75000"/>
                  </a:schemeClr>
                </a:solidFill>
                <a:latin typeface="华文仿宋" panose="02010600040101010101" pitchFamily="2" charset="-122"/>
                <a:ea typeface="华文仿宋" panose="02010600040101010101" pitchFamily="2" charset="-122"/>
              </a:rPr>
              <a:t>0</a:t>
            </a:r>
            <a:r>
              <a:rPr lang="en-US" altLang="zh-CN" sz="2800" b="1" dirty="0">
                <a:solidFill>
                  <a:srgbClr val="FF6699"/>
                </a:solidFill>
                <a:latin typeface="华文仿宋" panose="02010600040101010101" pitchFamily="2" charset="-122"/>
                <a:ea typeface="华文仿宋" panose="02010600040101010101" pitchFamily="2" charset="-122"/>
              </a:rPr>
              <a:t>      </a:t>
            </a:r>
            <a:r>
              <a:rPr lang="en-US" altLang="zh-CN" sz="2800" b="1" dirty="0">
                <a:solidFill>
                  <a:srgbClr val="009999"/>
                </a:solidFill>
                <a:latin typeface="华文仿宋" panose="02010600040101010101" pitchFamily="2" charset="-122"/>
                <a:ea typeface="华文仿宋" panose="02010600040101010101" pitchFamily="2" charset="-122"/>
              </a:rPr>
              <a:t>8 </a:t>
            </a:r>
            <a:endParaRPr lang="en-US" altLang="zh-CN" sz="2800" b="1" i="1" baseline="-25000" dirty="0">
              <a:solidFill>
                <a:srgbClr val="009999"/>
              </a:solidFill>
              <a:latin typeface="华文仿宋" panose="02010600040101010101" pitchFamily="2" charset="-122"/>
              <a:ea typeface="华文仿宋" panose="02010600040101010101" pitchFamily="2" charset="-122"/>
            </a:endParaRPr>
          </a:p>
          <a:p>
            <a:pPr indent="309880">
              <a:lnSpc>
                <a:spcPct val="70000"/>
              </a:lnSpc>
              <a:spcBef>
                <a:spcPct val="20000"/>
              </a:spcBef>
              <a:defRPr/>
            </a:pPr>
            <a:r>
              <a:rPr lang="en-US" altLang="zh-CN" sz="2800" b="1" dirty="0">
                <a:solidFill>
                  <a:srgbClr val="FF6699"/>
                </a:solidFill>
                <a:latin typeface="华文仿宋" panose="02010600040101010101" pitchFamily="2" charset="-122"/>
                <a:ea typeface="华文仿宋" panose="02010600040101010101" pitchFamily="2" charset="-122"/>
              </a:rPr>
              <a:t>  </a:t>
            </a:r>
            <a:r>
              <a:rPr lang="en-US" altLang="zh-CN" sz="2800" b="1" dirty="0">
                <a:latin typeface="华文仿宋" panose="02010600040101010101" pitchFamily="2" charset="-122"/>
                <a:ea typeface="华文仿宋" panose="02010600040101010101" pitchFamily="2" charset="-122"/>
              </a:rPr>
              <a:t>9</a:t>
            </a:r>
            <a:r>
              <a:rPr lang="en-US" altLang="zh-CN" sz="2800" b="1" dirty="0">
                <a:solidFill>
                  <a:srgbClr val="FF6699"/>
                </a:solidFill>
                <a:latin typeface="华文仿宋" panose="02010600040101010101" pitchFamily="2" charset="-122"/>
                <a:ea typeface="华文仿宋" panose="02010600040101010101" pitchFamily="2" charset="-122"/>
              </a:rPr>
              <a:t>     </a:t>
            </a:r>
            <a:r>
              <a:rPr lang="en-US" altLang="zh-CN" sz="2800" b="1" dirty="0">
                <a:solidFill>
                  <a:srgbClr val="FF0000"/>
                </a:solidFill>
                <a:latin typeface="华文仿宋" panose="02010600040101010101" pitchFamily="2" charset="-122"/>
                <a:ea typeface="华文仿宋" panose="02010600040101010101" pitchFamily="2" charset="-122"/>
              </a:rPr>
              <a:t>1001</a:t>
            </a:r>
            <a:r>
              <a:rPr lang="en-US" altLang="zh-CN" sz="2800" b="1" dirty="0">
                <a:solidFill>
                  <a:srgbClr val="FF6699"/>
                </a:solidFill>
                <a:latin typeface="华文仿宋" panose="02010600040101010101" pitchFamily="2" charset="-122"/>
                <a:ea typeface="华文仿宋" panose="02010600040101010101" pitchFamily="2" charset="-122"/>
              </a:rPr>
              <a:t>   </a:t>
            </a:r>
            <a:r>
              <a:rPr lang="en-US" altLang="zh-CN" sz="2800" b="1" dirty="0">
                <a:solidFill>
                  <a:schemeClr val="accent2">
                    <a:lumMod val="75000"/>
                  </a:schemeClr>
                </a:solidFill>
                <a:latin typeface="华文仿宋" panose="02010600040101010101" pitchFamily="2" charset="-122"/>
                <a:ea typeface="华文仿宋" panose="02010600040101010101" pitchFamily="2" charset="-122"/>
              </a:rPr>
              <a:t>11</a:t>
            </a:r>
            <a:r>
              <a:rPr lang="en-US" altLang="zh-CN" sz="2800" b="1" dirty="0">
                <a:solidFill>
                  <a:srgbClr val="FF6699"/>
                </a:solidFill>
                <a:latin typeface="华文仿宋" panose="02010600040101010101" pitchFamily="2" charset="-122"/>
                <a:ea typeface="华文仿宋" panose="02010600040101010101" pitchFamily="2" charset="-122"/>
              </a:rPr>
              <a:t>      </a:t>
            </a:r>
            <a:r>
              <a:rPr lang="en-US" altLang="zh-CN" sz="2800" b="1" dirty="0">
                <a:solidFill>
                  <a:srgbClr val="009999"/>
                </a:solidFill>
                <a:latin typeface="华文仿宋" panose="02010600040101010101" pitchFamily="2" charset="-122"/>
                <a:ea typeface="华文仿宋" panose="02010600040101010101" pitchFamily="2" charset="-122"/>
              </a:rPr>
              <a:t>9</a:t>
            </a:r>
            <a:r>
              <a:rPr lang="en-US" altLang="zh-CN" sz="2800" b="1" dirty="0">
                <a:solidFill>
                  <a:srgbClr val="00FFFF"/>
                </a:solidFill>
                <a:latin typeface="华文仿宋" panose="02010600040101010101" pitchFamily="2" charset="-122"/>
                <a:ea typeface="华文仿宋" panose="02010600040101010101" pitchFamily="2" charset="-122"/>
              </a:rPr>
              <a:t> </a:t>
            </a:r>
            <a:endParaRPr lang="en-US" altLang="zh-CN" sz="2800" b="1" i="1" baseline="-25000" dirty="0">
              <a:solidFill>
                <a:srgbClr val="FF0000"/>
              </a:solidFill>
              <a:latin typeface="华文仿宋" panose="02010600040101010101" pitchFamily="2" charset="-122"/>
              <a:ea typeface="华文仿宋" panose="02010600040101010101" pitchFamily="2" charset="-122"/>
            </a:endParaRPr>
          </a:p>
          <a:p>
            <a:pPr indent="309880">
              <a:lnSpc>
                <a:spcPct val="70000"/>
              </a:lnSpc>
              <a:spcBef>
                <a:spcPct val="20000"/>
              </a:spcBef>
              <a:defRPr/>
            </a:pPr>
            <a:r>
              <a:rPr lang="en-US" altLang="zh-CN" sz="2800" b="1" dirty="0">
                <a:solidFill>
                  <a:srgbClr val="FF6699"/>
                </a:solidFill>
                <a:latin typeface="华文仿宋" panose="02010600040101010101" pitchFamily="2" charset="-122"/>
                <a:ea typeface="华文仿宋" panose="02010600040101010101" pitchFamily="2" charset="-122"/>
              </a:rPr>
              <a:t> </a:t>
            </a:r>
            <a:r>
              <a:rPr lang="en-US" altLang="zh-CN" sz="2800" b="1" dirty="0">
                <a:latin typeface="华文仿宋" panose="02010600040101010101" pitchFamily="2" charset="-122"/>
                <a:ea typeface="华文仿宋" panose="02010600040101010101" pitchFamily="2" charset="-122"/>
              </a:rPr>
              <a:t>10</a:t>
            </a:r>
            <a:r>
              <a:rPr lang="en-US" altLang="zh-CN" sz="2800" b="1" dirty="0">
                <a:solidFill>
                  <a:srgbClr val="FF6699"/>
                </a:solidFill>
                <a:latin typeface="华文仿宋" panose="02010600040101010101" pitchFamily="2" charset="-122"/>
                <a:ea typeface="华文仿宋" panose="02010600040101010101" pitchFamily="2" charset="-122"/>
              </a:rPr>
              <a:t>    </a:t>
            </a:r>
            <a:r>
              <a:rPr lang="en-US" altLang="zh-CN" sz="2800" b="1" dirty="0">
                <a:solidFill>
                  <a:srgbClr val="FF0000"/>
                </a:solidFill>
                <a:latin typeface="华文仿宋" panose="02010600040101010101" pitchFamily="2" charset="-122"/>
                <a:ea typeface="华文仿宋" panose="02010600040101010101" pitchFamily="2" charset="-122"/>
              </a:rPr>
              <a:t>1010</a:t>
            </a:r>
            <a:r>
              <a:rPr lang="en-US" altLang="zh-CN" sz="2800" b="1" dirty="0">
                <a:solidFill>
                  <a:srgbClr val="FF6699"/>
                </a:solidFill>
                <a:latin typeface="华文仿宋" panose="02010600040101010101" pitchFamily="2" charset="-122"/>
                <a:ea typeface="华文仿宋" panose="02010600040101010101" pitchFamily="2" charset="-122"/>
              </a:rPr>
              <a:t>   </a:t>
            </a:r>
            <a:r>
              <a:rPr lang="en-US" altLang="zh-CN" sz="2800" b="1" dirty="0">
                <a:solidFill>
                  <a:schemeClr val="accent2">
                    <a:lumMod val="75000"/>
                  </a:schemeClr>
                </a:solidFill>
                <a:latin typeface="华文仿宋" panose="02010600040101010101" pitchFamily="2" charset="-122"/>
                <a:ea typeface="华文仿宋" panose="02010600040101010101" pitchFamily="2" charset="-122"/>
              </a:rPr>
              <a:t>12</a:t>
            </a:r>
            <a:r>
              <a:rPr lang="en-US" altLang="zh-CN" sz="2800" b="1" dirty="0">
                <a:solidFill>
                  <a:srgbClr val="FF6699"/>
                </a:solidFill>
                <a:latin typeface="华文仿宋" panose="02010600040101010101" pitchFamily="2" charset="-122"/>
                <a:ea typeface="华文仿宋" panose="02010600040101010101" pitchFamily="2" charset="-122"/>
              </a:rPr>
              <a:t>      </a:t>
            </a:r>
            <a:r>
              <a:rPr lang="en-US" altLang="zh-CN" sz="2800" b="1" dirty="0">
                <a:solidFill>
                  <a:srgbClr val="009999"/>
                </a:solidFill>
                <a:latin typeface="华文仿宋" panose="02010600040101010101" pitchFamily="2" charset="-122"/>
                <a:ea typeface="华文仿宋" panose="02010600040101010101" pitchFamily="2" charset="-122"/>
              </a:rPr>
              <a:t>A</a:t>
            </a:r>
            <a:r>
              <a:rPr lang="en-US" altLang="zh-CN" sz="2800" b="1" dirty="0">
                <a:solidFill>
                  <a:srgbClr val="00FFFF"/>
                </a:solidFill>
                <a:latin typeface="华文仿宋" panose="02010600040101010101" pitchFamily="2" charset="-122"/>
                <a:ea typeface="华文仿宋" panose="02010600040101010101" pitchFamily="2" charset="-122"/>
              </a:rPr>
              <a:t> </a:t>
            </a:r>
            <a:endParaRPr lang="en-US" altLang="zh-CN" sz="2800" b="1" i="1" baseline="-25000" dirty="0">
              <a:solidFill>
                <a:srgbClr val="FF0000"/>
              </a:solidFill>
              <a:latin typeface="华文仿宋" panose="02010600040101010101" pitchFamily="2" charset="-122"/>
              <a:ea typeface="华文仿宋" panose="02010600040101010101" pitchFamily="2" charset="-122"/>
            </a:endParaRPr>
          </a:p>
          <a:p>
            <a:pPr indent="309880">
              <a:lnSpc>
                <a:spcPct val="70000"/>
              </a:lnSpc>
              <a:spcBef>
                <a:spcPct val="20000"/>
              </a:spcBef>
              <a:defRPr/>
            </a:pPr>
            <a:r>
              <a:rPr lang="en-US" altLang="zh-CN" sz="2800" b="1" dirty="0">
                <a:solidFill>
                  <a:srgbClr val="FF6699"/>
                </a:solidFill>
                <a:latin typeface="华文仿宋" panose="02010600040101010101" pitchFamily="2" charset="-122"/>
                <a:ea typeface="华文仿宋" panose="02010600040101010101" pitchFamily="2" charset="-122"/>
              </a:rPr>
              <a:t> </a:t>
            </a:r>
            <a:r>
              <a:rPr lang="en-US" altLang="zh-CN" sz="2800" b="1" dirty="0">
                <a:latin typeface="华文仿宋" panose="02010600040101010101" pitchFamily="2" charset="-122"/>
                <a:ea typeface="华文仿宋" panose="02010600040101010101" pitchFamily="2" charset="-122"/>
              </a:rPr>
              <a:t>11</a:t>
            </a:r>
            <a:r>
              <a:rPr lang="en-US" altLang="zh-CN" sz="2800" b="1" dirty="0">
                <a:solidFill>
                  <a:srgbClr val="FF6699"/>
                </a:solidFill>
                <a:latin typeface="华文仿宋" panose="02010600040101010101" pitchFamily="2" charset="-122"/>
                <a:ea typeface="华文仿宋" panose="02010600040101010101" pitchFamily="2" charset="-122"/>
              </a:rPr>
              <a:t>    </a:t>
            </a:r>
            <a:r>
              <a:rPr lang="en-US" altLang="zh-CN" sz="2800" b="1" dirty="0">
                <a:solidFill>
                  <a:srgbClr val="FF0000"/>
                </a:solidFill>
                <a:latin typeface="华文仿宋" panose="02010600040101010101" pitchFamily="2" charset="-122"/>
                <a:ea typeface="华文仿宋" panose="02010600040101010101" pitchFamily="2" charset="-122"/>
              </a:rPr>
              <a:t>1011</a:t>
            </a:r>
            <a:r>
              <a:rPr lang="en-US" altLang="zh-CN" sz="2800" b="1" dirty="0">
                <a:solidFill>
                  <a:srgbClr val="FFFF00"/>
                </a:solidFill>
                <a:latin typeface="华文仿宋" panose="02010600040101010101" pitchFamily="2" charset="-122"/>
                <a:ea typeface="华文仿宋" panose="02010600040101010101" pitchFamily="2" charset="-122"/>
              </a:rPr>
              <a:t> </a:t>
            </a:r>
            <a:r>
              <a:rPr lang="en-US" altLang="zh-CN" sz="2800" b="1" dirty="0">
                <a:solidFill>
                  <a:srgbClr val="FF6699"/>
                </a:solidFill>
                <a:latin typeface="华文仿宋" panose="02010600040101010101" pitchFamily="2" charset="-122"/>
                <a:ea typeface="华文仿宋" panose="02010600040101010101" pitchFamily="2" charset="-122"/>
              </a:rPr>
              <a:t>  </a:t>
            </a:r>
            <a:r>
              <a:rPr lang="en-US" altLang="zh-CN" sz="2800" b="1" dirty="0">
                <a:solidFill>
                  <a:schemeClr val="accent2">
                    <a:lumMod val="75000"/>
                  </a:schemeClr>
                </a:solidFill>
                <a:latin typeface="华文仿宋" panose="02010600040101010101" pitchFamily="2" charset="-122"/>
                <a:ea typeface="华文仿宋" panose="02010600040101010101" pitchFamily="2" charset="-122"/>
              </a:rPr>
              <a:t>13</a:t>
            </a:r>
            <a:r>
              <a:rPr lang="en-US" altLang="zh-CN" sz="2800" b="1" dirty="0">
                <a:solidFill>
                  <a:srgbClr val="FF6699"/>
                </a:solidFill>
                <a:latin typeface="华文仿宋" panose="02010600040101010101" pitchFamily="2" charset="-122"/>
                <a:ea typeface="华文仿宋" panose="02010600040101010101" pitchFamily="2" charset="-122"/>
              </a:rPr>
              <a:t>      </a:t>
            </a:r>
            <a:r>
              <a:rPr lang="en-US" altLang="zh-CN" sz="2800" b="1" dirty="0">
                <a:solidFill>
                  <a:srgbClr val="009999"/>
                </a:solidFill>
                <a:latin typeface="华文仿宋" panose="02010600040101010101" pitchFamily="2" charset="-122"/>
                <a:ea typeface="华文仿宋" panose="02010600040101010101" pitchFamily="2" charset="-122"/>
              </a:rPr>
              <a:t>B</a:t>
            </a:r>
            <a:r>
              <a:rPr lang="en-US" altLang="zh-CN" sz="2800" b="1" dirty="0">
                <a:solidFill>
                  <a:srgbClr val="00FFFF"/>
                </a:solidFill>
                <a:latin typeface="华文仿宋" panose="02010600040101010101" pitchFamily="2" charset="-122"/>
                <a:ea typeface="华文仿宋" panose="02010600040101010101" pitchFamily="2" charset="-122"/>
              </a:rPr>
              <a:t> </a:t>
            </a:r>
            <a:endParaRPr lang="en-US" altLang="zh-CN" sz="2800" b="1" i="1" baseline="-25000" dirty="0">
              <a:solidFill>
                <a:srgbClr val="FF0000"/>
              </a:solidFill>
              <a:latin typeface="华文仿宋" panose="02010600040101010101" pitchFamily="2" charset="-122"/>
              <a:ea typeface="华文仿宋" panose="02010600040101010101" pitchFamily="2" charset="-122"/>
            </a:endParaRPr>
          </a:p>
          <a:p>
            <a:pPr indent="309880">
              <a:lnSpc>
                <a:spcPct val="70000"/>
              </a:lnSpc>
              <a:spcBef>
                <a:spcPct val="20000"/>
              </a:spcBef>
              <a:defRPr/>
            </a:pPr>
            <a:r>
              <a:rPr lang="en-US" altLang="zh-CN" sz="2800" b="1" dirty="0">
                <a:solidFill>
                  <a:srgbClr val="FF6699"/>
                </a:solidFill>
                <a:latin typeface="华文仿宋" panose="02010600040101010101" pitchFamily="2" charset="-122"/>
                <a:ea typeface="华文仿宋" panose="02010600040101010101" pitchFamily="2" charset="-122"/>
              </a:rPr>
              <a:t> </a:t>
            </a:r>
            <a:r>
              <a:rPr lang="en-US" altLang="zh-CN" sz="2800" b="1" dirty="0">
                <a:latin typeface="华文仿宋" panose="02010600040101010101" pitchFamily="2" charset="-122"/>
                <a:ea typeface="华文仿宋" panose="02010600040101010101" pitchFamily="2" charset="-122"/>
              </a:rPr>
              <a:t>12</a:t>
            </a:r>
            <a:r>
              <a:rPr lang="en-US" altLang="zh-CN" sz="2800" b="1" dirty="0">
                <a:solidFill>
                  <a:srgbClr val="FF6699"/>
                </a:solidFill>
                <a:latin typeface="华文仿宋" panose="02010600040101010101" pitchFamily="2" charset="-122"/>
                <a:ea typeface="华文仿宋" panose="02010600040101010101" pitchFamily="2" charset="-122"/>
              </a:rPr>
              <a:t>    </a:t>
            </a:r>
            <a:r>
              <a:rPr lang="en-US" altLang="zh-CN" sz="2800" b="1" dirty="0">
                <a:solidFill>
                  <a:srgbClr val="FF0000"/>
                </a:solidFill>
                <a:latin typeface="华文仿宋" panose="02010600040101010101" pitchFamily="2" charset="-122"/>
                <a:ea typeface="华文仿宋" panose="02010600040101010101" pitchFamily="2" charset="-122"/>
              </a:rPr>
              <a:t>1100</a:t>
            </a:r>
            <a:r>
              <a:rPr lang="en-US" altLang="zh-CN" sz="2800" b="1" dirty="0">
                <a:solidFill>
                  <a:srgbClr val="FF6699"/>
                </a:solidFill>
                <a:latin typeface="华文仿宋" panose="02010600040101010101" pitchFamily="2" charset="-122"/>
                <a:ea typeface="华文仿宋" panose="02010600040101010101" pitchFamily="2" charset="-122"/>
              </a:rPr>
              <a:t>   </a:t>
            </a:r>
            <a:r>
              <a:rPr lang="en-US" altLang="zh-CN" sz="2800" b="1" dirty="0">
                <a:solidFill>
                  <a:schemeClr val="accent2">
                    <a:lumMod val="75000"/>
                  </a:schemeClr>
                </a:solidFill>
                <a:latin typeface="华文仿宋" panose="02010600040101010101" pitchFamily="2" charset="-122"/>
                <a:ea typeface="华文仿宋" panose="02010600040101010101" pitchFamily="2" charset="-122"/>
              </a:rPr>
              <a:t>14</a:t>
            </a:r>
            <a:r>
              <a:rPr lang="en-US" altLang="zh-CN" sz="2800" b="1" dirty="0">
                <a:solidFill>
                  <a:srgbClr val="FF6699"/>
                </a:solidFill>
                <a:latin typeface="华文仿宋" panose="02010600040101010101" pitchFamily="2" charset="-122"/>
                <a:ea typeface="华文仿宋" panose="02010600040101010101" pitchFamily="2" charset="-122"/>
              </a:rPr>
              <a:t>      </a:t>
            </a:r>
            <a:r>
              <a:rPr lang="en-US" altLang="zh-CN" sz="2800" b="1" dirty="0">
                <a:solidFill>
                  <a:srgbClr val="009999"/>
                </a:solidFill>
                <a:latin typeface="华文仿宋" panose="02010600040101010101" pitchFamily="2" charset="-122"/>
                <a:ea typeface="华文仿宋" panose="02010600040101010101" pitchFamily="2" charset="-122"/>
              </a:rPr>
              <a:t>C</a:t>
            </a:r>
            <a:r>
              <a:rPr lang="en-US" altLang="zh-CN" sz="2800" b="1" dirty="0">
                <a:solidFill>
                  <a:srgbClr val="00FFFF"/>
                </a:solidFill>
                <a:latin typeface="华文仿宋" panose="02010600040101010101" pitchFamily="2" charset="-122"/>
                <a:ea typeface="华文仿宋" panose="02010600040101010101" pitchFamily="2" charset="-122"/>
              </a:rPr>
              <a:t> </a:t>
            </a:r>
            <a:endParaRPr lang="en-US" altLang="zh-CN" sz="2800" b="1" i="1" baseline="-25000" dirty="0">
              <a:solidFill>
                <a:srgbClr val="FF0000"/>
              </a:solidFill>
              <a:latin typeface="华文仿宋" panose="02010600040101010101" pitchFamily="2" charset="-122"/>
              <a:ea typeface="华文仿宋" panose="02010600040101010101" pitchFamily="2" charset="-122"/>
            </a:endParaRPr>
          </a:p>
          <a:p>
            <a:pPr indent="309880">
              <a:lnSpc>
                <a:spcPct val="70000"/>
              </a:lnSpc>
              <a:spcBef>
                <a:spcPct val="20000"/>
              </a:spcBef>
              <a:defRPr/>
            </a:pPr>
            <a:r>
              <a:rPr lang="en-US" altLang="zh-CN" sz="2800" b="1" dirty="0">
                <a:solidFill>
                  <a:srgbClr val="FF6699"/>
                </a:solidFill>
                <a:latin typeface="华文仿宋" panose="02010600040101010101" pitchFamily="2" charset="-122"/>
                <a:ea typeface="华文仿宋" panose="02010600040101010101" pitchFamily="2" charset="-122"/>
              </a:rPr>
              <a:t> </a:t>
            </a:r>
            <a:r>
              <a:rPr lang="en-US" altLang="zh-CN" sz="2800" b="1" dirty="0">
                <a:latin typeface="华文仿宋" panose="02010600040101010101" pitchFamily="2" charset="-122"/>
                <a:ea typeface="华文仿宋" panose="02010600040101010101" pitchFamily="2" charset="-122"/>
              </a:rPr>
              <a:t>13</a:t>
            </a:r>
            <a:r>
              <a:rPr lang="en-US" altLang="zh-CN" sz="2800" b="1" dirty="0">
                <a:solidFill>
                  <a:srgbClr val="FF6699"/>
                </a:solidFill>
                <a:latin typeface="华文仿宋" panose="02010600040101010101" pitchFamily="2" charset="-122"/>
                <a:ea typeface="华文仿宋" panose="02010600040101010101" pitchFamily="2" charset="-122"/>
              </a:rPr>
              <a:t>    </a:t>
            </a:r>
            <a:r>
              <a:rPr lang="en-US" altLang="zh-CN" sz="2800" b="1" dirty="0">
                <a:solidFill>
                  <a:srgbClr val="FF0000"/>
                </a:solidFill>
                <a:latin typeface="华文仿宋" panose="02010600040101010101" pitchFamily="2" charset="-122"/>
                <a:ea typeface="华文仿宋" panose="02010600040101010101" pitchFamily="2" charset="-122"/>
              </a:rPr>
              <a:t>1101</a:t>
            </a:r>
            <a:r>
              <a:rPr lang="en-US" altLang="zh-CN" sz="2800" b="1" dirty="0">
                <a:solidFill>
                  <a:srgbClr val="FF6699"/>
                </a:solidFill>
                <a:latin typeface="华文仿宋" panose="02010600040101010101" pitchFamily="2" charset="-122"/>
                <a:ea typeface="华文仿宋" panose="02010600040101010101" pitchFamily="2" charset="-122"/>
              </a:rPr>
              <a:t>   </a:t>
            </a:r>
            <a:r>
              <a:rPr lang="en-US" altLang="zh-CN" sz="2800" b="1" dirty="0">
                <a:solidFill>
                  <a:schemeClr val="accent2">
                    <a:lumMod val="75000"/>
                  </a:schemeClr>
                </a:solidFill>
                <a:latin typeface="华文仿宋" panose="02010600040101010101" pitchFamily="2" charset="-122"/>
                <a:ea typeface="华文仿宋" panose="02010600040101010101" pitchFamily="2" charset="-122"/>
              </a:rPr>
              <a:t>15</a:t>
            </a:r>
            <a:r>
              <a:rPr lang="en-US" altLang="zh-CN" sz="2800" b="1" dirty="0">
                <a:solidFill>
                  <a:srgbClr val="FF6699"/>
                </a:solidFill>
                <a:latin typeface="华文仿宋" panose="02010600040101010101" pitchFamily="2" charset="-122"/>
                <a:ea typeface="华文仿宋" panose="02010600040101010101" pitchFamily="2" charset="-122"/>
              </a:rPr>
              <a:t>      </a:t>
            </a:r>
            <a:r>
              <a:rPr lang="en-US" altLang="zh-CN" sz="2800" b="1" dirty="0">
                <a:solidFill>
                  <a:srgbClr val="009999"/>
                </a:solidFill>
                <a:latin typeface="华文仿宋" panose="02010600040101010101" pitchFamily="2" charset="-122"/>
                <a:ea typeface="华文仿宋" panose="02010600040101010101" pitchFamily="2" charset="-122"/>
              </a:rPr>
              <a:t>D</a:t>
            </a:r>
            <a:r>
              <a:rPr lang="en-US" altLang="zh-CN" sz="2800" b="1" dirty="0">
                <a:solidFill>
                  <a:srgbClr val="00FFFF"/>
                </a:solidFill>
                <a:latin typeface="华文仿宋" panose="02010600040101010101" pitchFamily="2" charset="-122"/>
                <a:ea typeface="华文仿宋" panose="02010600040101010101" pitchFamily="2" charset="-122"/>
              </a:rPr>
              <a:t> </a:t>
            </a:r>
            <a:endParaRPr lang="en-US" altLang="zh-CN" sz="2800" b="1" i="1" baseline="-25000" dirty="0">
              <a:solidFill>
                <a:srgbClr val="FF0000"/>
              </a:solidFill>
              <a:latin typeface="华文仿宋" panose="02010600040101010101" pitchFamily="2" charset="-122"/>
              <a:ea typeface="华文仿宋" panose="02010600040101010101" pitchFamily="2" charset="-122"/>
            </a:endParaRPr>
          </a:p>
          <a:p>
            <a:pPr indent="309880">
              <a:lnSpc>
                <a:spcPct val="70000"/>
              </a:lnSpc>
              <a:spcBef>
                <a:spcPct val="20000"/>
              </a:spcBef>
              <a:defRPr/>
            </a:pPr>
            <a:r>
              <a:rPr lang="en-US" altLang="zh-CN" sz="2800" b="1" dirty="0">
                <a:solidFill>
                  <a:srgbClr val="FF6699"/>
                </a:solidFill>
                <a:latin typeface="华文仿宋" panose="02010600040101010101" pitchFamily="2" charset="-122"/>
                <a:ea typeface="华文仿宋" panose="02010600040101010101" pitchFamily="2" charset="-122"/>
              </a:rPr>
              <a:t> </a:t>
            </a:r>
            <a:r>
              <a:rPr lang="en-US" altLang="zh-CN" sz="2800" b="1" dirty="0">
                <a:latin typeface="华文仿宋" panose="02010600040101010101" pitchFamily="2" charset="-122"/>
                <a:ea typeface="华文仿宋" panose="02010600040101010101" pitchFamily="2" charset="-122"/>
              </a:rPr>
              <a:t>14</a:t>
            </a:r>
            <a:r>
              <a:rPr lang="en-US" altLang="zh-CN" sz="2800" b="1" dirty="0">
                <a:solidFill>
                  <a:srgbClr val="FF6699"/>
                </a:solidFill>
                <a:latin typeface="华文仿宋" panose="02010600040101010101" pitchFamily="2" charset="-122"/>
                <a:ea typeface="华文仿宋" panose="02010600040101010101" pitchFamily="2" charset="-122"/>
              </a:rPr>
              <a:t>    </a:t>
            </a:r>
            <a:r>
              <a:rPr lang="en-US" altLang="zh-CN" sz="2800" b="1" dirty="0">
                <a:solidFill>
                  <a:srgbClr val="FF0000"/>
                </a:solidFill>
                <a:latin typeface="华文仿宋" panose="02010600040101010101" pitchFamily="2" charset="-122"/>
                <a:ea typeface="华文仿宋" panose="02010600040101010101" pitchFamily="2" charset="-122"/>
              </a:rPr>
              <a:t>1110</a:t>
            </a:r>
            <a:r>
              <a:rPr lang="en-US" altLang="zh-CN" sz="2800" b="1" dirty="0">
                <a:solidFill>
                  <a:srgbClr val="FFFF00"/>
                </a:solidFill>
                <a:latin typeface="华文仿宋" panose="02010600040101010101" pitchFamily="2" charset="-122"/>
                <a:ea typeface="华文仿宋" panose="02010600040101010101" pitchFamily="2" charset="-122"/>
              </a:rPr>
              <a:t> </a:t>
            </a:r>
            <a:r>
              <a:rPr lang="en-US" altLang="zh-CN" sz="2800" b="1" dirty="0">
                <a:solidFill>
                  <a:srgbClr val="FF6699"/>
                </a:solidFill>
                <a:latin typeface="华文仿宋" panose="02010600040101010101" pitchFamily="2" charset="-122"/>
                <a:ea typeface="华文仿宋" panose="02010600040101010101" pitchFamily="2" charset="-122"/>
              </a:rPr>
              <a:t>  </a:t>
            </a:r>
            <a:r>
              <a:rPr lang="en-US" altLang="zh-CN" sz="2800" b="1" dirty="0">
                <a:solidFill>
                  <a:schemeClr val="accent2">
                    <a:lumMod val="75000"/>
                  </a:schemeClr>
                </a:solidFill>
                <a:latin typeface="华文仿宋" panose="02010600040101010101" pitchFamily="2" charset="-122"/>
                <a:ea typeface="华文仿宋" panose="02010600040101010101" pitchFamily="2" charset="-122"/>
              </a:rPr>
              <a:t>16</a:t>
            </a:r>
            <a:r>
              <a:rPr lang="en-US" altLang="zh-CN" sz="2800" b="1" dirty="0">
                <a:solidFill>
                  <a:srgbClr val="FF6699"/>
                </a:solidFill>
                <a:latin typeface="华文仿宋" panose="02010600040101010101" pitchFamily="2" charset="-122"/>
                <a:ea typeface="华文仿宋" panose="02010600040101010101" pitchFamily="2" charset="-122"/>
              </a:rPr>
              <a:t>      </a:t>
            </a:r>
            <a:r>
              <a:rPr lang="en-US" altLang="zh-CN" sz="2800" b="1" dirty="0">
                <a:solidFill>
                  <a:srgbClr val="009999"/>
                </a:solidFill>
                <a:latin typeface="华文仿宋" panose="02010600040101010101" pitchFamily="2" charset="-122"/>
                <a:ea typeface="华文仿宋" panose="02010600040101010101" pitchFamily="2" charset="-122"/>
              </a:rPr>
              <a:t>E</a:t>
            </a:r>
            <a:r>
              <a:rPr lang="en-US" altLang="zh-CN" sz="2800" b="1" dirty="0">
                <a:solidFill>
                  <a:srgbClr val="00FFFF"/>
                </a:solidFill>
                <a:latin typeface="华文仿宋" panose="02010600040101010101" pitchFamily="2" charset="-122"/>
                <a:ea typeface="华文仿宋" panose="02010600040101010101" pitchFamily="2" charset="-122"/>
              </a:rPr>
              <a:t> </a:t>
            </a:r>
            <a:endParaRPr lang="en-US" altLang="zh-CN" sz="2800" b="1" i="1" baseline="-25000" dirty="0">
              <a:solidFill>
                <a:srgbClr val="FF0000"/>
              </a:solidFill>
              <a:latin typeface="华文仿宋" panose="02010600040101010101" pitchFamily="2" charset="-122"/>
              <a:ea typeface="华文仿宋" panose="02010600040101010101" pitchFamily="2" charset="-122"/>
            </a:endParaRPr>
          </a:p>
          <a:p>
            <a:pPr indent="309880">
              <a:lnSpc>
                <a:spcPct val="70000"/>
              </a:lnSpc>
              <a:spcBef>
                <a:spcPct val="20000"/>
              </a:spcBef>
              <a:defRPr/>
            </a:pPr>
            <a:r>
              <a:rPr lang="en-US" altLang="zh-CN" sz="2800" b="1" dirty="0">
                <a:solidFill>
                  <a:srgbClr val="FF6699"/>
                </a:solidFill>
                <a:latin typeface="华文仿宋" panose="02010600040101010101" pitchFamily="2" charset="-122"/>
                <a:ea typeface="华文仿宋" panose="02010600040101010101" pitchFamily="2" charset="-122"/>
              </a:rPr>
              <a:t> </a:t>
            </a:r>
            <a:r>
              <a:rPr lang="en-US" altLang="zh-CN" sz="2800" b="1" dirty="0">
                <a:latin typeface="华文仿宋" panose="02010600040101010101" pitchFamily="2" charset="-122"/>
                <a:ea typeface="华文仿宋" panose="02010600040101010101" pitchFamily="2" charset="-122"/>
              </a:rPr>
              <a:t>15</a:t>
            </a:r>
            <a:r>
              <a:rPr lang="en-US" altLang="zh-CN" sz="2800" b="1" dirty="0">
                <a:solidFill>
                  <a:srgbClr val="FF6699"/>
                </a:solidFill>
                <a:latin typeface="华文仿宋" panose="02010600040101010101" pitchFamily="2" charset="-122"/>
                <a:ea typeface="华文仿宋" panose="02010600040101010101" pitchFamily="2" charset="-122"/>
              </a:rPr>
              <a:t>    </a:t>
            </a:r>
            <a:r>
              <a:rPr lang="en-US" altLang="zh-CN" sz="2800" b="1" dirty="0">
                <a:solidFill>
                  <a:srgbClr val="FF0000"/>
                </a:solidFill>
                <a:latin typeface="华文仿宋" panose="02010600040101010101" pitchFamily="2" charset="-122"/>
                <a:ea typeface="华文仿宋" panose="02010600040101010101" pitchFamily="2" charset="-122"/>
              </a:rPr>
              <a:t>1111</a:t>
            </a:r>
            <a:r>
              <a:rPr lang="en-US" altLang="zh-CN" sz="2800" b="1" dirty="0">
                <a:solidFill>
                  <a:srgbClr val="FFFF00"/>
                </a:solidFill>
                <a:latin typeface="华文仿宋" panose="02010600040101010101" pitchFamily="2" charset="-122"/>
                <a:ea typeface="华文仿宋" panose="02010600040101010101" pitchFamily="2" charset="-122"/>
              </a:rPr>
              <a:t> </a:t>
            </a:r>
            <a:r>
              <a:rPr lang="en-US" altLang="zh-CN" sz="2800" b="1" dirty="0">
                <a:solidFill>
                  <a:srgbClr val="FF6699"/>
                </a:solidFill>
                <a:latin typeface="华文仿宋" panose="02010600040101010101" pitchFamily="2" charset="-122"/>
                <a:ea typeface="华文仿宋" panose="02010600040101010101" pitchFamily="2" charset="-122"/>
              </a:rPr>
              <a:t>  </a:t>
            </a:r>
            <a:r>
              <a:rPr lang="en-US" altLang="zh-CN" sz="2800" b="1" dirty="0">
                <a:solidFill>
                  <a:schemeClr val="accent2">
                    <a:lumMod val="75000"/>
                  </a:schemeClr>
                </a:solidFill>
                <a:latin typeface="华文仿宋" panose="02010600040101010101" pitchFamily="2" charset="-122"/>
                <a:ea typeface="华文仿宋" panose="02010600040101010101" pitchFamily="2" charset="-122"/>
              </a:rPr>
              <a:t>17</a:t>
            </a:r>
            <a:r>
              <a:rPr lang="en-US" altLang="zh-CN" sz="2800" b="1" dirty="0">
                <a:solidFill>
                  <a:srgbClr val="FF6699"/>
                </a:solidFill>
                <a:latin typeface="华文仿宋" panose="02010600040101010101" pitchFamily="2" charset="-122"/>
                <a:ea typeface="华文仿宋" panose="02010600040101010101" pitchFamily="2" charset="-122"/>
              </a:rPr>
              <a:t>      </a:t>
            </a:r>
            <a:r>
              <a:rPr lang="en-US" altLang="zh-CN" sz="2800" b="1" dirty="0">
                <a:solidFill>
                  <a:srgbClr val="009999"/>
                </a:solidFill>
                <a:latin typeface="华文仿宋" panose="02010600040101010101" pitchFamily="2" charset="-122"/>
                <a:ea typeface="华文仿宋" panose="02010600040101010101" pitchFamily="2" charset="-122"/>
              </a:rPr>
              <a:t>F</a:t>
            </a:r>
          </a:p>
        </p:txBody>
      </p:sp>
      <p:pic>
        <p:nvPicPr>
          <p:cNvPr id="13" name="图片 12" descr="联想截图_20231214002915">
            <a:extLst>
              <a:ext uri="{FF2B5EF4-FFF2-40B4-BE49-F238E27FC236}">
                <a16:creationId xmlns:a16="http://schemas.microsoft.com/office/drawing/2014/main" id="{9DB0BE64-DC40-4C11-93C6-DB9D884BF031}"/>
              </a:ext>
            </a:extLst>
          </p:cNvPr>
          <p:cNvPicPr>
            <a:picLocks noChangeAspect="1"/>
          </p:cNvPicPr>
          <p:nvPr>
            <p:custDataLst>
              <p:tags r:id="rId1"/>
            </p:custDataLst>
          </p:nvPr>
        </p:nvPicPr>
        <p:blipFill>
          <a:blip r:embed="rId5"/>
          <a:stretch>
            <a:fillRect/>
          </a:stretch>
        </p:blipFill>
        <p:spPr>
          <a:xfrm>
            <a:off x="4435475" y="6219825"/>
            <a:ext cx="545465" cy="546735"/>
          </a:xfrm>
          <a:prstGeom prst="rect">
            <a:avLst/>
          </a:prstGeom>
        </p:spPr>
      </p:pic>
    </p:spTree>
    <p:extLst>
      <p:ext uri="{BB962C8B-B14F-4D97-AF65-F5344CB8AC3E}">
        <p14:creationId xmlns:p14="http://schemas.microsoft.com/office/powerpoint/2010/main" val="35571547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49154" y="6219714"/>
            <a:ext cx="2457450" cy="542925"/>
          </a:xfrm>
          <a:prstGeom prst="rect">
            <a:avLst/>
          </a:prstGeom>
        </p:spPr>
      </p:pic>
      <p:sp>
        <p:nvSpPr>
          <p:cNvPr id="2" name="文本框 1"/>
          <p:cNvSpPr txBox="1"/>
          <p:nvPr/>
        </p:nvSpPr>
        <p:spPr>
          <a:xfrm>
            <a:off x="1400579" y="136525"/>
            <a:ext cx="9838551" cy="1200329"/>
          </a:xfrm>
          <a:prstGeom prst="rect">
            <a:avLst/>
          </a:prstGeom>
          <a:noFill/>
        </p:spPr>
        <p:txBody>
          <a:bodyPr wrap="square" rtlCol="0">
            <a:spAutoFit/>
          </a:bodyPr>
          <a:lstStyle/>
          <a:p>
            <a:pPr>
              <a:defRPr/>
            </a:pPr>
            <a:r>
              <a:rPr lang="zh-CN" altLang="en-US" sz="3600" dirty="0">
                <a:latin typeface="华文楷体" panose="02010600040101010101" pitchFamily="2" charset="-122"/>
                <a:ea typeface="华文楷体" panose="02010600040101010101" pitchFamily="2" charset="-122"/>
              </a:rPr>
              <a:t>二进制数、八进制数和十六进制数之间的转换</a:t>
            </a:r>
            <a:endParaRPr lang="en-US" altLang="zh-CN" sz="3600" dirty="0">
              <a:latin typeface="华文楷体" panose="02010600040101010101" pitchFamily="2" charset="-122"/>
              <a:ea typeface="华文楷体" panose="0201060004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endParaRP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3" name="矩形 2">
            <a:extLst>
              <a:ext uri="{FF2B5EF4-FFF2-40B4-BE49-F238E27FC236}">
                <a16:creationId xmlns:a16="http://schemas.microsoft.com/office/drawing/2014/main" id="{BED69735-4DFD-4C2E-9698-6DECF35306D0}"/>
              </a:ext>
            </a:extLst>
          </p:cNvPr>
          <p:cNvSpPr/>
          <p:nvPr/>
        </p:nvSpPr>
        <p:spPr>
          <a:xfrm>
            <a:off x="1524000" y="991775"/>
            <a:ext cx="8668624" cy="4708981"/>
          </a:xfrm>
          <a:prstGeom prst="rect">
            <a:avLst/>
          </a:prstGeom>
        </p:spPr>
        <p:txBody>
          <a:bodyPr wrap="square">
            <a:spAutoFit/>
          </a:bodyPr>
          <a:lstStyle/>
          <a:p>
            <a:pPr lvl="2" defTabSz="457200" fontAlgn="auto">
              <a:spcBef>
                <a:spcPts val="0"/>
              </a:spcBef>
              <a:spcAft>
                <a:spcPts val="0"/>
              </a:spcAft>
              <a:buFont typeface="Wingdings" panose="05000000000000000000" pitchFamily="2" charset="2"/>
              <a:buChar char="u"/>
              <a:defRPr/>
            </a:pPr>
            <a:r>
              <a:rPr lang="zh-CN" altLang="en-US" sz="2000" dirty="0">
                <a:latin typeface="+mn-ea"/>
              </a:rPr>
              <a:t>二进制转八进制</a:t>
            </a:r>
            <a:endParaRPr lang="en-US" altLang="zh-CN" sz="2000" dirty="0">
              <a:latin typeface="+mn-ea"/>
            </a:endParaRPr>
          </a:p>
          <a:p>
            <a:pPr marL="685800" lvl="2" indent="0" defTabSz="457200" fontAlgn="auto">
              <a:spcBef>
                <a:spcPts val="0"/>
              </a:spcBef>
              <a:spcAft>
                <a:spcPts val="0"/>
              </a:spcAft>
              <a:buNone/>
              <a:defRPr/>
            </a:pPr>
            <a:r>
              <a:rPr lang="en-US" altLang="zh-CN" sz="2000" dirty="0">
                <a:latin typeface="+mn-ea"/>
              </a:rPr>
              <a:t>    </a:t>
            </a:r>
            <a:r>
              <a:rPr lang="zh-CN" altLang="en-US" sz="2000" dirty="0">
                <a:latin typeface="+mn-ea"/>
              </a:rPr>
              <a:t>将二进制数自小数点开始向左</a:t>
            </a:r>
            <a:r>
              <a:rPr lang="zh-CN" altLang="en-US" sz="2000" dirty="0">
                <a:latin typeface="SimSun" panose="02010600030101010101" pitchFamily="2" charset="-122"/>
                <a:ea typeface="SimSun" panose="02010600030101010101" pitchFamily="2" charset="-122"/>
              </a:rPr>
              <a:t>、</a:t>
            </a:r>
            <a:r>
              <a:rPr lang="zh-CN" altLang="en-US" sz="2000" dirty="0">
                <a:latin typeface="+mn-ea"/>
              </a:rPr>
              <a:t>向右每三位一组划分，不足三位以</a:t>
            </a:r>
            <a:r>
              <a:rPr lang="en-US" altLang="zh-CN" sz="2000" dirty="0">
                <a:latin typeface="+mn-ea"/>
              </a:rPr>
              <a:t>0</a:t>
            </a:r>
            <a:r>
              <a:rPr lang="zh-CN" altLang="en-US" sz="2000" dirty="0">
                <a:latin typeface="+mn-ea"/>
              </a:rPr>
              <a:t>补齐</a:t>
            </a:r>
            <a:endParaRPr lang="en-US" altLang="zh-CN" sz="2000" dirty="0">
              <a:latin typeface="+mn-ea"/>
            </a:endParaRPr>
          </a:p>
          <a:p>
            <a:pPr marL="685800" lvl="2" indent="0" defTabSz="457200" fontAlgn="auto">
              <a:spcBef>
                <a:spcPts val="0"/>
              </a:spcBef>
              <a:spcAft>
                <a:spcPts val="0"/>
              </a:spcAft>
              <a:buNone/>
              <a:defRPr/>
            </a:pPr>
            <a:r>
              <a:rPr lang="en-US" altLang="zh-CN" sz="2000" dirty="0">
                <a:latin typeface="+mn-ea"/>
              </a:rPr>
              <a:t>    </a:t>
            </a:r>
            <a:r>
              <a:rPr lang="zh-CN" altLang="en-US" sz="2000" dirty="0">
                <a:latin typeface="+mn-ea"/>
              </a:rPr>
              <a:t>例：</a:t>
            </a:r>
            <a:r>
              <a:rPr lang="en-US" altLang="zh-CN" sz="2000" dirty="0">
                <a:latin typeface="+mn-ea"/>
                <a:sym typeface="Wingdings" panose="05000000000000000000" pitchFamily="2" charset="2"/>
              </a:rPr>
              <a:t>(</a:t>
            </a:r>
            <a:r>
              <a:rPr lang="en-US" altLang="zh-CN" sz="2000" dirty="0">
                <a:highlight>
                  <a:srgbClr val="FFFF00"/>
                </a:highlight>
                <a:latin typeface="+mn-ea"/>
                <a:sym typeface="Wingdings" panose="05000000000000000000" pitchFamily="2" charset="2"/>
              </a:rPr>
              <a:t>11</a:t>
            </a:r>
            <a:r>
              <a:rPr lang="en-US" altLang="zh-CN" sz="2000" dirty="0">
                <a:highlight>
                  <a:srgbClr val="00FF00"/>
                </a:highlight>
                <a:latin typeface="+mn-ea"/>
                <a:sym typeface="Wingdings" panose="05000000000000000000" pitchFamily="2" charset="2"/>
              </a:rPr>
              <a:t>101</a:t>
            </a:r>
            <a:r>
              <a:rPr lang="en-US" altLang="zh-CN" sz="2000" dirty="0">
                <a:highlight>
                  <a:srgbClr val="FFFF00"/>
                </a:highlight>
                <a:latin typeface="+mn-ea"/>
                <a:sym typeface="Wingdings" panose="05000000000000000000" pitchFamily="2" charset="2"/>
              </a:rPr>
              <a:t>010</a:t>
            </a:r>
            <a:r>
              <a:rPr lang="en-US" altLang="zh-CN" sz="2000" dirty="0">
                <a:highlight>
                  <a:srgbClr val="00FF00"/>
                </a:highlight>
                <a:latin typeface="+mn-ea"/>
                <a:sym typeface="Wingdings" panose="05000000000000000000" pitchFamily="2" charset="2"/>
              </a:rPr>
              <a:t>011</a:t>
            </a:r>
            <a:r>
              <a:rPr lang="en-US" altLang="zh-CN" sz="2000" dirty="0">
                <a:latin typeface="+mn-ea"/>
                <a:sym typeface="Wingdings" panose="05000000000000000000" pitchFamily="2" charset="2"/>
              </a:rPr>
              <a:t>.</a:t>
            </a:r>
            <a:r>
              <a:rPr lang="en-US" altLang="zh-CN" sz="2000" dirty="0">
                <a:highlight>
                  <a:srgbClr val="FFFF00"/>
                </a:highlight>
                <a:latin typeface="+mn-ea"/>
                <a:sym typeface="Wingdings" panose="05000000000000000000" pitchFamily="2" charset="2"/>
              </a:rPr>
              <a:t>101</a:t>
            </a:r>
            <a:r>
              <a:rPr lang="en-US" altLang="zh-CN" sz="2000" dirty="0">
                <a:highlight>
                  <a:srgbClr val="00FF00"/>
                </a:highlight>
                <a:latin typeface="+mn-ea"/>
                <a:sym typeface="Wingdings" panose="05000000000000000000" pitchFamily="2" charset="2"/>
              </a:rPr>
              <a:t>11</a:t>
            </a:r>
            <a:r>
              <a:rPr lang="en-US" altLang="zh-CN" sz="2000" dirty="0">
                <a:latin typeface="+mn-ea"/>
                <a:sym typeface="Wingdings" panose="05000000000000000000" pitchFamily="2" charset="2"/>
              </a:rPr>
              <a:t>)</a:t>
            </a:r>
            <a:r>
              <a:rPr lang="en-US" altLang="zh-CN" sz="1100" dirty="0">
                <a:latin typeface="+mn-ea"/>
                <a:sym typeface="Wingdings" panose="05000000000000000000" pitchFamily="2" charset="2"/>
              </a:rPr>
              <a:t>2</a:t>
            </a:r>
          </a:p>
          <a:p>
            <a:pPr marL="685800" lvl="2" indent="0" defTabSz="457200" fontAlgn="auto">
              <a:spcBef>
                <a:spcPts val="0"/>
              </a:spcBef>
              <a:spcAft>
                <a:spcPts val="0"/>
              </a:spcAft>
              <a:buNone/>
              <a:defRPr/>
            </a:pPr>
            <a:r>
              <a:rPr lang="en-US" altLang="zh-CN" sz="2000" dirty="0">
                <a:latin typeface="+mn-ea"/>
              </a:rPr>
              <a:t>          </a:t>
            </a:r>
            <a:r>
              <a:rPr lang="en-US" altLang="zh-CN" sz="2000" dirty="0">
                <a:highlight>
                  <a:srgbClr val="FFFF00"/>
                </a:highlight>
                <a:latin typeface="+mn-ea"/>
              </a:rPr>
              <a:t>011</a:t>
            </a:r>
            <a:r>
              <a:rPr lang="en-US" altLang="zh-CN" sz="2000" dirty="0">
                <a:latin typeface="+mn-ea"/>
              </a:rPr>
              <a:t> </a:t>
            </a:r>
            <a:r>
              <a:rPr lang="en-US" altLang="zh-CN" sz="2000" dirty="0">
                <a:highlight>
                  <a:srgbClr val="00FF00"/>
                </a:highlight>
                <a:latin typeface="+mn-ea"/>
              </a:rPr>
              <a:t>101</a:t>
            </a:r>
            <a:r>
              <a:rPr lang="en-US" altLang="zh-CN" sz="2000" dirty="0">
                <a:latin typeface="+mn-ea"/>
              </a:rPr>
              <a:t> </a:t>
            </a:r>
            <a:r>
              <a:rPr lang="en-US" altLang="zh-CN" sz="2000" dirty="0">
                <a:highlight>
                  <a:srgbClr val="FFFF00"/>
                </a:highlight>
                <a:latin typeface="+mn-ea"/>
              </a:rPr>
              <a:t>010</a:t>
            </a:r>
            <a:r>
              <a:rPr lang="en-US" altLang="zh-CN" sz="2000" dirty="0">
                <a:latin typeface="+mn-ea"/>
              </a:rPr>
              <a:t> </a:t>
            </a:r>
            <a:r>
              <a:rPr lang="en-US" altLang="zh-CN" sz="2000" dirty="0">
                <a:highlight>
                  <a:srgbClr val="00FF00"/>
                </a:highlight>
                <a:latin typeface="+mn-ea"/>
              </a:rPr>
              <a:t>011</a:t>
            </a:r>
            <a:r>
              <a:rPr lang="en-US" altLang="zh-CN" sz="2000" dirty="0">
                <a:latin typeface="+mn-ea"/>
              </a:rPr>
              <a:t> </a:t>
            </a:r>
            <a:r>
              <a:rPr lang="en-US" altLang="zh-CN" sz="2000" dirty="0">
                <a:highlight>
                  <a:srgbClr val="FFFF00"/>
                </a:highlight>
                <a:latin typeface="+mn-ea"/>
              </a:rPr>
              <a:t>101</a:t>
            </a:r>
            <a:r>
              <a:rPr lang="en-US" altLang="zh-CN" sz="2000" dirty="0">
                <a:latin typeface="+mn-ea"/>
              </a:rPr>
              <a:t> </a:t>
            </a:r>
            <a:r>
              <a:rPr lang="en-US" altLang="zh-CN" sz="2000" dirty="0">
                <a:highlight>
                  <a:srgbClr val="00FF00"/>
                </a:highlight>
                <a:latin typeface="+mn-ea"/>
              </a:rPr>
              <a:t>110</a:t>
            </a:r>
          </a:p>
          <a:p>
            <a:pPr marL="685800" lvl="2" indent="0" defTabSz="457200" fontAlgn="auto">
              <a:spcBef>
                <a:spcPts val="0"/>
              </a:spcBef>
              <a:spcAft>
                <a:spcPts val="0"/>
              </a:spcAft>
              <a:buNone/>
              <a:defRPr/>
            </a:pPr>
            <a:r>
              <a:rPr lang="en-US" altLang="zh-CN" sz="2000" dirty="0">
                <a:highlight>
                  <a:srgbClr val="FFFFFF"/>
                </a:highlight>
                <a:latin typeface="+mn-ea"/>
              </a:rPr>
              <a:t>             </a:t>
            </a:r>
            <a:r>
              <a:rPr lang="en-US" altLang="zh-CN" sz="2000" dirty="0">
                <a:highlight>
                  <a:srgbClr val="FFFF00"/>
                </a:highlight>
                <a:latin typeface="+mn-ea"/>
              </a:rPr>
              <a:t>3</a:t>
            </a:r>
            <a:r>
              <a:rPr lang="en-US" altLang="zh-CN" sz="2000" dirty="0">
                <a:highlight>
                  <a:srgbClr val="FFFFFF"/>
                </a:highlight>
                <a:latin typeface="+mn-ea"/>
              </a:rPr>
              <a:t>     </a:t>
            </a:r>
            <a:r>
              <a:rPr lang="en-US" altLang="zh-CN" sz="2000" dirty="0">
                <a:highlight>
                  <a:srgbClr val="00FF00"/>
                </a:highlight>
                <a:latin typeface="+mn-ea"/>
              </a:rPr>
              <a:t>5</a:t>
            </a:r>
            <a:r>
              <a:rPr lang="en-US" altLang="zh-CN" sz="2000" dirty="0">
                <a:highlight>
                  <a:srgbClr val="FFFFFF"/>
                </a:highlight>
                <a:latin typeface="+mn-ea"/>
              </a:rPr>
              <a:t>     </a:t>
            </a:r>
            <a:r>
              <a:rPr lang="en-US" altLang="zh-CN" sz="2000" dirty="0">
                <a:highlight>
                  <a:srgbClr val="FFFF00"/>
                </a:highlight>
                <a:latin typeface="+mn-ea"/>
              </a:rPr>
              <a:t>2</a:t>
            </a:r>
            <a:r>
              <a:rPr lang="en-US" altLang="zh-CN" sz="2000" dirty="0">
                <a:highlight>
                  <a:srgbClr val="FFFFFF"/>
                </a:highlight>
                <a:latin typeface="+mn-ea"/>
              </a:rPr>
              <a:t>     </a:t>
            </a:r>
            <a:r>
              <a:rPr lang="en-US" altLang="zh-CN" sz="2000" dirty="0">
                <a:highlight>
                  <a:srgbClr val="00FF00"/>
                </a:highlight>
                <a:latin typeface="+mn-ea"/>
              </a:rPr>
              <a:t>3</a:t>
            </a:r>
            <a:r>
              <a:rPr lang="en-US" altLang="zh-CN" sz="2000" dirty="0">
                <a:highlight>
                  <a:srgbClr val="FFFFFF"/>
                </a:highlight>
                <a:latin typeface="+mn-ea"/>
              </a:rPr>
              <a:t>     </a:t>
            </a:r>
            <a:r>
              <a:rPr lang="en-US" altLang="zh-CN" sz="2000" dirty="0">
                <a:highlight>
                  <a:srgbClr val="FFFF00"/>
                </a:highlight>
                <a:latin typeface="+mn-ea"/>
              </a:rPr>
              <a:t>5</a:t>
            </a:r>
            <a:r>
              <a:rPr lang="en-US" altLang="zh-CN" sz="2000" dirty="0">
                <a:highlight>
                  <a:srgbClr val="FFFFFF"/>
                </a:highlight>
                <a:latin typeface="+mn-ea"/>
              </a:rPr>
              <a:t>     </a:t>
            </a:r>
            <a:r>
              <a:rPr lang="en-US" altLang="zh-CN" sz="2000" dirty="0">
                <a:highlight>
                  <a:srgbClr val="00FF00"/>
                </a:highlight>
                <a:latin typeface="+mn-ea"/>
              </a:rPr>
              <a:t>6</a:t>
            </a:r>
          </a:p>
          <a:p>
            <a:pPr marL="685800" lvl="2" indent="0" defTabSz="457200" fontAlgn="auto">
              <a:spcBef>
                <a:spcPts val="0"/>
              </a:spcBef>
              <a:spcAft>
                <a:spcPts val="0"/>
              </a:spcAft>
              <a:buNone/>
              <a:defRPr/>
            </a:pPr>
            <a:r>
              <a:rPr lang="en-US" altLang="zh-CN" sz="2000" dirty="0">
                <a:highlight>
                  <a:srgbClr val="FFFFFF"/>
                </a:highlight>
                <a:latin typeface="+mn-ea"/>
              </a:rPr>
              <a:t>    </a:t>
            </a:r>
            <a:r>
              <a:rPr lang="zh-CN" altLang="en-US" sz="2000" dirty="0">
                <a:highlight>
                  <a:srgbClr val="FFFFFF"/>
                </a:highlight>
                <a:latin typeface="+mn-ea"/>
              </a:rPr>
              <a:t>得到：</a:t>
            </a:r>
            <a:r>
              <a:rPr lang="zh-CN" altLang="en-US" sz="2000" dirty="0">
                <a:highlight>
                  <a:srgbClr val="FFFFFF"/>
                </a:highlight>
                <a:latin typeface="+mn-ea"/>
                <a:sym typeface="Wingdings" panose="05000000000000000000" pitchFamily="2" charset="2"/>
              </a:rPr>
              <a:t>（</a:t>
            </a:r>
            <a:r>
              <a:rPr lang="en-US" altLang="zh-CN" sz="2000" dirty="0">
                <a:highlight>
                  <a:srgbClr val="FFFFFF"/>
                </a:highlight>
                <a:latin typeface="+mn-ea"/>
                <a:sym typeface="Wingdings" panose="05000000000000000000" pitchFamily="2" charset="2"/>
              </a:rPr>
              <a:t>11101010011.10111</a:t>
            </a:r>
            <a:r>
              <a:rPr lang="zh-CN" altLang="en-US" sz="2000" dirty="0">
                <a:highlight>
                  <a:srgbClr val="FFFFFF"/>
                </a:highlight>
                <a:latin typeface="+mn-ea"/>
                <a:sym typeface="Wingdings" panose="05000000000000000000" pitchFamily="2" charset="2"/>
              </a:rPr>
              <a:t>）</a:t>
            </a:r>
            <a:r>
              <a:rPr lang="en-US" altLang="zh-CN" sz="1100" dirty="0">
                <a:highlight>
                  <a:srgbClr val="FFFFFF"/>
                </a:highlight>
                <a:latin typeface="+mn-ea"/>
                <a:sym typeface="Wingdings" panose="05000000000000000000" pitchFamily="2" charset="2"/>
              </a:rPr>
              <a:t>2</a:t>
            </a:r>
            <a:r>
              <a:rPr lang="en-US" altLang="zh-CN" sz="2000" dirty="0">
                <a:highlight>
                  <a:srgbClr val="FFFFFF"/>
                </a:highlight>
                <a:latin typeface="+mn-ea"/>
                <a:sym typeface="Wingdings" panose="05000000000000000000" pitchFamily="2" charset="2"/>
              </a:rPr>
              <a:t>=</a:t>
            </a:r>
            <a:r>
              <a:rPr lang="zh-CN" altLang="en-US" sz="2000" dirty="0">
                <a:highlight>
                  <a:srgbClr val="FFFFFF"/>
                </a:highlight>
                <a:latin typeface="+mn-ea"/>
                <a:sym typeface="Wingdings" panose="05000000000000000000" pitchFamily="2" charset="2"/>
              </a:rPr>
              <a:t>（</a:t>
            </a:r>
            <a:r>
              <a:rPr lang="en-US" altLang="zh-CN" sz="2000" dirty="0">
                <a:highlight>
                  <a:srgbClr val="FFFFFF"/>
                </a:highlight>
                <a:latin typeface="+mn-ea"/>
                <a:sym typeface="Wingdings" panose="05000000000000000000" pitchFamily="2" charset="2"/>
              </a:rPr>
              <a:t>3523.56</a:t>
            </a:r>
            <a:r>
              <a:rPr lang="zh-CN" altLang="en-US" sz="2000" dirty="0">
                <a:highlight>
                  <a:srgbClr val="FFFFFF"/>
                </a:highlight>
                <a:latin typeface="+mn-ea"/>
                <a:sym typeface="Wingdings" panose="05000000000000000000" pitchFamily="2" charset="2"/>
              </a:rPr>
              <a:t>）</a:t>
            </a:r>
            <a:r>
              <a:rPr lang="en-US" altLang="zh-CN" sz="1100" dirty="0">
                <a:highlight>
                  <a:srgbClr val="FFFFFF"/>
                </a:highlight>
                <a:latin typeface="+mn-ea"/>
                <a:sym typeface="Wingdings" panose="05000000000000000000" pitchFamily="2" charset="2"/>
              </a:rPr>
              <a:t>8</a:t>
            </a:r>
          </a:p>
          <a:p>
            <a:pPr lvl="2" defTabSz="457200" fontAlgn="auto">
              <a:spcBef>
                <a:spcPts val="0"/>
              </a:spcBef>
              <a:spcAft>
                <a:spcPts val="0"/>
              </a:spcAft>
              <a:buFont typeface="Wingdings" panose="05000000000000000000" pitchFamily="2" charset="2"/>
              <a:buChar char="u"/>
              <a:defRPr/>
            </a:pPr>
            <a:r>
              <a:rPr lang="zh-CN" altLang="en-US" sz="2000" dirty="0">
                <a:highlight>
                  <a:srgbClr val="FFFFFF"/>
                </a:highlight>
                <a:latin typeface="+mn-ea"/>
              </a:rPr>
              <a:t>八进制转二进制</a:t>
            </a:r>
            <a:endParaRPr lang="en-US" altLang="zh-CN" sz="2000" dirty="0">
              <a:highlight>
                <a:srgbClr val="FFFFFF"/>
              </a:highlight>
              <a:latin typeface="+mn-ea"/>
            </a:endParaRPr>
          </a:p>
          <a:p>
            <a:pPr marL="685800" lvl="2" indent="0" defTabSz="457200" fontAlgn="auto">
              <a:spcBef>
                <a:spcPts val="0"/>
              </a:spcBef>
              <a:spcAft>
                <a:spcPts val="0"/>
              </a:spcAft>
              <a:buNone/>
              <a:defRPr/>
            </a:pPr>
            <a:r>
              <a:rPr lang="en-US" altLang="zh-CN" sz="2000" dirty="0">
                <a:highlight>
                  <a:srgbClr val="FFFFFF"/>
                </a:highlight>
                <a:latin typeface="+mn-ea"/>
              </a:rPr>
              <a:t>    </a:t>
            </a:r>
            <a:r>
              <a:rPr lang="zh-CN" altLang="en-US" sz="2000" dirty="0">
                <a:highlight>
                  <a:srgbClr val="FFFFFF"/>
                </a:highlight>
                <a:latin typeface="+mn-ea"/>
              </a:rPr>
              <a:t>每个位置的数转化为三位二进制数</a:t>
            </a:r>
            <a:endParaRPr lang="en-US" altLang="zh-CN" sz="2000" dirty="0">
              <a:highlight>
                <a:srgbClr val="FFFFFF"/>
              </a:highlight>
              <a:latin typeface="+mn-ea"/>
            </a:endParaRPr>
          </a:p>
          <a:p>
            <a:pPr marL="685800" lvl="2" indent="0" defTabSz="457200" fontAlgn="auto">
              <a:spcBef>
                <a:spcPts val="0"/>
              </a:spcBef>
              <a:spcAft>
                <a:spcPts val="0"/>
              </a:spcAft>
              <a:buNone/>
              <a:defRPr/>
            </a:pPr>
            <a:endParaRPr lang="en-US" altLang="zh-CN" sz="2000" dirty="0">
              <a:highlight>
                <a:srgbClr val="FFFFFF"/>
              </a:highlight>
              <a:latin typeface="+mn-ea"/>
            </a:endParaRPr>
          </a:p>
          <a:p>
            <a:pPr lvl="2" defTabSz="457200" fontAlgn="auto">
              <a:spcBef>
                <a:spcPts val="0"/>
              </a:spcBef>
              <a:spcAft>
                <a:spcPts val="0"/>
              </a:spcAft>
              <a:buFont typeface="Wingdings" panose="05000000000000000000" pitchFamily="2" charset="2"/>
              <a:buChar char="u"/>
              <a:defRPr/>
            </a:pPr>
            <a:r>
              <a:rPr lang="zh-CN" altLang="en-US" sz="2000" dirty="0">
                <a:highlight>
                  <a:srgbClr val="FFFFFF"/>
                </a:highlight>
                <a:latin typeface="+mn-ea"/>
              </a:rPr>
              <a:t>二进制转十六进制</a:t>
            </a:r>
            <a:endParaRPr lang="en-US" altLang="zh-CN" sz="2000" dirty="0">
              <a:highlight>
                <a:srgbClr val="FFFFFF"/>
              </a:highlight>
              <a:latin typeface="+mn-ea"/>
            </a:endParaRPr>
          </a:p>
          <a:p>
            <a:pPr marL="685800" lvl="2" indent="0" defTabSz="457200" fontAlgn="auto">
              <a:spcBef>
                <a:spcPts val="0"/>
              </a:spcBef>
              <a:spcAft>
                <a:spcPts val="0"/>
              </a:spcAft>
              <a:buNone/>
              <a:defRPr/>
            </a:pPr>
            <a:r>
              <a:rPr lang="en-US" altLang="zh-CN" sz="2000" dirty="0">
                <a:highlight>
                  <a:srgbClr val="FFFFFF"/>
                </a:highlight>
                <a:latin typeface="+mn-ea"/>
              </a:rPr>
              <a:t>    </a:t>
            </a:r>
            <a:r>
              <a:rPr lang="zh-CN" altLang="en-US" sz="2000" dirty="0">
                <a:highlight>
                  <a:srgbClr val="FFFFFF"/>
                </a:highlight>
                <a:latin typeface="+mn-ea"/>
              </a:rPr>
              <a:t>每四位划分，不足补</a:t>
            </a:r>
            <a:r>
              <a:rPr lang="en-US" altLang="zh-CN" sz="2000" dirty="0">
                <a:highlight>
                  <a:srgbClr val="FFFFFF"/>
                </a:highlight>
                <a:latin typeface="+mn-ea"/>
              </a:rPr>
              <a:t>0</a:t>
            </a:r>
          </a:p>
          <a:p>
            <a:pPr marL="685800" lvl="2" indent="0" defTabSz="457200" fontAlgn="auto">
              <a:spcBef>
                <a:spcPts val="0"/>
              </a:spcBef>
              <a:spcAft>
                <a:spcPts val="0"/>
              </a:spcAft>
              <a:buNone/>
              <a:defRPr/>
            </a:pPr>
            <a:endParaRPr lang="en-US" altLang="zh-CN" sz="2000" dirty="0">
              <a:highlight>
                <a:srgbClr val="FFFFFF"/>
              </a:highlight>
              <a:latin typeface="+mn-ea"/>
            </a:endParaRPr>
          </a:p>
          <a:p>
            <a:pPr lvl="2" defTabSz="457200" fontAlgn="auto">
              <a:spcBef>
                <a:spcPts val="0"/>
              </a:spcBef>
              <a:spcAft>
                <a:spcPts val="0"/>
              </a:spcAft>
              <a:buFont typeface="Wingdings" panose="05000000000000000000" pitchFamily="2" charset="2"/>
              <a:buChar char="u"/>
              <a:defRPr/>
            </a:pPr>
            <a:r>
              <a:rPr lang="zh-CN" altLang="en-US" sz="2000" dirty="0">
                <a:highlight>
                  <a:srgbClr val="FFFFFF"/>
                </a:highlight>
                <a:latin typeface="+mn-ea"/>
              </a:rPr>
              <a:t>十六进制转二进制</a:t>
            </a:r>
            <a:endParaRPr lang="en-US" altLang="zh-CN" sz="2000" dirty="0">
              <a:highlight>
                <a:srgbClr val="FFFFFF"/>
              </a:highlight>
              <a:latin typeface="+mn-ea"/>
            </a:endParaRPr>
          </a:p>
          <a:p>
            <a:pPr marL="685800" lvl="2" indent="0" defTabSz="457200" fontAlgn="auto">
              <a:spcBef>
                <a:spcPts val="0"/>
              </a:spcBef>
              <a:spcAft>
                <a:spcPts val="0"/>
              </a:spcAft>
              <a:buNone/>
              <a:defRPr/>
            </a:pPr>
            <a:r>
              <a:rPr lang="zh-CN" altLang="en-US" sz="2000" dirty="0">
                <a:highlight>
                  <a:srgbClr val="FFFFFF"/>
                </a:highlight>
                <a:latin typeface="+mn-ea"/>
              </a:rPr>
              <a:t>    每个位置的数转化为四位二进制数</a:t>
            </a:r>
            <a:endParaRPr lang="en-US" altLang="zh-CN" sz="2000" dirty="0">
              <a:highlight>
                <a:srgbClr val="FFFFFF"/>
              </a:highlight>
              <a:latin typeface="+mn-ea"/>
            </a:endParaRPr>
          </a:p>
        </p:txBody>
      </p:sp>
      <p:pic>
        <p:nvPicPr>
          <p:cNvPr id="9" name="图片 8" descr="联想截图_20231214002915">
            <a:extLst>
              <a:ext uri="{FF2B5EF4-FFF2-40B4-BE49-F238E27FC236}">
                <a16:creationId xmlns:a16="http://schemas.microsoft.com/office/drawing/2014/main" id="{4159A23E-02EC-4995-AF73-AE895EBE6451}"/>
              </a:ext>
            </a:extLst>
          </p:cNvPr>
          <p:cNvPicPr>
            <a:picLocks noChangeAspect="1"/>
          </p:cNvPicPr>
          <p:nvPr>
            <p:custDataLst>
              <p:tags r:id="rId1"/>
            </p:custDataLst>
          </p:nvPr>
        </p:nvPicPr>
        <p:blipFill>
          <a:blip r:embed="rId5"/>
          <a:stretch>
            <a:fillRect/>
          </a:stretch>
        </p:blipFill>
        <p:spPr>
          <a:xfrm>
            <a:off x="4435475" y="6219825"/>
            <a:ext cx="545465" cy="546735"/>
          </a:xfrm>
          <a:prstGeom prst="rect">
            <a:avLst/>
          </a:prstGeom>
        </p:spPr>
      </p:pic>
    </p:spTree>
    <p:extLst>
      <p:ext uri="{BB962C8B-B14F-4D97-AF65-F5344CB8AC3E}">
        <p14:creationId xmlns:p14="http://schemas.microsoft.com/office/powerpoint/2010/main" val="15539533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600" dirty="0">
                <a:solidFill>
                  <a:prstClr val="black"/>
                </a:solidFill>
                <a:latin typeface="方正公文黑体" panose="02000500000000000000" pitchFamily="2" charset="-122"/>
                <a:ea typeface="方正公文黑体" panose="02000500000000000000" pitchFamily="2" charset="-122"/>
              </a:rPr>
              <a:t>第二章</a:t>
            </a:r>
            <a:endParaRPr kumimoji="0" lang="en-US" altLang="zh-CN"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endParaRPr>
          </a:p>
        </p:txBody>
      </p:sp>
      <p:pic>
        <p:nvPicPr>
          <p:cNvPr id="8" name="图片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19441" y="6219825"/>
            <a:ext cx="536892" cy="542925"/>
          </a:xfrm>
          <a:prstGeom prst="rect">
            <a:avLst/>
          </a:prstGeom>
        </p:spPr>
      </p:pic>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9" name="Text Box 3">
            <a:extLst>
              <a:ext uri="{FF2B5EF4-FFF2-40B4-BE49-F238E27FC236}">
                <a16:creationId xmlns:a16="http://schemas.microsoft.com/office/drawing/2014/main" id="{16334ED4-C89B-4DE8-8822-DD9F3C45158D}"/>
              </a:ext>
            </a:extLst>
          </p:cNvPr>
          <p:cNvSpPr txBox="1">
            <a:spLocks noChangeArrowheads="1"/>
          </p:cNvSpPr>
          <p:nvPr/>
        </p:nvSpPr>
        <p:spPr bwMode="auto">
          <a:xfrm>
            <a:off x="1524000" y="1734725"/>
            <a:ext cx="8940774"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000">
                <a:solidFill>
                  <a:schemeClr val="tx1"/>
                </a:solidFill>
                <a:latin typeface="Arial" panose="020B0604020202020204" pitchFamily="34" charset="0"/>
                <a:ea typeface="宋体" panose="02010600030101010101" pitchFamily="2" charset="-122"/>
              </a:defRPr>
            </a:lvl1pPr>
            <a:lvl2pPr marL="742950" indent="-285750" eaLnBrk="0" hangingPunct="0">
              <a:defRPr sz="2000">
                <a:solidFill>
                  <a:schemeClr val="tx1"/>
                </a:solidFill>
                <a:latin typeface="Arial" panose="020B0604020202020204" pitchFamily="34" charset="0"/>
                <a:ea typeface="宋体" panose="02010600030101010101" pitchFamily="2" charset="-122"/>
              </a:defRPr>
            </a:lvl2pPr>
            <a:lvl3pPr marL="1143000" indent="-228600" eaLnBrk="0" hangingPunct="0">
              <a:defRPr sz="2000">
                <a:solidFill>
                  <a:schemeClr val="tx1"/>
                </a:solidFill>
                <a:latin typeface="Arial" panose="020B0604020202020204" pitchFamily="34" charset="0"/>
                <a:ea typeface="宋体" panose="02010600030101010101" pitchFamily="2" charset="-122"/>
              </a:defRPr>
            </a:lvl3pPr>
            <a:lvl4pPr marL="1600200" indent="-228600" eaLnBrk="0" hangingPunct="0">
              <a:defRPr sz="2000">
                <a:solidFill>
                  <a:schemeClr val="tx1"/>
                </a:solidFill>
                <a:latin typeface="Arial" panose="020B0604020202020204" pitchFamily="34" charset="0"/>
                <a:ea typeface="宋体" panose="02010600030101010101" pitchFamily="2" charset="-122"/>
              </a:defRPr>
            </a:lvl4pPr>
            <a:lvl5pPr marL="2057400" indent="-228600" eaLnBrk="0" hangingPunct="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ts val="600"/>
              </a:spcBef>
              <a:spcAft>
                <a:spcPts val="600"/>
              </a:spcAft>
            </a:pPr>
            <a:r>
              <a:rPr lang="en-US" altLang="zh-CN" sz="2800" b="1" dirty="0">
                <a:solidFill>
                  <a:srgbClr val="000066"/>
                </a:solidFill>
                <a:latin typeface="华文仿宋" panose="02010600040101010101" pitchFamily="2" charset="-122"/>
                <a:ea typeface="华文仿宋" panose="02010600040101010101" pitchFamily="2" charset="-122"/>
              </a:rPr>
              <a:t>1b = </a:t>
            </a:r>
            <a:r>
              <a:rPr lang="zh-CN" altLang="en-US" sz="2800" b="1" dirty="0">
                <a:solidFill>
                  <a:srgbClr val="000066"/>
                </a:solidFill>
                <a:latin typeface="华文仿宋" panose="02010600040101010101" pitchFamily="2" charset="-122"/>
                <a:ea typeface="华文仿宋" panose="02010600040101010101" pitchFamily="2" charset="-122"/>
              </a:rPr>
              <a:t>一个二进制位，</a:t>
            </a:r>
            <a:r>
              <a:rPr lang="en-US" altLang="zh-CN" sz="2800" b="1" dirty="0">
                <a:solidFill>
                  <a:srgbClr val="000066"/>
                </a:solidFill>
                <a:latin typeface="华文仿宋" panose="02010600040101010101" pitchFamily="2" charset="-122"/>
                <a:ea typeface="华文仿宋" panose="02010600040101010101" pitchFamily="2" charset="-122"/>
              </a:rPr>
              <a:t>bit</a:t>
            </a:r>
            <a:r>
              <a:rPr lang="zh-CN" altLang="en-US" sz="2800" b="1" dirty="0">
                <a:solidFill>
                  <a:srgbClr val="000066"/>
                </a:solidFill>
                <a:latin typeface="华文仿宋" panose="02010600040101010101" pitchFamily="2" charset="-122"/>
                <a:ea typeface="华文仿宋" panose="02010600040101010101" pitchFamily="2" charset="-122"/>
              </a:rPr>
              <a:t>，简称</a:t>
            </a:r>
            <a:r>
              <a:rPr lang="en-US" altLang="zh-CN" sz="2800" b="1" dirty="0">
                <a:solidFill>
                  <a:srgbClr val="000066"/>
                </a:solidFill>
                <a:latin typeface="华文仿宋" panose="02010600040101010101" pitchFamily="2" charset="-122"/>
                <a:ea typeface="华文仿宋" panose="02010600040101010101" pitchFamily="2" charset="-122"/>
              </a:rPr>
              <a:t>b</a:t>
            </a:r>
            <a:r>
              <a:rPr lang="zh-CN" altLang="en-US" sz="2800" b="1" dirty="0">
                <a:solidFill>
                  <a:srgbClr val="000066"/>
                </a:solidFill>
                <a:latin typeface="华文仿宋" panose="02010600040101010101" pitchFamily="2" charset="-122"/>
                <a:ea typeface="华文仿宋" panose="02010600040101010101" pitchFamily="2" charset="-122"/>
              </a:rPr>
              <a:t>，比特</a:t>
            </a:r>
            <a:endParaRPr lang="en-US" altLang="zh-CN" sz="2800" b="1" dirty="0">
              <a:solidFill>
                <a:srgbClr val="000066"/>
              </a:solidFill>
              <a:latin typeface="华文仿宋" panose="02010600040101010101" pitchFamily="2" charset="-122"/>
              <a:ea typeface="华文仿宋" panose="02010600040101010101" pitchFamily="2" charset="-122"/>
            </a:endParaRPr>
          </a:p>
          <a:p>
            <a:pPr eaLnBrk="1" hangingPunct="1">
              <a:spcBef>
                <a:spcPts val="600"/>
              </a:spcBef>
              <a:spcAft>
                <a:spcPts val="600"/>
              </a:spcAft>
            </a:pPr>
            <a:r>
              <a:rPr lang="en-US" altLang="zh-CN" sz="2800" b="1" dirty="0">
                <a:solidFill>
                  <a:srgbClr val="000066"/>
                </a:solidFill>
                <a:latin typeface="华文仿宋" panose="02010600040101010101" pitchFamily="2" charset="-122"/>
                <a:ea typeface="华文仿宋" panose="02010600040101010101" pitchFamily="2" charset="-122"/>
              </a:rPr>
              <a:t>1B = 8</a:t>
            </a:r>
            <a:r>
              <a:rPr lang="zh-CN" altLang="en-US" sz="2800" b="1" dirty="0">
                <a:solidFill>
                  <a:srgbClr val="000066"/>
                </a:solidFill>
                <a:latin typeface="华文仿宋" panose="02010600040101010101" pitchFamily="2" charset="-122"/>
                <a:ea typeface="华文仿宋" panose="02010600040101010101" pitchFamily="2" charset="-122"/>
              </a:rPr>
              <a:t>个二进制位</a:t>
            </a:r>
            <a:r>
              <a:rPr lang="en-US" altLang="zh-CN" sz="2800" b="1" dirty="0">
                <a:solidFill>
                  <a:srgbClr val="000066"/>
                </a:solidFill>
                <a:latin typeface="华文仿宋" panose="02010600040101010101" pitchFamily="2" charset="-122"/>
                <a:ea typeface="华文仿宋" panose="02010600040101010101" pitchFamily="2" charset="-122"/>
              </a:rPr>
              <a:t>,  Byte</a:t>
            </a:r>
            <a:r>
              <a:rPr lang="zh-CN" altLang="en-US" sz="2800" b="1" dirty="0">
                <a:solidFill>
                  <a:srgbClr val="000066"/>
                </a:solidFill>
                <a:latin typeface="华文仿宋" panose="02010600040101010101" pitchFamily="2" charset="-122"/>
                <a:ea typeface="华文仿宋" panose="02010600040101010101" pitchFamily="2" charset="-122"/>
              </a:rPr>
              <a:t>，简称</a:t>
            </a:r>
            <a:r>
              <a:rPr lang="en-US" altLang="zh-CN" sz="2800" b="1" dirty="0">
                <a:solidFill>
                  <a:srgbClr val="000066"/>
                </a:solidFill>
                <a:latin typeface="华文仿宋" panose="02010600040101010101" pitchFamily="2" charset="-122"/>
                <a:ea typeface="华文仿宋" panose="02010600040101010101" pitchFamily="2" charset="-122"/>
              </a:rPr>
              <a:t>B</a:t>
            </a:r>
            <a:r>
              <a:rPr lang="zh-CN" altLang="en-US" sz="2800" b="1" dirty="0">
                <a:solidFill>
                  <a:srgbClr val="000066"/>
                </a:solidFill>
                <a:latin typeface="华文仿宋" panose="02010600040101010101" pitchFamily="2" charset="-122"/>
                <a:ea typeface="华文仿宋" panose="02010600040101010101" pitchFamily="2" charset="-122"/>
              </a:rPr>
              <a:t>，字节</a:t>
            </a:r>
            <a:endParaRPr lang="en-US" altLang="zh-CN" sz="2800" b="1" dirty="0">
              <a:solidFill>
                <a:srgbClr val="000066"/>
              </a:solidFill>
              <a:latin typeface="华文仿宋" panose="02010600040101010101" pitchFamily="2" charset="-122"/>
              <a:ea typeface="华文仿宋" panose="02010600040101010101" pitchFamily="2" charset="-122"/>
            </a:endParaRPr>
          </a:p>
          <a:p>
            <a:pPr eaLnBrk="1" hangingPunct="1">
              <a:spcBef>
                <a:spcPts val="600"/>
              </a:spcBef>
              <a:spcAft>
                <a:spcPts val="600"/>
              </a:spcAft>
            </a:pPr>
            <a:r>
              <a:rPr lang="en-US" altLang="zh-CN" sz="2800" b="1" dirty="0">
                <a:solidFill>
                  <a:srgbClr val="FF0000"/>
                </a:solidFill>
                <a:latin typeface="华文仿宋" panose="02010600040101010101" pitchFamily="2" charset="-122"/>
                <a:ea typeface="华文仿宋" panose="02010600040101010101" pitchFamily="2" charset="-122"/>
              </a:rPr>
              <a:t>1KB</a:t>
            </a:r>
            <a:r>
              <a:rPr lang="en-US" altLang="zh-CN" sz="2800" b="1" dirty="0">
                <a:latin typeface="华文仿宋" panose="02010600040101010101" pitchFamily="2" charset="-122"/>
                <a:ea typeface="华文仿宋" panose="02010600040101010101" pitchFamily="2" charset="-122"/>
              </a:rPr>
              <a:t> = 1024 Byte = 2 </a:t>
            </a:r>
            <a:r>
              <a:rPr lang="en-US" altLang="zh-CN" sz="2800" b="1" baseline="30000" dirty="0">
                <a:latin typeface="华文仿宋" panose="02010600040101010101" pitchFamily="2" charset="-122"/>
                <a:ea typeface="华文仿宋" panose="02010600040101010101" pitchFamily="2" charset="-122"/>
              </a:rPr>
              <a:t>10  </a:t>
            </a:r>
            <a:r>
              <a:rPr lang="zh-CN" altLang="en-US" sz="2800" b="1" dirty="0">
                <a:solidFill>
                  <a:srgbClr val="000066"/>
                </a:solidFill>
                <a:latin typeface="华文仿宋" panose="02010600040101010101" pitchFamily="2" charset="-122"/>
                <a:ea typeface="华文仿宋" panose="02010600040101010101" pitchFamily="2" charset="-122"/>
              </a:rPr>
              <a:t>千字节</a:t>
            </a:r>
            <a:endParaRPr lang="en-US" altLang="zh-CN" sz="2800" b="1" dirty="0">
              <a:solidFill>
                <a:srgbClr val="000066"/>
              </a:solidFill>
              <a:latin typeface="华文仿宋" panose="02010600040101010101" pitchFamily="2" charset="-122"/>
              <a:ea typeface="华文仿宋" panose="02010600040101010101" pitchFamily="2" charset="-122"/>
            </a:endParaRPr>
          </a:p>
          <a:p>
            <a:pPr eaLnBrk="1" hangingPunct="1">
              <a:spcBef>
                <a:spcPts val="600"/>
              </a:spcBef>
              <a:spcAft>
                <a:spcPts val="600"/>
              </a:spcAft>
            </a:pPr>
            <a:r>
              <a:rPr lang="en-US" altLang="zh-CN" sz="2800" b="1" dirty="0">
                <a:solidFill>
                  <a:srgbClr val="FF0000"/>
                </a:solidFill>
                <a:latin typeface="华文仿宋" panose="02010600040101010101" pitchFamily="2" charset="-122"/>
                <a:ea typeface="华文仿宋" panose="02010600040101010101" pitchFamily="2" charset="-122"/>
              </a:rPr>
              <a:t>1MB</a:t>
            </a:r>
            <a:r>
              <a:rPr lang="en-US" altLang="zh-CN" sz="2800" b="1" dirty="0">
                <a:latin typeface="华文仿宋" panose="02010600040101010101" pitchFamily="2" charset="-122"/>
                <a:ea typeface="华文仿宋" panose="02010600040101010101" pitchFamily="2" charset="-122"/>
              </a:rPr>
              <a:t> = 1024 KB = 1024 </a:t>
            </a:r>
            <a:r>
              <a:rPr lang="en-US" altLang="zh-CN" sz="2800" b="1" dirty="0">
                <a:latin typeface="华文仿宋" panose="02010600040101010101" pitchFamily="2" charset="-122"/>
                <a:ea typeface="华文仿宋" panose="02010600040101010101" pitchFamily="2" charset="-122"/>
                <a:cs typeface="Tahoma" panose="020B0604030504040204" pitchFamily="34" charset="0"/>
              </a:rPr>
              <a:t>x 1024 = 2</a:t>
            </a:r>
            <a:r>
              <a:rPr lang="en-US" altLang="zh-CN" sz="2800" b="1" baseline="30000" dirty="0">
                <a:latin typeface="华文仿宋" panose="02010600040101010101" pitchFamily="2" charset="-122"/>
                <a:ea typeface="华文仿宋" panose="02010600040101010101" pitchFamily="2" charset="-122"/>
                <a:cs typeface="Tahoma" panose="020B0604030504040204" pitchFamily="34" charset="0"/>
              </a:rPr>
              <a:t> 20 </a:t>
            </a:r>
            <a:r>
              <a:rPr lang="zh-CN" altLang="en-US" sz="2800" b="1" dirty="0">
                <a:latin typeface="华文仿宋" panose="02010600040101010101" pitchFamily="2" charset="-122"/>
                <a:ea typeface="华文仿宋" panose="02010600040101010101" pitchFamily="2" charset="-122"/>
              </a:rPr>
              <a:t>兆字节</a:t>
            </a:r>
            <a:endParaRPr lang="en-US" altLang="zh-CN" sz="2800" b="1" dirty="0">
              <a:latin typeface="华文仿宋" panose="02010600040101010101" pitchFamily="2" charset="-122"/>
              <a:ea typeface="华文仿宋" panose="02010600040101010101" pitchFamily="2" charset="-122"/>
            </a:endParaRPr>
          </a:p>
          <a:p>
            <a:pPr eaLnBrk="1" hangingPunct="1">
              <a:spcBef>
                <a:spcPts val="600"/>
              </a:spcBef>
              <a:spcAft>
                <a:spcPts val="600"/>
              </a:spcAft>
            </a:pPr>
            <a:r>
              <a:rPr lang="en-US" altLang="zh-CN" sz="2800" b="1" dirty="0">
                <a:solidFill>
                  <a:srgbClr val="FF0000"/>
                </a:solidFill>
                <a:latin typeface="华文仿宋" panose="02010600040101010101" pitchFamily="2" charset="-122"/>
                <a:ea typeface="华文仿宋" panose="02010600040101010101" pitchFamily="2" charset="-122"/>
              </a:rPr>
              <a:t>1GB</a:t>
            </a:r>
            <a:r>
              <a:rPr lang="en-US" altLang="zh-CN" sz="2800" b="1" dirty="0">
                <a:latin typeface="华文仿宋" panose="02010600040101010101" pitchFamily="2" charset="-122"/>
                <a:ea typeface="华文仿宋" panose="02010600040101010101" pitchFamily="2" charset="-122"/>
              </a:rPr>
              <a:t> = 1024 MB = 1024 </a:t>
            </a:r>
            <a:r>
              <a:rPr lang="en-US" altLang="zh-CN" sz="2800" b="1" dirty="0">
                <a:latin typeface="华文仿宋" panose="02010600040101010101" pitchFamily="2" charset="-122"/>
                <a:ea typeface="华文仿宋" panose="02010600040101010101" pitchFamily="2" charset="-122"/>
                <a:cs typeface="Tahoma" panose="020B0604030504040204" pitchFamily="34" charset="0"/>
              </a:rPr>
              <a:t>x 1024K = 1024 x 1024 x 1024 = 2</a:t>
            </a:r>
            <a:r>
              <a:rPr lang="en-US" altLang="zh-CN" sz="2800" b="1" baseline="30000" dirty="0">
                <a:latin typeface="华文仿宋" panose="02010600040101010101" pitchFamily="2" charset="-122"/>
                <a:ea typeface="华文仿宋" panose="02010600040101010101" pitchFamily="2" charset="-122"/>
                <a:cs typeface="Tahoma" panose="020B0604030504040204" pitchFamily="34" charset="0"/>
              </a:rPr>
              <a:t> 30</a:t>
            </a:r>
          </a:p>
          <a:p>
            <a:pPr eaLnBrk="1" hangingPunct="1">
              <a:spcBef>
                <a:spcPts val="600"/>
              </a:spcBef>
              <a:spcAft>
                <a:spcPts val="600"/>
              </a:spcAft>
            </a:pPr>
            <a:r>
              <a:rPr lang="zh-CN" altLang="en-US" sz="2800" b="1" dirty="0">
                <a:latin typeface="华文仿宋" panose="02010600040101010101" pitchFamily="2" charset="-122"/>
                <a:ea typeface="华文仿宋" panose="02010600040101010101" pitchFamily="2" charset="-122"/>
              </a:rPr>
              <a:t>                                                                                  </a:t>
            </a:r>
            <a:r>
              <a:rPr lang="zh-CN" altLang="en-US" sz="2800" b="1" dirty="0">
                <a:solidFill>
                  <a:srgbClr val="000066"/>
                </a:solidFill>
                <a:latin typeface="华文仿宋" panose="02010600040101010101" pitchFamily="2" charset="-122"/>
                <a:ea typeface="华文仿宋" panose="02010600040101010101" pitchFamily="2" charset="-122"/>
              </a:rPr>
              <a:t>吉字节</a:t>
            </a:r>
            <a:r>
              <a:rPr lang="en-US" altLang="zh-CN" sz="2800" b="1" dirty="0">
                <a:solidFill>
                  <a:srgbClr val="000066"/>
                </a:solidFill>
                <a:latin typeface="华文仿宋" panose="02010600040101010101" pitchFamily="2" charset="-122"/>
                <a:ea typeface="华文仿宋" panose="02010600040101010101" pitchFamily="2" charset="-122"/>
              </a:rPr>
              <a:t> </a:t>
            </a:r>
          </a:p>
          <a:p>
            <a:pPr eaLnBrk="1" hangingPunct="1">
              <a:spcBef>
                <a:spcPts val="600"/>
              </a:spcBef>
              <a:spcAft>
                <a:spcPts val="600"/>
              </a:spcAft>
            </a:pPr>
            <a:r>
              <a:rPr lang="en-US" altLang="zh-CN" sz="2800" b="1" dirty="0">
                <a:solidFill>
                  <a:srgbClr val="FF0000"/>
                </a:solidFill>
                <a:latin typeface="华文仿宋" panose="02010600040101010101" pitchFamily="2" charset="-122"/>
                <a:ea typeface="华文仿宋" panose="02010600040101010101" pitchFamily="2" charset="-122"/>
                <a:cs typeface="Tahoma" panose="020B0604030504040204" pitchFamily="34" charset="0"/>
              </a:rPr>
              <a:t>1TB</a:t>
            </a:r>
            <a:r>
              <a:rPr lang="en-US" altLang="zh-CN" sz="2800" b="1" dirty="0">
                <a:latin typeface="华文仿宋" panose="02010600040101010101" pitchFamily="2" charset="-122"/>
                <a:ea typeface="华文仿宋" panose="02010600040101010101" pitchFamily="2" charset="-122"/>
                <a:cs typeface="Tahoma" panose="020B0604030504040204" pitchFamily="34" charset="0"/>
              </a:rPr>
              <a:t> = 1024 GB = 1024 x 1024 x 1024 x 1024 = 2</a:t>
            </a:r>
            <a:r>
              <a:rPr lang="en-US" altLang="zh-CN" sz="2800" b="1" baseline="30000" dirty="0">
                <a:latin typeface="华文仿宋" panose="02010600040101010101" pitchFamily="2" charset="-122"/>
                <a:ea typeface="华文仿宋" panose="02010600040101010101" pitchFamily="2" charset="-122"/>
                <a:cs typeface="Tahoma" panose="020B0604030504040204" pitchFamily="34" charset="0"/>
              </a:rPr>
              <a:t> 40 </a:t>
            </a:r>
            <a:r>
              <a:rPr lang="zh-CN" altLang="en-US" sz="2800" b="1" dirty="0">
                <a:solidFill>
                  <a:srgbClr val="000066"/>
                </a:solidFill>
                <a:latin typeface="华文仿宋" panose="02010600040101010101" pitchFamily="2" charset="-122"/>
                <a:ea typeface="华文仿宋" panose="02010600040101010101" pitchFamily="2" charset="-122"/>
              </a:rPr>
              <a:t>太字节            </a:t>
            </a:r>
            <a:endParaRPr lang="en-US" altLang="zh-CN" sz="2800" b="1" dirty="0">
              <a:solidFill>
                <a:srgbClr val="000066"/>
              </a:solidFill>
              <a:latin typeface="华文仿宋" panose="02010600040101010101" pitchFamily="2" charset="-122"/>
              <a:ea typeface="华文仿宋" panose="02010600040101010101" pitchFamily="2" charset="-122"/>
            </a:endParaRPr>
          </a:p>
        </p:txBody>
      </p:sp>
      <p:sp>
        <p:nvSpPr>
          <p:cNvPr id="11" name="Rectangle 4">
            <a:extLst>
              <a:ext uri="{FF2B5EF4-FFF2-40B4-BE49-F238E27FC236}">
                <a16:creationId xmlns:a16="http://schemas.microsoft.com/office/drawing/2014/main" id="{49225C03-F566-400F-8F17-9336359543CE}"/>
              </a:ext>
            </a:extLst>
          </p:cNvPr>
          <p:cNvSpPr>
            <a:spLocks noChangeArrowheads="1"/>
          </p:cNvSpPr>
          <p:nvPr/>
        </p:nvSpPr>
        <p:spPr bwMode="auto">
          <a:xfrm>
            <a:off x="1524000" y="929862"/>
            <a:ext cx="5819775" cy="804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sz="2000">
                <a:solidFill>
                  <a:schemeClr val="tx1"/>
                </a:solidFill>
                <a:latin typeface="Arial" panose="020B0604020202020204" pitchFamily="34" charset="0"/>
                <a:ea typeface="宋体" panose="02010600030101010101" pitchFamily="2" charset="-122"/>
              </a:defRPr>
            </a:lvl1pPr>
            <a:lvl2pPr marL="742950" indent="-285750" eaLnBrk="0" hangingPunct="0">
              <a:defRPr sz="2000">
                <a:solidFill>
                  <a:schemeClr val="tx1"/>
                </a:solidFill>
                <a:latin typeface="Arial" panose="020B0604020202020204" pitchFamily="34" charset="0"/>
                <a:ea typeface="宋体" panose="02010600030101010101" pitchFamily="2" charset="-122"/>
              </a:defRPr>
            </a:lvl2pPr>
            <a:lvl3pPr marL="1143000" indent="-228600" eaLnBrk="0" hangingPunct="0">
              <a:defRPr sz="2000">
                <a:solidFill>
                  <a:schemeClr val="tx1"/>
                </a:solidFill>
                <a:latin typeface="Arial" panose="020B0604020202020204" pitchFamily="34" charset="0"/>
                <a:ea typeface="宋体" panose="02010600030101010101" pitchFamily="2" charset="-122"/>
              </a:defRPr>
            </a:lvl3pPr>
            <a:lvl4pPr marL="1600200" indent="-228600" eaLnBrk="0" hangingPunct="0">
              <a:defRPr sz="2000">
                <a:solidFill>
                  <a:schemeClr val="tx1"/>
                </a:solidFill>
                <a:latin typeface="Arial" panose="020B0604020202020204" pitchFamily="34" charset="0"/>
                <a:ea typeface="宋体" panose="02010600030101010101" pitchFamily="2" charset="-122"/>
              </a:defRPr>
            </a:lvl4pPr>
            <a:lvl5pPr marL="2057400" indent="-228600" eaLnBrk="0" hangingPunct="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spcAft>
                <a:spcPct val="50000"/>
              </a:spcAft>
            </a:pPr>
            <a:r>
              <a:rPr lang="zh-CN" altLang="en-US" sz="3200" b="1" dirty="0">
                <a:solidFill>
                  <a:srgbClr val="FF0000"/>
                </a:solidFill>
                <a:latin typeface="华文仿宋" panose="02010600040101010101" pitchFamily="2" charset="-122"/>
                <a:ea typeface="华文仿宋" panose="02010600040101010101" pitchFamily="2" charset="-122"/>
              </a:rPr>
              <a:t>六个特殊数量的简称与表示</a:t>
            </a:r>
          </a:p>
        </p:txBody>
      </p:sp>
    </p:spTree>
    <p:extLst>
      <p:ext uri="{BB962C8B-B14F-4D97-AF65-F5344CB8AC3E}">
        <p14:creationId xmlns:p14="http://schemas.microsoft.com/office/powerpoint/2010/main" val="1397366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6331"/>
          </a:xfrm>
          <a:prstGeom prst="rect">
            <a:avLst/>
          </a:prstGeom>
          <a:noFill/>
        </p:spPr>
        <p:txBody>
          <a:bodyPr wrap="square" rtlCol="0">
            <a:spAutoFit/>
          </a:bodyPr>
          <a:lstStyle/>
          <a:p>
            <a:pPr lvl="0">
              <a:defRPr/>
            </a:pPr>
            <a:r>
              <a:rPr kumimoji="1" lang="zh-CN" altLang="en-US" sz="3600" dirty="0">
                <a:latin typeface="华文楷体" panose="02010600040101010101" pitchFamily="2" charset="-122"/>
                <a:ea typeface="华文楷体" panose="02010600040101010101" pitchFamily="2" charset="-122"/>
              </a:rPr>
              <a:t>数的原码表示</a:t>
            </a:r>
            <a:endParaRPr kumimoji="0" lang="en-US" altLang="zh-CN" sz="3600" i="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endParaRPr>
          </a:p>
        </p:txBody>
      </p:sp>
      <p:pic>
        <p:nvPicPr>
          <p:cNvPr id="8" name="图片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19441" y="6219825"/>
            <a:ext cx="536892" cy="542925"/>
          </a:xfrm>
          <a:prstGeom prst="rect">
            <a:avLst/>
          </a:prstGeom>
        </p:spPr>
      </p:pic>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9" name="Text Box 5" descr="绿色大理石">
            <a:extLst>
              <a:ext uri="{FF2B5EF4-FFF2-40B4-BE49-F238E27FC236}">
                <a16:creationId xmlns:a16="http://schemas.microsoft.com/office/drawing/2014/main" id="{1ACC676B-22EF-4CD3-871C-7D0D46092855}"/>
              </a:ext>
            </a:extLst>
          </p:cNvPr>
          <p:cNvSpPr txBox="1">
            <a:spLocks noChangeArrowheads="1"/>
          </p:cNvSpPr>
          <p:nvPr/>
        </p:nvSpPr>
        <p:spPr bwMode="auto">
          <a:xfrm>
            <a:off x="1916214" y="1052690"/>
            <a:ext cx="7421425" cy="839589"/>
          </a:xfrm>
          <a:prstGeom prst="rect">
            <a:avLst/>
          </a:prstGeom>
          <a:no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dirty="0">
                <a:latin typeface="+mj-ea"/>
                <a:ea typeface="+mj-ea"/>
              </a:rPr>
              <a:t>例：有两数：</a:t>
            </a:r>
            <a:r>
              <a:rPr lang="en-US" altLang="zh-CN" sz="2400" b="1" dirty="0">
                <a:latin typeface="+mj-ea"/>
                <a:ea typeface="+mj-ea"/>
              </a:rPr>
              <a:t>a = +2</a:t>
            </a:r>
            <a:r>
              <a:rPr lang="zh-CN" altLang="en-US" sz="2400" b="1" dirty="0">
                <a:latin typeface="+mj-ea"/>
                <a:ea typeface="+mj-ea"/>
              </a:rPr>
              <a:t>， </a:t>
            </a:r>
            <a:r>
              <a:rPr lang="en-US" altLang="zh-CN" sz="2400" b="1" dirty="0">
                <a:latin typeface="+mj-ea"/>
                <a:ea typeface="+mj-ea"/>
              </a:rPr>
              <a:t>b = –2 </a:t>
            </a:r>
            <a:endParaRPr lang="en-US" altLang="zh-CN" sz="2400" dirty="0">
              <a:latin typeface="+mj-ea"/>
              <a:ea typeface="+mj-ea"/>
            </a:endParaRPr>
          </a:p>
          <a:p>
            <a:pPr eaLnBrk="1" hangingPunct="1">
              <a:lnSpc>
                <a:spcPct val="110000"/>
              </a:lnSpc>
            </a:pPr>
            <a:r>
              <a:rPr lang="en-US" altLang="zh-CN" sz="2400" b="1" dirty="0">
                <a:latin typeface="+mj-ea"/>
                <a:ea typeface="+mj-ea"/>
              </a:rPr>
              <a:t>     </a:t>
            </a:r>
            <a:r>
              <a:rPr lang="zh-CN" altLang="en-US" sz="2400" b="1" dirty="0">
                <a:latin typeface="+mj-ea"/>
                <a:ea typeface="+mj-ea"/>
              </a:rPr>
              <a:t>若用八位二进制数该如何表示？</a:t>
            </a:r>
          </a:p>
        </p:txBody>
      </p:sp>
      <p:grpSp>
        <p:nvGrpSpPr>
          <p:cNvPr id="11" name="Group 6">
            <a:extLst>
              <a:ext uri="{FF2B5EF4-FFF2-40B4-BE49-F238E27FC236}">
                <a16:creationId xmlns:a16="http://schemas.microsoft.com/office/drawing/2014/main" id="{2C1A0B1C-77BA-4AFA-8BBA-121A6F8B3FE1}"/>
              </a:ext>
            </a:extLst>
          </p:cNvPr>
          <p:cNvGrpSpPr/>
          <p:nvPr/>
        </p:nvGrpSpPr>
        <p:grpSpPr bwMode="auto">
          <a:xfrm>
            <a:off x="3289669" y="2259851"/>
            <a:ext cx="5510213" cy="2547441"/>
            <a:chOff x="1248" y="1440"/>
            <a:chExt cx="4272" cy="1975"/>
          </a:xfrm>
        </p:grpSpPr>
        <p:sp>
          <p:nvSpPr>
            <p:cNvPr id="12" name="Text Box 7">
              <a:extLst>
                <a:ext uri="{FF2B5EF4-FFF2-40B4-BE49-F238E27FC236}">
                  <a16:creationId xmlns:a16="http://schemas.microsoft.com/office/drawing/2014/main" id="{4675AD03-3625-4C1F-B3FC-BFCBA88A2FCF}"/>
                </a:ext>
              </a:extLst>
            </p:cNvPr>
            <p:cNvSpPr txBox="1">
              <a:spLocks noChangeArrowheads="1"/>
            </p:cNvSpPr>
            <p:nvPr/>
          </p:nvSpPr>
          <p:spPr bwMode="auto">
            <a:xfrm>
              <a:off x="1248" y="1440"/>
              <a:ext cx="4272" cy="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en-US" altLang="zh-CN" sz="2800" dirty="0">
                  <a:solidFill>
                    <a:srgbClr val="FF0000"/>
                  </a:solidFill>
                </a:rPr>
                <a:t>a = +2 </a:t>
              </a:r>
              <a:r>
                <a:rPr lang="zh-CN" altLang="en-US" sz="2800" dirty="0"/>
                <a:t>表示为： </a:t>
              </a:r>
              <a:endParaRPr lang="zh-CN" altLang="en-US" sz="2400" dirty="0"/>
            </a:p>
            <a:p>
              <a:pPr eaLnBrk="1" hangingPunct="1">
                <a:lnSpc>
                  <a:spcPct val="130000"/>
                </a:lnSpc>
              </a:pPr>
              <a:r>
                <a:rPr lang="zh-CN" altLang="en-US" sz="2800" dirty="0">
                  <a:solidFill>
                    <a:srgbClr val="FF3300"/>
                  </a:solidFill>
                </a:rPr>
                <a:t>  </a:t>
              </a:r>
              <a:r>
                <a:rPr lang="en-US" altLang="zh-CN" sz="2800" b="1" dirty="0">
                  <a:solidFill>
                    <a:srgbClr val="333399"/>
                  </a:solidFill>
                </a:rPr>
                <a:t>0    0    0    0     0    0    1    0</a:t>
              </a:r>
              <a:endParaRPr lang="en-US" altLang="zh-CN" sz="2400" b="1" dirty="0">
                <a:solidFill>
                  <a:srgbClr val="333399"/>
                </a:solidFill>
              </a:endParaRPr>
            </a:p>
            <a:p>
              <a:pPr eaLnBrk="1" hangingPunct="1">
                <a:lnSpc>
                  <a:spcPct val="130000"/>
                </a:lnSpc>
              </a:pPr>
              <a:r>
                <a:rPr lang="en-US" altLang="zh-CN" sz="2800" dirty="0">
                  <a:solidFill>
                    <a:srgbClr val="FF0000"/>
                  </a:solidFill>
                </a:rPr>
                <a:t>b = – 2 </a:t>
              </a:r>
              <a:r>
                <a:rPr lang="zh-CN" altLang="en-US" sz="2800" dirty="0"/>
                <a:t>表示为： </a:t>
              </a:r>
              <a:endParaRPr lang="zh-CN" altLang="en-US" sz="2400" dirty="0"/>
            </a:p>
            <a:p>
              <a:pPr eaLnBrk="1" hangingPunct="1">
                <a:lnSpc>
                  <a:spcPct val="130000"/>
                </a:lnSpc>
                <a:spcBef>
                  <a:spcPct val="50000"/>
                </a:spcBef>
              </a:pPr>
              <a:r>
                <a:rPr lang="zh-CN" altLang="en-US" sz="2800" dirty="0">
                  <a:solidFill>
                    <a:srgbClr val="FFFF00"/>
                  </a:solidFill>
                </a:rPr>
                <a:t>  </a:t>
              </a:r>
              <a:r>
                <a:rPr lang="en-US" altLang="zh-CN" sz="2800" b="1" dirty="0">
                  <a:solidFill>
                    <a:srgbClr val="333399"/>
                  </a:solidFill>
                </a:rPr>
                <a:t>1    0    0    0     0    0    1    0</a:t>
              </a:r>
            </a:p>
          </p:txBody>
        </p:sp>
        <p:grpSp>
          <p:nvGrpSpPr>
            <p:cNvPr id="13" name="Group 8">
              <a:extLst>
                <a:ext uri="{FF2B5EF4-FFF2-40B4-BE49-F238E27FC236}">
                  <a16:creationId xmlns:a16="http://schemas.microsoft.com/office/drawing/2014/main" id="{D9242037-BA85-4EAA-B269-2F6274548CDC}"/>
                </a:ext>
              </a:extLst>
            </p:cNvPr>
            <p:cNvGrpSpPr/>
            <p:nvPr/>
          </p:nvGrpSpPr>
          <p:grpSpPr bwMode="auto">
            <a:xfrm>
              <a:off x="1311" y="2016"/>
              <a:ext cx="4017" cy="311"/>
              <a:chOff x="1104" y="2400"/>
              <a:chExt cx="3120" cy="336"/>
            </a:xfrm>
          </p:grpSpPr>
          <p:sp>
            <p:nvSpPr>
              <p:cNvPr id="27" name="Line 9">
                <a:extLst>
                  <a:ext uri="{FF2B5EF4-FFF2-40B4-BE49-F238E27FC236}">
                    <a16:creationId xmlns:a16="http://schemas.microsoft.com/office/drawing/2014/main" id="{2B0D540C-A0FF-406B-A116-CF2403E2716A}"/>
                  </a:ext>
                </a:extLst>
              </p:cNvPr>
              <p:cNvSpPr>
                <a:spLocks noChangeShapeType="1"/>
              </p:cNvSpPr>
              <p:nvPr/>
            </p:nvSpPr>
            <p:spPr bwMode="auto">
              <a:xfrm>
                <a:off x="1104" y="2400"/>
                <a:ext cx="3120" cy="0"/>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28" name="Line 10">
                <a:extLst>
                  <a:ext uri="{FF2B5EF4-FFF2-40B4-BE49-F238E27FC236}">
                    <a16:creationId xmlns:a16="http://schemas.microsoft.com/office/drawing/2014/main" id="{3401A8B3-0F86-4B49-8D61-83DA6D6C5126}"/>
                  </a:ext>
                </a:extLst>
              </p:cNvPr>
              <p:cNvSpPr>
                <a:spLocks noChangeShapeType="1"/>
              </p:cNvSpPr>
              <p:nvPr/>
            </p:nvSpPr>
            <p:spPr bwMode="auto">
              <a:xfrm>
                <a:off x="1104" y="2400"/>
                <a:ext cx="0" cy="336"/>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29" name="Line 11">
                <a:extLst>
                  <a:ext uri="{FF2B5EF4-FFF2-40B4-BE49-F238E27FC236}">
                    <a16:creationId xmlns:a16="http://schemas.microsoft.com/office/drawing/2014/main" id="{CF91A68F-41FC-4D20-866F-0485F6D15307}"/>
                  </a:ext>
                </a:extLst>
              </p:cNvPr>
              <p:cNvSpPr>
                <a:spLocks noChangeShapeType="1"/>
              </p:cNvSpPr>
              <p:nvPr/>
            </p:nvSpPr>
            <p:spPr bwMode="auto">
              <a:xfrm>
                <a:off x="1488" y="2400"/>
                <a:ext cx="0" cy="336"/>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30" name="Line 12">
                <a:extLst>
                  <a:ext uri="{FF2B5EF4-FFF2-40B4-BE49-F238E27FC236}">
                    <a16:creationId xmlns:a16="http://schemas.microsoft.com/office/drawing/2014/main" id="{E97A8CD4-FE54-4327-99CD-8655783B9420}"/>
                  </a:ext>
                </a:extLst>
              </p:cNvPr>
              <p:cNvSpPr>
                <a:spLocks noChangeShapeType="1"/>
              </p:cNvSpPr>
              <p:nvPr/>
            </p:nvSpPr>
            <p:spPr bwMode="auto">
              <a:xfrm>
                <a:off x="1872" y="2400"/>
                <a:ext cx="0" cy="336"/>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31" name="Line 13">
                <a:extLst>
                  <a:ext uri="{FF2B5EF4-FFF2-40B4-BE49-F238E27FC236}">
                    <a16:creationId xmlns:a16="http://schemas.microsoft.com/office/drawing/2014/main" id="{12224560-44C2-49E2-9555-AECC70B56B18}"/>
                  </a:ext>
                </a:extLst>
              </p:cNvPr>
              <p:cNvSpPr>
                <a:spLocks noChangeShapeType="1"/>
              </p:cNvSpPr>
              <p:nvPr/>
            </p:nvSpPr>
            <p:spPr bwMode="auto">
              <a:xfrm>
                <a:off x="2256" y="2400"/>
                <a:ext cx="0" cy="336"/>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32" name="Line 14">
                <a:extLst>
                  <a:ext uri="{FF2B5EF4-FFF2-40B4-BE49-F238E27FC236}">
                    <a16:creationId xmlns:a16="http://schemas.microsoft.com/office/drawing/2014/main" id="{21716C32-9601-4FEF-8DBC-E1E62615A64A}"/>
                  </a:ext>
                </a:extLst>
              </p:cNvPr>
              <p:cNvSpPr>
                <a:spLocks noChangeShapeType="1"/>
              </p:cNvSpPr>
              <p:nvPr/>
            </p:nvSpPr>
            <p:spPr bwMode="auto">
              <a:xfrm>
                <a:off x="2640" y="2400"/>
                <a:ext cx="0" cy="336"/>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33" name="Line 15">
                <a:extLst>
                  <a:ext uri="{FF2B5EF4-FFF2-40B4-BE49-F238E27FC236}">
                    <a16:creationId xmlns:a16="http://schemas.microsoft.com/office/drawing/2014/main" id="{3150B5E8-1E34-4347-AA36-1AE25367287E}"/>
                  </a:ext>
                </a:extLst>
              </p:cNvPr>
              <p:cNvSpPr>
                <a:spLocks noChangeShapeType="1"/>
              </p:cNvSpPr>
              <p:nvPr/>
            </p:nvSpPr>
            <p:spPr bwMode="auto">
              <a:xfrm>
                <a:off x="3024" y="2400"/>
                <a:ext cx="0" cy="336"/>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34" name="Line 16">
                <a:extLst>
                  <a:ext uri="{FF2B5EF4-FFF2-40B4-BE49-F238E27FC236}">
                    <a16:creationId xmlns:a16="http://schemas.microsoft.com/office/drawing/2014/main" id="{58A4DDC4-BDB5-455C-A8B4-0D7833EF5E57}"/>
                  </a:ext>
                </a:extLst>
              </p:cNvPr>
              <p:cNvSpPr>
                <a:spLocks noChangeShapeType="1"/>
              </p:cNvSpPr>
              <p:nvPr/>
            </p:nvSpPr>
            <p:spPr bwMode="auto">
              <a:xfrm>
                <a:off x="3408" y="2400"/>
                <a:ext cx="0" cy="336"/>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35" name="Line 17">
                <a:extLst>
                  <a:ext uri="{FF2B5EF4-FFF2-40B4-BE49-F238E27FC236}">
                    <a16:creationId xmlns:a16="http://schemas.microsoft.com/office/drawing/2014/main" id="{6CC23966-DAE6-476D-B2C4-4F00F08A1CB3}"/>
                  </a:ext>
                </a:extLst>
              </p:cNvPr>
              <p:cNvSpPr>
                <a:spLocks noChangeShapeType="1"/>
              </p:cNvSpPr>
              <p:nvPr/>
            </p:nvSpPr>
            <p:spPr bwMode="auto">
              <a:xfrm>
                <a:off x="3840" y="2400"/>
                <a:ext cx="0" cy="336"/>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36" name="Line 18">
                <a:extLst>
                  <a:ext uri="{FF2B5EF4-FFF2-40B4-BE49-F238E27FC236}">
                    <a16:creationId xmlns:a16="http://schemas.microsoft.com/office/drawing/2014/main" id="{59EC6771-3E11-4CFB-8C0B-6C323301DD0D}"/>
                  </a:ext>
                </a:extLst>
              </p:cNvPr>
              <p:cNvSpPr>
                <a:spLocks noChangeShapeType="1"/>
              </p:cNvSpPr>
              <p:nvPr/>
            </p:nvSpPr>
            <p:spPr bwMode="auto">
              <a:xfrm>
                <a:off x="4224" y="2400"/>
                <a:ext cx="0" cy="336"/>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37" name="Line 19">
                <a:extLst>
                  <a:ext uri="{FF2B5EF4-FFF2-40B4-BE49-F238E27FC236}">
                    <a16:creationId xmlns:a16="http://schemas.microsoft.com/office/drawing/2014/main" id="{B50B4CDC-C859-46F5-9B00-FDCD5F2AE40E}"/>
                  </a:ext>
                </a:extLst>
              </p:cNvPr>
              <p:cNvSpPr>
                <a:spLocks noChangeShapeType="1"/>
              </p:cNvSpPr>
              <p:nvPr/>
            </p:nvSpPr>
            <p:spPr bwMode="auto">
              <a:xfrm>
                <a:off x="1104" y="2736"/>
                <a:ext cx="3120" cy="0"/>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2400"/>
              </a:p>
            </p:txBody>
          </p:sp>
        </p:grpSp>
        <p:grpSp>
          <p:nvGrpSpPr>
            <p:cNvPr id="15" name="Group 20">
              <a:extLst>
                <a:ext uri="{FF2B5EF4-FFF2-40B4-BE49-F238E27FC236}">
                  <a16:creationId xmlns:a16="http://schemas.microsoft.com/office/drawing/2014/main" id="{A5D59E0F-A3B2-420E-93CD-92F7581B8911}"/>
                </a:ext>
              </a:extLst>
            </p:cNvPr>
            <p:cNvGrpSpPr/>
            <p:nvPr/>
          </p:nvGrpSpPr>
          <p:grpSpPr bwMode="auto">
            <a:xfrm>
              <a:off x="1296" y="3049"/>
              <a:ext cx="4032" cy="311"/>
              <a:chOff x="1104" y="2400"/>
              <a:chExt cx="3120" cy="336"/>
            </a:xfrm>
          </p:grpSpPr>
          <p:sp>
            <p:nvSpPr>
              <p:cNvPr id="16" name="Line 21">
                <a:extLst>
                  <a:ext uri="{FF2B5EF4-FFF2-40B4-BE49-F238E27FC236}">
                    <a16:creationId xmlns:a16="http://schemas.microsoft.com/office/drawing/2014/main" id="{7F46DD83-946E-4C2F-80DB-E30F11919FCE}"/>
                  </a:ext>
                </a:extLst>
              </p:cNvPr>
              <p:cNvSpPr>
                <a:spLocks noChangeShapeType="1"/>
              </p:cNvSpPr>
              <p:nvPr/>
            </p:nvSpPr>
            <p:spPr bwMode="auto">
              <a:xfrm>
                <a:off x="1104" y="2400"/>
                <a:ext cx="3120" cy="0"/>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17" name="Line 22">
                <a:extLst>
                  <a:ext uri="{FF2B5EF4-FFF2-40B4-BE49-F238E27FC236}">
                    <a16:creationId xmlns:a16="http://schemas.microsoft.com/office/drawing/2014/main" id="{1058EFF3-734E-4044-B60B-03A822E95F72}"/>
                  </a:ext>
                </a:extLst>
              </p:cNvPr>
              <p:cNvSpPr>
                <a:spLocks noChangeShapeType="1"/>
              </p:cNvSpPr>
              <p:nvPr/>
            </p:nvSpPr>
            <p:spPr bwMode="auto">
              <a:xfrm>
                <a:off x="1104" y="2400"/>
                <a:ext cx="0" cy="336"/>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18" name="Line 23">
                <a:extLst>
                  <a:ext uri="{FF2B5EF4-FFF2-40B4-BE49-F238E27FC236}">
                    <a16:creationId xmlns:a16="http://schemas.microsoft.com/office/drawing/2014/main" id="{FBAF1A5A-E700-4166-9E6A-001A53C55A51}"/>
                  </a:ext>
                </a:extLst>
              </p:cNvPr>
              <p:cNvSpPr>
                <a:spLocks noChangeShapeType="1"/>
              </p:cNvSpPr>
              <p:nvPr/>
            </p:nvSpPr>
            <p:spPr bwMode="auto">
              <a:xfrm>
                <a:off x="1488" y="2400"/>
                <a:ext cx="0" cy="336"/>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19" name="Line 24">
                <a:extLst>
                  <a:ext uri="{FF2B5EF4-FFF2-40B4-BE49-F238E27FC236}">
                    <a16:creationId xmlns:a16="http://schemas.microsoft.com/office/drawing/2014/main" id="{25F5D08A-D250-4CA9-80FB-C49A3F7247BE}"/>
                  </a:ext>
                </a:extLst>
              </p:cNvPr>
              <p:cNvSpPr>
                <a:spLocks noChangeShapeType="1"/>
              </p:cNvSpPr>
              <p:nvPr/>
            </p:nvSpPr>
            <p:spPr bwMode="auto">
              <a:xfrm>
                <a:off x="1872" y="2400"/>
                <a:ext cx="0" cy="336"/>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20" name="Line 25">
                <a:extLst>
                  <a:ext uri="{FF2B5EF4-FFF2-40B4-BE49-F238E27FC236}">
                    <a16:creationId xmlns:a16="http://schemas.microsoft.com/office/drawing/2014/main" id="{CCF28ABF-9EEA-4B62-8AB9-42B84CF21C28}"/>
                  </a:ext>
                </a:extLst>
              </p:cNvPr>
              <p:cNvSpPr>
                <a:spLocks noChangeShapeType="1"/>
              </p:cNvSpPr>
              <p:nvPr/>
            </p:nvSpPr>
            <p:spPr bwMode="auto">
              <a:xfrm>
                <a:off x="2256" y="2400"/>
                <a:ext cx="0" cy="336"/>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21" name="Line 26">
                <a:extLst>
                  <a:ext uri="{FF2B5EF4-FFF2-40B4-BE49-F238E27FC236}">
                    <a16:creationId xmlns:a16="http://schemas.microsoft.com/office/drawing/2014/main" id="{D2EDCB6E-1890-4BBF-AD3F-DA4535F7CECD}"/>
                  </a:ext>
                </a:extLst>
              </p:cNvPr>
              <p:cNvSpPr>
                <a:spLocks noChangeShapeType="1"/>
              </p:cNvSpPr>
              <p:nvPr/>
            </p:nvSpPr>
            <p:spPr bwMode="auto">
              <a:xfrm>
                <a:off x="2640" y="2400"/>
                <a:ext cx="0" cy="336"/>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22" name="Line 27">
                <a:extLst>
                  <a:ext uri="{FF2B5EF4-FFF2-40B4-BE49-F238E27FC236}">
                    <a16:creationId xmlns:a16="http://schemas.microsoft.com/office/drawing/2014/main" id="{FD62A528-B1FB-4ECA-A9D7-C4140F9057DA}"/>
                  </a:ext>
                </a:extLst>
              </p:cNvPr>
              <p:cNvSpPr>
                <a:spLocks noChangeShapeType="1"/>
              </p:cNvSpPr>
              <p:nvPr/>
            </p:nvSpPr>
            <p:spPr bwMode="auto">
              <a:xfrm>
                <a:off x="3024" y="2400"/>
                <a:ext cx="0" cy="336"/>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23" name="Line 28">
                <a:extLst>
                  <a:ext uri="{FF2B5EF4-FFF2-40B4-BE49-F238E27FC236}">
                    <a16:creationId xmlns:a16="http://schemas.microsoft.com/office/drawing/2014/main" id="{C86E500D-26F1-49E0-B37C-D19C9A26C8E1}"/>
                  </a:ext>
                </a:extLst>
              </p:cNvPr>
              <p:cNvSpPr>
                <a:spLocks noChangeShapeType="1"/>
              </p:cNvSpPr>
              <p:nvPr/>
            </p:nvSpPr>
            <p:spPr bwMode="auto">
              <a:xfrm>
                <a:off x="3408" y="2400"/>
                <a:ext cx="0" cy="336"/>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24" name="Line 29">
                <a:extLst>
                  <a:ext uri="{FF2B5EF4-FFF2-40B4-BE49-F238E27FC236}">
                    <a16:creationId xmlns:a16="http://schemas.microsoft.com/office/drawing/2014/main" id="{3FBCE28E-AD7A-43E2-8FFC-B8AFECE3EF3E}"/>
                  </a:ext>
                </a:extLst>
              </p:cNvPr>
              <p:cNvSpPr>
                <a:spLocks noChangeShapeType="1"/>
              </p:cNvSpPr>
              <p:nvPr/>
            </p:nvSpPr>
            <p:spPr bwMode="auto">
              <a:xfrm>
                <a:off x="3840" y="2400"/>
                <a:ext cx="0" cy="336"/>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25" name="Line 30">
                <a:extLst>
                  <a:ext uri="{FF2B5EF4-FFF2-40B4-BE49-F238E27FC236}">
                    <a16:creationId xmlns:a16="http://schemas.microsoft.com/office/drawing/2014/main" id="{3CDD37F8-480F-41C8-8126-D33E58DB3164}"/>
                  </a:ext>
                </a:extLst>
              </p:cNvPr>
              <p:cNvSpPr>
                <a:spLocks noChangeShapeType="1"/>
              </p:cNvSpPr>
              <p:nvPr/>
            </p:nvSpPr>
            <p:spPr bwMode="auto">
              <a:xfrm>
                <a:off x="4224" y="2400"/>
                <a:ext cx="0" cy="336"/>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26" name="Line 31">
                <a:extLst>
                  <a:ext uri="{FF2B5EF4-FFF2-40B4-BE49-F238E27FC236}">
                    <a16:creationId xmlns:a16="http://schemas.microsoft.com/office/drawing/2014/main" id="{287301B9-8AF4-4E91-B5C5-82BE2137F891}"/>
                  </a:ext>
                </a:extLst>
              </p:cNvPr>
              <p:cNvSpPr>
                <a:spLocks noChangeShapeType="1"/>
              </p:cNvSpPr>
              <p:nvPr/>
            </p:nvSpPr>
            <p:spPr bwMode="auto">
              <a:xfrm>
                <a:off x="1104" y="2736"/>
                <a:ext cx="3120" cy="0"/>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2400"/>
              </a:p>
            </p:txBody>
          </p:sp>
        </p:grpSp>
      </p:grpSp>
      <p:cxnSp>
        <p:nvCxnSpPr>
          <p:cNvPr id="38" name="AutoShape 39">
            <a:extLst>
              <a:ext uri="{FF2B5EF4-FFF2-40B4-BE49-F238E27FC236}">
                <a16:creationId xmlns:a16="http://schemas.microsoft.com/office/drawing/2014/main" id="{E126E6ED-C1F0-47AF-9194-503045FD7C34}"/>
              </a:ext>
            </a:extLst>
          </p:cNvPr>
          <p:cNvCxnSpPr>
            <a:cxnSpLocks noChangeShapeType="1"/>
          </p:cNvCxnSpPr>
          <p:nvPr/>
        </p:nvCxnSpPr>
        <p:spPr bwMode="auto">
          <a:xfrm>
            <a:off x="7464613" y="4162371"/>
            <a:ext cx="0" cy="0"/>
          </a:xfrm>
          <a:prstGeom prst="straightConnector1">
            <a:avLst/>
          </a:prstGeom>
          <a:noFill/>
          <a:ln w="12700">
            <a:solidFill>
              <a:srgbClr val="3366FF"/>
            </a:solidFill>
            <a:round/>
            <a:headEnd type="none" w="sm" len="sm"/>
            <a:tailEnd type="none" w="sm" len="sm"/>
          </a:ln>
          <a:extLst>
            <a:ext uri="{909E8E84-426E-40DD-AFC4-6F175D3DCCD1}">
              <a14:hiddenFill xmlns:a14="http://schemas.microsoft.com/office/drawing/2010/main">
                <a:noFill/>
              </a14:hiddenFill>
            </a:ext>
          </a:extLst>
        </p:spPr>
      </p:cxnSp>
      <p:grpSp>
        <p:nvGrpSpPr>
          <p:cNvPr id="40" name="组合 39">
            <a:extLst>
              <a:ext uri="{FF2B5EF4-FFF2-40B4-BE49-F238E27FC236}">
                <a16:creationId xmlns:a16="http://schemas.microsoft.com/office/drawing/2014/main" id="{49E61147-7341-43C4-9549-0EF86DAEEE0C}"/>
              </a:ext>
            </a:extLst>
          </p:cNvPr>
          <p:cNvGrpSpPr/>
          <p:nvPr/>
        </p:nvGrpSpPr>
        <p:grpSpPr>
          <a:xfrm>
            <a:off x="1817595" y="2911470"/>
            <a:ext cx="2201593" cy="2708907"/>
            <a:chOff x="889340" y="3329930"/>
            <a:chExt cx="2201593" cy="2708907"/>
          </a:xfrm>
        </p:grpSpPr>
        <p:sp>
          <p:nvSpPr>
            <p:cNvPr id="41" name="矩形 40">
              <a:extLst>
                <a:ext uri="{FF2B5EF4-FFF2-40B4-BE49-F238E27FC236}">
                  <a16:creationId xmlns:a16="http://schemas.microsoft.com/office/drawing/2014/main" id="{77CB5A95-2FBC-4D38-8A26-17071EC7DA9B}"/>
                </a:ext>
              </a:extLst>
            </p:cNvPr>
            <p:cNvSpPr/>
            <p:nvPr/>
          </p:nvSpPr>
          <p:spPr bwMode="auto">
            <a:xfrm>
              <a:off x="2361414" y="3329930"/>
              <a:ext cx="718959" cy="533927"/>
            </a:xfrm>
            <a:prstGeom prst="rect">
              <a:avLst/>
            </a:prstGeom>
            <a:noFill/>
            <a:ln w="57150"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lstStyle/>
            <a:p>
              <a:pPr marL="342900" marR="0" indent="-342900" algn="l" defTabSz="914400" rtl="0" eaLnBrk="1" fontAlgn="base" latinLnBrk="0" hangingPunct="1">
                <a:lnSpc>
                  <a:spcPct val="100000"/>
                </a:lnSpc>
                <a:spcBef>
                  <a:spcPct val="20000"/>
                </a:spcBef>
                <a:spcAft>
                  <a:spcPct val="0"/>
                </a:spcAft>
                <a:buClrTx/>
                <a:buSzTx/>
                <a:buFontTx/>
                <a:buNone/>
              </a:pPr>
              <a:endParaRPr kumimoji="0" lang="zh-CN" altLang="en-US"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endParaRPr>
            </a:p>
          </p:txBody>
        </p:sp>
        <p:sp>
          <p:nvSpPr>
            <p:cNvPr id="42" name="矩形 41">
              <a:extLst>
                <a:ext uri="{FF2B5EF4-FFF2-40B4-BE49-F238E27FC236}">
                  <a16:creationId xmlns:a16="http://schemas.microsoft.com/office/drawing/2014/main" id="{313F24FC-356C-473E-B31E-3FA25E3AF5D4}"/>
                </a:ext>
              </a:extLst>
            </p:cNvPr>
            <p:cNvSpPr/>
            <p:nvPr/>
          </p:nvSpPr>
          <p:spPr bwMode="auto">
            <a:xfrm>
              <a:off x="2371974" y="4686498"/>
              <a:ext cx="718959" cy="532831"/>
            </a:xfrm>
            <a:prstGeom prst="rect">
              <a:avLst/>
            </a:prstGeom>
            <a:noFill/>
            <a:ln w="57150"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lstStyle/>
            <a:p>
              <a:pPr marL="342900" marR="0" indent="-342900" algn="l" defTabSz="914400" rtl="0" eaLnBrk="1" fontAlgn="base" latinLnBrk="0" hangingPunct="1">
                <a:lnSpc>
                  <a:spcPct val="100000"/>
                </a:lnSpc>
                <a:spcBef>
                  <a:spcPct val="20000"/>
                </a:spcBef>
                <a:spcAft>
                  <a:spcPct val="0"/>
                </a:spcAft>
                <a:buClrTx/>
                <a:buSzTx/>
                <a:buFontTx/>
                <a:buNone/>
              </a:pPr>
              <a:endParaRPr kumimoji="0" lang="zh-CN" altLang="en-US"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endParaRPr>
            </a:p>
          </p:txBody>
        </p:sp>
        <p:cxnSp>
          <p:nvCxnSpPr>
            <p:cNvPr id="43" name="直接箭头连接符 42">
              <a:extLst>
                <a:ext uri="{FF2B5EF4-FFF2-40B4-BE49-F238E27FC236}">
                  <a16:creationId xmlns:a16="http://schemas.microsoft.com/office/drawing/2014/main" id="{3630C080-E3A0-46CC-9445-72C507D5B13E}"/>
                </a:ext>
              </a:extLst>
            </p:cNvPr>
            <p:cNvCxnSpPr/>
            <p:nvPr/>
          </p:nvCxnSpPr>
          <p:spPr bwMode="auto">
            <a:xfrm flipH="1">
              <a:off x="1496616" y="3863857"/>
              <a:ext cx="926711" cy="1869399"/>
            </a:xfrm>
            <a:prstGeom prst="straightConnector1">
              <a:avLst/>
            </a:prstGeom>
            <a:solidFill>
              <a:schemeClr val="bg2"/>
            </a:solidFill>
            <a:ln w="57150" cap="flat" cmpd="sng" algn="ctr">
              <a:solidFill>
                <a:srgbClr val="FFC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直接箭头连接符 43">
              <a:extLst>
                <a:ext uri="{FF2B5EF4-FFF2-40B4-BE49-F238E27FC236}">
                  <a16:creationId xmlns:a16="http://schemas.microsoft.com/office/drawing/2014/main" id="{33EFA7C7-EA2E-4554-982D-2CBE955B37EA}"/>
                </a:ext>
              </a:extLst>
            </p:cNvPr>
            <p:cNvCxnSpPr/>
            <p:nvPr/>
          </p:nvCxnSpPr>
          <p:spPr bwMode="auto">
            <a:xfrm flipH="1">
              <a:off x="1597227" y="5227836"/>
              <a:ext cx="774747" cy="472447"/>
            </a:xfrm>
            <a:prstGeom prst="straightConnector1">
              <a:avLst/>
            </a:prstGeom>
            <a:solidFill>
              <a:schemeClr val="bg2"/>
            </a:solidFill>
            <a:ln w="57150" cap="flat" cmpd="sng" algn="ctr">
              <a:solidFill>
                <a:srgbClr val="FFC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5" name="文本框 44">
              <a:extLst>
                <a:ext uri="{FF2B5EF4-FFF2-40B4-BE49-F238E27FC236}">
                  <a16:creationId xmlns:a16="http://schemas.microsoft.com/office/drawing/2014/main" id="{E0FF83BE-C9F4-4FC8-A9F0-0DAB79D3669E}"/>
                </a:ext>
              </a:extLst>
            </p:cNvPr>
            <p:cNvSpPr txBox="1"/>
            <p:nvPr/>
          </p:nvSpPr>
          <p:spPr>
            <a:xfrm>
              <a:off x="889340" y="5700283"/>
              <a:ext cx="800219" cy="338554"/>
            </a:xfrm>
            <a:prstGeom prst="rect">
              <a:avLst/>
            </a:prstGeom>
            <a:noFill/>
            <a:ln w="38100">
              <a:solidFill>
                <a:srgbClr val="FFC000"/>
              </a:solidFill>
            </a:ln>
          </p:spPr>
          <p:txBody>
            <a:bodyPr wrap="none" rtlCol="0">
              <a:spAutoFit/>
            </a:bodyPr>
            <a:lstStyle/>
            <a:p>
              <a:r>
                <a:rPr lang="zh-CN" altLang="en-US" sz="1600" dirty="0"/>
                <a:t>符号位</a:t>
              </a:r>
            </a:p>
          </p:txBody>
        </p:sp>
      </p:grpSp>
      <p:grpSp>
        <p:nvGrpSpPr>
          <p:cNvPr id="46" name="组合 45">
            <a:extLst>
              <a:ext uri="{FF2B5EF4-FFF2-40B4-BE49-F238E27FC236}">
                <a16:creationId xmlns:a16="http://schemas.microsoft.com/office/drawing/2014/main" id="{59CA6F71-3771-4454-80F6-92FBBD7C0552}"/>
              </a:ext>
            </a:extLst>
          </p:cNvPr>
          <p:cNvGrpSpPr/>
          <p:nvPr/>
        </p:nvGrpSpPr>
        <p:grpSpPr>
          <a:xfrm>
            <a:off x="3207462" y="2853698"/>
            <a:ext cx="6908434" cy="2064521"/>
            <a:chOff x="2279207" y="3272158"/>
            <a:chExt cx="6908434" cy="2064521"/>
          </a:xfrm>
        </p:grpSpPr>
        <p:sp>
          <p:nvSpPr>
            <p:cNvPr id="47" name="矩形 46">
              <a:extLst>
                <a:ext uri="{FF2B5EF4-FFF2-40B4-BE49-F238E27FC236}">
                  <a16:creationId xmlns:a16="http://schemas.microsoft.com/office/drawing/2014/main" id="{68AA7FED-9C23-41E2-9A3D-38663801B676}"/>
                </a:ext>
              </a:extLst>
            </p:cNvPr>
            <p:cNvSpPr/>
            <p:nvPr/>
          </p:nvSpPr>
          <p:spPr bwMode="auto">
            <a:xfrm>
              <a:off x="2279207" y="3272158"/>
              <a:ext cx="5592420" cy="684493"/>
            </a:xfrm>
            <a:prstGeom prst="rect">
              <a:avLst/>
            </a:prstGeom>
            <a:noFill/>
            <a:ln w="57150" cap="flat" cmpd="sng" algn="ctr">
              <a:solidFill>
                <a:srgbClr val="92D050"/>
              </a:solidFill>
              <a:prstDash val="solid"/>
              <a:round/>
              <a:headEnd type="none" w="med" len="med"/>
              <a:tailEnd type="none" w="med" len="med"/>
            </a:ln>
            <a:effectLst/>
          </p:spPr>
          <p:txBody>
            <a:bodyPr vert="horz" wrap="square" lIns="91440" tIns="45720" rIns="91440" bIns="45720" numCol="1" rtlCol="0" anchor="t" anchorCtr="0" compatLnSpc="1"/>
            <a:lstStyle/>
            <a:p>
              <a:pPr marL="342900" marR="0" indent="-342900" algn="l" defTabSz="914400" rtl="0" eaLnBrk="1" fontAlgn="base" latinLnBrk="0" hangingPunct="1">
                <a:lnSpc>
                  <a:spcPct val="100000"/>
                </a:lnSpc>
                <a:spcBef>
                  <a:spcPct val="20000"/>
                </a:spcBef>
                <a:spcAft>
                  <a:spcPct val="0"/>
                </a:spcAft>
                <a:buClrTx/>
                <a:buSzTx/>
                <a:buFontTx/>
                <a:buNone/>
              </a:pPr>
              <a:endParaRPr kumimoji="0" lang="zh-CN" altLang="en-US"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endParaRPr>
            </a:p>
          </p:txBody>
        </p:sp>
        <p:sp>
          <p:nvSpPr>
            <p:cNvPr id="48" name="矩形 47">
              <a:extLst>
                <a:ext uri="{FF2B5EF4-FFF2-40B4-BE49-F238E27FC236}">
                  <a16:creationId xmlns:a16="http://schemas.microsoft.com/office/drawing/2014/main" id="{7F27A77B-14D5-4086-BB87-92FF83F4AC72}"/>
                </a:ext>
              </a:extLst>
            </p:cNvPr>
            <p:cNvSpPr/>
            <p:nvPr/>
          </p:nvSpPr>
          <p:spPr bwMode="auto">
            <a:xfrm>
              <a:off x="2279207" y="4550220"/>
              <a:ext cx="5592420" cy="786459"/>
            </a:xfrm>
            <a:prstGeom prst="rect">
              <a:avLst/>
            </a:prstGeom>
            <a:noFill/>
            <a:ln w="57150" cap="flat" cmpd="sng" algn="ctr">
              <a:solidFill>
                <a:srgbClr val="92D050"/>
              </a:solidFill>
              <a:prstDash val="solid"/>
              <a:round/>
              <a:headEnd type="none" w="med" len="med"/>
              <a:tailEnd type="none" w="med" len="med"/>
            </a:ln>
            <a:effectLst/>
          </p:spPr>
          <p:txBody>
            <a:bodyPr vert="horz" wrap="square" lIns="91440" tIns="45720" rIns="91440" bIns="45720" numCol="1" rtlCol="0" anchor="t" anchorCtr="0" compatLnSpc="1"/>
            <a:lstStyle/>
            <a:p>
              <a:pPr marL="342900" marR="0" indent="-342900" algn="l" defTabSz="914400" rtl="0" eaLnBrk="1" fontAlgn="base" latinLnBrk="0" hangingPunct="1">
                <a:lnSpc>
                  <a:spcPct val="100000"/>
                </a:lnSpc>
                <a:spcBef>
                  <a:spcPct val="20000"/>
                </a:spcBef>
                <a:spcAft>
                  <a:spcPct val="0"/>
                </a:spcAft>
                <a:buClrTx/>
                <a:buSzTx/>
                <a:buFontTx/>
                <a:buNone/>
              </a:pPr>
              <a:endParaRPr kumimoji="0" lang="zh-CN" altLang="en-US"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endParaRPr>
            </a:p>
          </p:txBody>
        </p:sp>
        <p:cxnSp>
          <p:nvCxnSpPr>
            <p:cNvPr id="49" name="直接箭头连接符 48">
              <a:extLst>
                <a:ext uri="{FF2B5EF4-FFF2-40B4-BE49-F238E27FC236}">
                  <a16:creationId xmlns:a16="http://schemas.microsoft.com/office/drawing/2014/main" id="{A8785672-83FA-4595-B0C8-B144D0BE4C42}"/>
                </a:ext>
              </a:extLst>
            </p:cNvPr>
            <p:cNvCxnSpPr>
              <a:stCxn id="47" idx="3"/>
            </p:cNvCxnSpPr>
            <p:nvPr/>
          </p:nvCxnSpPr>
          <p:spPr bwMode="auto">
            <a:xfrm>
              <a:off x="7871627" y="3614405"/>
              <a:ext cx="537757" cy="534675"/>
            </a:xfrm>
            <a:prstGeom prst="straightConnector1">
              <a:avLst/>
            </a:prstGeom>
            <a:solidFill>
              <a:schemeClr val="bg2"/>
            </a:solidFill>
            <a:ln w="57150" cap="flat" cmpd="sng" algn="ctr">
              <a:solidFill>
                <a:srgbClr val="92D05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直接箭头连接符 49">
              <a:extLst>
                <a:ext uri="{FF2B5EF4-FFF2-40B4-BE49-F238E27FC236}">
                  <a16:creationId xmlns:a16="http://schemas.microsoft.com/office/drawing/2014/main" id="{645BEF3F-3503-4725-92D4-5361B82D7CAD}"/>
                </a:ext>
              </a:extLst>
            </p:cNvPr>
            <p:cNvCxnSpPr>
              <a:stCxn id="48" idx="3"/>
            </p:cNvCxnSpPr>
            <p:nvPr/>
          </p:nvCxnSpPr>
          <p:spPr bwMode="auto">
            <a:xfrm flipV="1">
              <a:off x="7871627" y="4189188"/>
              <a:ext cx="472439" cy="754262"/>
            </a:xfrm>
            <a:prstGeom prst="straightConnector1">
              <a:avLst/>
            </a:prstGeom>
            <a:solidFill>
              <a:schemeClr val="bg2"/>
            </a:solidFill>
            <a:ln w="57150" cap="flat" cmpd="sng" algn="ctr">
              <a:solidFill>
                <a:srgbClr val="92D05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1" name="文本框 50">
              <a:extLst>
                <a:ext uri="{FF2B5EF4-FFF2-40B4-BE49-F238E27FC236}">
                  <a16:creationId xmlns:a16="http://schemas.microsoft.com/office/drawing/2014/main" id="{27DB5E8B-53D8-422A-AB52-6445F9789264}"/>
                </a:ext>
              </a:extLst>
            </p:cNvPr>
            <p:cNvSpPr txBox="1"/>
            <p:nvPr/>
          </p:nvSpPr>
          <p:spPr>
            <a:xfrm>
              <a:off x="8387422" y="3896799"/>
              <a:ext cx="800219" cy="338554"/>
            </a:xfrm>
            <a:prstGeom prst="rect">
              <a:avLst/>
            </a:prstGeom>
            <a:noFill/>
            <a:ln w="57150">
              <a:solidFill>
                <a:srgbClr val="92D050"/>
              </a:solidFill>
            </a:ln>
          </p:spPr>
          <p:txBody>
            <a:bodyPr wrap="none" rtlCol="0">
              <a:spAutoFit/>
            </a:bodyPr>
            <a:lstStyle/>
            <a:p>
              <a:r>
                <a:rPr lang="zh-CN" altLang="en-US" sz="1600" dirty="0"/>
                <a:t>机器数</a:t>
              </a:r>
            </a:p>
          </p:txBody>
        </p:sp>
      </p:grpSp>
      <p:grpSp>
        <p:nvGrpSpPr>
          <p:cNvPr id="52" name="组合 51">
            <a:extLst>
              <a:ext uri="{FF2B5EF4-FFF2-40B4-BE49-F238E27FC236}">
                <a16:creationId xmlns:a16="http://schemas.microsoft.com/office/drawing/2014/main" id="{91A1D15B-C45A-4BE3-8766-42AA112F4F35}"/>
              </a:ext>
            </a:extLst>
          </p:cNvPr>
          <p:cNvGrpSpPr/>
          <p:nvPr/>
        </p:nvGrpSpPr>
        <p:grpSpPr>
          <a:xfrm>
            <a:off x="1524000" y="2359668"/>
            <a:ext cx="3047679" cy="1616751"/>
            <a:chOff x="595745" y="2778128"/>
            <a:chExt cx="3047679" cy="1616751"/>
          </a:xfrm>
        </p:grpSpPr>
        <p:sp>
          <p:nvSpPr>
            <p:cNvPr id="53" name="矩形 52">
              <a:extLst>
                <a:ext uri="{FF2B5EF4-FFF2-40B4-BE49-F238E27FC236}">
                  <a16:creationId xmlns:a16="http://schemas.microsoft.com/office/drawing/2014/main" id="{A40B2E9B-B5FE-4694-93EA-A7B4FA8813E9}"/>
                </a:ext>
              </a:extLst>
            </p:cNvPr>
            <p:cNvSpPr/>
            <p:nvPr/>
          </p:nvSpPr>
          <p:spPr bwMode="auto">
            <a:xfrm>
              <a:off x="2361414" y="2778128"/>
              <a:ext cx="1223434" cy="417005"/>
            </a:xfrm>
            <a:prstGeom prst="rect">
              <a:avLst/>
            </a:prstGeom>
            <a:noFill/>
            <a:ln w="571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lstStyle/>
            <a:p>
              <a:pPr marL="342900" marR="0" indent="-342900" algn="l" defTabSz="914400" rtl="0" eaLnBrk="1" fontAlgn="base" latinLnBrk="0" hangingPunct="1">
                <a:lnSpc>
                  <a:spcPct val="100000"/>
                </a:lnSpc>
                <a:spcBef>
                  <a:spcPct val="20000"/>
                </a:spcBef>
                <a:spcAft>
                  <a:spcPct val="0"/>
                </a:spcAft>
                <a:buClrTx/>
                <a:buSzTx/>
                <a:buFontTx/>
                <a:buNone/>
              </a:pPr>
              <a:endParaRPr kumimoji="0" lang="zh-CN" altLang="en-US"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endParaRPr>
            </a:p>
          </p:txBody>
        </p:sp>
        <p:sp>
          <p:nvSpPr>
            <p:cNvPr id="54" name="矩形 53">
              <a:extLst>
                <a:ext uri="{FF2B5EF4-FFF2-40B4-BE49-F238E27FC236}">
                  <a16:creationId xmlns:a16="http://schemas.microsoft.com/office/drawing/2014/main" id="{F70BE23D-3054-4F3F-A704-B2703A6DE21C}"/>
                </a:ext>
              </a:extLst>
            </p:cNvPr>
            <p:cNvSpPr/>
            <p:nvPr/>
          </p:nvSpPr>
          <p:spPr bwMode="auto">
            <a:xfrm>
              <a:off x="2371974" y="3977874"/>
              <a:ext cx="1271450" cy="417005"/>
            </a:xfrm>
            <a:prstGeom prst="rect">
              <a:avLst/>
            </a:prstGeom>
            <a:noFill/>
            <a:ln w="571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lstStyle/>
            <a:p>
              <a:pPr marL="342900" marR="0" indent="-342900" algn="l" defTabSz="914400" rtl="0" eaLnBrk="1" fontAlgn="base" latinLnBrk="0" hangingPunct="1">
                <a:lnSpc>
                  <a:spcPct val="100000"/>
                </a:lnSpc>
                <a:spcBef>
                  <a:spcPct val="20000"/>
                </a:spcBef>
                <a:spcAft>
                  <a:spcPct val="0"/>
                </a:spcAft>
                <a:buClrTx/>
                <a:buSzTx/>
                <a:buFontTx/>
                <a:buNone/>
              </a:pPr>
              <a:endParaRPr kumimoji="0" lang="zh-CN" altLang="en-US"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endParaRPr>
            </a:p>
          </p:txBody>
        </p:sp>
        <p:cxnSp>
          <p:nvCxnSpPr>
            <p:cNvPr id="55" name="直接箭头连接符 54">
              <a:extLst>
                <a:ext uri="{FF2B5EF4-FFF2-40B4-BE49-F238E27FC236}">
                  <a16:creationId xmlns:a16="http://schemas.microsoft.com/office/drawing/2014/main" id="{4A36266F-968B-44BF-82A6-45CFF0028990}"/>
                </a:ext>
              </a:extLst>
            </p:cNvPr>
            <p:cNvCxnSpPr/>
            <p:nvPr/>
          </p:nvCxnSpPr>
          <p:spPr bwMode="auto">
            <a:xfrm flipH="1">
              <a:off x="1604296" y="2960037"/>
              <a:ext cx="745771" cy="503020"/>
            </a:xfrm>
            <a:prstGeom prst="straightConnector1">
              <a:avLst/>
            </a:prstGeom>
            <a:solidFill>
              <a:schemeClr val="bg2"/>
            </a:solidFill>
            <a:ln w="57150" cap="flat" cmpd="sng" algn="ctr">
              <a:solidFill>
                <a:srgbClr val="FF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直接箭头连接符 55">
              <a:extLst>
                <a:ext uri="{FF2B5EF4-FFF2-40B4-BE49-F238E27FC236}">
                  <a16:creationId xmlns:a16="http://schemas.microsoft.com/office/drawing/2014/main" id="{230C4F02-AB0C-4A62-97ED-465953A6ED58}"/>
                </a:ext>
              </a:extLst>
            </p:cNvPr>
            <p:cNvCxnSpPr>
              <a:stCxn id="54" idx="1"/>
            </p:cNvCxnSpPr>
            <p:nvPr/>
          </p:nvCxnSpPr>
          <p:spPr bwMode="auto">
            <a:xfrm flipH="1" flipV="1">
              <a:off x="1602823" y="3463057"/>
              <a:ext cx="769151" cy="723320"/>
            </a:xfrm>
            <a:prstGeom prst="straightConnector1">
              <a:avLst/>
            </a:prstGeom>
            <a:solidFill>
              <a:schemeClr val="bg2"/>
            </a:solidFill>
            <a:ln w="57150" cap="flat" cmpd="sng" algn="ctr">
              <a:solidFill>
                <a:srgbClr val="FF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7" name="文本框 56">
              <a:extLst>
                <a:ext uri="{FF2B5EF4-FFF2-40B4-BE49-F238E27FC236}">
                  <a16:creationId xmlns:a16="http://schemas.microsoft.com/office/drawing/2014/main" id="{008C1D8F-FCAD-4378-A321-D0B330F2DD9D}"/>
                </a:ext>
              </a:extLst>
            </p:cNvPr>
            <p:cNvSpPr txBox="1"/>
            <p:nvPr/>
          </p:nvSpPr>
          <p:spPr>
            <a:xfrm>
              <a:off x="595745" y="3154183"/>
              <a:ext cx="595035" cy="338554"/>
            </a:xfrm>
            <a:prstGeom prst="rect">
              <a:avLst/>
            </a:prstGeom>
            <a:noFill/>
            <a:ln w="57150">
              <a:solidFill>
                <a:srgbClr val="FF0000"/>
              </a:solidFill>
            </a:ln>
          </p:spPr>
          <p:txBody>
            <a:bodyPr wrap="none" rtlCol="0">
              <a:spAutoFit/>
            </a:bodyPr>
            <a:lstStyle/>
            <a:p>
              <a:r>
                <a:rPr lang="zh-CN" altLang="en-US" sz="1600" dirty="0"/>
                <a:t>真值</a:t>
              </a:r>
            </a:p>
          </p:txBody>
        </p:sp>
      </p:grpSp>
      <p:grpSp>
        <p:nvGrpSpPr>
          <p:cNvPr id="59" name="组合 58">
            <a:extLst>
              <a:ext uri="{FF2B5EF4-FFF2-40B4-BE49-F238E27FC236}">
                <a16:creationId xmlns:a16="http://schemas.microsoft.com/office/drawing/2014/main" id="{4141E986-E801-4A10-A25B-0E9413A10B89}"/>
              </a:ext>
            </a:extLst>
          </p:cNvPr>
          <p:cNvGrpSpPr/>
          <p:nvPr/>
        </p:nvGrpSpPr>
        <p:grpSpPr>
          <a:xfrm>
            <a:off x="4089387" y="2906691"/>
            <a:ext cx="6005929" cy="1910153"/>
            <a:chOff x="3161132" y="3325151"/>
            <a:chExt cx="6005929" cy="1910153"/>
          </a:xfrm>
        </p:grpSpPr>
        <p:sp>
          <p:nvSpPr>
            <p:cNvPr id="60" name="矩形 59">
              <a:extLst>
                <a:ext uri="{FF2B5EF4-FFF2-40B4-BE49-F238E27FC236}">
                  <a16:creationId xmlns:a16="http://schemas.microsoft.com/office/drawing/2014/main" id="{886A3567-1BD5-455F-B845-95A2BFAD81AA}"/>
                </a:ext>
              </a:extLst>
            </p:cNvPr>
            <p:cNvSpPr/>
            <p:nvPr/>
          </p:nvSpPr>
          <p:spPr bwMode="auto">
            <a:xfrm>
              <a:off x="3161133" y="3325151"/>
              <a:ext cx="4474191" cy="533927"/>
            </a:xfrm>
            <a:prstGeom prst="rect">
              <a:avLst/>
            </a:prstGeom>
            <a:noFill/>
            <a:ln w="571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342900" marR="0" indent="-342900" algn="l" defTabSz="914400" rtl="0" eaLnBrk="1" fontAlgn="base" latinLnBrk="0" hangingPunct="1">
                <a:lnSpc>
                  <a:spcPct val="100000"/>
                </a:lnSpc>
                <a:spcBef>
                  <a:spcPct val="20000"/>
                </a:spcBef>
                <a:spcAft>
                  <a:spcPct val="0"/>
                </a:spcAft>
                <a:buClrTx/>
                <a:buSzTx/>
                <a:buFontTx/>
                <a:buNone/>
              </a:pPr>
              <a:endParaRPr kumimoji="0" lang="zh-CN" altLang="en-US"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endParaRPr>
            </a:p>
          </p:txBody>
        </p:sp>
        <p:sp>
          <p:nvSpPr>
            <p:cNvPr id="61" name="矩形 60">
              <a:extLst>
                <a:ext uri="{FF2B5EF4-FFF2-40B4-BE49-F238E27FC236}">
                  <a16:creationId xmlns:a16="http://schemas.microsoft.com/office/drawing/2014/main" id="{3ED66679-8CF2-4571-B229-0FFAE6F63155}"/>
                </a:ext>
              </a:extLst>
            </p:cNvPr>
            <p:cNvSpPr/>
            <p:nvPr/>
          </p:nvSpPr>
          <p:spPr bwMode="auto">
            <a:xfrm>
              <a:off x="3161132" y="4701377"/>
              <a:ext cx="4474191" cy="533927"/>
            </a:xfrm>
            <a:prstGeom prst="rect">
              <a:avLst/>
            </a:prstGeom>
            <a:noFill/>
            <a:ln w="571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342900" marR="0" indent="-342900" algn="l" defTabSz="914400" rtl="0" eaLnBrk="1" fontAlgn="base" latinLnBrk="0" hangingPunct="1">
                <a:lnSpc>
                  <a:spcPct val="100000"/>
                </a:lnSpc>
                <a:spcBef>
                  <a:spcPct val="20000"/>
                </a:spcBef>
                <a:spcAft>
                  <a:spcPct val="0"/>
                </a:spcAft>
                <a:buClrTx/>
                <a:buSzTx/>
                <a:buFontTx/>
                <a:buNone/>
              </a:pPr>
              <a:endParaRPr kumimoji="0" lang="zh-CN" altLang="en-US"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endParaRPr>
            </a:p>
          </p:txBody>
        </p:sp>
        <p:cxnSp>
          <p:nvCxnSpPr>
            <p:cNvPr id="62" name="直接箭头连接符 61">
              <a:extLst>
                <a:ext uri="{FF2B5EF4-FFF2-40B4-BE49-F238E27FC236}">
                  <a16:creationId xmlns:a16="http://schemas.microsoft.com/office/drawing/2014/main" id="{A5ABD027-01A6-44E3-AE24-17C6888E173C}"/>
                </a:ext>
              </a:extLst>
            </p:cNvPr>
            <p:cNvCxnSpPr/>
            <p:nvPr/>
          </p:nvCxnSpPr>
          <p:spPr bwMode="auto">
            <a:xfrm flipV="1">
              <a:off x="7653909" y="4996883"/>
              <a:ext cx="621493" cy="313"/>
            </a:xfrm>
            <a:prstGeom prst="straightConnector1">
              <a:avLst/>
            </a:prstGeom>
            <a:solidFill>
              <a:schemeClr val="bg2"/>
            </a:solidFill>
            <a:ln w="5715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 name="直接箭头连接符 62">
              <a:extLst>
                <a:ext uri="{FF2B5EF4-FFF2-40B4-BE49-F238E27FC236}">
                  <a16:creationId xmlns:a16="http://schemas.microsoft.com/office/drawing/2014/main" id="{E80A0EBE-38E7-4ADA-A6D5-3EB2B7C26827}"/>
                </a:ext>
              </a:extLst>
            </p:cNvPr>
            <p:cNvCxnSpPr/>
            <p:nvPr/>
          </p:nvCxnSpPr>
          <p:spPr bwMode="auto">
            <a:xfrm>
              <a:off x="7551395" y="3842962"/>
              <a:ext cx="792671" cy="1133362"/>
            </a:xfrm>
            <a:prstGeom prst="straightConnector1">
              <a:avLst/>
            </a:prstGeom>
            <a:solidFill>
              <a:schemeClr val="bg2"/>
            </a:solidFill>
            <a:ln w="5715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4" name="文本框 63">
              <a:extLst>
                <a:ext uri="{FF2B5EF4-FFF2-40B4-BE49-F238E27FC236}">
                  <a16:creationId xmlns:a16="http://schemas.microsoft.com/office/drawing/2014/main" id="{AF45FC3A-3A62-4488-AD48-8359C6B9F714}"/>
                </a:ext>
              </a:extLst>
            </p:cNvPr>
            <p:cNvSpPr txBox="1"/>
            <p:nvPr/>
          </p:nvSpPr>
          <p:spPr>
            <a:xfrm>
              <a:off x="8366842" y="4789176"/>
              <a:ext cx="800219" cy="338554"/>
            </a:xfrm>
            <a:prstGeom prst="rect">
              <a:avLst/>
            </a:prstGeom>
            <a:noFill/>
            <a:ln w="57150">
              <a:solidFill>
                <a:schemeClr val="tx1"/>
              </a:solidFill>
            </a:ln>
          </p:spPr>
          <p:txBody>
            <a:bodyPr wrap="none" rtlCol="0">
              <a:spAutoFit/>
            </a:bodyPr>
            <a:lstStyle/>
            <a:p>
              <a:r>
                <a:rPr lang="zh-CN" altLang="en-US" sz="1600" dirty="0"/>
                <a:t>绝对值</a:t>
              </a:r>
            </a:p>
          </p:txBody>
        </p:sp>
      </p:grpSp>
    </p:spTree>
    <p:extLst>
      <p:ext uri="{BB962C8B-B14F-4D97-AF65-F5344CB8AC3E}">
        <p14:creationId xmlns:p14="http://schemas.microsoft.com/office/powerpoint/2010/main" val="2739973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2"/>
                                        </p:tgtEl>
                                        <p:attrNameLst>
                                          <p:attrName>style.visibility</p:attrName>
                                        </p:attrNameLst>
                                      </p:cBhvr>
                                      <p:to>
                                        <p:strVal val="visible"/>
                                      </p:to>
                                    </p:set>
                                    <p:animEffect transition="in" filter="fade">
                                      <p:cBhvr>
                                        <p:cTn id="12" dur="500"/>
                                        <p:tgtEl>
                                          <p:spTgt spid="5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6"/>
                                        </p:tgtEl>
                                        <p:attrNameLst>
                                          <p:attrName>style.visibility</p:attrName>
                                        </p:attrNameLst>
                                      </p:cBhvr>
                                      <p:to>
                                        <p:strVal val="visible"/>
                                      </p:to>
                                    </p:set>
                                    <p:animEffect transition="in" filter="fade">
                                      <p:cBhvr>
                                        <p:cTn id="17" dur="500"/>
                                        <p:tgtEl>
                                          <p:spTgt spid="4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fade">
                                      <p:cBhvr>
                                        <p:cTn id="22" dur="500"/>
                                        <p:tgtEl>
                                          <p:spTgt spid="4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9"/>
                                        </p:tgtEl>
                                        <p:attrNameLst>
                                          <p:attrName>style.visibility</p:attrName>
                                        </p:attrNameLst>
                                      </p:cBhvr>
                                      <p:to>
                                        <p:strVal val="visible"/>
                                      </p:to>
                                    </p:set>
                                    <p:animEffect transition="in" filter="fade">
                                      <p:cBhvr>
                                        <p:cTn id="27"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6331"/>
          </a:xfrm>
          <a:prstGeom prst="rect">
            <a:avLst/>
          </a:prstGeom>
          <a:noFill/>
        </p:spPr>
        <p:txBody>
          <a:bodyPr wrap="square" rtlCol="0">
            <a:spAutoFit/>
          </a:bodyPr>
          <a:lstStyle/>
          <a:p>
            <a:pPr lvl="0">
              <a:defRPr/>
            </a:pPr>
            <a:r>
              <a:rPr kumimoji="1" lang="zh-CN" altLang="en-US" sz="3600" dirty="0">
                <a:latin typeface="华文楷体" panose="02010600040101010101" pitchFamily="2" charset="-122"/>
                <a:ea typeface="华文楷体" panose="02010600040101010101" pitchFamily="2" charset="-122"/>
              </a:rPr>
              <a:t>数的反码表示</a:t>
            </a:r>
            <a:endParaRPr kumimoji="0" lang="en-US" altLang="zh-CN" sz="3600" b="0" i="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endParaRPr>
          </a:p>
        </p:txBody>
      </p:sp>
      <p:pic>
        <p:nvPicPr>
          <p:cNvPr id="8" name="图片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19441" y="6219825"/>
            <a:ext cx="536892" cy="542925"/>
          </a:xfrm>
          <a:prstGeom prst="rect">
            <a:avLst/>
          </a:prstGeom>
        </p:spPr>
      </p:pic>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11" name="Rectangle 4">
            <a:extLst>
              <a:ext uri="{FF2B5EF4-FFF2-40B4-BE49-F238E27FC236}">
                <a16:creationId xmlns:a16="http://schemas.microsoft.com/office/drawing/2014/main" id="{E29CD929-D79F-4B26-A7F5-A9C22EDA3EBE}"/>
              </a:ext>
            </a:extLst>
          </p:cNvPr>
          <p:cNvSpPr>
            <a:spLocks noChangeArrowheads="1"/>
          </p:cNvSpPr>
          <p:nvPr/>
        </p:nvSpPr>
        <p:spPr bwMode="auto">
          <a:xfrm>
            <a:off x="1244043" y="1188065"/>
            <a:ext cx="1547813" cy="4759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3522" tIns="36116" rIns="73522" bIns="73522"/>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eaLnBrk="1" hangingPunct="1"/>
            <a:r>
              <a:rPr lang="zh-CN" altLang="en-US" sz="3200" b="1" dirty="0">
                <a:latin typeface="华文仿宋" panose="02010600040101010101" pitchFamily="2" charset="-122"/>
                <a:ea typeface="华文仿宋" panose="02010600040101010101" pitchFamily="2" charset="-122"/>
              </a:rPr>
              <a:t>定义</a:t>
            </a:r>
          </a:p>
        </p:txBody>
      </p:sp>
      <p:sp>
        <p:nvSpPr>
          <p:cNvPr id="12" name="Text Box 5">
            <a:extLst>
              <a:ext uri="{FF2B5EF4-FFF2-40B4-BE49-F238E27FC236}">
                <a16:creationId xmlns:a16="http://schemas.microsoft.com/office/drawing/2014/main" id="{570AC2B1-2E9E-468E-B0E5-BAA4016BA251}"/>
              </a:ext>
            </a:extLst>
          </p:cNvPr>
          <p:cNvSpPr txBox="1">
            <a:spLocks noChangeArrowheads="1"/>
          </p:cNvSpPr>
          <p:nvPr/>
        </p:nvSpPr>
        <p:spPr bwMode="auto">
          <a:xfrm>
            <a:off x="2930911" y="1386735"/>
            <a:ext cx="1423988" cy="58477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3200" b="1" dirty="0">
                <a:solidFill>
                  <a:srgbClr val="FF0000"/>
                </a:solidFill>
                <a:latin typeface="华文仿宋" panose="02010600040101010101" pitchFamily="2" charset="-122"/>
                <a:ea typeface="华文仿宋" panose="02010600040101010101" pitchFamily="2" charset="-122"/>
              </a:rPr>
              <a:t>[X]</a:t>
            </a:r>
            <a:r>
              <a:rPr lang="zh-CN" altLang="en-US" sz="3200" b="1" baseline="-25000" dirty="0">
                <a:solidFill>
                  <a:srgbClr val="FF0000"/>
                </a:solidFill>
                <a:latin typeface="华文仿宋" panose="02010600040101010101" pitchFamily="2" charset="-122"/>
                <a:ea typeface="华文仿宋" panose="02010600040101010101" pitchFamily="2" charset="-122"/>
              </a:rPr>
              <a:t>反</a:t>
            </a:r>
            <a:r>
              <a:rPr lang="en-US" altLang="zh-CN" sz="3200" b="1" dirty="0">
                <a:solidFill>
                  <a:srgbClr val="FF0000"/>
                </a:solidFill>
                <a:latin typeface="华文仿宋" panose="02010600040101010101" pitchFamily="2" charset="-122"/>
                <a:ea typeface="华文仿宋" panose="02010600040101010101" pitchFamily="2" charset="-122"/>
              </a:rPr>
              <a:t>=</a:t>
            </a:r>
          </a:p>
        </p:txBody>
      </p:sp>
      <p:sp>
        <p:nvSpPr>
          <p:cNvPr id="13" name="AutoShape 6">
            <a:extLst>
              <a:ext uri="{FF2B5EF4-FFF2-40B4-BE49-F238E27FC236}">
                <a16:creationId xmlns:a16="http://schemas.microsoft.com/office/drawing/2014/main" id="{98418439-7063-4F33-8C84-C22652DFDCF4}"/>
              </a:ext>
            </a:extLst>
          </p:cNvPr>
          <p:cNvSpPr/>
          <p:nvPr/>
        </p:nvSpPr>
        <p:spPr bwMode="auto">
          <a:xfrm>
            <a:off x="4354899" y="1324822"/>
            <a:ext cx="309563" cy="804863"/>
          </a:xfrm>
          <a:prstGeom prst="leftBrace">
            <a:avLst>
              <a:gd name="adj1" fmla="val 21667"/>
              <a:gd name="adj2" fmla="val 50000"/>
            </a:avLst>
          </a:prstGeom>
          <a:noFill/>
          <a:ln w="28575">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3200" b="1">
              <a:solidFill>
                <a:srgbClr val="FF0000"/>
              </a:solidFill>
              <a:latin typeface="华文仿宋" panose="02010600040101010101" pitchFamily="2" charset="-122"/>
              <a:ea typeface="华文仿宋" panose="02010600040101010101" pitchFamily="2" charset="-122"/>
            </a:endParaRPr>
          </a:p>
        </p:txBody>
      </p:sp>
      <p:sp>
        <p:nvSpPr>
          <p:cNvPr id="15" name="Text Box 7">
            <a:extLst>
              <a:ext uri="{FF2B5EF4-FFF2-40B4-BE49-F238E27FC236}">
                <a16:creationId xmlns:a16="http://schemas.microsoft.com/office/drawing/2014/main" id="{D67DCBCF-6A7D-4C2F-A7D8-4BF3EEDD113E}"/>
              </a:ext>
            </a:extLst>
          </p:cNvPr>
          <p:cNvSpPr txBox="1">
            <a:spLocks noChangeArrowheads="1"/>
          </p:cNvSpPr>
          <p:nvPr/>
        </p:nvSpPr>
        <p:spPr bwMode="auto">
          <a:xfrm>
            <a:off x="4664460" y="1218172"/>
            <a:ext cx="5878386" cy="58477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3200" b="1" dirty="0">
                <a:solidFill>
                  <a:srgbClr val="FF0000"/>
                </a:solidFill>
                <a:latin typeface="华文仿宋" panose="02010600040101010101" pitchFamily="2" charset="-122"/>
                <a:ea typeface="华文仿宋" panose="02010600040101010101" pitchFamily="2" charset="-122"/>
              </a:rPr>
              <a:t>X		,	  0 ≤ x </a:t>
            </a:r>
            <a:r>
              <a:rPr lang="zh-CN" altLang="en-US" sz="3200" b="1" dirty="0">
                <a:solidFill>
                  <a:srgbClr val="FF0000"/>
                </a:solidFill>
                <a:latin typeface="华文仿宋" panose="02010600040101010101" pitchFamily="2" charset="-122"/>
                <a:ea typeface="华文仿宋" panose="02010600040101010101" pitchFamily="2" charset="-122"/>
              </a:rPr>
              <a:t>＜ </a:t>
            </a:r>
            <a:r>
              <a:rPr lang="en-US" altLang="zh-CN" sz="3200" b="1" dirty="0">
                <a:solidFill>
                  <a:srgbClr val="FF0000"/>
                </a:solidFill>
                <a:latin typeface="华文仿宋" panose="02010600040101010101" pitchFamily="2" charset="-122"/>
                <a:ea typeface="华文仿宋" panose="02010600040101010101" pitchFamily="2" charset="-122"/>
              </a:rPr>
              <a:t>2 </a:t>
            </a:r>
            <a:r>
              <a:rPr lang="en-US" altLang="zh-CN" sz="3200" b="1" baseline="30000" dirty="0">
                <a:solidFill>
                  <a:srgbClr val="FF0000"/>
                </a:solidFill>
                <a:latin typeface="华文仿宋" panose="02010600040101010101" pitchFamily="2" charset="-122"/>
                <a:ea typeface="华文仿宋" panose="02010600040101010101" pitchFamily="2" charset="-122"/>
              </a:rPr>
              <a:t>n-1</a:t>
            </a:r>
            <a:endParaRPr lang="en-US" altLang="zh-CN" sz="3200" b="1" dirty="0">
              <a:solidFill>
                <a:srgbClr val="FF0000"/>
              </a:solidFill>
              <a:latin typeface="华文仿宋" panose="02010600040101010101" pitchFamily="2" charset="-122"/>
              <a:ea typeface="华文仿宋" panose="02010600040101010101" pitchFamily="2" charset="-122"/>
            </a:endParaRPr>
          </a:p>
        </p:txBody>
      </p:sp>
      <p:sp>
        <p:nvSpPr>
          <p:cNvPr id="16" name="Text Box 8">
            <a:extLst>
              <a:ext uri="{FF2B5EF4-FFF2-40B4-BE49-F238E27FC236}">
                <a16:creationId xmlns:a16="http://schemas.microsoft.com/office/drawing/2014/main" id="{A46493A0-A5C7-455B-8AAA-18F505B9260A}"/>
              </a:ext>
            </a:extLst>
          </p:cNvPr>
          <p:cNvSpPr txBox="1">
            <a:spLocks noChangeArrowheads="1"/>
          </p:cNvSpPr>
          <p:nvPr/>
        </p:nvSpPr>
        <p:spPr bwMode="auto">
          <a:xfrm>
            <a:off x="4664460" y="1696297"/>
            <a:ext cx="5692651" cy="58477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3200" b="1" dirty="0">
                <a:solidFill>
                  <a:srgbClr val="FF0000"/>
                </a:solidFill>
                <a:latin typeface="华文仿宋" panose="02010600040101010101" pitchFamily="2" charset="-122"/>
                <a:ea typeface="华文仿宋" panose="02010600040101010101" pitchFamily="2" charset="-122"/>
              </a:rPr>
              <a:t>2 </a:t>
            </a:r>
            <a:r>
              <a:rPr lang="en-US" altLang="zh-CN" sz="3200" b="1" baseline="30000" dirty="0">
                <a:solidFill>
                  <a:srgbClr val="FF0000"/>
                </a:solidFill>
                <a:latin typeface="华文仿宋" panose="02010600040101010101" pitchFamily="2" charset="-122"/>
                <a:ea typeface="华文仿宋" panose="02010600040101010101" pitchFamily="2" charset="-122"/>
              </a:rPr>
              <a:t>n</a:t>
            </a:r>
            <a:r>
              <a:rPr lang="en-US" altLang="zh-CN" sz="3200" b="1" dirty="0">
                <a:solidFill>
                  <a:srgbClr val="FF0000"/>
                </a:solidFill>
                <a:latin typeface="华文仿宋" panose="02010600040101010101" pitchFamily="2" charset="-122"/>
                <a:ea typeface="华文仿宋" panose="02010600040101010101" pitchFamily="2" charset="-122"/>
              </a:rPr>
              <a:t> -|X|-1  ,         -2 </a:t>
            </a:r>
            <a:r>
              <a:rPr lang="en-US" altLang="zh-CN" sz="3200" b="1" baseline="30000" dirty="0">
                <a:solidFill>
                  <a:srgbClr val="FF0000"/>
                </a:solidFill>
                <a:latin typeface="华文仿宋" panose="02010600040101010101" pitchFamily="2" charset="-122"/>
                <a:ea typeface="华文仿宋" panose="02010600040101010101" pitchFamily="2" charset="-122"/>
              </a:rPr>
              <a:t>n-1</a:t>
            </a:r>
            <a:r>
              <a:rPr lang="zh-CN" altLang="en-US" sz="3200" b="1" dirty="0">
                <a:solidFill>
                  <a:srgbClr val="FF0000"/>
                </a:solidFill>
                <a:latin typeface="华文仿宋" panose="02010600040101010101" pitchFamily="2" charset="-122"/>
                <a:ea typeface="华文仿宋" panose="02010600040101010101" pitchFamily="2" charset="-122"/>
              </a:rPr>
              <a:t> </a:t>
            </a:r>
            <a:r>
              <a:rPr lang="en-US" altLang="zh-CN" sz="3200" b="1" dirty="0">
                <a:solidFill>
                  <a:srgbClr val="FF0000"/>
                </a:solidFill>
                <a:latin typeface="华文仿宋" panose="02010600040101010101" pitchFamily="2" charset="-122"/>
                <a:ea typeface="华文仿宋" panose="02010600040101010101" pitchFamily="2" charset="-122"/>
              </a:rPr>
              <a:t>&lt; x ≤ 0</a:t>
            </a:r>
          </a:p>
        </p:txBody>
      </p:sp>
      <p:sp>
        <p:nvSpPr>
          <p:cNvPr id="17" name="Text Box 9">
            <a:extLst>
              <a:ext uri="{FF2B5EF4-FFF2-40B4-BE49-F238E27FC236}">
                <a16:creationId xmlns:a16="http://schemas.microsoft.com/office/drawing/2014/main" id="{4C1CDEA8-7233-48D3-B22C-8A549886E3C0}"/>
              </a:ext>
            </a:extLst>
          </p:cNvPr>
          <p:cNvSpPr txBox="1">
            <a:spLocks noChangeArrowheads="1"/>
          </p:cNvSpPr>
          <p:nvPr/>
        </p:nvSpPr>
        <p:spPr bwMode="auto">
          <a:xfrm>
            <a:off x="2824280" y="2772460"/>
            <a:ext cx="546153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dirty="0">
                <a:latin typeface="华文仿宋" panose="02010600040101010101" pitchFamily="2" charset="-122"/>
                <a:ea typeface="华文仿宋" panose="02010600040101010101" pitchFamily="2" charset="-122"/>
              </a:rPr>
              <a:t>其中：</a:t>
            </a:r>
            <a:r>
              <a:rPr lang="en-US" altLang="zh-CN" sz="2800" b="1" dirty="0">
                <a:latin typeface="华文仿宋" panose="02010600040101010101" pitchFamily="2" charset="-122"/>
                <a:ea typeface="华文仿宋" panose="02010600040101010101" pitchFamily="2" charset="-122"/>
              </a:rPr>
              <a:t>n</a:t>
            </a:r>
            <a:r>
              <a:rPr lang="zh-CN" altLang="en-US" sz="2800" b="1" dirty="0">
                <a:latin typeface="华文仿宋" panose="02010600040101010101" pitchFamily="2" charset="-122"/>
                <a:ea typeface="华文仿宋" panose="02010600040101010101" pitchFamily="2" charset="-122"/>
              </a:rPr>
              <a:t>为二进制的位数</a:t>
            </a:r>
          </a:p>
        </p:txBody>
      </p:sp>
      <p:sp>
        <p:nvSpPr>
          <p:cNvPr id="18" name="Text Box 10">
            <a:extLst>
              <a:ext uri="{FF2B5EF4-FFF2-40B4-BE49-F238E27FC236}">
                <a16:creationId xmlns:a16="http://schemas.microsoft.com/office/drawing/2014/main" id="{18B26C32-41D7-467B-82CB-C664D3912564}"/>
              </a:ext>
            </a:extLst>
          </p:cNvPr>
          <p:cNvSpPr txBox="1">
            <a:spLocks noChangeArrowheads="1"/>
          </p:cNvSpPr>
          <p:nvPr/>
        </p:nvSpPr>
        <p:spPr bwMode="auto">
          <a:xfrm>
            <a:off x="2824280" y="3491859"/>
            <a:ext cx="3694564" cy="587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15000"/>
              </a:lnSpc>
            </a:pPr>
            <a:r>
              <a:rPr lang="zh-CN" altLang="en-US" sz="2800" b="1" dirty="0">
                <a:latin typeface="华文仿宋" panose="02010600040101010101" pitchFamily="2" charset="-122"/>
                <a:ea typeface="华文仿宋" panose="02010600040101010101" pitchFamily="2" charset="-122"/>
              </a:rPr>
              <a:t>反码的表示范围：</a:t>
            </a:r>
            <a:endParaRPr lang="zh-CN" altLang="en-US" sz="2800" dirty="0">
              <a:latin typeface="华文仿宋" panose="02010600040101010101" pitchFamily="2" charset="-122"/>
              <a:ea typeface="华文仿宋" panose="02010600040101010101" pitchFamily="2" charset="-122"/>
            </a:endParaRPr>
          </a:p>
        </p:txBody>
      </p:sp>
      <p:sp>
        <p:nvSpPr>
          <p:cNvPr id="19" name="Text Box 11">
            <a:extLst>
              <a:ext uri="{FF2B5EF4-FFF2-40B4-BE49-F238E27FC236}">
                <a16:creationId xmlns:a16="http://schemas.microsoft.com/office/drawing/2014/main" id="{F388775C-D796-4A5D-8C70-EA79F77E948C}"/>
              </a:ext>
            </a:extLst>
          </p:cNvPr>
          <p:cNvSpPr txBox="1">
            <a:spLocks noChangeArrowheads="1"/>
          </p:cNvSpPr>
          <p:nvPr/>
        </p:nvSpPr>
        <p:spPr bwMode="auto">
          <a:xfrm>
            <a:off x="5797114" y="3491858"/>
            <a:ext cx="4176464" cy="564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15000"/>
              </a:lnSpc>
            </a:pPr>
            <a:r>
              <a:rPr lang="en-US" altLang="zh-CN" sz="2800" b="1" dirty="0">
                <a:solidFill>
                  <a:srgbClr val="FF0000"/>
                </a:solidFill>
                <a:latin typeface="华文仿宋" panose="02010600040101010101" pitchFamily="2" charset="-122"/>
                <a:ea typeface="华文仿宋" panose="02010600040101010101" pitchFamily="2" charset="-122"/>
              </a:rPr>
              <a:t>–( 2 </a:t>
            </a:r>
            <a:r>
              <a:rPr lang="en-US" altLang="zh-CN" sz="2800" b="1" baseline="30000" dirty="0">
                <a:solidFill>
                  <a:srgbClr val="FF0000"/>
                </a:solidFill>
                <a:latin typeface="华文仿宋" panose="02010600040101010101" pitchFamily="2" charset="-122"/>
                <a:ea typeface="华文仿宋" panose="02010600040101010101" pitchFamily="2" charset="-122"/>
              </a:rPr>
              <a:t>n–1</a:t>
            </a:r>
            <a:r>
              <a:rPr lang="en-US" altLang="zh-CN" sz="2800" b="1" dirty="0">
                <a:solidFill>
                  <a:srgbClr val="FF0000"/>
                </a:solidFill>
                <a:latin typeface="华文仿宋" panose="02010600040101010101" pitchFamily="2" charset="-122"/>
                <a:ea typeface="华文仿宋" panose="02010600040101010101" pitchFamily="2" charset="-122"/>
              </a:rPr>
              <a:t>–1) ~ ( 2 </a:t>
            </a:r>
            <a:r>
              <a:rPr lang="en-US" altLang="zh-CN" sz="2800" b="1" baseline="30000" dirty="0">
                <a:solidFill>
                  <a:srgbClr val="FF0000"/>
                </a:solidFill>
                <a:latin typeface="华文仿宋" panose="02010600040101010101" pitchFamily="2" charset="-122"/>
                <a:ea typeface="华文仿宋" panose="02010600040101010101" pitchFamily="2" charset="-122"/>
              </a:rPr>
              <a:t>n–1</a:t>
            </a:r>
            <a:r>
              <a:rPr lang="en-US" altLang="zh-CN" sz="2800" b="1" dirty="0">
                <a:solidFill>
                  <a:srgbClr val="FF0000"/>
                </a:solidFill>
                <a:latin typeface="华文仿宋" panose="02010600040101010101" pitchFamily="2" charset="-122"/>
                <a:ea typeface="华文仿宋" panose="02010600040101010101" pitchFamily="2" charset="-122"/>
              </a:rPr>
              <a:t>–1)</a:t>
            </a:r>
          </a:p>
        </p:txBody>
      </p:sp>
      <p:sp>
        <p:nvSpPr>
          <p:cNvPr id="20" name="Text Box 24">
            <a:extLst>
              <a:ext uri="{FF2B5EF4-FFF2-40B4-BE49-F238E27FC236}">
                <a16:creationId xmlns:a16="http://schemas.microsoft.com/office/drawing/2014/main" id="{22D97285-759C-40CD-A46F-ABFB2B52E1AC}"/>
              </a:ext>
            </a:extLst>
          </p:cNvPr>
          <p:cNvSpPr txBox="1">
            <a:spLocks noChangeArrowheads="1"/>
          </p:cNvSpPr>
          <p:nvPr/>
        </p:nvSpPr>
        <p:spPr bwMode="auto">
          <a:xfrm>
            <a:off x="1269366" y="4081685"/>
            <a:ext cx="9273480" cy="1988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10000"/>
              </a:lnSpc>
            </a:pPr>
            <a:r>
              <a:rPr lang="en-US" altLang="zh-CN" sz="2800" b="1" dirty="0">
                <a:latin typeface="华文仿宋" panose="02010600040101010101" pitchFamily="2" charset="-122"/>
                <a:ea typeface="华文仿宋" panose="02010600040101010101" pitchFamily="2" charset="-122"/>
              </a:rPr>
              <a:t>   </a:t>
            </a:r>
            <a:r>
              <a:rPr lang="zh-CN" altLang="en-US" sz="2800" b="1" dirty="0">
                <a:latin typeface="华文仿宋" panose="02010600040101010101" pitchFamily="2" charset="-122"/>
                <a:ea typeface="华文仿宋" panose="02010600040101010101" pitchFamily="2" charset="-122"/>
              </a:rPr>
              <a:t>求反码的方法</a:t>
            </a:r>
            <a:r>
              <a:rPr lang="en-US" altLang="zh-CN" sz="2800" b="1" dirty="0">
                <a:latin typeface="华文仿宋" panose="02010600040101010101" pitchFamily="2" charset="-122"/>
                <a:ea typeface="华文仿宋" panose="02010600040101010101" pitchFamily="2" charset="-122"/>
              </a:rPr>
              <a:t>:</a:t>
            </a:r>
            <a:endParaRPr lang="zh-CN" altLang="en-US" sz="2800" b="1" dirty="0">
              <a:latin typeface="华文仿宋" panose="02010600040101010101" pitchFamily="2" charset="-122"/>
              <a:ea typeface="华文仿宋" panose="02010600040101010101" pitchFamily="2" charset="-122"/>
            </a:endParaRPr>
          </a:p>
          <a:p>
            <a:pPr lvl="2">
              <a:lnSpc>
                <a:spcPct val="110000"/>
              </a:lnSpc>
            </a:pPr>
            <a:r>
              <a:rPr lang="en-US" altLang="zh-CN" sz="2800" b="1" dirty="0">
                <a:latin typeface="华文仿宋" panose="02010600040101010101" pitchFamily="2" charset="-122"/>
                <a:ea typeface="华文仿宋" panose="02010600040101010101" pitchFamily="2" charset="-122"/>
              </a:rPr>
              <a:t> 1. </a:t>
            </a:r>
            <a:r>
              <a:rPr lang="zh-CN" altLang="en-US" sz="2800" b="1" dirty="0">
                <a:latin typeface="华文仿宋" panose="02010600040101010101" pitchFamily="2" charset="-122"/>
                <a:ea typeface="华文仿宋" panose="02010600040101010101" pitchFamily="2" charset="-122"/>
              </a:rPr>
              <a:t>根据定义求反码 </a:t>
            </a:r>
            <a:endParaRPr lang="zh-CN" altLang="en-US" sz="2800" b="1" i="1" baseline="-25000" dirty="0">
              <a:latin typeface="华文仿宋" panose="02010600040101010101" pitchFamily="2" charset="-122"/>
              <a:ea typeface="华文仿宋" panose="02010600040101010101" pitchFamily="2" charset="-122"/>
            </a:endParaRPr>
          </a:p>
          <a:p>
            <a:pPr lvl="2">
              <a:lnSpc>
                <a:spcPct val="110000"/>
              </a:lnSpc>
            </a:pPr>
            <a:r>
              <a:rPr lang="zh-CN" altLang="en-US" sz="2800" b="1" dirty="0">
                <a:latin typeface="华文仿宋" panose="02010600040101010101" pitchFamily="2" charset="-122"/>
                <a:ea typeface="华文仿宋" panose="02010600040101010101" pitchFamily="2" charset="-122"/>
              </a:rPr>
              <a:t> </a:t>
            </a:r>
            <a:r>
              <a:rPr lang="en-US" altLang="zh-CN" sz="2800" b="1" dirty="0">
                <a:latin typeface="华文仿宋" panose="02010600040101010101" pitchFamily="2" charset="-122"/>
                <a:ea typeface="华文仿宋" panose="02010600040101010101" pitchFamily="2" charset="-122"/>
              </a:rPr>
              <a:t>2. </a:t>
            </a:r>
            <a:r>
              <a:rPr lang="zh-CN" altLang="en-US" sz="2800" b="1" dirty="0">
                <a:latin typeface="华文仿宋" panose="02010600040101010101" pitchFamily="2" charset="-122"/>
                <a:ea typeface="华文仿宋" panose="02010600040101010101" pitchFamily="2" charset="-122"/>
              </a:rPr>
              <a:t>正数的反码与其原码表示相同；负数的反码，是把原码除符号位以外，按位取反，</a:t>
            </a:r>
            <a:r>
              <a:rPr lang="en-US" altLang="zh-CN" sz="2800" b="1" dirty="0">
                <a:latin typeface="华文仿宋" panose="02010600040101010101" pitchFamily="2" charset="-122"/>
                <a:ea typeface="华文仿宋" panose="02010600040101010101" pitchFamily="2" charset="-122"/>
              </a:rPr>
              <a:t>0</a:t>
            </a:r>
            <a:r>
              <a:rPr lang="zh-CN" altLang="en-US" sz="2800" b="1" dirty="0">
                <a:latin typeface="华文仿宋" panose="02010600040101010101" pitchFamily="2" charset="-122"/>
                <a:ea typeface="华文仿宋" panose="02010600040101010101" pitchFamily="2" charset="-122"/>
              </a:rPr>
              <a:t>变为</a:t>
            </a:r>
            <a:r>
              <a:rPr lang="en-US" altLang="zh-CN" sz="2800" b="1" dirty="0">
                <a:latin typeface="华文仿宋" panose="02010600040101010101" pitchFamily="2" charset="-122"/>
                <a:ea typeface="华文仿宋" panose="02010600040101010101" pitchFamily="2" charset="-122"/>
              </a:rPr>
              <a:t>1,1</a:t>
            </a:r>
            <a:r>
              <a:rPr lang="zh-CN" altLang="en-US" sz="2800" b="1" dirty="0">
                <a:latin typeface="华文仿宋" panose="02010600040101010101" pitchFamily="2" charset="-122"/>
                <a:ea typeface="华文仿宋" panose="02010600040101010101" pitchFamily="2" charset="-122"/>
              </a:rPr>
              <a:t>变为</a:t>
            </a:r>
            <a:r>
              <a:rPr lang="en-US" altLang="zh-CN" sz="2800" b="1" dirty="0">
                <a:latin typeface="华文仿宋" panose="02010600040101010101" pitchFamily="2" charset="-122"/>
                <a:ea typeface="华文仿宋" panose="02010600040101010101" pitchFamily="2" charset="-122"/>
              </a:rPr>
              <a:t>0</a:t>
            </a:r>
            <a:endParaRPr lang="zh-CN" altLang="en-US" sz="2800" dirty="0">
              <a:latin typeface="华文仿宋" panose="02010600040101010101" pitchFamily="2" charset="-122"/>
              <a:ea typeface="华文仿宋" panose="02010600040101010101" pitchFamily="2" charset="-122"/>
            </a:endParaRPr>
          </a:p>
        </p:txBody>
      </p:sp>
    </p:spTree>
    <p:extLst>
      <p:ext uri="{BB962C8B-B14F-4D97-AF65-F5344CB8AC3E}">
        <p14:creationId xmlns:p14="http://schemas.microsoft.com/office/powerpoint/2010/main" val="171880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checkerboard(across)">
                                      <p:cBhvr>
                                        <p:cTn id="7" dur="500"/>
                                        <p:tgtEl>
                                          <p:spTgt spid="11"/>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checkerboard(across)">
                                      <p:cBhvr>
                                        <p:cTn id="10" dur="500"/>
                                        <p:tgtEl>
                                          <p:spTgt spid="12"/>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checkerboard(across)">
                                      <p:cBhvr>
                                        <p:cTn id="13" dur="500"/>
                                        <p:tgtEl>
                                          <p:spTgt spid="13"/>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checkerboard(across)">
                                      <p:cBhvr>
                                        <p:cTn id="16" dur="500"/>
                                        <p:tgtEl>
                                          <p:spTgt spid="15"/>
                                        </p:tgtEl>
                                      </p:cBhvr>
                                    </p:animEffect>
                                  </p:childTnLst>
                                </p:cTn>
                              </p:par>
                              <p:par>
                                <p:cTn id="17" presetID="5" presetClass="entr" presetSubtype="1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checkerboard(across)">
                                      <p:cBhvr>
                                        <p:cTn id="19" dur="500"/>
                                        <p:tgtEl>
                                          <p:spTgt spid="16"/>
                                        </p:tgtEl>
                                      </p:cBhvr>
                                    </p:animEffect>
                                  </p:childTnLst>
                                </p:cTn>
                              </p:par>
                              <p:par>
                                <p:cTn id="20" presetID="5" presetClass="entr" presetSubtype="10" fill="hold" grpId="0"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checkerboard(across)">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500"/>
                                        <p:tgtEl>
                                          <p:spTgt spid="1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500"/>
                                        <p:tgtEl>
                                          <p:spTgt spid="1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animBg="1"/>
      <p:bldP spid="15" grpId="0"/>
      <p:bldP spid="16" grpId="0"/>
      <p:bldP spid="17" grpId="0"/>
      <p:bldP spid="18" grpId="0"/>
      <p:bldP spid="19" grpId="0"/>
      <p:bldP spid="2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6331"/>
          </a:xfrm>
          <a:prstGeom prst="rect">
            <a:avLst/>
          </a:prstGeom>
          <a:noFill/>
        </p:spPr>
        <p:txBody>
          <a:bodyPr wrap="square" rtlCol="0">
            <a:spAutoFit/>
          </a:bodyPr>
          <a:lstStyle/>
          <a:p>
            <a:r>
              <a:rPr lang="zh-CN" altLang="en-US" sz="3600" dirty="0">
                <a:latin typeface="华文楷体" panose="02010600040101010101" pitchFamily="2" charset="-122"/>
                <a:ea typeface="华文楷体" panose="02010600040101010101" pitchFamily="2" charset="-122"/>
              </a:rPr>
              <a:t>求补码的方法</a:t>
            </a:r>
            <a:endParaRPr lang="zh-CN" altLang="zh-CN" sz="4800" dirty="0">
              <a:latin typeface="华文楷体" panose="02010600040101010101" pitchFamily="2" charset="-122"/>
              <a:ea typeface="华文楷体" panose="02010600040101010101" pitchFamily="2" charset="-122"/>
            </a:endParaRPr>
          </a:p>
        </p:txBody>
      </p:sp>
      <p:pic>
        <p:nvPicPr>
          <p:cNvPr id="8" name="图片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19441" y="6219825"/>
            <a:ext cx="536892" cy="542925"/>
          </a:xfrm>
          <a:prstGeom prst="rect">
            <a:avLst/>
          </a:prstGeom>
        </p:spPr>
      </p:pic>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22" name="Text Box 3">
            <a:extLst>
              <a:ext uri="{FF2B5EF4-FFF2-40B4-BE49-F238E27FC236}">
                <a16:creationId xmlns:a16="http://schemas.microsoft.com/office/drawing/2014/main" id="{DD490141-CC54-4136-A980-F7564D8D6740}"/>
              </a:ext>
            </a:extLst>
          </p:cNvPr>
          <p:cNvSpPr txBox="1">
            <a:spLocks noChangeArrowheads="1"/>
          </p:cNvSpPr>
          <p:nvPr/>
        </p:nvSpPr>
        <p:spPr bwMode="auto">
          <a:xfrm>
            <a:off x="1524000" y="1385446"/>
            <a:ext cx="8252106" cy="1384995"/>
          </a:xfrm>
          <a:prstGeom prst="rect">
            <a:avLst/>
          </a:prstGeom>
          <a:noFill/>
          <a:ln>
            <a:noFill/>
          </a:ln>
        </p:spPr>
        <p:txBody>
          <a:bodyPr wrap="square">
            <a:spAutoFit/>
          </a:bodyPr>
          <a:lstStyle>
            <a:lvl1pPr eaLnBrk="0" hangingPunct="0">
              <a:defRPr sz="1200" b="1">
                <a:solidFill>
                  <a:schemeClr val="tx1"/>
                </a:solidFill>
                <a:latin typeface="Arial" panose="020B0604020202020204" pitchFamily="34" charset="0"/>
                <a:ea typeface="宋体" panose="02010600030101010101" pitchFamily="2" charset="-122"/>
              </a:defRPr>
            </a:lvl1pPr>
            <a:lvl2pPr marL="742950" indent="-285750" eaLnBrk="0" hangingPunct="0">
              <a:defRPr sz="1200" b="1">
                <a:solidFill>
                  <a:schemeClr val="tx1"/>
                </a:solidFill>
                <a:latin typeface="Arial" panose="020B0604020202020204" pitchFamily="34" charset="0"/>
                <a:ea typeface="宋体" panose="02010600030101010101" pitchFamily="2" charset="-122"/>
              </a:defRPr>
            </a:lvl2pPr>
            <a:lvl3pPr marL="1143000" indent="-228600" eaLnBrk="0" hangingPunct="0">
              <a:defRPr sz="1200" b="1">
                <a:solidFill>
                  <a:schemeClr val="tx1"/>
                </a:solidFill>
                <a:latin typeface="Arial" panose="020B0604020202020204" pitchFamily="34" charset="0"/>
                <a:ea typeface="宋体" panose="02010600030101010101" pitchFamily="2" charset="-122"/>
              </a:defRPr>
            </a:lvl3pPr>
            <a:lvl4pPr marL="1600200" indent="-228600" eaLnBrk="0" hangingPunct="0">
              <a:defRPr sz="1200" b="1">
                <a:solidFill>
                  <a:schemeClr val="tx1"/>
                </a:solidFill>
                <a:latin typeface="Arial" panose="020B0604020202020204" pitchFamily="34" charset="0"/>
                <a:ea typeface="宋体" panose="02010600030101010101" pitchFamily="2" charset="-122"/>
              </a:defRPr>
            </a:lvl4pPr>
            <a:lvl5pPr marL="2057400" indent="-228600" eaLnBrk="0" hangingPunct="0">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9pPr>
          </a:lstStyle>
          <a:p>
            <a:pPr marL="457200" indent="-457200" eaLnBrk="1" hangingPunct="1">
              <a:buFont typeface="Wingdings" panose="05000000000000000000" pitchFamily="2" charset="2"/>
              <a:buChar char="Ø"/>
            </a:pPr>
            <a:r>
              <a:rPr lang="zh-CN" altLang="en-US" sz="2800" dirty="0">
                <a:solidFill>
                  <a:schemeClr val="accent2"/>
                </a:solidFill>
                <a:latin typeface="华文仿宋" panose="02010600040101010101" pitchFamily="2" charset="-122"/>
                <a:ea typeface="华文仿宋" panose="02010600040101010101" pitchFamily="2" charset="-122"/>
                <a:sym typeface="Symbol" panose="05050102010706020507" pitchFamily="18" charset="2"/>
              </a:rPr>
              <a:t>方法一：按定义</a:t>
            </a:r>
          </a:p>
          <a:p>
            <a:pPr eaLnBrk="1" hangingPunct="1"/>
            <a:r>
              <a:rPr lang="en-US" altLang="zh-CN" sz="2800" dirty="0">
                <a:latin typeface="华文仿宋" panose="02010600040101010101" pitchFamily="2" charset="-122"/>
                <a:ea typeface="华文仿宋" panose="02010600040101010101" pitchFamily="2" charset="-122"/>
                <a:sym typeface="Symbol" panose="05050102010706020507" pitchFamily="18" charset="2"/>
              </a:rPr>
              <a:t>       [1000 0111]</a:t>
            </a:r>
            <a:r>
              <a:rPr lang="zh-CN" altLang="en-US" sz="2800" baseline="-25000" dirty="0">
                <a:latin typeface="华文仿宋" panose="02010600040101010101" pitchFamily="2" charset="-122"/>
                <a:ea typeface="华文仿宋" panose="02010600040101010101" pitchFamily="2" charset="-122"/>
                <a:sym typeface="Symbol" panose="05050102010706020507" pitchFamily="18" charset="2"/>
              </a:rPr>
              <a:t>补 </a:t>
            </a:r>
            <a:r>
              <a:rPr lang="en-US" altLang="zh-CN" sz="2800" dirty="0">
                <a:latin typeface="华文仿宋" panose="02010600040101010101" pitchFamily="2" charset="-122"/>
                <a:ea typeface="华文仿宋" panose="02010600040101010101" pitchFamily="2" charset="-122"/>
                <a:sym typeface="Symbol" panose="05050102010706020507" pitchFamily="18" charset="2"/>
              </a:rPr>
              <a:t>=</a:t>
            </a:r>
            <a:r>
              <a:rPr lang="zh-CN" altLang="en-US" sz="2800" dirty="0">
                <a:latin typeface="华文仿宋" panose="02010600040101010101" pitchFamily="2" charset="-122"/>
                <a:ea typeface="华文仿宋" panose="02010600040101010101" pitchFamily="2" charset="-122"/>
                <a:sym typeface="Symbol" panose="05050102010706020507" pitchFamily="18" charset="2"/>
              </a:rPr>
              <a:t>（</a:t>
            </a:r>
            <a:r>
              <a:rPr lang="en-US" altLang="zh-CN" sz="2800" dirty="0">
                <a:latin typeface="华文仿宋" panose="02010600040101010101" pitchFamily="2" charset="-122"/>
                <a:ea typeface="华文仿宋" panose="02010600040101010101" pitchFamily="2" charset="-122"/>
                <a:sym typeface="Symbol" panose="05050102010706020507" pitchFamily="18" charset="2"/>
              </a:rPr>
              <a:t>2</a:t>
            </a:r>
            <a:r>
              <a:rPr lang="en-US" altLang="zh-CN" sz="2800" baseline="30000" dirty="0">
                <a:latin typeface="华文仿宋" panose="02010600040101010101" pitchFamily="2" charset="-122"/>
                <a:ea typeface="华文仿宋" panose="02010600040101010101" pitchFamily="2" charset="-122"/>
                <a:sym typeface="Symbol" panose="05050102010706020507" pitchFamily="18" charset="2"/>
              </a:rPr>
              <a:t>n </a:t>
            </a:r>
            <a:r>
              <a:rPr lang="en-US" altLang="zh-CN" sz="2800" dirty="0">
                <a:latin typeface="华文仿宋" panose="02010600040101010101" pitchFamily="2" charset="-122"/>
                <a:ea typeface="华文仿宋" panose="02010600040101010101" pitchFamily="2" charset="-122"/>
                <a:sym typeface="Symbol" panose="05050102010706020507" pitchFamily="18" charset="2"/>
              </a:rPr>
              <a:t>- |1000 0111| ) </a:t>
            </a:r>
          </a:p>
          <a:p>
            <a:pPr eaLnBrk="1" hangingPunct="1"/>
            <a:r>
              <a:rPr lang="en-US" altLang="zh-CN" sz="2800" dirty="0">
                <a:latin typeface="华文仿宋" panose="02010600040101010101" pitchFamily="2" charset="-122"/>
                <a:ea typeface="华文仿宋" panose="02010600040101010101" pitchFamily="2" charset="-122"/>
                <a:sym typeface="Symbol" panose="05050102010706020507" pitchFamily="18" charset="2"/>
              </a:rPr>
              <a:t>    =1 0000 0000 – 0000 0111 = 1111 1001</a:t>
            </a:r>
          </a:p>
        </p:txBody>
      </p:sp>
      <p:sp>
        <p:nvSpPr>
          <p:cNvPr id="23" name="Text Box 4">
            <a:extLst>
              <a:ext uri="{FF2B5EF4-FFF2-40B4-BE49-F238E27FC236}">
                <a16:creationId xmlns:a16="http://schemas.microsoft.com/office/drawing/2014/main" id="{C6B6FD11-9CE5-4DA9-BA44-5A6B3E8F21EF}"/>
              </a:ext>
            </a:extLst>
          </p:cNvPr>
          <p:cNvSpPr txBox="1">
            <a:spLocks noChangeArrowheads="1"/>
          </p:cNvSpPr>
          <p:nvPr/>
        </p:nvSpPr>
        <p:spPr bwMode="auto">
          <a:xfrm>
            <a:off x="1608597" y="2848832"/>
            <a:ext cx="8252106" cy="1384995"/>
          </a:xfrm>
          <a:prstGeom prst="rect">
            <a:avLst/>
          </a:prstGeom>
          <a:noFill/>
          <a:ln>
            <a:noFill/>
          </a:ln>
        </p:spPr>
        <p:txBody>
          <a:bodyPr wrap="square">
            <a:spAutoFit/>
          </a:bodyPr>
          <a:lstStyle>
            <a:lvl1pPr eaLnBrk="0" hangingPunct="0">
              <a:defRPr sz="1200" b="1">
                <a:solidFill>
                  <a:schemeClr val="tx1"/>
                </a:solidFill>
                <a:latin typeface="Arial" panose="020B0604020202020204" pitchFamily="34" charset="0"/>
                <a:ea typeface="宋体" panose="02010600030101010101" pitchFamily="2" charset="-122"/>
              </a:defRPr>
            </a:lvl1pPr>
            <a:lvl2pPr marL="742950" indent="-285750" eaLnBrk="0" hangingPunct="0">
              <a:defRPr sz="1200" b="1">
                <a:solidFill>
                  <a:schemeClr val="tx1"/>
                </a:solidFill>
                <a:latin typeface="Arial" panose="020B0604020202020204" pitchFamily="34" charset="0"/>
                <a:ea typeface="宋体" panose="02010600030101010101" pitchFamily="2" charset="-122"/>
              </a:defRPr>
            </a:lvl2pPr>
            <a:lvl3pPr marL="1143000" indent="-228600" eaLnBrk="0" hangingPunct="0">
              <a:defRPr sz="1200" b="1">
                <a:solidFill>
                  <a:schemeClr val="tx1"/>
                </a:solidFill>
                <a:latin typeface="Arial" panose="020B0604020202020204" pitchFamily="34" charset="0"/>
                <a:ea typeface="宋体" panose="02010600030101010101" pitchFamily="2" charset="-122"/>
              </a:defRPr>
            </a:lvl3pPr>
            <a:lvl4pPr marL="1600200" indent="-228600" eaLnBrk="0" hangingPunct="0">
              <a:defRPr sz="1200" b="1">
                <a:solidFill>
                  <a:schemeClr val="tx1"/>
                </a:solidFill>
                <a:latin typeface="Arial" panose="020B0604020202020204" pitchFamily="34" charset="0"/>
                <a:ea typeface="宋体" panose="02010600030101010101" pitchFamily="2" charset="-122"/>
              </a:defRPr>
            </a:lvl4pPr>
            <a:lvl5pPr marL="2057400" indent="-228600" eaLnBrk="0" hangingPunct="0">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9pPr>
          </a:lstStyle>
          <a:p>
            <a:pPr marL="457200" indent="-457200" eaLnBrk="1" hangingPunct="1">
              <a:spcBef>
                <a:spcPct val="50000"/>
              </a:spcBef>
              <a:buFont typeface="Wingdings" panose="05000000000000000000" pitchFamily="2" charset="2"/>
              <a:buChar char="Ø"/>
            </a:pPr>
            <a:r>
              <a:rPr lang="zh-CN" altLang="en-US" sz="2800" dirty="0">
                <a:solidFill>
                  <a:schemeClr val="accent2"/>
                </a:solidFill>
                <a:latin typeface="华文仿宋" panose="02010600040101010101" pitchFamily="2" charset="-122"/>
                <a:ea typeface="华文仿宋" panose="02010600040101010101" pitchFamily="2" charset="-122"/>
                <a:sym typeface="Symbol" panose="05050102010706020507" pitchFamily="18" charset="2"/>
              </a:rPr>
              <a:t>方法二：原码除符号位外全取反，再加</a:t>
            </a:r>
            <a:r>
              <a:rPr lang="en-US" altLang="zh-CN" sz="2800" dirty="0">
                <a:solidFill>
                  <a:schemeClr val="accent2"/>
                </a:solidFill>
                <a:latin typeface="华文仿宋" panose="02010600040101010101" pitchFamily="2" charset="-122"/>
                <a:ea typeface="华文仿宋" panose="02010600040101010101" pitchFamily="2" charset="-122"/>
                <a:sym typeface="Symbol" panose="05050102010706020507" pitchFamily="18" charset="2"/>
              </a:rPr>
              <a:t>1</a:t>
            </a:r>
          </a:p>
          <a:p>
            <a:pPr eaLnBrk="1" hangingPunct="1"/>
            <a:r>
              <a:rPr lang="en-US" altLang="zh-CN" sz="2800" dirty="0">
                <a:latin typeface="华文仿宋" panose="02010600040101010101" pitchFamily="2" charset="-122"/>
                <a:ea typeface="华文仿宋" panose="02010600040101010101" pitchFamily="2" charset="-122"/>
                <a:sym typeface="Symbol" panose="05050102010706020507" pitchFamily="18" charset="2"/>
              </a:rPr>
              <a:t>     -7</a:t>
            </a:r>
            <a:r>
              <a:rPr lang="zh-CN" altLang="en-US" sz="2800" dirty="0">
                <a:latin typeface="华文仿宋" panose="02010600040101010101" pitchFamily="2" charset="-122"/>
                <a:ea typeface="华文仿宋" panose="02010600040101010101" pitchFamily="2" charset="-122"/>
                <a:sym typeface="Symbol" panose="05050102010706020507" pitchFamily="18" charset="2"/>
              </a:rPr>
              <a:t>的原码  </a:t>
            </a:r>
            <a:r>
              <a:rPr lang="en-US" altLang="zh-CN" sz="2800" dirty="0">
                <a:latin typeface="华文仿宋" panose="02010600040101010101" pitchFamily="2" charset="-122"/>
                <a:ea typeface="华文仿宋" panose="02010600040101010101" pitchFamily="2" charset="-122"/>
                <a:sym typeface="Symbol" panose="05050102010706020507" pitchFamily="18" charset="2"/>
              </a:rPr>
              <a:t>1000 0111  </a:t>
            </a:r>
            <a:r>
              <a:rPr lang="zh-CN" altLang="en-US" sz="2800" u="sng" dirty="0">
                <a:latin typeface="华文仿宋" panose="02010600040101010101" pitchFamily="2" charset="-122"/>
                <a:ea typeface="华文仿宋" panose="02010600040101010101" pitchFamily="2" charset="-122"/>
                <a:sym typeface="Symbol" panose="05050102010706020507" pitchFamily="18" charset="2"/>
              </a:rPr>
              <a:t>取反</a:t>
            </a:r>
            <a:r>
              <a:rPr lang="zh-CN" altLang="en-US" sz="2800" dirty="0">
                <a:latin typeface="华文仿宋" panose="02010600040101010101" pitchFamily="2" charset="-122"/>
                <a:ea typeface="华文仿宋" panose="02010600040101010101" pitchFamily="2" charset="-122"/>
                <a:sym typeface="Symbol" panose="05050102010706020507" pitchFamily="18" charset="2"/>
              </a:rPr>
              <a:t>  </a:t>
            </a:r>
            <a:r>
              <a:rPr lang="en-US" altLang="zh-CN" sz="2800" dirty="0">
                <a:latin typeface="华文仿宋" panose="02010600040101010101" pitchFamily="2" charset="-122"/>
                <a:ea typeface="华文仿宋" panose="02010600040101010101" pitchFamily="2" charset="-122"/>
                <a:sym typeface="Symbol" panose="05050102010706020507" pitchFamily="18" charset="2"/>
              </a:rPr>
              <a:t>1</a:t>
            </a:r>
            <a:r>
              <a:rPr lang="en-US" altLang="zh-CN" sz="2800" dirty="0">
                <a:solidFill>
                  <a:srgbClr val="FF0000"/>
                </a:solidFill>
                <a:latin typeface="华文仿宋" panose="02010600040101010101" pitchFamily="2" charset="-122"/>
                <a:ea typeface="华文仿宋" panose="02010600040101010101" pitchFamily="2" charset="-122"/>
                <a:sym typeface="Symbol" panose="05050102010706020507" pitchFamily="18" charset="2"/>
              </a:rPr>
              <a:t>111 1000</a:t>
            </a:r>
            <a:r>
              <a:rPr lang="en-US" altLang="zh-CN" sz="2800" dirty="0">
                <a:latin typeface="华文仿宋" panose="02010600040101010101" pitchFamily="2" charset="-122"/>
                <a:ea typeface="华文仿宋" panose="02010600040101010101" pitchFamily="2" charset="-122"/>
                <a:sym typeface="Symbol" panose="05050102010706020507" pitchFamily="18" charset="2"/>
              </a:rPr>
              <a:t> </a:t>
            </a:r>
          </a:p>
          <a:p>
            <a:pPr eaLnBrk="1" hangingPunct="1"/>
            <a:r>
              <a:rPr lang="en-US" altLang="zh-CN" sz="2800" dirty="0">
                <a:latin typeface="华文仿宋" panose="02010600040101010101" pitchFamily="2" charset="-122"/>
                <a:ea typeface="华文仿宋" panose="02010600040101010101" pitchFamily="2" charset="-122"/>
                <a:sym typeface="Symbol" panose="05050102010706020507" pitchFamily="18" charset="2"/>
              </a:rPr>
              <a:t>                                        </a:t>
            </a:r>
            <a:r>
              <a:rPr lang="zh-CN" altLang="en-US" sz="2800" u="sng" dirty="0">
                <a:latin typeface="华文仿宋" panose="02010600040101010101" pitchFamily="2" charset="-122"/>
                <a:ea typeface="华文仿宋" panose="02010600040101010101" pitchFamily="2" charset="-122"/>
                <a:sym typeface="Symbol" panose="05050102010706020507" pitchFamily="18" charset="2"/>
              </a:rPr>
              <a:t>加 </a:t>
            </a:r>
            <a:r>
              <a:rPr lang="en-US" altLang="zh-CN" sz="2800" u="sng" dirty="0">
                <a:latin typeface="华文仿宋" panose="02010600040101010101" pitchFamily="2" charset="-122"/>
                <a:ea typeface="华文仿宋" panose="02010600040101010101" pitchFamily="2" charset="-122"/>
                <a:sym typeface="Symbol" panose="05050102010706020507" pitchFamily="18" charset="2"/>
              </a:rPr>
              <a:t>1</a:t>
            </a:r>
            <a:r>
              <a:rPr lang="en-US" altLang="zh-CN" sz="2800" dirty="0">
                <a:latin typeface="华文仿宋" panose="02010600040101010101" pitchFamily="2" charset="-122"/>
                <a:ea typeface="华文仿宋" panose="02010600040101010101" pitchFamily="2" charset="-122"/>
                <a:sym typeface="Symbol" panose="05050102010706020507" pitchFamily="18" charset="2"/>
              </a:rPr>
              <a:t>   1111 100</a:t>
            </a:r>
            <a:r>
              <a:rPr lang="en-US" altLang="zh-CN" sz="2800" dirty="0">
                <a:solidFill>
                  <a:srgbClr val="FF0000"/>
                </a:solidFill>
                <a:latin typeface="华文仿宋" panose="02010600040101010101" pitchFamily="2" charset="-122"/>
                <a:ea typeface="华文仿宋" panose="02010600040101010101" pitchFamily="2" charset="-122"/>
                <a:sym typeface="Symbol" panose="05050102010706020507" pitchFamily="18" charset="2"/>
              </a:rPr>
              <a:t>1</a:t>
            </a:r>
            <a:r>
              <a:rPr lang="en-US" altLang="zh-CN" sz="2800" dirty="0">
                <a:latin typeface="华文仿宋" panose="02010600040101010101" pitchFamily="2" charset="-122"/>
                <a:ea typeface="华文仿宋" panose="02010600040101010101" pitchFamily="2" charset="-122"/>
                <a:sym typeface="Symbol" panose="05050102010706020507" pitchFamily="18" charset="2"/>
              </a:rPr>
              <a:t> </a:t>
            </a:r>
          </a:p>
        </p:txBody>
      </p:sp>
      <p:sp>
        <p:nvSpPr>
          <p:cNvPr id="24" name="Text Box 5">
            <a:extLst>
              <a:ext uri="{FF2B5EF4-FFF2-40B4-BE49-F238E27FC236}">
                <a16:creationId xmlns:a16="http://schemas.microsoft.com/office/drawing/2014/main" id="{26A645F6-3C43-4A07-BB20-2F93F2F62EEA}"/>
              </a:ext>
            </a:extLst>
          </p:cNvPr>
          <p:cNvSpPr txBox="1">
            <a:spLocks noChangeArrowheads="1"/>
          </p:cNvSpPr>
          <p:nvPr/>
        </p:nvSpPr>
        <p:spPr bwMode="auto">
          <a:xfrm>
            <a:off x="1577293" y="4304118"/>
            <a:ext cx="8897923" cy="1815882"/>
          </a:xfrm>
          <a:prstGeom prst="rect">
            <a:avLst/>
          </a:prstGeom>
          <a:noFill/>
          <a:ln>
            <a:noFill/>
          </a:ln>
        </p:spPr>
        <p:txBody>
          <a:bodyPr wrap="square">
            <a:spAutoFit/>
          </a:bodyPr>
          <a:lstStyle>
            <a:lvl1pPr eaLnBrk="0" hangingPunct="0">
              <a:defRPr sz="1200" b="1">
                <a:solidFill>
                  <a:schemeClr val="tx1"/>
                </a:solidFill>
                <a:latin typeface="Arial" panose="020B0604020202020204" pitchFamily="34" charset="0"/>
                <a:ea typeface="宋体" panose="02010600030101010101" pitchFamily="2" charset="-122"/>
              </a:defRPr>
            </a:lvl1pPr>
            <a:lvl2pPr marL="742950" indent="-285750" eaLnBrk="0" hangingPunct="0">
              <a:defRPr sz="1200" b="1">
                <a:solidFill>
                  <a:schemeClr val="tx1"/>
                </a:solidFill>
                <a:latin typeface="Arial" panose="020B0604020202020204" pitchFamily="34" charset="0"/>
                <a:ea typeface="宋体" panose="02010600030101010101" pitchFamily="2" charset="-122"/>
              </a:defRPr>
            </a:lvl2pPr>
            <a:lvl3pPr marL="1143000" indent="-228600" eaLnBrk="0" hangingPunct="0">
              <a:defRPr sz="1200" b="1">
                <a:solidFill>
                  <a:schemeClr val="tx1"/>
                </a:solidFill>
                <a:latin typeface="Arial" panose="020B0604020202020204" pitchFamily="34" charset="0"/>
                <a:ea typeface="宋体" panose="02010600030101010101" pitchFamily="2" charset="-122"/>
              </a:defRPr>
            </a:lvl3pPr>
            <a:lvl4pPr marL="1600200" indent="-228600" eaLnBrk="0" hangingPunct="0">
              <a:defRPr sz="1200" b="1">
                <a:solidFill>
                  <a:schemeClr val="tx1"/>
                </a:solidFill>
                <a:latin typeface="Arial" panose="020B0604020202020204" pitchFamily="34" charset="0"/>
                <a:ea typeface="宋体" panose="02010600030101010101" pitchFamily="2" charset="-122"/>
              </a:defRPr>
            </a:lvl4pPr>
            <a:lvl5pPr marL="2057400" indent="-228600" eaLnBrk="0" hangingPunct="0">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9pPr>
          </a:lstStyle>
          <a:p>
            <a:pPr marL="457200" indent="-457200" eaLnBrk="1" hangingPunct="1">
              <a:buFont typeface="Wingdings" panose="05000000000000000000" pitchFamily="2" charset="2"/>
              <a:buChar char="Ø"/>
            </a:pPr>
            <a:r>
              <a:rPr lang="en-US" altLang="zh-CN" sz="2800" dirty="0">
                <a:solidFill>
                  <a:schemeClr val="accent2"/>
                </a:solidFill>
                <a:latin typeface="华文仿宋" panose="02010600040101010101" pitchFamily="2" charset="-122"/>
                <a:ea typeface="华文仿宋" panose="02010600040101010101" pitchFamily="2" charset="-122"/>
                <a:sym typeface="Symbol" panose="05050102010706020507" pitchFamily="18" charset="2"/>
              </a:rPr>
              <a:t>※</a:t>
            </a:r>
            <a:r>
              <a:rPr lang="zh-CN" altLang="en-US" sz="2800" dirty="0">
                <a:solidFill>
                  <a:schemeClr val="accent2"/>
                </a:solidFill>
                <a:latin typeface="华文仿宋" panose="02010600040101010101" pitchFamily="2" charset="-122"/>
                <a:ea typeface="华文仿宋" panose="02010600040101010101" pitchFamily="2" charset="-122"/>
                <a:sym typeface="Symbol" panose="05050102010706020507" pitchFamily="18" charset="2"/>
              </a:rPr>
              <a:t>方法三：原码除符号位外从高到低各位取反，</a:t>
            </a:r>
            <a:r>
              <a:rPr lang="zh-CN" altLang="en-US" sz="2800" dirty="0">
                <a:solidFill>
                  <a:srgbClr val="FF0000"/>
                </a:solidFill>
                <a:latin typeface="华文仿宋" panose="02010600040101010101" pitchFamily="2" charset="-122"/>
                <a:ea typeface="华文仿宋" panose="02010600040101010101" pitchFamily="2" charset="-122"/>
                <a:sym typeface="Symbol" panose="05050102010706020507" pitchFamily="18" charset="2"/>
              </a:rPr>
              <a:t>直到最后一个</a:t>
            </a:r>
            <a:r>
              <a:rPr lang="en-US" altLang="zh-CN" sz="2800" dirty="0">
                <a:solidFill>
                  <a:srgbClr val="FF0000"/>
                </a:solidFill>
                <a:latin typeface="华文仿宋" panose="02010600040101010101" pitchFamily="2" charset="-122"/>
                <a:ea typeface="华文仿宋" panose="02010600040101010101" pitchFamily="2" charset="-122"/>
                <a:sym typeface="Symbol" panose="05050102010706020507" pitchFamily="18" charset="2"/>
              </a:rPr>
              <a:t>1</a:t>
            </a:r>
            <a:r>
              <a:rPr lang="zh-CN" altLang="en-US" sz="2800" dirty="0">
                <a:solidFill>
                  <a:srgbClr val="FF0000"/>
                </a:solidFill>
                <a:latin typeface="华文仿宋" panose="02010600040101010101" pitchFamily="2" charset="-122"/>
                <a:ea typeface="华文仿宋" panose="02010600040101010101" pitchFamily="2" charset="-122"/>
                <a:sym typeface="Symbol" panose="05050102010706020507" pitchFamily="18" charset="2"/>
              </a:rPr>
              <a:t>为止</a:t>
            </a:r>
            <a:r>
              <a:rPr lang="zh-CN" altLang="en-US" sz="2800" dirty="0">
                <a:solidFill>
                  <a:schemeClr val="accent2"/>
                </a:solidFill>
                <a:latin typeface="华文仿宋" panose="02010600040101010101" pitchFamily="2" charset="-122"/>
                <a:ea typeface="华文仿宋" panose="02010600040101010101" pitchFamily="2" charset="-122"/>
                <a:sym typeface="Symbol" panose="05050102010706020507" pitchFamily="18" charset="2"/>
              </a:rPr>
              <a:t>（最后一个</a:t>
            </a:r>
            <a:r>
              <a:rPr lang="en-US" altLang="zh-CN" sz="2800" dirty="0">
                <a:solidFill>
                  <a:schemeClr val="accent2"/>
                </a:solidFill>
                <a:latin typeface="华文仿宋" panose="02010600040101010101" pitchFamily="2" charset="-122"/>
                <a:ea typeface="华文仿宋" panose="02010600040101010101" pitchFamily="2" charset="-122"/>
                <a:sym typeface="Symbol" panose="05050102010706020507" pitchFamily="18" charset="2"/>
              </a:rPr>
              <a:t>1</a:t>
            </a:r>
            <a:r>
              <a:rPr lang="zh-CN" altLang="en-US" sz="2800" dirty="0">
                <a:solidFill>
                  <a:schemeClr val="accent2"/>
                </a:solidFill>
                <a:latin typeface="华文仿宋" panose="02010600040101010101" pitchFamily="2" charset="-122"/>
                <a:ea typeface="华文仿宋" panose="02010600040101010101" pitchFamily="2" charset="-122"/>
                <a:sym typeface="Symbol" panose="05050102010706020507" pitchFamily="18" charset="2"/>
              </a:rPr>
              <a:t>及其右侧的</a:t>
            </a:r>
            <a:r>
              <a:rPr lang="en-US" altLang="zh-CN" sz="2800" dirty="0">
                <a:solidFill>
                  <a:schemeClr val="accent2"/>
                </a:solidFill>
                <a:latin typeface="华文仿宋" panose="02010600040101010101" pitchFamily="2" charset="-122"/>
                <a:ea typeface="华文仿宋" panose="02010600040101010101" pitchFamily="2" charset="-122"/>
                <a:sym typeface="Symbol" panose="05050102010706020507" pitchFamily="18" charset="2"/>
              </a:rPr>
              <a:t>0</a:t>
            </a:r>
            <a:r>
              <a:rPr lang="zh-CN" altLang="en-US" sz="2800" dirty="0">
                <a:solidFill>
                  <a:schemeClr val="accent2"/>
                </a:solidFill>
                <a:latin typeface="华文仿宋" panose="02010600040101010101" pitchFamily="2" charset="-122"/>
                <a:ea typeface="华文仿宋" panose="02010600040101010101" pitchFamily="2" charset="-122"/>
                <a:sym typeface="Symbol" panose="05050102010706020507" pitchFamily="18" charset="2"/>
              </a:rPr>
              <a:t>不变）</a:t>
            </a:r>
          </a:p>
          <a:p>
            <a:pPr marL="444500" indent="-444500" eaLnBrk="1" hangingPunct="1"/>
            <a:r>
              <a:rPr lang="zh-CN" altLang="en-US" sz="2800" dirty="0">
                <a:latin typeface="华文仿宋" panose="02010600040101010101" pitchFamily="2" charset="-122"/>
                <a:ea typeface="华文仿宋" panose="02010600040101010101" pitchFamily="2" charset="-122"/>
                <a:sym typeface="Symbol" panose="05050102010706020507" pitchFamily="18" charset="2"/>
              </a:rPr>
              <a:t>        </a:t>
            </a:r>
            <a:r>
              <a:rPr lang="en-US" altLang="zh-CN" sz="2800" dirty="0">
                <a:latin typeface="华文仿宋" panose="02010600040101010101" pitchFamily="2" charset="-122"/>
                <a:ea typeface="华文仿宋" panose="02010600040101010101" pitchFamily="2" charset="-122"/>
                <a:sym typeface="Symbol" panose="05050102010706020507" pitchFamily="18" charset="2"/>
              </a:rPr>
              <a:t>-7</a:t>
            </a:r>
            <a:r>
              <a:rPr lang="zh-CN" altLang="en-US" sz="2800" dirty="0">
                <a:latin typeface="华文仿宋" panose="02010600040101010101" pitchFamily="2" charset="-122"/>
                <a:ea typeface="华文仿宋" panose="02010600040101010101" pitchFamily="2" charset="-122"/>
                <a:sym typeface="Symbol" panose="05050102010706020507" pitchFamily="18" charset="2"/>
              </a:rPr>
              <a:t>的原码 </a:t>
            </a:r>
            <a:r>
              <a:rPr lang="en-US" altLang="zh-CN" sz="2800" dirty="0">
                <a:latin typeface="华文仿宋" panose="02010600040101010101" pitchFamily="2" charset="-122"/>
                <a:ea typeface="华文仿宋" panose="02010600040101010101" pitchFamily="2" charset="-122"/>
                <a:sym typeface="Symbol" panose="05050102010706020507" pitchFamily="18" charset="2"/>
              </a:rPr>
              <a:t>1000 0111    -8</a:t>
            </a:r>
            <a:r>
              <a:rPr lang="zh-CN" altLang="en-US" sz="2800" dirty="0">
                <a:latin typeface="华文仿宋" panose="02010600040101010101" pitchFamily="2" charset="-122"/>
                <a:ea typeface="华文仿宋" panose="02010600040101010101" pitchFamily="2" charset="-122"/>
                <a:sym typeface="Symbol" panose="05050102010706020507" pitchFamily="18" charset="2"/>
              </a:rPr>
              <a:t>的原码 </a:t>
            </a:r>
            <a:r>
              <a:rPr lang="en-US" altLang="zh-CN" sz="2800" dirty="0">
                <a:latin typeface="华文仿宋" panose="02010600040101010101" pitchFamily="2" charset="-122"/>
                <a:ea typeface="华文仿宋" panose="02010600040101010101" pitchFamily="2" charset="-122"/>
                <a:sym typeface="Symbol" panose="05050102010706020507" pitchFamily="18" charset="2"/>
              </a:rPr>
              <a:t>1</a:t>
            </a:r>
            <a:r>
              <a:rPr lang="en-US" altLang="zh-CN" sz="2800" dirty="0">
                <a:solidFill>
                  <a:srgbClr val="FF0000"/>
                </a:solidFill>
                <a:latin typeface="华文仿宋" panose="02010600040101010101" pitchFamily="2" charset="-122"/>
                <a:ea typeface="华文仿宋" panose="02010600040101010101" pitchFamily="2" charset="-122"/>
                <a:sym typeface="Symbol" panose="05050102010706020507" pitchFamily="18" charset="2"/>
              </a:rPr>
              <a:t>000 </a:t>
            </a:r>
            <a:r>
              <a:rPr lang="en-US" altLang="zh-CN" sz="2800" dirty="0">
                <a:latin typeface="华文仿宋" panose="02010600040101010101" pitchFamily="2" charset="-122"/>
                <a:ea typeface="华文仿宋" panose="02010600040101010101" pitchFamily="2" charset="-122"/>
                <a:sym typeface="Symbol" panose="05050102010706020507" pitchFamily="18" charset="2"/>
              </a:rPr>
              <a:t>1000</a:t>
            </a:r>
          </a:p>
          <a:p>
            <a:pPr marL="444500" indent="-444500" eaLnBrk="1" hangingPunct="1"/>
            <a:r>
              <a:rPr lang="en-US" altLang="zh-CN" sz="2800" dirty="0">
                <a:latin typeface="华文仿宋" panose="02010600040101010101" pitchFamily="2" charset="-122"/>
                <a:ea typeface="华文仿宋" panose="02010600040101010101" pitchFamily="2" charset="-122"/>
                <a:sym typeface="Symbol" panose="05050102010706020507" pitchFamily="18" charset="2"/>
              </a:rPr>
              <a:t>               </a:t>
            </a:r>
            <a:r>
              <a:rPr lang="zh-CN" altLang="en-US" sz="2800" dirty="0">
                <a:latin typeface="华文仿宋" panose="02010600040101010101" pitchFamily="2" charset="-122"/>
                <a:ea typeface="华文仿宋" panose="02010600040101010101" pitchFamily="2" charset="-122"/>
                <a:sym typeface="Symbol" panose="05050102010706020507" pitchFamily="18" charset="2"/>
              </a:rPr>
              <a:t>补码 </a:t>
            </a:r>
            <a:r>
              <a:rPr lang="en-US" altLang="zh-CN" sz="2800" dirty="0">
                <a:latin typeface="华文仿宋" panose="02010600040101010101" pitchFamily="2" charset="-122"/>
                <a:ea typeface="华文仿宋" panose="02010600040101010101" pitchFamily="2" charset="-122"/>
                <a:sym typeface="Symbol" panose="05050102010706020507" pitchFamily="18" charset="2"/>
              </a:rPr>
              <a:t>1</a:t>
            </a:r>
            <a:r>
              <a:rPr lang="en-US" altLang="zh-CN" sz="2800" dirty="0">
                <a:solidFill>
                  <a:srgbClr val="FF0000"/>
                </a:solidFill>
                <a:latin typeface="华文仿宋" panose="02010600040101010101" pitchFamily="2" charset="-122"/>
                <a:ea typeface="华文仿宋" panose="02010600040101010101" pitchFamily="2" charset="-122"/>
                <a:sym typeface="Symbol" panose="05050102010706020507" pitchFamily="18" charset="2"/>
              </a:rPr>
              <a:t>111 100</a:t>
            </a:r>
            <a:r>
              <a:rPr lang="en-US" altLang="zh-CN" sz="2800" dirty="0">
                <a:latin typeface="华文仿宋" panose="02010600040101010101" pitchFamily="2" charset="-122"/>
                <a:ea typeface="华文仿宋" panose="02010600040101010101" pitchFamily="2" charset="-122"/>
                <a:sym typeface="Symbol" panose="05050102010706020507" pitchFamily="18" charset="2"/>
              </a:rPr>
              <a:t>1           </a:t>
            </a:r>
            <a:r>
              <a:rPr lang="zh-CN" altLang="en-US" sz="2800" dirty="0">
                <a:latin typeface="华文仿宋" panose="02010600040101010101" pitchFamily="2" charset="-122"/>
                <a:ea typeface="华文仿宋" panose="02010600040101010101" pitchFamily="2" charset="-122"/>
                <a:sym typeface="Symbol" panose="05050102010706020507" pitchFamily="18" charset="2"/>
              </a:rPr>
              <a:t>补码 </a:t>
            </a:r>
            <a:r>
              <a:rPr lang="en-US" altLang="zh-CN" sz="2800" dirty="0">
                <a:latin typeface="华文仿宋" panose="02010600040101010101" pitchFamily="2" charset="-122"/>
                <a:ea typeface="华文仿宋" panose="02010600040101010101" pitchFamily="2" charset="-122"/>
                <a:sym typeface="Symbol" panose="05050102010706020507" pitchFamily="18" charset="2"/>
              </a:rPr>
              <a:t>1</a:t>
            </a:r>
            <a:r>
              <a:rPr lang="en-US" altLang="zh-CN" sz="2800" dirty="0">
                <a:solidFill>
                  <a:srgbClr val="FF0000"/>
                </a:solidFill>
                <a:latin typeface="华文仿宋" panose="02010600040101010101" pitchFamily="2" charset="-122"/>
                <a:ea typeface="华文仿宋" panose="02010600040101010101" pitchFamily="2" charset="-122"/>
                <a:sym typeface="Symbol" panose="05050102010706020507" pitchFamily="18" charset="2"/>
              </a:rPr>
              <a:t>111 </a:t>
            </a:r>
            <a:r>
              <a:rPr lang="en-US" altLang="zh-CN" sz="2800" dirty="0">
                <a:latin typeface="华文仿宋" panose="02010600040101010101" pitchFamily="2" charset="-122"/>
                <a:ea typeface="华文仿宋" panose="02010600040101010101" pitchFamily="2" charset="-122"/>
                <a:sym typeface="Symbol" panose="05050102010706020507" pitchFamily="18" charset="2"/>
              </a:rPr>
              <a:t>1000</a:t>
            </a:r>
          </a:p>
        </p:txBody>
      </p:sp>
      <p:sp>
        <p:nvSpPr>
          <p:cNvPr id="25" name="Rectangle 20">
            <a:extLst>
              <a:ext uri="{FF2B5EF4-FFF2-40B4-BE49-F238E27FC236}">
                <a16:creationId xmlns:a16="http://schemas.microsoft.com/office/drawing/2014/main" id="{C4E9A2C5-895F-41A0-B2E8-66D2AF618095}"/>
              </a:ext>
            </a:extLst>
          </p:cNvPr>
          <p:cNvSpPr>
            <a:spLocks noChangeArrowheads="1"/>
          </p:cNvSpPr>
          <p:nvPr/>
        </p:nvSpPr>
        <p:spPr bwMode="auto">
          <a:xfrm>
            <a:off x="1501093" y="850533"/>
            <a:ext cx="3738861" cy="4308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nchor="ctr"/>
          <a:lstStyle>
            <a:lvl1pPr eaLnBrk="0" hangingPunct="0">
              <a:defRPr sz="1200" b="1">
                <a:solidFill>
                  <a:schemeClr val="tx1"/>
                </a:solidFill>
                <a:latin typeface="Arial" panose="020B0604020202020204" pitchFamily="34" charset="0"/>
                <a:ea typeface="宋体" panose="02010600030101010101" pitchFamily="2" charset="-122"/>
              </a:defRPr>
            </a:lvl1pPr>
            <a:lvl2pPr marL="742950" indent="-285750" eaLnBrk="0" hangingPunct="0">
              <a:defRPr sz="1200" b="1">
                <a:solidFill>
                  <a:schemeClr val="tx1"/>
                </a:solidFill>
                <a:latin typeface="Arial" panose="020B0604020202020204" pitchFamily="34" charset="0"/>
                <a:ea typeface="宋体" panose="02010600030101010101" pitchFamily="2" charset="-122"/>
              </a:defRPr>
            </a:lvl2pPr>
            <a:lvl3pPr marL="1143000" indent="-228600" eaLnBrk="0" hangingPunct="0">
              <a:defRPr sz="1200" b="1">
                <a:solidFill>
                  <a:schemeClr val="tx1"/>
                </a:solidFill>
                <a:latin typeface="Arial" panose="020B0604020202020204" pitchFamily="34" charset="0"/>
                <a:ea typeface="宋体" panose="02010600030101010101" pitchFamily="2" charset="-122"/>
              </a:defRPr>
            </a:lvl3pPr>
            <a:lvl4pPr marL="1600200" indent="-228600" eaLnBrk="0" hangingPunct="0">
              <a:defRPr sz="1200" b="1">
                <a:solidFill>
                  <a:schemeClr val="tx1"/>
                </a:solidFill>
                <a:latin typeface="Arial" panose="020B0604020202020204" pitchFamily="34" charset="0"/>
                <a:ea typeface="宋体" panose="02010600030101010101" pitchFamily="2" charset="-122"/>
              </a:defRPr>
            </a:lvl4pPr>
            <a:lvl5pPr marL="2057400" indent="-228600" eaLnBrk="0" hangingPunct="0">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9pPr>
          </a:lstStyle>
          <a:p>
            <a:pPr eaLnBrk="1" hangingPunct="1"/>
            <a:endParaRPr lang="zh-CN" altLang="zh-CN" sz="4000" dirty="0">
              <a:solidFill>
                <a:srgbClr val="FF0000"/>
              </a:solidFill>
              <a:latin typeface="微软雅黑" panose="020B0503020204020204" pitchFamily="34" charset="-122"/>
              <a:ea typeface="微软雅黑" panose="020B0503020204020204" pitchFamily="34" charset="-122"/>
            </a:endParaRPr>
          </a:p>
        </p:txBody>
      </p:sp>
      <p:graphicFrame>
        <p:nvGraphicFramePr>
          <p:cNvPr id="26" name="Object 2">
            <a:extLst>
              <a:ext uri="{FF2B5EF4-FFF2-40B4-BE49-F238E27FC236}">
                <a16:creationId xmlns:a16="http://schemas.microsoft.com/office/drawing/2014/main" id="{6ECCC708-02CB-436D-94F3-C6938B08391F}"/>
              </a:ext>
            </a:extLst>
          </p:cNvPr>
          <p:cNvGraphicFramePr>
            <a:graphicFrameLocks noChangeAspect="1"/>
          </p:cNvGraphicFramePr>
          <p:nvPr>
            <p:extLst>
              <p:ext uri="{D42A27DB-BD31-4B8C-83A1-F6EECF244321}">
                <p14:modId xmlns:p14="http://schemas.microsoft.com/office/powerpoint/2010/main" val="3810684504"/>
              </p:ext>
            </p:extLst>
          </p:nvPr>
        </p:nvGraphicFramePr>
        <p:xfrm>
          <a:off x="6617530" y="934192"/>
          <a:ext cx="3652018" cy="990685"/>
        </p:xfrm>
        <a:graphic>
          <a:graphicData uri="http://schemas.openxmlformats.org/presentationml/2006/ole">
            <mc:AlternateContent xmlns:mc="http://schemas.openxmlformats.org/markup-compatibility/2006">
              <mc:Choice xmlns:v="urn:schemas-microsoft-com:vml" Requires="v">
                <p:oleObj name="Equation" r:id="rId5" imgW="1447560" imgH="355320" progId="Equation.DSMT4">
                  <p:embed/>
                </p:oleObj>
              </mc:Choice>
              <mc:Fallback>
                <p:oleObj name="Equation" r:id="rId5" imgW="1447560" imgH="355320" progId="Equation.DSMT4">
                  <p:embed/>
                  <p:pic>
                    <p:nvPicPr>
                      <p:cNvPr id="26" name="Object 2">
                        <a:extLst>
                          <a:ext uri="{FF2B5EF4-FFF2-40B4-BE49-F238E27FC236}">
                            <a16:creationId xmlns:a16="http://schemas.microsoft.com/office/drawing/2014/main" id="{6ECCC708-02CB-436D-94F3-C6938B08391F}"/>
                          </a:ext>
                        </a:extLst>
                      </p:cNvPr>
                      <p:cNvPicPr>
                        <a:picLocks noChangeAspect="1" noChangeArrowheads="1"/>
                      </p:cNvPicPr>
                      <p:nvPr/>
                    </p:nvPicPr>
                    <p:blipFill>
                      <a:blip r:embed="rId6">
                        <a:biLevel thresh="50000"/>
                        <a:grayscl/>
                      </a:blip>
                      <a:srcRect/>
                      <a:stretch>
                        <a:fillRect/>
                      </a:stretch>
                    </p:blipFill>
                    <p:spPr bwMode="auto">
                      <a:xfrm>
                        <a:off x="6617530" y="934192"/>
                        <a:ext cx="3652018" cy="990685"/>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197097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xEl>
                                              <p:pRg st="1" end="1"/>
                                            </p:txEl>
                                          </p:spTgt>
                                        </p:tgtEl>
                                        <p:attrNameLst>
                                          <p:attrName>style.visibility</p:attrName>
                                        </p:attrNameLst>
                                      </p:cBhvr>
                                      <p:to>
                                        <p:strVal val="visible"/>
                                      </p:to>
                                    </p:set>
                                    <p:animEffect transition="in" filter="fade">
                                      <p:cBhvr>
                                        <p:cTn id="7" dur="500"/>
                                        <p:tgtEl>
                                          <p:spTgt spid="2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
                                            <p:txEl>
                                              <p:pRg st="2" end="2"/>
                                            </p:txEl>
                                          </p:spTgt>
                                        </p:tgtEl>
                                        <p:attrNameLst>
                                          <p:attrName>style.visibility</p:attrName>
                                        </p:attrNameLst>
                                      </p:cBhvr>
                                      <p:to>
                                        <p:strVal val="visible"/>
                                      </p:to>
                                    </p:set>
                                    <p:animEffect transition="in" filter="fade">
                                      <p:cBhvr>
                                        <p:cTn id="12" dur="500"/>
                                        <p:tgtEl>
                                          <p:spTgt spid="2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3">
                                            <p:txEl>
                                              <p:pRg st="1" end="1"/>
                                            </p:txEl>
                                          </p:spTgt>
                                        </p:tgtEl>
                                        <p:attrNameLst>
                                          <p:attrName>style.visibility</p:attrName>
                                        </p:attrNameLst>
                                      </p:cBhvr>
                                      <p:to>
                                        <p:strVal val="visible"/>
                                      </p:to>
                                    </p:set>
                                    <p:animEffect transition="in" filter="fade">
                                      <p:cBhvr>
                                        <p:cTn id="17" dur="500"/>
                                        <p:tgtEl>
                                          <p:spTgt spid="2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3">
                                            <p:txEl>
                                              <p:pRg st="2" end="2"/>
                                            </p:txEl>
                                          </p:spTgt>
                                        </p:tgtEl>
                                        <p:attrNameLst>
                                          <p:attrName>style.visibility</p:attrName>
                                        </p:attrNameLst>
                                      </p:cBhvr>
                                      <p:to>
                                        <p:strVal val="visible"/>
                                      </p:to>
                                    </p:set>
                                    <p:animEffect transition="in" filter="fade">
                                      <p:cBhvr>
                                        <p:cTn id="22" dur="500"/>
                                        <p:tgtEl>
                                          <p:spTgt spid="2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4">
                                            <p:txEl>
                                              <p:pRg st="1" end="1"/>
                                            </p:txEl>
                                          </p:spTgt>
                                        </p:tgtEl>
                                        <p:attrNameLst>
                                          <p:attrName>style.visibility</p:attrName>
                                        </p:attrNameLst>
                                      </p:cBhvr>
                                      <p:to>
                                        <p:strVal val="visible"/>
                                      </p:to>
                                    </p:set>
                                    <p:animEffect transition="in" filter="fade">
                                      <p:cBhvr>
                                        <p:cTn id="27" dur="500"/>
                                        <p:tgtEl>
                                          <p:spTgt spid="24">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4">
                                            <p:txEl>
                                              <p:pRg st="2" end="2"/>
                                            </p:txEl>
                                          </p:spTgt>
                                        </p:tgtEl>
                                        <p:attrNameLst>
                                          <p:attrName>style.visibility</p:attrName>
                                        </p:attrNameLst>
                                      </p:cBhvr>
                                      <p:to>
                                        <p:strVal val="visible"/>
                                      </p:to>
                                    </p:set>
                                    <p:animEffect transition="in" filter="fade">
                                      <p:cBhvr>
                                        <p:cTn id="32" dur="500"/>
                                        <p:tgtEl>
                                          <p:spTgt spid="2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uiExpand="1" build="p"/>
      <p:bldP spid="23" grpId="0" uiExpand="1" build="p"/>
      <p:bldP spid="24"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600" dirty="0">
                <a:solidFill>
                  <a:prstClr val="black"/>
                </a:solidFill>
                <a:latin typeface="华文楷体" panose="02010600040101010101" pitchFamily="2" charset="-122"/>
                <a:ea typeface="华文楷体" panose="02010600040101010101" pitchFamily="2" charset="-122"/>
              </a:rPr>
              <a:t>浮点数表示（理解）</a:t>
            </a:r>
            <a:endParaRPr kumimoji="0" lang="en-US" altLang="zh-CN" sz="3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endParaRPr>
          </a:p>
        </p:txBody>
      </p:sp>
      <p:pic>
        <p:nvPicPr>
          <p:cNvPr id="8" name="图片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19441" y="6219825"/>
            <a:ext cx="536892" cy="542925"/>
          </a:xfrm>
          <a:prstGeom prst="rect">
            <a:avLst/>
          </a:prstGeom>
        </p:spPr>
      </p:pic>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59" name="Text Box 29">
            <a:extLst>
              <a:ext uri="{FF2B5EF4-FFF2-40B4-BE49-F238E27FC236}">
                <a16:creationId xmlns:a16="http://schemas.microsoft.com/office/drawing/2014/main" id="{A4D331F5-89C0-4AB1-B061-7FF8FB95C824}"/>
              </a:ext>
            </a:extLst>
          </p:cNvPr>
          <p:cNvSpPr txBox="1">
            <a:spLocks noChangeArrowheads="1"/>
          </p:cNvSpPr>
          <p:nvPr/>
        </p:nvSpPr>
        <p:spPr bwMode="auto">
          <a:xfrm>
            <a:off x="1381745" y="1032843"/>
            <a:ext cx="10421565" cy="1343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square" lIns="73125" tIns="38025" rIns="73125" bIns="73125"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dirty="0">
                <a:latin typeface="华文仿宋" panose="02010600040101010101" pitchFamily="2" charset="-122"/>
                <a:ea typeface="华文仿宋" panose="02010600040101010101" pitchFamily="2" charset="-122"/>
              </a:rPr>
              <a:t>假定：用</a:t>
            </a:r>
            <a:r>
              <a:rPr lang="en-US" altLang="zh-CN" sz="2000" b="1" u="sng" dirty="0">
                <a:latin typeface="华文仿宋" panose="02010600040101010101" pitchFamily="2" charset="-122"/>
                <a:ea typeface="华文仿宋" panose="02010600040101010101" pitchFamily="2" charset="-122"/>
              </a:rPr>
              <a:t>32</a:t>
            </a:r>
            <a:r>
              <a:rPr lang="zh-CN" altLang="en-US" sz="2000" b="1" u="sng" dirty="0">
                <a:latin typeface="华文仿宋" panose="02010600040101010101" pitchFamily="2" charset="-122"/>
                <a:ea typeface="华文仿宋" panose="02010600040101010101" pitchFamily="2" charset="-122"/>
              </a:rPr>
              <a:t>位</a:t>
            </a:r>
            <a:r>
              <a:rPr lang="zh-CN" altLang="en-US" sz="2000" b="1" dirty="0">
                <a:latin typeface="华文仿宋" panose="02010600040101010101" pitchFamily="2" charset="-122"/>
                <a:ea typeface="华文仿宋" panose="02010600040101010101" pitchFamily="2" charset="-122"/>
              </a:rPr>
              <a:t>二进制来存储一个浮点数 </a:t>
            </a:r>
            <a:endParaRPr lang="zh-CN" altLang="en-US" sz="2000" dirty="0">
              <a:latin typeface="华文仿宋" panose="02010600040101010101" pitchFamily="2" charset="-122"/>
              <a:ea typeface="华文仿宋" panose="02010600040101010101" pitchFamily="2" charset="-122"/>
            </a:endParaRPr>
          </a:p>
          <a:p>
            <a:pPr eaLnBrk="1" hangingPunct="1"/>
            <a:r>
              <a:rPr lang="zh-CN" altLang="en-US" sz="2000" b="1" dirty="0">
                <a:latin typeface="华文仿宋" panose="02010600040101010101" pitchFamily="2" charset="-122"/>
                <a:ea typeface="华文仿宋" panose="02010600040101010101" pitchFamily="2" charset="-122"/>
              </a:rPr>
              <a:t>其中：</a:t>
            </a:r>
            <a:r>
              <a:rPr lang="en-US" altLang="zh-CN" sz="2000" b="1" dirty="0">
                <a:solidFill>
                  <a:srgbClr val="FF0000"/>
                </a:solidFill>
                <a:latin typeface="华文仿宋" panose="02010600040101010101" pitchFamily="2" charset="-122"/>
                <a:ea typeface="华文仿宋" panose="02010600040101010101" pitchFamily="2" charset="-122"/>
              </a:rPr>
              <a:t>1</a:t>
            </a:r>
            <a:r>
              <a:rPr lang="zh-CN" altLang="en-US" sz="2000" b="1" dirty="0">
                <a:solidFill>
                  <a:srgbClr val="FF0000"/>
                </a:solidFill>
                <a:latin typeface="华文仿宋" panose="02010600040101010101" pitchFamily="2" charset="-122"/>
                <a:ea typeface="华文仿宋" panose="02010600040101010101" pitchFamily="2" charset="-122"/>
              </a:rPr>
              <a:t>位阶符，</a:t>
            </a:r>
            <a:r>
              <a:rPr lang="en-US" altLang="zh-CN" sz="2000" b="1" dirty="0">
                <a:solidFill>
                  <a:srgbClr val="FF0000"/>
                </a:solidFill>
                <a:latin typeface="华文仿宋" panose="02010600040101010101" pitchFamily="2" charset="-122"/>
                <a:ea typeface="华文仿宋" panose="02010600040101010101" pitchFamily="2" charset="-122"/>
              </a:rPr>
              <a:t>8</a:t>
            </a:r>
            <a:r>
              <a:rPr lang="zh-CN" altLang="en-US" sz="2000" b="1" dirty="0">
                <a:solidFill>
                  <a:srgbClr val="FF0000"/>
                </a:solidFill>
                <a:latin typeface="华文仿宋" panose="02010600040101010101" pitchFamily="2" charset="-122"/>
                <a:ea typeface="华文仿宋" panose="02010600040101010101" pitchFamily="2" charset="-122"/>
              </a:rPr>
              <a:t>位作阶，</a:t>
            </a:r>
            <a:r>
              <a:rPr lang="en-US" altLang="zh-CN" sz="2000" b="1" dirty="0">
                <a:solidFill>
                  <a:srgbClr val="FF0000"/>
                </a:solidFill>
                <a:latin typeface="华文仿宋" panose="02010600040101010101" pitchFamily="2" charset="-122"/>
                <a:ea typeface="华文仿宋" panose="02010600040101010101" pitchFamily="2" charset="-122"/>
              </a:rPr>
              <a:t>23</a:t>
            </a:r>
            <a:r>
              <a:rPr lang="zh-CN" altLang="en-US" sz="2000" b="1" dirty="0">
                <a:solidFill>
                  <a:srgbClr val="FF0000"/>
                </a:solidFill>
                <a:latin typeface="华文仿宋" panose="02010600040101010101" pitchFamily="2" charset="-122"/>
                <a:ea typeface="华文仿宋" panose="02010600040101010101" pitchFamily="2" charset="-122"/>
              </a:rPr>
              <a:t>位作尾数（含</a:t>
            </a:r>
            <a:r>
              <a:rPr lang="en-US" altLang="zh-CN" sz="2000" b="1" dirty="0">
                <a:solidFill>
                  <a:srgbClr val="FF0000"/>
                </a:solidFill>
                <a:latin typeface="华文仿宋" panose="02010600040101010101" pitchFamily="2" charset="-122"/>
                <a:ea typeface="华文仿宋" panose="02010600040101010101" pitchFamily="2" charset="-122"/>
              </a:rPr>
              <a:t>1</a:t>
            </a:r>
            <a:r>
              <a:rPr lang="zh-CN" altLang="en-US" sz="2000" b="1" dirty="0">
                <a:solidFill>
                  <a:srgbClr val="FF0000"/>
                </a:solidFill>
                <a:latin typeface="华文仿宋" panose="02010600040101010101" pitchFamily="2" charset="-122"/>
                <a:ea typeface="华文仿宋" panose="02010600040101010101" pitchFamily="2" charset="-122"/>
              </a:rPr>
              <a:t>数符位） </a:t>
            </a:r>
            <a:endParaRPr lang="zh-CN" altLang="en-US" sz="2000" dirty="0">
              <a:solidFill>
                <a:srgbClr val="FF0000"/>
              </a:solidFill>
              <a:latin typeface="华文仿宋" panose="02010600040101010101" pitchFamily="2" charset="-122"/>
              <a:ea typeface="华文仿宋" panose="02010600040101010101" pitchFamily="2" charset="-122"/>
            </a:endParaRPr>
          </a:p>
          <a:p>
            <a:pPr eaLnBrk="1" hangingPunct="1"/>
            <a:r>
              <a:rPr lang="zh-CN" altLang="en-US" sz="2000" b="1" dirty="0">
                <a:latin typeface="华文仿宋" panose="02010600040101010101" pitchFamily="2" charset="-122"/>
                <a:ea typeface="华文仿宋" panose="02010600040101010101" pitchFamily="2" charset="-122"/>
              </a:rPr>
              <a:t>    问：能表示的</a:t>
            </a:r>
            <a:r>
              <a:rPr lang="zh-CN" altLang="en-US" sz="2000" b="1" u="sng" dirty="0">
                <a:latin typeface="华文仿宋" panose="02010600040101010101" pitchFamily="2" charset="-122"/>
                <a:ea typeface="华文仿宋" panose="02010600040101010101" pitchFamily="2" charset="-122"/>
              </a:rPr>
              <a:t>最大的数</a:t>
            </a:r>
            <a:r>
              <a:rPr lang="zh-CN" altLang="en-US" sz="2000" b="1" dirty="0">
                <a:latin typeface="华文仿宋" panose="02010600040101010101" pitchFamily="2" charset="-122"/>
                <a:ea typeface="华文仿宋" panose="02010600040101010101" pitchFamily="2" charset="-122"/>
              </a:rPr>
              <a:t>是多少</a:t>
            </a:r>
            <a:r>
              <a:rPr lang="en-US" altLang="zh-CN" sz="2000" b="1" dirty="0">
                <a:latin typeface="华文仿宋" panose="02010600040101010101" pitchFamily="2" charset="-122"/>
                <a:ea typeface="华文仿宋" panose="02010600040101010101" pitchFamily="2" charset="-122"/>
              </a:rPr>
              <a:t>?</a:t>
            </a:r>
            <a:endParaRPr lang="zh-CN" altLang="en-US" sz="2000" b="1" dirty="0">
              <a:latin typeface="华文仿宋" panose="02010600040101010101" pitchFamily="2" charset="-122"/>
              <a:ea typeface="华文仿宋" panose="02010600040101010101" pitchFamily="2" charset="-122"/>
            </a:endParaRPr>
          </a:p>
          <a:p>
            <a:pPr eaLnBrk="1" hangingPunct="1"/>
            <a:r>
              <a:rPr lang="zh-CN" altLang="en-US" sz="2000" b="1" dirty="0">
                <a:latin typeface="华文仿宋" panose="02010600040101010101" pitchFamily="2" charset="-122"/>
                <a:ea typeface="华文仿宋" panose="02010600040101010101" pitchFamily="2" charset="-122"/>
              </a:rPr>
              <a:t>            能表示的</a:t>
            </a:r>
            <a:r>
              <a:rPr lang="zh-CN" altLang="en-US" sz="2000" b="1" u="sng" dirty="0">
                <a:latin typeface="华文仿宋" panose="02010600040101010101" pitchFamily="2" charset="-122"/>
                <a:ea typeface="华文仿宋" panose="02010600040101010101" pitchFamily="2" charset="-122"/>
              </a:rPr>
              <a:t>最小的数</a:t>
            </a:r>
            <a:r>
              <a:rPr lang="zh-CN" altLang="en-US" sz="2000" b="1" dirty="0">
                <a:latin typeface="华文仿宋" panose="02010600040101010101" pitchFamily="2" charset="-122"/>
                <a:ea typeface="华文仿宋" panose="02010600040101010101" pitchFamily="2" charset="-122"/>
              </a:rPr>
              <a:t>又是多少</a:t>
            </a:r>
            <a:r>
              <a:rPr lang="en-US" altLang="zh-CN" sz="2000" b="1" dirty="0">
                <a:latin typeface="华文仿宋" panose="02010600040101010101" pitchFamily="2" charset="-122"/>
                <a:ea typeface="华文仿宋" panose="02010600040101010101" pitchFamily="2" charset="-122"/>
              </a:rPr>
              <a:t>?</a:t>
            </a:r>
            <a:endParaRPr lang="zh-CN" altLang="en-US" sz="2000" dirty="0">
              <a:latin typeface="华文仿宋" panose="02010600040101010101" pitchFamily="2" charset="-122"/>
              <a:ea typeface="华文仿宋" panose="02010600040101010101" pitchFamily="2" charset="-122"/>
            </a:endParaRPr>
          </a:p>
        </p:txBody>
      </p:sp>
      <p:grpSp>
        <p:nvGrpSpPr>
          <p:cNvPr id="60" name="Group 19">
            <a:extLst>
              <a:ext uri="{FF2B5EF4-FFF2-40B4-BE49-F238E27FC236}">
                <a16:creationId xmlns:a16="http://schemas.microsoft.com/office/drawing/2014/main" id="{B63FB7A2-240F-4201-826E-B658F414FDAB}"/>
              </a:ext>
            </a:extLst>
          </p:cNvPr>
          <p:cNvGrpSpPr/>
          <p:nvPr/>
        </p:nvGrpSpPr>
        <p:grpSpPr bwMode="auto">
          <a:xfrm>
            <a:off x="1131713" y="2376386"/>
            <a:ext cx="5582444" cy="899021"/>
            <a:chOff x="357" y="687"/>
            <a:chExt cx="4328" cy="697"/>
          </a:xfrm>
        </p:grpSpPr>
        <p:sp>
          <p:nvSpPr>
            <p:cNvPr id="61" name="Text Box 20">
              <a:extLst>
                <a:ext uri="{FF2B5EF4-FFF2-40B4-BE49-F238E27FC236}">
                  <a16:creationId xmlns:a16="http://schemas.microsoft.com/office/drawing/2014/main" id="{5A3FB18F-9D2C-4593-975B-779F3A445A83}"/>
                </a:ext>
              </a:extLst>
            </p:cNvPr>
            <p:cNvSpPr txBox="1">
              <a:spLocks noChangeArrowheads="1"/>
            </p:cNvSpPr>
            <p:nvPr/>
          </p:nvSpPr>
          <p:spPr bwMode="auto">
            <a:xfrm>
              <a:off x="357" y="687"/>
              <a:ext cx="4328" cy="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73125" tIns="38025" rIns="73125" bIns="73125"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dirty="0">
                  <a:latin typeface="华文仿宋" panose="02010600040101010101" pitchFamily="2" charset="-122"/>
                  <a:ea typeface="华文仿宋" panose="02010600040101010101" pitchFamily="2" charset="-122"/>
                </a:rPr>
                <a:t>    当</a:t>
              </a:r>
              <a:r>
                <a:rPr lang="zh-CN" altLang="en-US" sz="2000" b="1" dirty="0">
                  <a:solidFill>
                    <a:srgbClr val="FF0000"/>
                  </a:solidFill>
                  <a:latin typeface="华文仿宋" panose="02010600040101010101" pitchFamily="2" charset="-122"/>
                  <a:ea typeface="华文仿宋" panose="02010600040101010101" pitchFamily="2" charset="-122"/>
                </a:rPr>
                <a:t>阶的符号位为 </a:t>
              </a:r>
              <a:r>
                <a:rPr lang="en-US" altLang="zh-CN" sz="2000" b="1" dirty="0">
                  <a:solidFill>
                    <a:srgbClr val="FF0000"/>
                  </a:solidFill>
                  <a:latin typeface="华文仿宋" panose="02010600040101010101" pitchFamily="2" charset="-122"/>
                  <a:ea typeface="华文仿宋" panose="02010600040101010101" pitchFamily="2" charset="-122"/>
                </a:rPr>
                <a:t>0</a:t>
              </a:r>
              <a:r>
                <a:rPr lang="zh-CN" altLang="en-US" sz="2000" b="1" dirty="0">
                  <a:solidFill>
                    <a:srgbClr val="FF0000"/>
                  </a:solidFill>
                  <a:latin typeface="华文仿宋" panose="02010600040101010101" pitchFamily="2" charset="-122"/>
                  <a:ea typeface="华文仿宋" panose="02010600040101010101" pitchFamily="2" charset="-122"/>
                </a:rPr>
                <a:t>，阶码位全为 </a:t>
              </a:r>
              <a:r>
                <a:rPr lang="en-US" altLang="zh-CN" sz="2000" b="1" dirty="0">
                  <a:solidFill>
                    <a:srgbClr val="FF0000"/>
                  </a:solidFill>
                  <a:latin typeface="华文仿宋" panose="02010600040101010101" pitchFamily="2" charset="-122"/>
                  <a:ea typeface="华文仿宋" panose="02010600040101010101" pitchFamily="2" charset="-122"/>
                </a:rPr>
                <a:t>1 </a:t>
              </a:r>
              <a:endParaRPr lang="en-US" altLang="zh-CN" sz="2000" dirty="0">
                <a:solidFill>
                  <a:srgbClr val="FF0000"/>
                </a:solidFill>
                <a:latin typeface="华文仿宋" panose="02010600040101010101" pitchFamily="2" charset="-122"/>
                <a:ea typeface="华文仿宋" panose="02010600040101010101" pitchFamily="2" charset="-122"/>
              </a:endParaRPr>
            </a:p>
            <a:p>
              <a:pPr eaLnBrk="1" hangingPunct="1"/>
              <a:r>
                <a:rPr lang="en-US" altLang="zh-CN" sz="2000" b="1" dirty="0">
                  <a:latin typeface="华文仿宋" panose="02010600040101010101" pitchFamily="2" charset="-122"/>
                  <a:ea typeface="华文仿宋" panose="02010600040101010101" pitchFamily="2" charset="-122"/>
                </a:rPr>
                <a:t>    </a:t>
              </a:r>
              <a:r>
                <a:rPr lang="zh-CN" altLang="en-US" sz="2000" b="1" dirty="0">
                  <a:solidFill>
                    <a:srgbClr val="B928BD"/>
                  </a:solidFill>
                  <a:latin typeface="华文仿宋" panose="02010600040101010101" pitchFamily="2" charset="-122"/>
                  <a:ea typeface="华文仿宋" panose="02010600040101010101" pitchFamily="2" charset="-122"/>
                </a:rPr>
                <a:t>数符位为</a:t>
              </a:r>
              <a:r>
                <a:rPr lang="en-US" altLang="zh-CN" sz="2000" b="1" dirty="0">
                  <a:solidFill>
                    <a:srgbClr val="B928BD"/>
                  </a:solidFill>
                  <a:latin typeface="华文仿宋" panose="02010600040101010101" pitchFamily="2" charset="-122"/>
                  <a:ea typeface="华文仿宋" panose="02010600040101010101" pitchFamily="2" charset="-122"/>
                </a:rPr>
                <a:t>0</a:t>
              </a:r>
              <a:r>
                <a:rPr lang="zh-CN" altLang="en-US" sz="2000" b="1" dirty="0">
                  <a:solidFill>
                    <a:srgbClr val="B928BD"/>
                  </a:solidFill>
                  <a:latin typeface="华文仿宋" panose="02010600040101010101" pitchFamily="2" charset="-122"/>
                  <a:ea typeface="华文仿宋" panose="02010600040101010101" pitchFamily="2" charset="-122"/>
                </a:rPr>
                <a:t>，其余尾数位为 </a:t>
              </a:r>
              <a:r>
                <a:rPr lang="en-US" altLang="zh-CN" sz="2000" b="1" dirty="0">
                  <a:solidFill>
                    <a:srgbClr val="B928BD"/>
                  </a:solidFill>
                  <a:latin typeface="华文仿宋" panose="02010600040101010101" pitchFamily="2" charset="-122"/>
                  <a:ea typeface="华文仿宋" panose="02010600040101010101" pitchFamily="2" charset="-122"/>
                </a:rPr>
                <a:t>1</a:t>
              </a:r>
              <a:r>
                <a:rPr lang="zh-CN" altLang="en-US" sz="2000" b="1" dirty="0">
                  <a:latin typeface="华文仿宋" panose="02010600040101010101" pitchFamily="2" charset="-122"/>
                  <a:ea typeface="华文仿宋" panose="02010600040101010101" pitchFamily="2" charset="-122"/>
                </a:rPr>
                <a:t>时，表示的数</a:t>
              </a:r>
              <a:r>
                <a:rPr lang="zh-CN" altLang="en-US" sz="2000" b="1" u="sng" dirty="0">
                  <a:latin typeface="华文仿宋" panose="02010600040101010101" pitchFamily="2" charset="-122"/>
                  <a:ea typeface="华文仿宋" panose="02010600040101010101" pitchFamily="2" charset="-122"/>
                </a:rPr>
                <a:t>最大</a:t>
              </a:r>
            </a:p>
          </p:txBody>
        </p:sp>
        <p:sp>
          <p:nvSpPr>
            <p:cNvPr id="62" name="Text Box 21">
              <a:extLst>
                <a:ext uri="{FF2B5EF4-FFF2-40B4-BE49-F238E27FC236}">
                  <a16:creationId xmlns:a16="http://schemas.microsoft.com/office/drawing/2014/main" id="{AA8BB75B-392D-49A8-9256-99B07FC85397}"/>
                </a:ext>
              </a:extLst>
            </p:cNvPr>
            <p:cNvSpPr txBox="1">
              <a:spLocks noChangeArrowheads="1"/>
            </p:cNvSpPr>
            <p:nvPr/>
          </p:nvSpPr>
          <p:spPr bwMode="auto">
            <a:xfrm>
              <a:off x="3939" y="963"/>
              <a:ext cx="115" cy="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73125" tIns="38025" rIns="73125" bIns="73125"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800" b="1" u="sng" dirty="0">
                <a:latin typeface="华文仿宋" panose="02010600040101010101" pitchFamily="2" charset="-122"/>
                <a:ea typeface="华文仿宋" panose="02010600040101010101" pitchFamily="2" charset="-122"/>
              </a:endParaRPr>
            </a:p>
          </p:txBody>
        </p:sp>
      </p:grpSp>
      <p:pic>
        <p:nvPicPr>
          <p:cNvPr id="3" name="图片 2">
            <a:extLst>
              <a:ext uri="{FF2B5EF4-FFF2-40B4-BE49-F238E27FC236}">
                <a16:creationId xmlns:a16="http://schemas.microsoft.com/office/drawing/2014/main" id="{3105737F-119E-44F7-8F7E-2211B7DC0E5A}"/>
              </a:ext>
            </a:extLst>
          </p:cNvPr>
          <p:cNvPicPr>
            <a:picLocks noChangeAspect="1"/>
          </p:cNvPicPr>
          <p:nvPr/>
        </p:nvPicPr>
        <p:blipFill>
          <a:blip r:embed="rId5"/>
          <a:stretch>
            <a:fillRect/>
          </a:stretch>
        </p:blipFill>
        <p:spPr>
          <a:xfrm>
            <a:off x="2115888" y="3306552"/>
            <a:ext cx="7960224" cy="2110555"/>
          </a:xfrm>
          <a:prstGeom prst="rect">
            <a:avLst/>
          </a:prstGeom>
        </p:spPr>
      </p:pic>
    </p:spTree>
    <p:extLst>
      <p:ext uri="{BB962C8B-B14F-4D97-AF65-F5344CB8AC3E}">
        <p14:creationId xmlns:p14="http://schemas.microsoft.com/office/powerpoint/2010/main" val="2573108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fade">
                                      <p:cBhvr>
                                        <p:cTn id="7"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600" dirty="0">
                <a:solidFill>
                  <a:prstClr val="black"/>
                </a:solidFill>
                <a:latin typeface="华文楷体" panose="02010600040101010101" pitchFamily="2" charset="-122"/>
                <a:ea typeface="华文楷体" panose="02010600040101010101" pitchFamily="2" charset="-122"/>
              </a:rPr>
              <a:t>第二章</a:t>
            </a:r>
            <a:endParaRPr kumimoji="0" lang="en-US" altLang="zh-CN" sz="3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endParaRPr>
          </a:p>
        </p:txBody>
      </p:sp>
      <p:pic>
        <p:nvPicPr>
          <p:cNvPr id="8" name="图片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19441" y="6219825"/>
            <a:ext cx="536892" cy="542925"/>
          </a:xfrm>
          <a:prstGeom prst="rect">
            <a:avLst/>
          </a:prstGeom>
        </p:spPr>
      </p:pic>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9" name="Rectangle 3">
            <a:extLst>
              <a:ext uri="{FF2B5EF4-FFF2-40B4-BE49-F238E27FC236}">
                <a16:creationId xmlns:a16="http://schemas.microsoft.com/office/drawing/2014/main" id="{4057CB14-5573-4DDF-9939-A4C3251FF805}"/>
              </a:ext>
            </a:extLst>
          </p:cNvPr>
          <p:cNvSpPr>
            <a:spLocks noChangeArrowheads="1"/>
          </p:cNvSpPr>
          <p:nvPr/>
        </p:nvSpPr>
        <p:spPr bwMode="auto">
          <a:xfrm>
            <a:off x="1198593" y="1183423"/>
            <a:ext cx="456086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b="1">
                <a:solidFill>
                  <a:schemeClr val="tx1"/>
                </a:solidFill>
                <a:latin typeface="Arial" panose="020B0604020202020204" pitchFamily="34" charset="0"/>
                <a:ea typeface="宋体" panose="02010600030101010101" pitchFamily="2" charset="-122"/>
              </a:defRPr>
            </a:lvl1pPr>
            <a:lvl2pPr marL="742950" indent="-285750" eaLnBrk="0" hangingPunct="0">
              <a:defRPr sz="1200" b="1">
                <a:solidFill>
                  <a:schemeClr val="tx1"/>
                </a:solidFill>
                <a:latin typeface="Arial" panose="020B0604020202020204" pitchFamily="34" charset="0"/>
                <a:ea typeface="宋体" panose="02010600030101010101" pitchFamily="2" charset="-122"/>
              </a:defRPr>
            </a:lvl2pPr>
            <a:lvl3pPr marL="1143000" indent="-228600" eaLnBrk="0" hangingPunct="0">
              <a:defRPr sz="1200" b="1">
                <a:solidFill>
                  <a:schemeClr val="tx1"/>
                </a:solidFill>
                <a:latin typeface="Arial" panose="020B0604020202020204" pitchFamily="34" charset="0"/>
                <a:ea typeface="宋体" panose="02010600030101010101" pitchFamily="2" charset="-122"/>
              </a:defRPr>
            </a:lvl3pPr>
            <a:lvl4pPr marL="1600200" indent="-228600" eaLnBrk="0" hangingPunct="0">
              <a:defRPr sz="1200" b="1">
                <a:solidFill>
                  <a:schemeClr val="tx1"/>
                </a:solidFill>
                <a:latin typeface="Arial" panose="020B0604020202020204" pitchFamily="34" charset="0"/>
                <a:ea typeface="宋体" panose="02010600030101010101" pitchFamily="2" charset="-122"/>
              </a:defRPr>
            </a:lvl4pPr>
            <a:lvl5pPr marL="2057400" indent="-228600" eaLnBrk="0" hangingPunct="0">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9pPr>
          </a:lstStyle>
          <a:p>
            <a:pPr eaLnBrk="1" hangingPunct="1"/>
            <a:r>
              <a:rPr lang="zh-CN" altLang="en-US" sz="3200" dirty="0">
                <a:solidFill>
                  <a:srgbClr val="FF0000"/>
                </a:solidFill>
                <a:latin typeface="微软雅黑" panose="020B0503020204020204" pitchFamily="34" charset="-122"/>
                <a:ea typeface="微软雅黑" panose="020B0503020204020204" pitchFamily="34" charset="-122"/>
              </a:rPr>
              <a:t>1.逻辑或（加，+，∪</a:t>
            </a:r>
            <a:r>
              <a:rPr lang="en-US" altLang="zh-CN" sz="3200" dirty="0">
                <a:solidFill>
                  <a:srgbClr val="FF0000"/>
                </a:solidFill>
                <a:latin typeface="微软雅黑" panose="020B0503020204020204" pitchFamily="34" charset="-122"/>
                <a:ea typeface="微软雅黑" panose="020B0503020204020204" pitchFamily="34" charset="-122"/>
              </a:rPr>
              <a:t>）</a:t>
            </a:r>
            <a:endParaRPr lang="zh-CN" altLang="en-US" sz="3200" dirty="0">
              <a:solidFill>
                <a:srgbClr val="FF0000"/>
              </a:solidFill>
              <a:latin typeface="微软雅黑" panose="020B0503020204020204" pitchFamily="34" charset="-122"/>
              <a:ea typeface="微软雅黑" panose="020B0503020204020204" pitchFamily="34" charset="-122"/>
            </a:endParaRPr>
          </a:p>
        </p:txBody>
      </p:sp>
      <p:sp>
        <p:nvSpPr>
          <p:cNvPr id="11" name="Rectangle 4">
            <a:extLst>
              <a:ext uri="{FF2B5EF4-FFF2-40B4-BE49-F238E27FC236}">
                <a16:creationId xmlns:a16="http://schemas.microsoft.com/office/drawing/2014/main" id="{13BCF2CD-7D11-4C9F-98EE-A8BA4E1C6AAD}"/>
              </a:ext>
            </a:extLst>
          </p:cNvPr>
          <p:cNvSpPr>
            <a:spLocks noChangeArrowheads="1"/>
          </p:cNvSpPr>
          <p:nvPr/>
        </p:nvSpPr>
        <p:spPr bwMode="auto">
          <a:xfrm>
            <a:off x="1430066" y="1881202"/>
            <a:ext cx="8731549" cy="1077218"/>
          </a:xfrm>
          <a:prstGeom prst="rect">
            <a:avLst/>
          </a:prstGeom>
          <a:noFill/>
          <a:ln w="38100">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sz="1200" b="1">
                <a:solidFill>
                  <a:schemeClr val="tx1"/>
                </a:solidFill>
                <a:latin typeface="Arial" panose="020B0604020202020204" pitchFamily="34" charset="0"/>
                <a:ea typeface="宋体" panose="02010600030101010101" pitchFamily="2" charset="-122"/>
              </a:defRPr>
            </a:lvl1pPr>
            <a:lvl2pPr marL="742950" indent="-285750" eaLnBrk="0" hangingPunct="0">
              <a:defRPr sz="1200" b="1">
                <a:solidFill>
                  <a:schemeClr val="tx1"/>
                </a:solidFill>
                <a:latin typeface="Arial" panose="020B0604020202020204" pitchFamily="34" charset="0"/>
                <a:ea typeface="宋体" panose="02010600030101010101" pitchFamily="2" charset="-122"/>
              </a:defRPr>
            </a:lvl2pPr>
            <a:lvl3pPr marL="1143000" indent="-228600" eaLnBrk="0" hangingPunct="0">
              <a:defRPr sz="1200" b="1">
                <a:solidFill>
                  <a:schemeClr val="tx1"/>
                </a:solidFill>
                <a:latin typeface="Arial" panose="020B0604020202020204" pitchFamily="34" charset="0"/>
                <a:ea typeface="宋体" panose="02010600030101010101" pitchFamily="2" charset="-122"/>
              </a:defRPr>
            </a:lvl3pPr>
            <a:lvl4pPr marL="1600200" indent="-228600" eaLnBrk="0" hangingPunct="0">
              <a:defRPr sz="1200" b="1">
                <a:solidFill>
                  <a:schemeClr val="tx1"/>
                </a:solidFill>
                <a:latin typeface="Arial" panose="020B0604020202020204" pitchFamily="34" charset="0"/>
                <a:ea typeface="宋体" panose="02010600030101010101" pitchFamily="2" charset="-122"/>
              </a:defRPr>
            </a:lvl4pPr>
            <a:lvl5pPr marL="2057400" indent="-228600" eaLnBrk="0" hangingPunct="0">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9pPr>
          </a:lstStyle>
          <a:p>
            <a:pPr marL="457200" indent="-457200" eaLnBrk="1" hangingPunct="1">
              <a:buFont typeface="Arial" panose="020B0604020202020204" pitchFamily="34" charset="0"/>
              <a:buChar char="•"/>
            </a:pPr>
            <a:r>
              <a:rPr lang="zh-CN" altLang="en-US" sz="3200" dirty="0">
                <a:latin typeface="华文仿宋" panose="02010600040101010101" pitchFamily="2" charset="-122"/>
                <a:ea typeface="华文仿宋" panose="02010600040101010101" pitchFamily="2" charset="-122"/>
              </a:rPr>
              <a:t>两个条件中只要有一个为真，结果就为真</a:t>
            </a:r>
            <a:endParaRPr lang="en-US" altLang="zh-CN" sz="3200" dirty="0">
              <a:latin typeface="华文仿宋" panose="02010600040101010101" pitchFamily="2" charset="-122"/>
              <a:ea typeface="华文仿宋" panose="02010600040101010101" pitchFamily="2" charset="-122"/>
            </a:endParaRPr>
          </a:p>
          <a:p>
            <a:pPr marL="457200" indent="-457200" eaLnBrk="1" hangingPunct="1">
              <a:buFont typeface="Arial" panose="020B0604020202020204" pitchFamily="34" charset="0"/>
              <a:buChar char="•"/>
            </a:pPr>
            <a:r>
              <a:rPr lang="zh-CN" altLang="en-US" sz="3200" dirty="0">
                <a:latin typeface="华文仿宋" panose="02010600040101010101" pitchFamily="2" charset="-122"/>
                <a:ea typeface="华文仿宋" panose="02010600040101010101" pitchFamily="2" charset="-122"/>
              </a:rPr>
              <a:t>运算规则：</a:t>
            </a:r>
            <a:endParaRPr lang="en-US" altLang="zh-CN" sz="3200" dirty="0">
              <a:latin typeface="华文仿宋" panose="02010600040101010101" pitchFamily="2" charset="-122"/>
              <a:ea typeface="华文仿宋" panose="02010600040101010101" pitchFamily="2" charset="-122"/>
            </a:endParaRPr>
          </a:p>
        </p:txBody>
      </p:sp>
      <p:sp>
        <p:nvSpPr>
          <p:cNvPr id="12" name="Text Box 16">
            <a:extLst>
              <a:ext uri="{FF2B5EF4-FFF2-40B4-BE49-F238E27FC236}">
                <a16:creationId xmlns:a16="http://schemas.microsoft.com/office/drawing/2014/main" id="{A6A1ED4C-DFA7-4E74-AB79-15657A255AE7}"/>
              </a:ext>
            </a:extLst>
          </p:cNvPr>
          <p:cNvSpPr txBox="1">
            <a:spLocks noChangeArrowheads="1"/>
          </p:cNvSpPr>
          <p:nvPr/>
        </p:nvSpPr>
        <p:spPr bwMode="auto">
          <a:xfrm>
            <a:off x="8630275" y="2430074"/>
            <a:ext cx="23844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ea typeface="宋体" panose="02010600030101010101" pitchFamily="2" charset="-122"/>
              </a:defRPr>
            </a:lvl1pPr>
            <a:lvl2pPr marL="742950" indent="-285750" eaLnBrk="0" hangingPunct="0">
              <a:defRPr sz="1200" b="1">
                <a:solidFill>
                  <a:schemeClr val="tx1"/>
                </a:solidFill>
                <a:latin typeface="Arial" panose="020B0604020202020204" pitchFamily="34" charset="0"/>
                <a:ea typeface="宋体" panose="02010600030101010101" pitchFamily="2" charset="-122"/>
              </a:defRPr>
            </a:lvl2pPr>
            <a:lvl3pPr marL="1143000" indent="-228600" eaLnBrk="0" hangingPunct="0">
              <a:defRPr sz="1200" b="1">
                <a:solidFill>
                  <a:schemeClr val="tx1"/>
                </a:solidFill>
                <a:latin typeface="Arial" panose="020B0604020202020204" pitchFamily="34" charset="0"/>
                <a:ea typeface="宋体" panose="02010600030101010101" pitchFamily="2" charset="-122"/>
              </a:defRPr>
            </a:lvl3pPr>
            <a:lvl4pPr marL="1600200" indent="-228600" eaLnBrk="0" hangingPunct="0">
              <a:defRPr sz="1200" b="1">
                <a:solidFill>
                  <a:schemeClr val="tx1"/>
                </a:solidFill>
                <a:latin typeface="Arial" panose="020B0604020202020204" pitchFamily="34" charset="0"/>
                <a:ea typeface="宋体" panose="02010600030101010101" pitchFamily="2" charset="-122"/>
              </a:defRPr>
            </a:lvl4pPr>
            <a:lvl5pPr marL="2057400" indent="-228600" eaLnBrk="0" hangingPunct="0">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9pPr>
          </a:lstStyle>
          <a:p>
            <a:pPr eaLnBrk="1" hangingPunct="1"/>
            <a:r>
              <a:rPr lang="zh-CN" altLang="en-US" sz="3600" dirty="0">
                <a:latin typeface="隶书" panose="02010509060101010101" pitchFamily="49" charset="-122"/>
                <a:ea typeface="隶书" panose="02010509060101010101" pitchFamily="49" charset="-122"/>
              </a:rPr>
              <a:t>真值表：</a:t>
            </a:r>
          </a:p>
        </p:txBody>
      </p:sp>
      <p:sp>
        <p:nvSpPr>
          <p:cNvPr id="13" name="Text Box 17">
            <a:extLst>
              <a:ext uri="{FF2B5EF4-FFF2-40B4-BE49-F238E27FC236}">
                <a16:creationId xmlns:a16="http://schemas.microsoft.com/office/drawing/2014/main" id="{910A1782-78A0-4B4B-8AEE-7403E4FFB481}"/>
              </a:ext>
            </a:extLst>
          </p:cNvPr>
          <p:cNvSpPr txBox="1">
            <a:spLocks noChangeArrowheads="1"/>
          </p:cNvSpPr>
          <p:nvPr/>
        </p:nvSpPr>
        <p:spPr bwMode="auto">
          <a:xfrm>
            <a:off x="8774291" y="3324050"/>
            <a:ext cx="1631950" cy="2062163"/>
          </a:xfrm>
          <a:prstGeom prst="rect">
            <a:avLst/>
          </a:prstGeom>
          <a:solidFill>
            <a:srgbClr val="FFFFCC"/>
          </a:solidFill>
          <a:ln w="38100">
            <a:solidFill>
              <a:schemeClr val="accent1"/>
            </a:solidFill>
            <a:miter lim="800000"/>
          </a:ln>
        </p:spPr>
        <p:txBody>
          <a:bodyPr wrap="none">
            <a:spAutoFit/>
          </a:bodyPr>
          <a:lstStyle>
            <a:lvl1pPr eaLnBrk="0" hangingPunct="0">
              <a:defRPr sz="1200" b="1">
                <a:solidFill>
                  <a:schemeClr val="tx1"/>
                </a:solidFill>
                <a:latin typeface="Arial" panose="020B0604020202020204" pitchFamily="34" charset="0"/>
                <a:ea typeface="宋体" panose="02010600030101010101" pitchFamily="2" charset="-122"/>
              </a:defRPr>
            </a:lvl1pPr>
            <a:lvl2pPr marL="742950" indent="-285750" eaLnBrk="0" hangingPunct="0">
              <a:defRPr sz="1200" b="1">
                <a:solidFill>
                  <a:schemeClr val="tx1"/>
                </a:solidFill>
                <a:latin typeface="Arial" panose="020B0604020202020204" pitchFamily="34" charset="0"/>
                <a:ea typeface="宋体" panose="02010600030101010101" pitchFamily="2" charset="-122"/>
              </a:defRPr>
            </a:lvl2pPr>
            <a:lvl3pPr marL="1143000" indent="-228600" eaLnBrk="0" hangingPunct="0">
              <a:defRPr sz="1200" b="1">
                <a:solidFill>
                  <a:schemeClr val="tx1"/>
                </a:solidFill>
                <a:latin typeface="Arial" panose="020B0604020202020204" pitchFamily="34" charset="0"/>
                <a:ea typeface="宋体" panose="02010600030101010101" pitchFamily="2" charset="-122"/>
              </a:defRPr>
            </a:lvl3pPr>
            <a:lvl4pPr marL="1600200" indent="-228600" eaLnBrk="0" hangingPunct="0">
              <a:defRPr sz="1200" b="1">
                <a:solidFill>
                  <a:schemeClr val="tx1"/>
                </a:solidFill>
                <a:latin typeface="Arial" panose="020B0604020202020204" pitchFamily="34" charset="0"/>
                <a:ea typeface="宋体" panose="02010600030101010101" pitchFamily="2" charset="-122"/>
              </a:defRPr>
            </a:lvl4pPr>
            <a:lvl5pPr marL="2057400" indent="-228600" eaLnBrk="0" hangingPunct="0">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9pPr>
          </a:lstStyle>
          <a:p>
            <a:pPr eaLnBrk="1" hangingPunct="1">
              <a:lnSpc>
                <a:spcPct val="80000"/>
              </a:lnSpc>
            </a:pPr>
            <a:r>
              <a:rPr lang="en-US" altLang="zh-CN" sz="3200" dirty="0">
                <a:solidFill>
                  <a:srgbClr val="663300"/>
                </a:solidFill>
                <a:latin typeface="宋体" panose="02010600030101010101" pitchFamily="2" charset="-122"/>
              </a:rPr>
              <a:t>A  B  C</a:t>
            </a:r>
            <a:endParaRPr lang="zh-CN" altLang="en-US" sz="3200" dirty="0">
              <a:solidFill>
                <a:srgbClr val="CD2711"/>
              </a:solidFill>
              <a:latin typeface="宋体" panose="02010600030101010101" pitchFamily="2" charset="-122"/>
            </a:endParaRPr>
          </a:p>
          <a:p>
            <a:pPr eaLnBrk="1" hangingPunct="1">
              <a:lnSpc>
                <a:spcPct val="80000"/>
              </a:lnSpc>
            </a:pPr>
            <a:r>
              <a:rPr lang="zh-CN" altLang="en-US" sz="3200" dirty="0">
                <a:solidFill>
                  <a:srgbClr val="CD2711"/>
                </a:solidFill>
                <a:latin typeface="宋体" panose="02010600030101010101" pitchFamily="2" charset="-122"/>
              </a:rPr>
              <a:t>0  0  </a:t>
            </a:r>
            <a:r>
              <a:rPr lang="zh-CN" altLang="en-US" sz="3200" dirty="0">
                <a:solidFill>
                  <a:srgbClr val="009900"/>
                </a:solidFill>
                <a:latin typeface="宋体" panose="02010600030101010101" pitchFamily="2" charset="-122"/>
              </a:rPr>
              <a:t>0</a:t>
            </a:r>
          </a:p>
          <a:p>
            <a:pPr eaLnBrk="1" hangingPunct="1">
              <a:lnSpc>
                <a:spcPct val="80000"/>
              </a:lnSpc>
            </a:pPr>
            <a:r>
              <a:rPr lang="zh-CN" altLang="en-US" sz="3200" dirty="0">
                <a:solidFill>
                  <a:srgbClr val="CD2711"/>
                </a:solidFill>
                <a:latin typeface="宋体" panose="02010600030101010101" pitchFamily="2" charset="-122"/>
              </a:rPr>
              <a:t>0  1  </a:t>
            </a:r>
            <a:r>
              <a:rPr lang="zh-CN" altLang="en-US" sz="3200" dirty="0">
                <a:solidFill>
                  <a:srgbClr val="009900"/>
                </a:solidFill>
                <a:latin typeface="宋体" panose="02010600030101010101" pitchFamily="2" charset="-122"/>
              </a:rPr>
              <a:t>1</a:t>
            </a:r>
            <a:endParaRPr lang="zh-CN" altLang="en-US" sz="3200" dirty="0">
              <a:solidFill>
                <a:srgbClr val="CD2711"/>
              </a:solidFill>
              <a:latin typeface="宋体" panose="02010600030101010101" pitchFamily="2" charset="-122"/>
            </a:endParaRPr>
          </a:p>
          <a:p>
            <a:pPr eaLnBrk="1" hangingPunct="1">
              <a:lnSpc>
                <a:spcPct val="80000"/>
              </a:lnSpc>
            </a:pPr>
            <a:r>
              <a:rPr lang="zh-CN" altLang="en-US" sz="3200" dirty="0">
                <a:solidFill>
                  <a:srgbClr val="CD2711"/>
                </a:solidFill>
                <a:latin typeface="宋体" panose="02010600030101010101" pitchFamily="2" charset="-122"/>
              </a:rPr>
              <a:t>1  0  </a:t>
            </a:r>
            <a:r>
              <a:rPr lang="zh-CN" altLang="en-US" sz="3200" dirty="0">
                <a:solidFill>
                  <a:srgbClr val="009900"/>
                </a:solidFill>
                <a:latin typeface="宋体" panose="02010600030101010101" pitchFamily="2" charset="-122"/>
              </a:rPr>
              <a:t>1</a:t>
            </a:r>
          </a:p>
          <a:p>
            <a:pPr eaLnBrk="1" hangingPunct="1">
              <a:lnSpc>
                <a:spcPct val="80000"/>
              </a:lnSpc>
            </a:pPr>
            <a:r>
              <a:rPr lang="zh-CN" altLang="en-US" sz="3200" dirty="0">
                <a:solidFill>
                  <a:srgbClr val="CD2711"/>
                </a:solidFill>
                <a:latin typeface="宋体" panose="02010600030101010101" pitchFamily="2" charset="-122"/>
              </a:rPr>
              <a:t>1  1  </a:t>
            </a:r>
            <a:r>
              <a:rPr lang="zh-CN" altLang="en-US" sz="3200" dirty="0">
                <a:solidFill>
                  <a:srgbClr val="009900"/>
                </a:solidFill>
                <a:latin typeface="宋体" panose="02010600030101010101" pitchFamily="2" charset="-122"/>
              </a:rPr>
              <a:t>1</a:t>
            </a:r>
            <a:endParaRPr lang="zh-CN" altLang="en-US" sz="3200" dirty="0">
              <a:solidFill>
                <a:srgbClr val="CD2711"/>
              </a:solidFill>
              <a:latin typeface="宋体" panose="02010600030101010101" pitchFamily="2" charset="-122"/>
            </a:endParaRPr>
          </a:p>
        </p:txBody>
      </p:sp>
      <p:sp>
        <p:nvSpPr>
          <p:cNvPr id="15" name="矩形 11">
            <a:extLst>
              <a:ext uri="{FF2B5EF4-FFF2-40B4-BE49-F238E27FC236}">
                <a16:creationId xmlns:a16="http://schemas.microsoft.com/office/drawing/2014/main" id="{FF004870-5860-4D75-9DDD-F7DEEF61D182}"/>
              </a:ext>
            </a:extLst>
          </p:cNvPr>
          <p:cNvSpPr>
            <a:spLocks noChangeArrowheads="1"/>
          </p:cNvSpPr>
          <p:nvPr/>
        </p:nvSpPr>
        <p:spPr bwMode="auto">
          <a:xfrm>
            <a:off x="4525819" y="2799780"/>
            <a:ext cx="3050817" cy="1569660"/>
          </a:xfrm>
          <a:prstGeom prst="rect">
            <a:avLst/>
          </a:prstGeom>
          <a:noFill/>
          <a:ln w="9525">
            <a:noFill/>
            <a:miter lim="800000"/>
          </a:ln>
        </p:spPr>
        <p:txBody>
          <a:bodyPr wrap="square">
            <a:spAutoFit/>
          </a:bodyPr>
          <a:lstStyle/>
          <a:p>
            <a:pPr eaLnBrk="1" hangingPunct="1"/>
            <a:r>
              <a:rPr lang="en-US" altLang="zh-CN" sz="3200" dirty="0"/>
              <a:t>0</a:t>
            </a:r>
            <a:r>
              <a:rPr lang="zh-CN" altLang="zh-CN" sz="3200" dirty="0"/>
              <a:t>＋</a:t>
            </a:r>
            <a:r>
              <a:rPr lang="en-US" altLang="zh-CN" sz="3200" dirty="0"/>
              <a:t>0=0</a:t>
            </a:r>
            <a:endParaRPr lang="zh-CN" altLang="zh-CN" sz="3200" dirty="0"/>
          </a:p>
          <a:p>
            <a:pPr eaLnBrk="1" hangingPunct="1"/>
            <a:r>
              <a:rPr lang="en-US" altLang="zh-CN" sz="3200" dirty="0"/>
              <a:t>0</a:t>
            </a:r>
            <a:r>
              <a:rPr lang="zh-CN" altLang="zh-CN" sz="3200" dirty="0"/>
              <a:t>＋</a:t>
            </a:r>
            <a:r>
              <a:rPr lang="en-US" altLang="zh-CN" sz="3200" dirty="0"/>
              <a:t>1=1</a:t>
            </a:r>
            <a:r>
              <a:rPr lang="zh-CN" altLang="zh-CN" sz="3200" dirty="0"/>
              <a:t>＋</a:t>
            </a:r>
            <a:r>
              <a:rPr lang="en-US" altLang="zh-CN" sz="3200" dirty="0"/>
              <a:t>0=1</a:t>
            </a:r>
            <a:endParaRPr lang="zh-CN" altLang="zh-CN" sz="3200" dirty="0"/>
          </a:p>
          <a:p>
            <a:pPr eaLnBrk="1" hangingPunct="1"/>
            <a:r>
              <a:rPr lang="en-US" altLang="zh-CN" sz="3200" dirty="0"/>
              <a:t>1</a:t>
            </a:r>
            <a:r>
              <a:rPr lang="zh-CN" altLang="zh-CN" sz="3200" dirty="0"/>
              <a:t>＋</a:t>
            </a:r>
            <a:r>
              <a:rPr lang="en-US" altLang="zh-CN" sz="3200" dirty="0"/>
              <a:t>1=1</a:t>
            </a:r>
            <a:endParaRPr lang="zh-CN" altLang="zh-CN" sz="3200" dirty="0"/>
          </a:p>
        </p:txBody>
      </p:sp>
      <p:sp>
        <p:nvSpPr>
          <p:cNvPr id="16" name="矩形 15">
            <a:extLst>
              <a:ext uri="{FF2B5EF4-FFF2-40B4-BE49-F238E27FC236}">
                <a16:creationId xmlns:a16="http://schemas.microsoft.com/office/drawing/2014/main" id="{DE0160D9-0D9E-41A9-944C-5EFC72381ACA}"/>
              </a:ext>
            </a:extLst>
          </p:cNvPr>
          <p:cNvSpPr/>
          <p:nvPr/>
        </p:nvSpPr>
        <p:spPr>
          <a:xfrm>
            <a:off x="1919591" y="4697159"/>
            <a:ext cx="5976664" cy="523220"/>
          </a:xfrm>
          <a:prstGeom prst="rect">
            <a:avLst/>
          </a:prstGeom>
        </p:spPr>
        <p:txBody>
          <a:bodyPr wrap="square">
            <a:spAutoFit/>
          </a:bodyPr>
          <a:lstStyle/>
          <a:p>
            <a:r>
              <a:rPr lang="zh-CN" altLang="zh-CN" sz="2800" b="1" dirty="0">
                <a:latin typeface="华文仿宋" panose="02010600040101010101" pitchFamily="2" charset="-122"/>
                <a:ea typeface="华文仿宋" panose="02010600040101010101" pitchFamily="2" charset="-122"/>
              </a:rPr>
              <a:t>可记作“</a:t>
            </a:r>
            <a:r>
              <a:rPr lang="en-US" altLang="zh-CN" sz="2800" b="1" dirty="0">
                <a:latin typeface="华文仿宋" panose="02010600040101010101" pitchFamily="2" charset="-122"/>
                <a:ea typeface="华文仿宋" panose="02010600040101010101" pitchFamily="2" charset="-122"/>
              </a:rPr>
              <a:t>A+B</a:t>
            </a:r>
            <a:r>
              <a:rPr lang="zh-CN" altLang="zh-CN" sz="2800" b="1" dirty="0">
                <a:latin typeface="华文仿宋" panose="02010600040101010101" pitchFamily="2" charset="-122"/>
                <a:ea typeface="华文仿宋" panose="02010600040101010101" pitchFamily="2" charset="-122"/>
              </a:rPr>
              <a:t>”，读作“</a:t>
            </a:r>
            <a:r>
              <a:rPr lang="en-US" altLang="zh-CN" sz="2800" b="1" dirty="0">
                <a:latin typeface="华文仿宋" panose="02010600040101010101" pitchFamily="2" charset="-122"/>
                <a:ea typeface="华文仿宋" panose="02010600040101010101" pitchFamily="2" charset="-122"/>
              </a:rPr>
              <a:t>A</a:t>
            </a:r>
            <a:r>
              <a:rPr lang="zh-CN" altLang="zh-CN" sz="2800" b="1" dirty="0">
                <a:latin typeface="华文仿宋" panose="02010600040101010101" pitchFamily="2" charset="-122"/>
                <a:ea typeface="华文仿宋" panose="02010600040101010101" pitchFamily="2" charset="-122"/>
              </a:rPr>
              <a:t>或</a:t>
            </a:r>
            <a:r>
              <a:rPr lang="en-US" altLang="zh-CN" sz="2800" b="1" dirty="0">
                <a:latin typeface="华文仿宋" panose="02010600040101010101" pitchFamily="2" charset="-122"/>
                <a:ea typeface="华文仿宋" panose="02010600040101010101" pitchFamily="2" charset="-122"/>
              </a:rPr>
              <a:t>B</a:t>
            </a:r>
            <a:r>
              <a:rPr lang="zh-CN" altLang="zh-CN" sz="2800" b="1" dirty="0">
                <a:latin typeface="华文仿宋" panose="02010600040101010101" pitchFamily="2" charset="-122"/>
                <a:ea typeface="华文仿宋" panose="02010600040101010101" pitchFamily="2" charset="-122"/>
              </a:rPr>
              <a:t>”</a:t>
            </a:r>
            <a:endParaRPr lang="zh-CN" altLang="en-US" sz="2800" b="1" dirty="0">
              <a:latin typeface="华文仿宋" panose="02010600040101010101" pitchFamily="2" charset="-122"/>
              <a:ea typeface="华文仿宋" panose="02010600040101010101" pitchFamily="2" charset="-122"/>
            </a:endParaRPr>
          </a:p>
        </p:txBody>
      </p:sp>
    </p:spTree>
    <p:extLst>
      <p:ext uri="{BB962C8B-B14F-4D97-AF65-F5344CB8AC3E}">
        <p14:creationId xmlns:p14="http://schemas.microsoft.com/office/powerpoint/2010/main" val="1462160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600" dirty="0">
                <a:solidFill>
                  <a:prstClr val="black"/>
                </a:solidFill>
                <a:latin typeface="华文楷体" panose="02010600040101010101" pitchFamily="2" charset="-122"/>
                <a:ea typeface="华文楷体" panose="02010600040101010101" pitchFamily="2" charset="-122"/>
              </a:rPr>
              <a:t>第二章</a:t>
            </a:r>
            <a:endParaRPr kumimoji="0" lang="en-US" altLang="zh-CN" sz="3600" b="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endParaRPr>
          </a:p>
        </p:txBody>
      </p:sp>
      <p:pic>
        <p:nvPicPr>
          <p:cNvPr id="8" name="图片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19441" y="6219825"/>
            <a:ext cx="536892" cy="542925"/>
          </a:xfrm>
          <a:prstGeom prst="rect">
            <a:avLst/>
          </a:prstGeom>
        </p:spPr>
      </p:pic>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9" name="Rectangle 3">
            <a:extLst>
              <a:ext uri="{FF2B5EF4-FFF2-40B4-BE49-F238E27FC236}">
                <a16:creationId xmlns:a16="http://schemas.microsoft.com/office/drawing/2014/main" id="{90667032-D6F2-414B-93A5-142C7FCB355E}"/>
              </a:ext>
            </a:extLst>
          </p:cNvPr>
          <p:cNvSpPr>
            <a:spLocks noChangeArrowheads="1"/>
          </p:cNvSpPr>
          <p:nvPr/>
        </p:nvSpPr>
        <p:spPr bwMode="auto">
          <a:xfrm>
            <a:off x="1136762" y="1122565"/>
            <a:ext cx="52197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ea typeface="宋体" panose="02010600030101010101" pitchFamily="2" charset="-122"/>
              </a:defRPr>
            </a:lvl1pPr>
            <a:lvl2pPr marL="742950" indent="-285750" eaLnBrk="0" hangingPunct="0">
              <a:defRPr sz="1200" b="1">
                <a:solidFill>
                  <a:schemeClr val="tx1"/>
                </a:solidFill>
                <a:latin typeface="Arial" panose="020B0604020202020204" pitchFamily="34" charset="0"/>
                <a:ea typeface="宋体" panose="02010600030101010101" pitchFamily="2" charset="-122"/>
              </a:defRPr>
            </a:lvl2pPr>
            <a:lvl3pPr marL="1143000" indent="-228600" eaLnBrk="0" hangingPunct="0">
              <a:defRPr sz="1200" b="1">
                <a:solidFill>
                  <a:schemeClr val="tx1"/>
                </a:solidFill>
                <a:latin typeface="Arial" panose="020B0604020202020204" pitchFamily="34" charset="0"/>
                <a:ea typeface="宋体" panose="02010600030101010101" pitchFamily="2" charset="-122"/>
              </a:defRPr>
            </a:lvl3pPr>
            <a:lvl4pPr marL="1600200" indent="-228600" eaLnBrk="0" hangingPunct="0">
              <a:defRPr sz="1200" b="1">
                <a:solidFill>
                  <a:schemeClr val="tx1"/>
                </a:solidFill>
                <a:latin typeface="Arial" panose="020B0604020202020204" pitchFamily="34" charset="0"/>
                <a:ea typeface="宋体" panose="02010600030101010101" pitchFamily="2" charset="-122"/>
              </a:defRPr>
            </a:lvl4pPr>
            <a:lvl5pPr marL="2057400" indent="-228600" eaLnBrk="0" hangingPunct="0">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9pPr>
          </a:lstStyle>
          <a:p>
            <a:pPr eaLnBrk="1" hangingPunct="1"/>
            <a:r>
              <a:rPr lang="zh-CN" altLang="en-US" sz="3200" dirty="0">
                <a:solidFill>
                  <a:schemeClr val="tx2"/>
                </a:solidFill>
                <a:latin typeface="宋体" panose="02010600030101010101" pitchFamily="2" charset="-122"/>
              </a:rPr>
              <a:t> </a:t>
            </a:r>
            <a:r>
              <a:rPr lang="zh-CN" altLang="en-US" sz="3200" dirty="0">
                <a:solidFill>
                  <a:srgbClr val="FF0000"/>
                </a:solidFill>
                <a:latin typeface="微软雅黑" panose="020B0503020204020204" pitchFamily="34" charset="-122"/>
                <a:ea typeface="微软雅黑" panose="020B0503020204020204" pitchFamily="34" charset="-122"/>
              </a:rPr>
              <a:t>2.逻辑与（乘，×，∩</a:t>
            </a:r>
            <a:r>
              <a:rPr lang="zh-CN" altLang="zh-CN" sz="3200" dirty="0">
                <a:solidFill>
                  <a:srgbClr val="FF0000"/>
                </a:solidFill>
                <a:latin typeface="微软雅黑" panose="020B0503020204020204" pitchFamily="34" charset="-122"/>
                <a:ea typeface="微软雅黑" panose="020B0503020204020204" pitchFamily="34" charset="-122"/>
              </a:rPr>
              <a:t>）</a:t>
            </a:r>
            <a:endParaRPr lang="zh-CN" altLang="en-US" sz="3200" dirty="0">
              <a:solidFill>
                <a:srgbClr val="FF0000"/>
              </a:solidFill>
              <a:latin typeface="微软雅黑" panose="020B0503020204020204" pitchFamily="34" charset="-122"/>
              <a:ea typeface="微软雅黑" panose="020B0503020204020204" pitchFamily="34" charset="-122"/>
            </a:endParaRPr>
          </a:p>
        </p:txBody>
      </p:sp>
      <p:sp>
        <p:nvSpPr>
          <p:cNvPr id="11" name="Rectangle 8">
            <a:extLst>
              <a:ext uri="{FF2B5EF4-FFF2-40B4-BE49-F238E27FC236}">
                <a16:creationId xmlns:a16="http://schemas.microsoft.com/office/drawing/2014/main" id="{FB010255-9DC4-485C-8D7C-B6442CADCB9E}"/>
              </a:ext>
            </a:extLst>
          </p:cNvPr>
          <p:cNvSpPr>
            <a:spLocks noChangeArrowheads="1"/>
          </p:cNvSpPr>
          <p:nvPr/>
        </p:nvSpPr>
        <p:spPr bwMode="auto">
          <a:xfrm>
            <a:off x="1428763" y="1876560"/>
            <a:ext cx="6101688" cy="584775"/>
          </a:xfrm>
          <a:prstGeom prst="rect">
            <a:avLst/>
          </a:prstGeom>
          <a:noFill/>
          <a:ln w="38100">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sz="1200" b="1">
                <a:solidFill>
                  <a:schemeClr val="tx1"/>
                </a:solidFill>
                <a:latin typeface="Arial" panose="020B0604020202020204" pitchFamily="34" charset="0"/>
                <a:ea typeface="宋体" panose="02010600030101010101" pitchFamily="2" charset="-122"/>
              </a:defRPr>
            </a:lvl1pPr>
            <a:lvl2pPr marL="742950" indent="-285750" eaLnBrk="0" hangingPunct="0">
              <a:defRPr sz="1200" b="1">
                <a:solidFill>
                  <a:schemeClr val="tx1"/>
                </a:solidFill>
                <a:latin typeface="Arial" panose="020B0604020202020204" pitchFamily="34" charset="0"/>
                <a:ea typeface="宋体" panose="02010600030101010101" pitchFamily="2" charset="-122"/>
              </a:defRPr>
            </a:lvl2pPr>
            <a:lvl3pPr marL="1143000" indent="-228600" eaLnBrk="0" hangingPunct="0">
              <a:defRPr sz="1200" b="1">
                <a:solidFill>
                  <a:schemeClr val="tx1"/>
                </a:solidFill>
                <a:latin typeface="Arial" panose="020B0604020202020204" pitchFamily="34" charset="0"/>
                <a:ea typeface="宋体" panose="02010600030101010101" pitchFamily="2" charset="-122"/>
              </a:defRPr>
            </a:lvl3pPr>
            <a:lvl4pPr marL="1600200" indent="-228600" eaLnBrk="0" hangingPunct="0">
              <a:defRPr sz="1200" b="1">
                <a:solidFill>
                  <a:schemeClr val="tx1"/>
                </a:solidFill>
                <a:latin typeface="Arial" panose="020B0604020202020204" pitchFamily="34" charset="0"/>
                <a:ea typeface="宋体" panose="02010600030101010101" pitchFamily="2" charset="-122"/>
              </a:defRPr>
            </a:lvl4pPr>
            <a:lvl5pPr marL="2057400" indent="-228600" eaLnBrk="0" hangingPunct="0">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9pPr>
          </a:lstStyle>
          <a:p>
            <a:pPr eaLnBrk="1" hangingPunct="1"/>
            <a:r>
              <a:rPr lang="zh-CN" altLang="en-US" sz="3200" dirty="0">
                <a:latin typeface="华文仿宋" panose="02010600040101010101" pitchFamily="2" charset="-122"/>
                <a:ea typeface="华文仿宋" panose="02010600040101010101" pitchFamily="2" charset="-122"/>
              </a:rPr>
              <a:t>两个条件都为真，结果才为真</a:t>
            </a:r>
          </a:p>
        </p:txBody>
      </p:sp>
      <p:sp>
        <p:nvSpPr>
          <p:cNvPr id="12" name="Text Box 21">
            <a:extLst>
              <a:ext uri="{FF2B5EF4-FFF2-40B4-BE49-F238E27FC236}">
                <a16:creationId xmlns:a16="http://schemas.microsoft.com/office/drawing/2014/main" id="{E385F7B3-467A-4F56-AA36-BEC226EF08CD}"/>
              </a:ext>
            </a:extLst>
          </p:cNvPr>
          <p:cNvSpPr txBox="1">
            <a:spLocks noChangeArrowheads="1"/>
          </p:cNvSpPr>
          <p:nvPr/>
        </p:nvSpPr>
        <p:spPr bwMode="auto">
          <a:xfrm>
            <a:off x="8355755" y="762242"/>
            <a:ext cx="23844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ea typeface="宋体" panose="02010600030101010101" pitchFamily="2" charset="-122"/>
              </a:defRPr>
            </a:lvl1pPr>
            <a:lvl2pPr marL="742950" indent="-285750" eaLnBrk="0" hangingPunct="0">
              <a:defRPr sz="1200" b="1">
                <a:solidFill>
                  <a:schemeClr val="tx1"/>
                </a:solidFill>
                <a:latin typeface="Arial" panose="020B0604020202020204" pitchFamily="34" charset="0"/>
                <a:ea typeface="宋体" panose="02010600030101010101" pitchFamily="2" charset="-122"/>
              </a:defRPr>
            </a:lvl2pPr>
            <a:lvl3pPr marL="1143000" indent="-228600" eaLnBrk="0" hangingPunct="0">
              <a:defRPr sz="1200" b="1">
                <a:solidFill>
                  <a:schemeClr val="tx1"/>
                </a:solidFill>
                <a:latin typeface="Arial" panose="020B0604020202020204" pitchFamily="34" charset="0"/>
                <a:ea typeface="宋体" panose="02010600030101010101" pitchFamily="2" charset="-122"/>
              </a:defRPr>
            </a:lvl3pPr>
            <a:lvl4pPr marL="1600200" indent="-228600" eaLnBrk="0" hangingPunct="0">
              <a:defRPr sz="1200" b="1">
                <a:solidFill>
                  <a:schemeClr val="tx1"/>
                </a:solidFill>
                <a:latin typeface="Arial" panose="020B0604020202020204" pitchFamily="34" charset="0"/>
                <a:ea typeface="宋体" panose="02010600030101010101" pitchFamily="2" charset="-122"/>
              </a:defRPr>
            </a:lvl4pPr>
            <a:lvl5pPr marL="2057400" indent="-228600" eaLnBrk="0" hangingPunct="0">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9pPr>
          </a:lstStyle>
          <a:p>
            <a:pPr eaLnBrk="1" hangingPunct="1"/>
            <a:r>
              <a:rPr lang="zh-CN" altLang="en-US" sz="3600" dirty="0">
                <a:latin typeface="隶书" panose="02010509060101010101" pitchFamily="49" charset="-122"/>
                <a:ea typeface="隶书" panose="02010509060101010101" pitchFamily="49" charset="-122"/>
              </a:rPr>
              <a:t>真值表：</a:t>
            </a:r>
          </a:p>
        </p:txBody>
      </p:sp>
      <p:sp>
        <p:nvSpPr>
          <p:cNvPr id="13" name="Text Box 22">
            <a:extLst>
              <a:ext uri="{FF2B5EF4-FFF2-40B4-BE49-F238E27FC236}">
                <a16:creationId xmlns:a16="http://schemas.microsoft.com/office/drawing/2014/main" id="{01BB28C6-AC6D-4AC3-8840-D52CC81A7D5E}"/>
              </a:ext>
            </a:extLst>
          </p:cNvPr>
          <p:cNvSpPr txBox="1">
            <a:spLocks noChangeArrowheads="1"/>
          </p:cNvSpPr>
          <p:nvPr/>
        </p:nvSpPr>
        <p:spPr bwMode="auto">
          <a:xfrm>
            <a:off x="8495770" y="1537382"/>
            <a:ext cx="1631950" cy="2062163"/>
          </a:xfrm>
          <a:prstGeom prst="rect">
            <a:avLst/>
          </a:prstGeom>
          <a:solidFill>
            <a:srgbClr val="FFFFCC"/>
          </a:solidFill>
          <a:ln w="38100">
            <a:solidFill>
              <a:schemeClr val="accent1"/>
            </a:solidFill>
            <a:miter lim="800000"/>
          </a:ln>
        </p:spPr>
        <p:txBody>
          <a:bodyPr wrap="none">
            <a:spAutoFit/>
          </a:bodyPr>
          <a:lstStyle>
            <a:lvl1pPr eaLnBrk="0" hangingPunct="0">
              <a:defRPr sz="1200" b="1">
                <a:solidFill>
                  <a:schemeClr val="tx1"/>
                </a:solidFill>
                <a:latin typeface="Arial" panose="020B0604020202020204" pitchFamily="34" charset="0"/>
                <a:ea typeface="宋体" panose="02010600030101010101" pitchFamily="2" charset="-122"/>
              </a:defRPr>
            </a:lvl1pPr>
            <a:lvl2pPr marL="742950" indent="-285750" eaLnBrk="0" hangingPunct="0">
              <a:defRPr sz="1200" b="1">
                <a:solidFill>
                  <a:schemeClr val="tx1"/>
                </a:solidFill>
                <a:latin typeface="Arial" panose="020B0604020202020204" pitchFamily="34" charset="0"/>
                <a:ea typeface="宋体" panose="02010600030101010101" pitchFamily="2" charset="-122"/>
              </a:defRPr>
            </a:lvl2pPr>
            <a:lvl3pPr marL="1143000" indent="-228600" eaLnBrk="0" hangingPunct="0">
              <a:defRPr sz="1200" b="1">
                <a:solidFill>
                  <a:schemeClr val="tx1"/>
                </a:solidFill>
                <a:latin typeface="Arial" panose="020B0604020202020204" pitchFamily="34" charset="0"/>
                <a:ea typeface="宋体" panose="02010600030101010101" pitchFamily="2" charset="-122"/>
              </a:defRPr>
            </a:lvl3pPr>
            <a:lvl4pPr marL="1600200" indent="-228600" eaLnBrk="0" hangingPunct="0">
              <a:defRPr sz="1200" b="1">
                <a:solidFill>
                  <a:schemeClr val="tx1"/>
                </a:solidFill>
                <a:latin typeface="Arial" panose="020B0604020202020204" pitchFamily="34" charset="0"/>
                <a:ea typeface="宋体" panose="02010600030101010101" pitchFamily="2" charset="-122"/>
              </a:defRPr>
            </a:lvl4pPr>
            <a:lvl5pPr marL="2057400" indent="-228600" eaLnBrk="0" hangingPunct="0">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9pPr>
          </a:lstStyle>
          <a:p>
            <a:pPr eaLnBrk="1" hangingPunct="1">
              <a:lnSpc>
                <a:spcPct val="80000"/>
              </a:lnSpc>
            </a:pPr>
            <a:r>
              <a:rPr lang="en-US" altLang="zh-CN" sz="3200" dirty="0">
                <a:solidFill>
                  <a:srgbClr val="663300"/>
                </a:solidFill>
                <a:latin typeface="宋体" panose="02010600030101010101" pitchFamily="2" charset="-122"/>
              </a:rPr>
              <a:t>A  B  C</a:t>
            </a:r>
            <a:endParaRPr lang="zh-CN" altLang="en-US" sz="3200" dirty="0">
              <a:solidFill>
                <a:srgbClr val="CD2711"/>
              </a:solidFill>
              <a:latin typeface="宋体" panose="02010600030101010101" pitchFamily="2" charset="-122"/>
            </a:endParaRPr>
          </a:p>
          <a:p>
            <a:pPr eaLnBrk="1" hangingPunct="1">
              <a:lnSpc>
                <a:spcPct val="80000"/>
              </a:lnSpc>
            </a:pPr>
            <a:r>
              <a:rPr lang="zh-CN" altLang="en-US" sz="3200" dirty="0">
                <a:solidFill>
                  <a:srgbClr val="CD2711"/>
                </a:solidFill>
                <a:latin typeface="宋体" panose="02010600030101010101" pitchFamily="2" charset="-122"/>
              </a:rPr>
              <a:t>0  0  </a:t>
            </a:r>
            <a:r>
              <a:rPr lang="zh-CN" altLang="en-US" sz="3200" dirty="0">
                <a:solidFill>
                  <a:srgbClr val="009900"/>
                </a:solidFill>
                <a:latin typeface="宋体" panose="02010600030101010101" pitchFamily="2" charset="-122"/>
              </a:rPr>
              <a:t>0</a:t>
            </a:r>
          </a:p>
          <a:p>
            <a:pPr eaLnBrk="1" hangingPunct="1">
              <a:lnSpc>
                <a:spcPct val="80000"/>
              </a:lnSpc>
            </a:pPr>
            <a:r>
              <a:rPr lang="zh-CN" altLang="en-US" sz="3200" dirty="0">
                <a:solidFill>
                  <a:srgbClr val="CD2711"/>
                </a:solidFill>
                <a:latin typeface="宋体" panose="02010600030101010101" pitchFamily="2" charset="-122"/>
              </a:rPr>
              <a:t>0  1  </a:t>
            </a:r>
            <a:r>
              <a:rPr lang="zh-CN" altLang="en-US" sz="3200" dirty="0">
                <a:solidFill>
                  <a:srgbClr val="009900"/>
                </a:solidFill>
                <a:latin typeface="宋体" panose="02010600030101010101" pitchFamily="2" charset="-122"/>
              </a:rPr>
              <a:t>0</a:t>
            </a:r>
            <a:endParaRPr lang="zh-CN" altLang="en-US" sz="3200" dirty="0">
              <a:solidFill>
                <a:srgbClr val="CD2711"/>
              </a:solidFill>
              <a:latin typeface="宋体" panose="02010600030101010101" pitchFamily="2" charset="-122"/>
            </a:endParaRPr>
          </a:p>
          <a:p>
            <a:pPr eaLnBrk="1" hangingPunct="1">
              <a:lnSpc>
                <a:spcPct val="80000"/>
              </a:lnSpc>
            </a:pPr>
            <a:r>
              <a:rPr lang="zh-CN" altLang="en-US" sz="3200" dirty="0">
                <a:solidFill>
                  <a:srgbClr val="CD2711"/>
                </a:solidFill>
                <a:latin typeface="宋体" panose="02010600030101010101" pitchFamily="2" charset="-122"/>
              </a:rPr>
              <a:t>1  0  </a:t>
            </a:r>
            <a:r>
              <a:rPr lang="zh-CN" altLang="en-US" sz="3200" dirty="0">
                <a:solidFill>
                  <a:srgbClr val="009900"/>
                </a:solidFill>
                <a:latin typeface="宋体" panose="02010600030101010101" pitchFamily="2" charset="-122"/>
              </a:rPr>
              <a:t>0</a:t>
            </a:r>
          </a:p>
          <a:p>
            <a:pPr eaLnBrk="1" hangingPunct="1">
              <a:lnSpc>
                <a:spcPct val="80000"/>
              </a:lnSpc>
            </a:pPr>
            <a:r>
              <a:rPr lang="zh-CN" altLang="en-US" sz="3200" dirty="0">
                <a:solidFill>
                  <a:srgbClr val="CD2711"/>
                </a:solidFill>
                <a:latin typeface="宋体" panose="02010600030101010101" pitchFamily="2" charset="-122"/>
              </a:rPr>
              <a:t>1  1  </a:t>
            </a:r>
            <a:r>
              <a:rPr lang="zh-CN" altLang="en-US" sz="3200" dirty="0">
                <a:solidFill>
                  <a:srgbClr val="009900"/>
                </a:solidFill>
                <a:latin typeface="宋体" panose="02010600030101010101" pitchFamily="2" charset="-122"/>
              </a:rPr>
              <a:t>1</a:t>
            </a:r>
            <a:endParaRPr lang="zh-CN" altLang="en-US" sz="3200" dirty="0">
              <a:solidFill>
                <a:srgbClr val="CD2711"/>
              </a:solidFill>
              <a:latin typeface="宋体" panose="02010600030101010101" pitchFamily="2" charset="-122"/>
            </a:endParaRPr>
          </a:p>
        </p:txBody>
      </p:sp>
      <p:sp>
        <p:nvSpPr>
          <p:cNvPr id="15" name="矩形 3">
            <a:extLst>
              <a:ext uri="{FF2B5EF4-FFF2-40B4-BE49-F238E27FC236}">
                <a16:creationId xmlns:a16="http://schemas.microsoft.com/office/drawing/2014/main" id="{CA9B47AD-EF1C-4882-861E-7551BFFE05FE}"/>
              </a:ext>
            </a:extLst>
          </p:cNvPr>
          <p:cNvSpPr>
            <a:spLocks noChangeArrowheads="1"/>
          </p:cNvSpPr>
          <p:nvPr/>
        </p:nvSpPr>
        <p:spPr bwMode="auto">
          <a:xfrm>
            <a:off x="3424380" y="2568493"/>
            <a:ext cx="2110454" cy="2062103"/>
          </a:xfrm>
          <a:prstGeom prst="rect">
            <a:avLst/>
          </a:prstGeom>
          <a:noFill/>
          <a:ln w="9525">
            <a:noFill/>
            <a:miter lim="800000"/>
          </a:ln>
        </p:spPr>
        <p:txBody>
          <a:bodyPr wrap="square">
            <a:spAutoFit/>
          </a:bodyPr>
          <a:lstStyle/>
          <a:p>
            <a:pPr algn="ctr" eaLnBrk="1" hangingPunct="1"/>
            <a:r>
              <a:rPr lang="en-US" altLang="zh-CN" sz="3200" dirty="0"/>
              <a:t>0 × 0=0</a:t>
            </a:r>
            <a:endParaRPr lang="zh-CN" altLang="zh-CN" sz="3200" dirty="0"/>
          </a:p>
          <a:p>
            <a:pPr algn="ctr" eaLnBrk="1" hangingPunct="1"/>
            <a:r>
              <a:rPr lang="en-US" altLang="zh-CN" sz="3200" dirty="0"/>
              <a:t>0 × 1=0</a:t>
            </a:r>
            <a:endParaRPr lang="zh-CN" altLang="zh-CN" sz="3200" dirty="0"/>
          </a:p>
          <a:p>
            <a:pPr algn="ctr" eaLnBrk="1" hangingPunct="1"/>
            <a:r>
              <a:rPr lang="en-US" altLang="zh-CN" sz="3200" dirty="0"/>
              <a:t>1 × 0=0</a:t>
            </a:r>
            <a:endParaRPr lang="zh-CN" altLang="zh-CN" sz="3200" dirty="0"/>
          </a:p>
          <a:p>
            <a:pPr algn="ctr" eaLnBrk="1" hangingPunct="1"/>
            <a:r>
              <a:rPr lang="en-US" altLang="zh-CN" sz="3200" dirty="0"/>
              <a:t>1 × 1=1</a:t>
            </a:r>
            <a:endParaRPr lang="zh-CN" altLang="zh-CN" sz="3200" dirty="0"/>
          </a:p>
        </p:txBody>
      </p:sp>
      <p:sp>
        <p:nvSpPr>
          <p:cNvPr id="16" name="Rectangle 8">
            <a:extLst>
              <a:ext uri="{FF2B5EF4-FFF2-40B4-BE49-F238E27FC236}">
                <a16:creationId xmlns:a16="http://schemas.microsoft.com/office/drawing/2014/main" id="{1123441C-983A-42E5-A319-C95E07DEE547}"/>
              </a:ext>
            </a:extLst>
          </p:cNvPr>
          <p:cNvSpPr>
            <a:spLocks noChangeArrowheads="1"/>
          </p:cNvSpPr>
          <p:nvPr/>
        </p:nvSpPr>
        <p:spPr bwMode="auto">
          <a:xfrm>
            <a:off x="1442534" y="2568463"/>
            <a:ext cx="6101688" cy="584775"/>
          </a:xfrm>
          <a:prstGeom prst="rect">
            <a:avLst/>
          </a:prstGeom>
          <a:noFill/>
          <a:ln w="38100">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sz="1200" b="1">
                <a:solidFill>
                  <a:schemeClr val="tx1"/>
                </a:solidFill>
                <a:latin typeface="Arial" panose="020B0604020202020204" pitchFamily="34" charset="0"/>
                <a:ea typeface="宋体" panose="02010600030101010101" pitchFamily="2" charset="-122"/>
              </a:defRPr>
            </a:lvl1pPr>
            <a:lvl2pPr marL="742950" indent="-285750" eaLnBrk="0" hangingPunct="0">
              <a:defRPr sz="1200" b="1">
                <a:solidFill>
                  <a:schemeClr val="tx1"/>
                </a:solidFill>
                <a:latin typeface="Arial" panose="020B0604020202020204" pitchFamily="34" charset="0"/>
                <a:ea typeface="宋体" panose="02010600030101010101" pitchFamily="2" charset="-122"/>
              </a:defRPr>
            </a:lvl2pPr>
            <a:lvl3pPr marL="1143000" indent="-228600" eaLnBrk="0" hangingPunct="0">
              <a:defRPr sz="1200" b="1">
                <a:solidFill>
                  <a:schemeClr val="tx1"/>
                </a:solidFill>
                <a:latin typeface="Arial" panose="020B0604020202020204" pitchFamily="34" charset="0"/>
                <a:ea typeface="宋体" panose="02010600030101010101" pitchFamily="2" charset="-122"/>
              </a:defRPr>
            </a:lvl3pPr>
            <a:lvl4pPr marL="1600200" indent="-228600" eaLnBrk="0" hangingPunct="0">
              <a:defRPr sz="1200" b="1">
                <a:solidFill>
                  <a:schemeClr val="tx1"/>
                </a:solidFill>
                <a:latin typeface="Arial" panose="020B0604020202020204" pitchFamily="34" charset="0"/>
                <a:ea typeface="宋体" panose="02010600030101010101" pitchFamily="2" charset="-122"/>
              </a:defRPr>
            </a:lvl4pPr>
            <a:lvl5pPr marL="2057400" indent="-228600" eaLnBrk="0" hangingPunct="0">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9pPr>
          </a:lstStyle>
          <a:p>
            <a:pPr eaLnBrk="1" hangingPunct="1"/>
            <a:r>
              <a:rPr lang="zh-CN" altLang="en-US" sz="3200" dirty="0">
                <a:latin typeface="华文仿宋" panose="02010600040101010101" pitchFamily="2" charset="-122"/>
                <a:ea typeface="华文仿宋" panose="02010600040101010101" pitchFamily="2" charset="-122"/>
              </a:rPr>
              <a:t>运算规则：</a:t>
            </a:r>
          </a:p>
        </p:txBody>
      </p:sp>
      <p:sp>
        <p:nvSpPr>
          <p:cNvPr id="17" name="矩形 16">
            <a:extLst>
              <a:ext uri="{FF2B5EF4-FFF2-40B4-BE49-F238E27FC236}">
                <a16:creationId xmlns:a16="http://schemas.microsoft.com/office/drawing/2014/main" id="{207D75DB-F9CA-4B2C-97FC-AA79735281AD}"/>
              </a:ext>
            </a:extLst>
          </p:cNvPr>
          <p:cNvSpPr/>
          <p:nvPr/>
        </p:nvSpPr>
        <p:spPr>
          <a:xfrm>
            <a:off x="1595164" y="5082722"/>
            <a:ext cx="8424936" cy="461665"/>
          </a:xfrm>
          <a:prstGeom prst="rect">
            <a:avLst/>
          </a:prstGeom>
        </p:spPr>
        <p:txBody>
          <a:bodyPr wrap="square">
            <a:spAutoFit/>
          </a:bodyPr>
          <a:lstStyle/>
          <a:p>
            <a:r>
              <a:rPr lang="zh-CN" altLang="zh-CN" sz="2400" dirty="0">
                <a:latin typeface="楷体_GB2312" pitchFamily="49" charset="-122"/>
                <a:ea typeface="楷体_GB2312" pitchFamily="49" charset="-122"/>
              </a:rPr>
              <a:t>可用</a:t>
            </a:r>
            <a:r>
              <a:rPr lang="en-US" altLang="zh-CN" sz="2400" dirty="0">
                <a:latin typeface="楷体_GB2312" pitchFamily="49" charset="-122"/>
                <a:ea typeface="楷体_GB2312" pitchFamily="49" charset="-122"/>
              </a:rPr>
              <a:t>AB</a:t>
            </a:r>
            <a:r>
              <a:rPr lang="zh-CN" altLang="zh-CN" sz="2400" dirty="0">
                <a:latin typeface="楷体_GB2312" pitchFamily="49" charset="-122"/>
                <a:ea typeface="楷体_GB2312" pitchFamily="49" charset="-122"/>
              </a:rPr>
              <a:t>、</a:t>
            </a:r>
            <a:r>
              <a:rPr lang="en-US" altLang="zh-CN" sz="2400" dirty="0">
                <a:latin typeface="楷体_GB2312" pitchFamily="49" charset="-122"/>
                <a:ea typeface="楷体_GB2312" pitchFamily="49" charset="-122"/>
              </a:rPr>
              <a:t>A×B</a:t>
            </a:r>
            <a:r>
              <a:rPr lang="zh-CN" altLang="zh-CN" sz="2400" dirty="0">
                <a:latin typeface="楷体_GB2312" pitchFamily="49" charset="-122"/>
                <a:ea typeface="楷体_GB2312" pitchFamily="49" charset="-122"/>
              </a:rPr>
              <a:t>或</a:t>
            </a:r>
            <a:r>
              <a:rPr lang="en-US" altLang="zh-CN" sz="2400" dirty="0">
                <a:latin typeface="楷体_GB2312" pitchFamily="49" charset="-122"/>
                <a:ea typeface="楷体_GB2312" pitchFamily="49" charset="-122"/>
              </a:rPr>
              <a:t>A</a:t>
            </a:r>
            <a:r>
              <a:rPr lang="zh-CN" altLang="zh-CN" sz="2400" dirty="0">
                <a:latin typeface="楷体_GB2312" pitchFamily="49" charset="-122"/>
                <a:ea typeface="楷体_GB2312" pitchFamily="49" charset="-122"/>
              </a:rPr>
              <a:t>·</a:t>
            </a:r>
            <a:r>
              <a:rPr lang="en-US" altLang="zh-CN" sz="2400" dirty="0">
                <a:latin typeface="楷体_GB2312" pitchFamily="49" charset="-122"/>
                <a:ea typeface="楷体_GB2312" pitchFamily="49" charset="-122"/>
              </a:rPr>
              <a:t>B</a:t>
            </a:r>
            <a:r>
              <a:rPr lang="zh-CN" altLang="zh-CN" sz="2400" dirty="0">
                <a:latin typeface="楷体_GB2312" pitchFamily="49" charset="-122"/>
                <a:ea typeface="楷体_GB2312" pitchFamily="49" charset="-122"/>
              </a:rPr>
              <a:t>来表示，读作“</a:t>
            </a:r>
            <a:r>
              <a:rPr lang="en-US" altLang="zh-CN" sz="2400" dirty="0">
                <a:latin typeface="楷体_GB2312" pitchFamily="49" charset="-122"/>
                <a:ea typeface="楷体_GB2312" pitchFamily="49" charset="-122"/>
              </a:rPr>
              <a:t>A</a:t>
            </a:r>
            <a:r>
              <a:rPr lang="zh-CN" altLang="zh-CN" sz="2400" dirty="0">
                <a:latin typeface="楷体_GB2312" pitchFamily="49" charset="-122"/>
                <a:ea typeface="楷体_GB2312" pitchFamily="49" charset="-122"/>
              </a:rPr>
              <a:t>与</a:t>
            </a:r>
            <a:r>
              <a:rPr lang="en-US" altLang="zh-CN" sz="2400" dirty="0">
                <a:latin typeface="楷体_GB2312" pitchFamily="49" charset="-122"/>
                <a:ea typeface="楷体_GB2312" pitchFamily="49" charset="-122"/>
              </a:rPr>
              <a:t>B</a:t>
            </a:r>
            <a:r>
              <a:rPr lang="zh-CN" altLang="zh-CN" sz="2400" dirty="0">
                <a:latin typeface="楷体_GB2312" pitchFamily="49" charset="-122"/>
                <a:ea typeface="楷体_GB2312" pitchFamily="49" charset="-122"/>
              </a:rPr>
              <a:t>”</a:t>
            </a:r>
            <a:endParaRPr lang="zh-CN" altLang="en-US" sz="2400" dirty="0"/>
          </a:p>
        </p:txBody>
      </p:sp>
    </p:spTree>
    <p:extLst>
      <p:ext uri="{BB962C8B-B14F-4D97-AF65-F5344CB8AC3E}">
        <p14:creationId xmlns:p14="http://schemas.microsoft.com/office/powerpoint/2010/main" val="503354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600" dirty="0">
                <a:solidFill>
                  <a:prstClr val="black"/>
                </a:solidFill>
                <a:latin typeface="华文楷体" panose="02010600040101010101" pitchFamily="2" charset="-122"/>
                <a:ea typeface="华文楷体" panose="02010600040101010101" pitchFamily="2" charset="-122"/>
              </a:rPr>
              <a:t>第二章</a:t>
            </a:r>
            <a:endParaRPr kumimoji="0" lang="en-US" altLang="zh-CN" sz="3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endParaRPr>
          </a:p>
        </p:txBody>
      </p:sp>
      <p:pic>
        <p:nvPicPr>
          <p:cNvPr id="8" name="图片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19441" y="6219825"/>
            <a:ext cx="536892" cy="542925"/>
          </a:xfrm>
          <a:prstGeom prst="rect">
            <a:avLst/>
          </a:prstGeom>
        </p:spPr>
      </p:pic>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grpSp>
        <p:nvGrpSpPr>
          <p:cNvPr id="9" name="Group 16">
            <a:extLst>
              <a:ext uri="{FF2B5EF4-FFF2-40B4-BE49-F238E27FC236}">
                <a16:creationId xmlns:a16="http://schemas.microsoft.com/office/drawing/2014/main" id="{2EA3951D-B622-415A-BE49-4941684D77AE}"/>
              </a:ext>
            </a:extLst>
          </p:cNvPr>
          <p:cNvGrpSpPr/>
          <p:nvPr/>
        </p:nvGrpSpPr>
        <p:grpSpPr bwMode="auto">
          <a:xfrm>
            <a:off x="1351735" y="1194268"/>
            <a:ext cx="4375375" cy="617538"/>
            <a:chOff x="290" y="732"/>
            <a:chExt cx="2986" cy="389"/>
          </a:xfrm>
        </p:grpSpPr>
        <p:sp>
          <p:nvSpPr>
            <p:cNvPr id="11" name="Text Box 17">
              <a:extLst>
                <a:ext uri="{FF2B5EF4-FFF2-40B4-BE49-F238E27FC236}">
                  <a16:creationId xmlns:a16="http://schemas.microsoft.com/office/drawing/2014/main" id="{B68C9563-559D-499E-AB59-3B23EBACB5D5}"/>
                </a:ext>
              </a:extLst>
            </p:cNvPr>
            <p:cNvSpPr txBox="1">
              <a:spLocks noChangeArrowheads="1"/>
            </p:cNvSpPr>
            <p:nvPr/>
          </p:nvSpPr>
          <p:spPr bwMode="auto">
            <a:xfrm>
              <a:off x="965" y="732"/>
              <a:ext cx="12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b="1">
                  <a:solidFill>
                    <a:schemeClr val="tx1"/>
                  </a:solidFill>
                  <a:latin typeface="Arial" panose="020B0604020202020204" pitchFamily="34" charset="0"/>
                  <a:ea typeface="宋体" panose="02010600030101010101" pitchFamily="2" charset="-122"/>
                </a:defRPr>
              </a:lvl1pPr>
              <a:lvl2pPr marL="742950" indent="-285750" eaLnBrk="0" hangingPunct="0">
                <a:defRPr sz="1200" b="1">
                  <a:solidFill>
                    <a:schemeClr val="tx1"/>
                  </a:solidFill>
                  <a:latin typeface="Arial" panose="020B0604020202020204" pitchFamily="34" charset="0"/>
                  <a:ea typeface="宋体" panose="02010600030101010101" pitchFamily="2" charset="-122"/>
                </a:defRPr>
              </a:lvl2pPr>
              <a:lvl3pPr marL="1143000" indent="-228600" eaLnBrk="0" hangingPunct="0">
                <a:defRPr sz="1200" b="1">
                  <a:solidFill>
                    <a:schemeClr val="tx1"/>
                  </a:solidFill>
                  <a:latin typeface="Arial" panose="020B0604020202020204" pitchFamily="34" charset="0"/>
                  <a:ea typeface="宋体" panose="02010600030101010101" pitchFamily="2" charset="-122"/>
                </a:defRPr>
              </a:lvl3pPr>
              <a:lvl4pPr marL="1600200" indent="-228600" eaLnBrk="0" hangingPunct="0">
                <a:defRPr sz="1200" b="1">
                  <a:solidFill>
                    <a:schemeClr val="tx1"/>
                  </a:solidFill>
                  <a:latin typeface="Arial" panose="020B0604020202020204" pitchFamily="34" charset="0"/>
                  <a:ea typeface="宋体" panose="02010600030101010101" pitchFamily="2" charset="-122"/>
                </a:defRPr>
              </a:lvl4pPr>
              <a:lvl5pPr marL="2057400" indent="-228600" eaLnBrk="0" hangingPunct="0">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9pPr>
            </a:lstStyle>
            <a:p>
              <a:pPr eaLnBrk="1" hangingPunct="1"/>
              <a:endParaRPr lang="zh-CN" altLang="en-US" sz="2800">
                <a:latin typeface="宋体" panose="02010600030101010101" pitchFamily="2" charset="-122"/>
              </a:endParaRPr>
            </a:p>
          </p:txBody>
        </p:sp>
        <p:sp>
          <p:nvSpPr>
            <p:cNvPr id="12" name="Text Box 18">
              <a:extLst>
                <a:ext uri="{FF2B5EF4-FFF2-40B4-BE49-F238E27FC236}">
                  <a16:creationId xmlns:a16="http://schemas.microsoft.com/office/drawing/2014/main" id="{39C4C605-4A72-4C6B-8EDC-10E07F02203B}"/>
                </a:ext>
              </a:extLst>
            </p:cNvPr>
            <p:cNvSpPr txBox="1">
              <a:spLocks noChangeArrowheads="1"/>
            </p:cNvSpPr>
            <p:nvPr/>
          </p:nvSpPr>
          <p:spPr bwMode="auto">
            <a:xfrm>
              <a:off x="290" y="753"/>
              <a:ext cx="2986"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b="1">
                  <a:solidFill>
                    <a:schemeClr val="tx1"/>
                  </a:solidFill>
                  <a:latin typeface="Arial" panose="020B0604020202020204" pitchFamily="34" charset="0"/>
                  <a:ea typeface="宋体" panose="02010600030101010101" pitchFamily="2" charset="-122"/>
                </a:defRPr>
              </a:lvl1pPr>
              <a:lvl2pPr marL="742950" indent="-285750" eaLnBrk="0" hangingPunct="0">
                <a:defRPr sz="1200" b="1">
                  <a:solidFill>
                    <a:schemeClr val="tx1"/>
                  </a:solidFill>
                  <a:latin typeface="Arial" panose="020B0604020202020204" pitchFamily="34" charset="0"/>
                  <a:ea typeface="宋体" panose="02010600030101010101" pitchFamily="2" charset="-122"/>
                </a:defRPr>
              </a:lvl2pPr>
              <a:lvl3pPr marL="1143000" indent="-228600" eaLnBrk="0" hangingPunct="0">
                <a:defRPr sz="1200" b="1">
                  <a:solidFill>
                    <a:schemeClr val="tx1"/>
                  </a:solidFill>
                  <a:latin typeface="Arial" panose="020B0604020202020204" pitchFamily="34" charset="0"/>
                  <a:ea typeface="宋体" panose="02010600030101010101" pitchFamily="2" charset="-122"/>
                </a:defRPr>
              </a:lvl3pPr>
              <a:lvl4pPr marL="1600200" indent="-228600" eaLnBrk="0" hangingPunct="0">
                <a:defRPr sz="1200" b="1">
                  <a:solidFill>
                    <a:schemeClr val="tx1"/>
                  </a:solidFill>
                  <a:latin typeface="Arial" panose="020B0604020202020204" pitchFamily="34" charset="0"/>
                  <a:ea typeface="宋体" panose="02010600030101010101" pitchFamily="2" charset="-122"/>
                </a:defRPr>
              </a:lvl4pPr>
              <a:lvl5pPr marL="2057400" indent="-228600" eaLnBrk="0" hangingPunct="0">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9pPr>
            </a:lstStyle>
            <a:p>
              <a:pPr eaLnBrk="1" hangingPunct="1"/>
              <a:r>
                <a:rPr lang="zh-CN" altLang="en-US" sz="3200" dirty="0">
                  <a:solidFill>
                    <a:srgbClr val="FF0000"/>
                  </a:solidFill>
                  <a:latin typeface="微软雅黑" panose="020B0503020204020204" pitchFamily="34" charset="-122"/>
                  <a:ea typeface="微软雅黑" panose="020B0503020204020204" pitchFamily="34" charset="-122"/>
                </a:rPr>
                <a:t>3. 逻辑否定(非, </a:t>
              </a:r>
              <a:r>
                <a:rPr lang="en-US" altLang="en-US" sz="3200" dirty="0">
                  <a:solidFill>
                    <a:srgbClr val="FF0000"/>
                  </a:solidFill>
                  <a:latin typeface="微软雅黑" panose="020B0503020204020204" pitchFamily="34" charset="-122"/>
                  <a:ea typeface="微软雅黑" panose="020B0503020204020204" pitchFamily="34" charset="-122"/>
                </a:rPr>
                <a:t>A’,A)</a:t>
              </a:r>
              <a:endParaRPr lang="en-US" altLang="zh-CN" sz="2800" dirty="0">
                <a:solidFill>
                  <a:srgbClr val="FF0000"/>
                </a:solidFill>
                <a:latin typeface="微软雅黑" panose="020B0503020204020204" pitchFamily="34" charset="-122"/>
                <a:ea typeface="微软雅黑" panose="020B0503020204020204" pitchFamily="34" charset="-122"/>
              </a:endParaRPr>
            </a:p>
          </p:txBody>
        </p:sp>
        <p:sp>
          <p:nvSpPr>
            <p:cNvPr id="13" name="Line 19">
              <a:extLst>
                <a:ext uri="{FF2B5EF4-FFF2-40B4-BE49-F238E27FC236}">
                  <a16:creationId xmlns:a16="http://schemas.microsoft.com/office/drawing/2014/main" id="{6B32B285-98AA-4A11-A2E0-741E652085B6}"/>
                </a:ext>
              </a:extLst>
            </p:cNvPr>
            <p:cNvSpPr>
              <a:spLocks noChangeShapeType="1"/>
            </p:cNvSpPr>
            <p:nvPr/>
          </p:nvSpPr>
          <p:spPr bwMode="auto">
            <a:xfrm>
              <a:off x="2874" y="799"/>
              <a:ext cx="186" cy="0"/>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5" name="Text Box 23">
            <a:extLst>
              <a:ext uri="{FF2B5EF4-FFF2-40B4-BE49-F238E27FC236}">
                <a16:creationId xmlns:a16="http://schemas.microsoft.com/office/drawing/2014/main" id="{636F95B0-1350-415F-B80E-6CC3453FF759}"/>
              </a:ext>
            </a:extLst>
          </p:cNvPr>
          <p:cNvSpPr txBox="1">
            <a:spLocks noChangeArrowheads="1"/>
          </p:cNvSpPr>
          <p:nvPr/>
        </p:nvSpPr>
        <p:spPr bwMode="auto">
          <a:xfrm>
            <a:off x="8218460" y="1032843"/>
            <a:ext cx="233203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ea typeface="宋体" panose="02010600030101010101" pitchFamily="2" charset="-122"/>
              </a:defRPr>
            </a:lvl1pPr>
            <a:lvl2pPr marL="742950" indent="-285750" eaLnBrk="0" hangingPunct="0">
              <a:defRPr sz="1200" b="1">
                <a:solidFill>
                  <a:schemeClr val="tx1"/>
                </a:solidFill>
                <a:latin typeface="Arial" panose="020B0604020202020204" pitchFamily="34" charset="0"/>
                <a:ea typeface="宋体" panose="02010600030101010101" pitchFamily="2" charset="-122"/>
              </a:defRPr>
            </a:lvl2pPr>
            <a:lvl3pPr marL="1143000" indent="-228600" eaLnBrk="0" hangingPunct="0">
              <a:defRPr sz="1200" b="1">
                <a:solidFill>
                  <a:schemeClr val="tx1"/>
                </a:solidFill>
                <a:latin typeface="Arial" panose="020B0604020202020204" pitchFamily="34" charset="0"/>
                <a:ea typeface="宋体" panose="02010600030101010101" pitchFamily="2" charset="-122"/>
              </a:defRPr>
            </a:lvl3pPr>
            <a:lvl4pPr marL="1600200" indent="-228600" eaLnBrk="0" hangingPunct="0">
              <a:defRPr sz="1200" b="1">
                <a:solidFill>
                  <a:schemeClr val="tx1"/>
                </a:solidFill>
                <a:latin typeface="Arial" panose="020B0604020202020204" pitchFamily="34" charset="0"/>
                <a:ea typeface="宋体" panose="02010600030101010101" pitchFamily="2" charset="-122"/>
              </a:defRPr>
            </a:lvl4pPr>
            <a:lvl5pPr marL="2057400" indent="-228600" eaLnBrk="0" hangingPunct="0">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9pPr>
          </a:lstStyle>
          <a:p>
            <a:pPr eaLnBrk="1" hangingPunct="1"/>
            <a:r>
              <a:rPr lang="zh-CN" altLang="en-US" sz="3600" dirty="0">
                <a:latin typeface="隶书" panose="02010509060101010101" pitchFamily="49" charset="-122"/>
                <a:ea typeface="隶书" panose="02010509060101010101" pitchFamily="49" charset="-122"/>
              </a:rPr>
              <a:t>真值表</a:t>
            </a:r>
          </a:p>
        </p:txBody>
      </p:sp>
      <p:sp>
        <p:nvSpPr>
          <p:cNvPr id="16" name="Text Box 24">
            <a:extLst>
              <a:ext uri="{FF2B5EF4-FFF2-40B4-BE49-F238E27FC236}">
                <a16:creationId xmlns:a16="http://schemas.microsoft.com/office/drawing/2014/main" id="{C83B0736-FE1A-4D5D-BC95-733DD4012CFD}"/>
              </a:ext>
            </a:extLst>
          </p:cNvPr>
          <p:cNvSpPr txBox="1">
            <a:spLocks noChangeArrowheads="1"/>
          </p:cNvSpPr>
          <p:nvPr/>
        </p:nvSpPr>
        <p:spPr bwMode="auto">
          <a:xfrm>
            <a:off x="8659135" y="1666324"/>
            <a:ext cx="804863" cy="1274762"/>
          </a:xfrm>
          <a:prstGeom prst="rect">
            <a:avLst/>
          </a:prstGeom>
          <a:solidFill>
            <a:srgbClr val="FFFFCC"/>
          </a:solidFill>
          <a:ln w="28575">
            <a:solidFill>
              <a:srgbClr val="0070C0"/>
            </a:solidFill>
          </a:ln>
        </p:spPr>
        <p:txBody>
          <a:bodyPr wrap="none">
            <a:spAutoFit/>
          </a:bodyPr>
          <a:lstStyle>
            <a:lvl1pPr eaLnBrk="0" hangingPunct="0">
              <a:defRPr sz="1200" b="1">
                <a:solidFill>
                  <a:schemeClr val="tx1"/>
                </a:solidFill>
                <a:latin typeface="Arial" panose="020B0604020202020204" pitchFamily="34" charset="0"/>
                <a:ea typeface="宋体" panose="02010600030101010101" pitchFamily="2" charset="-122"/>
              </a:defRPr>
            </a:lvl1pPr>
            <a:lvl2pPr marL="742950" indent="-285750" eaLnBrk="0" hangingPunct="0">
              <a:defRPr sz="1200" b="1">
                <a:solidFill>
                  <a:schemeClr val="tx1"/>
                </a:solidFill>
                <a:latin typeface="Arial" panose="020B0604020202020204" pitchFamily="34" charset="0"/>
                <a:ea typeface="宋体" panose="02010600030101010101" pitchFamily="2" charset="-122"/>
              </a:defRPr>
            </a:lvl2pPr>
            <a:lvl3pPr marL="1143000" indent="-228600" eaLnBrk="0" hangingPunct="0">
              <a:defRPr sz="1200" b="1">
                <a:solidFill>
                  <a:schemeClr val="tx1"/>
                </a:solidFill>
                <a:latin typeface="Arial" panose="020B0604020202020204" pitchFamily="34" charset="0"/>
                <a:ea typeface="宋体" panose="02010600030101010101" pitchFamily="2" charset="-122"/>
              </a:defRPr>
            </a:lvl3pPr>
            <a:lvl4pPr marL="1600200" indent="-228600" eaLnBrk="0" hangingPunct="0">
              <a:defRPr sz="1200" b="1">
                <a:solidFill>
                  <a:schemeClr val="tx1"/>
                </a:solidFill>
                <a:latin typeface="Arial" panose="020B0604020202020204" pitchFamily="34" charset="0"/>
                <a:ea typeface="宋体" panose="02010600030101010101" pitchFamily="2" charset="-122"/>
              </a:defRPr>
            </a:lvl4pPr>
            <a:lvl5pPr marL="2057400" indent="-228600" eaLnBrk="0" hangingPunct="0">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9pPr>
          </a:lstStyle>
          <a:p>
            <a:pPr eaLnBrk="1" hangingPunct="1">
              <a:lnSpc>
                <a:spcPct val="80000"/>
              </a:lnSpc>
            </a:pPr>
            <a:r>
              <a:rPr lang="en-US" altLang="zh-CN" sz="3200" dirty="0">
                <a:solidFill>
                  <a:srgbClr val="663300"/>
                </a:solidFill>
                <a:latin typeface="宋体" panose="02010600030101010101" pitchFamily="2" charset="-122"/>
              </a:rPr>
              <a:t>A C</a:t>
            </a:r>
            <a:endParaRPr lang="zh-CN" altLang="en-US" sz="3200" dirty="0">
              <a:solidFill>
                <a:srgbClr val="CD2711"/>
              </a:solidFill>
              <a:latin typeface="宋体" panose="02010600030101010101" pitchFamily="2" charset="-122"/>
            </a:endParaRPr>
          </a:p>
          <a:p>
            <a:pPr eaLnBrk="1" hangingPunct="1">
              <a:lnSpc>
                <a:spcPct val="80000"/>
              </a:lnSpc>
            </a:pPr>
            <a:r>
              <a:rPr lang="zh-CN" altLang="en-US" sz="3200" dirty="0">
                <a:solidFill>
                  <a:srgbClr val="CD2711"/>
                </a:solidFill>
                <a:latin typeface="宋体" panose="02010600030101010101" pitchFamily="2" charset="-122"/>
              </a:rPr>
              <a:t>0 </a:t>
            </a:r>
            <a:r>
              <a:rPr lang="zh-CN" altLang="en-US" sz="3200" dirty="0">
                <a:solidFill>
                  <a:srgbClr val="009900"/>
                </a:solidFill>
                <a:latin typeface="宋体" panose="02010600030101010101" pitchFamily="2" charset="-122"/>
              </a:rPr>
              <a:t>1</a:t>
            </a:r>
          </a:p>
          <a:p>
            <a:pPr eaLnBrk="1" hangingPunct="1">
              <a:lnSpc>
                <a:spcPct val="80000"/>
              </a:lnSpc>
            </a:pPr>
            <a:r>
              <a:rPr lang="zh-CN" altLang="en-US" sz="3200" dirty="0">
                <a:solidFill>
                  <a:srgbClr val="CD2711"/>
                </a:solidFill>
                <a:latin typeface="宋体" panose="02010600030101010101" pitchFamily="2" charset="-122"/>
              </a:rPr>
              <a:t>1 </a:t>
            </a:r>
            <a:r>
              <a:rPr lang="zh-CN" altLang="en-US" sz="3200" dirty="0">
                <a:solidFill>
                  <a:srgbClr val="009900"/>
                </a:solidFill>
                <a:latin typeface="宋体" panose="02010600030101010101" pitchFamily="2" charset="-122"/>
              </a:rPr>
              <a:t>0</a:t>
            </a:r>
            <a:endParaRPr lang="zh-CN" altLang="en-US" sz="3200" dirty="0">
              <a:solidFill>
                <a:srgbClr val="CD2711"/>
              </a:solidFill>
              <a:latin typeface="宋体" panose="02010600030101010101" pitchFamily="2" charset="-122"/>
            </a:endParaRPr>
          </a:p>
        </p:txBody>
      </p:sp>
      <p:graphicFrame>
        <p:nvGraphicFramePr>
          <p:cNvPr id="17" name="对象 2">
            <a:extLst>
              <a:ext uri="{FF2B5EF4-FFF2-40B4-BE49-F238E27FC236}">
                <a16:creationId xmlns:a16="http://schemas.microsoft.com/office/drawing/2014/main" id="{AAB95923-0810-42A0-AA30-DDBD1DF230CF}"/>
              </a:ext>
            </a:extLst>
          </p:cNvPr>
          <p:cNvGraphicFramePr>
            <a:graphicFrameLocks noChangeAspect="1"/>
          </p:cNvGraphicFramePr>
          <p:nvPr/>
        </p:nvGraphicFramePr>
        <p:xfrm>
          <a:off x="3786826" y="1927430"/>
          <a:ext cx="1040657" cy="1508825"/>
        </p:xfrm>
        <a:graphic>
          <a:graphicData uri="http://schemas.openxmlformats.org/presentationml/2006/ole">
            <mc:AlternateContent xmlns:mc="http://schemas.openxmlformats.org/markup-compatibility/2006">
              <mc:Choice xmlns:v="urn:schemas-microsoft-com:vml" Requires="v">
                <p:oleObj r:id="rId5" imgW="330200" imgH="482600" progId="Equation.DSMT4">
                  <p:embed/>
                </p:oleObj>
              </mc:Choice>
              <mc:Fallback>
                <p:oleObj r:id="rId5" imgW="330200" imgH="482600" progId="Equation.DSMT4">
                  <p:embed/>
                  <p:pic>
                    <p:nvPicPr>
                      <p:cNvPr id="17" name="对象 2">
                        <a:extLst>
                          <a:ext uri="{FF2B5EF4-FFF2-40B4-BE49-F238E27FC236}">
                            <a16:creationId xmlns:a16="http://schemas.microsoft.com/office/drawing/2014/main" id="{AAB95923-0810-42A0-AA30-DDBD1DF230C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86826" y="1927430"/>
                        <a:ext cx="1040657" cy="1508825"/>
                      </a:xfrm>
                      <a:prstGeom prst="rect">
                        <a:avLst/>
                      </a:prstGeom>
                      <a:noFill/>
                    </p:spPr>
                  </p:pic>
                </p:oleObj>
              </mc:Fallback>
            </mc:AlternateContent>
          </a:graphicData>
        </a:graphic>
      </p:graphicFrame>
      <p:sp>
        <p:nvSpPr>
          <p:cNvPr id="18" name="矩形 17">
            <a:extLst>
              <a:ext uri="{FF2B5EF4-FFF2-40B4-BE49-F238E27FC236}">
                <a16:creationId xmlns:a16="http://schemas.microsoft.com/office/drawing/2014/main" id="{0D82D091-5313-46F9-A411-A8474F073705}"/>
              </a:ext>
            </a:extLst>
          </p:cNvPr>
          <p:cNvSpPr/>
          <p:nvPr/>
        </p:nvSpPr>
        <p:spPr>
          <a:xfrm>
            <a:off x="1465836" y="1927430"/>
            <a:ext cx="4953000" cy="584775"/>
          </a:xfrm>
          <a:prstGeom prst="rect">
            <a:avLst/>
          </a:prstGeom>
        </p:spPr>
        <p:txBody>
          <a:bodyPr>
            <a:spAutoFit/>
          </a:bodyPr>
          <a:lstStyle/>
          <a:p>
            <a:r>
              <a:rPr lang="zh-CN" altLang="en-US" dirty="0">
                <a:latin typeface="楷体_GB2312" pitchFamily="49" charset="-122"/>
                <a:ea typeface="楷体_GB2312" pitchFamily="49" charset="-122"/>
              </a:rPr>
              <a:t>运算规则：</a:t>
            </a:r>
            <a:endParaRPr lang="zh-CN" altLang="en-US" dirty="0"/>
          </a:p>
        </p:txBody>
      </p:sp>
    </p:spTree>
    <p:extLst>
      <p:ext uri="{BB962C8B-B14F-4D97-AF65-F5344CB8AC3E}">
        <p14:creationId xmlns:p14="http://schemas.microsoft.com/office/powerpoint/2010/main" val="1284246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600" dirty="0">
                <a:solidFill>
                  <a:prstClr val="black"/>
                </a:solidFill>
                <a:latin typeface="华文楷体" panose="02010600040101010101" pitchFamily="2" charset="-122"/>
                <a:ea typeface="华文楷体" panose="02010600040101010101" pitchFamily="2" charset="-122"/>
              </a:rPr>
              <a:t>第二章</a:t>
            </a:r>
            <a:endParaRPr kumimoji="0" lang="en-US" altLang="zh-CN" sz="3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endParaRPr>
          </a:p>
        </p:txBody>
      </p:sp>
      <p:pic>
        <p:nvPicPr>
          <p:cNvPr id="8" name="图片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19441" y="6219825"/>
            <a:ext cx="536892" cy="542925"/>
          </a:xfrm>
          <a:prstGeom prst="rect">
            <a:avLst/>
          </a:prstGeom>
        </p:spPr>
      </p:pic>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16" name="Rectangle 11">
            <a:extLst>
              <a:ext uri="{FF2B5EF4-FFF2-40B4-BE49-F238E27FC236}">
                <a16:creationId xmlns:a16="http://schemas.microsoft.com/office/drawing/2014/main" id="{E064E363-6CD5-4BA2-AF07-DD4F956B7C8D}"/>
              </a:ext>
            </a:extLst>
          </p:cNvPr>
          <p:cNvSpPr>
            <a:spLocks noChangeArrowheads="1"/>
          </p:cNvSpPr>
          <p:nvPr/>
        </p:nvSpPr>
        <p:spPr bwMode="auto">
          <a:xfrm>
            <a:off x="1385291" y="1104481"/>
            <a:ext cx="263405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b="1">
                <a:solidFill>
                  <a:schemeClr val="tx1"/>
                </a:solidFill>
                <a:latin typeface="Arial" panose="020B0604020202020204" pitchFamily="34" charset="0"/>
                <a:ea typeface="宋体" panose="02010600030101010101" pitchFamily="2" charset="-122"/>
              </a:defRPr>
            </a:lvl1pPr>
            <a:lvl2pPr marL="742950" indent="-285750" eaLnBrk="0" hangingPunct="0">
              <a:defRPr sz="1200" b="1">
                <a:solidFill>
                  <a:schemeClr val="tx1"/>
                </a:solidFill>
                <a:latin typeface="Arial" panose="020B0604020202020204" pitchFamily="34" charset="0"/>
                <a:ea typeface="宋体" panose="02010600030101010101" pitchFamily="2" charset="-122"/>
              </a:defRPr>
            </a:lvl2pPr>
            <a:lvl3pPr marL="1143000" indent="-228600" eaLnBrk="0" hangingPunct="0">
              <a:defRPr sz="1200" b="1">
                <a:solidFill>
                  <a:schemeClr val="tx1"/>
                </a:solidFill>
                <a:latin typeface="Arial" panose="020B0604020202020204" pitchFamily="34" charset="0"/>
                <a:ea typeface="宋体" panose="02010600030101010101" pitchFamily="2" charset="-122"/>
              </a:defRPr>
            </a:lvl3pPr>
            <a:lvl4pPr marL="1600200" indent="-228600" eaLnBrk="0" hangingPunct="0">
              <a:defRPr sz="1200" b="1">
                <a:solidFill>
                  <a:schemeClr val="tx1"/>
                </a:solidFill>
                <a:latin typeface="Arial" panose="020B0604020202020204" pitchFamily="34" charset="0"/>
                <a:ea typeface="宋体" panose="02010600030101010101" pitchFamily="2" charset="-122"/>
              </a:defRPr>
            </a:lvl4pPr>
            <a:lvl5pPr marL="2057400" indent="-228600" eaLnBrk="0" hangingPunct="0">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9pPr>
          </a:lstStyle>
          <a:p>
            <a:pPr eaLnBrk="1" hangingPunct="1"/>
            <a:r>
              <a:rPr lang="zh-CN" altLang="zh-CN" sz="3200" dirty="0">
                <a:solidFill>
                  <a:srgbClr val="FF0000"/>
                </a:solidFill>
                <a:latin typeface="微软雅黑" panose="020B0503020204020204" pitchFamily="34" charset="-122"/>
                <a:ea typeface="微软雅黑" panose="020B0503020204020204" pitchFamily="34" charset="-122"/>
              </a:rPr>
              <a:t>4.</a:t>
            </a:r>
            <a:r>
              <a:rPr lang="en-US" altLang="zh-CN" sz="3200" dirty="0">
                <a:solidFill>
                  <a:srgbClr val="FF0000"/>
                </a:solidFill>
                <a:latin typeface="微软雅黑" panose="020B0503020204020204" pitchFamily="34" charset="-122"/>
                <a:ea typeface="微软雅黑" panose="020B0503020204020204" pitchFamily="34" charset="-122"/>
              </a:rPr>
              <a:t> </a:t>
            </a:r>
            <a:r>
              <a:rPr lang="zh-CN" altLang="zh-CN" sz="3200" dirty="0">
                <a:solidFill>
                  <a:srgbClr val="FF0000"/>
                </a:solidFill>
                <a:latin typeface="微软雅黑" panose="020B0503020204020204" pitchFamily="34" charset="-122"/>
                <a:ea typeface="微软雅黑" panose="020B0503020204020204" pitchFamily="34" charset="-122"/>
              </a:rPr>
              <a:t>异或（</a:t>
            </a:r>
            <a:r>
              <a:rPr lang="zh-CN" altLang="en-US" sz="3200" dirty="0">
                <a:solidFill>
                  <a:srgbClr val="FF0000"/>
                </a:solidFill>
                <a:latin typeface="微软雅黑" panose="020B0503020204020204" pitchFamily="34" charset="-122"/>
                <a:ea typeface="微软雅黑" panose="020B0503020204020204" pitchFamily="34" charset="-122"/>
                <a:sym typeface="Symbol" panose="05050102010706020507" pitchFamily="18" charset="2"/>
              </a:rPr>
              <a:t></a:t>
            </a:r>
            <a:r>
              <a:rPr lang="zh-CN" altLang="zh-CN" sz="3200" dirty="0">
                <a:solidFill>
                  <a:srgbClr val="FF0000"/>
                </a:solidFill>
                <a:latin typeface="微软雅黑" panose="020B0503020204020204" pitchFamily="34" charset="-122"/>
                <a:ea typeface="微软雅黑" panose="020B0503020204020204" pitchFamily="34" charset="-122"/>
              </a:rPr>
              <a:t>）</a:t>
            </a:r>
            <a:endParaRPr lang="zh-CN" altLang="en-US" sz="3200" dirty="0">
              <a:solidFill>
                <a:srgbClr val="FF0000"/>
              </a:solidFill>
              <a:latin typeface="微软雅黑" panose="020B0503020204020204" pitchFamily="34" charset="-122"/>
              <a:ea typeface="微软雅黑" panose="020B0503020204020204" pitchFamily="34" charset="-122"/>
            </a:endParaRPr>
          </a:p>
        </p:txBody>
      </p:sp>
      <p:sp>
        <p:nvSpPr>
          <p:cNvPr id="17" name="Rectangle 12">
            <a:extLst>
              <a:ext uri="{FF2B5EF4-FFF2-40B4-BE49-F238E27FC236}">
                <a16:creationId xmlns:a16="http://schemas.microsoft.com/office/drawing/2014/main" id="{4A10FCE5-3128-49EA-856B-D97EA11D29FF}"/>
              </a:ext>
            </a:extLst>
          </p:cNvPr>
          <p:cNvSpPr>
            <a:spLocks noChangeArrowheads="1"/>
          </p:cNvSpPr>
          <p:nvPr/>
        </p:nvSpPr>
        <p:spPr bwMode="auto">
          <a:xfrm>
            <a:off x="1406780" y="1833143"/>
            <a:ext cx="8377972"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200" b="1">
                <a:solidFill>
                  <a:schemeClr val="tx1"/>
                </a:solidFill>
                <a:latin typeface="Arial" panose="020B0604020202020204" pitchFamily="34" charset="0"/>
                <a:ea typeface="宋体" panose="02010600030101010101" pitchFamily="2" charset="-122"/>
              </a:defRPr>
            </a:lvl1pPr>
            <a:lvl2pPr marL="742950" indent="-285750" eaLnBrk="0" hangingPunct="0">
              <a:defRPr sz="1200" b="1">
                <a:solidFill>
                  <a:schemeClr val="tx1"/>
                </a:solidFill>
                <a:latin typeface="Arial" panose="020B0604020202020204" pitchFamily="34" charset="0"/>
                <a:ea typeface="宋体" panose="02010600030101010101" pitchFamily="2" charset="-122"/>
              </a:defRPr>
            </a:lvl2pPr>
            <a:lvl3pPr marL="1143000" indent="-228600" eaLnBrk="0" hangingPunct="0">
              <a:defRPr sz="1200" b="1">
                <a:solidFill>
                  <a:schemeClr val="tx1"/>
                </a:solidFill>
                <a:latin typeface="Arial" panose="020B0604020202020204" pitchFamily="34" charset="0"/>
                <a:ea typeface="宋体" panose="02010600030101010101" pitchFamily="2" charset="-122"/>
              </a:defRPr>
            </a:lvl3pPr>
            <a:lvl4pPr marL="1600200" indent="-228600" eaLnBrk="0" hangingPunct="0">
              <a:defRPr sz="1200" b="1">
                <a:solidFill>
                  <a:schemeClr val="tx1"/>
                </a:solidFill>
                <a:latin typeface="Arial" panose="020B0604020202020204" pitchFamily="34" charset="0"/>
                <a:ea typeface="宋体" panose="02010600030101010101" pitchFamily="2" charset="-122"/>
              </a:defRPr>
            </a:lvl4pPr>
            <a:lvl5pPr marL="2057400" indent="-228600" eaLnBrk="0" hangingPunct="0">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9pPr>
          </a:lstStyle>
          <a:p>
            <a:pPr eaLnBrk="1" hangingPunct="1"/>
            <a:r>
              <a:rPr lang="zh-CN" altLang="en-US" sz="3200" dirty="0">
                <a:latin typeface="华文仿宋" panose="02010600040101010101" pitchFamily="2" charset="-122"/>
                <a:ea typeface="华文仿宋" panose="02010600040101010101" pitchFamily="2" charset="-122"/>
              </a:rPr>
              <a:t>两逻辑变量相同时，输出为 0，不同时为 1</a:t>
            </a:r>
            <a:endParaRPr lang="en-US" altLang="zh-CN" sz="3200" dirty="0">
              <a:latin typeface="华文仿宋" panose="02010600040101010101" pitchFamily="2" charset="-122"/>
              <a:ea typeface="华文仿宋" panose="02010600040101010101" pitchFamily="2" charset="-122"/>
            </a:endParaRPr>
          </a:p>
          <a:p>
            <a:pPr eaLnBrk="1" hangingPunct="1"/>
            <a:r>
              <a:rPr lang="zh-CN" altLang="en-US" sz="3200" dirty="0">
                <a:latin typeface="华文仿宋" panose="02010600040101010101" pitchFamily="2" charset="-122"/>
                <a:ea typeface="华文仿宋" panose="02010600040101010101" pitchFamily="2" charset="-122"/>
              </a:rPr>
              <a:t>运算规则：</a:t>
            </a:r>
          </a:p>
        </p:txBody>
      </p:sp>
      <p:sp>
        <p:nvSpPr>
          <p:cNvPr id="18" name="Text Box 20">
            <a:extLst>
              <a:ext uri="{FF2B5EF4-FFF2-40B4-BE49-F238E27FC236}">
                <a16:creationId xmlns:a16="http://schemas.microsoft.com/office/drawing/2014/main" id="{449B1FF7-E02B-41B5-B10A-8F6B132503FE}"/>
              </a:ext>
            </a:extLst>
          </p:cNvPr>
          <p:cNvSpPr txBox="1">
            <a:spLocks noChangeArrowheads="1"/>
          </p:cNvSpPr>
          <p:nvPr/>
        </p:nvSpPr>
        <p:spPr bwMode="auto">
          <a:xfrm>
            <a:off x="8097217" y="2421226"/>
            <a:ext cx="20732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ea typeface="宋体" panose="02010600030101010101" pitchFamily="2" charset="-122"/>
              </a:defRPr>
            </a:lvl1pPr>
            <a:lvl2pPr marL="742950" indent="-285750" eaLnBrk="0" hangingPunct="0">
              <a:defRPr sz="1200" b="1">
                <a:solidFill>
                  <a:schemeClr val="tx1"/>
                </a:solidFill>
                <a:latin typeface="Arial" panose="020B0604020202020204" pitchFamily="34" charset="0"/>
                <a:ea typeface="宋体" panose="02010600030101010101" pitchFamily="2" charset="-122"/>
              </a:defRPr>
            </a:lvl2pPr>
            <a:lvl3pPr marL="1143000" indent="-228600" eaLnBrk="0" hangingPunct="0">
              <a:defRPr sz="1200" b="1">
                <a:solidFill>
                  <a:schemeClr val="tx1"/>
                </a:solidFill>
                <a:latin typeface="Arial" panose="020B0604020202020204" pitchFamily="34" charset="0"/>
                <a:ea typeface="宋体" panose="02010600030101010101" pitchFamily="2" charset="-122"/>
              </a:defRPr>
            </a:lvl3pPr>
            <a:lvl4pPr marL="1600200" indent="-228600" eaLnBrk="0" hangingPunct="0">
              <a:defRPr sz="1200" b="1">
                <a:solidFill>
                  <a:schemeClr val="tx1"/>
                </a:solidFill>
                <a:latin typeface="Arial" panose="020B0604020202020204" pitchFamily="34" charset="0"/>
                <a:ea typeface="宋体" panose="02010600030101010101" pitchFamily="2" charset="-122"/>
              </a:defRPr>
            </a:lvl4pPr>
            <a:lvl5pPr marL="2057400" indent="-228600" eaLnBrk="0" hangingPunct="0">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9pPr>
          </a:lstStyle>
          <a:p>
            <a:pPr eaLnBrk="1" hangingPunct="1"/>
            <a:r>
              <a:rPr lang="zh-CN" altLang="en-US" sz="3600" dirty="0">
                <a:latin typeface="隶书" panose="02010509060101010101" pitchFamily="49" charset="-122"/>
                <a:ea typeface="隶书" panose="02010509060101010101" pitchFamily="49" charset="-122"/>
              </a:rPr>
              <a:t>真值表</a:t>
            </a:r>
          </a:p>
        </p:txBody>
      </p:sp>
      <p:sp>
        <p:nvSpPr>
          <p:cNvPr id="19" name="Text Box 21">
            <a:extLst>
              <a:ext uri="{FF2B5EF4-FFF2-40B4-BE49-F238E27FC236}">
                <a16:creationId xmlns:a16="http://schemas.microsoft.com/office/drawing/2014/main" id="{FF3618B7-F200-44BC-B1BD-2AB0B2C45B4B}"/>
              </a:ext>
            </a:extLst>
          </p:cNvPr>
          <p:cNvSpPr txBox="1">
            <a:spLocks noChangeArrowheads="1"/>
          </p:cNvSpPr>
          <p:nvPr/>
        </p:nvSpPr>
        <p:spPr bwMode="auto">
          <a:xfrm>
            <a:off x="8117033" y="3198728"/>
            <a:ext cx="1633537" cy="2062163"/>
          </a:xfrm>
          <a:prstGeom prst="rect">
            <a:avLst/>
          </a:prstGeom>
          <a:solidFill>
            <a:srgbClr val="FFFFCC"/>
          </a:solidFill>
          <a:ln w="28575">
            <a:solidFill>
              <a:srgbClr val="0070C0"/>
            </a:solidFill>
          </a:ln>
        </p:spPr>
        <p:txBody>
          <a:bodyPr wrap="none">
            <a:spAutoFit/>
          </a:bodyPr>
          <a:lstStyle>
            <a:lvl1pPr eaLnBrk="0" hangingPunct="0">
              <a:defRPr sz="1200" b="1">
                <a:solidFill>
                  <a:schemeClr val="tx1"/>
                </a:solidFill>
                <a:latin typeface="Arial" panose="020B0604020202020204" pitchFamily="34" charset="0"/>
                <a:ea typeface="宋体" panose="02010600030101010101" pitchFamily="2" charset="-122"/>
              </a:defRPr>
            </a:lvl1pPr>
            <a:lvl2pPr marL="742950" indent="-285750" eaLnBrk="0" hangingPunct="0">
              <a:defRPr sz="1200" b="1">
                <a:solidFill>
                  <a:schemeClr val="tx1"/>
                </a:solidFill>
                <a:latin typeface="Arial" panose="020B0604020202020204" pitchFamily="34" charset="0"/>
                <a:ea typeface="宋体" panose="02010600030101010101" pitchFamily="2" charset="-122"/>
              </a:defRPr>
            </a:lvl2pPr>
            <a:lvl3pPr marL="1143000" indent="-228600" eaLnBrk="0" hangingPunct="0">
              <a:defRPr sz="1200" b="1">
                <a:solidFill>
                  <a:schemeClr val="tx1"/>
                </a:solidFill>
                <a:latin typeface="Arial" panose="020B0604020202020204" pitchFamily="34" charset="0"/>
                <a:ea typeface="宋体" panose="02010600030101010101" pitchFamily="2" charset="-122"/>
              </a:defRPr>
            </a:lvl3pPr>
            <a:lvl4pPr marL="1600200" indent="-228600" eaLnBrk="0" hangingPunct="0">
              <a:defRPr sz="1200" b="1">
                <a:solidFill>
                  <a:schemeClr val="tx1"/>
                </a:solidFill>
                <a:latin typeface="Arial" panose="020B0604020202020204" pitchFamily="34" charset="0"/>
                <a:ea typeface="宋体" panose="02010600030101010101" pitchFamily="2" charset="-122"/>
              </a:defRPr>
            </a:lvl4pPr>
            <a:lvl5pPr marL="2057400" indent="-228600" eaLnBrk="0" hangingPunct="0">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9pPr>
          </a:lstStyle>
          <a:p>
            <a:pPr eaLnBrk="1" hangingPunct="1">
              <a:lnSpc>
                <a:spcPct val="80000"/>
              </a:lnSpc>
            </a:pPr>
            <a:r>
              <a:rPr lang="en-US" altLang="zh-CN" sz="3200" dirty="0">
                <a:solidFill>
                  <a:srgbClr val="663300"/>
                </a:solidFill>
                <a:latin typeface="宋体" panose="02010600030101010101" pitchFamily="2" charset="-122"/>
              </a:rPr>
              <a:t>A  B  C</a:t>
            </a:r>
            <a:endParaRPr lang="zh-CN" altLang="en-US" sz="3200" dirty="0">
              <a:solidFill>
                <a:srgbClr val="CD2711"/>
              </a:solidFill>
              <a:latin typeface="宋体" panose="02010600030101010101" pitchFamily="2" charset="-122"/>
            </a:endParaRPr>
          </a:p>
          <a:p>
            <a:pPr eaLnBrk="1" hangingPunct="1">
              <a:lnSpc>
                <a:spcPct val="80000"/>
              </a:lnSpc>
            </a:pPr>
            <a:r>
              <a:rPr lang="zh-CN" altLang="en-US" sz="3200" dirty="0">
                <a:solidFill>
                  <a:srgbClr val="CD2711"/>
                </a:solidFill>
                <a:latin typeface="宋体" panose="02010600030101010101" pitchFamily="2" charset="-122"/>
              </a:rPr>
              <a:t>0  0  </a:t>
            </a:r>
            <a:r>
              <a:rPr lang="zh-CN" altLang="en-US" sz="3200" dirty="0">
                <a:solidFill>
                  <a:srgbClr val="009900"/>
                </a:solidFill>
                <a:latin typeface="宋体" panose="02010600030101010101" pitchFamily="2" charset="-122"/>
              </a:rPr>
              <a:t>0</a:t>
            </a:r>
          </a:p>
          <a:p>
            <a:pPr eaLnBrk="1" hangingPunct="1">
              <a:lnSpc>
                <a:spcPct val="80000"/>
              </a:lnSpc>
            </a:pPr>
            <a:r>
              <a:rPr lang="zh-CN" altLang="en-US" sz="3200" dirty="0">
                <a:solidFill>
                  <a:srgbClr val="CD2711"/>
                </a:solidFill>
                <a:latin typeface="宋体" panose="02010600030101010101" pitchFamily="2" charset="-122"/>
              </a:rPr>
              <a:t>0  1  </a:t>
            </a:r>
            <a:r>
              <a:rPr lang="zh-CN" altLang="en-US" sz="3200" dirty="0">
                <a:solidFill>
                  <a:srgbClr val="009900"/>
                </a:solidFill>
                <a:latin typeface="宋体" panose="02010600030101010101" pitchFamily="2" charset="-122"/>
              </a:rPr>
              <a:t>1</a:t>
            </a:r>
            <a:endParaRPr lang="zh-CN" altLang="en-US" sz="3200" dirty="0">
              <a:solidFill>
                <a:srgbClr val="CD2711"/>
              </a:solidFill>
              <a:latin typeface="宋体" panose="02010600030101010101" pitchFamily="2" charset="-122"/>
            </a:endParaRPr>
          </a:p>
          <a:p>
            <a:pPr eaLnBrk="1" hangingPunct="1">
              <a:lnSpc>
                <a:spcPct val="80000"/>
              </a:lnSpc>
            </a:pPr>
            <a:r>
              <a:rPr lang="zh-CN" altLang="en-US" sz="3200" dirty="0">
                <a:solidFill>
                  <a:srgbClr val="CD2711"/>
                </a:solidFill>
                <a:latin typeface="宋体" panose="02010600030101010101" pitchFamily="2" charset="-122"/>
              </a:rPr>
              <a:t>1  0  </a:t>
            </a:r>
            <a:r>
              <a:rPr lang="zh-CN" altLang="en-US" sz="3200" dirty="0">
                <a:solidFill>
                  <a:srgbClr val="009900"/>
                </a:solidFill>
                <a:latin typeface="宋体" panose="02010600030101010101" pitchFamily="2" charset="-122"/>
              </a:rPr>
              <a:t>1</a:t>
            </a:r>
          </a:p>
          <a:p>
            <a:pPr eaLnBrk="1" hangingPunct="1">
              <a:lnSpc>
                <a:spcPct val="80000"/>
              </a:lnSpc>
            </a:pPr>
            <a:r>
              <a:rPr lang="zh-CN" altLang="en-US" sz="3200" dirty="0">
                <a:solidFill>
                  <a:srgbClr val="CD2711"/>
                </a:solidFill>
                <a:latin typeface="宋体" panose="02010600030101010101" pitchFamily="2" charset="-122"/>
              </a:rPr>
              <a:t>1  1  </a:t>
            </a:r>
            <a:r>
              <a:rPr lang="zh-CN" altLang="en-US" sz="3200" dirty="0">
                <a:solidFill>
                  <a:srgbClr val="009900"/>
                </a:solidFill>
                <a:latin typeface="宋体" panose="02010600030101010101" pitchFamily="2" charset="-122"/>
              </a:rPr>
              <a:t>0</a:t>
            </a:r>
            <a:endParaRPr lang="zh-CN" altLang="en-US" sz="3200" dirty="0">
              <a:solidFill>
                <a:srgbClr val="CD2711"/>
              </a:solidFill>
              <a:latin typeface="宋体" panose="02010600030101010101" pitchFamily="2" charset="-122"/>
            </a:endParaRPr>
          </a:p>
        </p:txBody>
      </p:sp>
      <p:sp>
        <p:nvSpPr>
          <p:cNvPr id="20" name="矩形 12">
            <a:extLst>
              <a:ext uri="{FF2B5EF4-FFF2-40B4-BE49-F238E27FC236}">
                <a16:creationId xmlns:a16="http://schemas.microsoft.com/office/drawing/2014/main" id="{A0420082-820D-4C68-BB9D-F930A6A465BE}"/>
              </a:ext>
            </a:extLst>
          </p:cNvPr>
          <p:cNvSpPr>
            <a:spLocks noChangeArrowheads="1"/>
          </p:cNvSpPr>
          <p:nvPr/>
        </p:nvSpPr>
        <p:spPr bwMode="auto">
          <a:xfrm>
            <a:off x="3587624" y="2998672"/>
            <a:ext cx="1550988" cy="2062103"/>
          </a:xfrm>
          <a:prstGeom prst="rect">
            <a:avLst/>
          </a:prstGeom>
          <a:noFill/>
          <a:ln w="9525">
            <a:noFill/>
            <a:miter lim="800000"/>
          </a:ln>
        </p:spPr>
        <p:txBody>
          <a:bodyPr>
            <a:spAutoFit/>
          </a:bodyPr>
          <a:lstStyle/>
          <a:p>
            <a:pPr algn="ctr" eaLnBrk="1" hangingPunct="1"/>
            <a:r>
              <a:rPr lang="en-US" altLang="zh-CN" sz="3200" dirty="0"/>
              <a:t>0</a:t>
            </a:r>
            <a:r>
              <a:rPr lang="zh-CN" altLang="zh-CN" sz="3200" dirty="0"/>
              <a:t>⊕</a:t>
            </a:r>
            <a:r>
              <a:rPr lang="en-US" altLang="zh-CN" sz="3200" dirty="0"/>
              <a:t>0=0</a:t>
            </a:r>
            <a:endParaRPr lang="zh-CN" altLang="zh-CN" sz="3200" dirty="0"/>
          </a:p>
          <a:p>
            <a:pPr algn="ctr" eaLnBrk="1" hangingPunct="1"/>
            <a:r>
              <a:rPr lang="en-US" altLang="zh-CN" sz="3200" dirty="0"/>
              <a:t>1</a:t>
            </a:r>
            <a:r>
              <a:rPr lang="zh-CN" altLang="zh-CN" sz="3200" dirty="0"/>
              <a:t>⊕</a:t>
            </a:r>
            <a:r>
              <a:rPr lang="en-US" altLang="zh-CN" sz="3200" dirty="0"/>
              <a:t>0=1</a:t>
            </a:r>
            <a:endParaRPr lang="zh-CN" altLang="zh-CN" sz="3200" dirty="0"/>
          </a:p>
          <a:p>
            <a:pPr algn="ctr" eaLnBrk="1" hangingPunct="1"/>
            <a:r>
              <a:rPr lang="en-US" altLang="zh-CN" sz="3200" dirty="0"/>
              <a:t>0</a:t>
            </a:r>
            <a:r>
              <a:rPr lang="zh-CN" altLang="zh-CN" sz="3200" dirty="0"/>
              <a:t>⊕</a:t>
            </a:r>
            <a:r>
              <a:rPr lang="en-US" altLang="zh-CN" sz="3200" dirty="0"/>
              <a:t>1=1</a:t>
            </a:r>
            <a:endParaRPr lang="zh-CN" altLang="zh-CN" sz="3200" dirty="0"/>
          </a:p>
          <a:p>
            <a:pPr algn="ctr" eaLnBrk="1" hangingPunct="1"/>
            <a:r>
              <a:rPr lang="en-US" altLang="zh-CN" sz="3200" dirty="0"/>
              <a:t>1</a:t>
            </a:r>
            <a:r>
              <a:rPr lang="zh-CN" altLang="zh-CN" sz="3200" dirty="0"/>
              <a:t>⊕</a:t>
            </a:r>
            <a:r>
              <a:rPr lang="en-US" altLang="zh-CN" sz="3200" dirty="0"/>
              <a:t>1=0</a:t>
            </a:r>
            <a:endParaRPr lang="zh-CN" altLang="zh-CN" sz="3200" dirty="0"/>
          </a:p>
        </p:txBody>
      </p:sp>
    </p:spTree>
    <p:extLst>
      <p:ext uri="{BB962C8B-B14F-4D97-AF65-F5344CB8AC3E}">
        <p14:creationId xmlns:p14="http://schemas.microsoft.com/office/powerpoint/2010/main" val="2307791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600" dirty="0">
                <a:solidFill>
                  <a:prstClr val="black"/>
                </a:solidFill>
                <a:latin typeface="华文楷体" panose="02010600040101010101" pitchFamily="2" charset="-122"/>
                <a:ea typeface="华文楷体" panose="02010600040101010101" pitchFamily="2" charset="-122"/>
              </a:rPr>
              <a:t>第二章</a:t>
            </a:r>
            <a:endParaRPr kumimoji="0" lang="en-US" altLang="zh-CN" sz="3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endParaRPr>
          </a:p>
        </p:txBody>
      </p:sp>
      <p:pic>
        <p:nvPicPr>
          <p:cNvPr id="8" name="图片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19441" y="6219825"/>
            <a:ext cx="536892" cy="542925"/>
          </a:xfrm>
          <a:prstGeom prst="rect">
            <a:avLst/>
          </a:prstGeom>
        </p:spPr>
      </p:pic>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grpSp>
        <p:nvGrpSpPr>
          <p:cNvPr id="9" name="Group 5">
            <a:extLst>
              <a:ext uri="{FF2B5EF4-FFF2-40B4-BE49-F238E27FC236}">
                <a16:creationId xmlns:a16="http://schemas.microsoft.com/office/drawing/2014/main" id="{E973F178-24F2-41FA-A02B-FC8F2100ACB3}"/>
              </a:ext>
            </a:extLst>
          </p:cNvPr>
          <p:cNvGrpSpPr/>
          <p:nvPr/>
        </p:nvGrpSpPr>
        <p:grpSpPr bwMode="auto">
          <a:xfrm>
            <a:off x="3588483" y="2237334"/>
            <a:ext cx="6763176" cy="1230313"/>
            <a:chOff x="1891" y="1561"/>
            <a:chExt cx="4249" cy="775"/>
          </a:xfrm>
        </p:grpSpPr>
        <p:sp>
          <p:nvSpPr>
            <p:cNvPr id="11" name="Text Box 6">
              <a:extLst>
                <a:ext uri="{FF2B5EF4-FFF2-40B4-BE49-F238E27FC236}">
                  <a16:creationId xmlns:a16="http://schemas.microsoft.com/office/drawing/2014/main" id="{89712909-5D81-487F-903A-0BD6A9CFBBBC}"/>
                </a:ext>
              </a:extLst>
            </p:cNvPr>
            <p:cNvSpPr txBox="1">
              <a:spLocks noChangeArrowheads="1"/>
            </p:cNvSpPr>
            <p:nvPr/>
          </p:nvSpPr>
          <p:spPr bwMode="auto">
            <a:xfrm>
              <a:off x="1891" y="1561"/>
              <a:ext cx="2499"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b="1">
                  <a:solidFill>
                    <a:schemeClr val="tx1"/>
                  </a:solidFill>
                  <a:latin typeface="Arial" panose="020B0604020202020204" pitchFamily="34" charset="0"/>
                  <a:ea typeface="宋体" panose="02010600030101010101" pitchFamily="2" charset="-122"/>
                </a:defRPr>
              </a:lvl1pPr>
              <a:lvl2pPr marL="742950" indent="-285750" eaLnBrk="0" hangingPunct="0">
                <a:defRPr sz="1200" b="1">
                  <a:solidFill>
                    <a:schemeClr val="tx1"/>
                  </a:solidFill>
                  <a:latin typeface="Arial" panose="020B0604020202020204" pitchFamily="34" charset="0"/>
                  <a:ea typeface="宋体" panose="02010600030101010101" pitchFamily="2" charset="-122"/>
                </a:defRPr>
              </a:lvl2pPr>
              <a:lvl3pPr marL="1143000" indent="-228600" eaLnBrk="0" hangingPunct="0">
                <a:defRPr sz="1200" b="1">
                  <a:solidFill>
                    <a:schemeClr val="tx1"/>
                  </a:solidFill>
                  <a:latin typeface="Arial" panose="020B0604020202020204" pitchFamily="34" charset="0"/>
                  <a:ea typeface="宋体" panose="02010600030101010101" pitchFamily="2" charset="-122"/>
                </a:defRPr>
              </a:lvl3pPr>
              <a:lvl4pPr marL="1600200" indent="-228600" eaLnBrk="0" hangingPunct="0">
                <a:defRPr sz="1200" b="1">
                  <a:solidFill>
                    <a:schemeClr val="tx1"/>
                  </a:solidFill>
                  <a:latin typeface="Arial" panose="020B0604020202020204" pitchFamily="34" charset="0"/>
                  <a:ea typeface="宋体" panose="02010600030101010101" pitchFamily="2" charset="-122"/>
                </a:defRPr>
              </a:lvl4pPr>
              <a:lvl5pPr marL="2057400" indent="-228600" eaLnBrk="0" hangingPunct="0">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9pPr>
            </a:lstStyle>
            <a:p>
              <a:pPr eaLnBrk="1" hangingPunct="1"/>
              <a:r>
                <a:rPr lang="zh-CN" altLang="zh-CN" sz="3200" dirty="0">
                  <a:latin typeface="宋体" panose="02010600030101010101" pitchFamily="2" charset="-122"/>
                </a:rPr>
                <a:t>已知：</a:t>
              </a:r>
              <a:r>
                <a:rPr lang="en-US" altLang="en-US" sz="3600" dirty="0">
                  <a:latin typeface="宋体" panose="02010600030101010101" pitchFamily="2" charset="-122"/>
                </a:rPr>
                <a:t>A=0,B=1,C=1</a:t>
              </a:r>
              <a:endParaRPr lang="zh-CN" altLang="en-US" sz="3600" dirty="0">
                <a:latin typeface="宋体" panose="02010600030101010101" pitchFamily="2" charset="-122"/>
              </a:endParaRPr>
            </a:p>
          </p:txBody>
        </p:sp>
        <p:sp>
          <p:nvSpPr>
            <p:cNvPr id="12" name="Text Box 7">
              <a:extLst>
                <a:ext uri="{FF2B5EF4-FFF2-40B4-BE49-F238E27FC236}">
                  <a16:creationId xmlns:a16="http://schemas.microsoft.com/office/drawing/2014/main" id="{793AD991-2F78-4CB2-9173-6D7B896FF905}"/>
                </a:ext>
              </a:extLst>
            </p:cNvPr>
            <p:cNvSpPr txBox="1">
              <a:spLocks noChangeArrowheads="1"/>
            </p:cNvSpPr>
            <p:nvPr/>
          </p:nvSpPr>
          <p:spPr bwMode="auto">
            <a:xfrm>
              <a:off x="1891" y="1929"/>
              <a:ext cx="4249"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b="1">
                  <a:solidFill>
                    <a:schemeClr val="tx1"/>
                  </a:solidFill>
                  <a:latin typeface="Arial" panose="020B0604020202020204" pitchFamily="34" charset="0"/>
                  <a:ea typeface="宋体" panose="02010600030101010101" pitchFamily="2" charset="-122"/>
                </a:defRPr>
              </a:lvl1pPr>
              <a:lvl2pPr marL="742950" indent="-285750" eaLnBrk="0" hangingPunct="0">
                <a:defRPr sz="1200" b="1">
                  <a:solidFill>
                    <a:schemeClr val="tx1"/>
                  </a:solidFill>
                  <a:latin typeface="Arial" panose="020B0604020202020204" pitchFamily="34" charset="0"/>
                  <a:ea typeface="宋体" panose="02010600030101010101" pitchFamily="2" charset="-122"/>
                </a:defRPr>
              </a:lvl2pPr>
              <a:lvl3pPr marL="1143000" indent="-228600" eaLnBrk="0" hangingPunct="0">
                <a:defRPr sz="1200" b="1">
                  <a:solidFill>
                    <a:schemeClr val="tx1"/>
                  </a:solidFill>
                  <a:latin typeface="Arial" panose="020B0604020202020204" pitchFamily="34" charset="0"/>
                  <a:ea typeface="宋体" panose="02010600030101010101" pitchFamily="2" charset="-122"/>
                </a:defRPr>
              </a:lvl3pPr>
              <a:lvl4pPr marL="1600200" indent="-228600" eaLnBrk="0" hangingPunct="0">
                <a:defRPr sz="1200" b="1">
                  <a:solidFill>
                    <a:schemeClr val="tx1"/>
                  </a:solidFill>
                  <a:latin typeface="Arial" panose="020B0604020202020204" pitchFamily="34" charset="0"/>
                  <a:ea typeface="宋体" panose="02010600030101010101" pitchFamily="2" charset="-122"/>
                </a:defRPr>
              </a:lvl4pPr>
              <a:lvl5pPr marL="2057400" indent="-228600" eaLnBrk="0" hangingPunct="0">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9pPr>
            </a:lstStyle>
            <a:p>
              <a:pPr eaLnBrk="1" hangingPunct="1"/>
              <a:r>
                <a:rPr lang="zh-CN" altLang="en-US" sz="3200" dirty="0">
                  <a:latin typeface="宋体" panose="02010600030101010101" pitchFamily="2" charset="-122"/>
                </a:rPr>
                <a:t>求：</a:t>
              </a:r>
              <a:r>
                <a:rPr lang="en-US" altLang="en-US" sz="3600" dirty="0">
                  <a:latin typeface="宋体" panose="02010600030101010101" pitchFamily="2" charset="-122"/>
                </a:rPr>
                <a:t>Z=(A</a:t>
              </a:r>
              <a:r>
                <a:rPr lang="en-US" altLang="zh-CN" sz="3200" dirty="0">
                  <a:latin typeface="宋体" panose="02010600030101010101" pitchFamily="2" charset="-122"/>
                  <a:sym typeface="Symbol" panose="05050102010706020507" pitchFamily="18" charset="2"/>
                </a:rPr>
                <a:t>×</a:t>
              </a:r>
              <a:r>
                <a:rPr lang="en-US" altLang="en-US" sz="3600" dirty="0">
                  <a:latin typeface="宋体" panose="02010600030101010101" pitchFamily="2" charset="-122"/>
                  <a:sym typeface="Symbol" panose="05050102010706020507" pitchFamily="18" charset="2"/>
                </a:rPr>
                <a:t>B</a:t>
              </a:r>
              <a:r>
                <a:rPr lang="en-US" altLang="zh-CN" sz="3200" dirty="0">
                  <a:latin typeface="宋体" panose="02010600030101010101" pitchFamily="2" charset="-122"/>
                  <a:sym typeface="Symbol" panose="05050102010706020507" pitchFamily="18" charset="2"/>
                </a:rPr>
                <a:t>×</a:t>
              </a:r>
              <a:r>
                <a:rPr lang="en-US" altLang="en-US" sz="3600" dirty="0">
                  <a:latin typeface="宋体" panose="02010600030101010101" pitchFamily="2" charset="-122"/>
                  <a:sym typeface="Symbol" panose="05050102010706020507" pitchFamily="18" charset="2"/>
                </a:rPr>
                <a:t>C)</a:t>
              </a:r>
              <a:r>
                <a:rPr lang="en-US" altLang="zh-CN" sz="3200" dirty="0">
                  <a:latin typeface="宋体" panose="02010600030101010101" pitchFamily="2" charset="-122"/>
                </a:rPr>
                <a:t>+</a:t>
              </a:r>
              <a:r>
                <a:rPr lang="en-US" altLang="en-US" sz="3600" dirty="0">
                  <a:latin typeface="宋体" panose="02010600030101010101" pitchFamily="2" charset="-122"/>
                  <a:sym typeface="Symbol" panose="05050102010706020507" pitchFamily="18" charset="2"/>
                </a:rPr>
                <a:t>(A</a:t>
              </a:r>
              <a:r>
                <a:rPr lang="en-US" altLang="zh-CN" sz="3200" dirty="0">
                  <a:latin typeface="宋体" panose="02010600030101010101" pitchFamily="2" charset="-122"/>
                  <a:sym typeface="Symbol" panose="05050102010706020507" pitchFamily="18" charset="2"/>
                </a:rPr>
                <a:t>×</a:t>
              </a:r>
              <a:r>
                <a:rPr lang="en-US" altLang="en-US" sz="3600" dirty="0">
                  <a:latin typeface="宋体" panose="02010600030101010101" pitchFamily="2" charset="-122"/>
                  <a:sym typeface="Symbol" panose="05050102010706020507" pitchFamily="18" charset="2"/>
                </a:rPr>
                <a:t>B)</a:t>
              </a:r>
              <a:r>
                <a:rPr lang="en-US" altLang="zh-CN" sz="3200" dirty="0">
                  <a:latin typeface="宋体" panose="02010600030101010101" pitchFamily="2" charset="-122"/>
                  <a:sym typeface="Symbol" panose="05050102010706020507" pitchFamily="18" charset="2"/>
                </a:rPr>
                <a:t>×</a:t>
              </a:r>
              <a:r>
                <a:rPr lang="en-US" altLang="en-US" sz="3600" dirty="0">
                  <a:latin typeface="宋体" panose="02010600030101010101" pitchFamily="2" charset="-122"/>
                  <a:sym typeface="Symbol" panose="05050102010706020507" pitchFamily="18" charset="2"/>
                </a:rPr>
                <a:t>(B</a:t>
              </a:r>
              <a:r>
                <a:rPr lang="en-US" altLang="zh-CN" sz="3200" dirty="0">
                  <a:latin typeface="宋体" panose="02010600030101010101" pitchFamily="2" charset="-122"/>
                </a:rPr>
                <a:t>+</a:t>
              </a:r>
              <a:r>
                <a:rPr lang="en-US" altLang="en-US" sz="3600" dirty="0">
                  <a:latin typeface="宋体" panose="02010600030101010101" pitchFamily="2" charset="-122"/>
                  <a:sym typeface="Symbol" panose="05050102010706020507" pitchFamily="18" charset="2"/>
                </a:rPr>
                <a:t>C)</a:t>
              </a:r>
              <a:endParaRPr lang="en-US" altLang="zh-CN" sz="3600" dirty="0">
                <a:latin typeface="宋体" panose="02010600030101010101" pitchFamily="2" charset="-122"/>
                <a:sym typeface="Symbol" panose="05050102010706020507" pitchFamily="18" charset="2"/>
              </a:endParaRPr>
            </a:p>
          </p:txBody>
        </p:sp>
        <p:sp>
          <p:nvSpPr>
            <p:cNvPr id="13" name="Line 8">
              <a:extLst>
                <a:ext uri="{FF2B5EF4-FFF2-40B4-BE49-F238E27FC236}">
                  <a16:creationId xmlns:a16="http://schemas.microsoft.com/office/drawing/2014/main" id="{336F6465-6033-4AD0-8C7F-22B433D34A36}"/>
                </a:ext>
              </a:extLst>
            </p:cNvPr>
            <p:cNvSpPr>
              <a:spLocks noChangeShapeType="1"/>
            </p:cNvSpPr>
            <p:nvPr/>
          </p:nvSpPr>
          <p:spPr bwMode="auto">
            <a:xfrm>
              <a:off x="3287" y="1989"/>
              <a:ext cx="140"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 name="Line 9">
              <a:extLst>
                <a:ext uri="{FF2B5EF4-FFF2-40B4-BE49-F238E27FC236}">
                  <a16:creationId xmlns:a16="http://schemas.microsoft.com/office/drawing/2014/main" id="{A49B872D-06A3-4CFF-9857-CC37558D465F}"/>
                </a:ext>
              </a:extLst>
            </p:cNvPr>
            <p:cNvSpPr>
              <a:spLocks noChangeShapeType="1"/>
            </p:cNvSpPr>
            <p:nvPr/>
          </p:nvSpPr>
          <p:spPr bwMode="auto">
            <a:xfrm flipV="1">
              <a:off x="4273" y="2001"/>
              <a:ext cx="136"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 name="Line 10">
              <a:extLst>
                <a:ext uri="{FF2B5EF4-FFF2-40B4-BE49-F238E27FC236}">
                  <a16:creationId xmlns:a16="http://schemas.microsoft.com/office/drawing/2014/main" id="{C2A99A97-E194-4B76-8733-8029E7820916}"/>
                </a:ext>
              </a:extLst>
            </p:cNvPr>
            <p:cNvSpPr>
              <a:spLocks noChangeShapeType="1"/>
            </p:cNvSpPr>
            <p:nvPr/>
          </p:nvSpPr>
          <p:spPr bwMode="auto">
            <a:xfrm>
              <a:off x="5629" y="1977"/>
              <a:ext cx="127"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7" name="组合 16">
            <a:extLst>
              <a:ext uri="{FF2B5EF4-FFF2-40B4-BE49-F238E27FC236}">
                <a16:creationId xmlns:a16="http://schemas.microsoft.com/office/drawing/2014/main" id="{E73E208B-1D74-4DCC-BE5E-D02D81472BB7}"/>
              </a:ext>
            </a:extLst>
          </p:cNvPr>
          <p:cNvGrpSpPr/>
          <p:nvPr/>
        </p:nvGrpSpPr>
        <p:grpSpPr>
          <a:xfrm>
            <a:off x="3981189" y="3581377"/>
            <a:ext cx="6488112" cy="646331"/>
            <a:chOff x="2922588" y="3713163"/>
            <a:chExt cx="6488112" cy="646331"/>
          </a:xfrm>
        </p:grpSpPr>
        <p:sp>
          <p:nvSpPr>
            <p:cNvPr id="18" name="Text Box 12">
              <a:extLst>
                <a:ext uri="{FF2B5EF4-FFF2-40B4-BE49-F238E27FC236}">
                  <a16:creationId xmlns:a16="http://schemas.microsoft.com/office/drawing/2014/main" id="{3C59B207-460A-49E4-8854-69F22D21F36F}"/>
                </a:ext>
              </a:extLst>
            </p:cNvPr>
            <p:cNvSpPr txBox="1">
              <a:spLocks noChangeArrowheads="1"/>
            </p:cNvSpPr>
            <p:nvPr/>
          </p:nvSpPr>
          <p:spPr bwMode="auto">
            <a:xfrm>
              <a:off x="2922588" y="3713163"/>
              <a:ext cx="648811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200" b="1">
                  <a:solidFill>
                    <a:schemeClr val="tx1"/>
                  </a:solidFill>
                  <a:latin typeface="Arial" panose="020B0604020202020204" pitchFamily="34" charset="0"/>
                  <a:ea typeface="宋体" panose="02010600030101010101" pitchFamily="2" charset="-122"/>
                </a:defRPr>
              </a:lvl1pPr>
              <a:lvl2pPr marL="742950" indent="-285750" eaLnBrk="0" hangingPunct="0">
                <a:defRPr sz="1200" b="1">
                  <a:solidFill>
                    <a:schemeClr val="tx1"/>
                  </a:solidFill>
                  <a:latin typeface="Arial" panose="020B0604020202020204" pitchFamily="34" charset="0"/>
                  <a:ea typeface="宋体" panose="02010600030101010101" pitchFamily="2" charset="-122"/>
                </a:defRPr>
              </a:lvl2pPr>
              <a:lvl3pPr marL="1143000" indent="-228600" eaLnBrk="0" hangingPunct="0">
                <a:defRPr sz="1200" b="1">
                  <a:solidFill>
                    <a:schemeClr val="tx1"/>
                  </a:solidFill>
                  <a:latin typeface="Arial" panose="020B0604020202020204" pitchFamily="34" charset="0"/>
                  <a:ea typeface="宋体" panose="02010600030101010101" pitchFamily="2" charset="-122"/>
                </a:defRPr>
              </a:lvl3pPr>
              <a:lvl4pPr marL="1600200" indent="-228600" eaLnBrk="0" hangingPunct="0">
                <a:defRPr sz="1200" b="1">
                  <a:solidFill>
                    <a:schemeClr val="tx1"/>
                  </a:solidFill>
                  <a:latin typeface="Arial" panose="020B0604020202020204" pitchFamily="34" charset="0"/>
                  <a:ea typeface="宋体" panose="02010600030101010101" pitchFamily="2" charset="-122"/>
                </a:defRPr>
              </a:lvl4pPr>
              <a:lvl5pPr marL="2057400" indent="-228600" eaLnBrk="0" hangingPunct="0">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9pPr>
            </a:lstStyle>
            <a:p>
              <a:pPr eaLnBrk="1" hangingPunct="1"/>
              <a:r>
                <a:rPr lang="en-US" altLang="zh-CN" sz="3600" dirty="0">
                  <a:latin typeface="宋体" panose="02010600030101010101" pitchFamily="2" charset="-122"/>
                </a:rPr>
                <a:t>Z=(0</a:t>
              </a:r>
              <a:r>
                <a:rPr lang="en-US" altLang="zh-CN" sz="3200" dirty="0">
                  <a:latin typeface="宋体" panose="02010600030101010101" pitchFamily="2" charset="-122"/>
                  <a:sym typeface="Symbol" panose="05050102010706020507" pitchFamily="18" charset="2"/>
                </a:rPr>
                <a:t>×</a:t>
              </a:r>
              <a:r>
                <a:rPr lang="en-US" altLang="en-US" sz="3600" dirty="0">
                  <a:latin typeface="宋体" panose="02010600030101010101" pitchFamily="2" charset="-122"/>
                  <a:sym typeface="Symbol" panose="05050102010706020507" pitchFamily="18" charset="2"/>
                </a:rPr>
                <a:t>1</a:t>
              </a:r>
              <a:r>
                <a:rPr lang="en-US" altLang="zh-CN" sz="3200" dirty="0">
                  <a:latin typeface="宋体" panose="02010600030101010101" pitchFamily="2" charset="-122"/>
                  <a:sym typeface="Symbol" panose="05050102010706020507" pitchFamily="18" charset="2"/>
                </a:rPr>
                <a:t>×</a:t>
              </a:r>
              <a:r>
                <a:rPr lang="en-US" altLang="en-US" sz="3600" dirty="0">
                  <a:latin typeface="宋体" panose="02010600030101010101" pitchFamily="2" charset="-122"/>
                  <a:sym typeface="Symbol" panose="05050102010706020507" pitchFamily="18" charset="2"/>
                </a:rPr>
                <a:t>1)</a:t>
              </a:r>
              <a:r>
                <a:rPr lang="en-US" altLang="zh-CN" sz="3600" dirty="0">
                  <a:latin typeface="宋体" panose="02010600030101010101" pitchFamily="2" charset="-122"/>
                  <a:sym typeface="Symbol" panose="05050102010706020507" pitchFamily="18" charset="2"/>
                </a:rPr>
                <a:t>+</a:t>
              </a:r>
              <a:r>
                <a:rPr lang="en-US" altLang="en-US" sz="3600" dirty="0">
                  <a:latin typeface="宋体" panose="02010600030101010101" pitchFamily="2" charset="-122"/>
                  <a:sym typeface="Symbol" panose="05050102010706020507" pitchFamily="18" charset="2"/>
                </a:rPr>
                <a:t>(0</a:t>
              </a:r>
              <a:r>
                <a:rPr lang="en-US" altLang="zh-CN" sz="3200" dirty="0">
                  <a:latin typeface="宋体" panose="02010600030101010101" pitchFamily="2" charset="-122"/>
                  <a:sym typeface="Symbol" panose="05050102010706020507" pitchFamily="18" charset="2"/>
                </a:rPr>
                <a:t>×</a:t>
              </a:r>
              <a:r>
                <a:rPr lang="en-US" altLang="en-US" sz="3600" dirty="0">
                  <a:latin typeface="宋体" panose="02010600030101010101" pitchFamily="2" charset="-122"/>
                  <a:sym typeface="Symbol" panose="05050102010706020507" pitchFamily="18" charset="2"/>
                </a:rPr>
                <a:t>1)</a:t>
              </a:r>
              <a:r>
                <a:rPr lang="en-US" altLang="zh-CN" sz="3200" dirty="0">
                  <a:latin typeface="宋体" panose="02010600030101010101" pitchFamily="2" charset="-122"/>
                  <a:sym typeface="Symbol" panose="05050102010706020507" pitchFamily="18" charset="2"/>
                </a:rPr>
                <a:t>×</a:t>
              </a:r>
              <a:r>
                <a:rPr lang="en-US" altLang="en-US" sz="3600" dirty="0">
                  <a:latin typeface="宋体" panose="02010600030101010101" pitchFamily="2" charset="-122"/>
                  <a:sym typeface="Symbol" panose="05050102010706020507" pitchFamily="18" charset="2"/>
                </a:rPr>
                <a:t>(1</a:t>
              </a:r>
              <a:r>
                <a:rPr lang="en-US" altLang="zh-CN" sz="3600" dirty="0">
                  <a:latin typeface="宋体" panose="02010600030101010101" pitchFamily="2" charset="-122"/>
                  <a:sym typeface="Symbol" panose="05050102010706020507" pitchFamily="18" charset="2"/>
                </a:rPr>
                <a:t>+</a:t>
              </a:r>
              <a:r>
                <a:rPr lang="en-US" altLang="en-US" sz="3600" dirty="0">
                  <a:latin typeface="宋体" panose="02010600030101010101" pitchFamily="2" charset="-122"/>
                  <a:sym typeface="Symbol" panose="05050102010706020507" pitchFamily="18" charset="2"/>
                </a:rPr>
                <a:t>1)</a:t>
              </a:r>
            </a:p>
          </p:txBody>
        </p:sp>
        <p:sp>
          <p:nvSpPr>
            <p:cNvPr id="19" name="Line 13">
              <a:extLst>
                <a:ext uri="{FF2B5EF4-FFF2-40B4-BE49-F238E27FC236}">
                  <a16:creationId xmlns:a16="http://schemas.microsoft.com/office/drawing/2014/main" id="{09D8EB68-BC82-4D14-BCC5-4ECF6B6FBE5B}"/>
                </a:ext>
              </a:extLst>
            </p:cNvPr>
            <p:cNvSpPr>
              <a:spLocks noChangeShapeType="1"/>
            </p:cNvSpPr>
            <p:nvPr/>
          </p:nvSpPr>
          <p:spPr bwMode="auto">
            <a:xfrm>
              <a:off x="4301553" y="3829051"/>
              <a:ext cx="363415"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 name="Line 14">
              <a:extLst>
                <a:ext uri="{FF2B5EF4-FFF2-40B4-BE49-F238E27FC236}">
                  <a16:creationId xmlns:a16="http://schemas.microsoft.com/office/drawing/2014/main" id="{81941410-DABB-4124-9BBB-89ABB5C0F6F0}"/>
                </a:ext>
              </a:extLst>
            </p:cNvPr>
            <p:cNvSpPr>
              <a:spLocks noChangeShapeType="1"/>
            </p:cNvSpPr>
            <p:nvPr/>
          </p:nvSpPr>
          <p:spPr bwMode="auto">
            <a:xfrm flipV="1">
              <a:off x="5895782" y="3829051"/>
              <a:ext cx="281354"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 name="Line 15">
              <a:extLst>
                <a:ext uri="{FF2B5EF4-FFF2-40B4-BE49-F238E27FC236}">
                  <a16:creationId xmlns:a16="http://schemas.microsoft.com/office/drawing/2014/main" id="{0826184B-37BC-4F90-B005-7DB22C5B190B}"/>
                </a:ext>
              </a:extLst>
            </p:cNvPr>
            <p:cNvSpPr>
              <a:spLocks noChangeShapeType="1"/>
            </p:cNvSpPr>
            <p:nvPr/>
          </p:nvSpPr>
          <p:spPr bwMode="auto">
            <a:xfrm>
              <a:off x="8125349" y="3789363"/>
              <a:ext cx="211015"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2" name="Text Box 16">
            <a:extLst>
              <a:ext uri="{FF2B5EF4-FFF2-40B4-BE49-F238E27FC236}">
                <a16:creationId xmlns:a16="http://schemas.microsoft.com/office/drawing/2014/main" id="{B5F17854-5346-453D-9755-D46AF6E972DF}"/>
              </a:ext>
            </a:extLst>
          </p:cNvPr>
          <p:cNvSpPr txBox="1">
            <a:spLocks noChangeArrowheads="1"/>
          </p:cNvSpPr>
          <p:nvPr/>
        </p:nvSpPr>
        <p:spPr bwMode="auto">
          <a:xfrm>
            <a:off x="4226654" y="4750207"/>
            <a:ext cx="3297115" cy="563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ea typeface="宋体" panose="02010600030101010101" pitchFamily="2" charset="-122"/>
              </a:defRPr>
            </a:lvl1pPr>
            <a:lvl2pPr marL="742950" indent="-285750" eaLnBrk="0" hangingPunct="0">
              <a:defRPr sz="1200" b="1">
                <a:solidFill>
                  <a:schemeClr val="tx1"/>
                </a:solidFill>
                <a:latin typeface="Arial" panose="020B0604020202020204" pitchFamily="34" charset="0"/>
                <a:ea typeface="宋体" panose="02010600030101010101" pitchFamily="2" charset="-122"/>
              </a:defRPr>
            </a:lvl2pPr>
            <a:lvl3pPr marL="1143000" indent="-228600" eaLnBrk="0" hangingPunct="0">
              <a:defRPr sz="1200" b="1">
                <a:solidFill>
                  <a:schemeClr val="tx1"/>
                </a:solidFill>
                <a:latin typeface="Arial" panose="020B0604020202020204" pitchFamily="34" charset="0"/>
                <a:ea typeface="宋体" panose="02010600030101010101" pitchFamily="2" charset="-122"/>
              </a:defRPr>
            </a:lvl3pPr>
            <a:lvl4pPr marL="1600200" indent="-228600" eaLnBrk="0" hangingPunct="0">
              <a:defRPr sz="1200" b="1">
                <a:solidFill>
                  <a:schemeClr val="tx1"/>
                </a:solidFill>
                <a:latin typeface="Arial" panose="020B0604020202020204" pitchFamily="34" charset="0"/>
                <a:ea typeface="宋体" panose="02010600030101010101" pitchFamily="2" charset="-122"/>
              </a:defRPr>
            </a:lvl4pPr>
            <a:lvl5pPr marL="2057400" indent="-228600" eaLnBrk="0" hangingPunct="0">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宋体" panose="02010600030101010101" pitchFamily="2" charset="-122"/>
              </a:defRPr>
            </a:lvl9pPr>
          </a:lstStyle>
          <a:p>
            <a:pPr eaLnBrk="1" hangingPunct="1">
              <a:lnSpc>
                <a:spcPct val="85000"/>
              </a:lnSpc>
            </a:pPr>
            <a:r>
              <a:rPr lang="zh-CN" altLang="en-US" sz="3600" dirty="0">
                <a:latin typeface="宋体" panose="02010600030101010101" pitchFamily="2" charset="-122"/>
              </a:rPr>
              <a:t>=(0)</a:t>
            </a:r>
            <a:r>
              <a:rPr lang="en-US" altLang="zh-CN" sz="3600" dirty="0">
                <a:latin typeface="宋体" panose="02010600030101010101" pitchFamily="2" charset="-122"/>
              </a:rPr>
              <a:t>+(1)</a:t>
            </a:r>
            <a:r>
              <a:rPr lang="en-US" altLang="zh-CN" sz="3600" dirty="0">
                <a:latin typeface="宋体" panose="02010600030101010101" pitchFamily="2" charset="-122"/>
                <a:sym typeface="Symbol" panose="05050102010706020507" pitchFamily="18" charset="2"/>
              </a:rPr>
              <a:t>×(1)</a:t>
            </a:r>
          </a:p>
        </p:txBody>
      </p:sp>
      <p:sp>
        <p:nvSpPr>
          <p:cNvPr id="23" name="Oval 17">
            <a:extLst>
              <a:ext uri="{FF2B5EF4-FFF2-40B4-BE49-F238E27FC236}">
                <a16:creationId xmlns:a16="http://schemas.microsoft.com/office/drawing/2014/main" id="{F19A7192-CE22-4834-A37D-EF5D9EF9A69C}"/>
              </a:ext>
            </a:extLst>
          </p:cNvPr>
          <p:cNvSpPr>
            <a:spLocks noChangeArrowheads="1"/>
          </p:cNvSpPr>
          <p:nvPr/>
        </p:nvSpPr>
        <p:spPr bwMode="auto">
          <a:xfrm>
            <a:off x="1477852" y="2370106"/>
            <a:ext cx="1136650" cy="706437"/>
          </a:xfrm>
          <a:prstGeom prst="ellipse">
            <a:avLst/>
          </a:prstGeom>
          <a:solidFill>
            <a:srgbClr val="FF3300"/>
          </a:solidFill>
          <a:ln w="9525">
            <a:noFill/>
            <a:round/>
          </a:ln>
          <a:effectLst/>
        </p:spPr>
        <p:txBody>
          <a:bodyPr wrap="none" anchor="ctr"/>
          <a:lstStyle/>
          <a:p>
            <a:pPr algn="ctr">
              <a:spcBef>
                <a:spcPct val="20000"/>
              </a:spcBef>
              <a:buClr>
                <a:srgbClr val="CC99FF"/>
              </a:buClr>
              <a:buFont typeface="Monotype Sorts" pitchFamily="2" charset="2"/>
              <a:buNone/>
              <a:defRPr/>
            </a:pPr>
            <a:r>
              <a:rPr lang="zh-CN" altLang="en-US" b="1" dirty="0">
                <a:solidFill>
                  <a:schemeClr val="bg1"/>
                </a:solidFill>
                <a:latin typeface="微软雅黑" panose="020B0503020204020204" pitchFamily="34" charset="-122"/>
                <a:ea typeface="微软雅黑" panose="020B0503020204020204" pitchFamily="34" charset="-122"/>
              </a:rPr>
              <a:t>例题</a:t>
            </a:r>
          </a:p>
        </p:txBody>
      </p:sp>
      <p:sp>
        <p:nvSpPr>
          <p:cNvPr id="24" name="AutoShape 18">
            <a:extLst>
              <a:ext uri="{FF2B5EF4-FFF2-40B4-BE49-F238E27FC236}">
                <a16:creationId xmlns:a16="http://schemas.microsoft.com/office/drawing/2014/main" id="{ADF5683D-0E1E-4E6D-A323-606A086C08C6}"/>
              </a:ext>
            </a:extLst>
          </p:cNvPr>
          <p:cNvSpPr>
            <a:spLocks noChangeArrowheads="1"/>
          </p:cNvSpPr>
          <p:nvPr/>
        </p:nvSpPr>
        <p:spPr bwMode="auto">
          <a:xfrm>
            <a:off x="1599589" y="3351982"/>
            <a:ext cx="1462088" cy="690563"/>
          </a:xfrm>
          <a:prstGeom prst="triangle">
            <a:avLst>
              <a:gd name="adj" fmla="val 26551"/>
            </a:avLst>
          </a:prstGeom>
          <a:solidFill>
            <a:srgbClr val="FFFF00"/>
          </a:solidFill>
          <a:ln w="9525">
            <a:noFill/>
            <a:miter lim="800000"/>
          </a:ln>
          <a:effectLst/>
        </p:spPr>
        <p:txBody>
          <a:bodyPr wrap="none" anchor="ctr"/>
          <a:lstStyle/>
          <a:p>
            <a:pPr algn="ctr">
              <a:spcBef>
                <a:spcPct val="50000"/>
              </a:spcBef>
              <a:defRPr/>
            </a:pPr>
            <a:r>
              <a:rPr lang="zh-CN" altLang="en-US" sz="2800" b="1" dirty="0">
                <a:solidFill>
                  <a:srgbClr val="FF3300"/>
                </a:solidFill>
                <a:latin typeface="微软雅黑" panose="020B0503020204020204" pitchFamily="34" charset="-122"/>
                <a:ea typeface="微软雅黑" panose="020B0503020204020204" pitchFamily="34" charset="-122"/>
              </a:rPr>
              <a:t>解答</a:t>
            </a:r>
          </a:p>
        </p:txBody>
      </p:sp>
      <p:sp>
        <p:nvSpPr>
          <p:cNvPr id="25" name="矩形 24">
            <a:extLst>
              <a:ext uri="{FF2B5EF4-FFF2-40B4-BE49-F238E27FC236}">
                <a16:creationId xmlns:a16="http://schemas.microsoft.com/office/drawing/2014/main" id="{1C38BB6B-D064-48C0-A234-1DE27956EC76}"/>
              </a:ext>
            </a:extLst>
          </p:cNvPr>
          <p:cNvSpPr/>
          <p:nvPr/>
        </p:nvSpPr>
        <p:spPr>
          <a:xfrm>
            <a:off x="2125422" y="1075583"/>
            <a:ext cx="7733155" cy="523220"/>
          </a:xfrm>
          <a:prstGeom prst="rect">
            <a:avLst/>
          </a:prstGeom>
        </p:spPr>
        <p:txBody>
          <a:bodyPr wrap="square">
            <a:spAutoFit/>
          </a:bodyPr>
          <a:lstStyle/>
          <a:p>
            <a:pPr algn="ctr" eaLnBrk="1" hangingPunct="1">
              <a:spcBef>
                <a:spcPct val="20000"/>
              </a:spcBef>
            </a:pPr>
            <a:r>
              <a:rPr lang="zh-CN" altLang="en-US" sz="28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按位运算优先级：一非 二与 三或（异或）</a:t>
            </a:r>
            <a:endParaRPr lang="zh-CN" altLang="en-US" sz="36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6" name="矩形 25">
            <a:extLst>
              <a:ext uri="{FF2B5EF4-FFF2-40B4-BE49-F238E27FC236}">
                <a16:creationId xmlns:a16="http://schemas.microsoft.com/office/drawing/2014/main" id="{EF79B8D9-8516-45F4-8F84-1BC7AD769A3C}"/>
              </a:ext>
            </a:extLst>
          </p:cNvPr>
          <p:cNvSpPr/>
          <p:nvPr/>
        </p:nvSpPr>
        <p:spPr>
          <a:xfrm>
            <a:off x="4211401" y="4129149"/>
            <a:ext cx="5755102" cy="646331"/>
          </a:xfrm>
          <a:prstGeom prst="rect">
            <a:avLst/>
          </a:prstGeom>
        </p:spPr>
        <p:txBody>
          <a:bodyPr wrap="none">
            <a:spAutoFit/>
          </a:bodyPr>
          <a:lstStyle/>
          <a:p>
            <a:pPr eaLnBrk="1" hangingPunct="1"/>
            <a:r>
              <a:rPr lang="zh-CN" altLang="en-US" sz="3600" b="1" dirty="0">
                <a:latin typeface="宋体" panose="02010600030101010101" pitchFamily="2" charset="-122"/>
              </a:rPr>
              <a:t>=(0</a:t>
            </a:r>
            <a:r>
              <a:rPr lang="en-US" altLang="zh-CN" sz="3600" dirty="0">
                <a:latin typeface="宋体" panose="02010600030101010101" pitchFamily="2" charset="-122"/>
                <a:sym typeface="Symbol" panose="05050102010706020507" pitchFamily="18" charset="2"/>
              </a:rPr>
              <a:t>×</a:t>
            </a:r>
            <a:r>
              <a:rPr lang="zh-CN" altLang="en-US" sz="3600" b="1" dirty="0">
                <a:latin typeface="宋体" panose="02010600030101010101" pitchFamily="2" charset="-122"/>
                <a:sym typeface="Symbol" panose="05050102010706020507" pitchFamily="18" charset="2"/>
              </a:rPr>
              <a:t>0</a:t>
            </a:r>
            <a:r>
              <a:rPr lang="en-US" altLang="zh-CN" sz="3600" b="1" dirty="0">
                <a:latin typeface="宋体" panose="02010600030101010101" pitchFamily="2" charset="-122"/>
                <a:sym typeface="Symbol" panose="05050102010706020507" pitchFamily="18" charset="2"/>
              </a:rPr>
              <a:t>×</a:t>
            </a:r>
            <a:r>
              <a:rPr lang="zh-CN" altLang="en-US" sz="3600" b="1" dirty="0">
                <a:latin typeface="宋体" panose="02010600030101010101" pitchFamily="2" charset="-122"/>
                <a:sym typeface="Symbol" panose="05050102010706020507" pitchFamily="18" charset="2"/>
              </a:rPr>
              <a:t>1)</a:t>
            </a:r>
            <a:r>
              <a:rPr lang="en-US" altLang="zh-CN" sz="3600" b="1" dirty="0">
                <a:latin typeface="宋体" panose="02010600030101010101" pitchFamily="2" charset="-122"/>
                <a:sym typeface="Symbol" panose="05050102010706020507" pitchFamily="18" charset="2"/>
              </a:rPr>
              <a:t>+(1×1)×(1+0)</a:t>
            </a:r>
          </a:p>
        </p:txBody>
      </p:sp>
      <p:sp>
        <p:nvSpPr>
          <p:cNvPr id="27" name="矩形 26">
            <a:extLst>
              <a:ext uri="{FF2B5EF4-FFF2-40B4-BE49-F238E27FC236}">
                <a16:creationId xmlns:a16="http://schemas.microsoft.com/office/drawing/2014/main" id="{7A028A4B-840B-4DC1-A831-C768F83D5431}"/>
              </a:ext>
            </a:extLst>
          </p:cNvPr>
          <p:cNvSpPr/>
          <p:nvPr/>
        </p:nvSpPr>
        <p:spPr>
          <a:xfrm>
            <a:off x="4202251" y="5260621"/>
            <a:ext cx="2276585" cy="563231"/>
          </a:xfrm>
          <a:prstGeom prst="rect">
            <a:avLst/>
          </a:prstGeom>
        </p:spPr>
        <p:txBody>
          <a:bodyPr wrap="none">
            <a:spAutoFit/>
          </a:bodyPr>
          <a:lstStyle/>
          <a:p>
            <a:pPr eaLnBrk="1" hangingPunct="1">
              <a:lnSpc>
                <a:spcPct val="85000"/>
              </a:lnSpc>
            </a:pPr>
            <a:r>
              <a:rPr lang="zh-CN" altLang="en-US" sz="3600" b="1" dirty="0">
                <a:latin typeface="宋体" panose="02010600030101010101" pitchFamily="2" charset="-122"/>
                <a:sym typeface="Symbol" panose="05050102010706020507" pitchFamily="18" charset="2"/>
              </a:rPr>
              <a:t>= 0</a:t>
            </a:r>
            <a:r>
              <a:rPr lang="en-US" altLang="zh-CN" sz="3600" b="1" dirty="0">
                <a:latin typeface="宋体" panose="02010600030101010101" pitchFamily="2" charset="-122"/>
                <a:sym typeface="Symbol" panose="05050102010706020507" pitchFamily="18" charset="2"/>
              </a:rPr>
              <a:t>+1 = 1</a:t>
            </a:r>
          </a:p>
        </p:txBody>
      </p:sp>
    </p:spTree>
    <p:extLst>
      <p:ext uri="{BB962C8B-B14F-4D97-AF65-F5344CB8AC3E}">
        <p14:creationId xmlns:p14="http://schemas.microsoft.com/office/powerpoint/2010/main" val="500900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00"/>
                                        <p:tgtEl>
                                          <p:spTgt spid="2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5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fade">
                                      <p:cBhvr>
                                        <p:cTn id="25" dur="5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fade">
                                      <p:cBhvr>
                                        <p:cTn id="30" dur="500"/>
                                        <p:tgtEl>
                                          <p:spTgt spid="2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animBg="1"/>
      <p:bldP spid="24" grpId="0" animBg="1" autoUpdateAnimBg="0"/>
      <p:bldP spid="26" grpId="0"/>
      <p:bldP spid="2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600" dirty="0">
                <a:solidFill>
                  <a:prstClr val="black"/>
                </a:solidFill>
                <a:latin typeface="方正公文黑体" panose="02000500000000000000" pitchFamily="2" charset="-122"/>
                <a:ea typeface="方正公文黑体" panose="02000500000000000000" pitchFamily="2" charset="-122"/>
              </a:rPr>
              <a:t>第二章</a:t>
            </a:r>
            <a:endParaRPr kumimoji="0" lang="en-US" altLang="zh-CN"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endParaRPr>
          </a:p>
        </p:txBody>
      </p:sp>
      <p:pic>
        <p:nvPicPr>
          <p:cNvPr id="8" name="图片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19441" y="6219825"/>
            <a:ext cx="536892" cy="542925"/>
          </a:xfrm>
          <a:prstGeom prst="rect">
            <a:avLst/>
          </a:prstGeom>
        </p:spPr>
      </p:pic>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graphicFrame>
        <p:nvGraphicFramePr>
          <p:cNvPr id="11" name="表格 10">
            <a:extLst>
              <a:ext uri="{FF2B5EF4-FFF2-40B4-BE49-F238E27FC236}">
                <a16:creationId xmlns:a16="http://schemas.microsoft.com/office/drawing/2014/main" id="{CC84EBAC-BEC9-479A-9851-03E4CADA740F}"/>
              </a:ext>
            </a:extLst>
          </p:cNvPr>
          <p:cNvGraphicFramePr>
            <a:graphicFrameLocks noGrp="1"/>
          </p:cNvGraphicFramePr>
          <p:nvPr/>
        </p:nvGraphicFramePr>
        <p:xfrm>
          <a:off x="2336071" y="830148"/>
          <a:ext cx="7311858" cy="5319185"/>
        </p:xfrm>
        <a:graphic>
          <a:graphicData uri="http://schemas.openxmlformats.org/drawingml/2006/table">
            <a:tbl>
              <a:tblPr/>
              <a:tblGrid>
                <a:gridCol w="989316">
                  <a:extLst>
                    <a:ext uri="{9D8B030D-6E8A-4147-A177-3AD203B41FA5}">
                      <a16:colId xmlns:a16="http://schemas.microsoft.com/office/drawing/2014/main" val="20000"/>
                    </a:ext>
                  </a:extLst>
                </a:gridCol>
                <a:gridCol w="827795">
                  <a:extLst>
                    <a:ext uri="{9D8B030D-6E8A-4147-A177-3AD203B41FA5}">
                      <a16:colId xmlns:a16="http://schemas.microsoft.com/office/drawing/2014/main" val="20001"/>
                    </a:ext>
                  </a:extLst>
                </a:gridCol>
                <a:gridCol w="827795">
                  <a:extLst>
                    <a:ext uri="{9D8B030D-6E8A-4147-A177-3AD203B41FA5}">
                      <a16:colId xmlns:a16="http://schemas.microsoft.com/office/drawing/2014/main" val="20002"/>
                    </a:ext>
                  </a:extLst>
                </a:gridCol>
                <a:gridCol w="778330">
                  <a:extLst>
                    <a:ext uri="{9D8B030D-6E8A-4147-A177-3AD203B41FA5}">
                      <a16:colId xmlns:a16="http://schemas.microsoft.com/office/drawing/2014/main" val="20003"/>
                    </a:ext>
                  </a:extLst>
                </a:gridCol>
                <a:gridCol w="816692">
                  <a:extLst>
                    <a:ext uri="{9D8B030D-6E8A-4147-A177-3AD203B41FA5}">
                      <a16:colId xmlns:a16="http://schemas.microsoft.com/office/drawing/2014/main" val="20004"/>
                    </a:ext>
                  </a:extLst>
                </a:gridCol>
                <a:gridCol w="774293">
                  <a:extLst>
                    <a:ext uri="{9D8B030D-6E8A-4147-A177-3AD203B41FA5}">
                      <a16:colId xmlns:a16="http://schemas.microsoft.com/office/drawing/2014/main" val="20005"/>
                    </a:ext>
                  </a:extLst>
                </a:gridCol>
                <a:gridCol w="770253">
                  <a:extLst>
                    <a:ext uri="{9D8B030D-6E8A-4147-A177-3AD203B41FA5}">
                      <a16:colId xmlns:a16="http://schemas.microsoft.com/office/drawing/2014/main" val="20006"/>
                    </a:ext>
                  </a:extLst>
                </a:gridCol>
                <a:gridCol w="714731">
                  <a:extLst>
                    <a:ext uri="{9D8B030D-6E8A-4147-A177-3AD203B41FA5}">
                      <a16:colId xmlns:a16="http://schemas.microsoft.com/office/drawing/2014/main" val="20007"/>
                    </a:ext>
                  </a:extLst>
                </a:gridCol>
                <a:gridCol w="812653">
                  <a:extLst>
                    <a:ext uri="{9D8B030D-6E8A-4147-A177-3AD203B41FA5}">
                      <a16:colId xmlns:a16="http://schemas.microsoft.com/office/drawing/2014/main" val="20008"/>
                    </a:ext>
                  </a:extLst>
                </a:gridCol>
              </a:tblGrid>
              <a:tr h="511411">
                <a:tc>
                  <a:txBody>
                    <a:bodyPr/>
                    <a:lstStyle/>
                    <a:p>
                      <a:pPr marL="114300" indent="-47625" algn="ctr">
                        <a:lnSpc>
                          <a:spcPts val="1100"/>
                        </a:lnSpc>
                        <a:spcAft>
                          <a:spcPts val="0"/>
                        </a:spcAft>
                      </a:pPr>
                      <a:r>
                        <a:rPr lang="en-US" sz="800" b="1" kern="100" dirty="0">
                          <a:latin typeface="Times New Roman"/>
                          <a:ea typeface="宋体"/>
                          <a:cs typeface="Times New Roman"/>
                        </a:rPr>
                        <a:t>             b6b5b4</a:t>
                      </a:r>
                      <a:endParaRPr lang="zh-CN" sz="800" b="1" kern="100" dirty="0">
                        <a:latin typeface="Times New Roman"/>
                        <a:ea typeface="宋体"/>
                        <a:cs typeface="Times New Roman"/>
                      </a:endParaRPr>
                    </a:p>
                    <a:p>
                      <a:pPr indent="269875" algn="ctr">
                        <a:lnSpc>
                          <a:spcPts val="1100"/>
                        </a:lnSpc>
                        <a:spcAft>
                          <a:spcPts val="0"/>
                        </a:spcAft>
                      </a:pPr>
                      <a:endParaRPr lang="en-US" sz="800" b="1" kern="100" dirty="0">
                        <a:latin typeface="Times New Roman"/>
                        <a:ea typeface="宋体"/>
                        <a:cs typeface="Times New Roman"/>
                      </a:endParaRPr>
                    </a:p>
                    <a:p>
                      <a:pPr indent="269875" algn="l">
                        <a:lnSpc>
                          <a:spcPts val="1100"/>
                        </a:lnSpc>
                        <a:spcAft>
                          <a:spcPts val="0"/>
                        </a:spcAft>
                      </a:pPr>
                      <a:endParaRPr lang="en-US" sz="800" b="1" kern="100" dirty="0">
                        <a:latin typeface="Times New Roman"/>
                        <a:ea typeface="宋体"/>
                        <a:cs typeface="Times New Roman"/>
                      </a:endParaRPr>
                    </a:p>
                    <a:p>
                      <a:pPr marL="0" indent="0" algn="l">
                        <a:lnSpc>
                          <a:spcPts val="1100"/>
                        </a:lnSpc>
                        <a:spcAft>
                          <a:spcPts val="0"/>
                        </a:spcAft>
                      </a:pPr>
                      <a:r>
                        <a:rPr lang="en-US" sz="800" b="1" kern="100" dirty="0">
                          <a:latin typeface="Times New Roman"/>
                          <a:ea typeface="宋体"/>
                          <a:cs typeface="Times New Roman"/>
                        </a:rPr>
                        <a:t>  b3b2b1b0</a:t>
                      </a:r>
                      <a:endParaRPr lang="zh-CN" sz="800" b="1" kern="100" dirty="0">
                        <a:latin typeface="Times New Roman"/>
                        <a:ea typeface="宋体"/>
                        <a:cs typeface="Times New Roman"/>
                      </a:endParaRPr>
                    </a:p>
                  </a:txBody>
                  <a:tcPr marL="14737" marR="14737"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6350" cap="flat" cmpd="sng" algn="ctr">
                      <a:solidFill>
                        <a:srgbClr val="000000"/>
                      </a:solidFill>
                      <a:prstDash val="solid"/>
                      <a:round/>
                      <a:headEnd type="none" w="med" len="med"/>
                      <a:tailEnd type="none" w="med" len="med"/>
                    </a:lnTlToBr>
                  </a:tcPr>
                </a:tc>
                <a:tc>
                  <a:txBody>
                    <a:bodyPr/>
                    <a:lstStyle/>
                    <a:p>
                      <a:pPr indent="269875" algn="ctr">
                        <a:lnSpc>
                          <a:spcPts val="1100"/>
                        </a:lnSpc>
                        <a:spcAft>
                          <a:spcPts val="0"/>
                        </a:spcAft>
                      </a:pPr>
                      <a:r>
                        <a:rPr lang="en-US" sz="800" b="1" kern="100" dirty="0">
                          <a:latin typeface="Times New Roman"/>
                          <a:ea typeface="宋体"/>
                          <a:cs typeface="Times New Roman"/>
                        </a:rPr>
                        <a:t>  </a:t>
                      </a:r>
                      <a:endParaRPr lang="zh-CN" sz="800" b="1" kern="100" dirty="0">
                        <a:latin typeface="Times New Roman"/>
                        <a:ea typeface="宋体"/>
                        <a:cs typeface="Times New Roman"/>
                      </a:endParaRPr>
                    </a:p>
                    <a:p>
                      <a:pPr marL="0" indent="0" algn="ctr">
                        <a:lnSpc>
                          <a:spcPts val="1100"/>
                        </a:lnSpc>
                        <a:spcAft>
                          <a:spcPts val="0"/>
                        </a:spcAft>
                      </a:pPr>
                      <a:r>
                        <a:rPr lang="en-US" sz="800" b="1" kern="100" dirty="0">
                          <a:latin typeface="Times New Roman"/>
                          <a:ea typeface="宋体"/>
                          <a:cs typeface="Times New Roman"/>
                        </a:rPr>
                        <a:t>   000</a:t>
                      </a:r>
                      <a:endParaRPr lang="zh-CN" sz="800" b="1" kern="100" dirty="0">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a:lnSpc>
                          <a:spcPts val="1100"/>
                        </a:lnSpc>
                        <a:spcAft>
                          <a:spcPts val="0"/>
                        </a:spcAft>
                      </a:pPr>
                      <a:r>
                        <a:rPr lang="en-US" sz="800" b="1" kern="100" dirty="0">
                          <a:latin typeface="Times New Roman"/>
                          <a:ea typeface="宋体"/>
                          <a:cs typeface="Times New Roman"/>
                        </a:rPr>
                        <a:t>  </a:t>
                      </a:r>
                      <a:endParaRPr lang="zh-CN" sz="800" b="1" kern="100" dirty="0">
                        <a:latin typeface="Times New Roman"/>
                        <a:ea typeface="宋体"/>
                        <a:cs typeface="Times New Roman"/>
                      </a:endParaRPr>
                    </a:p>
                    <a:p>
                      <a:pPr marL="0" indent="0" algn="ctr">
                        <a:lnSpc>
                          <a:spcPts val="1100"/>
                        </a:lnSpc>
                        <a:spcAft>
                          <a:spcPts val="0"/>
                        </a:spcAft>
                      </a:pPr>
                      <a:r>
                        <a:rPr lang="en-US" sz="800" b="1" kern="100" dirty="0">
                          <a:latin typeface="Times New Roman"/>
                          <a:ea typeface="宋体"/>
                          <a:cs typeface="Times New Roman"/>
                        </a:rPr>
                        <a:t>     001</a:t>
                      </a:r>
                      <a:endParaRPr lang="zh-CN" sz="800" b="1" kern="100" dirty="0">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9875" algn="ctr">
                        <a:lnSpc>
                          <a:spcPts val="1100"/>
                        </a:lnSpc>
                        <a:spcAft>
                          <a:spcPts val="0"/>
                        </a:spcAft>
                      </a:pPr>
                      <a:r>
                        <a:rPr lang="en-US" sz="800" b="1" kern="100" dirty="0">
                          <a:latin typeface="Times New Roman"/>
                          <a:ea typeface="宋体"/>
                          <a:cs typeface="Times New Roman"/>
                        </a:rPr>
                        <a:t>  </a:t>
                      </a:r>
                      <a:endParaRPr lang="zh-CN" sz="800" b="1" kern="100" dirty="0">
                        <a:latin typeface="Times New Roman"/>
                        <a:ea typeface="宋体"/>
                        <a:cs typeface="Times New Roman"/>
                      </a:endParaRPr>
                    </a:p>
                    <a:p>
                      <a:pPr marL="0" indent="0" algn="ctr">
                        <a:lnSpc>
                          <a:spcPts val="1100"/>
                        </a:lnSpc>
                        <a:spcAft>
                          <a:spcPts val="0"/>
                        </a:spcAft>
                      </a:pPr>
                      <a:r>
                        <a:rPr lang="en-US" sz="800" b="1" kern="100" dirty="0">
                          <a:latin typeface="Times New Roman"/>
                          <a:ea typeface="宋体"/>
                          <a:cs typeface="Times New Roman"/>
                        </a:rPr>
                        <a:t>   010    </a:t>
                      </a:r>
                      <a:endParaRPr lang="zh-CN" sz="800" b="1" kern="100" dirty="0">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9875" algn="ctr">
                        <a:lnSpc>
                          <a:spcPts val="1100"/>
                        </a:lnSpc>
                        <a:spcAft>
                          <a:spcPts val="0"/>
                        </a:spcAft>
                      </a:pPr>
                      <a:r>
                        <a:rPr lang="en-US" sz="800" b="1" kern="100" dirty="0">
                          <a:latin typeface="Times New Roman"/>
                          <a:ea typeface="宋体"/>
                          <a:cs typeface="Times New Roman"/>
                        </a:rPr>
                        <a:t>  </a:t>
                      </a:r>
                      <a:endParaRPr lang="zh-CN" sz="800" b="1" kern="100" dirty="0">
                        <a:latin typeface="Times New Roman"/>
                        <a:ea typeface="宋体"/>
                        <a:cs typeface="Times New Roman"/>
                      </a:endParaRPr>
                    </a:p>
                    <a:p>
                      <a:pPr marL="0" indent="0" algn="ctr">
                        <a:lnSpc>
                          <a:spcPts val="1100"/>
                        </a:lnSpc>
                        <a:spcAft>
                          <a:spcPts val="0"/>
                        </a:spcAft>
                      </a:pPr>
                      <a:r>
                        <a:rPr lang="en-US" sz="800" b="1" kern="100" dirty="0">
                          <a:solidFill>
                            <a:srgbClr val="FF0000"/>
                          </a:solidFill>
                          <a:latin typeface="Times New Roman"/>
                          <a:ea typeface="宋体"/>
                          <a:cs typeface="Times New Roman"/>
                        </a:rPr>
                        <a:t>  </a:t>
                      </a:r>
                      <a:r>
                        <a:rPr lang="en-US" sz="800" b="1" kern="100" dirty="0">
                          <a:solidFill>
                            <a:schemeClr val="tx1"/>
                          </a:solidFill>
                          <a:latin typeface="Times New Roman"/>
                          <a:ea typeface="宋体"/>
                          <a:cs typeface="Times New Roman"/>
                        </a:rPr>
                        <a:t> 011   </a:t>
                      </a:r>
                      <a:r>
                        <a:rPr lang="en-US" sz="800" b="1" kern="100" dirty="0">
                          <a:solidFill>
                            <a:srgbClr val="FF0000"/>
                          </a:solidFill>
                          <a:latin typeface="Times New Roman"/>
                          <a:ea typeface="宋体"/>
                          <a:cs typeface="Times New Roman"/>
                        </a:rPr>
                        <a:t>30</a:t>
                      </a:r>
                      <a:r>
                        <a:rPr lang="en-US" altLang="zh-CN" sz="800" b="1" kern="100" dirty="0">
                          <a:solidFill>
                            <a:srgbClr val="FF0000"/>
                          </a:solidFill>
                          <a:latin typeface="Times New Roman"/>
                          <a:ea typeface="宋体"/>
                          <a:cs typeface="Times New Roman"/>
                        </a:rPr>
                        <a:t>H</a:t>
                      </a:r>
                      <a:endParaRPr lang="zh-CN" sz="800" b="1" kern="100" dirty="0">
                        <a:solidFill>
                          <a:srgbClr val="FF0000"/>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lnSpc>
                          <a:spcPts val="1100"/>
                        </a:lnSpc>
                        <a:spcAft>
                          <a:spcPts val="0"/>
                        </a:spcAft>
                      </a:pPr>
                      <a:r>
                        <a:rPr lang="en-US" sz="800" b="1" kern="100" dirty="0">
                          <a:solidFill>
                            <a:schemeClr val="tx1"/>
                          </a:solidFill>
                          <a:latin typeface="Times New Roman"/>
                          <a:ea typeface="宋体"/>
                          <a:cs typeface="Times New Roman"/>
                        </a:rPr>
                        <a:t>  </a:t>
                      </a:r>
                      <a:endParaRPr lang="zh-CN" sz="800" b="1" kern="100" dirty="0">
                        <a:solidFill>
                          <a:schemeClr val="tx1"/>
                        </a:solidFill>
                        <a:latin typeface="Times New Roman"/>
                        <a:ea typeface="宋体"/>
                        <a:cs typeface="Times New Roman"/>
                      </a:endParaRPr>
                    </a:p>
                    <a:p>
                      <a:pPr marL="0" indent="0" algn="ctr" defTabSz="914400" rtl="0" eaLnBrk="1" latinLnBrk="0" hangingPunct="1">
                        <a:lnSpc>
                          <a:spcPts val="1100"/>
                        </a:lnSpc>
                        <a:spcAft>
                          <a:spcPts val="0"/>
                        </a:spcAft>
                      </a:pPr>
                      <a:r>
                        <a:rPr lang="en-US" sz="800" b="1" kern="100" dirty="0">
                          <a:solidFill>
                            <a:schemeClr val="tx1"/>
                          </a:solidFill>
                          <a:latin typeface="Times New Roman"/>
                          <a:ea typeface="宋体"/>
                          <a:cs typeface="Times New Roman"/>
                        </a:rPr>
                        <a:t>    100    </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lnSpc>
                          <a:spcPts val="1100"/>
                        </a:lnSpc>
                        <a:spcAft>
                          <a:spcPts val="0"/>
                        </a:spcAft>
                      </a:pPr>
                      <a:r>
                        <a:rPr lang="en-US" sz="800" b="1" kern="100" dirty="0">
                          <a:solidFill>
                            <a:schemeClr val="tx1"/>
                          </a:solidFill>
                          <a:latin typeface="Times New Roman"/>
                          <a:ea typeface="宋体"/>
                          <a:cs typeface="Times New Roman"/>
                        </a:rPr>
                        <a:t>  </a:t>
                      </a:r>
                      <a:endParaRPr lang="zh-CN" sz="800" b="1" kern="100" dirty="0">
                        <a:solidFill>
                          <a:schemeClr val="tx1"/>
                        </a:solidFill>
                        <a:latin typeface="Times New Roman"/>
                        <a:ea typeface="宋体"/>
                        <a:cs typeface="Times New Roman"/>
                      </a:endParaRPr>
                    </a:p>
                    <a:p>
                      <a:pPr marL="0" indent="0" algn="ctr" defTabSz="914400" rtl="0" eaLnBrk="1" latinLnBrk="0" hangingPunct="1">
                        <a:lnSpc>
                          <a:spcPts val="1100"/>
                        </a:lnSpc>
                        <a:spcAft>
                          <a:spcPts val="0"/>
                        </a:spcAft>
                      </a:pPr>
                      <a:r>
                        <a:rPr lang="en-US" sz="800" b="1" kern="100" dirty="0">
                          <a:solidFill>
                            <a:schemeClr val="tx1"/>
                          </a:solidFill>
                          <a:latin typeface="Times New Roman"/>
                          <a:ea typeface="宋体"/>
                          <a:cs typeface="Times New Roman"/>
                        </a:rPr>
                        <a:t>   101  </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lnSpc>
                          <a:spcPts val="1100"/>
                        </a:lnSpc>
                        <a:spcAft>
                          <a:spcPts val="0"/>
                        </a:spcAft>
                      </a:pPr>
                      <a:r>
                        <a:rPr lang="en-US" sz="800" b="1" kern="100" dirty="0">
                          <a:solidFill>
                            <a:schemeClr val="tx1"/>
                          </a:solidFill>
                          <a:latin typeface="Times New Roman"/>
                          <a:ea typeface="宋体"/>
                          <a:cs typeface="Times New Roman"/>
                        </a:rPr>
                        <a:t>  </a:t>
                      </a:r>
                      <a:endParaRPr lang="zh-CN" sz="800" b="1" kern="100" dirty="0">
                        <a:solidFill>
                          <a:schemeClr val="tx1"/>
                        </a:solidFill>
                        <a:latin typeface="Times New Roman"/>
                        <a:ea typeface="宋体"/>
                        <a:cs typeface="Times New Roman"/>
                      </a:endParaRPr>
                    </a:p>
                    <a:p>
                      <a:pPr marL="0" indent="0" algn="ctr" defTabSz="914400" rtl="0" eaLnBrk="1" latinLnBrk="0" hangingPunct="1">
                        <a:lnSpc>
                          <a:spcPts val="1100"/>
                        </a:lnSpc>
                        <a:spcAft>
                          <a:spcPts val="0"/>
                        </a:spcAft>
                      </a:pPr>
                      <a:r>
                        <a:rPr lang="en-US" sz="800" b="1" kern="100" dirty="0">
                          <a:solidFill>
                            <a:schemeClr val="tx1"/>
                          </a:solidFill>
                          <a:latin typeface="Times New Roman"/>
                          <a:ea typeface="宋体"/>
                          <a:cs typeface="Times New Roman"/>
                        </a:rPr>
                        <a:t>   110 </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lnSpc>
                          <a:spcPts val="1100"/>
                        </a:lnSpc>
                        <a:spcAft>
                          <a:spcPts val="0"/>
                        </a:spcAft>
                      </a:pPr>
                      <a:r>
                        <a:rPr lang="en-US" sz="800" b="1" kern="100" dirty="0">
                          <a:solidFill>
                            <a:schemeClr val="tx1"/>
                          </a:solidFill>
                          <a:latin typeface="Times New Roman"/>
                          <a:ea typeface="宋体"/>
                          <a:cs typeface="Times New Roman"/>
                        </a:rPr>
                        <a:t>  </a:t>
                      </a:r>
                      <a:endParaRPr lang="zh-CN" sz="800" b="1" kern="100" dirty="0">
                        <a:solidFill>
                          <a:schemeClr val="tx1"/>
                        </a:solidFill>
                        <a:latin typeface="Times New Roman"/>
                        <a:ea typeface="宋体"/>
                        <a:cs typeface="Times New Roman"/>
                      </a:endParaRPr>
                    </a:p>
                    <a:p>
                      <a:pPr marL="0" indent="0" algn="ctr" defTabSz="914400" rtl="0" eaLnBrk="1" latinLnBrk="0" hangingPunct="1">
                        <a:lnSpc>
                          <a:spcPts val="1100"/>
                        </a:lnSpc>
                        <a:spcAft>
                          <a:spcPts val="0"/>
                        </a:spcAft>
                      </a:pPr>
                      <a:r>
                        <a:rPr lang="en-US" sz="800" b="1" kern="100" dirty="0">
                          <a:solidFill>
                            <a:schemeClr val="tx1"/>
                          </a:solidFill>
                          <a:latin typeface="Times New Roman"/>
                          <a:ea typeface="宋体"/>
                          <a:cs typeface="Times New Roman"/>
                        </a:rPr>
                        <a:t>   111</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78951">
                <a:tc>
                  <a:txBody>
                    <a:bodyPr/>
                    <a:lstStyle/>
                    <a:p>
                      <a:pPr marL="0" indent="0" algn="ctr">
                        <a:spcAft>
                          <a:spcPts val="0"/>
                        </a:spcAft>
                      </a:pPr>
                      <a:r>
                        <a:rPr lang="en-US" sz="800" b="1" kern="100" dirty="0">
                          <a:latin typeface="Times New Roman"/>
                          <a:ea typeface="宋体"/>
                          <a:cs typeface="Times New Roman"/>
                        </a:rPr>
                        <a:t>0000</a:t>
                      </a:r>
                      <a:endParaRPr lang="zh-CN" sz="800" b="1" kern="100" dirty="0">
                        <a:latin typeface="Times New Roman"/>
                        <a:ea typeface="宋体"/>
                        <a:cs typeface="Times New Roman"/>
                      </a:endParaRPr>
                    </a:p>
                  </a:txBody>
                  <a:tcPr marL="14737" marR="14737"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a:spcAft>
                          <a:spcPts val="0"/>
                        </a:spcAft>
                      </a:pPr>
                      <a:r>
                        <a:rPr lang="en-US" sz="800" b="1" kern="100" dirty="0">
                          <a:solidFill>
                            <a:schemeClr val="accent1">
                              <a:lumMod val="50000"/>
                            </a:schemeClr>
                          </a:solidFill>
                          <a:latin typeface="Times New Roman"/>
                          <a:ea typeface="宋体"/>
                          <a:cs typeface="Times New Roman"/>
                        </a:rPr>
                        <a:t>  NUL</a:t>
                      </a:r>
                      <a:endParaRPr lang="zh-CN" sz="800" b="1" kern="100" dirty="0">
                        <a:solidFill>
                          <a:schemeClr val="accent1">
                            <a:lumMod val="50000"/>
                          </a:schemeClr>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a:spcAft>
                          <a:spcPts val="0"/>
                        </a:spcAft>
                      </a:pPr>
                      <a:r>
                        <a:rPr lang="en-US" sz="800" b="1" kern="100" dirty="0">
                          <a:solidFill>
                            <a:schemeClr val="accent1">
                              <a:lumMod val="50000"/>
                            </a:schemeClr>
                          </a:solidFill>
                          <a:latin typeface="Times New Roman"/>
                          <a:ea typeface="宋体"/>
                          <a:cs typeface="Times New Roman"/>
                        </a:rPr>
                        <a:t>   DLE</a:t>
                      </a:r>
                      <a:endParaRPr lang="zh-CN" sz="800" b="1" kern="100" dirty="0">
                        <a:solidFill>
                          <a:schemeClr val="accent1">
                            <a:lumMod val="50000"/>
                          </a:schemeClr>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a:spcAft>
                          <a:spcPts val="0"/>
                        </a:spcAft>
                      </a:pPr>
                      <a:r>
                        <a:rPr lang="en-US" sz="800" b="1" kern="100" dirty="0">
                          <a:solidFill>
                            <a:schemeClr val="accent1">
                              <a:lumMod val="50000"/>
                            </a:schemeClr>
                          </a:solidFill>
                          <a:latin typeface="Times New Roman"/>
                          <a:ea typeface="宋体"/>
                          <a:cs typeface="Times New Roman"/>
                        </a:rPr>
                        <a:t>   SP</a:t>
                      </a:r>
                      <a:endParaRPr lang="zh-CN" sz="800" b="1" kern="100" dirty="0">
                        <a:solidFill>
                          <a:schemeClr val="accent1">
                            <a:lumMod val="50000"/>
                          </a:schemeClr>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a:spcAft>
                          <a:spcPts val="0"/>
                        </a:spcAft>
                      </a:pPr>
                      <a:r>
                        <a:rPr lang="en-US" sz="800" b="1" kern="100" dirty="0">
                          <a:latin typeface="Times New Roman"/>
                          <a:ea typeface="宋体"/>
                          <a:cs typeface="Times New Roman"/>
                        </a:rPr>
                        <a:t>    0 </a:t>
                      </a:r>
                      <a:endParaRPr lang="zh-CN" sz="800" b="1" kern="100" dirty="0">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P</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lnSpc>
                          <a:spcPts val="1100"/>
                        </a:lnSpc>
                        <a:spcAft>
                          <a:spcPts val="0"/>
                        </a:spcAft>
                      </a:pPr>
                      <a:r>
                        <a:rPr lang="en-US" sz="800" b="1" kern="100" dirty="0">
                          <a:solidFill>
                            <a:schemeClr val="tx1"/>
                          </a:solidFill>
                          <a:latin typeface="Times New Roman"/>
                          <a:ea typeface="宋体"/>
                          <a:cs typeface="Times New Roman"/>
                        </a:rPr>
                        <a:t>    p</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78951">
                <a:tc>
                  <a:txBody>
                    <a:bodyPr/>
                    <a:lstStyle/>
                    <a:p>
                      <a:pPr marL="0" indent="0" algn="ctr">
                        <a:spcAft>
                          <a:spcPts val="0"/>
                        </a:spcAft>
                      </a:pPr>
                      <a:r>
                        <a:rPr lang="en-US" sz="800" b="1" kern="100" dirty="0">
                          <a:latin typeface="Times New Roman"/>
                          <a:ea typeface="宋体"/>
                          <a:cs typeface="Times New Roman"/>
                        </a:rPr>
                        <a:t>0001</a:t>
                      </a:r>
                      <a:endParaRPr lang="zh-CN" sz="800" b="1" kern="100" dirty="0">
                        <a:latin typeface="Times New Roman"/>
                        <a:ea typeface="宋体"/>
                        <a:cs typeface="Times New Roman"/>
                      </a:endParaRPr>
                    </a:p>
                  </a:txBody>
                  <a:tcPr marL="14737" marR="14737"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accent1">
                              <a:lumMod val="50000"/>
                            </a:schemeClr>
                          </a:solidFill>
                          <a:latin typeface="Times New Roman"/>
                          <a:ea typeface="宋体"/>
                          <a:cs typeface="Times New Roman"/>
                        </a:rPr>
                        <a:t>  SOH</a:t>
                      </a:r>
                      <a:endParaRPr lang="zh-CN" sz="800" b="1" kern="100" dirty="0">
                        <a:solidFill>
                          <a:schemeClr val="accent1">
                            <a:lumMod val="50000"/>
                          </a:schemeClr>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accent1">
                              <a:lumMod val="50000"/>
                            </a:schemeClr>
                          </a:solidFill>
                          <a:latin typeface="Times New Roman"/>
                          <a:ea typeface="宋体"/>
                          <a:cs typeface="Times New Roman"/>
                        </a:rPr>
                        <a:t>   DC1</a:t>
                      </a:r>
                      <a:endParaRPr lang="zh-CN" sz="800" b="1" kern="100" dirty="0">
                        <a:solidFill>
                          <a:schemeClr val="accent1">
                            <a:lumMod val="50000"/>
                          </a:schemeClr>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a:spcAft>
                          <a:spcPts val="0"/>
                        </a:spcAft>
                      </a:pPr>
                      <a:r>
                        <a:rPr lang="en-US" sz="800" b="1" kern="100" dirty="0">
                          <a:latin typeface="Times New Roman"/>
                          <a:ea typeface="宋体"/>
                          <a:cs typeface="Times New Roman"/>
                        </a:rPr>
                        <a:t>    !</a:t>
                      </a:r>
                      <a:endParaRPr lang="zh-CN" sz="800" b="1" kern="100" dirty="0">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1</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A  </a:t>
                      </a:r>
                      <a:r>
                        <a:rPr lang="en-US" sz="800" b="1" kern="100" dirty="0">
                          <a:solidFill>
                            <a:srgbClr val="FF0000"/>
                          </a:solidFill>
                          <a:latin typeface="Times New Roman"/>
                          <a:ea typeface="宋体"/>
                          <a:cs typeface="Times New Roman"/>
                        </a:rPr>
                        <a:t>41H</a:t>
                      </a:r>
                      <a:endParaRPr lang="zh-CN" sz="800" b="1" kern="100" dirty="0">
                        <a:solidFill>
                          <a:srgbClr val="FF0000"/>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Q</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a </a:t>
                      </a:r>
                      <a:r>
                        <a:rPr lang="en-US" sz="800" b="1" kern="100" dirty="0">
                          <a:solidFill>
                            <a:srgbClr val="FF0000"/>
                          </a:solidFill>
                          <a:latin typeface="Times New Roman"/>
                          <a:ea typeface="宋体"/>
                          <a:cs typeface="Times New Roman"/>
                        </a:rPr>
                        <a:t>6</a:t>
                      </a:r>
                      <a:r>
                        <a:rPr lang="en-US" altLang="zh-CN" sz="800" b="1" kern="100" dirty="0">
                          <a:solidFill>
                            <a:srgbClr val="FF0000"/>
                          </a:solidFill>
                          <a:latin typeface="Times New Roman"/>
                          <a:ea typeface="宋体"/>
                          <a:cs typeface="Times New Roman"/>
                        </a:rPr>
                        <a:t>1H</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lnSpc>
                          <a:spcPts val="1100"/>
                        </a:lnSpc>
                        <a:spcAft>
                          <a:spcPts val="0"/>
                        </a:spcAft>
                      </a:pPr>
                      <a:r>
                        <a:rPr lang="en-US" sz="800" b="1" kern="100" dirty="0">
                          <a:solidFill>
                            <a:schemeClr val="tx1"/>
                          </a:solidFill>
                          <a:latin typeface="Times New Roman"/>
                          <a:ea typeface="宋体"/>
                          <a:cs typeface="Times New Roman"/>
                        </a:rPr>
                        <a:t>    q</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78951">
                <a:tc>
                  <a:txBody>
                    <a:bodyPr/>
                    <a:lstStyle/>
                    <a:p>
                      <a:pPr marL="0" indent="0" algn="ctr">
                        <a:spcAft>
                          <a:spcPts val="0"/>
                        </a:spcAft>
                      </a:pPr>
                      <a:r>
                        <a:rPr lang="en-US" sz="800" b="1" kern="100" dirty="0">
                          <a:latin typeface="Times New Roman"/>
                          <a:ea typeface="宋体"/>
                          <a:cs typeface="Times New Roman"/>
                        </a:rPr>
                        <a:t>0010</a:t>
                      </a:r>
                      <a:endParaRPr lang="zh-CN" sz="800" b="1" kern="100" dirty="0">
                        <a:latin typeface="Times New Roman"/>
                        <a:ea typeface="宋体"/>
                        <a:cs typeface="Times New Roman"/>
                      </a:endParaRPr>
                    </a:p>
                  </a:txBody>
                  <a:tcPr marL="14737" marR="14737"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accent1">
                              <a:lumMod val="50000"/>
                            </a:schemeClr>
                          </a:solidFill>
                          <a:latin typeface="Times New Roman"/>
                          <a:ea typeface="宋体"/>
                          <a:cs typeface="Times New Roman"/>
                        </a:rPr>
                        <a:t>  STX</a:t>
                      </a:r>
                      <a:endParaRPr lang="zh-CN" sz="800" b="1" kern="100" dirty="0">
                        <a:solidFill>
                          <a:schemeClr val="accent1">
                            <a:lumMod val="50000"/>
                          </a:schemeClr>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accent1">
                              <a:lumMod val="50000"/>
                            </a:schemeClr>
                          </a:solidFill>
                          <a:latin typeface="Times New Roman"/>
                          <a:ea typeface="宋体"/>
                          <a:cs typeface="Times New Roman"/>
                        </a:rPr>
                        <a:t>   DC2</a:t>
                      </a:r>
                      <a:endParaRPr lang="zh-CN" sz="800" b="1" kern="100" dirty="0">
                        <a:solidFill>
                          <a:schemeClr val="accent1">
                            <a:lumMod val="50000"/>
                          </a:schemeClr>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2</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B</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R</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b</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lnSpc>
                          <a:spcPts val="1100"/>
                        </a:lnSpc>
                        <a:spcAft>
                          <a:spcPts val="0"/>
                        </a:spcAft>
                      </a:pPr>
                      <a:r>
                        <a:rPr lang="en-US" sz="800" b="1" kern="100" dirty="0">
                          <a:solidFill>
                            <a:schemeClr val="tx1"/>
                          </a:solidFill>
                          <a:latin typeface="Times New Roman"/>
                          <a:ea typeface="宋体"/>
                          <a:cs typeface="Times New Roman"/>
                        </a:rPr>
                        <a:t>    r</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78951">
                <a:tc>
                  <a:txBody>
                    <a:bodyPr/>
                    <a:lstStyle/>
                    <a:p>
                      <a:pPr marL="0" indent="0" algn="ctr">
                        <a:spcAft>
                          <a:spcPts val="0"/>
                        </a:spcAft>
                      </a:pPr>
                      <a:r>
                        <a:rPr lang="en-US" sz="800" b="1" kern="100" dirty="0">
                          <a:latin typeface="Times New Roman"/>
                          <a:ea typeface="宋体"/>
                          <a:cs typeface="Times New Roman"/>
                        </a:rPr>
                        <a:t>0011</a:t>
                      </a:r>
                      <a:endParaRPr lang="zh-CN" sz="800" b="1" kern="100" dirty="0">
                        <a:latin typeface="Times New Roman"/>
                        <a:ea typeface="宋体"/>
                        <a:cs typeface="Times New Roman"/>
                      </a:endParaRPr>
                    </a:p>
                  </a:txBody>
                  <a:tcPr marL="14737" marR="14737"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accent1">
                              <a:lumMod val="50000"/>
                            </a:schemeClr>
                          </a:solidFill>
                          <a:latin typeface="Times New Roman"/>
                          <a:ea typeface="宋体"/>
                          <a:cs typeface="Times New Roman"/>
                        </a:rPr>
                        <a:t>  EXT</a:t>
                      </a:r>
                      <a:endParaRPr lang="zh-CN" sz="800" b="1" kern="100" dirty="0">
                        <a:solidFill>
                          <a:schemeClr val="accent1">
                            <a:lumMod val="50000"/>
                          </a:schemeClr>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accent1">
                              <a:lumMod val="50000"/>
                            </a:schemeClr>
                          </a:solidFill>
                          <a:latin typeface="Times New Roman"/>
                          <a:ea typeface="宋体"/>
                          <a:cs typeface="Times New Roman"/>
                        </a:rPr>
                        <a:t>   DC3</a:t>
                      </a:r>
                      <a:endParaRPr lang="zh-CN" sz="800" b="1" kern="100" dirty="0">
                        <a:solidFill>
                          <a:schemeClr val="accent1">
                            <a:lumMod val="50000"/>
                          </a:schemeClr>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3</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C</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S</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c</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lnSpc>
                          <a:spcPts val="1100"/>
                        </a:lnSpc>
                        <a:spcAft>
                          <a:spcPts val="0"/>
                        </a:spcAft>
                      </a:pPr>
                      <a:r>
                        <a:rPr lang="en-US" sz="800" b="1" kern="100" dirty="0">
                          <a:solidFill>
                            <a:schemeClr val="tx1"/>
                          </a:solidFill>
                          <a:latin typeface="Times New Roman"/>
                          <a:ea typeface="宋体"/>
                          <a:cs typeface="Times New Roman"/>
                        </a:rPr>
                        <a:t>    s</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78951">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0100</a:t>
                      </a:r>
                      <a:endParaRPr lang="zh-CN" sz="800" b="1" kern="100" dirty="0">
                        <a:solidFill>
                          <a:schemeClr val="tx1"/>
                        </a:solidFill>
                        <a:latin typeface="Times New Roman"/>
                        <a:ea typeface="宋体"/>
                        <a:cs typeface="Times New Roman"/>
                      </a:endParaRPr>
                    </a:p>
                  </a:txBody>
                  <a:tcPr marL="14737" marR="14737"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accent1">
                              <a:lumMod val="50000"/>
                            </a:schemeClr>
                          </a:solidFill>
                          <a:latin typeface="Times New Roman"/>
                          <a:ea typeface="宋体"/>
                          <a:cs typeface="Times New Roman"/>
                        </a:rPr>
                        <a:t>  EOT</a:t>
                      </a:r>
                      <a:endParaRPr lang="zh-CN" sz="800" b="1" kern="100" dirty="0">
                        <a:solidFill>
                          <a:schemeClr val="accent1">
                            <a:lumMod val="50000"/>
                          </a:schemeClr>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accent1">
                              <a:lumMod val="50000"/>
                            </a:schemeClr>
                          </a:solidFill>
                          <a:latin typeface="Times New Roman"/>
                          <a:ea typeface="宋体"/>
                          <a:cs typeface="Times New Roman"/>
                        </a:rPr>
                        <a:t>   DC4</a:t>
                      </a:r>
                      <a:endParaRPr lang="zh-CN" sz="800" b="1" kern="100" dirty="0">
                        <a:solidFill>
                          <a:schemeClr val="accent1">
                            <a:lumMod val="50000"/>
                          </a:schemeClr>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4</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D</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T</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d</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lnSpc>
                          <a:spcPts val="1100"/>
                        </a:lnSpc>
                        <a:spcAft>
                          <a:spcPts val="0"/>
                        </a:spcAft>
                      </a:pPr>
                      <a:r>
                        <a:rPr lang="en-US" sz="800" b="1" kern="100" dirty="0">
                          <a:solidFill>
                            <a:schemeClr val="tx1"/>
                          </a:solidFill>
                          <a:latin typeface="Times New Roman"/>
                          <a:ea typeface="宋体"/>
                          <a:cs typeface="Times New Roman"/>
                        </a:rPr>
                        <a:t>    t</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78951">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0101</a:t>
                      </a:r>
                      <a:endParaRPr lang="zh-CN" sz="800" b="1" kern="100" dirty="0">
                        <a:solidFill>
                          <a:schemeClr val="tx1"/>
                        </a:solidFill>
                        <a:latin typeface="Times New Roman"/>
                        <a:ea typeface="宋体"/>
                        <a:cs typeface="Times New Roman"/>
                      </a:endParaRPr>
                    </a:p>
                  </a:txBody>
                  <a:tcPr marL="14737" marR="14737"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accent1">
                              <a:lumMod val="50000"/>
                            </a:schemeClr>
                          </a:solidFill>
                          <a:latin typeface="Times New Roman"/>
                          <a:ea typeface="宋体"/>
                          <a:cs typeface="Times New Roman"/>
                        </a:rPr>
                        <a:t>  ENQ</a:t>
                      </a:r>
                      <a:endParaRPr lang="zh-CN" sz="800" b="1" kern="100" dirty="0">
                        <a:solidFill>
                          <a:schemeClr val="accent1">
                            <a:lumMod val="50000"/>
                          </a:schemeClr>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accent1">
                              <a:lumMod val="50000"/>
                            </a:schemeClr>
                          </a:solidFill>
                          <a:latin typeface="Times New Roman"/>
                          <a:ea typeface="宋体"/>
                          <a:cs typeface="Times New Roman"/>
                        </a:rPr>
                        <a:t>   NAK</a:t>
                      </a:r>
                      <a:endParaRPr lang="zh-CN" sz="800" b="1" kern="100" dirty="0">
                        <a:solidFill>
                          <a:schemeClr val="accent1">
                            <a:lumMod val="50000"/>
                          </a:schemeClr>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5</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E</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U</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e</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lnSpc>
                          <a:spcPts val="1100"/>
                        </a:lnSpc>
                        <a:spcAft>
                          <a:spcPts val="0"/>
                        </a:spcAft>
                      </a:pPr>
                      <a:r>
                        <a:rPr lang="en-US" sz="800" b="1" kern="100" dirty="0">
                          <a:solidFill>
                            <a:schemeClr val="tx1"/>
                          </a:solidFill>
                          <a:latin typeface="Times New Roman"/>
                          <a:ea typeface="宋体"/>
                          <a:cs typeface="Times New Roman"/>
                        </a:rPr>
                        <a:t>    u</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659614">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0110</a:t>
                      </a:r>
                      <a:endParaRPr lang="zh-CN" sz="800" b="1" kern="100" dirty="0">
                        <a:solidFill>
                          <a:schemeClr val="tx1"/>
                        </a:solidFill>
                        <a:latin typeface="Times New Roman"/>
                        <a:ea typeface="宋体"/>
                        <a:cs typeface="Times New Roman"/>
                      </a:endParaRPr>
                    </a:p>
                  </a:txBody>
                  <a:tcPr marL="14737" marR="14737"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accent1">
                              <a:lumMod val="50000"/>
                            </a:schemeClr>
                          </a:solidFill>
                          <a:latin typeface="Times New Roman"/>
                          <a:ea typeface="宋体"/>
                          <a:cs typeface="Times New Roman"/>
                        </a:rPr>
                        <a:t>  ACK</a:t>
                      </a:r>
                      <a:endParaRPr lang="zh-CN" sz="800" b="1" kern="100" dirty="0">
                        <a:solidFill>
                          <a:schemeClr val="accent1">
                            <a:lumMod val="50000"/>
                          </a:schemeClr>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accent1">
                              <a:lumMod val="50000"/>
                            </a:schemeClr>
                          </a:solidFill>
                          <a:latin typeface="Times New Roman"/>
                          <a:ea typeface="宋体"/>
                          <a:cs typeface="Times New Roman"/>
                        </a:rPr>
                        <a:t>   SYN</a:t>
                      </a:r>
                      <a:endParaRPr lang="zh-CN" sz="800" b="1" kern="100" dirty="0">
                        <a:solidFill>
                          <a:schemeClr val="accent1">
                            <a:lumMod val="50000"/>
                          </a:schemeClr>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&amp;</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6</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F</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V</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f</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lnSpc>
                          <a:spcPts val="1100"/>
                        </a:lnSpc>
                        <a:spcAft>
                          <a:spcPts val="0"/>
                        </a:spcAft>
                      </a:pPr>
                      <a:r>
                        <a:rPr lang="en-US" sz="800" b="1" kern="100" dirty="0">
                          <a:solidFill>
                            <a:schemeClr val="tx1"/>
                          </a:solidFill>
                          <a:latin typeface="Times New Roman"/>
                          <a:ea typeface="宋体"/>
                          <a:cs typeface="Times New Roman"/>
                        </a:rPr>
                        <a:t>    v</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278951">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0111</a:t>
                      </a:r>
                      <a:endParaRPr lang="zh-CN" sz="800" b="1" kern="100" dirty="0">
                        <a:solidFill>
                          <a:schemeClr val="tx1"/>
                        </a:solidFill>
                        <a:latin typeface="Times New Roman"/>
                        <a:ea typeface="宋体"/>
                        <a:cs typeface="Times New Roman"/>
                      </a:endParaRPr>
                    </a:p>
                  </a:txBody>
                  <a:tcPr marL="14737" marR="14737"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accent1">
                              <a:lumMod val="50000"/>
                            </a:schemeClr>
                          </a:solidFill>
                          <a:latin typeface="Times New Roman"/>
                          <a:ea typeface="宋体"/>
                          <a:cs typeface="Times New Roman"/>
                        </a:rPr>
                        <a:t>  BEL</a:t>
                      </a:r>
                      <a:endParaRPr lang="zh-CN" sz="800" b="1" kern="100" dirty="0">
                        <a:solidFill>
                          <a:schemeClr val="accent1">
                            <a:lumMod val="50000"/>
                          </a:schemeClr>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accent1">
                              <a:lumMod val="50000"/>
                            </a:schemeClr>
                          </a:solidFill>
                          <a:latin typeface="Times New Roman"/>
                          <a:ea typeface="宋体"/>
                          <a:cs typeface="Times New Roman"/>
                        </a:rPr>
                        <a:t>   ETB</a:t>
                      </a:r>
                      <a:endParaRPr lang="zh-CN" sz="800" b="1" kern="100" dirty="0">
                        <a:solidFill>
                          <a:schemeClr val="accent1">
                            <a:lumMod val="50000"/>
                          </a:schemeClr>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7</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G</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W</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g</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lnSpc>
                          <a:spcPts val="1100"/>
                        </a:lnSpc>
                        <a:spcAft>
                          <a:spcPts val="0"/>
                        </a:spcAft>
                      </a:pPr>
                      <a:r>
                        <a:rPr lang="en-US" sz="800" b="1" kern="100" dirty="0">
                          <a:solidFill>
                            <a:schemeClr val="tx1"/>
                          </a:solidFill>
                          <a:latin typeface="Times New Roman"/>
                          <a:ea typeface="宋体"/>
                          <a:cs typeface="Times New Roman"/>
                        </a:rPr>
                        <a:t>    w</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278951">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1000</a:t>
                      </a:r>
                      <a:endParaRPr lang="zh-CN" sz="800" b="1" kern="100" dirty="0">
                        <a:solidFill>
                          <a:schemeClr val="tx1"/>
                        </a:solidFill>
                        <a:latin typeface="Times New Roman"/>
                        <a:ea typeface="宋体"/>
                        <a:cs typeface="Times New Roman"/>
                      </a:endParaRPr>
                    </a:p>
                  </a:txBody>
                  <a:tcPr marL="14737" marR="14737"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accent1">
                              <a:lumMod val="50000"/>
                            </a:schemeClr>
                          </a:solidFill>
                          <a:latin typeface="Times New Roman"/>
                          <a:ea typeface="宋体"/>
                          <a:cs typeface="Times New Roman"/>
                        </a:rPr>
                        <a:t>   BS</a:t>
                      </a:r>
                      <a:endParaRPr lang="zh-CN" sz="800" b="1" kern="100" dirty="0">
                        <a:solidFill>
                          <a:schemeClr val="accent1">
                            <a:lumMod val="50000"/>
                          </a:schemeClr>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accent1">
                              <a:lumMod val="50000"/>
                            </a:schemeClr>
                          </a:solidFill>
                          <a:latin typeface="Times New Roman"/>
                          <a:ea typeface="宋体"/>
                          <a:cs typeface="Times New Roman"/>
                        </a:rPr>
                        <a:t>   CAN</a:t>
                      </a:r>
                      <a:endParaRPr lang="zh-CN" sz="800" b="1" kern="100" dirty="0">
                        <a:solidFill>
                          <a:schemeClr val="accent1">
                            <a:lumMod val="50000"/>
                          </a:schemeClr>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a:t>
                      </a:r>
                      <a:r>
                        <a:rPr lang="zh-CN" sz="800" b="1" kern="100" dirty="0">
                          <a:solidFill>
                            <a:schemeClr val="tx1"/>
                          </a:solidFill>
                          <a:latin typeface="Times New Roman"/>
                          <a:ea typeface="宋体"/>
                          <a:cs typeface="Times New Roman"/>
                        </a:rPr>
                        <a:t>（</a:t>
                      </a: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8</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H</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X</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h</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lnSpc>
                          <a:spcPts val="1100"/>
                        </a:lnSpc>
                        <a:spcAft>
                          <a:spcPts val="0"/>
                        </a:spcAft>
                      </a:pPr>
                      <a:r>
                        <a:rPr lang="en-US" sz="800" b="1" kern="100" dirty="0">
                          <a:solidFill>
                            <a:schemeClr val="tx1"/>
                          </a:solidFill>
                          <a:latin typeface="Times New Roman"/>
                          <a:ea typeface="宋体"/>
                          <a:cs typeface="Times New Roman"/>
                        </a:rPr>
                        <a:t>    x</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278951">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1001</a:t>
                      </a:r>
                      <a:endParaRPr lang="zh-CN" sz="800" b="1" kern="100" dirty="0">
                        <a:solidFill>
                          <a:schemeClr val="tx1"/>
                        </a:solidFill>
                        <a:latin typeface="Times New Roman"/>
                        <a:ea typeface="宋体"/>
                        <a:cs typeface="Times New Roman"/>
                      </a:endParaRPr>
                    </a:p>
                  </a:txBody>
                  <a:tcPr marL="14737" marR="14737"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accent1">
                              <a:lumMod val="50000"/>
                            </a:schemeClr>
                          </a:solidFill>
                          <a:latin typeface="Times New Roman"/>
                          <a:ea typeface="宋体"/>
                          <a:cs typeface="Times New Roman"/>
                        </a:rPr>
                        <a:t>   HT</a:t>
                      </a:r>
                      <a:endParaRPr lang="zh-CN" sz="800" b="1" kern="100" dirty="0">
                        <a:solidFill>
                          <a:schemeClr val="accent1">
                            <a:lumMod val="50000"/>
                          </a:schemeClr>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accent1">
                              <a:lumMod val="50000"/>
                            </a:schemeClr>
                          </a:solidFill>
                          <a:latin typeface="Times New Roman"/>
                          <a:ea typeface="宋体"/>
                          <a:cs typeface="Times New Roman"/>
                        </a:rPr>
                        <a:t>    EM</a:t>
                      </a:r>
                      <a:endParaRPr lang="zh-CN" sz="800" b="1" kern="100" dirty="0">
                        <a:solidFill>
                          <a:schemeClr val="accent1">
                            <a:lumMod val="50000"/>
                          </a:schemeClr>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a:t>
                      </a:r>
                      <a:r>
                        <a:rPr lang="zh-CN" sz="800" b="1" kern="100" dirty="0">
                          <a:solidFill>
                            <a:schemeClr val="tx1"/>
                          </a:solidFill>
                          <a:latin typeface="Times New Roman"/>
                          <a:ea typeface="宋体"/>
                          <a:cs typeface="Times New Roman"/>
                        </a:rPr>
                        <a:t>）</a:t>
                      </a: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9</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a:solidFill>
                            <a:schemeClr val="tx1"/>
                          </a:solidFill>
                          <a:latin typeface="Times New Roman"/>
                          <a:ea typeface="宋体"/>
                          <a:cs typeface="Times New Roman"/>
                        </a:rPr>
                        <a:t>    I</a:t>
                      </a:r>
                      <a:endParaRPr lang="zh-CN" sz="800" b="1" kern="10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Y</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a:t>
                      </a:r>
                      <a:r>
                        <a:rPr lang="en-US" sz="800" b="1" kern="100" dirty="0" err="1">
                          <a:solidFill>
                            <a:schemeClr val="tx1"/>
                          </a:solidFill>
                          <a:latin typeface="Times New Roman"/>
                          <a:ea typeface="宋体"/>
                          <a:cs typeface="Times New Roman"/>
                        </a:rPr>
                        <a:t>i</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lnSpc>
                          <a:spcPts val="1100"/>
                        </a:lnSpc>
                        <a:spcAft>
                          <a:spcPts val="0"/>
                        </a:spcAft>
                      </a:pPr>
                      <a:r>
                        <a:rPr lang="en-US" sz="800" b="1" kern="100" dirty="0">
                          <a:solidFill>
                            <a:schemeClr val="tx1"/>
                          </a:solidFill>
                          <a:latin typeface="Times New Roman"/>
                          <a:ea typeface="宋体"/>
                          <a:cs typeface="Times New Roman"/>
                        </a:rPr>
                        <a:t>    y</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278951">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1010</a:t>
                      </a:r>
                      <a:endParaRPr lang="zh-CN" sz="800" b="1" kern="100" dirty="0">
                        <a:solidFill>
                          <a:schemeClr val="tx1"/>
                        </a:solidFill>
                        <a:latin typeface="Times New Roman"/>
                        <a:ea typeface="宋体"/>
                        <a:cs typeface="Times New Roman"/>
                      </a:endParaRPr>
                    </a:p>
                  </a:txBody>
                  <a:tcPr marL="14737" marR="14737"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accent1">
                              <a:lumMod val="50000"/>
                            </a:schemeClr>
                          </a:solidFill>
                          <a:latin typeface="Times New Roman"/>
                          <a:ea typeface="宋体"/>
                          <a:cs typeface="Times New Roman"/>
                        </a:rPr>
                        <a:t>   LF</a:t>
                      </a:r>
                      <a:endParaRPr lang="zh-CN" sz="800" b="1" kern="100" dirty="0">
                        <a:solidFill>
                          <a:schemeClr val="accent1">
                            <a:lumMod val="50000"/>
                          </a:schemeClr>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accent1">
                              <a:lumMod val="50000"/>
                            </a:schemeClr>
                          </a:solidFill>
                          <a:latin typeface="Times New Roman"/>
                          <a:ea typeface="宋体"/>
                          <a:cs typeface="Times New Roman"/>
                        </a:rPr>
                        <a:t>   SUB</a:t>
                      </a:r>
                      <a:endParaRPr lang="zh-CN" sz="800" b="1" kern="100" dirty="0">
                        <a:solidFill>
                          <a:schemeClr val="accent1">
                            <a:lumMod val="50000"/>
                          </a:schemeClr>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  </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a:solidFill>
                            <a:schemeClr val="tx1"/>
                          </a:solidFill>
                          <a:latin typeface="Times New Roman"/>
                          <a:ea typeface="宋体"/>
                          <a:cs typeface="Times New Roman"/>
                        </a:rPr>
                        <a:t>    J</a:t>
                      </a:r>
                      <a:endParaRPr lang="zh-CN" sz="800" b="1" kern="10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Z</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j</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lnSpc>
                          <a:spcPts val="1100"/>
                        </a:lnSpc>
                        <a:spcAft>
                          <a:spcPts val="0"/>
                        </a:spcAft>
                      </a:pPr>
                      <a:r>
                        <a:rPr lang="en-US" sz="800" b="1" kern="100" dirty="0">
                          <a:solidFill>
                            <a:schemeClr val="tx1"/>
                          </a:solidFill>
                          <a:latin typeface="Times New Roman"/>
                          <a:ea typeface="宋体"/>
                          <a:cs typeface="Times New Roman"/>
                        </a:rPr>
                        <a:t>    z</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278951">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1011</a:t>
                      </a:r>
                      <a:endParaRPr lang="zh-CN" sz="800" b="1" kern="100" dirty="0">
                        <a:solidFill>
                          <a:schemeClr val="tx1"/>
                        </a:solidFill>
                        <a:latin typeface="Times New Roman"/>
                        <a:ea typeface="宋体"/>
                        <a:cs typeface="Times New Roman"/>
                      </a:endParaRPr>
                    </a:p>
                  </a:txBody>
                  <a:tcPr marL="14737" marR="14737"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accent1">
                              <a:lumMod val="50000"/>
                            </a:schemeClr>
                          </a:solidFill>
                          <a:latin typeface="Times New Roman"/>
                          <a:ea typeface="宋体"/>
                          <a:cs typeface="Times New Roman"/>
                        </a:rPr>
                        <a:t>   VT</a:t>
                      </a:r>
                      <a:endParaRPr lang="zh-CN" sz="800" b="1" kern="100" dirty="0">
                        <a:solidFill>
                          <a:schemeClr val="accent1">
                            <a:lumMod val="50000"/>
                          </a:schemeClr>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accent1">
                              <a:lumMod val="50000"/>
                            </a:schemeClr>
                          </a:solidFill>
                          <a:latin typeface="Times New Roman"/>
                          <a:ea typeface="宋体"/>
                          <a:cs typeface="Times New Roman"/>
                        </a:rPr>
                        <a:t>   ESC</a:t>
                      </a:r>
                      <a:endParaRPr lang="zh-CN" sz="800" b="1" kern="100" dirty="0">
                        <a:solidFill>
                          <a:schemeClr val="accent1">
                            <a:lumMod val="50000"/>
                          </a:schemeClr>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a:t>
                      </a:r>
                      <a:r>
                        <a:rPr lang="zh-CN" sz="800" b="1" kern="100" dirty="0">
                          <a:solidFill>
                            <a:schemeClr val="tx1"/>
                          </a:solidFill>
                          <a:latin typeface="Times New Roman"/>
                          <a:ea typeface="宋体"/>
                          <a:cs typeface="Times New Roman"/>
                        </a:rPr>
                        <a:t>；</a:t>
                      </a: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a:solidFill>
                            <a:schemeClr val="tx1"/>
                          </a:solidFill>
                          <a:latin typeface="Times New Roman"/>
                          <a:ea typeface="宋体"/>
                          <a:cs typeface="Times New Roman"/>
                        </a:rPr>
                        <a:t>    K</a:t>
                      </a:r>
                      <a:endParaRPr lang="zh-CN" sz="800" b="1" kern="10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k</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lnSpc>
                          <a:spcPts val="1100"/>
                        </a:lnSpc>
                        <a:spcAft>
                          <a:spcPts val="0"/>
                        </a:spcAft>
                      </a:pPr>
                      <a:r>
                        <a:rPr lang="en-US" sz="800" b="1" kern="100" dirty="0">
                          <a:solidFill>
                            <a:schemeClr val="tx1"/>
                          </a:solidFill>
                          <a:latin typeface="Times New Roman"/>
                          <a:ea typeface="宋体"/>
                          <a:cs typeface="Times New Roman"/>
                        </a:rPr>
                        <a:t>    {</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244733">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1100</a:t>
                      </a:r>
                      <a:endParaRPr lang="zh-CN" sz="800" b="1" kern="100" dirty="0">
                        <a:solidFill>
                          <a:schemeClr val="tx1"/>
                        </a:solidFill>
                        <a:latin typeface="Times New Roman"/>
                        <a:ea typeface="宋体"/>
                        <a:cs typeface="Times New Roman"/>
                      </a:endParaRPr>
                    </a:p>
                  </a:txBody>
                  <a:tcPr marL="14737" marR="14737"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accent1">
                              <a:lumMod val="50000"/>
                            </a:schemeClr>
                          </a:solidFill>
                          <a:latin typeface="Times New Roman"/>
                          <a:ea typeface="宋体"/>
                          <a:cs typeface="Times New Roman"/>
                        </a:rPr>
                        <a:t>   FF</a:t>
                      </a:r>
                      <a:endParaRPr lang="zh-CN" sz="800" b="1" kern="100" dirty="0">
                        <a:solidFill>
                          <a:schemeClr val="accent1">
                            <a:lumMod val="50000"/>
                          </a:schemeClr>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accent1">
                              <a:lumMod val="50000"/>
                            </a:schemeClr>
                          </a:solidFill>
                          <a:latin typeface="Times New Roman"/>
                          <a:ea typeface="宋体"/>
                          <a:cs typeface="Times New Roman"/>
                        </a:rPr>
                        <a:t>    FS</a:t>
                      </a:r>
                      <a:endParaRPr lang="zh-CN" sz="800" b="1" kern="100" dirty="0">
                        <a:solidFill>
                          <a:schemeClr val="accent1">
                            <a:lumMod val="50000"/>
                          </a:schemeClr>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&lt;</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L</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l</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lnSpc>
                          <a:spcPts val="1100"/>
                        </a:lnSpc>
                        <a:spcAft>
                          <a:spcPts val="0"/>
                        </a:spcAft>
                      </a:pPr>
                      <a:r>
                        <a:rPr lang="en-US" sz="800" b="1" kern="100" dirty="0">
                          <a:solidFill>
                            <a:schemeClr val="tx1"/>
                          </a:solidFill>
                          <a:latin typeface="Times New Roman"/>
                          <a:ea typeface="宋体"/>
                          <a:cs typeface="Times New Roman"/>
                        </a:rPr>
                        <a:t>    |</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r h="278951">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1101</a:t>
                      </a:r>
                      <a:endParaRPr lang="zh-CN" sz="800" b="1" kern="100" dirty="0">
                        <a:solidFill>
                          <a:schemeClr val="tx1"/>
                        </a:solidFill>
                        <a:latin typeface="Times New Roman"/>
                        <a:ea typeface="宋体"/>
                        <a:cs typeface="Times New Roman"/>
                      </a:endParaRPr>
                    </a:p>
                  </a:txBody>
                  <a:tcPr marL="14737" marR="14737"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accent1">
                              <a:lumMod val="50000"/>
                            </a:schemeClr>
                          </a:solidFill>
                          <a:latin typeface="Times New Roman"/>
                          <a:ea typeface="宋体"/>
                          <a:cs typeface="Times New Roman"/>
                        </a:rPr>
                        <a:t>   CR</a:t>
                      </a:r>
                      <a:endParaRPr lang="zh-CN" sz="800" b="1" kern="100" dirty="0">
                        <a:solidFill>
                          <a:schemeClr val="accent1">
                            <a:lumMod val="50000"/>
                          </a:schemeClr>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accent1">
                              <a:lumMod val="50000"/>
                            </a:schemeClr>
                          </a:solidFill>
                          <a:latin typeface="Times New Roman"/>
                          <a:ea typeface="宋体"/>
                          <a:cs typeface="Times New Roman"/>
                        </a:rPr>
                        <a:t>    GS</a:t>
                      </a:r>
                      <a:endParaRPr lang="zh-CN" sz="800" b="1" kern="100" dirty="0">
                        <a:solidFill>
                          <a:schemeClr val="accent1">
                            <a:lumMod val="50000"/>
                          </a:schemeClr>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M</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m</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lnSpc>
                          <a:spcPts val="1100"/>
                        </a:lnSpc>
                        <a:spcAft>
                          <a:spcPts val="0"/>
                        </a:spcAft>
                      </a:pPr>
                      <a:r>
                        <a:rPr lang="en-US" sz="800" b="1" kern="100" dirty="0">
                          <a:solidFill>
                            <a:schemeClr val="tx1"/>
                          </a:solidFill>
                          <a:latin typeface="Times New Roman"/>
                          <a:ea typeface="宋体"/>
                          <a:cs typeface="Times New Roman"/>
                        </a:rPr>
                        <a:t>    }</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4"/>
                  </a:ext>
                </a:extLst>
              </a:tr>
              <a:tr h="240787">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1110</a:t>
                      </a:r>
                      <a:endParaRPr lang="zh-CN" sz="800" b="1" kern="100" dirty="0">
                        <a:solidFill>
                          <a:schemeClr val="tx1"/>
                        </a:solidFill>
                        <a:latin typeface="Times New Roman"/>
                        <a:ea typeface="宋体"/>
                        <a:cs typeface="Times New Roman"/>
                      </a:endParaRPr>
                    </a:p>
                  </a:txBody>
                  <a:tcPr marL="14737" marR="14737"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accent1">
                              <a:lumMod val="50000"/>
                            </a:schemeClr>
                          </a:solidFill>
                          <a:latin typeface="Times New Roman"/>
                          <a:ea typeface="宋体"/>
                          <a:cs typeface="Times New Roman"/>
                        </a:rPr>
                        <a:t>   SO</a:t>
                      </a:r>
                      <a:endParaRPr lang="zh-CN" sz="800" b="1" kern="100" dirty="0">
                        <a:solidFill>
                          <a:schemeClr val="accent1">
                            <a:lumMod val="50000"/>
                          </a:schemeClr>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accent1">
                              <a:lumMod val="50000"/>
                            </a:schemeClr>
                          </a:solidFill>
                          <a:latin typeface="Times New Roman"/>
                          <a:ea typeface="宋体"/>
                          <a:cs typeface="Times New Roman"/>
                        </a:rPr>
                        <a:t>    RS</a:t>
                      </a:r>
                      <a:endParaRPr lang="zh-CN" sz="800" b="1" kern="100" dirty="0">
                        <a:solidFill>
                          <a:schemeClr val="accent1">
                            <a:lumMod val="50000"/>
                          </a:schemeClr>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&gt;</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N</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a:t>
                      </a:r>
                      <a:r>
                        <a:rPr lang="zh-CN" sz="800" b="1" kern="100" dirty="0">
                          <a:solidFill>
                            <a:schemeClr val="tx1"/>
                          </a:solidFill>
                          <a:latin typeface="Times New Roman"/>
                          <a:ea typeface="宋体"/>
                          <a:cs typeface="Times New Roman"/>
                        </a:rPr>
                        <a:t>↑</a:t>
                      </a: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n</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lnSpc>
                          <a:spcPts val="1100"/>
                        </a:lnSpc>
                        <a:spcAft>
                          <a:spcPts val="0"/>
                        </a:spcAft>
                      </a:pPr>
                      <a:r>
                        <a:rPr lang="en-US" sz="800" b="1" kern="100" dirty="0">
                          <a:solidFill>
                            <a:schemeClr val="tx1"/>
                          </a:solidFill>
                          <a:latin typeface="Times New Roman"/>
                          <a:ea typeface="宋体"/>
                          <a:cs typeface="Times New Roman"/>
                        </a:rPr>
                        <a:t>    </a:t>
                      </a:r>
                      <a:r>
                        <a:rPr lang="zh-CN" sz="800" b="1" kern="100" dirty="0">
                          <a:solidFill>
                            <a:schemeClr val="tx1"/>
                          </a:solidFill>
                          <a:latin typeface="Times New Roman"/>
                          <a:ea typeface="宋体"/>
                          <a:cs typeface="Times New Roman"/>
                        </a:rPr>
                        <a:t>～</a:t>
                      </a:r>
                    </a:p>
                  </a:txBody>
                  <a:tcPr marL="14737" marR="14737"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5"/>
                  </a:ext>
                </a:extLst>
              </a:tr>
              <a:tr h="278951">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1111</a:t>
                      </a:r>
                      <a:endParaRPr lang="zh-CN" sz="800" b="1" kern="100" dirty="0">
                        <a:solidFill>
                          <a:schemeClr val="tx1"/>
                        </a:solidFill>
                        <a:latin typeface="Times New Roman"/>
                        <a:ea typeface="宋体"/>
                        <a:cs typeface="Times New Roman"/>
                      </a:endParaRPr>
                    </a:p>
                  </a:txBody>
                  <a:tcPr marL="14737" marR="14737"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accent1">
                              <a:lumMod val="50000"/>
                            </a:schemeClr>
                          </a:solidFill>
                          <a:latin typeface="Times New Roman"/>
                          <a:ea typeface="宋体"/>
                          <a:cs typeface="Times New Roman"/>
                        </a:rPr>
                        <a:t>   SI</a:t>
                      </a:r>
                      <a:endParaRPr lang="zh-CN" sz="800" b="1" kern="100" dirty="0">
                        <a:solidFill>
                          <a:schemeClr val="accent1">
                            <a:lumMod val="50000"/>
                          </a:schemeClr>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accent1">
                              <a:lumMod val="50000"/>
                            </a:schemeClr>
                          </a:solidFill>
                          <a:latin typeface="Times New Roman"/>
                          <a:ea typeface="宋体"/>
                          <a:cs typeface="Times New Roman"/>
                        </a:rPr>
                        <a:t>    US</a:t>
                      </a:r>
                      <a:endParaRPr lang="zh-CN" sz="800" b="1" kern="100" dirty="0">
                        <a:solidFill>
                          <a:schemeClr val="accent1">
                            <a:lumMod val="50000"/>
                          </a:schemeClr>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O</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a:t>
                      </a:r>
                      <a:r>
                        <a:rPr lang="zh-CN" sz="800" b="1" kern="100" dirty="0">
                          <a:solidFill>
                            <a:schemeClr val="tx1"/>
                          </a:solidFill>
                          <a:latin typeface="Times New Roman"/>
                          <a:ea typeface="宋体"/>
                          <a:cs typeface="Times New Roman"/>
                        </a:rPr>
                        <a:t>←</a:t>
                      </a: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defTabSz="914400" rtl="0" eaLnBrk="1" latinLnBrk="0" hangingPunct="1">
                        <a:spcAft>
                          <a:spcPts val="0"/>
                        </a:spcAft>
                      </a:pPr>
                      <a:r>
                        <a:rPr lang="en-US" sz="800" b="1" kern="100" dirty="0">
                          <a:solidFill>
                            <a:schemeClr val="tx1"/>
                          </a:solidFill>
                          <a:latin typeface="Times New Roman"/>
                          <a:ea typeface="宋体"/>
                          <a:cs typeface="Times New Roman"/>
                        </a:rPr>
                        <a:t>    o</a:t>
                      </a:r>
                      <a:endParaRPr lang="zh-CN" sz="800" b="1" kern="100" dirty="0">
                        <a:solidFill>
                          <a:schemeClr val="tx1"/>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a:spcAft>
                          <a:spcPts val="0"/>
                        </a:spcAft>
                      </a:pPr>
                      <a:r>
                        <a:rPr lang="en-US" sz="800" b="1" kern="100" dirty="0">
                          <a:latin typeface="Times New Roman"/>
                          <a:ea typeface="宋体"/>
                          <a:cs typeface="Times New Roman"/>
                        </a:rPr>
                        <a:t>  </a:t>
                      </a:r>
                      <a:r>
                        <a:rPr lang="en-US" sz="800" b="1" kern="100" dirty="0">
                          <a:solidFill>
                            <a:schemeClr val="accent1">
                              <a:lumMod val="50000"/>
                            </a:schemeClr>
                          </a:solidFill>
                          <a:latin typeface="Times New Roman"/>
                          <a:ea typeface="宋体"/>
                          <a:cs typeface="Times New Roman"/>
                        </a:rPr>
                        <a:t> DEL</a:t>
                      </a:r>
                      <a:endParaRPr lang="zh-CN" sz="800" b="1" kern="100" dirty="0">
                        <a:solidFill>
                          <a:schemeClr val="accent1">
                            <a:lumMod val="50000"/>
                          </a:schemeClr>
                        </a:solidFill>
                        <a:latin typeface="Times New Roman"/>
                        <a:ea typeface="宋体"/>
                        <a:cs typeface="Times New Roman"/>
                      </a:endParaRPr>
                    </a:p>
                  </a:txBody>
                  <a:tcPr marL="14737" marR="14737"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6"/>
                  </a:ext>
                </a:extLst>
              </a:tr>
            </a:tbl>
          </a:graphicData>
        </a:graphic>
      </p:graphicFrame>
      <p:sp>
        <p:nvSpPr>
          <p:cNvPr id="12" name="TextBox 465">
            <a:extLst>
              <a:ext uri="{FF2B5EF4-FFF2-40B4-BE49-F238E27FC236}">
                <a16:creationId xmlns:a16="http://schemas.microsoft.com/office/drawing/2014/main" id="{CC7B551E-3A60-4D8F-B739-6A6C38144D25}"/>
              </a:ext>
            </a:extLst>
          </p:cNvPr>
          <p:cNvSpPr txBox="1"/>
          <p:nvPr/>
        </p:nvSpPr>
        <p:spPr>
          <a:xfrm>
            <a:off x="3275856" y="116632"/>
            <a:ext cx="3611913" cy="369332"/>
          </a:xfrm>
          <a:prstGeom prst="rect">
            <a:avLst/>
          </a:prstGeom>
          <a:noFill/>
        </p:spPr>
        <p:txBody>
          <a:bodyPr wrap="square" rtlCol="0">
            <a:spAutoFit/>
          </a:bodyPr>
          <a:lstStyle/>
          <a:p>
            <a:r>
              <a:rPr lang="en-US" b="1" dirty="0">
                <a:latin typeface="隶书" pitchFamily="49" charset="-122"/>
                <a:ea typeface="隶书" pitchFamily="49" charset="-122"/>
              </a:rPr>
              <a:t>ASCII</a:t>
            </a:r>
            <a:r>
              <a:rPr lang="zh-CN" altLang="en-US" b="1" dirty="0">
                <a:latin typeface="隶书" pitchFamily="49" charset="-122"/>
                <a:ea typeface="隶书" pitchFamily="49" charset="-122"/>
              </a:rPr>
              <a:t>码表</a:t>
            </a:r>
          </a:p>
        </p:txBody>
      </p:sp>
      <p:sp>
        <p:nvSpPr>
          <p:cNvPr id="3" name="矩形 2">
            <a:extLst>
              <a:ext uri="{FF2B5EF4-FFF2-40B4-BE49-F238E27FC236}">
                <a16:creationId xmlns:a16="http://schemas.microsoft.com/office/drawing/2014/main" id="{D0BCEA5B-1414-4DA7-BD1B-43E2F3DE71C6}"/>
              </a:ext>
            </a:extLst>
          </p:cNvPr>
          <p:cNvSpPr/>
          <p:nvPr/>
        </p:nvSpPr>
        <p:spPr>
          <a:xfrm>
            <a:off x="5855517" y="960735"/>
            <a:ext cx="645952" cy="373042"/>
          </a:xfrm>
          <a:prstGeom prst="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3B225240-1BB8-4506-BD81-B8E2913C0F94}"/>
              </a:ext>
            </a:extLst>
          </p:cNvPr>
          <p:cNvSpPr/>
          <p:nvPr/>
        </p:nvSpPr>
        <p:spPr>
          <a:xfrm>
            <a:off x="6701337" y="1661775"/>
            <a:ext cx="598623" cy="250837"/>
          </a:xfrm>
          <a:prstGeom prst="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15FF8F15-6D83-4C0E-BD12-AFE54F8191C9}"/>
              </a:ext>
            </a:extLst>
          </p:cNvPr>
          <p:cNvSpPr/>
          <p:nvPr/>
        </p:nvSpPr>
        <p:spPr>
          <a:xfrm>
            <a:off x="8183296" y="1661775"/>
            <a:ext cx="598623" cy="250837"/>
          </a:xfrm>
          <a:prstGeom prst="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3275841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600" dirty="0">
                <a:solidFill>
                  <a:prstClr val="black"/>
                </a:solidFill>
                <a:latin typeface="华文楷体" panose="02010600040101010101" pitchFamily="2" charset="-122"/>
                <a:ea typeface="华文楷体" panose="02010600040101010101" pitchFamily="2" charset="-122"/>
              </a:rPr>
              <a:t>第二章</a:t>
            </a:r>
            <a:endParaRPr kumimoji="0" lang="en-US" altLang="zh-CN" sz="3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endParaRPr>
          </a:p>
        </p:txBody>
      </p:sp>
      <p:pic>
        <p:nvPicPr>
          <p:cNvPr id="8" name="图片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19441" y="6219825"/>
            <a:ext cx="536892" cy="542925"/>
          </a:xfrm>
          <a:prstGeom prst="rect">
            <a:avLst/>
          </a:prstGeom>
        </p:spPr>
      </p:pic>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9" name="Rectangle 3">
            <a:extLst>
              <a:ext uri="{FF2B5EF4-FFF2-40B4-BE49-F238E27FC236}">
                <a16:creationId xmlns:a16="http://schemas.microsoft.com/office/drawing/2014/main" id="{F4B60A72-D71E-4B9F-94D3-AFA378B6EBE1}"/>
              </a:ext>
            </a:extLst>
          </p:cNvPr>
          <p:cNvSpPr>
            <a:spLocks noChangeArrowheads="1"/>
          </p:cNvSpPr>
          <p:nvPr/>
        </p:nvSpPr>
        <p:spPr bwMode="auto">
          <a:xfrm>
            <a:off x="1649154" y="1813869"/>
            <a:ext cx="8882062" cy="2502095"/>
          </a:xfrm>
          <a:prstGeom prst="rect">
            <a:avLst/>
          </a:prstGeom>
          <a:noFill/>
          <a:ln w="9525">
            <a:noFill/>
            <a:miter lim="800000"/>
            <a:headEnd/>
            <a:tailEnd/>
          </a:ln>
        </p:spPr>
        <p:txBody>
          <a:bodyPr lIns="64008" tIns="32004" rIns="64008" bIns="32004">
            <a:spAutoFit/>
          </a:bodyPr>
          <a:lstStyle/>
          <a:p>
            <a:pPr defTabSz="639763">
              <a:lnSpc>
                <a:spcPct val="105000"/>
              </a:lnSpc>
              <a:spcBef>
                <a:spcPct val="10000"/>
              </a:spcBef>
            </a:pPr>
            <a:r>
              <a:rPr kumimoji="1" lang="zh-CN" altLang="en-US" b="1" dirty="0">
                <a:latin typeface="华文楷体" pitchFamily="2" charset="-122"/>
                <a:ea typeface="华文楷体" pitchFamily="2" charset="-122"/>
              </a:rPr>
              <a:t>   </a:t>
            </a:r>
            <a:r>
              <a:rPr kumimoji="1" lang="zh-CN" altLang="en-US" sz="2000" b="1" dirty="0">
                <a:latin typeface="华文楷体" pitchFamily="2" charset="-122"/>
                <a:ea typeface="华文楷体" pitchFamily="2" charset="-122"/>
              </a:rPr>
              <a:t>换行（</a:t>
            </a:r>
            <a:r>
              <a:rPr kumimoji="1" lang="en-US" altLang="zh-CN" sz="2000" b="1" dirty="0">
                <a:latin typeface="华文楷体" pitchFamily="2" charset="-122"/>
                <a:ea typeface="华文楷体" pitchFamily="2" charset="-122"/>
              </a:rPr>
              <a:t>LF</a:t>
            </a:r>
            <a:r>
              <a:rPr kumimoji="1" lang="zh-CN" altLang="en-US" sz="2000" b="1" dirty="0">
                <a:latin typeface="华文楷体" pitchFamily="2" charset="-122"/>
                <a:ea typeface="华文楷体" pitchFamily="2" charset="-122"/>
              </a:rPr>
              <a:t>）      </a:t>
            </a:r>
            <a:r>
              <a:rPr kumimoji="1" lang="en-US" altLang="zh-CN" sz="2000" b="1" dirty="0">
                <a:latin typeface="华文楷体" pitchFamily="2" charset="-122"/>
                <a:ea typeface="华文楷体" pitchFamily="2" charset="-122"/>
              </a:rPr>
              <a:t>	0AH      	10</a:t>
            </a:r>
          </a:p>
          <a:p>
            <a:pPr defTabSz="639763">
              <a:lnSpc>
                <a:spcPct val="105000"/>
              </a:lnSpc>
              <a:spcBef>
                <a:spcPct val="10000"/>
              </a:spcBef>
            </a:pPr>
            <a:r>
              <a:rPr kumimoji="1" lang="en-US" altLang="zh-CN" sz="2000" b="1" dirty="0">
                <a:latin typeface="华文楷体" pitchFamily="2" charset="-122"/>
                <a:ea typeface="华文楷体" pitchFamily="2" charset="-122"/>
              </a:rPr>
              <a:t>   </a:t>
            </a:r>
            <a:r>
              <a:rPr kumimoji="1" lang="zh-CN" altLang="en-US" sz="2000" b="1" dirty="0">
                <a:latin typeface="华文楷体" pitchFamily="2" charset="-122"/>
                <a:ea typeface="华文楷体" pitchFamily="2" charset="-122"/>
              </a:rPr>
              <a:t>回车（</a:t>
            </a:r>
            <a:r>
              <a:rPr kumimoji="1" lang="en-US" altLang="zh-CN" sz="2000" b="1" dirty="0">
                <a:latin typeface="华文楷体" pitchFamily="2" charset="-122"/>
                <a:ea typeface="华文楷体" pitchFamily="2" charset="-122"/>
              </a:rPr>
              <a:t>CR</a:t>
            </a:r>
            <a:r>
              <a:rPr kumimoji="1" lang="zh-CN" altLang="en-US" sz="2000" b="1" dirty="0">
                <a:latin typeface="华文楷体" pitchFamily="2" charset="-122"/>
                <a:ea typeface="华文楷体" pitchFamily="2" charset="-122"/>
              </a:rPr>
              <a:t>）      </a:t>
            </a:r>
            <a:r>
              <a:rPr kumimoji="1" lang="en-US" altLang="zh-CN" sz="2000" b="1" dirty="0">
                <a:latin typeface="华文楷体" pitchFamily="2" charset="-122"/>
                <a:ea typeface="华文楷体" pitchFamily="2" charset="-122"/>
              </a:rPr>
              <a:t>	0DH        	13</a:t>
            </a:r>
          </a:p>
          <a:p>
            <a:pPr defTabSz="639763">
              <a:lnSpc>
                <a:spcPct val="105000"/>
              </a:lnSpc>
              <a:spcBef>
                <a:spcPct val="10000"/>
              </a:spcBef>
            </a:pPr>
            <a:r>
              <a:rPr kumimoji="1" lang="en-US" altLang="zh-CN" sz="2000" b="1" dirty="0">
                <a:latin typeface="华文楷体" pitchFamily="2" charset="-122"/>
                <a:ea typeface="华文楷体" pitchFamily="2" charset="-122"/>
              </a:rPr>
              <a:t>   </a:t>
            </a:r>
            <a:r>
              <a:rPr kumimoji="1" lang="zh-CN" altLang="en-US" sz="2000" b="1" dirty="0">
                <a:latin typeface="华文楷体" pitchFamily="2" charset="-122"/>
                <a:ea typeface="华文楷体" pitchFamily="2" charset="-122"/>
              </a:rPr>
              <a:t>空格（</a:t>
            </a:r>
            <a:r>
              <a:rPr kumimoji="1" lang="en-US" altLang="zh-CN" sz="2000" b="1" dirty="0">
                <a:latin typeface="华文楷体" pitchFamily="2" charset="-122"/>
                <a:ea typeface="华文楷体" pitchFamily="2" charset="-122"/>
              </a:rPr>
              <a:t>SP</a:t>
            </a:r>
            <a:r>
              <a:rPr kumimoji="1" lang="zh-CN" altLang="en-US" sz="2000" b="1" dirty="0">
                <a:latin typeface="华文楷体" pitchFamily="2" charset="-122"/>
                <a:ea typeface="华文楷体" pitchFamily="2" charset="-122"/>
              </a:rPr>
              <a:t>）      </a:t>
            </a:r>
            <a:r>
              <a:rPr kumimoji="1" lang="en-US" altLang="zh-CN" sz="2000" b="1" dirty="0">
                <a:latin typeface="华文楷体" pitchFamily="2" charset="-122"/>
                <a:ea typeface="华文楷体" pitchFamily="2" charset="-122"/>
              </a:rPr>
              <a:t>	20H		32</a:t>
            </a:r>
          </a:p>
          <a:p>
            <a:pPr defTabSz="639763">
              <a:lnSpc>
                <a:spcPct val="105000"/>
              </a:lnSpc>
              <a:spcBef>
                <a:spcPct val="10000"/>
              </a:spcBef>
            </a:pPr>
            <a:r>
              <a:rPr lang="en-US" altLang="zh-CN" sz="2000" b="1" dirty="0">
                <a:latin typeface="华文楷体" pitchFamily="2" charset="-122"/>
                <a:ea typeface="华文楷体" pitchFamily="2" charset="-122"/>
              </a:rPr>
              <a:t>   </a:t>
            </a:r>
            <a:r>
              <a:rPr lang="zh-CN" altLang="en-US" sz="2000" b="1" dirty="0">
                <a:latin typeface="华文楷体" pitchFamily="2" charset="-122"/>
                <a:ea typeface="华文楷体" pitchFamily="2" charset="-122"/>
              </a:rPr>
              <a:t>删除（</a:t>
            </a:r>
            <a:r>
              <a:rPr lang="en-US" altLang="zh-CN" sz="2000" b="1" dirty="0">
                <a:latin typeface="华文楷体" pitchFamily="2" charset="-122"/>
                <a:ea typeface="华文楷体" pitchFamily="2" charset="-122"/>
              </a:rPr>
              <a:t>DEL</a:t>
            </a:r>
            <a:r>
              <a:rPr lang="zh-CN" altLang="en-US" sz="2000" b="1" dirty="0">
                <a:latin typeface="华文楷体" pitchFamily="2" charset="-122"/>
                <a:ea typeface="华文楷体" pitchFamily="2" charset="-122"/>
              </a:rPr>
              <a:t>）   </a:t>
            </a:r>
            <a:r>
              <a:rPr lang="en-US" altLang="zh-CN" sz="2000" b="1" dirty="0">
                <a:latin typeface="华文楷体" pitchFamily="2" charset="-122"/>
                <a:ea typeface="华文楷体" pitchFamily="2" charset="-122"/>
              </a:rPr>
              <a:t>	7FH         	127</a:t>
            </a:r>
            <a:endParaRPr kumimoji="1" lang="en-US" altLang="zh-CN" sz="2000" b="1" dirty="0">
              <a:latin typeface="华文楷体" pitchFamily="2" charset="-122"/>
              <a:ea typeface="华文楷体" pitchFamily="2" charset="-122"/>
            </a:endParaRPr>
          </a:p>
          <a:p>
            <a:pPr defTabSz="639763">
              <a:lnSpc>
                <a:spcPct val="105000"/>
              </a:lnSpc>
              <a:spcBef>
                <a:spcPct val="10000"/>
              </a:spcBef>
            </a:pPr>
            <a:r>
              <a:rPr kumimoji="1" lang="en-US" altLang="zh-CN" sz="2000" b="1" dirty="0">
                <a:latin typeface="华文楷体" pitchFamily="2" charset="-122"/>
                <a:ea typeface="华文楷体" pitchFamily="2" charset="-122"/>
              </a:rPr>
              <a:t>‘0’</a:t>
            </a:r>
            <a:r>
              <a:rPr kumimoji="1" lang="zh-CN" altLang="en-US" sz="2000" b="1" dirty="0">
                <a:latin typeface="华文楷体" pitchFamily="2" charset="-122"/>
                <a:ea typeface="华文楷体" pitchFamily="2" charset="-122"/>
              </a:rPr>
              <a:t>～‘</a:t>
            </a:r>
            <a:r>
              <a:rPr kumimoji="1" lang="en-US" altLang="zh-CN" sz="2000" b="1" dirty="0">
                <a:latin typeface="华文楷体" pitchFamily="2" charset="-122"/>
                <a:ea typeface="华文楷体" pitchFamily="2" charset="-122"/>
              </a:rPr>
              <a:t>9’  	30H</a:t>
            </a:r>
            <a:r>
              <a:rPr kumimoji="1" lang="zh-CN" altLang="en-US" sz="2000" b="1" dirty="0">
                <a:latin typeface="华文楷体" pitchFamily="2" charset="-122"/>
                <a:ea typeface="华文楷体" pitchFamily="2" charset="-122"/>
              </a:rPr>
              <a:t>～</a:t>
            </a:r>
            <a:r>
              <a:rPr kumimoji="1" lang="en-US" altLang="zh-CN" sz="2000" b="1" dirty="0">
                <a:latin typeface="华文楷体" pitchFamily="2" charset="-122"/>
                <a:ea typeface="华文楷体" pitchFamily="2" charset="-122"/>
              </a:rPr>
              <a:t>39H    	48</a:t>
            </a:r>
            <a:r>
              <a:rPr kumimoji="1" lang="zh-CN" altLang="en-US" sz="2000" b="1" dirty="0">
                <a:latin typeface="华文楷体" pitchFamily="2" charset="-122"/>
                <a:ea typeface="华文楷体" pitchFamily="2" charset="-122"/>
              </a:rPr>
              <a:t>～</a:t>
            </a:r>
            <a:r>
              <a:rPr kumimoji="1" lang="en-US" altLang="zh-CN" sz="2000" b="1" dirty="0">
                <a:latin typeface="华文楷体" pitchFamily="2" charset="-122"/>
                <a:ea typeface="华文楷体" pitchFamily="2" charset="-122"/>
              </a:rPr>
              <a:t>57</a:t>
            </a:r>
          </a:p>
          <a:p>
            <a:pPr defTabSz="639763">
              <a:lnSpc>
                <a:spcPct val="105000"/>
              </a:lnSpc>
              <a:spcBef>
                <a:spcPct val="10000"/>
              </a:spcBef>
            </a:pPr>
            <a:r>
              <a:rPr kumimoji="1" lang="en-US" altLang="zh-CN" sz="2000" b="1" dirty="0">
                <a:latin typeface="华文楷体" pitchFamily="2" charset="-122"/>
                <a:ea typeface="华文楷体" pitchFamily="2" charset="-122"/>
              </a:rPr>
              <a:t>‘A’</a:t>
            </a:r>
            <a:r>
              <a:rPr kumimoji="1" lang="zh-CN" altLang="en-US" sz="2000" b="1" dirty="0">
                <a:latin typeface="华文楷体" pitchFamily="2" charset="-122"/>
                <a:ea typeface="华文楷体" pitchFamily="2" charset="-122"/>
              </a:rPr>
              <a:t>～‘</a:t>
            </a:r>
            <a:r>
              <a:rPr kumimoji="1" lang="en-US" altLang="zh-CN" sz="2000" b="1" dirty="0">
                <a:latin typeface="华文楷体" pitchFamily="2" charset="-122"/>
                <a:ea typeface="华文楷体" pitchFamily="2" charset="-122"/>
              </a:rPr>
              <a:t>Z’   	41H</a:t>
            </a:r>
            <a:r>
              <a:rPr kumimoji="1" lang="zh-CN" altLang="en-US" sz="2000" b="1" dirty="0">
                <a:latin typeface="华文楷体" pitchFamily="2" charset="-122"/>
                <a:ea typeface="华文楷体" pitchFamily="2" charset="-122"/>
              </a:rPr>
              <a:t>～</a:t>
            </a:r>
            <a:r>
              <a:rPr kumimoji="1" lang="en-US" altLang="zh-CN" sz="2000" b="1" dirty="0">
                <a:latin typeface="华文楷体" pitchFamily="2" charset="-122"/>
                <a:ea typeface="华文楷体" pitchFamily="2" charset="-122"/>
              </a:rPr>
              <a:t>5AH    	65</a:t>
            </a:r>
            <a:r>
              <a:rPr kumimoji="1" lang="zh-CN" altLang="en-US" sz="2000" b="1" dirty="0">
                <a:latin typeface="华文楷体" pitchFamily="2" charset="-122"/>
                <a:ea typeface="华文楷体" pitchFamily="2" charset="-122"/>
              </a:rPr>
              <a:t>～</a:t>
            </a:r>
            <a:r>
              <a:rPr kumimoji="1" lang="en-US" altLang="zh-CN" sz="2000" b="1" dirty="0">
                <a:latin typeface="华文楷体" pitchFamily="2" charset="-122"/>
                <a:ea typeface="华文楷体" pitchFamily="2" charset="-122"/>
              </a:rPr>
              <a:t>90</a:t>
            </a:r>
            <a:r>
              <a:rPr kumimoji="1" lang="zh-CN" altLang="en-US" sz="2000" b="1" dirty="0">
                <a:latin typeface="华文楷体" pitchFamily="2" charset="-122"/>
                <a:ea typeface="华文楷体" pitchFamily="2" charset="-122"/>
              </a:rPr>
              <a:t>（</a:t>
            </a:r>
            <a:r>
              <a:rPr kumimoji="1" lang="en-US" altLang="zh-CN" sz="2000" b="1" dirty="0">
                <a:solidFill>
                  <a:srgbClr val="3333FF"/>
                </a:solidFill>
                <a:latin typeface="华文楷体" pitchFamily="2" charset="-122"/>
                <a:ea typeface="华文楷体" pitchFamily="2" charset="-122"/>
              </a:rPr>
              <a:t>d</a:t>
            </a:r>
            <a:r>
              <a:rPr kumimoji="1" lang="en-US" altLang="zh-CN" sz="2000" b="1" baseline="-25000" dirty="0">
                <a:solidFill>
                  <a:srgbClr val="3333FF"/>
                </a:solidFill>
                <a:latin typeface="华文楷体" pitchFamily="2" charset="-122"/>
                <a:ea typeface="华文楷体" pitchFamily="2" charset="-122"/>
              </a:rPr>
              <a:t>5</a:t>
            </a:r>
            <a:r>
              <a:rPr kumimoji="1" lang="zh-CN" altLang="en-US" sz="2000" b="1" dirty="0">
                <a:solidFill>
                  <a:srgbClr val="3333FF"/>
                </a:solidFill>
                <a:latin typeface="华文楷体" pitchFamily="2" charset="-122"/>
                <a:ea typeface="华文楷体" pitchFamily="2" charset="-122"/>
              </a:rPr>
              <a:t>位为</a:t>
            </a:r>
            <a:r>
              <a:rPr kumimoji="1" lang="en-US" altLang="zh-CN" sz="2000" b="1" dirty="0">
                <a:solidFill>
                  <a:srgbClr val="3333FF"/>
                </a:solidFill>
                <a:latin typeface="华文楷体" pitchFamily="2" charset="-122"/>
                <a:ea typeface="华文楷体" pitchFamily="2" charset="-122"/>
              </a:rPr>
              <a:t>0</a:t>
            </a:r>
            <a:r>
              <a:rPr kumimoji="1" lang="zh-CN" altLang="en-US" sz="2000" b="1" dirty="0">
                <a:latin typeface="华文楷体" pitchFamily="2" charset="-122"/>
                <a:ea typeface="华文楷体" pitchFamily="2" charset="-122"/>
              </a:rPr>
              <a:t>）</a:t>
            </a:r>
            <a:endParaRPr kumimoji="1" lang="en-US" altLang="zh-CN" sz="2000" b="1" dirty="0">
              <a:latin typeface="华文楷体" pitchFamily="2" charset="-122"/>
              <a:ea typeface="华文楷体" pitchFamily="2" charset="-122"/>
            </a:endParaRPr>
          </a:p>
          <a:p>
            <a:pPr defTabSz="639763">
              <a:lnSpc>
                <a:spcPct val="105000"/>
              </a:lnSpc>
              <a:spcBef>
                <a:spcPct val="10000"/>
              </a:spcBef>
            </a:pPr>
            <a:r>
              <a:rPr kumimoji="1" lang="en-US" altLang="zh-CN" sz="2000" b="1" dirty="0">
                <a:latin typeface="华文楷体" pitchFamily="2" charset="-122"/>
                <a:ea typeface="华文楷体" pitchFamily="2" charset="-122"/>
              </a:rPr>
              <a:t>‘a’</a:t>
            </a:r>
            <a:r>
              <a:rPr kumimoji="1" lang="zh-CN" altLang="en-US" sz="2000" b="1" dirty="0">
                <a:latin typeface="华文楷体" pitchFamily="2" charset="-122"/>
                <a:ea typeface="华文楷体" pitchFamily="2" charset="-122"/>
              </a:rPr>
              <a:t>～‘</a:t>
            </a:r>
            <a:r>
              <a:rPr kumimoji="1" lang="en-US" altLang="zh-CN" sz="2000" b="1" dirty="0">
                <a:latin typeface="华文楷体" pitchFamily="2" charset="-122"/>
                <a:ea typeface="华文楷体" pitchFamily="2" charset="-122"/>
              </a:rPr>
              <a:t>z’   	61H</a:t>
            </a:r>
            <a:r>
              <a:rPr kumimoji="1" lang="zh-CN" altLang="en-US" sz="2000" b="1" dirty="0">
                <a:latin typeface="华文楷体" pitchFamily="2" charset="-122"/>
                <a:ea typeface="华文楷体" pitchFamily="2" charset="-122"/>
              </a:rPr>
              <a:t>～</a:t>
            </a:r>
            <a:r>
              <a:rPr kumimoji="1" lang="en-US" altLang="zh-CN" sz="2000" b="1" dirty="0">
                <a:latin typeface="华文楷体" pitchFamily="2" charset="-122"/>
                <a:ea typeface="华文楷体" pitchFamily="2" charset="-122"/>
              </a:rPr>
              <a:t>7AH   	97</a:t>
            </a:r>
            <a:r>
              <a:rPr kumimoji="1" lang="zh-CN" altLang="en-US" sz="2000" b="1" dirty="0">
                <a:latin typeface="华文楷体" pitchFamily="2" charset="-122"/>
                <a:ea typeface="华文楷体" pitchFamily="2" charset="-122"/>
              </a:rPr>
              <a:t>～</a:t>
            </a:r>
            <a:r>
              <a:rPr kumimoji="1" lang="en-US" altLang="zh-CN" sz="2000" b="1" dirty="0">
                <a:latin typeface="华文楷体" pitchFamily="2" charset="-122"/>
                <a:ea typeface="华文楷体" pitchFamily="2" charset="-122"/>
              </a:rPr>
              <a:t>122</a:t>
            </a:r>
            <a:r>
              <a:rPr kumimoji="1" lang="zh-CN" altLang="en-US" sz="2000" b="1" dirty="0">
                <a:latin typeface="华文楷体" pitchFamily="2" charset="-122"/>
                <a:ea typeface="华文楷体" pitchFamily="2" charset="-122"/>
              </a:rPr>
              <a:t>（</a:t>
            </a:r>
            <a:r>
              <a:rPr kumimoji="1" lang="en-US" altLang="zh-CN" sz="2000" b="1" dirty="0">
                <a:solidFill>
                  <a:srgbClr val="3333FF"/>
                </a:solidFill>
                <a:latin typeface="华文楷体" pitchFamily="2" charset="-122"/>
                <a:ea typeface="华文楷体" pitchFamily="2" charset="-122"/>
              </a:rPr>
              <a:t>d</a:t>
            </a:r>
            <a:r>
              <a:rPr kumimoji="1" lang="en-US" altLang="zh-CN" sz="2000" b="1" baseline="-25000" dirty="0">
                <a:solidFill>
                  <a:srgbClr val="3333FF"/>
                </a:solidFill>
                <a:latin typeface="华文楷体" pitchFamily="2" charset="-122"/>
                <a:ea typeface="华文楷体" pitchFamily="2" charset="-122"/>
              </a:rPr>
              <a:t>5</a:t>
            </a:r>
            <a:r>
              <a:rPr kumimoji="1" lang="zh-CN" altLang="en-US" sz="2000" b="1" dirty="0">
                <a:solidFill>
                  <a:srgbClr val="3333FF"/>
                </a:solidFill>
                <a:latin typeface="华文楷体" pitchFamily="2" charset="-122"/>
                <a:ea typeface="华文楷体" pitchFamily="2" charset="-122"/>
              </a:rPr>
              <a:t>位为</a:t>
            </a:r>
            <a:r>
              <a:rPr kumimoji="1" lang="en-US" altLang="zh-CN" sz="2000" b="1" dirty="0">
                <a:solidFill>
                  <a:srgbClr val="3333FF"/>
                </a:solidFill>
                <a:latin typeface="华文楷体" pitchFamily="2" charset="-122"/>
                <a:ea typeface="华文楷体" pitchFamily="2" charset="-122"/>
              </a:rPr>
              <a:t>1</a:t>
            </a:r>
            <a:r>
              <a:rPr kumimoji="1" lang="zh-CN" altLang="en-US" sz="2000" b="1" dirty="0">
                <a:latin typeface="华文楷体" pitchFamily="2" charset="-122"/>
                <a:ea typeface="华文楷体" pitchFamily="2" charset="-122"/>
              </a:rPr>
              <a:t>）</a:t>
            </a:r>
            <a:endParaRPr kumimoji="1" lang="en-US" altLang="zh-CN" sz="2000" b="1" dirty="0">
              <a:latin typeface="华文楷体" pitchFamily="2" charset="-122"/>
              <a:ea typeface="华文楷体" pitchFamily="2" charset="-122"/>
            </a:endParaRPr>
          </a:p>
        </p:txBody>
      </p:sp>
      <p:sp>
        <p:nvSpPr>
          <p:cNvPr id="11" name="Rectangle 5">
            <a:extLst>
              <a:ext uri="{FF2B5EF4-FFF2-40B4-BE49-F238E27FC236}">
                <a16:creationId xmlns:a16="http://schemas.microsoft.com/office/drawing/2014/main" id="{9029B245-AC83-4AA7-ADD0-3BD6E34E22ED}"/>
              </a:ext>
            </a:extLst>
          </p:cNvPr>
          <p:cNvSpPr>
            <a:spLocks noChangeArrowheads="1"/>
          </p:cNvSpPr>
          <p:nvPr/>
        </p:nvSpPr>
        <p:spPr bwMode="auto">
          <a:xfrm>
            <a:off x="1805709" y="4301586"/>
            <a:ext cx="8568952" cy="1200329"/>
          </a:xfrm>
          <a:prstGeom prst="rect">
            <a:avLst/>
          </a:prstGeom>
          <a:noFill/>
          <a:ln w="25400">
            <a:noFill/>
            <a:miter lim="800000"/>
            <a:headEnd/>
            <a:tailEnd/>
          </a:ln>
        </p:spPr>
        <p:txBody>
          <a:bodyPr wrap="square">
            <a:spAutoFit/>
          </a:bodyPr>
          <a:lstStyle/>
          <a:p>
            <a:r>
              <a:rPr kumimoji="1" lang="zh-CN" altLang="en-US" sz="2400" b="1" dirty="0">
                <a:solidFill>
                  <a:schemeClr val="accent1">
                    <a:lumMod val="50000"/>
                  </a:schemeClr>
                </a:solidFill>
                <a:latin typeface="华文楷体" pitchFamily="2" charset="-122"/>
                <a:ea typeface="华文楷体" pitchFamily="2" charset="-122"/>
              </a:rPr>
              <a:t>例如：</a:t>
            </a:r>
            <a:endParaRPr kumimoji="1" lang="en-US" altLang="zh-CN" sz="2400" b="1" dirty="0">
              <a:solidFill>
                <a:schemeClr val="accent1">
                  <a:lumMod val="50000"/>
                </a:schemeClr>
              </a:solidFill>
              <a:latin typeface="华文楷体" pitchFamily="2" charset="-122"/>
              <a:ea typeface="华文楷体" pitchFamily="2" charset="-122"/>
            </a:endParaRPr>
          </a:p>
          <a:p>
            <a:r>
              <a:rPr kumimoji="1" lang="zh-CN" altLang="en-US" sz="2400" b="1" dirty="0">
                <a:solidFill>
                  <a:schemeClr val="accent1">
                    <a:lumMod val="50000"/>
                  </a:schemeClr>
                </a:solidFill>
                <a:latin typeface="华文楷体" pitchFamily="2" charset="-122"/>
                <a:ea typeface="华文楷体" pitchFamily="2" charset="-122"/>
              </a:rPr>
              <a:t>“</a:t>
            </a:r>
            <a:r>
              <a:rPr kumimoji="1" lang="en-US" altLang="zh-CN" sz="2400" b="1" dirty="0">
                <a:solidFill>
                  <a:schemeClr val="accent1">
                    <a:lumMod val="50000"/>
                  </a:schemeClr>
                </a:solidFill>
                <a:latin typeface="华文楷体" pitchFamily="2" charset="-122"/>
                <a:ea typeface="华文楷体" pitchFamily="2" charset="-122"/>
              </a:rPr>
              <a:t>a” </a:t>
            </a:r>
            <a:r>
              <a:rPr kumimoji="1" lang="zh-CN" altLang="en-US" sz="2400" b="1" dirty="0">
                <a:solidFill>
                  <a:schemeClr val="accent1">
                    <a:lumMod val="50000"/>
                  </a:schemeClr>
                </a:solidFill>
                <a:latin typeface="华文楷体" pitchFamily="2" charset="-122"/>
                <a:ea typeface="华文楷体" pitchFamily="2" charset="-122"/>
              </a:rPr>
              <a:t>字符的编码为</a:t>
            </a:r>
            <a:r>
              <a:rPr kumimoji="1" lang="en-US" altLang="zh-CN" sz="2400" b="1" dirty="0">
                <a:solidFill>
                  <a:schemeClr val="accent1">
                    <a:lumMod val="50000"/>
                  </a:schemeClr>
                </a:solidFill>
                <a:latin typeface="华文楷体" pitchFamily="2" charset="-122"/>
                <a:ea typeface="华文楷体" pitchFamily="2" charset="-122"/>
              </a:rPr>
              <a:t>01</a:t>
            </a:r>
            <a:r>
              <a:rPr kumimoji="1" lang="en-US" altLang="zh-CN" sz="2400" b="1" dirty="0">
                <a:solidFill>
                  <a:srgbClr val="0033CC"/>
                </a:solidFill>
                <a:latin typeface="华文楷体" pitchFamily="2" charset="-122"/>
                <a:ea typeface="华文楷体" pitchFamily="2" charset="-122"/>
              </a:rPr>
              <a:t>1</a:t>
            </a:r>
            <a:r>
              <a:rPr kumimoji="1" lang="en-US" altLang="zh-CN" sz="2400" b="1" dirty="0">
                <a:solidFill>
                  <a:schemeClr val="accent1">
                    <a:lumMod val="50000"/>
                  </a:schemeClr>
                </a:solidFill>
                <a:latin typeface="华文楷体" pitchFamily="2" charset="-122"/>
                <a:ea typeface="华文楷体" pitchFamily="2" charset="-122"/>
              </a:rPr>
              <a:t>00001</a:t>
            </a:r>
            <a:r>
              <a:rPr kumimoji="1" lang="zh-CN" altLang="en-US" sz="2400" b="1" dirty="0">
                <a:solidFill>
                  <a:schemeClr val="accent1">
                    <a:lumMod val="50000"/>
                  </a:schemeClr>
                </a:solidFill>
                <a:latin typeface="华文楷体" pitchFamily="2" charset="-122"/>
                <a:ea typeface="华文楷体" pitchFamily="2" charset="-122"/>
              </a:rPr>
              <a:t>（</a:t>
            </a:r>
            <a:r>
              <a:rPr kumimoji="1" lang="en-US" altLang="zh-CN" sz="2400" b="1" dirty="0">
                <a:solidFill>
                  <a:schemeClr val="accent1">
                    <a:lumMod val="50000"/>
                  </a:schemeClr>
                </a:solidFill>
                <a:latin typeface="华文楷体" pitchFamily="2" charset="-122"/>
                <a:ea typeface="华文楷体" pitchFamily="2" charset="-122"/>
              </a:rPr>
              <a:t>61H</a:t>
            </a:r>
            <a:r>
              <a:rPr kumimoji="1" lang="zh-CN" altLang="en-US" sz="2400" b="1" dirty="0">
                <a:solidFill>
                  <a:schemeClr val="accent1">
                    <a:lumMod val="50000"/>
                  </a:schemeClr>
                </a:solidFill>
                <a:latin typeface="华文楷体" pitchFamily="2" charset="-122"/>
                <a:ea typeface="华文楷体" pitchFamily="2" charset="-122"/>
              </a:rPr>
              <a:t>，</a:t>
            </a:r>
            <a:r>
              <a:rPr kumimoji="1" lang="en-US" altLang="zh-CN" sz="2400" b="1" dirty="0">
                <a:solidFill>
                  <a:schemeClr val="accent1">
                    <a:lumMod val="50000"/>
                  </a:schemeClr>
                </a:solidFill>
                <a:latin typeface="华文楷体" pitchFamily="2" charset="-122"/>
                <a:ea typeface="华文楷体" pitchFamily="2" charset="-122"/>
              </a:rPr>
              <a:t>97D</a:t>
            </a:r>
            <a:r>
              <a:rPr kumimoji="1" lang="zh-CN" altLang="en-US" sz="2400" b="1" dirty="0">
                <a:solidFill>
                  <a:schemeClr val="accent1">
                    <a:lumMod val="50000"/>
                  </a:schemeClr>
                </a:solidFill>
                <a:latin typeface="华文楷体" pitchFamily="2" charset="-122"/>
                <a:ea typeface="华文楷体" pitchFamily="2" charset="-122"/>
              </a:rPr>
              <a:t>）</a:t>
            </a:r>
            <a:endParaRPr kumimoji="1" lang="en-US" altLang="zh-CN" sz="2400" b="1" dirty="0">
              <a:solidFill>
                <a:schemeClr val="accent1">
                  <a:lumMod val="50000"/>
                </a:schemeClr>
              </a:solidFill>
              <a:latin typeface="华文楷体" pitchFamily="2" charset="-122"/>
              <a:ea typeface="华文楷体" pitchFamily="2" charset="-122"/>
            </a:endParaRPr>
          </a:p>
          <a:p>
            <a:r>
              <a:rPr kumimoji="1" lang="zh-CN" altLang="en-US" sz="2400" b="1" dirty="0">
                <a:solidFill>
                  <a:schemeClr val="accent1">
                    <a:lumMod val="50000"/>
                  </a:schemeClr>
                </a:solidFill>
                <a:latin typeface="华文楷体" pitchFamily="2" charset="-122"/>
                <a:ea typeface="华文楷体" pitchFamily="2" charset="-122"/>
              </a:rPr>
              <a:t>“</a:t>
            </a:r>
            <a:r>
              <a:rPr kumimoji="1" lang="en-US" altLang="zh-CN" sz="2400" b="1" dirty="0">
                <a:solidFill>
                  <a:schemeClr val="accent1">
                    <a:lumMod val="50000"/>
                  </a:schemeClr>
                </a:solidFill>
                <a:latin typeface="华文楷体" pitchFamily="2" charset="-122"/>
                <a:ea typeface="华文楷体" pitchFamily="2" charset="-122"/>
              </a:rPr>
              <a:t>A</a:t>
            </a:r>
            <a:r>
              <a:rPr kumimoji="1" lang="zh-CN" altLang="en-US" sz="2400" b="1" dirty="0">
                <a:solidFill>
                  <a:schemeClr val="accent1">
                    <a:lumMod val="50000"/>
                  </a:schemeClr>
                </a:solidFill>
                <a:latin typeface="华文楷体" pitchFamily="2" charset="-122"/>
                <a:ea typeface="华文楷体" pitchFamily="2" charset="-122"/>
              </a:rPr>
              <a:t>”字符的编码为</a:t>
            </a:r>
            <a:r>
              <a:rPr kumimoji="1" lang="en-US" altLang="zh-CN" sz="2400" b="1" dirty="0">
                <a:solidFill>
                  <a:schemeClr val="accent1">
                    <a:lumMod val="50000"/>
                  </a:schemeClr>
                </a:solidFill>
                <a:latin typeface="华文楷体" pitchFamily="2" charset="-122"/>
                <a:ea typeface="华文楷体" pitchFamily="2" charset="-122"/>
              </a:rPr>
              <a:t>01</a:t>
            </a:r>
            <a:r>
              <a:rPr kumimoji="1" lang="en-US" altLang="zh-CN" sz="2400" b="1" dirty="0">
                <a:solidFill>
                  <a:srgbClr val="0033CC"/>
                </a:solidFill>
                <a:latin typeface="华文楷体" pitchFamily="2" charset="-122"/>
                <a:ea typeface="华文楷体" pitchFamily="2" charset="-122"/>
              </a:rPr>
              <a:t>0</a:t>
            </a:r>
            <a:r>
              <a:rPr kumimoji="1" lang="en-US" altLang="zh-CN" sz="2400" b="1" dirty="0">
                <a:solidFill>
                  <a:schemeClr val="accent1">
                    <a:lumMod val="50000"/>
                  </a:schemeClr>
                </a:solidFill>
                <a:latin typeface="华文楷体" pitchFamily="2" charset="-122"/>
                <a:ea typeface="华文楷体" pitchFamily="2" charset="-122"/>
              </a:rPr>
              <a:t>00001</a:t>
            </a:r>
            <a:r>
              <a:rPr kumimoji="1" lang="zh-CN" altLang="en-US" sz="2400" b="1" dirty="0">
                <a:solidFill>
                  <a:schemeClr val="accent1">
                    <a:lumMod val="50000"/>
                  </a:schemeClr>
                </a:solidFill>
                <a:latin typeface="华文楷体" pitchFamily="2" charset="-122"/>
                <a:ea typeface="华文楷体" pitchFamily="2" charset="-122"/>
              </a:rPr>
              <a:t>（</a:t>
            </a:r>
            <a:r>
              <a:rPr lang="en-US" altLang="zh-CN" sz="2400" b="1" dirty="0">
                <a:solidFill>
                  <a:schemeClr val="accent1">
                    <a:lumMod val="50000"/>
                  </a:schemeClr>
                </a:solidFill>
                <a:latin typeface="华文楷体" pitchFamily="2" charset="-122"/>
                <a:ea typeface="华文楷体" pitchFamily="2" charset="-122"/>
              </a:rPr>
              <a:t>41H</a:t>
            </a:r>
            <a:r>
              <a:rPr lang="zh-CN" altLang="en-US" sz="2400" b="1" dirty="0">
                <a:solidFill>
                  <a:schemeClr val="accent1">
                    <a:lumMod val="50000"/>
                  </a:schemeClr>
                </a:solidFill>
                <a:latin typeface="华文楷体" pitchFamily="2" charset="-122"/>
                <a:ea typeface="华文楷体" pitchFamily="2" charset="-122"/>
              </a:rPr>
              <a:t>，</a:t>
            </a:r>
            <a:r>
              <a:rPr lang="en-US" altLang="zh-CN" sz="2400" b="1" dirty="0">
                <a:solidFill>
                  <a:schemeClr val="accent1">
                    <a:lumMod val="50000"/>
                  </a:schemeClr>
                </a:solidFill>
                <a:latin typeface="华文楷体" pitchFamily="2" charset="-122"/>
                <a:ea typeface="华文楷体" pitchFamily="2" charset="-122"/>
              </a:rPr>
              <a:t>65D</a:t>
            </a:r>
            <a:r>
              <a:rPr kumimoji="1" lang="zh-CN" altLang="en-US" sz="2400" b="1" dirty="0">
                <a:solidFill>
                  <a:schemeClr val="accent1">
                    <a:lumMod val="50000"/>
                  </a:schemeClr>
                </a:solidFill>
                <a:latin typeface="华文楷体" pitchFamily="2" charset="-122"/>
                <a:ea typeface="华文楷体" pitchFamily="2" charset="-122"/>
              </a:rPr>
              <a:t>）</a:t>
            </a:r>
          </a:p>
        </p:txBody>
      </p:sp>
      <p:sp>
        <p:nvSpPr>
          <p:cNvPr id="12" name="Rectangle 6">
            <a:extLst>
              <a:ext uri="{FF2B5EF4-FFF2-40B4-BE49-F238E27FC236}">
                <a16:creationId xmlns:a16="http://schemas.microsoft.com/office/drawing/2014/main" id="{EF44BD0E-6305-4C27-B11C-9C3E8FF724C2}"/>
              </a:ext>
            </a:extLst>
          </p:cNvPr>
          <p:cNvSpPr>
            <a:spLocks noChangeArrowheads="1"/>
          </p:cNvSpPr>
          <p:nvPr/>
        </p:nvSpPr>
        <p:spPr bwMode="auto">
          <a:xfrm>
            <a:off x="1495166" y="1228082"/>
            <a:ext cx="3467100" cy="585787"/>
          </a:xfrm>
          <a:prstGeom prst="rect">
            <a:avLst/>
          </a:prstGeom>
          <a:noFill/>
          <a:ln w="25400">
            <a:noFill/>
            <a:miter lim="800000"/>
            <a:headEnd/>
            <a:tailEnd/>
          </a:ln>
        </p:spPr>
        <p:txBody>
          <a:bodyPr wrap="none">
            <a:spAutoFit/>
          </a:bodyPr>
          <a:lstStyle/>
          <a:p>
            <a:pPr algn="ctr"/>
            <a:r>
              <a:rPr kumimoji="1" lang="zh-CN" altLang="en-US" sz="3200" b="1" dirty="0">
                <a:solidFill>
                  <a:srgbClr val="A50021"/>
                </a:solidFill>
                <a:latin typeface="华文楷体" pitchFamily="2" charset="-122"/>
                <a:ea typeface="华文楷体" pitchFamily="2" charset="-122"/>
              </a:rPr>
              <a:t>需记字符和规律：</a:t>
            </a:r>
          </a:p>
        </p:txBody>
      </p:sp>
    </p:spTree>
    <p:extLst>
      <p:ext uri="{BB962C8B-B14F-4D97-AF65-F5344CB8AC3E}">
        <p14:creationId xmlns:p14="http://schemas.microsoft.com/office/powerpoint/2010/main" val="34809813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57231"/>
          </a:xfrm>
          <a:prstGeom prst="rect">
            <a:avLst/>
          </a:prstGeom>
          <a:noFill/>
        </p:spPr>
        <p:txBody>
          <a:bodyPr wrap="square" rtlCol="0">
            <a:spAutoFit/>
          </a:bodyPr>
          <a:lstStyle/>
          <a:p>
            <a:pPr>
              <a:lnSpc>
                <a:spcPct val="105000"/>
              </a:lnSpc>
              <a:defRPr/>
            </a:pPr>
            <a:r>
              <a:rPr lang="zh-CN" altLang="zh-CN" sz="3600" b="1" dirty="0">
                <a:latin typeface="华文楷体" panose="02010600040101010101" pitchFamily="2" charset="-122"/>
                <a:ea typeface="华文楷体" panose="02010600040101010101" pitchFamily="2" charset="-122"/>
              </a:rPr>
              <a:t>汉字编码</a:t>
            </a:r>
          </a:p>
        </p:txBody>
      </p:sp>
      <p:pic>
        <p:nvPicPr>
          <p:cNvPr id="8" name="图片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19441" y="6219825"/>
            <a:ext cx="536892" cy="542925"/>
          </a:xfrm>
          <a:prstGeom prst="rect">
            <a:avLst/>
          </a:prstGeom>
        </p:spPr>
      </p:pic>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19" name="Rectangle 6">
            <a:extLst>
              <a:ext uri="{FF2B5EF4-FFF2-40B4-BE49-F238E27FC236}">
                <a16:creationId xmlns:a16="http://schemas.microsoft.com/office/drawing/2014/main" id="{DB0E380F-C59C-4B1A-81F1-8493B5334DF4}"/>
              </a:ext>
            </a:extLst>
          </p:cNvPr>
          <p:cNvSpPr>
            <a:spLocks noChangeArrowheads="1"/>
          </p:cNvSpPr>
          <p:nvPr/>
        </p:nvSpPr>
        <p:spPr bwMode="auto">
          <a:xfrm>
            <a:off x="1771074" y="4818324"/>
            <a:ext cx="8820150" cy="1200329"/>
          </a:xfrm>
          <a:prstGeom prst="rect">
            <a:avLst/>
          </a:prstGeom>
          <a:solidFill>
            <a:srgbClr val="99CCFF"/>
          </a:solidFill>
          <a:ln w="25400">
            <a:noFill/>
            <a:miter lim="800000"/>
            <a:headEnd/>
            <a:tailEnd/>
          </a:ln>
          <a:effectLst>
            <a:outerShdw dist="107763" dir="18900000" algn="ctr" rotWithShape="0">
              <a:schemeClr val="bg2">
                <a:alpha val="50000"/>
              </a:schemeClr>
            </a:outerShdw>
          </a:effectLst>
        </p:spPr>
        <p:txBody>
          <a:bodyPr>
            <a:spAutoFit/>
          </a:bodyPr>
          <a:lstStyle/>
          <a:p>
            <a:pPr>
              <a:defRPr/>
            </a:pPr>
            <a:r>
              <a:rPr kumimoji="1" lang="zh-CN" altLang="en-US" sz="2400" b="1" dirty="0">
                <a:solidFill>
                  <a:srgbClr val="A50021"/>
                </a:solidFill>
                <a:latin typeface="华文楷体" pitchFamily="2" charset="-122"/>
                <a:ea typeface="华文楷体" pitchFamily="2" charset="-122"/>
              </a:rPr>
              <a:t>三种码之间关系：</a:t>
            </a:r>
          </a:p>
          <a:p>
            <a:pPr>
              <a:defRPr/>
            </a:pPr>
            <a:r>
              <a:rPr kumimoji="1" lang="zh-CN" altLang="en-US" sz="2400" b="1" dirty="0">
                <a:solidFill>
                  <a:srgbClr val="003366"/>
                </a:solidFill>
                <a:latin typeface="华文楷体" pitchFamily="2" charset="-122"/>
                <a:ea typeface="华文楷体" pitchFamily="2" charset="-122"/>
              </a:rPr>
              <a:t> 机内码</a:t>
            </a:r>
            <a:r>
              <a:rPr kumimoji="1" lang="en-US" altLang="zh-CN" sz="2400" b="1" dirty="0">
                <a:solidFill>
                  <a:srgbClr val="003366"/>
                </a:solidFill>
                <a:latin typeface="华文楷体" pitchFamily="2" charset="-122"/>
                <a:ea typeface="华文楷体" pitchFamily="2" charset="-122"/>
              </a:rPr>
              <a:t>=</a:t>
            </a:r>
            <a:r>
              <a:rPr kumimoji="1" lang="zh-CN" altLang="en-US" sz="2400" b="1" dirty="0">
                <a:solidFill>
                  <a:srgbClr val="003366"/>
                </a:solidFill>
                <a:latin typeface="华文楷体" pitchFamily="2" charset="-122"/>
                <a:ea typeface="华文楷体" pitchFamily="2" charset="-122"/>
              </a:rPr>
              <a:t>国标码</a:t>
            </a:r>
            <a:r>
              <a:rPr kumimoji="1" lang="en-US" altLang="zh-CN" sz="2400" b="1" dirty="0">
                <a:solidFill>
                  <a:srgbClr val="003366"/>
                </a:solidFill>
                <a:latin typeface="华文楷体" pitchFamily="2" charset="-122"/>
                <a:ea typeface="华文楷体" pitchFamily="2" charset="-122"/>
              </a:rPr>
              <a:t>+8080H=</a:t>
            </a:r>
            <a:r>
              <a:rPr kumimoji="1" lang="zh-CN" altLang="en-US" sz="2400" b="1" dirty="0">
                <a:solidFill>
                  <a:srgbClr val="003366"/>
                </a:solidFill>
                <a:latin typeface="华文楷体" pitchFamily="2" charset="-122"/>
                <a:ea typeface="华文楷体" pitchFamily="2" charset="-122"/>
              </a:rPr>
              <a:t>区位码</a:t>
            </a:r>
            <a:r>
              <a:rPr kumimoji="1" lang="en-US" altLang="zh-CN" sz="2400" b="1" dirty="0">
                <a:solidFill>
                  <a:srgbClr val="003366"/>
                </a:solidFill>
                <a:latin typeface="华文楷体" pitchFamily="2" charset="-122"/>
                <a:ea typeface="华文楷体" pitchFamily="2" charset="-122"/>
              </a:rPr>
              <a:t>+A0A0H</a:t>
            </a:r>
          </a:p>
          <a:p>
            <a:pPr>
              <a:defRPr/>
            </a:pPr>
            <a:r>
              <a:rPr lang="en-US" altLang="zh-CN" sz="2400" b="1" dirty="0">
                <a:solidFill>
                  <a:srgbClr val="003366"/>
                </a:solidFill>
                <a:latin typeface="华文楷体" pitchFamily="2" charset="-122"/>
                <a:ea typeface="华文楷体" pitchFamily="2" charset="-122"/>
              </a:rPr>
              <a:t> </a:t>
            </a:r>
            <a:r>
              <a:rPr lang="zh-CN" altLang="en-US" sz="2400" b="1" dirty="0">
                <a:solidFill>
                  <a:srgbClr val="003366"/>
                </a:solidFill>
                <a:latin typeface="华文楷体" pitchFamily="2" charset="-122"/>
                <a:ea typeface="华文楷体" pitchFamily="2" charset="-122"/>
              </a:rPr>
              <a:t>国标码</a:t>
            </a:r>
            <a:r>
              <a:rPr lang="en-US" altLang="zh-CN" sz="2400" b="1" dirty="0">
                <a:solidFill>
                  <a:srgbClr val="003366"/>
                </a:solidFill>
                <a:latin typeface="华文楷体" pitchFamily="2" charset="-122"/>
                <a:ea typeface="华文楷体" pitchFamily="2" charset="-122"/>
              </a:rPr>
              <a:t>=</a:t>
            </a:r>
            <a:r>
              <a:rPr lang="zh-CN" altLang="en-US" sz="2400" b="1" dirty="0">
                <a:solidFill>
                  <a:srgbClr val="003366"/>
                </a:solidFill>
                <a:latin typeface="华文楷体" pitchFamily="2" charset="-122"/>
                <a:ea typeface="华文楷体" pitchFamily="2" charset="-122"/>
              </a:rPr>
              <a:t>区位码</a:t>
            </a:r>
            <a:r>
              <a:rPr lang="en-US" altLang="zh-CN" sz="2400" b="1" dirty="0">
                <a:solidFill>
                  <a:srgbClr val="003366"/>
                </a:solidFill>
                <a:latin typeface="华文楷体" pitchFamily="2" charset="-122"/>
                <a:ea typeface="华文楷体" pitchFamily="2" charset="-122"/>
              </a:rPr>
              <a:t>+2020H</a:t>
            </a:r>
            <a:endParaRPr kumimoji="1" lang="zh-CN" altLang="en-US" sz="4000" b="1" dirty="0">
              <a:solidFill>
                <a:srgbClr val="003366"/>
              </a:solidFill>
              <a:latin typeface="华文楷体" pitchFamily="2" charset="-122"/>
              <a:ea typeface="华文楷体" pitchFamily="2" charset="-122"/>
            </a:endParaRPr>
          </a:p>
        </p:txBody>
      </p:sp>
      <p:sp>
        <p:nvSpPr>
          <p:cNvPr id="20" name="Rectangle 2">
            <a:extLst>
              <a:ext uri="{FF2B5EF4-FFF2-40B4-BE49-F238E27FC236}">
                <a16:creationId xmlns:a16="http://schemas.microsoft.com/office/drawing/2014/main" id="{9690F6EE-705B-4621-8DB4-87FFB9F9D6EC}"/>
              </a:ext>
            </a:extLst>
          </p:cNvPr>
          <p:cNvSpPr>
            <a:spLocks noChangeArrowheads="1"/>
          </p:cNvSpPr>
          <p:nvPr/>
        </p:nvSpPr>
        <p:spPr bwMode="auto">
          <a:xfrm>
            <a:off x="3781108" y="1011762"/>
            <a:ext cx="4764087" cy="3705215"/>
          </a:xfrm>
          <a:prstGeom prst="rect">
            <a:avLst/>
          </a:prstGeom>
          <a:noFill/>
          <a:ln w="9525">
            <a:noFill/>
            <a:miter lim="800000"/>
            <a:headEnd/>
            <a:tailEnd/>
          </a:ln>
          <a:effectLst>
            <a:prstShdw prst="shdw17" dist="17961" dir="2700000">
              <a:srgbClr val="FFE3FF">
                <a:gamma/>
                <a:shade val="60000"/>
                <a:invGamma/>
              </a:srgbClr>
            </a:prstShdw>
          </a:effectLst>
        </p:spPr>
        <p:txBody>
          <a:bodyPr wrap="square">
            <a:spAutoFit/>
          </a:bodyPr>
          <a:lstStyle/>
          <a:p>
            <a:pPr>
              <a:lnSpc>
                <a:spcPct val="130000"/>
              </a:lnSpc>
              <a:defRPr/>
            </a:pPr>
            <a:r>
              <a:rPr lang="zh-CN" altLang="en-US" sz="3600" b="1" dirty="0">
                <a:latin typeface="华文楷体" pitchFamily="2" charset="-122"/>
                <a:ea typeface="华文楷体" pitchFamily="2" charset="-122"/>
              </a:rPr>
              <a:t>汉字的四种主要</a:t>
            </a:r>
            <a:r>
              <a:rPr lang="zh-CN" altLang="zh-CN" sz="3600" b="1" dirty="0">
                <a:latin typeface="华文楷体" pitchFamily="2" charset="-122"/>
                <a:ea typeface="华文楷体" pitchFamily="2" charset="-122"/>
              </a:rPr>
              <a:t>编码</a:t>
            </a:r>
            <a:endParaRPr lang="zh-CN" altLang="en-US" sz="3600" b="1" dirty="0">
              <a:latin typeface="华文楷体" pitchFamily="2" charset="-122"/>
              <a:ea typeface="华文楷体" pitchFamily="2" charset="-122"/>
            </a:endParaRPr>
          </a:p>
          <a:p>
            <a:pPr>
              <a:lnSpc>
                <a:spcPct val="130000"/>
              </a:lnSpc>
              <a:defRPr/>
            </a:pPr>
            <a:r>
              <a:rPr lang="zh-CN" altLang="en-US" sz="3600" b="1" dirty="0">
                <a:latin typeface="华文楷体" pitchFamily="2" charset="-122"/>
                <a:ea typeface="华文楷体" pitchFamily="2" charset="-122"/>
              </a:rPr>
              <a:t>	汉字</a:t>
            </a:r>
            <a:r>
              <a:rPr lang="zh-CN" altLang="en-US" sz="3600" b="1" dirty="0">
                <a:solidFill>
                  <a:srgbClr val="680000"/>
                </a:solidFill>
                <a:effectLst>
                  <a:outerShdw blurRad="38100" dist="38100" dir="2700000" algn="tl">
                    <a:srgbClr val="C0C0C0"/>
                  </a:outerShdw>
                </a:effectLst>
                <a:latin typeface="华文楷体" pitchFamily="2" charset="-122"/>
                <a:ea typeface="华文楷体" pitchFamily="2" charset="-122"/>
              </a:rPr>
              <a:t>输入码</a:t>
            </a:r>
          </a:p>
          <a:p>
            <a:pPr>
              <a:lnSpc>
                <a:spcPct val="130000"/>
              </a:lnSpc>
              <a:defRPr/>
            </a:pPr>
            <a:r>
              <a:rPr lang="zh-CN" altLang="en-US" sz="3600" b="1" dirty="0">
                <a:latin typeface="华文楷体" pitchFamily="2" charset="-122"/>
                <a:ea typeface="华文楷体" pitchFamily="2" charset="-122"/>
              </a:rPr>
              <a:t>	汉字</a:t>
            </a:r>
            <a:r>
              <a:rPr lang="zh-CN" altLang="en-US" sz="3600" b="1" dirty="0">
                <a:solidFill>
                  <a:srgbClr val="680000"/>
                </a:solidFill>
                <a:effectLst>
                  <a:outerShdw blurRad="38100" dist="38100" dir="2700000" algn="tl">
                    <a:srgbClr val="C0C0C0"/>
                  </a:outerShdw>
                </a:effectLst>
                <a:latin typeface="华文楷体" pitchFamily="2" charset="-122"/>
                <a:ea typeface="华文楷体" pitchFamily="2" charset="-122"/>
              </a:rPr>
              <a:t>国标码</a:t>
            </a:r>
          </a:p>
          <a:p>
            <a:pPr>
              <a:lnSpc>
                <a:spcPct val="130000"/>
              </a:lnSpc>
              <a:defRPr/>
            </a:pPr>
            <a:r>
              <a:rPr lang="zh-CN" altLang="en-US" sz="3600" b="1" dirty="0">
                <a:latin typeface="华文楷体" pitchFamily="2" charset="-122"/>
                <a:ea typeface="华文楷体" pitchFamily="2" charset="-122"/>
              </a:rPr>
              <a:t>	汉字</a:t>
            </a:r>
            <a:r>
              <a:rPr lang="zh-CN" altLang="en-US" sz="3600" b="1" dirty="0">
                <a:solidFill>
                  <a:srgbClr val="680000"/>
                </a:solidFill>
                <a:effectLst>
                  <a:outerShdw blurRad="38100" dist="38100" dir="2700000" algn="tl">
                    <a:srgbClr val="C0C0C0"/>
                  </a:outerShdw>
                </a:effectLst>
                <a:latin typeface="华文楷体" pitchFamily="2" charset="-122"/>
                <a:ea typeface="华文楷体" pitchFamily="2" charset="-122"/>
              </a:rPr>
              <a:t>机内码</a:t>
            </a:r>
          </a:p>
          <a:p>
            <a:pPr>
              <a:lnSpc>
                <a:spcPct val="130000"/>
              </a:lnSpc>
              <a:defRPr/>
            </a:pPr>
            <a:r>
              <a:rPr lang="zh-CN" altLang="en-US" sz="3600" b="1" dirty="0">
                <a:latin typeface="华文楷体" pitchFamily="2" charset="-122"/>
                <a:ea typeface="华文楷体" pitchFamily="2" charset="-122"/>
              </a:rPr>
              <a:t>	汉字</a:t>
            </a:r>
            <a:r>
              <a:rPr lang="zh-CN" altLang="en-US" sz="3600" b="1" dirty="0">
                <a:solidFill>
                  <a:srgbClr val="680000"/>
                </a:solidFill>
                <a:effectLst>
                  <a:outerShdw blurRad="38100" dist="38100" dir="2700000" algn="tl">
                    <a:srgbClr val="C0C0C0"/>
                  </a:outerShdw>
                </a:effectLst>
                <a:latin typeface="华文楷体" pitchFamily="2" charset="-122"/>
                <a:ea typeface="华文楷体" pitchFamily="2" charset="-122"/>
              </a:rPr>
              <a:t>字形码</a:t>
            </a:r>
          </a:p>
        </p:txBody>
      </p:sp>
      <p:sp>
        <p:nvSpPr>
          <p:cNvPr id="22" name="AutoShape 6">
            <a:extLst>
              <a:ext uri="{FF2B5EF4-FFF2-40B4-BE49-F238E27FC236}">
                <a16:creationId xmlns:a16="http://schemas.microsoft.com/office/drawing/2014/main" id="{4D3C4CEC-EE29-45F4-B89C-F59B2DD545DB}"/>
              </a:ext>
            </a:extLst>
          </p:cNvPr>
          <p:cNvSpPr>
            <a:spLocks noChangeArrowheads="1"/>
          </p:cNvSpPr>
          <p:nvPr/>
        </p:nvSpPr>
        <p:spPr bwMode="auto">
          <a:xfrm>
            <a:off x="4334655" y="2084351"/>
            <a:ext cx="299199" cy="216386"/>
          </a:xfrm>
          <a:prstGeom prst="flowChartMagneticTape">
            <a:avLst/>
          </a:prstGeom>
          <a:solidFill>
            <a:srgbClr val="990000"/>
          </a:solidFill>
          <a:ln w="12700" cap="sq">
            <a:noFill/>
            <a:miter lim="800000"/>
            <a:headEnd type="none" w="sm" len="sm"/>
            <a:tailEnd type="none" w="sm" len="sm"/>
          </a:ln>
        </p:spPr>
        <p:txBody>
          <a:bodyPr wrap="none" anchor="ctr"/>
          <a:lstStyle/>
          <a:p>
            <a:pPr algn="ctr" eaLnBrk="1" hangingPunct="1"/>
            <a:endParaRPr kumimoji="0" lang="zh-CN" altLang="zh-CN" sz="2800" b="1">
              <a:solidFill>
                <a:schemeClr val="bg1"/>
              </a:solidFill>
              <a:latin typeface="宋体" pitchFamily="2" charset="-122"/>
            </a:endParaRPr>
          </a:p>
        </p:txBody>
      </p:sp>
      <p:sp>
        <p:nvSpPr>
          <p:cNvPr id="23" name="AutoShape 6">
            <a:extLst>
              <a:ext uri="{FF2B5EF4-FFF2-40B4-BE49-F238E27FC236}">
                <a16:creationId xmlns:a16="http://schemas.microsoft.com/office/drawing/2014/main" id="{C2BFF254-0D5D-40EC-ACED-EBBBED918FBC}"/>
              </a:ext>
            </a:extLst>
          </p:cNvPr>
          <p:cNvSpPr>
            <a:spLocks noChangeArrowheads="1"/>
          </p:cNvSpPr>
          <p:nvPr/>
        </p:nvSpPr>
        <p:spPr bwMode="auto">
          <a:xfrm>
            <a:off x="4334655" y="2876513"/>
            <a:ext cx="299199" cy="216386"/>
          </a:xfrm>
          <a:prstGeom prst="flowChartMagneticTape">
            <a:avLst/>
          </a:prstGeom>
          <a:solidFill>
            <a:srgbClr val="990000"/>
          </a:solidFill>
          <a:ln w="12700" cap="sq">
            <a:noFill/>
            <a:miter lim="800000"/>
            <a:headEnd type="none" w="sm" len="sm"/>
            <a:tailEnd type="none" w="sm" len="sm"/>
          </a:ln>
        </p:spPr>
        <p:txBody>
          <a:bodyPr wrap="none" anchor="ctr"/>
          <a:lstStyle/>
          <a:p>
            <a:pPr algn="ctr" eaLnBrk="1" hangingPunct="1"/>
            <a:endParaRPr kumimoji="0" lang="zh-CN" altLang="zh-CN" sz="2800" b="1">
              <a:solidFill>
                <a:schemeClr val="bg1"/>
              </a:solidFill>
              <a:latin typeface="宋体" pitchFamily="2" charset="-122"/>
            </a:endParaRPr>
          </a:p>
        </p:txBody>
      </p:sp>
      <p:sp>
        <p:nvSpPr>
          <p:cNvPr id="24" name="AutoShape 6">
            <a:extLst>
              <a:ext uri="{FF2B5EF4-FFF2-40B4-BE49-F238E27FC236}">
                <a16:creationId xmlns:a16="http://schemas.microsoft.com/office/drawing/2014/main" id="{140674D5-B11E-4B66-9C95-90C073F3E5C0}"/>
              </a:ext>
            </a:extLst>
          </p:cNvPr>
          <p:cNvSpPr>
            <a:spLocks noChangeArrowheads="1"/>
          </p:cNvSpPr>
          <p:nvPr/>
        </p:nvSpPr>
        <p:spPr bwMode="auto">
          <a:xfrm>
            <a:off x="4334655" y="3597238"/>
            <a:ext cx="299199" cy="216386"/>
          </a:xfrm>
          <a:prstGeom prst="flowChartMagneticTape">
            <a:avLst/>
          </a:prstGeom>
          <a:solidFill>
            <a:srgbClr val="990000"/>
          </a:solidFill>
          <a:ln w="12700" cap="sq">
            <a:noFill/>
            <a:miter lim="800000"/>
            <a:headEnd type="none" w="sm" len="sm"/>
            <a:tailEnd type="none" w="sm" len="sm"/>
          </a:ln>
        </p:spPr>
        <p:txBody>
          <a:bodyPr wrap="none" anchor="ctr"/>
          <a:lstStyle/>
          <a:p>
            <a:pPr algn="ctr" eaLnBrk="1" hangingPunct="1"/>
            <a:endParaRPr kumimoji="0" lang="zh-CN" altLang="zh-CN" sz="2800" b="1">
              <a:solidFill>
                <a:schemeClr val="bg1"/>
              </a:solidFill>
              <a:latin typeface="宋体" pitchFamily="2" charset="-122"/>
            </a:endParaRPr>
          </a:p>
        </p:txBody>
      </p:sp>
      <p:sp>
        <p:nvSpPr>
          <p:cNvPr id="25" name="AutoShape 6">
            <a:extLst>
              <a:ext uri="{FF2B5EF4-FFF2-40B4-BE49-F238E27FC236}">
                <a16:creationId xmlns:a16="http://schemas.microsoft.com/office/drawing/2014/main" id="{8C7D638C-860A-4854-98B1-4D3E878B8B36}"/>
              </a:ext>
            </a:extLst>
          </p:cNvPr>
          <p:cNvSpPr>
            <a:spLocks noChangeArrowheads="1"/>
          </p:cNvSpPr>
          <p:nvPr/>
        </p:nvSpPr>
        <p:spPr bwMode="auto">
          <a:xfrm>
            <a:off x="4334655" y="4244938"/>
            <a:ext cx="299199" cy="216386"/>
          </a:xfrm>
          <a:prstGeom prst="flowChartMagneticTape">
            <a:avLst/>
          </a:prstGeom>
          <a:solidFill>
            <a:srgbClr val="990000"/>
          </a:solidFill>
          <a:ln w="12700" cap="sq">
            <a:noFill/>
            <a:miter lim="800000"/>
            <a:headEnd type="none" w="sm" len="sm"/>
            <a:tailEnd type="none" w="sm" len="sm"/>
          </a:ln>
        </p:spPr>
        <p:txBody>
          <a:bodyPr wrap="none" anchor="ctr"/>
          <a:lstStyle/>
          <a:p>
            <a:pPr algn="ctr" eaLnBrk="1" hangingPunct="1"/>
            <a:endParaRPr kumimoji="0" lang="zh-CN" altLang="zh-CN" sz="2800" b="1">
              <a:solidFill>
                <a:schemeClr val="bg1"/>
              </a:solidFill>
              <a:latin typeface="宋体" pitchFamily="2" charset="-122"/>
            </a:endParaRPr>
          </a:p>
        </p:txBody>
      </p:sp>
    </p:spTree>
    <p:extLst>
      <p:ext uri="{BB962C8B-B14F-4D97-AF65-F5344CB8AC3E}">
        <p14:creationId xmlns:p14="http://schemas.microsoft.com/office/powerpoint/2010/main" val="2211920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rPr>
              <a:t>条形码特点</a:t>
            </a:r>
            <a:endParaRPr kumimoji="0" lang="en-US" altLang="zh-CN" sz="3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endParaRPr>
          </a:p>
        </p:txBody>
      </p:sp>
      <p:pic>
        <p:nvPicPr>
          <p:cNvPr id="8" name="图片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19441" y="6219825"/>
            <a:ext cx="536892" cy="542925"/>
          </a:xfrm>
          <a:prstGeom prst="rect">
            <a:avLst/>
          </a:prstGeom>
        </p:spPr>
      </p:pic>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9" name="Rectangle 5">
            <a:extLst>
              <a:ext uri="{FF2B5EF4-FFF2-40B4-BE49-F238E27FC236}">
                <a16:creationId xmlns:a16="http://schemas.microsoft.com/office/drawing/2014/main" id="{B5D4A301-6B87-4FA2-AD40-C6DAAB1CF5B9}"/>
              </a:ext>
            </a:extLst>
          </p:cNvPr>
          <p:cNvSpPr>
            <a:spLocks noChangeArrowheads="1"/>
          </p:cNvSpPr>
          <p:nvPr/>
        </p:nvSpPr>
        <p:spPr bwMode="auto">
          <a:xfrm>
            <a:off x="5613963" y="3129290"/>
            <a:ext cx="181821" cy="586957"/>
          </a:xfrm>
          <a:prstGeom prst="rect">
            <a:avLst/>
          </a:prstGeom>
          <a:noFill/>
          <a:ln>
            <a:noFill/>
          </a:ln>
          <a:effectLst>
            <a:prstShdw prst="shdw17" dist="17961" dir="2700000">
              <a:schemeClr val="accent1">
                <a:gamma/>
                <a:shade val="60000"/>
                <a:invGamma/>
              </a:schemeClr>
            </a:prstShdw>
          </a:effectLst>
        </p:spPr>
        <p:txBody>
          <a:bodyPr wrap="none" lIns="90000" tIns="46800" rIns="90000" bIns="46800" anchor="ctr">
            <a:spAutoFit/>
          </a:bodyPr>
          <a:lstStyle/>
          <a:p>
            <a:pPr algn="ctr" eaLnBrk="1" hangingPunct="1">
              <a:defRPr/>
            </a:pPr>
            <a:endParaRPr lang="zh-CN" altLang="en-US"/>
          </a:p>
        </p:txBody>
      </p:sp>
      <p:graphicFrame>
        <p:nvGraphicFramePr>
          <p:cNvPr id="11" name="表格 10">
            <a:extLst>
              <a:ext uri="{FF2B5EF4-FFF2-40B4-BE49-F238E27FC236}">
                <a16:creationId xmlns:a16="http://schemas.microsoft.com/office/drawing/2014/main" id="{4DAB07BB-2BFD-4916-B6E6-BEDD671A57A3}"/>
              </a:ext>
            </a:extLst>
          </p:cNvPr>
          <p:cNvGraphicFramePr>
            <a:graphicFrameLocks noGrp="1"/>
          </p:cNvGraphicFramePr>
          <p:nvPr>
            <p:extLst>
              <p:ext uri="{D42A27DB-BD31-4B8C-83A1-F6EECF244321}">
                <p14:modId xmlns:p14="http://schemas.microsoft.com/office/powerpoint/2010/main" val="78342932"/>
              </p:ext>
            </p:extLst>
          </p:nvPr>
        </p:nvGraphicFramePr>
        <p:xfrm>
          <a:off x="1879973" y="2305344"/>
          <a:ext cx="8622310" cy="3198790"/>
        </p:xfrm>
        <a:graphic>
          <a:graphicData uri="http://schemas.openxmlformats.org/drawingml/2006/table">
            <a:tbl>
              <a:tblPr/>
              <a:tblGrid>
                <a:gridCol w="1982760">
                  <a:extLst>
                    <a:ext uri="{9D8B030D-6E8A-4147-A177-3AD203B41FA5}">
                      <a16:colId xmlns:a16="http://schemas.microsoft.com/office/drawing/2014/main" val="20000"/>
                    </a:ext>
                  </a:extLst>
                </a:gridCol>
                <a:gridCol w="2975334">
                  <a:extLst>
                    <a:ext uri="{9D8B030D-6E8A-4147-A177-3AD203B41FA5}">
                      <a16:colId xmlns:a16="http://schemas.microsoft.com/office/drawing/2014/main" val="20001"/>
                    </a:ext>
                  </a:extLst>
                </a:gridCol>
                <a:gridCol w="3664216">
                  <a:extLst>
                    <a:ext uri="{9D8B030D-6E8A-4147-A177-3AD203B41FA5}">
                      <a16:colId xmlns:a16="http://schemas.microsoft.com/office/drawing/2014/main" val="20002"/>
                    </a:ext>
                  </a:extLst>
                </a:gridCol>
              </a:tblGrid>
              <a:tr h="456970">
                <a:tc>
                  <a:txBody>
                    <a:bodyPr/>
                    <a:lstStyle/>
                    <a:p>
                      <a:pPr indent="269875" algn="ctr">
                        <a:spcAft>
                          <a:spcPts val="0"/>
                        </a:spcAft>
                      </a:pPr>
                      <a:r>
                        <a:rPr lang="zh-CN" sz="2000" kern="100">
                          <a:latin typeface="Times New Roman" panose="02020603050405020304"/>
                          <a:ea typeface="宋体" panose="02010600030101010101" pitchFamily="2" charset="-122"/>
                        </a:rPr>
                        <a:t>对比项</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9875" algn="ctr">
                        <a:spcAft>
                          <a:spcPts val="0"/>
                        </a:spcAft>
                      </a:pPr>
                      <a:r>
                        <a:rPr lang="zh-CN" sz="2000" kern="100" dirty="0">
                          <a:latin typeface="Times New Roman" panose="02020603050405020304"/>
                          <a:ea typeface="宋体" panose="02010600030101010101" pitchFamily="2" charset="-122"/>
                        </a:rPr>
                        <a:t>一维条形码</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9875" algn="ctr">
                        <a:spcAft>
                          <a:spcPts val="0"/>
                        </a:spcAft>
                      </a:pPr>
                      <a:r>
                        <a:rPr lang="zh-CN" sz="2000" kern="100" dirty="0">
                          <a:latin typeface="Times New Roman" panose="02020603050405020304"/>
                          <a:ea typeface="宋体" panose="02010600030101010101" pitchFamily="2" charset="-122"/>
                        </a:rPr>
                        <a:t>二维条形码</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56970">
                <a:tc>
                  <a:txBody>
                    <a:bodyPr/>
                    <a:lstStyle/>
                    <a:p>
                      <a:pPr indent="269875" algn="l">
                        <a:spcAft>
                          <a:spcPts val="0"/>
                        </a:spcAft>
                      </a:pPr>
                      <a:r>
                        <a:rPr lang="zh-CN" sz="2000" kern="100" dirty="0">
                          <a:latin typeface="Times New Roman" panose="02020603050405020304"/>
                          <a:ea typeface="宋体" panose="02010600030101010101" pitchFamily="2" charset="-122"/>
                        </a:rPr>
                        <a:t>密度</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9875" algn="l">
                        <a:spcAft>
                          <a:spcPts val="0"/>
                        </a:spcAft>
                      </a:pPr>
                      <a:r>
                        <a:rPr lang="zh-CN" sz="2000" kern="100">
                          <a:latin typeface="Times New Roman" panose="02020603050405020304"/>
                          <a:ea typeface="宋体" panose="02010600030101010101" pitchFamily="2" charset="-122"/>
                        </a:rPr>
                        <a:t>低</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9875" algn="l">
                        <a:spcAft>
                          <a:spcPts val="0"/>
                        </a:spcAft>
                      </a:pPr>
                      <a:r>
                        <a:rPr lang="zh-CN" sz="2000" kern="100">
                          <a:latin typeface="Times New Roman" panose="02020603050405020304"/>
                          <a:ea typeface="宋体" panose="02010600030101010101" pitchFamily="2" charset="-122"/>
                        </a:rPr>
                        <a:t>高</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56970">
                <a:tc>
                  <a:txBody>
                    <a:bodyPr/>
                    <a:lstStyle/>
                    <a:p>
                      <a:pPr indent="269875" algn="l">
                        <a:spcAft>
                          <a:spcPts val="0"/>
                        </a:spcAft>
                      </a:pPr>
                      <a:r>
                        <a:rPr lang="zh-CN" sz="2000" kern="100">
                          <a:latin typeface="Times New Roman" panose="02020603050405020304"/>
                          <a:ea typeface="宋体" panose="02010600030101010101" pitchFamily="2" charset="-122"/>
                        </a:rPr>
                        <a:t>容量</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9875" algn="l">
                        <a:spcAft>
                          <a:spcPts val="0"/>
                        </a:spcAft>
                      </a:pPr>
                      <a:r>
                        <a:rPr lang="zh-CN" sz="2000" kern="100">
                          <a:latin typeface="Times New Roman" panose="02020603050405020304"/>
                          <a:ea typeface="宋体" panose="02010600030101010101" pitchFamily="2" charset="-122"/>
                        </a:rPr>
                        <a:t>小</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9875" algn="l">
                        <a:spcAft>
                          <a:spcPts val="0"/>
                        </a:spcAft>
                      </a:pPr>
                      <a:r>
                        <a:rPr lang="zh-CN" sz="2000" kern="100">
                          <a:latin typeface="Times New Roman" panose="02020603050405020304"/>
                          <a:ea typeface="宋体" panose="02010600030101010101" pitchFamily="2" charset="-122"/>
                        </a:rPr>
                        <a:t>大</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56970">
                <a:tc>
                  <a:txBody>
                    <a:bodyPr/>
                    <a:lstStyle/>
                    <a:p>
                      <a:pPr indent="269875" algn="l">
                        <a:spcAft>
                          <a:spcPts val="0"/>
                        </a:spcAft>
                      </a:pPr>
                      <a:r>
                        <a:rPr lang="zh-CN" sz="2000" kern="100" dirty="0">
                          <a:latin typeface="Times New Roman" panose="02020603050405020304"/>
                          <a:ea typeface="宋体" panose="02010600030101010101" pitchFamily="2" charset="-122"/>
                        </a:rPr>
                        <a:t>存储类别</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9875" algn="l">
                        <a:spcAft>
                          <a:spcPts val="0"/>
                        </a:spcAft>
                      </a:pPr>
                      <a:r>
                        <a:rPr lang="zh-CN" sz="2000" kern="100">
                          <a:latin typeface="Times New Roman" panose="02020603050405020304"/>
                          <a:ea typeface="宋体" panose="02010600030101010101" pitchFamily="2" charset="-122"/>
                        </a:rPr>
                        <a:t>数字</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9875" algn="l">
                        <a:spcAft>
                          <a:spcPts val="0"/>
                        </a:spcAft>
                      </a:pPr>
                      <a:r>
                        <a:rPr lang="zh-CN" sz="2000" kern="100" dirty="0">
                          <a:latin typeface="Times New Roman" panose="02020603050405020304"/>
                          <a:ea typeface="宋体" panose="02010600030101010101" pitchFamily="2" charset="-122"/>
                        </a:rPr>
                        <a:t>数字、字符、文字、图片</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56970">
                <a:tc>
                  <a:txBody>
                    <a:bodyPr/>
                    <a:lstStyle/>
                    <a:p>
                      <a:pPr indent="269875" algn="l">
                        <a:spcAft>
                          <a:spcPts val="0"/>
                        </a:spcAft>
                      </a:pPr>
                      <a:r>
                        <a:rPr lang="zh-CN" sz="2000" kern="100">
                          <a:latin typeface="Times New Roman" panose="02020603050405020304"/>
                          <a:ea typeface="宋体" panose="02010600030101010101" pitchFamily="2" charset="-122"/>
                        </a:rPr>
                        <a:t>纠错</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9875" algn="l">
                        <a:spcAft>
                          <a:spcPts val="0"/>
                        </a:spcAft>
                      </a:pPr>
                      <a:r>
                        <a:rPr lang="zh-CN" sz="2000" kern="100">
                          <a:latin typeface="Times New Roman" panose="02020603050405020304"/>
                          <a:ea typeface="宋体" panose="02010600030101010101" pitchFamily="2" charset="-122"/>
                        </a:rPr>
                        <a:t>仅探测错误，不纠错</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9875" algn="l">
                        <a:spcAft>
                          <a:spcPts val="0"/>
                        </a:spcAft>
                      </a:pPr>
                      <a:r>
                        <a:rPr lang="zh-CN" sz="2000" kern="100">
                          <a:latin typeface="Times New Roman" panose="02020603050405020304"/>
                          <a:ea typeface="宋体" panose="02010600030101010101" pitchFamily="2" charset="-122"/>
                        </a:rPr>
                        <a:t>具备不同安全等级的纠错</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56970">
                <a:tc>
                  <a:txBody>
                    <a:bodyPr/>
                    <a:lstStyle/>
                    <a:p>
                      <a:pPr indent="269875" algn="l">
                        <a:spcAft>
                          <a:spcPts val="0"/>
                        </a:spcAft>
                      </a:pPr>
                      <a:r>
                        <a:rPr lang="zh-CN" sz="2000" kern="100">
                          <a:latin typeface="Times New Roman" panose="02020603050405020304"/>
                          <a:ea typeface="宋体" panose="02010600030101010101" pitchFamily="2" charset="-122"/>
                        </a:rPr>
                        <a:t>安全</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9875" algn="l">
                        <a:spcAft>
                          <a:spcPts val="0"/>
                        </a:spcAft>
                      </a:pPr>
                      <a:r>
                        <a:rPr lang="zh-CN" sz="2000" kern="100">
                          <a:latin typeface="Times New Roman" panose="02020603050405020304"/>
                          <a:ea typeface="宋体" panose="02010600030101010101" pitchFamily="2" charset="-122"/>
                        </a:rPr>
                        <a:t>不具备加密功能</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9875" algn="l">
                        <a:spcAft>
                          <a:spcPts val="0"/>
                        </a:spcAft>
                      </a:pPr>
                      <a:r>
                        <a:rPr lang="zh-CN" sz="2000" kern="100" dirty="0">
                          <a:solidFill>
                            <a:srgbClr val="FF0000"/>
                          </a:solidFill>
                          <a:latin typeface="Times New Roman" panose="02020603050405020304"/>
                          <a:ea typeface="宋体" panose="02010600030101010101" pitchFamily="2" charset="-122"/>
                        </a:rPr>
                        <a:t>可加密</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56970">
                <a:tc>
                  <a:txBody>
                    <a:bodyPr/>
                    <a:lstStyle/>
                    <a:p>
                      <a:pPr indent="269875" algn="l">
                        <a:spcAft>
                          <a:spcPts val="0"/>
                        </a:spcAft>
                      </a:pPr>
                      <a:r>
                        <a:rPr lang="zh-CN" sz="2000" kern="100">
                          <a:latin typeface="Times New Roman" panose="02020603050405020304"/>
                          <a:ea typeface="宋体" panose="02010600030101010101" pitchFamily="2" charset="-122"/>
                        </a:rPr>
                        <a:t>主要用途</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9875" algn="l">
                        <a:spcAft>
                          <a:spcPts val="0"/>
                        </a:spcAft>
                      </a:pPr>
                      <a:r>
                        <a:rPr lang="zh-CN" sz="2000" kern="100">
                          <a:latin typeface="Times New Roman" panose="02020603050405020304"/>
                          <a:ea typeface="宋体" panose="02010600030101010101" pitchFamily="2" charset="-122"/>
                        </a:rPr>
                        <a:t>标识物品</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9875" algn="l">
                        <a:spcAft>
                          <a:spcPts val="0"/>
                        </a:spcAft>
                      </a:pPr>
                      <a:r>
                        <a:rPr lang="zh-CN" sz="2000" kern="100" dirty="0">
                          <a:solidFill>
                            <a:srgbClr val="FF0000"/>
                          </a:solidFill>
                          <a:latin typeface="Times New Roman" panose="02020603050405020304"/>
                          <a:ea typeface="宋体" panose="02010600030101010101" pitchFamily="2" charset="-122"/>
                        </a:rPr>
                        <a:t>描述物品</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2" name="TextBox 18">
            <a:extLst>
              <a:ext uri="{FF2B5EF4-FFF2-40B4-BE49-F238E27FC236}">
                <a16:creationId xmlns:a16="http://schemas.microsoft.com/office/drawing/2014/main" id="{CED9D4D0-22A3-49CC-8D6B-CE259612A189}"/>
              </a:ext>
            </a:extLst>
          </p:cNvPr>
          <p:cNvSpPr txBox="1"/>
          <p:nvPr/>
        </p:nvSpPr>
        <p:spPr>
          <a:xfrm>
            <a:off x="1801524" y="1431706"/>
            <a:ext cx="6743671" cy="461665"/>
          </a:xfrm>
          <a:prstGeom prst="rect">
            <a:avLst/>
          </a:prstGeom>
          <a:noFill/>
        </p:spPr>
        <p:txBody>
          <a:bodyPr wrap="square" rtlCol="0">
            <a:spAutoFit/>
          </a:bodyPr>
          <a:lstStyle/>
          <a:p>
            <a:r>
              <a:rPr lang="zh-CN" altLang="en-US" sz="2400" dirty="0"/>
              <a:t>一维条形码与二维条形码性能对比</a:t>
            </a:r>
          </a:p>
        </p:txBody>
      </p:sp>
    </p:spTree>
    <p:extLst>
      <p:ext uri="{BB962C8B-B14F-4D97-AF65-F5344CB8AC3E}">
        <p14:creationId xmlns:p14="http://schemas.microsoft.com/office/powerpoint/2010/main" val="37045397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600" dirty="0">
                <a:solidFill>
                  <a:prstClr val="black"/>
                </a:solidFill>
                <a:latin typeface="方正公文黑体" panose="02000500000000000000" pitchFamily="2" charset="-122"/>
                <a:ea typeface="方正公文黑体" panose="02000500000000000000" pitchFamily="2" charset="-122"/>
              </a:rPr>
              <a:t>第二章例题</a:t>
            </a:r>
            <a:endParaRPr kumimoji="0" lang="en-US" altLang="zh-CN"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endParaRPr>
          </a:p>
        </p:txBody>
      </p:sp>
      <p:pic>
        <p:nvPicPr>
          <p:cNvPr id="8" name="图片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19441" y="6219825"/>
            <a:ext cx="536892" cy="542925"/>
          </a:xfrm>
          <a:prstGeom prst="rect">
            <a:avLst/>
          </a:prstGeom>
        </p:spPr>
      </p:pic>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11" name="矩形 10">
            <a:extLst>
              <a:ext uri="{FF2B5EF4-FFF2-40B4-BE49-F238E27FC236}">
                <a16:creationId xmlns:a16="http://schemas.microsoft.com/office/drawing/2014/main" id="{7C9DF09C-90CB-46A9-A661-0D957BF62A5C}"/>
              </a:ext>
            </a:extLst>
          </p:cNvPr>
          <p:cNvSpPr/>
          <p:nvPr/>
        </p:nvSpPr>
        <p:spPr>
          <a:xfrm>
            <a:off x="1561943" y="4315684"/>
            <a:ext cx="8291119" cy="1015663"/>
          </a:xfrm>
          <a:prstGeom prst="rect">
            <a:avLst/>
          </a:prstGeom>
        </p:spPr>
        <p:txBody>
          <a:bodyPr wrap="square">
            <a:spAutoFit/>
          </a:bodyPr>
          <a:lstStyle/>
          <a:p>
            <a:r>
              <a:rPr lang="zh-CN" altLang="zh-CN" sz="2000" kern="100" dirty="0">
                <a:latin typeface="宋体" panose="02010600030101010101" pitchFamily="2" charset="-122"/>
                <a:ea typeface="宋体" panose="02010600030101010101" pitchFamily="2" charset="-122"/>
                <a:cs typeface="Times New Roman" panose="02020603050405020304" pitchFamily="18" charset="0"/>
              </a:rPr>
              <a:t>解答：</a:t>
            </a:r>
            <a:r>
              <a:rPr lang="zh-CN" altLang="en-US" sz="2000" dirty="0">
                <a:latin typeface="宋体" panose="02010600030101010101" pitchFamily="2" charset="-122"/>
                <a:ea typeface="宋体" panose="02010600030101010101" pitchFamily="2" charset="-122"/>
              </a:rPr>
              <a:t>机器语言是一种由二进制代码表示的指令集，这些指令被计算机硬件所识别和执行。</a:t>
            </a:r>
            <a:endParaRPr lang="en-US" altLang="zh-CN" sz="2000" dirty="0">
              <a:latin typeface="宋体" panose="02010600030101010101" pitchFamily="2" charset="-122"/>
              <a:ea typeface="宋体" panose="02010600030101010101" pitchFamily="2" charset="-122"/>
            </a:endParaRPr>
          </a:p>
          <a:p>
            <a:r>
              <a:rPr lang="zh-CN" altLang="zh-CN" sz="2000" kern="100" dirty="0">
                <a:latin typeface="Times New Roman" panose="02020603050405020304" pitchFamily="18" charset="0"/>
                <a:ea typeface="宋体" panose="02010600030101010101" pitchFamily="2" charset="-122"/>
                <a:cs typeface="Times New Roman" panose="02020603050405020304" pitchFamily="18" charset="0"/>
              </a:rPr>
              <a:t>本题正确答案为</a:t>
            </a:r>
            <a:r>
              <a:rPr lang="en-US" altLang="zh-CN" sz="2000" kern="1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kern="100" dirty="0">
                <a:latin typeface="Times New Roman" panose="02020603050405020304" pitchFamily="18" charset="0"/>
                <a:ea typeface="黑体" panose="02010609060101010101" pitchFamily="49" charset="-122"/>
              </a:rPr>
              <a:t>D </a:t>
            </a:r>
            <a:r>
              <a:rPr lang="zh-CN" altLang="zh-CN" sz="2000" kern="1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en-US" sz="2000" dirty="0"/>
          </a:p>
        </p:txBody>
      </p:sp>
      <p:sp>
        <p:nvSpPr>
          <p:cNvPr id="12" name="矩形 11">
            <a:extLst>
              <a:ext uri="{FF2B5EF4-FFF2-40B4-BE49-F238E27FC236}">
                <a16:creationId xmlns:a16="http://schemas.microsoft.com/office/drawing/2014/main" id="{E333A27E-E16C-4576-9478-20398D6C850A}"/>
              </a:ext>
            </a:extLst>
          </p:cNvPr>
          <p:cNvSpPr/>
          <p:nvPr/>
        </p:nvSpPr>
        <p:spPr>
          <a:xfrm>
            <a:off x="1524000" y="3435265"/>
            <a:ext cx="7369346" cy="707886"/>
          </a:xfrm>
          <a:prstGeom prst="rect">
            <a:avLst/>
          </a:prstGeom>
        </p:spPr>
        <p:txBody>
          <a:bodyPr wrap="square">
            <a:spAutoFit/>
          </a:bodyPr>
          <a:lstStyle/>
          <a:p>
            <a:pPr algn="just">
              <a:spcBef>
                <a:spcPts val="1200"/>
              </a:spcBef>
              <a:spcAft>
                <a:spcPts val="0"/>
              </a:spcAft>
            </a:pPr>
            <a:r>
              <a:rPr lang="zh-CN" altLang="zh-CN" sz="2000" kern="100" dirty="0">
                <a:latin typeface="Times New Roman" panose="02020603050405020304" pitchFamily="18" charset="0"/>
                <a:ea typeface="黑体" panose="02010609060101010101" pitchFamily="49" charset="-122"/>
              </a:rPr>
              <a:t>计算机硬件能直接识别和执行的只有：</a:t>
            </a:r>
            <a:r>
              <a:rPr lang="en-US" altLang="zh-CN" sz="2000" kern="100" dirty="0">
                <a:latin typeface="Times New Roman" panose="02020603050405020304" pitchFamily="18" charset="0"/>
                <a:ea typeface="黑体" panose="02010609060101010101" pitchFamily="49" charset="-122"/>
              </a:rPr>
              <a:t>()</a:t>
            </a:r>
            <a:endParaRPr lang="zh-CN" altLang="zh-CN" sz="2000" kern="100" dirty="0">
              <a:latin typeface="Times New Roman" panose="02020603050405020304" pitchFamily="18" charset="0"/>
              <a:ea typeface="宋体" panose="02010600030101010101" pitchFamily="2" charset="-122"/>
            </a:endParaRPr>
          </a:p>
          <a:p>
            <a:r>
              <a:rPr lang="en-US" altLang="zh-CN" sz="2000" kern="100" dirty="0">
                <a:latin typeface="黑体" panose="02010609060101010101" pitchFamily="49" charset="-122"/>
                <a:cs typeface="Times New Roman" panose="02020603050405020304" pitchFamily="18" charset="0"/>
              </a:rPr>
              <a:t>A </a:t>
            </a:r>
            <a:r>
              <a:rPr lang="zh-CN" altLang="zh-CN" sz="2000" kern="100" dirty="0">
                <a:ea typeface="黑体" panose="02010609060101010101" pitchFamily="49" charset="-122"/>
                <a:cs typeface="Times New Roman" panose="02020603050405020304" pitchFamily="18" charset="0"/>
              </a:rPr>
              <a:t>高级语言</a:t>
            </a:r>
            <a:r>
              <a:rPr lang="en-US" altLang="zh-CN" sz="2000" kern="100" dirty="0">
                <a:ea typeface="黑体" panose="02010609060101010101" pitchFamily="49" charset="-122"/>
                <a:cs typeface="Times New Roman" panose="02020603050405020304" pitchFamily="18" charset="0"/>
              </a:rPr>
              <a:t>	B </a:t>
            </a:r>
            <a:r>
              <a:rPr lang="zh-CN" altLang="zh-CN" sz="2000" kern="100" dirty="0">
                <a:ea typeface="黑体" panose="02010609060101010101" pitchFamily="49" charset="-122"/>
                <a:cs typeface="Times New Roman" panose="02020603050405020304" pitchFamily="18" charset="0"/>
              </a:rPr>
              <a:t>符号语言</a:t>
            </a:r>
            <a:r>
              <a:rPr lang="en-US" altLang="zh-CN" sz="2000" kern="100" dirty="0">
                <a:ea typeface="黑体" panose="02010609060101010101" pitchFamily="49" charset="-122"/>
                <a:cs typeface="Times New Roman" panose="02020603050405020304" pitchFamily="18" charset="0"/>
              </a:rPr>
              <a:t>	C </a:t>
            </a:r>
            <a:r>
              <a:rPr lang="zh-CN" altLang="zh-CN" sz="2000" kern="100" dirty="0">
                <a:ea typeface="黑体" panose="02010609060101010101" pitchFamily="49" charset="-122"/>
                <a:cs typeface="Times New Roman" panose="02020603050405020304" pitchFamily="18" charset="0"/>
              </a:rPr>
              <a:t>汇编语言</a:t>
            </a:r>
            <a:r>
              <a:rPr lang="en-US" altLang="zh-CN" sz="2000" kern="100" dirty="0">
                <a:ea typeface="黑体" panose="02010609060101010101" pitchFamily="49" charset="-122"/>
                <a:cs typeface="Times New Roman" panose="02020603050405020304" pitchFamily="18" charset="0"/>
              </a:rPr>
              <a:t>	D </a:t>
            </a:r>
            <a:r>
              <a:rPr lang="zh-CN" altLang="zh-CN" sz="2000" kern="100" dirty="0">
                <a:ea typeface="黑体" panose="02010609060101010101" pitchFamily="49" charset="-122"/>
                <a:cs typeface="Times New Roman" panose="02020603050405020304" pitchFamily="18" charset="0"/>
              </a:rPr>
              <a:t>机器语言</a:t>
            </a:r>
            <a:endParaRPr lang="zh-CN" altLang="en-US" sz="2000" dirty="0"/>
          </a:p>
        </p:txBody>
      </p:sp>
      <p:sp>
        <p:nvSpPr>
          <p:cNvPr id="18" name="矩形 17">
            <a:extLst>
              <a:ext uri="{FF2B5EF4-FFF2-40B4-BE49-F238E27FC236}">
                <a16:creationId xmlns:a16="http://schemas.microsoft.com/office/drawing/2014/main" id="{C82F4951-D74B-4051-AC43-B4C2757A1931}"/>
              </a:ext>
            </a:extLst>
          </p:cNvPr>
          <p:cNvSpPr/>
          <p:nvPr/>
        </p:nvSpPr>
        <p:spPr>
          <a:xfrm>
            <a:off x="1561943" y="2330723"/>
            <a:ext cx="8291119" cy="707886"/>
          </a:xfrm>
          <a:prstGeom prst="rect">
            <a:avLst/>
          </a:prstGeom>
        </p:spPr>
        <p:txBody>
          <a:bodyPr wrap="square">
            <a:spAutoFit/>
          </a:bodyPr>
          <a:lstStyle/>
          <a:p>
            <a:r>
              <a:rPr lang="zh-CN" altLang="zh-CN" sz="2000" kern="100" dirty="0">
                <a:latin typeface="Times New Roman" panose="02020603050405020304" pitchFamily="18" charset="0"/>
                <a:ea typeface="宋体" panose="02010600030101010101" pitchFamily="2" charset="-122"/>
                <a:cs typeface="Times New Roman" panose="02020603050405020304" pitchFamily="18" charset="0"/>
              </a:rPr>
              <a:t>解答：</a:t>
            </a:r>
            <a:r>
              <a:rPr lang="zh-CN" altLang="en-US" sz="2000" kern="100" dirty="0">
                <a:latin typeface="Times New Roman" panose="02020603050405020304" pitchFamily="18" charset="0"/>
                <a:ea typeface="宋体" panose="02010600030101010101" pitchFamily="2" charset="-122"/>
                <a:cs typeface="Times New Roman" panose="02020603050405020304" pitchFamily="18" charset="0"/>
              </a:rPr>
              <a:t>计算机中数据由 </a:t>
            </a:r>
            <a:r>
              <a:rPr lang="en-US" altLang="zh-CN" sz="2000" kern="100" dirty="0">
                <a:latin typeface="Times New Roman" panose="02020603050405020304" pitchFamily="18" charset="0"/>
                <a:ea typeface="宋体" panose="02010600030101010101" pitchFamily="2" charset="-122"/>
                <a:cs typeface="Times New Roman" panose="02020603050405020304" pitchFamily="18" charset="0"/>
              </a:rPr>
              <a:t>0, 1 </a:t>
            </a:r>
            <a:r>
              <a:rPr lang="zh-CN" altLang="en-US" sz="2000" kern="100" dirty="0">
                <a:latin typeface="Times New Roman" panose="02020603050405020304" pitchFamily="18" charset="0"/>
                <a:ea typeface="宋体" panose="02010600030101010101" pitchFamily="2" charset="-122"/>
                <a:cs typeface="Times New Roman" panose="02020603050405020304" pitchFamily="18" charset="0"/>
              </a:rPr>
              <a:t>表示。分别对应电路中高电压和低电压</a:t>
            </a:r>
            <a:endParaRPr lang="en-US" altLang="zh-CN" sz="2000" kern="100" dirty="0">
              <a:latin typeface="Times New Roman" panose="02020603050405020304" pitchFamily="18" charset="0"/>
              <a:ea typeface="宋体" panose="02010600030101010101" pitchFamily="2" charset="-122"/>
              <a:cs typeface="Times New Roman" panose="02020603050405020304" pitchFamily="18" charset="0"/>
            </a:endParaRPr>
          </a:p>
          <a:p>
            <a:r>
              <a:rPr lang="zh-CN" altLang="zh-CN" sz="2000" kern="100" dirty="0">
                <a:latin typeface="Times New Roman" panose="02020603050405020304" pitchFamily="18" charset="0"/>
                <a:ea typeface="宋体" panose="02010600030101010101" pitchFamily="2" charset="-122"/>
                <a:cs typeface="Times New Roman" panose="02020603050405020304" pitchFamily="18" charset="0"/>
              </a:rPr>
              <a:t>本题正确答案为</a:t>
            </a:r>
            <a:r>
              <a:rPr lang="en-US" altLang="zh-CN" sz="2000" kern="1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kern="100" dirty="0">
                <a:latin typeface="Times New Roman" panose="02020603050405020304" pitchFamily="18" charset="0"/>
                <a:ea typeface="黑体" panose="02010609060101010101" pitchFamily="49" charset="-122"/>
              </a:rPr>
              <a:t>C </a:t>
            </a:r>
            <a:r>
              <a:rPr lang="zh-CN" altLang="zh-CN" sz="2000" kern="1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en-US" sz="2000" dirty="0"/>
          </a:p>
        </p:txBody>
      </p:sp>
      <p:sp>
        <p:nvSpPr>
          <p:cNvPr id="19" name="矩形 18">
            <a:extLst>
              <a:ext uri="{FF2B5EF4-FFF2-40B4-BE49-F238E27FC236}">
                <a16:creationId xmlns:a16="http://schemas.microsoft.com/office/drawing/2014/main" id="{E5D40122-A5A3-4377-ACDD-2527C5196B60}"/>
              </a:ext>
            </a:extLst>
          </p:cNvPr>
          <p:cNvSpPr/>
          <p:nvPr/>
        </p:nvSpPr>
        <p:spPr>
          <a:xfrm>
            <a:off x="1524000" y="1392476"/>
            <a:ext cx="6096000" cy="707886"/>
          </a:xfrm>
          <a:prstGeom prst="rect">
            <a:avLst/>
          </a:prstGeom>
        </p:spPr>
        <p:txBody>
          <a:bodyPr>
            <a:spAutoFit/>
          </a:bodyPr>
          <a:lstStyle/>
          <a:p>
            <a:pPr algn="just">
              <a:spcAft>
                <a:spcPts val="0"/>
              </a:spcAft>
            </a:pPr>
            <a:r>
              <a:rPr lang="zh-CN" altLang="zh-CN" sz="2000" kern="100" dirty="0">
                <a:latin typeface="Times New Roman" panose="02020603050405020304" pitchFamily="18" charset="0"/>
                <a:ea typeface="黑体" panose="02010609060101010101" pitchFamily="49" charset="-122"/>
              </a:rPr>
              <a:t>计算机中数据的表示形式是：（）</a:t>
            </a:r>
            <a:endParaRPr lang="zh-CN" altLang="zh-CN" sz="2000" kern="100" dirty="0">
              <a:latin typeface="Times New Roman" panose="02020603050405020304" pitchFamily="18" charset="0"/>
              <a:ea typeface="宋体" panose="02010600030101010101" pitchFamily="2" charset="-122"/>
            </a:endParaRPr>
          </a:p>
          <a:p>
            <a:r>
              <a:rPr lang="en-US" altLang="zh-CN" sz="2000" kern="100" dirty="0">
                <a:latin typeface="黑体" panose="02010609060101010101" pitchFamily="49" charset="-122"/>
                <a:cs typeface="Times New Roman" panose="02020603050405020304" pitchFamily="18" charset="0"/>
              </a:rPr>
              <a:t>A </a:t>
            </a:r>
            <a:r>
              <a:rPr lang="zh-CN" altLang="zh-CN" sz="2000" kern="100" dirty="0">
                <a:ea typeface="黑体" panose="02010609060101010101" pitchFamily="49" charset="-122"/>
                <a:cs typeface="Times New Roman" panose="02020603050405020304" pitchFamily="18" charset="0"/>
              </a:rPr>
              <a:t>八进制</a:t>
            </a:r>
            <a:r>
              <a:rPr lang="en-US" altLang="zh-CN" sz="2000" kern="100" dirty="0">
                <a:ea typeface="黑体" panose="02010609060101010101" pitchFamily="49" charset="-122"/>
                <a:cs typeface="Times New Roman" panose="02020603050405020304" pitchFamily="18" charset="0"/>
              </a:rPr>
              <a:t>    B </a:t>
            </a:r>
            <a:r>
              <a:rPr lang="zh-CN" altLang="zh-CN" sz="2000" kern="100" dirty="0">
                <a:ea typeface="黑体" panose="02010609060101010101" pitchFamily="49" charset="-122"/>
                <a:cs typeface="Times New Roman" panose="02020603050405020304" pitchFamily="18" charset="0"/>
              </a:rPr>
              <a:t>十进制</a:t>
            </a:r>
            <a:r>
              <a:rPr lang="en-US" altLang="zh-CN" sz="2000" kern="100" dirty="0">
                <a:ea typeface="黑体" panose="02010609060101010101" pitchFamily="49" charset="-122"/>
                <a:cs typeface="Times New Roman" panose="02020603050405020304" pitchFamily="18" charset="0"/>
              </a:rPr>
              <a:t>    C </a:t>
            </a:r>
            <a:r>
              <a:rPr lang="zh-CN" altLang="zh-CN" sz="2000" kern="100" dirty="0">
                <a:ea typeface="黑体" panose="02010609060101010101" pitchFamily="49" charset="-122"/>
                <a:cs typeface="Times New Roman" panose="02020603050405020304" pitchFamily="18" charset="0"/>
              </a:rPr>
              <a:t>二进制</a:t>
            </a:r>
            <a:r>
              <a:rPr lang="en-US" altLang="zh-CN" sz="2000" kern="100" dirty="0">
                <a:ea typeface="黑体" panose="02010609060101010101" pitchFamily="49" charset="-122"/>
                <a:cs typeface="Times New Roman" panose="02020603050405020304" pitchFamily="18" charset="0"/>
              </a:rPr>
              <a:t>	D </a:t>
            </a:r>
            <a:r>
              <a:rPr lang="zh-CN" altLang="zh-CN" sz="2000" kern="100" dirty="0">
                <a:ea typeface="黑体" panose="02010609060101010101" pitchFamily="49" charset="-122"/>
                <a:cs typeface="Times New Roman" panose="02020603050405020304" pitchFamily="18" charset="0"/>
              </a:rPr>
              <a:t>十六进制</a:t>
            </a:r>
            <a:endParaRPr lang="zh-CN" altLang="en-US" sz="2000" dirty="0"/>
          </a:p>
        </p:txBody>
      </p:sp>
    </p:spTree>
    <p:extLst>
      <p:ext uri="{BB962C8B-B14F-4D97-AF65-F5344CB8AC3E}">
        <p14:creationId xmlns:p14="http://schemas.microsoft.com/office/powerpoint/2010/main" val="67078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600" dirty="0">
                <a:solidFill>
                  <a:prstClr val="black"/>
                </a:solidFill>
                <a:latin typeface="方正公文黑体" panose="02000500000000000000" pitchFamily="2" charset="-122"/>
                <a:ea typeface="方正公文黑体" panose="02000500000000000000" pitchFamily="2" charset="-122"/>
              </a:rPr>
              <a:t>第二章例题</a:t>
            </a:r>
            <a:endParaRPr kumimoji="0" lang="en-US" altLang="zh-CN"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endParaRPr>
          </a:p>
        </p:txBody>
      </p:sp>
      <p:pic>
        <p:nvPicPr>
          <p:cNvPr id="8" name="图片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19441" y="6219825"/>
            <a:ext cx="536892" cy="542925"/>
          </a:xfrm>
          <a:prstGeom prst="rect">
            <a:avLst/>
          </a:prstGeom>
        </p:spPr>
      </p:pic>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18" name="矩形 17">
            <a:extLst>
              <a:ext uri="{FF2B5EF4-FFF2-40B4-BE49-F238E27FC236}">
                <a16:creationId xmlns:a16="http://schemas.microsoft.com/office/drawing/2014/main" id="{C82F4951-D74B-4051-AC43-B4C2757A1931}"/>
              </a:ext>
            </a:extLst>
          </p:cNvPr>
          <p:cNvSpPr/>
          <p:nvPr/>
        </p:nvSpPr>
        <p:spPr>
          <a:xfrm>
            <a:off x="1561943" y="2330723"/>
            <a:ext cx="8291119" cy="1477328"/>
          </a:xfrm>
          <a:prstGeom prst="rect">
            <a:avLst/>
          </a:prstGeom>
        </p:spPr>
        <p:txBody>
          <a:bodyPr wrap="square">
            <a:spAutoFit/>
          </a:bodyPr>
          <a:lstStyle/>
          <a:p>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解答：十进制整数</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kern="100" dirty="0">
                <a:latin typeface="Times New Roman" panose="02020603050405020304" pitchFamily="18" charset="0"/>
                <a:ea typeface="宋体" panose="02010600030101010101" pitchFamily="2" charset="-122"/>
              </a:rPr>
              <a:t>N </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转换为二进制的方法是：将</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kern="100" dirty="0">
                <a:latin typeface="Times New Roman" panose="02020603050405020304" pitchFamily="18" charset="0"/>
                <a:ea typeface="宋体" panose="02010600030101010101" pitchFamily="2" charset="-122"/>
              </a:rPr>
              <a:t>N </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不断的除以二，直到商为</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kern="100" dirty="0">
                <a:latin typeface="Times New Roman" panose="02020603050405020304" pitchFamily="18" charset="0"/>
                <a:ea typeface="宋体" panose="02010600030101010101" pitchFamily="2" charset="-122"/>
              </a:rPr>
              <a:t>0</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，将每一步的余数从右向左排列，即可得到对应的二进制数</a:t>
            </a:r>
            <a:r>
              <a:rPr lang="en-US" altLang="zh-CN" kern="100" dirty="0">
                <a:latin typeface="Times New Roman" panose="02020603050405020304" pitchFamily="18" charset="0"/>
                <a:ea typeface="宋体" panose="02010600030101010101" pitchFamily="2" charset="-122"/>
              </a:rPr>
              <a:t>(</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即除以</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kern="100" dirty="0">
                <a:latin typeface="Times New Roman" panose="02020603050405020304" pitchFamily="18" charset="0"/>
                <a:ea typeface="宋体" panose="02010600030101010101" pitchFamily="2" charset="-122"/>
              </a:rPr>
              <a:t>2 </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反序取余</a:t>
            </a:r>
            <a:r>
              <a:rPr lang="en-US" altLang="zh-CN" kern="100" dirty="0">
                <a:latin typeface="Times New Roman" panose="02020603050405020304" pitchFamily="18" charset="0"/>
                <a:ea typeface="宋体" panose="02010600030101010101" pitchFamily="2" charset="-122"/>
              </a:rPr>
              <a:t>)</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en-US" dirty="0"/>
          </a:p>
          <a:p>
            <a:r>
              <a:rPr lang="en-US" altLang="zh-CN" dirty="0"/>
              <a:t>91 mod 2 = </a:t>
            </a:r>
            <a:r>
              <a:rPr lang="en-US" altLang="zh-CN" dirty="0">
                <a:solidFill>
                  <a:srgbClr val="FF0000"/>
                </a:solidFill>
              </a:rPr>
              <a:t>1</a:t>
            </a:r>
            <a:r>
              <a:rPr lang="en-US" altLang="zh-CN" dirty="0"/>
              <a:t>, 91/2 = 45;	45 mod 2 = </a:t>
            </a:r>
            <a:r>
              <a:rPr lang="en-US" altLang="zh-CN" dirty="0">
                <a:solidFill>
                  <a:srgbClr val="FF0000"/>
                </a:solidFill>
              </a:rPr>
              <a:t>1</a:t>
            </a:r>
            <a:r>
              <a:rPr lang="en-US" altLang="zh-CN" dirty="0"/>
              <a:t>, 45/2 = 22;	22 mod 2 = </a:t>
            </a:r>
            <a:r>
              <a:rPr lang="en-US" altLang="zh-CN" dirty="0">
                <a:solidFill>
                  <a:srgbClr val="FF0000"/>
                </a:solidFill>
              </a:rPr>
              <a:t>0</a:t>
            </a:r>
            <a:r>
              <a:rPr lang="en-US" altLang="zh-CN" dirty="0"/>
              <a:t>, 22/2 = 11;</a:t>
            </a:r>
          </a:p>
          <a:p>
            <a:r>
              <a:rPr lang="en-US" altLang="zh-CN" dirty="0"/>
              <a:t>11 mod 2 = </a:t>
            </a:r>
            <a:r>
              <a:rPr lang="en-US" altLang="zh-CN" dirty="0">
                <a:solidFill>
                  <a:srgbClr val="FF0000"/>
                </a:solidFill>
              </a:rPr>
              <a:t>1</a:t>
            </a:r>
            <a:r>
              <a:rPr lang="en-US" altLang="zh-CN" dirty="0"/>
              <a:t>, 11/2 = 5;	5 mod 2 = </a:t>
            </a:r>
            <a:r>
              <a:rPr lang="en-US" altLang="zh-CN" dirty="0">
                <a:solidFill>
                  <a:srgbClr val="FF0000"/>
                </a:solidFill>
              </a:rPr>
              <a:t>1</a:t>
            </a:r>
            <a:r>
              <a:rPr lang="en-US" altLang="zh-CN" dirty="0"/>
              <a:t>, 5/2 = 2;	2 mod 2 = </a:t>
            </a:r>
            <a:r>
              <a:rPr lang="en-US" altLang="zh-CN" dirty="0">
                <a:solidFill>
                  <a:srgbClr val="FF0000"/>
                </a:solidFill>
              </a:rPr>
              <a:t>0</a:t>
            </a:r>
            <a:r>
              <a:rPr lang="en-US" altLang="zh-CN" dirty="0"/>
              <a:t>, 2/2 =</a:t>
            </a:r>
            <a:r>
              <a:rPr lang="en-US" altLang="zh-CN" dirty="0">
                <a:solidFill>
                  <a:srgbClr val="FF0000"/>
                </a:solidFill>
              </a:rPr>
              <a:t>1</a:t>
            </a:r>
            <a:r>
              <a:rPr lang="en-US" altLang="zh-CN" dirty="0"/>
              <a:t>;</a:t>
            </a:r>
          </a:p>
          <a:p>
            <a:r>
              <a:rPr lang="zh-CN" altLang="en-US" dirty="0"/>
              <a:t>所以答案是 </a:t>
            </a:r>
            <a:r>
              <a:rPr lang="en-US" altLang="zh-CN" dirty="0"/>
              <a:t>1011011</a:t>
            </a:r>
          </a:p>
        </p:txBody>
      </p:sp>
      <p:sp>
        <p:nvSpPr>
          <p:cNvPr id="15" name="Rectangle 3">
            <a:extLst>
              <a:ext uri="{FF2B5EF4-FFF2-40B4-BE49-F238E27FC236}">
                <a16:creationId xmlns:a16="http://schemas.microsoft.com/office/drawing/2014/main" id="{56BF5C64-9FE1-465F-BC7F-34C1B6A9B1ED}"/>
              </a:ext>
            </a:extLst>
          </p:cNvPr>
          <p:cNvSpPr>
            <a:spLocks noChangeArrowheads="1"/>
          </p:cNvSpPr>
          <p:nvPr/>
        </p:nvSpPr>
        <p:spPr bwMode="auto">
          <a:xfrm>
            <a:off x="1524000" y="1419036"/>
            <a:ext cx="811495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十进制数向二进制数进行转换时，十进制数</a:t>
            </a: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91</a:t>
            </a:r>
            <a:r>
              <a:rPr kumimoji="0" lang="zh-CN" altLang="en-US"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相当于二进制数（）。</a:t>
            </a:r>
            <a:endParaRPr kumimoji="0" lang="zh-CN"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 1101011 	 B 1101111 	 C 1110001 	</a:t>
            </a:r>
            <a:r>
              <a:rPr kumimoji="0" lang="en-US" altLang="zh-CN" sz="2000" b="0"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en-US" altLang="zh-CN" sz="2000" b="0" i="0" u="none" strike="noStrike" cap="none" normalizeH="0" baseline="0" dirty="0">
                <a:ln>
                  <a:noFill/>
                </a:ln>
                <a:effectLst/>
                <a:latin typeface="黑体" panose="02010609060101010101" pitchFamily="49" charset="-122"/>
                <a:ea typeface="黑体" panose="02010609060101010101" pitchFamily="49" charset="-122"/>
                <a:cs typeface="Times New Roman" panose="02020603050405020304" pitchFamily="18" charset="0"/>
              </a:rPr>
              <a:t>D 1011011</a:t>
            </a:r>
            <a:endParaRPr kumimoji="0" lang="en-US" altLang="zh-CN" b="0" i="0" u="none" strike="noStrike" cap="none" normalizeH="0" baseline="0" dirty="0">
              <a:ln>
                <a:noFill/>
              </a:ln>
              <a:effectLst/>
              <a:latin typeface="Arial" panose="020B0604020202020204" pitchFamily="34" charset="0"/>
            </a:endParaRPr>
          </a:p>
        </p:txBody>
      </p:sp>
      <p:sp>
        <p:nvSpPr>
          <p:cNvPr id="21" name="矩形 20">
            <a:extLst>
              <a:ext uri="{FF2B5EF4-FFF2-40B4-BE49-F238E27FC236}">
                <a16:creationId xmlns:a16="http://schemas.microsoft.com/office/drawing/2014/main" id="{AD853C22-6B6D-4E66-8855-6652BC8670C1}"/>
              </a:ext>
            </a:extLst>
          </p:cNvPr>
          <p:cNvSpPr/>
          <p:nvPr/>
        </p:nvSpPr>
        <p:spPr>
          <a:xfrm>
            <a:off x="1568933" y="3848450"/>
            <a:ext cx="6096000" cy="646331"/>
          </a:xfrm>
          <a:prstGeom prst="rect">
            <a:avLst/>
          </a:prstGeom>
        </p:spPr>
        <p:txBody>
          <a:bodyPr>
            <a:spAutoFit/>
          </a:bodyPr>
          <a:lstStyle/>
          <a:p>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与二进制小数</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kern="100" dirty="0">
                <a:latin typeface="Times New Roman" panose="02020603050405020304" pitchFamily="18" charset="0"/>
                <a:ea typeface="宋体" panose="02010600030101010101" pitchFamily="2" charset="-122"/>
              </a:rPr>
              <a:t>0</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kern="100" dirty="0">
                <a:latin typeface="Times New Roman" panose="02020603050405020304" pitchFamily="18" charset="0"/>
                <a:ea typeface="宋体" panose="02010600030101010101" pitchFamily="2" charset="-122"/>
              </a:rPr>
              <a:t>1 </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等值的十六进制小数为</a:t>
            </a:r>
            <a:r>
              <a:rPr lang="en-US" altLang="zh-CN" kern="100" dirty="0">
                <a:latin typeface="Times New Roman" panose="02020603050405020304" pitchFamily="18" charset="0"/>
                <a:ea typeface="宋体" panose="02010600030101010101" pitchFamily="2" charset="-122"/>
              </a:rPr>
              <a:t>____</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a:t>
            </a:r>
            <a:br>
              <a:rPr lang="en-US" altLang="zh-CN" kern="100" dirty="0">
                <a:latin typeface="Times New Roman" panose="02020603050405020304" pitchFamily="18" charset="0"/>
                <a:ea typeface="宋体" panose="02010600030101010101" pitchFamily="2" charset="-122"/>
              </a:rPr>
            </a:br>
            <a:r>
              <a:rPr lang="en-US" altLang="zh-CN" kern="100" dirty="0">
                <a:latin typeface="Times New Roman" panose="02020603050405020304" pitchFamily="18" charset="0"/>
                <a:ea typeface="宋体" panose="02010600030101010101" pitchFamily="2" charset="-122"/>
              </a:rPr>
              <a:t>A)0</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kern="100" dirty="0">
                <a:latin typeface="Times New Roman" panose="02020603050405020304" pitchFamily="18" charset="0"/>
                <a:ea typeface="宋体" panose="02010600030101010101" pitchFamily="2" charset="-122"/>
              </a:rPr>
              <a:t>1        B)0</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kern="100" dirty="0">
                <a:latin typeface="Times New Roman" panose="02020603050405020304" pitchFamily="18" charset="0"/>
                <a:ea typeface="宋体" panose="02010600030101010101" pitchFamily="2" charset="-122"/>
              </a:rPr>
              <a:t>2        C)0</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kern="100" dirty="0">
                <a:latin typeface="Times New Roman" panose="02020603050405020304" pitchFamily="18" charset="0"/>
                <a:ea typeface="宋体" panose="02010600030101010101" pitchFamily="2" charset="-122"/>
              </a:rPr>
              <a:t>4        D)0</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kern="100" dirty="0">
                <a:latin typeface="Times New Roman" panose="02020603050405020304" pitchFamily="18" charset="0"/>
                <a:ea typeface="宋体" panose="02010600030101010101" pitchFamily="2" charset="-122"/>
              </a:rPr>
              <a:t>8</a:t>
            </a:r>
            <a:endParaRPr lang="zh-CN" altLang="en-US" dirty="0"/>
          </a:p>
        </p:txBody>
      </p:sp>
      <p:sp>
        <p:nvSpPr>
          <p:cNvPr id="23" name="矩形 22">
            <a:extLst>
              <a:ext uri="{FF2B5EF4-FFF2-40B4-BE49-F238E27FC236}">
                <a16:creationId xmlns:a16="http://schemas.microsoft.com/office/drawing/2014/main" id="{B99BA1DD-4A18-4DD6-ADB5-23101C9807AC}"/>
              </a:ext>
            </a:extLst>
          </p:cNvPr>
          <p:cNvSpPr/>
          <p:nvPr/>
        </p:nvSpPr>
        <p:spPr>
          <a:xfrm>
            <a:off x="1524000" y="4585745"/>
            <a:ext cx="8953850" cy="1200329"/>
          </a:xfrm>
          <a:prstGeom prst="rect">
            <a:avLst/>
          </a:prstGeom>
        </p:spPr>
        <p:txBody>
          <a:bodyPr wrap="square">
            <a:spAutoFit/>
          </a:bodyPr>
          <a:lstStyle/>
          <a:p>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解答：此题属于综合题。首先，把二进制小数</a:t>
            </a:r>
            <a:r>
              <a:rPr lang="en-US" altLang="zh-CN" kern="100" dirty="0">
                <a:latin typeface="Times New Roman" panose="02020603050405020304" pitchFamily="18" charset="0"/>
                <a:ea typeface="宋体" panose="02010600030101010101" pitchFamily="2" charset="-122"/>
              </a:rPr>
              <a:t>0</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kern="100" dirty="0">
                <a:latin typeface="Times New Roman" panose="02020603050405020304" pitchFamily="18" charset="0"/>
                <a:ea typeface="宋体" panose="02010600030101010101" pitchFamily="2" charset="-122"/>
              </a:rPr>
              <a:t>1</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转化成十进制小数：</a:t>
            </a:r>
            <a:r>
              <a:rPr lang="en-US" altLang="zh-CN" kern="100" dirty="0">
                <a:latin typeface="Times New Roman" panose="02020603050405020304" pitchFamily="18" charset="0"/>
                <a:ea typeface="宋体" panose="02010600030101010101" pitchFamily="2" charset="-122"/>
              </a:rPr>
              <a:t>(0</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kern="100" dirty="0">
                <a:latin typeface="Times New Roman" panose="02020603050405020304" pitchFamily="18" charset="0"/>
                <a:ea typeface="宋体" panose="02010600030101010101" pitchFamily="2" charset="-122"/>
              </a:rPr>
              <a:t>1)</a:t>
            </a:r>
            <a:r>
              <a:rPr lang="en-US" altLang="zh-CN" kern="100" baseline="-25000" dirty="0">
                <a:latin typeface="Times New Roman" panose="02020603050405020304" pitchFamily="18" charset="0"/>
                <a:ea typeface="宋体" panose="02010600030101010101" pitchFamily="2" charset="-122"/>
              </a:rPr>
              <a:t>2</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kern="100" dirty="0">
                <a:latin typeface="Times New Roman" panose="02020603050405020304" pitchFamily="18" charset="0"/>
                <a:ea typeface="宋体" panose="02010600030101010101" pitchFamily="2" charset="-122"/>
              </a:rPr>
              <a:t>l×2</a:t>
            </a:r>
            <a:r>
              <a:rPr lang="en-US" altLang="zh-CN" kern="100" baseline="30000" dirty="0">
                <a:latin typeface="Times New Roman" panose="02020603050405020304" pitchFamily="18" charset="0"/>
                <a:ea typeface="宋体" panose="02010600030101010101" pitchFamily="2" charset="-122"/>
              </a:rPr>
              <a:t>-1</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kern="100" dirty="0">
                <a:latin typeface="Times New Roman" panose="02020603050405020304" pitchFamily="18" charset="0"/>
                <a:ea typeface="宋体" panose="02010600030101010101" pitchFamily="2" charset="-122"/>
              </a:rPr>
              <a:t>(0</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kern="100" dirty="0">
                <a:latin typeface="Times New Roman" panose="02020603050405020304" pitchFamily="18" charset="0"/>
                <a:ea typeface="宋体" panose="02010600030101010101" pitchFamily="2" charset="-122"/>
              </a:rPr>
              <a:t>5)</a:t>
            </a:r>
            <a:r>
              <a:rPr lang="en-US" altLang="zh-CN" kern="100" baseline="-25000" dirty="0">
                <a:latin typeface="Times New Roman" panose="02020603050405020304" pitchFamily="18" charset="0"/>
                <a:ea typeface="宋体" panose="02010600030101010101" pitchFamily="2" charset="-122"/>
              </a:rPr>
              <a:t>10</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；然后把十进制小数</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kern="100" dirty="0">
                <a:latin typeface="Times New Roman" panose="02020603050405020304" pitchFamily="18" charset="0"/>
                <a:ea typeface="宋体" panose="02010600030101010101" pitchFamily="2" charset="-122"/>
              </a:rPr>
              <a:t>0</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kern="100" dirty="0">
                <a:latin typeface="Times New Roman" panose="02020603050405020304" pitchFamily="18" charset="0"/>
                <a:ea typeface="宋体" panose="02010600030101010101" pitchFamily="2" charset="-122"/>
              </a:rPr>
              <a:t>5 </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转化成十六进制小数：</a:t>
            </a:r>
            <a:r>
              <a:rPr lang="en-US" altLang="zh-CN" kern="100" dirty="0">
                <a:latin typeface="Times New Roman" panose="02020603050405020304" pitchFamily="18" charset="0"/>
                <a:ea typeface="宋体" panose="02010600030101010101" pitchFamily="2" charset="-122"/>
              </a:rPr>
              <a:t>0.5×16=8</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，而整数部分为</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kern="100" dirty="0">
                <a:latin typeface="Times New Roman" panose="02020603050405020304" pitchFamily="18" charset="0"/>
                <a:ea typeface="宋体" panose="02010600030101010101" pitchFamily="2" charset="-122"/>
              </a:rPr>
              <a:t>0</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，所以</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kern="100" dirty="0">
                <a:latin typeface="Times New Roman" panose="02020603050405020304" pitchFamily="18" charset="0"/>
                <a:ea typeface="宋体" panose="02010600030101010101" pitchFamily="2" charset="-122"/>
              </a:rPr>
              <a:t>(0</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kern="100" dirty="0">
                <a:latin typeface="Times New Roman" panose="02020603050405020304" pitchFamily="18" charset="0"/>
                <a:ea typeface="宋体" panose="02010600030101010101" pitchFamily="2" charset="-122"/>
              </a:rPr>
              <a:t>1)</a:t>
            </a:r>
            <a:r>
              <a:rPr lang="en-US" altLang="zh-CN" kern="100" baseline="-25000" dirty="0">
                <a:latin typeface="Times New Roman" panose="02020603050405020304" pitchFamily="18" charset="0"/>
                <a:ea typeface="宋体" panose="02010600030101010101" pitchFamily="2" charset="-122"/>
              </a:rPr>
              <a:t>2</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kern="100" dirty="0">
                <a:latin typeface="Times New Roman" panose="02020603050405020304" pitchFamily="18" charset="0"/>
                <a:ea typeface="宋体" panose="02010600030101010101" pitchFamily="2" charset="-122"/>
              </a:rPr>
              <a:t>(0</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kern="100" dirty="0">
                <a:latin typeface="Times New Roman" panose="02020603050405020304" pitchFamily="18" charset="0"/>
                <a:ea typeface="宋体" panose="02010600030101010101" pitchFamily="2" charset="-122"/>
              </a:rPr>
              <a:t>5)</a:t>
            </a:r>
            <a:r>
              <a:rPr lang="en-US" altLang="zh-CN" kern="100" baseline="-25000" dirty="0">
                <a:latin typeface="Times New Roman" panose="02020603050405020304" pitchFamily="18" charset="0"/>
                <a:ea typeface="宋体" panose="02010600030101010101" pitchFamily="2" charset="-122"/>
              </a:rPr>
              <a:t>10</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kern="100" dirty="0">
                <a:latin typeface="Times New Roman" panose="02020603050405020304" pitchFamily="18" charset="0"/>
                <a:ea typeface="宋体" panose="02010600030101010101" pitchFamily="2" charset="-122"/>
              </a:rPr>
              <a:t>(0</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kern="100" dirty="0">
                <a:latin typeface="Times New Roman" panose="02020603050405020304" pitchFamily="18" charset="0"/>
                <a:ea typeface="宋体" panose="02010600030101010101" pitchFamily="2" charset="-122"/>
              </a:rPr>
              <a:t>8)</a:t>
            </a:r>
            <a:r>
              <a:rPr lang="en-US" altLang="zh-CN" kern="100" baseline="-25000" dirty="0">
                <a:latin typeface="Times New Roman" panose="02020603050405020304" pitchFamily="18" charset="0"/>
                <a:ea typeface="宋体" panose="02010600030101010101" pitchFamily="2" charset="-122"/>
              </a:rPr>
              <a:t>16</a:t>
            </a:r>
            <a:br>
              <a:rPr lang="en-US" altLang="zh-CN" kern="100" dirty="0">
                <a:latin typeface="Times New Roman" panose="02020603050405020304" pitchFamily="18" charset="0"/>
                <a:ea typeface="宋体" panose="02010600030101010101" pitchFamily="2" charset="-122"/>
              </a:rPr>
            </a:b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本题正确答案为</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kern="100" dirty="0">
                <a:latin typeface="Times New Roman" panose="02020603050405020304" pitchFamily="18" charset="0"/>
                <a:ea typeface="宋体" panose="02010600030101010101" pitchFamily="2" charset="-122"/>
              </a:rPr>
              <a:t>D</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en-US" dirty="0"/>
          </a:p>
        </p:txBody>
      </p:sp>
    </p:spTree>
    <p:extLst>
      <p:ext uri="{BB962C8B-B14F-4D97-AF65-F5344CB8AC3E}">
        <p14:creationId xmlns:p14="http://schemas.microsoft.com/office/powerpoint/2010/main" val="3498018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600" dirty="0">
                <a:solidFill>
                  <a:prstClr val="black"/>
                </a:solidFill>
                <a:latin typeface="方正公文黑体" panose="02000500000000000000" pitchFamily="2" charset="-122"/>
                <a:ea typeface="方正公文黑体" panose="02000500000000000000" pitchFamily="2" charset="-122"/>
              </a:rPr>
              <a:t>第二章例题</a:t>
            </a:r>
            <a:endParaRPr kumimoji="0" lang="en-US" altLang="zh-CN"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endParaRPr>
          </a:p>
        </p:txBody>
      </p:sp>
      <p:pic>
        <p:nvPicPr>
          <p:cNvPr id="8" name="图片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19441" y="6219825"/>
            <a:ext cx="536892" cy="542925"/>
          </a:xfrm>
          <a:prstGeom prst="rect">
            <a:avLst/>
          </a:prstGeom>
        </p:spPr>
      </p:pic>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4" name="矩形 3">
            <a:extLst>
              <a:ext uri="{FF2B5EF4-FFF2-40B4-BE49-F238E27FC236}">
                <a16:creationId xmlns:a16="http://schemas.microsoft.com/office/drawing/2014/main" id="{78AA1DAD-0F87-421A-98C4-6FB282BC8EFC}"/>
              </a:ext>
            </a:extLst>
          </p:cNvPr>
          <p:cNvSpPr/>
          <p:nvPr/>
        </p:nvSpPr>
        <p:spPr>
          <a:xfrm>
            <a:off x="1523999" y="1363722"/>
            <a:ext cx="8880630" cy="830997"/>
          </a:xfrm>
          <a:prstGeom prst="rect">
            <a:avLst/>
          </a:prstGeom>
        </p:spPr>
        <p:txBody>
          <a:bodyPr wrap="square">
            <a:spAutoFit/>
          </a:bodyPr>
          <a:lstStyle/>
          <a:p>
            <a:r>
              <a:rPr lang="en-US" altLang="zh-CN" sz="2400" kern="100" dirty="0">
                <a:latin typeface="Times New Roman" panose="02020603050405020304" pitchFamily="18" charset="0"/>
                <a:ea typeface="宋体" panose="02010600030101010101" pitchFamily="2" charset="-122"/>
              </a:rPr>
              <a:t>(1110)</a:t>
            </a:r>
            <a:r>
              <a:rPr lang="en-US" altLang="zh-CN" sz="2400" kern="100" baseline="-25000" dirty="0">
                <a:latin typeface="Times New Roman" panose="02020603050405020304" pitchFamily="18" charset="0"/>
                <a:ea typeface="宋体" panose="02010600030101010101" pitchFamily="2" charset="-122"/>
              </a:rPr>
              <a:t>2</a:t>
            </a:r>
            <a:r>
              <a:rPr lang="en-US" altLang="zh-CN" sz="2400" kern="100" dirty="0">
                <a:latin typeface="Times New Roman" panose="02020603050405020304" pitchFamily="18" charset="0"/>
                <a:ea typeface="宋体" panose="02010600030101010101" pitchFamily="2" charset="-122"/>
              </a:rPr>
              <a:t>×(1011)</a:t>
            </a:r>
            <a:r>
              <a:rPr lang="en-US" altLang="zh-CN" sz="2400" kern="100" baseline="-25000" dirty="0">
                <a:latin typeface="Times New Roman" panose="02020603050405020304" pitchFamily="18" charset="0"/>
                <a:ea typeface="宋体" panose="02010600030101010101" pitchFamily="2" charset="-122"/>
              </a:rPr>
              <a:t>2</a:t>
            </a:r>
            <a:r>
              <a:rPr lang="zh-CN" altLang="zh-CN" sz="2400"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latin typeface="Times New Roman" panose="02020603050405020304" pitchFamily="18" charset="0"/>
                <a:ea typeface="宋体" panose="02010600030101010101" pitchFamily="2" charset="-122"/>
              </a:rPr>
              <a:t>———</a:t>
            </a:r>
            <a:r>
              <a:rPr lang="zh-CN" altLang="zh-CN" sz="2400" kern="100" dirty="0">
                <a:latin typeface="Times New Roman" panose="02020603050405020304" pitchFamily="18" charset="0"/>
                <a:ea typeface="宋体" panose="02010600030101010101" pitchFamily="2" charset="-122"/>
                <a:cs typeface="Times New Roman" panose="02020603050405020304" pitchFamily="18" charset="0"/>
              </a:rPr>
              <a:t>。</a:t>
            </a:r>
            <a:br>
              <a:rPr lang="en-US" altLang="zh-CN" sz="2400" kern="100" dirty="0">
                <a:latin typeface="Times New Roman" panose="02020603050405020304" pitchFamily="18" charset="0"/>
                <a:ea typeface="宋体" panose="02010600030101010101" pitchFamily="2" charset="-122"/>
              </a:rPr>
            </a:br>
            <a:r>
              <a:rPr lang="en-US" altLang="zh-CN" sz="2400" kern="100" dirty="0">
                <a:latin typeface="Times New Roman" panose="02020603050405020304" pitchFamily="18" charset="0"/>
                <a:ea typeface="宋体" panose="02010600030101010101" pitchFamily="2" charset="-122"/>
              </a:rPr>
              <a:t>A)11010010       B)10111011         C)10110110       D)10011010</a:t>
            </a:r>
            <a:endParaRPr lang="zh-CN" altLang="en-US" sz="2400" dirty="0"/>
          </a:p>
        </p:txBody>
      </p:sp>
      <p:sp>
        <p:nvSpPr>
          <p:cNvPr id="9" name="矩形 8">
            <a:extLst>
              <a:ext uri="{FF2B5EF4-FFF2-40B4-BE49-F238E27FC236}">
                <a16:creationId xmlns:a16="http://schemas.microsoft.com/office/drawing/2014/main" id="{975ABBED-8F43-4ACC-9C14-EEE5C65EDF42}"/>
              </a:ext>
            </a:extLst>
          </p:cNvPr>
          <p:cNvSpPr/>
          <p:nvPr/>
        </p:nvSpPr>
        <p:spPr>
          <a:xfrm>
            <a:off x="1568932" y="1982939"/>
            <a:ext cx="6096000" cy="3785652"/>
          </a:xfrm>
          <a:prstGeom prst="rect">
            <a:avLst/>
          </a:prstGeom>
        </p:spPr>
        <p:txBody>
          <a:bodyPr>
            <a:spAutoFit/>
          </a:bodyPr>
          <a:lstStyle/>
          <a:p>
            <a:pPr lvl="2"/>
            <a:r>
              <a:rPr lang="en-US" altLang="zh-CN" sz="2400" kern="100" dirty="0">
                <a:latin typeface="Times New Roman" panose="02020603050405020304" pitchFamily="18" charset="0"/>
                <a:ea typeface="宋体" panose="02010600030101010101" pitchFamily="2" charset="-122"/>
              </a:rPr>
              <a:t>	       1110</a:t>
            </a:r>
          </a:p>
          <a:p>
            <a:pPr lvl="2"/>
            <a:r>
              <a:rPr lang="en-US" altLang="zh-CN" sz="2400" kern="100" dirty="0">
                <a:latin typeface="Times New Roman" panose="02020603050405020304" pitchFamily="18" charset="0"/>
                <a:ea typeface="宋体" panose="02010600030101010101" pitchFamily="2" charset="-122"/>
              </a:rPr>
              <a:t>	     *1011</a:t>
            </a:r>
          </a:p>
          <a:p>
            <a:pPr lvl="1"/>
            <a:r>
              <a:rPr lang="en-US" altLang="zh-CN" sz="2400" kern="100" dirty="0">
                <a:latin typeface="Times New Roman" panose="02020603050405020304" pitchFamily="18" charset="0"/>
                <a:ea typeface="宋体" panose="02010600030101010101" pitchFamily="2" charset="-122"/>
              </a:rPr>
              <a:t>   		-----------</a:t>
            </a:r>
            <a:br>
              <a:rPr lang="en-US" altLang="zh-CN" sz="2400" kern="100" dirty="0">
                <a:latin typeface="Times New Roman" panose="02020603050405020304" pitchFamily="18" charset="0"/>
                <a:ea typeface="宋体" panose="02010600030101010101" pitchFamily="2" charset="-122"/>
              </a:rPr>
            </a:br>
            <a:r>
              <a:rPr lang="en-US" altLang="zh-CN" sz="2400" kern="100" dirty="0">
                <a:latin typeface="Times New Roman" panose="02020603050405020304" pitchFamily="18" charset="0"/>
                <a:ea typeface="宋体" panose="02010600030101010101" pitchFamily="2" charset="-122"/>
              </a:rPr>
              <a:t>		       1110</a:t>
            </a:r>
            <a:br>
              <a:rPr lang="en-US" altLang="zh-CN" sz="2400" kern="100" dirty="0">
                <a:latin typeface="Times New Roman" panose="02020603050405020304" pitchFamily="18" charset="0"/>
                <a:ea typeface="宋体" panose="02010600030101010101" pitchFamily="2" charset="-122"/>
              </a:rPr>
            </a:br>
            <a:r>
              <a:rPr lang="en-US" altLang="zh-CN" sz="2400" kern="100" dirty="0">
                <a:latin typeface="Times New Roman" panose="02020603050405020304" pitchFamily="18" charset="0"/>
                <a:ea typeface="宋体" panose="02010600030101010101" pitchFamily="2" charset="-122"/>
              </a:rPr>
              <a:t>       	     1110</a:t>
            </a:r>
            <a:br>
              <a:rPr lang="en-US" altLang="zh-CN" sz="2400" kern="100" dirty="0">
                <a:latin typeface="Times New Roman" panose="02020603050405020304" pitchFamily="18" charset="0"/>
                <a:ea typeface="宋体" panose="02010600030101010101" pitchFamily="2" charset="-122"/>
              </a:rPr>
            </a:br>
            <a:r>
              <a:rPr lang="en-US" altLang="zh-CN" sz="2400" kern="100" dirty="0">
                <a:latin typeface="Times New Roman" panose="02020603050405020304" pitchFamily="18" charset="0"/>
                <a:ea typeface="宋体" panose="02010600030101010101" pitchFamily="2" charset="-122"/>
              </a:rPr>
              <a:t>     		   0000</a:t>
            </a:r>
          </a:p>
          <a:p>
            <a:pPr lvl="1"/>
            <a:r>
              <a:rPr lang="en-US" altLang="zh-CN" sz="2400" kern="100" dirty="0">
                <a:latin typeface="Times New Roman" panose="02020603050405020304" pitchFamily="18" charset="0"/>
                <a:ea typeface="宋体" panose="02010600030101010101" pitchFamily="2" charset="-122"/>
              </a:rPr>
              <a:t>		 1110</a:t>
            </a:r>
            <a:br>
              <a:rPr lang="en-US" altLang="zh-CN" sz="2400" kern="100" dirty="0">
                <a:latin typeface="Times New Roman" panose="02020603050405020304" pitchFamily="18" charset="0"/>
                <a:ea typeface="宋体" panose="02010600030101010101" pitchFamily="2" charset="-122"/>
              </a:rPr>
            </a:br>
            <a:r>
              <a:rPr lang="en-US" altLang="zh-CN" sz="2400" kern="100" dirty="0">
                <a:latin typeface="Times New Roman" panose="02020603050405020304" pitchFamily="18" charset="0"/>
                <a:ea typeface="宋体" panose="02010600030101010101" pitchFamily="2" charset="-122"/>
              </a:rPr>
              <a:t>		--------------</a:t>
            </a:r>
            <a:br>
              <a:rPr lang="en-US" altLang="zh-CN" sz="2400" kern="100" dirty="0">
                <a:latin typeface="Times New Roman" panose="02020603050405020304" pitchFamily="18" charset="0"/>
                <a:ea typeface="宋体" panose="02010600030101010101" pitchFamily="2" charset="-122"/>
              </a:rPr>
            </a:br>
            <a:r>
              <a:rPr lang="en-US" altLang="zh-CN" sz="2400" kern="100" dirty="0">
                <a:latin typeface="Times New Roman" panose="02020603050405020304" pitchFamily="18" charset="0"/>
                <a:ea typeface="宋体" panose="02010600030101010101" pitchFamily="2" charset="-122"/>
              </a:rPr>
              <a:t>	           10011010</a:t>
            </a:r>
            <a:br>
              <a:rPr lang="en-US" altLang="zh-CN" sz="2400" kern="100" dirty="0">
                <a:latin typeface="Times New Roman" panose="02020603050405020304" pitchFamily="18" charset="0"/>
                <a:ea typeface="宋体" panose="02010600030101010101" pitchFamily="2" charset="-122"/>
              </a:rPr>
            </a:br>
            <a:r>
              <a:rPr lang="zh-CN" altLang="zh-CN" sz="2400" kern="100" dirty="0">
                <a:latin typeface="Times New Roman" panose="02020603050405020304" pitchFamily="18" charset="0"/>
                <a:ea typeface="宋体" panose="02010600030101010101" pitchFamily="2" charset="-122"/>
                <a:cs typeface="Times New Roman" panose="02020603050405020304" pitchFamily="18" charset="0"/>
              </a:rPr>
              <a:t>本题正确答案为</a:t>
            </a:r>
            <a:r>
              <a:rPr lang="en-US" altLang="zh-CN" sz="2400" kern="1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kern="100" dirty="0">
                <a:latin typeface="Times New Roman" panose="02020603050405020304" pitchFamily="18" charset="0"/>
                <a:ea typeface="宋体" panose="02010600030101010101" pitchFamily="2" charset="-122"/>
              </a:rPr>
              <a:t>D</a:t>
            </a:r>
            <a:r>
              <a:rPr lang="zh-CN" altLang="zh-CN" sz="2400" kern="1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en-US" sz="2400" dirty="0"/>
          </a:p>
        </p:txBody>
      </p:sp>
    </p:spTree>
    <p:extLst>
      <p:ext uri="{BB962C8B-B14F-4D97-AF65-F5344CB8AC3E}">
        <p14:creationId xmlns:p14="http://schemas.microsoft.com/office/powerpoint/2010/main" val="4176665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600" dirty="0">
                <a:solidFill>
                  <a:prstClr val="black"/>
                </a:solidFill>
                <a:latin typeface="方正公文黑体" panose="02000500000000000000" pitchFamily="2" charset="-122"/>
                <a:ea typeface="方正公文黑体" panose="02000500000000000000" pitchFamily="2" charset="-122"/>
              </a:rPr>
              <a:t>第二章例题</a:t>
            </a:r>
            <a:endParaRPr kumimoji="0" lang="en-US" altLang="zh-CN"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endParaRPr>
          </a:p>
        </p:txBody>
      </p:sp>
      <p:pic>
        <p:nvPicPr>
          <p:cNvPr id="8" name="图片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19441" y="6219825"/>
            <a:ext cx="536892" cy="542925"/>
          </a:xfrm>
          <a:prstGeom prst="rect">
            <a:avLst/>
          </a:prstGeom>
        </p:spPr>
      </p:pic>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6" name="矩形 5">
            <a:extLst>
              <a:ext uri="{FF2B5EF4-FFF2-40B4-BE49-F238E27FC236}">
                <a16:creationId xmlns:a16="http://schemas.microsoft.com/office/drawing/2014/main" id="{1603B12C-29F9-478C-8E28-93A74ADDF0CD}"/>
              </a:ext>
            </a:extLst>
          </p:cNvPr>
          <p:cNvSpPr/>
          <p:nvPr/>
        </p:nvSpPr>
        <p:spPr>
          <a:xfrm>
            <a:off x="1524000" y="1235261"/>
            <a:ext cx="6096000" cy="646331"/>
          </a:xfrm>
          <a:prstGeom prst="rect">
            <a:avLst/>
          </a:prstGeom>
        </p:spPr>
        <p:txBody>
          <a:bodyPr>
            <a:spAutoFit/>
          </a:bodyPr>
          <a:lstStyle/>
          <a:p>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十六进制数</a:t>
            </a:r>
            <a:r>
              <a:rPr lang="en-US" altLang="zh-CN" kern="100" dirty="0">
                <a:latin typeface="Times New Roman" panose="02020603050405020304" pitchFamily="18" charset="0"/>
                <a:ea typeface="宋体" panose="02010600030101010101" pitchFamily="2" charset="-122"/>
              </a:rPr>
              <a:t>(AB)</a:t>
            </a:r>
            <a:r>
              <a:rPr lang="en-US" altLang="zh-CN" kern="100" baseline="-25000" dirty="0">
                <a:latin typeface="Times New Roman" panose="02020603050405020304" pitchFamily="18" charset="0"/>
                <a:ea typeface="宋体" panose="02010600030101010101" pitchFamily="2" charset="-122"/>
              </a:rPr>
              <a:t>16 </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变换为等值的八进制数是</a:t>
            </a:r>
            <a:r>
              <a:rPr lang="en-US" altLang="zh-CN" kern="100" dirty="0">
                <a:latin typeface="Times New Roman" panose="02020603050405020304" pitchFamily="18" charset="0"/>
                <a:ea typeface="宋体" panose="02010600030101010101" pitchFamily="2" charset="-122"/>
              </a:rPr>
              <a:t>____</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a:t>
            </a:r>
            <a:br>
              <a:rPr lang="en-US" altLang="zh-CN" kern="100" dirty="0">
                <a:latin typeface="Times New Roman" panose="02020603050405020304" pitchFamily="18" charset="0"/>
                <a:ea typeface="宋体" panose="02010600030101010101" pitchFamily="2" charset="-122"/>
              </a:rPr>
            </a:br>
            <a:r>
              <a:rPr lang="en-US" altLang="zh-CN" kern="100" dirty="0">
                <a:latin typeface="Times New Roman" panose="02020603050405020304" pitchFamily="18" charset="0"/>
                <a:ea typeface="宋体" panose="02010600030101010101" pitchFamily="2" charset="-122"/>
              </a:rPr>
              <a:t>A)253         B)35l           C)243         D)101</a:t>
            </a:r>
            <a:endParaRPr lang="zh-CN" altLang="en-US" dirty="0"/>
          </a:p>
        </p:txBody>
      </p:sp>
      <p:sp>
        <p:nvSpPr>
          <p:cNvPr id="12" name="矩形 11">
            <a:extLst>
              <a:ext uri="{FF2B5EF4-FFF2-40B4-BE49-F238E27FC236}">
                <a16:creationId xmlns:a16="http://schemas.microsoft.com/office/drawing/2014/main" id="{1D1FD829-0820-49F1-8D1F-3DFAE17E8A0D}"/>
              </a:ext>
            </a:extLst>
          </p:cNvPr>
          <p:cNvSpPr/>
          <p:nvPr/>
        </p:nvSpPr>
        <p:spPr>
          <a:xfrm>
            <a:off x="1523999" y="2117007"/>
            <a:ext cx="8207229" cy="923330"/>
          </a:xfrm>
          <a:prstGeom prst="rect">
            <a:avLst/>
          </a:prstGeom>
        </p:spPr>
        <p:txBody>
          <a:bodyPr wrap="square">
            <a:spAutoFit/>
          </a:bodyPr>
          <a:lstStyle/>
          <a:p>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解答：解题思路：先把十六进制数化成二进制数，再把二进制数化成八进制数。</a:t>
            </a:r>
            <a:br>
              <a:rPr lang="en-US" altLang="zh-CN" kern="100" dirty="0">
                <a:latin typeface="Times New Roman" panose="02020603050405020304" pitchFamily="18" charset="0"/>
                <a:ea typeface="宋体" panose="02010600030101010101" pitchFamily="2" charset="-122"/>
              </a:rPr>
            </a:br>
            <a:r>
              <a:rPr lang="en-US" altLang="zh-CN" kern="100" dirty="0">
                <a:latin typeface="Times New Roman" panose="02020603050405020304" pitchFamily="18" charset="0"/>
                <a:ea typeface="宋体" panose="02010600030101010101" pitchFamily="2" charset="-122"/>
              </a:rPr>
              <a:t>(AB)</a:t>
            </a:r>
            <a:r>
              <a:rPr lang="en-US" altLang="zh-CN" kern="100" baseline="-25000" dirty="0">
                <a:latin typeface="Times New Roman" panose="02020603050405020304" pitchFamily="18" charset="0"/>
                <a:ea typeface="宋体" panose="02010600030101010101" pitchFamily="2" charset="-122"/>
              </a:rPr>
              <a:t>16</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kern="100" dirty="0">
                <a:latin typeface="Times New Roman" panose="02020603050405020304" pitchFamily="18" charset="0"/>
                <a:ea typeface="宋体" panose="02010600030101010101" pitchFamily="2" charset="-122"/>
              </a:rPr>
              <a:t>(1010 1011)</a:t>
            </a:r>
            <a:r>
              <a:rPr lang="en-US" altLang="zh-CN" kern="100" baseline="-25000" dirty="0">
                <a:latin typeface="Times New Roman" panose="02020603050405020304" pitchFamily="18" charset="0"/>
                <a:ea typeface="宋体" panose="02010600030101010101" pitchFamily="2" charset="-122"/>
              </a:rPr>
              <a:t>2</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kern="100" dirty="0">
                <a:latin typeface="Times New Roman" panose="02020603050405020304" pitchFamily="18" charset="0"/>
                <a:ea typeface="宋体" panose="02010600030101010101" pitchFamily="2" charset="-122"/>
              </a:rPr>
              <a:t>(10 101 011)</a:t>
            </a:r>
            <a:r>
              <a:rPr lang="en-US" altLang="zh-CN" kern="100" baseline="-25000" dirty="0">
                <a:latin typeface="Times New Roman" panose="02020603050405020304" pitchFamily="18" charset="0"/>
                <a:ea typeface="宋体" panose="02010600030101010101" pitchFamily="2" charset="-122"/>
              </a:rPr>
              <a:t>2</a:t>
            </a:r>
            <a:r>
              <a:rPr lang="en-US" altLang="zh-CN" kern="100" dirty="0">
                <a:latin typeface="Times New Roman" panose="02020603050405020304" pitchFamily="18" charset="0"/>
                <a:ea typeface="宋体" panose="02010600030101010101" pitchFamily="2" charset="-122"/>
              </a:rPr>
              <a:t> </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kern="100" dirty="0">
                <a:latin typeface="Times New Roman" panose="02020603050405020304" pitchFamily="18" charset="0"/>
                <a:ea typeface="宋体" panose="02010600030101010101" pitchFamily="2" charset="-122"/>
              </a:rPr>
              <a:t>(253)</a:t>
            </a:r>
            <a:r>
              <a:rPr lang="en-US" altLang="zh-CN" kern="100" baseline="-25000" dirty="0">
                <a:latin typeface="Times New Roman" panose="02020603050405020304" pitchFamily="18" charset="0"/>
                <a:ea typeface="宋体" panose="02010600030101010101" pitchFamily="2" charset="-122"/>
              </a:rPr>
              <a:t>8</a:t>
            </a:r>
            <a:r>
              <a:rPr lang="en-US" altLang="zh-CN" kern="100" dirty="0">
                <a:latin typeface="Times New Roman" panose="02020603050405020304" pitchFamily="18" charset="0"/>
                <a:ea typeface="宋体" panose="02010600030101010101" pitchFamily="2" charset="-122"/>
              </a:rPr>
              <a:t>   </a:t>
            </a:r>
          </a:p>
          <a:p>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本题正确答案为</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kern="100" dirty="0">
                <a:latin typeface="Times New Roman" panose="02020603050405020304" pitchFamily="18" charset="0"/>
                <a:ea typeface="宋体" panose="02010600030101010101" pitchFamily="2" charset="-122"/>
              </a:rPr>
              <a:t>A</a:t>
            </a:r>
            <a:endParaRPr lang="zh-CN" altLang="en-US" dirty="0"/>
          </a:p>
        </p:txBody>
      </p:sp>
      <p:sp>
        <p:nvSpPr>
          <p:cNvPr id="15" name="矩形 14">
            <a:extLst>
              <a:ext uri="{FF2B5EF4-FFF2-40B4-BE49-F238E27FC236}">
                <a16:creationId xmlns:a16="http://schemas.microsoft.com/office/drawing/2014/main" id="{CD3EEFB1-47A9-4FC2-ACCA-963C687C4A4B}"/>
              </a:ext>
            </a:extLst>
          </p:cNvPr>
          <p:cNvSpPr/>
          <p:nvPr/>
        </p:nvSpPr>
        <p:spPr>
          <a:xfrm>
            <a:off x="1524000" y="3243031"/>
            <a:ext cx="6096000" cy="1477328"/>
          </a:xfrm>
          <a:prstGeom prst="rect">
            <a:avLst/>
          </a:prstGeom>
        </p:spPr>
        <p:txBody>
          <a:bodyPr>
            <a:spAutoFit/>
          </a:bodyPr>
          <a:lstStyle/>
          <a:p>
            <a:r>
              <a:rPr lang="en-US" altLang="zh-CN" kern="100" dirty="0">
                <a:solidFill>
                  <a:srgbClr val="000000"/>
                </a:solidFill>
                <a:latin typeface="Verdana" panose="020B0604030504040204" pitchFamily="34" charset="0"/>
                <a:ea typeface="宋体" panose="02010600030101010101" pitchFamily="2" charset="-122"/>
                <a:cs typeface="Times New Roman" panose="02020603050405020304" pitchFamily="18" charset="0"/>
              </a:rPr>
              <a:t>400</a:t>
            </a:r>
            <a:r>
              <a:rPr lang="zh-CN" altLang="zh-CN" kern="100" dirty="0">
                <a:solidFill>
                  <a:srgbClr val="000000"/>
                </a:solidFill>
                <a:latin typeface="Verdana" panose="020B0604030504040204" pitchFamily="34" charset="0"/>
                <a:ea typeface="宋体" panose="02010600030101010101" pitchFamily="2" charset="-122"/>
                <a:cs typeface="Times New Roman" panose="02020603050405020304" pitchFamily="18" charset="0"/>
              </a:rPr>
              <a:t>个</a:t>
            </a:r>
            <a:r>
              <a:rPr lang="en-US" altLang="zh-CN" kern="100" dirty="0">
                <a:solidFill>
                  <a:srgbClr val="000000"/>
                </a:solidFill>
                <a:latin typeface="Verdana" panose="020B0604030504040204" pitchFamily="34" charset="0"/>
                <a:ea typeface="宋体" panose="02010600030101010101" pitchFamily="2" charset="-122"/>
                <a:cs typeface="Times New Roman" panose="02020603050405020304" pitchFamily="18" charset="0"/>
              </a:rPr>
              <a:t>24</a:t>
            </a:r>
            <a:r>
              <a:rPr lang="en-US" altLang="zh-CN" kern="100" dirty="0">
                <a:solidFill>
                  <a:srgbClr val="000000"/>
                </a:solidFill>
                <a:latin typeface="Times New Roman" panose="02020603050405020304" pitchFamily="18" charset="0"/>
                <a:ea typeface="宋体" panose="02010600030101010101" pitchFamily="2" charset="-122"/>
              </a:rPr>
              <a:t>×</a:t>
            </a:r>
            <a:r>
              <a:rPr lang="en-US" altLang="zh-CN" kern="100" dirty="0">
                <a:solidFill>
                  <a:srgbClr val="000000"/>
                </a:solidFill>
                <a:latin typeface="Verdana" panose="020B0604030504040204" pitchFamily="34" charset="0"/>
                <a:ea typeface="宋体" panose="02010600030101010101" pitchFamily="2" charset="-122"/>
                <a:cs typeface="Times New Roman" panose="02020603050405020304" pitchFamily="18" charset="0"/>
              </a:rPr>
              <a:t>24</a:t>
            </a:r>
            <a:r>
              <a:rPr lang="zh-CN" altLang="zh-CN" kern="100" dirty="0">
                <a:solidFill>
                  <a:srgbClr val="000000"/>
                </a:solidFill>
                <a:latin typeface="Verdana" panose="020B0604030504040204" pitchFamily="34" charset="0"/>
                <a:ea typeface="宋体" panose="02010600030101010101" pitchFamily="2" charset="-122"/>
                <a:cs typeface="Times New Roman" panose="02020603050405020304" pitchFamily="18" charset="0"/>
              </a:rPr>
              <a:t>点阵汉字的字形库存储容量是</a:t>
            </a:r>
            <a:r>
              <a:rPr lang="en-US" altLang="zh-CN" kern="100" dirty="0">
                <a:solidFill>
                  <a:srgbClr val="000000"/>
                </a:solidFill>
                <a:latin typeface="Verdana" panose="020B0604030504040204" pitchFamily="34" charset="0"/>
                <a:ea typeface="宋体" panose="02010600030101010101" pitchFamily="2" charset="-122"/>
                <a:cs typeface="Times New Roman" panose="02020603050405020304" pitchFamily="18" charset="0"/>
              </a:rPr>
              <a:t>____</a:t>
            </a:r>
            <a:r>
              <a:rPr lang="zh-CN" altLang="zh-CN" kern="100" dirty="0">
                <a:solidFill>
                  <a:srgbClr val="000000"/>
                </a:solidFill>
                <a:latin typeface="Verdana" panose="020B0604030504040204" pitchFamily="34" charset="0"/>
                <a:ea typeface="宋体" panose="02010600030101010101" pitchFamily="2" charset="-122"/>
                <a:cs typeface="Times New Roman" panose="02020603050405020304" pitchFamily="18" charset="0"/>
              </a:rPr>
              <a:t>。</a:t>
            </a:r>
            <a:br>
              <a:rPr lang="en-US" altLang="zh-CN" kern="100" dirty="0">
                <a:solidFill>
                  <a:srgbClr val="000000"/>
                </a:solidFill>
                <a:latin typeface="Verdana" panose="020B0604030504040204" pitchFamily="34" charset="0"/>
                <a:ea typeface="宋体" panose="02010600030101010101" pitchFamily="2" charset="-122"/>
                <a:cs typeface="Times New Roman" panose="02020603050405020304" pitchFamily="18" charset="0"/>
              </a:rPr>
            </a:br>
            <a:r>
              <a:rPr lang="en-US" altLang="zh-CN" kern="100" dirty="0">
                <a:solidFill>
                  <a:srgbClr val="000000"/>
                </a:solidFill>
                <a:latin typeface="Verdana" panose="020B0604030504040204" pitchFamily="34" charset="0"/>
                <a:ea typeface="宋体" panose="02010600030101010101" pitchFamily="2" charset="-122"/>
                <a:cs typeface="Times New Roman" panose="02020603050405020304" pitchFamily="18" charset="0"/>
              </a:rPr>
              <a:t>A)28800</a:t>
            </a:r>
            <a:r>
              <a:rPr lang="zh-CN" altLang="zh-CN" kern="100" dirty="0">
                <a:solidFill>
                  <a:srgbClr val="000000"/>
                </a:solidFill>
                <a:latin typeface="Verdana" panose="020B0604030504040204" pitchFamily="34" charset="0"/>
                <a:ea typeface="宋体" panose="02010600030101010101" pitchFamily="2" charset="-122"/>
                <a:cs typeface="Times New Roman" panose="02020603050405020304" pitchFamily="18" charset="0"/>
              </a:rPr>
              <a:t>个字节</a:t>
            </a:r>
            <a:br>
              <a:rPr lang="en-US" altLang="zh-CN" kern="100" dirty="0">
                <a:solidFill>
                  <a:srgbClr val="000000"/>
                </a:solidFill>
                <a:latin typeface="Verdana" panose="020B0604030504040204" pitchFamily="34" charset="0"/>
                <a:ea typeface="宋体" panose="02010600030101010101" pitchFamily="2" charset="-122"/>
                <a:cs typeface="Times New Roman" panose="02020603050405020304" pitchFamily="18" charset="0"/>
              </a:rPr>
            </a:br>
            <a:r>
              <a:rPr lang="en-US" altLang="zh-CN" kern="100" dirty="0">
                <a:solidFill>
                  <a:srgbClr val="000000"/>
                </a:solidFill>
                <a:latin typeface="Verdana" panose="020B0604030504040204" pitchFamily="34" charset="0"/>
                <a:ea typeface="宋体" panose="02010600030101010101" pitchFamily="2" charset="-122"/>
                <a:cs typeface="Times New Roman" panose="02020603050405020304" pitchFamily="18" charset="0"/>
              </a:rPr>
              <a:t>B)0.23604M</a:t>
            </a:r>
            <a:r>
              <a:rPr lang="zh-CN" altLang="zh-CN" kern="100" dirty="0">
                <a:solidFill>
                  <a:srgbClr val="000000"/>
                </a:solidFill>
                <a:latin typeface="Verdana" panose="020B0604030504040204" pitchFamily="34" charset="0"/>
                <a:ea typeface="宋体" panose="02010600030101010101" pitchFamily="2" charset="-122"/>
                <a:cs typeface="Times New Roman" panose="02020603050405020304" pitchFamily="18" charset="0"/>
              </a:rPr>
              <a:t>个二进制位</a:t>
            </a:r>
            <a:br>
              <a:rPr lang="en-US" altLang="zh-CN" kern="100" dirty="0">
                <a:solidFill>
                  <a:srgbClr val="000000"/>
                </a:solidFill>
                <a:latin typeface="Verdana" panose="020B0604030504040204" pitchFamily="34" charset="0"/>
                <a:ea typeface="宋体" panose="02010600030101010101" pitchFamily="2" charset="-122"/>
                <a:cs typeface="Times New Roman" panose="02020603050405020304" pitchFamily="18" charset="0"/>
              </a:rPr>
            </a:br>
            <a:r>
              <a:rPr lang="en-US" altLang="zh-CN" kern="100" dirty="0">
                <a:solidFill>
                  <a:srgbClr val="000000"/>
                </a:solidFill>
                <a:latin typeface="Verdana" panose="020B0604030504040204" pitchFamily="34" charset="0"/>
                <a:ea typeface="宋体" panose="02010600030101010101" pitchFamily="2" charset="-122"/>
                <a:cs typeface="Times New Roman" panose="02020603050405020304" pitchFamily="18" charset="0"/>
              </a:rPr>
              <a:t>C)0.8K</a:t>
            </a:r>
            <a:r>
              <a:rPr lang="zh-CN" altLang="zh-CN" kern="100" dirty="0">
                <a:solidFill>
                  <a:srgbClr val="000000"/>
                </a:solidFill>
                <a:latin typeface="Verdana" panose="020B0604030504040204" pitchFamily="34" charset="0"/>
                <a:ea typeface="宋体" panose="02010600030101010101" pitchFamily="2" charset="-122"/>
                <a:cs typeface="Times New Roman" panose="02020603050405020304" pitchFamily="18" charset="0"/>
              </a:rPr>
              <a:t>个字节</a:t>
            </a:r>
            <a:br>
              <a:rPr lang="en-US" altLang="zh-CN" kern="100" dirty="0">
                <a:solidFill>
                  <a:srgbClr val="000000"/>
                </a:solidFill>
                <a:latin typeface="Verdana" panose="020B0604030504040204" pitchFamily="34" charset="0"/>
                <a:ea typeface="宋体" panose="02010600030101010101" pitchFamily="2" charset="-122"/>
                <a:cs typeface="Times New Roman" panose="02020603050405020304" pitchFamily="18" charset="0"/>
              </a:rPr>
            </a:br>
            <a:r>
              <a:rPr lang="en-US" altLang="zh-CN" kern="100" dirty="0">
                <a:solidFill>
                  <a:srgbClr val="000000"/>
                </a:solidFill>
                <a:latin typeface="Verdana" panose="020B0604030504040204" pitchFamily="34" charset="0"/>
                <a:ea typeface="宋体" panose="02010600030101010101" pitchFamily="2" charset="-122"/>
                <a:cs typeface="Times New Roman" panose="02020603050405020304" pitchFamily="18" charset="0"/>
              </a:rPr>
              <a:t>D)288</a:t>
            </a:r>
            <a:r>
              <a:rPr lang="zh-CN" altLang="zh-CN" kern="100" dirty="0">
                <a:solidFill>
                  <a:srgbClr val="000000"/>
                </a:solidFill>
                <a:latin typeface="Verdana" panose="020B0604030504040204" pitchFamily="34" charset="0"/>
                <a:ea typeface="宋体" panose="02010600030101010101" pitchFamily="2" charset="-122"/>
                <a:cs typeface="Times New Roman" panose="02020603050405020304" pitchFamily="18" charset="0"/>
              </a:rPr>
              <a:t>个二进制位</a:t>
            </a:r>
            <a:endParaRPr lang="zh-CN" altLang="en-US" dirty="0"/>
          </a:p>
        </p:txBody>
      </p:sp>
      <p:sp>
        <p:nvSpPr>
          <p:cNvPr id="17" name="矩形 16">
            <a:extLst>
              <a:ext uri="{FF2B5EF4-FFF2-40B4-BE49-F238E27FC236}">
                <a16:creationId xmlns:a16="http://schemas.microsoft.com/office/drawing/2014/main" id="{CBD007E2-D381-4E7B-9974-50501EB521C8}"/>
              </a:ext>
            </a:extLst>
          </p:cNvPr>
          <p:cNvSpPr/>
          <p:nvPr/>
        </p:nvSpPr>
        <p:spPr>
          <a:xfrm>
            <a:off x="1523999" y="4845367"/>
            <a:ext cx="8810848" cy="1477328"/>
          </a:xfrm>
          <a:prstGeom prst="rect">
            <a:avLst/>
          </a:prstGeom>
        </p:spPr>
        <p:txBody>
          <a:bodyPr wrap="square">
            <a:spAutoFit/>
          </a:bodyPr>
          <a:lstStyle/>
          <a:p>
            <a:r>
              <a:rPr lang="zh-CN" altLang="zh-CN" kern="100" dirty="0">
                <a:solidFill>
                  <a:srgbClr val="000000"/>
                </a:solidFill>
                <a:latin typeface="Verdana" panose="020B0604030504040204" pitchFamily="34" charset="0"/>
                <a:ea typeface="宋体" panose="02010600030101010101" pitchFamily="2" charset="-122"/>
                <a:cs typeface="Times New Roman" panose="02020603050405020304" pitchFamily="18" charset="0"/>
              </a:rPr>
              <a:t>解答：</a:t>
            </a:r>
            <a:r>
              <a:rPr lang="en-US" altLang="zh-CN" kern="100" dirty="0">
                <a:solidFill>
                  <a:srgbClr val="000000"/>
                </a:solidFill>
                <a:latin typeface="Verdana" panose="020B0604030504040204" pitchFamily="34" charset="0"/>
                <a:ea typeface="宋体" panose="02010600030101010101" pitchFamily="2" charset="-122"/>
                <a:cs typeface="Times New Roman" panose="02020603050405020304" pitchFamily="18" charset="0"/>
              </a:rPr>
              <a:t>24</a:t>
            </a:r>
            <a:r>
              <a:rPr lang="en-US" altLang="zh-CN" kern="100" dirty="0">
                <a:solidFill>
                  <a:srgbClr val="000000"/>
                </a:solidFill>
                <a:latin typeface="Times New Roman" panose="02020603050405020304" pitchFamily="18" charset="0"/>
                <a:ea typeface="宋体" panose="02010600030101010101" pitchFamily="2" charset="-122"/>
              </a:rPr>
              <a:t>×</a:t>
            </a:r>
            <a:r>
              <a:rPr lang="en-US" altLang="zh-CN" kern="100" dirty="0">
                <a:solidFill>
                  <a:srgbClr val="000000"/>
                </a:solidFill>
                <a:latin typeface="Verdana" panose="020B0604030504040204" pitchFamily="34" charset="0"/>
                <a:ea typeface="宋体" panose="02010600030101010101" pitchFamily="2" charset="-122"/>
                <a:cs typeface="Times New Roman" panose="02020603050405020304" pitchFamily="18" charset="0"/>
              </a:rPr>
              <a:t>24</a:t>
            </a:r>
            <a:r>
              <a:rPr lang="zh-CN" altLang="zh-CN" kern="100" dirty="0">
                <a:solidFill>
                  <a:srgbClr val="000000"/>
                </a:solidFill>
                <a:latin typeface="Verdana" panose="020B0604030504040204" pitchFamily="34" charset="0"/>
                <a:ea typeface="宋体" panose="02010600030101010101" pitchFamily="2" charset="-122"/>
                <a:cs typeface="Times New Roman" panose="02020603050405020304" pitchFamily="18" charset="0"/>
              </a:rPr>
              <a:t>点阵的一个汉字字模共有</a:t>
            </a:r>
            <a:r>
              <a:rPr lang="en-US" altLang="zh-CN" kern="100" dirty="0">
                <a:solidFill>
                  <a:srgbClr val="000000"/>
                </a:solidFill>
                <a:latin typeface="Verdana" panose="020B0604030504040204" pitchFamily="34" charset="0"/>
                <a:ea typeface="宋体" panose="02010600030101010101" pitchFamily="2" charset="-122"/>
                <a:cs typeface="Times New Roman" panose="02020603050405020304" pitchFamily="18" charset="0"/>
              </a:rPr>
              <a:t>24</a:t>
            </a:r>
            <a:r>
              <a:rPr lang="zh-CN" altLang="zh-CN" kern="100" dirty="0">
                <a:solidFill>
                  <a:srgbClr val="000000"/>
                </a:solidFill>
                <a:latin typeface="Verdana" panose="020B0604030504040204" pitchFamily="34" charset="0"/>
                <a:ea typeface="宋体" panose="02010600030101010101" pitchFamily="2" charset="-122"/>
                <a:cs typeface="Times New Roman" panose="02020603050405020304" pitchFamily="18" charset="0"/>
              </a:rPr>
              <a:t>行；每行有</a:t>
            </a:r>
            <a:r>
              <a:rPr lang="en-US" altLang="zh-CN" kern="100" dirty="0">
                <a:solidFill>
                  <a:srgbClr val="000000"/>
                </a:solidFill>
                <a:latin typeface="Verdana" panose="020B0604030504040204" pitchFamily="34" charset="0"/>
                <a:ea typeface="宋体" panose="02010600030101010101" pitchFamily="2" charset="-122"/>
                <a:cs typeface="Times New Roman" panose="02020603050405020304" pitchFamily="18" charset="0"/>
              </a:rPr>
              <a:t>24</a:t>
            </a:r>
            <a:r>
              <a:rPr lang="zh-CN" altLang="zh-CN" kern="100" dirty="0">
                <a:solidFill>
                  <a:srgbClr val="000000"/>
                </a:solidFill>
                <a:latin typeface="Verdana" panose="020B0604030504040204" pitchFamily="34" charset="0"/>
                <a:ea typeface="宋体" panose="02010600030101010101" pitchFamily="2" charset="-122"/>
                <a:cs typeface="Times New Roman" panose="02020603050405020304" pitchFamily="18" charset="0"/>
              </a:rPr>
              <a:t>列，占</a:t>
            </a:r>
            <a:r>
              <a:rPr lang="en-US" altLang="zh-CN" kern="100" dirty="0">
                <a:solidFill>
                  <a:srgbClr val="000000"/>
                </a:solidFill>
                <a:latin typeface="Verdana" panose="020B0604030504040204" pitchFamily="34" charset="0"/>
                <a:ea typeface="宋体" panose="02010600030101010101" pitchFamily="2" charset="-122"/>
                <a:cs typeface="Times New Roman" panose="02020603050405020304" pitchFamily="18" charset="0"/>
              </a:rPr>
              <a:t>24</a:t>
            </a:r>
            <a:r>
              <a:rPr lang="zh-CN" altLang="zh-CN" kern="100" dirty="0">
                <a:solidFill>
                  <a:srgbClr val="000000"/>
                </a:solidFill>
                <a:latin typeface="Verdana" panose="020B0604030504040204" pitchFamily="34" charset="0"/>
                <a:ea typeface="宋体" panose="02010600030101010101" pitchFamily="2" charset="-122"/>
                <a:cs typeface="Times New Roman" panose="02020603050405020304" pitchFamily="18" charset="0"/>
              </a:rPr>
              <a:t>个二进制位，即</a:t>
            </a:r>
            <a:r>
              <a:rPr lang="en-US" altLang="zh-CN" kern="100" dirty="0">
                <a:solidFill>
                  <a:srgbClr val="000000"/>
                </a:solidFill>
                <a:latin typeface="Verdana" panose="020B0604030504040204" pitchFamily="34" charset="0"/>
                <a:ea typeface="宋体" panose="02010600030101010101" pitchFamily="2" charset="-122"/>
                <a:cs typeface="Times New Roman" panose="02020603050405020304" pitchFamily="18" charset="0"/>
              </a:rPr>
              <a:t>3</a:t>
            </a:r>
            <a:r>
              <a:rPr lang="zh-CN" altLang="zh-CN" kern="100" dirty="0">
                <a:solidFill>
                  <a:srgbClr val="000000"/>
                </a:solidFill>
                <a:latin typeface="Verdana" panose="020B0604030504040204" pitchFamily="34" charset="0"/>
                <a:ea typeface="宋体" panose="02010600030101010101" pitchFamily="2" charset="-122"/>
                <a:cs typeface="Times New Roman" panose="02020603050405020304" pitchFamily="18" charset="0"/>
              </a:rPr>
              <a:t>个字节。因此，</a:t>
            </a:r>
            <a:r>
              <a:rPr lang="en-US" altLang="zh-CN" kern="100" dirty="0">
                <a:solidFill>
                  <a:srgbClr val="000000"/>
                </a:solidFill>
                <a:latin typeface="Verdana" panose="020B0604030504040204" pitchFamily="34" charset="0"/>
                <a:ea typeface="宋体" panose="02010600030101010101" pitchFamily="2" charset="-122"/>
                <a:cs typeface="Times New Roman" panose="02020603050405020304" pitchFamily="18" charset="0"/>
              </a:rPr>
              <a:t>24</a:t>
            </a:r>
            <a:r>
              <a:rPr lang="en-US" altLang="zh-CN" kern="100" dirty="0">
                <a:solidFill>
                  <a:srgbClr val="000000"/>
                </a:solidFill>
                <a:latin typeface="Times New Roman" panose="02020603050405020304" pitchFamily="18" charset="0"/>
                <a:ea typeface="宋体" panose="02010600030101010101" pitchFamily="2" charset="-122"/>
              </a:rPr>
              <a:t>×</a:t>
            </a:r>
            <a:r>
              <a:rPr lang="en-US" altLang="zh-CN" kern="100" dirty="0">
                <a:solidFill>
                  <a:srgbClr val="000000"/>
                </a:solidFill>
                <a:latin typeface="Verdana" panose="020B0604030504040204" pitchFamily="34" charset="0"/>
                <a:ea typeface="宋体" panose="02010600030101010101" pitchFamily="2" charset="-122"/>
                <a:cs typeface="Times New Roman" panose="02020603050405020304" pitchFamily="18" charset="0"/>
              </a:rPr>
              <a:t>24</a:t>
            </a:r>
            <a:r>
              <a:rPr lang="zh-CN" altLang="zh-CN" kern="100" dirty="0">
                <a:solidFill>
                  <a:srgbClr val="000000"/>
                </a:solidFill>
                <a:latin typeface="Verdana" panose="020B0604030504040204" pitchFamily="34" charset="0"/>
                <a:ea typeface="宋体" panose="02010600030101010101" pitchFamily="2" charset="-122"/>
                <a:cs typeface="Times New Roman" panose="02020603050405020304" pitchFamily="18" charset="0"/>
              </a:rPr>
              <a:t>点阵的一个汉字字模占</a:t>
            </a:r>
            <a:r>
              <a:rPr lang="en-US" altLang="zh-CN" kern="100" dirty="0">
                <a:solidFill>
                  <a:srgbClr val="000000"/>
                </a:solidFill>
                <a:latin typeface="Verdana" panose="020B0604030504040204" pitchFamily="34" charset="0"/>
                <a:ea typeface="宋体" panose="02010600030101010101" pitchFamily="2" charset="-122"/>
                <a:cs typeface="Times New Roman" panose="02020603050405020304" pitchFamily="18" charset="0"/>
              </a:rPr>
              <a:t>24</a:t>
            </a:r>
            <a:r>
              <a:rPr lang="en-US" altLang="zh-CN" kern="100" dirty="0">
                <a:solidFill>
                  <a:srgbClr val="000000"/>
                </a:solidFill>
                <a:latin typeface="Times New Roman" panose="02020603050405020304" pitchFamily="18" charset="0"/>
                <a:ea typeface="宋体" panose="02010600030101010101" pitchFamily="2" charset="-122"/>
              </a:rPr>
              <a:t>×</a:t>
            </a:r>
            <a:r>
              <a:rPr lang="en-US" altLang="zh-CN" kern="100" dirty="0">
                <a:solidFill>
                  <a:srgbClr val="000000"/>
                </a:solidFill>
                <a:latin typeface="Verdana" panose="020B0604030504040204" pitchFamily="34" charset="0"/>
                <a:ea typeface="宋体" panose="02010600030101010101" pitchFamily="2" charset="-122"/>
                <a:cs typeface="Times New Roman" panose="02020603050405020304" pitchFamily="18" charset="0"/>
              </a:rPr>
              <a:t>3</a:t>
            </a:r>
            <a:r>
              <a:rPr lang="zh-CN" altLang="zh-CN" kern="100" dirty="0">
                <a:solidFill>
                  <a:srgbClr val="000000"/>
                </a:solidFill>
                <a:latin typeface="Verdana" panose="020B0604030504040204" pitchFamily="34" charset="0"/>
                <a:ea typeface="宋体" panose="02010600030101010101" pitchFamily="2" charset="-122"/>
                <a:cs typeface="Times New Roman" panose="02020603050405020304" pitchFamily="18" charset="0"/>
              </a:rPr>
              <a:t>＝</a:t>
            </a:r>
            <a:r>
              <a:rPr lang="en-US" altLang="zh-CN" kern="100" dirty="0">
                <a:solidFill>
                  <a:srgbClr val="000000"/>
                </a:solidFill>
                <a:latin typeface="Verdana" panose="020B0604030504040204" pitchFamily="34" charset="0"/>
                <a:ea typeface="宋体" panose="02010600030101010101" pitchFamily="2" charset="-122"/>
                <a:cs typeface="Times New Roman" panose="02020603050405020304" pitchFamily="18" charset="0"/>
              </a:rPr>
              <a:t>72</a:t>
            </a:r>
            <a:r>
              <a:rPr lang="zh-CN" altLang="zh-CN" kern="100" dirty="0">
                <a:solidFill>
                  <a:srgbClr val="000000"/>
                </a:solidFill>
                <a:latin typeface="Verdana" panose="020B0604030504040204" pitchFamily="34" charset="0"/>
                <a:ea typeface="宋体" panose="02010600030101010101" pitchFamily="2" charset="-122"/>
                <a:cs typeface="Times New Roman" panose="02020603050405020304" pitchFamily="18" charset="0"/>
              </a:rPr>
              <a:t>个字节，</a:t>
            </a:r>
            <a:r>
              <a:rPr lang="en-US" altLang="zh-CN" kern="100" dirty="0">
                <a:solidFill>
                  <a:srgbClr val="000000"/>
                </a:solidFill>
                <a:latin typeface="Verdana" panose="020B0604030504040204" pitchFamily="34" charset="0"/>
                <a:ea typeface="宋体" panose="02010600030101010101" pitchFamily="2" charset="-122"/>
                <a:cs typeface="Times New Roman" panose="02020603050405020304" pitchFamily="18" charset="0"/>
              </a:rPr>
              <a:t>400</a:t>
            </a:r>
            <a:r>
              <a:rPr lang="zh-CN" altLang="zh-CN" kern="100" dirty="0">
                <a:solidFill>
                  <a:srgbClr val="000000"/>
                </a:solidFill>
                <a:latin typeface="Verdana" panose="020B0604030504040204" pitchFamily="34" charset="0"/>
                <a:ea typeface="宋体" panose="02010600030101010101" pitchFamily="2" charset="-122"/>
                <a:cs typeface="Times New Roman" panose="02020603050405020304" pitchFamily="18" charset="0"/>
              </a:rPr>
              <a:t>个汉字共占</a:t>
            </a:r>
            <a:r>
              <a:rPr lang="en-US" altLang="zh-CN" kern="100" dirty="0">
                <a:solidFill>
                  <a:srgbClr val="000000"/>
                </a:solidFill>
                <a:latin typeface="Verdana" panose="020B0604030504040204" pitchFamily="34" charset="0"/>
                <a:ea typeface="宋体" panose="02010600030101010101" pitchFamily="2" charset="-122"/>
                <a:cs typeface="Times New Roman" panose="02020603050405020304" pitchFamily="18" charset="0"/>
              </a:rPr>
              <a:t>72</a:t>
            </a:r>
            <a:r>
              <a:rPr lang="en-US" altLang="zh-CN" kern="100" dirty="0">
                <a:solidFill>
                  <a:srgbClr val="000000"/>
                </a:solidFill>
                <a:latin typeface="Times New Roman" panose="02020603050405020304" pitchFamily="18" charset="0"/>
                <a:ea typeface="宋体" panose="02010600030101010101" pitchFamily="2" charset="-122"/>
              </a:rPr>
              <a:t>×</a:t>
            </a:r>
            <a:r>
              <a:rPr lang="en-US" altLang="zh-CN" kern="100" dirty="0">
                <a:solidFill>
                  <a:srgbClr val="000000"/>
                </a:solidFill>
                <a:latin typeface="Verdana" panose="020B0604030504040204" pitchFamily="34" charset="0"/>
                <a:ea typeface="宋体" panose="02010600030101010101" pitchFamily="2" charset="-122"/>
                <a:cs typeface="Times New Roman" panose="02020603050405020304" pitchFamily="18" charset="0"/>
              </a:rPr>
              <a:t>400</a:t>
            </a:r>
            <a:r>
              <a:rPr lang="zh-CN" altLang="zh-CN" kern="100" dirty="0">
                <a:solidFill>
                  <a:srgbClr val="000000"/>
                </a:solidFill>
                <a:latin typeface="Verdana" panose="020B0604030504040204" pitchFamily="34" charset="0"/>
                <a:ea typeface="宋体" panose="02010600030101010101" pitchFamily="2" charset="-122"/>
                <a:cs typeface="Times New Roman" panose="02020603050405020304" pitchFamily="18" charset="0"/>
              </a:rPr>
              <a:t>＝</a:t>
            </a:r>
            <a:r>
              <a:rPr lang="en-US" altLang="zh-CN" kern="100" dirty="0">
                <a:solidFill>
                  <a:srgbClr val="000000"/>
                </a:solidFill>
                <a:latin typeface="Verdana" panose="020B0604030504040204" pitchFamily="34" charset="0"/>
                <a:ea typeface="宋体" panose="02010600030101010101" pitchFamily="2" charset="-122"/>
                <a:cs typeface="Times New Roman" panose="02020603050405020304" pitchFamily="18" charset="0"/>
              </a:rPr>
              <a:t>28800</a:t>
            </a:r>
            <a:r>
              <a:rPr lang="zh-CN" altLang="zh-CN" kern="100" dirty="0">
                <a:solidFill>
                  <a:srgbClr val="000000"/>
                </a:solidFill>
                <a:latin typeface="Verdana" panose="020B0604030504040204" pitchFamily="34" charset="0"/>
                <a:ea typeface="宋体" panose="02010600030101010101" pitchFamily="2" charset="-122"/>
                <a:cs typeface="Times New Roman" panose="02020603050405020304" pitchFamily="18" charset="0"/>
              </a:rPr>
              <a:t>个字节。</a:t>
            </a:r>
            <a:endParaRPr lang="en-US" altLang="zh-CN" kern="100" dirty="0">
              <a:solidFill>
                <a:srgbClr val="000000"/>
              </a:solidFill>
              <a:latin typeface="Verdana" panose="020B0604030504040204" pitchFamily="34" charset="0"/>
              <a:ea typeface="宋体" panose="02010600030101010101" pitchFamily="2" charset="-122"/>
              <a:cs typeface="Times New Roman" panose="02020603050405020304" pitchFamily="18" charset="0"/>
            </a:endParaRPr>
          </a:p>
          <a:p>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本题正确答案为</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kern="100" dirty="0">
                <a:latin typeface="Times New Roman" panose="02020603050405020304" pitchFamily="18" charset="0"/>
                <a:ea typeface="宋体" panose="02010600030101010101" pitchFamily="2" charset="-122"/>
              </a:rPr>
              <a:t>A</a:t>
            </a:r>
            <a:endParaRPr lang="zh-CN" altLang="en-US" dirty="0"/>
          </a:p>
          <a:p>
            <a:endParaRPr lang="zh-CN" altLang="en-US" dirty="0"/>
          </a:p>
        </p:txBody>
      </p:sp>
    </p:spTree>
    <p:extLst>
      <p:ext uri="{BB962C8B-B14F-4D97-AF65-F5344CB8AC3E}">
        <p14:creationId xmlns:p14="http://schemas.microsoft.com/office/powerpoint/2010/main" val="3636379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600" dirty="0">
                <a:solidFill>
                  <a:prstClr val="black"/>
                </a:solidFill>
                <a:latin typeface="方正公文黑体" panose="02000500000000000000" pitchFamily="2" charset="-122"/>
                <a:ea typeface="方正公文黑体" panose="02000500000000000000" pitchFamily="2" charset="-122"/>
              </a:rPr>
              <a:t>第二章例题</a:t>
            </a:r>
            <a:endParaRPr kumimoji="0" lang="en-US" altLang="zh-CN"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endParaRPr>
          </a:p>
        </p:txBody>
      </p:sp>
      <p:pic>
        <p:nvPicPr>
          <p:cNvPr id="8" name="图片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19441" y="6219825"/>
            <a:ext cx="536892" cy="542925"/>
          </a:xfrm>
          <a:prstGeom prst="rect">
            <a:avLst/>
          </a:prstGeom>
        </p:spPr>
      </p:pic>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4" name="矩形 3">
            <a:extLst>
              <a:ext uri="{FF2B5EF4-FFF2-40B4-BE49-F238E27FC236}">
                <a16:creationId xmlns:a16="http://schemas.microsoft.com/office/drawing/2014/main" id="{0B7107AF-D32F-4819-B089-B61554F0060D}"/>
              </a:ext>
            </a:extLst>
          </p:cNvPr>
          <p:cNvSpPr/>
          <p:nvPr/>
        </p:nvSpPr>
        <p:spPr>
          <a:xfrm>
            <a:off x="1524000" y="1345668"/>
            <a:ext cx="6096000" cy="646331"/>
          </a:xfrm>
          <a:prstGeom prst="rect">
            <a:avLst/>
          </a:prstGeom>
        </p:spPr>
        <p:txBody>
          <a:bodyPr>
            <a:spAutoFit/>
          </a:bodyPr>
          <a:lstStyle/>
          <a:p>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反映计算机存储容量的基本单位是</a:t>
            </a:r>
            <a:r>
              <a:rPr lang="en-US" altLang="zh-CN" kern="100" dirty="0">
                <a:latin typeface="Times New Roman" panose="02020603050405020304" pitchFamily="18" charset="0"/>
                <a:ea typeface="宋体" panose="02010600030101010101" pitchFamily="2" charset="-122"/>
              </a:rPr>
              <a:t>____</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a:t>
            </a:r>
            <a:br>
              <a:rPr lang="en-US" altLang="zh-CN" kern="100" dirty="0">
                <a:latin typeface="Times New Roman" panose="02020603050405020304" pitchFamily="18" charset="0"/>
                <a:ea typeface="宋体" panose="02010600030101010101" pitchFamily="2" charset="-122"/>
              </a:rPr>
            </a:br>
            <a:r>
              <a:rPr lang="en-US" altLang="zh-CN" kern="100" dirty="0">
                <a:latin typeface="Times New Roman" panose="02020603050405020304" pitchFamily="18" charset="0"/>
                <a:ea typeface="宋体" panose="02010600030101010101" pitchFamily="2" charset="-122"/>
              </a:rPr>
              <a:t>A)</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二进制位</a:t>
            </a:r>
            <a:r>
              <a:rPr lang="en-US" altLang="zh-CN" kern="100" dirty="0">
                <a:latin typeface="Times New Roman" panose="02020603050405020304" pitchFamily="18" charset="0"/>
                <a:ea typeface="宋体" panose="02010600030101010101" pitchFamily="2" charset="-122"/>
              </a:rPr>
              <a:t>      B)</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字节</a:t>
            </a:r>
            <a:r>
              <a:rPr lang="en-US" altLang="zh-CN" kern="100" dirty="0">
                <a:latin typeface="Times New Roman" panose="02020603050405020304" pitchFamily="18" charset="0"/>
                <a:ea typeface="宋体" panose="02010600030101010101" pitchFamily="2" charset="-122"/>
              </a:rPr>
              <a:t>         C)</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字</a:t>
            </a:r>
            <a:r>
              <a:rPr lang="en-US" altLang="zh-CN" kern="100" dirty="0">
                <a:latin typeface="Times New Roman" panose="02020603050405020304" pitchFamily="18" charset="0"/>
                <a:ea typeface="宋体" panose="02010600030101010101" pitchFamily="2" charset="-122"/>
              </a:rPr>
              <a:t>         D)</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双字</a:t>
            </a:r>
            <a:endParaRPr lang="zh-CN" altLang="en-US" dirty="0"/>
          </a:p>
        </p:txBody>
      </p:sp>
      <p:sp>
        <p:nvSpPr>
          <p:cNvPr id="11" name="矩形 10">
            <a:extLst>
              <a:ext uri="{FF2B5EF4-FFF2-40B4-BE49-F238E27FC236}">
                <a16:creationId xmlns:a16="http://schemas.microsoft.com/office/drawing/2014/main" id="{1DC0D737-969D-4310-B5BC-5A1FD8F91CE6}"/>
              </a:ext>
            </a:extLst>
          </p:cNvPr>
          <p:cNvSpPr/>
          <p:nvPr/>
        </p:nvSpPr>
        <p:spPr>
          <a:xfrm>
            <a:off x="1524000" y="2161680"/>
            <a:ext cx="9079684" cy="923330"/>
          </a:xfrm>
          <a:prstGeom prst="rect">
            <a:avLst/>
          </a:prstGeom>
        </p:spPr>
        <p:txBody>
          <a:bodyPr wrap="square">
            <a:spAutoFit/>
          </a:bodyPr>
          <a:lstStyle/>
          <a:p>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解答：存储容量大小是计算机的基本技术指标之一。通常不是以二进制位、字或双字来表示，因为这些表示不规范，一般约定以字节作为反映存储容量大小的基本单位。</a:t>
            </a:r>
            <a:br>
              <a:rPr lang="en-US" altLang="zh-CN" kern="100" dirty="0">
                <a:latin typeface="Times New Roman" panose="02020603050405020304" pitchFamily="18" charset="0"/>
                <a:ea typeface="宋体" panose="02010600030101010101" pitchFamily="2" charset="-122"/>
              </a:rPr>
            </a:b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本题正确答案为</a:t>
            </a:r>
            <a:r>
              <a:rPr lang="en-US" altLang="zh-CN" kern="100" dirty="0">
                <a:latin typeface="Times New Roman" panose="02020603050405020304" pitchFamily="18" charset="0"/>
                <a:ea typeface="宋体" panose="02010600030101010101" pitchFamily="2" charset="-122"/>
              </a:rPr>
              <a:t>B</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en-US" dirty="0"/>
          </a:p>
        </p:txBody>
      </p:sp>
      <p:sp>
        <p:nvSpPr>
          <p:cNvPr id="13" name="矩形 12">
            <a:extLst>
              <a:ext uri="{FF2B5EF4-FFF2-40B4-BE49-F238E27FC236}">
                <a16:creationId xmlns:a16="http://schemas.microsoft.com/office/drawing/2014/main" id="{A7310A5C-C95C-45B0-A018-00F77715FFDD}"/>
              </a:ext>
            </a:extLst>
          </p:cNvPr>
          <p:cNvSpPr/>
          <p:nvPr/>
        </p:nvSpPr>
        <p:spPr>
          <a:xfrm>
            <a:off x="1524000" y="3417846"/>
            <a:ext cx="4750018" cy="369332"/>
          </a:xfrm>
          <a:prstGeom prst="rect">
            <a:avLst/>
          </a:prstGeom>
        </p:spPr>
        <p:txBody>
          <a:bodyPr wrap="none">
            <a:spAutoFit/>
          </a:bodyPr>
          <a:lstStyle/>
          <a:p>
            <a:pPr>
              <a:spcAft>
                <a:spcPts val="600"/>
              </a:spcAft>
              <a:defRPr/>
            </a:pPr>
            <a:r>
              <a:rPr lang="zh-CN" altLang="en-US" dirty="0"/>
              <a:t>已知一汉字的国标码是</a:t>
            </a:r>
            <a:r>
              <a:rPr lang="en-US" altLang="zh-CN" dirty="0"/>
              <a:t>5E38H</a:t>
            </a:r>
            <a:r>
              <a:rPr lang="zh-CN" altLang="en-US" dirty="0"/>
              <a:t>，则其机内码是</a:t>
            </a:r>
            <a:endParaRPr lang="en-US" altLang="zh-CN" dirty="0">
              <a:solidFill>
                <a:srgbClr val="FF0000"/>
              </a:solidFill>
            </a:endParaRPr>
          </a:p>
        </p:txBody>
      </p:sp>
      <p:sp>
        <p:nvSpPr>
          <p:cNvPr id="16" name="矩形 15">
            <a:extLst>
              <a:ext uri="{FF2B5EF4-FFF2-40B4-BE49-F238E27FC236}">
                <a16:creationId xmlns:a16="http://schemas.microsoft.com/office/drawing/2014/main" id="{3FA826A1-6DF3-4576-A997-75AEDA03264C}"/>
              </a:ext>
            </a:extLst>
          </p:cNvPr>
          <p:cNvSpPr/>
          <p:nvPr/>
        </p:nvSpPr>
        <p:spPr>
          <a:xfrm>
            <a:off x="1524000" y="4657657"/>
            <a:ext cx="8316967" cy="369332"/>
          </a:xfrm>
          <a:prstGeom prst="rect">
            <a:avLst/>
          </a:prstGeom>
        </p:spPr>
        <p:txBody>
          <a:bodyPr wrap="square">
            <a:spAutoFit/>
          </a:bodyPr>
          <a:lstStyle/>
          <a:p>
            <a:pPr>
              <a:spcAft>
                <a:spcPts val="600"/>
              </a:spcAft>
              <a:defRPr/>
            </a:pPr>
            <a:r>
              <a:rPr lang="zh-CN" altLang="en-US" dirty="0"/>
              <a:t>大写字母“</a:t>
            </a:r>
            <a:r>
              <a:rPr lang="en-US" altLang="zh-CN" dirty="0"/>
              <a:t>F”</a:t>
            </a:r>
            <a:r>
              <a:rPr lang="zh-CN" altLang="en-US" dirty="0"/>
              <a:t>的</a:t>
            </a:r>
            <a:r>
              <a:rPr lang="en-US" altLang="zh-CN" dirty="0"/>
              <a:t>ASCII</a:t>
            </a:r>
            <a:r>
              <a:rPr lang="zh-CN" altLang="en-US" dirty="0"/>
              <a:t>码是“</a:t>
            </a:r>
            <a:r>
              <a:rPr lang="en-US" altLang="zh-CN" dirty="0"/>
              <a:t>01000110”</a:t>
            </a:r>
            <a:r>
              <a:rPr lang="zh-CN" altLang="en-US" dirty="0"/>
              <a:t>，则大写字母“</a:t>
            </a:r>
            <a:r>
              <a:rPr lang="en-US" altLang="zh-CN" dirty="0"/>
              <a:t>K”</a:t>
            </a:r>
            <a:r>
              <a:rPr lang="zh-CN" altLang="en-US" dirty="0"/>
              <a:t>的</a:t>
            </a:r>
            <a:r>
              <a:rPr lang="en-US" altLang="zh-CN" dirty="0"/>
              <a:t>ASCII</a:t>
            </a:r>
            <a:r>
              <a:rPr lang="zh-CN" altLang="en-US" dirty="0"/>
              <a:t>码是</a:t>
            </a:r>
            <a:endParaRPr lang="en-US" altLang="zh-CN" dirty="0">
              <a:solidFill>
                <a:srgbClr val="FF0000"/>
              </a:solidFill>
              <a:latin typeface="Arial" panose="020B0604020202020204" pitchFamily="34" charset="0"/>
              <a:ea typeface="宋体" panose="02010600030101010101" pitchFamily="2" charset="-122"/>
            </a:endParaRPr>
          </a:p>
        </p:txBody>
      </p:sp>
      <p:sp>
        <p:nvSpPr>
          <p:cNvPr id="12" name="矩形 11">
            <a:extLst>
              <a:ext uri="{FF2B5EF4-FFF2-40B4-BE49-F238E27FC236}">
                <a16:creationId xmlns:a16="http://schemas.microsoft.com/office/drawing/2014/main" id="{CF2E7DE2-517D-42A4-8E8E-9BAF0124F57C}"/>
              </a:ext>
            </a:extLst>
          </p:cNvPr>
          <p:cNvSpPr/>
          <p:nvPr/>
        </p:nvSpPr>
        <p:spPr>
          <a:xfrm>
            <a:off x="1606846" y="5160972"/>
            <a:ext cx="8810848" cy="646331"/>
          </a:xfrm>
          <a:prstGeom prst="rect">
            <a:avLst/>
          </a:prstGeom>
        </p:spPr>
        <p:txBody>
          <a:bodyPr wrap="square">
            <a:spAutoFit/>
          </a:bodyPr>
          <a:lstStyle/>
          <a:p>
            <a:r>
              <a:rPr lang="zh-CN" altLang="en-US" kern="100" dirty="0">
                <a:solidFill>
                  <a:srgbClr val="000000"/>
                </a:solidFill>
                <a:latin typeface="Verdana" panose="020B0604030504040204" pitchFamily="34" charset="0"/>
                <a:ea typeface="宋体" panose="02010600030101010101" pitchFamily="2" charset="-122"/>
                <a:cs typeface="Times New Roman" panose="02020603050405020304" pitchFamily="18" charset="0"/>
              </a:rPr>
              <a:t>解答：</a:t>
            </a:r>
            <a:r>
              <a:rPr lang="en-US" altLang="zh-CN" kern="100" dirty="0">
                <a:solidFill>
                  <a:srgbClr val="000000"/>
                </a:solidFill>
                <a:latin typeface="Verdana" panose="020B0604030504040204" pitchFamily="34" charset="0"/>
                <a:ea typeface="宋体" panose="02010600030101010101" pitchFamily="2" charset="-122"/>
                <a:cs typeface="Times New Roman" panose="02020603050405020304" pitchFamily="18" charset="0"/>
              </a:rPr>
              <a:t>ASCII </a:t>
            </a:r>
            <a:r>
              <a:rPr lang="zh-CN" altLang="en-US" kern="100" dirty="0">
                <a:solidFill>
                  <a:srgbClr val="000000"/>
                </a:solidFill>
                <a:latin typeface="Verdana" panose="020B0604030504040204" pitchFamily="34" charset="0"/>
                <a:ea typeface="宋体" panose="02010600030101010101" pitchFamily="2" charset="-122"/>
                <a:cs typeface="Times New Roman" panose="02020603050405020304" pitchFamily="18" charset="0"/>
              </a:rPr>
              <a:t>表中同类字符的顺序递增，根据字母表</a:t>
            </a:r>
            <a:r>
              <a:rPr lang="en-US" altLang="zh-CN" kern="100" dirty="0">
                <a:solidFill>
                  <a:srgbClr val="000000"/>
                </a:solidFill>
                <a:latin typeface="Verdana" panose="020B0604030504040204" pitchFamily="34" charset="0"/>
                <a:ea typeface="宋体" panose="02010600030101010101" pitchFamily="2" charset="-122"/>
                <a:cs typeface="Times New Roman" panose="02020603050405020304" pitchFamily="18" charset="0"/>
              </a:rPr>
              <a:t>F G H I J K</a:t>
            </a:r>
            <a:r>
              <a:rPr lang="zh-CN" altLang="en-US" kern="100" dirty="0">
                <a:solidFill>
                  <a:srgbClr val="000000"/>
                </a:solidFill>
                <a:latin typeface="Verdana" panose="020B0604030504040204" pitchFamily="34" charset="0"/>
                <a:ea typeface="宋体" panose="02010600030101010101" pitchFamily="2" charset="-122"/>
                <a:cs typeface="Times New Roman" panose="02020603050405020304" pitchFamily="18" charset="0"/>
              </a:rPr>
              <a:t>。可以推断出 </a:t>
            </a:r>
            <a:r>
              <a:rPr lang="en-US" altLang="zh-CN" kern="100" dirty="0">
                <a:solidFill>
                  <a:srgbClr val="000000"/>
                </a:solidFill>
                <a:latin typeface="Verdana" panose="020B0604030504040204" pitchFamily="34" charset="0"/>
                <a:ea typeface="宋体" panose="02010600030101010101" pitchFamily="2" charset="-122"/>
                <a:cs typeface="Times New Roman" panose="02020603050405020304" pitchFamily="18" charset="0"/>
              </a:rPr>
              <a:t>K </a:t>
            </a:r>
            <a:r>
              <a:rPr lang="en-US" altLang="zh-CN" dirty="0"/>
              <a:t>ASCII </a:t>
            </a:r>
            <a:r>
              <a:rPr lang="zh-CN" altLang="en-US" dirty="0"/>
              <a:t>码是 </a:t>
            </a:r>
            <a:r>
              <a:rPr lang="en-US" altLang="zh-CN" dirty="0">
                <a:latin typeface="Arial" panose="020B0604020202020204" pitchFamily="34" charset="0"/>
                <a:ea typeface="宋体" panose="02010600030101010101" pitchFamily="2" charset="-122"/>
              </a:rPr>
              <a:t>01001011</a:t>
            </a:r>
            <a:r>
              <a:rPr lang="zh-CN" altLang="en-US" kern="100" dirty="0">
                <a:solidFill>
                  <a:srgbClr val="000000"/>
                </a:solidFill>
                <a:latin typeface="Verdana" panose="020B0604030504040204" pitchFamily="34" charset="0"/>
                <a:ea typeface="宋体" panose="02010600030101010101" pitchFamily="2" charset="-122"/>
                <a:cs typeface="Times New Roman" panose="02020603050405020304" pitchFamily="18" charset="0"/>
              </a:rPr>
              <a:t> </a:t>
            </a:r>
            <a:endParaRPr lang="en-US" altLang="zh-CN" kern="100" dirty="0">
              <a:solidFill>
                <a:srgbClr val="000000"/>
              </a:solidFill>
              <a:latin typeface="Verdana" panose="020B0604030504040204" pitchFamily="34" charset="0"/>
              <a:ea typeface="宋体" panose="02010600030101010101" pitchFamily="2" charset="-122"/>
              <a:cs typeface="Times New Roman" panose="02020603050405020304" pitchFamily="18" charset="0"/>
            </a:endParaRPr>
          </a:p>
        </p:txBody>
      </p:sp>
      <p:sp>
        <p:nvSpPr>
          <p:cNvPr id="3" name="矩形 2">
            <a:extLst>
              <a:ext uri="{FF2B5EF4-FFF2-40B4-BE49-F238E27FC236}">
                <a16:creationId xmlns:a16="http://schemas.microsoft.com/office/drawing/2014/main" id="{5A555A59-92F7-457A-A763-B0412F3781B6}"/>
              </a:ext>
            </a:extLst>
          </p:cNvPr>
          <p:cNvSpPr/>
          <p:nvPr/>
        </p:nvSpPr>
        <p:spPr>
          <a:xfrm>
            <a:off x="1524000" y="3814969"/>
            <a:ext cx="6096000" cy="646331"/>
          </a:xfrm>
          <a:prstGeom prst="rect">
            <a:avLst/>
          </a:prstGeom>
        </p:spPr>
        <p:txBody>
          <a:bodyPr>
            <a:spAutoFit/>
          </a:bodyPr>
          <a:lstStyle/>
          <a:p>
            <a:pPr>
              <a:defRPr/>
            </a:pPr>
            <a:r>
              <a:rPr kumimoji="1" lang="zh-CN" altLang="en-US" b="1" dirty="0">
                <a:solidFill>
                  <a:srgbClr val="A50021"/>
                </a:solidFill>
                <a:latin typeface="华文楷体" pitchFamily="2" charset="-122"/>
                <a:ea typeface="华文楷体" pitchFamily="2" charset="-122"/>
              </a:rPr>
              <a:t>三种码之间关系：</a:t>
            </a:r>
          </a:p>
          <a:p>
            <a:pPr>
              <a:defRPr/>
            </a:pPr>
            <a:r>
              <a:rPr kumimoji="1" lang="zh-CN" altLang="en-US" b="1" dirty="0">
                <a:solidFill>
                  <a:srgbClr val="003366"/>
                </a:solidFill>
                <a:latin typeface="华文楷体" pitchFamily="2" charset="-122"/>
                <a:ea typeface="华文楷体" pitchFamily="2" charset="-122"/>
              </a:rPr>
              <a:t> 机内码</a:t>
            </a:r>
            <a:r>
              <a:rPr kumimoji="1" lang="en-US" altLang="zh-CN" b="1" dirty="0">
                <a:solidFill>
                  <a:srgbClr val="003366"/>
                </a:solidFill>
                <a:latin typeface="华文楷体" pitchFamily="2" charset="-122"/>
                <a:ea typeface="华文楷体" pitchFamily="2" charset="-122"/>
              </a:rPr>
              <a:t>=</a:t>
            </a:r>
            <a:r>
              <a:rPr kumimoji="1" lang="zh-CN" altLang="en-US" b="1" dirty="0">
                <a:solidFill>
                  <a:srgbClr val="003366"/>
                </a:solidFill>
                <a:latin typeface="华文楷体" pitchFamily="2" charset="-122"/>
                <a:ea typeface="华文楷体" pitchFamily="2" charset="-122"/>
              </a:rPr>
              <a:t>国标码</a:t>
            </a:r>
            <a:r>
              <a:rPr kumimoji="1" lang="en-US" altLang="zh-CN" b="1" dirty="0">
                <a:solidFill>
                  <a:srgbClr val="003366"/>
                </a:solidFill>
                <a:latin typeface="华文楷体" pitchFamily="2" charset="-122"/>
                <a:ea typeface="华文楷体" pitchFamily="2" charset="-122"/>
              </a:rPr>
              <a:t>+8080H=</a:t>
            </a:r>
            <a:r>
              <a:rPr kumimoji="1" lang="zh-CN" altLang="en-US" b="1" dirty="0">
                <a:solidFill>
                  <a:srgbClr val="003366"/>
                </a:solidFill>
                <a:latin typeface="华文楷体" pitchFamily="2" charset="-122"/>
                <a:ea typeface="华文楷体" pitchFamily="2" charset="-122"/>
              </a:rPr>
              <a:t>区位码</a:t>
            </a:r>
            <a:r>
              <a:rPr kumimoji="1" lang="en-US" altLang="zh-CN" b="1" dirty="0">
                <a:solidFill>
                  <a:srgbClr val="003366"/>
                </a:solidFill>
                <a:latin typeface="华文楷体" pitchFamily="2" charset="-122"/>
                <a:ea typeface="华文楷体" pitchFamily="2" charset="-122"/>
              </a:rPr>
              <a:t>+A0A0H</a:t>
            </a:r>
          </a:p>
        </p:txBody>
      </p:sp>
      <p:sp>
        <p:nvSpPr>
          <p:cNvPr id="6" name="矩形 5">
            <a:extLst>
              <a:ext uri="{FF2B5EF4-FFF2-40B4-BE49-F238E27FC236}">
                <a16:creationId xmlns:a16="http://schemas.microsoft.com/office/drawing/2014/main" id="{811F765C-04EE-4A64-B2BF-BFB39A6464C2}"/>
              </a:ext>
            </a:extLst>
          </p:cNvPr>
          <p:cNvSpPr/>
          <p:nvPr/>
        </p:nvSpPr>
        <p:spPr>
          <a:xfrm>
            <a:off x="6185207" y="3417846"/>
            <a:ext cx="869149" cy="369332"/>
          </a:xfrm>
          <a:prstGeom prst="rect">
            <a:avLst/>
          </a:prstGeom>
        </p:spPr>
        <p:txBody>
          <a:bodyPr wrap="none">
            <a:spAutoFit/>
          </a:bodyPr>
          <a:lstStyle/>
          <a:p>
            <a:r>
              <a:rPr lang="en-US" altLang="zh-CN" dirty="0">
                <a:solidFill>
                  <a:srgbClr val="FF0000"/>
                </a:solidFill>
              </a:rPr>
              <a:t>DEB8H</a:t>
            </a:r>
            <a:endParaRPr lang="zh-CN" altLang="en-US" dirty="0"/>
          </a:p>
        </p:txBody>
      </p:sp>
      <p:sp>
        <p:nvSpPr>
          <p:cNvPr id="9" name="矩形 8">
            <a:extLst>
              <a:ext uri="{FF2B5EF4-FFF2-40B4-BE49-F238E27FC236}">
                <a16:creationId xmlns:a16="http://schemas.microsoft.com/office/drawing/2014/main" id="{EB3F3FB4-E943-4D5C-8381-DFFECEDB4F02}"/>
              </a:ext>
            </a:extLst>
          </p:cNvPr>
          <p:cNvSpPr/>
          <p:nvPr/>
        </p:nvSpPr>
        <p:spPr>
          <a:xfrm>
            <a:off x="8064913" y="4663415"/>
            <a:ext cx="1193468" cy="369332"/>
          </a:xfrm>
          <a:prstGeom prst="rect">
            <a:avLst/>
          </a:prstGeom>
        </p:spPr>
        <p:txBody>
          <a:bodyPr wrap="none">
            <a:spAutoFit/>
          </a:bodyPr>
          <a:lstStyle/>
          <a:p>
            <a:r>
              <a:rPr lang="en-US" altLang="zh-CN" dirty="0">
                <a:solidFill>
                  <a:srgbClr val="FF0000"/>
                </a:solidFill>
                <a:latin typeface="Arial" panose="020B0604020202020204" pitchFamily="34" charset="0"/>
                <a:ea typeface="宋体" panose="02010600030101010101" pitchFamily="2" charset="-122"/>
              </a:rPr>
              <a:t>01001011</a:t>
            </a:r>
            <a:endParaRPr lang="zh-CN" altLang="en-US" dirty="0"/>
          </a:p>
        </p:txBody>
      </p:sp>
    </p:spTree>
    <p:extLst>
      <p:ext uri="{BB962C8B-B14F-4D97-AF65-F5344CB8AC3E}">
        <p14:creationId xmlns:p14="http://schemas.microsoft.com/office/powerpoint/2010/main" val="1254329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3" grpId="0"/>
      <p:bldP spid="6" grpId="0"/>
      <p:bldP spid="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rPr>
              <a:t>大计基串讲</a:t>
            </a:r>
            <a:r>
              <a:rPr kumimoji="0" lang="en-US" altLang="zh-CN"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rPr>
              <a:t>part.2</a:t>
            </a: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3" name="矩形 2"/>
          <p:cNvSpPr/>
          <p:nvPr/>
        </p:nvSpPr>
        <p:spPr>
          <a:xfrm>
            <a:off x="2193290" y="1965325"/>
            <a:ext cx="7317740" cy="1568450"/>
          </a:xfrm>
          <a:prstGeom prst="rect">
            <a:avLst/>
          </a:prstGeom>
          <a:noFill/>
          <a:ln>
            <a:noFill/>
          </a:ln>
        </p:spPr>
        <p:txBody>
          <a:bodyPr wrap="none" rtlCol="0" anchor="t">
            <a:spAutoFit/>
          </a:bodyPr>
          <a:lstStyle/>
          <a:p>
            <a:pPr algn="l"/>
            <a:r>
              <a:rPr lang="zh-CN" altLang="en-US" sz="3200" b="1">
                <a:solidFill>
                  <a:schemeClr val="tx1"/>
                </a:solidFill>
                <a:effectLst>
                  <a:outerShdw blurRad="38100" dist="19050" dir="2700000" algn="tl" rotWithShape="0">
                    <a:schemeClr val="dk1">
                      <a:alpha val="40000"/>
                    </a:schemeClr>
                  </a:outerShdw>
                </a:effectLst>
              </a:rPr>
              <a:t>第三章</a:t>
            </a:r>
            <a:r>
              <a:rPr lang="en-US" altLang="zh-CN" sz="3200" b="1">
                <a:solidFill>
                  <a:schemeClr val="tx1"/>
                </a:solidFill>
                <a:effectLst>
                  <a:outerShdw blurRad="38100" dist="19050" dir="2700000" algn="tl" rotWithShape="0">
                    <a:schemeClr val="dk1">
                      <a:alpha val="40000"/>
                    </a:schemeClr>
                  </a:outerShdw>
                </a:effectLst>
              </a:rPr>
              <a:t>  </a:t>
            </a:r>
            <a:r>
              <a:rPr lang="zh-CN" altLang="en-US" sz="3200" b="1">
                <a:solidFill>
                  <a:schemeClr val="tx1"/>
                </a:solidFill>
                <a:effectLst>
                  <a:outerShdw blurRad="38100" dist="19050" dir="2700000" algn="tl" rotWithShape="0">
                    <a:schemeClr val="dk1">
                      <a:alpha val="40000"/>
                    </a:schemeClr>
                  </a:outerShdw>
                </a:effectLst>
              </a:rPr>
              <a:t>计算机工作原理与硬件体系结构</a:t>
            </a:r>
          </a:p>
          <a:p>
            <a:pPr algn="l"/>
            <a:r>
              <a:rPr lang="zh-CN" altLang="en-US" sz="3200" b="1">
                <a:solidFill>
                  <a:schemeClr val="tx1"/>
                </a:solidFill>
                <a:effectLst>
                  <a:outerShdw blurRad="38100" dist="19050" dir="2700000" algn="tl" rotWithShape="0">
                    <a:schemeClr val="dk1">
                      <a:alpha val="40000"/>
                    </a:schemeClr>
                  </a:outerShdw>
                </a:effectLst>
              </a:rPr>
              <a:t>第四章</a:t>
            </a:r>
            <a:r>
              <a:rPr lang="en-US" altLang="zh-CN" sz="3200" b="1">
                <a:solidFill>
                  <a:schemeClr val="tx1"/>
                </a:solidFill>
                <a:effectLst>
                  <a:outerShdw blurRad="38100" dist="19050" dir="2700000" algn="tl" rotWithShape="0">
                    <a:schemeClr val="dk1">
                      <a:alpha val="40000"/>
                    </a:schemeClr>
                  </a:outerShdw>
                </a:effectLst>
              </a:rPr>
              <a:t>  </a:t>
            </a:r>
            <a:r>
              <a:rPr lang="zh-CN" altLang="en-US" sz="3200" b="1">
                <a:solidFill>
                  <a:schemeClr val="tx1"/>
                </a:solidFill>
                <a:effectLst>
                  <a:outerShdw blurRad="38100" dist="19050" dir="2700000" algn="tl" rotWithShape="0">
                    <a:schemeClr val="dk1">
                      <a:alpha val="40000"/>
                    </a:schemeClr>
                  </a:outerShdw>
                </a:effectLst>
              </a:rPr>
              <a:t>计算机软件平台</a:t>
            </a:r>
          </a:p>
          <a:p>
            <a:pPr algn="l"/>
            <a:r>
              <a:rPr lang="zh-CN" altLang="en-US" sz="3200" b="1">
                <a:solidFill>
                  <a:schemeClr val="tx1"/>
                </a:solidFill>
                <a:effectLst>
                  <a:outerShdw blurRad="38100" dist="19050" dir="2700000" algn="tl" rotWithShape="0">
                    <a:schemeClr val="dk1">
                      <a:alpha val="40000"/>
                    </a:schemeClr>
                  </a:outerShdw>
                </a:effectLst>
              </a:rPr>
              <a:t>第五章</a:t>
            </a:r>
            <a:r>
              <a:rPr lang="en-US" altLang="zh-CN" sz="3200" b="1">
                <a:solidFill>
                  <a:schemeClr val="tx1"/>
                </a:solidFill>
                <a:effectLst>
                  <a:outerShdw blurRad="38100" dist="19050" dir="2700000" algn="tl" rotWithShape="0">
                    <a:schemeClr val="dk1">
                      <a:alpha val="40000"/>
                    </a:schemeClr>
                  </a:outerShdw>
                </a:effectLst>
              </a:rPr>
              <a:t>  </a:t>
            </a:r>
            <a:r>
              <a:rPr lang="zh-CN" altLang="en-US" sz="3200" b="1">
                <a:solidFill>
                  <a:schemeClr val="tx1"/>
                </a:solidFill>
                <a:effectLst>
                  <a:outerShdw blurRad="38100" dist="19050" dir="2700000" algn="tl" rotWithShape="0">
                    <a:schemeClr val="dk1">
                      <a:alpha val="40000"/>
                    </a:schemeClr>
                  </a:outerShdw>
                </a:effectLst>
              </a:rPr>
              <a:t>计算机网络平台</a:t>
            </a:r>
          </a:p>
        </p:txBody>
      </p:sp>
      <p:sp>
        <p:nvSpPr>
          <p:cNvPr id="4" name="文本框 3"/>
          <p:cNvSpPr txBox="1"/>
          <p:nvPr/>
        </p:nvSpPr>
        <p:spPr>
          <a:xfrm>
            <a:off x="8504555" y="5601970"/>
            <a:ext cx="1751965" cy="418465"/>
          </a:xfrm>
          <a:prstGeom prst="rect">
            <a:avLst/>
          </a:prstGeom>
          <a:noFill/>
        </p:spPr>
        <p:txBody>
          <a:bodyPr wrap="square" rtlCol="0">
            <a:noAutofit/>
          </a:bodyPr>
          <a:lstStyle/>
          <a:p>
            <a:r>
              <a:rPr lang="en-US" altLang="zh-CN" b="1"/>
              <a:t>2023.12.15</a:t>
            </a:r>
          </a:p>
        </p:txBody>
      </p:sp>
      <p:pic>
        <p:nvPicPr>
          <p:cNvPr id="6" name="图片 5" descr="联想截图_20231214002915"/>
          <p:cNvPicPr>
            <a:picLocks noChangeAspect="1"/>
          </p:cNvPicPr>
          <p:nvPr/>
        </p:nvPicPr>
        <p:blipFill>
          <a:blip r:embed="rId4"/>
          <a:stretch>
            <a:fillRect/>
          </a:stretch>
        </p:blipFill>
        <p:spPr>
          <a:xfrm>
            <a:off x="4435475" y="6219825"/>
            <a:ext cx="545465" cy="546735"/>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49154" y="6219714"/>
            <a:ext cx="2457450" cy="542925"/>
          </a:xfrm>
          <a:prstGeom prst="rect">
            <a:avLst/>
          </a:prstGeom>
        </p:spPr>
      </p:pic>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3" name="矩形 2" descr="7b0a2020202022776f7264617274223a2022220a7d0a"/>
          <p:cNvSpPr/>
          <p:nvPr/>
        </p:nvSpPr>
        <p:spPr>
          <a:xfrm>
            <a:off x="2047875" y="1551305"/>
            <a:ext cx="7646035" cy="4225925"/>
          </a:xfrm>
          <a:prstGeom prst="rect">
            <a:avLst/>
          </a:prstGeom>
          <a:noFill/>
          <a:ln>
            <a:noFill/>
          </a:ln>
        </p:spPr>
        <p:txBody>
          <a:bodyPr wrap="none" rtlCol="0" anchor="t">
            <a:noAutofit/>
          </a:bodyPr>
          <a:lstStyle/>
          <a:p>
            <a:pPr algn="ctr"/>
            <a:r>
              <a:rPr lang="zh-CN" altLang="en-US" sz="7200" b="1">
                <a:ln w="25400">
                  <a:solidFill>
                    <a:srgbClr val="FFD267"/>
                  </a:solidFill>
                </a:ln>
                <a:solidFill>
                  <a:srgbClr val="295280"/>
                </a:solidFill>
                <a:effectLst>
                  <a:outerShdw dist="50800" dir="2700000" algn="tl" rotWithShape="0">
                    <a:srgbClr val="FF896E">
                      <a:alpha val="100000"/>
                    </a:srgbClr>
                  </a:outerShdw>
                </a:effectLst>
                <a:latin typeface="汉仪力量黑简" charset="0"/>
                <a:ea typeface="汉仪力量黑简" charset="0"/>
              </a:rPr>
              <a:t>三、计算机工作原理</a:t>
            </a:r>
          </a:p>
          <a:p>
            <a:pPr algn="ctr"/>
            <a:r>
              <a:rPr lang="zh-CN" altLang="en-US" sz="7200" b="1">
                <a:ln w="25400">
                  <a:solidFill>
                    <a:srgbClr val="FFD267"/>
                  </a:solidFill>
                </a:ln>
                <a:solidFill>
                  <a:srgbClr val="295280"/>
                </a:solidFill>
                <a:effectLst>
                  <a:outerShdw dist="50800" dir="2700000" algn="tl" rotWithShape="0">
                    <a:srgbClr val="FF896E">
                      <a:alpha val="100000"/>
                    </a:srgbClr>
                  </a:outerShdw>
                </a:effectLst>
                <a:latin typeface="汉仪力量黑简" charset="0"/>
                <a:ea typeface="汉仪力量黑简" charset="0"/>
              </a:rPr>
              <a:t>与硬件体系结构</a:t>
            </a:r>
          </a:p>
        </p:txBody>
      </p:sp>
      <p:pic>
        <p:nvPicPr>
          <p:cNvPr id="6" name="图片 5" descr="联想截图_20231214002915"/>
          <p:cNvPicPr>
            <a:picLocks noChangeAspect="1"/>
          </p:cNvPicPr>
          <p:nvPr>
            <p:custDataLst>
              <p:tags r:id="rId1"/>
            </p:custDataLst>
          </p:nvPr>
        </p:nvPicPr>
        <p:blipFill>
          <a:blip r:embed="rId5"/>
          <a:stretch>
            <a:fillRect/>
          </a:stretch>
        </p:blipFill>
        <p:spPr>
          <a:xfrm>
            <a:off x="4440555" y="6219825"/>
            <a:ext cx="545465" cy="546735"/>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rPr>
              <a:t>目录</a:t>
            </a: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3" name="文本框 2"/>
          <p:cNvSpPr txBox="1"/>
          <p:nvPr>
            <p:custDataLst>
              <p:tags r:id="rId1"/>
            </p:custDataLst>
          </p:nvPr>
        </p:nvSpPr>
        <p:spPr>
          <a:xfrm>
            <a:off x="894715" y="883920"/>
            <a:ext cx="10470515" cy="4697730"/>
          </a:xfrm>
          <a:prstGeom prst="rect">
            <a:avLst/>
          </a:prstGeom>
          <a:noFill/>
        </p:spPr>
        <p:txBody>
          <a:bodyPr wrap="square" rtlCol="0" anchor="t">
            <a:noAutofit/>
          </a:bodyPr>
          <a:lstStyle/>
          <a:p>
            <a:pPr marL="0" indent="0">
              <a:buNone/>
            </a:pPr>
            <a:r>
              <a:rPr lang="zh-CN" altLang="en-US" sz="2400" dirty="0">
                <a:latin typeface="华光粗黑_CNKI" panose="02000500000000000000" pitchFamily="2" charset="-122"/>
                <a:ea typeface="华光粗黑_CNKI" panose="02000500000000000000" pitchFamily="2" charset="-122"/>
                <a:sym typeface="+mn-ea"/>
              </a:rPr>
              <a:t>1.计算机的发展与图灵机模型</a:t>
            </a:r>
          </a:p>
          <a:p>
            <a:pPr marL="0" indent="0">
              <a:buNone/>
            </a:pPr>
            <a:r>
              <a:rPr lang="zh-CN" altLang="en-US" sz="2400" dirty="0">
                <a:latin typeface="华光粗黑_CNKI" panose="02000500000000000000" pitchFamily="2" charset="-122"/>
                <a:ea typeface="华光粗黑_CNKI" panose="02000500000000000000" pitchFamily="2" charset="-122"/>
                <a:sym typeface="+mn-ea"/>
              </a:rPr>
              <a:t>2.计算机硬件组成</a:t>
            </a:r>
          </a:p>
          <a:p>
            <a:pPr marL="0" indent="0">
              <a:buNone/>
            </a:pPr>
            <a:r>
              <a:rPr lang="en-US" altLang="zh-CN" sz="2400" dirty="0">
                <a:latin typeface="华光粗黑_CNKI" panose="02000500000000000000" pitchFamily="2" charset="-122"/>
                <a:ea typeface="华光粗黑_CNKI" panose="02000500000000000000" pitchFamily="2" charset="-122"/>
                <a:sym typeface="+mn-ea"/>
              </a:rPr>
              <a:t>  </a:t>
            </a:r>
            <a:r>
              <a:rPr lang="zh-CN" altLang="en-US" sz="2400" dirty="0">
                <a:latin typeface="华光粗黑_CNKI" panose="02000500000000000000" pitchFamily="2" charset="-122"/>
                <a:ea typeface="华光粗黑_CNKI" panose="02000500000000000000" pitchFamily="2" charset="-122"/>
                <a:sym typeface="+mn-ea"/>
              </a:rPr>
              <a:t>冯·诺依曼型计算机的3条思想</a:t>
            </a:r>
          </a:p>
          <a:p>
            <a:pPr marL="0" indent="0">
              <a:buNone/>
            </a:pPr>
            <a:r>
              <a:rPr lang="en-US" altLang="zh-CN" sz="2400" dirty="0">
                <a:latin typeface="华光粗黑_CNKI" panose="02000500000000000000" pitchFamily="2" charset="-122"/>
                <a:ea typeface="华光粗黑_CNKI" panose="02000500000000000000" pitchFamily="2" charset="-122"/>
                <a:sym typeface="+mn-ea"/>
              </a:rPr>
              <a:t>  </a:t>
            </a:r>
            <a:r>
              <a:rPr lang="zh-CN" altLang="en-US" sz="2400" dirty="0">
                <a:latin typeface="华光粗黑_CNKI" panose="02000500000000000000" pitchFamily="2" charset="-122"/>
                <a:ea typeface="华光粗黑_CNKI" panose="02000500000000000000" pitchFamily="2" charset="-122"/>
                <a:sym typeface="+mn-ea"/>
              </a:rPr>
              <a:t>计算机系统的硬件组成</a:t>
            </a:r>
          </a:p>
          <a:p>
            <a:pPr marL="0" indent="0">
              <a:buNone/>
            </a:pPr>
            <a:r>
              <a:rPr lang="en-US" altLang="zh-CN" sz="2400" dirty="0">
                <a:latin typeface="华光粗黑_CNKI" panose="02000500000000000000" pitchFamily="2" charset="-122"/>
                <a:ea typeface="华光粗黑_CNKI" panose="02000500000000000000" pitchFamily="2" charset="-122"/>
                <a:sym typeface="+mn-ea"/>
              </a:rPr>
              <a:t>  </a:t>
            </a:r>
            <a:r>
              <a:rPr lang="zh-CN" altLang="en-US" sz="2400" dirty="0">
                <a:latin typeface="华光粗黑_CNKI" panose="02000500000000000000" pitchFamily="2" charset="-122"/>
                <a:ea typeface="华光粗黑_CNKI" panose="02000500000000000000" pitchFamily="2" charset="-122"/>
                <a:sym typeface="+mn-ea"/>
              </a:rPr>
              <a:t>计算机的存储体系（内存、外存及其相关概念）</a:t>
            </a:r>
          </a:p>
          <a:p>
            <a:pPr marL="0" indent="0">
              <a:buNone/>
            </a:pPr>
            <a:r>
              <a:rPr lang="zh-CN" altLang="en-US" sz="2400" dirty="0">
                <a:latin typeface="华光粗黑_CNKI" panose="02000500000000000000" pitchFamily="2" charset="-122"/>
                <a:ea typeface="华光粗黑_CNKI" panose="02000500000000000000" pitchFamily="2" charset="-122"/>
                <a:sym typeface="+mn-ea"/>
              </a:rPr>
              <a:t>3.计算机基本工作原理</a:t>
            </a:r>
          </a:p>
          <a:p>
            <a:pPr marL="0" indent="0">
              <a:buNone/>
            </a:pPr>
            <a:r>
              <a:rPr lang="zh-CN" altLang="en-US" sz="2400" dirty="0">
                <a:latin typeface="华光粗黑_CNKI" panose="02000500000000000000" pitchFamily="2" charset="-122"/>
                <a:ea typeface="华光粗黑_CNKI" panose="02000500000000000000" pitchFamily="2" charset="-122"/>
                <a:sym typeface="+mn-ea"/>
              </a:rPr>
              <a:t>4.微型计算机体系结构</a:t>
            </a:r>
          </a:p>
          <a:p>
            <a:pPr marL="0" indent="0">
              <a:buNone/>
            </a:pPr>
            <a:r>
              <a:rPr lang="en-US" altLang="zh-CN" sz="2400" dirty="0">
                <a:latin typeface="华光粗黑_CNKI" panose="02000500000000000000" pitchFamily="2" charset="-122"/>
                <a:ea typeface="华光粗黑_CNKI" panose="02000500000000000000" pitchFamily="2" charset="-122"/>
                <a:sym typeface="+mn-ea"/>
              </a:rPr>
              <a:t>  </a:t>
            </a:r>
            <a:r>
              <a:rPr lang="zh-CN" altLang="en-US" sz="2400" dirty="0">
                <a:latin typeface="华光粗黑_CNKI" panose="02000500000000000000" pitchFamily="2" charset="-122"/>
                <a:ea typeface="华光粗黑_CNKI" panose="02000500000000000000" pitchFamily="2" charset="-122"/>
                <a:sym typeface="+mn-ea"/>
              </a:rPr>
              <a:t>总线概念和分类</a:t>
            </a:r>
          </a:p>
          <a:p>
            <a:pPr marL="0" indent="0">
              <a:buNone/>
            </a:pPr>
            <a:r>
              <a:rPr lang="en-US" altLang="zh-CN" sz="2400" dirty="0">
                <a:latin typeface="华光粗黑_CNKI" panose="02000500000000000000" pitchFamily="2" charset="-122"/>
                <a:ea typeface="华光粗黑_CNKI" panose="02000500000000000000" pitchFamily="2" charset="-122"/>
                <a:sym typeface="+mn-ea"/>
              </a:rPr>
              <a:t>  </a:t>
            </a:r>
            <a:r>
              <a:rPr lang="zh-CN" altLang="en-US" sz="2400" dirty="0">
                <a:latin typeface="华光粗黑_CNKI" panose="02000500000000000000" pitchFamily="2" charset="-122"/>
                <a:ea typeface="华光粗黑_CNKI" panose="02000500000000000000" pitchFamily="2" charset="-122"/>
                <a:sym typeface="+mn-ea"/>
              </a:rPr>
              <a:t>CPU、主机、外设等性能参数</a:t>
            </a:r>
          </a:p>
          <a:p>
            <a:pPr marL="0" indent="0">
              <a:buNone/>
            </a:pPr>
            <a:r>
              <a:rPr lang="en-US" altLang="zh-CN" sz="2400" dirty="0">
                <a:latin typeface="华光粗黑_CNKI" panose="02000500000000000000" pitchFamily="2" charset="-122"/>
                <a:ea typeface="华光粗黑_CNKI" panose="02000500000000000000" pitchFamily="2" charset="-122"/>
                <a:sym typeface="+mn-ea"/>
              </a:rPr>
              <a:t>  </a:t>
            </a:r>
            <a:r>
              <a:rPr lang="zh-CN" altLang="en-US" sz="2400" dirty="0">
                <a:latin typeface="华光粗黑_CNKI" panose="02000500000000000000" pitchFamily="2" charset="-122"/>
                <a:ea typeface="华光粗黑_CNKI" panose="02000500000000000000" pitchFamily="2" charset="-122"/>
                <a:sym typeface="+mn-ea"/>
              </a:rPr>
              <a:t>外部设备与接口</a:t>
            </a:r>
          </a:p>
          <a:p>
            <a:pPr marL="0" indent="0">
              <a:buNone/>
            </a:pPr>
            <a:r>
              <a:rPr lang="en-US" altLang="zh-CN" sz="2400" dirty="0">
                <a:latin typeface="华光粗黑_CNKI" panose="02000500000000000000" pitchFamily="2" charset="-122"/>
                <a:ea typeface="华光粗黑_CNKI" panose="02000500000000000000" pitchFamily="2" charset="-122"/>
                <a:sym typeface="+mn-ea"/>
              </a:rPr>
              <a:t>  </a:t>
            </a:r>
            <a:r>
              <a:rPr lang="zh-CN" altLang="en-US" sz="2400" dirty="0">
                <a:latin typeface="华光粗黑_CNKI" panose="02000500000000000000" pitchFamily="2" charset="-122"/>
                <a:ea typeface="华光粗黑_CNKI" panose="02000500000000000000" pitchFamily="2" charset="-122"/>
                <a:sym typeface="+mn-ea"/>
              </a:rPr>
              <a:t>输入设备、输出设备的概念和区分</a:t>
            </a:r>
          </a:p>
          <a:p>
            <a:pPr marL="0" indent="0">
              <a:buNone/>
            </a:pPr>
            <a:r>
              <a:rPr lang="zh-CN" altLang="en-US" sz="2400" dirty="0">
                <a:latin typeface="华光粗黑_CNKI" panose="02000500000000000000" pitchFamily="2" charset="-122"/>
                <a:ea typeface="华光粗黑_CNKI" panose="02000500000000000000" pitchFamily="2" charset="-122"/>
                <a:sym typeface="+mn-ea"/>
              </a:rPr>
              <a:t>5.微机性能指标</a:t>
            </a:r>
          </a:p>
          <a:p>
            <a:pPr marL="0" indent="0">
              <a:buNone/>
            </a:pPr>
            <a:r>
              <a:rPr lang="zh-CN" altLang="en-US" sz="2400" dirty="0">
                <a:latin typeface="华光粗黑_CNKI" panose="02000500000000000000" pitchFamily="2" charset="-122"/>
                <a:ea typeface="华光粗黑_CNKI" panose="02000500000000000000" pitchFamily="2" charset="-122"/>
                <a:sym typeface="+mn-ea"/>
              </a:rPr>
              <a:t>6.并行计算机体系结构</a:t>
            </a:r>
          </a:p>
        </p:txBody>
      </p:sp>
      <p:pic>
        <p:nvPicPr>
          <p:cNvPr id="6" name="图片 5" descr="联想截图_20231214002915"/>
          <p:cNvPicPr>
            <a:picLocks noChangeAspect="1"/>
          </p:cNvPicPr>
          <p:nvPr>
            <p:custDataLst>
              <p:tags r:id="rId2"/>
            </p:custDataLst>
          </p:nvPr>
        </p:nvPicPr>
        <p:blipFill>
          <a:blip r:embed="rId6"/>
          <a:stretch>
            <a:fillRect/>
          </a:stretch>
        </p:blipFill>
        <p:spPr>
          <a:xfrm>
            <a:off x="4440555" y="6229985"/>
            <a:ext cx="545465" cy="546735"/>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600" dirty="0">
                <a:latin typeface="华光粗黑_CNKI" panose="02000500000000000000" pitchFamily="2" charset="-122"/>
                <a:ea typeface="华光粗黑_CNKI" panose="02000500000000000000" pitchFamily="2" charset="-122"/>
                <a:sym typeface="+mn-ea"/>
              </a:rPr>
              <a:t>计算机的发展与图灵机模型</a:t>
            </a:r>
            <a:endParaRPr kumimoji="0" lang="en-US" altLang="zh-CN"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endParaRP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6" name="文本框 5"/>
          <p:cNvSpPr txBox="1"/>
          <p:nvPr/>
        </p:nvSpPr>
        <p:spPr>
          <a:xfrm>
            <a:off x="1391920" y="1046480"/>
            <a:ext cx="9429750" cy="3813175"/>
          </a:xfrm>
          <a:prstGeom prst="rect">
            <a:avLst/>
          </a:prstGeom>
          <a:noFill/>
        </p:spPr>
        <p:txBody>
          <a:bodyPr wrap="square" rtlCol="0" anchor="t">
            <a:noAutofit/>
          </a:bodyPr>
          <a:lstStyle/>
          <a:p>
            <a:r>
              <a:rPr lang="en-US" altLang="zh-CN" sz="2400">
                <a:sym typeface="+mn-ea"/>
              </a:rPr>
              <a:t>    </a:t>
            </a:r>
            <a:r>
              <a:rPr lang="zh-CN" altLang="en-US" sz="2400">
                <a:solidFill>
                  <a:srgbClr val="FF0000"/>
                </a:solidFill>
                <a:sym typeface="+mn-ea"/>
              </a:rPr>
              <a:t>1945年</a:t>
            </a:r>
            <a:r>
              <a:rPr lang="zh-CN" altLang="en-US" sz="2400">
                <a:sym typeface="+mn-ea"/>
              </a:rPr>
              <a:t>，美籍匈牙利科学家冯·诺依曼起草了“关于EDVAC（离散变量自动电子计算机）的报告草案”，提出了“存储程序”、“采用二进制编码”及明确计算机由5个部分（运算器、控制器、存储器、输入设备和输出设备）组成的设计思路。</a:t>
            </a:r>
          </a:p>
          <a:p>
            <a:r>
              <a:rPr lang="en-US" altLang="zh-CN" sz="2400">
                <a:sym typeface="+mn-ea"/>
              </a:rPr>
              <a:t>    </a:t>
            </a:r>
            <a:r>
              <a:rPr lang="zh-CN" altLang="en-US" sz="2400">
                <a:solidFill>
                  <a:srgbClr val="FF0000"/>
                </a:solidFill>
                <a:sym typeface="+mn-ea"/>
              </a:rPr>
              <a:t>1946年</a:t>
            </a:r>
            <a:r>
              <a:rPr lang="zh-CN" altLang="en-US" sz="2400">
                <a:sym typeface="+mn-ea"/>
              </a:rPr>
              <a:t>，美国宾夕法尼亚大学的物理学家莫克利和工程师埃克特等人为弹道研究实验共同发明了著名的“电子数值积分计算机”，这是世界上第一台数字式通用电子计算机</a:t>
            </a:r>
          </a:p>
          <a:p>
            <a:r>
              <a:rPr lang="en-US" altLang="zh-CN" sz="2400">
                <a:sym typeface="+mn-ea"/>
              </a:rPr>
              <a:t>    </a:t>
            </a:r>
            <a:r>
              <a:rPr lang="zh-CN" altLang="en-US" sz="2400">
                <a:solidFill>
                  <a:srgbClr val="FF0000"/>
                </a:solidFill>
                <a:sym typeface="+mn-ea"/>
              </a:rPr>
              <a:t>1949年</a:t>
            </a:r>
            <a:r>
              <a:rPr lang="zh-CN" altLang="en-US" sz="2400">
                <a:sym typeface="+mn-ea"/>
              </a:rPr>
              <a:t>5月，首台实现冯·诺依曼存储程序思想的计算机EDSAC（电子延迟存储自动计算机），由英国剑桥大学研制并正式运行。</a:t>
            </a:r>
            <a:endParaRPr lang="zh-CN" altLang="en-US" sz="2400"/>
          </a:p>
          <a:p>
            <a:r>
              <a:rPr lang="en-US" altLang="zh-CN" sz="2400">
                <a:sym typeface="+mn-ea"/>
              </a:rPr>
              <a:t>    </a:t>
            </a:r>
            <a:r>
              <a:rPr lang="zh-CN" altLang="en-US" sz="2400">
                <a:sym typeface="+mn-ea"/>
              </a:rPr>
              <a:t>直到今天，无论是什么规模的计算机，其基本结构仍遵循这一原则，所以现代计算机称之为“冯·诺依曼计算机”。</a:t>
            </a:r>
          </a:p>
          <a:p>
            <a:r>
              <a:rPr lang="en-US" altLang="zh-CN" sz="2400"/>
              <a:t>    </a:t>
            </a:r>
            <a:r>
              <a:rPr lang="zh-CN" altLang="en-US" sz="2400"/>
              <a:t>各种</a:t>
            </a:r>
            <a:r>
              <a:rPr lang="zh-CN" altLang="en-US" sz="2400">
                <a:solidFill>
                  <a:srgbClr val="FF0000"/>
                </a:solidFill>
              </a:rPr>
              <a:t>时间</a:t>
            </a:r>
            <a:r>
              <a:rPr lang="zh-CN" altLang="en-US" sz="2400"/>
              <a:t>要记住，这里不一一列请</a:t>
            </a:r>
          </a:p>
        </p:txBody>
      </p:sp>
      <p:pic>
        <p:nvPicPr>
          <p:cNvPr id="3" name="图片 2" descr="联想截图_20231214002915"/>
          <p:cNvPicPr>
            <a:picLocks noChangeAspect="1"/>
          </p:cNvPicPr>
          <p:nvPr>
            <p:custDataLst>
              <p:tags r:id="rId1"/>
            </p:custDataLst>
          </p:nvPr>
        </p:nvPicPr>
        <p:blipFill>
          <a:blip r:embed="rId5"/>
          <a:stretch>
            <a:fillRect/>
          </a:stretch>
        </p:blipFill>
        <p:spPr>
          <a:xfrm>
            <a:off x="4435475" y="6219825"/>
            <a:ext cx="545465" cy="54673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600" dirty="0">
                <a:latin typeface="华光粗黑_CNKI" panose="02000500000000000000" pitchFamily="2" charset="-122"/>
                <a:ea typeface="华光粗黑_CNKI" panose="02000500000000000000" pitchFamily="2" charset="-122"/>
                <a:sym typeface="+mn-ea"/>
              </a:rPr>
              <a:t>计算机的发展与图灵机模型</a:t>
            </a:r>
            <a:endParaRPr kumimoji="0" lang="en-US" altLang="zh-CN"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endParaRP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3" name="文本框 2"/>
          <p:cNvSpPr txBox="1"/>
          <p:nvPr/>
        </p:nvSpPr>
        <p:spPr>
          <a:xfrm>
            <a:off x="1181100" y="1389380"/>
            <a:ext cx="9524365" cy="3784600"/>
          </a:xfrm>
          <a:prstGeom prst="rect">
            <a:avLst/>
          </a:prstGeom>
          <a:noFill/>
        </p:spPr>
        <p:txBody>
          <a:bodyPr wrap="square" rtlCol="0" anchor="t">
            <a:spAutoFit/>
          </a:bodyPr>
          <a:lstStyle/>
          <a:p>
            <a:r>
              <a:rPr lang="zh-CN" altLang="en-US" sz="2400"/>
              <a:t>电子计算机的</a:t>
            </a:r>
            <a:r>
              <a:rPr lang="zh-CN" altLang="en-US" sz="2400">
                <a:solidFill>
                  <a:srgbClr val="FF0000"/>
                </a:solidFill>
              </a:rPr>
              <a:t>分类</a:t>
            </a:r>
            <a:endParaRPr lang="zh-CN" altLang="en-US" sz="2400"/>
          </a:p>
          <a:p>
            <a:r>
              <a:rPr lang="zh-CN" altLang="en-US" sz="2400"/>
              <a:t>按结构原理分类：模拟计算机、数字计算机和混合式计算机</a:t>
            </a:r>
          </a:p>
          <a:p>
            <a:r>
              <a:rPr lang="zh-CN" altLang="en-US" sz="2400"/>
              <a:t>按用途分类：专用计算机和通用计算机</a:t>
            </a:r>
          </a:p>
          <a:p>
            <a:r>
              <a:rPr lang="zh-CN" altLang="en-US" sz="2400"/>
              <a:t>按照计算机的运算速度、字长、存储容量等综合性能指标进行分类：</a:t>
            </a:r>
          </a:p>
          <a:p>
            <a:r>
              <a:rPr lang="zh-CN" altLang="en-US" sz="2400"/>
              <a:t>超级计算机（巨型机，用于科学计算及军事领域）</a:t>
            </a:r>
          </a:p>
          <a:p>
            <a:r>
              <a:rPr lang="zh-CN" altLang="en-US" sz="2400"/>
              <a:t>微型计算机（台式机、笔记本、平板电脑等）</a:t>
            </a:r>
          </a:p>
          <a:p>
            <a:r>
              <a:rPr lang="zh-CN" altLang="en-US" sz="2400"/>
              <a:t>工作站（大存储量的高档微机）</a:t>
            </a:r>
          </a:p>
          <a:p>
            <a:r>
              <a:rPr lang="zh-CN" altLang="en-US" sz="2400"/>
              <a:t>服务器（网络环境中对外提供资源及服务的高性能计算机）</a:t>
            </a:r>
          </a:p>
          <a:p>
            <a:r>
              <a:rPr lang="zh-CN" altLang="en-US" sz="2400"/>
              <a:t>嵌入式计算机（嵌入到对象体系，实现对象体系智能化控制、监视、管理的专用计算机系统）</a:t>
            </a:r>
          </a:p>
        </p:txBody>
      </p:sp>
      <p:pic>
        <p:nvPicPr>
          <p:cNvPr id="6" name="图片 5" descr="联想截图_20231214002915"/>
          <p:cNvPicPr>
            <a:picLocks noChangeAspect="1"/>
          </p:cNvPicPr>
          <p:nvPr>
            <p:custDataLst>
              <p:tags r:id="rId1"/>
            </p:custDataLst>
          </p:nvPr>
        </p:nvPicPr>
        <p:blipFill>
          <a:blip r:embed="rId5"/>
          <a:stretch>
            <a:fillRect/>
          </a:stretch>
        </p:blipFill>
        <p:spPr>
          <a:xfrm>
            <a:off x="4435475" y="6219825"/>
            <a:ext cx="545465" cy="546735"/>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600" dirty="0">
                <a:latin typeface="华光粗黑_CNKI" panose="02000500000000000000" pitchFamily="2" charset="-122"/>
                <a:ea typeface="华光粗黑_CNKI" panose="02000500000000000000" pitchFamily="2" charset="-122"/>
                <a:sym typeface="+mn-ea"/>
              </a:rPr>
              <a:t>计算机的发展与图灵机模型</a:t>
            </a:r>
            <a:endParaRPr kumimoji="0" lang="zh-CN" altLang="en-US"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endParaRP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3" name="文本框 2"/>
          <p:cNvSpPr txBox="1"/>
          <p:nvPr/>
        </p:nvSpPr>
        <p:spPr>
          <a:xfrm>
            <a:off x="1367790" y="1040130"/>
            <a:ext cx="9248140" cy="4523105"/>
          </a:xfrm>
          <a:prstGeom prst="rect">
            <a:avLst/>
          </a:prstGeom>
          <a:noFill/>
        </p:spPr>
        <p:txBody>
          <a:bodyPr wrap="square" rtlCol="0" anchor="t">
            <a:spAutoFit/>
          </a:bodyPr>
          <a:lstStyle/>
          <a:p>
            <a:r>
              <a:rPr lang="zh-CN" altLang="en-US" sz="2400"/>
              <a:t>图灵机的核心是用机器来模拟人进行数学运算的过程。这种过程可分解成两个动作：在纸上写/擦除某个符号；把注意力从纸的一个位置移动到另一个位置。</a:t>
            </a:r>
          </a:p>
          <a:p>
            <a:r>
              <a:rPr lang="zh-CN" altLang="en-US" sz="2400"/>
              <a:t>图灵机包括以下</a:t>
            </a:r>
            <a:r>
              <a:rPr lang="zh-CN" altLang="en-US" sz="2400">
                <a:solidFill>
                  <a:srgbClr val="FF0000"/>
                </a:solidFill>
              </a:rPr>
              <a:t>四个部分</a:t>
            </a:r>
            <a:r>
              <a:rPr lang="zh-CN" altLang="en-US" sz="2400"/>
              <a:t>： </a:t>
            </a:r>
          </a:p>
          <a:p>
            <a:r>
              <a:rPr lang="zh-CN" altLang="en-US" sz="2400"/>
              <a:t>1.</a:t>
            </a:r>
            <a:r>
              <a:rPr lang="zh-CN" altLang="en-US" sz="2400">
                <a:solidFill>
                  <a:srgbClr val="FF0000"/>
                </a:solidFill>
              </a:rPr>
              <a:t>一条无限长的纸带</a:t>
            </a:r>
            <a:r>
              <a:rPr lang="zh-CN" altLang="en-US" sz="2400"/>
              <a:t>，用于使用二进制符号来表达计算所用的数据和控制规则； </a:t>
            </a:r>
          </a:p>
          <a:p>
            <a:r>
              <a:rPr lang="zh-CN" altLang="en-US" sz="2400"/>
              <a:t>2.</a:t>
            </a:r>
            <a:r>
              <a:rPr lang="zh-CN" altLang="en-US" sz="2400">
                <a:solidFill>
                  <a:srgbClr val="FF0000"/>
                </a:solidFill>
              </a:rPr>
              <a:t>一个读写头</a:t>
            </a:r>
            <a:r>
              <a:rPr lang="zh-CN" altLang="en-US" sz="2400"/>
              <a:t>，用于获取或者改写纸带当前位置上的符号； </a:t>
            </a:r>
          </a:p>
          <a:p>
            <a:r>
              <a:rPr lang="zh-CN" altLang="en-US" sz="2400"/>
              <a:t>3.</a:t>
            </a:r>
            <a:r>
              <a:rPr lang="zh-CN" altLang="en-US" sz="2400">
                <a:solidFill>
                  <a:srgbClr val="FF0000"/>
                </a:solidFill>
              </a:rPr>
              <a:t>一个状态寄存器</a:t>
            </a:r>
            <a:r>
              <a:rPr lang="zh-CN" altLang="en-US" sz="2400"/>
              <a:t>，用于保存图灵机当前所处的状态（包括接受、进位、停机等状态）； </a:t>
            </a:r>
          </a:p>
          <a:p>
            <a:r>
              <a:rPr lang="zh-CN" altLang="en-US" sz="2400"/>
              <a:t>4.</a:t>
            </a:r>
            <a:r>
              <a:rPr lang="zh-CN" altLang="en-US" sz="2400">
                <a:solidFill>
                  <a:srgbClr val="FF0000"/>
                </a:solidFill>
              </a:rPr>
              <a:t>一套控制规则</a:t>
            </a:r>
            <a:r>
              <a:rPr lang="zh-CN" altLang="en-US" sz="2400"/>
              <a:t>，它根据当前机器所处的状态以及当前读写头所获取的符号，来确定读写头下一步的动作，并改变状态寄存器的值，令机器进入一个新的状态。</a:t>
            </a:r>
          </a:p>
        </p:txBody>
      </p:sp>
      <p:pic>
        <p:nvPicPr>
          <p:cNvPr id="6" name="图片 5" descr="联想截图_20231214002915"/>
          <p:cNvPicPr>
            <a:picLocks noChangeAspect="1"/>
          </p:cNvPicPr>
          <p:nvPr>
            <p:custDataLst>
              <p:tags r:id="rId1"/>
            </p:custDataLst>
          </p:nvPr>
        </p:nvPicPr>
        <p:blipFill>
          <a:blip r:embed="rId5"/>
          <a:stretch>
            <a:fillRect/>
          </a:stretch>
        </p:blipFill>
        <p:spPr>
          <a:xfrm>
            <a:off x="4435475" y="6219825"/>
            <a:ext cx="545465" cy="546735"/>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rPr>
              <a:t>计算机硬件组成</a:t>
            </a: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4" name="文本框 3"/>
          <p:cNvSpPr txBox="1"/>
          <p:nvPr/>
        </p:nvSpPr>
        <p:spPr>
          <a:xfrm>
            <a:off x="2034540" y="1217930"/>
            <a:ext cx="7109460" cy="2672080"/>
          </a:xfrm>
          <a:prstGeom prst="rect">
            <a:avLst/>
          </a:prstGeom>
          <a:noFill/>
        </p:spPr>
        <p:txBody>
          <a:bodyPr wrap="square" rtlCol="0" anchor="t">
            <a:noAutofit/>
          </a:bodyPr>
          <a:lstStyle/>
          <a:p>
            <a:r>
              <a:rPr lang="zh-CN" altLang="en-US"/>
              <a:t>计算机的体系结构具体到五大部分组成，即：</a:t>
            </a:r>
            <a:r>
              <a:rPr lang="zh-CN" altLang="en-US">
                <a:solidFill>
                  <a:srgbClr val="FF0000"/>
                </a:solidFill>
              </a:rPr>
              <a:t>存储器、运算器、控制器、输入设备、输出设备</a:t>
            </a:r>
            <a:r>
              <a:rPr lang="zh-CN" altLang="en-US"/>
              <a:t>。</a:t>
            </a:r>
          </a:p>
          <a:p>
            <a:endParaRPr lang="zh-CN" altLang="en-US"/>
          </a:p>
        </p:txBody>
      </p:sp>
      <p:pic>
        <p:nvPicPr>
          <p:cNvPr id="6" name="图片 5"/>
          <p:cNvPicPr>
            <a:picLocks noChangeAspect="1"/>
          </p:cNvPicPr>
          <p:nvPr>
            <p:custDataLst>
              <p:tags r:id="rId1"/>
            </p:custDataLst>
          </p:nvPr>
        </p:nvPicPr>
        <p:blipFill>
          <a:blip r:embed="rId6"/>
          <a:stretch>
            <a:fillRect/>
          </a:stretch>
        </p:blipFill>
        <p:spPr>
          <a:xfrm>
            <a:off x="1951990" y="2051685"/>
            <a:ext cx="7400925" cy="3586480"/>
          </a:xfrm>
          <a:prstGeom prst="rect">
            <a:avLst/>
          </a:prstGeom>
        </p:spPr>
      </p:pic>
      <p:pic>
        <p:nvPicPr>
          <p:cNvPr id="3" name="图片 2" descr="联想截图_20231214002915"/>
          <p:cNvPicPr>
            <a:picLocks noChangeAspect="1"/>
          </p:cNvPicPr>
          <p:nvPr>
            <p:custDataLst>
              <p:tags r:id="rId2"/>
            </p:custDataLst>
          </p:nvPr>
        </p:nvPicPr>
        <p:blipFill>
          <a:blip r:embed="rId7"/>
          <a:stretch>
            <a:fillRect/>
          </a:stretch>
        </p:blipFill>
        <p:spPr>
          <a:xfrm>
            <a:off x="4435475" y="6219825"/>
            <a:ext cx="545465" cy="546735"/>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11988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600" noProof="0" dirty="0">
                <a:ln>
                  <a:noFill/>
                </a:ln>
                <a:solidFill>
                  <a:prstClr val="black"/>
                </a:solidFill>
                <a:effectLst/>
                <a:uLnTx/>
                <a:uFillTx/>
                <a:latin typeface="方正公文黑体" panose="02000500000000000000" pitchFamily="2" charset="-122"/>
                <a:ea typeface="方正公文黑体" panose="02000500000000000000" pitchFamily="2" charset="-122"/>
                <a:sym typeface="+mn-ea"/>
              </a:rPr>
              <a:t>计算机硬件组成</a:t>
            </a:r>
            <a:endParaRPr kumimoji="0" lang="zh-CN" altLang="en-US"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endParaRP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pic>
        <p:nvPicPr>
          <p:cNvPr id="3" name="图片 2"/>
          <p:cNvPicPr>
            <a:picLocks noChangeAspect="1"/>
          </p:cNvPicPr>
          <p:nvPr>
            <p:custDataLst>
              <p:tags r:id="rId1"/>
            </p:custDataLst>
          </p:nvPr>
        </p:nvPicPr>
        <p:blipFill>
          <a:blip r:embed="rId6"/>
          <a:stretch>
            <a:fillRect/>
          </a:stretch>
        </p:blipFill>
        <p:spPr>
          <a:xfrm>
            <a:off x="1977390" y="1016000"/>
            <a:ext cx="7772400" cy="4748530"/>
          </a:xfrm>
          <a:prstGeom prst="rect">
            <a:avLst/>
          </a:prstGeom>
        </p:spPr>
      </p:pic>
      <p:pic>
        <p:nvPicPr>
          <p:cNvPr id="6" name="图片 5" descr="联想截图_20231214002915"/>
          <p:cNvPicPr>
            <a:picLocks noChangeAspect="1"/>
          </p:cNvPicPr>
          <p:nvPr>
            <p:custDataLst>
              <p:tags r:id="rId2"/>
            </p:custDataLst>
          </p:nvPr>
        </p:nvPicPr>
        <p:blipFill>
          <a:blip r:embed="rId7"/>
          <a:stretch>
            <a:fillRect/>
          </a:stretch>
        </p:blipFill>
        <p:spPr>
          <a:xfrm>
            <a:off x="4435475" y="6219825"/>
            <a:ext cx="545465" cy="546735"/>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11988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600" noProof="0" dirty="0">
                <a:ln>
                  <a:noFill/>
                </a:ln>
                <a:solidFill>
                  <a:prstClr val="black"/>
                </a:solidFill>
                <a:effectLst/>
                <a:uLnTx/>
                <a:uFillTx/>
                <a:latin typeface="方正公文黑体" panose="02000500000000000000" pitchFamily="2" charset="-122"/>
                <a:ea typeface="方正公文黑体" panose="02000500000000000000" pitchFamily="2" charset="-122"/>
                <a:sym typeface="+mn-ea"/>
              </a:rPr>
              <a:t>计算机硬件组成</a:t>
            </a:r>
            <a:endParaRPr kumimoji="0" lang="zh-CN" altLang="en-US"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endParaRP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3" name="文本框 2"/>
          <p:cNvSpPr txBox="1"/>
          <p:nvPr/>
        </p:nvSpPr>
        <p:spPr>
          <a:xfrm>
            <a:off x="1254760" y="1101090"/>
            <a:ext cx="10170795" cy="4951095"/>
          </a:xfrm>
          <a:prstGeom prst="rect">
            <a:avLst/>
          </a:prstGeom>
          <a:noFill/>
        </p:spPr>
        <p:txBody>
          <a:bodyPr wrap="square" rtlCol="0" anchor="t">
            <a:noAutofit/>
          </a:bodyPr>
          <a:lstStyle/>
          <a:p>
            <a:r>
              <a:rPr lang="zh-CN" altLang="en-US" sz="2400"/>
              <a:t>存储器通常有两个部分：</a:t>
            </a:r>
            <a:r>
              <a:rPr lang="zh-CN" altLang="en-US" sz="2400">
                <a:solidFill>
                  <a:srgbClr val="FF0000"/>
                </a:solidFill>
              </a:rPr>
              <a:t>主存储器</a:t>
            </a:r>
            <a:r>
              <a:rPr lang="zh-CN" altLang="en-US" sz="2400"/>
              <a:t>和</a:t>
            </a:r>
            <a:r>
              <a:rPr lang="zh-CN" altLang="en-US" sz="2400">
                <a:solidFill>
                  <a:srgbClr val="FF0000"/>
                </a:solidFill>
              </a:rPr>
              <a:t>辅助存储器</a:t>
            </a:r>
            <a:r>
              <a:rPr lang="zh-CN" altLang="en-US" sz="2400"/>
              <a:t>。主存的存取速度直接影响计算机的整体运行速度。弥补内存功能不足的存储器被称为辅助存储器。</a:t>
            </a:r>
          </a:p>
          <a:p>
            <a:r>
              <a:rPr lang="zh-CN" altLang="en-US" sz="2400"/>
              <a:t>内存按信息的存取方式分为两种：</a:t>
            </a:r>
            <a:r>
              <a:rPr lang="zh-CN" altLang="en-US" sz="2400">
                <a:solidFill>
                  <a:srgbClr val="FF0000"/>
                </a:solidFill>
              </a:rPr>
              <a:t>ROM</a:t>
            </a:r>
            <a:r>
              <a:rPr lang="zh-CN" altLang="en-US" sz="2400"/>
              <a:t>和</a:t>
            </a:r>
            <a:r>
              <a:rPr lang="zh-CN" altLang="en-US" sz="2400">
                <a:solidFill>
                  <a:srgbClr val="FF0000"/>
                </a:solidFill>
              </a:rPr>
              <a:t>RAM</a:t>
            </a:r>
            <a:r>
              <a:rPr lang="zh-CN" altLang="en-US" sz="2400"/>
              <a:t>。</a:t>
            </a:r>
          </a:p>
          <a:p>
            <a:r>
              <a:rPr lang="zh-CN" altLang="en-US" sz="2400"/>
              <a:t>ROM（Read Only Memory，简称ROM），</a:t>
            </a:r>
            <a:r>
              <a:rPr lang="zh-CN" altLang="en-US" sz="2400">
                <a:solidFill>
                  <a:srgbClr val="FF0000"/>
                </a:solidFill>
              </a:rPr>
              <a:t>只读存储器</a:t>
            </a:r>
            <a:r>
              <a:rPr lang="zh-CN" altLang="en-US" sz="2400"/>
              <a:t>，信息</a:t>
            </a:r>
            <a:r>
              <a:rPr lang="zh-CN" altLang="en-US" sz="2400">
                <a:solidFill>
                  <a:srgbClr val="FF0000"/>
                </a:solidFill>
              </a:rPr>
              <a:t>一旦写入就不能更改。掉电后数据不会丢失</a:t>
            </a:r>
            <a:r>
              <a:rPr lang="zh-CN" altLang="en-US" sz="2400"/>
              <a:t>。</a:t>
            </a:r>
          </a:p>
          <a:p>
            <a:r>
              <a:rPr lang="zh-CN" altLang="en-US" sz="2400"/>
              <a:t>（EPROM：可擦除可编程只读存储器（紫外线擦除；EEPROM：电擦除只读存储器）</a:t>
            </a:r>
          </a:p>
          <a:p>
            <a:endParaRPr lang="zh-CN" altLang="en-US" sz="2400"/>
          </a:p>
        </p:txBody>
      </p:sp>
      <p:pic>
        <p:nvPicPr>
          <p:cNvPr id="6" name="图片 5" descr="联想截图_20231214002915"/>
          <p:cNvPicPr>
            <a:picLocks noChangeAspect="1"/>
          </p:cNvPicPr>
          <p:nvPr>
            <p:custDataLst>
              <p:tags r:id="rId1"/>
            </p:custDataLst>
          </p:nvPr>
        </p:nvPicPr>
        <p:blipFill>
          <a:blip r:embed="rId5"/>
          <a:stretch>
            <a:fillRect/>
          </a:stretch>
        </p:blipFill>
        <p:spPr>
          <a:xfrm>
            <a:off x="4435475" y="6219825"/>
            <a:ext cx="545465" cy="546735"/>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11988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600" noProof="0" dirty="0">
                <a:ln>
                  <a:noFill/>
                </a:ln>
                <a:solidFill>
                  <a:prstClr val="black"/>
                </a:solidFill>
                <a:effectLst/>
                <a:uLnTx/>
                <a:uFillTx/>
                <a:latin typeface="方正公文黑体" panose="02000500000000000000" pitchFamily="2" charset="-122"/>
                <a:ea typeface="方正公文黑体" panose="02000500000000000000" pitchFamily="2" charset="-122"/>
                <a:sym typeface="+mn-ea"/>
              </a:rPr>
              <a:t>计算机硬件组成</a:t>
            </a:r>
            <a:endParaRPr kumimoji="0" lang="zh-CN" altLang="en-US"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endParaRP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3" name="文本框 2"/>
          <p:cNvSpPr txBox="1"/>
          <p:nvPr/>
        </p:nvSpPr>
        <p:spPr>
          <a:xfrm>
            <a:off x="1827530" y="1354455"/>
            <a:ext cx="9000490" cy="4173855"/>
          </a:xfrm>
          <a:prstGeom prst="rect">
            <a:avLst/>
          </a:prstGeom>
          <a:noFill/>
        </p:spPr>
        <p:txBody>
          <a:bodyPr wrap="square" rtlCol="0" anchor="t">
            <a:noAutofit/>
          </a:bodyPr>
          <a:lstStyle/>
          <a:p>
            <a:r>
              <a:rPr lang="zh-CN" altLang="en-US" sz="2400">
                <a:sym typeface="+mn-ea"/>
              </a:rPr>
              <a:t>RAM （Random Access Memory，简称RAM），随机存储器，是内存的主体。需要电源的支持，</a:t>
            </a:r>
            <a:r>
              <a:rPr lang="zh-CN" altLang="en-US" sz="2400">
                <a:solidFill>
                  <a:srgbClr val="FF0000"/>
                </a:solidFill>
                <a:sym typeface="+mn-ea"/>
              </a:rPr>
              <a:t>一旦切断电源，其中的所有数据立即完全消失</a:t>
            </a:r>
            <a:r>
              <a:rPr lang="zh-CN" altLang="en-US" sz="2400">
                <a:sym typeface="+mn-ea"/>
              </a:rPr>
              <a:t>。</a:t>
            </a:r>
            <a:endParaRPr lang="zh-CN" altLang="en-US" sz="2400"/>
          </a:p>
          <a:p>
            <a:r>
              <a:rPr lang="zh-CN" altLang="en-US" sz="2400">
                <a:sym typeface="+mn-ea"/>
              </a:rPr>
              <a:t>RAM有两大类：</a:t>
            </a:r>
            <a:endParaRPr lang="zh-CN" altLang="en-US" sz="2400"/>
          </a:p>
          <a:p>
            <a:r>
              <a:rPr lang="zh-CN" altLang="en-US" sz="2400">
                <a:sym typeface="+mn-ea"/>
              </a:rPr>
              <a:t>1）静态RAM(Static RAM/SRAM)，速度快，但是集成度低，功耗大，且非常昂贵，一般应用于CPU中的寄存器及Cache（缓存）</a:t>
            </a:r>
            <a:endParaRPr lang="zh-CN" altLang="en-US" sz="2400"/>
          </a:p>
          <a:p>
            <a:r>
              <a:rPr lang="zh-CN" altLang="en-US" sz="2400">
                <a:sym typeface="+mn-ea"/>
              </a:rPr>
              <a:t>2）动态RAM(Dynamic RAM/DRAM)，保留数据的时间很短，需进行周期性充电刷新；速度也比SRAM慢，但集成度高，功耗低，价格上比SRAM要便宜很多，计算机内存就是DRAM</a:t>
            </a:r>
          </a:p>
        </p:txBody>
      </p:sp>
      <p:pic>
        <p:nvPicPr>
          <p:cNvPr id="6" name="图片 5" descr="联想截图_20231214002915"/>
          <p:cNvPicPr>
            <a:picLocks noChangeAspect="1"/>
          </p:cNvPicPr>
          <p:nvPr>
            <p:custDataLst>
              <p:tags r:id="rId1"/>
            </p:custDataLst>
          </p:nvPr>
        </p:nvPicPr>
        <p:blipFill>
          <a:blip r:embed="rId5"/>
          <a:stretch>
            <a:fillRect/>
          </a:stretch>
        </p:blipFill>
        <p:spPr>
          <a:xfrm>
            <a:off x="4435475" y="6219825"/>
            <a:ext cx="545465" cy="546735"/>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11988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600" noProof="0" dirty="0">
                <a:ln>
                  <a:noFill/>
                </a:ln>
                <a:solidFill>
                  <a:prstClr val="black"/>
                </a:solidFill>
                <a:effectLst/>
                <a:uLnTx/>
                <a:uFillTx/>
                <a:latin typeface="方正公文黑体" panose="02000500000000000000" pitchFamily="2" charset="-122"/>
                <a:ea typeface="方正公文黑体" panose="02000500000000000000" pitchFamily="2" charset="-122"/>
                <a:sym typeface="+mn-ea"/>
              </a:rPr>
              <a:t>计算机硬件组成</a:t>
            </a:r>
            <a:endParaRPr kumimoji="0" lang="zh-CN" altLang="en-US"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endParaRP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3" name="文本框 2"/>
          <p:cNvSpPr txBox="1"/>
          <p:nvPr/>
        </p:nvSpPr>
        <p:spPr>
          <a:xfrm>
            <a:off x="1157605" y="1205230"/>
            <a:ext cx="10506710" cy="4815205"/>
          </a:xfrm>
          <a:prstGeom prst="rect">
            <a:avLst/>
          </a:prstGeom>
          <a:noFill/>
        </p:spPr>
        <p:txBody>
          <a:bodyPr wrap="square" rtlCol="0" anchor="t">
            <a:noAutofit/>
          </a:bodyPr>
          <a:lstStyle/>
          <a:p>
            <a:r>
              <a:rPr lang="zh-CN" altLang="en-US" sz="2400"/>
              <a:t>与存储器相关的几个重要的概念</a:t>
            </a:r>
          </a:p>
          <a:p>
            <a:r>
              <a:rPr lang="zh-CN" altLang="en-US" sz="2400"/>
              <a:t>1.</a:t>
            </a:r>
            <a:r>
              <a:rPr lang="zh-CN" altLang="en-US" sz="2400">
                <a:solidFill>
                  <a:srgbClr val="FF0000"/>
                </a:solidFill>
              </a:rPr>
              <a:t>位(bit)</a:t>
            </a:r>
            <a:r>
              <a:rPr lang="zh-CN" altLang="en-US" sz="2400"/>
              <a:t>：“位”（b）是计算机中最小的信息单位，也就是一个二进制数。</a:t>
            </a:r>
          </a:p>
          <a:p>
            <a:r>
              <a:rPr lang="zh-CN" altLang="en-US" sz="2400"/>
              <a:t>2.</a:t>
            </a:r>
            <a:r>
              <a:rPr lang="zh-CN" altLang="en-US" sz="2400">
                <a:solidFill>
                  <a:srgbClr val="FF0000"/>
                </a:solidFill>
              </a:rPr>
              <a:t>字节(Byte)</a:t>
            </a:r>
            <a:r>
              <a:rPr lang="zh-CN" altLang="en-US" sz="2400"/>
              <a:t>：8个相邻的bit组成一组，称为一个字节（B）。 “字节”是读写内存的基本存储单位，也是计算机度量存储容量的计量单位。</a:t>
            </a:r>
          </a:p>
          <a:p>
            <a:r>
              <a:rPr lang="zh-CN" altLang="en-US" sz="2400"/>
              <a:t>3.</a:t>
            </a:r>
            <a:r>
              <a:rPr lang="zh-CN" altLang="en-US" sz="2400">
                <a:solidFill>
                  <a:srgbClr val="FF0000"/>
                </a:solidFill>
              </a:rPr>
              <a:t>字(word)和字长</a:t>
            </a:r>
            <a:r>
              <a:rPr lang="zh-CN" altLang="en-US" sz="2400"/>
              <a:t>： “字”是计算机能同时处理的一组二进制数，“字长”是这组二进制数的位数。运算器、控制器、内存都是以字为单位进行数据传送和处理的。一个字由若干字节组成。</a:t>
            </a:r>
          </a:p>
          <a:p>
            <a:r>
              <a:rPr lang="zh-CN" altLang="en-US" sz="2400"/>
              <a:t>4.</a:t>
            </a:r>
            <a:r>
              <a:rPr lang="zh-CN" altLang="en-US" sz="2400">
                <a:solidFill>
                  <a:srgbClr val="FF0000"/>
                </a:solidFill>
              </a:rPr>
              <a:t>地址</a:t>
            </a:r>
            <a:r>
              <a:rPr lang="zh-CN" altLang="en-US" sz="2400"/>
              <a:t>：在计算机中，内存通常是按存储单元组织的。所有存储单元构成一个存储矩阵，为了方便存取，在这个矩阵中，对每个存储单元按一定的顺序编号，这个编号被称为“地址”。每个存储单元存放的二进制位数相同，通常是字节或字长。</a:t>
            </a:r>
          </a:p>
        </p:txBody>
      </p:sp>
      <p:pic>
        <p:nvPicPr>
          <p:cNvPr id="6" name="图片 5" descr="联想截图_20231214002915"/>
          <p:cNvPicPr>
            <a:picLocks noChangeAspect="1"/>
          </p:cNvPicPr>
          <p:nvPr>
            <p:custDataLst>
              <p:tags r:id="rId1"/>
            </p:custDataLst>
          </p:nvPr>
        </p:nvPicPr>
        <p:blipFill>
          <a:blip r:embed="rId4"/>
          <a:stretch>
            <a:fillRect/>
          </a:stretch>
        </p:blipFill>
        <p:spPr>
          <a:xfrm>
            <a:off x="4435475" y="6219825"/>
            <a:ext cx="545465" cy="546735"/>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11988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600" noProof="0" dirty="0">
                <a:ln>
                  <a:noFill/>
                </a:ln>
                <a:solidFill>
                  <a:prstClr val="black"/>
                </a:solidFill>
                <a:effectLst/>
                <a:uLnTx/>
                <a:uFillTx/>
                <a:latin typeface="方正公文黑体" panose="02000500000000000000" pitchFamily="2" charset="-122"/>
                <a:ea typeface="方正公文黑体" panose="02000500000000000000" pitchFamily="2" charset="-122"/>
                <a:sym typeface="+mn-ea"/>
              </a:rPr>
              <a:t>计算机硬件组成</a:t>
            </a:r>
            <a:endParaRPr kumimoji="0" lang="zh-CN" altLang="en-US"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endParaRP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3" name="文本框 2"/>
          <p:cNvSpPr txBox="1"/>
          <p:nvPr/>
        </p:nvSpPr>
        <p:spPr>
          <a:xfrm>
            <a:off x="1524000" y="898525"/>
            <a:ext cx="9441815" cy="4949190"/>
          </a:xfrm>
          <a:prstGeom prst="rect">
            <a:avLst/>
          </a:prstGeom>
          <a:noFill/>
        </p:spPr>
        <p:txBody>
          <a:bodyPr wrap="square" rtlCol="0" anchor="t">
            <a:noAutofit/>
          </a:bodyPr>
          <a:lstStyle/>
          <a:p>
            <a:r>
              <a:rPr lang="en-US" altLang="zh-CN" sz="2400"/>
              <a:t>5.</a:t>
            </a:r>
            <a:r>
              <a:rPr lang="zh-CN" altLang="en-US" sz="2400">
                <a:solidFill>
                  <a:srgbClr val="FF0000"/>
                </a:solidFill>
              </a:rPr>
              <a:t>存储容量</a:t>
            </a:r>
            <a:r>
              <a:rPr lang="zh-CN" altLang="en-US" sz="2400"/>
              <a:t>：存储容量是描述计算机存储能力的指标，通常以字节为最小的计量单位，用B表示。</a:t>
            </a:r>
          </a:p>
          <a:p>
            <a:r>
              <a:rPr lang="zh-CN" altLang="en-US" sz="2400"/>
              <a:t>1KB（千字节）= 1024B（210B）</a:t>
            </a:r>
          </a:p>
          <a:p>
            <a:r>
              <a:rPr lang="zh-CN" altLang="en-US" sz="2400"/>
              <a:t>1MB（兆字节）= 1024 KB= 10241024B（220B）</a:t>
            </a:r>
          </a:p>
          <a:p>
            <a:r>
              <a:rPr lang="zh-CN" altLang="en-US" sz="2400"/>
              <a:t>         相当于一则短篇小说的文字内容</a:t>
            </a:r>
          </a:p>
          <a:p>
            <a:r>
              <a:rPr lang="zh-CN" altLang="en-US" sz="2400"/>
              <a:t>1GB（吉字节）= 1024 MB= 102410241024B（230B）</a:t>
            </a:r>
          </a:p>
          <a:p>
            <a:r>
              <a:rPr lang="zh-CN" altLang="en-US" sz="2400"/>
              <a:t>         相当于贝多芬第五乐章交响曲的乐谱内容</a:t>
            </a:r>
          </a:p>
          <a:p>
            <a:r>
              <a:rPr lang="zh-CN" altLang="en-US" sz="2400"/>
              <a:t>1TB（太字节）= 1024GB=240B</a:t>
            </a:r>
          </a:p>
          <a:p>
            <a:r>
              <a:rPr lang="zh-CN" altLang="en-US" sz="2400"/>
              <a:t>         相当于一家大型医院中所有的X光图片资讯量</a:t>
            </a:r>
          </a:p>
          <a:p>
            <a:endParaRPr lang="zh-CN" altLang="en-US" sz="2400"/>
          </a:p>
          <a:p>
            <a:r>
              <a:rPr lang="zh-CN" altLang="en-US" sz="2400"/>
              <a:t>1PB（拍字节）=250B，50%的全美学术研究图书馆藏书资讯内容</a:t>
            </a:r>
          </a:p>
          <a:p>
            <a:r>
              <a:rPr lang="zh-CN" altLang="en-US" sz="2400"/>
              <a:t>1EB（艾字节）=260B，5EB相当于至今全世界人类所讲过的话语</a:t>
            </a:r>
          </a:p>
          <a:p>
            <a:r>
              <a:rPr lang="zh-CN" altLang="en-US" sz="2400"/>
              <a:t>1ZB（泽字节）=270B，如同全世界海滩上的沙子数量总和</a:t>
            </a:r>
          </a:p>
          <a:p>
            <a:r>
              <a:rPr lang="zh-CN" altLang="en-US" sz="2400"/>
              <a:t>1YB（尧字节）=280B，相当于7000位人类体内的微细胞总和</a:t>
            </a:r>
          </a:p>
        </p:txBody>
      </p:sp>
      <p:pic>
        <p:nvPicPr>
          <p:cNvPr id="6" name="图片 5" descr="联想截图_20231214002915"/>
          <p:cNvPicPr>
            <a:picLocks noChangeAspect="1"/>
          </p:cNvPicPr>
          <p:nvPr>
            <p:custDataLst>
              <p:tags r:id="rId1"/>
            </p:custDataLst>
          </p:nvPr>
        </p:nvPicPr>
        <p:blipFill>
          <a:blip r:embed="rId4"/>
          <a:stretch>
            <a:fillRect/>
          </a:stretch>
        </p:blipFill>
        <p:spPr>
          <a:xfrm>
            <a:off x="4435475" y="6219825"/>
            <a:ext cx="545465" cy="546735"/>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rPr>
              <a:t>计算机的基本工作原理</a:t>
            </a: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3" name="文本框 2"/>
          <p:cNvSpPr txBox="1"/>
          <p:nvPr/>
        </p:nvSpPr>
        <p:spPr>
          <a:xfrm>
            <a:off x="1295400" y="1280795"/>
            <a:ext cx="9738995" cy="4130675"/>
          </a:xfrm>
          <a:prstGeom prst="rect">
            <a:avLst/>
          </a:prstGeom>
          <a:noFill/>
        </p:spPr>
        <p:txBody>
          <a:bodyPr wrap="square" rtlCol="0" anchor="t">
            <a:noAutofit/>
          </a:bodyPr>
          <a:lstStyle/>
          <a:p>
            <a:r>
              <a:rPr lang="zh-CN" altLang="en-US" sz="2400">
                <a:solidFill>
                  <a:srgbClr val="FF0000"/>
                </a:solidFill>
              </a:rPr>
              <a:t>指令</a:t>
            </a:r>
            <a:r>
              <a:rPr lang="zh-CN" altLang="en-US" sz="2400"/>
              <a:t>：是人对计算机发出的工作命令，它通知计算机执行某种操作。（取数、存数、加、减）</a:t>
            </a:r>
          </a:p>
          <a:p>
            <a:r>
              <a:rPr lang="zh-CN" altLang="en-US" sz="2400">
                <a:solidFill>
                  <a:srgbClr val="FF0000"/>
                </a:solidFill>
              </a:rPr>
              <a:t>编制</a:t>
            </a:r>
            <a:r>
              <a:rPr lang="zh-CN" altLang="en-US" sz="2400"/>
              <a:t>：通常指令以二进制编码形式表示，即由一串二进制排列组合而成的符号串，其中的所有信息都是计算机硬件能识别的，所以又称为机器指令。（操作码、地址码）</a:t>
            </a:r>
          </a:p>
          <a:p>
            <a:r>
              <a:rPr lang="zh-CN" altLang="en-US" sz="2400"/>
              <a:t>一般来说，任何指令系统都应具有五类功能的指令，即：数据传送类、算术运算和逻辑运算类、程序控制类、输入输出类、控制和管理机器类（停机、启动、复位、清除等）。要使计算机解决特定的问题，就需要按照问题要求写出一个指令序列——程序</a:t>
            </a:r>
          </a:p>
          <a:p>
            <a:r>
              <a:rPr lang="zh-CN" altLang="en-US" sz="2400">
                <a:solidFill>
                  <a:srgbClr val="FF0000"/>
                </a:solidFill>
              </a:rPr>
              <a:t>n位操作码的指令系统最多有2n条指令</a:t>
            </a:r>
            <a:endParaRPr lang="zh-CN" altLang="en-US" sz="2400"/>
          </a:p>
          <a:p>
            <a:r>
              <a:rPr lang="zh-CN" altLang="en-US" sz="2400">
                <a:solidFill>
                  <a:schemeClr val="tx1"/>
                </a:solidFill>
              </a:rPr>
              <a:t>指令是有限的，程序能完成的任务是无限的</a:t>
            </a:r>
          </a:p>
        </p:txBody>
      </p:sp>
      <p:pic>
        <p:nvPicPr>
          <p:cNvPr id="6" name="图片 5" descr="联想截图_20231214002915"/>
          <p:cNvPicPr>
            <a:picLocks noChangeAspect="1"/>
          </p:cNvPicPr>
          <p:nvPr>
            <p:custDataLst>
              <p:tags r:id="rId1"/>
            </p:custDataLst>
          </p:nvPr>
        </p:nvPicPr>
        <p:blipFill>
          <a:blip r:embed="rId4"/>
          <a:stretch>
            <a:fillRect/>
          </a:stretch>
        </p:blipFill>
        <p:spPr>
          <a:xfrm>
            <a:off x="4435475" y="6219825"/>
            <a:ext cx="545465" cy="546735"/>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3600" noProof="0" dirty="0">
                <a:ln>
                  <a:noFill/>
                </a:ln>
                <a:solidFill>
                  <a:prstClr val="black"/>
                </a:solidFill>
                <a:effectLst/>
                <a:uLnTx/>
                <a:uFillTx/>
                <a:latin typeface="方正公文黑体" panose="02000500000000000000" pitchFamily="2" charset="-122"/>
                <a:ea typeface="方正公文黑体" panose="02000500000000000000" pitchFamily="2" charset="-122"/>
                <a:sym typeface="+mn-ea"/>
              </a:rPr>
              <a:t>计算机的基本工作原理</a:t>
            </a:r>
            <a:endParaRPr kumimoji="0" lang="en-US" altLang="zh-CN"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endParaRP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3" name="文本框 2"/>
          <p:cNvSpPr txBox="1"/>
          <p:nvPr/>
        </p:nvSpPr>
        <p:spPr>
          <a:xfrm>
            <a:off x="891540" y="1010285"/>
            <a:ext cx="10162540" cy="4721860"/>
          </a:xfrm>
          <a:prstGeom prst="rect">
            <a:avLst/>
          </a:prstGeom>
          <a:noFill/>
        </p:spPr>
        <p:txBody>
          <a:bodyPr wrap="square" rtlCol="0" anchor="t">
            <a:noAutofit/>
          </a:bodyPr>
          <a:lstStyle/>
          <a:p>
            <a:r>
              <a:rPr lang="zh-CN" altLang="en-US" sz="2400"/>
              <a:t>计算机的控制器由五个重要部件组成：</a:t>
            </a:r>
            <a:r>
              <a:rPr lang="zh-CN" altLang="en-US" sz="2400">
                <a:solidFill>
                  <a:srgbClr val="FF0000"/>
                </a:solidFill>
              </a:rPr>
              <a:t>指令寄存器、程序计数器、操作码译码器、地址生成部件、时序电路等</a:t>
            </a:r>
            <a:r>
              <a:rPr lang="zh-CN" altLang="en-US" sz="2400"/>
              <a:t>。</a:t>
            </a:r>
          </a:p>
          <a:p>
            <a:r>
              <a:rPr lang="zh-CN" altLang="en-US" sz="2400"/>
              <a:t>完成一条指令的操作可分为</a:t>
            </a:r>
            <a:r>
              <a:rPr lang="zh-CN" altLang="en-US" sz="2400">
                <a:solidFill>
                  <a:srgbClr val="FF0000"/>
                </a:solidFill>
              </a:rPr>
              <a:t>三个阶段</a:t>
            </a:r>
            <a:r>
              <a:rPr lang="zh-CN" altLang="en-US" sz="2400"/>
              <a:t>：</a:t>
            </a:r>
          </a:p>
          <a:p>
            <a:r>
              <a:rPr lang="en-US" altLang="zh-CN" sz="2400"/>
              <a:t>1.</a:t>
            </a:r>
            <a:r>
              <a:rPr lang="zh-CN" altLang="en-US" sz="2400">
                <a:solidFill>
                  <a:srgbClr val="FF0000"/>
                </a:solidFill>
              </a:rPr>
              <a:t>取指令</a:t>
            </a:r>
            <a:r>
              <a:rPr lang="zh-CN" altLang="en-US" sz="2400"/>
              <a:t>：根据程序计数器PC的内容(指令地址)到内存中取出指令，并放置到</a:t>
            </a:r>
            <a:r>
              <a:rPr lang="zh-CN" altLang="en-US" sz="2400">
                <a:solidFill>
                  <a:schemeClr val="tx1"/>
                </a:solidFill>
              </a:rPr>
              <a:t>指令寄存器(Instruction Register，简称IR)</a:t>
            </a:r>
            <a:r>
              <a:rPr lang="zh-CN" altLang="en-US" sz="2400"/>
              <a:t>中。IR是用来临时存放当前执行的指令代码的专用寄存器，等待译码器来分析指令。当一条指令被取出后，PC便自动加“1”，使之指向下一条要执行的指令地址，为取下一条指令作好准备。</a:t>
            </a:r>
          </a:p>
          <a:p>
            <a:r>
              <a:rPr lang="en-US" altLang="zh-CN" sz="2400"/>
              <a:t>2.</a:t>
            </a:r>
            <a:r>
              <a:rPr lang="zh-CN" altLang="en-US" sz="2400">
                <a:solidFill>
                  <a:srgbClr val="FF0000"/>
                </a:solidFill>
              </a:rPr>
              <a:t>分析指令</a:t>
            </a:r>
            <a:r>
              <a:rPr lang="zh-CN" altLang="en-US" sz="2400">
                <a:solidFill>
                  <a:schemeClr val="tx1"/>
                </a:solidFill>
              </a:rPr>
              <a:t>：控制器中的操作码译码器对操作码进行译码，然后送往操作控制器（OC），以识别不同的指令类别及各种获取操作数的方法，产生执行指令的操作命令（也称微命令），发往计算机需要执行操作的各个部件。</a:t>
            </a:r>
          </a:p>
          <a:p>
            <a:r>
              <a:rPr lang="en-US" altLang="zh-CN" sz="2400">
                <a:solidFill>
                  <a:schemeClr val="tx1"/>
                </a:solidFill>
              </a:rPr>
              <a:t>3.</a:t>
            </a:r>
            <a:r>
              <a:rPr lang="zh-CN" altLang="en-US" sz="2400">
                <a:solidFill>
                  <a:srgbClr val="FF0000"/>
                </a:solidFill>
              </a:rPr>
              <a:t>执行指令</a:t>
            </a:r>
            <a:r>
              <a:rPr lang="zh-CN" altLang="en-US" sz="2400">
                <a:solidFill>
                  <a:schemeClr val="tx1"/>
                </a:solidFill>
              </a:rPr>
              <a:t>：根据操作命令取出操作数，完成指令规定的操作</a:t>
            </a:r>
            <a:r>
              <a:rPr lang="zh-CN" altLang="en-US" sz="2000">
                <a:solidFill>
                  <a:schemeClr val="tx1"/>
                </a:solidFill>
              </a:rPr>
              <a:t>。</a:t>
            </a:r>
          </a:p>
        </p:txBody>
      </p:sp>
      <p:pic>
        <p:nvPicPr>
          <p:cNvPr id="6" name="图片 5" descr="联想截图_20231214002915"/>
          <p:cNvPicPr>
            <a:picLocks noChangeAspect="1"/>
          </p:cNvPicPr>
          <p:nvPr>
            <p:custDataLst>
              <p:tags r:id="rId1"/>
            </p:custDataLst>
          </p:nvPr>
        </p:nvPicPr>
        <p:blipFill>
          <a:blip r:embed="rId4"/>
          <a:stretch>
            <a:fillRect/>
          </a:stretch>
        </p:blipFill>
        <p:spPr>
          <a:xfrm>
            <a:off x="4435475" y="6219825"/>
            <a:ext cx="545465" cy="546735"/>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3600" noProof="0" dirty="0">
                <a:ln>
                  <a:noFill/>
                </a:ln>
                <a:solidFill>
                  <a:prstClr val="black"/>
                </a:solidFill>
                <a:effectLst/>
                <a:uLnTx/>
                <a:uFillTx/>
                <a:latin typeface="方正公文黑体" panose="02000500000000000000" pitchFamily="2" charset="-122"/>
                <a:ea typeface="方正公文黑体" panose="02000500000000000000" pitchFamily="2" charset="-122"/>
                <a:sym typeface="+mn-ea"/>
              </a:rPr>
              <a:t>计算机的基本工作原理</a:t>
            </a:r>
            <a:endParaRPr kumimoji="0" lang="en-US" altLang="zh-CN"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endParaRP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pic>
        <p:nvPicPr>
          <p:cNvPr id="4" name="图片 3"/>
          <p:cNvPicPr>
            <a:picLocks noChangeAspect="1"/>
          </p:cNvPicPr>
          <p:nvPr>
            <p:custDataLst>
              <p:tags r:id="rId1"/>
            </p:custDataLst>
          </p:nvPr>
        </p:nvPicPr>
        <p:blipFill>
          <a:blip r:embed="rId6"/>
          <a:stretch>
            <a:fillRect/>
          </a:stretch>
        </p:blipFill>
        <p:spPr>
          <a:xfrm>
            <a:off x="8409940" y="2915920"/>
            <a:ext cx="3288665" cy="3144520"/>
          </a:xfrm>
          <a:prstGeom prst="rect">
            <a:avLst/>
          </a:prstGeom>
        </p:spPr>
      </p:pic>
      <p:pic>
        <p:nvPicPr>
          <p:cNvPr id="6" name="图片 5"/>
          <p:cNvPicPr>
            <a:picLocks noChangeAspect="1"/>
          </p:cNvPicPr>
          <p:nvPr>
            <p:custDataLst>
              <p:tags r:id="rId2"/>
            </p:custDataLst>
          </p:nvPr>
        </p:nvPicPr>
        <p:blipFill>
          <a:blip r:embed="rId7"/>
          <a:stretch>
            <a:fillRect/>
          </a:stretch>
        </p:blipFill>
        <p:spPr>
          <a:xfrm>
            <a:off x="722630" y="897890"/>
            <a:ext cx="7781290" cy="4697730"/>
          </a:xfrm>
          <a:prstGeom prst="rect">
            <a:avLst/>
          </a:prstGeom>
        </p:spPr>
      </p:pic>
      <p:pic>
        <p:nvPicPr>
          <p:cNvPr id="9" name="图片 8" descr="联想截图_20231214002915"/>
          <p:cNvPicPr>
            <a:picLocks noChangeAspect="1"/>
          </p:cNvPicPr>
          <p:nvPr>
            <p:custDataLst>
              <p:tags r:id="rId3"/>
            </p:custDataLst>
          </p:nvPr>
        </p:nvPicPr>
        <p:blipFill>
          <a:blip r:embed="rId8"/>
          <a:stretch>
            <a:fillRect/>
          </a:stretch>
        </p:blipFill>
        <p:spPr>
          <a:xfrm>
            <a:off x="4435475" y="6219825"/>
            <a:ext cx="545465" cy="546735"/>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600" dirty="0">
                <a:solidFill>
                  <a:srgbClr val="000048"/>
                </a:solidFill>
                <a:latin typeface="微软雅黑" panose="020B0503020204020204" charset="-122"/>
                <a:ea typeface="微软雅黑" panose="020B0503020204020204" charset="-122"/>
                <a:sym typeface="+mn-ea"/>
              </a:rPr>
              <a:t>微型计算机体系结构</a:t>
            </a:r>
            <a:endParaRPr kumimoji="0" lang="en-US" altLang="zh-CN"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endParaRP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3" name="文本框 2"/>
          <p:cNvSpPr txBox="1"/>
          <p:nvPr/>
        </p:nvSpPr>
        <p:spPr>
          <a:xfrm>
            <a:off x="1047750" y="1090930"/>
            <a:ext cx="9711055" cy="4045585"/>
          </a:xfrm>
          <a:prstGeom prst="rect">
            <a:avLst/>
          </a:prstGeom>
          <a:noFill/>
        </p:spPr>
        <p:txBody>
          <a:bodyPr wrap="square" rtlCol="0" anchor="t">
            <a:noAutofit/>
          </a:bodyPr>
          <a:lstStyle/>
          <a:p>
            <a:r>
              <a:rPr lang="zh-CN" altLang="en-US" sz="2400"/>
              <a:t>硬件系统组成:</a:t>
            </a:r>
            <a:r>
              <a:rPr lang="zh-CN" altLang="en-US" sz="2400">
                <a:solidFill>
                  <a:srgbClr val="FF0000"/>
                </a:solidFill>
              </a:rPr>
              <a:t>输入设备、输出设备、外存储设备、内存和一个微处理器</a:t>
            </a:r>
          </a:p>
          <a:p>
            <a:r>
              <a:rPr lang="zh-CN" altLang="en-US" sz="2400"/>
              <a:t>微型机的两大结构特点：</a:t>
            </a:r>
            <a:r>
              <a:rPr lang="zh-CN" altLang="en-US" sz="2400">
                <a:solidFill>
                  <a:srgbClr val="FF0000"/>
                </a:solidFill>
              </a:rPr>
              <a:t>采用微处理器作为CPU、采用总线实现系统连接</a:t>
            </a:r>
          </a:p>
          <a:p>
            <a:r>
              <a:rPr lang="zh-CN" altLang="en-US" sz="2400">
                <a:solidFill>
                  <a:srgbClr val="FF0000"/>
                </a:solidFill>
              </a:rPr>
              <a:t>总线结构</a:t>
            </a:r>
            <a:r>
              <a:rPr lang="zh-CN" altLang="en-US" sz="2400"/>
              <a:t>：为了简化硬件电路设计、简化系统结构，常用一组线路，配置以适当的接口电路，与各部件和外围设备连接，这组共用的连接线路被称为总线。</a:t>
            </a:r>
          </a:p>
          <a:p>
            <a:r>
              <a:rPr lang="zh-CN" altLang="en-US" sz="2400"/>
              <a:t>总线的</a:t>
            </a:r>
            <a:r>
              <a:rPr lang="zh-CN" altLang="en-US" sz="2400">
                <a:solidFill>
                  <a:srgbClr val="FF0000"/>
                </a:solidFill>
              </a:rPr>
              <a:t>类型</a:t>
            </a:r>
            <a:r>
              <a:rPr lang="zh-CN" altLang="en-US" sz="2400"/>
              <a:t>：（按照离CPU远近等级分类）</a:t>
            </a:r>
          </a:p>
          <a:p>
            <a:r>
              <a:rPr lang="zh-CN" altLang="en-US" sz="2400"/>
              <a:t>1.</a:t>
            </a:r>
            <a:r>
              <a:rPr lang="zh-CN" altLang="en-US" sz="2400">
                <a:solidFill>
                  <a:srgbClr val="FF0000"/>
                </a:solidFill>
              </a:rPr>
              <a:t>内部总线</a:t>
            </a:r>
            <a:r>
              <a:rPr lang="zh-CN" altLang="en-US" sz="2400"/>
              <a:t>，是在CPU集成电路芯片内部的总线，也叫片内总线。</a:t>
            </a:r>
          </a:p>
          <a:p>
            <a:r>
              <a:rPr lang="zh-CN" altLang="en-US" sz="2400"/>
              <a:t>2.</a:t>
            </a:r>
            <a:r>
              <a:rPr lang="zh-CN" altLang="en-US" sz="2400">
                <a:solidFill>
                  <a:srgbClr val="FF0000"/>
                </a:solidFill>
              </a:rPr>
              <a:t>系统总线</a:t>
            </a:r>
            <a:r>
              <a:rPr lang="zh-CN" altLang="en-US" sz="2400"/>
              <a:t>，是各插件板与主板之间的总线，用于插件板一级的互连，也叫系统总线。</a:t>
            </a:r>
          </a:p>
          <a:p>
            <a:r>
              <a:rPr lang="zh-CN" altLang="en-US" sz="2400"/>
              <a:t>3.</a:t>
            </a:r>
            <a:r>
              <a:rPr lang="zh-CN" altLang="en-US" sz="2400">
                <a:solidFill>
                  <a:srgbClr val="FF0000"/>
                </a:solidFill>
              </a:rPr>
              <a:t>外部总线</a:t>
            </a:r>
            <a:r>
              <a:rPr lang="zh-CN" altLang="en-US" sz="2400"/>
              <a:t>，是微机与外部设备之间的总线，也称为</a:t>
            </a:r>
            <a:r>
              <a:rPr lang="zh-CN" altLang="en-US" sz="2400">
                <a:solidFill>
                  <a:srgbClr val="FF0000"/>
                </a:solidFill>
              </a:rPr>
              <a:t>扩展总线</a:t>
            </a:r>
            <a:r>
              <a:rPr lang="zh-CN" altLang="en-US" sz="2400"/>
              <a:t>。</a:t>
            </a:r>
          </a:p>
        </p:txBody>
      </p:sp>
      <p:pic>
        <p:nvPicPr>
          <p:cNvPr id="6" name="图片 5" descr="联想截图_20231214002915"/>
          <p:cNvPicPr>
            <a:picLocks noChangeAspect="1"/>
          </p:cNvPicPr>
          <p:nvPr>
            <p:custDataLst>
              <p:tags r:id="rId1"/>
            </p:custDataLst>
          </p:nvPr>
        </p:nvPicPr>
        <p:blipFill>
          <a:blip r:embed="rId4"/>
          <a:stretch>
            <a:fillRect/>
          </a:stretch>
        </p:blipFill>
        <p:spPr>
          <a:xfrm>
            <a:off x="4435475" y="6219825"/>
            <a:ext cx="545465" cy="546735"/>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600" dirty="0">
                <a:solidFill>
                  <a:srgbClr val="000048"/>
                </a:solidFill>
                <a:latin typeface="微软雅黑" panose="020B0503020204020204" charset="-122"/>
                <a:ea typeface="微软雅黑" panose="020B0503020204020204" charset="-122"/>
                <a:sym typeface="+mn-ea"/>
              </a:rPr>
              <a:t>微型计算机体系结构</a:t>
            </a:r>
            <a:endParaRPr kumimoji="0" lang="en-US" altLang="zh-CN"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endParaRP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3" name="文本框 2"/>
          <p:cNvSpPr txBox="1"/>
          <p:nvPr/>
        </p:nvSpPr>
        <p:spPr>
          <a:xfrm>
            <a:off x="1123950" y="942340"/>
            <a:ext cx="9345295" cy="2676525"/>
          </a:xfrm>
          <a:prstGeom prst="rect">
            <a:avLst/>
          </a:prstGeom>
          <a:noFill/>
        </p:spPr>
        <p:txBody>
          <a:bodyPr wrap="square" rtlCol="0" anchor="t">
            <a:spAutoFit/>
          </a:bodyPr>
          <a:lstStyle/>
          <a:p>
            <a:r>
              <a:rPr lang="zh-CN" altLang="en-US" sz="2400"/>
              <a:t>系统总线分为三类：</a:t>
            </a:r>
          </a:p>
          <a:p>
            <a:r>
              <a:rPr lang="zh-CN" altLang="en-US" sz="2400">
                <a:solidFill>
                  <a:srgbClr val="FF0000"/>
                </a:solidFill>
              </a:rPr>
              <a:t>数据总线（DB）双向</a:t>
            </a:r>
          </a:p>
          <a:p>
            <a:r>
              <a:rPr lang="zh-CN" altLang="en-US" sz="2400">
                <a:solidFill>
                  <a:srgbClr val="FF0000"/>
                </a:solidFill>
              </a:rPr>
              <a:t>地址总线（AB）单向（只能从CPU送出）</a:t>
            </a:r>
          </a:p>
          <a:p>
            <a:r>
              <a:rPr lang="zh-CN" altLang="en-US" sz="2400">
                <a:solidFill>
                  <a:srgbClr val="FF0000"/>
                </a:solidFill>
              </a:rPr>
              <a:t>控制总线（CB）双向</a:t>
            </a:r>
          </a:p>
          <a:p>
            <a:r>
              <a:rPr lang="zh-CN" altLang="en-US" sz="2400"/>
              <a:t>地址总线的位数决定了CPU可直接寻址的内存空间的大小。地址总线为n位（n根引脚），则可寻址空间为2n字节。</a:t>
            </a:r>
          </a:p>
          <a:p>
            <a:endParaRPr lang="zh-CN" altLang="en-US" sz="2400"/>
          </a:p>
        </p:txBody>
      </p:sp>
      <p:pic>
        <p:nvPicPr>
          <p:cNvPr id="4" name="图片 3"/>
          <p:cNvPicPr>
            <a:picLocks noChangeAspect="1"/>
          </p:cNvPicPr>
          <p:nvPr>
            <p:custDataLst>
              <p:tags r:id="rId1"/>
            </p:custDataLst>
          </p:nvPr>
        </p:nvPicPr>
        <p:blipFill>
          <a:blip r:embed="rId5"/>
          <a:stretch>
            <a:fillRect/>
          </a:stretch>
        </p:blipFill>
        <p:spPr>
          <a:xfrm>
            <a:off x="1957070" y="3395980"/>
            <a:ext cx="7098665" cy="2480310"/>
          </a:xfrm>
          <a:prstGeom prst="rect">
            <a:avLst/>
          </a:prstGeom>
        </p:spPr>
      </p:pic>
      <p:pic>
        <p:nvPicPr>
          <p:cNvPr id="6" name="图片 5" descr="联想截图_20231214002915"/>
          <p:cNvPicPr>
            <a:picLocks noChangeAspect="1"/>
          </p:cNvPicPr>
          <p:nvPr>
            <p:custDataLst>
              <p:tags r:id="rId2"/>
            </p:custDataLst>
          </p:nvPr>
        </p:nvPicPr>
        <p:blipFill>
          <a:blip r:embed="rId6"/>
          <a:stretch>
            <a:fillRect/>
          </a:stretch>
        </p:blipFill>
        <p:spPr>
          <a:xfrm>
            <a:off x="4435475" y="6219825"/>
            <a:ext cx="545465" cy="546735"/>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600" dirty="0">
                <a:solidFill>
                  <a:srgbClr val="000048"/>
                </a:solidFill>
                <a:latin typeface="微软雅黑" panose="020B0503020204020204" charset="-122"/>
                <a:ea typeface="微软雅黑" panose="020B0503020204020204" charset="-122"/>
                <a:sym typeface="+mn-ea"/>
              </a:rPr>
              <a:t>微型计算机体系结构</a:t>
            </a:r>
            <a:endParaRPr kumimoji="0" lang="en-US" altLang="zh-CN"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endParaRP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3" name="文本框 2"/>
          <p:cNvSpPr txBox="1"/>
          <p:nvPr/>
        </p:nvSpPr>
        <p:spPr>
          <a:xfrm>
            <a:off x="1409700" y="1227455"/>
            <a:ext cx="9372600" cy="4892675"/>
          </a:xfrm>
          <a:prstGeom prst="rect">
            <a:avLst/>
          </a:prstGeom>
          <a:noFill/>
        </p:spPr>
        <p:txBody>
          <a:bodyPr wrap="square" rtlCol="0" anchor="t">
            <a:spAutoFit/>
          </a:bodyPr>
          <a:lstStyle/>
          <a:p>
            <a:r>
              <a:rPr lang="zh-CN" altLang="en-US" sz="2400"/>
              <a:t>总线的技术指标：</a:t>
            </a:r>
          </a:p>
          <a:p>
            <a:r>
              <a:rPr lang="zh-CN" altLang="en-US" sz="2400"/>
              <a:t>1.</a:t>
            </a:r>
            <a:r>
              <a:rPr lang="zh-CN" altLang="en-US" sz="2400">
                <a:solidFill>
                  <a:srgbClr val="FF0000"/>
                </a:solidFill>
              </a:rPr>
              <a:t>总线带宽</a:t>
            </a:r>
            <a:r>
              <a:rPr lang="zh-CN" altLang="en-US" sz="2400"/>
              <a:t>：单位时间内总线上可传送的数据量。它表达了数据的传输率。与总线带宽密切相关的两个因素是总线位宽和总线频率/总线周期。</a:t>
            </a:r>
          </a:p>
          <a:p>
            <a:r>
              <a:rPr lang="zh-CN" altLang="en-US" sz="2400"/>
              <a:t>2.</a:t>
            </a:r>
            <a:r>
              <a:rPr lang="zh-CN" altLang="en-US" sz="2400">
                <a:solidFill>
                  <a:srgbClr val="FF0000"/>
                </a:solidFill>
              </a:rPr>
              <a:t>总线位宽</a:t>
            </a:r>
            <a:r>
              <a:rPr lang="zh-CN" altLang="en-US" sz="2400"/>
              <a:t>：总线能同时传送的二进制位数。微总线位数越多，传输数据就越快。</a:t>
            </a:r>
          </a:p>
          <a:p>
            <a:r>
              <a:rPr lang="zh-CN" altLang="en-US" sz="2400"/>
              <a:t>3.总线频率：含义与处理器的时钟频率一样，用MHz表示，总线频率越高，传送数据越快。</a:t>
            </a:r>
          </a:p>
          <a:p>
            <a:r>
              <a:rPr lang="zh-CN" altLang="en-US" sz="2400"/>
              <a:t>4.总线周期：CPU通过总线对存储器或I/O接口进行一次访问所需要的时间。</a:t>
            </a:r>
          </a:p>
          <a:p>
            <a:r>
              <a:rPr lang="zh-CN" altLang="en-US" sz="2400"/>
              <a:t>总线带宽=总线频率*总线位宽/8     或</a:t>
            </a:r>
          </a:p>
          <a:p>
            <a:r>
              <a:rPr lang="zh-CN" altLang="en-US" sz="2400"/>
              <a:t>    总线带宽=（总线位宽/8 ）/总线周期</a:t>
            </a:r>
          </a:p>
          <a:p>
            <a:r>
              <a:rPr lang="zh-CN" altLang="en-US" sz="2400"/>
              <a:t>（单位：字节/秒）</a:t>
            </a:r>
            <a:r>
              <a:rPr lang="zh-CN" altLang="en-US"/>
              <a:t>	</a:t>
            </a:r>
          </a:p>
        </p:txBody>
      </p:sp>
      <p:pic>
        <p:nvPicPr>
          <p:cNvPr id="6" name="图片 5" descr="联想截图_20231214002915"/>
          <p:cNvPicPr>
            <a:picLocks noChangeAspect="1"/>
          </p:cNvPicPr>
          <p:nvPr>
            <p:custDataLst>
              <p:tags r:id="rId1"/>
            </p:custDataLst>
          </p:nvPr>
        </p:nvPicPr>
        <p:blipFill>
          <a:blip r:embed="rId4"/>
          <a:stretch>
            <a:fillRect/>
          </a:stretch>
        </p:blipFill>
        <p:spPr>
          <a:xfrm>
            <a:off x="4435475" y="6219825"/>
            <a:ext cx="545465" cy="546735"/>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600" dirty="0">
                <a:solidFill>
                  <a:srgbClr val="000048"/>
                </a:solidFill>
                <a:latin typeface="微软雅黑" panose="020B0503020204020204" charset="-122"/>
                <a:ea typeface="微软雅黑" panose="020B0503020204020204" charset="-122"/>
                <a:sym typeface="+mn-ea"/>
              </a:rPr>
              <a:t>微型计算机体系结构</a:t>
            </a:r>
            <a:endParaRPr kumimoji="0" lang="en-US" altLang="zh-CN"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endParaRP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4" name="文本框 3"/>
          <p:cNvSpPr txBox="1"/>
          <p:nvPr/>
        </p:nvSpPr>
        <p:spPr>
          <a:xfrm>
            <a:off x="1315085" y="1353185"/>
            <a:ext cx="9352915" cy="829945"/>
          </a:xfrm>
          <a:prstGeom prst="rect">
            <a:avLst/>
          </a:prstGeom>
          <a:noFill/>
        </p:spPr>
        <p:txBody>
          <a:bodyPr wrap="square" rtlCol="0" anchor="t">
            <a:spAutoFit/>
          </a:bodyPr>
          <a:lstStyle/>
          <a:p>
            <a:r>
              <a:rPr lang="zh-CN" altLang="en-US" sz="2400"/>
              <a:t>多级存储器体系中的存储实体由上向下分为四层：微处理器存储层、</a:t>
            </a:r>
            <a:r>
              <a:rPr lang="zh-CN" altLang="en-US" sz="2400">
                <a:solidFill>
                  <a:srgbClr val="FF0000"/>
                </a:solidFill>
              </a:rPr>
              <a:t>高速缓冲存储层</a:t>
            </a:r>
            <a:r>
              <a:rPr lang="zh-CN" altLang="en-US" sz="2400"/>
              <a:t>、主存储层和外存储层</a:t>
            </a:r>
          </a:p>
        </p:txBody>
      </p:sp>
      <p:pic>
        <p:nvPicPr>
          <p:cNvPr id="12" name="图片 11"/>
          <p:cNvPicPr>
            <a:picLocks noChangeAspect="1"/>
          </p:cNvPicPr>
          <p:nvPr>
            <p:custDataLst>
              <p:tags r:id="rId1"/>
            </p:custDataLst>
          </p:nvPr>
        </p:nvPicPr>
        <p:blipFill>
          <a:blip r:embed="rId5"/>
          <a:stretch>
            <a:fillRect/>
          </a:stretch>
        </p:blipFill>
        <p:spPr>
          <a:xfrm>
            <a:off x="1315085" y="2655570"/>
            <a:ext cx="2946400" cy="2992120"/>
          </a:xfrm>
          <a:prstGeom prst="rect">
            <a:avLst/>
          </a:prstGeom>
        </p:spPr>
      </p:pic>
      <p:sp>
        <p:nvSpPr>
          <p:cNvPr id="13" name="文本框 12"/>
          <p:cNvSpPr txBox="1"/>
          <p:nvPr/>
        </p:nvSpPr>
        <p:spPr>
          <a:xfrm>
            <a:off x="4648200" y="2434590"/>
            <a:ext cx="6441440" cy="3342005"/>
          </a:xfrm>
          <a:prstGeom prst="rect">
            <a:avLst/>
          </a:prstGeom>
          <a:noFill/>
        </p:spPr>
        <p:txBody>
          <a:bodyPr wrap="square" rtlCol="0" anchor="t">
            <a:noAutofit/>
          </a:bodyPr>
          <a:lstStyle/>
          <a:p>
            <a:r>
              <a:rPr lang="zh-CN" altLang="en-US" sz="2400">
                <a:solidFill>
                  <a:srgbClr val="FF0000"/>
                </a:solidFill>
              </a:rPr>
              <a:t>高速缓冲存储器Cache层</a:t>
            </a:r>
            <a:r>
              <a:rPr lang="zh-CN" altLang="en-US" sz="2400"/>
              <a:t>：</a:t>
            </a:r>
          </a:p>
          <a:p>
            <a:r>
              <a:rPr lang="zh-CN" altLang="en-US" sz="2400"/>
              <a:t>多级存储器体系结构的第二层，设置在CPU和主存之间。</a:t>
            </a:r>
          </a:p>
          <a:p>
            <a:r>
              <a:rPr lang="zh-CN" altLang="en-US" sz="2400"/>
              <a:t>Cache集成在CPU内部，高速，小容量</a:t>
            </a:r>
          </a:p>
          <a:p>
            <a:r>
              <a:rPr lang="zh-CN" altLang="en-US" sz="2400"/>
              <a:t>一般由SRAM</a:t>
            </a:r>
            <a:r>
              <a:rPr lang="en-US" altLang="zh-CN" sz="2400"/>
              <a:t>(</a:t>
            </a:r>
            <a:r>
              <a:rPr lang="zh-CN" altLang="en-US" sz="2400"/>
              <a:t>静态随机存储器</a:t>
            </a:r>
            <a:r>
              <a:rPr lang="en-US" altLang="zh-CN" sz="2400"/>
              <a:t>)</a:t>
            </a:r>
            <a:r>
              <a:rPr lang="zh-CN" altLang="en-US" sz="2400"/>
              <a:t>构成</a:t>
            </a:r>
          </a:p>
          <a:p>
            <a:r>
              <a:rPr lang="zh-CN" altLang="en-US" sz="2400"/>
              <a:t>CPU与Cache之间的数据交换是以字为单位的，而Cache与主存之间的数据交换是以块为单位的</a:t>
            </a:r>
          </a:p>
        </p:txBody>
      </p:sp>
      <p:pic>
        <p:nvPicPr>
          <p:cNvPr id="15" name="图片 14" descr="联想截图_20231214002915"/>
          <p:cNvPicPr>
            <a:picLocks noChangeAspect="1"/>
          </p:cNvPicPr>
          <p:nvPr>
            <p:custDataLst>
              <p:tags r:id="rId2"/>
            </p:custDataLst>
          </p:nvPr>
        </p:nvPicPr>
        <p:blipFill>
          <a:blip r:embed="rId6"/>
          <a:stretch>
            <a:fillRect/>
          </a:stretch>
        </p:blipFill>
        <p:spPr>
          <a:xfrm>
            <a:off x="4435475" y="6219825"/>
            <a:ext cx="545465" cy="546735"/>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600" dirty="0">
                <a:solidFill>
                  <a:srgbClr val="000048"/>
                </a:solidFill>
                <a:latin typeface="微软雅黑" panose="020B0503020204020204" charset="-122"/>
                <a:ea typeface="微软雅黑" panose="020B0503020204020204" charset="-122"/>
                <a:sym typeface="+mn-ea"/>
              </a:rPr>
              <a:t>微型计算机体系结构</a:t>
            </a:r>
            <a:endParaRPr kumimoji="0" lang="en-US" altLang="zh-CN"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endParaRP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3" name="文本框 2"/>
          <p:cNvSpPr txBox="1"/>
          <p:nvPr/>
        </p:nvSpPr>
        <p:spPr>
          <a:xfrm>
            <a:off x="1485265" y="1389380"/>
            <a:ext cx="9144000" cy="3415030"/>
          </a:xfrm>
          <a:prstGeom prst="rect">
            <a:avLst/>
          </a:prstGeom>
          <a:noFill/>
        </p:spPr>
        <p:txBody>
          <a:bodyPr wrap="square" rtlCol="0" anchor="t">
            <a:spAutoFit/>
          </a:bodyPr>
          <a:lstStyle/>
          <a:p>
            <a:r>
              <a:rPr lang="zh-CN" altLang="en-US" sz="2400"/>
              <a:t>硬盘：</a:t>
            </a:r>
          </a:p>
          <a:p>
            <a:r>
              <a:rPr lang="zh-CN" altLang="en-US" sz="2400"/>
              <a:t>硬盘有数个盘片，每个盘片有上下两个面，每个面一个磁头。</a:t>
            </a:r>
          </a:p>
          <a:p>
            <a:r>
              <a:rPr lang="zh-CN" altLang="en-US" sz="2400"/>
              <a:t>同一盘片不同半径的同心圆为磁道。</a:t>
            </a:r>
          </a:p>
          <a:p>
            <a:r>
              <a:rPr lang="zh-CN" altLang="en-US" sz="2400"/>
              <a:t>磁道被划分为多个扇区（硬盘的最小存储区域）。</a:t>
            </a:r>
          </a:p>
          <a:p>
            <a:r>
              <a:rPr lang="zh-CN" altLang="en-US" sz="2400"/>
              <a:t>不同盘片相同磁道构成的圆柱面即柱面 。</a:t>
            </a:r>
          </a:p>
          <a:p>
            <a:r>
              <a:rPr lang="zh-CN" altLang="en-US" sz="2400">
                <a:solidFill>
                  <a:srgbClr val="FF0000"/>
                </a:solidFill>
              </a:rPr>
              <a:t>存储容量</a:t>
            </a:r>
            <a:r>
              <a:rPr lang="zh-CN" altLang="en-US" sz="2400"/>
              <a:t>＝磁头数×磁道（柱面）数×每道扇区数×每扇区字节数。</a:t>
            </a:r>
          </a:p>
          <a:p>
            <a:r>
              <a:rPr lang="zh-CN" altLang="en-US" sz="2400"/>
              <a:t>    如，软盘容量=2*80*18*512=1.44MB</a:t>
            </a:r>
          </a:p>
          <a:p>
            <a:r>
              <a:rPr lang="zh-CN" altLang="en-US" sz="2400"/>
              <a:t>信息记录的位置可表示为：</a:t>
            </a:r>
          </a:p>
          <a:p>
            <a:r>
              <a:rPr lang="zh-CN" altLang="en-US" sz="2400"/>
              <a:t>几号磁道（柱面），几号磁头，几号扇区（如0-1-1）</a:t>
            </a:r>
          </a:p>
        </p:txBody>
      </p:sp>
      <p:pic>
        <p:nvPicPr>
          <p:cNvPr id="6" name="图片 5" descr="联想截图_20231214002915"/>
          <p:cNvPicPr>
            <a:picLocks noChangeAspect="1"/>
          </p:cNvPicPr>
          <p:nvPr>
            <p:custDataLst>
              <p:tags r:id="rId1"/>
            </p:custDataLst>
          </p:nvPr>
        </p:nvPicPr>
        <p:blipFill>
          <a:blip r:embed="rId4"/>
          <a:stretch>
            <a:fillRect/>
          </a:stretch>
        </p:blipFill>
        <p:spPr>
          <a:xfrm>
            <a:off x="4435475" y="6219825"/>
            <a:ext cx="545465" cy="546735"/>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600" dirty="0">
                <a:solidFill>
                  <a:srgbClr val="000048"/>
                </a:solidFill>
                <a:latin typeface="微软雅黑" panose="020B0503020204020204" charset="-122"/>
                <a:ea typeface="微软雅黑" panose="020B0503020204020204" charset="-122"/>
                <a:sym typeface="+mn-ea"/>
              </a:rPr>
              <a:t>微机性能指标</a:t>
            </a: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3" name="文本框 2"/>
          <p:cNvSpPr txBox="1"/>
          <p:nvPr/>
        </p:nvSpPr>
        <p:spPr>
          <a:xfrm>
            <a:off x="1524000" y="1229360"/>
            <a:ext cx="9027795" cy="4349115"/>
          </a:xfrm>
          <a:prstGeom prst="rect">
            <a:avLst/>
          </a:prstGeom>
          <a:noFill/>
        </p:spPr>
        <p:txBody>
          <a:bodyPr wrap="square" rtlCol="0" anchor="t">
            <a:noAutofit/>
          </a:bodyPr>
          <a:lstStyle/>
          <a:p>
            <a:r>
              <a:rPr lang="zh-CN" altLang="en-US" sz="2400">
                <a:solidFill>
                  <a:srgbClr val="FF0000"/>
                </a:solidFill>
              </a:rPr>
              <a:t>字长</a:t>
            </a:r>
            <a:r>
              <a:rPr lang="zh-CN" altLang="en-US" sz="2400"/>
              <a:t>：处理机运算器中一次能够完成二进制数运算的位数，如32位、64位；</a:t>
            </a:r>
          </a:p>
          <a:p>
            <a:r>
              <a:rPr lang="zh-CN" altLang="en-US" sz="2400"/>
              <a:t>主频：微型计算机中CPU的时钟频率（CPU Clock Speed），也就是CPU运算时的工作频率。主频越高，一个时钟周期里完成的指令数也越多，CPU的速度就越快。</a:t>
            </a:r>
          </a:p>
          <a:p>
            <a:r>
              <a:rPr lang="zh-CN" altLang="en-US" sz="2400"/>
              <a:t>内存储器容量：内存中所有存储单元的总数目，其大小反映了计算机即时存储信息的能力。内存最大容量由CPU的地址总线的位数决定，目前是GB级；</a:t>
            </a:r>
          </a:p>
          <a:p>
            <a:r>
              <a:rPr lang="zh-CN" altLang="en-US" sz="2400"/>
              <a:t>外存储器的容量：硬盘容量（内置硬盘）。</a:t>
            </a:r>
          </a:p>
          <a:p>
            <a:r>
              <a:rPr lang="zh-CN" altLang="en-US" sz="2400"/>
              <a:t>外设扩展能力：指一台微型计算机可配置外部设备的数量以及配置外部设备的类型，对整个系统的性能有重大影响。</a:t>
            </a:r>
          </a:p>
        </p:txBody>
      </p:sp>
      <p:pic>
        <p:nvPicPr>
          <p:cNvPr id="6" name="图片 5" descr="联想截图_20231214002915"/>
          <p:cNvPicPr>
            <a:picLocks noChangeAspect="1"/>
          </p:cNvPicPr>
          <p:nvPr>
            <p:custDataLst>
              <p:tags r:id="rId1"/>
            </p:custDataLst>
          </p:nvPr>
        </p:nvPicPr>
        <p:blipFill>
          <a:blip r:embed="rId4"/>
          <a:stretch>
            <a:fillRect/>
          </a:stretch>
        </p:blipFill>
        <p:spPr>
          <a:xfrm>
            <a:off x="4435475" y="6219825"/>
            <a:ext cx="545465" cy="546735"/>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609600" indent="-609600" eaLnBrk="1" hangingPunct="1">
              <a:buFontTx/>
              <a:buNone/>
            </a:pPr>
            <a:r>
              <a:rPr lang="zh-CN" altLang="en-US" sz="3600" dirty="0">
                <a:solidFill>
                  <a:srgbClr val="000048"/>
                </a:solidFill>
                <a:latin typeface="微软雅黑" panose="020B0503020204020204" charset="-122"/>
                <a:ea typeface="微软雅黑" panose="020B0503020204020204" charset="-122"/>
                <a:sym typeface="+mn-ea"/>
              </a:rPr>
              <a:t>并行计算机体系结构</a:t>
            </a:r>
            <a:endParaRPr kumimoji="0" lang="en-US" altLang="zh-CN"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endParaRP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3" name="文本框 2"/>
          <p:cNvSpPr txBox="1"/>
          <p:nvPr/>
        </p:nvSpPr>
        <p:spPr>
          <a:xfrm>
            <a:off x="1275080" y="1176020"/>
            <a:ext cx="9294495" cy="4799965"/>
          </a:xfrm>
          <a:prstGeom prst="rect">
            <a:avLst/>
          </a:prstGeom>
          <a:noFill/>
        </p:spPr>
        <p:txBody>
          <a:bodyPr wrap="square" rtlCol="0" anchor="t">
            <a:spAutoFit/>
          </a:bodyPr>
          <a:lstStyle/>
          <a:p>
            <a:endParaRPr lang="zh-CN" altLang="en-US"/>
          </a:p>
          <a:p>
            <a:r>
              <a:rPr lang="zh-CN" altLang="en-US" sz="2400"/>
              <a:t>单纯地通过芯片的集成度来提高计算机的速度是有限的，并行处理才是提高计算速度的关键。并行计算机强调任务并行分配、协作完成、资源共享的理念，所以并行计算机需要多个处理单元组成的计算机系统支持。</a:t>
            </a:r>
          </a:p>
          <a:p>
            <a:r>
              <a:rPr lang="zh-CN" altLang="en-US" sz="2400"/>
              <a:t>为了实施并行计算必须满足三个基本条件：</a:t>
            </a:r>
          </a:p>
          <a:p>
            <a:r>
              <a:rPr lang="zh-CN" altLang="en-US" sz="2400"/>
              <a:t>1.</a:t>
            </a:r>
            <a:r>
              <a:rPr lang="zh-CN" altLang="en-US" sz="2400">
                <a:solidFill>
                  <a:srgbClr val="FF0000"/>
                </a:solidFill>
              </a:rPr>
              <a:t>并行机</a:t>
            </a:r>
            <a:r>
              <a:rPr lang="zh-CN" altLang="en-US" sz="2400"/>
              <a:t>。至少包含两台或两台以上处理机，这些处理机通过互连网络相互连接通信</a:t>
            </a:r>
          </a:p>
          <a:p>
            <a:r>
              <a:rPr lang="zh-CN" altLang="en-US" sz="2400"/>
              <a:t>2.</a:t>
            </a:r>
            <a:r>
              <a:rPr lang="zh-CN" altLang="en-US" sz="2400">
                <a:solidFill>
                  <a:srgbClr val="FF0000"/>
                </a:solidFill>
              </a:rPr>
              <a:t>应用问题必须具有并行度</a:t>
            </a:r>
            <a:r>
              <a:rPr lang="zh-CN" altLang="en-US" sz="2400"/>
              <a:t>。将一个应用分解为多个子任务的过程，称为并行算法设计</a:t>
            </a:r>
          </a:p>
          <a:p>
            <a:r>
              <a:rPr lang="zh-CN" altLang="en-US" sz="2400"/>
              <a:t>3.</a:t>
            </a:r>
            <a:r>
              <a:rPr lang="zh-CN" altLang="en-US" sz="2400">
                <a:solidFill>
                  <a:srgbClr val="FF0000"/>
                </a:solidFill>
              </a:rPr>
              <a:t>并行编程</a:t>
            </a:r>
            <a:r>
              <a:rPr lang="zh-CN" altLang="en-US" sz="2400"/>
              <a:t>。</a:t>
            </a:r>
          </a:p>
          <a:p>
            <a:r>
              <a:rPr lang="zh-CN" altLang="en-US" sz="2400"/>
              <a:t>集群（Cluster）技术是指一组相互独立的计算机，利用高速通信网络组成一个计算机系统。</a:t>
            </a:r>
          </a:p>
        </p:txBody>
      </p:sp>
      <p:pic>
        <p:nvPicPr>
          <p:cNvPr id="6" name="图片 5" descr="联想截图_20231214002915"/>
          <p:cNvPicPr>
            <a:picLocks noChangeAspect="1"/>
          </p:cNvPicPr>
          <p:nvPr>
            <p:custDataLst>
              <p:tags r:id="rId1"/>
            </p:custDataLst>
          </p:nvPr>
        </p:nvPicPr>
        <p:blipFill>
          <a:blip r:embed="rId4"/>
          <a:stretch>
            <a:fillRect/>
          </a:stretch>
        </p:blipFill>
        <p:spPr>
          <a:xfrm>
            <a:off x="4435475" y="6219825"/>
            <a:ext cx="545465" cy="546735"/>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rPr>
              <a:t>一些题</a:t>
            </a: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4" name="文本框 3"/>
          <p:cNvSpPr txBox="1"/>
          <p:nvPr/>
        </p:nvSpPr>
        <p:spPr>
          <a:xfrm>
            <a:off x="1649730" y="1167130"/>
            <a:ext cx="9117330" cy="4092575"/>
          </a:xfrm>
          <a:prstGeom prst="rect">
            <a:avLst/>
          </a:prstGeom>
          <a:noFill/>
        </p:spPr>
        <p:txBody>
          <a:bodyPr wrap="square" rtlCol="0" anchor="t">
            <a:spAutoFit/>
          </a:bodyPr>
          <a:lstStyle/>
          <a:p>
            <a:r>
              <a:rPr lang="zh-CN" altLang="en-US" sz="2000"/>
              <a:t>·计算机硬件的五大基本构件包括运算器、存储器、输入设备、输出设备和（B ）。</a:t>
            </a:r>
          </a:p>
          <a:p>
            <a:r>
              <a:rPr lang="zh-CN" altLang="en-US" sz="2000"/>
              <a:t>A 显示器、B 控制器、C 硬盘存储器、D 鼠标器</a:t>
            </a:r>
          </a:p>
          <a:p>
            <a:r>
              <a:rPr lang="zh-CN" altLang="en-US" sz="2000"/>
              <a:t>·计算机主机的组成是（B ）。</a:t>
            </a:r>
          </a:p>
          <a:p>
            <a:r>
              <a:rPr lang="zh-CN" altLang="en-US" sz="2000"/>
              <a:t>A 运算器和控制器、B中央处理器和主存储器、C 运算器和外设、D 运算器和存储器</a:t>
            </a:r>
          </a:p>
          <a:p>
            <a:r>
              <a:rPr lang="zh-CN" altLang="en-US" sz="2000"/>
              <a:t>·光盘是一种已广泛使用的外存储器，英文缩写CD-ROM指的是（A ）。</a:t>
            </a:r>
          </a:p>
          <a:p>
            <a:r>
              <a:rPr lang="zh-CN" altLang="en-US" sz="2000"/>
              <a:t>A 只读型光盘、B 一次写入光盘、C 追记型读写光盘、D 可抹型光盘</a:t>
            </a:r>
          </a:p>
          <a:p>
            <a:r>
              <a:rPr lang="zh-CN" altLang="en-US" sz="2000"/>
              <a:t>·计算机系统由两大部分组成，它们是（C ）。</a:t>
            </a:r>
          </a:p>
          <a:p>
            <a:r>
              <a:rPr lang="zh-CN" altLang="en-US" sz="2000"/>
              <a:t>A 系统软件和应用软件、B 主机和外部设备、C 硬件系统和软件系统、D 输入设备和输出设备</a:t>
            </a:r>
          </a:p>
          <a:p>
            <a:r>
              <a:rPr lang="zh-CN" altLang="en-US" sz="2000"/>
              <a:t>·在计算机中表示存储容量时，下列描述中正确的是（C ）。</a:t>
            </a:r>
          </a:p>
          <a:p>
            <a:r>
              <a:rPr lang="zh-CN" altLang="en-US" sz="2000"/>
              <a:t>A 1KB=1024MB、B 1KB=1000B、C 1MB=1024KB、D 1MB=1024GB</a:t>
            </a:r>
          </a:p>
        </p:txBody>
      </p:sp>
      <p:pic>
        <p:nvPicPr>
          <p:cNvPr id="6" name="图片 5" descr="联想截图_20231214002915"/>
          <p:cNvPicPr>
            <a:picLocks noChangeAspect="1"/>
          </p:cNvPicPr>
          <p:nvPr>
            <p:custDataLst>
              <p:tags r:id="rId1"/>
            </p:custDataLst>
          </p:nvPr>
        </p:nvPicPr>
        <p:blipFill>
          <a:blip r:embed="rId4"/>
          <a:stretch>
            <a:fillRect/>
          </a:stretch>
        </p:blipFill>
        <p:spPr>
          <a:xfrm>
            <a:off x="4435475" y="6219825"/>
            <a:ext cx="545465" cy="546735"/>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rPr>
              <a:t>一些题</a:t>
            </a: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3" name="文本框 2"/>
          <p:cNvSpPr txBox="1"/>
          <p:nvPr/>
        </p:nvSpPr>
        <p:spPr>
          <a:xfrm>
            <a:off x="1158875" y="1028700"/>
            <a:ext cx="9652000" cy="4399915"/>
          </a:xfrm>
          <a:prstGeom prst="rect">
            <a:avLst/>
          </a:prstGeom>
          <a:noFill/>
        </p:spPr>
        <p:txBody>
          <a:bodyPr wrap="square" rtlCol="0" anchor="t">
            <a:spAutoFit/>
          </a:bodyPr>
          <a:lstStyle/>
          <a:p>
            <a:r>
              <a:rPr lang="zh-CN" altLang="en-US" sz="2000"/>
              <a:t>·一个完整的微型计算机系统应包括__C___。 </a:t>
            </a:r>
          </a:p>
          <a:p>
            <a:r>
              <a:rPr lang="zh-CN" altLang="en-US" sz="2000"/>
              <a:t>A 计算机及外部设备、B 主机箱、键盘、显示器和打印机、C 硬件系统和软件系统、D 系统软件和系统硬件 </a:t>
            </a:r>
          </a:p>
          <a:p>
            <a:r>
              <a:rPr lang="zh-CN" altLang="en-US" sz="2000"/>
              <a:t>·人们把以_A____为硬件基本部件的计算机称为第四代计算机。 </a:t>
            </a:r>
          </a:p>
          <a:p>
            <a:r>
              <a:rPr lang="zh-CN" altLang="en-US" sz="2000"/>
              <a:t>A 大规模和超大规模集成电路、B ROM和RAM、C 小规模集成电路、D 磁带与磁盘 </a:t>
            </a:r>
          </a:p>
          <a:p>
            <a:r>
              <a:rPr lang="zh-CN" altLang="en-US" sz="2000"/>
              <a:t>·在下面关于计算机系统硬件的说法中，不正确的是_C____。 </a:t>
            </a:r>
          </a:p>
          <a:p>
            <a:r>
              <a:rPr lang="zh-CN" altLang="en-US" sz="2000"/>
              <a:t>A CPU主要由运算器、控制器和寄存器组成、B 当关闭计算机电源后，RAM中的程序和数据就消失了、C 软盘和硬盘上的数据均可由CPU直接存取 、D     ·软盘和硬盘驱动器既属于输入设备，又属于输出设备 </a:t>
            </a:r>
          </a:p>
          <a:p>
            <a:r>
              <a:rPr lang="zh-CN" altLang="en-US" sz="2000"/>
              <a:t>1、第一台通用电子数字计算机（   B ）年公诸于世。</a:t>
            </a:r>
          </a:p>
          <a:p>
            <a:r>
              <a:rPr lang="zh-CN" altLang="en-US" sz="2000"/>
              <a:t>A 1949、B 1946、C 1942、D 1947</a:t>
            </a:r>
          </a:p>
          <a:p>
            <a:r>
              <a:rPr lang="zh-CN" altLang="en-US" sz="2000"/>
              <a:t>·计算机的内存储器比外存储器__A__。</a:t>
            </a:r>
          </a:p>
          <a:p>
            <a:r>
              <a:rPr lang="zh-CN" altLang="en-US" sz="2000"/>
              <a:t>A 速度快、B 存储量大、C 便宜、D 以上说法都不对</a:t>
            </a:r>
          </a:p>
          <a:p>
            <a:endParaRPr lang="zh-CN" altLang="en-US" sz="2000"/>
          </a:p>
        </p:txBody>
      </p:sp>
      <p:pic>
        <p:nvPicPr>
          <p:cNvPr id="6" name="图片 5" descr="联想截图_20231214002915"/>
          <p:cNvPicPr>
            <a:picLocks noChangeAspect="1"/>
          </p:cNvPicPr>
          <p:nvPr>
            <p:custDataLst>
              <p:tags r:id="rId1"/>
            </p:custDataLst>
          </p:nvPr>
        </p:nvPicPr>
        <p:blipFill>
          <a:blip r:embed="rId4"/>
          <a:stretch>
            <a:fillRect/>
          </a:stretch>
        </p:blipFill>
        <p:spPr>
          <a:xfrm>
            <a:off x="4435475" y="6219825"/>
            <a:ext cx="545465" cy="546735"/>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9154" y="6219714"/>
            <a:ext cx="2457450" cy="542925"/>
          </a:xfrm>
          <a:prstGeom prst="rect">
            <a:avLst/>
          </a:prstGeom>
        </p:spPr>
      </p:pic>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3" name="矩形 2" descr="7b0a2020202022776f7264617274223a2022220a7d0a"/>
          <p:cNvSpPr/>
          <p:nvPr/>
        </p:nvSpPr>
        <p:spPr>
          <a:xfrm>
            <a:off x="2047875" y="1551305"/>
            <a:ext cx="7646035" cy="4225925"/>
          </a:xfrm>
          <a:prstGeom prst="rect">
            <a:avLst/>
          </a:prstGeom>
          <a:noFill/>
          <a:ln>
            <a:noFill/>
          </a:ln>
        </p:spPr>
        <p:txBody>
          <a:bodyPr wrap="none" rtlCol="0" anchor="t">
            <a:noAutofit/>
          </a:bodyPr>
          <a:lstStyle/>
          <a:p>
            <a:pPr algn="ctr"/>
            <a:r>
              <a:rPr lang="zh-CN" altLang="en-US" sz="7200" b="1">
                <a:ln w="25400">
                  <a:solidFill>
                    <a:srgbClr val="FFD267"/>
                  </a:solidFill>
                </a:ln>
                <a:solidFill>
                  <a:srgbClr val="295280"/>
                </a:solidFill>
                <a:effectLst>
                  <a:outerShdw dist="50800" dir="2700000" algn="tl" rotWithShape="0">
                    <a:srgbClr val="FF896E">
                      <a:alpha val="100000"/>
                    </a:srgbClr>
                  </a:outerShdw>
                </a:effectLst>
                <a:latin typeface="汉仪力量黑简" charset="0"/>
                <a:ea typeface="汉仪力量黑简" charset="0"/>
              </a:rPr>
              <a:t>四、计算机软件平台</a:t>
            </a:r>
          </a:p>
        </p:txBody>
      </p:sp>
      <p:pic>
        <p:nvPicPr>
          <p:cNvPr id="6" name="图片 5" descr="联想截图_20231214002915"/>
          <p:cNvPicPr>
            <a:picLocks noChangeAspect="1"/>
          </p:cNvPicPr>
          <p:nvPr>
            <p:custDataLst>
              <p:tags r:id="rId1"/>
            </p:custDataLst>
          </p:nvPr>
        </p:nvPicPr>
        <p:blipFill>
          <a:blip r:embed="rId4"/>
          <a:stretch>
            <a:fillRect/>
          </a:stretch>
        </p:blipFill>
        <p:spPr>
          <a:xfrm>
            <a:off x="4435475" y="6219825"/>
            <a:ext cx="545465" cy="546735"/>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rPr>
              <a:t>目录</a:t>
            </a: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3" name="文本框 2"/>
          <p:cNvSpPr txBox="1"/>
          <p:nvPr/>
        </p:nvSpPr>
        <p:spPr>
          <a:xfrm>
            <a:off x="1524000" y="1131570"/>
            <a:ext cx="6961505" cy="4266565"/>
          </a:xfrm>
          <a:prstGeom prst="rect">
            <a:avLst/>
          </a:prstGeom>
          <a:noFill/>
        </p:spPr>
        <p:txBody>
          <a:bodyPr wrap="square" rtlCol="0" anchor="t">
            <a:noAutofit/>
          </a:bodyPr>
          <a:lstStyle/>
          <a:p>
            <a:r>
              <a:rPr lang="zh-CN" altLang="en-US" sz="2400"/>
              <a:t>1．计算机软件平台概述</a:t>
            </a:r>
          </a:p>
          <a:p>
            <a:r>
              <a:rPr lang="en-US" altLang="zh-CN" sz="2400"/>
              <a:t>  </a:t>
            </a:r>
            <a:r>
              <a:rPr lang="zh-CN" altLang="en-US" sz="2400"/>
              <a:t>操作系统的功能和特征</a:t>
            </a:r>
          </a:p>
          <a:p>
            <a:r>
              <a:rPr lang="zh-CN" altLang="en-US" sz="2400"/>
              <a:t>2．数据存储与文件管理</a:t>
            </a:r>
          </a:p>
          <a:p>
            <a:r>
              <a:rPr lang="en-US" altLang="zh-CN" sz="2400"/>
              <a:t>  </a:t>
            </a:r>
            <a:r>
              <a:rPr lang="zh-CN" altLang="en-US" sz="2400"/>
              <a:t>磁盘数据存储与管理</a:t>
            </a:r>
          </a:p>
          <a:p>
            <a:r>
              <a:rPr lang="en-US" altLang="zh-CN" sz="2400"/>
              <a:t>  </a:t>
            </a:r>
            <a:r>
              <a:rPr lang="zh-CN" altLang="en-US" sz="2400"/>
              <a:t>完整的文件描述（盘符、路径、文件名表示）</a:t>
            </a:r>
          </a:p>
          <a:p>
            <a:r>
              <a:rPr lang="en-US" altLang="zh-CN" sz="2400"/>
              <a:t>   </a:t>
            </a:r>
            <a:r>
              <a:rPr lang="zh-CN" altLang="en-US" sz="2400"/>
              <a:t>内存管理</a:t>
            </a:r>
          </a:p>
          <a:p>
            <a:r>
              <a:rPr lang="zh-CN" altLang="en-US" sz="2400"/>
              <a:t>3．程序运行管理</a:t>
            </a:r>
          </a:p>
          <a:p>
            <a:r>
              <a:rPr lang="en-US" altLang="zh-CN" sz="2400"/>
              <a:t>  </a:t>
            </a:r>
            <a:r>
              <a:rPr lang="zh-CN" altLang="en-US" sz="2400"/>
              <a:t>作业管理</a:t>
            </a:r>
          </a:p>
          <a:p>
            <a:r>
              <a:rPr lang="en-US" altLang="zh-CN" sz="2400"/>
              <a:t>  </a:t>
            </a:r>
            <a:r>
              <a:rPr lang="zh-CN" altLang="en-US" sz="2400"/>
              <a:t>处理机管理</a:t>
            </a:r>
          </a:p>
          <a:p>
            <a:r>
              <a:rPr lang="en-US" altLang="zh-CN" sz="2400"/>
              <a:t>  </a:t>
            </a:r>
            <a:r>
              <a:rPr lang="zh-CN" altLang="en-US" sz="2400"/>
              <a:t>设备管理</a:t>
            </a:r>
          </a:p>
        </p:txBody>
      </p:sp>
      <p:pic>
        <p:nvPicPr>
          <p:cNvPr id="6" name="图片 5" descr="联想截图_20231214002915"/>
          <p:cNvPicPr>
            <a:picLocks noChangeAspect="1"/>
          </p:cNvPicPr>
          <p:nvPr>
            <p:custDataLst>
              <p:tags r:id="rId1"/>
            </p:custDataLst>
          </p:nvPr>
        </p:nvPicPr>
        <p:blipFill>
          <a:blip r:embed="rId4"/>
          <a:stretch>
            <a:fillRect/>
          </a:stretch>
        </p:blipFill>
        <p:spPr>
          <a:xfrm>
            <a:off x="4435475" y="6219825"/>
            <a:ext cx="545465" cy="546735"/>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600">
                <a:sym typeface="+mn-ea"/>
              </a:rPr>
              <a:t>计算机软件平台概述</a:t>
            </a:r>
            <a:endParaRPr kumimoji="0" lang="en-US" altLang="zh-CN"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endParaRP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6" name="文本框 5"/>
          <p:cNvSpPr txBox="1"/>
          <p:nvPr/>
        </p:nvSpPr>
        <p:spPr>
          <a:xfrm>
            <a:off x="1777365" y="1717040"/>
            <a:ext cx="7070725" cy="2667000"/>
          </a:xfrm>
          <a:prstGeom prst="rect">
            <a:avLst/>
          </a:prstGeom>
          <a:noFill/>
        </p:spPr>
        <p:txBody>
          <a:bodyPr wrap="square" rtlCol="0" anchor="t">
            <a:noAutofit/>
          </a:bodyPr>
          <a:lstStyle/>
          <a:p>
            <a:r>
              <a:rPr lang="zh-CN" altLang="en-US" sz="2400"/>
              <a:t>在计算机软件系统中，能够直接与硬件平台交流的就是操</a:t>
            </a:r>
            <a:r>
              <a:rPr lang="zh-CN" altLang="en-US" sz="2400">
                <a:solidFill>
                  <a:srgbClr val="FF0000"/>
                </a:solidFill>
              </a:rPr>
              <a:t>作系统（OS）</a:t>
            </a:r>
            <a:r>
              <a:rPr lang="zh-CN" altLang="en-US" sz="2400"/>
              <a:t>。OS是最底层的软件，它控制所有计算机运行的程序并管理整个计算机的资源，是计算机裸机与应用程序及用户之间的桥梁。</a:t>
            </a:r>
          </a:p>
        </p:txBody>
      </p:sp>
      <p:sp>
        <p:nvSpPr>
          <p:cNvPr id="9" name="文本框 8"/>
          <p:cNvSpPr txBox="1"/>
          <p:nvPr/>
        </p:nvSpPr>
        <p:spPr>
          <a:xfrm>
            <a:off x="1777365" y="3705225"/>
            <a:ext cx="7829550" cy="460375"/>
          </a:xfrm>
          <a:prstGeom prst="rect">
            <a:avLst/>
          </a:prstGeom>
          <a:noFill/>
        </p:spPr>
        <p:txBody>
          <a:bodyPr wrap="square" rtlCol="0" anchor="t">
            <a:spAutoFit/>
          </a:bodyPr>
          <a:lstStyle/>
          <a:p>
            <a:r>
              <a:rPr lang="zh-CN" altLang="en-US" sz="2400"/>
              <a:t>操作系统特征：</a:t>
            </a:r>
            <a:r>
              <a:rPr lang="zh-CN" altLang="en-US" sz="2400">
                <a:solidFill>
                  <a:srgbClr val="FF0000"/>
                </a:solidFill>
              </a:rPr>
              <a:t>并发性、共享性、异步性、虚拟性</a:t>
            </a:r>
          </a:p>
        </p:txBody>
      </p:sp>
      <p:pic>
        <p:nvPicPr>
          <p:cNvPr id="3" name="图片 2" descr="联想截图_20231214002915"/>
          <p:cNvPicPr>
            <a:picLocks noChangeAspect="1"/>
          </p:cNvPicPr>
          <p:nvPr>
            <p:custDataLst>
              <p:tags r:id="rId1"/>
            </p:custDataLst>
          </p:nvPr>
        </p:nvPicPr>
        <p:blipFill>
          <a:blip r:embed="rId4"/>
          <a:stretch>
            <a:fillRect/>
          </a:stretch>
        </p:blipFill>
        <p:spPr>
          <a:xfrm>
            <a:off x="4435475" y="6219825"/>
            <a:ext cx="545465" cy="546735"/>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600">
                <a:sym typeface="+mn-ea"/>
              </a:rPr>
              <a:t>计算机软件平台概述</a:t>
            </a:r>
            <a:endParaRPr kumimoji="0" lang="en-US" altLang="zh-CN"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endParaRP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4" name="文本框 3"/>
          <p:cNvSpPr txBox="1"/>
          <p:nvPr>
            <p:custDataLst>
              <p:tags r:id="rId1"/>
            </p:custDataLst>
          </p:nvPr>
        </p:nvSpPr>
        <p:spPr>
          <a:xfrm>
            <a:off x="1287145" y="965200"/>
            <a:ext cx="9618345" cy="4892675"/>
          </a:xfrm>
          <a:prstGeom prst="rect">
            <a:avLst/>
          </a:prstGeom>
          <a:noFill/>
        </p:spPr>
        <p:txBody>
          <a:bodyPr wrap="square" rtlCol="0" anchor="t">
            <a:spAutoFit/>
          </a:bodyPr>
          <a:lstStyle/>
          <a:p>
            <a:r>
              <a:rPr lang="zh-CN" altLang="en-US" sz="2400"/>
              <a:t>操作系统功能：</a:t>
            </a:r>
          </a:p>
          <a:p>
            <a:r>
              <a:rPr lang="zh-CN" altLang="en-US" sz="2400"/>
              <a:t>文件系统（File system）：用于保存和管理文件，包括程序和文档等数据。</a:t>
            </a:r>
          </a:p>
          <a:p>
            <a:r>
              <a:rPr lang="zh-CN" altLang="en-US" sz="2400"/>
              <a:t>用户界面（User interface）：提供人机交互接口，便于操控计算机并提交计算任务。</a:t>
            </a:r>
          </a:p>
          <a:p>
            <a:r>
              <a:rPr lang="zh-CN" altLang="en-US" sz="2400"/>
              <a:t>内存管理（Memory management）：将不同用户、不同程序的数据资源从文件中动态加载到内存中并进行有效的管理，以备CPU访问。</a:t>
            </a:r>
          </a:p>
          <a:p>
            <a:r>
              <a:rPr lang="zh-CN" altLang="en-US" sz="2400"/>
              <a:t>进程管理（Processing management）：管理大量程序的运行和调度，确保CPU计算资源的高效利用。</a:t>
            </a:r>
          </a:p>
          <a:p>
            <a:r>
              <a:rPr lang="zh-CN" altLang="en-US" sz="2400"/>
              <a:t>设备管理（Device management）：提供外界设备与计算机之间的数据交互管理，包括键盘输入以及显示器输出等输入输出功能。</a:t>
            </a:r>
          </a:p>
          <a:p>
            <a:r>
              <a:rPr lang="zh-CN" altLang="en-US" sz="2400"/>
              <a:t>网络通讯（Networking）：提供计算机之间的数据交互和服务访问。</a:t>
            </a:r>
          </a:p>
          <a:p>
            <a:r>
              <a:rPr lang="zh-CN" altLang="en-US" sz="2400"/>
              <a:t>安全机制（Security）：保证计算机的运行安全和信息安全</a:t>
            </a:r>
          </a:p>
        </p:txBody>
      </p:sp>
      <p:pic>
        <p:nvPicPr>
          <p:cNvPr id="6" name="图片 5" descr="联想截图_20231214002915"/>
          <p:cNvPicPr>
            <a:picLocks noChangeAspect="1"/>
          </p:cNvPicPr>
          <p:nvPr>
            <p:custDataLst>
              <p:tags r:id="rId2"/>
            </p:custDataLst>
          </p:nvPr>
        </p:nvPicPr>
        <p:blipFill>
          <a:blip r:embed="rId5"/>
          <a:stretch>
            <a:fillRect/>
          </a:stretch>
        </p:blipFill>
        <p:spPr>
          <a:xfrm>
            <a:off x="4435475" y="6219825"/>
            <a:ext cx="545465" cy="546735"/>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rPr>
              <a:t>数据存储与文件管理</a:t>
            </a: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pic>
        <p:nvPicPr>
          <p:cNvPr id="3" name="图片 2"/>
          <p:cNvPicPr>
            <a:picLocks noChangeAspect="1"/>
          </p:cNvPicPr>
          <p:nvPr>
            <p:custDataLst>
              <p:tags r:id="rId1"/>
            </p:custDataLst>
          </p:nvPr>
        </p:nvPicPr>
        <p:blipFill>
          <a:blip r:embed="rId5"/>
          <a:stretch>
            <a:fillRect/>
          </a:stretch>
        </p:blipFill>
        <p:spPr>
          <a:xfrm>
            <a:off x="661035" y="1644650"/>
            <a:ext cx="4694555" cy="3552825"/>
          </a:xfrm>
          <a:prstGeom prst="rect">
            <a:avLst/>
          </a:prstGeom>
        </p:spPr>
      </p:pic>
      <p:sp>
        <p:nvSpPr>
          <p:cNvPr id="4" name="文本框 3"/>
          <p:cNvSpPr txBox="1"/>
          <p:nvPr/>
        </p:nvSpPr>
        <p:spPr>
          <a:xfrm>
            <a:off x="5765165" y="1931670"/>
            <a:ext cx="4185920" cy="2487295"/>
          </a:xfrm>
          <a:prstGeom prst="rect">
            <a:avLst/>
          </a:prstGeom>
          <a:noFill/>
        </p:spPr>
        <p:txBody>
          <a:bodyPr wrap="square" rtlCol="0" anchor="t">
            <a:noAutofit/>
          </a:bodyPr>
          <a:lstStyle/>
          <a:p>
            <a:r>
              <a:rPr lang="zh-CN" altLang="en-US" sz="2400"/>
              <a:t>“</a:t>
            </a:r>
            <a:r>
              <a:rPr lang="zh-CN" altLang="en-US" sz="2400">
                <a:solidFill>
                  <a:srgbClr val="FF0000"/>
                </a:solidFill>
              </a:rPr>
              <a:t>簇</a:t>
            </a:r>
            <a:r>
              <a:rPr lang="zh-CN" altLang="en-US" sz="2400"/>
              <a:t>”是硬盘上存储数据进行分配的最小单位，一个簇中只能存储一个文件的内容。扇区是磁盘读写数据的基本单位，通常为512字节。</a:t>
            </a:r>
          </a:p>
        </p:txBody>
      </p:sp>
      <p:pic>
        <p:nvPicPr>
          <p:cNvPr id="6" name="图片 5" descr="联想截图_20231214002915"/>
          <p:cNvPicPr>
            <a:picLocks noChangeAspect="1"/>
          </p:cNvPicPr>
          <p:nvPr>
            <p:custDataLst>
              <p:tags r:id="rId2"/>
            </p:custDataLst>
          </p:nvPr>
        </p:nvPicPr>
        <p:blipFill>
          <a:blip r:embed="rId6"/>
          <a:stretch>
            <a:fillRect/>
          </a:stretch>
        </p:blipFill>
        <p:spPr>
          <a:xfrm>
            <a:off x="4435475" y="6219825"/>
            <a:ext cx="545465" cy="546735"/>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3600" noProof="0" dirty="0">
                <a:ln>
                  <a:noFill/>
                </a:ln>
                <a:solidFill>
                  <a:prstClr val="black"/>
                </a:solidFill>
                <a:effectLst/>
                <a:uLnTx/>
                <a:uFillTx/>
                <a:latin typeface="方正公文黑体" panose="02000500000000000000" pitchFamily="2" charset="-122"/>
                <a:ea typeface="方正公文黑体" panose="02000500000000000000" pitchFamily="2" charset="-122"/>
                <a:sym typeface="+mn-ea"/>
              </a:rPr>
              <a:t>数据存储与文件管理</a:t>
            </a:r>
            <a:endParaRPr kumimoji="0" lang="en-US" altLang="zh-CN"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endParaRP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3" name="文本框 2"/>
          <p:cNvSpPr txBox="1"/>
          <p:nvPr/>
        </p:nvSpPr>
        <p:spPr>
          <a:xfrm>
            <a:off x="1523365" y="1144270"/>
            <a:ext cx="8989060" cy="2306955"/>
          </a:xfrm>
          <a:prstGeom prst="rect">
            <a:avLst/>
          </a:prstGeom>
          <a:noFill/>
        </p:spPr>
        <p:txBody>
          <a:bodyPr wrap="square" rtlCol="0" anchor="t">
            <a:spAutoFit/>
          </a:bodyPr>
          <a:lstStyle/>
          <a:p>
            <a:r>
              <a:rPr lang="zh-CN" altLang="en-US" sz="2400"/>
              <a:t>计算机启动引导的实现：</a:t>
            </a:r>
          </a:p>
          <a:p>
            <a:r>
              <a:rPr lang="zh-CN" altLang="en-US" sz="2400"/>
              <a:t>1.文件分配表。任一簇的使用情况，每一簇对应表中的一行。</a:t>
            </a:r>
          </a:p>
          <a:p>
            <a:r>
              <a:rPr lang="zh-CN" altLang="en-US" sz="2400"/>
              <a:t>2.根目录。为每个文件建立一个目录项，包括文件名、文件属性、文件在磁盘上的物理位置（开始簇号）等。</a:t>
            </a:r>
          </a:p>
          <a:p>
            <a:r>
              <a:rPr lang="zh-CN" altLang="en-US" sz="2400"/>
              <a:t>3.数据区</a:t>
            </a:r>
          </a:p>
          <a:p>
            <a:r>
              <a:rPr lang="zh-CN" altLang="en-US" sz="2400"/>
              <a:t>4.目录结构</a:t>
            </a:r>
          </a:p>
        </p:txBody>
      </p:sp>
      <p:pic>
        <p:nvPicPr>
          <p:cNvPr id="6" name="图片 5"/>
          <p:cNvPicPr>
            <a:picLocks noChangeAspect="1"/>
          </p:cNvPicPr>
          <p:nvPr>
            <p:custDataLst>
              <p:tags r:id="rId1"/>
            </p:custDataLst>
          </p:nvPr>
        </p:nvPicPr>
        <p:blipFill>
          <a:blip r:embed="rId5"/>
          <a:stretch>
            <a:fillRect/>
          </a:stretch>
        </p:blipFill>
        <p:spPr>
          <a:xfrm>
            <a:off x="3355340" y="3112770"/>
            <a:ext cx="5189855" cy="2463800"/>
          </a:xfrm>
          <a:prstGeom prst="rect">
            <a:avLst/>
          </a:prstGeom>
        </p:spPr>
      </p:pic>
      <p:pic>
        <p:nvPicPr>
          <p:cNvPr id="4" name="图片 3" descr="联想截图_20231214002915"/>
          <p:cNvPicPr>
            <a:picLocks noChangeAspect="1"/>
          </p:cNvPicPr>
          <p:nvPr>
            <p:custDataLst>
              <p:tags r:id="rId2"/>
            </p:custDataLst>
          </p:nvPr>
        </p:nvPicPr>
        <p:blipFill>
          <a:blip r:embed="rId6"/>
          <a:stretch>
            <a:fillRect/>
          </a:stretch>
        </p:blipFill>
        <p:spPr>
          <a:xfrm>
            <a:off x="4435475" y="6219825"/>
            <a:ext cx="545465" cy="546735"/>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3600" noProof="0" dirty="0">
                <a:ln>
                  <a:noFill/>
                </a:ln>
                <a:solidFill>
                  <a:prstClr val="black"/>
                </a:solidFill>
                <a:effectLst/>
                <a:uLnTx/>
                <a:uFillTx/>
                <a:latin typeface="方正公文黑体" panose="02000500000000000000" pitchFamily="2" charset="-122"/>
                <a:ea typeface="方正公文黑体" panose="02000500000000000000" pitchFamily="2" charset="-122"/>
                <a:sym typeface="+mn-ea"/>
              </a:rPr>
              <a:t>数据存储与文件管理</a:t>
            </a:r>
            <a:endParaRPr kumimoji="0" lang="en-US" altLang="zh-CN"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endParaRP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3" name="文本框 2"/>
          <p:cNvSpPr txBox="1"/>
          <p:nvPr/>
        </p:nvSpPr>
        <p:spPr>
          <a:xfrm>
            <a:off x="1523365" y="1486535"/>
            <a:ext cx="9144635" cy="2997835"/>
          </a:xfrm>
          <a:prstGeom prst="rect">
            <a:avLst/>
          </a:prstGeom>
          <a:noFill/>
        </p:spPr>
        <p:txBody>
          <a:bodyPr wrap="square" rtlCol="0" anchor="t">
            <a:noAutofit/>
          </a:bodyPr>
          <a:lstStyle/>
          <a:p>
            <a:r>
              <a:rPr lang="zh-CN" altLang="en-US" sz="2400"/>
              <a:t>5.路径名。在树形目录结构中，从根目录到任何数据文件，都只有一条惟一的通路。在该路径上从树的根(即主目录)开始，把全部目录文件名与数据文件名依次地用“\”连接起来，即构成该数据文件的路径名。系统中的每一个文件都有惟一的路径名。</a:t>
            </a:r>
          </a:p>
          <a:p>
            <a:r>
              <a:rPr lang="zh-CN" altLang="en-US" sz="2400"/>
              <a:t>例如：D:\多媒体\音乐\命运交响曲.mp3</a:t>
            </a:r>
          </a:p>
          <a:p>
            <a:r>
              <a:rPr lang="zh-CN" altLang="en-US" sz="2400"/>
              <a:t>6.当前目录。每个进程设置一个“当前目录”。把从当前目录开始直到数据文件为止所构成的路径名，称为相对路径名；而把从树根开始的路径名称为绝对路径名。</a:t>
            </a:r>
          </a:p>
        </p:txBody>
      </p:sp>
      <p:pic>
        <p:nvPicPr>
          <p:cNvPr id="6" name="图片 5" descr="联想截图_20231214002915"/>
          <p:cNvPicPr>
            <a:picLocks noChangeAspect="1"/>
          </p:cNvPicPr>
          <p:nvPr>
            <p:custDataLst>
              <p:tags r:id="rId1"/>
            </p:custDataLst>
          </p:nvPr>
        </p:nvPicPr>
        <p:blipFill>
          <a:blip r:embed="rId4"/>
          <a:stretch>
            <a:fillRect/>
          </a:stretch>
        </p:blipFill>
        <p:spPr>
          <a:xfrm>
            <a:off x="4435475" y="6219825"/>
            <a:ext cx="545465" cy="546735"/>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3600" noProof="0" dirty="0">
                <a:ln>
                  <a:noFill/>
                </a:ln>
                <a:solidFill>
                  <a:prstClr val="black"/>
                </a:solidFill>
                <a:effectLst/>
                <a:uLnTx/>
                <a:uFillTx/>
                <a:latin typeface="方正公文黑体" panose="02000500000000000000" pitchFamily="2" charset="-122"/>
                <a:ea typeface="方正公文黑体" panose="02000500000000000000" pitchFamily="2" charset="-122"/>
                <a:sym typeface="+mn-ea"/>
              </a:rPr>
              <a:t>数据存储与文件管理</a:t>
            </a:r>
            <a:endParaRPr kumimoji="0" lang="en-US" altLang="zh-CN"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endParaRP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3" name="文本框 2"/>
          <p:cNvSpPr txBox="1"/>
          <p:nvPr/>
        </p:nvSpPr>
        <p:spPr>
          <a:xfrm>
            <a:off x="1524000" y="1308735"/>
            <a:ext cx="8910320" cy="3415030"/>
          </a:xfrm>
          <a:prstGeom prst="rect">
            <a:avLst/>
          </a:prstGeom>
          <a:noFill/>
        </p:spPr>
        <p:txBody>
          <a:bodyPr wrap="square" rtlCol="0" anchor="t">
            <a:spAutoFit/>
          </a:bodyPr>
          <a:lstStyle/>
          <a:p>
            <a:r>
              <a:rPr lang="zh-CN" altLang="en-US" sz="2400"/>
              <a:t>数据存储原理：</a:t>
            </a:r>
            <a:r>
              <a:rPr lang="zh-CN" altLang="en-US" sz="2400">
                <a:solidFill>
                  <a:srgbClr val="FF0000"/>
                </a:solidFill>
              </a:rPr>
              <a:t>文件的读取、文件的写入、文件的删除</a:t>
            </a:r>
          </a:p>
          <a:p>
            <a:r>
              <a:rPr lang="zh-CN" altLang="en-US" sz="2400"/>
              <a:t>内存是现代计算机系统操作的中心，是可以被CPU 和I/O 设备所共同快速访问的数据仓库。</a:t>
            </a:r>
          </a:p>
          <a:p>
            <a:r>
              <a:rPr lang="zh-CN" altLang="en-US" sz="2400">
                <a:solidFill>
                  <a:srgbClr val="FF0000"/>
                </a:solidFill>
              </a:rPr>
              <a:t>内存是易失性存储设备，掉电时会失去所有内容</a:t>
            </a:r>
            <a:r>
              <a:rPr lang="zh-CN" altLang="en-US" sz="2400"/>
              <a:t>。</a:t>
            </a:r>
          </a:p>
          <a:p>
            <a:r>
              <a:rPr lang="zh-CN" altLang="en-US" sz="2400"/>
              <a:t>存储管理的主要功能包括：</a:t>
            </a:r>
          </a:p>
          <a:p>
            <a:r>
              <a:rPr lang="zh-CN" altLang="en-US" sz="2400"/>
              <a:t>（1）</a:t>
            </a:r>
            <a:r>
              <a:rPr lang="zh-CN" altLang="en-US" sz="2400">
                <a:solidFill>
                  <a:schemeClr val="tx1"/>
                </a:solidFill>
              </a:rPr>
              <a:t>存储分配</a:t>
            </a:r>
            <a:endParaRPr lang="zh-CN" altLang="en-US" sz="2400"/>
          </a:p>
          <a:p>
            <a:r>
              <a:rPr lang="zh-CN" altLang="en-US" sz="2400"/>
              <a:t>（2）存储共享</a:t>
            </a:r>
          </a:p>
          <a:p>
            <a:r>
              <a:rPr lang="zh-CN" altLang="en-US" sz="2400"/>
              <a:t>（3）地址转换与存储保护</a:t>
            </a:r>
          </a:p>
          <a:p>
            <a:r>
              <a:rPr lang="zh-CN" altLang="en-US" sz="2400"/>
              <a:t>（4）存储扩充</a:t>
            </a:r>
          </a:p>
        </p:txBody>
      </p:sp>
      <p:pic>
        <p:nvPicPr>
          <p:cNvPr id="6" name="图片 5" descr="联想截图_20231214002915"/>
          <p:cNvPicPr>
            <a:picLocks noChangeAspect="1"/>
          </p:cNvPicPr>
          <p:nvPr>
            <p:custDataLst>
              <p:tags r:id="rId1"/>
            </p:custDataLst>
          </p:nvPr>
        </p:nvPicPr>
        <p:blipFill>
          <a:blip r:embed="rId4"/>
          <a:stretch>
            <a:fillRect/>
          </a:stretch>
        </p:blipFill>
        <p:spPr>
          <a:xfrm>
            <a:off x="4435475" y="6219825"/>
            <a:ext cx="545465" cy="546735"/>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3600" noProof="0" dirty="0">
                <a:ln>
                  <a:noFill/>
                </a:ln>
                <a:solidFill>
                  <a:prstClr val="black"/>
                </a:solidFill>
                <a:effectLst/>
                <a:uLnTx/>
                <a:uFillTx/>
                <a:latin typeface="方正公文黑体" panose="02000500000000000000" pitchFamily="2" charset="-122"/>
                <a:ea typeface="方正公文黑体" panose="02000500000000000000" pitchFamily="2" charset="-122"/>
                <a:sym typeface="+mn-ea"/>
              </a:rPr>
              <a:t>程序运行管理</a:t>
            </a:r>
            <a:endParaRPr kumimoji="0" lang="en-US" altLang="zh-CN"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endParaRP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3" name="文本框 2"/>
          <p:cNvSpPr txBox="1"/>
          <p:nvPr/>
        </p:nvSpPr>
        <p:spPr>
          <a:xfrm>
            <a:off x="1061720" y="944880"/>
            <a:ext cx="10123805" cy="5262245"/>
          </a:xfrm>
          <a:prstGeom prst="rect">
            <a:avLst/>
          </a:prstGeom>
          <a:noFill/>
        </p:spPr>
        <p:txBody>
          <a:bodyPr wrap="square" rtlCol="0" anchor="t">
            <a:spAutoFit/>
          </a:bodyPr>
          <a:lstStyle/>
          <a:p>
            <a:r>
              <a:rPr lang="zh-CN" altLang="en-US" sz="2400"/>
              <a:t>程序运行管理机制具体包括以下几个方面的功能：</a:t>
            </a:r>
          </a:p>
          <a:p>
            <a:r>
              <a:rPr lang="zh-CN" altLang="en-US" sz="2400"/>
              <a:t>1.设备管理：计算机与外部设备之间的交互</a:t>
            </a:r>
          </a:p>
          <a:p>
            <a:r>
              <a:rPr lang="zh-CN" altLang="en-US" sz="2400"/>
              <a:t>2.作业管理：人与计算机的交互</a:t>
            </a:r>
          </a:p>
          <a:p>
            <a:r>
              <a:rPr lang="zh-CN" altLang="en-US" sz="2400"/>
              <a:t>3.处理机管理：作业之间在运行过程中如何合理分配计算资源</a:t>
            </a:r>
          </a:p>
          <a:p>
            <a:r>
              <a:rPr lang="zh-CN" altLang="en-US" sz="2400"/>
              <a:t>用户可通过以下三种方式使用计算机：</a:t>
            </a:r>
          </a:p>
          <a:p>
            <a:r>
              <a:rPr lang="zh-CN" altLang="en-US" sz="2400"/>
              <a:t>1.</a:t>
            </a:r>
            <a:r>
              <a:rPr lang="zh-CN" altLang="en-US" sz="2400">
                <a:solidFill>
                  <a:srgbClr val="FF0000"/>
                </a:solidFill>
              </a:rPr>
              <a:t>命令行方式</a:t>
            </a:r>
          </a:p>
          <a:p>
            <a:r>
              <a:rPr lang="zh-CN" altLang="en-US" sz="2400"/>
              <a:t>2.</a:t>
            </a:r>
            <a:r>
              <a:rPr lang="zh-CN" altLang="en-US" sz="2400">
                <a:solidFill>
                  <a:srgbClr val="FF0000"/>
                </a:solidFill>
              </a:rPr>
              <a:t>图形化用户界面</a:t>
            </a:r>
            <a:endParaRPr lang="zh-CN" altLang="en-US" sz="2400"/>
          </a:p>
          <a:p>
            <a:r>
              <a:rPr lang="zh-CN" altLang="en-US" sz="2400"/>
              <a:t>3.</a:t>
            </a:r>
            <a:r>
              <a:rPr lang="zh-CN" altLang="en-US" sz="2400">
                <a:solidFill>
                  <a:srgbClr val="FF0000"/>
                </a:solidFill>
              </a:rPr>
              <a:t>系统调用</a:t>
            </a:r>
            <a:r>
              <a:rPr lang="zh-CN" altLang="en-US" sz="2400"/>
              <a:t>：应用编程接口API</a:t>
            </a:r>
          </a:p>
          <a:p>
            <a:r>
              <a:rPr lang="zh-CN" altLang="en-US" sz="2400"/>
              <a:t>任务与处理机管理：</a:t>
            </a:r>
          </a:p>
          <a:p>
            <a:r>
              <a:rPr lang="zh-CN" altLang="en-US" sz="2400"/>
              <a:t>进程，正在执行的程序，程序被执行调入内存以后称为进程。</a:t>
            </a:r>
          </a:p>
          <a:p>
            <a:r>
              <a:rPr lang="zh-CN" altLang="en-US" sz="2400">
                <a:solidFill>
                  <a:srgbClr val="FF0000"/>
                </a:solidFill>
              </a:rPr>
              <a:t>进程</a:t>
            </a:r>
            <a:r>
              <a:rPr lang="zh-CN" altLang="en-US" sz="2400"/>
              <a:t>不会一直独占CPU长期处于执行状态，其</a:t>
            </a:r>
            <a:r>
              <a:rPr lang="zh-CN" altLang="en-US" sz="2400">
                <a:solidFill>
                  <a:srgbClr val="FF0000"/>
                </a:solidFill>
              </a:rPr>
              <a:t>必然存在多种运行状态和动态调度过程。</a:t>
            </a:r>
          </a:p>
          <a:p>
            <a:r>
              <a:rPr lang="zh-CN" altLang="en-US" sz="2400">
                <a:solidFill>
                  <a:srgbClr val="FF0000"/>
                </a:solidFill>
              </a:rPr>
              <a:t>运行中的进程</a:t>
            </a:r>
            <a:r>
              <a:rPr lang="zh-CN" altLang="en-US" sz="2400"/>
              <a:t>可能具有以下三种基本状态：</a:t>
            </a:r>
            <a:r>
              <a:rPr lang="zh-CN" altLang="en-US" sz="2400">
                <a:solidFill>
                  <a:srgbClr val="FF0000"/>
                </a:solidFill>
              </a:rPr>
              <a:t>就绪(Ready)状态、执行状态、阻塞状态（也称为等待状态或封锁状态）</a:t>
            </a:r>
          </a:p>
        </p:txBody>
      </p:sp>
      <p:pic>
        <p:nvPicPr>
          <p:cNvPr id="6" name="图片 5" descr="联想截图_20231214002915"/>
          <p:cNvPicPr>
            <a:picLocks noChangeAspect="1"/>
          </p:cNvPicPr>
          <p:nvPr>
            <p:custDataLst>
              <p:tags r:id="rId1"/>
            </p:custDataLst>
          </p:nvPr>
        </p:nvPicPr>
        <p:blipFill>
          <a:blip r:embed="rId4"/>
          <a:stretch>
            <a:fillRect/>
          </a:stretch>
        </p:blipFill>
        <p:spPr>
          <a:xfrm>
            <a:off x="4435475" y="6219825"/>
            <a:ext cx="545465" cy="546735"/>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3600" noProof="0" dirty="0">
                <a:ln>
                  <a:noFill/>
                </a:ln>
                <a:solidFill>
                  <a:prstClr val="black"/>
                </a:solidFill>
                <a:effectLst/>
                <a:uLnTx/>
                <a:uFillTx/>
                <a:latin typeface="方正公文黑体" panose="02000500000000000000" pitchFamily="2" charset="-122"/>
                <a:ea typeface="方正公文黑体" panose="02000500000000000000" pitchFamily="2" charset="-122"/>
                <a:sym typeface="+mn-ea"/>
              </a:rPr>
              <a:t>程序运行管理</a:t>
            </a:r>
            <a:endParaRPr kumimoji="0" lang="en-US" altLang="zh-CN"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endParaRP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pic>
        <p:nvPicPr>
          <p:cNvPr id="4" name="图片 3"/>
          <p:cNvPicPr>
            <a:picLocks noChangeAspect="1"/>
          </p:cNvPicPr>
          <p:nvPr>
            <p:custDataLst>
              <p:tags r:id="rId1"/>
            </p:custDataLst>
          </p:nvPr>
        </p:nvPicPr>
        <p:blipFill>
          <a:blip r:embed="rId5"/>
          <a:stretch>
            <a:fillRect/>
          </a:stretch>
        </p:blipFill>
        <p:spPr>
          <a:xfrm>
            <a:off x="2452370" y="1461770"/>
            <a:ext cx="7286625" cy="3933825"/>
          </a:xfrm>
          <a:prstGeom prst="rect">
            <a:avLst/>
          </a:prstGeom>
        </p:spPr>
      </p:pic>
      <p:pic>
        <p:nvPicPr>
          <p:cNvPr id="6" name="图片 5" descr="联想截图_20231214002915"/>
          <p:cNvPicPr>
            <a:picLocks noChangeAspect="1"/>
          </p:cNvPicPr>
          <p:nvPr>
            <p:custDataLst>
              <p:tags r:id="rId2"/>
            </p:custDataLst>
          </p:nvPr>
        </p:nvPicPr>
        <p:blipFill>
          <a:blip r:embed="rId6"/>
          <a:stretch>
            <a:fillRect/>
          </a:stretch>
        </p:blipFill>
        <p:spPr>
          <a:xfrm>
            <a:off x="4435475" y="6219825"/>
            <a:ext cx="545465" cy="546735"/>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3600" noProof="0" dirty="0">
                <a:ln>
                  <a:noFill/>
                </a:ln>
                <a:solidFill>
                  <a:prstClr val="black"/>
                </a:solidFill>
                <a:effectLst/>
                <a:uLnTx/>
                <a:uFillTx/>
                <a:latin typeface="方正公文黑体" panose="02000500000000000000" pitchFamily="2" charset="-122"/>
                <a:ea typeface="方正公文黑体" panose="02000500000000000000" pitchFamily="2" charset="-122"/>
                <a:sym typeface="+mn-ea"/>
              </a:rPr>
              <a:t>程序运行管理</a:t>
            </a:r>
            <a:endParaRPr kumimoji="0" lang="en-US" altLang="zh-CN"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endParaRP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3" name="文本框 2"/>
          <p:cNvSpPr txBox="1"/>
          <p:nvPr/>
        </p:nvSpPr>
        <p:spPr>
          <a:xfrm>
            <a:off x="1524000" y="1625600"/>
            <a:ext cx="9018905" cy="2584450"/>
          </a:xfrm>
          <a:prstGeom prst="rect">
            <a:avLst/>
          </a:prstGeom>
          <a:noFill/>
        </p:spPr>
        <p:txBody>
          <a:bodyPr wrap="square" rtlCol="0" anchor="t">
            <a:spAutoFit/>
          </a:bodyPr>
          <a:lstStyle/>
          <a:p>
            <a:endParaRPr lang="zh-CN" altLang="en-US"/>
          </a:p>
          <a:p>
            <a:r>
              <a:rPr lang="zh-CN" altLang="en-US" sz="2400"/>
              <a:t>为了缓和CPU与I/O 设备速度不匹配的矛盾，在现代操作系统中，几乎所有的I/O 设备在与处理机交换数据时都用了缓冲区。</a:t>
            </a:r>
          </a:p>
          <a:p>
            <a:r>
              <a:rPr lang="zh-CN" altLang="en-US" sz="2400"/>
              <a:t>在设备管理中，</a:t>
            </a:r>
            <a:r>
              <a:rPr lang="zh-CN" altLang="en-US" sz="2400">
                <a:solidFill>
                  <a:srgbClr val="FF0000"/>
                </a:solidFill>
              </a:rPr>
              <a:t>引入缓冲区的主要原因</a:t>
            </a:r>
            <a:r>
              <a:rPr lang="zh-CN" altLang="en-US" sz="2400"/>
              <a:t>：</a:t>
            </a:r>
          </a:p>
          <a:p>
            <a:r>
              <a:rPr lang="zh-CN" altLang="en-US" sz="2400"/>
              <a:t>缓和CPU 与I/O 设备间速度不匹配的矛盾。</a:t>
            </a:r>
          </a:p>
          <a:p>
            <a:r>
              <a:rPr lang="zh-CN" altLang="en-US" sz="2400"/>
              <a:t>减少对CPU的中断频率，放宽对CPU中断响应时间的限制。</a:t>
            </a:r>
          </a:p>
          <a:p>
            <a:r>
              <a:rPr lang="zh-CN" altLang="en-US" sz="2400"/>
              <a:t>提高CPU 和I/O 设备之间的并行性。</a:t>
            </a:r>
          </a:p>
        </p:txBody>
      </p:sp>
      <p:pic>
        <p:nvPicPr>
          <p:cNvPr id="6" name="图片 5" descr="联想截图_20231214002915"/>
          <p:cNvPicPr>
            <a:picLocks noChangeAspect="1"/>
          </p:cNvPicPr>
          <p:nvPr>
            <p:custDataLst>
              <p:tags r:id="rId1"/>
            </p:custDataLst>
          </p:nvPr>
        </p:nvPicPr>
        <p:blipFill>
          <a:blip r:embed="rId4"/>
          <a:stretch>
            <a:fillRect/>
          </a:stretch>
        </p:blipFill>
        <p:spPr>
          <a:xfrm>
            <a:off x="4435475" y="6219825"/>
            <a:ext cx="545465" cy="546735"/>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fontAlgn="auto">
              <a:spcAft>
                <a:spcPts val="0"/>
              </a:spcAft>
              <a:defRPr/>
            </a:pPr>
            <a:r>
              <a:rPr lang="zh-CN" altLang="en-US" sz="3600" dirty="0">
                <a:solidFill>
                  <a:schemeClr val="tx1"/>
                </a:solidFill>
                <a:sym typeface="+mn-ea"/>
              </a:rPr>
              <a:t>实用操作系统</a:t>
            </a:r>
            <a:endParaRPr kumimoji="0" lang="zh-CN" altLang="en-US" sz="3600" b="0" i="0" u="none" strike="noStrike" kern="1200" cap="none" spc="0" normalizeH="0" baseline="0" noProof="0" dirty="0">
              <a:ln>
                <a:noFill/>
              </a:ln>
              <a:solidFill>
                <a:schemeClr val="tx1"/>
              </a:solidFill>
              <a:effectLst/>
              <a:uLnTx/>
              <a:uFillTx/>
              <a:latin typeface="方正公文黑体" panose="02000500000000000000" pitchFamily="2" charset="-122"/>
              <a:ea typeface="方正公文黑体" panose="02000500000000000000" pitchFamily="2" charset="-122"/>
              <a:cs typeface="+mn-cs"/>
              <a:sym typeface="+mn-ea"/>
            </a:endParaRP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3" name="文本框 2"/>
          <p:cNvSpPr txBox="1"/>
          <p:nvPr/>
        </p:nvSpPr>
        <p:spPr>
          <a:xfrm>
            <a:off x="1524000" y="1228725"/>
            <a:ext cx="9312910" cy="4154170"/>
          </a:xfrm>
          <a:prstGeom prst="rect">
            <a:avLst/>
          </a:prstGeom>
          <a:noFill/>
        </p:spPr>
        <p:txBody>
          <a:bodyPr wrap="square" rtlCol="0" anchor="t">
            <a:spAutoFit/>
          </a:bodyPr>
          <a:lstStyle/>
          <a:p>
            <a:r>
              <a:rPr lang="zh-CN" altLang="en-US" sz="2400"/>
              <a:t>手工操作（无操作系统）、批处理系统、多道程序系统</a:t>
            </a:r>
          </a:p>
          <a:p>
            <a:r>
              <a:rPr lang="zh-CN" altLang="en-US" sz="2400"/>
              <a:t>个人计算机操作系统、网络操作系统、分布式操作系统</a:t>
            </a:r>
          </a:p>
          <a:p>
            <a:r>
              <a:rPr lang="zh-CN" altLang="en-US" sz="2400"/>
              <a:t>操作系统的分类：</a:t>
            </a:r>
          </a:p>
          <a:p>
            <a:r>
              <a:rPr lang="zh-CN" altLang="en-US" sz="2400"/>
              <a:t>根据应用领域来划分，可分为桌面操作系统、服务器操作系统、嵌入式操作系统</a:t>
            </a:r>
          </a:p>
          <a:p>
            <a:r>
              <a:rPr lang="zh-CN" altLang="en-US" sz="2400"/>
              <a:t>根据操作系统的使用环境和对作业处理方式来考虑，可分为批处理操作系统、分时操作系统、实时操作系统</a:t>
            </a:r>
          </a:p>
          <a:p>
            <a:r>
              <a:rPr lang="zh-CN" altLang="en-US" sz="2400"/>
              <a:t>根据所支持的用户数目，可分为单用户操作系统、多用户操作系统</a:t>
            </a:r>
          </a:p>
          <a:p>
            <a:r>
              <a:rPr lang="zh-CN" altLang="en-US" sz="2400"/>
              <a:t>根据源码开放程度，可分为开源操作系统和闭源操作系统</a:t>
            </a:r>
          </a:p>
          <a:p>
            <a:r>
              <a:rPr lang="zh-CN" altLang="en-US" sz="2400"/>
              <a:t>根据硬件结构，可分为网络操作系统、多媒体操作系统、和分布式操作系统等</a:t>
            </a:r>
          </a:p>
        </p:txBody>
      </p:sp>
      <p:pic>
        <p:nvPicPr>
          <p:cNvPr id="6" name="图片 5" descr="联想截图_20231214002915"/>
          <p:cNvPicPr>
            <a:picLocks noChangeAspect="1"/>
          </p:cNvPicPr>
          <p:nvPr>
            <p:custDataLst>
              <p:tags r:id="rId1"/>
            </p:custDataLst>
          </p:nvPr>
        </p:nvPicPr>
        <p:blipFill>
          <a:blip r:embed="rId4"/>
          <a:stretch>
            <a:fillRect/>
          </a:stretch>
        </p:blipFill>
        <p:spPr>
          <a:xfrm>
            <a:off x="4435475" y="6219825"/>
            <a:ext cx="545465" cy="546735"/>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11988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600" dirty="0">
                <a:sym typeface="+mn-ea"/>
              </a:rPr>
              <a:t>实用操作系统</a:t>
            </a:r>
            <a:endParaRPr kumimoji="0" lang="zh-CN" altLang="en-US" sz="3600" b="0" i="0" u="none" strike="noStrike" kern="1200" cap="none" spc="0" normalizeH="0" baseline="0" noProof="0" dirty="0">
              <a:ln>
                <a:noFill/>
              </a:ln>
              <a:solidFill>
                <a:schemeClr val="tx1"/>
              </a:solidFill>
              <a:effectLst/>
              <a:uLnTx/>
              <a:uFillTx/>
              <a:latin typeface="方正公文黑体" panose="02000500000000000000" pitchFamily="2" charset="-122"/>
              <a:ea typeface="方正公文黑体" panose="02000500000000000000" pitchFamily="2" charset="-122"/>
              <a:cs typeface="+mn-cs"/>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endParaRP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3" name="文本框 2"/>
          <p:cNvSpPr txBox="1"/>
          <p:nvPr/>
        </p:nvSpPr>
        <p:spPr>
          <a:xfrm>
            <a:off x="1649095" y="1597025"/>
            <a:ext cx="8686165" cy="2306955"/>
          </a:xfrm>
          <a:prstGeom prst="rect">
            <a:avLst/>
          </a:prstGeom>
          <a:noFill/>
        </p:spPr>
        <p:txBody>
          <a:bodyPr wrap="square" rtlCol="0" anchor="t">
            <a:spAutoFit/>
          </a:bodyPr>
          <a:lstStyle/>
          <a:p>
            <a:r>
              <a:rPr lang="zh-CN" altLang="en-US" sz="2400"/>
              <a:t>典型的桌面操作系统Windows，是一个多任务的操作系统，他采用图形窗口界面，用户对计算机的各种复杂操作只需通过点击鼠标就可以实现。</a:t>
            </a:r>
          </a:p>
          <a:p>
            <a:r>
              <a:rPr lang="zh-CN" altLang="en-US" sz="2400"/>
              <a:t>Windows常用管理工具：资源管理器、任务管理器、设备管理器</a:t>
            </a:r>
          </a:p>
          <a:p>
            <a:r>
              <a:rPr lang="zh-CN" altLang="en-US" sz="2400"/>
              <a:t>其他常见操作系统：UNIX、Linux、IOS、Android</a:t>
            </a:r>
          </a:p>
        </p:txBody>
      </p:sp>
      <p:pic>
        <p:nvPicPr>
          <p:cNvPr id="6" name="图片 5" descr="联想截图_20231214002915"/>
          <p:cNvPicPr>
            <a:picLocks noChangeAspect="1"/>
          </p:cNvPicPr>
          <p:nvPr>
            <p:custDataLst>
              <p:tags r:id="rId1"/>
            </p:custDataLst>
          </p:nvPr>
        </p:nvPicPr>
        <p:blipFill>
          <a:blip r:embed="rId4"/>
          <a:stretch>
            <a:fillRect/>
          </a:stretch>
        </p:blipFill>
        <p:spPr>
          <a:xfrm>
            <a:off x="4435475" y="6219825"/>
            <a:ext cx="545465" cy="546735"/>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rPr>
              <a:t>一些题</a:t>
            </a: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3" name="文本框 2"/>
          <p:cNvSpPr txBox="1"/>
          <p:nvPr/>
        </p:nvSpPr>
        <p:spPr>
          <a:xfrm>
            <a:off x="1443990" y="1089025"/>
            <a:ext cx="9224010" cy="4092575"/>
          </a:xfrm>
          <a:prstGeom prst="rect">
            <a:avLst/>
          </a:prstGeom>
          <a:noFill/>
        </p:spPr>
        <p:txBody>
          <a:bodyPr wrap="square" rtlCol="0" anchor="t">
            <a:spAutoFit/>
          </a:bodyPr>
          <a:lstStyle/>
          <a:p>
            <a:r>
              <a:rPr lang="zh-CN" altLang="en-US" sz="2000" dirty="0"/>
              <a:t>·下列关于CPU的相关叙述中正确的是【D 】：</a:t>
            </a:r>
          </a:p>
          <a:p>
            <a:r>
              <a:rPr lang="zh-CN" altLang="en-US" sz="2000" dirty="0"/>
              <a:t>A 多核计算机是指计算机有多个CPU、B CPU可以保存计算的中间结果、C 外存储器通过接口和CPU直接交换信息、D CPU通过总线直接与内存交换信息  </a:t>
            </a:r>
          </a:p>
          <a:p>
            <a:r>
              <a:rPr lang="zh-CN" altLang="en-US" sz="2000" dirty="0"/>
              <a:t>·CPU输出数据的速度远远高于打印机的打印速度，为解决这一矛盾，可采用【D】：</a:t>
            </a:r>
          </a:p>
          <a:p>
            <a:r>
              <a:rPr lang="zh-CN" altLang="en-US" sz="2000" dirty="0"/>
              <a:t>A 覆盖技术、B 并行技术、C 虚拟存储器技术、D 缓冲技术 </a:t>
            </a:r>
          </a:p>
          <a:p>
            <a:r>
              <a:rPr lang="zh-CN" altLang="en-US" sz="2000" dirty="0"/>
              <a:t>·PC机加电启动时，执行了BIOS中的POST程序后，若系统无致命错误，计算机将执行BIOS中的【D】：</a:t>
            </a:r>
          </a:p>
          <a:p>
            <a:r>
              <a:rPr lang="zh-CN" altLang="en-US" sz="2000" dirty="0"/>
              <a:t>A CMOS设置程序、B 基本外围设备的驱动程序、C 检测程序、D 系统自举程序 </a:t>
            </a:r>
          </a:p>
          <a:p>
            <a:r>
              <a:rPr lang="zh-CN" altLang="en-US" sz="2000" dirty="0"/>
              <a:t>·3.5英寸软盘的移动滑块从写保护窗口上移开，此时_A___。</a:t>
            </a:r>
          </a:p>
          <a:p>
            <a:r>
              <a:rPr lang="zh-CN" altLang="en-US" sz="2000" dirty="0"/>
              <a:t>A 写保护、B 读保护、C 读写保护、D 驱动器定位</a:t>
            </a:r>
          </a:p>
          <a:p>
            <a:r>
              <a:rPr lang="zh-CN" altLang="en-US" sz="2000" dirty="0"/>
              <a:t>·Windows的目录结构采用的是( A)</a:t>
            </a:r>
          </a:p>
          <a:p>
            <a:r>
              <a:rPr lang="zh-CN" altLang="en-US" sz="2000" dirty="0"/>
              <a:t>A 树形结构、B 线形结构、C 层次结构、D 网状结构</a:t>
            </a:r>
          </a:p>
        </p:txBody>
      </p:sp>
      <p:pic>
        <p:nvPicPr>
          <p:cNvPr id="6" name="图片 5" descr="联想截图_20231214002915"/>
          <p:cNvPicPr>
            <a:picLocks noChangeAspect="1"/>
          </p:cNvPicPr>
          <p:nvPr>
            <p:custDataLst>
              <p:tags r:id="rId1"/>
            </p:custDataLst>
          </p:nvPr>
        </p:nvPicPr>
        <p:blipFill>
          <a:blip r:embed="rId4"/>
          <a:stretch>
            <a:fillRect/>
          </a:stretch>
        </p:blipFill>
        <p:spPr>
          <a:xfrm>
            <a:off x="4435475" y="6219825"/>
            <a:ext cx="545465" cy="546735"/>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9154" y="6219714"/>
            <a:ext cx="2457450" cy="542925"/>
          </a:xfrm>
          <a:prstGeom prst="rect">
            <a:avLst/>
          </a:prstGeom>
        </p:spPr>
      </p:pic>
      <p:sp>
        <p:nvSpPr>
          <p:cNvPr id="2" name="文本框 1"/>
          <p:cNvSpPr txBox="1"/>
          <p:nvPr/>
        </p:nvSpPr>
        <p:spPr>
          <a:xfrm>
            <a:off x="1610419" y="185027"/>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rPr>
              <a:t>一些题</a:t>
            </a: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3" name="文本框 2"/>
          <p:cNvSpPr txBox="1"/>
          <p:nvPr/>
        </p:nvSpPr>
        <p:spPr>
          <a:xfrm>
            <a:off x="1261745" y="1077595"/>
            <a:ext cx="9669145" cy="4399915"/>
          </a:xfrm>
          <a:prstGeom prst="rect">
            <a:avLst/>
          </a:prstGeom>
          <a:noFill/>
        </p:spPr>
        <p:txBody>
          <a:bodyPr wrap="square" rtlCol="0" anchor="t">
            <a:spAutoFit/>
          </a:bodyPr>
          <a:lstStyle/>
          <a:p>
            <a:r>
              <a:rPr lang="zh-CN" altLang="en-US" sz="2000"/>
              <a:t>·Windows的剪贴板是用于临时存放信息的（ C）</a:t>
            </a:r>
          </a:p>
          <a:p>
            <a:r>
              <a:rPr lang="zh-CN" altLang="en-US" sz="2000"/>
              <a:t>A 一个窗口、B 一个文件夹、C 一块内存区间、D 一块磁盘区间</a:t>
            </a:r>
          </a:p>
          <a:p>
            <a:r>
              <a:rPr lang="zh-CN" altLang="en-US" sz="2000"/>
              <a:t>·___A___是能够便于其他程序执行的程序。</a:t>
            </a:r>
          </a:p>
          <a:p>
            <a:r>
              <a:rPr lang="zh-CN" altLang="en-US" sz="2000"/>
              <a:t>A 操作系统、B 硬件、C 队列、D 应用程序</a:t>
            </a:r>
          </a:p>
          <a:p>
            <a:r>
              <a:rPr lang="zh-CN" altLang="en-US" sz="2000"/>
              <a:t>·下面有关计算机的叙述中,正确的是_B____。 </a:t>
            </a:r>
          </a:p>
          <a:p>
            <a:r>
              <a:rPr lang="zh-CN" altLang="en-US" sz="2000"/>
              <a:t>A 计算机的主机只包括CPU、B 计算机程序必须装载到内存中才能执行 、C 计算机必须具有硬盘才能工作 、D 计算机键盘上字母键的排列方式是随机的 </a:t>
            </a:r>
          </a:p>
          <a:p>
            <a:r>
              <a:rPr lang="zh-CN" altLang="en-US" sz="2000"/>
              <a:t>·目前，微机上常用3.5英寸的双面高密度软盘的存储容量为__D__。</a:t>
            </a:r>
          </a:p>
          <a:p>
            <a:r>
              <a:rPr lang="zh-CN" altLang="en-US" sz="2000"/>
              <a:t>A 360KB、B 720KB、C 1.2MB、D 1．44MB</a:t>
            </a:r>
          </a:p>
          <a:p>
            <a:r>
              <a:rPr lang="zh-CN" altLang="en-US" sz="2000"/>
              <a:t>（5．25英寸双面低密度软盘的容量为360KB；高密度则为1.2MB。3．5英寸双面低密度软盘的容量为720KB；高密则为1．44MB。）</a:t>
            </a:r>
          </a:p>
          <a:p>
            <a:r>
              <a:rPr lang="zh-CN" altLang="en-US" sz="2000"/>
              <a:t>·操作系统的主要功能是_B____。 </a:t>
            </a:r>
          </a:p>
          <a:p>
            <a:r>
              <a:rPr lang="zh-CN" altLang="en-US" sz="2000"/>
              <a:t>A 实现软、硬件转换、B 管理系统所有的软、硬件资源 、C 把源程序转换为目标程序、D 进行数据处理 </a:t>
            </a:r>
          </a:p>
        </p:txBody>
      </p:sp>
      <p:pic>
        <p:nvPicPr>
          <p:cNvPr id="6" name="图片 5" descr="联想截图_20231214002915"/>
          <p:cNvPicPr>
            <a:picLocks noChangeAspect="1"/>
          </p:cNvPicPr>
          <p:nvPr>
            <p:custDataLst>
              <p:tags r:id="rId1"/>
            </p:custDataLst>
          </p:nvPr>
        </p:nvPicPr>
        <p:blipFill>
          <a:blip r:embed="rId4"/>
          <a:stretch>
            <a:fillRect/>
          </a:stretch>
        </p:blipFill>
        <p:spPr>
          <a:xfrm>
            <a:off x="4435475" y="6219825"/>
            <a:ext cx="545465" cy="546735"/>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9154" y="6219714"/>
            <a:ext cx="2457450" cy="542925"/>
          </a:xfrm>
          <a:prstGeom prst="rect">
            <a:avLst/>
          </a:prstGeom>
        </p:spPr>
      </p:pic>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3" name="矩形 2" descr="7b0a2020202022776f7264617274223a2022220a7d0a"/>
          <p:cNvSpPr/>
          <p:nvPr/>
        </p:nvSpPr>
        <p:spPr>
          <a:xfrm>
            <a:off x="2047875" y="1551305"/>
            <a:ext cx="7646035" cy="4225925"/>
          </a:xfrm>
          <a:prstGeom prst="rect">
            <a:avLst/>
          </a:prstGeom>
          <a:noFill/>
          <a:ln>
            <a:noFill/>
          </a:ln>
        </p:spPr>
        <p:txBody>
          <a:bodyPr wrap="none" rtlCol="0" anchor="t">
            <a:noAutofit/>
          </a:bodyPr>
          <a:lstStyle/>
          <a:p>
            <a:pPr algn="ctr"/>
            <a:r>
              <a:rPr lang="zh-CN" altLang="en-US" sz="7200" b="1">
                <a:ln w="25400">
                  <a:solidFill>
                    <a:srgbClr val="FFD267"/>
                  </a:solidFill>
                </a:ln>
                <a:solidFill>
                  <a:srgbClr val="295280"/>
                </a:solidFill>
                <a:effectLst>
                  <a:outerShdw dist="50800" dir="2700000" algn="tl" rotWithShape="0">
                    <a:srgbClr val="FF896E">
                      <a:alpha val="100000"/>
                    </a:srgbClr>
                  </a:outerShdw>
                </a:effectLst>
                <a:latin typeface="汉仪力量黑简" charset="0"/>
                <a:ea typeface="汉仪力量黑简" charset="0"/>
              </a:rPr>
              <a:t>五、计算机网络平台</a:t>
            </a:r>
          </a:p>
        </p:txBody>
      </p:sp>
      <p:pic>
        <p:nvPicPr>
          <p:cNvPr id="6" name="图片 5" descr="联想截图_20231214002915"/>
          <p:cNvPicPr>
            <a:picLocks noChangeAspect="1"/>
          </p:cNvPicPr>
          <p:nvPr>
            <p:custDataLst>
              <p:tags r:id="rId1"/>
            </p:custDataLst>
          </p:nvPr>
        </p:nvPicPr>
        <p:blipFill>
          <a:blip r:embed="rId4"/>
          <a:stretch>
            <a:fillRect/>
          </a:stretch>
        </p:blipFill>
        <p:spPr>
          <a:xfrm>
            <a:off x="4435475" y="6219825"/>
            <a:ext cx="545465" cy="546735"/>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rPr>
              <a:t>目录</a:t>
            </a: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3" name="文本框 2"/>
          <p:cNvSpPr txBox="1"/>
          <p:nvPr/>
        </p:nvSpPr>
        <p:spPr>
          <a:xfrm>
            <a:off x="1649095" y="897890"/>
            <a:ext cx="9019540" cy="5266690"/>
          </a:xfrm>
          <a:prstGeom prst="rect">
            <a:avLst/>
          </a:prstGeom>
          <a:noFill/>
        </p:spPr>
        <p:txBody>
          <a:bodyPr wrap="square" rtlCol="0" anchor="t">
            <a:noAutofit/>
          </a:bodyPr>
          <a:lstStyle/>
          <a:p>
            <a:r>
              <a:rPr lang="zh-CN" altLang="en-US" sz="2400"/>
              <a:t>1．计算机网络平台基础</a:t>
            </a:r>
          </a:p>
          <a:p>
            <a:r>
              <a:rPr lang="en-US" altLang="zh-CN" sz="2400"/>
              <a:t>  </a:t>
            </a:r>
            <a:r>
              <a:rPr lang="zh-CN" altLang="en-US" sz="2400"/>
              <a:t>计算机网络原理(信号与传输机制)</a:t>
            </a:r>
          </a:p>
          <a:p>
            <a:r>
              <a:rPr lang="en-US" altLang="zh-CN" sz="2400"/>
              <a:t>  </a:t>
            </a:r>
            <a:r>
              <a:rPr lang="zh-CN" altLang="en-US" sz="2400"/>
              <a:t>计算机网络构成（c/s，连接设备，拓扑，分类，传输设备）</a:t>
            </a:r>
          </a:p>
          <a:p>
            <a:r>
              <a:rPr lang="en-US" altLang="zh-CN" sz="2400"/>
              <a:t>  </a:t>
            </a:r>
            <a:r>
              <a:rPr lang="zh-CN" altLang="en-US" sz="2400"/>
              <a:t>计算机网络软件</a:t>
            </a:r>
          </a:p>
          <a:p>
            <a:r>
              <a:rPr lang="zh-CN" altLang="en-US" sz="2400"/>
              <a:t>2．Internet 及其应用</a:t>
            </a:r>
          </a:p>
          <a:p>
            <a:r>
              <a:rPr lang="zh-CN" altLang="en-US" sz="2400"/>
              <a:t>第 3 页</a:t>
            </a:r>
          </a:p>
          <a:p>
            <a:r>
              <a:rPr lang="en-US" altLang="zh-CN" sz="2400"/>
              <a:t>  </a:t>
            </a:r>
            <a:r>
              <a:rPr lang="zh-CN" altLang="en-US" sz="2400"/>
              <a:t>计算机网络协议</a:t>
            </a:r>
          </a:p>
          <a:p>
            <a:r>
              <a:rPr lang="en-US" altLang="zh-CN" sz="2400"/>
              <a:t>  </a:t>
            </a:r>
            <a:r>
              <a:rPr lang="zh-CN" altLang="en-US" sz="2400"/>
              <a:t>IP 与域名</a:t>
            </a:r>
          </a:p>
          <a:p>
            <a:r>
              <a:rPr lang="en-US" altLang="zh-CN" sz="2400"/>
              <a:t>  </a:t>
            </a:r>
            <a:r>
              <a:rPr lang="zh-CN" altLang="en-US" sz="2400"/>
              <a:t>网络接入与服务</a:t>
            </a:r>
          </a:p>
          <a:p>
            <a:r>
              <a:rPr lang="en-US" altLang="zh-CN" sz="2400"/>
              <a:t>  </a:t>
            </a:r>
            <a:r>
              <a:rPr lang="zh-CN" altLang="en-US" sz="2400"/>
              <a:t>网络应用（URL，检索…）</a:t>
            </a:r>
          </a:p>
          <a:p>
            <a:r>
              <a:rPr lang="zh-CN" altLang="en-US" sz="2400"/>
              <a:t>3．信息安全</a:t>
            </a:r>
          </a:p>
          <a:p>
            <a:r>
              <a:rPr lang="en-US" altLang="zh-CN" sz="2400"/>
              <a:t>  </a:t>
            </a:r>
            <a:r>
              <a:rPr lang="zh-CN" altLang="en-US" sz="2400"/>
              <a:t>计算机病毒</a:t>
            </a:r>
          </a:p>
          <a:p>
            <a:r>
              <a:rPr lang="en-US" altLang="zh-CN" sz="2400"/>
              <a:t>  </a:t>
            </a:r>
            <a:r>
              <a:rPr lang="zh-CN" altLang="en-US" sz="2400"/>
              <a:t>网络安全</a:t>
            </a:r>
          </a:p>
          <a:p>
            <a:r>
              <a:rPr lang="en-US" altLang="zh-CN" sz="2400"/>
              <a:t>  </a:t>
            </a:r>
            <a:r>
              <a:rPr lang="zh-CN" altLang="en-US" sz="2400"/>
              <a:t>信息加密与认证</a:t>
            </a:r>
            <a:r>
              <a:rPr lang="en-US" altLang="zh-CN" sz="2400"/>
              <a:t>            </a:t>
            </a:r>
            <a:r>
              <a:rPr lang="zh-CN" altLang="en-US" sz="2400"/>
              <a:t>4．云计算与物联网</a:t>
            </a:r>
          </a:p>
        </p:txBody>
      </p:sp>
      <p:pic>
        <p:nvPicPr>
          <p:cNvPr id="6" name="图片 5" descr="联想截图_20231214002915"/>
          <p:cNvPicPr>
            <a:picLocks noChangeAspect="1"/>
          </p:cNvPicPr>
          <p:nvPr>
            <p:custDataLst>
              <p:tags r:id="rId1"/>
            </p:custDataLst>
          </p:nvPr>
        </p:nvPicPr>
        <p:blipFill>
          <a:blip r:embed="rId4"/>
          <a:stretch>
            <a:fillRect/>
          </a:stretch>
        </p:blipFill>
        <p:spPr>
          <a:xfrm>
            <a:off x="4435475" y="6219825"/>
            <a:ext cx="545465" cy="546735"/>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11988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600" dirty="0">
                <a:solidFill>
                  <a:schemeClr val="tx1"/>
                </a:solidFill>
                <a:sym typeface="+mn-ea"/>
              </a:rPr>
              <a:t>计算机网络平台基础</a:t>
            </a:r>
            <a:endParaRPr lang="zh-CN" altLang="en-US" sz="3600" dirty="0">
              <a:solidFill>
                <a:srgbClr val="002B91"/>
              </a:solidFill>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endParaRP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3" name="文本框 2"/>
          <p:cNvSpPr txBox="1"/>
          <p:nvPr/>
        </p:nvSpPr>
        <p:spPr>
          <a:xfrm>
            <a:off x="1524000" y="986790"/>
            <a:ext cx="9144635" cy="1938020"/>
          </a:xfrm>
          <a:prstGeom prst="rect">
            <a:avLst/>
          </a:prstGeom>
          <a:noFill/>
        </p:spPr>
        <p:txBody>
          <a:bodyPr wrap="square" rtlCol="0" anchor="t">
            <a:spAutoFit/>
          </a:bodyPr>
          <a:lstStyle/>
          <a:p>
            <a:r>
              <a:rPr lang="zh-CN" altLang="en-US" sz="2400"/>
              <a:t>计算机网络的构成：</a:t>
            </a:r>
          </a:p>
          <a:p>
            <a:r>
              <a:rPr lang="zh-CN" altLang="en-US" sz="2400">
                <a:solidFill>
                  <a:srgbClr val="FF0000"/>
                </a:solidFill>
              </a:rPr>
              <a:t>通信子网: (内层)</a:t>
            </a:r>
            <a:endParaRPr lang="zh-CN" altLang="en-US" sz="2400"/>
          </a:p>
          <a:p>
            <a:r>
              <a:rPr lang="zh-CN" altLang="en-US" sz="2400"/>
              <a:t>负责全网的数据传输、加工和变换等通信处理工作。</a:t>
            </a:r>
          </a:p>
          <a:p>
            <a:r>
              <a:rPr lang="zh-CN" altLang="en-US" sz="2400">
                <a:solidFill>
                  <a:srgbClr val="FF0000"/>
                </a:solidFill>
              </a:rPr>
              <a:t>资源子网：(外层)</a:t>
            </a:r>
          </a:p>
          <a:p>
            <a:r>
              <a:rPr lang="zh-CN" altLang="en-US" sz="2400"/>
              <a:t>负责全网数据处理和向网络用户提供资源及网络服务。</a:t>
            </a:r>
          </a:p>
        </p:txBody>
      </p:sp>
      <p:sp>
        <p:nvSpPr>
          <p:cNvPr id="4" name="文本框 3"/>
          <p:cNvSpPr txBox="1"/>
          <p:nvPr/>
        </p:nvSpPr>
        <p:spPr>
          <a:xfrm>
            <a:off x="1649095" y="3249295"/>
            <a:ext cx="9144000" cy="1938020"/>
          </a:xfrm>
          <a:prstGeom prst="rect">
            <a:avLst/>
          </a:prstGeom>
          <a:noFill/>
        </p:spPr>
        <p:txBody>
          <a:bodyPr wrap="square" rtlCol="0" anchor="t">
            <a:spAutoFit/>
          </a:bodyPr>
          <a:lstStyle/>
          <a:p>
            <a:r>
              <a:rPr lang="zh-CN" altLang="en-US" sz="2400"/>
              <a:t>计算机网络的分类</a:t>
            </a:r>
          </a:p>
          <a:p>
            <a:r>
              <a:rPr lang="zh-CN" altLang="en-US" sz="2400"/>
              <a:t>按照网络覆盖的地理范围分类：</a:t>
            </a:r>
            <a:r>
              <a:rPr lang="zh-CN" altLang="en-US" sz="2400">
                <a:solidFill>
                  <a:srgbClr val="FF0000"/>
                </a:solidFill>
              </a:rPr>
              <a:t>局域网、城域网、广域网</a:t>
            </a:r>
            <a:endParaRPr lang="zh-CN" altLang="en-US" sz="2400"/>
          </a:p>
          <a:p>
            <a:r>
              <a:rPr lang="zh-CN" altLang="en-US" sz="2400"/>
              <a:t>按照网络的工作模式分类：</a:t>
            </a:r>
            <a:r>
              <a:rPr lang="zh-CN" altLang="en-US" sz="2400">
                <a:solidFill>
                  <a:srgbClr val="FF0000"/>
                </a:solidFill>
              </a:rPr>
              <a:t>对等网、客户/服务器网络</a:t>
            </a:r>
            <a:endParaRPr lang="zh-CN" altLang="en-US" sz="2400"/>
          </a:p>
          <a:p>
            <a:r>
              <a:rPr lang="zh-CN" altLang="en-US" sz="2400"/>
              <a:t>按照使用范围分类：</a:t>
            </a:r>
            <a:r>
              <a:rPr lang="zh-CN" altLang="en-US" sz="2400">
                <a:solidFill>
                  <a:srgbClr val="FF0000"/>
                </a:solidFill>
              </a:rPr>
              <a:t>专用网、公用网</a:t>
            </a:r>
          </a:p>
          <a:p>
            <a:r>
              <a:rPr lang="zh-CN" altLang="en-US" sz="2400"/>
              <a:t>按照通信介质分类：</a:t>
            </a:r>
            <a:r>
              <a:rPr lang="zh-CN" altLang="en-US" sz="2400">
                <a:solidFill>
                  <a:srgbClr val="FF0000"/>
                </a:solidFill>
              </a:rPr>
              <a:t>有线网、无线网</a:t>
            </a:r>
          </a:p>
        </p:txBody>
      </p:sp>
      <p:pic>
        <p:nvPicPr>
          <p:cNvPr id="6" name="图片 5" descr="联想截图_20231214002915"/>
          <p:cNvPicPr>
            <a:picLocks noChangeAspect="1"/>
          </p:cNvPicPr>
          <p:nvPr>
            <p:custDataLst>
              <p:tags r:id="rId1"/>
            </p:custDataLst>
          </p:nvPr>
        </p:nvPicPr>
        <p:blipFill>
          <a:blip r:embed="rId4"/>
          <a:stretch>
            <a:fillRect/>
          </a:stretch>
        </p:blipFill>
        <p:spPr>
          <a:xfrm>
            <a:off x="4435475" y="6219825"/>
            <a:ext cx="545465" cy="546735"/>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600" dirty="0">
                <a:sym typeface="+mn-ea"/>
              </a:rPr>
              <a:t>计算机网络平台基础</a:t>
            </a:r>
            <a:endParaRPr kumimoji="0" lang="en-US" altLang="zh-CN"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endParaRP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3" name="文本框 2"/>
          <p:cNvSpPr txBox="1"/>
          <p:nvPr/>
        </p:nvSpPr>
        <p:spPr>
          <a:xfrm>
            <a:off x="1649095" y="1488440"/>
            <a:ext cx="8814435" cy="2306955"/>
          </a:xfrm>
          <a:prstGeom prst="rect">
            <a:avLst/>
          </a:prstGeom>
          <a:noFill/>
        </p:spPr>
        <p:txBody>
          <a:bodyPr wrap="square" rtlCol="0" anchor="t">
            <a:spAutoFit/>
          </a:bodyPr>
          <a:lstStyle/>
          <a:p>
            <a:r>
              <a:rPr lang="zh-CN" altLang="en-US" sz="2400"/>
              <a:t>计算机网络的构成：网络组件</a:t>
            </a:r>
          </a:p>
          <a:p>
            <a:r>
              <a:rPr lang="zh-CN" altLang="en-US" sz="2400"/>
              <a:t>网卡、集线器、交换机、路由器（路由器主要功能：用于互连局域网和广域网，实现不同网络互相通信。找到网络中数据传输最合适的路径）</a:t>
            </a:r>
          </a:p>
          <a:p>
            <a:r>
              <a:rPr lang="zh-CN" altLang="en-US" sz="2400">
                <a:solidFill>
                  <a:srgbClr val="FF0000"/>
                </a:solidFill>
              </a:rPr>
              <a:t>传输介质</a:t>
            </a:r>
            <a:r>
              <a:rPr lang="zh-CN" altLang="en-US" sz="2400"/>
              <a:t>：通信网络中发送方和接收方之间的物理通路，分为有线介质和无线介质。</a:t>
            </a:r>
          </a:p>
        </p:txBody>
      </p:sp>
      <p:pic>
        <p:nvPicPr>
          <p:cNvPr id="6" name="图片 5" descr="联想截图_20231214002915"/>
          <p:cNvPicPr>
            <a:picLocks noChangeAspect="1"/>
          </p:cNvPicPr>
          <p:nvPr>
            <p:custDataLst>
              <p:tags r:id="rId1"/>
            </p:custDataLst>
          </p:nvPr>
        </p:nvPicPr>
        <p:blipFill>
          <a:blip r:embed="rId4"/>
          <a:stretch>
            <a:fillRect/>
          </a:stretch>
        </p:blipFill>
        <p:spPr>
          <a:xfrm>
            <a:off x="4435475" y="6219825"/>
            <a:ext cx="545465" cy="546735"/>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600" dirty="0">
                <a:sym typeface="+mn-ea"/>
              </a:rPr>
              <a:t>计算机网络平台基础</a:t>
            </a:r>
            <a:endParaRPr kumimoji="0" lang="en-US" altLang="zh-CN"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endParaRP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3" name="文本框 2"/>
          <p:cNvSpPr txBox="1"/>
          <p:nvPr/>
        </p:nvSpPr>
        <p:spPr>
          <a:xfrm>
            <a:off x="1363345" y="1410970"/>
            <a:ext cx="9382125" cy="3415030"/>
          </a:xfrm>
          <a:prstGeom prst="rect">
            <a:avLst/>
          </a:prstGeom>
          <a:noFill/>
        </p:spPr>
        <p:txBody>
          <a:bodyPr wrap="square" rtlCol="0" anchor="t">
            <a:spAutoFit/>
          </a:bodyPr>
          <a:lstStyle/>
          <a:p>
            <a:r>
              <a:rPr lang="zh-CN" altLang="en-US" sz="2400"/>
              <a:t>计算机网络的构成：网络拓扑</a:t>
            </a:r>
          </a:p>
          <a:p>
            <a:r>
              <a:rPr lang="zh-CN" altLang="en-US" sz="2400">
                <a:solidFill>
                  <a:srgbClr val="FF0000"/>
                </a:solidFill>
              </a:rPr>
              <a:t>总线型拓扑结构</a:t>
            </a:r>
            <a:r>
              <a:rPr lang="zh-CN" altLang="en-US" sz="2400"/>
              <a:t>：在总线型拓扑结构中，所有计算机和设备都连接在一条电缆上。所需要的电缆少，缺点是电缆上任何一点发生故障都会使整个网络瘫痪。</a:t>
            </a:r>
          </a:p>
          <a:p>
            <a:r>
              <a:rPr lang="zh-CN" altLang="en-US" sz="2400">
                <a:solidFill>
                  <a:srgbClr val="FF0000"/>
                </a:solidFill>
              </a:rPr>
              <a:t>星型拓扑结构</a:t>
            </a:r>
            <a:r>
              <a:rPr lang="zh-CN" altLang="en-US" sz="2400"/>
              <a:t>：是现在网络中最常用的拓扑结构，所有计算机都连接到一个中心集线器或交换机上，控制简单，故障诊断和隔离容易，但是电缆用量大。</a:t>
            </a:r>
          </a:p>
          <a:p>
            <a:r>
              <a:rPr lang="zh-CN" altLang="en-US" sz="2400">
                <a:solidFill>
                  <a:srgbClr val="FF0000"/>
                </a:solidFill>
              </a:rPr>
              <a:t>环型拓扑结构</a:t>
            </a:r>
            <a:r>
              <a:rPr lang="zh-CN" altLang="en-US" sz="2400"/>
              <a:t>：计算机被连接在一个闭合的环上。形拓扑结构增减计算机容易实现，但是某个节点的故障会引起全网故障。 </a:t>
            </a:r>
          </a:p>
        </p:txBody>
      </p:sp>
      <p:pic>
        <p:nvPicPr>
          <p:cNvPr id="6" name="图片 5" descr="联想截图_20231214002915"/>
          <p:cNvPicPr>
            <a:picLocks noChangeAspect="1"/>
          </p:cNvPicPr>
          <p:nvPr>
            <p:custDataLst>
              <p:tags r:id="rId1"/>
            </p:custDataLst>
          </p:nvPr>
        </p:nvPicPr>
        <p:blipFill>
          <a:blip r:embed="rId4"/>
          <a:stretch>
            <a:fillRect/>
          </a:stretch>
        </p:blipFill>
        <p:spPr>
          <a:xfrm>
            <a:off x="4435475" y="6219825"/>
            <a:ext cx="545465" cy="546735"/>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600" dirty="0">
                <a:sym typeface="+mn-ea"/>
              </a:rPr>
              <a:t>计算机网络平台基础</a:t>
            </a:r>
            <a:endParaRPr kumimoji="0" lang="en-US" altLang="zh-CN"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endParaRP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4" name="文本框 3"/>
          <p:cNvSpPr txBox="1"/>
          <p:nvPr/>
        </p:nvSpPr>
        <p:spPr>
          <a:xfrm>
            <a:off x="1940560" y="1094105"/>
            <a:ext cx="6096000" cy="460375"/>
          </a:xfrm>
          <a:prstGeom prst="rect">
            <a:avLst/>
          </a:prstGeom>
          <a:noFill/>
        </p:spPr>
        <p:txBody>
          <a:bodyPr wrap="square" rtlCol="0" anchor="t">
            <a:spAutoFit/>
          </a:bodyPr>
          <a:lstStyle/>
          <a:p>
            <a:r>
              <a:rPr lang="zh-CN" altLang="en-US" sz="2400">
                <a:sym typeface="+mn-ea"/>
              </a:rPr>
              <a:t>总线型拓扑结构</a:t>
            </a:r>
          </a:p>
        </p:txBody>
      </p:sp>
      <p:sp>
        <p:nvSpPr>
          <p:cNvPr id="6" name="文本框 5"/>
          <p:cNvSpPr txBox="1"/>
          <p:nvPr/>
        </p:nvSpPr>
        <p:spPr>
          <a:xfrm>
            <a:off x="7673340" y="1137285"/>
            <a:ext cx="2279015" cy="460375"/>
          </a:xfrm>
          <a:prstGeom prst="rect">
            <a:avLst/>
          </a:prstGeom>
          <a:noFill/>
        </p:spPr>
        <p:txBody>
          <a:bodyPr wrap="square" rtlCol="0" anchor="t">
            <a:spAutoFit/>
          </a:bodyPr>
          <a:lstStyle/>
          <a:p>
            <a:r>
              <a:rPr lang="zh-CN" altLang="en-US" sz="2400">
                <a:sym typeface="+mn-ea"/>
              </a:rPr>
              <a:t>星型拓扑结构</a:t>
            </a:r>
          </a:p>
        </p:txBody>
      </p:sp>
      <p:sp>
        <p:nvSpPr>
          <p:cNvPr id="9" name="文本框 8"/>
          <p:cNvSpPr txBox="1"/>
          <p:nvPr/>
        </p:nvSpPr>
        <p:spPr>
          <a:xfrm>
            <a:off x="2371090" y="4594225"/>
            <a:ext cx="2629535" cy="460375"/>
          </a:xfrm>
          <a:prstGeom prst="rect">
            <a:avLst/>
          </a:prstGeom>
          <a:noFill/>
        </p:spPr>
        <p:txBody>
          <a:bodyPr wrap="square" rtlCol="0" anchor="t">
            <a:spAutoFit/>
          </a:bodyPr>
          <a:lstStyle/>
          <a:p>
            <a:r>
              <a:rPr lang="zh-CN" altLang="en-US" sz="2400">
                <a:sym typeface="+mn-ea"/>
              </a:rPr>
              <a:t>环型拓扑结构</a:t>
            </a:r>
          </a:p>
        </p:txBody>
      </p:sp>
      <p:pic>
        <p:nvPicPr>
          <p:cNvPr id="11" name="图片 10"/>
          <p:cNvPicPr>
            <a:picLocks noChangeAspect="1"/>
          </p:cNvPicPr>
          <p:nvPr>
            <p:custDataLst>
              <p:tags r:id="rId1"/>
            </p:custDataLst>
          </p:nvPr>
        </p:nvPicPr>
        <p:blipFill>
          <a:blip r:embed="rId7"/>
          <a:stretch>
            <a:fillRect/>
          </a:stretch>
        </p:blipFill>
        <p:spPr>
          <a:xfrm>
            <a:off x="1031875" y="1647825"/>
            <a:ext cx="4543425" cy="1781175"/>
          </a:xfrm>
          <a:prstGeom prst="rect">
            <a:avLst/>
          </a:prstGeom>
        </p:spPr>
      </p:pic>
      <p:pic>
        <p:nvPicPr>
          <p:cNvPr id="12" name="图片 11"/>
          <p:cNvPicPr>
            <a:picLocks noChangeAspect="1"/>
          </p:cNvPicPr>
          <p:nvPr>
            <p:custDataLst>
              <p:tags r:id="rId2"/>
            </p:custDataLst>
          </p:nvPr>
        </p:nvPicPr>
        <p:blipFill>
          <a:blip r:embed="rId8"/>
          <a:stretch>
            <a:fillRect/>
          </a:stretch>
        </p:blipFill>
        <p:spPr>
          <a:xfrm>
            <a:off x="7202170" y="1647825"/>
            <a:ext cx="2938780" cy="2133600"/>
          </a:xfrm>
          <a:prstGeom prst="rect">
            <a:avLst/>
          </a:prstGeom>
        </p:spPr>
      </p:pic>
      <p:pic>
        <p:nvPicPr>
          <p:cNvPr id="13" name="图片 12"/>
          <p:cNvPicPr>
            <a:picLocks noChangeAspect="1"/>
          </p:cNvPicPr>
          <p:nvPr>
            <p:custDataLst>
              <p:tags r:id="rId3"/>
            </p:custDataLst>
          </p:nvPr>
        </p:nvPicPr>
        <p:blipFill>
          <a:blip r:embed="rId9"/>
          <a:stretch>
            <a:fillRect/>
          </a:stretch>
        </p:blipFill>
        <p:spPr>
          <a:xfrm>
            <a:off x="5000625" y="3574415"/>
            <a:ext cx="2976880" cy="2343150"/>
          </a:xfrm>
          <a:prstGeom prst="rect">
            <a:avLst/>
          </a:prstGeom>
        </p:spPr>
      </p:pic>
      <p:pic>
        <p:nvPicPr>
          <p:cNvPr id="15" name="图片 14" descr="联想截图_20231214002915"/>
          <p:cNvPicPr>
            <a:picLocks noChangeAspect="1"/>
          </p:cNvPicPr>
          <p:nvPr>
            <p:custDataLst>
              <p:tags r:id="rId4"/>
            </p:custDataLst>
          </p:nvPr>
        </p:nvPicPr>
        <p:blipFill>
          <a:blip r:embed="rId10"/>
          <a:stretch>
            <a:fillRect/>
          </a:stretch>
        </p:blipFill>
        <p:spPr>
          <a:xfrm>
            <a:off x="4435475" y="6219825"/>
            <a:ext cx="545465" cy="546735"/>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600" dirty="0">
                <a:sym typeface="+mn-ea"/>
              </a:rPr>
              <a:t>计算机网络平台基础</a:t>
            </a:r>
            <a:endParaRPr kumimoji="0" lang="en-US" altLang="zh-CN"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endParaRP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3" name="文本框 2"/>
          <p:cNvSpPr txBox="1"/>
          <p:nvPr/>
        </p:nvSpPr>
        <p:spPr>
          <a:xfrm>
            <a:off x="1583055" y="1060450"/>
            <a:ext cx="9323705" cy="5262245"/>
          </a:xfrm>
          <a:prstGeom prst="rect">
            <a:avLst/>
          </a:prstGeom>
          <a:noFill/>
        </p:spPr>
        <p:txBody>
          <a:bodyPr wrap="square" rtlCol="0" anchor="t">
            <a:spAutoFit/>
          </a:bodyPr>
          <a:lstStyle/>
          <a:p>
            <a:r>
              <a:rPr lang="zh-CN" altLang="en-US" sz="2400"/>
              <a:t>计算机网络的构成：数据交换技术</a:t>
            </a:r>
          </a:p>
          <a:p>
            <a:r>
              <a:rPr lang="zh-CN" altLang="en-US" sz="2400"/>
              <a:t>数据交换，数据从源结点出发经过若干中间结点达到目的地的过程</a:t>
            </a:r>
          </a:p>
          <a:p>
            <a:r>
              <a:rPr lang="zh-CN" altLang="en-US" sz="2400">
                <a:solidFill>
                  <a:srgbClr val="FF0000"/>
                </a:solidFill>
              </a:rPr>
              <a:t>线路交换、报文交换、分组交换</a:t>
            </a:r>
            <a:endParaRPr lang="zh-CN" altLang="en-US" sz="2400"/>
          </a:p>
          <a:p>
            <a:r>
              <a:rPr lang="zh-CN" altLang="en-US" sz="2400"/>
              <a:t>计算机网络的构成：网络体系结构</a:t>
            </a:r>
          </a:p>
          <a:p>
            <a:r>
              <a:rPr lang="zh-CN" altLang="en-US" sz="2400">
                <a:solidFill>
                  <a:srgbClr val="FF0000"/>
                </a:solidFill>
              </a:rPr>
              <a:t>局域网协议：以太网、令牌环网</a:t>
            </a:r>
            <a:endParaRPr lang="zh-CN" altLang="en-US" sz="2400"/>
          </a:p>
          <a:p>
            <a:r>
              <a:rPr lang="zh-CN" altLang="en-US" sz="2400">
                <a:solidFill>
                  <a:srgbClr val="FF0000"/>
                </a:solidFill>
              </a:rPr>
              <a:t>互联网协议：TCP/IP协议簇及其分层</a:t>
            </a:r>
            <a:endParaRPr lang="zh-CN" altLang="en-US" sz="2400"/>
          </a:p>
          <a:p>
            <a:r>
              <a:rPr lang="zh-CN" altLang="en-US" sz="2400"/>
              <a:t>TCP／IP协议族把整个协议分成</a:t>
            </a:r>
            <a:r>
              <a:rPr lang="zh-CN" altLang="en-US" sz="2400">
                <a:solidFill>
                  <a:srgbClr val="FF0000"/>
                </a:solidFill>
              </a:rPr>
              <a:t>网络接口层、网际层、传输层、应用层4个层次。</a:t>
            </a:r>
          </a:p>
          <a:p>
            <a:r>
              <a:rPr lang="zh-CN" altLang="en-US" sz="2400"/>
              <a:t>网络接口层：负责接收和发送物理帧。</a:t>
            </a:r>
          </a:p>
          <a:p>
            <a:r>
              <a:rPr lang="zh-CN" altLang="en-US" sz="2400"/>
              <a:t>网际层：负责相邻节点之间的通信。</a:t>
            </a:r>
          </a:p>
          <a:p>
            <a:r>
              <a:rPr lang="zh-CN" altLang="en-US" sz="2400"/>
              <a:t>传输层：负责起点到终端的通信。</a:t>
            </a:r>
          </a:p>
          <a:p>
            <a:r>
              <a:rPr lang="zh-CN" altLang="en-US" sz="2400"/>
              <a:t>应用层：提供诸如文件传输、电子邮件等应用程序，把数据以TCP/IP协议方式从一台计算机传送到另一台计算机。 </a:t>
            </a:r>
          </a:p>
          <a:p>
            <a:endParaRPr lang="zh-CN" altLang="en-US" sz="2400"/>
          </a:p>
        </p:txBody>
      </p:sp>
      <p:pic>
        <p:nvPicPr>
          <p:cNvPr id="6" name="图片 5" descr="联想截图_20231214002915"/>
          <p:cNvPicPr>
            <a:picLocks noChangeAspect="1"/>
          </p:cNvPicPr>
          <p:nvPr>
            <p:custDataLst>
              <p:tags r:id="rId1"/>
            </p:custDataLst>
          </p:nvPr>
        </p:nvPicPr>
        <p:blipFill>
          <a:blip r:embed="rId4"/>
          <a:stretch>
            <a:fillRect/>
          </a:stretch>
        </p:blipFill>
        <p:spPr>
          <a:xfrm>
            <a:off x="4435475" y="6219825"/>
            <a:ext cx="545465" cy="546735"/>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3600" dirty="0">
                <a:solidFill>
                  <a:schemeClr val="tx1"/>
                </a:solidFill>
                <a:sym typeface="+mn-ea"/>
              </a:rPr>
              <a:t>Internet</a:t>
            </a:r>
            <a:r>
              <a:rPr lang="zh-CN" altLang="en-US" sz="3600" dirty="0">
                <a:solidFill>
                  <a:schemeClr val="tx1"/>
                </a:solidFill>
                <a:sym typeface="+mn-ea"/>
              </a:rPr>
              <a:t>及其应用</a:t>
            </a:r>
            <a:endParaRPr kumimoji="0" lang="zh-CN" altLang="en-US" sz="3600" b="0" i="0" u="none" strike="noStrike" kern="1200" cap="none" spc="0" normalizeH="0" baseline="0" noProof="0" dirty="0">
              <a:ln>
                <a:noFill/>
              </a:ln>
              <a:solidFill>
                <a:schemeClr val="tx1"/>
              </a:solidFill>
              <a:effectLst/>
              <a:uLnTx/>
              <a:uFillTx/>
              <a:latin typeface="方正公文黑体" panose="02000500000000000000" pitchFamily="2" charset="-122"/>
              <a:ea typeface="方正公文黑体" panose="02000500000000000000" pitchFamily="2" charset="-122"/>
              <a:cs typeface="+mn-cs"/>
              <a:sym typeface="+mn-ea"/>
            </a:endParaRP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3" name="文本框 2"/>
          <p:cNvSpPr txBox="1"/>
          <p:nvPr/>
        </p:nvSpPr>
        <p:spPr>
          <a:xfrm>
            <a:off x="1423670" y="897890"/>
            <a:ext cx="8910955" cy="2676525"/>
          </a:xfrm>
          <a:prstGeom prst="rect">
            <a:avLst/>
          </a:prstGeom>
          <a:noFill/>
        </p:spPr>
        <p:txBody>
          <a:bodyPr wrap="square" rtlCol="0" anchor="t">
            <a:spAutoFit/>
          </a:bodyPr>
          <a:lstStyle/>
          <a:p>
            <a:endParaRPr lang="zh-CN" altLang="en-US" sz="2400"/>
          </a:p>
          <a:p>
            <a:r>
              <a:rPr lang="zh-CN" altLang="en-US" sz="2400"/>
              <a:t>Internet上的主机之间要进行通信，则每台主机之间都必须由一个惟一的地址以区别于其他主机，这个地址就是Internet地址，也称为IP地址。</a:t>
            </a:r>
          </a:p>
          <a:p>
            <a:r>
              <a:rPr lang="zh-CN" altLang="en-US" sz="2400"/>
              <a:t>IP地址太长，不便于记忆，通常采用点分十进制计数法表示。一个IP地址由</a:t>
            </a:r>
            <a:r>
              <a:rPr lang="zh-CN" altLang="en-US" sz="2400">
                <a:solidFill>
                  <a:srgbClr val="FF0000"/>
                </a:solidFill>
              </a:rPr>
              <a:t>4个字节</a:t>
            </a:r>
            <a:r>
              <a:rPr lang="zh-CN" altLang="en-US" sz="2400"/>
              <a:t>（32位）组成，平均分成4段，每段8位，每段的取值范围为</a:t>
            </a:r>
            <a:r>
              <a:rPr lang="zh-CN" altLang="en-US" sz="2400">
                <a:solidFill>
                  <a:srgbClr val="FF0000"/>
                </a:solidFill>
              </a:rPr>
              <a:t>0～255</a:t>
            </a:r>
            <a:r>
              <a:rPr lang="zh-CN" altLang="en-US" sz="2400"/>
              <a:t>，段与段之间用</a:t>
            </a:r>
            <a:r>
              <a:rPr lang="zh-CN" altLang="en-US" sz="2400">
                <a:solidFill>
                  <a:srgbClr val="FF0000"/>
                </a:solidFill>
              </a:rPr>
              <a:t>圆点</a:t>
            </a:r>
            <a:r>
              <a:rPr lang="zh-CN" altLang="en-US" sz="2400"/>
              <a:t>分开。</a:t>
            </a:r>
          </a:p>
        </p:txBody>
      </p:sp>
      <p:pic>
        <p:nvPicPr>
          <p:cNvPr id="4" name="图片 3"/>
          <p:cNvPicPr>
            <a:picLocks noChangeAspect="1"/>
          </p:cNvPicPr>
          <p:nvPr>
            <p:custDataLst>
              <p:tags r:id="rId1"/>
            </p:custDataLst>
          </p:nvPr>
        </p:nvPicPr>
        <p:blipFill>
          <a:blip r:embed="rId5"/>
          <a:stretch>
            <a:fillRect/>
          </a:stretch>
        </p:blipFill>
        <p:spPr>
          <a:xfrm>
            <a:off x="1423670" y="3710305"/>
            <a:ext cx="8916035" cy="700405"/>
          </a:xfrm>
          <a:prstGeom prst="rect">
            <a:avLst/>
          </a:prstGeom>
        </p:spPr>
      </p:pic>
      <p:pic>
        <p:nvPicPr>
          <p:cNvPr id="6" name="图片 5" descr="联想截图_20231214002915"/>
          <p:cNvPicPr>
            <a:picLocks noChangeAspect="1"/>
          </p:cNvPicPr>
          <p:nvPr>
            <p:custDataLst>
              <p:tags r:id="rId2"/>
            </p:custDataLst>
          </p:nvPr>
        </p:nvPicPr>
        <p:blipFill>
          <a:blip r:embed="rId6"/>
          <a:stretch>
            <a:fillRect/>
          </a:stretch>
        </p:blipFill>
        <p:spPr>
          <a:xfrm>
            <a:off x="4435475" y="6219825"/>
            <a:ext cx="545465" cy="546735"/>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3600" dirty="0">
                <a:sym typeface="+mn-ea"/>
              </a:rPr>
              <a:t>Internet</a:t>
            </a:r>
            <a:r>
              <a:rPr lang="zh-CN" altLang="en-US" sz="3600" dirty="0">
                <a:sym typeface="+mn-ea"/>
              </a:rPr>
              <a:t>及其应用</a:t>
            </a:r>
            <a:endParaRPr kumimoji="0" lang="en-US" altLang="zh-CN"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endParaRP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pic>
        <p:nvPicPr>
          <p:cNvPr id="3" name="图片 2"/>
          <p:cNvPicPr>
            <a:picLocks noChangeAspect="1"/>
          </p:cNvPicPr>
          <p:nvPr>
            <p:custDataLst>
              <p:tags r:id="rId1"/>
            </p:custDataLst>
          </p:nvPr>
        </p:nvPicPr>
        <p:blipFill>
          <a:blip r:embed="rId6"/>
          <a:stretch>
            <a:fillRect/>
          </a:stretch>
        </p:blipFill>
        <p:spPr>
          <a:xfrm>
            <a:off x="1359535" y="1638935"/>
            <a:ext cx="5729605" cy="3078480"/>
          </a:xfrm>
          <a:prstGeom prst="rect">
            <a:avLst/>
          </a:prstGeom>
        </p:spPr>
      </p:pic>
      <p:sp>
        <p:nvSpPr>
          <p:cNvPr id="4" name="文本框 3"/>
          <p:cNvSpPr txBox="1"/>
          <p:nvPr/>
        </p:nvSpPr>
        <p:spPr>
          <a:xfrm>
            <a:off x="1524000" y="1038860"/>
            <a:ext cx="1261110" cy="600075"/>
          </a:xfrm>
          <a:prstGeom prst="rect">
            <a:avLst/>
          </a:prstGeom>
          <a:noFill/>
        </p:spPr>
        <p:txBody>
          <a:bodyPr wrap="square" rtlCol="0" anchor="t">
            <a:noAutofit/>
          </a:bodyPr>
          <a:lstStyle/>
          <a:p>
            <a:r>
              <a:rPr lang="zh-CN" altLang="en-US" sz="2800"/>
              <a:t>IPv4</a:t>
            </a:r>
          </a:p>
        </p:txBody>
      </p:sp>
      <p:pic>
        <p:nvPicPr>
          <p:cNvPr id="6" name="图片 5"/>
          <p:cNvPicPr>
            <a:picLocks noChangeAspect="1"/>
          </p:cNvPicPr>
          <p:nvPr>
            <p:custDataLst>
              <p:tags r:id="rId2"/>
            </p:custDataLst>
          </p:nvPr>
        </p:nvPicPr>
        <p:blipFill>
          <a:blip r:embed="rId7"/>
          <a:stretch>
            <a:fillRect/>
          </a:stretch>
        </p:blipFill>
        <p:spPr>
          <a:xfrm>
            <a:off x="6773545" y="3146425"/>
            <a:ext cx="4815205" cy="1647825"/>
          </a:xfrm>
          <a:prstGeom prst="rect">
            <a:avLst/>
          </a:prstGeom>
        </p:spPr>
      </p:pic>
      <p:sp>
        <p:nvSpPr>
          <p:cNvPr id="9" name="文本框 8"/>
          <p:cNvSpPr txBox="1"/>
          <p:nvPr/>
        </p:nvSpPr>
        <p:spPr>
          <a:xfrm>
            <a:off x="1212215" y="4638675"/>
            <a:ext cx="9766935" cy="1537970"/>
          </a:xfrm>
          <a:prstGeom prst="rect">
            <a:avLst/>
          </a:prstGeom>
          <a:noFill/>
        </p:spPr>
        <p:txBody>
          <a:bodyPr wrap="square" rtlCol="0" anchor="t">
            <a:spAutoFit/>
          </a:bodyPr>
          <a:lstStyle/>
          <a:p>
            <a:endParaRPr lang="zh-CN" altLang="en-US"/>
          </a:p>
          <a:p>
            <a:r>
              <a:rPr lang="en-US" altLang="zh-CN" sz="2800"/>
              <a:t>I</a:t>
            </a:r>
            <a:r>
              <a:rPr lang="zh-CN" altLang="en-US" sz="2800"/>
              <a:t>P</a:t>
            </a:r>
            <a:r>
              <a:rPr lang="en-US" altLang="zh-CN" sz="2800"/>
              <a:t>v</a:t>
            </a:r>
            <a:r>
              <a:rPr lang="zh-CN" altLang="en-US" sz="2800"/>
              <a:t>6</a:t>
            </a:r>
            <a:r>
              <a:rPr lang="zh-CN" altLang="en-US" sz="2400"/>
              <a:t>的地址扩展到了</a:t>
            </a:r>
            <a:r>
              <a:rPr lang="zh-CN" altLang="en-US" sz="2400">
                <a:solidFill>
                  <a:srgbClr val="FF0000"/>
                </a:solidFill>
              </a:rPr>
              <a:t>128位</a:t>
            </a:r>
            <a:r>
              <a:rPr lang="zh-CN" altLang="en-US" sz="2400"/>
              <a:t>，将其划分为8段，每段用4位</a:t>
            </a:r>
            <a:r>
              <a:rPr lang="zh-CN" altLang="en-US" sz="2400">
                <a:solidFill>
                  <a:srgbClr val="FF0000"/>
                </a:solidFill>
              </a:rPr>
              <a:t>十六进制</a:t>
            </a:r>
            <a:r>
              <a:rPr lang="zh-CN" altLang="en-US" sz="2400"/>
              <a:t>数表示。减少路由数，提高安全保密性。</a:t>
            </a:r>
          </a:p>
          <a:p>
            <a:r>
              <a:rPr lang="zh-CN" altLang="en-US" sz="2400"/>
              <a:t>目前v4v6为共存状态。</a:t>
            </a:r>
          </a:p>
        </p:txBody>
      </p:sp>
      <p:pic>
        <p:nvPicPr>
          <p:cNvPr id="11" name="图片 10" descr="联想截图_20231214002915"/>
          <p:cNvPicPr>
            <a:picLocks noChangeAspect="1"/>
          </p:cNvPicPr>
          <p:nvPr>
            <p:custDataLst>
              <p:tags r:id="rId3"/>
            </p:custDataLst>
          </p:nvPr>
        </p:nvPicPr>
        <p:blipFill>
          <a:blip r:embed="rId8"/>
          <a:stretch>
            <a:fillRect/>
          </a:stretch>
        </p:blipFill>
        <p:spPr>
          <a:xfrm>
            <a:off x="4435475" y="6219825"/>
            <a:ext cx="545465" cy="546735"/>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3600" dirty="0">
                <a:sym typeface="+mn-ea"/>
              </a:rPr>
              <a:t>Internet</a:t>
            </a:r>
            <a:r>
              <a:rPr lang="zh-CN" altLang="en-US" sz="3600" dirty="0">
                <a:sym typeface="+mn-ea"/>
              </a:rPr>
              <a:t>及其应用</a:t>
            </a:r>
            <a:endParaRPr kumimoji="0" lang="en-US" altLang="zh-CN"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endParaRP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3" name="文本框 2"/>
          <p:cNvSpPr txBox="1"/>
          <p:nvPr/>
        </p:nvSpPr>
        <p:spPr>
          <a:xfrm>
            <a:off x="1088390" y="952500"/>
            <a:ext cx="9975850" cy="1322070"/>
          </a:xfrm>
          <a:prstGeom prst="rect">
            <a:avLst/>
          </a:prstGeom>
          <a:noFill/>
        </p:spPr>
        <p:txBody>
          <a:bodyPr wrap="square" rtlCol="0" anchor="t">
            <a:spAutoFit/>
          </a:bodyPr>
          <a:lstStyle/>
          <a:p>
            <a:r>
              <a:rPr lang="zh-CN" altLang="en-US" sz="2000">
                <a:solidFill>
                  <a:srgbClr val="FF0000"/>
                </a:solidFill>
              </a:rPr>
              <a:t>主机域名由 . 分隔的若干个字符串组成</a:t>
            </a:r>
            <a:r>
              <a:rPr lang="zh-CN" altLang="en-US" sz="2000"/>
              <a:t>，如：mh.bit.edu.cn —&gt;202.204.80.3</a:t>
            </a:r>
          </a:p>
          <a:p>
            <a:r>
              <a:rPr lang="zh-CN" altLang="en-US" sz="2000"/>
              <a:t>由域名管理系统DNS完成域名与IP地址的转换。</a:t>
            </a:r>
          </a:p>
          <a:p>
            <a:r>
              <a:rPr lang="zh-CN" altLang="en-US" sz="2000"/>
              <a:t>顶级域名分为类型名和区域名两类。类型名共14个，区域名用两个字母表示世界各国和地区。</a:t>
            </a:r>
          </a:p>
        </p:txBody>
      </p:sp>
      <p:pic>
        <p:nvPicPr>
          <p:cNvPr id="4" name="图片 3"/>
          <p:cNvPicPr>
            <a:picLocks noChangeAspect="1"/>
          </p:cNvPicPr>
          <p:nvPr>
            <p:custDataLst>
              <p:tags r:id="rId1"/>
            </p:custDataLst>
          </p:nvPr>
        </p:nvPicPr>
        <p:blipFill>
          <a:blip r:embed="rId5"/>
          <a:stretch>
            <a:fillRect/>
          </a:stretch>
        </p:blipFill>
        <p:spPr>
          <a:xfrm>
            <a:off x="1907540" y="2046605"/>
            <a:ext cx="8168640" cy="3870960"/>
          </a:xfrm>
          <a:prstGeom prst="rect">
            <a:avLst/>
          </a:prstGeom>
        </p:spPr>
      </p:pic>
      <p:pic>
        <p:nvPicPr>
          <p:cNvPr id="6" name="图片 5" descr="联想截图_20231214002915"/>
          <p:cNvPicPr>
            <a:picLocks noChangeAspect="1"/>
          </p:cNvPicPr>
          <p:nvPr>
            <p:custDataLst>
              <p:tags r:id="rId2"/>
            </p:custDataLst>
          </p:nvPr>
        </p:nvPicPr>
        <p:blipFill>
          <a:blip r:embed="rId6"/>
          <a:stretch>
            <a:fillRect/>
          </a:stretch>
        </p:blipFill>
        <p:spPr>
          <a:xfrm>
            <a:off x="4435475" y="6219825"/>
            <a:ext cx="545465" cy="546735"/>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3600" dirty="0">
                <a:sym typeface="+mn-ea"/>
              </a:rPr>
              <a:t>Internet</a:t>
            </a:r>
            <a:r>
              <a:rPr lang="zh-CN" altLang="en-US" sz="3600" dirty="0">
                <a:sym typeface="+mn-ea"/>
              </a:rPr>
              <a:t>及其应用</a:t>
            </a:r>
            <a:endParaRPr kumimoji="0" lang="en-US" altLang="zh-CN"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endParaRP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3" name="文本框 2"/>
          <p:cNvSpPr txBox="1"/>
          <p:nvPr/>
        </p:nvSpPr>
        <p:spPr>
          <a:xfrm>
            <a:off x="2466975" y="2044065"/>
            <a:ext cx="6283325" cy="2082165"/>
          </a:xfrm>
          <a:prstGeom prst="rect">
            <a:avLst/>
          </a:prstGeom>
          <a:noFill/>
        </p:spPr>
        <p:txBody>
          <a:bodyPr wrap="square" rtlCol="0" anchor="t">
            <a:noAutofit/>
          </a:bodyPr>
          <a:lstStyle/>
          <a:p>
            <a:r>
              <a:rPr lang="zh-CN" altLang="en-US" sz="3200"/>
              <a:t>Internet提供的服务：</a:t>
            </a:r>
          </a:p>
          <a:p>
            <a:r>
              <a:rPr lang="zh-CN" altLang="en-US" sz="3200">
                <a:solidFill>
                  <a:srgbClr val="FF0000"/>
                </a:solidFill>
              </a:rPr>
              <a:t>远程登录TELNET</a:t>
            </a:r>
          </a:p>
          <a:p>
            <a:r>
              <a:rPr lang="zh-CN" altLang="en-US" sz="3200">
                <a:solidFill>
                  <a:srgbClr val="FF0000"/>
                </a:solidFill>
              </a:rPr>
              <a:t>文件传输协议FTP</a:t>
            </a:r>
          </a:p>
          <a:p>
            <a:r>
              <a:rPr lang="zh-CN" altLang="en-US" sz="3200">
                <a:solidFill>
                  <a:srgbClr val="FF0000"/>
                </a:solidFill>
              </a:rPr>
              <a:t>电子邮件传送协议</a:t>
            </a:r>
            <a:r>
              <a:rPr lang="en-US" altLang="zh-CN" sz="3200">
                <a:solidFill>
                  <a:srgbClr val="FF0000"/>
                </a:solidFill>
              </a:rPr>
              <a:t>SMTP</a:t>
            </a:r>
          </a:p>
        </p:txBody>
      </p:sp>
      <p:pic>
        <p:nvPicPr>
          <p:cNvPr id="6" name="图片 5" descr="联想截图_20231214002915"/>
          <p:cNvPicPr>
            <a:picLocks noChangeAspect="1"/>
          </p:cNvPicPr>
          <p:nvPr>
            <p:custDataLst>
              <p:tags r:id="rId1"/>
            </p:custDataLst>
          </p:nvPr>
        </p:nvPicPr>
        <p:blipFill>
          <a:blip r:embed="rId4"/>
          <a:stretch>
            <a:fillRect/>
          </a:stretch>
        </p:blipFill>
        <p:spPr>
          <a:xfrm>
            <a:off x="4435475" y="6219825"/>
            <a:ext cx="545465" cy="546735"/>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600" dirty="0">
                <a:solidFill>
                  <a:schemeClr val="tx1"/>
                </a:solidFill>
                <a:sym typeface="+mn-ea"/>
              </a:rPr>
              <a:t>信息安全</a:t>
            </a:r>
            <a:endParaRPr kumimoji="0" lang="zh-CN" altLang="en-US" sz="3600" b="0" i="0" u="none" strike="noStrike" kern="1200" cap="none" spc="0" normalizeH="0" baseline="0" noProof="0" dirty="0">
              <a:ln>
                <a:noFill/>
              </a:ln>
              <a:solidFill>
                <a:schemeClr val="tx1"/>
              </a:solidFill>
              <a:effectLst/>
              <a:uLnTx/>
              <a:uFillTx/>
              <a:latin typeface="方正公文黑体" panose="02000500000000000000" pitchFamily="2" charset="-122"/>
              <a:ea typeface="方正公文黑体" panose="02000500000000000000" pitchFamily="2" charset="-122"/>
              <a:cs typeface="+mn-cs"/>
              <a:sym typeface="+mn-ea"/>
            </a:endParaRP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3" name="文本框 2"/>
          <p:cNvSpPr txBox="1"/>
          <p:nvPr/>
        </p:nvSpPr>
        <p:spPr>
          <a:xfrm>
            <a:off x="1246505" y="1417320"/>
            <a:ext cx="9312910" cy="3608705"/>
          </a:xfrm>
          <a:prstGeom prst="rect">
            <a:avLst/>
          </a:prstGeom>
          <a:noFill/>
        </p:spPr>
        <p:txBody>
          <a:bodyPr wrap="square" rtlCol="0" anchor="t">
            <a:noAutofit/>
          </a:bodyPr>
          <a:lstStyle/>
          <a:p>
            <a:r>
              <a:rPr lang="zh-CN" altLang="en-US" sz="2400">
                <a:solidFill>
                  <a:srgbClr val="FF0000"/>
                </a:solidFill>
              </a:rPr>
              <a:t>计算机病毒：计算机病毒是一种在人为或非人为的情况下产生的、在用户不知情或未批准下，能自我复制或运行的计算机程序，计算机病毒往往会影响受感染计算机的正常运作。</a:t>
            </a:r>
            <a:endParaRPr lang="zh-CN" altLang="en-US" sz="2400"/>
          </a:p>
          <a:p>
            <a:r>
              <a:rPr lang="zh-CN" altLang="en-US" sz="2400"/>
              <a:t>从计算机病毒的基本类型进行分类：系统引导型病毒、可执行文件型病毒、宏病毒、混合型病毒、特洛伊木马型病毒、Internet语言病毒</a:t>
            </a:r>
          </a:p>
          <a:p>
            <a:r>
              <a:rPr lang="zh-CN" altLang="en-US" sz="2400"/>
              <a:t>从计算机病毒的链结方式分类：操作系统型病毒、外壳型病毒、嵌入型病毒、源码型病毒</a:t>
            </a:r>
          </a:p>
          <a:p>
            <a:r>
              <a:rPr lang="zh-CN" altLang="en-US" sz="2400"/>
              <a:t>从传播媒介分类 ：单机病毒、网络病毒</a:t>
            </a:r>
          </a:p>
        </p:txBody>
      </p:sp>
      <p:pic>
        <p:nvPicPr>
          <p:cNvPr id="6" name="图片 5" descr="联想截图_20231214002915"/>
          <p:cNvPicPr>
            <a:picLocks noChangeAspect="1"/>
          </p:cNvPicPr>
          <p:nvPr>
            <p:custDataLst>
              <p:tags r:id="rId1"/>
            </p:custDataLst>
          </p:nvPr>
        </p:nvPicPr>
        <p:blipFill>
          <a:blip r:embed="rId4"/>
          <a:stretch>
            <a:fillRect/>
          </a:stretch>
        </p:blipFill>
        <p:spPr>
          <a:xfrm>
            <a:off x="4435475" y="6219825"/>
            <a:ext cx="545465" cy="546735"/>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600" dirty="0">
                <a:sym typeface="+mn-ea"/>
              </a:rPr>
              <a:t>信息安全</a:t>
            </a:r>
            <a:endParaRPr kumimoji="0" lang="en-US" altLang="zh-CN"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endParaRP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3" name="文本框 2"/>
          <p:cNvSpPr txBox="1"/>
          <p:nvPr/>
        </p:nvSpPr>
        <p:spPr>
          <a:xfrm>
            <a:off x="1875790" y="1330325"/>
            <a:ext cx="8587105" cy="3656330"/>
          </a:xfrm>
          <a:prstGeom prst="rect">
            <a:avLst/>
          </a:prstGeom>
          <a:noFill/>
        </p:spPr>
        <p:txBody>
          <a:bodyPr wrap="square" rtlCol="0" anchor="t">
            <a:noAutofit/>
          </a:bodyPr>
          <a:lstStyle/>
          <a:p>
            <a:r>
              <a:rPr lang="zh-CN" altLang="en-US" sz="2400"/>
              <a:t>计算机病毒特点：</a:t>
            </a:r>
            <a:r>
              <a:rPr lang="zh-CN" altLang="en-US" sz="2400">
                <a:solidFill>
                  <a:srgbClr val="FF0000"/>
                </a:solidFill>
              </a:rPr>
              <a:t>寄生性、可执行性、传染性、破坏性、潜伏性</a:t>
            </a:r>
          </a:p>
          <a:p>
            <a:r>
              <a:rPr lang="zh-CN" altLang="en-US" sz="2400"/>
              <a:t>计算机病毒的</a:t>
            </a:r>
            <a:r>
              <a:rPr lang="zh-CN" altLang="en-US" sz="2400">
                <a:solidFill>
                  <a:srgbClr val="FF0000"/>
                </a:solidFill>
              </a:rPr>
              <a:t>防范</a:t>
            </a:r>
            <a:endParaRPr lang="zh-CN" altLang="en-US" sz="2400"/>
          </a:p>
          <a:p>
            <a:endParaRPr lang="zh-CN" altLang="en-US" sz="2400"/>
          </a:p>
          <a:p>
            <a:r>
              <a:rPr lang="zh-CN" altLang="en-US" sz="2400"/>
              <a:t>网络安全：包含网络设备安全、网络信息安全、网络软件安全。</a:t>
            </a:r>
          </a:p>
          <a:p>
            <a:r>
              <a:rPr lang="zh-CN" altLang="en-US" sz="2400"/>
              <a:t>网络入侵：破译口令、IP欺骗、DNS欺骗</a:t>
            </a:r>
          </a:p>
          <a:p>
            <a:r>
              <a:rPr lang="zh-CN" altLang="en-US" sz="2400"/>
              <a:t>入侵检测</a:t>
            </a:r>
          </a:p>
          <a:p>
            <a:endParaRPr lang="zh-CN" altLang="en-US" sz="2400"/>
          </a:p>
          <a:p>
            <a:r>
              <a:rPr lang="zh-CN" altLang="en-US" sz="2400"/>
              <a:t>信息加密技术：对称加密、非对称加密</a:t>
            </a:r>
          </a:p>
          <a:p>
            <a:r>
              <a:rPr lang="zh-CN" altLang="en-US" sz="2400"/>
              <a:t>信息认证技术：报文鉴别、身份鉴别、数字签名、数字证书</a:t>
            </a:r>
          </a:p>
          <a:p>
            <a:r>
              <a:rPr lang="zh-CN" altLang="en-US" sz="2400"/>
              <a:t>目的：验证信息的完整性、验证信息发送者是真的</a:t>
            </a:r>
          </a:p>
        </p:txBody>
      </p:sp>
      <p:pic>
        <p:nvPicPr>
          <p:cNvPr id="6" name="图片 5" descr="联想截图_20231214002915"/>
          <p:cNvPicPr>
            <a:picLocks noChangeAspect="1"/>
          </p:cNvPicPr>
          <p:nvPr>
            <p:custDataLst>
              <p:tags r:id="rId1"/>
            </p:custDataLst>
          </p:nvPr>
        </p:nvPicPr>
        <p:blipFill>
          <a:blip r:embed="rId4"/>
          <a:stretch>
            <a:fillRect/>
          </a:stretch>
        </p:blipFill>
        <p:spPr>
          <a:xfrm>
            <a:off x="4435475" y="6219825"/>
            <a:ext cx="545465" cy="546735"/>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fontAlgn="auto">
              <a:spcAft>
                <a:spcPts val="0"/>
              </a:spcAft>
              <a:defRPr/>
            </a:pPr>
            <a:r>
              <a:rPr lang="zh-CN" altLang="en-US" sz="3600" dirty="0">
                <a:solidFill>
                  <a:schemeClr val="tx1"/>
                </a:solidFill>
                <a:sym typeface="+mn-ea"/>
              </a:rPr>
              <a:t>云计算与物联网</a:t>
            </a: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3" name="文本框 2"/>
          <p:cNvSpPr txBox="1"/>
          <p:nvPr/>
        </p:nvSpPr>
        <p:spPr>
          <a:xfrm>
            <a:off x="1524000" y="1397000"/>
            <a:ext cx="9144000" cy="3784600"/>
          </a:xfrm>
          <a:prstGeom prst="rect">
            <a:avLst/>
          </a:prstGeom>
          <a:noFill/>
        </p:spPr>
        <p:txBody>
          <a:bodyPr wrap="square" rtlCol="0" anchor="t">
            <a:spAutoFit/>
          </a:bodyPr>
          <a:lstStyle/>
          <a:p>
            <a:r>
              <a:rPr lang="zh-CN" altLang="en-US" sz="2400"/>
              <a:t>云计算是一个虚拟的计算资源池，它通过互联网提供给用户使用资源池内的计算资源，它代表了信息技术及其基础架构的发展方向。</a:t>
            </a:r>
          </a:p>
          <a:p>
            <a:r>
              <a:rPr lang="zh-CN" altLang="en-US" sz="2400"/>
              <a:t>狭义云计算、广义云计算</a:t>
            </a:r>
          </a:p>
          <a:p>
            <a:r>
              <a:rPr lang="zh-CN" altLang="en-US" sz="2400"/>
              <a:t>云计算的体系架构</a:t>
            </a:r>
          </a:p>
          <a:p>
            <a:r>
              <a:rPr lang="zh-CN" altLang="en-US" sz="2400"/>
              <a:t>云用户端：提供云用户请求服务的交互界面，也是用户使用云的入口。</a:t>
            </a:r>
          </a:p>
          <a:p>
            <a:r>
              <a:rPr lang="zh-CN" altLang="en-US" sz="2400"/>
              <a:t>服务目录：云计算可为用户提供的服务列表。</a:t>
            </a:r>
          </a:p>
          <a:p>
            <a:r>
              <a:rPr lang="zh-CN" altLang="en-US" sz="2400"/>
              <a:t>资源监控：监控和计量云系统资源的使用情况。</a:t>
            </a:r>
          </a:p>
          <a:p>
            <a:r>
              <a:rPr lang="zh-CN" altLang="en-US" sz="2400"/>
              <a:t>服务器集群：为虚拟的或物理的服务器。</a:t>
            </a:r>
          </a:p>
          <a:p>
            <a:r>
              <a:rPr lang="zh-CN" altLang="en-US" sz="2400"/>
              <a:t>管理系统和部署工具：提供管理和服务功能。</a:t>
            </a:r>
          </a:p>
        </p:txBody>
      </p:sp>
      <p:pic>
        <p:nvPicPr>
          <p:cNvPr id="6" name="图片 5" descr="联想截图_20231214002915"/>
          <p:cNvPicPr>
            <a:picLocks noChangeAspect="1"/>
          </p:cNvPicPr>
          <p:nvPr>
            <p:custDataLst>
              <p:tags r:id="rId1"/>
            </p:custDataLst>
          </p:nvPr>
        </p:nvPicPr>
        <p:blipFill>
          <a:blip r:embed="rId4"/>
          <a:stretch>
            <a:fillRect/>
          </a:stretch>
        </p:blipFill>
        <p:spPr>
          <a:xfrm>
            <a:off x="4435475" y="6219825"/>
            <a:ext cx="545465" cy="546735"/>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fontAlgn="auto">
              <a:spcAft>
                <a:spcPts val="0"/>
              </a:spcAft>
              <a:defRPr/>
            </a:pPr>
            <a:r>
              <a:rPr lang="zh-CN" altLang="en-US" sz="3600" dirty="0">
                <a:sym typeface="+mn-ea"/>
              </a:rPr>
              <a:t>云计算与物联网</a:t>
            </a:r>
            <a:endParaRPr kumimoji="0" lang="en-US" altLang="zh-CN"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endParaRP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3" name="文本框 2"/>
          <p:cNvSpPr txBox="1"/>
          <p:nvPr/>
        </p:nvSpPr>
        <p:spPr>
          <a:xfrm>
            <a:off x="1433195" y="1490980"/>
            <a:ext cx="8705850" cy="1938020"/>
          </a:xfrm>
          <a:prstGeom prst="rect">
            <a:avLst/>
          </a:prstGeom>
          <a:noFill/>
        </p:spPr>
        <p:txBody>
          <a:bodyPr wrap="square" rtlCol="0" anchor="t">
            <a:spAutoFit/>
          </a:bodyPr>
          <a:lstStyle/>
          <a:p>
            <a:r>
              <a:rPr lang="zh-CN" altLang="en-US" sz="2400"/>
              <a:t>“物物相连的互联网”，物联网是互联网的应用拓展</a:t>
            </a:r>
          </a:p>
          <a:p>
            <a:r>
              <a:rPr lang="zh-CN" altLang="en-US" sz="2400"/>
              <a:t>物联网主要特征：是各种感知技术的广泛应用；是一种建立在互联网上的泛在网络；物联网不仅仅提供了传感器的连接，其本身也具有智能处理的能力，能够对物体实施智能控制。</a:t>
            </a:r>
          </a:p>
          <a:p>
            <a:r>
              <a:rPr lang="zh-CN" altLang="en-US" sz="2400"/>
              <a:t>物联网应用模式：对象的智能标签、对象的智能控制</a:t>
            </a:r>
          </a:p>
        </p:txBody>
      </p:sp>
      <p:pic>
        <p:nvPicPr>
          <p:cNvPr id="6" name="图片 5" descr="联想截图_20231214002915"/>
          <p:cNvPicPr>
            <a:picLocks noChangeAspect="1"/>
          </p:cNvPicPr>
          <p:nvPr>
            <p:custDataLst>
              <p:tags r:id="rId1"/>
            </p:custDataLst>
          </p:nvPr>
        </p:nvPicPr>
        <p:blipFill>
          <a:blip r:embed="rId4"/>
          <a:stretch>
            <a:fillRect/>
          </a:stretch>
        </p:blipFill>
        <p:spPr>
          <a:xfrm>
            <a:off x="4435475" y="6219825"/>
            <a:ext cx="545465" cy="546735"/>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600" dirty="0">
                <a:sym typeface="+mn-ea"/>
              </a:rPr>
              <a:t>一些题</a:t>
            </a: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3" name="文本框 2"/>
          <p:cNvSpPr txBox="1"/>
          <p:nvPr/>
        </p:nvSpPr>
        <p:spPr>
          <a:xfrm>
            <a:off x="1569720" y="1443990"/>
            <a:ext cx="9063990" cy="3169285"/>
          </a:xfrm>
          <a:prstGeom prst="rect">
            <a:avLst/>
          </a:prstGeom>
          <a:noFill/>
        </p:spPr>
        <p:txBody>
          <a:bodyPr wrap="square" rtlCol="0" anchor="t">
            <a:spAutoFit/>
          </a:bodyPr>
          <a:lstStyle/>
          <a:p>
            <a:r>
              <a:rPr lang="zh-CN" altLang="en-US" sz="2000"/>
              <a:t>·用以太网形式构成的局域网，其拓扑结构为（B  ）</a:t>
            </a:r>
          </a:p>
          <a:p>
            <a:r>
              <a:rPr lang="zh-CN" altLang="en-US" sz="2000"/>
              <a:t>A 环型、B 总线型、C 星型、D 树型</a:t>
            </a:r>
          </a:p>
          <a:p>
            <a:r>
              <a:rPr lang="zh-CN" altLang="en-US" sz="2000"/>
              <a:t>·发现病毒后，比较彻底的清除方式是__D___。 </a:t>
            </a:r>
          </a:p>
          <a:p>
            <a:r>
              <a:rPr lang="zh-CN" altLang="en-US" sz="2000"/>
              <a:t>A 用查毒软件处理、B 用杀毒软件处理、C 删除磁盘文件、D 格式化磁盘 </a:t>
            </a:r>
          </a:p>
          <a:p>
            <a:r>
              <a:rPr lang="zh-CN" altLang="en-US" sz="2000"/>
              <a:t>·TCP/IP是一种（C ）</a:t>
            </a:r>
          </a:p>
          <a:p>
            <a:r>
              <a:rPr lang="zh-CN" altLang="en-US" sz="2000"/>
              <a:t>A 网络操作系统、B 网络地址、C 网络通信协议、D 网络部件</a:t>
            </a:r>
          </a:p>
          <a:p>
            <a:r>
              <a:rPr lang="zh-CN" altLang="en-US" sz="2000"/>
              <a:t>·以下不属于IP地址的是（ D）</a:t>
            </a:r>
          </a:p>
          <a:p>
            <a:r>
              <a:rPr lang="zh-CN" altLang="en-US" sz="2000"/>
              <a:t>A 100.78.65.3、B 128.0.1.1、C 192.234.111.123、D 333.24.45.56</a:t>
            </a:r>
          </a:p>
          <a:p>
            <a:r>
              <a:rPr lang="zh-CN" altLang="en-US" sz="2000"/>
              <a:t>·URL最接近的解释是（B ）</a:t>
            </a:r>
          </a:p>
          <a:p>
            <a:r>
              <a:rPr lang="zh-CN" altLang="en-US" sz="2000"/>
              <a:t>A 与IP地址相似、B 资源定位地址、C 一种超文本协议、D 可解释为域名</a:t>
            </a:r>
          </a:p>
        </p:txBody>
      </p:sp>
      <p:pic>
        <p:nvPicPr>
          <p:cNvPr id="6" name="图片 5" descr="联想截图_20231214002915"/>
          <p:cNvPicPr>
            <a:picLocks noChangeAspect="1"/>
          </p:cNvPicPr>
          <p:nvPr>
            <p:custDataLst>
              <p:tags r:id="rId1"/>
            </p:custDataLst>
          </p:nvPr>
        </p:nvPicPr>
        <p:blipFill>
          <a:blip r:embed="rId4"/>
          <a:stretch>
            <a:fillRect/>
          </a:stretch>
        </p:blipFill>
        <p:spPr>
          <a:xfrm>
            <a:off x="4435475" y="6219825"/>
            <a:ext cx="545465" cy="546735"/>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9154" y="6219714"/>
            <a:ext cx="2457450" cy="542925"/>
          </a:xfrm>
          <a:prstGeom prst="rect">
            <a:avLst/>
          </a:prstGeom>
        </p:spPr>
      </p:pic>
      <p:sp>
        <p:nvSpPr>
          <p:cNvPr id="2" name="文本框 1"/>
          <p:cNvSpPr txBox="1"/>
          <p:nvPr/>
        </p:nvSpPr>
        <p:spPr>
          <a:xfrm>
            <a:off x="1649154" y="117082"/>
            <a:ext cx="8685693"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600" b="0" i="0" u="none" strike="noStrike" kern="1200" cap="none" spc="0" normalizeH="0" baseline="0" noProof="0" dirty="0">
                <a:ln>
                  <a:noFill/>
                </a:ln>
                <a:solidFill>
                  <a:prstClr val="black"/>
                </a:solidFill>
                <a:effectLst/>
                <a:uLnTx/>
                <a:uFillTx/>
                <a:latin typeface="方正公文黑体" panose="02000500000000000000" pitchFamily="2" charset="-122"/>
                <a:ea typeface="方正公文黑体" panose="02000500000000000000" pitchFamily="2" charset="-122"/>
                <a:cs typeface="+mn-cs"/>
              </a:rPr>
              <a:t>一些题</a:t>
            </a:r>
          </a:p>
        </p:txBody>
      </p:sp>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3" name="文本框 2"/>
          <p:cNvSpPr txBox="1"/>
          <p:nvPr/>
        </p:nvSpPr>
        <p:spPr>
          <a:xfrm>
            <a:off x="1524635" y="1028700"/>
            <a:ext cx="9143365" cy="4707890"/>
          </a:xfrm>
          <a:prstGeom prst="rect">
            <a:avLst/>
          </a:prstGeom>
          <a:noFill/>
        </p:spPr>
        <p:txBody>
          <a:bodyPr wrap="square" rtlCol="0" anchor="t">
            <a:spAutoFit/>
          </a:bodyPr>
          <a:lstStyle/>
          <a:p>
            <a:r>
              <a:rPr lang="zh-CN" altLang="en-US" sz="2000"/>
              <a:t>·从www.ustc.edu.cn可以看出它是中国的一个（D ）</a:t>
            </a:r>
          </a:p>
          <a:p>
            <a:r>
              <a:rPr lang="zh-CN" altLang="en-US" sz="2000"/>
              <a:t>A 站点、B 军事机构、C 商业组织、D 教育部门</a:t>
            </a:r>
          </a:p>
          <a:p>
            <a:r>
              <a:rPr lang="zh-CN" altLang="en-US" sz="2000"/>
              <a:t>·当电子邮件在发送过程中有误时，则 （C ）。</a:t>
            </a:r>
          </a:p>
          <a:p>
            <a:r>
              <a:rPr lang="zh-CN" altLang="en-US" sz="2000"/>
              <a:t>A 电子邮件服务器将自动把有误的邮件删除、B 邮件将丢失、C 电子邮件服务器会将原邮件退回，并给出不能寄达的原因、D 电子邮件服务器会将原邮件退回，但不给出不能寄达的原因</a:t>
            </a:r>
          </a:p>
          <a:p>
            <a:r>
              <a:rPr lang="zh-CN" altLang="en-US" sz="2000"/>
              <a:t>·和通信网络相比，计算机网络最本质的功能是（ B）。 </a:t>
            </a:r>
          </a:p>
          <a:p>
            <a:r>
              <a:rPr lang="zh-CN" altLang="en-US" sz="2000"/>
              <a:t>A 数据通信、B 资源共享、C 提高计算机的可靠性和可用性、D 分布式处理 </a:t>
            </a:r>
          </a:p>
          <a:p>
            <a:r>
              <a:rPr lang="zh-CN" altLang="en-US" sz="2000"/>
              <a:t>·选择网卡的主要依据是组网的拓扑结构、网络段的最大长度、节点之间的距离和（B ）。</a:t>
            </a:r>
          </a:p>
          <a:p>
            <a:r>
              <a:rPr lang="zh-CN" altLang="en-US" sz="2000"/>
              <a:t>A 接入网络的计算机种类、B 使用的传输介质的类型、C 使用的网络操作系统的类型、D 互连网络的规模 </a:t>
            </a:r>
          </a:p>
          <a:p>
            <a:r>
              <a:rPr lang="zh-CN" altLang="en-US" sz="2000"/>
              <a:t>·和广域网相比，局域网（ C）。</a:t>
            </a:r>
          </a:p>
          <a:p>
            <a:r>
              <a:rPr lang="zh-CN" altLang="en-US" sz="2000"/>
              <a:t>A 有效性好但可靠性差、B 有效性差但可靠性好、C 有效性好可靠性也高、D 有效性差可靠性也差 </a:t>
            </a:r>
          </a:p>
        </p:txBody>
      </p:sp>
      <p:pic>
        <p:nvPicPr>
          <p:cNvPr id="6" name="图片 5" descr="联想截图_20231214002915"/>
          <p:cNvPicPr>
            <a:picLocks noChangeAspect="1"/>
          </p:cNvPicPr>
          <p:nvPr>
            <p:custDataLst>
              <p:tags r:id="rId1"/>
            </p:custDataLst>
          </p:nvPr>
        </p:nvPicPr>
        <p:blipFill>
          <a:blip r:embed="rId4"/>
          <a:stretch>
            <a:fillRect/>
          </a:stretch>
        </p:blipFill>
        <p:spPr>
          <a:xfrm>
            <a:off x="4435475" y="6219825"/>
            <a:ext cx="545465" cy="546735"/>
          </a:xfrm>
          <a:prstGeom prst="rect">
            <a:avLst/>
          </a:prstGeom>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49F3DFEE-D615-10A4-3DFB-F10E842FD6FF}"/>
              </a:ext>
            </a:extLst>
          </p:cNvPr>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 name="直接连接符 2">
            <a:extLst>
              <a:ext uri="{FF2B5EF4-FFF2-40B4-BE49-F238E27FC236}">
                <a16:creationId xmlns:a16="http://schemas.microsoft.com/office/drawing/2014/main" id="{E448084C-00C1-2D46-B2E9-907AC7E07A63}"/>
              </a:ext>
            </a:extLst>
          </p:cNvPr>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4" name="图形 3">
            <a:extLst>
              <a:ext uri="{FF2B5EF4-FFF2-40B4-BE49-F238E27FC236}">
                <a16:creationId xmlns:a16="http://schemas.microsoft.com/office/drawing/2014/main" id="{C93BB0EF-03E3-F5C3-728A-B6DC40F04B4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6" name="文本框 5">
            <a:extLst>
              <a:ext uri="{FF2B5EF4-FFF2-40B4-BE49-F238E27FC236}">
                <a16:creationId xmlns:a16="http://schemas.microsoft.com/office/drawing/2014/main" id="{47E122C5-6879-554E-162C-5ECC1522BC4D}"/>
              </a:ext>
            </a:extLst>
          </p:cNvPr>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7" name="文本框 6">
            <a:extLst>
              <a:ext uri="{FF2B5EF4-FFF2-40B4-BE49-F238E27FC236}">
                <a16:creationId xmlns:a16="http://schemas.microsoft.com/office/drawing/2014/main" id="{54795D8E-FB28-5614-904A-A55323B43946}"/>
              </a:ext>
            </a:extLst>
          </p:cNvPr>
          <p:cNvSpPr txBox="1"/>
          <p:nvPr/>
        </p:nvSpPr>
        <p:spPr>
          <a:xfrm>
            <a:off x="1524000" y="95361"/>
            <a:ext cx="2384877" cy="769441"/>
          </a:xfrm>
          <a:prstGeom prst="rect">
            <a:avLst/>
          </a:prstGeom>
          <a:noFill/>
        </p:spPr>
        <p:txBody>
          <a:bodyPr wrap="square" rtlCol="0">
            <a:spAutoFit/>
          </a:bodyPr>
          <a:lstStyle/>
          <a:p>
            <a:r>
              <a:rPr lang="zh-CN" altLang="en-US" sz="4400" dirty="0">
                <a:latin typeface="仿宋" panose="02010609060101010101" pitchFamily="49" charset="-122"/>
                <a:ea typeface="仿宋" panose="02010609060101010101" pitchFamily="49" charset="-122"/>
              </a:rPr>
              <a:t>第六章</a:t>
            </a:r>
            <a:endParaRPr lang="en-US" altLang="zh-CN" sz="4400" dirty="0">
              <a:latin typeface="仿宋" panose="02010609060101010101" pitchFamily="49" charset="-122"/>
              <a:ea typeface="仿宋" panose="02010609060101010101" pitchFamily="49" charset="-122"/>
            </a:endParaRPr>
          </a:p>
        </p:txBody>
      </p:sp>
      <p:sp>
        <p:nvSpPr>
          <p:cNvPr id="8" name="文本框 7">
            <a:extLst>
              <a:ext uri="{FF2B5EF4-FFF2-40B4-BE49-F238E27FC236}">
                <a16:creationId xmlns:a16="http://schemas.microsoft.com/office/drawing/2014/main" id="{54EE88A3-F025-30B5-0C9A-BA5C229C0C03}"/>
              </a:ext>
            </a:extLst>
          </p:cNvPr>
          <p:cNvSpPr txBox="1"/>
          <p:nvPr/>
        </p:nvSpPr>
        <p:spPr>
          <a:xfrm>
            <a:off x="2442936" y="1447911"/>
            <a:ext cx="6548664" cy="1015663"/>
          </a:xfrm>
          <a:prstGeom prst="rect">
            <a:avLst/>
          </a:prstGeom>
          <a:noFill/>
        </p:spPr>
        <p:txBody>
          <a:bodyPr wrap="square" rtlCol="0">
            <a:spAutoFit/>
          </a:bodyPr>
          <a:lstStyle/>
          <a:p>
            <a:r>
              <a:rPr lang="zh-CN" altLang="en-US" sz="6000" dirty="0">
                <a:latin typeface="仿宋" panose="02010609060101010101" pitchFamily="49" charset="-122"/>
                <a:ea typeface="仿宋" panose="02010609060101010101" pitchFamily="49" charset="-122"/>
              </a:rPr>
              <a:t>数据处理与数据库</a:t>
            </a:r>
            <a:endParaRPr lang="en-US" altLang="zh-CN" sz="6000" dirty="0">
              <a:latin typeface="仿宋" panose="02010609060101010101" pitchFamily="49" charset="-122"/>
              <a:ea typeface="仿宋" panose="02010609060101010101" pitchFamily="49" charset="-122"/>
            </a:endParaRPr>
          </a:p>
        </p:txBody>
      </p:sp>
      <p:pic>
        <p:nvPicPr>
          <p:cNvPr id="9" name="图片 4">
            <a:extLst>
              <a:ext uri="{FF2B5EF4-FFF2-40B4-BE49-F238E27FC236}">
                <a16:creationId xmlns:a16="http://schemas.microsoft.com/office/drawing/2014/main" id="{7549E642-739A-F000-2D83-4C4E0997BF1B}"/>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416425" y="6219825"/>
            <a:ext cx="542925" cy="542925"/>
          </a:xfrm>
          <a:prstGeom prst="rect">
            <a:avLst/>
          </a:prstGeom>
        </p:spPr>
      </p:pic>
    </p:spTree>
    <p:extLst>
      <p:ext uri="{BB962C8B-B14F-4D97-AF65-F5344CB8AC3E}">
        <p14:creationId xmlns:p14="http://schemas.microsoft.com/office/powerpoint/2010/main" val="294633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6" name="文本框 5">
            <a:extLst>
              <a:ext uri="{FF2B5EF4-FFF2-40B4-BE49-F238E27FC236}">
                <a16:creationId xmlns:a16="http://schemas.microsoft.com/office/drawing/2014/main" id="{4CF08E44-78B5-2494-D9C8-CB6DD56C71DF}"/>
              </a:ext>
            </a:extLst>
          </p:cNvPr>
          <p:cNvSpPr txBox="1"/>
          <p:nvPr/>
        </p:nvSpPr>
        <p:spPr>
          <a:xfrm>
            <a:off x="1456805" y="60707"/>
            <a:ext cx="4188345" cy="769441"/>
          </a:xfrm>
          <a:prstGeom prst="rect">
            <a:avLst/>
          </a:prstGeom>
          <a:noFill/>
        </p:spPr>
        <p:txBody>
          <a:bodyPr wrap="square" rtlCol="0">
            <a:spAutoFit/>
          </a:bodyPr>
          <a:lstStyle/>
          <a:p>
            <a:r>
              <a:rPr lang="zh-CN" altLang="en-US" sz="4400" dirty="0">
                <a:latin typeface="仿宋" panose="02010609060101010101" pitchFamily="49" charset="-122"/>
                <a:ea typeface="仿宋" panose="02010609060101010101" pitchFamily="49" charset="-122"/>
              </a:rPr>
              <a:t>数据的分类</a:t>
            </a:r>
            <a:endParaRPr lang="en-US" altLang="zh-CN" sz="4400" dirty="0">
              <a:latin typeface="仿宋" panose="02010609060101010101" pitchFamily="49" charset="-122"/>
              <a:ea typeface="仿宋" panose="02010609060101010101" pitchFamily="49" charset="-122"/>
            </a:endParaRPr>
          </a:p>
        </p:txBody>
      </p:sp>
      <p:sp>
        <p:nvSpPr>
          <p:cNvPr id="9" name="文本框 8">
            <a:extLst>
              <a:ext uri="{FF2B5EF4-FFF2-40B4-BE49-F238E27FC236}">
                <a16:creationId xmlns:a16="http://schemas.microsoft.com/office/drawing/2014/main" id="{8A9643C6-8BEC-3501-9352-8D53F78E8858}"/>
              </a:ext>
            </a:extLst>
          </p:cNvPr>
          <p:cNvSpPr txBox="1"/>
          <p:nvPr/>
        </p:nvSpPr>
        <p:spPr>
          <a:xfrm>
            <a:off x="1313995" y="962797"/>
            <a:ext cx="9354005" cy="4401205"/>
          </a:xfrm>
          <a:prstGeom prst="rect">
            <a:avLst/>
          </a:prstGeom>
          <a:noFill/>
        </p:spPr>
        <p:txBody>
          <a:bodyPr wrap="square">
            <a:spAutoFit/>
          </a:bodyPr>
          <a:lstStyle/>
          <a:p>
            <a:r>
              <a:rPr lang="zh-CN" altLang="en-US" sz="2800" b="1" dirty="0">
                <a:latin typeface="仿宋" panose="02010609060101010101" pitchFamily="49" charset="-122"/>
                <a:ea typeface="仿宋" panose="02010609060101010101" pitchFamily="49" charset="-122"/>
              </a:rPr>
              <a:t>结构化数据</a:t>
            </a:r>
            <a:r>
              <a:rPr lang="zh-CN" altLang="en-US" sz="2800" dirty="0">
                <a:latin typeface="仿宋" panose="02010609060101010101" pitchFamily="49" charset="-122"/>
                <a:ea typeface="仿宋" panose="02010609060101010101" pitchFamily="49" charset="-122"/>
              </a:rPr>
              <a:t>：即行数据</a:t>
            </a:r>
            <a:r>
              <a:rPr lang="en-US" altLang="zh-CN" sz="2800" dirty="0">
                <a:latin typeface="仿宋" panose="02010609060101010101" pitchFamily="49" charset="-122"/>
                <a:ea typeface="仿宋" panose="02010609060101010101" pitchFamily="49" charset="-122"/>
              </a:rPr>
              <a:t>,</a:t>
            </a:r>
            <a:r>
              <a:rPr lang="zh-CN" altLang="en-US" sz="2800" dirty="0">
                <a:latin typeface="仿宋" panose="02010609060101010101" pitchFamily="49" charset="-122"/>
                <a:ea typeface="仿宋" panose="02010609060101010101" pitchFamily="49" charset="-122"/>
              </a:rPr>
              <a:t>一般是指存储在数据库里</a:t>
            </a:r>
            <a:r>
              <a:rPr lang="en-US" altLang="zh-CN" sz="2800" dirty="0">
                <a:latin typeface="仿宋" panose="02010609060101010101" pitchFamily="49" charset="-122"/>
                <a:ea typeface="仿宋" panose="02010609060101010101" pitchFamily="49" charset="-122"/>
              </a:rPr>
              <a:t>,</a:t>
            </a:r>
            <a:r>
              <a:rPr lang="zh-CN" altLang="en-US" sz="2800" dirty="0">
                <a:latin typeface="仿宋" panose="02010609060101010101" pitchFamily="49" charset="-122"/>
                <a:ea typeface="仿宋" panose="02010609060101010101" pitchFamily="49" charset="-122"/>
              </a:rPr>
              <a:t>可以用二维表结构来逻辑表达实现的数据。如：所有关系数据库中的数据均为结构化数据。</a:t>
            </a:r>
            <a:endParaRPr lang="en-US" altLang="zh-CN" sz="2800" dirty="0">
              <a:latin typeface="仿宋" panose="02010609060101010101" pitchFamily="49" charset="-122"/>
              <a:ea typeface="仿宋" panose="02010609060101010101" pitchFamily="49" charset="-122"/>
            </a:endParaRPr>
          </a:p>
          <a:p>
            <a:endParaRPr lang="en-US" altLang="zh-CN" sz="2800" dirty="0">
              <a:latin typeface="仿宋" panose="02010609060101010101" pitchFamily="49" charset="-122"/>
              <a:ea typeface="仿宋" panose="02010609060101010101" pitchFamily="49" charset="-122"/>
            </a:endParaRPr>
          </a:p>
          <a:p>
            <a:r>
              <a:rPr lang="zh-CN" altLang="en-US" sz="2800" b="1" dirty="0">
                <a:latin typeface="仿宋" panose="02010609060101010101" pitchFamily="49" charset="-122"/>
                <a:ea typeface="仿宋" panose="02010609060101010101" pitchFamily="49" charset="-122"/>
              </a:rPr>
              <a:t>非结构化数据</a:t>
            </a:r>
            <a:r>
              <a:rPr lang="zh-CN" altLang="en-US" sz="2800" dirty="0">
                <a:latin typeface="仿宋" panose="02010609060101010101" pitchFamily="49" charset="-122"/>
                <a:ea typeface="仿宋" panose="02010609060101010101" pitchFamily="49" charset="-122"/>
              </a:rPr>
              <a:t>：不便于用数据库二维逻辑表来表现的。如：各种格式的办公文档、文本、图片、各类图像和音频</a:t>
            </a:r>
            <a:r>
              <a:rPr lang="en-US" altLang="zh-CN" sz="2800" dirty="0">
                <a:latin typeface="仿宋" panose="02010609060101010101" pitchFamily="49" charset="-122"/>
                <a:ea typeface="仿宋" panose="02010609060101010101" pitchFamily="49" charset="-122"/>
              </a:rPr>
              <a:t>/</a:t>
            </a:r>
            <a:r>
              <a:rPr lang="zh-CN" altLang="en-US" sz="2800" dirty="0">
                <a:latin typeface="仿宋" panose="02010609060101010101" pitchFamily="49" charset="-122"/>
                <a:ea typeface="仿宋" panose="02010609060101010101" pitchFamily="49" charset="-122"/>
              </a:rPr>
              <a:t>视频信息等。而所谓半结构化数据，用来统称介于完全结构化数据和完全无结构的数据之间的数据。如：</a:t>
            </a:r>
            <a:r>
              <a:rPr lang="en-US" altLang="zh-CN" sz="2800" dirty="0">
                <a:latin typeface="仿宋" panose="02010609060101010101" pitchFamily="49" charset="-122"/>
                <a:ea typeface="仿宋" panose="02010609060101010101" pitchFamily="49" charset="-122"/>
              </a:rPr>
              <a:t>HTML</a:t>
            </a:r>
            <a:r>
              <a:rPr lang="zh-CN" altLang="en-US" sz="2800" dirty="0">
                <a:latin typeface="仿宋" panose="02010609060101010101" pitchFamily="49" charset="-122"/>
                <a:ea typeface="仿宋" panose="02010609060101010101" pitchFamily="49" charset="-122"/>
              </a:rPr>
              <a:t>文档就属于半结构化数据，它一般是自描述的，数据的结构和内容混在一起，没有明显的区分。</a:t>
            </a:r>
            <a:endParaRPr lang="en-US" altLang="zh-CN" sz="3600" dirty="0">
              <a:latin typeface="仿宋" panose="02010609060101010101" pitchFamily="49" charset="-122"/>
              <a:ea typeface="仿宋" panose="02010609060101010101" pitchFamily="49" charset="-122"/>
            </a:endParaRPr>
          </a:p>
        </p:txBody>
      </p:sp>
      <p:pic>
        <p:nvPicPr>
          <p:cNvPr id="2" name="图片 4">
            <a:extLst>
              <a:ext uri="{FF2B5EF4-FFF2-40B4-BE49-F238E27FC236}">
                <a16:creationId xmlns:a16="http://schemas.microsoft.com/office/drawing/2014/main" id="{58A64933-8E68-1EDE-1EE2-E7EDCBDE06F5}"/>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416425" y="6219825"/>
            <a:ext cx="542925" cy="54292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6" name="文本框 5">
            <a:extLst>
              <a:ext uri="{FF2B5EF4-FFF2-40B4-BE49-F238E27FC236}">
                <a16:creationId xmlns:a16="http://schemas.microsoft.com/office/drawing/2014/main" id="{4CF08E44-78B5-2494-D9C8-CB6DD56C71DF}"/>
              </a:ext>
            </a:extLst>
          </p:cNvPr>
          <p:cNvSpPr txBox="1"/>
          <p:nvPr/>
        </p:nvSpPr>
        <p:spPr>
          <a:xfrm>
            <a:off x="1456805" y="60707"/>
            <a:ext cx="4188345" cy="769441"/>
          </a:xfrm>
          <a:prstGeom prst="rect">
            <a:avLst/>
          </a:prstGeom>
          <a:noFill/>
        </p:spPr>
        <p:txBody>
          <a:bodyPr wrap="square" rtlCol="0">
            <a:spAutoFit/>
          </a:bodyPr>
          <a:lstStyle/>
          <a:p>
            <a:r>
              <a:rPr lang="zh-CN" altLang="en-US" sz="4400" dirty="0">
                <a:latin typeface="仿宋" panose="02010609060101010101" pitchFamily="49" charset="-122"/>
                <a:ea typeface="仿宋" panose="02010609060101010101" pitchFamily="49" charset="-122"/>
              </a:rPr>
              <a:t>数据的分类</a:t>
            </a:r>
            <a:endParaRPr lang="en-US" altLang="zh-CN" sz="4400" dirty="0">
              <a:latin typeface="仿宋" panose="02010609060101010101" pitchFamily="49" charset="-122"/>
              <a:ea typeface="仿宋" panose="02010609060101010101" pitchFamily="49" charset="-122"/>
            </a:endParaRPr>
          </a:p>
        </p:txBody>
      </p:sp>
      <p:pic>
        <p:nvPicPr>
          <p:cNvPr id="2" name="图片 4">
            <a:extLst>
              <a:ext uri="{FF2B5EF4-FFF2-40B4-BE49-F238E27FC236}">
                <a16:creationId xmlns:a16="http://schemas.microsoft.com/office/drawing/2014/main" id="{58A64933-8E68-1EDE-1EE2-E7EDCBDE06F5}"/>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416425" y="6219825"/>
            <a:ext cx="542925" cy="542925"/>
          </a:xfrm>
          <a:prstGeom prst="rect">
            <a:avLst/>
          </a:prstGeom>
        </p:spPr>
      </p:pic>
      <p:pic>
        <p:nvPicPr>
          <p:cNvPr id="4" name="图片 3">
            <a:extLst>
              <a:ext uri="{FF2B5EF4-FFF2-40B4-BE49-F238E27FC236}">
                <a16:creationId xmlns:a16="http://schemas.microsoft.com/office/drawing/2014/main" id="{5C89896D-CF46-A6C3-08D0-0F11867BDD9B}"/>
              </a:ext>
            </a:extLst>
          </p:cNvPr>
          <p:cNvPicPr>
            <a:picLocks noChangeAspect="1"/>
          </p:cNvPicPr>
          <p:nvPr/>
        </p:nvPicPr>
        <p:blipFill>
          <a:blip r:embed="rId6"/>
          <a:stretch>
            <a:fillRect/>
          </a:stretch>
        </p:blipFill>
        <p:spPr>
          <a:xfrm>
            <a:off x="622323" y="1093057"/>
            <a:ext cx="4511112" cy="2912305"/>
          </a:xfrm>
          <a:prstGeom prst="rect">
            <a:avLst/>
          </a:prstGeom>
        </p:spPr>
      </p:pic>
      <p:sp>
        <p:nvSpPr>
          <p:cNvPr id="8" name="文本框 7">
            <a:extLst>
              <a:ext uri="{FF2B5EF4-FFF2-40B4-BE49-F238E27FC236}">
                <a16:creationId xmlns:a16="http://schemas.microsoft.com/office/drawing/2014/main" id="{15FD4088-6189-7C0E-DBBC-261902421A01}"/>
              </a:ext>
            </a:extLst>
          </p:cNvPr>
          <p:cNvSpPr txBox="1"/>
          <p:nvPr/>
        </p:nvSpPr>
        <p:spPr>
          <a:xfrm>
            <a:off x="2033731" y="4458390"/>
            <a:ext cx="2654156" cy="954107"/>
          </a:xfrm>
          <a:prstGeom prst="rect">
            <a:avLst/>
          </a:prstGeom>
          <a:noFill/>
        </p:spPr>
        <p:txBody>
          <a:bodyPr wrap="square">
            <a:spAutoFit/>
          </a:bodyPr>
          <a:lstStyle/>
          <a:p>
            <a:r>
              <a:rPr lang="zh-CN" altLang="en-US" sz="2800" b="1" dirty="0">
                <a:latin typeface="仿宋" panose="02010609060101010101" pitchFamily="49" charset="-122"/>
                <a:ea typeface="仿宋" panose="02010609060101010101" pitchFamily="49" charset="-122"/>
              </a:rPr>
              <a:t>结构化数据</a:t>
            </a:r>
            <a:r>
              <a:rPr lang="en-US" altLang="zh-CN" sz="2800" b="1" dirty="0">
                <a:latin typeface="仿宋" panose="02010609060101010101" pitchFamily="49" charset="-122"/>
                <a:ea typeface="仿宋" panose="02010609060101010101" pitchFamily="49" charset="-122"/>
              </a:rPr>
              <a:t>?</a:t>
            </a:r>
          </a:p>
          <a:p>
            <a:r>
              <a:rPr lang="zh-CN" altLang="en-US" sz="2800" b="1" dirty="0">
                <a:latin typeface="仿宋" panose="02010609060101010101" pitchFamily="49" charset="-122"/>
                <a:ea typeface="仿宋" panose="02010609060101010101" pitchFamily="49" charset="-122"/>
              </a:rPr>
              <a:t>非结构化数据</a:t>
            </a:r>
            <a:r>
              <a:rPr lang="en-US" altLang="zh-CN" sz="2800" b="1" dirty="0">
                <a:latin typeface="仿宋" panose="02010609060101010101" pitchFamily="49" charset="-122"/>
                <a:ea typeface="仿宋" panose="02010609060101010101" pitchFamily="49" charset="-122"/>
              </a:rPr>
              <a:t>?</a:t>
            </a:r>
            <a:endParaRPr lang="en-US" altLang="zh-CN" sz="3600" b="1" dirty="0">
              <a:latin typeface="仿宋" panose="02010609060101010101" pitchFamily="49" charset="-122"/>
              <a:ea typeface="仿宋" panose="02010609060101010101" pitchFamily="49" charset="-122"/>
            </a:endParaRPr>
          </a:p>
        </p:txBody>
      </p:sp>
      <p:pic>
        <p:nvPicPr>
          <p:cNvPr id="12" name="图片 11">
            <a:extLst>
              <a:ext uri="{FF2B5EF4-FFF2-40B4-BE49-F238E27FC236}">
                <a16:creationId xmlns:a16="http://schemas.microsoft.com/office/drawing/2014/main" id="{D126560D-117E-34C5-E682-D8905F0F89DC}"/>
              </a:ext>
            </a:extLst>
          </p:cNvPr>
          <p:cNvPicPr>
            <a:picLocks noChangeAspect="1"/>
          </p:cNvPicPr>
          <p:nvPr/>
        </p:nvPicPr>
        <p:blipFill>
          <a:blip r:embed="rId7"/>
          <a:stretch>
            <a:fillRect/>
          </a:stretch>
        </p:blipFill>
        <p:spPr>
          <a:xfrm>
            <a:off x="5560657" y="2103597"/>
            <a:ext cx="6515322" cy="3110347"/>
          </a:xfrm>
          <a:prstGeom prst="rect">
            <a:avLst/>
          </a:prstGeom>
        </p:spPr>
      </p:pic>
    </p:spTree>
    <p:extLst>
      <p:ext uri="{BB962C8B-B14F-4D97-AF65-F5344CB8AC3E}">
        <p14:creationId xmlns:p14="http://schemas.microsoft.com/office/powerpoint/2010/main" val="8991773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6" name="文本框 5">
            <a:extLst>
              <a:ext uri="{FF2B5EF4-FFF2-40B4-BE49-F238E27FC236}">
                <a16:creationId xmlns:a16="http://schemas.microsoft.com/office/drawing/2014/main" id="{4CF08E44-78B5-2494-D9C8-CB6DD56C71DF}"/>
              </a:ext>
            </a:extLst>
          </p:cNvPr>
          <p:cNvSpPr txBox="1"/>
          <p:nvPr/>
        </p:nvSpPr>
        <p:spPr>
          <a:xfrm>
            <a:off x="1456805" y="60707"/>
            <a:ext cx="4188345" cy="769441"/>
          </a:xfrm>
          <a:prstGeom prst="rect">
            <a:avLst/>
          </a:prstGeom>
          <a:noFill/>
        </p:spPr>
        <p:txBody>
          <a:bodyPr wrap="square" rtlCol="0">
            <a:spAutoFit/>
          </a:bodyPr>
          <a:lstStyle/>
          <a:p>
            <a:r>
              <a:rPr lang="zh-CN" altLang="en-US" sz="4400" dirty="0">
                <a:latin typeface="仿宋" panose="02010609060101010101" pitchFamily="49" charset="-122"/>
                <a:ea typeface="仿宋" panose="02010609060101010101" pitchFamily="49" charset="-122"/>
              </a:rPr>
              <a:t>大数据</a:t>
            </a:r>
            <a:endParaRPr lang="en-US" altLang="zh-CN" sz="4400" dirty="0">
              <a:latin typeface="仿宋" panose="02010609060101010101" pitchFamily="49" charset="-122"/>
              <a:ea typeface="仿宋" panose="02010609060101010101" pitchFamily="49" charset="-122"/>
            </a:endParaRPr>
          </a:p>
        </p:txBody>
      </p:sp>
      <p:pic>
        <p:nvPicPr>
          <p:cNvPr id="2" name="图片 4">
            <a:extLst>
              <a:ext uri="{FF2B5EF4-FFF2-40B4-BE49-F238E27FC236}">
                <a16:creationId xmlns:a16="http://schemas.microsoft.com/office/drawing/2014/main" id="{58A64933-8E68-1EDE-1EE2-E7EDCBDE06F5}"/>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416425" y="6219825"/>
            <a:ext cx="542925" cy="542925"/>
          </a:xfrm>
          <a:prstGeom prst="rect">
            <a:avLst/>
          </a:prstGeom>
        </p:spPr>
      </p:pic>
      <p:graphicFrame>
        <p:nvGraphicFramePr>
          <p:cNvPr id="3" name="图示 2">
            <a:extLst>
              <a:ext uri="{FF2B5EF4-FFF2-40B4-BE49-F238E27FC236}">
                <a16:creationId xmlns:a16="http://schemas.microsoft.com/office/drawing/2014/main" id="{7D6C80D9-4E01-ADDA-8693-5B49DAA4473F}"/>
              </a:ext>
            </a:extLst>
          </p:cNvPr>
          <p:cNvGraphicFramePr/>
          <p:nvPr/>
        </p:nvGraphicFramePr>
        <p:xfrm>
          <a:off x="2801417" y="1831100"/>
          <a:ext cx="6096000" cy="406400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4" name="矩形 3">
            <a:extLst>
              <a:ext uri="{FF2B5EF4-FFF2-40B4-BE49-F238E27FC236}">
                <a16:creationId xmlns:a16="http://schemas.microsoft.com/office/drawing/2014/main" id="{128BE47B-9757-2016-598F-989B5EB04C86}"/>
              </a:ext>
            </a:extLst>
          </p:cNvPr>
          <p:cNvSpPr/>
          <p:nvPr/>
        </p:nvSpPr>
        <p:spPr bwMode="auto">
          <a:xfrm>
            <a:off x="1456805" y="1885056"/>
            <a:ext cx="2447925" cy="1368425"/>
          </a:xfrm>
          <a:prstGeom prst="rect">
            <a:avLst/>
          </a:prstGeom>
          <a:solidFill>
            <a:schemeClr val="accent5">
              <a:lumMod val="20000"/>
              <a:lumOff val="80000"/>
            </a:schemeClr>
          </a:solidFill>
          <a:ln w="9525" cap="flat" cmpd="sng" algn="ctr">
            <a:solidFill>
              <a:schemeClr val="accent5">
                <a:lumMod val="50000"/>
              </a:schemeClr>
            </a:solidFill>
            <a:prstDash val="solid"/>
            <a:round/>
            <a:headEnd type="none" w="med" len="med"/>
            <a:tailEnd type="none" w="med" len="med"/>
          </a:ln>
          <a:effectLst/>
        </p:spPr>
        <p:txBody>
          <a:bodyPr lIns="90000" tIns="46800" rIns="90000" bIns="46800" anchor="ctr"/>
          <a:lstStyle/>
          <a:p>
            <a:pPr eaLnBrk="1" hangingPunct="1">
              <a:defRPr/>
            </a:pPr>
            <a:r>
              <a:rPr lang="zh-CN" altLang="en-US" sz="2800" b="1" dirty="0">
                <a:latin typeface="微软雅黑" panose="020B0503020204020204" pitchFamily="34" charset="-122"/>
                <a:ea typeface="微软雅黑" panose="020B0503020204020204" pitchFamily="34" charset="-122"/>
              </a:rPr>
              <a:t>巨大的数据量及其规模的完整性</a:t>
            </a:r>
          </a:p>
        </p:txBody>
      </p:sp>
      <p:sp>
        <p:nvSpPr>
          <p:cNvPr id="8" name="矩形 7">
            <a:extLst>
              <a:ext uri="{FF2B5EF4-FFF2-40B4-BE49-F238E27FC236}">
                <a16:creationId xmlns:a16="http://schemas.microsoft.com/office/drawing/2014/main" id="{79317F09-695C-CB3C-1EB1-242C8B5DE5DA}"/>
              </a:ext>
            </a:extLst>
          </p:cNvPr>
          <p:cNvSpPr/>
          <p:nvPr/>
        </p:nvSpPr>
        <p:spPr bwMode="auto">
          <a:xfrm>
            <a:off x="7794105" y="1956493"/>
            <a:ext cx="2447925" cy="1368425"/>
          </a:xfrm>
          <a:prstGeom prst="rect">
            <a:avLst/>
          </a:prstGeom>
          <a:solidFill>
            <a:schemeClr val="accent5">
              <a:lumMod val="20000"/>
              <a:lumOff val="80000"/>
            </a:schemeClr>
          </a:solidFill>
          <a:ln w="9525" cap="flat" cmpd="sng" algn="ctr">
            <a:solidFill>
              <a:schemeClr val="accent5">
                <a:lumMod val="50000"/>
              </a:schemeClr>
            </a:solidFill>
            <a:prstDash val="solid"/>
            <a:round/>
            <a:headEnd type="none" w="med" len="med"/>
            <a:tailEnd type="none" w="med" len="med"/>
          </a:ln>
          <a:effectLst/>
        </p:spPr>
        <p:txBody>
          <a:bodyPr lIns="90000" tIns="46800" rIns="90000" bIns="46800" anchor="ctr"/>
          <a:lstStyle/>
          <a:p>
            <a:pPr eaLnBrk="1" hangingPunct="1">
              <a:defRPr/>
            </a:pPr>
            <a:r>
              <a:rPr lang="zh-CN" altLang="en-US" sz="2800" b="1" dirty="0">
                <a:latin typeface="微软雅黑" panose="020B0503020204020204" pitchFamily="34" charset="-122"/>
                <a:ea typeface="微软雅黑" panose="020B0503020204020204" pitchFamily="34" charset="-122"/>
              </a:rPr>
              <a:t>数据流和大数据的移动性</a:t>
            </a:r>
          </a:p>
        </p:txBody>
      </p:sp>
      <p:sp>
        <p:nvSpPr>
          <p:cNvPr id="11" name="矩形 10">
            <a:extLst>
              <a:ext uri="{FF2B5EF4-FFF2-40B4-BE49-F238E27FC236}">
                <a16:creationId xmlns:a16="http://schemas.microsoft.com/office/drawing/2014/main" id="{F59EA366-1840-163A-39EF-8A70EBDC3316}"/>
              </a:ext>
            </a:extLst>
          </p:cNvPr>
          <p:cNvSpPr/>
          <p:nvPr/>
        </p:nvSpPr>
        <p:spPr bwMode="auto">
          <a:xfrm>
            <a:off x="1456805" y="4332981"/>
            <a:ext cx="2447925" cy="1368425"/>
          </a:xfrm>
          <a:prstGeom prst="rect">
            <a:avLst/>
          </a:prstGeom>
          <a:solidFill>
            <a:schemeClr val="accent5">
              <a:lumMod val="20000"/>
              <a:lumOff val="80000"/>
            </a:schemeClr>
          </a:solidFill>
          <a:ln w="9525" cap="flat" cmpd="sng" algn="ctr">
            <a:solidFill>
              <a:schemeClr val="accent5">
                <a:lumMod val="50000"/>
              </a:schemeClr>
            </a:solidFill>
            <a:prstDash val="solid"/>
            <a:round/>
            <a:headEnd type="none" w="med" len="med"/>
            <a:tailEnd type="none" w="med" len="med"/>
          </a:ln>
          <a:effectLst/>
        </p:spPr>
        <p:txBody>
          <a:bodyPr lIns="90000" tIns="46800" rIns="90000" bIns="46800" anchor="ctr"/>
          <a:lstStyle/>
          <a:p>
            <a:pPr eaLnBrk="1" hangingPunct="1">
              <a:defRPr/>
            </a:pPr>
            <a:r>
              <a:rPr lang="zh-CN" altLang="en-US" sz="2800" b="1" dirty="0">
                <a:latin typeface="微软雅黑" panose="020B0503020204020204" pitchFamily="34" charset="-122"/>
                <a:ea typeface="微软雅黑" panose="020B0503020204020204" pitchFamily="34" charset="-122"/>
              </a:rPr>
              <a:t>有多种途径来源的关系型和非关系型数据</a:t>
            </a:r>
          </a:p>
        </p:txBody>
      </p:sp>
      <p:sp>
        <p:nvSpPr>
          <p:cNvPr id="12" name="矩形 11">
            <a:extLst>
              <a:ext uri="{FF2B5EF4-FFF2-40B4-BE49-F238E27FC236}">
                <a16:creationId xmlns:a16="http://schemas.microsoft.com/office/drawing/2014/main" id="{1A2A942D-7F3E-7197-F387-1D26D83F4325}"/>
              </a:ext>
            </a:extLst>
          </p:cNvPr>
          <p:cNvSpPr/>
          <p:nvPr/>
        </p:nvSpPr>
        <p:spPr bwMode="auto">
          <a:xfrm>
            <a:off x="7794105" y="4261543"/>
            <a:ext cx="2447925" cy="1655763"/>
          </a:xfrm>
          <a:prstGeom prst="rect">
            <a:avLst/>
          </a:prstGeom>
          <a:solidFill>
            <a:schemeClr val="accent5">
              <a:lumMod val="20000"/>
              <a:lumOff val="80000"/>
            </a:schemeClr>
          </a:solidFill>
          <a:ln w="9525" cap="flat" cmpd="sng" algn="ctr">
            <a:solidFill>
              <a:schemeClr val="accent5">
                <a:lumMod val="50000"/>
              </a:schemeClr>
            </a:solidFill>
            <a:prstDash val="solid"/>
            <a:round/>
            <a:headEnd type="none" w="med" len="med"/>
            <a:tailEnd type="none" w="med" len="med"/>
          </a:ln>
          <a:effectLst/>
        </p:spPr>
        <p:txBody>
          <a:bodyPr lIns="90000" tIns="46800" rIns="90000" bIns="46800" anchor="ctr"/>
          <a:lstStyle/>
          <a:p>
            <a:pPr eaLnBrk="1" hangingPunct="1">
              <a:defRPr/>
            </a:pPr>
            <a:r>
              <a:rPr lang="zh-CN" altLang="en-US" sz="2800" b="1" dirty="0">
                <a:latin typeface="微软雅黑" panose="020B0503020204020204" pitchFamily="34" charset="-122"/>
                <a:ea typeface="微软雅黑" panose="020B0503020204020204" pitchFamily="34" charset="-122"/>
              </a:rPr>
              <a:t>大数据运用的意义，价值的稀缺性、不确定性和多样性</a:t>
            </a:r>
          </a:p>
        </p:txBody>
      </p:sp>
      <p:sp>
        <p:nvSpPr>
          <p:cNvPr id="13" name="文本框 12">
            <a:extLst>
              <a:ext uri="{FF2B5EF4-FFF2-40B4-BE49-F238E27FC236}">
                <a16:creationId xmlns:a16="http://schemas.microsoft.com/office/drawing/2014/main" id="{8AAFDF7C-09ED-4708-31B9-A6DDFA327540}"/>
              </a:ext>
            </a:extLst>
          </p:cNvPr>
          <p:cNvSpPr txBox="1"/>
          <p:nvPr/>
        </p:nvSpPr>
        <p:spPr>
          <a:xfrm>
            <a:off x="1649154" y="1041316"/>
            <a:ext cx="8714046" cy="769441"/>
          </a:xfrm>
          <a:prstGeom prst="rect">
            <a:avLst/>
          </a:prstGeom>
          <a:noFill/>
        </p:spPr>
        <p:txBody>
          <a:bodyPr wrap="square" rtlCol="0">
            <a:spAutoFit/>
          </a:bodyPr>
          <a:lstStyle/>
          <a:p>
            <a:r>
              <a:rPr lang="en-US" altLang="zh-CN" sz="4400" dirty="0">
                <a:latin typeface="仿宋" panose="02010609060101010101" pitchFamily="49" charset="-122"/>
                <a:ea typeface="仿宋" panose="02010609060101010101" pitchFamily="49" charset="-122"/>
              </a:rPr>
              <a:t>4V:</a:t>
            </a:r>
            <a:r>
              <a:rPr lang="zh-CN" altLang="en-US" sz="4400" dirty="0">
                <a:latin typeface="仿宋" panose="02010609060101010101" pitchFamily="49" charset="-122"/>
                <a:ea typeface="仿宋" panose="02010609060101010101" pitchFamily="49" charset="-122"/>
              </a:rPr>
              <a:t>数量</a:t>
            </a:r>
            <a:r>
              <a:rPr lang="en-US" altLang="zh-CN" sz="4400" dirty="0">
                <a:latin typeface="仿宋" panose="02010609060101010101" pitchFamily="49" charset="-122"/>
                <a:ea typeface="仿宋" panose="02010609060101010101" pitchFamily="49" charset="-122"/>
              </a:rPr>
              <a:t>/</a:t>
            </a:r>
            <a:r>
              <a:rPr lang="zh-CN" altLang="en-US" sz="4400" dirty="0">
                <a:latin typeface="仿宋" panose="02010609060101010101" pitchFamily="49" charset="-122"/>
                <a:ea typeface="仿宋" panose="02010609060101010101" pitchFamily="49" charset="-122"/>
              </a:rPr>
              <a:t>速度</a:t>
            </a:r>
            <a:r>
              <a:rPr lang="en-US" altLang="zh-CN" sz="4400" dirty="0">
                <a:latin typeface="仿宋" panose="02010609060101010101" pitchFamily="49" charset="-122"/>
                <a:ea typeface="仿宋" panose="02010609060101010101" pitchFamily="49" charset="-122"/>
              </a:rPr>
              <a:t>/</a:t>
            </a:r>
            <a:r>
              <a:rPr lang="zh-CN" altLang="en-US" sz="4400" dirty="0">
                <a:latin typeface="仿宋" panose="02010609060101010101" pitchFamily="49" charset="-122"/>
                <a:ea typeface="仿宋" panose="02010609060101010101" pitchFamily="49" charset="-122"/>
              </a:rPr>
              <a:t>种类</a:t>
            </a:r>
            <a:r>
              <a:rPr lang="en-US" altLang="zh-CN" sz="4400" dirty="0">
                <a:latin typeface="仿宋" panose="02010609060101010101" pitchFamily="49" charset="-122"/>
                <a:ea typeface="仿宋" panose="02010609060101010101" pitchFamily="49" charset="-122"/>
              </a:rPr>
              <a:t>/</a:t>
            </a:r>
            <a:r>
              <a:rPr lang="zh-CN" altLang="en-US" sz="4400" dirty="0">
                <a:latin typeface="仿宋" panose="02010609060101010101" pitchFamily="49" charset="-122"/>
                <a:ea typeface="仿宋" panose="02010609060101010101" pitchFamily="49" charset="-122"/>
              </a:rPr>
              <a:t>价值</a:t>
            </a:r>
            <a:endParaRPr lang="en-US" altLang="zh-CN" sz="4400" dirty="0">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23828650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ox(in)">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ox(in)">
                                      <p:cBhvr>
                                        <p:cTn id="2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11" grpId="0" animBg="1"/>
      <p:bldP spid="12"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形 13"/>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10" name="文本框 9"/>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pic>
        <p:nvPicPr>
          <p:cNvPr id="3" name="Picture 2">
            <a:extLst>
              <a:ext uri="{FF2B5EF4-FFF2-40B4-BE49-F238E27FC236}">
                <a16:creationId xmlns:a16="http://schemas.microsoft.com/office/drawing/2014/main" id="{851B5187-236A-5993-76B3-1AB97E177A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07629" y="2532457"/>
            <a:ext cx="6667500" cy="2743200"/>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917A5726-4688-7421-4D49-8332764B3590}"/>
              </a:ext>
            </a:extLst>
          </p:cNvPr>
          <p:cNvSpPr txBox="1"/>
          <p:nvPr/>
        </p:nvSpPr>
        <p:spPr>
          <a:xfrm>
            <a:off x="1313995" y="5164260"/>
            <a:ext cx="8019142" cy="954107"/>
          </a:xfrm>
          <a:prstGeom prst="rect">
            <a:avLst/>
          </a:prstGeom>
          <a:noFill/>
        </p:spPr>
        <p:txBody>
          <a:bodyPr wrap="square" rtlCol="0">
            <a:spAutoFit/>
          </a:bodyPr>
          <a:lstStyle/>
          <a:p>
            <a:r>
              <a:rPr lang="zh-CN" altLang="en-US" sz="2800" dirty="0">
                <a:latin typeface="仿宋" panose="02010609060101010101" pitchFamily="49" charset="-122"/>
                <a:ea typeface="仿宋" panose="02010609060101010101" pitchFamily="49" charset="-122"/>
              </a:rPr>
              <a:t>采样频率</a:t>
            </a:r>
            <a:r>
              <a:rPr lang="en-US" altLang="zh-CN" sz="2800" dirty="0">
                <a:latin typeface="仿宋" panose="02010609060101010101" pitchFamily="49" charset="-122"/>
                <a:ea typeface="仿宋" panose="02010609060101010101" pitchFamily="49" charset="-122"/>
              </a:rPr>
              <a:t>:</a:t>
            </a:r>
            <a:r>
              <a:rPr lang="zh-CN" altLang="en-US" sz="2800" dirty="0">
                <a:latin typeface="仿宋" panose="02010609060101010101" pitchFamily="49" charset="-122"/>
                <a:ea typeface="仿宋" panose="02010609060101010101" pitchFamily="49" charset="-122"/>
              </a:rPr>
              <a:t>一秒钟内从音频中采样离散信号的个数</a:t>
            </a:r>
            <a:endParaRPr lang="en-US" altLang="zh-CN" sz="2800" dirty="0">
              <a:latin typeface="仿宋" panose="02010609060101010101" pitchFamily="49" charset="-122"/>
              <a:ea typeface="仿宋" panose="02010609060101010101" pitchFamily="49" charset="-122"/>
            </a:endParaRPr>
          </a:p>
          <a:p>
            <a:r>
              <a:rPr lang="zh-CN" altLang="en-US" sz="2800" dirty="0">
                <a:latin typeface="仿宋" panose="02010609060101010101" pitchFamily="49" charset="-122"/>
                <a:ea typeface="仿宋" panose="02010609060101010101" pitchFamily="49" charset="-122"/>
              </a:rPr>
              <a:t>量化位数</a:t>
            </a:r>
            <a:r>
              <a:rPr lang="en-US" altLang="zh-CN" sz="2800" dirty="0">
                <a:latin typeface="仿宋" panose="02010609060101010101" pitchFamily="49" charset="-122"/>
                <a:ea typeface="仿宋" panose="02010609060101010101" pitchFamily="49" charset="-122"/>
              </a:rPr>
              <a:t>:</a:t>
            </a:r>
            <a:r>
              <a:rPr lang="zh-CN" altLang="en-US" sz="2800" dirty="0">
                <a:latin typeface="仿宋" panose="02010609060101010101" pitchFamily="49" charset="-122"/>
                <a:ea typeface="仿宋" panose="02010609060101010101" pitchFamily="49" charset="-122"/>
              </a:rPr>
              <a:t>信号数字化后的动态变化的范围</a:t>
            </a:r>
            <a:r>
              <a:rPr lang="en-US" altLang="zh-CN" sz="2800" dirty="0">
                <a:latin typeface="仿宋" panose="02010609060101010101" pitchFamily="49" charset="-122"/>
                <a:ea typeface="仿宋" panose="02010609060101010101" pitchFamily="49" charset="-122"/>
              </a:rPr>
              <a:t>(</a:t>
            </a:r>
            <a:r>
              <a:rPr lang="zh-CN" altLang="en-US" sz="2800" dirty="0">
                <a:latin typeface="仿宋" panose="02010609060101010101" pitchFamily="49" charset="-122"/>
                <a:ea typeface="仿宋" panose="02010609060101010101" pitchFamily="49" charset="-122"/>
              </a:rPr>
              <a:t>上限</a:t>
            </a:r>
            <a:r>
              <a:rPr lang="en-US" altLang="zh-CN" sz="2800" dirty="0">
                <a:latin typeface="仿宋" panose="02010609060101010101" pitchFamily="49" charset="-122"/>
                <a:ea typeface="仿宋" panose="02010609060101010101" pitchFamily="49" charset="-122"/>
              </a:rPr>
              <a:t>)</a:t>
            </a:r>
            <a:endParaRPr lang="zh-CN" altLang="en-US" sz="2800" dirty="0">
              <a:latin typeface="仿宋" panose="02010609060101010101" pitchFamily="49" charset="-122"/>
              <a:ea typeface="仿宋" panose="02010609060101010101" pitchFamily="49" charset="-122"/>
            </a:endParaRPr>
          </a:p>
        </p:txBody>
      </p:sp>
      <p:sp>
        <p:nvSpPr>
          <p:cNvPr id="6" name="文本框 5">
            <a:extLst>
              <a:ext uri="{FF2B5EF4-FFF2-40B4-BE49-F238E27FC236}">
                <a16:creationId xmlns:a16="http://schemas.microsoft.com/office/drawing/2014/main" id="{4CF08E44-78B5-2494-D9C8-CB6DD56C71DF}"/>
              </a:ext>
            </a:extLst>
          </p:cNvPr>
          <p:cNvSpPr txBox="1"/>
          <p:nvPr/>
        </p:nvSpPr>
        <p:spPr>
          <a:xfrm>
            <a:off x="1456805" y="60707"/>
            <a:ext cx="4188345" cy="769441"/>
          </a:xfrm>
          <a:prstGeom prst="rect">
            <a:avLst/>
          </a:prstGeom>
          <a:noFill/>
        </p:spPr>
        <p:txBody>
          <a:bodyPr wrap="square" rtlCol="0">
            <a:spAutoFit/>
          </a:bodyPr>
          <a:lstStyle/>
          <a:p>
            <a:r>
              <a:rPr lang="zh-CN" altLang="en-US" sz="4400" dirty="0">
                <a:latin typeface="仿宋" panose="02010609060101010101" pitchFamily="49" charset="-122"/>
                <a:ea typeface="仿宋" panose="02010609060101010101" pitchFamily="49" charset="-122"/>
              </a:rPr>
              <a:t>音频存储的原理</a:t>
            </a:r>
            <a:endParaRPr lang="en-US" altLang="zh-CN" sz="4400" dirty="0">
              <a:latin typeface="仿宋" panose="02010609060101010101" pitchFamily="49" charset="-122"/>
              <a:ea typeface="仿宋" panose="02010609060101010101" pitchFamily="49" charset="-122"/>
            </a:endParaRPr>
          </a:p>
        </p:txBody>
      </p:sp>
      <p:sp>
        <p:nvSpPr>
          <p:cNvPr id="9" name="文本框 8">
            <a:extLst>
              <a:ext uri="{FF2B5EF4-FFF2-40B4-BE49-F238E27FC236}">
                <a16:creationId xmlns:a16="http://schemas.microsoft.com/office/drawing/2014/main" id="{8A9643C6-8BEC-3501-9352-8D53F78E8858}"/>
              </a:ext>
            </a:extLst>
          </p:cNvPr>
          <p:cNvSpPr txBox="1"/>
          <p:nvPr/>
        </p:nvSpPr>
        <p:spPr>
          <a:xfrm>
            <a:off x="1313995" y="962797"/>
            <a:ext cx="9354005" cy="1569660"/>
          </a:xfrm>
          <a:prstGeom prst="rect">
            <a:avLst/>
          </a:prstGeom>
          <a:noFill/>
        </p:spPr>
        <p:txBody>
          <a:bodyPr wrap="square">
            <a:spAutoFit/>
          </a:bodyPr>
          <a:lstStyle/>
          <a:p>
            <a:r>
              <a:rPr lang="zh-CN" altLang="en-US" sz="2400" dirty="0">
                <a:latin typeface="仿宋" panose="02010609060101010101" pitchFamily="49" charset="-122"/>
                <a:ea typeface="仿宋" panose="02010609060101010101" pitchFamily="49" charset="-122"/>
              </a:rPr>
              <a:t>音频在计算机中的存储方式就是存储若干个采样点的近似数字值 </a:t>
            </a:r>
            <a:r>
              <a:rPr lang="en-US" altLang="zh-CN" sz="2400" dirty="0">
                <a:latin typeface="仿宋" panose="02010609060101010101" pitchFamily="49" charset="-122"/>
                <a:ea typeface="仿宋" panose="02010609060101010101" pitchFamily="49" charset="-122"/>
              </a:rPr>
              <a:t>(</a:t>
            </a:r>
            <a:r>
              <a:rPr lang="zh-CN" altLang="en-US" sz="2400" dirty="0">
                <a:latin typeface="仿宋" panose="02010609060101010101" pitchFamily="49" charset="-122"/>
                <a:ea typeface="仿宋" panose="02010609060101010101" pitchFamily="49" charset="-122"/>
              </a:rPr>
              <a:t>和微积分很像吧</a:t>
            </a:r>
            <a:r>
              <a:rPr lang="en-US" altLang="zh-CN" sz="2400" dirty="0">
                <a:latin typeface="仿宋" panose="02010609060101010101" pitchFamily="49" charset="-122"/>
                <a:ea typeface="仿宋" panose="02010609060101010101" pitchFamily="49" charset="-122"/>
              </a:rPr>
              <a:t>)</a:t>
            </a:r>
          </a:p>
          <a:p>
            <a:r>
              <a:rPr lang="zh-CN" altLang="en-US" sz="2400" dirty="0">
                <a:latin typeface="仿宋" panose="02010609060101010101" pitchFamily="49" charset="-122"/>
                <a:ea typeface="仿宋" panose="02010609060101010101" pitchFamily="49" charset="-122"/>
              </a:rPr>
              <a:t>采样</a:t>
            </a:r>
            <a:r>
              <a:rPr lang="en-US" altLang="zh-CN" sz="2400" dirty="0">
                <a:latin typeface="仿宋" panose="02010609060101010101" pitchFamily="49" charset="-122"/>
                <a:ea typeface="仿宋" panose="02010609060101010101" pitchFamily="49" charset="-122"/>
              </a:rPr>
              <a:t>:</a:t>
            </a:r>
            <a:r>
              <a:rPr lang="zh-CN" altLang="en-US" sz="2400" dirty="0">
                <a:latin typeface="仿宋" panose="02010609060101010101" pitchFamily="49" charset="-122"/>
                <a:ea typeface="仿宋" panose="02010609060101010101" pitchFamily="49" charset="-122"/>
              </a:rPr>
              <a:t>划分区间</a:t>
            </a:r>
            <a:endParaRPr lang="en-US" altLang="zh-CN" sz="2400" dirty="0">
              <a:latin typeface="仿宋" panose="02010609060101010101" pitchFamily="49" charset="-122"/>
              <a:ea typeface="仿宋" panose="02010609060101010101" pitchFamily="49" charset="-122"/>
            </a:endParaRPr>
          </a:p>
          <a:p>
            <a:r>
              <a:rPr lang="zh-CN" altLang="en-US" sz="2400" dirty="0">
                <a:latin typeface="仿宋" panose="02010609060101010101" pitchFamily="49" charset="-122"/>
                <a:ea typeface="仿宋" panose="02010609060101010101" pitchFamily="49" charset="-122"/>
              </a:rPr>
              <a:t>量化</a:t>
            </a:r>
            <a:r>
              <a:rPr lang="en-US" altLang="zh-CN" sz="2400" dirty="0">
                <a:latin typeface="仿宋" panose="02010609060101010101" pitchFamily="49" charset="-122"/>
                <a:ea typeface="仿宋" panose="02010609060101010101" pitchFamily="49" charset="-122"/>
              </a:rPr>
              <a:t>:</a:t>
            </a:r>
            <a:r>
              <a:rPr lang="zh-CN" altLang="en-US" sz="2400" dirty="0">
                <a:latin typeface="仿宋" panose="02010609060101010101" pitchFamily="49" charset="-122"/>
                <a:ea typeface="仿宋" panose="02010609060101010101" pitchFamily="49" charset="-122"/>
              </a:rPr>
              <a:t>对一个区间内的信号量化为一个近似的数字值</a:t>
            </a:r>
            <a:endParaRPr lang="en-US" altLang="zh-CN" sz="2400" dirty="0">
              <a:latin typeface="仿宋" panose="02010609060101010101" pitchFamily="49" charset="-122"/>
              <a:ea typeface="仿宋" panose="02010609060101010101" pitchFamily="49" charset="-122"/>
            </a:endParaRPr>
          </a:p>
        </p:txBody>
      </p:sp>
      <p:pic>
        <p:nvPicPr>
          <p:cNvPr id="2" name="图片 4">
            <a:extLst>
              <a:ext uri="{FF2B5EF4-FFF2-40B4-BE49-F238E27FC236}">
                <a16:creationId xmlns:a16="http://schemas.microsoft.com/office/drawing/2014/main" id="{58A64933-8E68-1EDE-1EE2-E7EDCBDE06F5}"/>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4416425" y="6219825"/>
            <a:ext cx="542925" cy="542925"/>
          </a:xfrm>
          <a:prstGeom prst="rect">
            <a:avLst/>
          </a:prstGeom>
        </p:spPr>
      </p:pic>
    </p:spTree>
    <p:extLst>
      <p:ext uri="{BB962C8B-B14F-4D97-AF65-F5344CB8AC3E}">
        <p14:creationId xmlns:p14="http://schemas.microsoft.com/office/powerpoint/2010/main" val="27526830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EE2B7F81-4705-57EE-6A31-6F27238835FE}"/>
              </a:ext>
            </a:extLst>
          </p:cNvPr>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 name="直接连接符 2">
            <a:extLst>
              <a:ext uri="{FF2B5EF4-FFF2-40B4-BE49-F238E27FC236}">
                <a16:creationId xmlns:a16="http://schemas.microsoft.com/office/drawing/2014/main" id="{FA27D534-30A4-5A54-AEE3-F60D425DC61B}"/>
              </a:ext>
            </a:extLst>
          </p:cNvPr>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4" name="图形 3">
            <a:extLst>
              <a:ext uri="{FF2B5EF4-FFF2-40B4-BE49-F238E27FC236}">
                <a16:creationId xmlns:a16="http://schemas.microsoft.com/office/drawing/2014/main" id="{30B7329D-4FEB-2ED4-5DFF-D68263BB392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6" name="文本框 5">
            <a:extLst>
              <a:ext uri="{FF2B5EF4-FFF2-40B4-BE49-F238E27FC236}">
                <a16:creationId xmlns:a16="http://schemas.microsoft.com/office/drawing/2014/main" id="{5A62A7E9-E4D9-FCC7-C897-E5A311A2E611}"/>
              </a:ext>
            </a:extLst>
          </p:cNvPr>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pic>
        <p:nvPicPr>
          <p:cNvPr id="7" name="Picture 2">
            <a:extLst>
              <a:ext uri="{FF2B5EF4-FFF2-40B4-BE49-F238E27FC236}">
                <a16:creationId xmlns:a16="http://schemas.microsoft.com/office/drawing/2014/main" id="{690574D6-56EC-1574-5B31-1FF2A8B57EF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719" y="869008"/>
            <a:ext cx="2998431" cy="4718843"/>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a:extLst>
              <a:ext uri="{FF2B5EF4-FFF2-40B4-BE49-F238E27FC236}">
                <a16:creationId xmlns:a16="http://schemas.microsoft.com/office/drawing/2014/main" id="{00A373D7-1DD7-7BAE-A395-4C70736E4E24}"/>
              </a:ext>
            </a:extLst>
          </p:cNvPr>
          <p:cNvSpPr txBox="1"/>
          <p:nvPr/>
        </p:nvSpPr>
        <p:spPr>
          <a:xfrm>
            <a:off x="3736653" y="911483"/>
            <a:ext cx="6901035" cy="1323439"/>
          </a:xfrm>
          <a:prstGeom prst="rect">
            <a:avLst/>
          </a:prstGeom>
          <a:noFill/>
        </p:spPr>
        <p:txBody>
          <a:bodyPr wrap="square" rtlCol="0">
            <a:spAutoFit/>
          </a:bodyPr>
          <a:lstStyle/>
          <a:p>
            <a:pPr algn="ctr"/>
            <a:r>
              <a:rPr lang="zh-CN" altLang="en-US" sz="2000" dirty="0">
                <a:latin typeface="仿宋" panose="02010609060101010101" pitchFamily="49" charset="-122"/>
                <a:ea typeface="仿宋" panose="02010609060101010101" pitchFamily="49" charset="-122"/>
              </a:rPr>
              <a:t>容量就是若干个采样点的容量</a:t>
            </a:r>
            <a:endParaRPr lang="en-US" altLang="zh-CN" sz="2000" dirty="0">
              <a:latin typeface="仿宋" panose="02010609060101010101" pitchFamily="49" charset="-122"/>
              <a:ea typeface="仿宋" panose="02010609060101010101" pitchFamily="49" charset="-122"/>
            </a:endParaRPr>
          </a:p>
          <a:p>
            <a:pPr algn="ctr"/>
            <a:r>
              <a:rPr lang="zh-CN" altLang="en-US" sz="2000" dirty="0">
                <a:latin typeface="仿宋" panose="02010609060101010101" pitchFamily="49" charset="-122"/>
                <a:ea typeface="仿宋" panose="02010609060101010101" pitchFamily="49" charset="-122"/>
              </a:rPr>
              <a:t>未压缩的音频文件</a:t>
            </a:r>
            <a:r>
              <a:rPr lang="en-US" altLang="zh-CN" sz="2000" dirty="0">
                <a:latin typeface="仿宋" panose="02010609060101010101" pitchFamily="49" charset="-122"/>
                <a:ea typeface="仿宋" panose="02010609060101010101" pitchFamily="49" charset="-122"/>
              </a:rPr>
              <a:t>(.wav)</a:t>
            </a:r>
            <a:r>
              <a:rPr lang="zh-CN" altLang="en-US" sz="2000" dirty="0">
                <a:latin typeface="仿宋" panose="02010609060101010101" pitchFamily="49" charset="-122"/>
                <a:ea typeface="仿宋" panose="02010609060101010101" pitchFamily="49" charset="-122"/>
              </a:rPr>
              <a:t>的存储容量计算方法</a:t>
            </a:r>
            <a:r>
              <a:rPr lang="en-US" altLang="zh-CN" sz="2000" dirty="0">
                <a:latin typeface="仿宋" panose="02010609060101010101" pitchFamily="49" charset="-122"/>
                <a:ea typeface="仿宋" panose="02010609060101010101" pitchFamily="49" charset="-122"/>
              </a:rPr>
              <a:t>:</a:t>
            </a:r>
          </a:p>
          <a:p>
            <a:pPr algn="ctr"/>
            <a:r>
              <a:rPr lang="zh-CN" altLang="en-US" sz="2000" dirty="0">
                <a:latin typeface="仿宋" panose="02010609060101010101" pitchFamily="49" charset="-122"/>
                <a:ea typeface="仿宋" panose="02010609060101010101" pitchFamily="49" charset="-122"/>
              </a:rPr>
              <a:t>容量</a:t>
            </a:r>
            <a:r>
              <a:rPr lang="en-US" altLang="zh-CN" sz="2000" dirty="0">
                <a:latin typeface="仿宋" panose="02010609060101010101" pitchFamily="49" charset="-122"/>
                <a:ea typeface="仿宋" panose="02010609060101010101" pitchFamily="49" charset="-122"/>
              </a:rPr>
              <a:t>=</a:t>
            </a:r>
            <a:r>
              <a:rPr lang="zh-CN" altLang="en-US" sz="2000" dirty="0">
                <a:latin typeface="仿宋" panose="02010609060101010101" pitchFamily="49" charset="-122"/>
                <a:ea typeface="仿宋" panose="02010609060101010101" pitchFamily="49" charset="-122"/>
              </a:rPr>
              <a:t>声道数*采样频率*时间</a:t>
            </a:r>
            <a:r>
              <a:rPr lang="en-US" altLang="zh-CN" sz="2000" dirty="0">
                <a:latin typeface="仿宋" panose="02010609060101010101" pitchFamily="49" charset="-122"/>
                <a:ea typeface="仿宋" panose="02010609060101010101" pitchFamily="49" charset="-122"/>
              </a:rPr>
              <a:t>(</a:t>
            </a:r>
            <a:r>
              <a:rPr lang="zh-CN" altLang="en-US" sz="2000" dirty="0">
                <a:latin typeface="仿宋" panose="02010609060101010101" pitchFamily="49" charset="-122"/>
                <a:ea typeface="仿宋" panose="02010609060101010101" pitchFamily="49" charset="-122"/>
              </a:rPr>
              <a:t>单位</a:t>
            </a:r>
            <a:r>
              <a:rPr lang="en-US" altLang="zh-CN" sz="2000" dirty="0">
                <a:latin typeface="仿宋" panose="02010609060101010101" pitchFamily="49" charset="-122"/>
                <a:ea typeface="仿宋" panose="02010609060101010101" pitchFamily="49" charset="-122"/>
              </a:rPr>
              <a:t>:s)*</a:t>
            </a:r>
            <a:r>
              <a:rPr lang="zh-CN" altLang="en-US" sz="2000" dirty="0">
                <a:latin typeface="仿宋" panose="02010609060101010101" pitchFamily="49" charset="-122"/>
                <a:ea typeface="仿宋" panose="02010609060101010101" pitchFamily="49" charset="-122"/>
              </a:rPr>
              <a:t>量化位数</a:t>
            </a:r>
            <a:r>
              <a:rPr lang="en-US" altLang="zh-CN" sz="2000" dirty="0">
                <a:latin typeface="仿宋" panose="02010609060101010101" pitchFamily="49" charset="-122"/>
                <a:ea typeface="仿宋" panose="02010609060101010101" pitchFamily="49" charset="-122"/>
              </a:rPr>
              <a:t>/8 (</a:t>
            </a:r>
            <a:r>
              <a:rPr lang="zh-CN" altLang="en-US" sz="2000" dirty="0">
                <a:latin typeface="仿宋" panose="02010609060101010101" pitchFamily="49" charset="-122"/>
                <a:ea typeface="仿宋" panose="02010609060101010101" pitchFamily="49" charset="-122"/>
              </a:rPr>
              <a:t>单位</a:t>
            </a:r>
            <a:r>
              <a:rPr lang="en-US" altLang="zh-CN" sz="2000" dirty="0">
                <a:latin typeface="仿宋" panose="02010609060101010101" pitchFamily="49" charset="-122"/>
                <a:ea typeface="仿宋" panose="02010609060101010101" pitchFamily="49" charset="-122"/>
              </a:rPr>
              <a:t>:B)</a:t>
            </a:r>
          </a:p>
          <a:p>
            <a:pPr algn="ctr"/>
            <a:endParaRPr lang="en-US" altLang="zh-CN" sz="2000" dirty="0">
              <a:latin typeface="仿宋" panose="02010609060101010101" pitchFamily="49" charset="-122"/>
              <a:ea typeface="仿宋" panose="02010609060101010101" pitchFamily="49" charset="-122"/>
            </a:endParaRPr>
          </a:p>
        </p:txBody>
      </p:sp>
      <p:sp>
        <p:nvSpPr>
          <p:cNvPr id="9" name="左大括号 8">
            <a:extLst>
              <a:ext uri="{FF2B5EF4-FFF2-40B4-BE49-F238E27FC236}">
                <a16:creationId xmlns:a16="http://schemas.microsoft.com/office/drawing/2014/main" id="{05FB0A9A-3F81-2577-F114-FA3E90B1DC48}"/>
              </a:ext>
            </a:extLst>
          </p:cNvPr>
          <p:cNvSpPr/>
          <p:nvPr/>
        </p:nvSpPr>
        <p:spPr>
          <a:xfrm rot="16200000">
            <a:off x="5980925" y="1341016"/>
            <a:ext cx="287303" cy="1543048"/>
          </a:xfrm>
          <a:prstGeom prst="lef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a:p>
        </p:txBody>
      </p:sp>
      <p:sp>
        <p:nvSpPr>
          <p:cNvPr id="10" name="文本框 9">
            <a:extLst>
              <a:ext uri="{FF2B5EF4-FFF2-40B4-BE49-F238E27FC236}">
                <a16:creationId xmlns:a16="http://schemas.microsoft.com/office/drawing/2014/main" id="{1C73F997-7FDF-A6CC-D3AF-9690384EAAD8}"/>
              </a:ext>
            </a:extLst>
          </p:cNvPr>
          <p:cNvSpPr txBox="1"/>
          <p:nvPr/>
        </p:nvSpPr>
        <p:spPr>
          <a:xfrm>
            <a:off x="5231520" y="2447542"/>
            <a:ext cx="1881282" cy="276999"/>
          </a:xfrm>
          <a:prstGeom prst="rect">
            <a:avLst/>
          </a:prstGeom>
          <a:noFill/>
        </p:spPr>
        <p:txBody>
          <a:bodyPr wrap="square" rtlCol="0">
            <a:spAutoFit/>
          </a:bodyPr>
          <a:lstStyle/>
          <a:p>
            <a:r>
              <a:rPr lang="zh-CN" altLang="en-US" sz="1200" dirty="0"/>
              <a:t>每个声道采样点的数量</a:t>
            </a:r>
          </a:p>
        </p:txBody>
      </p:sp>
      <p:sp>
        <p:nvSpPr>
          <p:cNvPr id="11" name="左大括号 10">
            <a:extLst>
              <a:ext uri="{FF2B5EF4-FFF2-40B4-BE49-F238E27FC236}">
                <a16:creationId xmlns:a16="http://schemas.microsoft.com/office/drawing/2014/main" id="{FB007BE0-95CF-68E0-4C2A-745772D649AC}"/>
              </a:ext>
            </a:extLst>
          </p:cNvPr>
          <p:cNvSpPr/>
          <p:nvPr/>
        </p:nvSpPr>
        <p:spPr>
          <a:xfrm rot="16200000">
            <a:off x="8519625" y="1604600"/>
            <a:ext cx="287302" cy="1015878"/>
          </a:xfrm>
          <a:prstGeom prst="lef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a:p>
        </p:txBody>
      </p:sp>
      <p:sp>
        <p:nvSpPr>
          <p:cNvPr id="12" name="文本框 11">
            <a:extLst>
              <a:ext uri="{FF2B5EF4-FFF2-40B4-BE49-F238E27FC236}">
                <a16:creationId xmlns:a16="http://schemas.microsoft.com/office/drawing/2014/main" id="{DC71D27A-DE39-67E9-DA7F-A3ED12784D41}"/>
              </a:ext>
            </a:extLst>
          </p:cNvPr>
          <p:cNvSpPr txBox="1"/>
          <p:nvPr/>
        </p:nvSpPr>
        <p:spPr>
          <a:xfrm>
            <a:off x="7978511" y="2474547"/>
            <a:ext cx="1881282" cy="276999"/>
          </a:xfrm>
          <a:prstGeom prst="rect">
            <a:avLst/>
          </a:prstGeom>
          <a:noFill/>
        </p:spPr>
        <p:txBody>
          <a:bodyPr wrap="square" rtlCol="0">
            <a:spAutoFit/>
          </a:bodyPr>
          <a:lstStyle/>
          <a:p>
            <a:r>
              <a:rPr lang="zh-CN" altLang="en-US" sz="1200" dirty="0"/>
              <a:t>每个采样点的存储容量</a:t>
            </a:r>
          </a:p>
        </p:txBody>
      </p:sp>
      <p:sp>
        <p:nvSpPr>
          <p:cNvPr id="13" name="文本框 12">
            <a:extLst>
              <a:ext uri="{FF2B5EF4-FFF2-40B4-BE49-F238E27FC236}">
                <a16:creationId xmlns:a16="http://schemas.microsoft.com/office/drawing/2014/main" id="{56927BA1-D1A4-5296-795E-62AEEEA5B46F}"/>
              </a:ext>
            </a:extLst>
          </p:cNvPr>
          <p:cNvSpPr txBox="1"/>
          <p:nvPr/>
        </p:nvSpPr>
        <p:spPr>
          <a:xfrm>
            <a:off x="3859361" y="2905780"/>
            <a:ext cx="7907671" cy="523220"/>
          </a:xfrm>
          <a:prstGeom prst="rect">
            <a:avLst/>
          </a:prstGeom>
          <a:noFill/>
        </p:spPr>
        <p:txBody>
          <a:bodyPr wrap="square" rtlCol="0">
            <a:spAutoFit/>
          </a:bodyPr>
          <a:lstStyle/>
          <a:p>
            <a:pPr algn="ctr"/>
            <a:r>
              <a:rPr lang="zh-CN" altLang="en-US" sz="2800" dirty="0">
                <a:latin typeface="黑体" panose="02010609060101010101" pitchFamily="49" charset="-122"/>
                <a:ea typeface="黑体" panose="02010609060101010101" pitchFamily="49" charset="-122"/>
              </a:rPr>
              <a:t>例</a:t>
            </a:r>
            <a:r>
              <a:rPr lang="en-US" altLang="zh-CN" sz="2800" dirty="0">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某段未经压缩的</a:t>
            </a:r>
            <a:r>
              <a:rPr lang="en-US" altLang="zh-CN" sz="2800" dirty="0">
                <a:latin typeface="黑体" panose="02010609060101010101" pitchFamily="49" charset="-122"/>
                <a:ea typeface="黑体" panose="02010609060101010101" pitchFamily="49" charset="-122"/>
              </a:rPr>
              <a:t>WAVE</a:t>
            </a:r>
            <a:r>
              <a:rPr lang="zh-CN" altLang="en-US" sz="2800" dirty="0">
                <a:latin typeface="黑体" panose="02010609060101010101" pitchFamily="49" charset="-122"/>
                <a:ea typeface="黑体" panose="02010609060101010101" pitchFamily="49" charset="-122"/>
              </a:rPr>
              <a:t>格式音频属性如图所示</a:t>
            </a:r>
          </a:p>
        </p:txBody>
      </p:sp>
      <p:sp>
        <p:nvSpPr>
          <p:cNvPr id="14" name="文本框 13">
            <a:extLst>
              <a:ext uri="{FF2B5EF4-FFF2-40B4-BE49-F238E27FC236}">
                <a16:creationId xmlns:a16="http://schemas.microsoft.com/office/drawing/2014/main" id="{76174ED2-2630-1F3C-A76E-76CFBFA4FBE4}"/>
              </a:ext>
            </a:extLst>
          </p:cNvPr>
          <p:cNvSpPr txBox="1"/>
          <p:nvPr/>
        </p:nvSpPr>
        <p:spPr>
          <a:xfrm>
            <a:off x="4930269" y="3731934"/>
            <a:ext cx="5535490" cy="830997"/>
          </a:xfrm>
          <a:prstGeom prst="rect">
            <a:avLst/>
          </a:prstGeom>
          <a:noFill/>
          <a:ln>
            <a:solidFill>
              <a:schemeClr val="accent4">
                <a:shade val="15000"/>
              </a:schemeClr>
            </a:solidFill>
          </a:ln>
        </p:spPr>
        <p:txBody>
          <a:bodyPr wrap="none" rtlCol="0">
            <a:spAutoFit/>
          </a:bodyPr>
          <a:lstStyle/>
          <a:p>
            <a:r>
              <a:rPr lang="zh-CN" altLang="en-US" sz="2400" dirty="0">
                <a:latin typeface="宋体" panose="02010600030101010101" pitchFamily="2" charset="-122"/>
                <a:ea typeface="宋体" panose="02010600030101010101" pitchFamily="2" charset="-122"/>
              </a:rPr>
              <a:t>长度</a:t>
            </a:r>
            <a:r>
              <a:rPr lang="en-US" altLang="zh-CN" sz="2400" dirty="0">
                <a:latin typeface="宋体" panose="02010600030101010101" pitchFamily="2" charset="-122"/>
                <a:ea typeface="宋体" panose="02010600030101010101" pitchFamily="2" charset="-122"/>
              </a:rPr>
              <a:t>: 60.00</a:t>
            </a:r>
            <a:r>
              <a:rPr lang="zh-CN" altLang="en-US" sz="2400" dirty="0">
                <a:latin typeface="宋体" panose="02010600030101010101" pitchFamily="2" charset="-122"/>
                <a:ea typeface="宋体" panose="02010600030101010101" pitchFamily="2" charset="-122"/>
              </a:rPr>
              <a:t>秒</a:t>
            </a:r>
            <a:endParaRPr lang="en-US" altLang="zh-CN" sz="2400" dirty="0">
              <a:latin typeface="宋体" panose="02010600030101010101" pitchFamily="2" charset="-122"/>
              <a:ea typeface="宋体" panose="02010600030101010101" pitchFamily="2" charset="-122"/>
            </a:endParaRPr>
          </a:p>
          <a:p>
            <a:r>
              <a:rPr lang="zh-CN" altLang="en-US" sz="2400" dirty="0">
                <a:latin typeface="宋体" panose="02010600030101010101" pitchFamily="2" charset="-122"/>
                <a:ea typeface="宋体" panose="02010600030101010101" pitchFamily="2" charset="-122"/>
              </a:rPr>
              <a:t>音频格式 </a:t>
            </a:r>
            <a:r>
              <a:rPr lang="en-US" altLang="zh-CN" sz="2400" dirty="0">
                <a:latin typeface="宋体" panose="02010600030101010101" pitchFamily="2" charset="-122"/>
                <a:ea typeface="宋体" panose="02010600030101010101" pitchFamily="2" charset="-122"/>
              </a:rPr>
              <a:t>PCM 44.100kHz</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16</a:t>
            </a:r>
            <a:r>
              <a:rPr lang="zh-CN" altLang="en-US" sz="2400" dirty="0">
                <a:latin typeface="宋体" panose="02010600030101010101" pitchFamily="2" charset="-122"/>
                <a:ea typeface="宋体" panose="02010600030101010101" pitchFamily="2" charset="-122"/>
              </a:rPr>
              <a:t>位 立体声</a:t>
            </a:r>
          </a:p>
        </p:txBody>
      </p:sp>
      <p:sp>
        <p:nvSpPr>
          <p:cNvPr id="15" name="文本框 14">
            <a:extLst>
              <a:ext uri="{FF2B5EF4-FFF2-40B4-BE49-F238E27FC236}">
                <a16:creationId xmlns:a16="http://schemas.microsoft.com/office/drawing/2014/main" id="{D71A35D7-F473-18DC-E721-CF392A5D8B14}"/>
              </a:ext>
            </a:extLst>
          </p:cNvPr>
          <p:cNvSpPr txBox="1"/>
          <p:nvPr/>
        </p:nvSpPr>
        <p:spPr>
          <a:xfrm>
            <a:off x="4724399" y="4715530"/>
            <a:ext cx="5913289" cy="523220"/>
          </a:xfrm>
          <a:prstGeom prst="rect">
            <a:avLst/>
          </a:prstGeom>
          <a:noFill/>
        </p:spPr>
        <p:txBody>
          <a:bodyPr wrap="square" rtlCol="0">
            <a:spAutoFit/>
          </a:bodyPr>
          <a:lstStyle/>
          <a:p>
            <a:pPr algn="ctr"/>
            <a:r>
              <a:rPr lang="zh-CN" altLang="en-US" sz="2800" dirty="0">
                <a:latin typeface="黑体" panose="02010609060101010101" pitchFamily="49" charset="-122"/>
                <a:ea typeface="黑体" panose="02010609060101010101" pitchFamily="49" charset="-122"/>
              </a:rPr>
              <a:t>存储该文件需要的磁盘空间大约是</a:t>
            </a:r>
          </a:p>
        </p:txBody>
      </p:sp>
      <p:sp>
        <p:nvSpPr>
          <p:cNvPr id="16" name="文本框 15">
            <a:extLst>
              <a:ext uri="{FF2B5EF4-FFF2-40B4-BE49-F238E27FC236}">
                <a16:creationId xmlns:a16="http://schemas.microsoft.com/office/drawing/2014/main" id="{722F9E8F-8B42-55D5-5239-370A1304DBBF}"/>
              </a:ext>
            </a:extLst>
          </p:cNvPr>
          <p:cNvSpPr txBox="1"/>
          <p:nvPr/>
        </p:nvSpPr>
        <p:spPr>
          <a:xfrm>
            <a:off x="3859361" y="5266930"/>
            <a:ext cx="7832807" cy="523220"/>
          </a:xfrm>
          <a:prstGeom prst="rect">
            <a:avLst/>
          </a:prstGeom>
          <a:noFill/>
        </p:spPr>
        <p:txBody>
          <a:bodyPr wrap="square" rtlCol="0">
            <a:spAutoFit/>
          </a:bodyPr>
          <a:lstStyle/>
          <a:p>
            <a:pPr algn="ctr"/>
            <a:r>
              <a:rPr lang="en-US" altLang="zh-CN" sz="2800" dirty="0">
                <a:latin typeface="仿宋" panose="02010609060101010101" pitchFamily="49" charset="-122"/>
                <a:ea typeface="仿宋" panose="02010609060101010101" pitchFamily="49" charset="-122"/>
              </a:rPr>
              <a:t>2</a:t>
            </a:r>
            <a:r>
              <a:rPr lang="zh-CN" altLang="en-US" sz="2800" dirty="0">
                <a:latin typeface="仿宋" panose="02010609060101010101" pitchFamily="49" charset="-122"/>
                <a:ea typeface="仿宋" panose="02010609060101010101" pitchFamily="49" charset="-122"/>
              </a:rPr>
              <a:t>*</a:t>
            </a:r>
            <a:r>
              <a:rPr lang="en-US" altLang="zh-CN" sz="2800" dirty="0">
                <a:latin typeface="仿宋" panose="02010609060101010101" pitchFamily="49" charset="-122"/>
                <a:ea typeface="仿宋" panose="02010609060101010101" pitchFamily="49" charset="-122"/>
              </a:rPr>
              <a:t>60*44.1</a:t>
            </a:r>
            <a:r>
              <a:rPr lang="zh-CN" altLang="en-US" sz="2800" dirty="0">
                <a:latin typeface="仿宋" panose="02010609060101010101" pitchFamily="49" charset="-122"/>
                <a:ea typeface="仿宋" panose="02010609060101010101" pitchFamily="49" charset="-122"/>
              </a:rPr>
              <a:t>*</a:t>
            </a:r>
            <a:r>
              <a:rPr lang="en-US" altLang="zh-CN" sz="2800" dirty="0">
                <a:latin typeface="仿宋" panose="02010609060101010101" pitchFamily="49" charset="-122"/>
                <a:ea typeface="仿宋" panose="02010609060101010101" pitchFamily="49" charset="-122"/>
              </a:rPr>
              <a:t>10</a:t>
            </a:r>
            <a:r>
              <a:rPr lang="en-US" altLang="zh-CN" sz="2800" baseline="30000" dirty="0">
                <a:latin typeface="仿宋" panose="02010609060101010101" pitchFamily="49" charset="-122"/>
                <a:ea typeface="仿宋" panose="02010609060101010101" pitchFamily="49" charset="-122"/>
              </a:rPr>
              <a:t>3</a:t>
            </a:r>
            <a:r>
              <a:rPr lang="en-US" altLang="zh-CN" sz="2800" dirty="0">
                <a:latin typeface="仿宋" panose="02010609060101010101" pitchFamily="49" charset="-122"/>
                <a:ea typeface="仿宋" panose="02010609060101010101" pitchFamily="49" charset="-122"/>
              </a:rPr>
              <a:t>*16/8/1024/1024=10.09 (MB)</a:t>
            </a:r>
          </a:p>
        </p:txBody>
      </p:sp>
      <p:sp>
        <p:nvSpPr>
          <p:cNvPr id="17" name="矩形 16">
            <a:extLst>
              <a:ext uri="{FF2B5EF4-FFF2-40B4-BE49-F238E27FC236}">
                <a16:creationId xmlns:a16="http://schemas.microsoft.com/office/drawing/2014/main" id="{CFAB9076-E76C-C616-91B8-1F7A262E6BA2}"/>
              </a:ext>
            </a:extLst>
          </p:cNvPr>
          <p:cNvSpPr/>
          <p:nvPr/>
        </p:nvSpPr>
        <p:spPr>
          <a:xfrm>
            <a:off x="6799262" y="5807800"/>
            <a:ext cx="4559260" cy="707886"/>
          </a:xfrm>
          <a:prstGeom prst="rect">
            <a:avLst/>
          </a:prstGeom>
          <a:noFill/>
        </p:spPr>
        <p:txBody>
          <a:bodyPr wrap="none" lIns="91440" tIns="45720" rIns="91440" bIns="45720">
            <a:spAutoFit/>
          </a:bodyPr>
          <a:lstStyle/>
          <a:p>
            <a:pPr algn="ctr"/>
            <a:r>
              <a:rPr lang="zh-CN" altLang="en-US" sz="4000" b="1" cap="none" spc="0" dirty="0">
                <a:ln w="22225">
                  <a:solidFill>
                    <a:schemeClr val="accent2"/>
                  </a:solidFill>
                  <a:prstDash val="solid"/>
                </a:ln>
                <a:solidFill>
                  <a:schemeClr val="accent2">
                    <a:lumMod val="40000"/>
                    <a:lumOff val="60000"/>
                  </a:schemeClr>
                </a:solidFill>
                <a:effectLst/>
                <a:latin typeface="仿宋" panose="02010609060101010101" pitchFamily="49" charset="-122"/>
                <a:ea typeface="仿宋" panose="02010609060101010101" pitchFamily="49" charset="-122"/>
              </a:rPr>
              <a:t>立体声即为双声道</a:t>
            </a:r>
            <a:r>
              <a:rPr lang="en-US" altLang="zh-CN" sz="4000" b="1" cap="none" spc="0" dirty="0">
                <a:ln w="22225">
                  <a:solidFill>
                    <a:schemeClr val="accent2"/>
                  </a:solidFill>
                  <a:prstDash val="solid"/>
                </a:ln>
                <a:solidFill>
                  <a:schemeClr val="accent2">
                    <a:lumMod val="40000"/>
                    <a:lumOff val="60000"/>
                  </a:schemeClr>
                </a:solidFill>
                <a:effectLst/>
                <a:latin typeface="仿宋" panose="02010609060101010101" pitchFamily="49" charset="-122"/>
                <a:ea typeface="仿宋" panose="02010609060101010101" pitchFamily="49" charset="-122"/>
              </a:rPr>
              <a:t>!</a:t>
            </a:r>
            <a:endParaRPr lang="zh-CN" altLang="en-US" sz="4000" b="1" cap="none" spc="0" dirty="0">
              <a:ln w="22225">
                <a:solidFill>
                  <a:schemeClr val="accent2"/>
                </a:solidFill>
                <a:prstDash val="solid"/>
              </a:ln>
              <a:solidFill>
                <a:schemeClr val="accent2">
                  <a:lumMod val="40000"/>
                  <a:lumOff val="60000"/>
                </a:schemeClr>
              </a:solidFill>
              <a:effectLst/>
              <a:latin typeface="仿宋" panose="02010609060101010101" pitchFamily="49" charset="-122"/>
              <a:ea typeface="仿宋" panose="02010609060101010101" pitchFamily="49" charset="-122"/>
            </a:endParaRPr>
          </a:p>
        </p:txBody>
      </p:sp>
      <p:sp>
        <p:nvSpPr>
          <p:cNvPr id="18" name="文本框 17">
            <a:extLst>
              <a:ext uri="{FF2B5EF4-FFF2-40B4-BE49-F238E27FC236}">
                <a16:creationId xmlns:a16="http://schemas.microsoft.com/office/drawing/2014/main" id="{4BCB4775-4C7D-1C57-8356-1EE72EDE7731}"/>
              </a:ext>
            </a:extLst>
          </p:cNvPr>
          <p:cNvSpPr txBox="1"/>
          <p:nvPr/>
        </p:nvSpPr>
        <p:spPr>
          <a:xfrm>
            <a:off x="1456806" y="60707"/>
            <a:ext cx="6798194" cy="769441"/>
          </a:xfrm>
          <a:prstGeom prst="rect">
            <a:avLst/>
          </a:prstGeom>
          <a:noFill/>
        </p:spPr>
        <p:txBody>
          <a:bodyPr wrap="square" rtlCol="0">
            <a:spAutoFit/>
          </a:bodyPr>
          <a:lstStyle/>
          <a:p>
            <a:r>
              <a:rPr lang="zh-CN" altLang="en-US" sz="4400" dirty="0">
                <a:latin typeface="仿宋" panose="02010609060101010101" pitchFamily="49" charset="-122"/>
                <a:ea typeface="仿宋" panose="02010609060101010101" pitchFamily="49" charset="-122"/>
              </a:rPr>
              <a:t>音频容量的计算</a:t>
            </a:r>
            <a:endParaRPr lang="en-US" altLang="zh-CN" sz="4400" dirty="0">
              <a:latin typeface="仿宋" panose="02010609060101010101" pitchFamily="49" charset="-122"/>
              <a:ea typeface="仿宋" panose="02010609060101010101" pitchFamily="49" charset="-122"/>
            </a:endParaRPr>
          </a:p>
        </p:txBody>
      </p:sp>
      <p:pic>
        <p:nvPicPr>
          <p:cNvPr id="19" name="图片 4">
            <a:extLst>
              <a:ext uri="{FF2B5EF4-FFF2-40B4-BE49-F238E27FC236}">
                <a16:creationId xmlns:a16="http://schemas.microsoft.com/office/drawing/2014/main" id="{AA3B5D4B-285B-CB30-A94A-07F9905778CA}"/>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4416425" y="6219825"/>
            <a:ext cx="542925" cy="542925"/>
          </a:xfrm>
          <a:prstGeom prst="rect">
            <a:avLst/>
          </a:prstGeom>
        </p:spPr>
      </p:pic>
    </p:spTree>
    <p:extLst>
      <p:ext uri="{BB962C8B-B14F-4D97-AF65-F5344CB8AC3E}">
        <p14:creationId xmlns:p14="http://schemas.microsoft.com/office/powerpoint/2010/main" val="40592107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500"/>
                                        <p:tgtEl>
                                          <p:spTgt spid="14"/>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500"/>
                                        <p:tgtEl>
                                          <p:spTgt spid="15"/>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500"/>
                                        <p:tgtEl>
                                          <p:spTgt spid="16"/>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10" grpId="0"/>
      <p:bldP spid="11" grpId="0" animBg="1"/>
      <p:bldP spid="12" grpId="0"/>
      <p:bldP spid="13" grpId="0"/>
      <p:bldP spid="14" grpId="0" animBg="1"/>
      <p:bldP spid="15" grpId="0"/>
      <p:bldP spid="16" grpId="0"/>
      <p:bldP spid="17"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EE2B7F81-4705-57EE-6A31-6F27238835FE}"/>
              </a:ext>
            </a:extLst>
          </p:cNvPr>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 name="直接连接符 2">
            <a:extLst>
              <a:ext uri="{FF2B5EF4-FFF2-40B4-BE49-F238E27FC236}">
                <a16:creationId xmlns:a16="http://schemas.microsoft.com/office/drawing/2014/main" id="{FA27D534-30A4-5A54-AEE3-F60D425DC61B}"/>
              </a:ext>
            </a:extLst>
          </p:cNvPr>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4" name="图形 3">
            <a:extLst>
              <a:ext uri="{FF2B5EF4-FFF2-40B4-BE49-F238E27FC236}">
                <a16:creationId xmlns:a16="http://schemas.microsoft.com/office/drawing/2014/main" id="{30B7329D-4FEB-2ED4-5DFF-D68263BB392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6" name="文本框 5">
            <a:extLst>
              <a:ext uri="{FF2B5EF4-FFF2-40B4-BE49-F238E27FC236}">
                <a16:creationId xmlns:a16="http://schemas.microsoft.com/office/drawing/2014/main" id="{5A62A7E9-E4D9-FCC7-C897-E5A311A2E611}"/>
              </a:ext>
            </a:extLst>
          </p:cNvPr>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8" name="文本框 7">
            <a:extLst>
              <a:ext uri="{FF2B5EF4-FFF2-40B4-BE49-F238E27FC236}">
                <a16:creationId xmlns:a16="http://schemas.microsoft.com/office/drawing/2014/main" id="{EDC82256-9FC3-BF4B-360D-A67F50E435C2}"/>
              </a:ext>
            </a:extLst>
          </p:cNvPr>
          <p:cNvSpPr txBox="1"/>
          <p:nvPr/>
        </p:nvSpPr>
        <p:spPr>
          <a:xfrm>
            <a:off x="1456806" y="60707"/>
            <a:ext cx="6798194" cy="769441"/>
          </a:xfrm>
          <a:prstGeom prst="rect">
            <a:avLst/>
          </a:prstGeom>
          <a:noFill/>
        </p:spPr>
        <p:txBody>
          <a:bodyPr wrap="square" rtlCol="0">
            <a:spAutoFit/>
          </a:bodyPr>
          <a:lstStyle/>
          <a:p>
            <a:r>
              <a:rPr lang="zh-CN" altLang="en-US" sz="4400" dirty="0">
                <a:latin typeface="仿宋" panose="02010609060101010101" pitchFamily="49" charset="-122"/>
                <a:ea typeface="仿宋" panose="02010609060101010101" pitchFamily="49" charset="-122"/>
              </a:rPr>
              <a:t>图片</a:t>
            </a:r>
            <a:r>
              <a:rPr lang="en-US" altLang="zh-CN" sz="4400" dirty="0">
                <a:latin typeface="仿宋" panose="02010609060101010101" pitchFamily="49" charset="-122"/>
                <a:ea typeface="仿宋" panose="02010609060101010101" pitchFamily="49" charset="-122"/>
              </a:rPr>
              <a:t>:</a:t>
            </a:r>
            <a:r>
              <a:rPr lang="zh-CN" altLang="en-US" sz="4400" dirty="0">
                <a:latin typeface="仿宋" panose="02010609060101010101" pitchFamily="49" charset="-122"/>
                <a:ea typeface="仿宋" panose="02010609060101010101" pitchFamily="49" charset="-122"/>
              </a:rPr>
              <a:t>位图</a:t>
            </a:r>
            <a:endParaRPr lang="en-US" altLang="zh-CN" sz="4400" dirty="0">
              <a:latin typeface="仿宋" panose="02010609060101010101" pitchFamily="49" charset="-122"/>
              <a:ea typeface="仿宋" panose="02010609060101010101" pitchFamily="49" charset="-122"/>
            </a:endParaRPr>
          </a:p>
        </p:txBody>
      </p:sp>
      <p:sp>
        <p:nvSpPr>
          <p:cNvPr id="9" name="文本框 8">
            <a:extLst>
              <a:ext uri="{FF2B5EF4-FFF2-40B4-BE49-F238E27FC236}">
                <a16:creationId xmlns:a16="http://schemas.microsoft.com/office/drawing/2014/main" id="{132DC1A8-31A3-B154-AA69-E4F70F2832A0}"/>
              </a:ext>
            </a:extLst>
          </p:cNvPr>
          <p:cNvSpPr txBox="1"/>
          <p:nvPr/>
        </p:nvSpPr>
        <p:spPr>
          <a:xfrm>
            <a:off x="577201" y="1088806"/>
            <a:ext cx="11037597" cy="1384995"/>
          </a:xfrm>
          <a:prstGeom prst="rect">
            <a:avLst/>
          </a:prstGeom>
          <a:noFill/>
        </p:spPr>
        <p:txBody>
          <a:bodyPr wrap="square" rtlCol="0">
            <a:spAutoFit/>
          </a:bodyPr>
          <a:lstStyle/>
          <a:p>
            <a:r>
              <a:rPr lang="zh-CN" altLang="en-US" sz="2800" dirty="0">
                <a:latin typeface="仿宋" panose="02010609060101010101" pitchFamily="49" charset="-122"/>
                <a:ea typeface="仿宋" panose="02010609060101010101" pitchFamily="49" charset="-122"/>
              </a:rPr>
              <a:t>位图</a:t>
            </a:r>
            <a:r>
              <a:rPr lang="en-US" altLang="zh-CN" sz="2800" dirty="0">
                <a:latin typeface="仿宋" panose="02010609060101010101" pitchFamily="49" charset="-122"/>
                <a:ea typeface="仿宋" panose="02010609060101010101" pitchFamily="49" charset="-122"/>
              </a:rPr>
              <a:t>:</a:t>
            </a:r>
            <a:r>
              <a:rPr lang="zh-CN" altLang="en-US" sz="2800" dirty="0">
                <a:latin typeface="仿宋" panose="02010609060101010101" pitchFamily="49" charset="-122"/>
                <a:ea typeface="仿宋" panose="02010609060101010101" pitchFamily="49" charset="-122"/>
              </a:rPr>
              <a:t>又称图像</a:t>
            </a:r>
            <a:endParaRPr lang="en-US" altLang="zh-CN" sz="2800" dirty="0">
              <a:latin typeface="仿宋" panose="02010609060101010101" pitchFamily="49" charset="-122"/>
              <a:ea typeface="仿宋" panose="02010609060101010101" pitchFamily="49" charset="-122"/>
            </a:endParaRPr>
          </a:p>
          <a:p>
            <a:r>
              <a:rPr lang="zh-CN" altLang="en-US" sz="2800" dirty="0">
                <a:latin typeface="仿宋" panose="02010609060101010101" pitchFamily="49" charset="-122"/>
                <a:ea typeface="仿宋" panose="02010609060101010101" pitchFamily="49" charset="-122"/>
              </a:rPr>
              <a:t>生活中存储的绝大部分图片都属于位图</a:t>
            </a:r>
            <a:endParaRPr lang="en-US" altLang="zh-CN" sz="2800" dirty="0">
              <a:latin typeface="仿宋" panose="02010609060101010101" pitchFamily="49" charset="-122"/>
              <a:ea typeface="仿宋" panose="02010609060101010101" pitchFamily="49" charset="-122"/>
            </a:endParaRPr>
          </a:p>
          <a:p>
            <a:r>
              <a:rPr lang="zh-CN" altLang="en-US" sz="2800" dirty="0">
                <a:latin typeface="仿宋" panose="02010609060101010101" pitchFamily="49" charset="-122"/>
                <a:ea typeface="仿宋" panose="02010609060101010101" pitchFamily="49" charset="-122"/>
              </a:rPr>
              <a:t>由像素点组成</a:t>
            </a:r>
            <a:r>
              <a:rPr lang="en-US" altLang="zh-CN" sz="2800" dirty="0">
                <a:latin typeface="仿宋" panose="02010609060101010101" pitchFamily="49" charset="-122"/>
                <a:ea typeface="仿宋" panose="02010609060101010101" pitchFamily="49" charset="-122"/>
              </a:rPr>
              <a:t>,</a:t>
            </a:r>
            <a:r>
              <a:rPr lang="zh-CN" altLang="en-US" sz="2800" dirty="0">
                <a:latin typeface="仿宋" panose="02010609060101010101" pitchFamily="49" charset="-122"/>
                <a:ea typeface="仿宋" panose="02010609060101010101" pitchFamily="49" charset="-122"/>
              </a:rPr>
              <a:t>每个像素点可以用一个或多个数字记录，表示若干颜色</a:t>
            </a:r>
          </a:p>
        </p:txBody>
      </p:sp>
      <p:pic>
        <p:nvPicPr>
          <p:cNvPr id="10" name="Picture 2">
            <a:extLst>
              <a:ext uri="{FF2B5EF4-FFF2-40B4-BE49-F238E27FC236}">
                <a16:creationId xmlns:a16="http://schemas.microsoft.com/office/drawing/2014/main" id="{FA9071D5-36C2-A22A-4492-5D7A485668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25462" y="3094336"/>
            <a:ext cx="2779486" cy="2779486"/>
          </a:xfrm>
          <a:prstGeom prst="rect">
            <a:avLst/>
          </a:prstGeom>
          <a:noFill/>
          <a:extLst>
            <a:ext uri="{909E8E84-426E-40DD-AFC4-6F175D3DCCD1}">
              <a14:hiddenFill xmlns:a14="http://schemas.microsoft.com/office/drawing/2010/main">
                <a:solidFill>
                  <a:srgbClr val="FFFFFF"/>
                </a:solidFill>
              </a14:hiddenFill>
            </a:ext>
          </a:extLst>
        </p:spPr>
      </p:pic>
      <p:pic>
        <p:nvPicPr>
          <p:cNvPr id="11" name="图片 10">
            <a:extLst>
              <a:ext uri="{FF2B5EF4-FFF2-40B4-BE49-F238E27FC236}">
                <a16:creationId xmlns:a16="http://schemas.microsoft.com/office/drawing/2014/main" id="{A75852AE-DCD7-E94B-081E-22CBA357936D}"/>
              </a:ext>
            </a:extLst>
          </p:cNvPr>
          <p:cNvPicPr>
            <a:picLocks noChangeAspect="1"/>
          </p:cNvPicPr>
          <p:nvPr/>
        </p:nvPicPr>
        <p:blipFill>
          <a:blip r:embed="rId5"/>
          <a:stretch>
            <a:fillRect/>
          </a:stretch>
        </p:blipFill>
        <p:spPr>
          <a:xfrm>
            <a:off x="6624737" y="3094336"/>
            <a:ext cx="2779486" cy="2779486"/>
          </a:xfrm>
          <a:prstGeom prst="rect">
            <a:avLst/>
          </a:prstGeom>
        </p:spPr>
      </p:pic>
      <p:sp>
        <p:nvSpPr>
          <p:cNvPr id="12" name="任意多边形: 形状 11">
            <a:extLst>
              <a:ext uri="{FF2B5EF4-FFF2-40B4-BE49-F238E27FC236}">
                <a16:creationId xmlns:a16="http://schemas.microsoft.com/office/drawing/2014/main" id="{0A6BD830-DE91-C7FC-A644-973FC67E75CE}"/>
              </a:ext>
            </a:extLst>
          </p:cNvPr>
          <p:cNvSpPr/>
          <p:nvPr/>
        </p:nvSpPr>
        <p:spPr>
          <a:xfrm>
            <a:off x="2601687" y="3875312"/>
            <a:ext cx="3991430" cy="1722311"/>
          </a:xfrm>
          <a:custGeom>
            <a:avLst/>
            <a:gdLst>
              <a:gd name="connsiteX0" fmla="*/ 3037942 w 3991430"/>
              <a:gd name="connsiteY0" fmla="*/ 0 h 1722311"/>
              <a:gd name="connsiteX1" fmla="*/ 3991430 w 3991430"/>
              <a:gd name="connsiteY1" fmla="*/ 861156 h 1722311"/>
              <a:gd name="connsiteX2" fmla="*/ 3037942 w 3991430"/>
              <a:gd name="connsiteY2" fmla="*/ 1722311 h 1722311"/>
              <a:gd name="connsiteX3" fmla="*/ 3037942 w 3991430"/>
              <a:gd name="connsiteY3" fmla="*/ 1132937 h 1722311"/>
              <a:gd name="connsiteX4" fmla="*/ 278998 w 3991430"/>
              <a:gd name="connsiteY4" fmla="*/ 1132937 h 1722311"/>
              <a:gd name="connsiteX5" fmla="*/ 264886 w 3991430"/>
              <a:gd name="connsiteY5" fmla="*/ 1134404 h 1722311"/>
              <a:gd name="connsiteX6" fmla="*/ 0 w 3991430"/>
              <a:gd name="connsiteY6" fmla="*/ 861155 h 1722311"/>
              <a:gd name="connsiteX7" fmla="*/ 264886 w 3991430"/>
              <a:gd name="connsiteY7" fmla="*/ 587906 h 1722311"/>
              <a:gd name="connsiteX8" fmla="*/ 279007 w 3991430"/>
              <a:gd name="connsiteY8" fmla="*/ 589375 h 1722311"/>
              <a:gd name="connsiteX9" fmla="*/ 3037942 w 3991430"/>
              <a:gd name="connsiteY9" fmla="*/ 589375 h 1722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91430" h="1722311">
                <a:moveTo>
                  <a:pt x="3037942" y="0"/>
                </a:moveTo>
                <a:lnTo>
                  <a:pt x="3991430" y="861156"/>
                </a:lnTo>
                <a:lnTo>
                  <a:pt x="3037942" y="1722311"/>
                </a:lnTo>
                <a:lnTo>
                  <a:pt x="3037942" y="1132937"/>
                </a:lnTo>
                <a:lnTo>
                  <a:pt x="278998" y="1132937"/>
                </a:lnTo>
                <a:lnTo>
                  <a:pt x="264886" y="1134404"/>
                </a:lnTo>
                <a:cubicBezTo>
                  <a:pt x="118594" y="1134404"/>
                  <a:pt x="0" y="1012066"/>
                  <a:pt x="0" y="861155"/>
                </a:cubicBezTo>
                <a:cubicBezTo>
                  <a:pt x="0" y="710244"/>
                  <a:pt x="118594" y="587906"/>
                  <a:pt x="264886" y="587906"/>
                </a:cubicBezTo>
                <a:lnTo>
                  <a:pt x="279007" y="589375"/>
                </a:lnTo>
                <a:lnTo>
                  <a:pt x="3037942" y="589375"/>
                </a:lnTo>
                <a:close/>
              </a:path>
            </a:pathLst>
          </a:custGeom>
          <a:no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3" name="文本框 12">
            <a:extLst>
              <a:ext uri="{FF2B5EF4-FFF2-40B4-BE49-F238E27FC236}">
                <a16:creationId xmlns:a16="http://schemas.microsoft.com/office/drawing/2014/main" id="{81BD92D1-FD16-81CD-C203-1494795BF342}"/>
              </a:ext>
            </a:extLst>
          </p:cNvPr>
          <p:cNvSpPr txBox="1"/>
          <p:nvPr/>
        </p:nvSpPr>
        <p:spPr>
          <a:xfrm>
            <a:off x="4328105" y="2827636"/>
            <a:ext cx="2041852" cy="954107"/>
          </a:xfrm>
          <a:prstGeom prst="rect">
            <a:avLst/>
          </a:prstGeom>
          <a:noFill/>
        </p:spPr>
        <p:txBody>
          <a:bodyPr wrap="square" rtlCol="0">
            <a:spAutoFit/>
          </a:bodyPr>
          <a:lstStyle/>
          <a:p>
            <a:r>
              <a:rPr lang="zh-CN" altLang="en-US" sz="2800" dirty="0">
                <a:latin typeface="仿宋" panose="02010609060101010101" pitchFamily="49" charset="-122"/>
                <a:ea typeface="仿宋" panose="02010609060101010101" pitchFamily="49" charset="-122"/>
              </a:rPr>
              <a:t>放大可以看到像素点</a:t>
            </a:r>
          </a:p>
        </p:txBody>
      </p:sp>
      <p:sp>
        <p:nvSpPr>
          <p:cNvPr id="14" name="矩形 13">
            <a:extLst>
              <a:ext uri="{FF2B5EF4-FFF2-40B4-BE49-F238E27FC236}">
                <a16:creationId xmlns:a16="http://schemas.microsoft.com/office/drawing/2014/main" id="{C7E525F3-FF93-2FD0-F170-BC1ECA908D0E}"/>
              </a:ext>
            </a:extLst>
          </p:cNvPr>
          <p:cNvSpPr/>
          <p:nvPr/>
        </p:nvSpPr>
        <p:spPr>
          <a:xfrm>
            <a:off x="3620688" y="4874815"/>
            <a:ext cx="4012637" cy="923330"/>
          </a:xfrm>
          <a:prstGeom prst="rect">
            <a:avLst/>
          </a:prstGeom>
          <a:noFill/>
        </p:spPr>
        <p:txBody>
          <a:bodyPr wrap="none" lIns="91440" tIns="45720" rIns="91440" bIns="45720">
            <a:spAutoFit/>
          </a:bodyPr>
          <a:lstStyle/>
          <a:p>
            <a:pPr algn="ctr"/>
            <a:r>
              <a:rPr lang="zh-CN" altLang="en-US" sz="5400" b="1" cap="none" spc="0" dirty="0">
                <a:ln w="6600">
                  <a:solidFill>
                    <a:schemeClr val="accent2"/>
                  </a:solidFill>
                  <a:prstDash val="solid"/>
                </a:ln>
                <a:solidFill>
                  <a:srgbClr val="FFFFFF"/>
                </a:solidFill>
                <a:effectLst>
                  <a:outerShdw dist="38100" dir="2700000" algn="tl" rotWithShape="0">
                    <a:schemeClr val="accent2"/>
                  </a:outerShdw>
                </a:effectLst>
                <a:latin typeface="仿宋" panose="02010609060101010101" pitchFamily="49" charset="-122"/>
                <a:ea typeface="仿宋" panose="02010609060101010101" pitchFamily="49" charset="-122"/>
              </a:rPr>
              <a:t>放大会失真</a:t>
            </a:r>
            <a:r>
              <a:rPr lang="en-US" altLang="zh-CN" sz="5400" b="1" cap="none" spc="0" dirty="0">
                <a:ln w="6600">
                  <a:solidFill>
                    <a:schemeClr val="accent2"/>
                  </a:solidFill>
                  <a:prstDash val="solid"/>
                </a:ln>
                <a:solidFill>
                  <a:srgbClr val="FFFFFF"/>
                </a:solidFill>
                <a:effectLst>
                  <a:outerShdw dist="38100" dir="2700000" algn="tl" rotWithShape="0">
                    <a:schemeClr val="accent2"/>
                  </a:outerShdw>
                </a:effectLst>
                <a:latin typeface="仿宋" panose="02010609060101010101" pitchFamily="49" charset="-122"/>
                <a:ea typeface="仿宋" panose="02010609060101010101" pitchFamily="49" charset="-122"/>
              </a:rPr>
              <a:t>!</a:t>
            </a:r>
            <a:endParaRPr lang="zh-CN" altLang="en-US" sz="5400" b="1" cap="none" spc="0" dirty="0">
              <a:ln w="6600">
                <a:solidFill>
                  <a:schemeClr val="accent2"/>
                </a:solidFill>
                <a:prstDash val="solid"/>
              </a:ln>
              <a:solidFill>
                <a:srgbClr val="FFFFFF"/>
              </a:solidFill>
              <a:effectLst>
                <a:outerShdw dist="38100" dir="2700000" algn="tl" rotWithShape="0">
                  <a:schemeClr val="accent2"/>
                </a:outerShdw>
              </a:effectLst>
            </a:endParaRPr>
          </a:p>
        </p:txBody>
      </p:sp>
      <p:sp>
        <p:nvSpPr>
          <p:cNvPr id="15" name="矩形 14">
            <a:extLst>
              <a:ext uri="{FF2B5EF4-FFF2-40B4-BE49-F238E27FC236}">
                <a16:creationId xmlns:a16="http://schemas.microsoft.com/office/drawing/2014/main" id="{A48F1693-31FE-5ACB-A9A1-E7BDC5276003}"/>
              </a:ext>
            </a:extLst>
          </p:cNvPr>
          <p:cNvSpPr/>
          <p:nvPr/>
        </p:nvSpPr>
        <p:spPr>
          <a:xfrm>
            <a:off x="8014480" y="4874815"/>
            <a:ext cx="4406977" cy="923330"/>
          </a:xfrm>
          <a:prstGeom prst="rect">
            <a:avLst/>
          </a:prstGeom>
          <a:noFill/>
        </p:spPr>
        <p:txBody>
          <a:bodyPr wrap="none" lIns="91440" tIns="45720" rIns="91440" bIns="45720">
            <a:spAutoFit/>
          </a:bodyPr>
          <a:lstStyle/>
          <a:p>
            <a:pPr algn="ctr"/>
            <a:r>
              <a:rPr lang="en-US" altLang="zh-CN" sz="5400" b="1" cap="none" spc="50" dirty="0">
                <a:ln w="9525" cmpd="sng">
                  <a:solidFill>
                    <a:schemeClr val="accent1"/>
                  </a:solidFill>
                  <a:prstDash val="solid"/>
                </a:ln>
                <a:solidFill>
                  <a:srgbClr val="70AD47">
                    <a:tint val="1000"/>
                  </a:srgbClr>
                </a:solidFill>
                <a:effectLst>
                  <a:glow rad="38100">
                    <a:schemeClr val="accent1">
                      <a:alpha val="40000"/>
                    </a:schemeClr>
                  </a:glow>
                </a:effectLst>
                <a:latin typeface="仿宋" panose="02010609060101010101" pitchFamily="49" charset="-122"/>
                <a:ea typeface="仿宋" panose="02010609060101010101" pitchFamily="49" charset="-122"/>
              </a:rPr>
              <a:t>4K</a:t>
            </a:r>
            <a:r>
              <a:rPr lang="zh-CN" altLang="en-US" sz="5400" b="1" cap="none" spc="50" dirty="0">
                <a:ln w="9525" cmpd="sng">
                  <a:solidFill>
                    <a:schemeClr val="accent1"/>
                  </a:solidFill>
                  <a:prstDash val="solid"/>
                </a:ln>
                <a:solidFill>
                  <a:srgbClr val="70AD47">
                    <a:tint val="1000"/>
                  </a:srgbClr>
                </a:solidFill>
                <a:effectLst>
                  <a:glow rad="38100">
                    <a:schemeClr val="accent1">
                      <a:alpha val="40000"/>
                    </a:schemeClr>
                  </a:glow>
                </a:effectLst>
                <a:latin typeface="仿宋" panose="02010609060101010101" pitchFamily="49" charset="-122"/>
                <a:ea typeface="仿宋" panose="02010609060101010101" pitchFamily="49" charset="-122"/>
              </a:rPr>
              <a:t>高清的含义</a:t>
            </a:r>
            <a:endParaRPr lang="zh-CN" altLang="en-US" sz="5400" b="1" cap="none"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pic>
        <p:nvPicPr>
          <p:cNvPr id="7" name="图片 4">
            <a:extLst>
              <a:ext uri="{FF2B5EF4-FFF2-40B4-BE49-F238E27FC236}">
                <a16:creationId xmlns:a16="http://schemas.microsoft.com/office/drawing/2014/main" id="{DD74BEBD-46E1-28A3-07AB-0590A4540B17}"/>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4416425" y="6219825"/>
            <a:ext cx="542925" cy="542925"/>
          </a:xfrm>
          <a:prstGeom prst="rect">
            <a:avLst/>
          </a:prstGeom>
        </p:spPr>
      </p:pic>
    </p:spTree>
    <p:extLst>
      <p:ext uri="{BB962C8B-B14F-4D97-AF65-F5344CB8AC3E}">
        <p14:creationId xmlns:p14="http://schemas.microsoft.com/office/powerpoint/2010/main" val="7008459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5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animBg="1"/>
      <p:bldP spid="13" grpId="0"/>
      <p:bldP spid="14" grpId="0"/>
      <p:bldP spid="15"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EE2B7F81-4705-57EE-6A31-6F27238835FE}"/>
              </a:ext>
            </a:extLst>
          </p:cNvPr>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 name="直接连接符 2">
            <a:extLst>
              <a:ext uri="{FF2B5EF4-FFF2-40B4-BE49-F238E27FC236}">
                <a16:creationId xmlns:a16="http://schemas.microsoft.com/office/drawing/2014/main" id="{FA27D534-30A4-5A54-AEE3-F60D425DC61B}"/>
              </a:ext>
            </a:extLst>
          </p:cNvPr>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4" name="图形 3">
            <a:extLst>
              <a:ext uri="{FF2B5EF4-FFF2-40B4-BE49-F238E27FC236}">
                <a16:creationId xmlns:a16="http://schemas.microsoft.com/office/drawing/2014/main" id="{30B7329D-4FEB-2ED4-5DFF-D68263BB392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6" name="文本框 5">
            <a:extLst>
              <a:ext uri="{FF2B5EF4-FFF2-40B4-BE49-F238E27FC236}">
                <a16:creationId xmlns:a16="http://schemas.microsoft.com/office/drawing/2014/main" id="{5A62A7E9-E4D9-FCC7-C897-E5A311A2E611}"/>
              </a:ext>
            </a:extLst>
          </p:cNvPr>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pic>
        <p:nvPicPr>
          <p:cNvPr id="7" name="Picture 2">
            <a:extLst>
              <a:ext uri="{FF2B5EF4-FFF2-40B4-BE49-F238E27FC236}">
                <a16:creationId xmlns:a16="http://schemas.microsoft.com/office/drawing/2014/main" id="{8F5F9A45-E216-D989-67A0-366338E94C9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259" y="1085759"/>
            <a:ext cx="2779486" cy="2779486"/>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a:extLst>
              <a:ext uri="{FF2B5EF4-FFF2-40B4-BE49-F238E27FC236}">
                <a16:creationId xmlns:a16="http://schemas.microsoft.com/office/drawing/2014/main" id="{7DF5B9F9-0E39-D501-E7B0-5F524DB894EA}"/>
              </a:ext>
            </a:extLst>
          </p:cNvPr>
          <p:cNvSpPr txBox="1"/>
          <p:nvPr/>
        </p:nvSpPr>
        <p:spPr>
          <a:xfrm>
            <a:off x="3326851" y="1074871"/>
            <a:ext cx="8812765" cy="954107"/>
          </a:xfrm>
          <a:prstGeom prst="rect">
            <a:avLst/>
          </a:prstGeom>
          <a:noFill/>
        </p:spPr>
        <p:txBody>
          <a:bodyPr wrap="square" rtlCol="0">
            <a:spAutoFit/>
          </a:bodyPr>
          <a:lstStyle/>
          <a:p>
            <a:pPr algn="ctr"/>
            <a:r>
              <a:rPr lang="zh-CN" altLang="en-US" sz="2800" dirty="0">
                <a:latin typeface="仿宋" panose="02010609060101010101" pitchFamily="49" charset="-122"/>
                <a:ea typeface="仿宋" panose="02010609060101010101" pitchFamily="49" charset="-122"/>
              </a:rPr>
              <a:t>位图的存储方式是通过存储图片中若干个像素点的属性</a:t>
            </a:r>
            <a:endParaRPr lang="en-US" altLang="zh-CN" sz="2800" dirty="0">
              <a:latin typeface="仿宋" panose="02010609060101010101" pitchFamily="49" charset="-122"/>
              <a:ea typeface="仿宋" panose="02010609060101010101" pitchFamily="49" charset="-122"/>
            </a:endParaRPr>
          </a:p>
          <a:p>
            <a:pPr algn="ctr"/>
            <a:r>
              <a:rPr lang="zh-CN" altLang="en-US" sz="2800" dirty="0">
                <a:latin typeface="仿宋" panose="02010609060101010101" pitchFamily="49" charset="-122"/>
                <a:ea typeface="仿宋" panose="02010609060101010101" pitchFamily="49" charset="-122"/>
              </a:rPr>
              <a:t>容量</a:t>
            </a:r>
            <a:r>
              <a:rPr lang="en-US" altLang="zh-CN" sz="2800" dirty="0">
                <a:latin typeface="仿宋" panose="02010609060101010101" pitchFamily="49" charset="-122"/>
                <a:ea typeface="仿宋" panose="02010609060101010101" pitchFamily="49" charset="-122"/>
              </a:rPr>
              <a:t>=</a:t>
            </a:r>
            <a:r>
              <a:rPr lang="zh-CN" altLang="en-US" sz="2800" dirty="0">
                <a:latin typeface="仿宋" panose="02010609060101010101" pitchFamily="49" charset="-122"/>
                <a:ea typeface="仿宋" panose="02010609060101010101" pitchFamily="49" charset="-122"/>
              </a:rPr>
              <a:t>长*宽*位深度</a:t>
            </a:r>
            <a:r>
              <a:rPr lang="en-US" altLang="zh-CN" sz="2800" dirty="0">
                <a:latin typeface="仿宋" panose="02010609060101010101" pitchFamily="49" charset="-122"/>
                <a:ea typeface="仿宋" panose="02010609060101010101" pitchFamily="49" charset="-122"/>
              </a:rPr>
              <a:t>/8 (</a:t>
            </a:r>
            <a:r>
              <a:rPr lang="zh-CN" altLang="en-US" sz="2800" dirty="0">
                <a:latin typeface="仿宋" panose="02010609060101010101" pitchFamily="49" charset="-122"/>
                <a:ea typeface="仿宋" panose="02010609060101010101" pitchFamily="49" charset="-122"/>
              </a:rPr>
              <a:t>单位</a:t>
            </a:r>
            <a:r>
              <a:rPr lang="en-US" altLang="zh-CN" sz="2800" dirty="0">
                <a:latin typeface="仿宋" panose="02010609060101010101" pitchFamily="49" charset="-122"/>
                <a:ea typeface="仿宋" panose="02010609060101010101" pitchFamily="49" charset="-122"/>
              </a:rPr>
              <a:t>:B)</a:t>
            </a:r>
          </a:p>
        </p:txBody>
      </p:sp>
      <p:sp>
        <p:nvSpPr>
          <p:cNvPr id="9" name="箭头: 下 8">
            <a:extLst>
              <a:ext uri="{FF2B5EF4-FFF2-40B4-BE49-F238E27FC236}">
                <a16:creationId xmlns:a16="http://schemas.microsoft.com/office/drawing/2014/main" id="{219568ED-E3C7-595D-A9AD-0A096D26B46E}"/>
              </a:ext>
            </a:extLst>
          </p:cNvPr>
          <p:cNvSpPr/>
          <p:nvPr/>
        </p:nvSpPr>
        <p:spPr>
          <a:xfrm rot="10800000">
            <a:off x="7520428" y="2117757"/>
            <a:ext cx="355600" cy="649723"/>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0A93EE26-3D82-B137-9AA6-CF5F5661EE37}"/>
              </a:ext>
            </a:extLst>
          </p:cNvPr>
          <p:cNvSpPr/>
          <p:nvPr/>
        </p:nvSpPr>
        <p:spPr>
          <a:xfrm flipH="1">
            <a:off x="8066524" y="1980953"/>
            <a:ext cx="682693" cy="923330"/>
          </a:xfrm>
          <a:prstGeom prst="rect">
            <a:avLst/>
          </a:prstGeom>
          <a:noFill/>
        </p:spPr>
        <p:txBody>
          <a:bodyPr wrap="square" lIns="91440" tIns="45720" rIns="91440" bIns="45720">
            <a:spAutoFit/>
          </a:bodyPr>
          <a:lstStyle/>
          <a:p>
            <a:pPr algn="ctr"/>
            <a:r>
              <a:rPr lang="en-US" altLang="zh-CN" sz="5400" b="1" cap="none" spc="0" dirty="0">
                <a:ln w="6600">
                  <a:solidFill>
                    <a:schemeClr val="accent2"/>
                  </a:solidFill>
                  <a:prstDash val="solid"/>
                </a:ln>
                <a:solidFill>
                  <a:srgbClr val="FFFFFF"/>
                </a:solidFill>
                <a:effectLst>
                  <a:outerShdw dist="38100" dir="2700000" algn="tl" rotWithShape="0">
                    <a:schemeClr val="accent2"/>
                  </a:outerShdw>
                </a:effectLst>
              </a:rPr>
              <a:t>?</a:t>
            </a:r>
            <a:endParaRPr lang="zh-CN" altLang="en-US" sz="5400" b="1" cap="none" spc="0" dirty="0">
              <a:ln w="6600">
                <a:solidFill>
                  <a:schemeClr val="accent2"/>
                </a:solidFill>
                <a:prstDash val="solid"/>
              </a:ln>
              <a:solidFill>
                <a:srgbClr val="FFFFFF"/>
              </a:solidFill>
              <a:effectLst>
                <a:outerShdw dist="38100" dir="2700000" algn="tl" rotWithShape="0">
                  <a:schemeClr val="accent2"/>
                </a:outerShdw>
              </a:effectLst>
            </a:endParaRPr>
          </a:p>
        </p:txBody>
      </p:sp>
      <p:sp>
        <p:nvSpPr>
          <p:cNvPr id="11" name="矩形 10">
            <a:extLst>
              <a:ext uri="{FF2B5EF4-FFF2-40B4-BE49-F238E27FC236}">
                <a16:creationId xmlns:a16="http://schemas.microsoft.com/office/drawing/2014/main" id="{1AE7EE7B-DA98-DE2F-C73C-44D204BB48B0}"/>
              </a:ext>
            </a:extLst>
          </p:cNvPr>
          <p:cNvSpPr/>
          <p:nvPr/>
        </p:nvSpPr>
        <p:spPr>
          <a:xfrm>
            <a:off x="4439864" y="2475502"/>
            <a:ext cx="2031325" cy="923330"/>
          </a:xfrm>
          <a:prstGeom prst="rect">
            <a:avLst/>
          </a:prstGeom>
          <a:noFill/>
        </p:spPr>
        <p:txBody>
          <a:bodyPr wrap="none" lIns="91440" tIns="45720" rIns="91440" bIns="45720">
            <a:spAutoFit/>
          </a:bodyPr>
          <a:lstStyle/>
          <a:p>
            <a:pPr algn="ctr"/>
            <a:r>
              <a:rPr lang="en-US" altLang="zh-CN" sz="5400" b="1" dirty="0">
                <a:ln w="22225">
                  <a:solidFill>
                    <a:schemeClr val="accent2"/>
                  </a:solidFill>
                  <a:prstDash val="solid"/>
                </a:ln>
                <a:solidFill>
                  <a:schemeClr val="accent2">
                    <a:lumMod val="40000"/>
                    <a:lumOff val="60000"/>
                  </a:schemeClr>
                </a:solidFill>
              </a:rPr>
              <a:t>256</a:t>
            </a:r>
            <a:r>
              <a:rPr lang="zh-CN" altLang="en-US" sz="5400" b="1" dirty="0">
                <a:ln w="22225">
                  <a:solidFill>
                    <a:schemeClr val="accent2"/>
                  </a:solidFill>
                  <a:prstDash val="solid"/>
                </a:ln>
                <a:solidFill>
                  <a:schemeClr val="accent2">
                    <a:lumMod val="40000"/>
                    <a:lumOff val="60000"/>
                  </a:schemeClr>
                </a:solidFill>
              </a:rPr>
              <a:t>色</a:t>
            </a:r>
          </a:p>
        </p:txBody>
      </p:sp>
      <p:sp>
        <p:nvSpPr>
          <p:cNvPr id="12" name="矩形 11">
            <a:extLst>
              <a:ext uri="{FF2B5EF4-FFF2-40B4-BE49-F238E27FC236}">
                <a16:creationId xmlns:a16="http://schemas.microsoft.com/office/drawing/2014/main" id="{249C78A8-4BBE-D0E4-9F25-61C45CE34CA1}"/>
              </a:ext>
            </a:extLst>
          </p:cNvPr>
          <p:cNvSpPr/>
          <p:nvPr/>
        </p:nvSpPr>
        <p:spPr>
          <a:xfrm>
            <a:off x="7269040" y="3042111"/>
            <a:ext cx="3724096" cy="923330"/>
          </a:xfrm>
          <a:prstGeom prst="rect">
            <a:avLst/>
          </a:prstGeom>
          <a:noFill/>
        </p:spPr>
        <p:txBody>
          <a:bodyPr wrap="none" lIns="91440" tIns="45720" rIns="91440" bIns="45720">
            <a:spAutoFit/>
          </a:bodyPr>
          <a:lstStyle/>
          <a:p>
            <a:pPr algn="ctr"/>
            <a:r>
              <a:rPr lang="en-US" altLang="zh-CN" sz="5400" b="1" dirty="0">
                <a:ln w="22225">
                  <a:solidFill>
                    <a:schemeClr val="accent2"/>
                  </a:solidFill>
                  <a:prstDash val="solid"/>
                </a:ln>
                <a:solidFill>
                  <a:schemeClr val="accent2">
                    <a:lumMod val="40000"/>
                    <a:lumOff val="60000"/>
                  </a:schemeClr>
                </a:solidFill>
              </a:rPr>
              <a:t>24</a:t>
            </a:r>
            <a:r>
              <a:rPr lang="zh-CN" altLang="en-US" sz="5400" b="1" dirty="0">
                <a:ln w="22225">
                  <a:solidFill>
                    <a:schemeClr val="accent2"/>
                  </a:solidFill>
                  <a:prstDash val="solid"/>
                </a:ln>
                <a:solidFill>
                  <a:schemeClr val="accent2">
                    <a:lumMod val="40000"/>
                    <a:lumOff val="60000"/>
                  </a:schemeClr>
                </a:solidFill>
              </a:rPr>
              <a:t>位真彩色</a:t>
            </a:r>
          </a:p>
        </p:txBody>
      </p:sp>
      <p:sp>
        <p:nvSpPr>
          <p:cNvPr id="13" name="矩形 12">
            <a:extLst>
              <a:ext uri="{FF2B5EF4-FFF2-40B4-BE49-F238E27FC236}">
                <a16:creationId xmlns:a16="http://schemas.microsoft.com/office/drawing/2014/main" id="{81C527F7-3A8C-41D1-4D85-6E945123913E}"/>
              </a:ext>
            </a:extLst>
          </p:cNvPr>
          <p:cNvSpPr/>
          <p:nvPr/>
        </p:nvSpPr>
        <p:spPr>
          <a:xfrm>
            <a:off x="3232508" y="3398832"/>
            <a:ext cx="3416320" cy="923330"/>
          </a:xfrm>
          <a:prstGeom prst="rect">
            <a:avLst/>
          </a:prstGeom>
          <a:noFill/>
        </p:spPr>
        <p:txBody>
          <a:bodyPr wrap="none" lIns="91440" tIns="45720" rIns="91440" bIns="45720">
            <a:spAutoFit/>
          </a:bodyPr>
          <a:lstStyle/>
          <a:p>
            <a:pPr algn="ctr"/>
            <a:r>
              <a:rPr lang="en-US" altLang="zh-CN" sz="5400" b="1" dirty="0">
                <a:ln w="22225">
                  <a:solidFill>
                    <a:schemeClr val="accent2"/>
                  </a:solidFill>
                  <a:prstDash val="solid"/>
                </a:ln>
                <a:solidFill>
                  <a:schemeClr val="accent2">
                    <a:lumMod val="40000"/>
                    <a:lumOff val="60000"/>
                  </a:schemeClr>
                </a:solidFill>
              </a:rPr>
              <a:t>256</a:t>
            </a:r>
            <a:r>
              <a:rPr lang="zh-CN" altLang="en-US" sz="5400" b="1" dirty="0">
                <a:ln w="22225">
                  <a:solidFill>
                    <a:schemeClr val="accent2"/>
                  </a:solidFill>
                  <a:prstDash val="solid"/>
                </a:ln>
                <a:solidFill>
                  <a:schemeClr val="accent2">
                    <a:lumMod val="40000"/>
                    <a:lumOff val="60000"/>
                  </a:schemeClr>
                </a:solidFill>
              </a:rPr>
              <a:t>级灰度</a:t>
            </a:r>
          </a:p>
        </p:txBody>
      </p:sp>
      <p:sp>
        <p:nvSpPr>
          <p:cNvPr id="14" name="文本框 13">
            <a:extLst>
              <a:ext uri="{FF2B5EF4-FFF2-40B4-BE49-F238E27FC236}">
                <a16:creationId xmlns:a16="http://schemas.microsoft.com/office/drawing/2014/main" id="{52F0D8F4-5BCA-7872-C16E-14DC246D9BB1}"/>
              </a:ext>
            </a:extLst>
          </p:cNvPr>
          <p:cNvSpPr txBox="1"/>
          <p:nvPr/>
        </p:nvSpPr>
        <p:spPr>
          <a:xfrm>
            <a:off x="733276" y="4963199"/>
            <a:ext cx="10963836" cy="954107"/>
          </a:xfrm>
          <a:prstGeom prst="rect">
            <a:avLst/>
          </a:prstGeom>
          <a:noFill/>
        </p:spPr>
        <p:txBody>
          <a:bodyPr wrap="square" rtlCol="0">
            <a:spAutoFit/>
          </a:bodyPr>
          <a:lstStyle/>
          <a:p>
            <a:pPr algn="ctr"/>
            <a:r>
              <a:rPr lang="zh-CN" altLang="en-US" sz="2800" dirty="0">
                <a:latin typeface="黑体" panose="02010609060101010101" pitchFamily="49" charset="-122"/>
                <a:ea typeface="黑体" panose="02010609060101010101" pitchFamily="49" charset="-122"/>
              </a:rPr>
              <a:t>例</a:t>
            </a:r>
            <a:r>
              <a:rPr lang="en-US" altLang="zh-CN" sz="2800" dirty="0">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一幅文件格式为</a:t>
            </a:r>
            <a:r>
              <a:rPr lang="en-US" altLang="zh-CN" sz="2800" dirty="0">
                <a:latin typeface="黑体" panose="02010609060101010101" pitchFamily="49" charset="-122"/>
                <a:ea typeface="黑体" panose="02010609060101010101" pitchFamily="49" charset="-122"/>
              </a:rPr>
              <a:t>bmp</a:t>
            </a:r>
            <a:r>
              <a:rPr lang="zh-CN" altLang="en-US" sz="2800" dirty="0">
                <a:latin typeface="黑体" panose="02010609060101010101" pitchFamily="49" charset="-122"/>
                <a:ea typeface="黑体" panose="02010609060101010101" pitchFamily="49" charset="-122"/>
              </a:rPr>
              <a:t>的</a:t>
            </a:r>
            <a:r>
              <a:rPr lang="en-US" altLang="zh-CN" sz="2800" dirty="0">
                <a:latin typeface="黑体" panose="02010609060101010101" pitchFamily="49" charset="-122"/>
                <a:ea typeface="黑体" panose="02010609060101010101" pitchFamily="49" charset="-122"/>
              </a:rPr>
              <a:t>1920</a:t>
            </a:r>
            <a:r>
              <a:rPr lang="zh-CN" altLang="en-US" sz="2800" dirty="0">
                <a:latin typeface="黑体" panose="02010609060101010101" pitchFamily="49" charset="-122"/>
                <a:ea typeface="黑体" panose="02010609060101010101" pitchFamily="49" charset="-122"/>
              </a:rPr>
              <a:t>*</a:t>
            </a:r>
            <a:r>
              <a:rPr lang="en-US" altLang="zh-CN" sz="2800" dirty="0">
                <a:latin typeface="黑体" panose="02010609060101010101" pitchFamily="49" charset="-122"/>
                <a:ea typeface="黑体" panose="02010609060101010101" pitchFamily="49" charset="-122"/>
              </a:rPr>
              <a:t>1080</a:t>
            </a:r>
            <a:r>
              <a:rPr lang="zh-CN" altLang="en-US" sz="2800" dirty="0">
                <a:latin typeface="黑体" panose="02010609060101010101" pitchFamily="49" charset="-122"/>
                <a:ea typeface="黑体" panose="02010609060101010101" pitchFamily="49" charset="-122"/>
              </a:rPr>
              <a:t>的</a:t>
            </a:r>
            <a:r>
              <a:rPr lang="en-US" altLang="zh-CN" sz="2800" dirty="0">
                <a:latin typeface="黑体" panose="02010609060101010101" pitchFamily="49" charset="-122"/>
                <a:ea typeface="黑体" panose="02010609060101010101" pitchFamily="49" charset="-122"/>
              </a:rPr>
              <a:t>256</a:t>
            </a:r>
            <a:r>
              <a:rPr lang="zh-CN" altLang="en-US" sz="2800" dirty="0">
                <a:latin typeface="黑体" panose="02010609060101010101" pitchFamily="49" charset="-122"/>
                <a:ea typeface="黑体" panose="02010609060101010101" pitchFamily="49" charset="-122"/>
              </a:rPr>
              <a:t>级灰度图</a:t>
            </a:r>
            <a:r>
              <a:rPr lang="en-US" altLang="zh-CN" sz="2800" dirty="0">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计算其存储容量</a:t>
            </a:r>
            <a:endParaRPr lang="en-US" altLang="zh-CN" sz="2800" dirty="0">
              <a:latin typeface="黑体" panose="02010609060101010101" pitchFamily="49" charset="-122"/>
              <a:ea typeface="黑体" panose="02010609060101010101" pitchFamily="49" charset="-122"/>
            </a:endParaRPr>
          </a:p>
          <a:p>
            <a:pPr algn="ctr"/>
            <a:r>
              <a:rPr lang="en-US" altLang="zh-CN" sz="2800" dirty="0">
                <a:latin typeface="仿宋" panose="02010609060101010101" pitchFamily="49" charset="-122"/>
                <a:ea typeface="仿宋" panose="02010609060101010101" pitchFamily="49" charset="-122"/>
              </a:rPr>
              <a:t>1920</a:t>
            </a:r>
            <a:r>
              <a:rPr lang="zh-CN" altLang="en-US" sz="2800" dirty="0">
                <a:latin typeface="仿宋" panose="02010609060101010101" pitchFamily="49" charset="-122"/>
                <a:ea typeface="仿宋" panose="02010609060101010101" pitchFamily="49" charset="-122"/>
              </a:rPr>
              <a:t>*</a:t>
            </a:r>
            <a:r>
              <a:rPr lang="en-US" altLang="zh-CN" sz="2800" dirty="0">
                <a:latin typeface="仿宋" panose="02010609060101010101" pitchFamily="49" charset="-122"/>
                <a:ea typeface="仿宋" panose="02010609060101010101" pitchFamily="49" charset="-122"/>
              </a:rPr>
              <a:t>1080</a:t>
            </a:r>
            <a:r>
              <a:rPr lang="zh-CN" altLang="en-US" sz="2800" dirty="0">
                <a:latin typeface="仿宋" panose="02010609060101010101" pitchFamily="49" charset="-122"/>
                <a:ea typeface="仿宋" panose="02010609060101010101" pitchFamily="49" charset="-122"/>
              </a:rPr>
              <a:t>*</a:t>
            </a:r>
            <a:r>
              <a:rPr lang="en-US" altLang="zh-CN" sz="2800" dirty="0">
                <a:latin typeface="仿宋" panose="02010609060101010101" pitchFamily="49" charset="-122"/>
                <a:ea typeface="仿宋" panose="02010609060101010101" pitchFamily="49" charset="-122"/>
              </a:rPr>
              <a:t>8/8/1024/1024=1.97 (MB)</a:t>
            </a:r>
          </a:p>
        </p:txBody>
      </p:sp>
      <p:sp>
        <p:nvSpPr>
          <p:cNvPr id="15" name="文本框 14">
            <a:extLst>
              <a:ext uri="{FF2B5EF4-FFF2-40B4-BE49-F238E27FC236}">
                <a16:creationId xmlns:a16="http://schemas.microsoft.com/office/drawing/2014/main" id="{0B12ED20-DDCD-C3E6-5C63-2AA4765D384B}"/>
              </a:ext>
            </a:extLst>
          </p:cNvPr>
          <p:cNvSpPr txBox="1"/>
          <p:nvPr/>
        </p:nvSpPr>
        <p:spPr>
          <a:xfrm>
            <a:off x="1456806" y="60707"/>
            <a:ext cx="6798194" cy="769441"/>
          </a:xfrm>
          <a:prstGeom prst="rect">
            <a:avLst/>
          </a:prstGeom>
          <a:noFill/>
        </p:spPr>
        <p:txBody>
          <a:bodyPr wrap="square" rtlCol="0">
            <a:spAutoFit/>
          </a:bodyPr>
          <a:lstStyle/>
          <a:p>
            <a:r>
              <a:rPr lang="zh-CN" altLang="en-US" sz="4400" dirty="0">
                <a:latin typeface="仿宋" panose="02010609060101010101" pitchFamily="49" charset="-122"/>
                <a:ea typeface="仿宋" panose="02010609060101010101" pitchFamily="49" charset="-122"/>
              </a:rPr>
              <a:t>位图容量的计算方式</a:t>
            </a:r>
            <a:endParaRPr lang="en-US" altLang="zh-CN" sz="4400" dirty="0">
              <a:latin typeface="仿宋" panose="02010609060101010101" pitchFamily="49" charset="-122"/>
              <a:ea typeface="仿宋" panose="02010609060101010101" pitchFamily="49" charset="-122"/>
            </a:endParaRPr>
          </a:p>
        </p:txBody>
      </p:sp>
      <p:pic>
        <p:nvPicPr>
          <p:cNvPr id="16" name="图片 4">
            <a:extLst>
              <a:ext uri="{FF2B5EF4-FFF2-40B4-BE49-F238E27FC236}">
                <a16:creationId xmlns:a16="http://schemas.microsoft.com/office/drawing/2014/main" id="{6726D916-4869-1B40-DDCB-B9A11F4C675C}"/>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4416425" y="6219825"/>
            <a:ext cx="542925" cy="542925"/>
          </a:xfrm>
          <a:prstGeom prst="rect">
            <a:avLst/>
          </a:prstGeom>
        </p:spPr>
      </p:pic>
    </p:spTree>
    <p:extLst>
      <p:ext uri="{BB962C8B-B14F-4D97-AF65-F5344CB8AC3E}">
        <p14:creationId xmlns:p14="http://schemas.microsoft.com/office/powerpoint/2010/main" val="25438511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3">
                                            <p:txEl>
                                              <p:pRg st="0" end="0"/>
                                            </p:txEl>
                                          </p:spTgt>
                                        </p:tgtEl>
                                        <p:attrNameLst>
                                          <p:attrName>style.visibility</p:attrName>
                                        </p:attrNameLst>
                                      </p:cBhvr>
                                      <p:to>
                                        <p:strVal val="visible"/>
                                      </p:to>
                                    </p:set>
                                    <p:animEffect transition="in" filter="fade">
                                      <p:cBhvr>
                                        <p:cTn id="30" dur="500"/>
                                        <p:tgtEl>
                                          <p:spTgt spid="13">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10" grpId="0"/>
      <p:bldP spid="11" grpId="0"/>
      <p:bldP spid="12" grpId="0"/>
      <p:bldP spid="14"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EE2B7F81-4705-57EE-6A31-6F27238835FE}"/>
              </a:ext>
            </a:extLst>
          </p:cNvPr>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 name="直接连接符 2">
            <a:extLst>
              <a:ext uri="{FF2B5EF4-FFF2-40B4-BE49-F238E27FC236}">
                <a16:creationId xmlns:a16="http://schemas.microsoft.com/office/drawing/2014/main" id="{FA27D534-30A4-5A54-AEE3-F60D425DC61B}"/>
              </a:ext>
            </a:extLst>
          </p:cNvPr>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4" name="图形 3">
            <a:extLst>
              <a:ext uri="{FF2B5EF4-FFF2-40B4-BE49-F238E27FC236}">
                <a16:creationId xmlns:a16="http://schemas.microsoft.com/office/drawing/2014/main" id="{30B7329D-4FEB-2ED4-5DFF-D68263BB392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6" name="文本框 5">
            <a:extLst>
              <a:ext uri="{FF2B5EF4-FFF2-40B4-BE49-F238E27FC236}">
                <a16:creationId xmlns:a16="http://schemas.microsoft.com/office/drawing/2014/main" id="{5A62A7E9-E4D9-FCC7-C897-E5A311A2E611}"/>
              </a:ext>
            </a:extLst>
          </p:cNvPr>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pic>
        <p:nvPicPr>
          <p:cNvPr id="7" name="图形 6">
            <a:extLst>
              <a:ext uri="{FF2B5EF4-FFF2-40B4-BE49-F238E27FC236}">
                <a16:creationId xmlns:a16="http://schemas.microsoft.com/office/drawing/2014/main" id="{9CAF4292-DB31-321D-F9C4-34CD5E498D50}"/>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235797" y="3434797"/>
            <a:ext cx="4847771" cy="2289477"/>
          </a:xfrm>
          <a:prstGeom prst="rect">
            <a:avLst/>
          </a:prstGeom>
        </p:spPr>
      </p:pic>
      <p:sp>
        <p:nvSpPr>
          <p:cNvPr id="8" name="椭圆 7">
            <a:extLst>
              <a:ext uri="{FF2B5EF4-FFF2-40B4-BE49-F238E27FC236}">
                <a16:creationId xmlns:a16="http://schemas.microsoft.com/office/drawing/2014/main" id="{3ADD1968-C6B4-D1B7-53CC-50FBDB0C8D5D}"/>
              </a:ext>
            </a:extLst>
          </p:cNvPr>
          <p:cNvSpPr/>
          <p:nvPr/>
        </p:nvSpPr>
        <p:spPr>
          <a:xfrm>
            <a:off x="577201" y="3429000"/>
            <a:ext cx="718458" cy="71845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040F3E96-9263-61C4-AEE8-691BEFCE5EA2}"/>
              </a:ext>
            </a:extLst>
          </p:cNvPr>
          <p:cNvSpPr/>
          <p:nvPr/>
        </p:nvSpPr>
        <p:spPr>
          <a:xfrm>
            <a:off x="2271484" y="3363536"/>
            <a:ext cx="2873831" cy="264086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33F63B42-979D-5FC2-6049-3D85AA390716}"/>
              </a:ext>
            </a:extLst>
          </p:cNvPr>
          <p:cNvSpPr txBox="1"/>
          <p:nvPr/>
        </p:nvSpPr>
        <p:spPr>
          <a:xfrm>
            <a:off x="577201" y="1088806"/>
            <a:ext cx="11037597" cy="1815882"/>
          </a:xfrm>
          <a:prstGeom prst="rect">
            <a:avLst/>
          </a:prstGeom>
          <a:noFill/>
        </p:spPr>
        <p:txBody>
          <a:bodyPr wrap="square" rtlCol="0">
            <a:spAutoFit/>
          </a:bodyPr>
          <a:lstStyle/>
          <a:p>
            <a:r>
              <a:rPr lang="zh-CN" altLang="en-US" sz="2800" dirty="0">
                <a:latin typeface="仿宋" panose="02010609060101010101" pitchFamily="49" charset="-122"/>
                <a:ea typeface="仿宋" panose="02010609060101010101" pitchFamily="49" charset="-122"/>
              </a:rPr>
              <a:t>矢量图</a:t>
            </a:r>
            <a:r>
              <a:rPr lang="en-US" altLang="zh-CN" sz="2800" dirty="0">
                <a:latin typeface="仿宋" panose="02010609060101010101" pitchFamily="49" charset="-122"/>
                <a:ea typeface="仿宋" panose="02010609060101010101" pitchFamily="49" charset="-122"/>
              </a:rPr>
              <a:t>:</a:t>
            </a:r>
            <a:r>
              <a:rPr lang="zh-CN" altLang="en-US" sz="2800" dirty="0">
                <a:latin typeface="仿宋" panose="02010609060101010101" pitchFamily="49" charset="-122"/>
                <a:ea typeface="仿宋" panose="02010609060101010101" pitchFamily="49" charset="-122"/>
              </a:rPr>
              <a:t>又称图形</a:t>
            </a:r>
            <a:endParaRPr lang="en-US" altLang="zh-CN" sz="2800" dirty="0">
              <a:latin typeface="仿宋" panose="02010609060101010101" pitchFamily="49" charset="-122"/>
              <a:ea typeface="仿宋" panose="02010609060101010101" pitchFamily="49" charset="-122"/>
            </a:endParaRPr>
          </a:p>
          <a:p>
            <a:r>
              <a:rPr lang="zh-CN" altLang="en-US" sz="2800" dirty="0">
                <a:latin typeface="仿宋" panose="02010609060101010101" pitchFamily="49" charset="-122"/>
                <a:ea typeface="仿宋" panose="02010609060101010101" pitchFamily="49" charset="-122"/>
              </a:rPr>
              <a:t>由公式生成</a:t>
            </a:r>
            <a:r>
              <a:rPr lang="en-US" altLang="zh-CN" sz="2800" dirty="0">
                <a:latin typeface="仿宋" panose="02010609060101010101" pitchFamily="49" charset="-122"/>
                <a:ea typeface="仿宋" panose="02010609060101010101" pitchFamily="49" charset="-122"/>
              </a:rPr>
              <a:t>,</a:t>
            </a:r>
            <a:r>
              <a:rPr lang="zh-CN" altLang="en-US" sz="2800" dirty="0">
                <a:latin typeface="仿宋" panose="02010609060101010101" pitchFamily="49" charset="-122"/>
                <a:ea typeface="仿宋" panose="02010609060101010101" pitchFamily="49" charset="-122"/>
              </a:rPr>
              <a:t>具有存储容量小和放大不失真的特点</a:t>
            </a:r>
            <a:endParaRPr lang="en-US" altLang="zh-CN" sz="2800" dirty="0">
              <a:latin typeface="仿宋" panose="02010609060101010101" pitchFamily="49" charset="-122"/>
              <a:ea typeface="仿宋" panose="02010609060101010101" pitchFamily="49" charset="-122"/>
            </a:endParaRPr>
          </a:p>
          <a:p>
            <a:r>
              <a:rPr lang="zh-CN" altLang="en-US" sz="2800" dirty="0">
                <a:latin typeface="仿宋" panose="02010609060101010101" pitchFamily="49" charset="-122"/>
                <a:ea typeface="仿宋" panose="02010609060101010101" pitchFamily="49" charset="-122"/>
              </a:rPr>
              <a:t>缺点是难以表示复杂真实的图片</a:t>
            </a:r>
            <a:endParaRPr lang="en-US" altLang="zh-CN" sz="2800" dirty="0">
              <a:latin typeface="仿宋" panose="02010609060101010101" pitchFamily="49" charset="-122"/>
              <a:ea typeface="仿宋" panose="02010609060101010101" pitchFamily="49" charset="-122"/>
            </a:endParaRPr>
          </a:p>
          <a:p>
            <a:r>
              <a:rPr lang="zh-CN" altLang="en-US" sz="2800" dirty="0">
                <a:latin typeface="仿宋" panose="02010609060101010101" pitchFamily="49" charset="-122"/>
                <a:ea typeface="仿宋" panose="02010609060101010101" pitchFamily="49" charset="-122"/>
              </a:rPr>
              <a:t>在</a:t>
            </a:r>
            <a:r>
              <a:rPr lang="en-US" altLang="zh-CN" sz="2800" dirty="0">
                <a:latin typeface="仿宋" panose="02010609060101010101" pitchFamily="49" charset="-122"/>
                <a:ea typeface="仿宋" panose="02010609060101010101" pitchFamily="49" charset="-122"/>
              </a:rPr>
              <a:t>ppt</a:t>
            </a:r>
            <a:r>
              <a:rPr lang="zh-CN" altLang="en-US" sz="2800" dirty="0">
                <a:latin typeface="仿宋" panose="02010609060101010101" pitchFamily="49" charset="-122"/>
                <a:ea typeface="仿宋" panose="02010609060101010101" pitchFamily="49" charset="-122"/>
              </a:rPr>
              <a:t>和</a:t>
            </a:r>
            <a:r>
              <a:rPr lang="en-US" altLang="zh-CN" sz="2800" dirty="0">
                <a:latin typeface="仿宋" panose="02010609060101010101" pitchFamily="49" charset="-122"/>
                <a:ea typeface="仿宋" panose="02010609060101010101" pitchFamily="49" charset="-122"/>
              </a:rPr>
              <a:t>word</a:t>
            </a:r>
            <a:r>
              <a:rPr lang="zh-CN" altLang="en-US" sz="2800" dirty="0">
                <a:latin typeface="仿宋" panose="02010609060101010101" pitchFamily="49" charset="-122"/>
                <a:ea typeface="仿宋" panose="02010609060101010101" pitchFamily="49" charset="-122"/>
              </a:rPr>
              <a:t>中插入的各种图形</a:t>
            </a:r>
            <a:r>
              <a:rPr lang="en-US" altLang="zh-CN" sz="2800" dirty="0">
                <a:latin typeface="仿宋" panose="02010609060101010101" pitchFamily="49" charset="-122"/>
                <a:ea typeface="仿宋" panose="02010609060101010101" pitchFamily="49" charset="-122"/>
              </a:rPr>
              <a:t>/</a:t>
            </a:r>
            <a:r>
              <a:rPr lang="zh-CN" altLang="en-US" sz="2800" dirty="0">
                <a:latin typeface="仿宋" panose="02010609060101010101" pitchFamily="49" charset="-122"/>
                <a:ea typeface="仿宋" panose="02010609060101010101" pitchFamily="49" charset="-122"/>
              </a:rPr>
              <a:t>图标都是矢量图</a:t>
            </a:r>
            <a:endParaRPr lang="en-US" altLang="zh-CN" sz="2800" dirty="0">
              <a:latin typeface="仿宋" panose="02010609060101010101" pitchFamily="49" charset="-122"/>
              <a:ea typeface="仿宋" panose="02010609060101010101" pitchFamily="49" charset="-122"/>
            </a:endParaRPr>
          </a:p>
        </p:txBody>
      </p:sp>
      <p:pic>
        <p:nvPicPr>
          <p:cNvPr id="12" name="图形 11" descr="计算机">
            <a:extLst>
              <a:ext uri="{FF2B5EF4-FFF2-40B4-BE49-F238E27FC236}">
                <a16:creationId xmlns:a16="http://schemas.microsoft.com/office/drawing/2014/main" id="{86B6EE46-C08B-45B9-1ACD-3D9A0C8BC61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065911" y="2703286"/>
            <a:ext cx="2169886" cy="2169886"/>
          </a:xfrm>
          <a:prstGeom prst="rect">
            <a:avLst/>
          </a:prstGeom>
        </p:spPr>
      </p:pic>
      <p:sp>
        <p:nvSpPr>
          <p:cNvPr id="13" name="箭头: 右 12">
            <a:extLst>
              <a:ext uri="{FF2B5EF4-FFF2-40B4-BE49-F238E27FC236}">
                <a16:creationId xmlns:a16="http://schemas.microsoft.com/office/drawing/2014/main" id="{A1DF774E-8F93-B074-475D-CFC5DD862F5F}"/>
              </a:ext>
            </a:extLst>
          </p:cNvPr>
          <p:cNvSpPr/>
          <p:nvPr/>
        </p:nvSpPr>
        <p:spPr>
          <a:xfrm rot="891172">
            <a:off x="1339589" y="3840241"/>
            <a:ext cx="1045028" cy="478972"/>
          </a:xfrm>
          <a:prstGeom prst="right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4" name="矩形 13">
            <a:extLst>
              <a:ext uri="{FF2B5EF4-FFF2-40B4-BE49-F238E27FC236}">
                <a16:creationId xmlns:a16="http://schemas.microsoft.com/office/drawing/2014/main" id="{5738BA08-205B-384A-5EB7-117D8EBC82C1}"/>
              </a:ext>
            </a:extLst>
          </p:cNvPr>
          <p:cNvSpPr/>
          <p:nvPr/>
        </p:nvSpPr>
        <p:spPr>
          <a:xfrm rot="1641250">
            <a:off x="177486" y="4763111"/>
            <a:ext cx="3857146" cy="923330"/>
          </a:xfrm>
          <a:prstGeom prst="rect">
            <a:avLst/>
          </a:prstGeom>
          <a:noFill/>
        </p:spPr>
        <p:txBody>
          <a:bodyPr wrap="none" lIns="91440" tIns="45720" rIns="91440" bIns="45720">
            <a:spAutoFit/>
          </a:bodyPr>
          <a:lstStyle/>
          <a:p>
            <a:pPr algn="ctr"/>
            <a:r>
              <a:rPr lang="zh-CN" altLang="en-US" sz="5400" b="1" cap="none" spc="0" dirty="0">
                <a:ln w="6600">
                  <a:solidFill>
                    <a:schemeClr val="accent2"/>
                  </a:solidFill>
                  <a:prstDash val="solid"/>
                </a:ln>
                <a:solidFill>
                  <a:srgbClr val="FFFFFF"/>
                </a:solidFill>
                <a:effectLst>
                  <a:outerShdw dist="38100" dir="2700000" algn="tl" rotWithShape="0">
                    <a:schemeClr val="accent2"/>
                  </a:outerShdw>
                </a:effectLst>
              </a:rPr>
              <a:t>放大不失真</a:t>
            </a:r>
            <a:r>
              <a:rPr lang="en-US" altLang="zh-CN" sz="5400" b="1" cap="none" spc="0" dirty="0">
                <a:ln w="6600">
                  <a:solidFill>
                    <a:schemeClr val="accent2"/>
                  </a:solidFill>
                  <a:prstDash val="solid"/>
                </a:ln>
                <a:solidFill>
                  <a:srgbClr val="FFFFFF"/>
                </a:solidFill>
                <a:effectLst>
                  <a:outerShdw dist="38100" dir="2700000" algn="tl" rotWithShape="0">
                    <a:schemeClr val="accent2"/>
                  </a:outerShdw>
                </a:effectLst>
              </a:rPr>
              <a:t>!</a:t>
            </a:r>
            <a:endParaRPr lang="zh-CN" altLang="en-US" sz="5400" b="1" cap="none" spc="0" dirty="0">
              <a:ln w="6600">
                <a:solidFill>
                  <a:schemeClr val="accent2"/>
                </a:solidFill>
                <a:prstDash val="solid"/>
              </a:ln>
              <a:solidFill>
                <a:srgbClr val="FFFFFF"/>
              </a:solidFill>
              <a:effectLst>
                <a:outerShdw dist="38100" dir="2700000" algn="tl" rotWithShape="0">
                  <a:schemeClr val="accent2"/>
                </a:outerShdw>
              </a:effectLst>
            </a:endParaRPr>
          </a:p>
        </p:txBody>
      </p:sp>
      <p:sp>
        <p:nvSpPr>
          <p:cNvPr id="15" name="文本框 14">
            <a:extLst>
              <a:ext uri="{FF2B5EF4-FFF2-40B4-BE49-F238E27FC236}">
                <a16:creationId xmlns:a16="http://schemas.microsoft.com/office/drawing/2014/main" id="{B547BE0B-CC78-5D68-6E3C-6A1704A5BA90}"/>
              </a:ext>
            </a:extLst>
          </p:cNvPr>
          <p:cNvSpPr txBox="1"/>
          <p:nvPr/>
        </p:nvSpPr>
        <p:spPr>
          <a:xfrm>
            <a:off x="1456806" y="60707"/>
            <a:ext cx="6798194" cy="769441"/>
          </a:xfrm>
          <a:prstGeom prst="rect">
            <a:avLst/>
          </a:prstGeom>
          <a:noFill/>
        </p:spPr>
        <p:txBody>
          <a:bodyPr wrap="square" rtlCol="0">
            <a:spAutoFit/>
          </a:bodyPr>
          <a:lstStyle/>
          <a:p>
            <a:r>
              <a:rPr lang="zh-CN" altLang="en-US" sz="4400" dirty="0">
                <a:latin typeface="仿宋" panose="02010609060101010101" pitchFamily="49" charset="-122"/>
                <a:ea typeface="仿宋" panose="02010609060101010101" pitchFamily="49" charset="-122"/>
              </a:rPr>
              <a:t>图片</a:t>
            </a:r>
            <a:r>
              <a:rPr lang="en-US" altLang="zh-CN" sz="4400" dirty="0">
                <a:latin typeface="仿宋" panose="02010609060101010101" pitchFamily="49" charset="-122"/>
                <a:ea typeface="仿宋" panose="02010609060101010101" pitchFamily="49" charset="-122"/>
              </a:rPr>
              <a:t>:</a:t>
            </a:r>
            <a:r>
              <a:rPr lang="zh-CN" altLang="en-US" sz="4400" dirty="0">
                <a:latin typeface="仿宋" panose="02010609060101010101" pitchFamily="49" charset="-122"/>
                <a:ea typeface="仿宋" panose="02010609060101010101" pitchFamily="49" charset="-122"/>
              </a:rPr>
              <a:t>矢量图</a:t>
            </a:r>
            <a:endParaRPr lang="en-US" altLang="zh-CN" sz="4400" dirty="0">
              <a:latin typeface="仿宋" panose="02010609060101010101" pitchFamily="49" charset="-122"/>
              <a:ea typeface="仿宋" panose="02010609060101010101" pitchFamily="49" charset="-122"/>
            </a:endParaRPr>
          </a:p>
        </p:txBody>
      </p:sp>
      <p:pic>
        <p:nvPicPr>
          <p:cNvPr id="10" name="图片 4">
            <a:extLst>
              <a:ext uri="{FF2B5EF4-FFF2-40B4-BE49-F238E27FC236}">
                <a16:creationId xmlns:a16="http://schemas.microsoft.com/office/drawing/2014/main" id="{30B8E877-5A23-C999-DC87-AB0A3DB4DA70}"/>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p:blipFill>
        <p:spPr>
          <a:xfrm>
            <a:off x="4416425" y="6219825"/>
            <a:ext cx="542925" cy="542925"/>
          </a:xfrm>
          <a:prstGeom prst="rect">
            <a:avLst/>
          </a:prstGeom>
        </p:spPr>
      </p:pic>
    </p:spTree>
    <p:extLst>
      <p:ext uri="{BB962C8B-B14F-4D97-AF65-F5344CB8AC3E}">
        <p14:creationId xmlns:p14="http://schemas.microsoft.com/office/powerpoint/2010/main" val="3325006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p:bldP spid="13" grpId="0" animBg="1"/>
      <p:bldP spid="14"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EE2B7F81-4705-57EE-6A31-6F27238835FE}"/>
              </a:ext>
            </a:extLst>
          </p:cNvPr>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 name="直接连接符 2">
            <a:extLst>
              <a:ext uri="{FF2B5EF4-FFF2-40B4-BE49-F238E27FC236}">
                <a16:creationId xmlns:a16="http://schemas.microsoft.com/office/drawing/2014/main" id="{FA27D534-30A4-5A54-AEE3-F60D425DC61B}"/>
              </a:ext>
            </a:extLst>
          </p:cNvPr>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4" name="图形 3">
            <a:extLst>
              <a:ext uri="{FF2B5EF4-FFF2-40B4-BE49-F238E27FC236}">
                <a16:creationId xmlns:a16="http://schemas.microsoft.com/office/drawing/2014/main" id="{30B7329D-4FEB-2ED4-5DFF-D68263BB392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6" name="文本框 5">
            <a:extLst>
              <a:ext uri="{FF2B5EF4-FFF2-40B4-BE49-F238E27FC236}">
                <a16:creationId xmlns:a16="http://schemas.microsoft.com/office/drawing/2014/main" id="{5A62A7E9-E4D9-FCC7-C897-E5A311A2E611}"/>
              </a:ext>
            </a:extLst>
          </p:cNvPr>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7" name="文本框 6">
            <a:extLst>
              <a:ext uri="{FF2B5EF4-FFF2-40B4-BE49-F238E27FC236}">
                <a16:creationId xmlns:a16="http://schemas.microsoft.com/office/drawing/2014/main" id="{DB550BCD-7FC2-14DD-E314-E443A9DD45BE}"/>
              </a:ext>
            </a:extLst>
          </p:cNvPr>
          <p:cNvSpPr txBox="1"/>
          <p:nvPr/>
        </p:nvSpPr>
        <p:spPr>
          <a:xfrm>
            <a:off x="1456806" y="60707"/>
            <a:ext cx="6798194" cy="769441"/>
          </a:xfrm>
          <a:prstGeom prst="rect">
            <a:avLst/>
          </a:prstGeom>
          <a:noFill/>
        </p:spPr>
        <p:txBody>
          <a:bodyPr wrap="square" rtlCol="0">
            <a:spAutoFit/>
          </a:bodyPr>
          <a:lstStyle/>
          <a:p>
            <a:r>
              <a:rPr lang="zh-CN" altLang="en-US" sz="4400" dirty="0">
                <a:latin typeface="仿宋" panose="02010609060101010101" pitchFamily="49" charset="-122"/>
                <a:ea typeface="仿宋" panose="02010609060101010101" pitchFamily="49" charset="-122"/>
              </a:rPr>
              <a:t>视频</a:t>
            </a:r>
            <a:endParaRPr lang="en-US" altLang="zh-CN" sz="4400" dirty="0">
              <a:latin typeface="仿宋" panose="02010609060101010101" pitchFamily="49" charset="-122"/>
              <a:ea typeface="仿宋" panose="02010609060101010101" pitchFamily="49" charset="-122"/>
            </a:endParaRPr>
          </a:p>
        </p:txBody>
      </p:sp>
      <p:sp>
        <p:nvSpPr>
          <p:cNvPr id="9" name="文本框 8">
            <a:extLst>
              <a:ext uri="{FF2B5EF4-FFF2-40B4-BE49-F238E27FC236}">
                <a16:creationId xmlns:a16="http://schemas.microsoft.com/office/drawing/2014/main" id="{8A78C2F7-E4DA-2C35-081E-4257C7CE1D2B}"/>
              </a:ext>
            </a:extLst>
          </p:cNvPr>
          <p:cNvSpPr txBox="1"/>
          <p:nvPr/>
        </p:nvSpPr>
        <p:spPr>
          <a:xfrm>
            <a:off x="845316" y="1183586"/>
            <a:ext cx="7620596" cy="2246769"/>
          </a:xfrm>
          <a:prstGeom prst="rect">
            <a:avLst/>
          </a:prstGeom>
          <a:noFill/>
        </p:spPr>
        <p:txBody>
          <a:bodyPr wrap="square" rtlCol="0">
            <a:spAutoFit/>
          </a:bodyPr>
          <a:lstStyle/>
          <a:p>
            <a:r>
              <a:rPr lang="zh-CN" altLang="en-US" sz="2800" dirty="0">
                <a:latin typeface="仿宋" panose="02010609060101010101" pitchFamily="49" charset="-122"/>
                <a:ea typeface="仿宋" panose="02010609060101010101" pitchFamily="49" charset="-122"/>
              </a:rPr>
              <a:t>由一连串连续的图片组成</a:t>
            </a:r>
            <a:endParaRPr lang="en-US" altLang="zh-CN" sz="2800" dirty="0">
              <a:latin typeface="仿宋" panose="02010609060101010101" pitchFamily="49" charset="-122"/>
              <a:ea typeface="仿宋" panose="02010609060101010101" pitchFamily="49" charset="-122"/>
            </a:endParaRPr>
          </a:p>
          <a:p>
            <a:r>
              <a:rPr lang="zh-CN" altLang="en-US" sz="2800" dirty="0">
                <a:latin typeface="仿宋" panose="02010609060101010101" pitchFamily="49" charset="-122"/>
                <a:ea typeface="仿宋" panose="02010609060101010101" pitchFamily="49" charset="-122"/>
              </a:rPr>
              <a:t>容量的计算由图像容量与音频容量组成</a:t>
            </a:r>
            <a:endParaRPr lang="en-US" altLang="zh-CN" sz="2800" dirty="0">
              <a:latin typeface="仿宋" panose="02010609060101010101" pitchFamily="49" charset="-122"/>
              <a:ea typeface="仿宋" panose="02010609060101010101" pitchFamily="49" charset="-122"/>
            </a:endParaRPr>
          </a:p>
          <a:p>
            <a:r>
              <a:rPr lang="zh-CN" altLang="en-US" sz="2800" dirty="0">
                <a:latin typeface="仿宋" panose="02010609060101010101" pitchFamily="49" charset="-122"/>
                <a:ea typeface="仿宋" panose="02010609060101010101" pitchFamily="49" charset="-122"/>
              </a:rPr>
              <a:t>图像容量</a:t>
            </a:r>
            <a:r>
              <a:rPr lang="en-US" altLang="zh-CN" sz="2800" dirty="0">
                <a:latin typeface="仿宋" panose="02010609060101010101" pitchFamily="49" charset="-122"/>
                <a:ea typeface="仿宋" panose="02010609060101010101" pitchFamily="49" charset="-122"/>
              </a:rPr>
              <a:t>=</a:t>
            </a:r>
            <a:r>
              <a:rPr lang="zh-CN" altLang="en-US" sz="2800" dirty="0">
                <a:latin typeface="仿宋" panose="02010609060101010101" pitchFamily="49" charset="-122"/>
                <a:ea typeface="仿宋" panose="02010609060101010101" pitchFamily="49" charset="-122"/>
              </a:rPr>
              <a:t>帧率*时间*单幅图像的容量</a:t>
            </a:r>
            <a:endParaRPr lang="en-US" altLang="zh-CN" sz="2800" dirty="0">
              <a:latin typeface="仿宋" panose="02010609060101010101" pitchFamily="49" charset="-122"/>
              <a:ea typeface="仿宋" panose="02010609060101010101" pitchFamily="49" charset="-122"/>
            </a:endParaRPr>
          </a:p>
          <a:p>
            <a:r>
              <a:rPr lang="en-US" altLang="zh-CN" sz="2800" dirty="0">
                <a:latin typeface="仿宋" panose="02010609060101010101" pitchFamily="49" charset="-122"/>
                <a:ea typeface="仿宋" panose="02010609060101010101" pitchFamily="49" charset="-122"/>
              </a:rPr>
              <a:t>(</a:t>
            </a:r>
            <a:r>
              <a:rPr lang="zh-CN" altLang="en-US" sz="2800" dirty="0">
                <a:latin typeface="仿宋" panose="02010609060101010101" pitchFamily="49" charset="-122"/>
                <a:ea typeface="仿宋" panose="02010609060101010101" pitchFamily="49" charset="-122"/>
              </a:rPr>
              <a:t>即播放的所有图像的容量之和</a:t>
            </a:r>
            <a:r>
              <a:rPr lang="en-US" altLang="zh-CN" sz="2800" dirty="0">
                <a:latin typeface="仿宋" panose="02010609060101010101" pitchFamily="49" charset="-122"/>
                <a:ea typeface="仿宋" panose="02010609060101010101" pitchFamily="49" charset="-122"/>
              </a:rPr>
              <a:t>)</a:t>
            </a:r>
          </a:p>
          <a:p>
            <a:r>
              <a:rPr lang="zh-CN" altLang="en-US" sz="2800" dirty="0">
                <a:latin typeface="仿宋" panose="02010609060101010101" pitchFamily="49" charset="-122"/>
                <a:ea typeface="仿宋" panose="02010609060101010101" pitchFamily="49" charset="-122"/>
              </a:rPr>
              <a:t>未压缩的格式一般为 </a:t>
            </a:r>
            <a:r>
              <a:rPr lang="en-US" altLang="zh-CN" sz="2800" dirty="0">
                <a:latin typeface="仿宋" panose="02010609060101010101" pitchFamily="49" charset="-122"/>
                <a:ea typeface="仿宋" panose="02010609060101010101" pitchFamily="49" charset="-122"/>
              </a:rPr>
              <a:t>.</a:t>
            </a:r>
            <a:r>
              <a:rPr lang="en-US" altLang="zh-CN" sz="2800" dirty="0" err="1">
                <a:latin typeface="仿宋" panose="02010609060101010101" pitchFamily="49" charset="-122"/>
                <a:ea typeface="仿宋" panose="02010609060101010101" pitchFamily="49" charset="-122"/>
              </a:rPr>
              <a:t>avi</a:t>
            </a:r>
            <a:endParaRPr lang="en-US" altLang="zh-CN" sz="2800" dirty="0">
              <a:latin typeface="仿宋" panose="02010609060101010101" pitchFamily="49" charset="-122"/>
              <a:ea typeface="仿宋" panose="02010609060101010101" pitchFamily="49" charset="-122"/>
            </a:endParaRPr>
          </a:p>
        </p:txBody>
      </p:sp>
      <p:pic>
        <p:nvPicPr>
          <p:cNvPr id="10" name="图片 9">
            <a:extLst>
              <a:ext uri="{FF2B5EF4-FFF2-40B4-BE49-F238E27FC236}">
                <a16:creationId xmlns:a16="http://schemas.microsoft.com/office/drawing/2014/main" id="{B3A60A2C-C77D-8C21-5031-7C5109A5751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47775" y="3416967"/>
            <a:ext cx="2601686" cy="2601686"/>
          </a:xfrm>
          <a:prstGeom prst="rect">
            <a:avLst/>
          </a:prstGeom>
        </p:spPr>
      </p:pic>
      <p:pic>
        <p:nvPicPr>
          <p:cNvPr id="11" name="图片 10">
            <a:extLst>
              <a:ext uri="{FF2B5EF4-FFF2-40B4-BE49-F238E27FC236}">
                <a16:creationId xmlns:a16="http://schemas.microsoft.com/office/drawing/2014/main" id="{0AB61FEE-719A-C083-C7F1-F237C24AB4F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847318" y="3416967"/>
            <a:ext cx="2601686" cy="2601686"/>
          </a:xfrm>
          <a:prstGeom prst="rect">
            <a:avLst/>
          </a:prstGeom>
        </p:spPr>
      </p:pic>
      <p:pic>
        <p:nvPicPr>
          <p:cNvPr id="12" name="图片 11">
            <a:extLst>
              <a:ext uri="{FF2B5EF4-FFF2-40B4-BE49-F238E27FC236}">
                <a16:creationId xmlns:a16="http://schemas.microsoft.com/office/drawing/2014/main" id="{29C9A798-B3B7-24B2-1CD3-AC95C2FEE1F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446862" y="3416968"/>
            <a:ext cx="2601686" cy="2601686"/>
          </a:xfrm>
          <a:prstGeom prst="rect">
            <a:avLst/>
          </a:prstGeom>
        </p:spPr>
      </p:pic>
      <p:pic>
        <p:nvPicPr>
          <p:cNvPr id="8" name="图片 4">
            <a:extLst>
              <a:ext uri="{FF2B5EF4-FFF2-40B4-BE49-F238E27FC236}">
                <a16:creationId xmlns:a16="http://schemas.microsoft.com/office/drawing/2014/main" id="{C2C81898-7C56-F12A-2731-C07762D6B0CC}"/>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p:blipFill>
        <p:spPr>
          <a:xfrm>
            <a:off x="4416425" y="6219825"/>
            <a:ext cx="542925" cy="542925"/>
          </a:xfrm>
          <a:prstGeom prst="rect">
            <a:avLst/>
          </a:prstGeom>
        </p:spPr>
      </p:pic>
    </p:spTree>
    <p:extLst>
      <p:ext uri="{BB962C8B-B14F-4D97-AF65-F5344CB8AC3E}">
        <p14:creationId xmlns:p14="http://schemas.microsoft.com/office/powerpoint/2010/main" val="13757907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par>
                                <p:cTn id="18" presetID="10" presetClass="entr" presetSubtype="0" fill="hold"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EE2B7F81-4705-57EE-6A31-6F27238835FE}"/>
              </a:ext>
            </a:extLst>
          </p:cNvPr>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 name="直接连接符 2">
            <a:extLst>
              <a:ext uri="{FF2B5EF4-FFF2-40B4-BE49-F238E27FC236}">
                <a16:creationId xmlns:a16="http://schemas.microsoft.com/office/drawing/2014/main" id="{FA27D534-30A4-5A54-AEE3-F60D425DC61B}"/>
              </a:ext>
            </a:extLst>
          </p:cNvPr>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4" name="图形 3">
            <a:extLst>
              <a:ext uri="{FF2B5EF4-FFF2-40B4-BE49-F238E27FC236}">
                <a16:creationId xmlns:a16="http://schemas.microsoft.com/office/drawing/2014/main" id="{30B7329D-4FEB-2ED4-5DFF-D68263BB392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6" name="文本框 5">
            <a:extLst>
              <a:ext uri="{FF2B5EF4-FFF2-40B4-BE49-F238E27FC236}">
                <a16:creationId xmlns:a16="http://schemas.microsoft.com/office/drawing/2014/main" id="{5A62A7E9-E4D9-FCC7-C897-E5A311A2E611}"/>
              </a:ext>
            </a:extLst>
          </p:cNvPr>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7" name="文本框 6">
            <a:extLst>
              <a:ext uri="{FF2B5EF4-FFF2-40B4-BE49-F238E27FC236}">
                <a16:creationId xmlns:a16="http://schemas.microsoft.com/office/drawing/2014/main" id="{F45E1814-7E8F-1DC4-B740-F671F3C20B90}"/>
              </a:ext>
            </a:extLst>
          </p:cNvPr>
          <p:cNvSpPr txBox="1"/>
          <p:nvPr/>
        </p:nvSpPr>
        <p:spPr>
          <a:xfrm>
            <a:off x="1369167" y="60707"/>
            <a:ext cx="5474874" cy="769441"/>
          </a:xfrm>
          <a:prstGeom prst="rect">
            <a:avLst/>
          </a:prstGeom>
          <a:noFill/>
        </p:spPr>
        <p:txBody>
          <a:bodyPr wrap="square" rtlCol="0">
            <a:spAutoFit/>
          </a:bodyPr>
          <a:lstStyle/>
          <a:p>
            <a:r>
              <a:rPr lang="zh-CN" altLang="en-US" sz="4400" dirty="0">
                <a:latin typeface="仿宋" panose="02010609060101010101" pitchFamily="49" charset="-122"/>
                <a:ea typeface="仿宋" panose="02010609060101010101" pitchFamily="49" charset="-122"/>
              </a:rPr>
              <a:t>压缩方案与文件格式</a:t>
            </a:r>
            <a:endParaRPr lang="en-US" altLang="zh-CN" sz="4400" dirty="0">
              <a:latin typeface="仿宋" panose="02010609060101010101" pitchFamily="49" charset="-122"/>
              <a:ea typeface="仿宋" panose="02010609060101010101" pitchFamily="49" charset="-122"/>
            </a:endParaRPr>
          </a:p>
        </p:txBody>
      </p:sp>
      <p:sp>
        <p:nvSpPr>
          <p:cNvPr id="8" name="文本框 7">
            <a:extLst>
              <a:ext uri="{FF2B5EF4-FFF2-40B4-BE49-F238E27FC236}">
                <a16:creationId xmlns:a16="http://schemas.microsoft.com/office/drawing/2014/main" id="{05E58ECA-B0B2-DA41-C6DD-D57F1A099793}"/>
              </a:ext>
            </a:extLst>
          </p:cNvPr>
          <p:cNvSpPr txBox="1"/>
          <p:nvPr/>
        </p:nvSpPr>
        <p:spPr>
          <a:xfrm>
            <a:off x="1005115" y="972737"/>
            <a:ext cx="9354005" cy="5262979"/>
          </a:xfrm>
          <a:prstGeom prst="rect">
            <a:avLst/>
          </a:prstGeom>
          <a:noFill/>
        </p:spPr>
        <p:txBody>
          <a:bodyPr wrap="square">
            <a:spAutoFit/>
          </a:bodyPr>
          <a:lstStyle/>
          <a:p>
            <a:pPr marL="457200" indent="-457200">
              <a:buFont typeface="Arial" panose="020B0604020202020204" pitchFamily="34" charset="0"/>
              <a:buChar char="•"/>
            </a:pPr>
            <a:r>
              <a:rPr lang="zh-CN" altLang="en-US" sz="2400" dirty="0">
                <a:latin typeface="仿宋" panose="02010609060101010101" pitchFamily="49" charset="-122"/>
                <a:ea typeface="仿宋" panose="02010609060101010101" pitchFamily="49" charset="-122"/>
              </a:rPr>
              <a:t>数据压缩的目的就是通过减少冗余信息来减小数据的大小。这样做可以提高数据传输的效率和节省存储空间。压缩可以分为两种类型：</a:t>
            </a:r>
            <a:r>
              <a:rPr lang="zh-CN" altLang="en-US" sz="2400" b="1" dirty="0">
                <a:latin typeface="仿宋" panose="02010609060101010101" pitchFamily="49" charset="-122"/>
                <a:ea typeface="仿宋" panose="02010609060101010101" pitchFamily="49" charset="-122"/>
              </a:rPr>
              <a:t>无损压缩和有损压缩</a:t>
            </a:r>
            <a:r>
              <a:rPr lang="zh-CN" altLang="en-US" sz="2400" dirty="0">
                <a:latin typeface="仿宋" panose="02010609060101010101" pitchFamily="49" charset="-122"/>
                <a:ea typeface="仿宋" panose="02010609060101010101" pitchFamily="49" charset="-122"/>
              </a:rPr>
              <a:t>。</a:t>
            </a:r>
          </a:p>
          <a:p>
            <a:pPr marL="457200" indent="-457200">
              <a:buFont typeface="Arial" panose="020B0604020202020204" pitchFamily="34" charset="0"/>
              <a:buChar char="•"/>
            </a:pPr>
            <a:endParaRPr lang="zh-CN" altLang="en-US" sz="2400" dirty="0">
              <a:latin typeface="仿宋" panose="02010609060101010101" pitchFamily="49" charset="-122"/>
              <a:ea typeface="仿宋" panose="02010609060101010101" pitchFamily="49" charset="-122"/>
            </a:endParaRPr>
          </a:p>
          <a:p>
            <a:pPr marL="457200" indent="-457200">
              <a:buFont typeface="Arial" panose="020B0604020202020204" pitchFamily="34" charset="0"/>
              <a:buChar char="•"/>
            </a:pPr>
            <a:r>
              <a:rPr lang="zh-CN" altLang="en-US" sz="2400" b="1" dirty="0">
                <a:latin typeface="仿宋" panose="02010609060101010101" pitchFamily="49" charset="-122"/>
                <a:ea typeface="仿宋" panose="02010609060101010101" pitchFamily="49" charset="-122"/>
              </a:rPr>
              <a:t>无损压缩</a:t>
            </a:r>
            <a:r>
              <a:rPr lang="zh-CN" altLang="en-US" sz="2400" dirty="0">
                <a:latin typeface="仿宋" panose="02010609060101010101" pitchFamily="49" charset="-122"/>
                <a:ea typeface="仿宋" panose="02010609060101010101" pitchFamily="49" charset="-122"/>
              </a:rPr>
              <a:t>是一种数据压缩方法，它在压缩和解压缩过程中保持数据的完整性，确保原始数据与压缩后的数据完全相同。这种方法通常用于文本、程序代码和其他需要完整保留的数据类型。</a:t>
            </a:r>
            <a:r>
              <a:rPr lang="zh-CN" altLang="en-US" sz="2400" dirty="0">
                <a:solidFill>
                  <a:srgbClr val="FF0000"/>
                </a:solidFill>
                <a:latin typeface="仿宋" panose="02010609060101010101" pitchFamily="49" charset="-122"/>
                <a:ea typeface="仿宋" panose="02010609060101010101" pitchFamily="49" charset="-122"/>
              </a:rPr>
              <a:t>无损压缩算法通过识别和消除数据中的冗余部分来工作，例如，通过找出并压缩重复的数据序列。</a:t>
            </a:r>
          </a:p>
          <a:p>
            <a:pPr marL="457200" indent="-457200">
              <a:buFont typeface="Arial" panose="020B0604020202020204" pitchFamily="34" charset="0"/>
              <a:buChar char="•"/>
            </a:pPr>
            <a:r>
              <a:rPr lang="zh-CN" altLang="en-US" sz="2400" b="1" dirty="0">
                <a:latin typeface="仿宋" panose="02010609060101010101" pitchFamily="49" charset="-122"/>
                <a:ea typeface="仿宋" panose="02010609060101010101" pitchFamily="49" charset="-122"/>
              </a:rPr>
              <a:t>有损压缩</a:t>
            </a:r>
            <a:r>
              <a:rPr lang="zh-CN" altLang="en-US" sz="2400" dirty="0">
                <a:latin typeface="仿宋" panose="02010609060101010101" pitchFamily="49" charset="-122"/>
                <a:ea typeface="仿宋" panose="02010609060101010101" pitchFamily="49" charset="-122"/>
              </a:rPr>
              <a:t>则允许在压缩过程中丢失一些信息，通常用于图像、视频和音频文件，因为这些文件类型的数据量很大，而且人类的感官系统对于细微的变化不太敏感。</a:t>
            </a:r>
            <a:r>
              <a:rPr lang="zh-CN" altLang="en-US" sz="2400" dirty="0">
                <a:solidFill>
                  <a:srgbClr val="FF0000"/>
                </a:solidFill>
                <a:latin typeface="仿宋" panose="02010609060101010101" pitchFamily="49" charset="-122"/>
                <a:ea typeface="仿宋" panose="02010609060101010101" pitchFamily="49" charset="-122"/>
              </a:rPr>
              <a:t>有损压缩通过减少数据的精度来减小文件大小，这通常会导致质量的下降，但如果压缩得当，这种质量损失对于用户来说是不可察觉的。</a:t>
            </a:r>
            <a:endParaRPr lang="en-US" altLang="zh-CN" sz="2400" dirty="0">
              <a:solidFill>
                <a:srgbClr val="FF0000"/>
              </a:solidFill>
              <a:latin typeface="仿宋" panose="02010609060101010101" pitchFamily="49" charset="-122"/>
              <a:ea typeface="仿宋" panose="02010609060101010101" pitchFamily="49" charset="-122"/>
            </a:endParaRPr>
          </a:p>
        </p:txBody>
      </p:sp>
      <p:pic>
        <p:nvPicPr>
          <p:cNvPr id="10" name="图片 4">
            <a:extLst>
              <a:ext uri="{FF2B5EF4-FFF2-40B4-BE49-F238E27FC236}">
                <a16:creationId xmlns:a16="http://schemas.microsoft.com/office/drawing/2014/main" id="{7F6EA473-FABC-C38B-10CB-B08E71F95C1F}"/>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416425" y="6219825"/>
            <a:ext cx="542925" cy="542925"/>
          </a:xfrm>
          <a:prstGeom prst="rect">
            <a:avLst/>
          </a:prstGeom>
        </p:spPr>
      </p:pic>
    </p:spTree>
    <p:extLst>
      <p:ext uri="{BB962C8B-B14F-4D97-AF65-F5344CB8AC3E}">
        <p14:creationId xmlns:p14="http://schemas.microsoft.com/office/powerpoint/2010/main" val="42374613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EE2B7F81-4705-57EE-6A31-6F27238835FE}"/>
              </a:ext>
            </a:extLst>
          </p:cNvPr>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 name="直接连接符 2">
            <a:extLst>
              <a:ext uri="{FF2B5EF4-FFF2-40B4-BE49-F238E27FC236}">
                <a16:creationId xmlns:a16="http://schemas.microsoft.com/office/drawing/2014/main" id="{FA27D534-30A4-5A54-AEE3-F60D425DC61B}"/>
              </a:ext>
            </a:extLst>
          </p:cNvPr>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4" name="图形 3">
            <a:extLst>
              <a:ext uri="{FF2B5EF4-FFF2-40B4-BE49-F238E27FC236}">
                <a16:creationId xmlns:a16="http://schemas.microsoft.com/office/drawing/2014/main" id="{30B7329D-4FEB-2ED4-5DFF-D68263BB392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6" name="文本框 5">
            <a:extLst>
              <a:ext uri="{FF2B5EF4-FFF2-40B4-BE49-F238E27FC236}">
                <a16:creationId xmlns:a16="http://schemas.microsoft.com/office/drawing/2014/main" id="{5A62A7E9-E4D9-FCC7-C897-E5A311A2E611}"/>
              </a:ext>
            </a:extLst>
          </p:cNvPr>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7" name="文本框 6">
            <a:extLst>
              <a:ext uri="{FF2B5EF4-FFF2-40B4-BE49-F238E27FC236}">
                <a16:creationId xmlns:a16="http://schemas.microsoft.com/office/drawing/2014/main" id="{F45E1814-7E8F-1DC4-B740-F671F3C20B90}"/>
              </a:ext>
            </a:extLst>
          </p:cNvPr>
          <p:cNvSpPr txBox="1"/>
          <p:nvPr/>
        </p:nvSpPr>
        <p:spPr>
          <a:xfrm>
            <a:off x="1369167" y="60707"/>
            <a:ext cx="5474874" cy="769441"/>
          </a:xfrm>
          <a:prstGeom prst="rect">
            <a:avLst/>
          </a:prstGeom>
          <a:noFill/>
        </p:spPr>
        <p:txBody>
          <a:bodyPr wrap="square" rtlCol="0">
            <a:spAutoFit/>
          </a:bodyPr>
          <a:lstStyle/>
          <a:p>
            <a:r>
              <a:rPr lang="zh-CN" altLang="en-US" sz="4400" dirty="0">
                <a:latin typeface="仿宋" panose="02010609060101010101" pitchFamily="49" charset="-122"/>
                <a:ea typeface="仿宋" panose="02010609060101010101" pitchFamily="49" charset="-122"/>
              </a:rPr>
              <a:t>压缩方案与文件格式</a:t>
            </a:r>
            <a:endParaRPr lang="en-US" altLang="zh-CN" sz="4400" dirty="0">
              <a:latin typeface="仿宋" panose="02010609060101010101" pitchFamily="49" charset="-122"/>
              <a:ea typeface="仿宋" panose="02010609060101010101" pitchFamily="49" charset="-122"/>
            </a:endParaRPr>
          </a:p>
        </p:txBody>
      </p:sp>
      <p:sp>
        <p:nvSpPr>
          <p:cNvPr id="8" name="文本框 7">
            <a:extLst>
              <a:ext uri="{FF2B5EF4-FFF2-40B4-BE49-F238E27FC236}">
                <a16:creationId xmlns:a16="http://schemas.microsoft.com/office/drawing/2014/main" id="{05E58ECA-B0B2-DA41-C6DD-D57F1A099793}"/>
              </a:ext>
            </a:extLst>
          </p:cNvPr>
          <p:cNvSpPr txBox="1"/>
          <p:nvPr/>
        </p:nvSpPr>
        <p:spPr>
          <a:xfrm>
            <a:off x="1005115" y="972737"/>
            <a:ext cx="9354005" cy="2246769"/>
          </a:xfrm>
          <a:prstGeom prst="rect">
            <a:avLst/>
          </a:prstGeom>
          <a:noFill/>
        </p:spPr>
        <p:txBody>
          <a:bodyPr wrap="square">
            <a:spAutoFit/>
          </a:bodyPr>
          <a:lstStyle/>
          <a:p>
            <a:pPr marL="457200" indent="-457200">
              <a:buFont typeface="Arial" panose="020B0604020202020204" pitchFamily="34" charset="0"/>
              <a:buChar char="•"/>
            </a:pPr>
            <a:r>
              <a:rPr lang="en-US" altLang="zh-CN" sz="2800" dirty="0">
                <a:latin typeface="仿宋" panose="02010609060101010101" pitchFamily="49" charset="-122"/>
                <a:ea typeface="仿宋" panose="02010609060101010101" pitchFamily="49" charset="-122"/>
              </a:rPr>
              <a:t>JPEG    </a:t>
            </a:r>
            <a:r>
              <a:rPr lang="zh-CN" altLang="en-US" sz="2800" dirty="0">
                <a:latin typeface="仿宋" panose="02010609060101010101" pitchFamily="49" charset="-122"/>
                <a:ea typeface="仿宋" panose="02010609060101010101" pitchFamily="49" charset="-122"/>
              </a:rPr>
              <a:t>→  </a:t>
            </a:r>
            <a:r>
              <a:rPr lang="en-US" altLang="zh-CN" sz="2800" dirty="0">
                <a:latin typeface="仿宋" panose="02010609060101010101" pitchFamily="49" charset="-122"/>
                <a:ea typeface="仿宋" panose="02010609060101010101" pitchFamily="49" charset="-122"/>
              </a:rPr>
              <a:t>.jpg</a:t>
            </a:r>
          </a:p>
          <a:p>
            <a:pPr marL="457200" indent="-457200">
              <a:buFont typeface="Arial" panose="020B0604020202020204" pitchFamily="34" charset="0"/>
              <a:buChar char="•"/>
            </a:pPr>
            <a:r>
              <a:rPr lang="en-US" altLang="zh-CN" sz="2800" dirty="0">
                <a:latin typeface="仿宋" panose="02010609060101010101" pitchFamily="49" charset="-122"/>
                <a:ea typeface="仿宋" panose="02010609060101010101" pitchFamily="49" charset="-122"/>
              </a:rPr>
              <a:t>MP3     </a:t>
            </a:r>
            <a:r>
              <a:rPr lang="zh-CN" altLang="en-US" sz="2800" dirty="0">
                <a:latin typeface="仿宋" panose="02010609060101010101" pitchFamily="49" charset="-122"/>
                <a:ea typeface="仿宋" panose="02010609060101010101" pitchFamily="49" charset="-122"/>
              </a:rPr>
              <a:t>→  </a:t>
            </a:r>
            <a:r>
              <a:rPr lang="en-US" altLang="zh-CN" sz="2800" dirty="0">
                <a:latin typeface="仿宋" panose="02010609060101010101" pitchFamily="49" charset="-122"/>
                <a:ea typeface="仿宋" panose="02010609060101010101" pitchFamily="49" charset="-122"/>
              </a:rPr>
              <a:t>.mp3</a:t>
            </a:r>
          </a:p>
          <a:p>
            <a:pPr marL="457200" indent="-457200">
              <a:buFont typeface="Arial" panose="020B0604020202020204" pitchFamily="34" charset="0"/>
              <a:buChar char="•"/>
            </a:pPr>
            <a:r>
              <a:rPr lang="en-US" altLang="zh-CN" sz="2800" dirty="0">
                <a:latin typeface="仿宋" panose="02010609060101010101" pitchFamily="49" charset="-122"/>
                <a:ea typeface="仿宋" panose="02010609060101010101" pitchFamily="49" charset="-122"/>
              </a:rPr>
              <a:t>MPEG-4  </a:t>
            </a:r>
            <a:r>
              <a:rPr lang="zh-CN" altLang="en-US" sz="2800" dirty="0">
                <a:latin typeface="仿宋" panose="02010609060101010101" pitchFamily="49" charset="-122"/>
                <a:ea typeface="仿宋" panose="02010609060101010101" pitchFamily="49" charset="-122"/>
              </a:rPr>
              <a:t>→  </a:t>
            </a:r>
            <a:r>
              <a:rPr lang="en-US" altLang="zh-CN" sz="2800" dirty="0">
                <a:latin typeface="仿宋" panose="02010609060101010101" pitchFamily="49" charset="-122"/>
                <a:ea typeface="仿宋" panose="02010609060101010101" pitchFamily="49" charset="-122"/>
              </a:rPr>
              <a:t>.mp4</a:t>
            </a:r>
          </a:p>
          <a:p>
            <a:pPr marL="457200" indent="-457200">
              <a:buFont typeface="Arial" panose="020B0604020202020204" pitchFamily="34" charset="0"/>
              <a:buChar char="•"/>
            </a:pPr>
            <a:r>
              <a:rPr lang="en-US" altLang="zh-CN" sz="2800" dirty="0">
                <a:latin typeface="仿宋" panose="02010609060101010101" pitchFamily="49" charset="-122"/>
                <a:ea typeface="仿宋" panose="02010609060101010101" pitchFamily="49" charset="-122"/>
              </a:rPr>
              <a:t>GIF     </a:t>
            </a:r>
            <a:r>
              <a:rPr lang="zh-CN" altLang="en-US" sz="2800" dirty="0">
                <a:latin typeface="仿宋" panose="02010609060101010101" pitchFamily="49" charset="-122"/>
                <a:ea typeface="仿宋" panose="02010609060101010101" pitchFamily="49" charset="-122"/>
              </a:rPr>
              <a:t>→  </a:t>
            </a:r>
            <a:r>
              <a:rPr lang="en-US" altLang="zh-CN" sz="2800" dirty="0">
                <a:latin typeface="仿宋" panose="02010609060101010101" pitchFamily="49" charset="-122"/>
                <a:ea typeface="仿宋" panose="02010609060101010101" pitchFamily="49" charset="-122"/>
              </a:rPr>
              <a:t>.gif</a:t>
            </a:r>
          </a:p>
          <a:p>
            <a:pPr marL="457200" indent="-457200">
              <a:buFont typeface="Arial" panose="020B0604020202020204" pitchFamily="34" charset="0"/>
              <a:buChar char="•"/>
            </a:pPr>
            <a:r>
              <a:rPr lang="en-US" altLang="zh-CN" sz="2800" dirty="0">
                <a:latin typeface="仿宋" panose="02010609060101010101" pitchFamily="49" charset="-122"/>
                <a:ea typeface="仿宋" panose="02010609060101010101" pitchFamily="49" charset="-122"/>
              </a:rPr>
              <a:t>…</a:t>
            </a:r>
          </a:p>
        </p:txBody>
      </p:sp>
      <p:sp>
        <p:nvSpPr>
          <p:cNvPr id="9" name="文本框 8">
            <a:extLst>
              <a:ext uri="{FF2B5EF4-FFF2-40B4-BE49-F238E27FC236}">
                <a16:creationId xmlns:a16="http://schemas.microsoft.com/office/drawing/2014/main" id="{36B578D1-D9D1-ABC3-43EC-FA2A1ECF7A67}"/>
              </a:ext>
            </a:extLst>
          </p:cNvPr>
          <p:cNvSpPr txBox="1"/>
          <p:nvPr/>
        </p:nvSpPr>
        <p:spPr>
          <a:xfrm>
            <a:off x="719311" y="3319219"/>
            <a:ext cx="10963836" cy="2677656"/>
          </a:xfrm>
          <a:prstGeom prst="rect">
            <a:avLst/>
          </a:prstGeom>
          <a:noFill/>
        </p:spPr>
        <p:txBody>
          <a:bodyPr wrap="square" rtlCol="0">
            <a:spAutoFit/>
          </a:bodyPr>
          <a:lstStyle/>
          <a:p>
            <a:pPr algn="ctr"/>
            <a:r>
              <a:rPr lang="zh-CN" altLang="en-US" sz="2800" dirty="0">
                <a:latin typeface="黑体" panose="02010609060101010101" pitchFamily="49" charset="-122"/>
                <a:ea typeface="黑体" panose="02010609060101010101" pitchFamily="49" charset="-122"/>
              </a:rPr>
              <a:t>将一段时长</a:t>
            </a:r>
            <a:r>
              <a:rPr lang="en-US" altLang="zh-CN" sz="2800" dirty="0">
                <a:latin typeface="黑体" panose="02010609060101010101" pitchFamily="49" charset="-122"/>
                <a:ea typeface="黑体" panose="02010609060101010101" pitchFamily="49" charset="-122"/>
              </a:rPr>
              <a:t>2</a:t>
            </a:r>
            <a:r>
              <a:rPr lang="zh-CN" altLang="en-US" sz="2800" dirty="0">
                <a:latin typeface="黑体" panose="02010609060101010101" pitchFamily="49" charset="-122"/>
                <a:ea typeface="黑体" panose="02010609060101010101" pitchFamily="49" charset="-122"/>
              </a:rPr>
              <a:t>分钟</a:t>
            </a:r>
            <a:r>
              <a:rPr lang="en-US" altLang="zh-CN" sz="2800" dirty="0">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画面</a:t>
            </a:r>
            <a:r>
              <a:rPr lang="en-US" altLang="zh-CN" sz="2800" dirty="0">
                <a:latin typeface="黑体" panose="02010609060101010101" pitchFamily="49" charset="-122"/>
                <a:ea typeface="黑体" panose="02010609060101010101" pitchFamily="49" charset="-122"/>
              </a:rPr>
              <a:t>1140*900</a:t>
            </a:r>
            <a:r>
              <a:rPr lang="zh-CN" altLang="en-US" sz="2800" dirty="0">
                <a:latin typeface="黑体" panose="02010609060101010101" pitchFamily="49" charset="-122"/>
                <a:ea typeface="黑体" panose="02010609060101010101" pitchFamily="49" charset="-122"/>
              </a:rPr>
              <a:t>像素、</a:t>
            </a:r>
            <a:r>
              <a:rPr lang="en-US" altLang="zh-CN" sz="2800" dirty="0">
                <a:latin typeface="黑体" panose="02010609060101010101" pitchFamily="49" charset="-122"/>
                <a:ea typeface="黑体" panose="02010609060101010101" pitchFamily="49" charset="-122"/>
              </a:rPr>
              <a:t>24</a:t>
            </a:r>
            <a:r>
              <a:rPr lang="zh-CN" altLang="en-US" sz="2800" dirty="0">
                <a:latin typeface="黑体" panose="02010609060101010101" pitchFamily="49" charset="-122"/>
                <a:ea typeface="黑体" panose="02010609060101010101" pitchFamily="49" charset="-122"/>
              </a:rPr>
              <a:t>位、</a:t>
            </a:r>
            <a:r>
              <a:rPr lang="en-US" altLang="zh-CN" sz="2800" dirty="0">
                <a:latin typeface="黑体" panose="02010609060101010101" pitchFamily="49" charset="-122"/>
                <a:ea typeface="黑体" panose="02010609060101010101" pitchFamily="49" charset="-122"/>
              </a:rPr>
              <a:t>25fps</a:t>
            </a:r>
            <a:r>
              <a:rPr lang="zh-CN" altLang="en-US" sz="2800" dirty="0">
                <a:latin typeface="黑体" panose="02010609060101010101" pitchFamily="49" charset="-122"/>
                <a:ea typeface="黑体" panose="02010609060101010101" pitchFamily="49" charset="-122"/>
              </a:rPr>
              <a:t>的无声视频压缩为</a:t>
            </a:r>
            <a:r>
              <a:rPr lang="en-US" altLang="zh-CN" sz="2800" dirty="0">
                <a:latin typeface="黑体" panose="02010609060101010101" pitchFamily="49" charset="-122"/>
                <a:ea typeface="黑体" panose="02010609060101010101" pitchFamily="49" charset="-122"/>
              </a:rPr>
              <a:t>MP4</a:t>
            </a:r>
            <a:r>
              <a:rPr lang="zh-CN" altLang="en-US" sz="2800" dirty="0">
                <a:latin typeface="黑体" panose="02010609060101010101" pitchFamily="49" charset="-122"/>
                <a:ea typeface="黑体" panose="02010609060101010101" pitchFamily="49" charset="-122"/>
              </a:rPr>
              <a:t>格式文件压缩后的</a:t>
            </a:r>
            <a:r>
              <a:rPr lang="en-US" altLang="zh-CN" sz="2800" dirty="0">
                <a:latin typeface="黑体" panose="02010609060101010101" pitchFamily="49" charset="-122"/>
                <a:ea typeface="黑体" panose="02010609060101010101" pitchFamily="49" charset="-122"/>
              </a:rPr>
              <a:t>MP4</a:t>
            </a:r>
            <a:r>
              <a:rPr lang="zh-CN" altLang="en-US" sz="2800" dirty="0">
                <a:latin typeface="黑体" panose="02010609060101010101" pitchFamily="49" charset="-122"/>
                <a:ea typeface="黑体" panose="02010609060101010101" pitchFamily="49" charset="-122"/>
              </a:rPr>
              <a:t>格式文件大小为</a:t>
            </a:r>
            <a:r>
              <a:rPr lang="en-US" altLang="zh-CN" sz="2800" dirty="0">
                <a:latin typeface="黑体" panose="02010609060101010101" pitchFamily="49" charset="-122"/>
                <a:ea typeface="黑体" panose="02010609060101010101" pitchFamily="49" charset="-122"/>
              </a:rPr>
              <a:t>880MB,</a:t>
            </a:r>
            <a:r>
              <a:rPr lang="zh-CN" altLang="en-US" sz="2800" dirty="0">
                <a:latin typeface="黑体" panose="02010609060101010101" pitchFamily="49" charset="-122"/>
                <a:ea typeface="黑体" panose="02010609060101010101" pitchFamily="49" charset="-122"/>
              </a:rPr>
              <a:t>则其压缩比约为</a:t>
            </a:r>
            <a:endParaRPr lang="en-US" altLang="zh-CN" sz="2800" dirty="0">
              <a:latin typeface="黑体" panose="02010609060101010101" pitchFamily="49" charset="-122"/>
              <a:ea typeface="黑体" panose="02010609060101010101" pitchFamily="49" charset="-122"/>
            </a:endParaRPr>
          </a:p>
          <a:p>
            <a:pPr algn="ctr"/>
            <a:r>
              <a:rPr lang="en-US" altLang="zh-CN" sz="2800" dirty="0">
                <a:latin typeface="黑体" panose="02010609060101010101" pitchFamily="49" charset="-122"/>
                <a:ea typeface="黑体" panose="02010609060101010101" pitchFamily="49" charset="-122"/>
              </a:rPr>
              <a:t>A.8:1 B.9:1 C.10:1 D.88:1</a:t>
            </a:r>
          </a:p>
          <a:p>
            <a:pPr algn="ctr"/>
            <a:endParaRPr lang="en-US" altLang="zh-CN" sz="2800" dirty="0">
              <a:latin typeface="黑体" panose="02010609060101010101" pitchFamily="49" charset="-122"/>
              <a:ea typeface="黑体" panose="02010609060101010101" pitchFamily="49" charset="-122"/>
            </a:endParaRPr>
          </a:p>
          <a:p>
            <a:pPr algn="ctr"/>
            <a:r>
              <a:rPr lang="en-US" altLang="zh-CN" sz="2800" dirty="0">
                <a:latin typeface="仿宋" panose="02010609060101010101" pitchFamily="49" charset="-122"/>
                <a:ea typeface="仿宋" panose="02010609060101010101" pitchFamily="49" charset="-122"/>
              </a:rPr>
              <a:t>2*60*25*1140*900*24/1024/1024/8=8806 MB</a:t>
            </a:r>
          </a:p>
          <a:p>
            <a:pPr algn="ctr"/>
            <a:r>
              <a:rPr lang="zh-CN" altLang="en-US" sz="2800" dirty="0">
                <a:latin typeface="仿宋" panose="02010609060101010101" pitchFamily="49" charset="-122"/>
                <a:ea typeface="仿宋" panose="02010609060101010101" pitchFamily="49" charset="-122"/>
              </a:rPr>
              <a:t>约为</a:t>
            </a:r>
            <a:r>
              <a:rPr lang="en-US" altLang="zh-CN" sz="2800" dirty="0">
                <a:latin typeface="仿宋" panose="02010609060101010101" pitchFamily="49" charset="-122"/>
                <a:ea typeface="仿宋" panose="02010609060101010101" pitchFamily="49" charset="-122"/>
              </a:rPr>
              <a:t>10:1</a:t>
            </a:r>
          </a:p>
        </p:txBody>
      </p:sp>
      <p:pic>
        <p:nvPicPr>
          <p:cNvPr id="10" name="图片 4">
            <a:extLst>
              <a:ext uri="{FF2B5EF4-FFF2-40B4-BE49-F238E27FC236}">
                <a16:creationId xmlns:a16="http://schemas.microsoft.com/office/drawing/2014/main" id="{7F6EA473-FABC-C38B-10CB-B08E71F95C1F}"/>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416425" y="6219825"/>
            <a:ext cx="542925" cy="542925"/>
          </a:xfrm>
          <a:prstGeom prst="rect">
            <a:avLst/>
          </a:prstGeom>
        </p:spPr>
      </p:pic>
    </p:spTree>
    <p:extLst>
      <p:ext uri="{BB962C8B-B14F-4D97-AF65-F5344CB8AC3E}">
        <p14:creationId xmlns:p14="http://schemas.microsoft.com/office/powerpoint/2010/main" val="25785200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animEffect transition="in" filter="fade">
                                      <p:cBhvr>
                                        <p:cTn id="12" dur="500"/>
                                        <p:tgtEl>
                                          <p:spTgt spid="9">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9">
                                            <p:txEl>
                                              <p:pRg st="1" end="1"/>
                                            </p:txEl>
                                          </p:spTgt>
                                        </p:tgtEl>
                                        <p:attrNameLst>
                                          <p:attrName>style.visibility</p:attrName>
                                        </p:attrNameLst>
                                      </p:cBhvr>
                                      <p:to>
                                        <p:strVal val="visible"/>
                                      </p:to>
                                    </p:set>
                                    <p:animEffect transition="in" filter="fade">
                                      <p:cBhvr>
                                        <p:cTn id="15" dur="500"/>
                                        <p:tgtEl>
                                          <p:spTgt spid="9">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9">
                                            <p:txEl>
                                              <p:pRg st="3" end="3"/>
                                            </p:txEl>
                                          </p:spTgt>
                                        </p:tgtEl>
                                        <p:attrNameLst>
                                          <p:attrName>style.visibility</p:attrName>
                                        </p:attrNameLst>
                                      </p:cBhvr>
                                      <p:to>
                                        <p:strVal val="visible"/>
                                      </p:to>
                                    </p:set>
                                    <p:animEffect transition="in" filter="fade">
                                      <p:cBhvr>
                                        <p:cTn id="20" dur="500"/>
                                        <p:tgtEl>
                                          <p:spTgt spid="9">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animEffect transition="in" filter="fade">
                                      <p:cBhvr>
                                        <p:cTn id="23" dur="500"/>
                                        <p:tgtEl>
                                          <p:spTgt spid="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B59C9124-D59E-84FF-A56F-C2DD9DFE7E91}"/>
              </a:ext>
            </a:extLst>
          </p:cNvPr>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 name="直接连接符 2">
            <a:extLst>
              <a:ext uri="{FF2B5EF4-FFF2-40B4-BE49-F238E27FC236}">
                <a16:creationId xmlns:a16="http://schemas.microsoft.com/office/drawing/2014/main" id="{11A088A5-CF9A-3085-F690-68A866B37731}"/>
              </a:ext>
            </a:extLst>
          </p:cNvPr>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4" name="图形 3">
            <a:extLst>
              <a:ext uri="{FF2B5EF4-FFF2-40B4-BE49-F238E27FC236}">
                <a16:creationId xmlns:a16="http://schemas.microsoft.com/office/drawing/2014/main" id="{80712D68-2A45-87FD-FE0A-A84CD5C7610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6" name="文本框 5">
            <a:extLst>
              <a:ext uri="{FF2B5EF4-FFF2-40B4-BE49-F238E27FC236}">
                <a16:creationId xmlns:a16="http://schemas.microsoft.com/office/drawing/2014/main" id="{46D85F24-A9C0-447D-89B4-484399B05DB3}"/>
              </a:ext>
            </a:extLst>
          </p:cNvPr>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7" name="文本框 6">
            <a:extLst>
              <a:ext uri="{FF2B5EF4-FFF2-40B4-BE49-F238E27FC236}">
                <a16:creationId xmlns:a16="http://schemas.microsoft.com/office/drawing/2014/main" id="{8A87601E-A0E1-13B3-D239-BAAFCED3522C}"/>
              </a:ext>
            </a:extLst>
          </p:cNvPr>
          <p:cNvSpPr txBox="1"/>
          <p:nvPr/>
        </p:nvSpPr>
        <p:spPr>
          <a:xfrm>
            <a:off x="1352552" y="78969"/>
            <a:ext cx="1930399" cy="769441"/>
          </a:xfrm>
          <a:prstGeom prst="rect">
            <a:avLst/>
          </a:prstGeom>
          <a:noFill/>
        </p:spPr>
        <p:txBody>
          <a:bodyPr wrap="square" rtlCol="0">
            <a:spAutoFit/>
          </a:bodyPr>
          <a:lstStyle/>
          <a:p>
            <a:r>
              <a:rPr lang="zh-CN" altLang="en-US" sz="4400" dirty="0">
                <a:latin typeface="仿宋" panose="02010609060101010101" pitchFamily="49" charset="-122"/>
                <a:ea typeface="仿宋" panose="02010609060101010101" pitchFamily="49" charset="-122"/>
              </a:rPr>
              <a:t>数据库</a:t>
            </a:r>
            <a:endParaRPr lang="en-US" altLang="zh-CN" sz="4400" dirty="0">
              <a:latin typeface="仿宋" panose="02010609060101010101" pitchFamily="49" charset="-122"/>
              <a:ea typeface="仿宋" panose="02010609060101010101" pitchFamily="49" charset="-122"/>
            </a:endParaRPr>
          </a:p>
        </p:txBody>
      </p:sp>
      <p:sp>
        <p:nvSpPr>
          <p:cNvPr id="8" name="文本框 7">
            <a:extLst>
              <a:ext uri="{FF2B5EF4-FFF2-40B4-BE49-F238E27FC236}">
                <a16:creationId xmlns:a16="http://schemas.microsoft.com/office/drawing/2014/main" id="{86D2E220-9F5D-1B55-3821-FF6C883DC51B}"/>
              </a:ext>
            </a:extLst>
          </p:cNvPr>
          <p:cNvSpPr txBox="1"/>
          <p:nvPr/>
        </p:nvSpPr>
        <p:spPr>
          <a:xfrm>
            <a:off x="1005115" y="972737"/>
            <a:ext cx="9354005" cy="5693866"/>
          </a:xfrm>
          <a:prstGeom prst="rect">
            <a:avLst/>
          </a:prstGeom>
          <a:noFill/>
        </p:spPr>
        <p:txBody>
          <a:bodyPr wrap="square">
            <a:spAutoFit/>
          </a:bodyPr>
          <a:lstStyle/>
          <a:p>
            <a:r>
              <a:rPr lang="zh-CN" altLang="en-US" sz="2800" dirty="0">
                <a:latin typeface="黑体" panose="02010609060101010101" pitchFamily="49" charset="-122"/>
                <a:ea typeface="黑体" panose="02010609060101010101" pitchFamily="49" charset="-122"/>
              </a:rPr>
              <a:t>有很多很多概念但是考的不大多</a:t>
            </a:r>
            <a:endParaRPr lang="en-US" altLang="zh-CN" sz="2800" dirty="0">
              <a:latin typeface="黑体" panose="02010609060101010101" pitchFamily="49" charset="-122"/>
              <a:ea typeface="黑体" panose="02010609060101010101" pitchFamily="49" charset="-122"/>
            </a:endParaRPr>
          </a:p>
          <a:p>
            <a:r>
              <a:rPr lang="zh-CN" altLang="en-US" sz="2800" dirty="0">
                <a:latin typeface="黑体" panose="02010609060101010101" pitchFamily="49" charset="-122"/>
                <a:ea typeface="黑体" panose="02010609060101010101" pitchFamily="49" charset="-122"/>
              </a:rPr>
              <a:t>无法理解的地方记得问</a:t>
            </a:r>
            <a:r>
              <a:rPr lang="en-US" altLang="zh-CN" sz="2800" dirty="0">
                <a:latin typeface="黑体" panose="02010609060101010101" pitchFamily="49" charset="-122"/>
                <a:ea typeface="黑体" panose="02010609060101010101" pitchFamily="49" charset="-122"/>
              </a:rPr>
              <a:t>AI</a:t>
            </a:r>
          </a:p>
          <a:p>
            <a:r>
              <a:rPr lang="zh-CN" altLang="en-US" sz="2800" dirty="0">
                <a:latin typeface="仿宋" panose="02010609060101010101" pitchFamily="49" charset="-122"/>
                <a:ea typeface="仿宋" panose="02010609060101010101" pitchFamily="49" charset="-122"/>
              </a:rPr>
              <a:t>基本概念</a:t>
            </a:r>
            <a:endParaRPr lang="en-US" altLang="zh-CN" sz="2800" dirty="0">
              <a:latin typeface="仿宋" panose="02010609060101010101" pitchFamily="49" charset="-122"/>
              <a:ea typeface="仿宋" panose="02010609060101010101" pitchFamily="49" charset="-122"/>
            </a:endParaRPr>
          </a:p>
          <a:p>
            <a:pPr marL="457200" indent="-457200">
              <a:buFont typeface="Arial" panose="020B0604020202020204" pitchFamily="34" charset="0"/>
              <a:buChar char="•"/>
            </a:pPr>
            <a:r>
              <a:rPr lang="zh-CN" altLang="en-US" sz="2800" dirty="0">
                <a:latin typeface="仿宋" panose="02010609060101010101" pitchFamily="49" charset="-122"/>
                <a:ea typeface="仿宋" panose="02010609060101010101" pitchFamily="49" charset="-122"/>
              </a:rPr>
              <a:t>数据库</a:t>
            </a:r>
            <a:r>
              <a:rPr lang="en-US" altLang="zh-CN" sz="2800" dirty="0">
                <a:latin typeface="仿宋" panose="02010609060101010101" pitchFamily="49" charset="-122"/>
                <a:ea typeface="仿宋" panose="02010609060101010101" pitchFamily="49" charset="-122"/>
              </a:rPr>
              <a:t>DB</a:t>
            </a:r>
          </a:p>
          <a:p>
            <a:pPr marL="457200" indent="-457200">
              <a:buFont typeface="Arial" panose="020B0604020202020204" pitchFamily="34" charset="0"/>
              <a:buChar char="•"/>
            </a:pPr>
            <a:r>
              <a:rPr lang="zh-CN" altLang="en-US" sz="2800" dirty="0">
                <a:latin typeface="仿宋" panose="02010609060101010101" pitchFamily="49" charset="-122"/>
                <a:ea typeface="仿宋" panose="02010609060101010101" pitchFamily="49" charset="-122"/>
              </a:rPr>
              <a:t>数据库管理系统</a:t>
            </a:r>
            <a:r>
              <a:rPr lang="en-US" altLang="zh-CN" sz="2800" dirty="0">
                <a:latin typeface="仿宋" panose="02010609060101010101" pitchFamily="49" charset="-122"/>
                <a:ea typeface="仿宋" panose="02010609060101010101" pitchFamily="49" charset="-122"/>
              </a:rPr>
              <a:t>DBMS</a:t>
            </a:r>
          </a:p>
          <a:p>
            <a:pPr marL="457200" indent="-457200">
              <a:buFont typeface="Arial" panose="020B0604020202020204" pitchFamily="34" charset="0"/>
              <a:buChar char="•"/>
            </a:pPr>
            <a:r>
              <a:rPr lang="zh-CN" altLang="en-US" sz="2800" dirty="0">
                <a:latin typeface="仿宋" panose="02010609060101010101" pitchFamily="49" charset="-122"/>
                <a:ea typeface="仿宋" panose="02010609060101010101" pitchFamily="49" charset="-122"/>
              </a:rPr>
              <a:t>数据库系统</a:t>
            </a:r>
            <a:r>
              <a:rPr lang="en-US" altLang="zh-CN" sz="2800" dirty="0">
                <a:latin typeface="仿宋" panose="02010609060101010101" pitchFamily="49" charset="-122"/>
                <a:ea typeface="仿宋" panose="02010609060101010101" pitchFamily="49" charset="-122"/>
              </a:rPr>
              <a:t>DBS</a:t>
            </a:r>
          </a:p>
          <a:p>
            <a:endParaRPr lang="en-US" altLang="zh-CN" sz="2800" dirty="0">
              <a:latin typeface="仿宋" panose="02010609060101010101" pitchFamily="49" charset="-122"/>
              <a:ea typeface="仿宋" panose="02010609060101010101" pitchFamily="49" charset="-122"/>
            </a:endParaRPr>
          </a:p>
          <a:p>
            <a:r>
              <a:rPr lang="zh-CN" altLang="en-US" sz="2800" dirty="0">
                <a:latin typeface="仿宋" panose="02010609060101010101" pitchFamily="49" charset="-122"/>
                <a:ea typeface="仿宋" panose="02010609060101010101" pitchFamily="49" charset="-122"/>
              </a:rPr>
              <a:t>发展历程</a:t>
            </a:r>
            <a:endParaRPr lang="en-US" altLang="zh-CN" sz="2800" dirty="0">
              <a:latin typeface="仿宋" panose="02010609060101010101" pitchFamily="49" charset="-122"/>
              <a:ea typeface="仿宋" panose="02010609060101010101" pitchFamily="49" charset="-122"/>
            </a:endParaRPr>
          </a:p>
          <a:p>
            <a:pPr marL="457200" indent="-457200">
              <a:buFont typeface="Arial" panose="020B0604020202020204" pitchFamily="34" charset="0"/>
              <a:buChar char="•"/>
            </a:pPr>
            <a:r>
              <a:rPr lang="zh-CN" altLang="en-US" sz="2800" dirty="0">
                <a:latin typeface="仿宋" panose="02010609060101010101" pitchFamily="49" charset="-122"/>
                <a:ea typeface="仿宋" panose="02010609060101010101" pitchFamily="49" charset="-122"/>
              </a:rPr>
              <a:t>人工管理阶段</a:t>
            </a:r>
            <a:endParaRPr lang="en-US" altLang="zh-CN" sz="2800" dirty="0">
              <a:latin typeface="仿宋" panose="02010609060101010101" pitchFamily="49" charset="-122"/>
              <a:ea typeface="仿宋" panose="02010609060101010101" pitchFamily="49" charset="-122"/>
            </a:endParaRPr>
          </a:p>
          <a:p>
            <a:pPr marL="457200" indent="-457200">
              <a:buFont typeface="Arial" panose="020B0604020202020204" pitchFamily="34" charset="0"/>
              <a:buChar char="•"/>
            </a:pPr>
            <a:r>
              <a:rPr lang="zh-CN" altLang="en-US" sz="2800" dirty="0">
                <a:latin typeface="仿宋" panose="02010609060101010101" pitchFamily="49" charset="-122"/>
                <a:ea typeface="仿宋" panose="02010609060101010101" pitchFamily="49" charset="-122"/>
              </a:rPr>
              <a:t>文件管理阶段</a:t>
            </a:r>
            <a:endParaRPr lang="en-US" altLang="zh-CN" sz="2800" dirty="0">
              <a:latin typeface="仿宋" panose="02010609060101010101" pitchFamily="49" charset="-122"/>
              <a:ea typeface="仿宋" panose="02010609060101010101" pitchFamily="49" charset="-122"/>
            </a:endParaRPr>
          </a:p>
          <a:p>
            <a:pPr marL="457200" indent="-457200">
              <a:buFont typeface="Arial" panose="020B0604020202020204" pitchFamily="34" charset="0"/>
              <a:buChar char="•"/>
            </a:pPr>
            <a:r>
              <a:rPr lang="zh-CN" altLang="en-US" sz="2800" dirty="0">
                <a:latin typeface="仿宋" panose="02010609060101010101" pitchFamily="49" charset="-122"/>
                <a:ea typeface="仿宋" panose="02010609060101010101" pitchFamily="49" charset="-122"/>
              </a:rPr>
              <a:t>数据库系统管理阶段</a:t>
            </a:r>
            <a:endParaRPr lang="en-US" altLang="zh-CN" sz="2800" dirty="0">
              <a:latin typeface="仿宋" panose="02010609060101010101" pitchFamily="49" charset="-122"/>
              <a:ea typeface="仿宋" panose="02010609060101010101" pitchFamily="49" charset="-122"/>
            </a:endParaRPr>
          </a:p>
          <a:p>
            <a:endParaRPr lang="en-US" altLang="zh-CN" sz="2800" dirty="0">
              <a:latin typeface="仿宋" panose="02010609060101010101" pitchFamily="49" charset="-122"/>
              <a:ea typeface="仿宋" panose="02010609060101010101" pitchFamily="49" charset="-122"/>
            </a:endParaRPr>
          </a:p>
          <a:p>
            <a:endParaRPr lang="en-US" altLang="zh-CN" sz="2800" dirty="0">
              <a:latin typeface="黑体" panose="02010609060101010101" pitchFamily="49" charset="-122"/>
              <a:ea typeface="黑体" panose="02010609060101010101" pitchFamily="49" charset="-122"/>
            </a:endParaRPr>
          </a:p>
        </p:txBody>
      </p:sp>
      <p:pic>
        <p:nvPicPr>
          <p:cNvPr id="9" name="图片 8">
            <a:extLst>
              <a:ext uri="{FF2B5EF4-FFF2-40B4-BE49-F238E27FC236}">
                <a16:creationId xmlns:a16="http://schemas.microsoft.com/office/drawing/2014/main" id="{EA07BEB4-9D7E-B3FE-9459-69851FFFB73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15400" y="276679"/>
            <a:ext cx="3048000" cy="3048000"/>
          </a:xfrm>
          <a:prstGeom prst="rect">
            <a:avLst/>
          </a:prstGeom>
        </p:spPr>
      </p:pic>
      <p:pic>
        <p:nvPicPr>
          <p:cNvPr id="11" name="图片 4">
            <a:extLst>
              <a:ext uri="{FF2B5EF4-FFF2-40B4-BE49-F238E27FC236}">
                <a16:creationId xmlns:a16="http://schemas.microsoft.com/office/drawing/2014/main" id="{38701575-3287-B2AE-922D-EEA50C33FA0B}"/>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4416425" y="6219825"/>
            <a:ext cx="542925" cy="542925"/>
          </a:xfrm>
          <a:prstGeom prst="rect">
            <a:avLst/>
          </a:prstGeom>
        </p:spPr>
      </p:pic>
      <p:pic>
        <p:nvPicPr>
          <p:cNvPr id="10" name="图片 9">
            <a:extLst>
              <a:ext uri="{FF2B5EF4-FFF2-40B4-BE49-F238E27FC236}">
                <a16:creationId xmlns:a16="http://schemas.microsoft.com/office/drawing/2014/main" id="{D780D26E-E624-7E0F-3971-9A9FAB634241}"/>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578351" y="7340"/>
            <a:ext cx="4337049" cy="6886039"/>
          </a:xfrm>
          <a:prstGeom prst="rect">
            <a:avLst/>
          </a:prstGeom>
        </p:spPr>
      </p:pic>
      <p:pic>
        <p:nvPicPr>
          <p:cNvPr id="5" name="图片 1">
            <a:extLst>
              <a:ext uri="{FF2B5EF4-FFF2-40B4-BE49-F238E27FC236}">
                <a16:creationId xmlns:a16="http://schemas.microsoft.com/office/drawing/2014/main" id="{C13103F5-9B50-37A1-BBDE-441923CE22B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l="31967" t="34801" r="35567" b="16299"/>
          <a:stretch>
            <a:fillRect/>
          </a:stretch>
        </p:blipFill>
        <p:spPr bwMode="auto">
          <a:xfrm>
            <a:off x="5758318" y="706263"/>
            <a:ext cx="5119687" cy="554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452197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8">
                                            <p:txEl>
                                              <p:pRg st="1" end="1"/>
                                            </p:txEl>
                                          </p:spTgt>
                                        </p:tgtEl>
                                        <p:attrNameLst>
                                          <p:attrName>style.visibility</p:attrName>
                                        </p:attrNameLst>
                                      </p:cBhvr>
                                      <p:to>
                                        <p:strVal val="visible"/>
                                      </p:to>
                                    </p:set>
                                    <p:animEffect transition="in" filter="fade">
                                      <p:cBhvr>
                                        <p:cTn id="10" dur="500"/>
                                        <p:tgtEl>
                                          <p:spTgt spid="8">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nodeType="clickEffect">
                                  <p:stCondLst>
                                    <p:cond delay="200"/>
                                  </p:stCondLst>
                                  <p:childTnLst>
                                    <p:animEffect transition="out" filter="fade">
                                      <p:cBhvr>
                                        <p:cTn id="19" dur="500"/>
                                        <p:tgtEl>
                                          <p:spTgt spid="10"/>
                                        </p:tgtEl>
                                      </p:cBhvr>
                                    </p:animEffect>
                                    <p:set>
                                      <p:cBhvr>
                                        <p:cTn id="20" dur="1" fill="hold">
                                          <p:stCondLst>
                                            <p:cond delay="499"/>
                                          </p:stCondLst>
                                        </p:cTn>
                                        <p:tgtEl>
                                          <p:spTgt spid="10"/>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8">
                                            <p:txEl>
                                              <p:pRg st="2" end="2"/>
                                            </p:txEl>
                                          </p:spTgt>
                                        </p:tgtEl>
                                        <p:attrNameLst>
                                          <p:attrName>style.visibility</p:attrName>
                                        </p:attrNameLst>
                                      </p:cBhvr>
                                      <p:to>
                                        <p:strVal val="visible"/>
                                      </p:to>
                                    </p:set>
                                    <p:animEffect transition="in" filter="fade">
                                      <p:cBhvr>
                                        <p:cTn id="25" dur="500"/>
                                        <p:tgtEl>
                                          <p:spTgt spid="8">
                                            <p:txEl>
                                              <p:pRg st="2" end="2"/>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8">
                                            <p:txEl>
                                              <p:pRg st="3" end="3"/>
                                            </p:txEl>
                                          </p:spTgt>
                                        </p:tgtEl>
                                        <p:attrNameLst>
                                          <p:attrName>style.visibility</p:attrName>
                                        </p:attrNameLst>
                                      </p:cBhvr>
                                      <p:to>
                                        <p:strVal val="visible"/>
                                      </p:to>
                                    </p:set>
                                    <p:animEffect transition="in" filter="fade">
                                      <p:cBhvr>
                                        <p:cTn id="28" dur="500"/>
                                        <p:tgtEl>
                                          <p:spTgt spid="8">
                                            <p:txEl>
                                              <p:pRg st="3" end="3"/>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8">
                                            <p:txEl>
                                              <p:pRg st="4" end="4"/>
                                            </p:txEl>
                                          </p:spTgt>
                                        </p:tgtEl>
                                        <p:attrNameLst>
                                          <p:attrName>style.visibility</p:attrName>
                                        </p:attrNameLst>
                                      </p:cBhvr>
                                      <p:to>
                                        <p:strVal val="visible"/>
                                      </p:to>
                                    </p:set>
                                    <p:animEffect transition="in" filter="fade">
                                      <p:cBhvr>
                                        <p:cTn id="31" dur="500"/>
                                        <p:tgtEl>
                                          <p:spTgt spid="8">
                                            <p:txEl>
                                              <p:pRg st="4" end="4"/>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8">
                                            <p:txEl>
                                              <p:pRg st="5" end="5"/>
                                            </p:txEl>
                                          </p:spTgt>
                                        </p:tgtEl>
                                        <p:attrNameLst>
                                          <p:attrName>style.visibility</p:attrName>
                                        </p:attrNameLst>
                                      </p:cBhvr>
                                      <p:to>
                                        <p:strVal val="visible"/>
                                      </p:to>
                                    </p:set>
                                    <p:animEffect transition="in" filter="fade">
                                      <p:cBhvr>
                                        <p:cTn id="34" dur="500"/>
                                        <p:tgtEl>
                                          <p:spTgt spid="8">
                                            <p:txEl>
                                              <p:pRg st="5" end="5"/>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8">
                                            <p:txEl>
                                              <p:pRg st="7" end="7"/>
                                            </p:txEl>
                                          </p:spTgt>
                                        </p:tgtEl>
                                        <p:attrNameLst>
                                          <p:attrName>style.visibility</p:attrName>
                                        </p:attrNameLst>
                                      </p:cBhvr>
                                      <p:to>
                                        <p:strVal val="visible"/>
                                      </p:to>
                                    </p:set>
                                    <p:animEffect transition="in" filter="fade">
                                      <p:cBhvr>
                                        <p:cTn id="37" dur="500"/>
                                        <p:tgtEl>
                                          <p:spTgt spid="8">
                                            <p:txEl>
                                              <p:pRg st="7" end="7"/>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8">
                                            <p:txEl>
                                              <p:pRg st="8" end="8"/>
                                            </p:txEl>
                                          </p:spTgt>
                                        </p:tgtEl>
                                        <p:attrNameLst>
                                          <p:attrName>style.visibility</p:attrName>
                                        </p:attrNameLst>
                                      </p:cBhvr>
                                      <p:to>
                                        <p:strVal val="visible"/>
                                      </p:to>
                                    </p:set>
                                    <p:animEffect transition="in" filter="fade">
                                      <p:cBhvr>
                                        <p:cTn id="40" dur="500"/>
                                        <p:tgtEl>
                                          <p:spTgt spid="8">
                                            <p:txEl>
                                              <p:pRg st="8" end="8"/>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8">
                                            <p:txEl>
                                              <p:pRg st="9" end="9"/>
                                            </p:txEl>
                                          </p:spTgt>
                                        </p:tgtEl>
                                        <p:attrNameLst>
                                          <p:attrName>style.visibility</p:attrName>
                                        </p:attrNameLst>
                                      </p:cBhvr>
                                      <p:to>
                                        <p:strVal val="visible"/>
                                      </p:to>
                                    </p:set>
                                    <p:animEffect transition="in" filter="fade">
                                      <p:cBhvr>
                                        <p:cTn id="43" dur="500"/>
                                        <p:tgtEl>
                                          <p:spTgt spid="8">
                                            <p:txEl>
                                              <p:pRg st="9" end="9"/>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8">
                                            <p:txEl>
                                              <p:pRg st="10" end="10"/>
                                            </p:txEl>
                                          </p:spTgt>
                                        </p:tgtEl>
                                        <p:attrNameLst>
                                          <p:attrName>style.visibility</p:attrName>
                                        </p:attrNameLst>
                                      </p:cBhvr>
                                      <p:to>
                                        <p:strVal val="visible"/>
                                      </p:to>
                                    </p:set>
                                    <p:animEffect transition="in" filter="fade">
                                      <p:cBhvr>
                                        <p:cTn id="46" dur="500"/>
                                        <p:tgtEl>
                                          <p:spTgt spid="8">
                                            <p:txEl>
                                              <p:pRg st="10" end="10"/>
                                            </p:txEl>
                                          </p:spTgt>
                                        </p:tgtEl>
                                      </p:cBhvr>
                                    </p:animEffect>
                                  </p:childTnLst>
                                </p:cTn>
                              </p:par>
                              <p:par>
                                <p:cTn id="47" presetID="10" presetClass="entr" presetSubtype="0" fill="hold" nodeType="withEffect">
                                  <p:stCondLst>
                                    <p:cond delay="0"/>
                                  </p:stCondLst>
                                  <p:childTnLst>
                                    <p:set>
                                      <p:cBhvr>
                                        <p:cTn id="48" dur="1" fill="hold">
                                          <p:stCondLst>
                                            <p:cond delay="0"/>
                                          </p:stCondLst>
                                        </p:cTn>
                                        <p:tgtEl>
                                          <p:spTgt spid="5"/>
                                        </p:tgtEl>
                                        <p:attrNameLst>
                                          <p:attrName>style.visibility</p:attrName>
                                        </p:attrNameLst>
                                      </p:cBhvr>
                                      <p:to>
                                        <p:strVal val="visible"/>
                                      </p:to>
                                    </p:set>
                                    <p:animEffect transition="in" filter="fade">
                                      <p:cBhvr>
                                        <p:cTn id="4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5F60345E-C549-2209-4CBE-08B6853EE05F}"/>
              </a:ext>
            </a:extLst>
          </p:cNvPr>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 name="直接连接符 2">
            <a:extLst>
              <a:ext uri="{FF2B5EF4-FFF2-40B4-BE49-F238E27FC236}">
                <a16:creationId xmlns:a16="http://schemas.microsoft.com/office/drawing/2014/main" id="{2D8372F7-67F3-0104-AFA6-33AE27E34D53}"/>
              </a:ext>
            </a:extLst>
          </p:cNvPr>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4" name="图形 3">
            <a:extLst>
              <a:ext uri="{FF2B5EF4-FFF2-40B4-BE49-F238E27FC236}">
                <a16:creationId xmlns:a16="http://schemas.microsoft.com/office/drawing/2014/main" id="{DE969296-C391-9812-04CB-9F396D47862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6" name="文本框 5">
            <a:extLst>
              <a:ext uri="{FF2B5EF4-FFF2-40B4-BE49-F238E27FC236}">
                <a16:creationId xmlns:a16="http://schemas.microsoft.com/office/drawing/2014/main" id="{1E237E07-9E76-5B6B-9363-9D179B711C14}"/>
              </a:ext>
            </a:extLst>
          </p:cNvPr>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7" name="文本框 6">
            <a:extLst>
              <a:ext uri="{FF2B5EF4-FFF2-40B4-BE49-F238E27FC236}">
                <a16:creationId xmlns:a16="http://schemas.microsoft.com/office/drawing/2014/main" id="{59960552-6E63-0396-05D6-6C6A54CA9EC1}"/>
              </a:ext>
            </a:extLst>
          </p:cNvPr>
          <p:cNvSpPr txBox="1"/>
          <p:nvPr/>
        </p:nvSpPr>
        <p:spPr>
          <a:xfrm>
            <a:off x="1708945" y="66836"/>
            <a:ext cx="1930399" cy="769441"/>
          </a:xfrm>
          <a:prstGeom prst="rect">
            <a:avLst/>
          </a:prstGeom>
          <a:noFill/>
        </p:spPr>
        <p:txBody>
          <a:bodyPr wrap="square" rtlCol="0">
            <a:spAutoFit/>
          </a:bodyPr>
          <a:lstStyle/>
          <a:p>
            <a:r>
              <a:rPr lang="zh-CN" altLang="en-US" sz="4400" dirty="0">
                <a:latin typeface="仿宋" panose="02010609060101010101" pitchFamily="49" charset="-122"/>
                <a:ea typeface="仿宋" panose="02010609060101010101" pitchFamily="49" charset="-122"/>
              </a:rPr>
              <a:t>数据库</a:t>
            </a:r>
            <a:endParaRPr lang="en-US" altLang="zh-CN" sz="4400" dirty="0">
              <a:latin typeface="仿宋" panose="02010609060101010101" pitchFamily="49" charset="-122"/>
              <a:ea typeface="仿宋" panose="02010609060101010101" pitchFamily="49" charset="-122"/>
            </a:endParaRPr>
          </a:p>
        </p:txBody>
      </p:sp>
      <p:sp>
        <p:nvSpPr>
          <p:cNvPr id="8" name="文本框 7">
            <a:extLst>
              <a:ext uri="{FF2B5EF4-FFF2-40B4-BE49-F238E27FC236}">
                <a16:creationId xmlns:a16="http://schemas.microsoft.com/office/drawing/2014/main" id="{EFD4C12C-5B5C-2BA1-E35E-C165EF1B4032}"/>
              </a:ext>
            </a:extLst>
          </p:cNvPr>
          <p:cNvSpPr txBox="1"/>
          <p:nvPr/>
        </p:nvSpPr>
        <p:spPr>
          <a:xfrm>
            <a:off x="789202" y="1092996"/>
            <a:ext cx="9389848" cy="3970318"/>
          </a:xfrm>
          <a:prstGeom prst="rect">
            <a:avLst/>
          </a:prstGeom>
          <a:noFill/>
        </p:spPr>
        <p:txBody>
          <a:bodyPr wrap="square">
            <a:spAutoFit/>
          </a:bodyPr>
          <a:lstStyle/>
          <a:p>
            <a:r>
              <a:rPr lang="zh-CN" altLang="en-US" sz="2800" dirty="0">
                <a:latin typeface="仿宋" panose="02010609060101010101" pitchFamily="49" charset="-122"/>
                <a:ea typeface="仿宋" panose="02010609060101010101" pitchFamily="49" charset="-122"/>
              </a:rPr>
              <a:t>体系结构</a:t>
            </a:r>
            <a:endParaRPr lang="en-US" altLang="zh-CN" sz="2800" dirty="0">
              <a:latin typeface="仿宋" panose="02010609060101010101" pitchFamily="49" charset="-122"/>
              <a:ea typeface="仿宋" panose="02010609060101010101" pitchFamily="49" charset="-122"/>
            </a:endParaRPr>
          </a:p>
          <a:p>
            <a:pPr marL="457200" indent="-457200">
              <a:buFont typeface="Arial" panose="020B0604020202020204" pitchFamily="34" charset="0"/>
              <a:buChar char="•"/>
            </a:pPr>
            <a:r>
              <a:rPr lang="zh-CN" altLang="en-US" sz="2800" dirty="0">
                <a:latin typeface="仿宋" panose="02010609060101010101" pitchFamily="49" charset="-122"/>
                <a:ea typeface="仿宋" panose="02010609060101010101" pitchFamily="49" charset="-122"/>
              </a:rPr>
              <a:t>外模式</a:t>
            </a:r>
            <a:r>
              <a:rPr lang="en-US" altLang="zh-CN" sz="2800" dirty="0">
                <a:latin typeface="仿宋" panose="02010609060101010101" pitchFamily="49" charset="-122"/>
                <a:ea typeface="仿宋" panose="02010609060101010101" pitchFamily="49" charset="-122"/>
              </a:rPr>
              <a:t>:</a:t>
            </a:r>
            <a:r>
              <a:rPr lang="zh-CN" altLang="en-US" sz="2800" dirty="0">
                <a:latin typeface="仿宋" panose="02010609060101010101" pitchFamily="49" charset="-122"/>
                <a:ea typeface="仿宋" panose="02010609060101010101" pitchFamily="49" charset="-122"/>
              </a:rPr>
              <a:t>反映了数据库的用户观</a:t>
            </a:r>
            <a:endParaRPr lang="en-US" altLang="zh-CN" sz="2800" dirty="0">
              <a:latin typeface="仿宋" panose="02010609060101010101" pitchFamily="49" charset="-122"/>
              <a:ea typeface="仿宋" panose="02010609060101010101" pitchFamily="49" charset="-122"/>
            </a:endParaRPr>
          </a:p>
          <a:p>
            <a:pPr marL="457200" indent="-457200">
              <a:buFont typeface="Arial" panose="020B0604020202020204" pitchFamily="34" charset="0"/>
              <a:buChar char="•"/>
            </a:pPr>
            <a:r>
              <a:rPr lang="zh-CN" altLang="en-US" sz="2800" dirty="0">
                <a:latin typeface="仿宋" panose="02010609060101010101" pitchFamily="49" charset="-122"/>
                <a:ea typeface="仿宋" panose="02010609060101010101" pitchFamily="49" charset="-122"/>
              </a:rPr>
              <a:t>模式</a:t>
            </a:r>
            <a:r>
              <a:rPr lang="en-US" altLang="zh-CN" sz="2800" dirty="0">
                <a:latin typeface="仿宋" panose="02010609060101010101" pitchFamily="49" charset="-122"/>
                <a:ea typeface="仿宋" panose="02010609060101010101" pitchFamily="49" charset="-122"/>
              </a:rPr>
              <a:t>:</a:t>
            </a:r>
            <a:r>
              <a:rPr lang="zh-CN" altLang="en-US" sz="2800" dirty="0">
                <a:latin typeface="仿宋" panose="02010609060101010101" pitchFamily="49" charset="-122"/>
                <a:ea typeface="仿宋" panose="02010609060101010101" pitchFamily="49" charset="-122"/>
              </a:rPr>
              <a:t>反映了数据库系统的整体观</a:t>
            </a:r>
          </a:p>
          <a:p>
            <a:pPr marL="457200" indent="-457200">
              <a:buFont typeface="Arial" panose="020B0604020202020204" pitchFamily="34" charset="0"/>
              <a:buChar char="•"/>
            </a:pPr>
            <a:r>
              <a:rPr lang="zh-CN" altLang="en-US" sz="2800" dirty="0">
                <a:latin typeface="仿宋" panose="02010609060101010101" pitchFamily="49" charset="-122"/>
                <a:ea typeface="仿宋" panose="02010609060101010101" pitchFamily="49" charset="-122"/>
              </a:rPr>
              <a:t>内模式</a:t>
            </a:r>
            <a:r>
              <a:rPr lang="en-US" altLang="zh-CN" sz="2800" dirty="0">
                <a:latin typeface="仿宋" panose="02010609060101010101" pitchFamily="49" charset="-122"/>
                <a:ea typeface="仿宋" panose="02010609060101010101" pitchFamily="49" charset="-122"/>
              </a:rPr>
              <a:t>:</a:t>
            </a:r>
            <a:r>
              <a:rPr lang="zh-CN" altLang="en-US" sz="2800" dirty="0">
                <a:latin typeface="仿宋" panose="02010609060101010101" pitchFamily="49" charset="-122"/>
                <a:ea typeface="仿宋" panose="02010609060101010101" pitchFamily="49" charset="-122"/>
              </a:rPr>
              <a:t>反映了数据库的存储观</a:t>
            </a:r>
            <a:endParaRPr lang="en-US" altLang="zh-CN" sz="2800" dirty="0">
              <a:latin typeface="仿宋" panose="02010609060101010101" pitchFamily="49" charset="-122"/>
              <a:ea typeface="仿宋" panose="02010609060101010101" pitchFamily="49" charset="-122"/>
            </a:endParaRPr>
          </a:p>
          <a:p>
            <a:pPr marL="457200" indent="-457200">
              <a:buFont typeface="Arial" panose="020B0604020202020204" pitchFamily="34" charset="0"/>
              <a:buChar char="•"/>
            </a:pPr>
            <a:r>
              <a:rPr lang="zh-CN" altLang="en-US" sz="2800" dirty="0">
                <a:latin typeface="仿宋" panose="02010609060101010101" pitchFamily="49" charset="-122"/>
                <a:ea typeface="仿宋" panose="02010609060101010101" pitchFamily="49" charset="-122"/>
              </a:rPr>
              <a:t>两级映射</a:t>
            </a:r>
            <a:endParaRPr lang="en-US" altLang="zh-CN" sz="2800" dirty="0">
              <a:latin typeface="仿宋" panose="02010609060101010101" pitchFamily="49" charset="-122"/>
              <a:ea typeface="仿宋" panose="02010609060101010101" pitchFamily="49" charset="-122"/>
            </a:endParaRPr>
          </a:p>
          <a:p>
            <a:pPr marL="914400" lvl="1" indent="-457200">
              <a:buFont typeface="Arial" panose="020B0604020202020204" pitchFamily="34" charset="0"/>
              <a:buChar char="•"/>
            </a:pPr>
            <a:r>
              <a:rPr lang="zh-CN" altLang="en-US" sz="2800" dirty="0">
                <a:latin typeface="仿宋" panose="02010609060101010101" pitchFamily="49" charset="-122"/>
                <a:ea typeface="仿宋" panose="02010609060101010101" pitchFamily="49" charset="-122"/>
              </a:rPr>
              <a:t>外模式</a:t>
            </a:r>
            <a:r>
              <a:rPr lang="en-US" altLang="zh-CN" sz="2800" dirty="0">
                <a:latin typeface="仿宋" panose="02010609060101010101" pitchFamily="49" charset="-122"/>
                <a:ea typeface="仿宋" panose="02010609060101010101" pitchFamily="49" charset="-122"/>
              </a:rPr>
              <a:t>-</a:t>
            </a:r>
            <a:r>
              <a:rPr lang="zh-CN" altLang="en-US" sz="2800" dirty="0">
                <a:latin typeface="仿宋" panose="02010609060101010101" pitchFamily="49" charset="-122"/>
                <a:ea typeface="仿宋" panose="02010609060101010101" pitchFamily="49" charset="-122"/>
              </a:rPr>
              <a:t>模式映射</a:t>
            </a:r>
            <a:r>
              <a:rPr lang="en-US" altLang="zh-CN" sz="2800" dirty="0">
                <a:latin typeface="仿宋" panose="02010609060101010101" pitchFamily="49" charset="-122"/>
                <a:ea typeface="仿宋" panose="02010609060101010101" pitchFamily="49" charset="-122"/>
              </a:rPr>
              <a:t>:</a:t>
            </a:r>
            <a:r>
              <a:rPr lang="zh-CN" altLang="en-US" sz="2800" dirty="0">
                <a:latin typeface="仿宋" panose="02010609060101010101" pitchFamily="49" charset="-122"/>
                <a:ea typeface="仿宋" panose="02010609060101010101" pitchFamily="49" charset="-122"/>
              </a:rPr>
              <a:t>定义了该外模式与模式之间的对应关系</a:t>
            </a:r>
          </a:p>
          <a:p>
            <a:pPr marL="914400" lvl="1" indent="-457200">
              <a:buFont typeface="Arial" panose="020B0604020202020204" pitchFamily="34" charset="0"/>
              <a:buChar char="•"/>
            </a:pPr>
            <a:r>
              <a:rPr lang="zh-CN" altLang="en-US" sz="2800" dirty="0">
                <a:latin typeface="仿宋" panose="02010609060101010101" pitchFamily="49" charset="-122"/>
                <a:ea typeface="仿宋" panose="02010609060101010101" pitchFamily="49" charset="-122"/>
              </a:rPr>
              <a:t>模式</a:t>
            </a:r>
            <a:r>
              <a:rPr lang="en-US" altLang="zh-CN" sz="2800" dirty="0">
                <a:latin typeface="仿宋" panose="02010609060101010101" pitchFamily="49" charset="-122"/>
                <a:ea typeface="仿宋" panose="02010609060101010101" pitchFamily="49" charset="-122"/>
              </a:rPr>
              <a:t>-</a:t>
            </a:r>
            <a:r>
              <a:rPr lang="zh-CN" altLang="en-US" sz="2800" dirty="0">
                <a:latin typeface="仿宋" panose="02010609060101010101" pitchFamily="49" charset="-122"/>
                <a:ea typeface="仿宋" panose="02010609060101010101" pitchFamily="49" charset="-122"/>
              </a:rPr>
              <a:t>内模式映射</a:t>
            </a:r>
            <a:r>
              <a:rPr lang="en-US" altLang="zh-CN" sz="2800" dirty="0">
                <a:latin typeface="仿宋" panose="02010609060101010101" pitchFamily="49" charset="-122"/>
                <a:ea typeface="仿宋" panose="02010609060101010101" pitchFamily="49" charset="-122"/>
              </a:rPr>
              <a:t>:</a:t>
            </a:r>
            <a:r>
              <a:rPr lang="zh-CN" altLang="en-US" sz="2800" dirty="0">
                <a:latin typeface="仿宋" panose="02010609060101010101" pitchFamily="49" charset="-122"/>
                <a:ea typeface="仿宋" panose="02010609060101010101" pitchFamily="49" charset="-122"/>
              </a:rPr>
              <a:t>定义了数据库的全局逻辑结构和存储结构之间的对应关系</a:t>
            </a:r>
            <a:endParaRPr lang="en-US" altLang="zh-CN" sz="2800" dirty="0">
              <a:latin typeface="仿宋" panose="02010609060101010101" pitchFamily="49" charset="-122"/>
              <a:ea typeface="仿宋" panose="02010609060101010101" pitchFamily="49" charset="-122"/>
            </a:endParaRPr>
          </a:p>
        </p:txBody>
      </p:sp>
      <p:pic>
        <p:nvPicPr>
          <p:cNvPr id="11" name="图片 10">
            <a:extLst>
              <a:ext uri="{FF2B5EF4-FFF2-40B4-BE49-F238E27FC236}">
                <a16:creationId xmlns:a16="http://schemas.microsoft.com/office/drawing/2014/main" id="{CADA1E4E-5EC6-686E-8F41-236FC325F96A}"/>
              </a:ext>
            </a:extLst>
          </p:cNvPr>
          <p:cNvPicPr>
            <a:picLocks noChangeAspect="1"/>
          </p:cNvPicPr>
          <p:nvPr/>
        </p:nvPicPr>
        <p:blipFill>
          <a:blip r:embed="rId4"/>
          <a:stretch>
            <a:fillRect/>
          </a:stretch>
        </p:blipFill>
        <p:spPr>
          <a:xfrm>
            <a:off x="7909378" y="136525"/>
            <a:ext cx="3819709" cy="2703081"/>
          </a:xfrm>
          <a:prstGeom prst="rect">
            <a:avLst/>
          </a:prstGeom>
        </p:spPr>
      </p:pic>
      <p:pic>
        <p:nvPicPr>
          <p:cNvPr id="14" name="图片 4">
            <a:extLst>
              <a:ext uri="{FF2B5EF4-FFF2-40B4-BE49-F238E27FC236}">
                <a16:creationId xmlns:a16="http://schemas.microsoft.com/office/drawing/2014/main" id="{DAA6DD9B-F140-0FD7-1E9D-698BC96B8AD6}"/>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4416425" y="6219825"/>
            <a:ext cx="542925" cy="542925"/>
          </a:xfrm>
          <a:prstGeom prst="rect">
            <a:avLst/>
          </a:prstGeom>
        </p:spPr>
      </p:pic>
    </p:spTree>
    <p:extLst>
      <p:ext uri="{BB962C8B-B14F-4D97-AF65-F5344CB8AC3E}">
        <p14:creationId xmlns:p14="http://schemas.microsoft.com/office/powerpoint/2010/main" val="20889584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4055CA55-8BBB-8946-BAF8-7571FBE2E6AB}"/>
              </a:ext>
            </a:extLst>
          </p:cNvPr>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 name="直接连接符 2">
            <a:extLst>
              <a:ext uri="{FF2B5EF4-FFF2-40B4-BE49-F238E27FC236}">
                <a16:creationId xmlns:a16="http://schemas.microsoft.com/office/drawing/2014/main" id="{6C155CB4-841A-694D-4FD0-A5D147A8A425}"/>
              </a:ext>
            </a:extLst>
          </p:cNvPr>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4" name="图形 3">
            <a:extLst>
              <a:ext uri="{FF2B5EF4-FFF2-40B4-BE49-F238E27FC236}">
                <a16:creationId xmlns:a16="http://schemas.microsoft.com/office/drawing/2014/main" id="{0842D496-4679-9BB7-36DA-5267E61CE1D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pic>
        <p:nvPicPr>
          <p:cNvPr id="5" name="图片 4">
            <a:extLst>
              <a:ext uri="{FF2B5EF4-FFF2-40B4-BE49-F238E27FC236}">
                <a16:creationId xmlns:a16="http://schemas.microsoft.com/office/drawing/2014/main" id="{5D773606-69B6-3836-4D90-018C78552CA6}"/>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416425" y="6219825"/>
            <a:ext cx="542925" cy="542925"/>
          </a:xfrm>
          <a:prstGeom prst="rect">
            <a:avLst/>
          </a:prstGeom>
        </p:spPr>
      </p:pic>
      <p:sp>
        <p:nvSpPr>
          <p:cNvPr id="6" name="文本框 5">
            <a:extLst>
              <a:ext uri="{FF2B5EF4-FFF2-40B4-BE49-F238E27FC236}">
                <a16:creationId xmlns:a16="http://schemas.microsoft.com/office/drawing/2014/main" id="{19CA9505-2BD7-2300-56BF-2A9AB91C249D}"/>
              </a:ext>
            </a:extLst>
          </p:cNvPr>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7" name="文本框 6">
            <a:extLst>
              <a:ext uri="{FF2B5EF4-FFF2-40B4-BE49-F238E27FC236}">
                <a16:creationId xmlns:a16="http://schemas.microsoft.com/office/drawing/2014/main" id="{71E4A297-0B50-B115-B758-3C5DB3C89B56}"/>
              </a:ext>
            </a:extLst>
          </p:cNvPr>
          <p:cNvSpPr txBox="1"/>
          <p:nvPr/>
        </p:nvSpPr>
        <p:spPr>
          <a:xfrm>
            <a:off x="1317172" y="82552"/>
            <a:ext cx="1930399" cy="769441"/>
          </a:xfrm>
          <a:prstGeom prst="rect">
            <a:avLst/>
          </a:prstGeom>
          <a:noFill/>
        </p:spPr>
        <p:txBody>
          <a:bodyPr wrap="square" rtlCol="0">
            <a:spAutoFit/>
          </a:bodyPr>
          <a:lstStyle/>
          <a:p>
            <a:r>
              <a:rPr lang="zh-CN" altLang="en-US" sz="4400" dirty="0">
                <a:latin typeface="仿宋" panose="02010609060101010101" pitchFamily="49" charset="-122"/>
                <a:ea typeface="仿宋" panose="02010609060101010101" pitchFamily="49" charset="-122"/>
              </a:rPr>
              <a:t>数据库</a:t>
            </a:r>
            <a:endParaRPr lang="en-US" altLang="zh-CN" sz="4400" dirty="0">
              <a:latin typeface="仿宋" panose="02010609060101010101" pitchFamily="49" charset="-122"/>
              <a:ea typeface="仿宋" panose="02010609060101010101" pitchFamily="49" charset="-122"/>
            </a:endParaRPr>
          </a:p>
        </p:txBody>
      </p:sp>
      <p:sp>
        <p:nvSpPr>
          <p:cNvPr id="8" name="文本框 7">
            <a:extLst>
              <a:ext uri="{FF2B5EF4-FFF2-40B4-BE49-F238E27FC236}">
                <a16:creationId xmlns:a16="http://schemas.microsoft.com/office/drawing/2014/main" id="{B3DADF7A-57CE-D4E4-0DF4-96E480DD27D9}"/>
              </a:ext>
            </a:extLst>
          </p:cNvPr>
          <p:cNvSpPr txBox="1"/>
          <p:nvPr/>
        </p:nvSpPr>
        <p:spPr>
          <a:xfrm>
            <a:off x="1014224" y="1277538"/>
            <a:ext cx="9838870" cy="3970318"/>
          </a:xfrm>
          <a:prstGeom prst="rect">
            <a:avLst/>
          </a:prstGeom>
          <a:noFill/>
        </p:spPr>
        <p:txBody>
          <a:bodyPr wrap="square">
            <a:spAutoFit/>
          </a:bodyPr>
          <a:lstStyle/>
          <a:p>
            <a:r>
              <a:rPr lang="zh-CN" altLang="en-US" sz="2800" dirty="0">
                <a:latin typeface="仿宋" panose="02010609060101010101" pitchFamily="49" charset="-122"/>
                <a:ea typeface="仿宋" panose="02010609060101010101" pitchFamily="49" charset="-122"/>
              </a:rPr>
              <a:t>数据模型</a:t>
            </a:r>
            <a:endParaRPr lang="en-US" altLang="zh-CN" sz="2800" dirty="0">
              <a:latin typeface="仿宋" panose="02010609060101010101" pitchFamily="49" charset="-122"/>
              <a:ea typeface="仿宋" panose="02010609060101010101" pitchFamily="49" charset="-122"/>
            </a:endParaRPr>
          </a:p>
          <a:p>
            <a:pPr marL="457200" indent="-457200">
              <a:buFont typeface="Arial" panose="020B0604020202020204" pitchFamily="34" charset="0"/>
              <a:buChar char="•"/>
            </a:pPr>
            <a:r>
              <a:rPr lang="zh-CN" altLang="en-US" sz="2800" dirty="0">
                <a:latin typeface="仿宋" panose="02010609060101010101" pitchFamily="49" charset="-122"/>
                <a:ea typeface="仿宋" panose="02010609060101010101" pitchFamily="49" charset="-122"/>
              </a:rPr>
              <a:t>实体 现实中可以互相区别的事物</a:t>
            </a:r>
            <a:endParaRPr lang="en-US" altLang="zh-CN" sz="2800" dirty="0">
              <a:latin typeface="仿宋" panose="02010609060101010101" pitchFamily="49" charset="-122"/>
              <a:ea typeface="仿宋" panose="02010609060101010101" pitchFamily="49" charset="-122"/>
            </a:endParaRPr>
          </a:p>
          <a:p>
            <a:pPr marL="457200" indent="-457200">
              <a:buFont typeface="Arial" panose="020B0604020202020204" pitchFamily="34" charset="0"/>
              <a:buChar char="•"/>
            </a:pPr>
            <a:r>
              <a:rPr lang="zh-CN" altLang="en-US" sz="2800" dirty="0">
                <a:latin typeface="仿宋" panose="02010609060101010101" pitchFamily="49" charset="-122"/>
                <a:ea typeface="仿宋" panose="02010609060101010101" pitchFamily="49" charset="-122"/>
              </a:rPr>
              <a:t>联系 实体内部与外部的联系</a:t>
            </a:r>
            <a:endParaRPr lang="en-US" altLang="zh-CN" sz="2800" dirty="0">
              <a:latin typeface="仿宋" panose="02010609060101010101" pitchFamily="49" charset="-122"/>
              <a:ea typeface="仿宋" panose="02010609060101010101" pitchFamily="49" charset="-122"/>
            </a:endParaRPr>
          </a:p>
          <a:p>
            <a:pPr marL="914400" lvl="1" indent="-457200">
              <a:buFont typeface="Arial" panose="020B0604020202020204" pitchFamily="34" charset="0"/>
              <a:buChar char="•"/>
            </a:pPr>
            <a:r>
              <a:rPr lang="zh-CN" altLang="en-US" sz="2800" dirty="0">
                <a:latin typeface="仿宋" panose="02010609060101010101" pitchFamily="49" charset="-122"/>
                <a:ea typeface="仿宋" panose="02010609060101010101" pitchFamily="49" charset="-122"/>
              </a:rPr>
              <a:t>一对一</a:t>
            </a:r>
            <a:endParaRPr lang="en-US" altLang="zh-CN" sz="2800" dirty="0">
              <a:latin typeface="仿宋" panose="02010609060101010101" pitchFamily="49" charset="-122"/>
              <a:ea typeface="仿宋" panose="02010609060101010101" pitchFamily="49" charset="-122"/>
            </a:endParaRPr>
          </a:p>
          <a:p>
            <a:pPr marL="914400" lvl="1" indent="-457200">
              <a:buFont typeface="Arial" panose="020B0604020202020204" pitchFamily="34" charset="0"/>
              <a:buChar char="•"/>
            </a:pPr>
            <a:r>
              <a:rPr lang="zh-CN" altLang="en-US" sz="2800" dirty="0">
                <a:latin typeface="仿宋" panose="02010609060101010101" pitchFamily="49" charset="-122"/>
                <a:ea typeface="仿宋" panose="02010609060101010101" pitchFamily="49" charset="-122"/>
              </a:rPr>
              <a:t>一对多</a:t>
            </a:r>
            <a:endParaRPr lang="en-US" altLang="zh-CN" sz="2800" dirty="0">
              <a:latin typeface="仿宋" panose="02010609060101010101" pitchFamily="49" charset="-122"/>
              <a:ea typeface="仿宋" panose="02010609060101010101" pitchFamily="49" charset="-122"/>
            </a:endParaRPr>
          </a:p>
          <a:p>
            <a:pPr marL="914400" lvl="1" indent="-457200">
              <a:buFont typeface="Arial" panose="020B0604020202020204" pitchFamily="34" charset="0"/>
              <a:buChar char="•"/>
            </a:pPr>
            <a:r>
              <a:rPr lang="zh-CN" altLang="en-US" sz="2800" dirty="0">
                <a:latin typeface="仿宋" panose="02010609060101010101" pitchFamily="49" charset="-122"/>
                <a:ea typeface="仿宋" panose="02010609060101010101" pitchFamily="49" charset="-122"/>
              </a:rPr>
              <a:t>多对多</a:t>
            </a:r>
            <a:endParaRPr lang="en-US" altLang="zh-CN" sz="2800" dirty="0">
              <a:latin typeface="黑体" panose="02010609060101010101" pitchFamily="49" charset="-122"/>
              <a:ea typeface="黑体" panose="02010609060101010101" pitchFamily="49" charset="-122"/>
            </a:endParaRPr>
          </a:p>
          <a:p>
            <a:pPr marL="457200" indent="-457200">
              <a:buFont typeface="Arial" panose="020B0604020202020204" pitchFamily="34" charset="0"/>
              <a:buChar char="•"/>
            </a:pPr>
            <a:r>
              <a:rPr lang="zh-CN" altLang="en-US" sz="2800" dirty="0">
                <a:latin typeface="仿宋" panose="02010609060101010101" pitchFamily="49" charset="-122"/>
                <a:ea typeface="仿宋" panose="02010609060101010101" pitchFamily="49" charset="-122"/>
              </a:rPr>
              <a:t>属性 实体或者联系具有的特性</a:t>
            </a:r>
            <a:endParaRPr lang="en-US" altLang="zh-CN" sz="2800" dirty="0">
              <a:latin typeface="仿宋" panose="02010609060101010101" pitchFamily="49" charset="-122"/>
              <a:ea typeface="仿宋" panose="02010609060101010101" pitchFamily="49" charset="-122"/>
            </a:endParaRPr>
          </a:p>
          <a:p>
            <a:pPr marL="914400" lvl="1" indent="-457200">
              <a:buFont typeface="Arial" panose="020B0604020202020204" pitchFamily="34" charset="0"/>
              <a:buChar char="•"/>
            </a:pPr>
            <a:r>
              <a:rPr lang="zh-CN" altLang="en-US" sz="2800" dirty="0">
                <a:latin typeface="仿宋" panose="02010609060101010101" pitchFamily="49" charset="-122"/>
                <a:ea typeface="仿宋" panose="02010609060101010101" pitchFamily="49" charset="-122"/>
              </a:rPr>
              <a:t>键 </a:t>
            </a:r>
            <a:r>
              <a:rPr lang="en-US" altLang="zh-CN" sz="2800" dirty="0">
                <a:latin typeface="仿宋" panose="02010609060101010101" pitchFamily="49" charset="-122"/>
                <a:ea typeface="仿宋" panose="02010609060101010101" pitchFamily="49" charset="-122"/>
              </a:rPr>
              <a:t>(</a:t>
            </a:r>
            <a:r>
              <a:rPr lang="zh-CN" altLang="en-US" sz="2800" dirty="0">
                <a:latin typeface="仿宋" panose="02010609060101010101" pitchFamily="49" charset="-122"/>
                <a:ea typeface="仿宋" panose="02010609060101010101" pitchFamily="49" charset="-122"/>
              </a:rPr>
              <a:t>即关键字</a:t>
            </a:r>
            <a:r>
              <a:rPr lang="en-US" altLang="zh-CN" sz="2800" dirty="0">
                <a:latin typeface="仿宋" panose="02010609060101010101" pitchFamily="49" charset="-122"/>
                <a:ea typeface="仿宋" panose="02010609060101010101" pitchFamily="49" charset="-122"/>
              </a:rPr>
              <a:t>)</a:t>
            </a:r>
            <a:r>
              <a:rPr lang="zh-CN" altLang="en-US" sz="2800" dirty="0">
                <a:latin typeface="仿宋" panose="02010609060101010101" pitchFamily="49" charset="-122"/>
                <a:ea typeface="仿宋" panose="02010609060101010101" pitchFamily="49" charset="-122"/>
              </a:rPr>
              <a:t>标注实体唯一性的属性 如学号</a:t>
            </a:r>
            <a:r>
              <a:rPr lang="en-US" altLang="zh-CN" sz="2800" dirty="0">
                <a:latin typeface="仿宋" panose="02010609060101010101" pitchFamily="49" charset="-122"/>
                <a:ea typeface="仿宋" panose="02010609060101010101" pitchFamily="49" charset="-122"/>
              </a:rPr>
              <a:t>,</a:t>
            </a:r>
            <a:r>
              <a:rPr lang="zh-CN" altLang="en-US" sz="2800" dirty="0">
                <a:latin typeface="仿宋" panose="02010609060101010101" pitchFamily="49" charset="-122"/>
                <a:ea typeface="仿宋" panose="02010609060101010101" pitchFamily="49" charset="-122"/>
              </a:rPr>
              <a:t>身份证号</a:t>
            </a:r>
            <a:endParaRPr lang="en-US" altLang="zh-CN" sz="2800" dirty="0">
              <a:latin typeface="仿宋" panose="02010609060101010101" pitchFamily="49" charset="-122"/>
              <a:ea typeface="仿宋" panose="02010609060101010101" pitchFamily="49" charset="-122"/>
            </a:endParaRPr>
          </a:p>
          <a:p>
            <a:pPr marL="914400" lvl="1" indent="-457200">
              <a:buFont typeface="Arial" panose="020B0604020202020204" pitchFamily="34" charset="0"/>
              <a:buChar char="•"/>
            </a:pPr>
            <a:r>
              <a:rPr lang="zh-CN" altLang="en-US" sz="2800" dirty="0">
                <a:latin typeface="仿宋" panose="02010609060101010101" pitchFamily="49" charset="-122"/>
                <a:ea typeface="仿宋" panose="02010609060101010101" pitchFamily="49" charset="-122"/>
              </a:rPr>
              <a:t>域 属性的取值范围</a:t>
            </a:r>
            <a:endParaRPr lang="en-US" altLang="zh-CN" sz="2800" dirty="0">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2872859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5B6D7C26-4AC2-DB24-13C6-5605A182FD8F}"/>
              </a:ext>
            </a:extLst>
          </p:cNvPr>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 name="直接连接符 2">
            <a:extLst>
              <a:ext uri="{FF2B5EF4-FFF2-40B4-BE49-F238E27FC236}">
                <a16:creationId xmlns:a16="http://schemas.microsoft.com/office/drawing/2014/main" id="{8D7BC490-0CDB-8113-B04C-F5C11625D57D}"/>
              </a:ext>
            </a:extLst>
          </p:cNvPr>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4" name="图形 3">
            <a:extLst>
              <a:ext uri="{FF2B5EF4-FFF2-40B4-BE49-F238E27FC236}">
                <a16:creationId xmlns:a16="http://schemas.microsoft.com/office/drawing/2014/main" id="{D4FA7A7D-08DE-1DC7-0D4E-7F2528906CF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6" name="文本框 5">
            <a:extLst>
              <a:ext uri="{FF2B5EF4-FFF2-40B4-BE49-F238E27FC236}">
                <a16:creationId xmlns:a16="http://schemas.microsoft.com/office/drawing/2014/main" id="{5A2D745F-5D4F-4077-B038-FAA75B32FCC3}"/>
              </a:ext>
            </a:extLst>
          </p:cNvPr>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7" name="文本框 6">
            <a:extLst>
              <a:ext uri="{FF2B5EF4-FFF2-40B4-BE49-F238E27FC236}">
                <a16:creationId xmlns:a16="http://schemas.microsoft.com/office/drawing/2014/main" id="{D8F37C49-B7E4-0FD4-43E0-87CC4CB3FEC0}"/>
              </a:ext>
            </a:extLst>
          </p:cNvPr>
          <p:cNvSpPr txBox="1"/>
          <p:nvPr/>
        </p:nvSpPr>
        <p:spPr>
          <a:xfrm>
            <a:off x="1234622" y="95361"/>
            <a:ext cx="8588828" cy="769441"/>
          </a:xfrm>
          <a:prstGeom prst="rect">
            <a:avLst/>
          </a:prstGeom>
          <a:noFill/>
        </p:spPr>
        <p:txBody>
          <a:bodyPr wrap="square" rtlCol="0">
            <a:spAutoFit/>
          </a:bodyPr>
          <a:lstStyle/>
          <a:p>
            <a:r>
              <a:rPr lang="en-US" altLang="zh-CN" sz="4400" dirty="0">
                <a:latin typeface="仿宋" panose="02010609060101010101" pitchFamily="49" charset="-122"/>
                <a:ea typeface="仿宋" panose="02010609060101010101" pitchFamily="49" charset="-122"/>
              </a:rPr>
              <a:t>ER</a:t>
            </a:r>
            <a:r>
              <a:rPr lang="zh-CN" altLang="en-US" sz="4400" dirty="0">
                <a:latin typeface="仿宋" panose="02010609060101010101" pitchFamily="49" charset="-122"/>
                <a:ea typeface="仿宋" panose="02010609060101010101" pitchFamily="49" charset="-122"/>
              </a:rPr>
              <a:t>图</a:t>
            </a:r>
            <a:endParaRPr lang="en-US" altLang="zh-CN" sz="4400" dirty="0">
              <a:latin typeface="仿宋" panose="02010609060101010101" pitchFamily="49" charset="-122"/>
              <a:ea typeface="仿宋" panose="02010609060101010101" pitchFamily="49" charset="-122"/>
            </a:endParaRPr>
          </a:p>
        </p:txBody>
      </p:sp>
      <p:sp>
        <p:nvSpPr>
          <p:cNvPr id="8" name="文本框 7">
            <a:extLst>
              <a:ext uri="{FF2B5EF4-FFF2-40B4-BE49-F238E27FC236}">
                <a16:creationId xmlns:a16="http://schemas.microsoft.com/office/drawing/2014/main" id="{A624B037-7FF1-26CD-AC84-3E243E8143DF}"/>
              </a:ext>
            </a:extLst>
          </p:cNvPr>
          <p:cNvSpPr txBox="1"/>
          <p:nvPr/>
        </p:nvSpPr>
        <p:spPr>
          <a:xfrm>
            <a:off x="673100" y="1001670"/>
            <a:ext cx="5688240" cy="1815882"/>
          </a:xfrm>
          <a:prstGeom prst="rect">
            <a:avLst/>
          </a:prstGeom>
          <a:noFill/>
        </p:spPr>
        <p:txBody>
          <a:bodyPr wrap="square">
            <a:spAutoFit/>
          </a:bodyPr>
          <a:lstStyle/>
          <a:p>
            <a:r>
              <a:rPr lang="en-US" altLang="zh-CN" sz="2800" b="1" dirty="0">
                <a:latin typeface="仿宋" panose="02010609060101010101" pitchFamily="49" charset="-122"/>
                <a:ea typeface="仿宋" panose="02010609060101010101" pitchFamily="49" charset="-122"/>
              </a:rPr>
              <a:t>ER</a:t>
            </a:r>
            <a:r>
              <a:rPr lang="zh-CN" altLang="en-US" sz="2800" b="1" dirty="0">
                <a:latin typeface="仿宋" panose="02010609060101010101" pitchFamily="49" charset="-122"/>
                <a:ea typeface="仿宋" panose="02010609060101010101" pitchFamily="49" charset="-122"/>
              </a:rPr>
              <a:t>图</a:t>
            </a:r>
            <a:endParaRPr lang="en-US" altLang="zh-CN" sz="2800" b="1" dirty="0">
              <a:latin typeface="仿宋" panose="02010609060101010101" pitchFamily="49" charset="-122"/>
              <a:ea typeface="仿宋" panose="02010609060101010101" pitchFamily="49" charset="-122"/>
            </a:endParaRPr>
          </a:p>
          <a:p>
            <a:pPr marL="457200" indent="-457200">
              <a:buFont typeface="Arial" panose="020B0604020202020204" pitchFamily="34" charset="0"/>
              <a:buChar char="•"/>
            </a:pPr>
            <a:r>
              <a:rPr lang="zh-CN" altLang="en-US" sz="2800" dirty="0">
                <a:latin typeface="仿宋" panose="02010609060101010101" pitchFamily="49" charset="-122"/>
                <a:ea typeface="仿宋" panose="02010609060101010101" pitchFamily="49" charset="-122"/>
              </a:rPr>
              <a:t>实体</a:t>
            </a:r>
            <a:endParaRPr lang="en-US" altLang="zh-CN" sz="2800" dirty="0">
              <a:latin typeface="仿宋" panose="02010609060101010101" pitchFamily="49" charset="-122"/>
              <a:ea typeface="仿宋" panose="02010609060101010101" pitchFamily="49" charset="-122"/>
            </a:endParaRPr>
          </a:p>
          <a:p>
            <a:pPr marL="457200" indent="-457200">
              <a:buFont typeface="Arial" panose="020B0604020202020204" pitchFamily="34" charset="0"/>
              <a:buChar char="•"/>
            </a:pPr>
            <a:r>
              <a:rPr lang="zh-CN" altLang="en-US" sz="2800" dirty="0">
                <a:latin typeface="仿宋" panose="02010609060101010101" pitchFamily="49" charset="-122"/>
                <a:ea typeface="仿宋" panose="02010609060101010101" pitchFamily="49" charset="-122"/>
              </a:rPr>
              <a:t>联系</a:t>
            </a:r>
            <a:endParaRPr lang="en-US" altLang="zh-CN" sz="2800" dirty="0">
              <a:latin typeface="仿宋" panose="02010609060101010101" pitchFamily="49" charset="-122"/>
              <a:ea typeface="仿宋" panose="02010609060101010101" pitchFamily="49" charset="-122"/>
            </a:endParaRPr>
          </a:p>
          <a:p>
            <a:pPr marL="457200" indent="-457200">
              <a:buFont typeface="Arial" panose="020B0604020202020204" pitchFamily="34" charset="0"/>
              <a:buChar char="•"/>
            </a:pPr>
            <a:r>
              <a:rPr lang="zh-CN" altLang="en-US" sz="2800" dirty="0">
                <a:latin typeface="仿宋" panose="02010609060101010101" pitchFamily="49" charset="-122"/>
                <a:ea typeface="仿宋" panose="02010609060101010101" pitchFamily="49" charset="-122"/>
              </a:rPr>
              <a:t>属性</a:t>
            </a:r>
            <a:endParaRPr lang="en-US" altLang="zh-CN" sz="2800" dirty="0">
              <a:latin typeface="仿宋" panose="02010609060101010101" pitchFamily="49" charset="-122"/>
              <a:ea typeface="仿宋" panose="02010609060101010101" pitchFamily="49" charset="-122"/>
            </a:endParaRPr>
          </a:p>
        </p:txBody>
      </p:sp>
      <p:sp>
        <p:nvSpPr>
          <p:cNvPr id="9" name="矩形 8">
            <a:extLst>
              <a:ext uri="{FF2B5EF4-FFF2-40B4-BE49-F238E27FC236}">
                <a16:creationId xmlns:a16="http://schemas.microsoft.com/office/drawing/2014/main" id="{7A75BA79-0132-FEBA-350B-82FFC5ABF7E1}"/>
              </a:ext>
            </a:extLst>
          </p:cNvPr>
          <p:cNvSpPr/>
          <p:nvPr/>
        </p:nvSpPr>
        <p:spPr>
          <a:xfrm>
            <a:off x="5689602" y="1413518"/>
            <a:ext cx="1248228" cy="7474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实体</a:t>
            </a:r>
          </a:p>
        </p:txBody>
      </p:sp>
      <p:sp>
        <p:nvSpPr>
          <p:cNvPr id="10" name="椭圆 9">
            <a:extLst>
              <a:ext uri="{FF2B5EF4-FFF2-40B4-BE49-F238E27FC236}">
                <a16:creationId xmlns:a16="http://schemas.microsoft.com/office/drawing/2014/main" id="{A72AEF9B-6C0B-F090-8FB6-3DBA9951BD73}"/>
              </a:ext>
            </a:extLst>
          </p:cNvPr>
          <p:cNvSpPr/>
          <p:nvPr/>
        </p:nvSpPr>
        <p:spPr>
          <a:xfrm>
            <a:off x="7795987" y="228894"/>
            <a:ext cx="1409700" cy="628559"/>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属性</a:t>
            </a:r>
          </a:p>
        </p:txBody>
      </p:sp>
      <p:sp>
        <p:nvSpPr>
          <p:cNvPr id="11" name="流程图: 决策 10">
            <a:extLst>
              <a:ext uri="{FF2B5EF4-FFF2-40B4-BE49-F238E27FC236}">
                <a16:creationId xmlns:a16="http://schemas.microsoft.com/office/drawing/2014/main" id="{DA344461-ED11-06A8-8D4F-3269F82F215A}"/>
              </a:ext>
            </a:extLst>
          </p:cNvPr>
          <p:cNvSpPr/>
          <p:nvPr/>
        </p:nvSpPr>
        <p:spPr>
          <a:xfrm>
            <a:off x="7568294" y="1286040"/>
            <a:ext cx="1865086" cy="1037771"/>
          </a:xfrm>
          <a:prstGeom prst="flowChartDecision">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联系</a:t>
            </a:r>
          </a:p>
        </p:txBody>
      </p:sp>
      <p:sp>
        <p:nvSpPr>
          <p:cNvPr id="12" name="文本框 11">
            <a:extLst>
              <a:ext uri="{FF2B5EF4-FFF2-40B4-BE49-F238E27FC236}">
                <a16:creationId xmlns:a16="http://schemas.microsoft.com/office/drawing/2014/main" id="{E1F0B8DF-D410-A3F4-103A-726F1E2F30A9}"/>
              </a:ext>
            </a:extLst>
          </p:cNvPr>
          <p:cNvSpPr txBox="1"/>
          <p:nvPr/>
        </p:nvSpPr>
        <p:spPr>
          <a:xfrm>
            <a:off x="627746" y="3180226"/>
            <a:ext cx="10816768" cy="2308324"/>
          </a:xfrm>
          <a:prstGeom prst="rect">
            <a:avLst/>
          </a:prstGeom>
          <a:noFill/>
        </p:spPr>
        <p:txBody>
          <a:bodyPr wrap="square">
            <a:spAutoFit/>
          </a:bodyPr>
          <a:lstStyle/>
          <a:p>
            <a:r>
              <a:rPr lang="zh-CN" altLang="en-US" sz="2400" dirty="0">
                <a:latin typeface="仿宋" panose="02010609060101010101" pitchFamily="49" charset="-122"/>
                <a:ea typeface="仿宋" panose="02010609060101010101" pitchFamily="49" charset="-122"/>
              </a:rPr>
              <a:t>画</a:t>
            </a:r>
            <a:r>
              <a:rPr lang="en-US" altLang="zh-CN" sz="2400" dirty="0">
                <a:latin typeface="仿宋" panose="02010609060101010101" pitchFamily="49" charset="-122"/>
                <a:ea typeface="仿宋" panose="02010609060101010101" pitchFamily="49" charset="-122"/>
              </a:rPr>
              <a:t>ER</a:t>
            </a:r>
            <a:r>
              <a:rPr lang="zh-CN" altLang="en-US" sz="2400" dirty="0">
                <a:latin typeface="仿宋" panose="02010609060101010101" pitchFamily="49" charset="-122"/>
                <a:ea typeface="仿宋" panose="02010609060101010101" pitchFamily="49" charset="-122"/>
              </a:rPr>
              <a:t>图（实体关系图）时，以下是一些重要的要领：</a:t>
            </a:r>
          </a:p>
          <a:p>
            <a:pPr marL="457200" indent="-457200">
              <a:buFont typeface="Arial" panose="020B0604020202020204" pitchFamily="34" charset="0"/>
              <a:buChar char="•"/>
            </a:pPr>
            <a:r>
              <a:rPr lang="zh-CN" altLang="en-US" sz="2400" dirty="0">
                <a:latin typeface="仿宋" panose="02010609060101010101" pitchFamily="49" charset="-122"/>
                <a:ea typeface="仿宋" panose="02010609060101010101" pitchFamily="49" charset="-122"/>
              </a:rPr>
              <a:t>确定所有的实体集合：识别系统中的主要实体，如人员、物品、事件等。</a:t>
            </a:r>
          </a:p>
          <a:p>
            <a:pPr marL="457200" indent="-457200">
              <a:buFont typeface="Arial" panose="020B0604020202020204" pitchFamily="34" charset="0"/>
              <a:buChar char="•"/>
            </a:pPr>
            <a:r>
              <a:rPr lang="zh-CN" altLang="en-US" sz="2400" dirty="0">
                <a:latin typeface="仿宋" panose="02010609060101010101" pitchFamily="49" charset="-122"/>
                <a:ea typeface="仿宋" panose="02010609060101010101" pitchFamily="49" charset="-122"/>
              </a:rPr>
              <a:t>选择实体集应包含的属性：为每个实体定义特性，如姓名、价格、日期等。</a:t>
            </a:r>
          </a:p>
          <a:p>
            <a:pPr marL="457200" indent="-457200">
              <a:buFont typeface="Arial" panose="020B0604020202020204" pitchFamily="34" charset="0"/>
              <a:buChar char="•"/>
            </a:pPr>
            <a:r>
              <a:rPr lang="zh-CN" altLang="en-US" sz="2400" dirty="0">
                <a:latin typeface="仿宋" panose="02010609060101010101" pitchFamily="49" charset="-122"/>
                <a:ea typeface="仿宋" panose="02010609060101010101" pitchFamily="49" charset="-122"/>
              </a:rPr>
              <a:t>确定实体集之间的联系：描述实体之间的相互关系，如一对一、一对多或多对多。</a:t>
            </a:r>
          </a:p>
          <a:p>
            <a:pPr marL="457200" indent="-457200">
              <a:buFont typeface="Arial" panose="020B0604020202020204" pitchFamily="34" charset="0"/>
              <a:buChar char="•"/>
            </a:pPr>
            <a:r>
              <a:rPr lang="zh-CN" altLang="en-US" sz="2400" dirty="0">
                <a:latin typeface="仿宋" panose="02010609060101010101" pitchFamily="49" charset="-122"/>
                <a:ea typeface="仿宋" panose="02010609060101010101" pitchFamily="49" charset="-122"/>
              </a:rPr>
              <a:t>确定联系的类型：在表示联系的线旁注明是</a:t>
            </a:r>
            <a:r>
              <a:rPr lang="en-US" altLang="zh-CN" sz="2400" dirty="0">
                <a:latin typeface="仿宋" panose="02010609060101010101" pitchFamily="49" charset="-122"/>
                <a:ea typeface="仿宋" panose="02010609060101010101" pitchFamily="49" charset="-122"/>
              </a:rPr>
              <a:t>1</a:t>
            </a:r>
            <a:r>
              <a:rPr lang="zh-CN" altLang="en-US" sz="2400" dirty="0">
                <a:latin typeface="仿宋" panose="02010609060101010101" pitchFamily="49" charset="-122"/>
                <a:ea typeface="仿宋" panose="02010609060101010101" pitchFamily="49" charset="-122"/>
              </a:rPr>
              <a:t>或</a:t>
            </a:r>
            <a:r>
              <a:rPr lang="en-US" altLang="zh-CN" sz="2400" dirty="0">
                <a:latin typeface="仿宋" panose="02010609060101010101" pitchFamily="49" charset="-122"/>
                <a:ea typeface="仿宋" panose="02010609060101010101" pitchFamily="49" charset="-122"/>
              </a:rPr>
              <a:t>n</a:t>
            </a:r>
            <a:r>
              <a:rPr lang="zh-CN" altLang="en-US" sz="2400" dirty="0">
                <a:latin typeface="仿宋" panose="02010609060101010101" pitchFamily="49" charset="-122"/>
                <a:ea typeface="仿宋" panose="02010609060101010101" pitchFamily="49" charset="-122"/>
              </a:rPr>
              <a:t>（多）来表示联系的类型</a:t>
            </a:r>
            <a:endParaRPr lang="en-US" altLang="zh-CN" sz="2400" dirty="0">
              <a:latin typeface="仿宋" panose="02010609060101010101" pitchFamily="49" charset="-122"/>
              <a:ea typeface="仿宋" panose="02010609060101010101" pitchFamily="49" charset="-122"/>
            </a:endParaRPr>
          </a:p>
        </p:txBody>
      </p:sp>
      <p:pic>
        <p:nvPicPr>
          <p:cNvPr id="13" name="图片 4">
            <a:extLst>
              <a:ext uri="{FF2B5EF4-FFF2-40B4-BE49-F238E27FC236}">
                <a16:creationId xmlns:a16="http://schemas.microsoft.com/office/drawing/2014/main" id="{94BE1172-16A6-BEDF-3478-6B2FF5F59603}"/>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416425" y="6219825"/>
            <a:ext cx="542925" cy="542925"/>
          </a:xfrm>
          <a:prstGeom prst="rect">
            <a:avLst/>
          </a:prstGeom>
        </p:spPr>
      </p:pic>
      <p:sp>
        <p:nvSpPr>
          <p:cNvPr id="14" name="矩形 13">
            <a:extLst>
              <a:ext uri="{FF2B5EF4-FFF2-40B4-BE49-F238E27FC236}">
                <a16:creationId xmlns:a16="http://schemas.microsoft.com/office/drawing/2014/main" id="{FD7ECE22-E3E7-F17A-181A-01A1CA661035}"/>
              </a:ext>
            </a:extLst>
          </p:cNvPr>
          <p:cNvSpPr/>
          <p:nvPr/>
        </p:nvSpPr>
        <p:spPr>
          <a:xfrm>
            <a:off x="10129614" y="1431183"/>
            <a:ext cx="1248228" cy="7474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实体</a:t>
            </a:r>
          </a:p>
        </p:txBody>
      </p:sp>
      <p:sp>
        <p:nvSpPr>
          <p:cNvPr id="17" name="椭圆 16">
            <a:extLst>
              <a:ext uri="{FF2B5EF4-FFF2-40B4-BE49-F238E27FC236}">
                <a16:creationId xmlns:a16="http://schemas.microsoft.com/office/drawing/2014/main" id="{961BDC13-C1D5-E449-8999-B50E4E4D7533}"/>
              </a:ext>
            </a:extLst>
          </p:cNvPr>
          <p:cNvSpPr/>
          <p:nvPr/>
        </p:nvSpPr>
        <p:spPr>
          <a:xfrm>
            <a:off x="4032250" y="1420789"/>
            <a:ext cx="1206954" cy="70426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属性</a:t>
            </a:r>
          </a:p>
        </p:txBody>
      </p:sp>
      <p:sp>
        <p:nvSpPr>
          <p:cNvPr id="18" name="椭圆 17">
            <a:extLst>
              <a:ext uri="{FF2B5EF4-FFF2-40B4-BE49-F238E27FC236}">
                <a16:creationId xmlns:a16="http://schemas.microsoft.com/office/drawing/2014/main" id="{1019138C-B675-55F7-9E6C-E927581E8F14}"/>
              </a:ext>
            </a:extLst>
          </p:cNvPr>
          <p:cNvSpPr/>
          <p:nvPr/>
        </p:nvSpPr>
        <p:spPr>
          <a:xfrm>
            <a:off x="9869717" y="2634962"/>
            <a:ext cx="1508125" cy="747486"/>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属性</a:t>
            </a:r>
          </a:p>
        </p:txBody>
      </p:sp>
      <p:sp>
        <p:nvSpPr>
          <p:cNvPr id="19" name="椭圆 18">
            <a:extLst>
              <a:ext uri="{FF2B5EF4-FFF2-40B4-BE49-F238E27FC236}">
                <a16:creationId xmlns:a16="http://schemas.microsoft.com/office/drawing/2014/main" id="{69CB868B-6C7D-224E-F275-FA231827D5C4}"/>
              </a:ext>
            </a:extLst>
          </p:cNvPr>
          <p:cNvSpPr/>
          <p:nvPr/>
        </p:nvSpPr>
        <p:spPr>
          <a:xfrm>
            <a:off x="6426198" y="2546024"/>
            <a:ext cx="1305832" cy="63695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属性</a:t>
            </a:r>
          </a:p>
        </p:txBody>
      </p:sp>
      <p:cxnSp>
        <p:nvCxnSpPr>
          <p:cNvPr id="21" name="直接连接符 20">
            <a:extLst>
              <a:ext uri="{FF2B5EF4-FFF2-40B4-BE49-F238E27FC236}">
                <a16:creationId xmlns:a16="http://schemas.microsoft.com/office/drawing/2014/main" id="{DBE70E0D-EF17-8271-6254-D27143941905}"/>
              </a:ext>
            </a:extLst>
          </p:cNvPr>
          <p:cNvCxnSpPr>
            <a:cxnSpLocks/>
            <a:stCxn id="17" idx="6"/>
            <a:endCxn id="9" idx="1"/>
          </p:cNvCxnSpPr>
          <p:nvPr/>
        </p:nvCxnSpPr>
        <p:spPr>
          <a:xfrm>
            <a:off x="5239204" y="1772922"/>
            <a:ext cx="450398" cy="14339"/>
          </a:xfrm>
          <a:prstGeom prst="line">
            <a:avLst/>
          </a:prstGeom>
        </p:spPr>
        <p:style>
          <a:lnRef idx="1">
            <a:schemeClr val="dk1"/>
          </a:lnRef>
          <a:fillRef idx="0">
            <a:schemeClr val="dk1"/>
          </a:fillRef>
          <a:effectRef idx="0">
            <a:schemeClr val="dk1"/>
          </a:effectRef>
          <a:fontRef idx="minor">
            <a:schemeClr val="tx1"/>
          </a:fontRef>
        </p:style>
      </p:cxnSp>
      <p:cxnSp>
        <p:nvCxnSpPr>
          <p:cNvPr id="22" name="直接连接符 21">
            <a:extLst>
              <a:ext uri="{FF2B5EF4-FFF2-40B4-BE49-F238E27FC236}">
                <a16:creationId xmlns:a16="http://schemas.microsoft.com/office/drawing/2014/main" id="{0CEF95DF-75BB-2287-63FC-98D87F2E7E1C}"/>
              </a:ext>
            </a:extLst>
          </p:cNvPr>
          <p:cNvCxnSpPr>
            <a:cxnSpLocks/>
            <a:stCxn id="10" idx="4"/>
            <a:endCxn id="11" idx="0"/>
          </p:cNvCxnSpPr>
          <p:nvPr/>
        </p:nvCxnSpPr>
        <p:spPr>
          <a:xfrm>
            <a:off x="8500837" y="857453"/>
            <a:ext cx="0" cy="428587"/>
          </a:xfrm>
          <a:prstGeom prst="line">
            <a:avLst/>
          </a:prstGeom>
        </p:spPr>
        <p:style>
          <a:lnRef idx="1">
            <a:schemeClr val="dk1"/>
          </a:lnRef>
          <a:fillRef idx="0">
            <a:schemeClr val="dk1"/>
          </a:fillRef>
          <a:effectRef idx="0">
            <a:schemeClr val="dk1"/>
          </a:effectRef>
          <a:fontRef idx="minor">
            <a:schemeClr val="tx1"/>
          </a:fontRef>
        </p:style>
      </p:cxnSp>
      <p:cxnSp>
        <p:nvCxnSpPr>
          <p:cNvPr id="25" name="直接连接符 24">
            <a:extLst>
              <a:ext uri="{FF2B5EF4-FFF2-40B4-BE49-F238E27FC236}">
                <a16:creationId xmlns:a16="http://schemas.microsoft.com/office/drawing/2014/main" id="{0C59421C-D157-BF4F-E210-0A2C8070AD58}"/>
              </a:ext>
            </a:extLst>
          </p:cNvPr>
          <p:cNvCxnSpPr>
            <a:cxnSpLocks/>
            <a:stCxn id="9" idx="3"/>
            <a:endCxn id="11" idx="1"/>
          </p:cNvCxnSpPr>
          <p:nvPr/>
        </p:nvCxnSpPr>
        <p:spPr>
          <a:xfrm>
            <a:off x="6937830" y="1787261"/>
            <a:ext cx="630464" cy="17665"/>
          </a:xfrm>
          <a:prstGeom prst="line">
            <a:avLst/>
          </a:prstGeom>
        </p:spPr>
        <p:style>
          <a:lnRef idx="1">
            <a:schemeClr val="dk1"/>
          </a:lnRef>
          <a:fillRef idx="0">
            <a:schemeClr val="dk1"/>
          </a:fillRef>
          <a:effectRef idx="0">
            <a:schemeClr val="dk1"/>
          </a:effectRef>
          <a:fontRef idx="minor">
            <a:schemeClr val="tx1"/>
          </a:fontRef>
        </p:style>
      </p:cxnSp>
      <p:cxnSp>
        <p:nvCxnSpPr>
          <p:cNvPr id="28" name="直接连接符 27">
            <a:extLst>
              <a:ext uri="{FF2B5EF4-FFF2-40B4-BE49-F238E27FC236}">
                <a16:creationId xmlns:a16="http://schemas.microsoft.com/office/drawing/2014/main" id="{8F1A1F01-30B4-454E-3D9C-1CEC278DCB52}"/>
              </a:ext>
            </a:extLst>
          </p:cNvPr>
          <p:cNvCxnSpPr>
            <a:cxnSpLocks/>
            <a:stCxn id="14" idx="1"/>
            <a:endCxn id="11" idx="3"/>
          </p:cNvCxnSpPr>
          <p:nvPr/>
        </p:nvCxnSpPr>
        <p:spPr>
          <a:xfrm flipH="1">
            <a:off x="9433380" y="1804926"/>
            <a:ext cx="696234" cy="0"/>
          </a:xfrm>
          <a:prstGeom prst="line">
            <a:avLst/>
          </a:prstGeom>
        </p:spPr>
        <p:style>
          <a:lnRef idx="1">
            <a:schemeClr val="dk1"/>
          </a:lnRef>
          <a:fillRef idx="0">
            <a:schemeClr val="dk1"/>
          </a:fillRef>
          <a:effectRef idx="0">
            <a:schemeClr val="dk1"/>
          </a:effectRef>
          <a:fontRef idx="minor">
            <a:schemeClr val="tx1"/>
          </a:fontRef>
        </p:style>
      </p:cxnSp>
      <p:cxnSp>
        <p:nvCxnSpPr>
          <p:cNvPr id="34" name="直接连接符 33">
            <a:extLst>
              <a:ext uri="{FF2B5EF4-FFF2-40B4-BE49-F238E27FC236}">
                <a16:creationId xmlns:a16="http://schemas.microsoft.com/office/drawing/2014/main" id="{DDA6FAE4-1B14-C219-8121-90BF5AF9717E}"/>
              </a:ext>
            </a:extLst>
          </p:cNvPr>
          <p:cNvCxnSpPr>
            <a:cxnSpLocks/>
            <a:stCxn id="19" idx="0"/>
            <a:endCxn id="9" idx="2"/>
          </p:cNvCxnSpPr>
          <p:nvPr/>
        </p:nvCxnSpPr>
        <p:spPr>
          <a:xfrm flipH="1" flipV="1">
            <a:off x="6313716" y="2161004"/>
            <a:ext cx="765398" cy="385020"/>
          </a:xfrm>
          <a:prstGeom prst="line">
            <a:avLst/>
          </a:prstGeom>
        </p:spPr>
        <p:style>
          <a:lnRef idx="1">
            <a:schemeClr val="dk1"/>
          </a:lnRef>
          <a:fillRef idx="0">
            <a:schemeClr val="dk1"/>
          </a:fillRef>
          <a:effectRef idx="0">
            <a:schemeClr val="dk1"/>
          </a:effectRef>
          <a:fontRef idx="minor">
            <a:schemeClr val="tx1"/>
          </a:fontRef>
        </p:style>
      </p:cxnSp>
      <p:cxnSp>
        <p:nvCxnSpPr>
          <p:cNvPr id="37" name="直接连接符 36">
            <a:extLst>
              <a:ext uri="{FF2B5EF4-FFF2-40B4-BE49-F238E27FC236}">
                <a16:creationId xmlns:a16="http://schemas.microsoft.com/office/drawing/2014/main" id="{77FDF873-431C-219A-82C5-4E4FD52B9C94}"/>
              </a:ext>
            </a:extLst>
          </p:cNvPr>
          <p:cNvCxnSpPr>
            <a:cxnSpLocks/>
            <a:stCxn id="18" idx="0"/>
            <a:endCxn id="14" idx="2"/>
          </p:cNvCxnSpPr>
          <p:nvPr/>
        </p:nvCxnSpPr>
        <p:spPr>
          <a:xfrm flipV="1">
            <a:off x="10623780" y="2178669"/>
            <a:ext cx="129948" cy="456293"/>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3830216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500"/>
                                        <p:tgtEl>
                                          <p:spTgt spid="1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500"/>
                                        <p:tgtEl>
                                          <p:spTgt spid="19"/>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10" grpId="0" animBg="1"/>
      <p:bldP spid="11" grpId="0" animBg="1"/>
      <p:bldP spid="12" grpId="0"/>
      <p:bldP spid="14" grpId="0" animBg="1"/>
      <p:bldP spid="17" grpId="0" animBg="1"/>
      <p:bldP spid="18" grpId="0" animBg="1"/>
      <p:bldP spid="19" grpId="0"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5B6D7C26-4AC2-DB24-13C6-5605A182FD8F}"/>
              </a:ext>
            </a:extLst>
          </p:cNvPr>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4" name="图形 3">
            <a:extLst>
              <a:ext uri="{FF2B5EF4-FFF2-40B4-BE49-F238E27FC236}">
                <a16:creationId xmlns:a16="http://schemas.microsoft.com/office/drawing/2014/main" id="{D4FA7A7D-08DE-1DC7-0D4E-7F2528906CF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6" name="文本框 5">
            <a:extLst>
              <a:ext uri="{FF2B5EF4-FFF2-40B4-BE49-F238E27FC236}">
                <a16:creationId xmlns:a16="http://schemas.microsoft.com/office/drawing/2014/main" id="{5A2D745F-5D4F-4077-B038-FAA75B32FCC3}"/>
              </a:ext>
            </a:extLst>
          </p:cNvPr>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7" name="文本框 6">
            <a:extLst>
              <a:ext uri="{FF2B5EF4-FFF2-40B4-BE49-F238E27FC236}">
                <a16:creationId xmlns:a16="http://schemas.microsoft.com/office/drawing/2014/main" id="{D8F37C49-B7E4-0FD4-43E0-87CC4CB3FEC0}"/>
              </a:ext>
            </a:extLst>
          </p:cNvPr>
          <p:cNvSpPr txBox="1"/>
          <p:nvPr/>
        </p:nvSpPr>
        <p:spPr>
          <a:xfrm>
            <a:off x="1234622" y="95361"/>
            <a:ext cx="8588828" cy="769441"/>
          </a:xfrm>
          <a:prstGeom prst="rect">
            <a:avLst/>
          </a:prstGeom>
          <a:noFill/>
        </p:spPr>
        <p:txBody>
          <a:bodyPr wrap="square" rtlCol="0">
            <a:spAutoFit/>
          </a:bodyPr>
          <a:lstStyle/>
          <a:p>
            <a:r>
              <a:rPr lang="en-US" altLang="zh-CN" sz="4400" dirty="0">
                <a:latin typeface="仿宋" panose="02010609060101010101" pitchFamily="49" charset="-122"/>
                <a:ea typeface="仿宋" panose="02010609060101010101" pitchFamily="49" charset="-122"/>
              </a:rPr>
              <a:t>ER</a:t>
            </a:r>
            <a:r>
              <a:rPr lang="zh-CN" altLang="en-US" sz="4400" dirty="0">
                <a:latin typeface="仿宋" panose="02010609060101010101" pitchFamily="49" charset="-122"/>
                <a:ea typeface="仿宋" panose="02010609060101010101" pitchFamily="49" charset="-122"/>
              </a:rPr>
              <a:t>图</a:t>
            </a:r>
            <a:endParaRPr lang="en-US" altLang="zh-CN" sz="4400" dirty="0">
              <a:latin typeface="仿宋" panose="02010609060101010101" pitchFamily="49" charset="-122"/>
              <a:ea typeface="仿宋" panose="02010609060101010101" pitchFamily="49" charset="-122"/>
            </a:endParaRPr>
          </a:p>
        </p:txBody>
      </p:sp>
      <p:pic>
        <p:nvPicPr>
          <p:cNvPr id="13" name="图片 4">
            <a:extLst>
              <a:ext uri="{FF2B5EF4-FFF2-40B4-BE49-F238E27FC236}">
                <a16:creationId xmlns:a16="http://schemas.microsoft.com/office/drawing/2014/main" id="{94BE1172-16A6-BEDF-3478-6B2FF5F59603}"/>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416425" y="6219825"/>
            <a:ext cx="542925" cy="542925"/>
          </a:xfrm>
          <a:prstGeom prst="rect">
            <a:avLst/>
          </a:prstGeom>
        </p:spPr>
      </p:pic>
      <p:pic>
        <p:nvPicPr>
          <p:cNvPr id="15" name="图片 14">
            <a:extLst>
              <a:ext uri="{FF2B5EF4-FFF2-40B4-BE49-F238E27FC236}">
                <a16:creationId xmlns:a16="http://schemas.microsoft.com/office/drawing/2014/main" id="{3F080E8A-293B-36C1-3954-6EA9DFDDBD6D}"/>
              </a:ext>
            </a:extLst>
          </p:cNvPr>
          <p:cNvPicPr>
            <a:picLocks noChangeAspect="1"/>
          </p:cNvPicPr>
          <p:nvPr/>
        </p:nvPicPr>
        <p:blipFill>
          <a:blip r:embed="rId6"/>
          <a:stretch>
            <a:fillRect/>
          </a:stretch>
        </p:blipFill>
        <p:spPr>
          <a:xfrm>
            <a:off x="1714100" y="1017829"/>
            <a:ext cx="8896749" cy="5102171"/>
          </a:xfrm>
          <a:prstGeom prst="rect">
            <a:avLst/>
          </a:prstGeom>
        </p:spPr>
      </p:pic>
      <p:cxnSp>
        <p:nvCxnSpPr>
          <p:cNvPr id="16" name="直接连接符 15">
            <a:extLst>
              <a:ext uri="{FF2B5EF4-FFF2-40B4-BE49-F238E27FC236}">
                <a16:creationId xmlns:a16="http://schemas.microsoft.com/office/drawing/2014/main" id="{C9C92A6F-76C6-8DE2-4BB6-96B2873D3CC9}"/>
              </a:ext>
            </a:extLst>
          </p:cNvPr>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93215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81863D7E-8ED5-7C43-55B2-32785A143018}"/>
              </a:ext>
            </a:extLst>
          </p:cNvPr>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 name="直接连接符 2">
            <a:extLst>
              <a:ext uri="{FF2B5EF4-FFF2-40B4-BE49-F238E27FC236}">
                <a16:creationId xmlns:a16="http://schemas.microsoft.com/office/drawing/2014/main" id="{86B34093-5AF8-56F5-95E4-984196CED97E}"/>
              </a:ext>
            </a:extLst>
          </p:cNvPr>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4" name="图形 3">
            <a:extLst>
              <a:ext uri="{FF2B5EF4-FFF2-40B4-BE49-F238E27FC236}">
                <a16:creationId xmlns:a16="http://schemas.microsoft.com/office/drawing/2014/main" id="{2D328723-CBA5-79B8-B11C-73EC1E262E8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6" name="文本框 5">
            <a:extLst>
              <a:ext uri="{FF2B5EF4-FFF2-40B4-BE49-F238E27FC236}">
                <a16:creationId xmlns:a16="http://schemas.microsoft.com/office/drawing/2014/main" id="{DCC2A425-6AE7-741E-F996-F2C028495AA5}"/>
              </a:ext>
            </a:extLst>
          </p:cNvPr>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7" name="文本框 6">
            <a:extLst>
              <a:ext uri="{FF2B5EF4-FFF2-40B4-BE49-F238E27FC236}">
                <a16:creationId xmlns:a16="http://schemas.microsoft.com/office/drawing/2014/main" id="{704BACCF-E269-ED7A-5A99-7F14A28F4BA8}"/>
              </a:ext>
            </a:extLst>
          </p:cNvPr>
          <p:cNvSpPr txBox="1"/>
          <p:nvPr/>
        </p:nvSpPr>
        <p:spPr>
          <a:xfrm>
            <a:off x="209550" y="843585"/>
            <a:ext cx="11937999" cy="4893647"/>
          </a:xfrm>
          <a:prstGeom prst="rect">
            <a:avLst/>
          </a:prstGeom>
          <a:noFill/>
        </p:spPr>
        <p:txBody>
          <a:bodyPr wrap="square">
            <a:spAutoFit/>
          </a:bodyPr>
          <a:lstStyle/>
          <a:p>
            <a:pPr algn="l"/>
            <a:r>
              <a:rPr lang="zh-CN" altLang="en-US" sz="2400" b="0" i="0" dirty="0">
                <a:solidFill>
                  <a:srgbClr val="111111"/>
                </a:solidFill>
                <a:effectLst/>
                <a:latin typeface="仿宋" panose="02010609060101010101" pitchFamily="49" charset="-122"/>
                <a:ea typeface="仿宋" panose="02010609060101010101" pitchFamily="49" charset="-122"/>
              </a:rPr>
              <a:t>以一个简单的</a:t>
            </a:r>
            <a:r>
              <a:rPr lang="zh-CN" altLang="en-US" sz="2400" b="1" i="0" dirty="0">
                <a:solidFill>
                  <a:srgbClr val="111111"/>
                </a:solidFill>
                <a:effectLst/>
                <a:latin typeface="仿宋" panose="02010609060101010101" pitchFamily="49" charset="-122"/>
                <a:ea typeface="仿宋" panose="02010609060101010101" pitchFamily="49" charset="-122"/>
              </a:rPr>
              <a:t>图书馆管理系统</a:t>
            </a:r>
            <a:r>
              <a:rPr lang="zh-CN" altLang="en-US" sz="2400" b="0" i="0" dirty="0">
                <a:solidFill>
                  <a:srgbClr val="111111"/>
                </a:solidFill>
                <a:effectLst/>
                <a:latin typeface="仿宋" panose="02010609060101010101" pitchFamily="49" charset="-122"/>
                <a:ea typeface="仿宋" panose="02010609060101010101" pitchFamily="49" charset="-122"/>
              </a:rPr>
              <a:t>为例来分析如何画</a:t>
            </a:r>
            <a:r>
              <a:rPr lang="en-US" altLang="zh-CN" sz="2400" b="0" i="0" dirty="0">
                <a:solidFill>
                  <a:srgbClr val="111111"/>
                </a:solidFill>
                <a:effectLst/>
                <a:latin typeface="仿宋" panose="02010609060101010101" pitchFamily="49" charset="-122"/>
                <a:ea typeface="仿宋" panose="02010609060101010101" pitchFamily="49" charset="-122"/>
              </a:rPr>
              <a:t>ER</a:t>
            </a:r>
            <a:r>
              <a:rPr lang="zh-CN" altLang="en-US" sz="2400" b="0" i="0" dirty="0">
                <a:solidFill>
                  <a:srgbClr val="111111"/>
                </a:solidFill>
                <a:effectLst/>
                <a:latin typeface="仿宋" panose="02010609060101010101" pitchFamily="49" charset="-122"/>
                <a:ea typeface="仿宋" panose="02010609060101010101" pitchFamily="49" charset="-122"/>
              </a:rPr>
              <a:t>图。</a:t>
            </a:r>
          </a:p>
          <a:p>
            <a:pPr marL="342900" indent="-342900" algn="l">
              <a:buFont typeface="Arial" panose="020B0604020202020204" pitchFamily="34" charset="0"/>
              <a:buChar char="•"/>
            </a:pPr>
            <a:r>
              <a:rPr lang="zh-CN" altLang="en-US" sz="2400" b="0" i="0" dirty="0">
                <a:solidFill>
                  <a:srgbClr val="111111"/>
                </a:solidFill>
                <a:effectLst/>
                <a:latin typeface="仿宋" panose="02010609060101010101" pitchFamily="49" charset="-122"/>
                <a:ea typeface="仿宋" panose="02010609060101010101" pitchFamily="49" charset="-122"/>
              </a:rPr>
              <a:t>首先，我们需要确定系统中的主要</a:t>
            </a:r>
            <a:r>
              <a:rPr lang="zh-CN" altLang="en-US" sz="2400" b="1" i="0" dirty="0">
                <a:solidFill>
                  <a:srgbClr val="111111"/>
                </a:solidFill>
                <a:effectLst/>
                <a:latin typeface="仿宋" panose="02010609060101010101" pitchFamily="49" charset="-122"/>
                <a:ea typeface="仿宋" panose="02010609060101010101" pitchFamily="49" charset="-122"/>
              </a:rPr>
              <a:t>实体</a:t>
            </a:r>
            <a:r>
              <a:rPr lang="zh-CN" altLang="en-US" sz="2400" b="0" i="0" dirty="0">
                <a:solidFill>
                  <a:srgbClr val="111111"/>
                </a:solidFill>
                <a:effectLst/>
                <a:latin typeface="仿宋" panose="02010609060101010101" pitchFamily="49" charset="-122"/>
                <a:ea typeface="仿宋" panose="02010609060101010101" pitchFamily="49" charset="-122"/>
              </a:rPr>
              <a:t>。</a:t>
            </a:r>
            <a:r>
              <a:rPr lang="en-US" altLang="zh-CN" sz="2400" b="0" i="0" dirty="0">
                <a:solidFill>
                  <a:srgbClr val="111111"/>
                </a:solidFill>
                <a:effectLst/>
                <a:latin typeface="仿宋" panose="02010609060101010101" pitchFamily="49" charset="-122"/>
                <a:ea typeface="仿宋" panose="02010609060101010101" pitchFamily="49" charset="-122"/>
              </a:rPr>
              <a:t>(</a:t>
            </a:r>
            <a:r>
              <a:rPr lang="zh-CN" altLang="en-US" sz="2400" b="0" i="0" dirty="0">
                <a:solidFill>
                  <a:srgbClr val="111111"/>
                </a:solidFill>
                <a:effectLst/>
                <a:latin typeface="仿宋" panose="02010609060101010101" pitchFamily="49" charset="-122"/>
                <a:ea typeface="仿宋" panose="02010609060101010101" pitchFamily="49" charset="-122"/>
              </a:rPr>
              <a:t>一般信息来自于题目</a:t>
            </a:r>
            <a:r>
              <a:rPr lang="en-US" altLang="zh-CN" sz="2400" b="0" i="0" dirty="0">
                <a:solidFill>
                  <a:srgbClr val="111111"/>
                </a:solidFill>
                <a:effectLst/>
                <a:latin typeface="仿宋" panose="02010609060101010101" pitchFamily="49" charset="-122"/>
                <a:ea typeface="仿宋" panose="02010609060101010101" pitchFamily="49" charset="-122"/>
              </a:rPr>
              <a:t>)</a:t>
            </a:r>
          </a:p>
          <a:p>
            <a:pPr marL="342900" indent="-342900" algn="l">
              <a:buFont typeface="Arial" panose="020B0604020202020204" pitchFamily="34" charset="0"/>
              <a:buChar char="•"/>
            </a:pPr>
            <a:r>
              <a:rPr lang="zh-CN" altLang="en-US" sz="2400" b="0" i="0" dirty="0">
                <a:solidFill>
                  <a:srgbClr val="111111"/>
                </a:solidFill>
                <a:effectLst/>
                <a:latin typeface="仿宋" panose="02010609060101010101" pitchFamily="49" charset="-122"/>
                <a:ea typeface="仿宋" panose="02010609060101010101" pitchFamily="49" charset="-122"/>
              </a:rPr>
              <a:t>在图书馆管理系统中，可能的</a:t>
            </a:r>
            <a:r>
              <a:rPr lang="zh-CN" altLang="en-US" sz="2400" b="1" i="0" dirty="0">
                <a:solidFill>
                  <a:srgbClr val="111111"/>
                </a:solidFill>
                <a:effectLst/>
                <a:latin typeface="仿宋" panose="02010609060101010101" pitchFamily="49" charset="-122"/>
                <a:ea typeface="仿宋" panose="02010609060101010101" pitchFamily="49" charset="-122"/>
              </a:rPr>
              <a:t>实体</a:t>
            </a:r>
            <a:r>
              <a:rPr lang="zh-CN" altLang="en-US" sz="2400" b="0" i="0" dirty="0">
                <a:solidFill>
                  <a:srgbClr val="111111"/>
                </a:solidFill>
                <a:effectLst/>
                <a:latin typeface="仿宋" panose="02010609060101010101" pitchFamily="49" charset="-122"/>
                <a:ea typeface="仿宋" panose="02010609060101010101" pitchFamily="49" charset="-122"/>
              </a:rPr>
              <a:t>包括：</a:t>
            </a:r>
          </a:p>
          <a:p>
            <a:pPr marL="800100" lvl="1" indent="-342900">
              <a:buFont typeface="Wingdings" panose="05000000000000000000" pitchFamily="2" charset="2"/>
              <a:buChar char="Ø"/>
            </a:pPr>
            <a:r>
              <a:rPr lang="zh-CN" altLang="en-US" sz="2400" b="0" i="0" dirty="0">
                <a:solidFill>
                  <a:srgbClr val="111111"/>
                </a:solidFill>
                <a:effectLst/>
                <a:latin typeface="仿宋" panose="02010609060101010101" pitchFamily="49" charset="-122"/>
                <a:ea typeface="仿宋" panose="02010609060101010101" pitchFamily="49" charset="-122"/>
              </a:rPr>
              <a:t>图书</a:t>
            </a:r>
          </a:p>
          <a:p>
            <a:pPr marL="800100" lvl="1" indent="-342900">
              <a:buFont typeface="Wingdings" panose="05000000000000000000" pitchFamily="2" charset="2"/>
              <a:buChar char="Ø"/>
            </a:pPr>
            <a:r>
              <a:rPr lang="zh-CN" altLang="en-US" sz="2400" b="0" i="0" dirty="0">
                <a:solidFill>
                  <a:srgbClr val="111111"/>
                </a:solidFill>
                <a:effectLst/>
                <a:latin typeface="仿宋" panose="02010609060101010101" pitchFamily="49" charset="-122"/>
                <a:ea typeface="仿宋" panose="02010609060101010101" pitchFamily="49" charset="-122"/>
              </a:rPr>
              <a:t>读者</a:t>
            </a:r>
            <a:endParaRPr lang="en-US" altLang="zh-CN" sz="2400" dirty="0">
              <a:solidFill>
                <a:srgbClr val="111111"/>
              </a:solidFill>
              <a:latin typeface="仿宋" panose="02010609060101010101" pitchFamily="49" charset="-122"/>
              <a:ea typeface="仿宋" panose="02010609060101010101" pitchFamily="49" charset="-122"/>
            </a:endParaRPr>
          </a:p>
          <a:p>
            <a:pPr marL="342900" indent="-342900">
              <a:buFont typeface="Arial" panose="020B0604020202020204" pitchFamily="34" charset="0"/>
              <a:buChar char="•"/>
            </a:pPr>
            <a:r>
              <a:rPr lang="zh-CN" altLang="en-US" sz="2400" b="0" i="0" dirty="0">
                <a:solidFill>
                  <a:srgbClr val="111111"/>
                </a:solidFill>
                <a:effectLst/>
                <a:latin typeface="仿宋" panose="02010609060101010101" pitchFamily="49" charset="-122"/>
                <a:ea typeface="仿宋" panose="02010609060101010101" pitchFamily="49" charset="-122"/>
              </a:rPr>
              <a:t>接下来，我们为每个</a:t>
            </a:r>
            <a:r>
              <a:rPr lang="zh-CN" altLang="en-US" sz="2400" b="1" i="0" dirty="0">
                <a:solidFill>
                  <a:srgbClr val="111111"/>
                </a:solidFill>
                <a:effectLst/>
                <a:latin typeface="仿宋" panose="02010609060101010101" pitchFamily="49" charset="-122"/>
                <a:ea typeface="仿宋" panose="02010609060101010101" pitchFamily="49" charset="-122"/>
              </a:rPr>
              <a:t>实体</a:t>
            </a:r>
            <a:r>
              <a:rPr lang="zh-CN" altLang="en-US" sz="2400" b="0" i="0" dirty="0">
                <a:solidFill>
                  <a:srgbClr val="111111"/>
                </a:solidFill>
                <a:effectLst/>
                <a:latin typeface="仿宋" panose="02010609060101010101" pitchFamily="49" charset="-122"/>
                <a:ea typeface="仿宋" panose="02010609060101010101" pitchFamily="49" charset="-122"/>
              </a:rPr>
              <a:t>定义</a:t>
            </a:r>
            <a:r>
              <a:rPr lang="zh-CN" altLang="en-US" sz="2400" b="1" i="0" dirty="0">
                <a:solidFill>
                  <a:srgbClr val="111111"/>
                </a:solidFill>
                <a:effectLst/>
                <a:latin typeface="仿宋" panose="02010609060101010101" pitchFamily="49" charset="-122"/>
                <a:ea typeface="仿宋" panose="02010609060101010101" pitchFamily="49" charset="-122"/>
              </a:rPr>
              <a:t>属性</a:t>
            </a:r>
            <a:r>
              <a:rPr lang="zh-CN" altLang="en-US" sz="2400" b="0" i="0" dirty="0">
                <a:solidFill>
                  <a:srgbClr val="111111"/>
                </a:solidFill>
                <a:effectLst/>
                <a:latin typeface="仿宋" panose="02010609060101010101" pitchFamily="49" charset="-122"/>
                <a:ea typeface="仿宋" panose="02010609060101010101" pitchFamily="49" charset="-122"/>
              </a:rPr>
              <a:t>。例如：</a:t>
            </a:r>
            <a:endParaRPr lang="en-US" altLang="zh-CN" sz="2400" b="0" i="0" dirty="0">
              <a:solidFill>
                <a:srgbClr val="111111"/>
              </a:solidFill>
              <a:effectLst/>
              <a:latin typeface="仿宋" panose="02010609060101010101" pitchFamily="49" charset="-122"/>
              <a:ea typeface="仿宋" panose="02010609060101010101" pitchFamily="49" charset="-122"/>
            </a:endParaRPr>
          </a:p>
          <a:p>
            <a:pPr marL="800100" lvl="1" indent="-342900">
              <a:buFont typeface="Wingdings" panose="05000000000000000000" pitchFamily="2" charset="2"/>
              <a:buChar char="Ø"/>
            </a:pPr>
            <a:r>
              <a:rPr lang="zh-CN" altLang="en-US" sz="2400" b="0" i="0" dirty="0">
                <a:solidFill>
                  <a:srgbClr val="111111"/>
                </a:solidFill>
                <a:effectLst/>
                <a:latin typeface="仿宋" panose="02010609060101010101" pitchFamily="49" charset="-122"/>
                <a:ea typeface="仿宋" panose="02010609060101010101" pitchFamily="49" charset="-122"/>
              </a:rPr>
              <a:t>图书可能有属性：书名、作者、</a:t>
            </a:r>
            <a:r>
              <a:rPr lang="en-US" altLang="zh-CN" sz="2400" b="0" i="0" dirty="0">
                <a:solidFill>
                  <a:srgbClr val="111111"/>
                </a:solidFill>
                <a:effectLst/>
                <a:latin typeface="仿宋" panose="02010609060101010101" pitchFamily="49" charset="-122"/>
                <a:ea typeface="仿宋" panose="02010609060101010101" pitchFamily="49" charset="-122"/>
              </a:rPr>
              <a:t>ISBN</a:t>
            </a:r>
            <a:r>
              <a:rPr lang="zh-CN" altLang="en-US" sz="2400" b="0" i="0" dirty="0">
                <a:solidFill>
                  <a:srgbClr val="111111"/>
                </a:solidFill>
                <a:effectLst/>
                <a:latin typeface="仿宋" panose="02010609060101010101" pitchFamily="49" charset="-122"/>
                <a:ea typeface="仿宋" panose="02010609060101010101" pitchFamily="49" charset="-122"/>
              </a:rPr>
              <a:t>号、出版社等。</a:t>
            </a:r>
          </a:p>
          <a:p>
            <a:pPr marL="800100" lvl="1" indent="-342900">
              <a:buFont typeface="Wingdings" panose="05000000000000000000" pitchFamily="2" charset="2"/>
              <a:buChar char="Ø"/>
            </a:pPr>
            <a:r>
              <a:rPr lang="zh-CN" altLang="en-US" sz="2400" b="0" i="0" dirty="0">
                <a:solidFill>
                  <a:srgbClr val="111111"/>
                </a:solidFill>
                <a:effectLst/>
                <a:latin typeface="仿宋" panose="02010609060101010101" pitchFamily="49" charset="-122"/>
                <a:ea typeface="仿宋" panose="02010609060101010101" pitchFamily="49" charset="-122"/>
              </a:rPr>
              <a:t>读者可能有属性：姓名、读者编号、联系方式等。</a:t>
            </a:r>
          </a:p>
          <a:p>
            <a:pPr marL="342900" indent="-342900" algn="l">
              <a:buFont typeface="Arial" panose="020B0604020202020204" pitchFamily="34" charset="0"/>
              <a:buChar char="•"/>
            </a:pPr>
            <a:r>
              <a:rPr lang="zh-CN" altLang="en-US" sz="2400" b="0" i="0" dirty="0">
                <a:solidFill>
                  <a:srgbClr val="111111"/>
                </a:solidFill>
                <a:effectLst/>
                <a:latin typeface="仿宋" panose="02010609060101010101" pitchFamily="49" charset="-122"/>
                <a:ea typeface="仿宋" panose="02010609060101010101" pitchFamily="49" charset="-122"/>
              </a:rPr>
              <a:t>然后，我们确定</a:t>
            </a:r>
            <a:r>
              <a:rPr lang="zh-CN" altLang="en-US" sz="2400" b="1" i="0" dirty="0">
                <a:solidFill>
                  <a:srgbClr val="111111"/>
                </a:solidFill>
                <a:effectLst/>
                <a:latin typeface="仿宋" panose="02010609060101010101" pitchFamily="49" charset="-122"/>
                <a:ea typeface="仿宋" panose="02010609060101010101" pitchFamily="49" charset="-122"/>
              </a:rPr>
              <a:t>实体</a:t>
            </a:r>
            <a:r>
              <a:rPr lang="zh-CN" altLang="en-US" sz="2400" b="0" i="0" dirty="0">
                <a:solidFill>
                  <a:srgbClr val="111111"/>
                </a:solidFill>
                <a:effectLst/>
                <a:latin typeface="仿宋" panose="02010609060101010101" pitchFamily="49" charset="-122"/>
                <a:ea typeface="仿宋" panose="02010609060101010101" pitchFamily="49" charset="-122"/>
              </a:rPr>
              <a:t>之间的</a:t>
            </a:r>
            <a:r>
              <a:rPr lang="zh-CN" altLang="en-US" sz="2400" b="1" i="0" dirty="0">
                <a:solidFill>
                  <a:srgbClr val="111111"/>
                </a:solidFill>
                <a:effectLst/>
                <a:latin typeface="仿宋" panose="02010609060101010101" pitchFamily="49" charset="-122"/>
                <a:ea typeface="仿宋" panose="02010609060101010101" pitchFamily="49" charset="-122"/>
              </a:rPr>
              <a:t>联系</a:t>
            </a:r>
            <a:r>
              <a:rPr lang="zh-CN" altLang="en-US" sz="2400" b="0" i="0" dirty="0">
                <a:solidFill>
                  <a:srgbClr val="111111"/>
                </a:solidFill>
                <a:effectLst/>
                <a:latin typeface="仿宋" panose="02010609060101010101" pitchFamily="49" charset="-122"/>
                <a:ea typeface="仿宋" panose="02010609060101010101" pitchFamily="49" charset="-122"/>
              </a:rPr>
              <a:t>。例如：</a:t>
            </a:r>
          </a:p>
          <a:p>
            <a:pPr marL="800100" lvl="1" indent="-342900">
              <a:buFont typeface="Wingdings" panose="05000000000000000000" pitchFamily="2" charset="2"/>
              <a:buChar char="Ø"/>
            </a:pPr>
            <a:r>
              <a:rPr lang="zh-CN" altLang="en-US" sz="2400" b="0" i="0" dirty="0">
                <a:solidFill>
                  <a:srgbClr val="111111"/>
                </a:solidFill>
                <a:effectLst/>
                <a:latin typeface="仿宋" panose="02010609060101010101" pitchFamily="49" charset="-122"/>
                <a:ea typeface="仿宋" panose="02010609060101010101" pitchFamily="49" charset="-122"/>
              </a:rPr>
              <a:t>一个读者可以借阅多本图书，但一本图书同时只能被一个读者借阅。这是一个</a:t>
            </a:r>
            <a:r>
              <a:rPr lang="zh-CN" altLang="en-US" sz="2400" b="1" i="0" dirty="0">
                <a:solidFill>
                  <a:srgbClr val="111111"/>
                </a:solidFill>
                <a:effectLst/>
                <a:latin typeface="仿宋" panose="02010609060101010101" pitchFamily="49" charset="-122"/>
                <a:ea typeface="仿宋" panose="02010609060101010101" pitchFamily="49" charset="-122"/>
              </a:rPr>
              <a:t>一对多</a:t>
            </a:r>
            <a:r>
              <a:rPr lang="zh-CN" altLang="en-US" sz="2400" b="0" i="0" dirty="0">
                <a:solidFill>
                  <a:srgbClr val="111111"/>
                </a:solidFill>
                <a:effectLst/>
                <a:latin typeface="仿宋" panose="02010609060101010101" pitchFamily="49" charset="-122"/>
                <a:ea typeface="仿宋" panose="02010609060101010101" pitchFamily="49" charset="-122"/>
              </a:rPr>
              <a:t>的关系。</a:t>
            </a:r>
          </a:p>
          <a:p>
            <a:pPr marL="800100" lvl="1" indent="-342900">
              <a:buFont typeface="Wingdings" panose="05000000000000000000" pitchFamily="2" charset="2"/>
              <a:buChar char="Ø"/>
            </a:pPr>
            <a:r>
              <a:rPr lang="zh-CN" altLang="en-US" sz="2400" b="0" i="0" dirty="0">
                <a:solidFill>
                  <a:srgbClr val="111111"/>
                </a:solidFill>
                <a:effectLst/>
                <a:latin typeface="仿宋" panose="02010609060101010101" pitchFamily="49" charset="-122"/>
                <a:ea typeface="仿宋" panose="02010609060101010101" pitchFamily="49" charset="-122"/>
              </a:rPr>
              <a:t>借阅记录则是读者和图书之间的联系，记录了哪位读者借阅了哪本图书。</a:t>
            </a:r>
            <a:endParaRPr lang="en-US" altLang="zh-CN" sz="2400" b="0" i="0" dirty="0">
              <a:solidFill>
                <a:srgbClr val="111111"/>
              </a:solidFill>
              <a:effectLst/>
              <a:latin typeface="仿宋" panose="02010609060101010101" pitchFamily="49" charset="-122"/>
              <a:ea typeface="仿宋" panose="02010609060101010101" pitchFamily="49" charset="-122"/>
            </a:endParaRPr>
          </a:p>
          <a:p>
            <a:pPr marL="800100" lvl="1" indent="-342900">
              <a:buFont typeface="Wingdings" panose="05000000000000000000" pitchFamily="2" charset="2"/>
              <a:buChar char="Ø"/>
            </a:pPr>
            <a:r>
              <a:rPr lang="zh-CN" altLang="en-US" sz="2400" dirty="0">
                <a:solidFill>
                  <a:srgbClr val="111111"/>
                </a:solidFill>
                <a:latin typeface="仿宋" panose="02010609060101010101" pitchFamily="49" charset="-122"/>
                <a:ea typeface="仿宋" panose="02010609060101010101" pitchFamily="49" charset="-122"/>
              </a:rPr>
              <a:t>借阅记录可能有属性：借阅日期、归还日期、借阅状态等。</a:t>
            </a:r>
          </a:p>
        </p:txBody>
      </p:sp>
      <p:sp>
        <p:nvSpPr>
          <p:cNvPr id="10" name="文本框 9">
            <a:extLst>
              <a:ext uri="{FF2B5EF4-FFF2-40B4-BE49-F238E27FC236}">
                <a16:creationId xmlns:a16="http://schemas.microsoft.com/office/drawing/2014/main" id="{C867385B-EBF2-7133-5FEB-9B8D2002B2EC}"/>
              </a:ext>
            </a:extLst>
          </p:cNvPr>
          <p:cNvSpPr txBox="1"/>
          <p:nvPr/>
        </p:nvSpPr>
        <p:spPr>
          <a:xfrm>
            <a:off x="1234622" y="95361"/>
            <a:ext cx="8588828" cy="769441"/>
          </a:xfrm>
          <a:prstGeom prst="rect">
            <a:avLst/>
          </a:prstGeom>
          <a:noFill/>
        </p:spPr>
        <p:txBody>
          <a:bodyPr wrap="square" rtlCol="0">
            <a:spAutoFit/>
          </a:bodyPr>
          <a:lstStyle/>
          <a:p>
            <a:r>
              <a:rPr lang="en-US" altLang="zh-CN" sz="4400" dirty="0">
                <a:latin typeface="仿宋" panose="02010609060101010101" pitchFamily="49" charset="-122"/>
                <a:ea typeface="仿宋" panose="02010609060101010101" pitchFamily="49" charset="-122"/>
              </a:rPr>
              <a:t>ER</a:t>
            </a:r>
            <a:r>
              <a:rPr lang="zh-CN" altLang="en-US" sz="4400" dirty="0">
                <a:latin typeface="仿宋" panose="02010609060101010101" pitchFamily="49" charset="-122"/>
                <a:ea typeface="仿宋" panose="02010609060101010101" pitchFamily="49" charset="-122"/>
              </a:rPr>
              <a:t>图</a:t>
            </a:r>
            <a:endParaRPr lang="en-US" altLang="zh-CN" sz="4400" dirty="0">
              <a:latin typeface="仿宋" panose="02010609060101010101" pitchFamily="49" charset="-122"/>
              <a:ea typeface="仿宋" panose="02010609060101010101" pitchFamily="49" charset="-122"/>
            </a:endParaRPr>
          </a:p>
        </p:txBody>
      </p:sp>
      <p:pic>
        <p:nvPicPr>
          <p:cNvPr id="8" name="图片 4">
            <a:extLst>
              <a:ext uri="{FF2B5EF4-FFF2-40B4-BE49-F238E27FC236}">
                <a16:creationId xmlns:a16="http://schemas.microsoft.com/office/drawing/2014/main" id="{CA089CDE-A71C-0D51-AFB5-2166F706BE35}"/>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416425" y="6219825"/>
            <a:ext cx="542925" cy="542925"/>
          </a:xfrm>
          <a:prstGeom prst="rect">
            <a:avLst/>
          </a:prstGeom>
        </p:spPr>
      </p:pic>
    </p:spTree>
    <p:extLst>
      <p:ext uri="{BB962C8B-B14F-4D97-AF65-F5344CB8AC3E}">
        <p14:creationId xmlns:p14="http://schemas.microsoft.com/office/powerpoint/2010/main" val="33092146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49F3DFEE-D615-10A4-3DFB-F10E842FD6FF}"/>
              </a:ext>
            </a:extLst>
          </p:cNvPr>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 name="直接连接符 2">
            <a:extLst>
              <a:ext uri="{FF2B5EF4-FFF2-40B4-BE49-F238E27FC236}">
                <a16:creationId xmlns:a16="http://schemas.microsoft.com/office/drawing/2014/main" id="{E448084C-00C1-2D46-B2E9-907AC7E07A63}"/>
              </a:ext>
            </a:extLst>
          </p:cNvPr>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4" name="图形 3">
            <a:extLst>
              <a:ext uri="{FF2B5EF4-FFF2-40B4-BE49-F238E27FC236}">
                <a16:creationId xmlns:a16="http://schemas.microsoft.com/office/drawing/2014/main" id="{C93BB0EF-03E3-F5C3-728A-B6DC40F04B4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6" name="文本框 5">
            <a:extLst>
              <a:ext uri="{FF2B5EF4-FFF2-40B4-BE49-F238E27FC236}">
                <a16:creationId xmlns:a16="http://schemas.microsoft.com/office/drawing/2014/main" id="{47E122C5-6879-554E-162C-5ECC1522BC4D}"/>
              </a:ext>
            </a:extLst>
          </p:cNvPr>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17" name="矩形 16">
            <a:extLst>
              <a:ext uri="{FF2B5EF4-FFF2-40B4-BE49-F238E27FC236}">
                <a16:creationId xmlns:a16="http://schemas.microsoft.com/office/drawing/2014/main" id="{8DCDB635-B15B-D0BD-9E59-FE619CBEDC79}"/>
              </a:ext>
            </a:extLst>
          </p:cNvPr>
          <p:cNvSpPr/>
          <p:nvPr/>
        </p:nvSpPr>
        <p:spPr>
          <a:xfrm>
            <a:off x="2833914" y="3403784"/>
            <a:ext cx="1248228" cy="7474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读者</a:t>
            </a:r>
          </a:p>
        </p:txBody>
      </p:sp>
      <p:sp>
        <p:nvSpPr>
          <p:cNvPr id="18" name="矩形 17">
            <a:extLst>
              <a:ext uri="{FF2B5EF4-FFF2-40B4-BE49-F238E27FC236}">
                <a16:creationId xmlns:a16="http://schemas.microsoft.com/office/drawing/2014/main" id="{2B38D231-34C7-3ECC-3541-0C5F8EBEE33E}"/>
              </a:ext>
            </a:extLst>
          </p:cNvPr>
          <p:cNvSpPr/>
          <p:nvPr/>
        </p:nvSpPr>
        <p:spPr>
          <a:xfrm>
            <a:off x="6977743" y="3403784"/>
            <a:ext cx="1248228" cy="7474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图书</a:t>
            </a:r>
          </a:p>
        </p:txBody>
      </p:sp>
      <p:sp>
        <p:nvSpPr>
          <p:cNvPr id="19" name="流程图: 决策 18">
            <a:extLst>
              <a:ext uri="{FF2B5EF4-FFF2-40B4-BE49-F238E27FC236}">
                <a16:creationId xmlns:a16="http://schemas.microsoft.com/office/drawing/2014/main" id="{4A74F5DC-36AD-DCFE-47BB-5F6AD34F3B85}"/>
              </a:ext>
            </a:extLst>
          </p:cNvPr>
          <p:cNvSpPr/>
          <p:nvPr/>
        </p:nvSpPr>
        <p:spPr>
          <a:xfrm>
            <a:off x="4865913" y="3403784"/>
            <a:ext cx="1433286" cy="747486"/>
          </a:xfrm>
          <a:prstGeom prst="flowChartDecision">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借阅</a:t>
            </a:r>
          </a:p>
        </p:txBody>
      </p:sp>
      <p:cxnSp>
        <p:nvCxnSpPr>
          <p:cNvPr id="20" name="直接连接符 19">
            <a:extLst>
              <a:ext uri="{FF2B5EF4-FFF2-40B4-BE49-F238E27FC236}">
                <a16:creationId xmlns:a16="http://schemas.microsoft.com/office/drawing/2014/main" id="{E4245F73-DD23-2B33-4980-41F7DF2B100D}"/>
              </a:ext>
            </a:extLst>
          </p:cNvPr>
          <p:cNvCxnSpPr>
            <a:stCxn id="17" idx="3"/>
            <a:endCxn id="19" idx="1"/>
          </p:cNvCxnSpPr>
          <p:nvPr/>
        </p:nvCxnSpPr>
        <p:spPr>
          <a:xfrm>
            <a:off x="4082142" y="3777527"/>
            <a:ext cx="783771" cy="0"/>
          </a:xfrm>
          <a:prstGeom prst="line">
            <a:avLst/>
          </a:prstGeom>
        </p:spPr>
        <p:style>
          <a:lnRef idx="1">
            <a:schemeClr val="dk1"/>
          </a:lnRef>
          <a:fillRef idx="0">
            <a:schemeClr val="dk1"/>
          </a:fillRef>
          <a:effectRef idx="0">
            <a:schemeClr val="dk1"/>
          </a:effectRef>
          <a:fontRef idx="minor">
            <a:schemeClr val="tx1"/>
          </a:fontRef>
        </p:style>
      </p:cxnSp>
      <p:cxnSp>
        <p:nvCxnSpPr>
          <p:cNvPr id="21" name="直接连接符 20">
            <a:extLst>
              <a:ext uri="{FF2B5EF4-FFF2-40B4-BE49-F238E27FC236}">
                <a16:creationId xmlns:a16="http://schemas.microsoft.com/office/drawing/2014/main" id="{F9F85B12-6C52-D3F2-99A8-7B02C1843CC0}"/>
              </a:ext>
            </a:extLst>
          </p:cNvPr>
          <p:cNvCxnSpPr>
            <a:cxnSpLocks/>
            <a:stCxn id="19" idx="3"/>
            <a:endCxn id="18" idx="1"/>
          </p:cNvCxnSpPr>
          <p:nvPr/>
        </p:nvCxnSpPr>
        <p:spPr>
          <a:xfrm>
            <a:off x="6299199" y="3777527"/>
            <a:ext cx="678544" cy="0"/>
          </a:xfrm>
          <a:prstGeom prst="line">
            <a:avLst/>
          </a:prstGeom>
        </p:spPr>
        <p:style>
          <a:lnRef idx="1">
            <a:schemeClr val="dk1"/>
          </a:lnRef>
          <a:fillRef idx="0">
            <a:schemeClr val="dk1"/>
          </a:fillRef>
          <a:effectRef idx="0">
            <a:schemeClr val="dk1"/>
          </a:effectRef>
          <a:fontRef idx="minor">
            <a:schemeClr val="tx1"/>
          </a:fontRef>
        </p:style>
      </p:cxnSp>
      <p:sp>
        <p:nvSpPr>
          <p:cNvPr id="22" name="文本框 21">
            <a:extLst>
              <a:ext uri="{FF2B5EF4-FFF2-40B4-BE49-F238E27FC236}">
                <a16:creationId xmlns:a16="http://schemas.microsoft.com/office/drawing/2014/main" id="{54393EDE-815E-0663-4BD8-4ED26B5638B9}"/>
              </a:ext>
            </a:extLst>
          </p:cNvPr>
          <p:cNvSpPr txBox="1"/>
          <p:nvPr/>
        </p:nvSpPr>
        <p:spPr>
          <a:xfrm flipH="1">
            <a:off x="6381808" y="3345570"/>
            <a:ext cx="306494" cy="369332"/>
          </a:xfrm>
          <a:prstGeom prst="rect">
            <a:avLst/>
          </a:prstGeom>
          <a:noFill/>
        </p:spPr>
        <p:txBody>
          <a:bodyPr wrap="square" rtlCol="0">
            <a:spAutoFit/>
          </a:bodyPr>
          <a:lstStyle/>
          <a:p>
            <a:r>
              <a:rPr lang="en-US" altLang="zh-CN" dirty="0"/>
              <a:t>n</a:t>
            </a:r>
            <a:endParaRPr lang="zh-CN" altLang="en-US" dirty="0"/>
          </a:p>
        </p:txBody>
      </p:sp>
      <p:sp>
        <p:nvSpPr>
          <p:cNvPr id="23" name="文本框 22">
            <a:extLst>
              <a:ext uri="{FF2B5EF4-FFF2-40B4-BE49-F238E27FC236}">
                <a16:creationId xmlns:a16="http://schemas.microsoft.com/office/drawing/2014/main" id="{E12F2FB0-C619-4B71-757E-D5DEEDFA3118}"/>
              </a:ext>
            </a:extLst>
          </p:cNvPr>
          <p:cNvSpPr txBox="1"/>
          <p:nvPr/>
        </p:nvSpPr>
        <p:spPr>
          <a:xfrm flipH="1">
            <a:off x="4491324" y="3331042"/>
            <a:ext cx="306494" cy="369332"/>
          </a:xfrm>
          <a:prstGeom prst="rect">
            <a:avLst/>
          </a:prstGeom>
          <a:noFill/>
        </p:spPr>
        <p:txBody>
          <a:bodyPr wrap="square" rtlCol="0">
            <a:spAutoFit/>
          </a:bodyPr>
          <a:lstStyle/>
          <a:p>
            <a:r>
              <a:rPr lang="en-US" altLang="zh-CN" dirty="0"/>
              <a:t>1</a:t>
            </a:r>
            <a:endParaRPr lang="zh-CN" altLang="en-US" dirty="0"/>
          </a:p>
        </p:txBody>
      </p:sp>
      <p:cxnSp>
        <p:nvCxnSpPr>
          <p:cNvPr id="24" name="直接连接符 23">
            <a:extLst>
              <a:ext uri="{FF2B5EF4-FFF2-40B4-BE49-F238E27FC236}">
                <a16:creationId xmlns:a16="http://schemas.microsoft.com/office/drawing/2014/main" id="{9744C7FD-9E00-F541-5D28-D15C1CAC6CCB}"/>
              </a:ext>
            </a:extLst>
          </p:cNvPr>
          <p:cNvCxnSpPr>
            <a:cxnSpLocks/>
            <a:stCxn id="25" idx="0"/>
            <a:endCxn id="19" idx="2"/>
          </p:cNvCxnSpPr>
          <p:nvPr/>
        </p:nvCxnSpPr>
        <p:spPr>
          <a:xfrm flipV="1">
            <a:off x="5056347" y="4151270"/>
            <a:ext cx="526209" cy="537028"/>
          </a:xfrm>
          <a:prstGeom prst="line">
            <a:avLst/>
          </a:prstGeom>
        </p:spPr>
        <p:style>
          <a:lnRef idx="1">
            <a:schemeClr val="dk1"/>
          </a:lnRef>
          <a:fillRef idx="0">
            <a:schemeClr val="dk1"/>
          </a:fillRef>
          <a:effectRef idx="0">
            <a:schemeClr val="dk1"/>
          </a:effectRef>
          <a:fontRef idx="minor">
            <a:schemeClr val="tx1"/>
          </a:fontRef>
        </p:style>
      </p:cxnSp>
      <p:sp>
        <p:nvSpPr>
          <p:cNvPr id="25" name="椭圆 24">
            <a:extLst>
              <a:ext uri="{FF2B5EF4-FFF2-40B4-BE49-F238E27FC236}">
                <a16:creationId xmlns:a16="http://schemas.microsoft.com/office/drawing/2014/main" id="{94A1A163-CFE1-BE87-4ECE-CEB64FBF000F}"/>
              </a:ext>
            </a:extLst>
          </p:cNvPr>
          <p:cNvSpPr/>
          <p:nvPr/>
        </p:nvSpPr>
        <p:spPr>
          <a:xfrm>
            <a:off x="4270692" y="4688298"/>
            <a:ext cx="1571309" cy="74747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借阅日期</a:t>
            </a:r>
          </a:p>
        </p:txBody>
      </p:sp>
      <p:cxnSp>
        <p:nvCxnSpPr>
          <p:cNvPr id="26" name="直接连接符 25">
            <a:extLst>
              <a:ext uri="{FF2B5EF4-FFF2-40B4-BE49-F238E27FC236}">
                <a16:creationId xmlns:a16="http://schemas.microsoft.com/office/drawing/2014/main" id="{63493D28-A25A-2B04-C739-F4180E8D1623}"/>
              </a:ext>
            </a:extLst>
          </p:cNvPr>
          <p:cNvCxnSpPr>
            <a:cxnSpLocks/>
            <a:stCxn id="27" idx="0"/>
            <a:endCxn id="19" idx="2"/>
          </p:cNvCxnSpPr>
          <p:nvPr/>
        </p:nvCxnSpPr>
        <p:spPr>
          <a:xfrm flipH="1" flipV="1">
            <a:off x="5582556" y="4151270"/>
            <a:ext cx="1480006" cy="537027"/>
          </a:xfrm>
          <a:prstGeom prst="line">
            <a:avLst/>
          </a:prstGeom>
        </p:spPr>
        <p:style>
          <a:lnRef idx="1">
            <a:schemeClr val="dk1"/>
          </a:lnRef>
          <a:fillRef idx="0">
            <a:schemeClr val="dk1"/>
          </a:fillRef>
          <a:effectRef idx="0">
            <a:schemeClr val="dk1"/>
          </a:effectRef>
          <a:fontRef idx="minor">
            <a:schemeClr val="tx1"/>
          </a:fontRef>
        </p:style>
      </p:cxnSp>
      <p:sp>
        <p:nvSpPr>
          <p:cNvPr id="27" name="椭圆 26">
            <a:extLst>
              <a:ext uri="{FF2B5EF4-FFF2-40B4-BE49-F238E27FC236}">
                <a16:creationId xmlns:a16="http://schemas.microsoft.com/office/drawing/2014/main" id="{E98429E7-9EF1-FC0F-75F0-ABEF8B08655D}"/>
              </a:ext>
            </a:extLst>
          </p:cNvPr>
          <p:cNvSpPr/>
          <p:nvPr/>
        </p:nvSpPr>
        <p:spPr>
          <a:xfrm>
            <a:off x="6229353" y="4688297"/>
            <a:ext cx="1666418" cy="74747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归还日期</a:t>
            </a:r>
          </a:p>
        </p:txBody>
      </p:sp>
      <p:cxnSp>
        <p:nvCxnSpPr>
          <p:cNvPr id="28" name="直接连接符 27">
            <a:extLst>
              <a:ext uri="{FF2B5EF4-FFF2-40B4-BE49-F238E27FC236}">
                <a16:creationId xmlns:a16="http://schemas.microsoft.com/office/drawing/2014/main" id="{73B30E18-50A2-4E7B-0E0C-852E24C31A4D}"/>
              </a:ext>
            </a:extLst>
          </p:cNvPr>
          <p:cNvCxnSpPr>
            <a:cxnSpLocks/>
            <a:stCxn id="29" idx="0"/>
          </p:cNvCxnSpPr>
          <p:nvPr/>
        </p:nvCxnSpPr>
        <p:spPr>
          <a:xfrm flipV="1">
            <a:off x="2611208" y="4151270"/>
            <a:ext cx="422505" cy="685856"/>
          </a:xfrm>
          <a:prstGeom prst="line">
            <a:avLst/>
          </a:prstGeom>
        </p:spPr>
        <p:style>
          <a:lnRef idx="1">
            <a:schemeClr val="dk1"/>
          </a:lnRef>
          <a:fillRef idx="0">
            <a:schemeClr val="dk1"/>
          </a:fillRef>
          <a:effectRef idx="0">
            <a:schemeClr val="dk1"/>
          </a:effectRef>
          <a:fontRef idx="minor">
            <a:schemeClr val="tx1"/>
          </a:fontRef>
        </p:style>
      </p:cxnSp>
      <p:sp>
        <p:nvSpPr>
          <p:cNvPr id="29" name="椭圆 28">
            <a:extLst>
              <a:ext uri="{FF2B5EF4-FFF2-40B4-BE49-F238E27FC236}">
                <a16:creationId xmlns:a16="http://schemas.microsoft.com/office/drawing/2014/main" id="{1B5A76C6-916B-A782-19D7-06F121326C57}"/>
              </a:ext>
            </a:extLst>
          </p:cNvPr>
          <p:cNvSpPr/>
          <p:nvPr/>
        </p:nvSpPr>
        <p:spPr>
          <a:xfrm>
            <a:off x="2011586" y="4837126"/>
            <a:ext cx="1199244" cy="74747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姓名</a:t>
            </a:r>
          </a:p>
        </p:txBody>
      </p:sp>
      <p:sp>
        <p:nvSpPr>
          <p:cNvPr id="30" name="椭圆 29">
            <a:extLst>
              <a:ext uri="{FF2B5EF4-FFF2-40B4-BE49-F238E27FC236}">
                <a16:creationId xmlns:a16="http://schemas.microsoft.com/office/drawing/2014/main" id="{976B1314-360E-03AD-C2E8-12FD5D28995D}"/>
              </a:ext>
            </a:extLst>
          </p:cNvPr>
          <p:cNvSpPr/>
          <p:nvPr/>
        </p:nvSpPr>
        <p:spPr>
          <a:xfrm>
            <a:off x="3110794" y="5315866"/>
            <a:ext cx="1673000" cy="74747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读者编号</a:t>
            </a:r>
          </a:p>
        </p:txBody>
      </p:sp>
      <p:cxnSp>
        <p:nvCxnSpPr>
          <p:cNvPr id="31" name="直接连接符 30">
            <a:extLst>
              <a:ext uri="{FF2B5EF4-FFF2-40B4-BE49-F238E27FC236}">
                <a16:creationId xmlns:a16="http://schemas.microsoft.com/office/drawing/2014/main" id="{D50F484E-FDF2-535F-D18C-6B40654F8DB0}"/>
              </a:ext>
            </a:extLst>
          </p:cNvPr>
          <p:cNvCxnSpPr>
            <a:cxnSpLocks/>
            <a:stCxn id="30" idx="0"/>
            <a:endCxn id="17" idx="2"/>
          </p:cNvCxnSpPr>
          <p:nvPr/>
        </p:nvCxnSpPr>
        <p:spPr>
          <a:xfrm flipH="1" flipV="1">
            <a:off x="3458028" y="4151270"/>
            <a:ext cx="489266" cy="1164596"/>
          </a:xfrm>
          <a:prstGeom prst="line">
            <a:avLst/>
          </a:prstGeom>
        </p:spPr>
        <p:style>
          <a:lnRef idx="1">
            <a:schemeClr val="dk1"/>
          </a:lnRef>
          <a:fillRef idx="0">
            <a:schemeClr val="dk1"/>
          </a:fillRef>
          <a:effectRef idx="0">
            <a:schemeClr val="dk1"/>
          </a:effectRef>
          <a:fontRef idx="minor">
            <a:schemeClr val="tx1"/>
          </a:fontRef>
        </p:style>
      </p:cxnSp>
      <p:sp>
        <p:nvSpPr>
          <p:cNvPr id="32" name="椭圆 31">
            <a:extLst>
              <a:ext uri="{FF2B5EF4-FFF2-40B4-BE49-F238E27FC236}">
                <a16:creationId xmlns:a16="http://schemas.microsoft.com/office/drawing/2014/main" id="{2875FE40-2247-92AD-851E-8ED44BBAE16D}"/>
              </a:ext>
            </a:extLst>
          </p:cNvPr>
          <p:cNvSpPr/>
          <p:nvPr/>
        </p:nvSpPr>
        <p:spPr>
          <a:xfrm>
            <a:off x="528810" y="3940820"/>
            <a:ext cx="1564139" cy="74747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联系方式</a:t>
            </a:r>
          </a:p>
        </p:txBody>
      </p:sp>
      <p:cxnSp>
        <p:nvCxnSpPr>
          <p:cNvPr id="33" name="直接连接符 32">
            <a:extLst>
              <a:ext uri="{FF2B5EF4-FFF2-40B4-BE49-F238E27FC236}">
                <a16:creationId xmlns:a16="http://schemas.microsoft.com/office/drawing/2014/main" id="{FE2A4DDD-F810-1151-CF6A-A13CBE4DFBAF}"/>
              </a:ext>
            </a:extLst>
          </p:cNvPr>
          <p:cNvCxnSpPr>
            <a:cxnSpLocks/>
            <a:stCxn id="32" idx="6"/>
            <a:endCxn id="17" idx="1"/>
          </p:cNvCxnSpPr>
          <p:nvPr/>
        </p:nvCxnSpPr>
        <p:spPr>
          <a:xfrm flipV="1">
            <a:off x="2092949" y="3777527"/>
            <a:ext cx="740965" cy="537032"/>
          </a:xfrm>
          <a:prstGeom prst="line">
            <a:avLst/>
          </a:prstGeom>
        </p:spPr>
        <p:style>
          <a:lnRef idx="1">
            <a:schemeClr val="dk1"/>
          </a:lnRef>
          <a:fillRef idx="0">
            <a:schemeClr val="dk1"/>
          </a:fillRef>
          <a:effectRef idx="0">
            <a:schemeClr val="dk1"/>
          </a:effectRef>
          <a:fontRef idx="minor">
            <a:schemeClr val="tx1"/>
          </a:fontRef>
        </p:style>
      </p:cxnSp>
      <p:sp>
        <p:nvSpPr>
          <p:cNvPr id="34" name="椭圆 33">
            <a:extLst>
              <a:ext uri="{FF2B5EF4-FFF2-40B4-BE49-F238E27FC236}">
                <a16:creationId xmlns:a16="http://schemas.microsoft.com/office/drawing/2014/main" id="{1F5F7F84-EC73-203C-F5C9-CD6FFEF68C16}"/>
              </a:ext>
            </a:extLst>
          </p:cNvPr>
          <p:cNvSpPr/>
          <p:nvPr/>
        </p:nvSpPr>
        <p:spPr>
          <a:xfrm>
            <a:off x="9114010" y="5315865"/>
            <a:ext cx="1564139" cy="74747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ISBN</a:t>
            </a:r>
            <a:endParaRPr lang="zh-CN" altLang="en-US" dirty="0"/>
          </a:p>
        </p:txBody>
      </p:sp>
      <p:sp>
        <p:nvSpPr>
          <p:cNvPr id="35" name="椭圆 34">
            <a:extLst>
              <a:ext uri="{FF2B5EF4-FFF2-40B4-BE49-F238E27FC236}">
                <a16:creationId xmlns:a16="http://schemas.microsoft.com/office/drawing/2014/main" id="{2545FEF9-4777-5041-6AC7-F53A017A33E1}"/>
              </a:ext>
            </a:extLst>
          </p:cNvPr>
          <p:cNvSpPr/>
          <p:nvPr/>
        </p:nvSpPr>
        <p:spPr>
          <a:xfrm>
            <a:off x="9437350" y="4227293"/>
            <a:ext cx="1564139" cy="74747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书名</a:t>
            </a:r>
          </a:p>
        </p:txBody>
      </p:sp>
      <p:sp>
        <p:nvSpPr>
          <p:cNvPr id="36" name="椭圆 35">
            <a:extLst>
              <a:ext uri="{FF2B5EF4-FFF2-40B4-BE49-F238E27FC236}">
                <a16:creationId xmlns:a16="http://schemas.microsoft.com/office/drawing/2014/main" id="{CCDF91AC-5066-5B78-8173-7A8189A86A2F}"/>
              </a:ext>
            </a:extLst>
          </p:cNvPr>
          <p:cNvSpPr/>
          <p:nvPr/>
        </p:nvSpPr>
        <p:spPr>
          <a:xfrm>
            <a:off x="8994664" y="3298566"/>
            <a:ext cx="1564139" cy="74747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作者</a:t>
            </a:r>
          </a:p>
        </p:txBody>
      </p:sp>
      <p:cxnSp>
        <p:nvCxnSpPr>
          <p:cNvPr id="37" name="直接连接符 36">
            <a:extLst>
              <a:ext uri="{FF2B5EF4-FFF2-40B4-BE49-F238E27FC236}">
                <a16:creationId xmlns:a16="http://schemas.microsoft.com/office/drawing/2014/main" id="{0B395C97-BA58-2948-C966-C005CD4122D8}"/>
              </a:ext>
            </a:extLst>
          </p:cNvPr>
          <p:cNvCxnSpPr>
            <a:cxnSpLocks/>
            <a:stCxn id="36" idx="2"/>
            <a:endCxn id="18" idx="3"/>
          </p:cNvCxnSpPr>
          <p:nvPr/>
        </p:nvCxnSpPr>
        <p:spPr>
          <a:xfrm flipH="1">
            <a:off x="8225971" y="3672305"/>
            <a:ext cx="768693" cy="105222"/>
          </a:xfrm>
          <a:prstGeom prst="line">
            <a:avLst/>
          </a:prstGeom>
        </p:spPr>
        <p:style>
          <a:lnRef idx="1">
            <a:schemeClr val="dk1"/>
          </a:lnRef>
          <a:fillRef idx="0">
            <a:schemeClr val="dk1"/>
          </a:fillRef>
          <a:effectRef idx="0">
            <a:schemeClr val="dk1"/>
          </a:effectRef>
          <a:fontRef idx="minor">
            <a:schemeClr val="tx1"/>
          </a:fontRef>
        </p:style>
      </p:cxnSp>
      <p:cxnSp>
        <p:nvCxnSpPr>
          <p:cNvPr id="38" name="直接连接符 37">
            <a:extLst>
              <a:ext uri="{FF2B5EF4-FFF2-40B4-BE49-F238E27FC236}">
                <a16:creationId xmlns:a16="http://schemas.microsoft.com/office/drawing/2014/main" id="{EF9438DD-802B-8D01-BC77-3794BF5710F0}"/>
              </a:ext>
            </a:extLst>
          </p:cNvPr>
          <p:cNvCxnSpPr>
            <a:cxnSpLocks/>
            <a:stCxn id="35" idx="2"/>
            <a:endCxn id="18" idx="3"/>
          </p:cNvCxnSpPr>
          <p:nvPr/>
        </p:nvCxnSpPr>
        <p:spPr>
          <a:xfrm flipH="1" flipV="1">
            <a:off x="8225971" y="3777527"/>
            <a:ext cx="1211379" cy="823505"/>
          </a:xfrm>
          <a:prstGeom prst="line">
            <a:avLst/>
          </a:prstGeom>
        </p:spPr>
        <p:style>
          <a:lnRef idx="1">
            <a:schemeClr val="dk1"/>
          </a:lnRef>
          <a:fillRef idx="0">
            <a:schemeClr val="dk1"/>
          </a:fillRef>
          <a:effectRef idx="0">
            <a:schemeClr val="dk1"/>
          </a:effectRef>
          <a:fontRef idx="minor">
            <a:schemeClr val="tx1"/>
          </a:fontRef>
        </p:style>
      </p:cxnSp>
      <p:cxnSp>
        <p:nvCxnSpPr>
          <p:cNvPr id="39" name="直接连接符 38">
            <a:extLst>
              <a:ext uri="{FF2B5EF4-FFF2-40B4-BE49-F238E27FC236}">
                <a16:creationId xmlns:a16="http://schemas.microsoft.com/office/drawing/2014/main" id="{7BEB1DFC-AB64-EAD5-D7CE-1EB5CF1A6D97}"/>
              </a:ext>
            </a:extLst>
          </p:cNvPr>
          <p:cNvCxnSpPr>
            <a:cxnSpLocks/>
            <a:stCxn id="34" idx="1"/>
            <a:endCxn id="18" idx="2"/>
          </p:cNvCxnSpPr>
          <p:nvPr/>
        </p:nvCxnSpPr>
        <p:spPr>
          <a:xfrm flipH="1" flipV="1">
            <a:off x="7601857" y="4151270"/>
            <a:ext cx="1741216" cy="1274060"/>
          </a:xfrm>
          <a:prstGeom prst="line">
            <a:avLst/>
          </a:prstGeom>
        </p:spPr>
        <p:style>
          <a:lnRef idx="1">
            <a:schemeClr val="dk1"/>
          </a:lnRef>
          <a:fillRef idx="0">
            <a:schemeClr val="dk1"/>
          </a:fillRef>
          <a:effectRef idx="0">
            <a:schemeClr val="dk1"/>
          </a:effectRef>
          <a:fontRef idx="minor">
            <a:schemeClr val="tx1"/>
          </a:fontRef>
        </p:style>
      </p:cxnSp>
      <p:sp>
        <p:nvSpPr>
          <p:cNvPr id="40" name="文本框 39">
            <a:extLst>
              <a:ext uri="{FF2B5EF4-FFF2-40B4-BE49-F238E27FC236}">
                <a16:creationId xmlns:a16="http://schemas.microsoft.com/office/drawing/2014/main" id="{16329717-0C1C-37F1-D8C3-452A8E96D29E}"/>
              </a:ext>
            </a:extLst>
          </p:cNvPr>
          <p:cNvSpPr txBox="1"/>
          <p:nvPr/>
        </p:nvSpPr>
        <p:spPr>
          <a:xfrm>
            <a:off x="1496787" y="945171"/>
            <a:ext cx="8690427" cy="1815882"/>
          </a:xfrm>
          <a:prstGeom prst="rect">
            <a:avLst/>
          </a:prstGeom>
          <a:noFill/>
        </p:spPr>
        <p:txBody>
          <a:bodyPr wrap="square">
            <a:spAutoFit/>
          </a:bodyPr>
          <a:lstStyle/>
          <a:p>
            <a:r>
              <a:rPr lang="zh-CN" altLang="en-US" sz="2800" dirty="0">
                <a:latin typeface="仿宋" panose="02010609060101010101" pitchFamily="49" charset="-122"/>
                <a:ea typeface="仿宋" panose="02010609060101010101" pitchFamily="49" charset="-122"/>
              </a:rPr>
              <a:t>小技巧</a:t>
            </a:r>
            <a:r>
              <a:rPr lang="en-US" altLang="zh-CN" sz="2800" dirty="0">
                <a:latin typeface="仿宋" panose="02010609060101010101" pitchFamily="49" charset="-122"/>
                <a:ea typeface="仿宋" panose="02010609060101010101" pitchFamily="49" charset="-122"/>
              </a:rPr>
              <a:t>:</a:t>
            </a:r>
            <a:r>
              <a:rPr lang="zh-CN" altLang="en-US" sz="2800" dirty="0">
                <a:latin typeface="仿宋" panose="02010609060101010101" pitchFamily="49" charset="-122"/>
                <a:ea typeface="仿宋" panose="02010609060101010101" pitchFamily="49" charset="-122"/>
              </a:rPr>
              <a:t>善用复制粘贴</a:t>
            </a:r>
            <a:endParaRPr lang="en-US" altLang="zh-CN" sz="2800" dirty="0">
              <a:latin typeface="仿宋" panose="02010609060101010101" pitchFamily="49" charset="-122"/>
              <a:ea typeface="仿宋" panose="02010609060101010101" pitchFamily="49" charset="-122"/>
            </a:endParaRPr>
          </a:p>
          <a:p>
            <a:r>
              <a:rPr lang="zh-CN" altLang="en-US" sz="2800" dirty="0">
                <a:latin typeface="仿宋" panose="02010609060101010101" pitchFamily="49" charset="-122"/>
                <a:ea typeface="仿宋" panose="02010609060101010101" pitchFamily="49" charset="-122"/>
              </a:rPr>
              <a:t>我感觉</a:t>
            </a:r>
            <a:r>
              <a:rPr lang="en-US" altLang="zh-CN" sz="2800" dirty="0">
                <a:latin typeface="仿宋" panose="02010609060101010101" pitchFamily="49" charset="-122"/>
                <a:ea typeface="仿宋" panose="02010609060101010101" pitchFamily="49" charset="-122"/>
              </a:rPr>
              <a:t>ppt</a:t>
            </a:r>
            <a:r>
              <a:rPr lang="zh-CN" altLang="en-US" sz="2800" dirty="0">
                <a:latin typeface="仿宋" panose="02010609060101010101" pitchFamily="49" charset="-122"/>
                <a:ea typeface="仿宋" panose="02010609060101010101" pitchFamily="49" charset="-122"/>
              </a:rPr>
              <a:t>比</a:t>
            </a:r>
            <a:r>
              <a:rPr lang="en-US" altLang="zh-CN" sz="2800" dirty="0">
                <a:latin typeface="仿宋" panose="02010609060101010101" pitchFamily="49" charset="-122"/>
                <a:ea typeface="仿宋" panose="02010609060101010101" pitchFamily="49" charset="-122"/>
              </a:rPr>
              <a:t>word</a:t>
            </a:r>
            <a:r>
              <a:rPr lang="zh-CN" altLang="en-US" sz="2800" dirty="0">
                <a:latin typeface="仿宋" panose="02010609060101010101" pitchFamily="49" charset="-122"/>
                <a:ea typeface="仿宋" panose="02010609060101010101" pitchFamily="49" charset="-122"/>
              </a:rPr>
              <a:t>好用</a:t>
            </a:r>
            <a:r>
              <a:rPr lang="en-US" altLang="zh-CN" sz="2800" dirty="0">
                <a:latin typeface="仿宋" panose="02010609060101010101" pitchFamily="49" charset="-122"/>
                <a:ea typeface="仿宋" panose="02010609060101010101" pitchFamily="49" charset="-122"/>
              </a:rPr>
              <a:t>(</a:t>
            </a:r>
            <a:r>
              <a:rPr lang="zh-CN" altLang="en-US" sz="2800" dirty="0">
                <a:latin typeface="仿宋" panose="02010609060101010101" pitchFamily="49" charset="-122"/>
                <a:ea typeface="仿宋" panose="02010609060101010101" pitchFamily="49" charset="-122"/>
              </a:rPr>
              <a:t>我们老师说考试的时候可以使用</a:t>
            </a:r>
            <a:r>
              <a:rPr lang="en-US" altLang="zh-CN" sz="2800" dirty="0">
                <a:latin typeface="仿宋" panose="02010609060101010101" pitchFamily="49" charset="-122"/>
                <a:ea typeface="仿宋" panose="02010609060101010101" pitchFamily="49" charset="-122"/>
              </a:rPr>
              <a:t>ppt</a:t>
            </a:r>
            <a:r>
              <a:rPr lang="zh-CN" altLang="en-US" sz="2800" dirty="0">
                <a:latin typeface="仿宋" panose="02010609060101010101" pitchFamily="49" charset="-122"/>
                <a:ea typeface="仿宋" panose="02010609060101010101" pitchFamily="49" charset="-122"/>
              </a:rPr>
              <a:t>或者</a:t>
            </a:r>
            <a:r>
              <a:rPr lang="en-US" altLang="zh-CN" sz="2800" dirty="0">
                <a:latin typeface="仿宋" panose="02010609060101010101" pitchFamily="49" charset="-122"/>
                <a:ea typeface="仿宋" panose="02010609060101010101" pitchFamily="49" charset="-122"/>
              </a:rPr>
              <a:t>word</a:t>
            </a:r>
            <a:r>
              <a:rPr lang="zh-CN" altLang="en-US" sz="2800" dirty="0">
                <a:latin typeface="仿宋" panose="02010609060101010101" pitchFamily="49" charset="-122"/>
                <a:ea typeface="仿宋" panose="02010609060101010101" pitchFamily="49" charset="-122"/>
              </a:rPr>
              <a:t>作图</a:t>
            </a:r>
            <a:r>
              <a:rPr lang="en-US" altLang="zh-CN" sz="2800" dirty="0">
                <a:latin typeface="仿宋" panose="02010609060101010101" pitchFamily="49" charset="-122"/>
                <a:ea typeface="仿宋" panose="02010609060101010101" pitchFamily="49" charset="-122"/>
              </a:rPr>
              <a:t>)</a:t>
            </a:r>
          </a:p>
          <a:p>
            <a:r>
              <a:rPr lang="en-US" altLang="zh-CN" sz="2800" dirty="0">
                <a:latin typeface="仿宋" panose="02010609060101010101" pitchFamily="49" charset="-122"/>
                <a:ea typeface="仿宋" panose="02010609060101010101" pitchFamily="49" charset="-122"/>
              </a:rPr>
              <a:t>ppt</a:t>
            </a:r>
            <a:r>
              <a:rPr lang="zh-CN" altLang="en-US" sz="2800" dirty="0">
                <a:latin typeface="仿宋" panose="02010609060101010101" pitchFamily="49" charset="-122"/>
                <a:ea typeface="仿宋" panose="02010609060101010101" pitchFamily="49" charset="-122"/>
              </a:rPr>
              <a:t>中按住</a:t>
            </a:r>
            <a:r>
              <a:rPr lang="en-US" altLang="zh-CN" sz="2800" dirty="0">
                <a:latin typeface="仿宋" panose="02010609060101010101" pitchFamily="49" charset="-122"/>
                <a:ea typeface="仿宋" panose="02010609060101010101" pitchFamily="49" charset="-122"/>
              </a:rPr>
              <a:t>ctrl</a:t>
            </a:r>
            <a:r>
              <a:rPr lang="zh-CN" altLang="en-US" sz="2800" dirty="0">
                <a:latin typeface="仿宋" panose="02010609060101010101" pitchFamily="49" charset="-122"/>
                <a:ea typeface="仿宋" panose="02010609060101010101" pitchFamily="49" charset="-122"/>
              </a:rPr>
              <a:t>的时候拖动应该可以直接复制粘贴</a:t>
            </a:r>
            <a:endParaRPr lang="en-US" altLang="zh-CN" sz="2800" dirty="0">
              <a:latin typeface="仿宋" panose="02010609060101010101" pitchFamily="49" charset="-122"/>
              <a:ea typeface="仿宋" panose="02010609060101010101" pitchFamily="49" charset="-122"/>
            </a:endParaRPr>
          </a:p>
        </p:txBody>
      </p:sp>
      <p:sp>
        <p:nvSpPr>
          <p:cNvPr id="41" name="文本框 40">
            <a:extLst>
              <a:ext uri="{FF2B5EF4-FFF2-40B4-BE49-F238E27FC236}">
                <a16:creationId xmlns:a16="http://schemas.microsoft.com/office/drawing/2014/main" id="{63D730B8-8885-4671-3E4C-7D3816EDDBAA}"/>
              </a:ext>
            </a:extLst>
          </p:cNvPr>
          <p:cNvSpPr txBox="1"/>
          <p:nvPr/>
        </p:nvSpPr>
        <p:spPr>
          <a:xfrm>
            <a:off x="1234622" y="95361"/>
            <a:ext cx="8588828" cy="769441"/>
          </a:xfrm>
          <a:prstGeom prst="rect">
            <a:avLst/>
          </a:prstGeom>
          <a:noFill/>
        </p:spPr>
        <p:txBody>
          <a:bodyPr wrap="square" rtlCol="0">
            <a:spAutoFit/>
          </a:bodyPr>
          <a:lstStyle/>
          <a:p>
            <a:r>
              <a:rPr lang="en-US" altLang="zh-CN" sz="4400" dirty="0">
                <a:latin typeface="仿宋" panose="02010609060101010101" pitchFamily="49" charset="-122"/>
                <a:ea typeface="仿宋" panose="02010609060101010101" pitchFamily="49" charset="-122"/>
              </a:rPr>
              <a:t>ER</a:t>
            </a:r>
            <a:r>
              <a:rPr lang="zh-CN" altLang="en-US" sz="4400" dirty="0">
                <a:latin typeface="仿宋" panose="02010609060101010101" pitchFamily="49" charset="-122"/>
                <a:ea typeface="仿宋" panose="02010609060101010101" pitchFamily="49" charset="-122"/>
              </a:rPr>
              <a:t>图</a:t>
            </a:r>
            <a:endParaRPr lang="en-US" altLang="zh-CN" sz="4400" dirty="0">
              <a:latin typeface="仿宋" panose="02010609060101010101" pitchFamily="49" charset="-122"/>
              <a:ea typeface="仿宋" panose="02010609060101010101" pitchFamily="49" charset="-122"/>
            </a:endParaRPr>
          </a:p>
        </p:txBody>
      </p:sp>
      <p:pic>
        <p:nvPicPr>
          <p:cNvPr id="7" name="图片 4">
            <a:extLst>
              <a:ext uri="{FF2B5EF4-FFF2-40B4-BE49-F238E27FC236}">
                <a16:creationId xmlns:a16="http://schemas.microsoft.com/office/drawing/2014/main" id="{FAD32925-AEE1-7510-12C1-E1C154468C24}"/>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416425" y="6219825"/>
            <a:ext cx="542925" cy="542925"/>
          </a:xfrm>
          <a:prstGeom prst="rect">
            <a:avLst/>
          </a:prstGeom>
        </p:spPr>
      </p:pic>
    </p:spTree>
    <p:extLst>
      <p:ext uri="{BB962C8B-B14F-4D97-AF65-F5344CB8AC3E}">
        <p14:creationId xmlns:p14="http://schemas.microsoft.com/office/powerpoint/2010/main" val="39606058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49F3DFEE-D615-10A4-3DFB-F10E842FD6FF}"/>
              </a:ext>
            </a:extLst>
          </p:cNvPr>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 name="直接连接符 2">
            <a:extLst>
              <a:ext uri="{FF2B5EF4-FFF2-40B4-BE49-F238E27FC236}">
                <a16:creationId xmlns:a16="http://schemas.microsoft.com/office/drawing/2014/main" id="{E448084C-00C1-2D46-B2E9-907AC7E07A63}"/>
              </a:ext>
            </a:extLst>
          </p:cNvPr>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4" name="图形 3">
            <a:extLst>
              <a:ext uri="{FF2B5EF4-FFF2-40B4-BE49-F238E27FC236}">
                <a16:creationId xmlns:a16="http://schemas.microsoft.com/office/drawing/2014/main" id="{C93BB0EF-03E3-F5C3-728A-B6DC40F04B4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6" name="文本框 5">
            <a:extLst>
              <a:ext uri="{FF2B5EF4-FFF2-40B4-BE49-F238E27FC236}">
                <a16:creationId xmlns:a16="http://schemas.microsoft.com/office/drawing/2014/main" id="{47E122C5-6879-554E-162C-5ECC1522BC4D}"/>
              </a:ext>
            </a:extLst>
          </p:cNvPr>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7" name="文本框 6">
            <a:extLst>
              <a:ext uri="{FF2B5EF4-FFF2-40B4-BE49-F238E27FC236}">
                <a16:creationId xmlns:a16="http://schemas.microsoft.com/office/drawing/2014/main" id="{D41807FF-769B-B074-7FE3-2D6FB23DD80D}"/>
              </a:ext>
            </a:extLst>
          </p:cNvPr>
          <p:cNvSpPr txBox="1"/>
          <p:nvPr/>
        </p:nvSpPr>
        <p:spPr>
          <a:xfrm>
            <a:off x="660400" y="1238294"/>
            <a:ext cx="6096000" cy="2246769"/>
          </a:xfrm>
          <a:prstGeom prst="rect">
            <a:avLst/>
          </a:prstGeom>
          <a:noFill/>
        </p:spPr>
        <p:txBody>
          <a:bodyPr wrap="square">
            <a:spAutoFit/>
          </a:bodyPr>
          <a:lstStyle/>
          <a:p>
            <a:pPr algn="l"/>
            <a:r>
              <a:rPr lang="zh-CN" altLang="en-US" sz="2800" b="0" i="0" u="none" strike="noStrike" baseline="0" dirty="0">
                <a:latin typeface="仿宋" panose="02010609060101010101" pitchFamily="49" charset="-122"/>
                <a:ea typeface="仿宋" panose="02010609060101010101" pitchFamily="49" charset="-122"/>
              </a:rPr>
              <a:t>按照数据模型的特点，分为四类：</a:t>
            </a:r>
          </a:p>
          <a:p>
            <a:pPr marL="285750" indent="-285750">
              <a:buFont typeface="Arial" panose="020B0604020202020204" pitchFamily="34" charset="0"/>
              <a:buChar char="•"/>
            </a:pPr>
            <a:r>
              <a:rPr lang="zh-CN" altLang="en-US" sz="2800" b="0" i="0" u="none" strike="noStrike" baseline="0" dirty="0">
                <a:latin typeface="仿宋" panose="02010609060101010101" pitchFamily="49" charset="-122"/>
                <a:ea typeface="仿宋" panose="02010609060101010101" pitchFamily="49" charset="-122"/>
              </a:rPr>
              <a:t>层次数据库管理系统</a:t>
            </a:r>
            <a:r>
              <a:rPr lang="en-US" altLang="zh-CN" sz="2800" b="0" i="0" u="none" strike="noStrike" baseline="0" dirty="0">
                <a:latin typeface="仿宋" panose="02010609060101010101" pitchFamily="49" charset="-122"/>
                <a:ea typeface="仿宋" panose="02010609060101010101" pitchFamily="49" charset="-122"/>
              </a:rPr>
              <a:t>:</a:t>
            </a:r>
            <a:r>
              <a:rPr lang="zh-CN" altLang="en-US" sz="2800" b="0" i="0" u="none" strike="noStrike" baseline="0" dirty="0">
                <a:solidFill>
                  <a:srgbClr val="FF0000"/>
                </a:solidFill>
                <a:latin typeface="仿宋" panose="02010609060101010101" pitchFamily="49" charset="-122"/>
                <a:ea typeface="仿宋" panose="02010609060101010101" pitchFamily="49" charset="-122"/>
              </a:rPr>
              <a:t>树形结构</a:t>
            </a:r>
          </a:p>
          <a:p>
            <a:pPr marL="285750" indent="-285750" algn="l">
              <a:buFont typeface="Arial" panose="020B0604020202020204" pitchFamily="34" charset="0"/>
              <a:buChar char="•"/>
            </a:pPr>
            <a:r>
              <a:rPr lang="zh-CN" altLang="en-US" sz="2800" b="0" i="0" u="none" strike="noStrike" baseline="0" dirty="0">
                <a:latin typeface="仿宋" panose="02010609060101010101" pitchFamily="49" charset="-122"/>
                <a:ea typeface="仿宋" panose="02010609060101010101" pitchFamily="49" charset="-122"/>
              </a:rPr>
              <a:t>网状数据库管理系统</a:t>
            </a:r>
            <a:r>
              <a:rPr lang="en-US" altLang="zh-CN" sz="2800" dirty="0">
                <a:latin typeface="仿宋" panose="02010609060101010101" pitchFamily="49" charset="-122"/>
                <a:ea typeface="仿宋" panose="02010609060101010101" pitchFamily="49" charset="-122"/>
              </a:rPr>
              <a:t>:</a:t>
            </a:r>
            <a:r>
              <a:rPr lang="zh-CN" altLang="en-US" sz="2800" dirty="0">
                <a:solidFill>
                  <a:srgbClr val="FF0000"/>
                </a:solidFill>
                <a:latin typeface="仿宋" panose="02010609060101010101" pitchFamily="49" charset="-122"/>
                <a:ea typeface="仿宋" panose="02010609060101010101" pitchFamily="49" charset="-122"/>
              </a:rPr>
              <a:t>有向图结构</a:t>
            </a:r>
            <a:endParaRPr lang="zh-CN" altLang="en-US" sz="2800" b="0" i="0" u="none" strike="noStrike" baseline="0" dirty="0">
              <a:solidFill>
                <a:srgbClr val="FF0000"/>
              </a:solidFill>
              <a:latin typeface="仿宋" panose="02010609060101010101" pitchFamily="49" charset="-122"/>
              <a:ea typeface="仿宋" panose="02010609060101010101" pitchFamily="49" charset="-122"/>
            </a:endParaRPr>
          </a:p>
          <a:p>
            <a:pPr marL="285750" indent="-285750" algn="l">
              <a:buFont typeface="Arial" panose="020B0604020202020204" pitchFamily="34" charset="0"/>
              <a:buChar char="•"/>
            </a:pPr>
            <a:r>
              <a:rPr lang="zh-CN" altLang="en-US" sz="2800" b="0" i="0" u="none" strike="noStrike" baseline="0" dirty="0">
                <a:latin typeface="仿宋" panose="02010609060101010101" pitchFamily="49" charset="-122"/>
                <a:ea typeface="仿宋" panose="02010609060101010101" pitchFamily="49" charset="-122"/>
              </a:rPr>
              <a:t>关系数据库管理系统</a:t>
            </a:r>
            <a:r>
              <a:rPr lang="en-US" altLang="zh-CN" sz="2800" b="0" i="0" u="none" strike="noStrike" baseline="0" dirty="0">
                <a:latin typeface="仿宋" panose="02010609060101010101" pitchFamily="49" charset="-122"/>
                <a:ea typeface="仿宋" panose="02010609060101010101" pitchFamily="49" charset="-122"/>
              </a:rPr>
              <a:t>:</a:t>
            </a:r>
            <a:r>
              <a:rPr lang="zh-CN" altLang="en-US" sz="2800" b="0" i="0" u="none" strike="noStrike" baseline="0" dirty="0">
                <a:solidFill>
                  <a:srgbClr val="FF0000"/>
                </a:solidFill>
                <a:latin typeface="仿宋" panose="02010609060101010101" pitchFamily="49" charset="-122"/>
                <a:ea typeface="仿宋" panose="02010609060101010101" pitchFamily="49" charset="-122"/>
              </a:rPr>
              <a:t>二维表格</a:t>
            </a:r>
          </a:p>
          <a:p>
            <a:pPr marL="285750" indent="-285750" algn="l">
              <a:buFont typeface="Arial" panose="020B0604020202020204" pitchFamily="34" charset="0"/>
              <a:buChar char="•"/>
            </a:pPr>
            <a:r>
              <a:rPr lang="zh-CN" altLang="en-US" sz="2800" b="0" i="0" u="none" strike="noStrike" baseline="0" dirty="0">
                <a:latin typeface="仿宋" panose="02010609060101010101" pitchFamily="49" charset="-122"/>
                <a:ea typeface="仿宋" panose="02010609060101010101" pitchFamily="49" charset="-122"/>
              </a:rPr>
              <a:t>面向对象数据库管理系统</a:t>
            </a:r>
            <a:endParaRPr lang="zh-CN" altLang="en-US" sz="2800" dirty="0">
              <a:latin typeface="仿宋" panose="02010609060101010101" pitchFamily="49" charset="-122"/>
              <a:ea typeface="仿宋" panose="02010609060101010101" pitchFamily="49" charset="-122"/>
            </a:endParaRPr>
          </a:p>
        </p:txBody>
      </p:sp>
      <p:sp>
        <p:nvSpPr>
          <p:cNvPr id="8" name="文本框 7">
            <a:extLst>
              <a:ext uri="{FF2B5EF4-FFF2-40B4-BE49-F238E27FC236}">
                <a16:creationId xmlns:a16="http://schemas.microsoft.com/office/drawing/2014/main" id="{7AF50C05-6876-057E-02F8-82D57A301A15}"/>
              </a:ext>
            </a:extLst>
          </p:cNvPr>
          <p:cNvSpPr txBox="1"/>
          <p:nvPr/>
        </p:nvSpPr>
        <p:spPr>
          <a:xfrm>
            <a:off x="1247322" y="95361"/>
            <a:ext cx="6023428" cy="1446550"/>
          </a:xfrm>
          <a:prstGeom prst="rect">
            <a:avLst/>
          </a:prstGeom>
          <a:noFill/>
        </p:spPr>
        <p:txBody>
          <a:bodyPr wrap="square" rtlCol="0">
            <a:spAutoFit/>
          </a:bodyPr>
          <a:lstStyle/>
          <a:p>
            <a:r>
              <a:rPr lang="zh-CN" altLang="en-US" sz="4400" b="1" i="0" u="none" strike="noStrike" baseline="0" dirty="0">
                <a:latin typeface="仿宋" panose="02010609060101010101" pitchFamily="49" charset="-122"/>
                <a:ea typeface="仿宋" panose="02010609060101010101" pitchFamily="49" charset="-122"/>
              </a:rPr>
              <a:t>数据库管理系统</a:t>
            </a:r>
            <a:r>
              <a:rPr lang="zh-CN" altLang="en-US" sz="4400" b="0" i="0" u="none" strike="noStrike" baseline="0" dirty="0">
                <a:latin typeface="仿宋" panose="02010609060101010101" pitchFamily="49" charset="-122"/>
                <a:ea typeface="仿宋" panose="02010609060101010101" pitchFamily="49" charset="-122"/>
              </a:rPr>
              <a:t>的分类</a:t>
            </a:r>
          </a:p>
          <a:p>
            <a:endParaRPr lang="en-US" altLang="zh-CN" sz="4400" dirty="0">
              <a:latin typeface="仿宋" panose="02010609060101010101" pitchFamily="49" charset="-122"/>
              <a:ea typeface="仿宋" panose="02010609060101010101" pitchFamily="49" charset="-122"/>
            </a:endParaRPr>
          </a:p>
        </p:txBody>
      </p:sp>
      <p:pic>
        <p:nvPicPr>
          <p:cNvPr id="9" name="图片 8">
            <a:extLst>
              <a:ext uri="{FF2B5EF4-FFF2-40B4-BE49-F238E27FC236}">
                <a16:creationId xmlns:a16="http://schemas.microsoft.com/office/drawing/2014/main" id="{CFFE0799-37D9-E622-22A8-286CE89F2A32}"/>
              </a:ext>
            </a:extLst>
          </p:cNvPr>
          <p:cNvPicPr>
            <a:picLocks noChangeAspect="1"/>
          </p:cNvPicPr>
          <p:nvPr/>
        </p:nvPicPr>
        <p:blipFill>
          <a:blip r:embed="rId4"/>
          <a:stretch>
            <a:fillRect/>
          </a:stretch>
        </p:blipFill>
        <p:spPr>
          <a:xfrm>
            <a:off x="7166192" y="325182"/>
            <a:ext cx="4450571" cy="2086716"/>
          </a:xfrm>
          <a:prstGeom prst="rect">
            <a:avLst/>
          </a:prstGeom>
        </p:spPr>
      </p:pic>
      <p:pic>
        <p:nvPicPr>
          <p:cNvPr id="10" name="图片 9">
            <a:extLst>
              <a:ext uri="{FF2B5EF4-FFF2-40B4-BE49-F238E27FC236}">
                <a16:creationId xmlns:a16="http://schemas.microsoft.com/office/drawing/2014/main" id="{9AF111B9-4F35-CEA5-DB97-7672CB122C73}"/>
              </a:ext>
            </a:extLst>
          </p:cNvPr>
          <p:cNvPicPr>
            <a:picLocks noChangeAspect="1"/>
          </p:cNvPicPr>
          <p:nvPr/>
        </p:nvPicPr>
        <p:blipFill>
          <a:blip r:embed="rId5"/>
          <a:stretch>
            <a:fillRect/>
          </a:stretch>
        </p:blipFill>
        <p:spPr>
          <a:xfrm>
            <a:off x="7166192" y="3029570"/>
            <a:ext cx="4489978" cy="2086716"/>
          </a:xfrm>
          <a:prstGeom prst="rect">
            <a:avLst/>
          </a:prstGeom>
        </p:spPr>
      </p:pic>
      <p:pic>
        <p:nvPicPr>
          <p:cNvPr id="11" name="图片 10">
            <a:extLst>
              <a:ext uri="{FF2B5EF4-FFF2-40B4-BE49-F238E27FC236}">
                <a16:creationId xmlns:a16="http://schemas.microsoft.com/office/drawing/2014/main" id="{1BC58326-A8C2-3238-5E3F-385EBD73CA5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68614" y="3893208"/>
            <a:ext cx="5100411" cy="2115874"/>
          </a:xfrm>
          <a:prstGeom prst="rect">
            <a:avLst/>
          </a:prstGeom>
        </p:spPr>
      </p:pic>
      <p:pic>
        <p:nvPicPr>
          <p:cNvPr id="12" name="图片 4">
            <a:extLst>
              <a:ext uri="{FF2B5EF4-FFF2-40B4-BE49-F238E27FC236}">
                <a16:creationId xmlns:a16="http://schemas.microsoft.com/office/drawing/2014/main" id="{E30EC3F4-068E-14F5-8D30-3F40697DF572}"/>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p:blipFill>
        <p:spPr>
          <a:xfrm>
            <a:off x="4416425" y="6219825"/>
            <a:ext cx="542925" cy="542925"/>
          </a:xfrm>
          <a:prstGeom prst="rect">
            <a:avLst/>
          </a:prstGeom>
        </p:spPr>
      </p:pic>
    </p:spTree>
    <p:extLst>
      <p:ext uri="{BB962C8B-B14F-4D97-AF65-F5344CB8AC3E}">
        <p14:creationId xmlns:p14="http://schemas.microsoft.com/office/powerpoint/2010/main" val="34790502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7">
                                            <p:txEl>
                                              <p:pRg st="2" end="2"/>
                                            </p:txEl>
                                          </p:spTgt>
                                        </p:tgtEl>
                                        <p:attrNameLst>
                                          <p:attrName>style.visibility</p:attrName>
                                        </p:attrNameLst>
                                      </p:cBhvr>
                                      <p:to>
                                        <p:strVal val="visible"/>
                                      </p:to>
                                    </p:set>
                                    <p:animEffect transition="in" filter="fade">
                                      <p:cBhvr>
                                        <p:cTn id="20" dur="500"/>
                                        <p:tgtEl>
                                          <p:spTgt spid="7">
                                            <p:txEl>
                                              <p:pRg st="2" end="2"/>
                                            </p:txEl>
                                          </p:spTgt>
                                        </p:tgtEl>
                                      </p:cBhvr>
                                    </p:animEffect>
                                  </p:childTnLst>
                                </p:cTn>
                              </p:par>
                            </p:childTnLst>
                          </p:cTn>
                        </p:par>
                        <p:par>
                          <p:cTn id="21" fill="hold">
                            <p:stCondLst>
                              <p:cond delay="500"/>
                            </p:stCondLst>
                            <p:childTnLst>
                              <p:par>
                                <p:cTn id="22" presetID="10" presetClass="entr" presetSubtype="0" fill="hold"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500"/>
                                        <p:tgtEl>
                                          <p:spTgt spid="7">
                                            <p:txEl>
                                              <p:pRg st="3" end="3"/>
                                            </p:txEl>
                                          </p:spTgt>
                                        </p:tgtEl>
                                      </p:cBhvr>
                                    </p:animEffect>
                                  </p:childTnLst>
                                </p:cTn>
                              </p:par>
                            </p:childTnLst>
                          </p:cTn>
                        </p:par>
                        <p:par>
                          <p:cTn id="30" fill="hold">
                            <p:stCondLst>
                              <p:cond delay="500"/>
                            </p:stCondLst>
                            <p:childTnLst>
                              <p:par>
                                <p:cTn id="31" presetID="10" presetClass="entr" presetSubtype="0" fill="hold" nodeType="after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7">
                                            <p:txEl>
                                              <p:pRg st="4" end="4"/>
                                            </p:txEl>
                                          </p:spTgt>
                                        </p:tgtEl>
                                        <p:attrNameLst>
                                          <p:attrName>style.visibility</p:attrName>
                                        </p:attrNameLst>
                                      </p:cBhvr>
                                      <p:to>
                                        <p:strVal val="visible"/>
                                      </p:to>
                                    </p:set>
                                    <p:animEffect transition="in" filter="fade">
                                      <p:cBhvr>
                                        <p:cTn id="38"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49F3DFEE-D615-10A4-3DFB-F10E842FD6FF}"/>
              </a:ext>
            </a:extLst>
          </p:cNvPr>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 name="直接连接符 2">
            <a:extLst>
              <a:ext uri="{FF2B5EF4-FFF2-40B4-BE49-F238E27FC236}">
                <a16:creationId xmlns:a16="http://schemas.microsoft.com/office/drawing/2014/main" id="{E448084C-00C1-2D46-B2E9-907AC7E07A63}"/>
              </a:ext>
            </a:extLst>
          </p:cNvPr>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4" name="图形 3">
            <a:extLst>
              <a:ext uri="{FF2B5EF4-FFF2-40B4-BE49-F238E27FC236}">
                <a16:creationId xmlns:a16="http://schemas.microsoft.com/office/drawing/2014/main" id="{C93BB0EF-03E3-F5C3-728A-B6DC40F04B4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6" name="文本框 5">
            <a:extLst>
              <a:ext uri="{FF2B5EF4-FFF2-40B4-BE49-F238E27FC236}">
                <a16:creationId xmlns:a16="http://schemas.microsoft.com/office/drawing/2014/main" id="{47E122C5-6879-554E-162C-5ECC1522BC4D}"/>
              </a:ext>
            </a:extLst>
          </p:cNvPr>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8" name="文本框 7">
            <a:extLst>
              <a:ext uri="{FF2B5EF4-FFF2-40B4-BE49-F238E27FC236}">
                <a16:creationId xmlns:a16="http://schemas.microsoft.com/office/drawing/2014/main" id="{7AF50C05-6876-057E-02F8-82D57A301A15}"/>
              </a:ext>
            </a:extLst>
          </p:cNvPr>
          <p:cNvSpPr txBox="1"/>
          <p:nvPr/>
        </p:nvSpPr>
        <p:spPr>
          <a:xfrm>
            <a:off x="1247322" y="95361"/>
            <a:ext cx="6023428" cy="1446550"/>
          </a:xfrm>
          <a:prstGeom prst="rect">
            <a:avLst/>
          </a:prstGeom>
          <a:noFill/>
        </p:spPr>
        <p:txBody>
          <a:bodyPr wrap="square" rtlCol="0">
            <a:spAutoFit/>
          </a:bodyPr>
          <a:lstStyle/>
          <a:p>
            <a:r>
              <a:rPr lang="zh-CN" altLang="en-US" sz="4400" b="1" dirty="0">
                <a:latin typeface="仿宋" panose="02010609060101010101" pitchFamily="49" charset="-122"/>
                <a:ea typeface="仿宋" panose="02010609060101010101" pitchFamily="49" charset="-122"/>
              </a:rPr>
              <a:t>关系模型</a:t>
            </a:r>
            <a:endParaRPr lang="zh-CN" altLang="en-US" sz="4400" b="0" i="0" u="none" strike="noStrike" baseline="0" dirty="0">
              <a:latin typeface="仿宋" panose="02010609060101010101" pitchFamily="49" charset="-122"/>
              <a:ea typeface="仿宋" panose="02010609060101010101" pitchFamily="49" charset="-122"/>
            </a:endParaRPr>
          </a:p>
          <a:p>
            <a:endParaRPr lang="en-US" altLang="zh-CN" sz="4400" dirty="0">
              <a:latin typeface="仿宋" panose="02010609060101010101" pitchFamily="49" charset="-122"/>
              <a:ea typeface="仿宋" panose="02010609060101010101" pitchFamily="49" charset="-122"/>
            </a:endParaRPr>
          </a:p>
        </p:txBody>
      </p:sp>
      <p:pic>
        <p:nvPicPr>
          <p:cNvPr id="11" name="图片 10">
            <a:extLst>
              <a:ext uri="{FF2B5EF4-FFF2-40B4-BE49-F238E27FC236}">
                <a16:creationId xmlns:a16="http://schemas.microsoft.com/office/drawing/2014/main" id="{1BC58326-A8C2-3238-5E3F-385EBD73CA5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68614" y="3893208"/>
            <a:ext cx="5100411" cy="2115874"/>
          </a:xfrm>
          <a:prstGeom prst="rect">
            <a:avLst/>
          </a:prstGeom>
        </p:spPr>
      </p:pic>
      <p:pic>
        <p:nvPicPr>
          <p:cNvPr id="12" name="图片 4">
            <a:extLst>
              <a:ext uri="{FF2B5EF4-FFF2-40B4-BE49-F238E27FC236}">
                <a16:creationId xmlns:a16="http://schemas.microsoft.com/office/drawing/2014/main" id="{E30EC3F4-068E-14F5-8D30-3F40697DF572}"/>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4416425" y="6219825"/>
            <a:ext cx="542925" cy="542925"/>
          </a:xfrm>
          <a:prstGeom prst="rect">
            <a:avLst/>
          </a:prstGeom>
        </p:spPr>
      </p:pic>
      <p:sp>
        <p:nvSpPr>
          <p:cNvPr id="5" name="文本框 4">
            <a:extLst>
              <a:ext uri="{FF2B5EF4-FFF2-40B4-BE49-F238E27FC236}">
                <a16:creationId xmlns:a16="http://schemas.microsoft.com/office/drawing/2014/main" id="{3B011E62-5278-9F64-358B-98C9658CF8D0}"/>
              </a:ext>
            </a:extLst>
          </p:cNvPr>
          <p:cNvSpPr txBox="1"/>
          <p:nvPr/>
        </p:nvSpPr>
        <p:spPr>
          <a:xfrm>
            <a:off x="906235" y="1164519"/>
            <a:ext cx="10688001" cy="2677656"/>
          </a:xfrm>
          <a:prstGeom prst="rect">
            <a:avLst/>
          </a:prstGeom>
          <a:noFill/>
        </p:spPr>
        <p:txBody>
          <a:bodyPr wrap="square">
            <a:spAutoFit/>
          </a:bodyPr>
          <a:lstStyle/>
          <a:p>
            <a:pPr>
              <a:defRPr/>
            </a:pPr>
            <a:r>
              <a:rPr lang="en-US" altLang="zh-CN" sz="2400" b="1" dirty="0">
                <a:solidFill>
                  <a:srgbClr val="0000FF"/>
                </a:solidFill>
                <a:latin typeface="微软雅黑" pitchFamily="34" charset="-122"/>
                <a:ea typeface="微软雅黑" pitchFamily="34" charset="-122"/>
              </a:rPr>
              <a:t>1.</a:t>
            </a:r>
            <a:r>
              <a:rPr lang="zh-CN" altLang="en-US" sz="2400" b="1" dirty="0">
                <a:solidFill>
                  <a:srgbClr val="0000FF"/>
                </a:solidFill>
                <a:latin typeface="微软雅黑" pitchFamily="34" charset="-122"/>
                <a:ea typeface="微软雅黑" pitchFamily="34" charset="-122"/>
              </a:rPr>
              <a:t>基本概念</a:t>
            </a:r>
            <a:endParaRPr lang="en-US" altLang="zh-CN" sz="2400" b="1" dirty="0">
              <a:solidFill>
                <a:srgbClr val="0000FF"/>
              </a:solidFill>
              <a:latin typeface="微软雅黑" pitchFamily="34" charset="-122"/>
              <a:ea typeface="微软雅黑" pitchFamily="34" charset="-122"/>
            </a:endParaRPr>
          </a:p>
          <a:p>
            <a:pPr>
              <a:buFont typeface="Wingdings" pitchFamily="2" charset="2"/>
              <a:buChar char="Ø"/>
              <a:defRPr/>
            </a:pPr>
            <a:r>
              <a:rPr lang="zh-CN" altLang="en-US" sz="2400" b="1" dirty="0">
                <a:solidFill>
                  <a:schemeClr val="accent1">
                    <a:lumMod val="75000"/>
                  </a:schemeClr>
                </a:solidFill>
                <a:latin typeface="微软雅黑" pitchFamily="34" charset="-122"/>
                <a:ea typeface="微软雅黑" pitchFamily="34" charset="-122"/>
              </a:rPr>
              <a:t>属性（</a:t>
            </a:r>
            <a:r>
              <a:rPr lang="en-US" altLang="zh-CN" sz="2400" b="1" dirty="0">
                <a:solidFill>
                  <a:schemeClr val="accent1">
                    <a:lumMod val="75000"/>
                  </a:schemeClr>
                </a:solidFill>
                <a:latin typeface="微软雅黑" pitchFamily="34" charset="-122"/>
                <a:ea typeface="微软雅黑" pitchFamily="34" charset="-122"/>
              </a:rPr>
              <a:t>Attribute</a:t>
            </a:r>
            <a:r>
              <a:rPr lang="zh-CN" altLang="en-US" sz="2400" b="1" dirty="0">
                <a:solidFill>
                  <a:schemeClr val="accent1">
                    <a:lumMod val="75000"/>
                  </a:schemeClr>
                </a:solidFill>
                <a:latin typeface="微软雅黑" pitchFamily="34" charset="-122"/>
                <a:ea typeface="微软雅黑" pitchFamily="34" charset="-122"/>
              </a:rPr>
              <a:t>）：</a:t>
            </a:r>
            <a:r>
              <a:rPr lang="zh-CN" altLang="en-US" sz="2400" b="1" dirty="0">
                <a:latin typeface="微软雅黑" pitchFamily="34" charset="-122"/>
                <a:ea typeface="微软雅黑" pitchFamily="34" charset="-122"/>
              </a:rPr>
              <a:t>表格的</a:t>
            </a:r>
            <a:r>
              <a:rPr lang="zh-CN" altLang="en-US" sz="2400" b="1" dirty="0">
                <a:solidFill>
                  <a:srgbClr val="FF0000"/>
                </a:solidFill>
                <a:latin typeface="微软雅黑" pitchFamily="34" charset="-122"/>
                <a:ea typeface="微软雅黑" pitchFamily="34" charset="-122"/>
              </a:rPr>
              <a:t>列</a:t>
            </a:r>
            <a:r>
              <a:rPr lang="zh-CN" altLang="en-US" sz="2400" b="1" dirty="0">
                <a:latin typeface="微软雅黑" pitchFamily="34" charset="-122"/>
                <a:ea typeface="微软雅黑" pitchFamily="34" charset="-122"/>
              </a:rPr>
              <a:t>称为属性，也称为</a:t>
            </a:r>
            <a:r>
              <a:rPr lang="zh-CN" altLang="en-US" sz="2400" b="1" dirty="0">
                <a:solidFill>
                  <a:schemeClr val="accent1">
                    <a:lumMod val="75000"/>
                  </a:schemeClr>
                </a:solidFill>
                <a:latin typeface="微软雅黑" pitchFamily="34" charset="-122"/>
                <a:ea typeface="微软雅黑" pitchFamily="34" charset="-122"/>
              </a:rPr>
              <a:t>字段</a:t>
            </a:r>
            <a:r>
              <a:rPr lang="zh-CN" altLang="en-US" sz="2400" b="1" dirty="0">
                <a:latin typeface="微软雅黑" pitchFamily="34" charset="-122"/>
                <a:ea typeface="微软雅黑" pitchFamily="34" charset="-122"/>
              </a:rPr>
              <a:t>（</a:t>
            </a:r>
            <a:r>
              <a:rPr lang="en-US" altLang="zh-CN" sz="2400" b="1" dirty="0">
                <a:latin typeface="微软雅黑" pitchFamily="34" charset="-122"/>
                <a:ea typeface="微软雅黑" pitchFamily="34" charset="-122"/>
              </a:rPr>
              <a:t>Field</a:t>
            </a:r>
            <a:r>
              <a:rPr lang="zh-CN" altLang="en-US" sz="2400" b="1" dirty="0">
                <a:latin typeface="微软雅黑" pitchFamily="34" charset="-122"/>
                <a:ea typeface="微软雅黑" pitchFamily="34" charset="-122"/>
              </a:rPr>
              <a:t>）</a:t>
            </a:r>
            <a:endParaRPr lang="en-US" altLang="zh-CN" sz="2400" b="1" dirty="0">
              <a:latin typeface="微软雅黑" pitchFamily="34" charset="-122"/>
              <a:ea typeface="微软雅黑" pitchFamily="34" charset="-122"/>
            </a:endParaRPr>
          </a:p>
          <a:p>
            <a:pPr>
              <a:buFont typeface="Wingdings" pitchFamily="2" charset="2"/>
              <a:buChar char="Ø"/>
              <a:defRPr/>
            </a:pPr>
            <a:r>
              <a:rPr lang="zh-CN" altLang="en-US" sz="2400" b="1" dirty="0">
                <a:solidFill>
                  <a:schemeClr val="accent1">
                    <a:lumMod val="75000"/>
                  </a:schemeClr>
                </a:solidFill>
                <a:latin typeface="微软雅黑" pitchFamily="34" charset="-122"/>
                <a:ea typeface="微软雅黑" pitchFamily="34" charset="-122"/>
              </a:rPr>
              <a:t>元组（</a:t>
            </a:r>
            <a:r>
              <a:rPr lang="en-US" altLang="zh-CN" sz="2400" b="1" dirty="0">
                <a:solidFill>
                  <a:schemeClr val="accent1">
                    <a:lumMod val="75000"/>
                  </a:schemeClr>
                </a:solidFill>
                <a:latin typeface="微软雅黑" pitchFamily="34" charset="-122"/>
                <a:ea typeface="微软雅黑" pitchFamily="34" charset="-122"/>
              </a:rPr>
              <a:t>Tuple</a:t>
            </a:r>
            <a:r>
              <a:rPr lang="zh-CN" altLang="en-US" sz="2400" b="1" dirty="0">
                <a:solidFill>
                  <a:schemeClr val="accent1">
                    <a:lumMod val="75000"/>
                  </a:schemeClr>
                </a:solidFill>
                <a:latin typeface="微软雅黑" pitchFamily="34" charset="-122"/>
                <a:ea typeface="微软雅黑" pitchFamily="34" charset="-122"/>
              </a:rPr>
              <a:t>）：</a:t>
            </a:r>
            <a:r>
              <a:rPr lang="zh-CN" altLang="en-US" sz="2400" b="1" dirty="0">
                <a:latin typeface="微软雅黑" pitchFamily="34" charset="-122"/>
                <a:ea typeface="微软雅黑" pitchFamily="34" charset="-122"/>
              </a:rPr>
              <a:t>表格的</a:t>
            </a:r>
            <a:r>
              <a:rPr lang="zh-CN" altLang="en-US" sz="2400" b="1" dirty="0">
                <a:solidFill>
                  <a:srgbClr val="FF0000"/>
                </a:solidFill>
                <a:latin typeface="微软雅黑" pitchFamily="34" charset="-122"/>
                <a:ea typeface="微软雅黑" pitchFamily="34" charset="-122"/>
              </a:rPr>
              <a:t>行</a:t>
            </a:r>
            <a:r>
              <a:rPr lang="zh-CN" altLang="en-US" sz="2400" b="1" dirty="0">
                <a:latin typeface="微软雅黑" pitchFamily="34" charset="-122"/>
                <a:ea typeface="微软雅黑" pitchFamily="34" charset="-122"/>
              </a:rPr>
              <a:t>称为元组，也称为</a:t>
            </a:r>
            <a:r>
              <a:rPr lang="zh-CN" altLang="en-US" sz="2400" b="1" dirty="0">
                <a:solidFill>
                  <a:schemeClr val="accent1">
                    <a:lumMod val="75000"/>
                  </a:schemeClr>
                </a:solidFill>
                <a:latin typeface="微软雅黑" pitchFamily="34" charset="-122"/>
                <a:ea typeface="微软雅黑" pitchFamily="34" charset="-122"/>
              </a:rPr>
              <a:t>记录</a:t>
            </a:r>
            <a:r>
              <a:rPr lang="zh-CN" altLang="en-US" sz="2400" b="1" dirty="0">
                <a:latin typeface="微软雅黑" pitchFamily="34" charset="-122"/>
                <a:ea typeface="微软雅黑" pitchFamily="34" charset="-122"/>
              </a:rPr>
              <a:t>（</a:t>
            </a:r>
            <a:r>
              <a:rPr lang="en-US" altLang="zh-CN" sz="2400" b="1" dirty="0">
                <a:latin typeface="微软雅黑" pitchFamily="34" charset="-122"/>
                <a:ea typeface="微软雅黑" pitchFamily="34" charset="-122"/>
              </a:rPr>
              <a:t>record</a:t>
            </a:r>
            <a:r>
              <a:rPr lang="zh-CN" altLang="en-US" sz="2400" b="1" dirty="0">
                <a:latin typeface="微软雅黑" pitchFamily="34" charset="-122"/>
                <a:ea typeface="微软雅黑" pitchFamily="34" charset="-122"/>
              </a:rPr>
              <a:t>）。</a:t>
            </a:r>
            <a:endParaRPr lang="en-US" altLang="zh-CN" sz="2400" b="1" dirty="0">
              <a:latin typeface="微软雅黑" pitchFamily="34" charset="-122"/>
              <a:ea typeface="微软雅黑" pitchFamily="34" charset="-122"/>
            </a:endParaRPr>
          </a:p>
          <a:p>
            <a:pPr>
              <a:buFont typeface="Wingdings" pitchFamily="2" charset="2"/>
              <a:buChar char="Ø"/>
              <a:defRPr/>
            </a:pPr>
            <a:r>
              <a:rPr lang="zh-CN" altLang="en-US" sz="2400" b="1" dirty="0">
                <a:solidFill>
                  <a:schemeClr val="accent1">
                    <a:lumMod val="75000"/>
                  </a:schemeClr>
                </a:solidFill>
                <a:latin typeface="微软雅黑" pitchFamily="34" charset="-122"/>
                <a:ea typeface="微软雅黑" pitchFamily="34" charset="-122"/>
              </a:rPr>
              <a:t>关系（</a:t>
            </a:r>
            <a:r>
              <a:rPr lang="en-US" altLang="zh-CN" sz="2400" b="1" dirty="0">
                <a:solidFill>
                  <a:schemeClr val="accent1">
                    <a:lumMod val="75000"/>
                  </a:schemeClr>
                </a:solidFill>
                <a:latin typeface="微软雅黑" pitchFamily="34" charset="-122"/>
                <a:ea typeface="微软雅黑" pitchFamily="34" charset="-122"/>
              </a:rPr>
              <a:t>Relation</a:t>
            </a:r>
            <a:r>
              <a:rPr lang="zh-CN" altLang="en-US" sz="2400" b="1" dirty="0">
                <a:solidFill>
                  <a:schemeClr val="accent1">
                    <a:lumMod val="75000"/>
                  </a:schemeClr>
                </a:solidFill>
                <a:latin typeface="微软雅黑" pitchFamily="34" charset="-122"/>
                <a:ea typeface="微软雅黑" pitchFamily="34" charset="-122"/>
              </a:rPr>
              <a:t>）：</a:t>
            </a:r>
            <a:r>
              <a:rPr lang="zh-CN" altLang="en-US" sz="2400" b="1" dirty="0">
                <a:latin typeface="微软雅黑" pitchFamily="34" charset="-122"/>
                <a:ea typeface="微软雅黑" pitchFamily="34" charset="-122"/>
              </a:rPr>
              <a:t>若干元组的集合，是若干数据项构成的</a:t>
            </a:r>
            <a:r>
              <a:rPr lang="zh-CN" altLang="en-US" sz="2400" b="1" dirty="0">
                <a:solidFill>
                  <a:srgbClr val="FF0000"/>
                </a:solidFill>
                <a:latin typeface="微软雅黑" pitchFamily="34" charset="-122"/>
                <a:ea typeface="微软雅黑" pitchFamily="34" charset="-122"/>
              </a:rPr>
              <a:t>一张表</a:t>
            </a:r>
            <a:endParaRPr lang="en-US" altLang="zh-CN" sz="2400" b="1" dirty="0">
              <a:solidFill>
                <a:srgbClr val="FF0000"/>
              </a:solidFill>
              <a:latin typeface="微软雅黑" pitchFamily="34" charset="-122"/>
              <a:ea typeface="微软雅黑" pitchFamily="34" charset="-122"/>
            </a:endParaRPr>
          </a:p>
          <a:p>
            <a:pPr>
              <a:buFont typeface="Wingdings" pitchFamily="2" charset="2"/>
              <a:buChar char="Ø"/>
              <a:defRPr/>
            </a:pPr>
            <a:r>
              <a:rPr lang="zh-CN" altLang="en-US" sz="2400" b="1" dirty="0">
                <a:solidFill>
                  <a:schemeClr val="accent1">
                    <a:lumMod val="75000"/>
                  </a:schemeClr>
                </a:solidFill>
                <a:latin typeface="微软雅黑" pitchFamily="34" charset="-122"/>
                <a:ea typeface="微软雅黑" pitchFamily="34" charset="-122"/>
              </a:rPr>
              <a:t>域（</a:t>
            </a:r>
            <a:r>
              <a:rPr lang="en-US" altLang="zh-CN" sz="2400" b="1" dirty="0">
                <a:solidFill>
                  <a:schemeClr val="accent1">
                    <a:lumMod val="75000"/>
                  </a:schemeClr>
                </a:solidFill>
                <a:latin typeface="微软雅黑" pitchFamily="34" charset="-122"/>
                <a:ea typeface="微软雅黑" pitchFamily="34" charset="-122"/>
              </a:rPr>
              <a:t>Domain</a:t>
            </a:r>
            <a:r>
              <a:rPr lang="zh-CN" altLang="en-US" sz="2400" b="1" dirty="0">
                <a:solidFill>
                  <a:schemeClr val="accent1">
                    <a:lumMod val="75000"/>
                  </a:schemeClr>
                </a:solidFill>
                <a:latin typeface="微软雅黑" pitchFamily="34" charset="-122"/>
                <a:ea typeface="微软雅黑" pitchFamily="34" charset="-122"/>
              </a:rPr>
              <a:t>）：</a:t>
            </a:r>
            <a:r>
              <a:rPr lang="zh-CN" altLang="en-US" sz="2400" b="1" dirty="0">
                <a:latin typeface="微软雅黑" pitchFamily="34" charset="-122"/>
                <a:ea typeface="微软雅黑" pitchFamily="34" charset="-122"/>
              </a:rPr>
              <a:t>是属性的取值范围</a:t>
            </a:r>
            <a:endParaRPr lang="en-US" altLang="zh-CN" sz="2400" b="1" dirty="0">
              <a:latin typeface="微软雅黑" pitchFamily="34" charset="-122"/>
              <a:ea typeface="微软雅黑" pitchFamily="34" charset="-122"/>
            </a:endParaRPr>
          </a:p>
          <a:p>
            <a:pPr>
              <a:buFont typeface="Wingdings" pitchFamily="2" charset="2"/>
              <a:buChar char="Ø"/>
              <a:defRPr/>
            </a:pPr>
            <a:r>
              <a:rPr lang="zh-CN" altLang="en-US" sz="2400" b="1" dirty="0">
                <a:solidFill>
                  <a:schemeClr val="accent1">
                    <a:lumMod val="75000"/>
                  </a:schemeClr>
                </a:solidFill>
                <a:latin typeface="微软雅黑" pitchFamily="34" charset="-122"/>
                <a:ea typeface="微软雅黑" pitchFamily="34" charset="-122"/>
              </a:rPr>
              <a:t>关键字（码）（</a:t>
            </a:r>
            <a:r>
              <a:rPr lang="en-US" altLang="zh-CN" sz="2400" b="1" dirty="0">
                <a:solidFill>
                  <a:schemeClr val="accent1">
                    <a:lumMod val="75000"/>
                  </a:schemeClr>
                </a:solidFill>
                <a:latin typeface="微软雅黑" pitchFamily="34" charset="-122"/>
                <a:ea typeface="微软雅黑" pitchFamily="34" charset="-122"/>
              </a:rPr>
              <a:t>Candidate Key</a:t>
            </a:r>
            <a:r>
              <a:rPr lang="zh-CN" altLang="en-US" sz="2400" b="1" dirty="0">
                <a:solidFill>
                  <a:schemeClr val="accent1">
                    <a:lumMod val="75000"/>
                  </a:schemeClr>
                </a:solidFill>
                <a:latin typeface="微软雅黑" pitchFamily="34" charset="-122"/>
                <a:ea typeface="微软雅黑" pitchFamily="34" charset="-122"/>
              </a:rPr>
              <a:t>）：</a:t>
            </a:r>
            <a:r>
              <a:rPr lang="zh-CN" altLang="en-US" sz="2400" b="1" dirty="0">
                <a:latin typeface="微软雅黑" pitchFamily="34" charset="-122"/>
                <a:ea typeface="微软雅黑" pitchFamily="34" charset="-122"/>
              </a:rPr>
              <a:t>凡是在表中能唯一确定不同元组的属性或属性组合，就称为（候选）关键字或称为</a:t>
            </a:r>
            <a:r>
              <a:rPr lang="zh-CN" altLang="en-US" sz="2400" b="1" dirty="0">
                <a:solidFill>
                  <a:schemeClr val="accent1">
                    <a:lumMod val="75000"/>
                  </a:schemeClr>
                </a:solidFill>
                <a:latin typeface="微软雅黑" pitchFamily="34" charset="-122"/>
                <a:ea typeface="微软雅黑" pitchFamily="34" charset="-122"/>
              </a:rPr>
              <a:t>码</a:t>
            </a:r>
            <a:r>
              <a:rPr lang="zh-CN" altLang="en-US" sz="2400" b="1" dirty="0">
                <a:latin typeface="微软雅黑" pitchFamily="34" charset="-122"/>
                <a:ea typeface="微软雅黑" pitchFamily="34" charset="-122"/>
              </a:rPr>
              <a:t>。</a:t>
            </a:r>
          </a:p>
        </p:txBody>
      </p:sp>
    </p:spTree>
    <p:extLst>
      <p:ext uri="{BB962C8B-B14F-4D97-AF65-F5344CB8AC3E}">
        <p14:creationId xmlns:p14="http://schemas.microsoft.com/office/powerpoint/2010/main" val="33022376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49F3DFEE-D615-10A4-3DFB-F10E842FD6FF}"/>
              </a:ext>
            </a:extLst>
          </p:cNvPr>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 name="直接连接符 2">
            <a:extLst>
              <a:ext uri="{FF2B5EF4-FFF2-40B4-BE49-F238E27FC236}">
                <a16:creationId xmlns:a16="http://schemas.microsoft.com/office/drawing/2014/main" id="{E448084C-00C1-2D46-B2E9-907AC7E07A63}"/>
              </a:ext>
            </a:extLst>
          </p:cNvPr>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4" name="图形 3">
            <a:extLst>
              <a:ext uri="{FF2B5EF4-FFF2-40B4-BE49-F238E27FC236}">
                <a16:creationId xmlns:a16="http://schemas.microsoft.com/office/drawing/2014/main" id="{C93BB0EF-03E3-F5C3-728A-B6DC40F04B4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6" name="文本框 5">
            <a:extLst>
              <a:ext uri="{FF2B5EF4-FFF2-40B4-BE49-F238E27FC236}">
                <a16:creationId xmlns:a16="http://schemas.microsoft.com/office/drawing/2014/main" id="{47E122C5-6879-554E-162C-5ECC1522BC4D}"/>
              </a:ext>
            </a:extLst>
          </p:cNvPr>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8" name="文本框 7">
            <a:extLst>
              <a:ext uri="{FF2B5EF4-FFF2-40B4-BE49-F238E27FC236}">
                <a16:creationId xmlns:a16="http://schemas.microsoft.com/office/drawing/2014/main" id="{7AF50C05-6876-057E-02F8-82D57A301A15}"/>
              </a:ext>
            </a:extLst>
          </p:cNvPr>
          <p:cNvSpPr txBox="1"/>
          <p:nvPr/>
        </p:nvSpPr>
        <p:spPr>
          <a:xfrm>
            <a:off x="1247322" y="95361"/>
            <a:ext cx="6023428" cy="1446550"/>
          </a:xfrm>
          <a:prstGeom prst="rect">
            <a:avLst/>
          </a:prstGeom>
          <a:noFill/>
        </p:spPr>
        <p:txBody>
          <a:bodyPr wrap="square" rtlCol="0">
            <a:spAutoFit/>
          </a:bodyPr>
          <a:lstStyle/>
          <a:p>
            <a:r>
              <a:rPr lang="zh-CN" altLang="en-US" sz="4400" b="1" dirty="0">
                <a:latin typeface="仿宋" panose="02010609060101010101" pitchFamily="49" charset="-122"/>
                <a:ea typeface="仿宋" panose="02010609060101010101" pitchFamily="49" charset="-122"/>
              </a:rPr>
              <a:t>关系模型</a:t>
            </a:r>
            <a:endParaRPr lang="zh-CN" altLang="en-US" sz="4400" b="0" i="0" u="none" strike="noStrike" baseline="0" dirty="0">
              <a:latin typeface="仿宋" panose="02010609060101010101" pitchFamily="49" charset="-122"/>
              <a:ea typeface="仿宋" panose="02010609060101010101" pitchFamily="49" charset="-122"/>
            </a:endParaRPr>
          </a:p>
          <a:p>
            <a:endParaRPr lang="en-US" altLang="zh-CN" sz="4400" dirty="0">
              <a:latin typeface="仿宋" panose="02010609060101010101" pitchFamily="49" charset="-122"/>
              <a:ea typeface="仿宋" panose="02010609060101010101" pitchFamily="49" charset="-122"/>
            </a:endParaRPr>
          </a:p>
        </p:txBody>
      </p:sp>
      <p:pic>
        <p:nvPicPr>
          <p:cNvPr id="12" name="图片 4">
            <a:extLst>
              <a:ext uri="{FF2B5EF4-FFF2-40B4-BE49-F238E27FC236}">
                <a16:creationId xmlns:a16="http://schemas.microsoft.com/office/drawing/2014/main" id="{E30EC3F4-068E-14F5-8D30-3F40697DF572}"/>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416425" y="6219825"/>
            <a:ext cx="542925" cy="542925"/>
          </a:xfrm>
          <a:prstGeom prst="rect">
            <a:avLst/>
          </a:prstGeom>
        </p:spPr>
      </p:pic>
      <p:sp>
        <p:nvSpPr>
          <p:cNvPr id="7" name="文本框 6">
            <a:extLst>
              <a:ext uri="{FF2B5EF4-FFF2-40B4-BE49-F238E27FC236}">
                <a16:creationId xmlns:a16="http://schemas.microsoft.com/office/drawing/2014/main" id="{A5D6BC24-BA11-7557-08E9-0C86871B1C2B}"/>
              </a:ext>
            </a:extLst>
          </p:cNvPr>
          <p:cNvSpPr txBox="1"/>
          <p:nvPr/>
        </p:nvSpPr>
        <p:spPr>
          <a:xfrm>
            <a:off x="313764" y="1133003"/>
            <a:ext cx="11804256" cy="3662541"/>
          </a:xfrm>
          <a:prstGeom prst="rect">
            <a:avLst/>
          </a:prstGeom>
          <a:noFill/>
        </p:spPr>
        <p:txBody>
          <a:bodyPr wrap="square">
            <a:spAutoFit/>
          </a:bodyPr>
          <a:lstStyle/>
          <a:p>
            <a:pPr eaLnBrk="1" hangingPunct="1">
              <a:buFont typeface="Wingdings" pitchFamily="2" charset="2"/>
              <a:buChar char="Ø"/>
              <a:defRPr/>
            </a:pPr>
            <a:r>
              <a:rPr lang="zh-CN" altLang="en-US" sz="2800" b="1" dirty="0">
                <a:solidFill>
                  <a:schemeClr val="accent1">
                    <a:lumMod val="75000"/>
                  </a:schemeClr>
                </a:solidFill>
                <a:latin typeface="微软雅黑" pitchFamily="34" charset="-122"/>
                <a:ea typeface="微软雅黑" pitchFamily="34" charset="-122"/>
              </a:rPr>
              <a:t>主关键字（主码）（</a:t>
            </a:r>
            <a:r>
              <a:rPr lang="en-US" altLang="zh-CN" sz="2800" b="1" dirty="0">
                <a:solidFill>
                  <a:schemeClr val="accent1">
                    <a:lumMod val="75000"/>
                  </a:schemeClr>
                </a:solidFill>
                <a:latin typeface="微软雅黑" pitchFamily="34" charset="-122"/>
                <a:ea typeface="微软雅黑" pitchFamily="34" charset="-122"/>
              </a:rPr>
              <a:t>Primary Key</a:t>
            </a:r>
            <a:r>
              <a:rPr lang="zh-CN" altLang="en-US" sz="2800" b="1" dirty="0">
                <a:solidFill>
                  <a:schemeClr val="accent1">
                    <a:lumMod val="75000"/>
                  </a:schemeClr>
                </a:solidFill>
                <a:latin typeface="微软雅黑" pitchFamily="34" charset="-122"/>
                <a:ea typeface="微软雅黑" pitchFamily="34" charset="-122"/>
              </a:rPr>
              <a:t>）：</a:t>
            </a:r>
            <a:r>
              <a:rPr lang="zh-CN" altLang="en-US" sz="2800" b="1" dirty="0">
                <a:latin typeface="微软雅黑" pitchFamily="34" charset="-122"/>
                <a:ea typeface="微软雅黑" pitchFamily="34" charset="-122"/>
              </a:rPr>
              <a:t>一个表中只能有一个主关键字，可以选定一个候选关键字作为表的主码。</a:t>
            </a:r>
            <a:r>
              <a:rPr lang="zh-CN" altLang="en-US" sz="2800" b="1" dirty="0">
                <a:solidFill>
                  <a:srgbClr val="0000FF"/>
                </a:solidFill>
                <a:latin typeface="微软雅黑" pitchFamily="34" charset="-122"/>
                <a:ea typeface="微软雅黑" pitchFamily="34" charset="-122"/>
              </a:rPr>
              <a:t>主码值不能为空</a:t>
            </a:r>
            <a:r>
              <a:rPr lang="zh-CN" altLang="en-US" sz="2800" b="1" dirty="0">
                <a:latin typeface="微软雅黑" pitchFamily="34" charset="-122"/>
                <a:ea typeface="微软雅黑" pitchFamily="34" charset="-122"/>
              </a:rPr>
              <a:t>。</a:t>
            </a:r>
            <a:endParaRPr lang="en-US" altLang="zh-CN" sz="2800" b="1" dirty="0">
              <a:latin typeface="微软雅黑" pitchFamily="34" charset="-122"/>
              <a:ea typeface="微软雅黑" pitchFamily="34" charset="-122"/>
            </a:endParaRPr>
          </a:p>
          <a:p>
            <a:pPr eaLnBrk="1" hangingPunct="1">
              <a:buFont typeface="Wingdings" pitchFamily="2" charset="2"/>
              <a:buChar char="Ø"/>
              <a:defRPr/>
            </a:pPr>
            <a:r>
              <a:rPr lang="zh-CN" altLang="en-US" sz="2800" b="1" dirty="0">
                <a:solidFill>
                  <a:schemeClr val="accent1">
                    <a:lumMod val="75000"/>
                  </a:schemeClr>
                </a:solidFill>
                <a:latin typeface="微软雅黑" pitchFamily="34" charset="-122"/>
                <a:ea typeface="微软雅黑" pitchFamily="34" charset="-122"/>
              </a:rPr>
              <a:t>外部关键字（外键）（</a:t>
            </a:r>
            <a:r>
              <a:rPr lang="en-US" altLang="zh-CN" sz="2800" b="1" dirty="0">
                <a:solidFill>
                  <a:schemeClr val="accent1">
                    <a:lumMod val="75000"/>
                  </a:schemeClr>
                </a:solidFill>
                <a:latin typeface="微软雅黑" pitchFamily="34" charset="-122"/>
                <a:ea typeface="微软雅黑" pitchFamily="34" charset="-122"/>
              </a:rPr>
              <a:t>Foreign Key</a:t>
            </a:r>
            <a:r>
              <a:rPr lang="zh-CN" altLang="en-US" sz="2800" b="1" dirty="0">
                <a:solidFill>
                  <a:schemeClr val="accent1">
                    <a:lumMod val="75000"/>
                  </a:schemeClr>
                </a:solidFill>
                <a:latin typeface="微软雅黑" pitchFamily="34" charset="-122"/>
                <a:ea typeface="微软雅黑" pitchFamily="34" charset="-122"/>
              </a:rPr>
              <a:t>）：</a:t>
            </a:r>
            <a:r>
              <a:rPr lang="zh-CN" altLang="en-US" sz="2800" b="1" dirty="0">
                <a:latin typeface="微软雅黑" pitchFamily="34" charset="-122"/>
                <a:ea typeface="微软雅黑" pitchFamily="34" charset="-122"/>
              </a:rPr>
              <a:t>一个表可以有一个或者多个外键，</a:t>
            </a:r>
            <a:r>
              <a:rPr lang="zh-CN" altLang="en-US" sz="2800" b="1" dirty="0">
                <a:solidFill>
                  <a:srgbClr val="FF0000"/>
                </a:solidFill>
                <a:latin typeface="微软雅黑" pitchFamily="34" charset="-122"/>
                <a:ea typeface="微软雅黑" pitchFamily="34" charset="-122"/>
              </a:rPr>
              <a:t>外键</a:t>
            </a:r>
            <a:r>
              <a:rPr lang="zh-CN" altLang="en-US" sz="2800" b="1" dirty="0">
                <a:latin typeface="微软雅黑" pitchFamily="34" charset="-122"/>
                <a:ea typeface="微软雅黑" pitchFamily="34" charset="-122"/>
              </a:rPr>
              <a:t>的值对应于</a:t>
            </a:r>
            <a:r>
              <a:rPr lang="zh-CN" altLang="en-US" sz="2800" b="1" dirty="0">
                <a:solidFill>
                  <a:srgbClr val="FF0000"/>
                </a:solidFill>
                <a:latin typeface="微软雅黑" pitchFamily="34" charset="-122"/>
                <a:ea typeface="微软雅黑" pitchFamily="34" charset="-122"/>
              </a:rPr>
              <a:t>其他表的主键</a:t>
            </a:r>
            <a:r>
              <a:rPr lang="zh-CN" altLang="en-US" sz="2800" b="1" dirty="0">
                <a:latin typeface="微软雅黑" pitchFamily="34" charset="-122"/>
                <a:ea typeface="微软雅黑" pitchFamily="34" charset="-122"/>
              </a:rPr>
              <a:t>的值，是</a:t>
            </a:r>
            <a:r>
              <a:rPr lang="zh-CN" altLang="en-US" sz="2800" b="1" dirty="0">
                <a:solidFill>
                  <a:srgbClr val="FF0000"/>
                </a:solidFill>
                <a:latin typeface="微软雅黑" pitchFamily="34" charset="-122"/>
                <a:ea typeface="微软雅黑" pitchFamily="34" charset="-122"/>
              </a:rPr>
              <a:t>连接不同表的公共属性</a:t>
            </a:r>
            <a:r>
              <a:rPr lang="zh-CN" altLang="en-US" sz="2800" b="1" dirty="0">
                <a:latin typeface="微软雅黑" pitchFamily="34" charset="-122"/>
                <a:ea typeface="微软雅黑" pitchFamily="34" charset="-122"/>
              </a:rPr>
              <a:t>。</a:t>
            </a:r>
            <a:endParaRPr lang="en-US" altLang="zh-CN" sz="2800" b="1" dirty="0">
              <a:latin typeface="微软雅黑" pitchFamily="34" charset="-122"/>
              <a:ea typeface="微软雅黑" pitchFamily="34" charset="-122"/>
            </a:endParaRPr>
          </a:p>
          <a:p>
            <a:pPr eaLnBrk="1" hangingPunct="1">
              <a:buFont typeface="Wingdings" pitchFamily="2" charset="2"/>
              <a:buChar char="Ø"/>
              <a:defRPr/>
            </a:pPr>
            <a:r>
              <a:rPr lang="zh-CN" altLang="en-US" sz="2800" b="1" dirty="0">
                <a:solidFill>
                  <a:schemeClr val="accent1">
                    <a:lumMod val="75000"/>
                  </a:schemeClr>
                </a:solidFill>
                <a:latin typeface="微软雅黑" pitchFamily="34" charset="-122"/>
                <a:ea typeface="微软雅黑" pitchFamily="34" charset="-122"/>
              </a:rPr>
              <a:t>关系模式：</a:t>
            </a:r>
            <a:r>
              <a:rPr lang="zh-CN" altLang="en-US" sz="2800" b="1" dirty="0">
                <a:latin typeface="微软雅黑" pitchFamily="34" charset="-122"/>
                <a:ea typeface="微软雅黑" pitchFamily="34" charset="-122"/>
              </a:rPr>
              <a:t>表的结构称为关系模式，是对关系的描述，主要由表名和属性名构成。</a:t>
            </a:r>
            <a:r>
              <a:rPr lang="zh-CN" altLang="en-US" sz="2800" b="1" dirty="0">
                <a:solidFill>
                  <a:srgbClr val="0000FF"/>
                </a:solidFill>
                <a:latin typeface="微软雅黑" pitchFamily="34" charset="-122"/>
                <a:ea typeface="微软雅黑" pitchFamily="34" charset="-122"/>
              </a:rPr>
              <a:t>关系模式中，属性的总数称为关系的元数，又称条目或度（</a:t>
            </a:r>
            <a:r>
              <a:rPr lang="en-US" altLang="zh-CN" sz="2800" b="1" dirty="0">
                <a:solidFill>
                  <a:srgbClr val="0000FF"/>
                </a:solidFill>
                <a:latin typeface="微软雅黑" pitchFamily="34" charset="-122"/>
                <a:ea typeface="微软雅黑" pitchFamily="34" charset="-122"/>
              </a:rPr>
              <a:t>Degree</a:t>
            </a:r>
            <a:r>
              <a:rPr lang="zh-CN" altLang="en-US" sz="2800" b="1" dirty="0">
                <a:solidFill>
                  <a:srgbClr val="0000FF"/>
                </a:solidFill>
                <a:latin typeface="微软雅黑" pitchFamily="34" charset="-122"/>
                <a:ea typeface="微软雅黑" pitchFamily="34" charset="-122"/>
              </a:rPr>
              <a:t>）</a:t>
            </a:r>
            <a:r>
              <a:rPr lang="zh-CN" altLang="en-US" sz="2800" b="1" dirty="0">
                <a:latin typeface="微软雅黑" pitchFamily="34" charset="-122"/>
                <a:ea typeface="微软雅黑" pitchFamily="34" charset="-122"/>
              </a:rPr>
              <a:t>。</a:t>
            </a:r>
            <a:endParaRPr lang="en-US" altLang="zh-CN" sz="2800" b="1" dirty="0">
              <a:latin typeface="微软雅黑" pitchFamily="34" charset="-122"/>
              <a:ea typeface="微软雅黑" pitchFamily="34" charset="-122"/>
            </a:endParaRPr>
          </a:p>
          <a:p>
            <a:pPr lvl="1" eaLnBrk="1" hangingPunct="1">
              <a:buFont typeface="Wingdings" pitchFamily="2" charset="2"/>
              <a:buChar char="Ø"/>
              <a:defRPr/>
            </a:pPr>
            <a:r>
              <a:rPr lang="zh-CN" altLang="en-US" b="1" dirty="0">
                <a:solidFill>
                  <a:schemeClr val="accent2">
                    <a:lumMod val="50000"/>
                  </a:schemeClr>
                </a:solidFill>
                <a:latin typeface="微软雅黑" pitchFamily="34" charset="-122"/>
                <a:ea typeface="微软雅黑" pitchFamily="34" charset="-122"/>
              </a:rPr>
              <a:t>关系模式描述表的格式，是关系的数据结构及语义限制，一般相对稳定且不随时间改变；</a:t>
            </a:r>
            <a:endParaRPr lang="en-US" altLang="zh-CN" b="1" dirty="0">
              <a:solidFill>
                <a:schemeClr val="accent2">
                  <a:lumMod val="50000"/>
                </a:schemeClr>
              </a:solidFill>
              <a:latin typeface="微软雅黑" pitchFamily="34" charset="-122"/>
              <a:ea typeface="微软雅黑" pitchFamily="34" charset="-122"/>
            </a:endParaRPr>
          </a:p>
          <a:p>
            <a:pPr lvl="1" eaLnBrk="1" hangingPunct="1">
              <a:buFont typeface="Wingdings" pitchFamily="2" charset="2"/>
              <a:buChar char="Ø"/>
              <a:defRPr/>
            </a:pPr>
            <a:r>
              <a:rPr lang="zh-CN" altLang="en-US" b="1" dirty="0">
                <a:solidFill>
                  <a:schemeClr val="accent2">
                    <a:lumMod val="50000"/>
                  </a:schemeClr>
                </a:solidFill>
                <a:latin typeface="微软雅黑" pitchFamily="34" charset="-122"/>
                <a:ea typeface="微软雅黑" pitchFamily="34" charset="-122"/>
              </a:rPr>
              <a:t>关系是在某一时刻关系模式的“当前值”，是动态变化的。</a:t>
            </a:r>
            <a:endParaRPr lang="zh-CN" altLang="en-US" sz="2400" b="1" dirty="0">
              <a:latin typeface="微软雅黑" pitchFamily="34" charset="-122"/>
              <a:ea typeface="微软雅黑" pitchFamily="34" charset="-122"/>
            </a:endParaRPr>
          </a:p>
        </p:txBody>
      </p:sp>
    </p:spTree>
    <p:extLst>
      <p:ext uri="{BB962C8B-B14F-4D97-AF65-F5344CB8AC3E}">
        <p14:creationId xmlns:p14="http://schemas.microsoft.com/office/powerpoint/2010/main" val="618291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49F3DFEE-D615-10A4-3DFB-F10E842FD6FF}"/>
              </a:ext>
            </a:extLst>
          </p:cNvPr>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 name="直接连接符 2">
            <a:extLst>
              <a:ext uri="{FF2B5EF4-FFF2-40B4-BE49-F238E27FC236}">
                <a16:creationId xmlns:a16="http://schemas.microsoft.com/office/drawing/2014/main" id="{E448084C-00C1-2D46-B2E9-907AC7E07A63}"/>
              </a:ext>
            </a:extLst>
          </p:cNvPr>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4" name="图形 3">
            <a:extLst>
              <a:ext uri="{FF2B5EF4-FFF2-40B4-BE49-F238E27FC236}">
                <a16:creationId xmlns:a16="http://schemas.microsoft.com/office/drawing/2014/main" id="{C93BB0EF-03E3-F5C3-728A-B6DC40F04B4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6" name="文本框 5">
            <a:extLst>
              <a:ext uri="{FF2B5EF4-FFF2-40B4-BE49-F238E27FC236}">
                <a16:creationId xmlns:a16="http://schemas.microsoft.com/office/drawing/2014/main" id="{47E122C5-6879-554E-162C-5ECC1522BC4D}"/>
              </a:ext>
            </a:extLst>
          </p:cNvPr>
          <p:cNvSpPr txBox="1"/>
          <p:nvPr/>
        </p:nvSpPr>
        <p:spPr>
          <a:xfrm>
            <a:off x="5053330" y="6322695"/>
            <a:ext cx="3491865" cy="398780"/>
          </a:xfrm>
          <a:prstGeom prst="rect">
            <a:avLst/>
          </a:prstGeom>
          <a:noFill/>
        </p:spPr>
        <p:txBody>
          <a:bodyPr wrap="square" rtlCol="0">
            <a:spAutoFit/>
          </a:bodyPr>
          <a:lstStyle/>
          <a:p>
            <a:r>
              <a:rPr lang="zh-CN" altLang="en-US" sz="2000" dirty="0">
                <a:latin typeface="汉仪黑方简" panose="00020600040101010101" charset="-122"/>
                <a:ea typeface="汉仪黑方简" panose="00020600040101010101" charset="-122"/>
              </a:rPr>
              <a:t>网络开拓者协会</a:t>
            </a:r>
          </a:p>
        </p:txBody>
      </p:sp>
      <p:sp>
        <p:nvSpPr>
          <p:cNvPr id="8" name="文本框 7">
            <a:extLst>
              <a:ext uri="{FF2B5EF4-FFF2-40B4-BE49-F238E27FC236}">
                <a16:creationId xmlns:a16="http://schemas.microsoft.com/office/drawing/2014/main" id="{7AF50C05-6876-057E-02F8-82D57A301A15}"/>
              </a:ext>
            </a:extLst>
          </p:cNvPr>
          <p:cNvSpPr txBox="1"/>
          <p:nvPr/>
        </p:nvSpPr>
        <p:spPr>
          <a:xfrm>
            <a:off x="1247322" y="95361"/>
            <a:ext cx="6023428" cy="1446550"/>
          </a:xfrm>
          <a:prstGeom prst="rect">
            <a:avLst/>
          </a:prstGeom>
          <a:noFill/>
        </p:spPr>
        <p:txBody>
          <a:bodyPr wrap="square" rtlCol="0">
            <a:spAutoFit/>
          </a:bodyPr>
          <a:lstStyle/>
          <a:p>
            <a:r>
              <a:rPr lang="zh-CN" altLang="en-US" sz="4400" b="1" dirty="0">
                <a:latin typeface="仿宋" panose="02010609060101010101" pitchFamily="49" charset="-122"/>
                <a:ea typeface="仿宋" panose="02010609060101010101" pitchFamily="49" charset="-122"/>
              </a:rPr>
              <a:t>关系模型</a:t>
            </a:r>
            <a:endParaRPr lang="zh-CN" altLang="en-US" sz="4400" b="0" i="0" u="none" strike="noStrike" baseline="0" dirty="0">
              <a:latin typeface="仿宋" panose="02010609060101010101" pitchFamily="49" charset="-122"/>
              <a:ea typeface="仿宋" panose="02010609060101010101" pitchFamily="49" charset="-122"/>
            </a:endParaRPr>
          </a:p>
          <a:p>
            <a:endParaRPr lang="en-US" altLang="zh-CN" sz="4400" dirty="0">
              <a:latin typeface="仿宋" panose="02010609060101010101" pitchFamily="49" charset="-122"/>
              <a:ea typeface="仿宋" panose="02010609060101010101" pitchFamily="49" charset="-122"/>
            </a:endParaRPr>
          </a:p>
        </p:txBody>
      </p:sp>
      <p:pic>
        <p:nvPicPr>
          <p:cNvPr id="12" name="图片 4">
            <a:extLst>
              <a:ext uri="{FF2B5EF4-FFF2-40B4-BE49-F238E27FC236}">
                <a16:creationId xmlns:a16="http://schemas.microsoft.com/office/drawing/2014/main" id="{E30EC3F4-068E-14F5-8D30-3F40697DF572}"/>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416425" y="6219825"/>
            <a:ext cx="542925" cy="542925"/>
          </a:xfrm>
          <a:prstGeom prst="rect">
            <a:avLst/>
          </a:prstGeom>
        </p:spPr>
      </p:pic>
      <p:sp>
        <p:nvSpPr>
          <p:cNvPr id="10" name="内容占位符 2">
            <a:extLst>
              <a:ext uri="{FF2B5EF4-FFF2-40B4-BE49-F238E27FC236}">
                <a16:creationId xmlns:a16="http://schemas.microsoft.com/office/drawing/2014/main" id="{6B6D1EA6-560C-8132-F5B9-DE0EB596C1BE}"/>
              </a:ext>
            </a:extLst>
          </p:cNvPr>
          <p:cNvSpPr txBox="1">
            <a:spLocks/>
          </p:cNvSpPr>
          <p:nvPr/>
        </p:nvSpPr>
        <p:spPr>
          <a:xfrm>
            <a:off x="428377" y="830148"/>
            <a:ext cx="11627497" cy="5545138"/>
          </a:xfrm>
          <a:prstGeom prst="rect">
            <a:avLst/>
          </a:prstGeom>
        </p:spPr>
        <p:txBody>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Tx/>
              <a:buNone/>
              <a:defRPr/>
            </a:pPr>
            <a:r>
              <a:rPr lang="en-US" altLang="zh-CN" b="1" dirty="0">
                <a:solidFill>
                  <a:srgbClr val="0000FF"/>
                </a:solidFill>
                <a:latin typeface="微软雅黑" pitchFamily="34" charset="-122"/>
                <a:ea typeface="微软雅黑" pitchFamily="34" charset="-122"/>
              </a:rPr>
              <a:t>2.</a:t>
            </a:r>
            <a:r>
              <a:rPr lang="zh-CN" altLang="en-US" b="1" dirty="0">
                <a:solidFill>
                  <a:srgbClr val="0000FF"/>
                </a:solidFill>
                <a:latin typeface="微软雅黑" pitchFamily="34" charset="-122"/>
                <a:ea typeface="微软雅黑" pitchFamily="34" charset="-122"/>
              </a:rPr>
              <a:t>关系完整性约束</a:t>
            </a:r>
            <a:endParaRPr lang="en-US" altLang="zh-CN" b="1" dirty="0">
              <a:solidFill>
                <a:srgbClr val="0000FF"/>
              </a:solidFill>
              <a:latin typeface="微软雅黑" pitchFamily="34" charset="-122"/>
              <a:ea typeface="微软雅黑" pitchFamily="34" charset="-122"/>
            </a:endParaRPr>
          </a:p>
          <a:p>
            <a:pPr>
              <a:lnSpc>
                <a:spcPct val="100000"/>
              </a:lnSpc>
              <a:defRPr/>
            </a:pPr>
            <a:r>
              <a:rPr lang="zh-CN" altLang="en-US" sz="2800" b="1" dirty="0">
                <a:solidFill>
                  <a:schemeClr val="accent1">
                    <a:lumMod val="75000"/>
                  </a:schemeClr>
                </a:solidFill>
                <a:latin typeface="微软雅黑" pitchFamily="34" charset="-122"/>
                <a:ea typeface="微软雅黑" pitchFamily="34" charset="-122"/>
              </a:rPr>
              <a:t>实体完整性（</a:t>
            </a:r>
            <a:r>
              <a:rPr lang="en-US" sz="2800" b="1" dirty="0">
                <a:solidFill>
                  <a:schemeClr val="accent1">
                    <a:lumMod val="75000"/>
                  </a:schemeClr>
                </a:solidFill>
                <a:latin typeface="微软雅黑" pitchFamily="34" charset="-122"/>
                <a:ea typeface="微软雅黑" pitchFamily="34" charset="-122"/>
              </a:rPr>
              <a:t>Entity Integrity</a:t>
            </a:r>
            <a:r>
              <a:rPr lang="zh-CN" altLang="en-US" sz="2800" b="1" dirty="0">
                <a:solidFill>
                  <a:schemeClr val="accent1">
                    <a:lumMod val="75000"/>
                  </a:schemeClr>
                </a:solidFill>
                <a:latin typeface="微软雅黑" pitchFamily="34" charset="-122"/>
                <a:ea typeface="微软雅黑" pitchFamily="34" charset="-122"/>
              </a:rPr>
              <a:t>） ：</a:t>
            </a:r>
            <a:r>
              <a:rPr lang="zh-CN" altLang="en-US" sz="2800" b="1" dirty="0">
                <a:latin typeface="微软雅黑" pitchFamily="34" charset="-122"/>
                <a:ea typeface="微软雅黑" pitchFamily="34" charset="-122"/>
              </a:rPr>
              <a:t>一个关系中，其实体通过主关键字相互区别，需要对主关键字进行一定的约束，以保证关系中实体的唯一性。</a:t>
            </a:r>
            <a:endParaRPr lang="en-US" altLang="zh-CN" sz="2800" b="1" dirty="0">
              <a:latin typeface="微软雅黑" pitchFamily="34" charset="-122"/>
              <a:ea typeface="微软雅黑" pitchFamily="34" charset="-122"/>
            </a:endParaRPr>
          </a:p>
          <a:p>
            <a:pPr lvl="1">
              <a:lnSpc>
                <a:spcPct val="100000"/>
              </a:lnSpc>
              <a:buFontTx/>
              <a:buNone/>
              <a:defRPr/>
            </a:pPr>
            <a:r>
              <a:rPr lang="zh-CN" altLang="en-US" b="1" dirty="0">
                <a:solidFill>
                  <a:srgbClr val="7030A0"/>
                </a:solidFill>
                <a:latin typeface="微软雅黑" pitchFamily="34" charset="-122"/>
                <a:ea typeface="微软雅黑" pitchFamily="34" charset="-122"/>
              </a:rPr>
              <a:t>如：学号是主关键字，不能为空，也不能重复</a:t>
            </a:r>
            <a:endParaRPr lang="en-US" altLang="zh-CN" b="1" dirty="0">
              <a:solidFill>
                <a:srgbClr val="7030A0"/>
              </a:solidFill>
              <a:latin typeface="微软雅黑" pitchFamily="34" charset="-122"/>
              <a:ea typeface="微软雅黑" pitchFamily="34" charset="-122"/>
            </a:endParaRPr>
          </a:p>
          <a:p>
            <a:pPr>
              <a:lnSpc>
                <a:spcPct val="100000"/>
              </a:lnSpc>
              <a:defRPr/>
            </a:pPr>
            <a:r>
              <a:rPr lang="zh-CN" altLang="en-US" sz="2800" b="1" dirty="0">
                <a:solidFill>
                  <a:schemeClr val="accent1">
                    <a:lumMod val="75000"/>
                  </a:schemeClr>
                </a:solidFill>
                <a:latin typeface="微软雅黑" pitchFamily="34" charset="-122"/>
                <a:ea typeface="微软雅黑" pitchFamily="34" charset="-122"/>
              </a:rPr>
              <a:t>参照完整性（</a:t>
            </a:r>
            <a:r>
              <a:rPr lang="en-US" altLang="en-US" sz="2800" b="1" dirty="0">
                <a:solidFill>
                  <a:schemeClr val="accent1">
                    <a:lumMod val="75000"/>
                  </a:schemeClr>
                </a:solidFill>
                <a:latin typeface="微软雅黑" pitchFamily="34" charset="-122"/>
                <a:ea typeface="微软雅黑" pitchFamily="34" charset="-122"/>
              </a:rPr>
              <a:t>Referential Integrity</a:t>
            </a:r>
            <a:r>
              <a:rPr lang="zh-CN" altLang="en-US" sz="2800" b="1" dirty="0">
                <a:solidFill>
                  <a:schemeClr val="accent1">
                    <a:lumMod val="75000"/>
                  </a:schemeClr>
                </a:solidFill>
                <a:latin typeface="微软雅黑" pitchFamily="34" charset="-122"/>
                <a:ea typeface="微软雅黑" pitchFamily="34" charset="-122"/>
              </a:rPr>
              <a:t>）：</a:t>
            </a:r>
            <a:r>
              <a:rPr lang="zh-CN" altLang="en-US" sz="2800" b="1" dirty="0">
                <a:latin typeface="微软雅黑" pitchFamily="34" charset="-122"/>
                <a:ea typeface="微软雅黑" pitchFamily="34" charset="-122"/>
              </a:rPr>
              <a:t>参照关系中，外键必须是被参照关系中主关键字的有效值</a:t>
            </a:r>
            <a:endParaRPr lang="en-US" altLang="zh-CN" sz="2800" b="1" dirty="0">
              <a:latin typeface="微软雅黑" pitchFamily="34" charset="-122"/>
              <a:ea typeface="微软雅黑" pitchFamily="34" charset="-122"/>
            </a:endParaRPr>
          </a:p>
          <a:p>
            <a:pPr lvl="1">
              <a:lnSpc>
                <a:spcPct val="100000"/>
              </a:lnSpc>
              <a:buFont typeface="Wingdings" pitchFamily="2" charset="2"/>
              <a:buChar char="Ø"/>
              <a:defRPr/>
            </a:pPr>
            <a:r>
              <a:rPr lang="zh-CN" altLang="en-US" b="1" dirty="0">
                <a:solidFill>
                  <a:srgbClr val="7030A0"/>
                </a:solidFill>
                <a:latin typeface="微软雅黑" pitchFamily="34" charset="-122"/>
                <a:ea typeface="微软雅黑" pitchFamily="34" charset="-122"/>
              </a:rPr>
              <a:t>学生信息（</a:t>
            </a:r>
            <a:r>
              <a:rPr lang="zh-CN" altLang="en-US" b="1" u="dbl" dirty="0">
                <a:solidFill>
                  <a:srgbClr val="7030A0"/>
                </a:solidFill>
                <a:latin typeface="微软雅黑" pitchFamily="34" charset="-122"/>
                <a:ea typeface="微软雅黑" pitchFamily="34" charset="-122"/>
              </a:rPr>
              <a:t>学号</a:t>
            </a:r>
            <a:r>
              <a:rPr lang="zh-CN" altLang="en-US" b="1" dirty="0">
                <a:solidFill>
                  <a:srgbClr val="7030A0"/>
                </a:solidFill>
                <a:latin typeface="微软雅黑" pitchFamily="34" charset="-122"/>
                <a:ea typeface="微软雅黑" pitchFamily="34" charset="-122"/>
              </a:rPr>
              <a:t>，姓名，性别，专业，</a:t>
            </a:r>
            <a:r>
              <a:rPr lang="en-US" b="1" dirty="0">
                <a:solidFill>
                  <a:srgbClr val="7030A0"/>
                </a:solidFill>
                <a:latin typeface="微软雅黑" pitchFamily="34" charset="-122"/>
                <a:ea typeface="微软雅黑" pitchFamily="34" charset="-122"/>
              </a:rPr>
              <a:t>……</a:t>
            </a:r>
            <a:r>
              <a:rPr lang="zh-CN" altLang="en-US" b="1" dirty="0">
                <a:solidFill>
                  <a:srgbClr val="7030A0"/>
                </a:solidFill>
                <a:latin typeface="微软雅黑" pitchFamily="34" charset="-122"/>
                <a:ea typeface="微软雅黑" pitchFamily="34" charset="-122"/>
              </a:rPr>
              <a:t>）</a:t>
            </a:r>
          </a:p>
          <a:p>
            <a:pPr lvl="1">
              <a:lnSpc>
                <a:spcPct val="100000"/>
              </a:lnSpc>
              <a:buFont typeface="Wingdings" pitchFamily="2" charset="2"/>
              <a:buChar char="Ø"/>
              <a:defRPr/>
            </a:pPr>
            <a:r>
              <a:rPr lang="zh-CN" altLang="en-US" b="1" dirty="0">
                <a:solidFill>
                  <a:srgbClr val="7030A0"/>
                </a:solidFill>
                <a:latin typeface="微软雅黑" pitchFamily="34" charset="-122"/>
                <a:ea typeface="微软雅黑" pitchFamily="34" charset="-122"/>
              </a:rPr>
              <a:t>课程信息（</a:t>
            </a:r>
            <a:r>
              <a:rPr lang="zh-CN" altLang="en-US" b="1" u="dbl" dirty="0">
                <a:solidFill>
                  <a:srgbClr val="7030A0"/>
                </a:solidFill>
                <a:latin typeface="微软雅黑" pitchFamily="34" charset="-122"/>
                <a:ea typeface="微软雅黑" pitchFamily="34" charset="-122"/>
              </a:rPr>
              <a:t>课程代码</a:t>
            </a:r>
            <a:r>
              <a:rPr lang="zh-CN" altLang="en-US" b="1" dirty="0">
                <a:solidFill>
                  <a:srgbClr val="7030A0"/>
                </a:solidFill>
                <a:latin typeface="微软雅黑" pitchFamily="34" charset="-122"/>
                <a:ea typeface="微软雅黑" pitchFamily="34" charset="-122"/>
              </a:rPr>
              <a:t>，课程名称，学分，学时数，</a:t>
            </a:r>
            <a:r>
              <a:rPr lang="en-US" b="1" dirty="0">
                <a:solidFill>
                  <a:srgbClr val="7030A0"/>
                </a:solidFill>
                <a:latin typeface="微软雅黑" pitchFamily="34" charset="-122"/>
                <a:ea typeface="微软雅黑" pitchFamily="34" charset="-122"/>
              </a:rPr>
              <a:t>……</a:t>
            </a:r>
            <a:r>
              <a:rPr lang="zh-CN" altLang="en-US" b="1" dirty="0">
                <a:solidFill>
                  <a:srgbClr val="7030A0"/>
                </a:solidFill>
                <a:latin typeface="微软雅黑" pitchFamily="34" charset="-122"/>
                <a:ea typeface="微软雅黑" pitchFamily="34" charset="-122"/>
              </a:rPr>
              <a:t>）</a:t>
            </a:r>
          </a:p>
          <a:p>
            <a:pPr lvl="1">
              <a:lnSpc>
                <a:spcPct val="100000"/>
              </a:lnSpc>
              <a:buFont typeface="Wingdings" pitchFamily="2" charset="2"/>
              <a:buChar char="Ø"/>
              <a:defRPr/>
            </a:pPr>
            <a:r>
              <a:rPr lang="zh-CN" altLang="en-US" b="1" dirty="0">
                <a:solidFill>
                  <a:srgbClr val="7030A0"/>
                </a:solidFill>
                <a:latin typeface="微软雅黑" pitchFamily="34" charset="-122"/>
                <a:ea typeface="微软雅黑" pitchFamily="34" charset="-122"/>
              </a:rPr>
              <a:t>学生选课信息表（</a:t>
            </a:r>
            <a:r>
              <a:rPr lang="zh-CN" altLang="en-US" b="1" u="dbl" dirty="0">
                <a:solidFill>
                  <a:srgbClr val="7030A0"/>
                </a:solidFill>
                <a:latin typeface="微软雅黑" pitchFamily="34" charset="-122"/>
                <a:ea typeface="微软雅黑" pitchFamily="34" charset="-122"/>
              </a:rPr>
              <a:t>学号</a:t>
            </a:r>
            <a:r>
              <a:rPr lang="zh-CN" altLang="en-US" b="1" dirty="0">
                <a:solidFill>
                  <a:srgbClr val="7030A0"/>
                </a:solidFill>
                <a:latin typeface="微软雅黑" pitchFamily="34" charset="-122"/>
                <a:ea typeface="微软雅黑" pitchFamily="34" charset="-122"/>
              </a:rPr>
              <a:t>，</a:t>
            </a:r>
            <a:r>
              <a:rPr lang="zh-CN" altLang="en-US" b="1" u="dbl" dirty="0">
                <a:solidFill>
                  <a:srgbClr val="7030A0"/>
                </a:solidFill>
                <a:latin typeface="微软雅黑" pitchFamily="34" charset="-122"/>
                <a:ea typeface="微软雅黑" pitchFamily="34" charset="-122"/>
              </a:rPr>
              <a:t>课程代码</a:t>
            </a:r>
            <a:r>
              <a:rPr lang="zh-CN" altLang="en-US" b="1" dirty="0">
                <a:solidFill>
                  <a:srgbClr val="7030A0"/>
                </a:solidFill>
                <a:latin typeface="微软雅黑" pitchFamily="34" charset="-122"/>
                <a:ea typeface="微软雅黑" pitchFamily="34" charset="-122"/>
              </a:rPr>
              <a:t>，成绩）</a:t>
            </a:r>
            <a:endParaRPr lang="en-US" altLang="zh-CN" b="1" dirty="0">
              <a:solidFill>
                <a:srgbClr val="7030A0"/>
              </a:solidFill>
              <a:latin typeface="微软雅黑" pitchFamily="34" charset="-122"/>
              <a:ea typeface="微软雅黑" pitchFamily="34" charset="-122"/>
            </a:endParaRPr>
          </a:p>
          <a:p>
            <a:pPr>
              <a:lnSpc>
                <a:spcPct val="100000"/>
              </a:lnSpc>
              <a:defRPr/>
            </a:pPr>
            <a:r>
              <a:rPr lang="zh-CN" altLang="en-US" sz="2400" b="1" dirty="0">
                <a:solidFill>
                  <a:schemeClr val="accent1">
                    <a:lumMod val="75000"/>
                  </a:schemeClr>
                </a:solidFill>
                <a:latin typeface="微软雅黑" pitchFamily="34" charset="-122"/>
                <a:ea typeface="微软雅黑" pitchFamily="34" charset="-122"/>
              </a:rPr>
              <a:t>用户定义完整性（</a:t>
            </a:r>
            <a:r>
              <a:rPr lang="en-US" altLang="zh-CN" sz="2400" b="1" dirty="0">
                <a:solidFill>
                  <a:schemeClr val="accent1">
                    <a:lumMod val="75000"/>
                  </a:schemeClr>
                </a:solidFill>
                <a:latin typeface="微软雅黑" pitchFamily="34" charset="-122"/>
                <a:ea typeface="微软雅黑" pitchFamily="34" charset="-122"/>
              </a:rPr>
              <a:t>User-defined Integrity</a:t>
            </a:r>
            <a:r>
              <a:rPr lang="zh-CN" altLang="en-US" sz="2400" b="1" dirty="0">
                <a:solidFill>
                  <a:schemeClr val="accent1">
                    <a:lumMod val="75000"/>
                  </a:schemeClr>
                </a:solidFill>
                <a:latin typeface="微软雅黑" pitchFamily="34" charset="-122"/>
                <a:ea typeface="微软雅黑" pitchFamily="34" charset="-122"/>
              </a:rPr>
              <a:t>）：</a:t>
            </a:r>
            <a:r>
              <a:rPr lang="zh-CN" altLang="en-US" sz="2400" b="1" dirty="0">
                <a:latin typeface="微软雅黑" pitchFamily="34" charset="-122"/>
                <a:ea typeface="微软雅黑" pitchFamily="34" charset="-122"/>
              </a:rPr>
              <a:t>用户根据具体应用环境提出的完整性约束条件。</a:t>
            </a:r>
            <a:endParaRPr lang="en-US" altLang="zh-CN" sz="2400" b="1" dirty="0">
              <a:latin typeface="微软雅黑" pitchFamily="34" charset="-122"/>
              <a:ea typeface="微软雅黑" pitchFamily="34" charset="-122"/>
            </a:endParaRPr>
          </a:p>
          <a:p>
            <a:pPr marL="0" indent="0">
              <a:lnSpc>
                <a:spcPct val="100000"/>
              </a:lnSpc>
              <a:buNone/>
              <a:defRPr/>
            </a:pPr>
            <a:r>
              <a:rPr lang="en-US" altLang="zh-CN" b="1" dirty="0">
                <a:solidFill>
                  <a:srgbClr val="7030A0"/>
                </a:solidFill>
                <a:latin typeface="微软雅黑" pitchFamily="34" charset="-122"/>
                <a:ea typeface="微软雅黑" pitchFamily="34" charset="-122"/>
              </a:rPr>
              <a:t>     </a:t>
            </a:r>
            <a:r>
              <a:rPr lang="zh-CN" altLang="en-US" b="1" dirty="0">
                <a:solidFill>
                  <a:srgbClr val="7030A0"/>
                </a:solidFill>
                <a:latin typeface="微软雅黑" pitchFamily="34" charset="-122"/>
                <a:ea typeface="微软雅黑" pitchFamily="34" charset="-122"/>
              </a:rPr>
              <a:t>如：成绩属性值不能为负数、学号属性必须是十位编号等等</a:t>
            </a:r>
            <a:endParaRPr lang="en-US" altLang="zh-CN" b="1" dirty="0">
              <a:solidFill>
                <a:srgbClr val="7030A0"/>
              </a:solidFill>
              <a:latin typeface="微软雅黑" pitchFamily="34" charset="-122"/>
              <a:ea typeface="微软雅黑" pitchFamily="34" charset="-122"/>
            </a:endParaRPr>
          </a:p>
          <a:p>
            <a:pPr marL="457200" lvl="1" indent="0">
              <a:lnSpc>
                <a:spcPct val="100000"/>
              </a:lnSpc>
              <a:buNone/>
              <a:defRPr/>
            </a:pPr>
            <a:endParaRPr lang="en-US" altLang="zh-CN" b="1" dirty="0">
              <a:solidFill>
                <a:srgbClr val="7030A0"/>
              </a:solidFill>
              <a:latin typeface="微软雅黑" pitchFamily="34" charset="-122"/>
              <a:ea typeface="微软雅黑" pitchFamily="34" charset="-122"/>
            </a:endParaRPr>
          </a:p>
        </p:txBody>
      </p:sp>
    </p:spTree>
    <p:extLst>
      <p:ext uri="{BB962C8B-B14F-4D97-AF65-F5344CB8AC3E}">
        <p14:creationId xmlns:p14="http://schemas.microsoft.com/office/powerpoint/2010/main" val="11522122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49F3DFEE-D615-10A4-3DFB-F10E842FD6FF}"/>
              </a:ext>
            </a:extLst>
          </p:cNvPr>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 name="直接连接符 2">
            <a:extLst>
              <a:ext uri="{FF2B5EF4-FFF2-40B4-BE49-F238E27FC236}">
                <a16:creationId xmlns:a16="http://schemas.microsoft.com/office/drawing/2014/main" id="{E448084C-00C1-2D46-B2E9-907AC7E07A63}"/>
              </a:ext>
            </a:extLst>
          </p:cNvPr>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4" name="图形 3">
            <a:extLst>
              <a:ext uri="{FF2B5EF4-FFF2-40B4-BE49-F238E27FC236}">
                <a16:creationId xmlns:a16="http://schemas.microsoft.com/office/drawing/2014/main" id="{C93BB0EF-03E3-F5C3-728A-B6DC40F04B4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6" name="文本框 5">
            <a:extLst>
              <a:ext uri="{FF2B5EF4-FFF2-40B4-BE49-F238E27FC236}">
                <a16:creationId xmlns:a16="http://schemas.microsoft.com/office/drawing/2014/main" id="{47E122C5-6879-554E-162C-5ECC1522BC4D}"/>
              </a:ext>
            </a:extLst>
          </p:cNvPr>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9" name="文本框 8">
            <a:extLst>
              <a:ext uri="{FF2B5EF4-FFF2-40B4-BE49-F238E27FC236}">
                <a16:creationId xmlns:a16="http://schemas.microsoft.com/office/drawing/2014/main" id="{25DC7AFD-379C-581B-2642-2EF6EF4E3BBB}"/>
              </a:ext>
            </a:extLst>
          </p:cNvPr>
          <p:cNvSpPr txBox="1"/>
          <p:nvPr/>
        </p:nvSpPr>
        <p:spPr>
          <a:xfrm>
            <a:off x="1247322" y="95361"/>
            <a:ext cx="6023428" cy="769441"/>
          </a:xfrm>
          <a:prstGeom prst="rect">
            <a:avLst/>
          </a:prstGeom>
          <a:noFill/>
        </p:spPr>
        <p:txBody>
          <a:bodyPr wrap="square" rtlCol="0">
            <a:spAutoFit/>
          </a:bodyPr>
          <a:lstStyle/>
          <a:p>
            <a:pPr algn="l"/>
            <a:r>
              <a:rPr lang="zh-CN" altLang="en-US" sz="4400" b="1" i="0" u="none" strike="noStrike" baseline="0" dirty="0">
                <a:latin typeface="仿宋" panose="02010609060101010101" pitchFamily="49" charset="-122"/>
                <a:ea typeface="仿宋" panose="02010609060101010101" pitchFamily="49" charset="-122"/>
              </a:rPr>
              <a:t>关系模型</a:t>
            </a:r>
            <a:endParaRPr lang="en-US" altLang="zh-CN" sz="4400" b="1" i="0" u="none" strike="noStrike" baseline="0" dirty="0">
              <a:latin typeface="仿宋" panose="02010609060101010101" pitchFamily="49" charset="-122"/>
              <a:ea typeface="仿宋" panose="02010609060101010101" pitchFamily="49" charset="-122"/>
            </a:endParaRPr>
          </a:p>
        </p:txBody>
      </p:sp>
      <p:pic>
        <p:nvPicPr>
          <p:cNvPr id="10" name="图片 9">
            <a:extLst>
              <a:ext uri="{FF2B5EF4-FFF2-40B4-BE49-F238E27FC236}">
                <a16:creationId xmlns:a16="http://schemas.microsoft.com/office/drawing/2014/main" id="{13C4BBFD-66A0-44AF-1DF3-434C5A6F265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31679" y="2567542"/>
            <a:ext cx="8058572" cy="3343048"/>
          </a:xfrm>
          <a:prstGeom prst="rect">
            <a:avLst/>
          </a:prstGeom>
        </p:spPr>
      </p:pic>
      <p:sp>
        <p:nvSpPr>
          <p:cNvPr id="13" name="文本框 12">
            <a:extLst>
              <a:ext uri="{FF2B5EF4-FFF2-40B4-BE49-F238E27FC236}">
                <a16:creationId xmlns:a16="http://schemas.microsoft.com/office/drawing/2014/main" id="{2580EF8C-4026-6639-F5EE-02D930F10B71}"/>
              </a:ext>
            </a:extLst>
          </p:cNvPr>
          <p:cNvSpPr txBox="1"/>
          <p:nvPr/>
        </p:nvSpPr>
        <p:spPr>
          <a:xfrm>
            <a:off x="906236" y="1164519"/>
            <a:ext cx="3352800" cy="1200329"/>
          </a:xfrm>
          <a:prstGeom prst="rect">
            <a:avLst/>
          </a:prstGeom>
          <a:noFill/>
        </p:spPr>
        <p:txBody>
          <a:bodyPr wrap="square">
            <a:spAutoFit/>
          </a:bodyPr>
          <a:lstStyle/>
          <a:p>
            <a:pPr marL="457200" indent="-457200" algn="l">
              <a:buFont typeface="Arial" panose="020B0604020202020204" pitchFamily="34" charset="0"/>
              <a:buChar char="•"/>
            </a:pPr>
            <a:r>
              <a:rPr lang="zh-CN" altLang="en-US" sz="2400" dirty="0">
                <a:latin typeface="仿宋" panose="02010609060101010101" pitchFamily="49" charset="-122"/>
                <a:ea typeface="仿宋" panose="02010609060101010101" pitchFamily="49" charset="-122"/>
              </a:rPr>
              <a:t>交并差</a:t>
            </a:r>
            <a:endParaRPr lang="en-US" altLang="zh-CN" sz="2400" dirty="0">
              <a:latin typeface="仿宋" panose="02010609060101010101" pitchFamily="49" charset="-122"/>
              <a:ea typeface="仿宋" panose="02010609060101010101" pitchFamily="49" charset="-122"/>
            </a:endParaRPr>
          </a:p>
          <a:p>
            <a:pPr marL="457200" indent="-457200" algn="l">
              <a:buFont typeface="Arial" panose="020B0604020202020204" pitchFamily="34" charset="0"/>
              <a:buChar char="•"/>
            </a:pPr>
            <a:r>
              <a:rPr lang="zh-CN" altLang="en-US" sz="2400" dirty="0">
                <a:latin typeface="仿宋" panose="02010609060101010101" pitchFamily="49" charset="-122"/>
                <a:ea typeface="仿宋" panose="02010609060101010101" pitchFamily="49" charset="-122"/>
              </a:rPr>
              <a:t>笛卡尔积</a:t>
            </a:r>
            <a:endParaRPr lang="en-US" altLang="zh-CN" sz="2400" dirty="0">
              <a:latin typeface="仿宋" panose="02010609060101010101" pitchFamily="49" charset="-122"/>
              <a:ea typeface="仿宋" panose="02010609060101010101" pitchFamily="49" charset="-122"/>
            </a:endParaRPr>
          </a:p>
          <a:p>
            <a:pPr marL="457200" indent="-457200" algn="l">
              <a:buFont typeface="Arial" panose="020B0604020202020204" pitchFamily="34" charset="0"/>
              <a:buChar char="•"/>
            </a:pPr>
            <a:r>
              <a:rPr lang="zh-CN" altLang="en-US" sz="2400" dirty="0">
                <a:latin typeface="仿宋" panose="02010609060101010101" pitchFamily="49" charset="-122"/>
                <a:ea typeface="仿宋" panose="02010609060101010101" pitchFamily="49" charset="-122"/>
              </a:rPr>
              <a:t>选择投影连接</a:t>
            </a:r>
          </a:p>
        </p:txBody>
      </p:sp>
      <p:pic>
        <p:nvPicPr>
          <p:cNvPr id="7" name="图片 4">
            <a:extLst>
              <a:ext uri="{FF2B5EF4-FFF2-40B4-BE49-F238E27FC236}">
                <a16:creationId xmlns:a16="http://schemas.microsoft.com/office/drawing/2014/main" id="{D1944D0D-7DFF-6157-5634-A5017EB9FACE}"/>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4416425" y="6219825"/>
            <a:ext cx="542925" cy="542925"/>
          </a:xfrm>
          <a:prstGeom prst="rect">
            <a:avLst/>
          </a:prstGeom>
        </p:spPr>
      </p:pic>
      <p:pic>
        <p:nvPicPr>
          <p:cNvPr id="1026" name="Picture 2" descr="在这里插入图片描述">
            <a:extLst>
              <a:ext uri="{FF2B5EF4-FFF2-40B4-BE49-F238E27FC236}">
                <a16:creationId xmlns:a16="http://schemas.microsoft.com/office/drawing/2014/main" id="{9EF24CFD-533D-8FC0-E8F1-3FEFEB53AA4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52525" y="176213"/>
            <a:ext cx="9886950" cy="650557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在这里插入图片描述">
            <a:extLst>
              <a:ext uri="{FF2B5EF4-FFF2-40B4-BE49-F238E27FC236}">
                <a16:creationId xmlns:a16="http://schemas.microsoft.com/office/drawing/2014/main" id="{E91DB0D2-C866-8A34-7F48-EF119A120A4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85838" y="71438"/>
            <a:ext cx="10220325" cy="671512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在这里插入图片描述">
            <a:extLst>
              <a:ext uri="{FF2B5EF4-FFF2-40B4-BE49-F238E27FC236}">
                <a16:creationId xmlns:a16="http://schemas.microsoft.com/office/drawing/2014/main" id="{B07F752C-B80D-68BB-6F7A-E4D3D7849CB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95375" y="228600"/>
            <a:ext cx="10001250" cy="64008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在这里插入图片描述">
            <a:extLst>
              <a:ext uri="{FF2B5EF4-FFF2-40B4-BE49-F238E27FC236}">
                <a16:creationId xmlns:a16="http://schemas.microsoft.com/office/drawing/2014/main" id="{A0F12561-C065-9C19-3463-1B9CA80F81E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95375" y="123825"/>
            <a:ext cx="10001250" cy="6610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60477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30"/>
                                        </p:tgtEl>
                                        <p:attrNameLst>
                                          <p:attrName>style.visibility</p:attrName>
                                        </p:attrNameLst>
                                      </p:cBhvr>
                                      <p:to>
                                        <p:strVal val="visible"/>
                                      </p:to>
                                    </p:set>
                                    <p:animEffect transition="in" filter="fade">
                                      <p:cBhvr>
                                        <p:cTn id="12" dur="500"/>
                                        <p:tgtEl>
                                          <p:spTgt spid="103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nodeType="clickEffect">
                                  <p:stCondLst>
                                    <p:cond delay="0"/>
                                  </p:stCondLst>
                                  <p:childTnLst>
                                    <p:animEffect transition="out" filter="fade">
                                      <p:cBhvr>
                                        <p:cTn id="16" dur="500"/>
                                        <p:tgtEl>
                                          <p:spTgt spid="1030"/>
                                        </p:tgtEl>
                                      </p:cBhvr>
                                    </p:animEffect>
                                    <p:set>
                                      <p:cBhvr>
                                        <p:cTn id="17" dur="1" fill="hold">
                                          <p:stCondLst>
                                            <p:cond delay="499"/>
                                          </p:stCondLst>
                                        </p:cTn>
                                        <p:tgtEl>
                                          <p:spTgt spid="1030"/>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28"/>
                                        </p:tgtEl>
                                        <p:attrNameLst>
                                          <p:attrName>style.visibility</p:attrName>
                                        </p:attrNameLst>
                                      </p:cBhvr>
                                      <p:to>
                                        <p:strVal val="visible"/>
                                      </p:to>
                                    </p:set>
                                    <p:animEffect transition="in" filter="fade">
                                      <p:cBhvr>
                                        <p:cTn id="22" dur="500"/>
                                        <p:tgtEl>
                                          <p:spTgt spid="102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nodeType="clickEffect">
                                  <p:stCondLst>
                                    <p:cond delay="0"/>
                                  </p:stCondLst>
                                  <p:childTnLst>
                                    <p:animEffect transition="out" filter="fade">
                                      <p:cBhvr>
                                        <p:cTn id="26" dur="500"/>
                                        <p:tgtEl>
                                          <p:spTgt spid="1028"/>
                                        </p:tgtEl>
                                      </p:cBhvr>
                                    </p:animEffect>
                                    <p:set>
                                      <p:cBhvr>
                                        <p:cTn id="27" dur="1" fill="hold">
                                          <p:stCondLst>
                                            <p:cond delay="499"/>
                                          </p:stCondLst>
                                        </p:cTn>
                                        <p:tgtEl>
                                          <p:spTgt spid="1028"/>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26"/>
                                        </p:tgtEl>
                                        <p:attrNameLst>
                                          <p:attrName>style.visibility</p:attrName>
                                        </p:attrNameLst>
                                      </p:cBhvr>
                                      <p:to>
                                        <p:strVal val="visible"/>
                                      </p:to>
                                    </p:set>
                                    <p:animEffect transition="in" filter="fade">
                                      <p:cBhvr>
                                        <p:cTn id="32" dur="500"/>
                                        <p:tgtEl>
                                          <p:spTgt spid="102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xit" presetSubtype="0" fill="hold" nodeType="clickEffect">
                                  <p:stCondLst>
                                    <p:cond delay="0"/>
                                  </p:stCondLst>
                                  <p:childTnLst>
                                    <p:animEffect transition="out" filter="fade">
                                      <p:cBhvr>
                                        <p:cTn id="36" dur="500"/>
                                        <p:tgtEl>
                                          <p:spTgt spid="1026"/>
                                        </p:tgtEl>
                                      </p:cBhvr>
                                    </p:animEffect>
                                    <p:set>
                                      <p:cBhvr>
                                        <p:cTn id="37" dur="1" fill="hold">
                                          <p:stCondLst>
                                            <p:cond delay="499"/>
                                          </p:stCondLst>
                                        </p:cTn>
                                        <p:tgtEl>
                                          <p:spTgt spid="1026"/>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032"/>
                                        </p:tgtEl>
                                        <p:attrNameLst>
                                          <p:attrName>style.visibility</p:attrName>
                                        </p:attrNameLst>
                                      </p:cBhvr>
                                      <p:to>
                                        <p:strVal val="visible"/>
                                      </p:to>
                                    </p:set>
                                    <p:animEffect transition="in" filter="fade">
                                      <p:cBhvr>
                                        <p:cTn id="42" dur="500"/>
                                        <p:tgtEl>
                                          <p:spTgt spid="103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xit" presetSubtype="0" fill="hold" nodeType="clickEffect">
                                  <p:stCondLst>
                                    <p:cond delay="0"/>
                                  </p:stCondLst>
                                  <p:childTnLst>
                                    <p:animEffect transition="out" filter="fade">
                                      <p:cBhvr>
                                        <p:cTn id="46" dur="500"/>
                                        <p:tgtEl>
                                          <p:spTgt spid="1032"/>
                                        </p:tgtEl>
                                      </p:cBhvr>
                                    </p:animEffect>
                                    <p:set>
                                      <p:cBhvr>
                                        <p:cTn id="47" dur="1" fill="hold">
                                          <p:stCondLst>
                                            <p:cond delay="499"/>
                                          </p:stCondLst>
                                        </p:cTn>
                                        <p:tgtEl>
                                          <p:spTgt spid="103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49F3DFEE-D615-10A4-3DFB-F10E842FD6FF}"/>
              </a:ext>
            </a:extLst>
          </p:cNvPr>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 name="直接连接符 2">
            <a:extLst>
              <a:ext uri="{FF2B5EF4-FFF2-40B4-BE49-F238E27FC236}">
                <a16:creationId xmlns:a16="http://schemas.microsoft.com/office/drawing/2014/main" id="{E448084C-00C1-2D46-B2E9-907AC7E07A63}"/>
              </a:ext>
            </a:extLst>
          </p:cNvPr>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4" name="图形 3">
            <a:extLst>
              <a:ext uri="{FF2B5EF4-FFF2-40B4-BE49-F238E27FC236}">
                <a16:creationId xmlns:a16="http://schemas.microsoft.com/office/drawing/2014/main" id="{C93BB0EF-03E3-F5C3-728A-B6DC40F04B4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6" name="文本框 5">
            <a:extLst>
              <a:ext uri="{FF2B5EF4-FFF2-40B4-BE49-F238E27FC236}">
                <a16:creationId xmlns:a16="http://schemas.microsoft.com/office/drawing/2014/main" id="{47E122C5-6879-554E-162C-5ECC1522BC4D}"/>
              </a:ext>
            </a:extLst>
          </p:cNvPr>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7" name="文本框 6">
            <a:extLst>
              <a:ext uri="{FF2B5EF4-FFF2-40B4-BE49-F238E27FC236}">
                <a16:creationId xmlns:a16="http://schemas.microsoft.com/office/drawing/2014/main" id="{4F29767B-7B47-DC9E-CFD3-0B8C1815F156}"/>
              </a:ext>
            </a:extLst>
          </p:cNvPr>
          <p:cNvSpPr txBox="1"/>
          <p:nvPr/>
        </p:nvSpPr>
        <p:spPr>
          <a:xfrm>
            <a:off x="1524000" y="95361"/>
            <a:ext cx="1190171" cy="769441"/>
          </a:xfrm>
          <a:prstGeom prst="rect">
            <a:avLst/>
          </a:prstGeom>
          <a:noFill/>
        </p:spPr>
        <p:txBody>
          <a:bodyPr wrap="square" rtlCol="0">
            <a:spAutoFit/>
          </a:bodyPr>
          <a:lstStyle/>
          <a:p>
            <a:r>
              <a:rPr lang="en-US" altLang="zh-CN" sz="4400" dirty="0">
                <a:latin typeface="Courier New" panose="02070309020205020404" pitchFamily="49" charset="0"/>
                <a:ea typeface="仿宋" panose="02010609060101010101" pitchFamily="49" charset="-122"/>
                <a:cs typeface="Courier New" panose="02070309020205020404" pitchFamily="49" charset="0"/>
              </a:rPr>
              <a:t>SQL</a:t>
            </a:r>
          </a:p>
        </p:txBody>
      </p:sp>
      <p:pic>
        <p:nvPicPr>
          <p:cNvPr id="8" name="图片 7">
            <a:extLst>
              <a:ext uri="{FF2B5EF4-FFF2-40B4-BE49-F238E27FC236}">
                <a16:creationId xmlns:a16="http://schemas.microsoft.com/office/drawing/2014/main" id="{8C169FDE-D273-0F82-0F87-554E1F65B3EF}"/>
              </a:ext>
            </a:extLst>
          </p:cNvPr>
          <p:cNvPicPr>
            <a:picLocks noChangeAspect="1"/>
          </p:cNvPicPr>
          <p:nvPr/>
        </p:nvPicPr>
        <p:blipFill rotWithShape="1">
          <a:blip r:embed="rId4"/>
          <a:srcRect r="13048"/>
          <a:stretch/>
        </p:blipFill>
        <p:spPr>
          <a:xfrm>
            <a:off x="643081" y="929862"/>
            <a:ext cx="10634520" cy="4927243"/>
          </a:xfrm>
          <a:prstGeom prst="rect">
            <a:avLst/>
          </a:prstGeom>
        </p:spPr>
      </p:pic>
      <p:sp>
        <p:nvSpPr>
          <p:cNvPr id="9" name="矩形 8">
            <a:extLst>
              <a:ext uri="{FF2B5EF4-FFF2-40B4-BE49-F238E27FC236}">
                <a16:creationId xmlns:a16="http://schemas.microsoft.com/office/drawing/2014/main" id="{23F035D0-86DF-7130-A8B0-903C6DD0F1B7}"/>
              </a:ext>
            </a:extLst>
          </p:cNvPr>
          <p:cNvSpPr/>
          <p:nvPr/>
        </p:nvSpPr>
        <p:spPr>
          <a:xfrm>
            <a:off x="4798182" y="1093044"/>
            <a:ext cx="1569660" cy="769441"/>
          </a:xfrm>
          <a:prstGeom prst="rect">
            <a:avLst/>
          </a:prstGeom>
          <a:noFill/>
        </p:spPr>
        <p:txBody>
          <a:bodyPr wrap="square" lIns="91440" tIns="45720" rIns="91440" bIns="45720">
            <a:spAutoFit/>
          </a:bodyPr>
          <a:lstStyle/>
          <a:p>
            <a:pPr algn="ctr"/>
            <a:r>
              <a:rPr lang="zh-CN" altLang="en-US" sz="4400" b="1" cap="none" spc="0" dirty="0">
                <a:ln w="6600">
                  <a:solidFill>
                    <a:schemeClr val="accent2"/>
                  </a:solidFill>
                  <a:prstDash val="solid"/>
                </a:ln>
                <a:solidFill>
                  <a:srgbClr val="FFFFFF"/>
                </a:solidFill>
                <a:effectLst>
                  <a:outerShdw dist="38100" dir="2700000" algn="tl" rotWithShape="0">
                    <a:schemeClr val="accent2"/>
                  </a:outerShdw>
                </a:effectLst>
                <a:latin typeface="仿宋" panose="02010609060101010101" pitchFamily="49" charset="-122"/>
                <a:ea typeface="仿宋" panose="02010609060101010101" pitchFamily="49" charset="-122"/>
              </a:rPr>
              <a:t>主键</a:t>
            </a:r>
          </a:p>
        </p:txBody>
      </p:sp>
      <p:sp>
        <p:nvSpPr>
          <p:cNvPr id="10" name="矩形 9">
            <a:extLst>
              <a:ext uri="{FF2B5EF4-FFF2-40B4-BE49-F238E27FC236}">
                <a16:creationId xmlns:a16="http://schemas.microsoft.com/office/drawing/2014/main" id="{EB36A058-ABA0-A532-FCA1-73FEE74F166F}"/>
              </a:ext>
            </a:extLst>
          </p:cNvPr>
          <p:cNvSpPr/>
          <p:nvPr/>
        </p:nvSpPr>
        <p:spPr>
          <a:xfrm>
            <a:off x="3551614" y="1925019"/>
            <a:ext cx="2272546" cy="584775"/>
          </a:xfrm>
          <a:prstGeom prst="rect">
            <a:avLst/>
          </a:prstGeom>
          <a:noFill/>
          <a:ln>
            <a:noFill/>
          </a:ln>
        </p:spPr>
        <p:txBody>
          <a:bodyPr wrap="square" lIns="91440" tIns="45720" rIns="91440" bIns="45720">
            <a:spAutoFit/>
          </a:bodyPr>
          <a:lstStyle/>
          <a:p>
            <a:pPr algn="ctr"/>
            <a:r>
              <a:rPr lang="zh-CN" altLang="en-US" sz="3200" b="1" cap="none" spc="0" dirty="0">
                <a:ln w="6600">
                  <a:solidFill>
                    <a:schemeClr val="accent2"/>
                  </a:solidFill>
                  <a:prstDash val="solid"/>
                </a:ln>
                <a:solidFill>
                  <a:srgbClr val="FFFFFF"/>
                </a:solidFill>
                <a:effectLst>
                  <a:outerShdw dist="38100" dir="2700000" algn="tl" rotWithShape="0">
                    <a:schemeClr val="accent2"/>
                  </a:outerShdw>
                </a:effectLst>
                <a:latin typeface="仿宋" panose="02010609060101010101" pitchFamily="49" charset="-122"/>
                <a:ea typeface="仿宋" panose="02010609060101010101" pitchFamily="49" charset="-122"/>
              </a:rPr>
              <a:t>类型</a:t>
            </a:r>
            <a:r>
              <a:rPr lang="en-US" altLang="zh-CN" sz="3200" b="1" cap="none" spc="0" dirty="0">
                <a:ln w="6600">
                  <a:solidFill>
                    <a:schemeClr val="accent2"/>
                  </a:solidFill>
                  <a:prstDash val="solid"/>
                </a:ln>
                <a:solidFill>
                  <a:srgbClr val="FFFFFF"/>
                </a:solidFill>
                <a:effectLst>
                  <a:outerShdw dist="38100" dir="2700000" algn="tl" rotWithShape="0">
                    <a:schemeClr val="accent2"/>
                  </a:outerShdw>
                </a:effectLst>
                <a:latin typeface="仿宋" panose="02010609060101010101" pitchFamily="49" charset="-122"/>
                <a:ea typeface="仿宋" panose="02010609060101010101" pitchFamily="49" charset="-122"/>
              </a:rPr>
              <a:t>(</a:t>
            </a:r>
            <a:r>
              <a:rPr lang="zh-CN" altLang="en-US" sz="3200" b="1" cap="none" spc="0" dirty="0">
                <a:ln w="6600">
                  <a:solidFill>
                    <a:schemeClr val="accent2"/>
                  </a:solidFill>
                  <a:prstDash val="solid"/>
                </a:ln>
                <a:solidFill>
                  <a:srgbClr val="FFFFFF"/>
                </a:solidFill>
                <a:effectLst>
                  <a:outerShdw dist="38100" dir="2700000" algn="tl" rotWithShape="0">
                    <a:schemeClr val="accent2"/>
                  </a:outerShdw>
                </a:effectLst>
                <a:latin typeface="仿宋" panose="02010609060101010101" pitchFamily="49" charset="-122"/>
                <a:ea typeface="仿宋" panose="02010609060101010101" pitchFamily="49" charset="-122"/>
              </a:rPr>
              <a:t>长度</a:t>
            </a:r>
            <a:r>
              <a:rPr lang="en-US" altLang="zh-CN" sz="3200" b="1" cap="none" spc="0" dirty="0">
                <a:ln w="6600">
                  <a:solidFill>
                    <a:schemeClr val="accent2"/>
                  </a:solidFill>
                  <a:prstDash val="solid"/>
                </a:ln>
                <a:solidFill>
                  <a:srgbClr val="FFFFFF"/>
                </a:solidFill>
                <a:effectLst>
                  <a:outerShdw dist="38100" dir="2700000" algn="tl" rotWithShape="0">
                    <a:schemeClr val="accent2"/>
                  </a:outerShdw>
                </a:effectLst>
                <a:latin typeface="仿宋" panose="02010609060101010101" pitchFamily="49" charset="-122"/>
                <a:ea typeface="仿宋" panose="02010609060101010101" pitchFamily="49" charset="-122"/>
              </a:rPr>
              <a:t>)</a:t>
            </a:r>
            <a:endParaRPr lang="zh-CN" altLang="en-US" sz="3200" b="1" cap="none" spc="0" dirty="0">
              <a:ln w="6600">
                <a:solidFill>
                  <a:schemeClr val="accent2"/>
                </a:solidFill>
                <a:prstDash val="solid"/>
              </a:ln>
              <a:solidFill>
                <a:srgbClr val="FFFFFF"/>
              </a:solidFill>
              <a:effectLst>
                <a:outerShdw dist="38100" dir="2700000" algn="tl" rotWithShape="0">
                  <a:schemeClr val="accent2"/>
                </a:outerShdw>
              </a:effectLst>
              <a:latin typeface="仿宋" panose="02010609060101010101" pitchFamily="49" charset="-122"/>
              <a:ea typeface="仿宋" panose="02010609060101010101" pitchFamily="49" charset="-122"/>
            </a:endParaRPr>
          </a:p>
        </p:txBody>
      </p:sp>
      <p:cxnSp>
        <p:nvCxnSpPr>
          <p:cNvPr id="12" name="直接连接符 11">
            <a:extLst>
              <a:ext uri="{FF2B5EF4-FFF2-40B4-BE49-F238E27FC236}">
                <a16:creationId xmlns:a16="http://schemas.microsoft.com/office/drawing/2014/main" id="{31EC6D73-6D6D-CA26-3D2C-F76CD65ADF76}"/>
              </a:ext>
            </a:extLst>
          </p:cNvPr>
          <p:cNvCxnSpPr/>
          <p:nvPr/>
        </p:nvCxnSpPr>
        <p:spPr>
          <a:xfrm>
            <a:off x="3930650" y="2946400"/>
            <a:ext cx="485775" cy="0"/>
          </a:xfrm>
          <a:prstGeom prst="line">
            <a:avLst/>
          </a:prstGeom>
          <a:ln w="57150"/>
        </p:spPr>
        <p:style>
          <a:lnRef idx="1">
            <a:schemeClr val="accent2"/>
          </a:lnRef>
          <a:fillRef idx="0">
            <a:schemeClr val="accent2"/>
          </a:fillRef>
          <a:effectRef idx="0">
            <a:schemeClr val="accent2"/>
          </a:effectRef>
          <a:fontRef idx="minor">
            <a:schemeClr val="tx1"/>
          </a:fontRef>
        </p:style>
      </p:cxnSp>
      <p:cxnSp>
        <p:nvCxnSpPr>
          <p:cNvPr id="13" name="直接连接符 12">
            <a:extLst>
              <a:ext uri="{FF2B5EF4-FFF2-40B4-BE49-F238E27FC236}">
                <a16:creationId xmlns:a16="http://schemas.microsoft.com/office/drawing/2014/main" id="{CFF2EB1F-A58E-5DE0-BF4E-2A0AF56911D8}"/>
              </a:ext>
            </a:extLst>
          </p:cNvPr>
          <p:cNvCxnSpPr/>
          <p:nvPr/>
        </p:nvCxnSpPr>
        <p:spPr>
          <a:xfrm>
            <a:off x="3444875" y="3733800"/>
            <a:ext cx="485775" cy="0"/>
          </a:xfrm>
          <a:prstGeom prst="line">
            <a:avLst/>
          </a:prstGeom>
          <a:ln w="57150"/>
        </p:spPr>
        <p:style>
          <a:lnRef idx="1">
            <a:schemeClr val="accent2"/>
          </a:lnRef>
          <a:fillRef idx="0">
            <a:schemeClr val="accent2"/>
          </a:fillRef>
          <a:effectRef idx="0">
            <a:schemeClr val="accent2"/>
          </a:effectRef>
          <a:fontRef idx="minor">
            <a:schemeClr val="tx1"/>
          </a:fontRef>
        </p:style>
      </p:cxnSp>
      <p:cxnSp>
        <p:nvCxnSpPr>
          <p:cNvPr id="14" name="直接连接符 13">
            <a:extLst>
              <a:ext uri="{FF2B5EF4-FFF2-40B4-BE49-F238E27FC236}">
                <a16:creationId xmlns:a16="http://schemas.microsoft.com/office/drawing/2014/main" id="{36076EEF-B7B5-9D87-782B-A21FABED1D6E}"/>
              </a:ext>
            </a:extLst>
          </p:cNvPr>
          <p:cNvCxnSpPr/>
          <p:nvPr/>
        </p:nvCxnSpPr>
        <p:spPr>
          <a:xfrm>
            <a:off x="2228396" y="4133850"/>
            <a:ext cx="485775" cy="0"/>
          </a:xfrm>
          <a:prstGeom prst="line">
            <a:avLst/>
          </a:prstGeom>
          <a:ln w="57150"/>
        </p:spPr>
        <p:style>
          <a:lnRef idx="1">
            <a:schemeClr val="accent2"/>
          </a:lnRef>
          <a:fillRef idx="0">
            <a:schemeClr val="accent2"/>
          </a:fillRef>
          <a:effectRef idx="0">
            <a:schemeClr val="accent2"/>
          </a:effectRef>
          <a:fontRef idx="minor">
            <a:schemeClr val="tx1"/>
          </a:fontRef>
        </p:style>
      </p:cxnSp>
      <p:cxnSp>
        <p:nvCxnSpPr>
          <p:cNvPr id="15" name="直接连接符 14">
            <a:extLst>
              <a:ext uri="{FF2B5EF4-FFF2-40B4-BE49-F238E27FC236}">
                <a16:creationId xmlns:a16="http://schemas.microsoft.com/office/drawing/2014/main" id="{20151D17-9E66-82E4-02FF-7ADA5E013D25}"/>
              </a:ext>
            </a:extLst>
          </p:cNvPr>
          <p:cNvCxnSpPr/>
          <p:nvPr/>
        </p:nvCxnSpPr>
        <p:spPr>
          <a:xfrm>
            <a:off x="1939471" y="5340350"/>
            <a:ext cx="485775" cy="0"/>
          </a:xfrm>
          <a:prstGeom prst="line">
            <a:avLst/>
          </a:prstGeom>
          <a:ln w="57150"/>
        </p:spPr>
        <p:style>
          <a:lnRef idx="1">
            <a:schemeClr val="accent2"/>
          </a:lnRef>
          <a:fillRef idx="0">
            <a:schemeClr val="accent2"/>
          </a:fillRef>
          <a:effectRef idx="0">
            <a:schemeClr val="accent2"/>
          </a:effectRef>
          <a:fontRef idx="minor">
            <a:schemeClr val="tx1"/>
          </a:fontRef>
        </p:style>
      </p:cxnSp>
      <p:cxnSp>
        <p:nvCxnSpPr>
          <p:cNvPr id="16" name="直接连接符 15">
            <a:extLst>
              <a:ext uri="{FF2B5EF4-FFF2-40B4-BE49-F238E27FC236}">
                <a16:creationId xmlns:a16="http://schemas.microsoft.com/office/drawing/2014/main" id="{E44D4CC5-E178-49C4-CF17-FE6D5948C8EC}"/>
              </a:ext>
            </a:extLst>
          </p:cNvPr>
          <p:cNvCxnSpPr/>
          <p:nvPr/>
        </p:nvCxnSpPr>
        <p:spPr>
          <a:xfrm>
            <a:off x="3175000" y="4895850"/>
            <a:ext cx="485775" cy="0"/>
          </a:xfrm>
          <a:prstGeom prst="line">
            <a:avLst/>
          </a:prstGeom>
          <a:ln w="57150"/>
        </p:spPr>
        <p:style>
          <a:lnRef idx="1">
            <a:schemeClr val="accent2"/>
          </a:lnRef>
          <a:fillRef idx="0">
            <a:schemeClr val="accent2"/>
          </a:fillRef>
          <a:effectRef idx="0">
            <a:schemeClr val="accent2"/>
          </a:effectRef>
          <a:fontRef idx="minor">
            <a:schemeClr val="tx1"/>
          </a:fontRef>
        </p:style>
      </p:cxnSp>
      <p:cxnSp>
        <p:nvCxnSpPr>
          <p:cNvPr id="17" name="直接连接符 16">
            <a:extLst>
              <a:ext uri="{FF2B5EF4-FFF2-40B4-BE49-F238E27FC236}">
                <a16:creationId xmlns:a16="http://schemas.microsoft.com/office/drawing/2014/main" id="{B876A65B-6FA5-FDD2-09C9-1C85EE0E64C7}"/>
              </a:ext>
            </a:extLst>
          </p:cNvPr>
          <p:cNvCxnSpPr/>
          <p:nvPr/>
        </p:nvCxnSpPr>
        <p:spPr>
          <a:xfrm>
            <a:off x="1876197" y="5734050"/>
            <a:ext cx="485775" cy="0"/>
          </a:xfrm>
          <a:prstGeom prst="line">
            <a:avLst/>
          </a:prstGeom>
          <a:ln w="57150"/>
        </p:spPr>
        <p:style>
          <a:lnRef idx="1">
            <a:schemeClr val="accent2"/>
          </a:lnRef>
          <a:fillRef idx="0">
            <a:schemeClr val="accent2"/>
          </a:fillRef>
          <a:effectRef idx="0">
            <a:schemeClr val="accent2"/>
          </a:effectRef>
          <a:fontRef idx="minor">
            <a:schemeClr val="tx1"/>
          </a:fontRef>
        </p:style>
      </p:cxnSp>
      <p:pic>
        <p:nvPicPr>
          <p:cNvPr id="18" name="图片 4">
            <a:extLst>
              <a:ext uri="{FF2B5EF4-FFF2-40B4-BE49-F238E27FC236}">
                <a16:creationId xmlns:a16="http://schemas.microsoft.com/office/drawing/2014/main" id="{3E95FBC5-0811-9F09-0E05-953C4C57B2F2}"/>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4416425" y="6219825"/>
            <a:ext cx="542925" cy="542925"/>
          </a:xfrm>
          <a:prstGeom prst="rect">
            <a:avLst/>
          </a:prstGeom>
        </p:spPr>
      </p:pic>
    </p:spTree>
    <p:extLst>
      <p:ext uri="{BB962C8B-B14F-4D97-AF65-F5344CB8AC3E}">
        <p14:creationId xmlns:p14="http://schemas.microsoft.com/office/powerpoint/2010/main" val="27869889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par>
                                <p:cTn id="23" presetID="10"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par>
                                <p:cTn id="26" presetID="10" presetClass="entr" presetSubtype="0" fill="hold"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par>
                                <p:cTn id="29" presetID="10" presetClass="entr" presetSubtype="0"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par>
                                <p:cTn id="32" presetID="10" presetClass="entr" presetSubtype="0" fill="hold"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500"/>
                                        <p:tgtEl>
                                          <p:spTgt spid="16"/>
                                        </p:tgtEl>
                                      </p:cBhvr>
                                    </p:animEffect>
                                  </p:childTnLst>
                                </p:cTn>
                              </p:par>
                              <p:par>
                                <p:cTn id="35" presetID="10" presetClass="entr" presetSubtype="0" fill="hold" nodeType="with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8EC022EF-BAA0-CBA1-A5C9-9F9B198B9955}"/>
              </a:ext>
            </a:extLst>
          </p:cNvPr>
          <p:cNvSpPr txBox="1"/>
          <p:nvPr/>
        </p:nvSpPr>
        <p:spPr>
          <a:xfrm>
            <a:off x="1524000" y="983253"/>
            <a:ext cx="4382954" cy="5324535"/>
          </a:xfrm>
          <a:prstGeom prst="rect">
            <a:avLst/>
          </a:prstGeom>
          <a:noFill/>
        </p:spPr>
        <p:txBody>
          <a:bodyPr wrap="square">
            <a:spAutoFit/>
          </a:bodyPr>
          <a:lstStyle/>
          <a:p>
            <a:r>
              <a:rPr lang="en-US" altLang="zh-CN" sz="2000" b="0" i="0" u="none" strike="noStrike" baseline="0" dirty="0">
                <a:latin typeface="仿宋" panose="02010609060101010101" pitchFamily="49" charset="-122"/>
                <a:ea typeface="仿宋" panose="02010609060101010101" pitchFamily="49" charset="-122"/>
              </a:rPr>
              <a:t>1.</a:t>
            </a:r>
            <a:r>
              <a:rPr lang="zh-CN" altLang="en-US" sz="2000" b="0" i="0" u="none" strike="noStrike" baseline="0" dirty="0">
                <a:latin typeface="仿宋" panose="02010609060101010101" pitchFamily="49" charset="-122"/>
                <a:ea typeface="仿宋" panose="02010609060101010101" pitchFamily="49" charset="-122"/>
              </a:rPr>
              <a:t>数据库（</a:t>
            </a:r>
            <a:r>
              <a:rPr lang="en-US" altLang="zh-CN" sz="2000" b="0" i="0" u="none" strike="noStrike" baseline="0" dirty="0">
                <a:latin typeface="仿宋" panose="02010609060101010101" pitchFamily="49" charset="-122"/>
                <a:ea typeface="仿宋" panose="02010609060101010101" pitchFamily="49" charset="-122"/>
              </a:rPr>
              <a:t>DB</a:t>
            </a:r>
            <a:r>
              <a:rPr lang="zh-CN" altLang="en-US" sz="2000" b="0" i="0" u="none" strike="noStrike" baseline="0" dirty="0">
                <a:latin typeface="仿宋" panose="02010609060101010101" pitchFamily="49" charset="-122"/>
                <a:ea typeface="仿宋" panose="02010609060101010101" pitchFamily="49" charset="-122"/>
              </a:rPr>
              <a:t>）、数据库系统（</a:t>
            </a:r>
            <a:r>
              <a:rPr lang="en-US" altLang="zh-CN" sz="2000" b="0" i="0" u="none" strike="noStrike" baseline="0" dirty="0">
                <a:latin typeface="仿宋" panose="02010609060101010101" pitchFamily="49" charset="-122"/>
                <a:ea typeface="仿宋" panose="02010609060101010101" pitchFamily="49" charset="-122"/>
              </a:rPr>
              <a:t>DBS</a:t>
            </a:r>
            <a:r>
              <a:rPr lang="zh-CN" altLang="en-US" sz="2000" b="0" i="0" u="none" strike="noStrike" baseline="0" dirty="0">
                <a:latin typeface="仿宋" panose="02010609060101010101" pitchFamily="49" charset="-122"/>
                <a:ea typeface="仿宋" panose="02010609060101010101" pitchFamily="49" charset="-122"/>
              </a:rPr>
              <a:t>）、数据库管理系统（</a:t>
            </a:r>
            <a:r>
              <a:rPr lang="en-US" altLang="zh-CN" sz="2000" b="0" i="0" u="none" strike="noStrike" baseline="0" dirty="0">
                <a:latin typeface="仿宋" panose="02010609060101010101" pitchFamily="49" charset="-122"/>
                <a:ea typeface="仿宋" panose="02010609060101010101" pitchFamily="49" charset="-122"/>
              </a:rPr>
              <a:t>DBMS</a:t>
            </a:r>
            <a:r>
              <a:rPr lang="zh-CN" altLang="en-US" sz="2000" b="0" i="0" u="none" strike="noStrike" baseline="0" dirty="0">
                <a:latin typeface="仿宋" panose="02010609060101010101" pitchFamily="49" charset="-122"/>
                <a:ea typeface="仿宋" panose="02010609060101010101" pitchFamily="49" charset="-122"/>
              </a:rPr>
              <a:t>）三者之间的关系是</a:t>
            </a:r>
            <a:r>
              <a:rPr lang="en-US" altLang="zh-CN" sz="2000" b="0" i="0" u="none" strike="noStrike" baseline="0" dirty="0">
                <a:latin typeface="仿宋" panose="02010609060101010101" pitchFamily="49" charset="-122"/>
                <a:ea typeface="仿宋" panose="02010609060101010101" pitchFamily="49" charset="-122"/>
              </a:rPr>
              <a:t>( )</a:t>
            </a:r>
            <a:endParaRPr lang="zh-CN" altLang="en-US" sz="2000" b="0" i="0" u="none" strike="noStrike" baseline="0" dirty="0">
              <a:latin typeface="仿宋" panose="02010609060101010101" pitchFamily="49" charset="-122"/>
              <a:ea typeface="仿宋" panose="02010609060101010101" pitchFamily="49" charset="-122"/>
            </a:endParaRPr>
          </a:p>
          <a:p>
            <a:r>
              <a:rPr lang="en-US" altLang="zh-CN" sz="2000" b="0" i="0" u="none" strike="noStrike" baseline="0" dirty="0">
                <a:latin typeface="仿宋" panose="02010609060101010101" pitchFamily="49" charset="-122"/>
                <a:ea typeface="仿宋" panose="02010609060101010101" pitchFamily="49" charset="-122"/>
              </a:rPr>
              <a:t>A.DBS </a:t>
            </a:r>
            <a:r>
              <a:rPr lang="zh-CN" altLang="en-US" sz="2000" b="0" i="0" u="none" strike="noStrike" baseline="0" dirty="0">
                <a:latin typeface="仿宋" panose="02010609060101010101" pitchFamily="49" charset="-122"/>
                <a:ea typeface="仿宋" panose="02010609060101010101" pitchFamily="49" charset="-122"/>
              </a:rPr>
              <a:t>就是 </a:t>
            </a:r>
            <a:r>
              <a:rPr lang="en-US" altLang="zh-CN" sz="2000" b="0" i="0" u="none" strike="noStrike" baseline="0" dirty="0">
                <a:latin typeface="仿宋" panose="02010609060101010101" pitchFamily="49" charset="-122"/>
                <a:ea typeface="仿宋" panose="02010609060101010101" pitchFamily="49" charset="-122"/>
              </a:rPr>
              <a:t>DB,</a:t>
            </a:r>
            <a:r>
              <a:rPr lang="zh-CN" altLang="en-US" sz="2000" b="0" i="0" u="none" strike="noStrike" baseline="0" dirty="0">
                <a:latin typeface="仿宋" panose="02010609060101010101" pitchFamily="49" charset="-122"/>
                <a:ea typeface="仿宋" panose="02010609060101010101" pitchFamily="49" charset="-122"/>
              </a:rPr>
              <a:t>也就是 </a:t>
            </a:r>
            <a:r>
              <a:rPr lang="en-US" altLang="zh-CN" sz="2000" b="0" i="0" u="none" strike="noStrike" baseline="0" dirty="0">
                <a:latin typeface="仿宋" panose="02010609060101010101" pitchFamily="49" charset="-122"/>
                <a:ea typeface="仿宋" panose="02010609060101010101" pitchFamily="49" charset="-122"/>
              </a:rPr>
              <a:t>DBMS</a:t>
            </a:r>
            <a:endParaRPr lang="zh-CN" altLang="en-US" sz="2000" b="0" i="0" u="none" strike="noStrike" baseline="0" dirty="0">
              <a:latin typeface="仿宋" panose="02010609060101010101" pitchFamily="49" charset="-122"/>
              <a:ea typeface="仿宋" panose="02010609060101010101" pitchFamily="49" charset="-122"/>
            </a:endParaRPr>
          </a:p>
          <a:p>
            <a:r>
              <a:rPr lang="en-US" altLang="zh-CN" sz="2000" b="0" i="0" u="none" strike="noStrike" baseline="0" dirty="0">
                <a:latin typeface="仿宋" panose="02010609060101010101" pitchFamily="49" charset="-122"/>
                <a:ea typeface="仿宋" panose="02010609060101010101" pitchFamily="49" charset="-122"/>
              </a:rPr>
              <a:t>B.DB </a:t>
            </a:r>
            <a:r>
              <a:rPr lang="zh-CN" altLang="en-US" sz="2000" b="0" i="0" u="none" strike="noStrike" baseline="0" dirty="0">
                <a:latin typeface="仿宋" panose="02010609060101010101" pitchFamily="49" charset="-122"/>
                <a:ea typeface="仿宋" panose="02010609060101010101" pitchFamily="49" charset="-122"/>
              </a:rPr>
              <a:t>包括 </a:t>
            </a:r>
            <a:r>
              <a:rPr lang="en-US" altLang="zh-CN" sz="2000" b="0" i="0" u="none" strike="noStrike" baseline="0" dirty="0">
                <a:latin typeface="仿宋" panose="02010609060101010101" pitchFamily="49" charset="-122"/>
                <a:ea typeface="仿宋" panose="02010609060101010101" pitchFamily="49" charset="-122"/>
              </a:rPr>
              <a:t>DBS </a:t>
            </a:r>
            <a:r>
              <a:rPr lang="zh-CN" altLang="en-US" sz="2000" b="0" i="0" u="none" strike="noStrike" baseline="0" dirty="0">
                <a:latin typeface="仿宋" panose="02010609060101010101" pitchFamily="49" charset="-122"/>
                <a:ea typeface="仿宋" panose="02010609060101010101" pitchFamily="49" charset="-122"/>
              </a:rPr>
              <a:t>和 </a:t>
            </a:r>
            <a:r>
              <a:rPr lang="en-US" altLang="zh-CN" sz="2000" b="0" i="0" u="none" strike="noStrike" baseline="0" dirty="0">
                <a:latin typeface="仿宋" panose="02010609060101010101" pitchFamily="49" charset="-122"/>
                <a:ea typeface="仿宋" panose="02010609060101010101" pitchFamily="49" charset="-122"/>
              </a:rPr>
              <a:t>DBMS</a:t>
            </a:r>
            <a:endParaRPr lang="zh-CN" altLang="en-US" sz="2000" b="0" i="0" u="none" strike="noStrike" baseline="0" dirty="0">
              <a:latin typeface="仿宋" panose="02010609060101010101" pitchFamily="49" charset="-122"/>
              <a:ea typeface="仿宋" panose="02010609060101010101" pitchFamily="49" charset="-122"/>
            </a:endParaRPr>
          </a:p>
          <a:p>
            <a:r>
              <a:rPr lang="en-US" altLang="zh-CN" sz="2000" b="0" i="0" u="none" strike="noStrike" baseline="0" dirty="0">
                <a:latin typeface="仿宋" panose="02010609060101010101" pitchFamily="49" charset="-122"/>
                <a:ea typeface="仿宋" panose="02010609060101010101" pitchFamily="49" charset="-122"/>
              </a:rPr>
              <a:t>C.DBMS </a:t>
            </a:r>
            <a:r>
              <a:rPr lang="zh-CN" altLang="en-US" sz="2000" b="0" i="0" u="none" strike="noStrike" baseline="0" dirty="0">
                <a:latin typeface="仿宋" panose="02010609060101010101" pitchFamily="49" charset="-122"/>
                <a:ea typeface="仿宋" panose="02010609060101010101" pitchFamily="49" charset="-122"/>
              </a:rPr>
              <a:t>包括 </a:t>
            </a:r>
            <a:r>
              <a:rPr lang="en-US" altLang="zh-CN" sz="2000" b="0" i="0" u="none" strike="noStrike" baseline="0" dirty="0">
                <a:latin typeface="仿宋" panose="02010609060101010101" pitchFamily="49" charset="-122"/>
                <a:ea typeface="仿宋" panose="02010609060101010101" pitchFamily="49" charset="-122"/>
              </a:rPr>
              <a:t>DB </a:t>
            </a:r>
            <a:r>
              <a:rPr lang="zh-CN" altLang="en-US" sz="2000" b="0" i="0" u="none" strike="noStrike" baseline="0" dirty="0">
                <a:latin typeface="仿宋" panose="02010609060101010101" pitchFamily="49" charset="-122"/>
                <a:ea typeface="仿宋" panose="02010609060101010101" pitchFamily="49" charset="-122"/>
              </a:rPr>
              <a:t>和 </a:t>
            </a:r>
            <a:r>
              <a:rPr lang="en-US" altLang="zh-CN" sz="2000" b="0" i="0" u="none" strike="noStrike" baseline="0" dirty="0">
                <a:latin typeface="仿宋" panose="02010609060101010101" pitchFamily="49" charset="-122"/>
                <a:ea typeface="仿宋" panose="02010609060101010101" pitchFamily="49" charset="-122"/>
              </a:rPr>
              <a:t>DBS</a:t>
            </a:r>
            <a:endParaRPr lang="zh-CN" altLang="en-US" sz="2000" b="0" i="0" u="none" strike="noStrike" baseline="0" dirty="0">
              <a:latin typeface="仿宋" panose="02010609060101010101" pitchFamily="49" charset="-122"/>
              <a:ea typeface="仿宋" panose="02010609060101010101" pitchFamily="49" charset="-122"/>
            </a:endParaRPr>
          </a:p>
          <a:p>
            <a:r>
              <a:rPr lang="en-US" altLang="zh-CN" sz="2000" b="0" i="0" u="none" strike="noStrike" baseline="0" dirty="0">
                <a:latin typeface="仿宋" panose="02010609060101010101" pitchFamily="49" charset="-122"/>
                <a:ea typeface="仿宋" panose="02010609060101010101" pitchFamily="49" charset="-122"/>
              </a:rPr>
              <a:t>D.DBS </a:t>
            </a:r>
            <a:r>
              <a:rPr lang="zh-CN" altLang="en-US" sz="2000" b="0" i="0" u="none" strike="noStrike" baseline="0" dirty="0">
                <a:latin typeface="仿宋" panose="02010609060101010101" pitchFamily="49" charset="-122"/>
                <a:ea typeface="仿宋" panose="02010609060101010101" pitchFamily="49" charset="-122"/>
              </a:rPr>
              <a:t>包括 </a:t>
            </a:r>
            <a:r>
              <a:rPr lang="en-US" altLang="zh-CN" sz="2000" b="0" i="0" u="none" strike="noStrike" baseline="0" dirty="0">
                <a:latin typeface="仿宋" panose="02010609060101010101" pitchFamily="49" charset="-122"/>
                <a:ea typeface="仿宋" panose="02010609060101010101" pitchFamily="49" charset="-122"/>
              </a:rPr>
              <a:t>DB </a:t>
            </a:r>
            <a:r>
              <a:rPr lang="zh-CN" altLang="en-US" sz="2000" b="0" i="0" u="none" strike="noStrike" baseline="0" dirty="0">
                <a:latin typeface="仿宋" panose="02010609060101010101" pitchFamily="49" charset="-122"/>
                <a:ea typeface="仿宋" panose="02010609060101010101" pitchFamily="49" charset="-122"/>
              </a:rPr>
              <a:t>和 </a:t>
            </a:r>
            <a:r>
              <a:rPr lang="en-US" altLang="zh-CN" sz="2000" b="0" i="0" u="none" strike="noStrike" baseline="0" dirty="0">
                <a:latin typeface="仿宋" panose="02010609060101010101" pitchFamily="49" charset="-122"/>
                <a:ea typeface="仿宋" panose="02010609060101010101" pitchFamily="49" charset="-122"/>
              </a:rPr>
              <a:t>DBMS</a:t>
            </a:r>
          </a:p>
          <a:p>
            <a:endParaRPr lang="en-US" altLang="zh-CN" sz="2000" b="0" i="0" u="none" strike="noStrike" baseline="0" dirty="0">
              <a:latin typeface="仿宋" panose="02010609060101010101" pitchFamily="49" charset="-122"/>
              <a:ea typeface="仿宋" panose="02010609060101010101" pitchFamily="49" charset="-122"/>
            </a:endParaRPr>
          </a:p>
          <a:p>
            <a:r>
              <a:rPr lang="en-US" altLang="zh-CN" sz="2000" b="0" i="0" u="none" strike="noStrike" baseline="0" dirty="0">
                <a:latin typeface="仿宋" panose="02010609060101010101" pitchFamily="49" charset="-122"/>
                <a:ea typeface="仿宋" panose="02010609060101010101" pitchFamily="49" charset="-122"/>
              </a:rPr>
              <a:t>2.( )</a:t>
            </a:r>
            <a:r>
              <a:rPr lang="zh-CN" altLang="en-US" sz="2000" b="0" i="0" u="none" strike="noStrike" baseline="0" dirty="0">
                <a:latin typeface="仿宋" panose="02010609060101010101" pitchFamily="49" charset="-122"/>
                <a:ea typeface="仿宋" panose="02010609060101010101" pitchFamily="49" charset="-122"/>
              </a:rPr>
              <a:t>不是关系数据模型的优点</a:t>
            </a:r>
          </a:p>
          <a:p>
            <a:r>
              <a:rPr lang="en-US" altLang="zh-CN" sz="2000" dirty="0">
                <a:latin typeface="仿宋" panose="02010609060101010101" pitchFamily="49" charset="-122"/>
                <a:ea typeface="仿宋" panose="02010609060101010101" pitchFamily="49" charset="-122"/>
              </a:rPr>
              <a:t>A</a:t>
            </a:r>
            <a:r>
              <a:rPr lang="en-US" altLang="zh-CN" sz="2000" b="0" i="0" u="none" strike="noStrike" baseline="0" dirty="0">
                <a:latin typeface="仿宋" panose="02010609060101010101" pitchFamily="49" charset="-122"/>
                <a:ea typeface="仿宋" panose="02010609060101010101" pitchFamily="49" charset="-122"/>
              </a:rPr>
              <a:t>. </a:t>
            </a:r>
            <a:r>
              <a:rPr lang="zh-CN" altLang="en-US" sz="2000" b="0" i="0" u="none" strike="noStrike" baseline="0" dirty="0">
                <a:latin typeface="仿宋" panose="02010609060101010101" pitchFamily="49" charset="-122"/>
                <a:ea typeface="仿宋" panose="02010609060101010101" pitchFamily="49" charset="-122"/>
              </a:rPr>
              <a:t>可表示复杂的语义</a:t>
            </a:r>
          </a:p>
          <a:p>
            <a:r>
              <a:rPr lang="en-US" altLang="zh-CN" sz="2000" dirty="0">
                <a:latin typeface="仿宋" panose="02010609060101010101" pitchFamily="49" charset="-122"/>
                <a:ea typeface="仿宋" panose="02010609060101010101" pitchFamily="49" charset="-122"/>
              </a:rPr>
              <a:t>B</a:t>
            </a:r>
            <a:r>
              <a:rPr lang="en-US" altLang="zh-CN" sz="2000" b="0" i="0" u="none" strike="noStrike" baseline="0" dirty="0">
                <a:latin typeface="仿宋" panose="02010609060101010101" pitchFamily="49" charset="-122"/>
                <a:ea typeface="仿宋" panose="02010609060101010101" pitchFamily="49" charset="-122"/>
              </a:rPr>
              <a:t>. </a:t>
            </a:r>
            <a:r>
              <a:rPr lang="zh-CN" altLang="en-US" sz="2000" b="0" i="0" u="none" strike="noStrike" baseline="0" dirty="0">
                <a:latin typeface="仿宋" panose="02010609060101010101" pitchFamily="49" charset="-122"/>
                <a:ea typeface="仿宋" panose="02010609060101010101" pitchFamily="49" charset="-122"/>
              </a:rPr>
              <a:t>结构简单</a:t>
            </a:r>
          </a:p>
          <a:p>
            <a:r>
              <a:rPr lang="en-US" altLang="zh-CN" sz="2000" dirty="0">
                <a:latin typeface="仿宋" panose="02010609060101010101" pitchFamily="49" charset="-122"/>
                <a:ea typeface="仿宋" panose="02010609060101010101" pitchFamily="49" charset="-122"/>
              </a:rPr>
              <a:t>C</a:t>
            </a:r>
            <a:r>
              <a:rPr lang="en-US" altLang="zh-CN" sz="2000" b="0" i="0" u="none" strike="noStrike" baseline="0" dirty="0">
                <a:latin typeface="仿宋" panose="02010609060101010101" pitchFamily="49" charset="-122"/>
                <a:ea typeface="仿宋" panose="02010609060101010101" pitchFamily="49" charset="-122"/>
              </a:rPr>
              <a:t>. </a:t>
            </a:r>
            <a:r>
              <a:rPr lang="zh-CN" altLang="en-US" sz="2000" b="0" i="0" u="none" strike="noStrike" baseline="0" dirty="0">
                <a:latin typeface="仿宋" panose="02010609060101010101" pitchFamily="49" charset="-122"/>
                <a:ea typeface="仿宋" panose="02010609060101010101" pitchFamily="49" charset="-122"/>
              </a:rPr>
              <a:t>有标准语言</a:t>
            </a:r>
          </a:p>
          <a:p>
            <a:r>
              <a:rPr lang="en-US" altLang="zh-CN" sz="2000" dirty="0">
                <a:latin typeface="仿宋" panose="02010609060101010101" pitchFamily="49" charset="-122"/>
                <a:ea typeface="仿宋" panose="02010609060101010101" pitchFamily="49" charset="-122"/>
              </a:rPr>
              <a:t>D</a:t>
            </a:r>
            <a:r>
              <a:rPr lang="en-US" altLang="zh-CN" sz="2000" b="0" i="0" u="none" strike="noStrike" baseline="0" dirty="0">
                <a:latin typeface="仿宋" panose="02010609060101010101" pitchFamily="49" charset="-122"/>
                <a:ea typeface="仿宋" panose="02010609060101010101" pitchFamily="49" charset="-122"/>
              </a:rPr>
              <a:t>. </a:t>
            </a:r>
            <a:r>
              <a:rPr lang="zh-CN" altLang="en-US" sz="2000" b="0" i="0" u="none" strike="noStrike" baseline="0" dirty="0">
                <a:latin typeface="仿宋" panose="02010609060101010101" pitchFamily="49" charset="-122"/>
                <a:ea typeface="仿宋" panose="02010609060101010101" pitchFamily="49" charset="-122"/>
              </a:rPr>
              <a:t>适用于集合操作</a:t>
            </a:r>
          </a:p>
          <a:p>
            <a:endParaRPr lang="en-US" altLang="zh-CN" sz="2000" b="0" i="0" u="none" strike="noStrike" baseline="0" dirty="0">
              <a:latin typeface="仿宋" panose="02010609060101010101" pitchFamily="49" charset="-122"/>
              <a:ea typeface="仿宋" panose="02010609060101010101" pitchFamily="49" charset="-122"/>
            </a:endParaRPr>
          </a:p>
          <a:p>
            <a:r>
              <a:rPr lang="en-US" altLang="zh-CN" sz="2000" dirty="0">
                <a:latin typeface="仿宋" panose="02010609060101010101" pitchFamily="49" charset="-122"/>
                <a:ea typeface="仿宋" panose="02010609060101010101" pitchFamily="49" charset="-122"/>
              </a:rPr>
              <a:t>3.SQL </a:t>
            </a:r>
            <a:r>
              <a:rPr lang="zh-CN" altLang="en-US" sz="2000" dirty="0">
                <a:latin typeface="仿宋" panose="02010609060101010101" pitchFamily="49" charset="-122"/>
                <a:ea typeface="仿宋" panose="02010609060101010101" pitchFamily="49" charset="-122"/>
              </a:rPr>
              <a:t>语言中，实现数据检索的语句是</a:t>
            </a:r>
            <a:r>
              <a:rPr lang="en-US" altLang="zh-CN" sz="2000" dirty="0">
                <a:latin typeface="仿宋" panose="02010609060101010101" pitchFamily="49" charset="-122"/>
                <a:ea typeface="仿宋" panose="02010609060101010101" pitchFamily="49" charset="-122"/>
              </a:rPr>
              <a:t>________</a:t>
            </a:r>
            <a:r>
              <a:rPr lang="zh-CN" altLang="en-US" sz="2000" dirty="0">
                <a:latin typeface="仿宋" panose="02010609060101010101" pitchFamily="49" charset="-122"/>
                <a:ea typeface="仿宋" panose="02010609060101010101" pitchFamily="49" charset="-122"/>
              </a:rPr>
              <a:t>。</a:t>
            </a:r>
          </a:p>
          <a:p>
            <a:endParaRPr lang="en-US" altLang="zh-CN" sz="2000" b="0" i="0" u="none" strike="noStrike" baseline="0" dirty="0">
              <a:latin typeface="仿宋" panose="02010609060101010101" pitchFamily="49" charset="-122"/>
              <a:ea typeface="仿宋" panose="02010609060101010101" pitchFamily="49" charset="-122"/>
            </a:endParaRPr>
          </a:p>
        </p:txBody>
      </p:sp>
      <p:sp>
        <p:nvSpPr>
          <p:cNvPr id="4" name="文本框 3">
            <a:extLst>
              <a:ext uri="{FF2B5EF4-FFF2-40B4-BE49-F238E27FC236}">
                <a16:creationId xmlns:a16="http://schemas.microsoft.com/office/drawing/2014/main" id="{9DD089BE-61EB-AE14-F9F8-618EFDB8E906}"/>
              </a:ext>
            </a:extLst>
          </p:cNvPr>
          <p:cNvSpPr txBox="1"/>
          <p:nvPr/>
        </p:nvSpPr>
        <p:spPr>
          <a:xfrm>
            <a:off x="6285046" y="1023049"/>
            <a:ext cx="4382954" cy="5632311"/>
          </a:xfrm>
          <a:prstGeom prst="rect">
            <a:avLst/>
          </a:prstGeom>
          <a:noFill/>
        </p:spPr>
        <p:txBody>
          <a:bodyPr wrap="square">
            <a:spAutoFit/>
          </a:bodyPr>
          <a:lstStyle/>
          <a:p>
            <a:r>
              <a:rPr lang="en-US" altLang="zh-CN" sz="2000" dirty="0">
                <a:latin typeface="仿宋" panose="02010609060101010101" pitchFamily="49" charset="-122"/>
                <a:ea typeface="仿宋" panose="02010609060101010101" pitchFamily="49" charset="-122"/>
              </a:rPr>
              <a:t>4</a:t>
            </a:r>
            <a:r>
              <a:rPr lang="en-US" altLang="zh-CN" sz="2000" b="0" i="0" u="none" strike="noStrike" baseline="0" dirty="0">
                <a:latin typeface="仿宋" panose="02010609060101010101" pitchFamily="49" charset="-122"/>
                <a:ea typeface="仿宋" panose="02010609060101010101" pitchFamily="49" charset="-122"/>
              </a:rPr>
              <a:t>.</a:t>
            </a:r>
            <a:r>
              <a:rPr lang="zh-CN" altLang="en-US" sz="2000" b="0" i="0" u="none" strike="noStrike" baseline="0" dirty="0">
                <a:latin typeface="仿宋" panose="02010609060101010101" pitchFamily="49" charset="-122"/>
                <a:ea typeface="仿宋" panose="02010609060101010101" pitchFamily="49" charset="-122"/>
              </a:rPr>
              <a:t>下列关于关系数据模型的术语中，哪一个术语所表达的概念与二维表中的“行”的概念最接近？</a:t>
            </a:r>
          </a:p>
          <a:p>
            <a:r>
              <a:rPr lang="en-US" altLang="zh-CN" sz="2000" dirty="0">
                <a:latin typeface="仿宋" panose="02010609060101010101" pitchFamily="49" charset="-122"/>
                <a:ea typeface="仿宋" panose="02010609060101010101" pitchFamily="49" charset="-122"/>
              </a:rPr>
              <a:t>A</a:t>
            </a:r>
            <a:r>
              <a:rPr lang="en-US" altLang="zh-CN" sz="2000" b="0" i="0" u="none" strike="noStrike" baseline="0" dirty="0">
                <a:latin typeface="仿宋" panose="02010609060101010101" pitchFamily="49" charset="-122"/>
                <a:ea typeface="仿宋" panose="02010609060101010101" pitchFamily="49" charset="-122"/>
              </a:rPr>
              <a:t>. </a:t>
            </a:r>
            <a:r>
              <a:rPr lang="zh-CN" altLang="en-US" sz="2000" b="0" i="0" u="none" strike="noStrike" baseline="0" dirty="0">
                <a:latin typeface="仿宋" panose="02010609060101010101" pitchFamily="49" charset="-122"/>
                <a:ea typeface="仿宋" panose="02010609060101010101" pitchFamily="49" charset="-122"/>
              </a:rPr>
              <a:t>元组</a:t>
            </a:r>
          </a:p>
          <a:p>
            <a:r>
              <a:rPr lang="en-US" altLang="zh-CN" sz="2000" dirty="0">
                <a:latin typeface="仿宋" panose="02010609060101010101" pitchFamily="49" charset="-122"/>
                <a:ea typeface="仿宋" panose="02010609060101010101" pitchFamily="49" charset="-122"/>
              </a:rPr>
              <a:t>B</a:t>
            </a:r>
            <a:r>
              <a:rPr lang="en-US" altLang="zh-CN" sz="2000" b="0" i="0" u="none" strike="noStrike" baseline="0" dirty="0">
                <a:latin typeface="仿宋" panose="02010609060101010101" pitchFamily="49" charset="-122"/>
                <a:ea typeface="仿宋" panose="02010609060101010101" pitchFamily="49" charset="-122"/>
              </a:rPr>
              <a:t>. </a:t>
            </a:r>
            <a:r>
              <a:rPr lang="zh-CN" altLang="en-US" sz="2000" b="0" i="0" u="none" strike="noStrike" baseline="0" dirty="0">
                <a:latin typeface="仿宋" panose="02010609060101010101" pitchFamily="49" charset="-122"/>
                <a:ea typeface="仿宋" panose="02010609060101010101" pitchFamily="49" charset="-122"/>
              </a:rPr>
              <a:t>关系</a:t>
            </a:r>
          </a:p>
          <a:p>
            <a:r>
              <a:rPr lang="en-US" altLang="zh-CN" sz="2000" dirty="0">
                <a:latin typeface="仿宋" panose="02010609060101010101" pitchFamily="49" charset="-122"/>
                <a:ea typeface="仿宋" panose="02010609060101010101" pitchFamily="49" charset="-122"/>
              </a:rPr>
              <a:t>C</a:t>
            </a:r>
            <a:r>
              <a:rPr lang="en-US" altLang="zh-CN" sz="2000" b="0" i="0" u="none" strike="noStrike" baseline="0" dirty="0">
                <a:latin typeface="仿宋" panose="02010609060101010101" pitchFamily="49" charset="-122"/>
                <a:ea typeface="仿宋" panose="02010609060101010101" pitchFamily="49" charset="-122"/>
              </a:rPr>
              <a:t>. </a:t>
            </a:r>
            <a:r>
              <a:rPr lang="zh-CN" altLang="en-US" sz="2000" b="0" i="0" u="none" strike="noStrike" baseline="0" dirty="0">
                <a:latin typeface="仿宋" panose="02010609060101010101" pitchFamily="49" charset="-122"/>
                <a:ea typeface="仿宋" panose="02010609060101010101" pitchFamily="49" charset="-122"/>
              </a:rPr>
              <a:t>属性</a:t>
            </a:r>
          </a:p>
          <a:p>
            <a:r>
              <a:rPr lang="en-US" altLang="zh-CN" sz="2000" dirty="0">
                <a:latin typeface="仿宋" panose="02010609060101010101" pitchFamily="49" charset="-122"/>
                <a:ea typeface="仿宋" panose="02010609060101010101" pitchFamily="49" charset="-122"/>
              </a:rPr>
              <a:t>D</a:t>
            </a:r>
            <a:r>
              <a:rPr lang="en-US" altLang="zh-CN" sz="2000" b="0" i="0" u="none" strike="noStrike" baseline="0" dirty="0">
                <a:latin typeface="仿宋" panose="02010609060101010101" pitchFamily="49" charset="-122"/>
                <a:ea typeface="仿宋" panose="02010609060101010101" pitchFamily="49" charset="-122"/>
              </a:rPr>
              <a:t>. </a:t>
            </a:r>
            <a:r>
              <a:rPr lang="zh-CN" altLang="en-US" sz="2000" b="0" i="0" u="none" strike="noStrike" baseline="0" dirty="0">
                <a:latin typeface="仿宋" panose="02010609060101010101" pitchFamily="49" charset="-122"/>
                <a:ea typeface="仿宋" panose="02010609060101010101" pitchFamily="49" charset="-122"/>
              </a:rPr>
              <a:t>域</a:t>
            </a:r>
            <a:endParaRPr lang="en-US" altLang="zh-CN" sz="2000" b="0" i="0" u="none" strike="noStrike" baseline="0" dirty="0">
              <a:latin typeface="仿宋" panose="02010609060101010101" pitchFamily="49" charset="-122"/>
              <a:ea typeface="仿宋" panose="02010609060101010101" pitchFamily="49" charset="-122"/>
            </a:endParaRPr>
          </a:p>
          <a:p>
            <a:endParaRPr lang="en-US" altLang="zh-CN" sz="2000" b="0" i="0" u="none" strike="noStrike" baseline="0" dirty="0">
              <a:latin typeface="仿宋" panose="02010609060101010101" pitchFamily="49" charset="-122"/>
              <a:ea typeface="仿宋" panose="02010609060101010101" pitchFamily="49" charset="-122"/>
            </a:endParaRPr>
          </a:p>
          <a:p>
            <a:r>
              <a:rPr lang="en-US" altLang="zh-CN" sz="2000" dirty="0">
                <a:latin typeface="仿宋" panose="02010609060101010101" pitchFamily="49" charset="-122"/>
                <a:ea typeface="仿宋" panose="02010609060101010101" pitchFamily="49" charset="-122"/>
              </a:rPr>
              <a:t>5</a:t>
            </a:r>
            <a:r>
              <a:rPr lang="en-US" altLang="zh-CN" sz="2000" b="0" i="0" u="none" strike="noStrike" baseline="0" dirty="0">
                <a:latin typeface="仿宋" panose="02010609060101010101" pitchFamily="49" charset="-122"/>
                <a:ea typeface="仿宋" panose="02010609060101010101" pitchFamily="49" charset="-122"/>
              </a:rPr>
              <a:t>.</a:t>
            </a:r>
            <a:r>
              <a:rPr lang="zh-CN" altLang="en-US" sz="2000" b="0" i="0" u="none" strike="noStrike" baseline="0" dirty="0">
                <a:latin typeface="仿宋" panose="02010609060101010101" pitchFamily="49" charset="-122"/>
                <a:ea typeface="仿宋" panose="02010609060101010101" pitchFamily="49" charset="-122"/>
              </a:rPr>
              <a:t>关系数据库中，实现实体之间的联系是通过表与表之间的</a:t>
            </a:r>
            <a:r>
              <a:rPr lang="en-US" altLang="zh-CN" sz="2000" dirty="0">
                <a:latin typeface="仿宋" panose="02010609060101010101" pitchFamily="49" charset="-122"/>
                <a:ea typeface="仿宋" panose="02010609060101010101" pitchFamily="49" charset="-122"/>
              </a:rPr>
              <a:t>(</a:t>
            </a:r>
            <a:r>
              <a:rPr lang="en-US" altLang="zh-CN" sz="2000" b="0" i="0" u="none" strike="noStrike" baseline="0" dirty="0">
                <a:latin typeface="仿宋" panose="02010609060101010101" pitchFamily="49" charset="-122"/>
                <a:ea typeface="仿宋" panose="02010609060101010101" pitchFamily="49" charset="-122"/>
              </a:rPr>
              <a:t> )</a:t>
            </a:r>
          </a:p>
          <a:p>
            <a:r>
              <a:rPr lang="en-US" altLang="zh-CN" sz="2000" dirty="0">
                <a:latin typeface="仿宋" panose="02010609060101010101" pitchFamily="49" charset="-122"/>
                <a:ea typeface="仿宋" panose="02010609060101010101" pitchFamily="49" charset="-122"/>
              </a:rPr>
              <a:t>A</a:t>
            </a:r>
            <a:r>
              <a:rPr lang="en-US" altLang="zh-CN" sz="2000" b="0" i="0" u="none" strike="noStrike" baseline="0" dirty="0">
                <a:latin typeface="仿宋" panose="02010609060101010101" pitchFamily="49" charset="-122"/>
                <a:ea typeface="仿宋" panose="02010609060101010101" pitchFamily="49" charset="-122"/>
              </a:rPr>
              <a:t>. </a:t>
            </a:r>
            <a:r>
              <a:rPr lang="zh-CN" altLang="en-US" sz="2000" b="0" i="0" u="none" strike="noStrike" baseline="0" dirty="0">
                <a:latin typeface="仿宋" panose="02010609060101010101" pitchFamily="49" charset="-122"/>
                <a:ea typeface="仿宋" panose="02010609060101010101" pitchFamily="49" charset="-122"/>
              </a:rPr>
              <a:t>公共属性</a:t>
            </a:r>
          </a:p>
          <a:p>
            <a:r>
              <a:rPr lang="en-US" altLang="zh-CN" sz="2000" dirty="0">
                <a:latin typeface="仿宋" panose="02010609060101010101" pitchFamily="49" charset="-122"/>
                <a:ea typeface="仿宋" panose="02010609060101010101" pitchFamily="49" charset="-122"/>
              </a:rPr>
              <a:t>B</a:t>
            </a:r>
            <a:r>
              <a:rPr lang="en-US" altLang="zh-CN" sz="2000" b="0" i="0" u="none" strike="noStrike" baseline="0" dirty="0">
                <a:latin typeface="仿宋" panose="02010609060101010101" pitchFamily="49" charset="-122"/>
                <a:ea typeface="仿宋" panose="02010609060101010101" pitchFamily="49" charset="-122"/>
              </a:rPr>
              <a:t>. </a:t>
            </a:r>
            <a:r>
              <a:rPr lang="zh-CN" altLang="en-US" sz="2000" b="0" i="0" u="none" strike="noStrike" baseline="0" dirty="0">
                <a:latin typeface="仿宋" panose="02010609060101010101" pitchFamily="49" charset="-122"/>
                <a:ea typeface="仿宋" panose="02010609060101010101" pitchFamily="49" charset="-122"/>
              </a:rPr>
              <a:t>公共元组</a:t>
            </a:r>
          </a:p>
          <a:p>
            <a:r>
              <a:rPr lang="en-US" altLang="zh-CN" sz="2000" dirty="0">
                <a:latin typeface="仿宋" panose="02010609060101010101" pitchFamily="49" charset="-122"/>
                <a:ea typeface="仿宋" panose="02010609060101010101" pitchFamily="49" charset="-122"/>
              </a:rPr>
              <a:t>C</a:t>
            </a:r>
            <a:r>
              <a:rPr lang="en-US" altLang="zh-CN" sz="2000" b="0" i="0" u="none" strike="noStrike" baseline="0" dirty="0">
                <a:latin typeface="仿宋" panose="02010609060101010101" pitchFamily="49" charset="-122"/>
                <a:ea typeface="仿宋" panose="02010609060101010101" pitchFamily="49" charset="-122"/>
              </a:rPr>
              <a:t>. </a:t>
            </a:r>
            <a:r>
              <a:rPr lang="zh-CN" altLang="en-US" sz="2000" b="0" i="0" u="none" strike="noStrike" baseline="0" dirty="0">
                <a:latin typeface="仿宋" panose="02010609060101010101" pitchFamily="49" charset="-122"/>
                <a:ea typeface="仿宋" panose="02010609060101010101" pitchFamily="49" charset="-122"/>
              </a:rPr>
              <a:t>公共存储</a:t>
            </a:r>
          </a:p>
          <a:p>
            <a:r>
              <a:rPr lang="en-US" altLang="zh-CN" sz="2000" dirty="0">
                <a:latin typeface="仿宋" panose="02010609060101010101" pitchFamily="49" charset="-122"/>
                <a:ea typeface="仿宋" panose="02010609060101010101" pitchFamily="49" charset="-122"/>
              </a:rPr>
              <a:t>D</a:t>
            </a:r>
            <a:r>
              <a:rPr lang="en-US" altLang="zh-CN" sz="2000" b="0" i="0" u="none" strike="noStrike" baseline="0" dirty="0">
                <a:latin typeface="仿宋" panose="02010609060101010101" pitchFamily="49" charset="-122"/>
                <a:ea typeface="仿宋" panose="02010609060101010101" pitchFamily="49" charset="-122"/>
              </a:rPr>
              <a:t>. </a:t>
            </a:r>
            <a:r>
              <a:rPr lang="zh-CN" altLang="en-US" sz="2000" b="0" i="0" u="none" strike="noStrike" baseline="0" dirty="0">
                <a:latin typeface="仿宋" panose="02010609060101010101" pitchFamily="49" charset="-122"/>
                <a:ea typeface="仿宋" panose="02010609060101010101" pitchFamily="49" charset="-122"/>
              </a:rPr>
              <a:t>公共索引</a:t>
            </a:r>
            <a:endParaRPr lang="en-US" altLang="zh-CN" sz="2000" b="0" i="0" u="none" strike="noStrike" baseline="0" dirty="0">
              <a:latin typeface="仿宋" panose="02010609060101010101" pitchFamily="49" charset="-122"/>
              <a:ea typeface="仿宋" panose="02010609060101010101" pitchFamily="49" charset="-122"/>
            </a:endParaRPr>
          </a:p>
          <a:p>
            <a:r>
              <a:rPr lang="en-US" altLang="zh-CN" sz="2000" dirty="0">
                <a:latin typeface="仿宋" panose="02010609060101010101" pitchFamily="49" charset="-122"/>
                <a:ea typeface="仿宋" panose="02010609060101010101" pitchFamily="49" charset="-122"/>
              </a:rPr>
              <a:t>6.</a:t>
            </a:r>
            <a:r>
              <a:rPr lang="zh-CN" altLang="en-US" sz="2000" dirty="0">
                <a:latin typeface="仿宋" panose="02010609060101010101" pitchFamily="49" charset="-122"/>
                <a:ea typeface="仿宋" panose="02010609060101010101" pitchFamily="49" charset="-122"/>
              </a:rPr>
              <a:t>层次模型表达实体类型及实体之间联系用的数据结构是</a:t>
            </a:r>
            <a:r>
              <a:rPr lang="en-US" altLang="zh-CN" sz="2000" dirty="0">
                <a:latin typeface="仿宋" panose="02010609060101010101" pitchFamily="49" charset="-122"/>
                <a:ea typeface="仿宋" panose="02010609060101010101" pitchFamily="49" charset="-122"/>
              </a:rPr>
              <a:t>_______</a:t>
            </a:r>
            <a:r>
              <a:rPr lang="zh-CN" altLang="en-US" sz="2000" dirty="0">
                <a:latin typeface="仿宋" panose="02010609060101010101" pitchFamily="49" charset="-122"/>
                <a:ea typeface="仿宋" panose="02010609060101010101" pitchFamily="49" charset="-122"/>
              </a:rPr>
              <a:t>。</a:t>
            </a:r>
          </a:p>
          <a:p>
            <a:endParaRPr lang="en-US" altLang="zh-CN" sz="2000" b="0" i="0" u="none" strike="noStrike" baseline="0" dirty="0">
              <a:latin typeface="仿宋" panose="02010609060101010101" pitchFamily="49" charset="-122"/>
              <a:ea typeface="仿宋" panose="02010609060101010101" pitchFamily="49" charset="-122"/>
            </a:endParaRPr>
          </a:p>
          <a:p>
            <a:endParaRPr lang="zh-CN" altLang="en-US" sz="2000" b="0" i="0" u="none" strike="noStrike" baseline="0" dirty="0">
              <a:latin typeface="仿宋" panose="02010609060101010101" pitchFamily="49" charset="-122"/>
              <a:ea typeface="仿宋" panose="02010609060101010101" pitchFamily="49" charset="-122"/>
            </a:endParaRPr>
          </a:p>
        </p:txBody>
      </p:sp>
      <p:cxnSp>
        <p:nvCxnSpPr>
          <p:cNvPr id="5" name="直接连接符 4">
            <a:extLst>
              <a:ext uri="{FF2B5EF4-FFF2-40B4-BE49-F238E27FC236}">
                <a16:creationId xmlns:a16="http://schemas.microsoft.com/office/drawing/2014/main" id="{209F6FAB-E8F0-148E-38D5-9D36D0E6EF02}"/>
              </a:ext>
            </a:extLst>
          </p:cNvPr>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C36B63C0-7975-310E-9A56-61F58E602D7E}"/>
              </a:ext>
            </a:extLst>
          </p:cNvPr>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7" name="图形 6">
            <a:extLst>
              <a:ext uri="{FF2B5EF4-FFF2-40B4-BE49-F238E27FC236}">
                <a16:creationId xmlns:a16="http://schemas.microsoft.com/office/drawing/2014/main" id="{F7277F50-9565-7A22-396E-272D85A4702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9" name="文本框 8">
            <a:extLst>
              <a:ext uri="{FF2B5EF4-FFF2-40B4-BE49-F238E27FC236}">
                <a16:creationId xmlns:a16="http://schemas.microsoft.com/office/drawing/2014/main" id="{2395188C-9422-0212-2BCC-379D3933409E}"/>
              </a:ext>
            </a:extLst>
          </p:cNvPr>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11" name="文本框 10">
            <a:extLst>
              <a:ext uri="{FF2B5EF4-FFF2-40B4-BE49-F238E27FC236}">
                <a16:creationId xmlns:a16="http://schemas.microsoft.com/office/drawing/2014/main" id="{5A1B092B-F6F5-17FC-D15C-CC7294F2E182}"/>
              </a:ext>
            </a:extLst>
          </p:cNvPr>
          <p:cNvSpPr txBox="1"/>
          <p:nvPr/>
        </p:nvSpPr>
        <p:spPr>
          <a:xfrm>
            <a:off x="8545195" y="5584641"/>
            <a:ext cx="1176290" cy="369332"/>
          </a:xfrm>
          <a:prstGeom prst="rect">
            <a:avLst/>
          </a:prstGeom>
          <a:noFill/>
        </p:spPr>
        <p:txBody>
          <a:bodyPr wrap="square">
            <a:spAutoFit/>
          </a:bodyPr>
          <a:lstStyle/>
          <a:p>
            <a:r>
              <a:rPr lang="zh-CN" altLang="en-US" sz="1800" dirty="0">
                <a:latin typeface="仿宋" panose="02010609060101010101" pitchFamily="49" charset="-122"/>
                <a:ea typeface="仿宋" panose="02010609060101010101" pitchFamily="49" charset="-122"/>
              </a:rPr>
              <a:t>树形结构</a:t>
            </a:r>
            <a:endParaRPr lang="zh-CN" altLang="en-US" dirty="0"/>
          </a:p>
        </p:txBody>
      </p:sp>
      <p:sp>
        <p:nvSpPr>
          <p:cNvPr id="14" name="文本框 13">
            <a:extLst>
              <a:ext uri="{FF2B5EF4-FFF2-40B4-BE49-F238E27FC236}">
                <a16:creationId xmlns:a16="http://schemas.microsoft.com/office/drawing/2014/main" id="{BB55E14A-3F4E-9D4E-DB0B-4920D2B84B92}"/>
              </a:ext>
            </a:extLst>
          </p:cNvPr>
          <p:cNvSpPr txBox="1"/>
          <p:nvPr/>
        </p:nvSpPr>
        <p:spPr>
          <a:xfrm>
            <a:off x="1882370" y="5549532"/>
            <a:ext cx="1176290" cy="369332"/>
          </a:xfrm>
          <a:prstGeom prst="rect">
            <a:avLst/>
          </a:prstGeom>
          <a:noFill/>
        </p:spPr>
        <p:txBody>
          <a:bodyPr wrap="square">
            <a:spAutoFit/>
          </a:bodyPr>
          <a:lstStyle/>
          <a:p>
            <a:r>
              <a:rPr lang="en-US" altLang="zh-CN" b="1" dirty="0">
                <a:latin typeface="Courier New" panose="02070309020205020404" pitchFamily="49" charset="0"/>
                <a:ea typeface="Cascadia Code" panose="020B0609020000020004" pitchFamily="49" charset="0"/>
                <a:cs typeface="Courier New" panose="02070309020205020404" pitchFamily="49" charset="0"/>
              </a:rPr>
              <a:t>SELECT</a:t>
            </a:r>
            <a:endParaRPr lang="zh-CN" altLang="en-US" b="1" dirty="0">
              <a:latin typeface="Courier New" panose="02070309020205020404" pitchFamily="49" charset="0"/>
              <a:cs typeface="Courier New" panose="02070309020205020404" pitchFamily="49" charset="0"/>
            </a:endParaRPr>
          </a:p>
        </p:txBody>
      </p:sp>
      <p:pic>
        <p:nvPicPr>
          <p:cNvPr id="2" name="图片 4">
            <a:extLst>
              <a:ext uri="{FF2B5EF4-FFF2-40B4-BE49-F238E27FC236}">
                <a16:creationId xmlns:a16="http://schemas.microsoft.com/office/drawing/2014/main" id="{E73DC5DB-8394-59C1-93AC-88FF8697B09C}"/>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416425" y="6219825"/>
            <a:ext cx="542925" cy="542925"/>
          </a:xfrm>
          <a:prstGeom prst="rect">
            <a:avLst/>
          </a:prstGeom>
        </p:spPr>
      </p:pic>
    </p:spTree>
    <p:extLst>
      <p:ext uri="{BB962C8B-B14F-4D97-AF65-F5344CB8AC3E}">
        <p14:creationId xmlns:p14="http://schemas.microsoft.com/office/powerpoint/2010/main" val="14571686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2000" fill="hold"/>
                                        <p:tgtEl>
                                          <p:spTgt spid="3">
                                            <p:txEl>
                                              <p:pRg st="2" end="2"/>
                                            </p:txEl>
                                          </p:spTgt>
                                        </p:tgtEl>
                                        <p:attrNameLst>
                                          <p:attrName>style.color</p:attrName>
                                        </p:attrNameLst>
                                      </p:cBhvr>
                                      <p:to>
                                        <a:srgbClr val="E54C5E"/>
                                      </p:to>
                                    </p:animClr>
                                  </p:childTnLst>
                                </p:cTn>
                              </p:par>
                            </p:childTnLst>
                          </p:cTn>
                        </p:par>
                      </p:childTnLst>
                    </p:cTn>
                  </p:par>
                  <p:par>
                    <p:cTn id="7" fill="hold">
                      <p:stCondLst>
                        <p:cond delay="indefinite"/>
                      </p:stCondLst>
                      <p:childTnLst>
                        <p:par>
                          <p:cTn id="8" fill="hold">
                            <p:stCondLst>
                              <p:cond delay="0"/>
                            </p:stCondLst>
                            <p:childTnLst>
                              <p:par>
                                <p:cTn id="9" presetID="3" presetClass="emph" presetSubtype="2" fill="hold" nodeType="clickEffect">
                                  <p:stCondLst>
                                    <p:cond delay="0"/>
                                  </p:stCondLst>
                                  <p:childTnLst>
                                    <p:animClr clrSpc="rgb" dir="cw">
                                      <p:cBhvr override="childStyle">
                                        <p:cTn id="10" dur="2000" fill="hold"/>
                                        <p:tgtEl>
                                          <p:spTgt spid="3">
                                            <p:txEl>
                                              <p:pRg st="7" end="7"/>
                                            </p:txEl>
                                          </p:spTgt>
                                        </p:tgtEl>
                                        <p:attrNameLst>
                                          <p:attrName>style.color</p:attrName>
                                        </p:attrNameLst>
                                      </p:cBhvr>
                                      <p:to>
                                        <a:srgbClr val="E54C5E"/>
                                      </p:to>
                                    </p:animClr>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mph" presetSubtype="2" fill="hold" nodeType="clickEffect">
                                  <p:stCondLst>
                                    <p:cond delay="0"/>
                                  </p:stCondLst>
                                  <p:childTnLst>
                                    <p:animClr clrSpc="rgb" dir="cw">
                                      <p:cBhvr override="childStyle">
                                        <p:cTn id="19" dur="2000" fill="hold"/>
                                        <p:tgtEl>
                                          <p:spTgt spid="4">
                                            <p:txEl>
                                              <p:pRg st="1" end="1"/>
                                            </p:txEl>
                                          </p:spTgt>
                                        </p:tgtEl>
                                        <p:attrNameLst>
                                          <p:attrName>style.color</p:attrName>
                                        </p:attrNameLst>
                                      </p:cBhvr>
                                      <p:to>
                                        <a:srgbClr val="E54C5E"/>
                                      </p:to>
                                    </p:animClr>
                                  </p:childTnLst>
                                </p:cTn>
                              </p:par>
                            </p:childTnLst>
                          </p:cTn>
                        </p:par>
                      </p:childTnLst>
                    </p:cTn>
                  </p:par>
                  <p:par>
                    <p:cTn id="20" fill="hold">
                      <p:stCondLst>
                        <p:cond delay="indefinite"/>
                      </p:stCondLst>
                      <p:childTnLst>
                        <p:par>
                          <p:cTn id="21" fill="hold">
                            <p:stCondLst>
                              <p:cond delay="0"/>
                            </p:stCondLst>
                            <p:childTnLst>
                              <p:par>
                                <p:cTn id="22" presetID="3" presetClass="emph" presetSubtype="2" fill="hold" nodeType="clickEffect">
                                  <p:stCondLst>
                                    <p:cond delay="0"/>
                                  </p:stCondLst>
                                  <p:childTnLst>
                                    <p:animClr clrSpc="rgb" dir="cw">
                                      <p:cBhvr override="childStyle">
                                        <p:cTn id="23" dur="2000" fill="hold"/>
                                        <p:tgtEl>
                                          <p:spTgt spid="4">
                                            <p:txEl>
                                              <p:pRg st="7" end="7"/>
                                            </p:txEl>
                                          </p:spTgt>
                                        </p:tgtEl>
                                        <p:attrNameLst>
                                          <p:attrName>style.color</p:attrName>
                                        </p:attrNameLst>
                                      </p:cBhvr>
                                      <p:to>
                                        <a:srgbClr val="FF0000"/>
                                      </p:to>
                                    </p:animClr>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49F3DFEE-D615-10A4-3DFB-F10E842FD6FF}"/>
              </a:ext>
            </a:extLst>
          </p:cNvPr>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 name="直接连接符 2">
            <a:extLst>
              <a:ext uri="{FF2B5EF4-FFF2-40B4-BE49-F238E27FC236}">
                <a16:creationId xmlns:a16="http://schemas.microsoft.com/office/drawing/2014/main" id="{E448084C-00C1-2D46-B2E9-907AC7E07A63}"/>
              </a:ext>
            </a:extLst>
          </p:cNvPr>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4" name="图形 3">
            <a:extLst>
              <a:ext uri="{FF2B5EF4-FFF2-40B4-BE49-F238E27FC236}">
                <a16:creationId xmlns:a16="http://schemas.microsoft.com/office/drawing/2014/main" id="{C93BB0EF-03E3-F5C3-728A-B6DC40F04B4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6" name="文本框 5">
            <a:extLst>
              <a:ext uri="{FF2B5EF4-FFF2-40B4-BE49-F238E27FC236}">
                <a16:creationId xmlns:a16="http://schemas.microsoft.com/office/drawing/2014/main" id="{47E122C5-6879-554E-162C-5ECC1522BC4D}"/>
              </a:ext>
            </a:extLst>
          </p:cNvPr>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7" name="文本框 6">
            <a:extLst>
              <a:ext uri="{FF2B5EF4-FFF2-40B4-BE49-F238E27FC236}">
                <a16:creationId xmlns:a16="http://schemas.microsoft.com/office/drawing/2014/main" id="{F366E004-4C1F-90FD-A770-3CB8EE2C9A82}"/>
              </a:ext>
            </a:extLst>
          </p:cNvPr>
          <p:cNvSpPr txBox="1"/>
          <p:nvPr/>
        </p:nvSpPr>
        <p:spPr>
          <a:xfrm>
            <a:off x="1524000" y="95361"/>
            <a:ext cx="3225800" cy="769441"/>
          </a:xfrm>
          <a:prstGeom prst="rect">
            <a:avLst/>
          </a:prstGeom>
          <a:noFill/>
        </p:spPr>
        <p:txBody>
          <a:bodyPr wrap="square" rtlCol="0">
            <a:spAutoFit/>
          </a:bodyPr>
          <a:lstStyle/>
          <a:p>
            <a:r>
              <a:rPr lang="zh-CN" altLang="en-US" sz="4400" dirty="0">
                <a:latin typeface="仿宋" panose="02010609060101010101" pitchFamily="49" charset="-122"/>
                <a:ea typeface="仿宋" panose="02010609060101010101" pitchFamily="49" charset="-122"/>
              </a:rPr>
              <a:t>第七章</a:t>
            </a:r>
            <a:endParaRPr lang="en-US" altLang="zh-CN" sz="4400" dirty="0">
              <a:latin typeface="仿宋" panose="02010609060101010101" pitchFamily="49" charset="-122"/>
              <a:ea typeface="仿宋" panose="02010609060101010101" pitchFamily="49" charset="-122"/>
            </a:endParaRPr>
          </a:p>
        </p:txBody>
      </p:sp>
      <p:sp>
        <p:nvSpPr>
          <p:cNvPr id="8" name="文本框 7">
            <a:extLst>
              <a:ext uri="{FF2B5EF4-FFF2-40B4-BE49-F238E27FC236}">
                <a16:creationId xmlns:a16="http://schemas.microsoft.com/office/drawing/2014/main" id="{6F61AB2E-3086-E500-6BE2-5C05B82C91FC}"/>
              </a:ext>
            </a:extLst>
          </p:cNvPr>
          <p:cNvSpPr txBox="1"/>
          <p:nvPr/>
        </p:nvSpPr>
        <p:spPr>
          <a:xfrm>
            <a:off x="2442936" y="1447911"/>
            <a:ext cx="7907564" cy="1015663"/>
          </a:xfrm>
          <a:prstGeom prst="rect">
            <a:avLst/>
          </a:prstGeom>
          <a:noFill/>
        </p:spPr>
        <p:txBody>
          <a:bodyPr wrap="square" rtlCol="0">
            <a:spAutoFit/>
          </a:bodyPr>
          <a:lstStyle/>
          <a:p>
            <a:r>
              <a:rPr lang="zh-CN" altLang="en-US" sz="6000" dirty="0">
                <a:latin typeface="仿宋" panose="02010609060101010101" pitchFamily="49" charset="-122"/>
                <a:ea typeface="仿宋" panose="02010609060101010101" pitchFamily="49" charset="-122"/>
              </a:rPr>
              <a:t>计算、算法与程序设计</a:t>
            </a:r>
            <a:endParaRPr lang="en-US" altLang="zh-CN" sz="6000" dirty="0">
              <a:latin typeface="仿宋" panose="02010609060101010101" pitchFamily="49" charset="-122"/>
              <a:ea typeface="仿宋" panose="02010609060101010101" pitchFamily="49" charset="-122"/>
            </a:endParaRPr>
          </a:p>
        </p:txBody>
      </p:sp>
      <p:pic>
        <p:nvPicPr>
          <p:cNvPr id="9" name="图片 4">
            <a:extLst>
              <a:ext uri="{FF2B5EF4-FFF2-40B4-BE49-F238E27FC236}">
                <a16:creationId xmlns:a16="http://schemas.microsoft.com/office/drawing/2014/main" id="{478ADD5C-B584-4D46-1196-D572DBFCF688}"/>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416425" y="6219825"/>
            <a:ext cx="542925" cy="542925"/>
          </a:xfrm>
          <a:prstGeom prst="rect">
            <a:avLst/>
          </a:prstGeom>
        </p:spPr>
      </p:pic>
    </p:spTree>
    <p:extLst>
      <p:ext uri="{BB962C8B-B14F-4D97-AF65-F5344CB8AC3E}">
        <p14:creationId xmlns:p14="http://schemas.microsoft.com/office/powerpoint/2010/main" val="35015588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49F3DFEE-D615-10A4-3DFB-F10E842FD6FF}"/>
              </a:ext>
            </a:extLst>
          </p:cNvPr>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 name="直接连接符 2">
            <a:extLst>
              <a:ext uri="{FF2B5EF4-FFF2-40B4-BE49-F238E27FC236}">
                <a16:creationId xmlns:a16="http://schemas.microsoft.com/office/drawing/2014/main" id="{E448084C-00C1-2D46-B2E9-907AC7E07A63}"/>
              </a:ext>
            </a:extLst>
          </p:cNvPr>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4" name="图形 3">
            <a:extLst>
              <a:ext uri="{FF2B5EF4-FFF2-40B4-BE49-F238E27FC236}">
                <a16:creationId xmlns:a16="http://schemas.microsoft.com/office/drawing/2014/main" id="{C93BB0EF-03E3-F5C3-728A-B6DC40F04B4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6" name="文本框 5">
            <a:extLst>
              <a:ext uri="{FF2B5EF4-FFF2-40B4-BE49-F238E27FC236}">
                <a16:creationId xmlns:a16="http://schemas.microsoft.com/office/drawing/2014/main" id="{47E122C5-6879-554E-162C-5ECC1522BC4D}"/>
              </a:ext>
            </a:extLst>
          </p:cNvPr>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7" name="文本框 6">
            <a:extLst>
              <a:ext uri="{FF2B5EF4-FFF2-40B4-BE49-F238E27FC236}">
                <a16:creationId xmlns:a16="http://schemas.microsoft.com/office/drawing/2014/main" id="{1E416341-3B4D-14E9-1A09-A5C4890E367D}"/>
              </a:ext>
            </a:extLst>
          </p:cNvPr>
          <p:cNvSpPr txBox="1"/>
          <p:nvPr/>
        </p:nvSpPr>
        <p:spPr>
          <a:xfrm>
            <a:off x="1431473" y="10850"/>
            <a:ext cx="1540328" cy="769441"/>
          </a:xfrm>
          <a:prstGeom prst="rect">
            <a:avLst/>
          </a:prstGeom>
          <a:noFill/>
        </p:spPr>
        <p:txBody>
          <a:bodyPr wrap="square" rtlCol="0">
            <a:spAutoFit/>
          </a:bodyPr>
          <a:lstStyle/>
          <a:p>
            <a:r>
              <a:rPr lang="zh-CN" altLang="en-US" sz="4400" dirty="0">
                <a:latin typeface="仿宋" panose="02010609060101010101" pitchFamily="49" charset="-122"/>
                <a:ea typeface="仿宋" panose="02010609060101010101" pitchFamily="49" charset="-122"/>
              </a:rPr>
              <a:t>程序</a:t>
            </a:r>
            <a:endParaRPr lang="en-US" altLang="zh-CN" sz="4400" dirty="0">
              <a:latin typeface="仿宋" panose="02010609060101010101" pitchFamily="49" charset="-122"/>
              <a:ea typeface="仿宋" panose="02010609060101010101" pitchFamily="49" charset="-122"/>
            </a:endParaRPr>
          </a:p>
        </p:txBody>
      </p:sp>
      <p:sp>
        <p:nvSpPr>
          <p:cNvPr id="8" name="文本框 7">
            <a:extLst>
              <a:ext uri="{FF2B5EF4-FFF2-40B4-BE49-F238E27FC236}">
                <a16:creationId xmlns:a16="http://schemas.microsoft.com/office/drawing/2014/main" id="{25F3AE7C-B711-7868-830E-B33070CE792F}"/>
              </a:ext>
            </a:extLst>
          </p:cNvPr>
          <p:cNvSpPr txBox="1"/>
          <p:nvPr/>
        </p:nvSpPr>
        <p:spPr>
          <a:xfrm>
            <a:off x="1019551" y="1121463"/>
            <a:ext cx="10302421" cy="3108543"/>
          </a:xfrm>
          <a:prstGeom prst="rect">
            <a:avLst/>
          </a:prstGeom>
          <a:noFill/>
        </p:spPr>
        <p:txBody>
          <a:bodyPr wrap="square">
            <a:spAutoFit/>
          </a:bodyPr>
          <a:lstStyle/>
          <a:p>
            <a:r>
              <a:rPr lang="zh-CN" altLang="en-US" sz="2800" b="1" dirty="0">
                <a:latin typeface="仿宋" panose="02010609060101010101" pitchFamily="49" charset="-122"/>
                <a:ea typeface="仿宋" panose="02010609060101010101" pitchFamily="49" charset="-122"/>
              </a:rPr>
              <a:t>概念：就是遵循一定规则完成指定工作的代码，其目的是为了在计算机上运行以便于执行某种任务。</a:t>
            </a:r>
            <a:endParaRPr lang="en-US" altLang="zh-CN" sz="2800" b="1" dirty="0">
              <a:latin typeface="仿宋" panose="02010609060101010101" pitchFamily="49" charset="-122"/>
              <a:ea typeface="仿宋" panose="02010609060101010101" pitchFamily="49" charset="-122"/>
            </a:endParaRPr>
          </a:p>
          <a:p>
            <a:r>
              <a:rPr lang="zh-CN" altLang="en-US" sz="2800" b="1" dirty="0">
                <a:latin typeface="仿宋" panose="02010609060101010101" pitchFamily="49" charset="-122"/>
                <a:ea typeface="仿宋" panose="02010609060101010101" pitchFamily="49" charset="-122"/>
              </a:rPr>
              <a:t>程序涉及：</a:t>
            </a:r>
            <a:endParaRPr lang="en-US" altLang="zh-CN" sz="2800" b="1" dirty="0">
              <a:latin typeface="仿宋" panose="02010609060101010101" pitchFamily="49" charset="-122"/>
              <a:ea typeface="仿宋" panose="02010609060101010101" pitchFamily="49" charset="-122"/>
            </a:endParaRPr>
          </a:p>
          <a:p>
            <a:pPr marL="457200" indent="-457200">
              <a:buFont typeface="Arial" panose="020B0604020202020204" pitchFamily="34" charset="0"/>
              <a:buChar char="•"/>
            </a:pPr>
            <a:r>
              <a:rPr lang="zh-CN" altLang="en-US" sz="2800" dirty="0">
                <a:latin typeface="仿宋" panose="02010609060101010101" pitchFamily="49" charset="-122"/>
                <a:ea typeface="仿宋" panose="02010609060101010101" pitchFamily="49" charset="-122"/>
              </a:rPr>
              <a:t>计算机程序设计语言</a:t>
            </a:r>
            <a:endParaRPr lang="en-US" altLang="zh-CN" sz="2800" dirty="0">
              <a:latin typeface="仿宋" panose="02010609060101010101" pitchFamily="49" charset="-122"/>
              <a:ea typeface="仿宋" panose="02010609060101010101" pitchFamily="49" charset="-122"/>
            </a:endParaRPr>
          </a:p>
          <a:p>
            <a:pPr marL="457200" indent="-457200">
              <a:buFont typeface="Arial" panose="020B0604020202020204" pitchFamily="34" charset="0"/>
              <a:buChar char="•"/>
            </a:pPr>
            <a:r>
              <a:rPr lang="zh-CN" altLang="en-US" sz="2800" dirty="0">
                <a:latin typeface="仿宋" panose="02010609060101010101" pitchFamily="49" charset="-122"/>
                <a:ea typeface="仿宋" panose="02010609060101010101" pitchFamily="49" charset="-122"/>
              </a:rPr>
              <a:t>数据结构</a:t>
            </a:r>
            <a:endParaRPr lang="en-US" altLang="zh-CN" sz="2800" dirty="0">
              <a:latin typeface="仿宋" panose="02010609060101010101" pitchFamily="49" charset="-122"/>
              <a:ea typeface="仿宋" panose="02010609060101010101" pitchFamily="49" charset="-122"/>
            </a:endParaRPr>
          </a:p>
          <a:p>
            <a:pPr marL="457200" indent="-457200">
              <a:buFont typeface="Arial" panose="020B0604020202020204" pitchFamily="34" charset="0"/>
              <a:buChar char="•"/>
            </a:pPr>
            <a:r>
              <a:rPr lang="zh-CN" altLang="en-US" sz="2800" dirty="0">
                <a:latin typeface="仿宋" panose="02010609060101010101" pitchFamily="49" charset="-122"/>
                <a:ea typeface="仿宋" panose="02010609060101010101" pitchFamily="49" charset="-122"/>
              </a:rPr>
              <a:t>算法</a:t>
            </a:r>
            <a:endParaRPr lang="en-US" altLang="zh-CN" sz="2800" dirty="0">
              <a:latin typeface="仿宋" panose="02010609060101010101" pitchFamily="49" charset="-122"/>
              <a:ea typeface="仿宋" panose="02010609060101010101" pitchFamily="49" charset="-122"/>
            </a:endParaRPr>
          </a:p>
          <a:p>
            <a:pPr marL="457200" indent="-457200">
              <a:buFont typeface="Arial" panose="020B0604020202020204" pitchFamily="34" charset="0"/>
              <a:buChar char="•"/>
            </a:pPr>
            <a:r>
              <a:rPr lang="zh-CN" altLang="en-US" sz="2800" dirty="0">
                <a:latin typeface="仿宋" panose="02010609060101010101" pitchFamily="49" charset="-122"/>
                <a:ea typeface="仿宋" panose="02010609060101010101" pitchFamily="49" charset="-122"/>
              </a:rPr>
              <a:t>计算机环境</a:t>
            </a:r>
            <a:endParaRPr lang="en-US" altLang="zh-CN" sz="2800" dirty="0">
              <a:latin typeface="仿宋" panose="02010609060101010101" pitchFamily="49" charset="-122"/>
              <a:ea typeface="仿宋" panose="02010609060101010101" pitchFamily="49" charset="-122"/>
            </a:endParaRPr>
          </a:p>
        </p:txBody>
      </p:sp>
      <p:sp>
        <p:nvSpPr>
          <p:cNvPr id="9" name="矩形 8">
            <a:extLst>
              <a:ext uri="{FF2B5EF4-FFF2-40B4-BE49-F238E27FC236}">
                <a16:creationId xmlns:a16="http://schemas.microsoft.com/office/drawing/2014/main" id="{3862E9B6-C34E-94AD-17EF-F7E4826DD07E}"/>
              </a:ext>
            </a:extLst>
          </p:cNvPr>
          <p:cNvSpPr/>
          <p:nvPr/>
        </p:nvSpPr>
        <p:spPr>
          <a:xfrm>
            <a:off x="3210709" y="4521320"/>
            <a:ext cx="6449201" cy="923330"/>
          </a:xfrm>
          <a:prstGeom prst="rect">
            <a:avLst/>
          </a:prstGeom>
          <a:noFill/>
        </p:spPr>
        <p:txBody>
          <a:bodyPr wrap="none" lIns="91440" tIns="45720" rIns="91440" bIns="45720">
            <a:spAutoFit/>
          </a:bodyPr>
          <a:lstStyle/>
          <a:p>
            <a:pPr algn="ctr"/>
            <a:r>
              <a:rPr lang="zh-CN" altLang="en-US" sz="5400" b="1" dirty="0">
                <a:ln w="6600">
                  <a:solidFill>
                    <a:schemeClr val="accent2"/>
                  </a:solidFill>
                  <a:prstDash val="solid"/>
                </a:ln>
                <a:solidFill>
                  <a:srgbClr val="FFFFFF"/>
                </a:solidFill>
                <a:effectLst>
                  <a:outerShdw dist="38100" dir="2700000" algn="tl" rotWithShape="0">
                    <a:schemeClr val="accent2"/>
                  </a:outerShdw>
                </a:effectLst>
                <a:latin typeface="仿宋" panose="02010609060101010101" pitchFamily="49" charset="-122"/>
                <a:ea typeface="仿宋" panose="02010609060101010101" pitchFamily="49" charset="-122"/>
              </a:rPr>
              <a:t>程序</a:t>
            </a:r>
            <a:r>
              <a:rPr lang="en-US" altLang="zh-CN" sz="5400" b="1" dirty="0">
                <a:ln w="6600">
                  <a:solidFill>
                    <a:schemeClr val="accent2"/>
                  </a:solidFill>
                  <a:prstDash val="solid"/>
                </a:ln>
                <a:solidFill>
                  <a:srgbClr val="FFFFFF"/>
                </a:solidFill>
                <a:effectLst>
                  <a:outerShdw dist="38100" dir="2700000" algn="tl" rotWithShape="0">
                    <a:schemeClr val="accent2"/>
                  </a:outerShdw>
                </a:effectLst>
                <a:latin typeface="仿宋" panose="02010609060101010101" pitchFamily="49" charset="-122"/>
                <a:ea typeface="仿宋" panose="02010609060101010101" pitchFamily="49" charset="-122"/>
              </a:rPr>
              <a:t>=</a:t>
            </a:r>
            <a:r>
              <a:rPr lang="zh-CN" altLang="en-US" sz="5400" b="1" dirty="0">
                <a:ln w="6600">
                  <a:solidFill>
                    <a:schemeClr val="accent2"/>
                  </a:solidFill>
                  <a:prstDash val="solid"/>
                </a:ln>
                <a:solidFill>
                  <a:srgbClr val="FFFFFF"/>
                </a:solidFill>
                <a:effectLst>
                  <a:outerShdw dist="38100" dir="2700000" algn="tl" rotWithShape="0">
                    <a:schemeClr val="accent2"/>
                  </a:outerShdw>
                </a:effectLst>
                <a:latin typeface="仿宋" panose="02010609060101010101" pitchFamily="49" charset="-122"/>
                <a:ea typeface="仿宋" panose="02010609060101010101" pitchFamily="49" charset="-122"/>
              </a:rPr>
              <a:t>数据结构</a:t>
            </a:r>
            <a:r>
              <a:rPr lang="en-US" altLang="zh-CN" sz="5400" b="1" dirty="0">
                <a:ln w="6600">
                  <a:solidFill>
                    <a:schemeClr val="accent2"/>
                  </a:solidFill>
                  <a:prstDash val="solid"/>
                </a:ln>
                <a:solidFill>
                  <a:srgbClr val="FFFFFF"/>
                </a:solidFill>
                <a:effectLst>
                  <a:outerShdw dist="38100" dir="2700000" algn="tl" rotWithShape="0">
                    <a:schemeClr val="accent2"/>
                  </a:outerShdw>
                </a:effectLst>
                <a:latin typeface="仿宋" panose="02010609060101010101" pitchFamily="49" charset="-122"/>
                <a:ea typeface="仿宋" panose="02010609060101010101" pitchFamily="49" charset="-122"/>
              </a:rPr>
              <a:t>+</a:t>
            </a:r>
            <a:r>
              <a:rPr lang="zh-CN" altLang="en-US" sz="5400" b="1" dirty="0">
                <a:ln w="6600">
                  <a:solidFill>
                    <a:schemeClr val="accent2"/>
                  </a:solidFill>
                  <a:prstDash val="solid"/>
                </a:ln>
                <a:solidFill>
                  <a:srgbClr val="FFFFFF"/>
                </a:solidFill>
                <a:effectLst>
                  <a:outerShdw dist="38100" dir="2700000" algn="tl" rotWithShape="0">
                    <a:schemeClr val="accent2"/>
                  </a:outerShdw>
                </a:effectLst>
                <a:latin typeface="仿宋" panose="02010609060101010101" pitchFamily="49" charset="-122"/>
                <a:ea typeface="仿宋" panose="02010609060101010101" pitchFamily="49" charset="-122"/>
              </a:rPr>
              <a:t>算法</a:t>
            </a:r>
            <a:endParaRPr lang="zh-CN" altLang="en-US" sz="5400" b="1" cap="none" spc="0" dirty="0">
              <a:ln w="6600">
                <a:solidFill>
                  <a:schemeClr val="accent2"/>
                </a:solidFill>
                <a:prstDash val="solid"/>
              </a:ln>
              <a:solidFill>
                <a:srgbClr val="FFFFFF"/>
              </a:solidFill>
              <a:effectLst>
                <a:outerShdw dist="38100" dir="2700000" algn="tl" rotWithShape="0">
                  <a:schemeClr val="accent2"/>
                </a:outerShdw>
              </a:effectLst>
            </a:endParaRPr>
          </a:p>
        </p:txBody>
      </p:sp>
      <p:pic>
        <p:nvPicPr>
          <p:cNvPr id="10" name="图片 4">
            <a:extLst>
              <a:ext uri="{FF2B5EF4-FFF2-40B4-BE49-F238E27FC236}">
                <a16:creationId xmlns:a16="http://schemas.microsoft.com/office/drawing/2014/main" id="{2FE65981-7E1A-3129-FA51-E43E6AC741BB}"/>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416425" y="6219825"/>
            <a:ext cx="542925" cy="542925"/>
          </a:xfrm>
          <a:prstGeom prst="rect">
            <a:avLst/>
          </a:prstGeom>
        </p:spPr>
      </p:pic>
    </p:spTree>
    <p:extLst>
      <p:ext uri="{BB962C8B-B14F-4D97-AF65-F5344CB8AC3E}">
        <p14:creationId xmlns:p14="http://schemas.microsoft.com/office/powerpoint/2010/main" val="16513789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fade">
                                      <p:cBhvr>
                                        <p:cTn id="22" dur="500"/>
                                        <p:tgtEl>
                                          <p:spTgt spid="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Effect transition="in" filter="fade">
                                      <p:cBhvr>
                                        <p:cTn id="27" dur="500"/>
                                        <p:tgtEl>
                                          <p:spTgt spid="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xEl>
                                              <p:pRg st="5" end="5"/>
                                            </p:txEl>
                                          </p:spTgt>
                                        </p:tgtEl>
                                        <p:attrNameLst>
                                          <p:attrName>style.visibility</p:attrName>
                                        </p:attrNameLst>
                                      </p:cBhvr>
                                      <p:to>
                                        <p:strVal val="visible"/>
                                      </p:to>
                                    </p:set>
                                    <p:animEffect transition="in" filter="fade">
                                      <p:cBhvr>
                                        <p:cTn id="32" dur="500"/>
                                        <p:tgtEl>
                                          <p:spTgt spid="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49F3DFEE-D615-10A4-3DFB-F10E842FD6FF}"/>
              </a:ext>
            </a:extLst>
          </p:cNvPr>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 name="直接连接符 2">
            <a:extLst>
              <a:ext uri="{FF2B5EF4-FFF2-40B4-BE49-F238E27FC236}">
                <a16:creationId xmlns:a16="http://schemas.microsoft.com/office/drawing/2014/main" id="{E448084C-00C1-2D46-B2E9-907AC7E07A63}"/>
              </a:ext>
            </a:extLst>
          </p:cNvPr>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4" name="图形 3">
            <a:extLst>
              <a:ext uri="{FF2B5EF4-FFF2-40B4-BE49-F238E27FC236}">
                <a16:creationId xmlns:a16="http://schemas.microsoft.com/office/drawing/2014/main" id="{C93BB0EF-03E3-F5C3-728A-B6DC40F04B4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6" name="文本框 5">
            <a:extLst>
              <a:ext uri="{FF2B5EF4-FFF2-40B4-BE49-F238E27FC236}">
                <a16:creationId xmlns:a16="http://schemas.microsoft.com/office/drawing/2014/main" id="{47E122C5-6879-554E-162C-5ECC1522BC4D}"/>
              </a:ext>
            </a:extLst>
          </p:cNvPr>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7" name="文本框 6">
            <a:extLst>
              <a:ext uri="{FF2B5EF4-FFF2-40B4-BE49-F238E27FC236}">
                <a16:creationId xmlns:a16="http://schemas.microsoft.com/office/drawing/2014/main" id="{1E416341-3B4D-14E9-1A09-A5C4890E367D}"/>
              </a:ext>
            </a:extLst>
          </p:cNvPr>
          <p:cNvSpPr txBox="1"/>
          <p:nvPr/>
        </p:nvSpPr>
        <p:spPr>
          <a:xfrm>
            <a:off x="1431473" y="10850"/>
            <a:ext cx="1540328" cy="769441"/>
          </a:xfrm>
          <a:prstGeom prst="rect">
            <a:avLst/>
          </a:prstGeom>
          <a:noFill/>
        </p:spPr>
        <p:txBody>
          <a:bodyPr wrap="square" rtlCol="0">
            <a:spAutoFit/>
          </a:bodyPr>
          <a:lstStyle/>
          <a:p>
            <a:r>
              <a:rPr lang="zh-CN" altLang="en-US" sz="4400" dirty="0">
                <a:latin typeface="仿宋" panose="02010609060101010101" pitchFamily="49" charset="-122"/>
                <a:ea typeface="仿宋" panose="02010609060101010101" pitchFamily="49" charset="-122"/>
              </a:rPr>
              <a:t>程序</a:t>
            </a:r>
            <a:endParaRPr lang="en-US" altLang="zh-CN" sz="4400" dirty="0">
              <a:latin typeface="仿宋" panose="02010609060101010101" pitchFamily="49" charset="-122"/>
              <a:ea typeface="仿宋" panose="02010609060101010101" pitchFamily="49" charset="-122"/>
            </a:endParaRPr>
          </a:p>
        </p:txBody>
      </p:sp>
      <p:sp>
        <p:nvSpPr>
          <p:cNvPr id="8" name="文本框 7">
            <a:extLst>
              <a:ext uri="{FF2B5EF4-FFF2-40B4-BE49-F238E27FC236}">
                <a16:creationId xmlns:a16="http://schemas.microsoft.com/office/drawing/2014/main" id="{25F3AE7C-B711-7868-830E-B33070CE792F}"/>
              </a:ext>
            </a:extLst>
          </p:cNvPr>
          <p:cNvSpPr txBox="1"/>
          <p:nvPr/>
        </p:nvSpPr>
        <p:spPr>
          <a:xfrm>
            <a:off x="944789" y="1201975"/>
            <a:ext cx="10302421" cy="3908762"/>
          </a:xfrm>
          <a:prstGeom prst="rect">
            <a:avLst/>
          </a:prstGeom>
          <a:noFill/>
        </p:spPr>
        <p:txBody>
          <a:bodyPr wrap="square">
            <a:spAutoFit/>
          </a:bodyPr>
          <a:lstStyle/>
          <a:p>
            <a:r>
              <a:rPr lang="zh-CN" altLang="en-US" sz="2800" dirty="0">
                <a:latin typeface="仿宋" panose="02010609060101010101" pitchFamily="49" charset="-122"/>
                <a:ea typeface="仿宋" panose="02010609060101010101" pitchFamily="49" charset="-122"/>
              </a:rPr>
              <a:t>计算机程序设计语言</a:t>
            </a:r>
            <a:r>
              <a:rPr lang="en-US" altLang="zh-CN" sz="2800" dirty="0">
                <a:latin typeface="仿宋" panose="02010609060101010101" pitchFamily="49" charset="-122"/>
                <a:ea typeface="仿宋" panose="02010609060101010101" pitchFamily="49" charset="-122"/>
              </a:rPr>
              <a:t>:</a:t>
            </a:r>
          </a:p>
          <a:p>
            <a:pPr marL="457200" indent="-457200">
              <a:buFont typeface="Arial" panose="020B0604020202020204" pitchFamily="34" charset="0"/>
              <a:buChar char="•"/>
            </a:pPr>
            <a:r>
              <a:rPr lang="zh-CN" altLang="en-US" sz="2800" dirty="0">
                <a:latin typeface="仿宋" panose="02010609060101010101" pitchFamily="49" charset="-122"/>
                <a:ea typeface="仿宋" panose="02010609060101010101" pitchFamily="49" charset="-122"/>
              </a:rPr>
              <a:t>机器语言：二进制指令，</a:t>
            </a:r>
            <a:r>
              <a:rPr lang="zh-CN" altLang="en-US" sz="2800" dirty="0">
                <a:solidFill>
                  <a:srgbClr val="FF0000"/>
                </a:solidFill>
                <a:latin typeface="仿宋" panose="02010609060101010101" pitchFamily="49" charset="-122"/>
                <a:ea typeface="仿宋" panose="02010609060101010101" pitchFamily="49" charset="-122"/>
              </a:rPr>
              <a:t>机器能直接执行</a:t>
            </a:r>
            <a:endParaRPr lang="en-US" altLang="zh-CN" sz="2800" dirty="0">
              <a:solidFill>
                <a:srgbClr val="FF0000"/>
              </a:solidFill>
              <a:latin typeface="仿宋" panose="02010609060101010101" pitchFamily="49" charset="-122"/>
              <a:ea typeface="仿宋" panose="02010609060101010101" pitchFamily="49" charset="-122"/>
            </a:endParaRPr>
          </a:p>
          <a:p>
            <a:pPr marL="457200" indent="-457200">
              <a:buFont typeface="Arial" panose="020B0604020202020204" pitchFamily="34" charset="0"/>
              <a:buChar char="•"/>
            </a:pPr>
            <a:r>
              <a:rPr lang="zh-CN" altLang="en-US" sz="2800" dirty="0">
                <a:latin typeface="仿宋" panose="02010609060101010101" pitchFamily="49" charset="-122"/>
                <a:ea typeface="仿宋" panose="02010609060101010101" pitchFamily="49" charset="-122"/>
              </a:rPr>
              <a:t>汇编语言：符号替代机器语言，</a:t>
            </a:r>
            <a:r>
              <a:rPr lang="zh-CN" altLang="en-US" sz="2800" dirty="0">
                <a:solidFill>
                  <a:srgbClr val="FF0000"/>
                </a:solidFill>
                <a:latin typeface="仿宋" panose="02010609060101010101" pitchFamily="49" charset="-122"/>
                <a:ea typeface="仿宋" panose="02010609060101010101" pitchFamily="49" charset="-122"/>
              </a:rPr>
              <a:t>需要翻译</a:t>
            </a:r>
            <a:endParaRPr lang="en-US" altLang="zh-CN" sz="2800" dirty="0">
              <a:solidFill>
                <a:srgbClr val="FF0000"/>
              </a:solidFill>
              <a:latin typeface="仿宋" panose="02010609060101010101" pitchFamily="49" charset="-122"/>
              <a:ea typeface="仿宋" panose="02010609060101010101" pitchFamily="49" charset="-122"/>
            </a:endParaRPr>
          </a:p>
          <a:p>
            <a:pPr marL="457200" indent="-457200">
              <a:buFont typeface="Arial" panose="020B0604020202020204" pitchFamily="34" charset="0"/>
              <a:buChar char="•"/>
            </a:pPr>
            <a:r>
              <a:rPr lang="zh-CN" altLang="en-US" sz="2800" dirty="0">
                <a:latin typeface="仿宋" panose="02010609060101010101" pitchFamily="49" charset="-122"/>
                <a:ea typeface="仿宋" panose="02010609060101010101" pitchFamily="49" charset="-122"/>
              </a:rPr>
              <a:t>高级语言：英语和数学语言替代机器语言，</a:t>
            </a:r>
            <a:r>
              <a:rPr lang="zh-CN" altLang="en-US" sz="2800" dirty="0">
                <a:solidFill>
                  <a:srgbClr val="FF0000"/>
                </a:solidFill>
                <a:latin typeface="仿宋" panose="02010609060101010101" pitchFamily="49" charset="-122"/>
                <a:ea typeface="仿宋" panose="02010609060101010101" pitchFamily="49" charset="-122"/>
              </a:rPr>
              <a:t>需要翻译</a:t>
            </a:r>
            <a:endParaRPr lang="en-US" altLang="zh-CN" sz="2800" dirty="0">
              <a:solidFill>
                <a:srgbClr val="FF0000"/>
              </a:solidFill>
              <a:latin typeface="仿宋" panose="02010609060101010101" pitchFamily="49" charset="-122"/>
              <a:ea typeface="仿宋" panose="02010609060101010101" pitchFamily="49" charset="-122"/>
            </a:endParaRPr>
          </a:p>
          <a:p>
            <a:pPr marL="914400" lvl="1" indent="-457200">
              <a:buFont typeface="Arial" panose="020B0604020202020204" pitchFamily="34" charset="0"/>
              <a:buChar char="•"/>
            </a:pPr>
            <a:r>
              <a:rPr lang="zh-CN" altLang="en-US" sz="2000" dirty="0">
                <a:latin typeface="仿宋" panose="02010609060101010101" pitchFamily="49" charset="-122"/>
                <a:ea typeface="仿宋" panose="02010609060101010101" pitchFamily="49" charset="-122"/>
              </a:rPr>
              <a:t>编译：执行之前需要一个单独的编译过程，将源代码转换成机器码或字节码</a:t>
            </a:r>
            <a:endParaRPr lang="en-US" altLang="zh-CN" sz="2000" dirty="0">
              <a:latin typeface="仿宋" panose="02010609060101010101" pitchFamily="49" charset="-122"/>
              <a:ea typeface="仿宋" panose="02010609060101010101" pitchFamily="49" charset="-122"/>
            </a:endParaRPr>
          </a:p>
          <a:p>
            <a:pPr lvl="2"/>
            <a:r>
              <a:rPr lang="en-US" altLang="zh-CN" sz="2000" dirty="0">
                <a:latin typeface="仿宋" panose="02010609060101010101" pitchFamily="49" charset="-122"/>
                <a:ea typeface="仿宋" panose="02010609060101010101" pitchFamily="49" charset="-122"/>
              </a:rPr>
              <a:t>	</a:t>
            </a:r>
            <a:r>
              <a:rPr lang="zh-CN" altLang="en-US" sz="2000" dirty="0">
                <a:latin typeface="仿宋" panose="02010609060101010101" pitchFamily="49" charset="-122"/>
                <a:ea typeface="仿宋" panose="02010609060101010101" pitchFamily="49" charset="-122"/>
              </a:rPr>
              <a:t>如</a:t>
            </a:r>
            <a:r>
              <a:rPr lang="en-US" altLang="zh-CN" sz="2000" dirty="0">
                <a:latin typeface="Consolas" panose="020B0609020204030204" pitchFamily="49" charset="0"/>
                <a:ea typeface="仿宋" panose="02010609060101010101" pitchFamily="49" charset="-122"/>
              </a:rPr>
              <a:t>C/C++</a:t>
            </a:r>
          </a:p>
          <a:p>
            <a:pPr marL="914400" lvl="1" indent="-457200">
              <a:buFont typeface="Arial" panose="020B0604020202020204" pitchFamily="34" charset="0"/>
              <a:buChar char="•"/>
            </a:pPr>
            <a:r>
              <a:rPr lang="zh-CN" altLang="en-US" sz="2000" dirty="0">
                <a:latin typeface="仿宋" panose="02010609060101010101" pitchFamily="49" charset="-122"/>
                <a:ea typeface="仿宋" panose="02010609060101010101" pitchFamily="49" charset="-122"/>
              </a:rPr>
              <a:t>解释：源代码不经过编译过程，而是在程序运行时由解释器逐行读取、分析、执行</a:t>
            </a:r>
            <a:endParaRPr lang="en-US" altLang="zh-CN" sz="2000" dirty="0">
              <a:latin typeface="仿宋" panose="02010609060101010101" pitchFamily="49" charset="-122"/>
              <a:ea typeface="仿宋" panose="02010609060101010101" pitchFamily="49" charset="-122"/>
            </a:endParaRPr>
          </a:p>
          <a:p>
            <a:pPr lvl="2"/>
            <a:r>
              <a:rPr lang="en-US" altLang="zh-CN" sz="2000" dirty="0">
                <a:latin typeface="仿宋" panose="02010609060101010101" pitchFamily="49" charset="-122"/>
                <a:ea typeface="仿宋" panose="02010609060101010101" pitchFamily="49" charset="-122"/>
              </a:rPr>
              <a:t>	</a:t>
            </a:r>
            <a:r>
              <a:rPr lang="zh-CN" altLang="en-US" sz="2000" dirty="0">
                <a:latin typeface="仿宋" panose="02010609060101010101" pitchFamily="49" charset="-122"/>
                <a:ea typeface="仿宋" panose="02010609060101010101" pitchFamily="49" charset="-122"/>
              </a:rPr>
              <a:t>如</a:t>
            </a:r>
            <a:r>
              <a:rPr lang="en-US" altLang="zh-CN" sz="2000" dirty="0">
                <a:latin typeface="Consolas" panose="020B0609020204030204" pitchFamily="49" charset="0"/>
                <a:ea typeface="仿宋" panose="02010609060101010101" pitchFamily="49" charset="-122"/>
              </a:rPr>
              <a:t>Python</a:t>
            </a:r>
          </a:p>
          <a:p>
            <a:r>
              <a:rPr lang="zh-CN" altLang="en-US" sz="2800" dirty="0">
                <a:latin typeface="仿宋" panose="02010609060101010101" pitchFamily="49" charset="-122"/>
                <a:ea typeface="仿宋" panose="02010609060101010101" pitchFamily="49" charset="-122"/>
              </a:rPr>
              <a:t>用高级语言编写的源程序经过</a:t>
            </a:r>
            <a:r>
              <a:rPr lang="zh-CN" altLang="en-US" sz="2800" dirty="0">
                <a:solidFill>
                  <a:srgbClr val="FF0000"/>
                </a:solidFill>
                <a:latin typeface="仿宋" panose="02010609060101010101" pitchFamily="49" charset="-122"/>
                <a:ea typeface="仿宋" panose="02010609060101010101" pitchFamily="49" charset="-122"/>
              </a:rPr>
              <a:t>编译</a:t>
            </a:r>
            <a:r>
              <a:rPr lang="zh-CN" altLang="en-US" sz="2800" dirty="0">
                <a:latin typeface="仿宋" panose="02010609060101010101" pitchFamily="49" charset="-122"/>
                <a:ea typeface="仿宋" panose="02010609060101010101" pitchFamily="49" charset="-122"/>
              </a:rPr>
              <a:t>和</a:t>
            </a:r>
            <a:r>
              <a:rPr lang="zh-CN" altLang="en-US" sz="2800" dirty="0">
                <a:solidFill>
                  <a:srgbClr val="FF0000"/>
                </a:solidFill>
                <a:latin typeface="仿宋" panose="02010609060101010101" pitchFamily="49" charset="-122"/>
                <a:ea typeface="仿宋" panose="02010609060101010101" pitchFamily="49" charset="-122"/>
              </a:rPr>
              <a:t>链接</a:t>
            </a:r>
            <a:r>
              <a:rPr lang="zh-CN" altLang="en-US" sz="2800" dirty="0">
                <a:latin typeface="仿宋" panose="02010609060101010101" pitchFamily="49" charset="-122"/>
                <a:ea typeface="仿宋" panose="02010609060101010101" pitchFamily="49" charset="-122"/>
              </a:rPr>
              <a:t>（</a:t>
            </a:r>
            <a:r>
              <a:rPr lang="en-US" altLang="zh-CN" sz="2800" dirty="0">
                <a:latin typeface="仿宋" panose="02010609060101010101" pitchFamily="49" charset="-122"/>
                <a:ea typeface="仿宋" panose="02010609060101010101" pitchFamily="49" charset="-122"/>
              </a:rPr>
              <a:t>Linking</a:t>
            </a:r>
            <a:r>
              <a:rPr lang="zh-CN" altLang="en-US" sz="2800" dirty="0">
                <a:latin typeface="仿宋" panose="02010609060101010101" pitchFamily="49" charset="-122"/>
                <a:ea typeface="仿宋" panose="02010609060101010101" pitchFamily="49" charset="-122"/>
              </a:rPr>
              <a:t>）成为可执行程序</a:t>
            </a:r>
            <a:endParaRPr lang="en-US" altLang="zh-CN" sz="2800" dirty="0">
              <a:latin typeface="仿宋" panose="02010609060101010101" pitchFamily="49" charset="-122"/>
              <a:ea typeface="仿宋" panose="02010609060101010101" pitchFamily="49" charset="-122"/>
            </a:endParaRPr>
          </a:p>
        </p:txBody>
      </p:sp>
      <p:pic>
        <p:nvPicPr>
          <p:cNvPr id="9" name="图片 4">
            <a:extLst>
              <a:ext uri="{FF2B5EF4-FFF2-40B4-BE49-F238E27FC236}">
                <a16:creationId xmlns:a16="http://schemas.microsoft.com/office/drawing/2014/main" id="{1F80A3D8-D096-0400-66DC-11DB4D7B8840}"/>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416425" y="6219825"/>
            <a:ext cx="542925" cy="542925"/>
          </a:xfrm>
          <a:prstGeom prst="rect">
            <a:avLst/>
          </a:prstGeom>
        </p:spPr>
      </p:pic>
    </p:spTree>
    <p:extLst>
      <p:ext uri="{BB962C8B-B14F-4D97-AF65-F5344CB8AC3E}">
        <p14:creationId xmlns:p14="http://schemas.microsoft.com/office/powerpoint/2010/main" val="368865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fade">
                                      <p:cBhvr>
                                        <p:cTn id="22" dur="500"/>
                                        <p:tgtEl>
                                          <p:spTgt spid="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Effect transition="in" filter="fade">
                                      <p:cBhvr>
                                        <p:cTn id="27" dur="500"/>
                                        <p:tgtEl>
                                          <p:spTgt spid="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xEl>
                                              <p:pRg st="5" end="5"/>
                                            </p:txEl>
                                          </p:spTgt>
                                        </p:tgtEl>
                                        <p:attrNameLst>
                                          <p:attrName>style.visibility</p:attrName>
                                        </p:attrNameLst>
                                      </p:cBhvr>
                                      <p:to>
                                        <p:strVal val="visible"/>
                                      </p:to>
                                    </p:set>
                                    <p:animEffect transition="in" filter="fade">
                                      <p:cBhvr>
                                        <p:cTn id="32" dur="500"/>
                                        <p:tgtEl>
                                          <p:spTgt spid="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8">
                                            <p:txEl>
                                              <p:pRg st="6" end="6"/>
                                            </p:txEl>
                                          </p:spTgt>
                                        </p:tgtEl>
                                        <p:attrNameLst>
                                          <p:attrName>style.visibility</p:attrName>
                                        </p:attrNameLst>
                                      </p:cBhvr>
                                      <p:to>
                                        <p:strVal val="visible"/>
                                      </p:to>
                                    </p:set>
                                    <p:animEffect transition="in" filter="fade">
                                      <p:cBhvr>
                                        <p:cTn id="37" dur="500"/>
                                        <p:tgtEl>
                                          <p:spTgt spid="8">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8">
                                            <p:txEl>
                                              <p:pRg st="7" end="7"/>
                                            </p:txEl>
                                          </p:spTgt>
                                        </p:tgtEl>
                                        <p:attrNameLst>
                                          <p:attrName>style.visibility</p:attrName>
                                        </p:attrNameLst>
                                      </p:cBhvr>
                                      <p:to>
                                        <p:strVal val="visible"/>
                                      </p:to>
                                    </p:set>
                                    <p:animEffect transition="in" filter="fade">
                                      <p:cBhvr>
                                        <p:cTn id="42" dur="500"/>
                                        <p:tgtEl>
                                          <p:spTgt spid="8">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8">
                                            <p:txEl>
                                              <p:pRg st="8" end="8"/>
                                            </p:txEl>
                                          </p:spTgt>
                                        </p:tgtEl>
                                        <p:attrNameLst>
                                          <p:attrName>style.visibility</p:attrName>
                                        </p:attrNameLst>
                                      </p:cBhvr>
                                      <p:to>
                                        <p:strVal val="visible"/>
                                      </p:to>
                                    </p:set>
                                    <p:animEffect transition="in" filter="fade">
                                      <p:cBhvr>
                                        <p:cTn id="47" dur="500"/>
                                        <p:tgtEl>
                                          <p:spTgt spid="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49F3DFEE-D615-10A4-3DFB-F10E842FD6FF}"/>
              </a:ext>
            </a:extLst>
          </p:cNvPr>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 name="直接连接符 2">
            <a:extLst>
              <a:ext uri="{FF2B5EF4-FFF2-40B4-BE49-F238E27FC236}">
                <a16:creationId xmlns:a16="http://schemas.microsoft.com/office/drawing/2014/main" id="{E448084C-00C1-2D46-B2E9-907AC7E07A63}"/>
              </a:ext>
            </a:extLst>
          </p:cNvPr>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4" name="图形 3">
            <a:extLst>
              <a:ext uri="{FF2B5EF4-FFF2-40B4-BE49-F238E27FC236}">
                <a16:creationId xmlns:a16="http://schemas.microsoft.com/office/drawing/2014/main" id="{C93BB0EF-03E3-F5C3-728A-B6DC40F04B4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6" name="文本框 5">
            <a:extLst>
              <a:ext uri="{FF2B5EF4-FFF2-40B4-BE49-F238E27FC236}">
                <a16:creationId xmlns:a16="http://schemas.microsoft.com/office/drawing/2014/main" id="{47E122C5-6879-554E-162C-5ECC1522BC4D}"/>
              </a:ext>
            </a:extLst>
          </p:cNvPr>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7" name="文本框 6">
            <a:extLst>
              <a:ext uri="{FF2B5EF4-FFF2-40B4-BE49-F238E27FC236}">
                <a16:creationId xmlns:a16="http://schemas.microsoft.com/office/drawing/2014/main" id="{1E416341-3B4D-14E9-1A09-A5C4890E367D}"/>
              </a:ext>
            </a:extLst>
          </p:cNvPr>
          <p:cNvSpPr txBox="1"/>
          <p:nvPr/>
        </p:nvSpPr>
        <p:spPr>
          <a:xfrm>
            <a:off x="1431473" y="10850"/>
            <a:ext cx="1540328" cy="769441"/>
          </a:xfrm>
          <a:prstGeom prst="rect">
            <a:avLst/>
          </a:prstGeom>
          <a:noFill/>
        </p:spPr>
        <p:txBody>
          <a:bodyPr wrap="square" rtlCol="0">
            <a:spAutoFit/>
          </a:bodyPr>
          <a:lstStyle/>
          <a:p>
            <a:r>
              <a:rPr lang="zh-CN" altLang="en-US" sz="4400" dirty="0">
                <a:latin typeface="仿宋" panose="02010609060101010101" pitchFamily="49" charset="-122"/>
                <a:ea typeface="仿宋" panose="02010609060101010101" pitchFamily="49" charset="-122"/>
              </a:rPr>
              <a:t>程序</a:t>
            </a:r>
            <a:endParaRPr lang="en-US" altLang="zh-CN" sz="4400" dirty="0">
              <a:latin typeface="仿宋" panose="02010609060101010101" pitchFamily="49" charset="-122"/>
              <a:ea typeface="仿宋" panose="02010609060101010101" pitchFamily="49" charset="-122"/>
            </a:endParaRPr>
          </a:p>
        </p:txBody>
      </p:sp>
      <p:pic>
        <p:nvPicPr>
          <p:cNvPr id="9" name="图片 4">
            <a:extLst>
              <a:ext uri="{FF2B5EF4-FFF2-40B4-BE49-F238E27FC236}">
                <a16:creationId xmlns:a16="http://schemas.microsoft.com/office/drawing/2014/main" id="{1F80A3D8-D096-0400-66DC-11DB4D7B8840}"/>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416425" y="6219825"/>
            <a:ext cx="542925" cy="542925"/>
          </a:xfrm>
          <a:prstGeom prst="rect">
            <a:avLst/>
          </a:prstGeom>
        </p:spPr>
      </p:pic>
      <p:sp>
        <p:nvSpPr>
          <p:cNvPr id="5" name="内容占位符 2">
            <a:extLst>
              <a:ext uri="{FF2B5EF4-FFF2-40B4-BE49-F238E27FC236}">
                <a16:creationId xmlns:a16="http://schemas.microsoft.com/office/drawing/2014/main" id="{13E4E719-4B81-50DD-6461-0601490297CE}"/>
              </a:ext>
            </a:extLst>
          </p:cNvPr>
          <p:cNvSpPr txBox="1">
            <a:spLocks noChangeArrowheads="1"/>
          </p:cNvSpPr>
          <p:nvPr/>
        </p:nvSpPr>
        <p:spPr>
          <a:xfrm>
            <a:off x="1431473" y="1260194"/>
            <a:ext cx="9194692" cy="4525029"/>
          </a:xfrm>
          <a:prstGeom prst="rect">
            <a:avLst/>
          </a:prstGeom>
        </p:spPr>
        <p:txBody>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zh-CN" altLang="en-US" sz="2800" dirty="0">
                <a:latin typeface="仿宋" panose="02010609060101010101" pitchFamily="49" charset="-122"/>
                <a:ea typeface="仿宋" panose="02010609060101010101" pitchFamily="49" charset="-122"/>
              </a:rPr>
              <a:t>源程序、目标程序、可执行程序、编译、解释程序</a:t>
            </a:r>
          </a:p>
          <a:p>
            <a:pPr lvl="1">
              <a:buFont typeface="Wingdings" panose="05000000000000000000" pitchFamily="2" charset="2"/>
              <a:buChar char="Ø"/>
            </a:pPr>
            <a:r>
              <a:rPr lang="zh-CN" altLang="en-US" sz="2400" dirty="0">
                <a:solidFill>
                  <a:srgbClr val="FF0000"/>
                </a:solidFill>
                <a:latin typeface="仿宋" panose="02010609060101010101" pitchFamily="49" charset="-122"/>
                <a:ea typeface="仿宋" panose="02010609060101010101" pitchFamily="49" charset="-122"/>
              </a:rPr>
              <a:t>源程序</a:t>
            </a:r>
            <a:r>
              <a:rPr lang="zh-CN" altLang="en-US" sz="2400" dirty="0">
                <a:latin typeface="仿宋" panose="02010609060101010101" pitchFamily="49" charset="-122"/>
                <a:ea typeface="仿宋" panose="02010609060101010101" pitchFamily="49" charset="-122"/>
              </a:rPr>
              <a:t>：用</a:t>
            </a:r>
            <a:r>
              <a:rPr lang="zh-CN" altLang="en-US" sz="2400" dirty="0">
                <a:solidFill>
                  <a:srgbClr val="FF0000"/>
                </a:solidFill>
                <a:latin typeface="仿宋" panose="02010609060101010101" pitchFamily="49" charset="-122"/>
                <a:ea typeface="仿宋" panose="02010609060101010101" pitchFamily="49" charset="-122"/>
              </a:rPr>
              <a:t>高级语言编写</a:t>
            </a:r>
            <a:r>
              <a:rPr lang="zh-CN" altLang="en-US" sz="2400" dirty="0">
                <a:latin typeface="仿宋" panose="02010609060101010101" pitchFamily="49" charset="-122"/>
                <a:ea typeface="仿宋" panose="02010609060101010101" pitchFamily="49" charset="-122"/>
              </a:rPr>
              <a:t>的程序</a:t>
            </a:r>
          </a:p>
          <a:p>
            <a:pPr lvl="1">
              <a:buFont typeface="Wingdings" panose="05000000000000000000" pitchFamily="2" charset="2"/>
              <a:buChar char="Ø"/>
            </a:pPr>
            <a:r>
              <a:rPr lang="zh-CN" altLang="en-US" sz="2400" dirty="0">
                <a:solidFill>
                  <a:srgbClr val="FF0000"/>
                </a:solidFill>
                <a:latin typeface="仿宋" panose="02010609060101010101" pitchFamily="49" charset="-122"/>
                <a:ea typeface="仿宋" panose="02010609060101010101" pitchFamily="49" charset="-122"/>
              </a:rPr>
              <a:t>目标程序</a:t>
            </a:r>
            <a:r>
              <a:rPr lang="zh-CN" altLang="en-US" sz="2400" dirty="0">
                <a:latin typeface="仿宋" panose="02010609060101010101" pitchFamily="49" charset="-122"/>
                <a:ea typeface="仿宋" panose="02010609060101010101" pitchFamily="49" charset="-122"/>
              </a:rPr>
              <a:t>：由</a:t>
            </a:r>
            <a:r>
              <a:rPr lang="zh-CN" altLang="en-US" sz="2400" dirty="0">
                <a:solidFill>
                  <a:srgbClr val="FF0000"/>
                </a:solidFill>
                <a:latin typeface="仿宋" panose="02010609060101010101" pitchFamily="49" charset="-122"/>
                <a:ea typeface="仿宋" panose="02010609060101010101" pitchFamily="49" charset="-122"/>
              </a:rPr>
              <a:t>编译</a:t>
            </a:r>
            <a:r>
              <a:rPr lang="zh-CN" altLang="en-US" sz="2400" dirty="0">
                <a:latin typeface="仿宋" panose="02010609060101010101" pitchFamily="49" charset="-122"/>
                <a:ea typeface="仿宋" panose="02010609060101010101" pitchFamily="49" charset="-122"/>
              </a:rPr>
              <a:t>程序</a:t>
            </a:r>
            <a:r>
              <a:rPr lang="zh-CN" altLang="en-US" sz="2400" dirty="0">
                <a:solidFill>
                  <a:srgbClr val="FF0000"/>
                </a:solidFill>
                <a:latin typeface="仿宋" panose="02010609060101010101" pitchFamily="49" charset="-122"/>
                <a:ea typeface="仿宋" panose="02010609060101010101" pitchFamily="49" charset="-122"/>
              </a:rPr>
              <a:t>翻译</a:t>
            </a:r>
            <a:r>
              <a:rPr lang="zh-CN" altLang="en-US" sz="2400" dirty="0">
                <a:latin typeface="仿宋" panose="02010609060101010101" pitchFamily="49" charset="-122"/>
                <a:ea typeface="仿宋" panose="02010609060101010101" pitchFamily="49" charset="-122"/>
              </a:rPr>
              <a:t>为</a:t>
            </a:r>
            <a:r>
              <a:rPr lang="zh-CN" altLang="en-US" sz="2400" dirty="0">
                <a:solidFill>
                  <a:srgbClr val="FF0000"/>
                </a:solidFill>
                <a:latin typeface="仿宋" panose="02010609060101010101" pitchFamily="49" charset="-122"/>
                <a:ea typeface="仿宋" panose="02010609060101010101" pitchFamily="49" charset="-122"/>
              </a:rPr>
              <a:t>机器语言的程序</a:t>
            </a:r>
            <a:endParaRPr kumimoji="1" lang="zh-CN" altLang="en-US" sz="2400" dirty="0">
              <a:solidFill>
                <a:srgbClr val="FF0000"/>
              </a:solidFill>
              <a:latin typeface="仿宋" panose="02010609060101010101" pitchFamily="49" charset="-122"/>
              <a:ea typeface="仿宋" panose="02010609060101010101" pitchFamily="49" charset="-122"/>
            </a:endParaRPr>
          </a:p>
          <a:p>
            <a:pPr lvl="1">
              <a:buFont typeface="Wingdings" panose="05000000000000000000" pitchFamily="2" charset="2"/>
              <a:buChar char="Ø"/>
            </a:pPr>
            <a:r>
              <a:rPr kumimoji="1" lang="zh-CN" altLang="en-US" sz="2400" dirty="0">
                <a:solidFill>
                  <a:srgbClr val="FF0000"/>
                </a:solidFill>
                <a:latin typeface="仿宋" panose="02010609060101010101" pitchFamily="49" charset="-122"/>
                <a:ea typeface="仿宋" panose="02010609060101010101" pitchFamily="49" charset="-122"/>
              </a:rPr>
              <a:t>可执行程序</a:t>
            </a:r>
            <a:r>
              <a:rPr kumimoji="1" lang="zh-CN" altLang="en-US" sz="2400" dirty="0">
                <a:latin typeface="仿宋" panose="02010609060101010101" pitchFamily="49" charset="-122"/>
                <a:ea typeface="仿宋" panose="02010609060101010101" pitchFamily="49" charset="-122"/>
              </a:rPr>
              <a:t>：</a:t>
            </a:r>
            <a:r>
              <a:rPr kumimoji="1" lang="zh-CN" altLang="en-US" sz="2400" dirty="0">
                <a:solidFill>
                  <a:srgbClr val="FF0000"/>
                </a:solidFill>
                <a:latin typeface="仿宋" panose="02010609060101010101" pitchFamily="49" charset="-122"/>
                <a:ea typeface="仿宋" panose="02010609060101010101" pitchFamily="49" charset="-122"/>
              </a:rPr>
              <a:t>连接</a:t>
            </a:r>
            <a:r>
              <a:rPr kumimoji="1" lang="zh-CN" altLang="en-US" sz="2400" dirty="0">
                <a:latin typeface="仿宋" panose="02010609060101010101" pitchFamily="49" charset="-122"/>
                <a:ea typeface="仿宋" panose="02010609060101010101" pitchFamily="49" charset="-122"/>
              </a:rPr>
              <a:t>生成的</a:t>
            </a:r>
            <a:r>
              <a:rPr kumimoji="1" lang="zh-CN" altLang="en-US" sz="2400" dirty="0">
                <a:solidFill>
                  <a:srgbClr val="FF0000"/>
                </a:solidFill>
                <a:latin typeface="仿宋" panose="02010609060101010101" pitchFamily="49" charset="-122"/>
                <a:ea typeface="仿宋" panose="02010609060101010101" pitchFamily="49" charset="-122"/>
              </a:rPr>
              <a:t>可直接执行的程序</a:t>
            </a:r>
          </a:p>
          <a:p>
            <a:pPr lvl="1">
              <a:buFont typeface="Wingdings" panose="05000000000000000000" pitchFamily="2" charset="2"/>
              <a:buChar char="Ø"/>
            </a:pPr>
            <a:r>
              <a:rPr kumimoji="1" lang="zh-CN" altLang="en-US" sz="2400" dirty="0">
                <a:solidFill>
                  <a:srgbClr val="FF0000"/>
                </a:solidFill>
                <a:latin typeface="仿宋" panose="02010609060101010101" pitchFamily="49" charset="-122"/>
                <a:ea typeface="仿宋" panose="02010609060101010101" pitchFamily="49" charset="-122"/>
              </a:rPr>
              <a:t>语言翻译系统</a:t>
            </a:r>
            <a:r>
              <a:rPr kumimoji="1" lang="zh-CN" altLang="en-US" sz="2400" dirty="0">
                <a:latin typeface="仿宋" panose="02010609060101010101" pitchFamily="49" charset="-122"/>
                <a:ea typeface="仿宋" panose="02010609060101010101" pitchFamily="49" charset="-122"/>
              </a:rPr>
              <a:t>：</a:t>
            </a:r>
            <a:r>
              <a:rPr kumimoji="1" lang="zh-CN" altLang="en-US" sz="2400" dirty="0">
                <a:solidFill>
                  <a:srgbClr val="FF0000"/>
                </a:solidFill>
                <a:latin typeface="仿宋" panose="02010609060101010101" pitchFamily="49" charset="-122"/>
                <a:ea typeface="仿宋" panose="02010609060101010101" pitchFamily="49" charset="-122"/>
              </a:rPr>
              <a:t>编译</a:t>
            </a:r>
            <a:r>
              <a:rPr kumimoji="1" lang="zh-CN" altLang="en-US" sz="2400" dirty="0">
                <a:latin typeface="仿宋" panose="02010609060101010101" pitchFamily="49" charset="-122"/>
                <a:ea typeface="仿宋" panose="02010609060101010101" pitchFamily="49" charset="-122"/>
              </a:rPr>
              <a:t>和</a:t>
            </a:r>
            <a:r>
              <a:rPr kumimoji="1" lang="zh-CN" altLang="en-US" sz="2400" dirty="0">
                <a:solidFill>
                  <a:srgbClr val="FF0000"/>
                </a:solidFill>
                <a:latin typeface="仿宋" panose="02010609060101010101" pitchFamily="49" charset="-122"/>
                <a:ea typeface="仿宋" panose="02010609060101010101" pitchFamily="49" charset="-122"/>
              </a:rPr>
              <a:t>解释</a:t>
            </a:r>
          </a:p>
          <a:p>
            <a:pPr lvl="1">
              <a:buFont typeface="Wingdings" panose="05000000000000000000" pitchFamily="2" charset="2"/>
              <a:buChar char="Ø"/>
            </a:pPr>
            <a:r>
              <a:rPr kumimoji="1" lang="zh-CN" altLang="en-US" sz="2400" dirty="0">
                <a:solidFill>
                  <a:srgbClr val="FF0000"/>
                </a:solidFill>
                <a:latin typeface="仿宋" panose="02010609060101010101" pitchFamily="49" charset="-122"/>
                <a:ea typeface="仿宋" panose="02010609060101010101" pitchFamily="49" charset="-122"/>
              </a:rPr>
              <a:t>编译</a:t>
            </a:r>
            <a:r>
              <a:rPr kumimoji="1" lang="zh-CN" altLang="en-US" sz="2400" dirty="0">
                <a:latin typeface="仿宋" panose="02010609060101010101" pitchFamily="49" charset="-122"/>
                <a:ea typeface="仿宋" panose="02010609060101010101" pitchFamily="49" charset="-122"/>
              </a:rPr>
              <a:t>程序：将源程序</a:t>
            </a:r>
            <a:r>
              <a:rPr kumimoji="1" lang="zh-CN" altLang="en-US" sz="2400" dirty="0">
                <a:solidFill>
                  <a:srgbClr val="FF0000"/>
                </a:solidFill>
                <a:latin typeface="仿宋" panose="02010609060101010101" pitchFamily="49" charset="-122"/>
                <a:ea typeface="仿宋" panose="02010609060101010101" pitchFamily="49" charset="-122"/>
              </a:rPr>
              <a:t>翻译</a:t>
            </a:r>
            <a:r>
              <a:rPr kumimoji="1" lang="zh-CN" altLang="en-US" sz="2400" dirty="0">
                <a:latin typeface="仿宋" panose="02010609060101010101" pitchFamily="49" charset="-122"/>
                <a:ea typeface="仿宋" panose="02010609060101010101" pitchFamily="49" charset="-122"/>
              </a:rPr>
              <a:t>出目标文件，并通过</a:t>
            </a:r>
            <a:r>
              <a:rPr kumimoji="1" lang="zh-CN" altLang="en-US" sz="2400" dirty="0">
                <a:solidFill>
                  <a:srgbClr val="FF0000"/>
                </a:solidFill>
                <a:latin typeface="仿宋" panose="02010609060101010101" pitchFamily="49" charset="-122"/>
                <a:ea typeface="仿宋" panose="02010609060101010101" pitchFamily="49" charset="-122"/>
              </a:rPr>
              <a:t>连接</a:t>
            </a:r>
            <a:r>
              <a:rPr kumimoji="1" lang="zh-CN" altLang="en-US" sz="2400" dirty="0">
                <a:latin typeface="仿宋" panose="02010609060101010101" pitchFamily="49" charset="-122"/>
                <a:ea typeface="仿宋" panose="02010609060101010101" pitchFamily="49" charset="-122"/>
              </a:rPr>
              <a:t>程序生成可执行文件。</a:t>
            </a:r>
          </a:p>
          <a:p>
            <a:pPr lvl="1">
              <a:buFont typeface="Wingdings" panose="05000000000000000000" pitchFamily="2" charset="2"/>
              <a:buChar char="Ø"/>
            </a:pPr>
            <a:r>
              <a:rPr kumimoji="1" lang="zh-CN" altLang="en-US" sz="2400" dirty="0">
                <a:solidFill>
                  <a:srgbClr val="FF0000"/>
                </a:solidFill>
                <a:latin typeface="仿宋" panose="02010609060101010101" pitchFamily="49" charset="-122"/>
                <a:ea typeface="仿宋" panose="02010609060101010101" pitchFamily="49" charset="-122"/>
              </a:rPr>
              <a:t>解释</a:t>
            </a:r>
            <a:r>
              <a:rPr kumimoji="1" lang="zh-CN" altLang="en-US" sz="2400" dirty="0">
                <a:latin typeface="仿宋" panose="02010609060101010101" pitchFamily="49" charset="-122"/>
                <a:ea typeface="仿宋" panose="02010609060101010101" pitchFamily="49" charset="-122"/>
              </a:rPr>
              <a:t>程序：不产生目标代码，对源程序逐句边解释边执行。</a:t>
            </a:r>
          </a:p>
        </p:txBody>
      </p:sp>
    </p:spTree>
    <p:extLst>
      <p:ext uri="{BB962C8B-B14F-4D97-AF65-F5344CB8AC3E}">
        <p14:creationId xmlns:p14="http://schemas.microsoft.com/office/powerpoint/2010/main" val="11552595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49F3DFEE-D615-10A4-3DFB-F10E842FD6FF}"/>
              </a:ext>
            </a:extLst>
          </p:cNvPr>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 name="直接连接符 2">
            <a:extLst>
              <a:ext uri="{FF2B5EF4-FFF2-40B4-BE49-F238E27FC236}">
                <a16:creationId xmlns:a16="http://schemas.microsoft.com/office/drawing/2014/main" id="{E448084C-00C1-2D46-B2E9-907AC7E07A63}"/>
              </a:ext>
            </a:extLst>
          </p:cNvPr>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4" name="图形 3">
            <a:extLst>
              <a:ext uri="{FF2B5EF4-FFF2-40B4-BE49-F238E27FC236}">
                <a16:creationId xmlns:a16="http://schemas.microsoft.com/office/drawing/2014/main" id="{C93BB0EF-03E3-F5C3-728A-B6DC40F04B4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6" name="文本框 5">
            <a:extLst>
              <a:ext uri="{FF2B5EF4-FFF2-40B4-BE49-F238E27FC236}">
                <a16:creationId xmlns:a16="http://schemas.microsoft.com/office/drawing/2014/main" id="{47E122C5-6879-554E-162C-5ECC1522BC4D}"/>
              </a:ext>
            </a:extLst>
          </p:cNvPr>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7" name="文本框 6">
            <a:extLst>
              <a:ext uri="{FF2B5EF4-FFF2-40B4-BE49-F238E27FC236}">
                <a16:creationId xmlns:a16="http://schemas.microsoft.com/office/drawing/2014/main" id="{1E416341-3B4D-14E9-1A09-A5C4890E367D}"/>
              </a:ext>
            </a:extLst>
          </p:cNvPr>
          <p:cNvSpPr txBox="1"/>
          <p:nvPr/>
        </p:nvSpPr>
        <p:spPr>
          <a:xfrm>
            <a:off x="1431473" y="10850"/>
            <a:ext cx="1540328" cy="769441"/>
          </a:xfrm>
          <a:prstGeom prst="rect">
            <a:avLst/>
          </a:prstGeom>
          <a:noFill/>
        </p:spPr>
        <p:txBody>
          <a:bodyPr wrap="square" rtlCol="0">
            <a:spAutoFit/>
          </a:bodyPr>
          <a:lstStyle/>
          <a:p>
            <a:r>
              <a:rPr lang="zh-CN" altLang="en-US" sz="4400" dirty="0">
                <a:latin typeface="仿宋" panose="02010609060101010101" pitchFamily="49" charset="-122"/>
                <a:ea typeface="仿宋" panose="02010609060101010101" pitchFamily="49" charset="-122"/>
              </a:rPr>
              <a:t>程序</a:t>
            </a:r>
            <a:endParaRPr lang="en-US" altLang="zh-CN" sz="4400" dirty="0">
              <a:latin typeface="仿宋" panose="02010609060101010101" pitchFamily="49" charset="-122"/>
              <a:ea typeface="仿宋" panose="02010609060101010101" pitchFamily="49" charset="-122"/>
            </a:endParaRPr>
          </a:p>
        </p:txBody>
      </p:sp>
      <p:sp>
        <p:nvSpPr>
          <p:cNvPr id="8" name="文本框 7">
            <a:extLst>
              <a:ext uri="{FF2B5EF4-FFF2-40B4-BE49-F238E27FC236}">
                <a16:creationId xmlns:a16="http://schemas.microsoft.com/office/drawing/2014/main" id="{25F3AE7C-B711-7868-830E-B33070CE792F}"/>
              </a:ext>
            </a:extLst>
          </p:cNvPr>
          <p:cNvSpPr txBox="1"/>
          <p:nvPr/>
        </p:nvSpPr>
        <p:spPr>
          <a:xfrm>
            <a:off x="952604" y="1194160"/>
            <a:ext cx="6198473" cy="2246769"/>
          </a:xfrm>
          <a:prstGeom prst="rect">
            <a:avLst/>
          </a:prstGeom>
          <a:noFill/>
        </p:spPr>
        <p:txBody>
          <a:bodyPr wrap="square">
            <a:spAutoFit/>
          </a:bodyPr>
          <a:lstStyle/>
          <a:p>
            <a:r>
              <a:rPr lang="zh-CN" altLang="en-US" sz="2800" dirty="0">
                <a:latin typeface="仿宋" panose="02010609060101010101" pitchFamily="49" charset="-122"/>
                <a:ea typeface="仿宋" panose="02010609060101010101" pitchFamily="49" charset="-122"/>
              </a:rPr>
              <a:t>程序设计过程的四个步骤</a:t>
            </a:r>
          </a:p>
          <a:p>
            <a:r>
              <a:rPr lang="zh-CN" altLang="en-US" sz="2800" dirty="0">
                <a:latin typeface="仿宋" panose="02010609060101010101" pitchFamily="49" charset="-122"/>
                <a:ea typeface="仿宋" panose="02010609060101010101" pitchFamily="49" charset="-122"/>
              </a:rPr>
              <a:t>（</a:t>
            </a:r>
            <a:r>
              <a:rPr lang="en-US" altLang="zh-CN" sz="2800" dirty="0">
                <a:latin typeface="仿宋" panose="02010609060101010101" pitchFamily="49" charset="-122"/>
                <a:ea typeface="仿宋" panose="02010609060101010101" pitchFamily="49" charset="-122"/>
              </a:rPr>
              <a:t>1</a:t>
            </a:r>
            <a:r>
              <a:rPr lang="zh-CN" altLang="en-US" sz="2800" dirty="0">
                <a:latin typeface="仿宋" panose="02010609060101010101" pitchFamily="49" charset="-122"/>
                <a:ea typeface="仿宋" panose="02010609060101010101" pitchFamily="49" charset="-122"/>
              </a:rPr>
              <a:t>）分析问题，建立</a:t>
            </a:r>
            <a:r>
              <a:rPr lang="zh-CN" altLang="en-US" sz="2800" dirty="0">
                <a:solidFill>
                  <a:srgbClr val="FF0000"/>
                </a:solidFill>
                <a:latin typeface="仿宋" panose="02010609060101010101" pitchFamily="49" charset="-122"/>
                <a:ea typeface="仿宋" panose="02010609060101010101" pitchFamily="49" charset="-122"/>
              </a:rPr>
              <a:t>数学模型</a:t>
            </a:r>
            <a:r>
              <a:rPr lang="zh-CN" altLang="en-US" sz="2800" dirty="0">
                <a:latin typeface="仿宋" panose="02010609060101010101" pitchFamily="49" charset="-122"/>
                <a:ea typeface="仿宋" panose="02010609060101010101" pitchFamily="49" charset="-122"/>
              </a:rPr>
              <a:t>。</a:t>
            </a:r>
          </a:p>
          <a:p>
            <a:r>
              <a:rPr lang="zh-CN" altLang="en-US" sz="2800" dirty="0">
                <a:latin typeface="仿宋" panose="02010609060101010101" pitchFamily="49" charset="-122"/>
                <a:ea typeface="仿宋" panose="02010609060101010101" pitchFamily="49" charset="-122"/>
              </a:rPr>
              <a:t>（</a:t>
            </a:r>
            <a:r>
              <a:rPr lang="en-US" altLang="zh-CN" sz="2800" dirty="0">
                <a:latin typeface="仿宋" panose="02010609060101010101" pitchFamily="49" charset="-122"/>
                <a:ea typeface="仿宋" panose="02010609060101010101" pitchFamily="49" charset="-122"/>
              </a:rPr>
              <a:t>2</a:t>
            </a:r>
            <a:r>
              <a:rPr lang="zh-CN" altLang="en-US" sz="2800" dirty="0">
                <a:latin typeface="仿宋" panose="02010609060101010101" pitchFamily="49" charset="-122"/>
                <a:ea typeface="仿宋" panose="02010609060101010101" pitchFamily="49" charset="-122"/>
              </a:rPr>
              <a:t>）确定数据结构和算法。</a:t>
            </a:r>
          </a:p>
          <a:p>
            <a:r>
              <a:rPr lang="zh-CN" altLang="en-US" sz="2800" dirty="0">
                <a:latin typeface="仿宋" panose="02010609060101010101" pitchFamily="49" charset="-122"/>
                <a:ea typeface="仿宋" panose="02010609060101010101" pitchFamily="49" charset="-122"/>
              </a:rPr>
              <a:t>（</a:t>
            </a:r>
            <a:r>
              <a:rPr lang="en-US" altLang="zh-CN" sz="2800" dirty="0">
                <a:latin typeface="仿宋" panose="02010609060101010101" pitchFamily="49" charset="-122"/>
                <a:ea typeface="仿宋" panose="02010609060101010101" pitchFamily="49" charset="-122"/>
              </a:rPr>
              <a:t>3</a:t>
            </a:r>
            <a:r>
              <a:rPr lang="zh-CN" altLang="en-US" sz="2800" dirty="0">
                <a:latin typeface="仿宋" panose="02010609060101010101" pitchFamily="49" charset="-122"/>
                <a:ea typeface="仿宋" panose="02010609060101010101" pitchFamily="49" charset="-122"/>
              </a:rPr>
              <a:t>）编制程序。</a:t>
            </a:r>
          </a:p>
          <a:p>
            <a:r>
              <a:rPr lang="zh-CN" altLang="en-US" sz="2800" dirty="0">
                <a:latin typeface="仿宋" panose="02010609060101010101" pitchFamily="49" charset="-122"/>
                <a:ea typeface="仿宋" panose="02010609060101010101" pitchFamily="49" charset="-122"/>
              </a:rPr>
              <a:t>（</a:t>
            </a:r>
            <a:r>
              <a:rPr lang="en-US" altLang="zh-CN" sz="2800" dirty="0">
                <a:latin typeface="仿宋" panose="02010609060101010101" pitchFamily="49" charset="-122"/>
                <a:ea typeface="仿宋" panose="02010609060101010101" pitchFamily="49" charset="-122"/>
              </a:rPr>
              <a:t>4</a:t>
            </a:r>
            <a:r>
              <a:rPr lang="zh-CN" altLang="en-US" sz="2800" dirty="0">
                <a:latin typeface="仿宋" panose="02010609060101010101" pitchFamily="49" charset="-122"/>
                <a:ea typeface="仿宋" panose="02010609060101010101" pitchFamily="49" charset="-122"/>
              </a:rPr>
              <a:t>）调试程序。</a:t>
            </a:r>
            <a:endParaRPr lang="en-US" altLang="zh-CN" sz="2800" dirty="0">
              <a:latin typeface="仿宋" panose="02010609060101010101" pitchFamily="49" charset="-122"/>
              <a:ea typeface="仿宋" panose="02010609060101010101" pitchFamily="49" charset="-122"/>
            </a:endParaRPr>
          </a:p>
        </p:txBody>
      </p:sp>
      <p:pic>
        <p:nvPicPr>
          <p:cNvPr id="9" name="图片 4">
            <a:extLst>
              <a:ext uri="{FF2B5EF4-FFF2-40B4-BE49-F238E27FC236}">
                <a16:creationId xmlns:a16="http://schemas.microsoft.com/office/drawing/2014/main" id="{1F80A3D8-D096-0400-66DC-11DB4D7B8840}"/>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416425" y="6219825"/>
            <a:ext cx="542925" cy="542925"/>
          </a:xfrm>
          <a:prstGeom prst="rect">
            <a:avLst/>
          </a:prstGeom>
        </p:spPr>
      </p:pic>
    </p:spTree>
    <p:extLst>
      <p:ext uri="{BB962C8B-B14F-4D97-AF65-F5344CB8AC3E}">
        <p14:creationId xmlns:p14="http://schemas.microsoft.com/office/powerpoint/2010/main" val="9901965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fade">
                                      <p:cBhvr>
                                        <p:cTn id="22" dur="500"/>
                                        <p:tgtEl>
                                          <p:spTgt spid="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Effect transition="in" filter="fade">
                                      <p:cBhvr>
                                        <p:cTn id="27" dur="50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49F3DFEE-D615-10A4-3DFB-F10E842FD6FF}"/>
              </a:ext>
            </a:extLst>
          </p:cNvPr>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 name="直接连接符 2">
            <a:extLst>
              <a:ext uri="{FF2B5EF4-FFF2-40B4-BE49-F238E27FC236}">
                <a16:creationId xmlns:a16="http://schemas.microsoft.com/office/drawing/2014/main" id="{E448084C-00C1-2D46-B2E9-907AC7E07A63}"/>
              </a:ext>
            </a:extLst>
          </p:cNvPr>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4" name="图形 3">
            <a:extLst>
              <a:ext uri="{FF2B5EF4-FFF2-40B4-BE49-F238E27FC236}">
                <a16:creationId xmlns:a16="http://schemas.microsoft.com/office/drawing/2014/main" id="{C93BB0EF-03E3-F5C3-728A-B6DC40F04B4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6" name="文本框 5">
            <a:extLst>
              <a:ext uri="{FF2B5EF4-FFF2-40B4-BE49-F238E27FC236}">
                <a16:creationId xmlns:a16="http://schemas.microsoft.com/office/drawing/2014/main" id="{47E122C5-6879-554E-162C-5ECC1522BC4D}"/>
              </a:ext>
            </a:extLst>
          </p:cNvPr>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7" name="文本框 6">
            <a:extLst>
              <a:ext uri="{FF2B5EF4-FFF2-40B4-BE49-F238E27FC236}">
                <a16:creationId xmlns:a16="http://schemas.microsoft.com/office/drawing/2014/main" id="{1E416341-3B4D-14E9-1A09-A5C4890E367D}"/>
              </a:ext>
            </a:extLst>
          </p:cNvPr>
          <p:cNvSpPr txBox="1"/>
          <p:nvPr/>
        </p:nvSpPr>
        <p:spPr>
          <a:xfrm>
            <a:off x="1431473" y="10850"/>
            <a:ext cx="1540328" cy="769441"/>
          </a:xfrm>
          <a:prstGeom prst="rect">
            <a:avLst/>
          </a:prstGeom>
          <a:noFill/>
        </p:spPr>
        <p:txBody>
          <a:bodyPr wrap="square" rtlCol="0">
            <a:spAutoFit/>
          </a:bodyPr>
          <a:lstStyle/>
          <a:p>
            <a:r>
              <a:rPr lang="zh-CN" altLang="en-US" sz="4400" dirty="0">
                <a:latin typeface="仿宋" panose="02010609060101010101" pitchFamily="49" charset="-122"/>
                <a:ea typeface="仿宋" panose="02010609060101010101" pitchFamily="49" charset="-122"/>
              </a:rPr>
              <a:t>算法</a:t>
            </a:r>
            <a:endParaRPr lang="en-US" altLang="zh-CN" sz="4400" dirty="0">
              <a:latin typeface="仿宋" panose="02010609060101010101" pitchFamily="49" charset="-122"/>
              <a:ea typeface="仿宋" panose="02010609060101010101" pitchFamily="49" charset="-122"/>
            </a:endParaRPr>
          </a:p>
        </p:txBody>
      </p:sp>
      <p:sp>
        <p:nvSpPr>
          <p:cNvPr id="8" name="文本框 7">
            <a:extLst>
              <a:ext uri="{FF2B5EF4-FFF2-40B4-BE49-F238E27FC236}">
                <a16:creationId xmlns:a16="http://schemas.microsoft.com/office/drawing/2014/main" id="{25F3AE7C-B711-7868-830E-B33070CE792F}"/>
              </a:ext>
            </a:extLst>
          </p:cNvPr>
          <p:cNvSpPr txBox="1"/>
          <p:nvPr/>
        </p:nvSpPr>
        <p:spPr>
          <a:xfrm>
            <a:off x="944789" y="1024791"/>
            <a:ext cx="10302421" cy="4832092"/>
          </a:xfrm>
          <a:prstGeom prst="rect">
            <a:avLst/>
          </a:prstGeom>
          <a:noFill/>
        </p:spPr>
        <p:txBody>
          <a:bodyPr wrap="square">
            <a:spAutoFit/>
          </a:bodyPr>
          <a:lstStyle/>
          <a:p>
            <a:r>
              <a:rPr lang="zh-CN" altLang="en-US" sz="2800" b="1" dirty="0">
                <a:latin typeface="仿宋" panose="02010609060101010101" pitchFamily="49" charset="-122"/>
                <a:ea typeface="仿宋" panose="02010609060101010101" pitchFamily="49" charset="-122"/>
              </a:rPr>
              <a:t>算法的定义</a:t>
            </a:r>
            <a:r>
              <a:rPr lang="en-US" altLang="zh-CN" sz="2800" b="1" dirty="0">
                <a:latin typeface="仿宋" panose="02010609060101010101" pitchFamily="49" charset="-122"/>
                <a:ea typeface="仿宋" panose="02010609060101010101" pitchFamily="49" charset="-122"/>
              </a:rPr>
              <a:t>:</a:t>
            </a:r>
            <a:r>
              <a:rPr lang="zh-CN" altLang="en-US" sz="2800" b="1" dirty="0">
                <a:latin typeface="仿宋" panose="02010609060101010101" pitchFamily="49" charset="-122"/>
                <a:ea typeface="仿宋" panose="02010609060101010101" pitchFamily="49" charset="-122"/>
              </a:rPr>
              <a:t>算法就是解决问题的</a:t>
            </a:r>
            <a:r>
              <a:rPr lang="zh-CN" altLang="en-US" sz="2800" b="1" dirty="0">
                <a:solidFill>
                  <a:srgbClr val="FF0000"/>
                </a:solidFill>
                <a:latin typeface="仿宋" panose="02010609060101010101" pitchFamily="49" charset="-122"/>
                <a:ea typeface="仿宋" panose="02010609060101010101" pitchFamily="49" charset="-122"/>
              </a:rPr>
              <a:t>有限步骤</a:t>
            </a:r>
            <a:endParaRPr lang="en-US" altLang="zh-CN" sz="2800" b="1" dirty="0">
              <a:solidFill>
                <a:srgbClr val="FF0000"/>
              </a:solidFill>
              <a:latin typeface="仿宋" panose="02010609060101010101" pitchFamily="49" charset="-122"/>
              <a:ea typeface="仿宋" panose="02010609060101010101" pitchFamily="49" charset="-122"/>
            </a:endParaRPr>
          </a:p>
          <a:p>
            <a:r>
              <a:rPr lang="zh-CN" altLang="en-US" sz="2800" b="1" dirty="0">
                <a:latin typeface="仿宋" panose="02010609060101010101" pitchFamily="49" charset="-122"/>
                <a:ea typeface="仿宋" panose="02010609060101010101" pitchFamily="49" charset="-122"/>
              </a:rPr>
              <a:t>算法的基本特征</a:t>
            </a:r>
            <a:r>
              <a:rPr lang="en-US" altLang="zh-CN" sz="2800" b="1" dirty="0">
                <a:latin typeface="仿宋" panose="02010609060101010101" pitchFamily="49" charset="-122"/>
                <a:ea typeface="仿宋" panose="02010609060101010101" pitchFamily="49" charset="-122"/>
              </a:rPr>
              <a:t>:</a:t>
            </a:r>
          </a:p>
          <a:p>
            <a:pPr marL="457200" indent="-457200">
              <a:buFont typeface="Arial" panose="020B0604020202020204" pitchFamily="34" charset="0"/>
              <a:buChar char="•"/>
            </a:pPr>
            <a:r>
              <a:rPr lang="zh-CN" altLang="en-US" sz="2800" b="1" dirty="0">
                <a:solidFill>
                  <a:schemeClr val="accent6"/>
                </a:solidFill>
                <a:latin typeface="仿宋" panose="02010609060101010101" pitchFamily="49" charset="-122"/>
                <a:ea typeface="仿宋" panose="02010609060101010101" pitchFamily="49" charset="-122"/>
              </a:rPr>
              <a:t>有穷性</a:t>
            </a:r>
            <a:r>
              <a:rPr lang="zh-CN" altLang="en-US" sz="2800" dirty="0">
                <a:latin typeface="仿宋" panose="02010609060101010101" pitchFamily="49" charset="-122"/>
                <a:ea typeface="仿宋" panose="02010609060101010101" pitchFamily="49" charset="-122"/>
              </a:rPr>
              <a:t>：一个算法必须在执行有限个操作步骤后终止</a:t>
            </a:r>
          </a:p>
          <a:p>
            <a:pPr marL="457200" indent="-457200">
              <a:buFont typeface="Arial" panose="020B0604020202020204" pitchFamily="34" charset="0"/>
              <a:buChar char="•"/>
            </a:pPr>
            <a:r>
              <a:rPr lang="zh-CN" altLang="en-US" sz="2800" b="1" dirty="0">
                <a:solidFill>
                  <a:schemeClr val="accent6"/>
                </a:solidFill>
                <a:latin typeface="仿宋" panose="02010609060101010101" pitchFamily="49" charset="-122"/>
                <a:ea typeface="仿宋" panose="02010609060101010101" pitchFamily="49" charset="-122"/>
              </a:rPr>
              <a:t>确定性</a:t>
            </a:r>
            <a:r>
              <a:rPr lang="zh-CN" altLang="en-US" sz="2800" dirty="0">
                <a:latin typeface="仿宋" panose="02010609060101010101" pitchFamily="49" charset="-122"/>
                <a:ea typeface="仿宋" panose="02010609060101010101" pitchFamily="49" charset="-122"/>
              </a:rPr>
              <a:t>：算法中每一步的含义必须是确切的，不可出现任何二义性</a:t>
            </a:r>
          </a:p>
          <a:p>
            <a:pPr marL="457200" indent="-457200">
              <a:buFont typeface="Arial" panose="020B0604020202020204" pitchFamily="34" charset="0"/>
              <a:buChar char="•"/>
            </a:pPr>
            <a:r>
              <a:rPr lang="zh-CN" altLang="en-US" sz="2800" b="1" dirty="0">
                <a:solidFill>
                  <a:schemeClr val="accent6"/>
                </a:solidFill>
                <a:latin typeface="仿宋" panose="02010609060101010101" pitchFamily="49" charset="-122"/>
                <a:ea typeface="仿宋" panose="02010609060101010101" pitchFamily="49" charset="-122"/>
              </a:rPr>
              <a:t>有效性</a:t>
            </a:r>
            <a:r>
              <a:rPr lang="zh-CN" altLang="en-US" sz="2800" dirty="0">
                <a:latin typeface="仿宋" panose="02010609060101010101" pitchFamily="49" charset="-122"/>
                <a:ea typeface="仿宋" panose="02010609060101010101" pitchFamily="49" charset="-122"/>
              </a:rPr>
              <a:t>：算法中的每一步操作都应该能有效执行，一个不可执行的操作是无效的</a:t>
            </a:r>
            <a:endParaRPr lang="en-US" altLang="zh-CN" sz="2800" dirty="0">
              <a:latin typeface="仿宋" panose="02010609060101010101" pitchFamily="49" charset="-122"/>
              <a:ea typeface="仿宋" panose="02010609060101010101" pitchFamily="49" charset="-122"/>
            </a:endParaRPr>
          </a:p>
          <a:p>
            <a:pPr marL="457200" indent="-457200">
              <a:buFont typeface="Arial" panose="020B0604020202020204" pitchFamily="34" charset="0"/>
              <a:buChar char="•"/>
            </a:pPr>
            <a:r>
              <a:rPr lang="zh-CN" altLang="en-US" sz="2800" b="1" dirty="0">
                <a:solidFill>
                  <a:schemeClr val="accent6"/>
                </a:solidFill>
                <a:latin typeface="仿宋" panose="02010609060101010101" pitchFamily="49" charset="-122"/>
                <a:ea typeface="仿宋" panose="02010609060101010101" pitchFamily="49" charset="-122"/>
              </a:rPr>
              <a:t>有零个或多个输入</a:t>
            </a:r>
            <a:r>
              <a:rPr lang="zh-CN" altLang="en-US" sz="2800" dirty="0">
                <a:latin typeface="仿宋" panose="02010609060101010101" pitchFamily="49" charset="-122"/>
                <a:ea typeface="仿宋" panose="02010609060101010101" pitchFamily="49" charset="-122"/>
              </a:rPr>
              <a:t>：这里的输入是指在算法开始之前所需要的初始数据，输入的多少取决于特定的问题</a:t>
            </a:r>
          </a:p>
          <a:p>
            <a:pPr marL="457200" indent="-457200">
              <a:buFont typeface="Arial" panose="020B0604020202020204" pitchFamily="34" charset="0"/>
              <a:buChar char="•"/>
            </a:pPr>
            <a:r>
              <a:rPr lang="zh-CN" altLang="en-US" sz="2800" b="1" dirty="0">
                <a:solidFill>
                  <a:schemeClr val="accent6"/>
                </a:solidFill>
                <a:latin typeface="仿宋" panose="02010609060101010101" pitchFamily="49" charset="-122"/>
                <a:ea typeface="仿宋" panose="02010609060101010101" pitchFamily="49" charset="-122"/>
              </a:rPr>
              <a:t>有一个或多个输出</a:t>
            </a:r>
            <a:r>
              <a:rPr lang="zh-CN" altLang="en-US" sz="2800" dirty="0">
                <a:latin typeface="仿宋" panose="02010609060101010101" pitchFamily="49" charset="-122"/>
                <a:ea typeface="仿宋" panose="02010609060101010101" pitchFamily="49" charset="-122"/>
              </a:rPr>
              <a:t>：所谓输出是指与输入有某种特定关系的量，在一个完整的算法中至少会有一个输出。</a:t>
            </a:r>
            <a:endParaRPr lang="en-US" altLang="zh-CN" sz="2800" dirty="0">
              <a:latin typeface="仿宋" panose="02010609060101010101" pitchFamily="49" charset="-122"/>
              <a:ea typeface="仿宋" panose="02010609060101010101" pitchFamily="49" charset="-122"/>
            </a:endParaRPr>
          </a:p>
        </p:txBody>
      </p:sp>
      <p:pic>
        <p:nvPicPr>
          <p:cNvPr id="9" name="图片 4">
            <a:extLst>
              <a:ext uri="{FF2B5EF4-FFF2-40B4-BE49-F238E27FC236}">
                <a16:creationId xmlns:a16="http://schemas.microsoft.com/office/drawing/2014/main" id="{7C2CE379-2C1C-38A2-79D1-2B45002F77CC}"/>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416425" y="6219825"/>
            <a:ext cx="542925" cy="542925"/>
          </a:xfrm>
          <a:prstGeom prst="rect">
            <a:avLst/>
          </a:prstGeom>
        </p:spPr>
      </p:pic>
    </p:spTree>
    <p:extLst>
      <p:ext uri="{BB962C8B-B14F-4D97-AF65-F5344CB8AC3E}">
        <p14:creationId xmlns:p14="http://schemas.microsoft.com/office/powerpoint/2010/main" val="5640620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8">
                                            <p:txEl>
                                              <p:pRg st="1" end="1"/>
                                            </p:txEl>
                                          </p:spTgt>
                                        </p:tgtEl>
                                        <p:attrNameLst>
                                          <p:attrName>style.visibility</p:attrName>
                                        </p:attrNameLst>
                                      </p:cBhvr>
                                      <p:to>
                                        <p:strVal val="visible"/>
                                      </p:to>
                                    </p:set>
                                    <p:animEffect transition="in" filter="fade">
                                      <p:cBhvr>
                                        <p:cTn id="10" dur="500"/>
                                        <p:tgtEl>
                                          <p:spTgt spid="8">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animEffect transition="in" filter="fade">
                                      <p:cBhvr>
                                        <p:cTn id="13" dur="500"/>
                                        <p:tgtEl>
                                          <p:spTgt spid="8">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8">
                                            <p:txEl>
                                              <p:pRg st="3" end="3"/>
                                            </p:txEl>
                                          </p:spTgt>
                                        </p:tgtEl>
                                        <p:attrNameLst>
                                          <p:attrName>style.visibility</p:attrName>
                                        </p:attrNameLst>
                                      </p:cBhvr>
                                      <p:to>
                                        <p:strVal val="visible"/>
                                      </p:to>
                                    </p:set>
                                    <p:animEffect transition="in" filter="fade">
                                      <p:cBhvr>
                                        <p:cTn id="16" dur="500"/>
                                        <p:tgtEl>
                                          <p:spTgt spid="8">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animEffect transition="in" filter="fade">
                                      <p:cBhvr>
                                        <p:cTn id="19" dur="500"/>
                                        <p:tgtEl>
                                          <p:spTgt spid="8">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8">
                                            <p:txEl>
                                              <p:pRg st="5" end="5"/>
                                            </p:txEl>
                                          </p:spTgt>
                                        </p:tgtEl>
                                        <p:attrNameLst>
                                          <p:attrName>style.visibility</p:attrName>
                                        </p:attrNameLst>
                                      </p:cBhvr>
                                      <p:to>
                                        <p:strVal val="visible"/>
                                      </p:to>
                                    </p:set>
                                    <p:animEffect transition="in" filter="fade">
                                      <p:cBhvr>
                                        <p:cTn id="22" dur="500"/>
                                        <p:tgtEl>
                                          <p:spTgt spid="8">
                                            <p:txEl>
                                              <p:pRg st="5" end="5"/>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8">
                                            <p:txEl>
                                              <p:pRg st="6" end="6"/>
                                            </p:txEl>
                                          </p:spTgt>
                                        </p:tgtEl>
                                        <p:attrNameLst>
                                          <p:attrName>style.visibility</p:attrName>
                                        </p:attrNameLst>
                                      </p:cBhvr>
                                      <p:to>
                                        <p:strVal val="visible"/>
                                      </p:to>
                                    </p:set>
                                    <p:animEffect transition="in" filter="fade">
                                      <p:cBhvr>
                                        <p:cTn id="25" dur="500"/>
                                        <p:tgtEl>
                                          <p:spTgt spid="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49F3DFEE-D615-10A4-3DFB-F10E842FD6FF}"/>
              </a:ext>
            </a:extLst>
          </p:cNvPr>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 name="直接连接符 2">
            <a:extLst>
              <a:ext uri="{FF2B5EF4-FFF2-40B4-BE49-F238E27FC236}">
                <a16:creationId xmlns:a16="http://schemas.microsoft.com/office/drawing/2014/main" id="{E448084C-00C1-2D46-B2E9-907AC7E07A63}"/>
              </a:ext>
            </a:extLst>
          </p:cNvPr>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4" name="图形 3">
            <a:extLst>
              <a:ext uri="{FF2B5EF4-FFF2-40B4-BE49-F238E27FC236}">
                <a16:creationId xmlns:a16="http://schemas.microsoft.com/office/drawing/2014/main" id="{C93BB0EF-03E3-F5C3-728A-B6DC40F04B4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6" name="文本框 5">
            <a:extLst>
              <a:ext uri="{FF2B5EF4-FFF2-40B4-BE49-F238E27FC236}">
                <a16:creationId xmlns:a16="http://schemas.microsoft.com/office/drawing/2014/main" id="{47E122C5-6879-554E-162C-5ECC1522BC4D}"/>
              </a:ext>
            </a:extLst>
          </p:cNvPr>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7" name="文本框 6">
            <a:extLst>
              <a:ext uri="{FF2B5EF4-FFF2-40B4-BE49-F238E27FC236}">
                <a16:creationId xmlns:a16="http://schemas.microsoft.com/office/drawing/2014/main" id="{1E416341-3B4D-14E9-1A09-A5C4890E367D}"/>
              </a:ext>
            </a:extLst>
          </p:cNvPr>
          <p:cNvSpPr txBox="1"/>
          <p:nvPr/>
        </p:nvSpPr>
        <p:spPr>
          <a:xfrm>
            <a:off x="1431473" y="10850"/>
            <a:ext cx="1540328" cy="769441"/>
          </a:xfrm>
          <a:prstGeom prst="rect">
            <a:avLst/>
          </a:prstGeom>
          <a:noFill/>
        </p:spPr>
        <p:txBody>
          <a:bodyPr wrap="square" rtlCol="0">
            <a:spAutoFit/>
          </a:bodyPr>
          <a:lstStyle/>
          <a:p>
            <a:r>
              <a:rPr lang="zh-CN" altLang="en-US" sz="4400" dirty="0">
                <a:latin typeface="仿宋" panose="02010609060101010101" pitchFamily="49" charset="-122"/>
                <a:ea typeface="仿宋" panose="02010609060101010101" pitchFamily="49" charset="-122"/>
              </a:rPr>
              <a:t>算法</a:t>
            </a:r>
            <a:endParaRPr lang="en-US" altLang="zh-CN" sz="4400" dirty="0">
              <a:latin typeface="仿宋" panose="02010609060101010101" pitchFamily="49" charset="-122"/>
              <a:ea typeface="仿宋" panose="02010609060101010101" pitchFamily="49" charset="-122"/>
            </a:endParaRPr>
          </a:p>
        </p:txBody>
      </p:sp>
      <p:sp>
        <p:nvSpPr>
          <p:cNvPr id="8" name="文本框 7">
            <a:extLst>
              <a:ext uri="{FF2B5EF4-FFF2-40B4-BE49-F238E27FC236}">
                <a16:creationId xmlns:a16="http://schemas.microsoft.com/office/drawing/2014/main" id="{25F3AE7C-B711-7868-830E-B33070CE792F}"/>
              </a:ext>
            </a:extLst>
          </p:cNvPr>
          <p:cNvSpPr txBox="1"/>
          <p:nvPr/>
        </p:nvSpPr>
        <p:spPr>
          <a:xfrm>
            <a:off x="944789" y="1024791"/>
            <a:ext cx="10302421" cy="4832092"/>
          </a:xfrm>
          <a:prstGeom prst="rect">
            <a:avLst/>
          </a:prstGeom>
          <a:noFill/>
        </p:spPr>
        <p:txBody>
          <a:bodyPr wrap="square">
            <a:spAutoFit/>
          </a:bodyPr>
          <a:lstStyle/>
          <a:p>
            <a:r>
              <a:rPr lang="zh-CN" altLang="en-US" sz="2800" b="1" dirty="0">
                <a:latin typeface="仿宋" panose="02010609060101010101" pitchFamily="49" charset="-122"/>
                <a:ea typeface="仿宋" panose="02010609060101010101" pitchFamily="49" charset="-122"/>
              </a:rPr>
              <a:t>迭代</a:t>
            </a:r>
            <a:endParaRPr lang="en-US" altLang="zh-CN" sz="2800" b="1" dirty="0">
              <a:latin typeface="仿宋" panose="02010609060101010101" pitchFamily="49" charset="-122"/>
              <a:ea typeface="仿宋" panose="02010609060101010101" pitchFamily="49" charset="-122"/>
            </a:endParaRPr>
          </a:p>
          <a:p>
            <a:pPr marL="457200" indent="-457200">
              <a:buFont typeface="Arial" panose="020B0604020202020204" pitchFamily="34" charset="0"/>
              <a:buChar char="•"/>
            </a:pPr>
            <a:r>
              <a:rPr lang="zh-CN" altLang="en-US" sz="2800" dirty="0">
                <a:latin typeface="仿宋" panose="02010609060101010101" pitchFamily="49" charset="-122"/>
                <a:ea typeface="仿宋" panose="02010609060101010101" pitchFamily="49" charset="-122"/>
              </a:rPr>
              <a:t>通过重复执行一组指令来逐步接近问题的解决方案。在迭代中，通常使用循环结构（如 </a:t>
            </a:r>
            <a:r>
              <a:rPr lang="en-US" altLang="zh-CN" sz="2800" dirty="0">
                <a:latin typeface="仿宋" panose="02010609060101010101" pitchFamily="49" charset="-122"/>
                <a:ea typeface="仿宋" panose="02010609060101010101" pitchFamily="49" charset="-122"/>
              </a:rPr>
              <a:t>for </a:t>
            </a:r>
            <a:r>
              <a:rPr lang="zh-CN" altLang="en-US" sz="2800" dirty="0">
                <a:latin typeface="仿宋" panose="02010609060101010101" pitchFamily="49" charset="-122"/>
                <a:ea typeface="仿宋" panose="02010609060101010101" pitchFamily="49" charset="-122"/>
              </a:rPr>
              <a:t>或 </a:t>
            </a:r>
            <a:r>
              <a:rPr lang="en-US" altLang="zh-CN" sz="2800" dirty="0">
                <a:latin typeface="仿宋" panose="02010609060101010101" pitchFamily="49" charset="-122"/>
                <a:ea typeface="仿宋" panose="02010609060101010101" pitchFamily="49" charset="-122"/>
              </a:rPr>
              <a:t>while </a:t>
            </a:r>
            <a:r>
              <a:rPr lang="zh-CN" altLang="en-US" sz="2800" dirty="0">
                <a:latin typeface="仿宋" panose="02010609060101010101" pitchFamily="49" charset="-122"/>
                <a:ea typeface="仿宋" panose="02010609060101010101" pitchFamily="49" charset="-122"/>
              </a:rPr>
              <a:t>循环），每次循环都会更新状态，并且多次迭代直到达到结束条件。</a:t>
            </a:r>
            <a:endParaRPr lang="en-US" altLang="zh-CN" sz="2800" dirty="0">
              <a:latin typeface="仿宋" panose="02010609060101010101" pitchFamily="49" charset="-122"/>
              <a:ea typeface="仿宋" panose="02010609060101010101" pitchFamily="49" charset="-122"/>
            </a:endParaRPr>
          </a:p>
          <a:p>
            <a:pPr marL="457200" indent="-457200">
              <a:buFont typeface="Arial" panose="020B0604020202020204" pitchFamily="34" charset="0"/>
              <a:buChar char="•"/>
            </a:pPr>
            <a:r>
              <a:rPr lang="zh-CN" altLang="en-US" sz="2800" dirty="0">
                <a:latin typeface="仿宋" panose="02010609060101010101" pitchFamily="49" charset="-122"/>
                <a:ea typeface="仿宋" panose="02010609060101010101" pitchFamily="49" charset="-122"/>
              </a:rPr>
              <a:t>如课本中展示的辗转相除法就是通过多次迭代解决问题的</a:t>
            </a:r>
            <a:endParaRPr lang="en-US" altLang="zh-CN" sz="2800" dirty="0">
              <a:latin typeface="仿宋" panose="02010609060101010101" pitchFamily="49" charset="-122"/>
              <a:ea typeface="仿宋" panose="02010609060101010101" pitchFamily="49" charset="-122"/>
            </a:endParaRPr>
          </a:p>
          <a:p>
            <a:r>
              <a:rPr lang="zh-CN" altLang="en-US" sz="2800" b="1" dirty="0">
                <a:latin typeface="仿宋" panose="02010609060101010101" pitchFamily="49" charset="-122"/>
                <a:ea typeface="仿宋" panose="02010609060101010101" pitchFamily="49" charset="-122"/>
              </a:rPr>
              <a:t>递归</a:t>
            </a:r>
            <a:endParaRPr lang="en-US" altLang="zh-CN" sz="2800" b="1" dirty="0">
              <a:latin typeface="仿宋" panose="02010609060101010101" pitchFamily="49" charset="-122"/>
              <a:ea typeface="仿宋" panose="02010609060101010101" pitchFamily="49" charset="-122"/>
            </a:endParaRPr>
          </a:p>
          <a:p>
            <a:pPr marL="457200" indent="-457200">
              <a:buFont typeface="Arial" panose="020B0604020202020204" pitchFamily="34" charset="0"/>
              <a:buChar char="•"/>
            </a:pPr>
            <a:r>
              <a:rPr lang="zh-CN" altLang="en-US" sz="2800" dirty="0">
                <a:latin typeface="仿宋" panose="02010609060101010101" pitchFamily="49" charset="-122"/>
                <a:ea typeface="仿宋" panose="02010609060101010101" pitchFamily="49" charset="-122"/>
              </a:rPr>
              <a:t>函数调用自身来解决更小的子问题，直到达到基本情况，然后解决原始问题。</a:t>
            </a:r>
            <a:endParaRPr lang="en-US" altLang="zh-CN" sz="2800" dirty="0">
              <a:latin typeface="仿宋" panose="02010609060101010101" pitchFamily="49" charset="-122"/>
              <a:ea typeface="仿宋" panose="02010609060101010101" pitchFamily="49" charset="-122"/>
            </a:endParaRPr>
          </a:p>
          <a:p>
            <a:pPr marL="457200" indent="-457200">
              <a:buFont typeface="Arial" panose="020B0604020202020204" pitchFamily="34" charset="0"/>
              <a:buChar char="•"/>
            </a:pPr>
            <a:r>
              <a:rPr lang="zh-CN" altLang="en-US" sz="2800" dirty="0">
                <a:latin typeface="仿宋" panose="02010609060101010101" pitchFamily="49" charset="-122"/>
                <a:ea typeface="仿宋" panose="02010609060101010101" pitchFamily="49" charset="-122"/>
              </a:rPr>
              <a:t>求解斐波那契数列时可以通过</a:t>
            </a:r>
            <a:r>
              <a:rPr lang="en-US" altLang="zh-CN" sz="2800" dirty="0">
                <a:latin typeface="仿宋" panose="02010609060101010101" pitchFamily="49" charset="-122"/>
                <a:ea typeface="仿宋" panose="02010609060101010101" pitchFamily="49" charset="-122"/>
              </a:rPr>
              <a:t>F(n)=F(n-1)+F(n-2)</a:t>
            </a:r>
            <a:r>
              <a:rPr lang="zh-CN" altLang="en-US" sz="2800" dirty="0">
                <a:latin typeface="仿宋" panose="02010609060101010101" pitchFamily="49" charset="-122"/>
                <a:ea typeface="仿宋" panose="02010609060101010101" pitchFamily="49" charset="-122"/>
              </a:rPr>
              <a:t>这一条式子反复调用同一个函数来求解</a:t>
            </a:r>
            <a:r>
              <a:rPr lang="en-US" altLang="zh-CN" sz="2800" dirty="0">
                <a:latin typeface="仿宋" panose="02010609060101010101" pitchFamily="49" charset="-122"/>
                <a:ea typeface="仿宋" panose="02010609060101010101" pitchFamily="49" charset="-122"/>
              </a:rPr>
              <a:t>(</a:t>
            </a:r>
            <a:r>
              <a:rPr lang="zh-CN" altLang="en-US" sz="2800" dirty="0">
                <a:latin typeface="仿宋" panose="02010609060101010101" pitchFamily="49" charset="-122"/>
                <a:ea typeface="仿宋" panose="02010609060101010101" pitchFamily="49" charset="-122"/>
              </a:rPr>
              <a:t>其实递推的时空开销更小</a:t>
            </a:r>
            <a:r>
              <a:rPr lang="en-US" altLang="zh-CN" sz="2800" dirty="0">
                <a:latin typeface="仿宋" panose="02010609060101010101" pitchFamily="49" charset="-122"/>
                <a:ea typeface="仿宋" panose="02010609060101010101" pitchFamily="49" charset="-122"/>
              </a:rPr>
              <a:t>)</a:t>
            </a:r>
          </a:p>
          <a:p>
            <a:pPr marL="457200" indent="-457200">
              <a:buFont typeface="Arial" panose="020B0604020202020204" pitchFamily="34" charset="0"/>
              <a:buChar char="•"/>
            </a:pPr>
            <a:r>
              <a:rPr lang="zh-CN" altLang="en-US" sz="2800" dirty="0">
                <a:latin typeface="仿宋" panose="02010609060101010101" pitchFamily="49" charset="-122"/>
                <a:ea typeface="仿宋" panose="02010609060101010101" pitchFamily="49" charset="-122"/>
              </a:rPr>
              <a:t>汉诺塔问题</a:t>
            </a:r>
            <a:endParaRPr lang="en-US" altLang="zh-CN" sz="2800" dirty="0">
              <a:latin typeface="仿宋" panose="02010609060101010101" pitchFamily="49" charset="-122"/>
              <a:ea typeface="仿宋" panose="02010609060101010101" pitchFamily="49" charset="-122"/>
            </a:endParaRPr>
          </a:p>
        </p:txBody>
      </p:sp>
      <p:pic>
        <p:nvPicPr>
          <p:cNvPr id="9" name="图片 4">
            <a:extLst>
              <a:ext uri="{FF2B5EF4-FFF2-40B4-BE49-F238E27FC236}">
                <a16:creationId xmlns:a16="http://schemas.microsoft.com/office/drawing/2014/main" id="{7C2CE379-2C1C-38A2-79D1-2B45002F77CC}"/>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416425" y="6219825"/>
            <a:ext cx="542925" cy="542925"/>
          </a:xfrm>
          <a:prstGeom prst="rect">
            <a:avLst/>
          </a:prstGeom>
        </p:spPr>
      </p:pic>
    </p:spTree>
    <p:extLst>
      <p:ext uri="{BB962C8B-B14F-4D97-AF65-F5344CB8AC3E}">
        <p14:creationId xmlns:p14="http://schemas.microsoft.com/office/powerpoint/2010/main" val="3249948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8">
                                            <p:txEl>
                                              <p:pRg st="1" end="1"/>
                                            </p:txEl>
                                          </p:spTgt>
                                        </p:tgtEl>
                                        <p:attrNameLst>
                                          <p:attrName>style.visibility</p:attrName>
                                        </p:attrNameLst>
                                      </p:cBhvr>
                                      <p:to>
                                        <p:strVal val="visible"/>
                                      </p:to>
                                    </p:set>
                                    <p:animEffect transition="in" filter="fade">
                                      <p:cBhvr>
                                        <p:cTn id="10" dur="500"/>
                                        <p:tgtEl>
                                          <p:spTgt spid="8">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animEffect transition="in" filter="fade">
                                      <p:cBhvr>
                                        <p:cTn id="13" dur="500"/>
                                        <p:tgtEl>
                                          <p:spTgt spid="8">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8">
                                            <p:txEl>
                                              <p:pRg st="3" end="3"/>
                                            </p:txEl>
                                          </p:spTgt>
                                        </p:tgtEl>
                                        <p:attrNameLst>
                                          <p:attrName>style.visibility</p:attrName>
                                        </p:attrNameLst>
                                      </p:cBhvr>
                                      <p:to>
                                        <p:strVal val="visible"/>
                                      </p:to>
                                    </p:set>
                                    <p:animEffect transition="in" filter="fade">
                                      <p:cBhvr>
                                        <p:cTn id="18" dur="500"/>
                                        <p:tgtEl>
                                          <p:spTgt spid="8">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8">
                                            <p:txEl>
                                              <p:pRg st="4" end="4"/>
                                            </p:txEl>
                                          </p:spTgt>
                                        </p:tgtEl>
                                        <p:attrNameLst>
                                          <p:attrName>style.visibility</p:attrName>
                                        </p:attrNameLst>
                                      </p:cBhvr>
                                      <p:to>
                                        <p:strVal val="visible"/>
                                      </p:to>
                                    </p:set>
                                    <p:animEffect transition="in" filter="fade">
                                      <p:cBhvr>
                                        <p:cTn id="21" dur="500"/>
                                        <p:tgtEl>
                                          <p:spTgt spid="8">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8">
                                            <p:txEl>
                                              <p:pRg st="5" end="5"/>
                                            </p:txEl>
                                          </p:spTgt>
                                        </p:tgtEl>
                                        <p:attrNameLst>
                                          <p:attrName>style.visibility</p:attrName>
                                        </p:attrNameLst>
                                      </p:cBhvr>
                                      <p:to>
                                        <p:strVal val="visible"/>
                                      </p:to>
                                    </p:set>
                                    <p:animEffect transition="in" filter="fade">
                                      <p:cBhvr>
                                        <p:cTn id="24" dur="500"/>
                                        <p:tgtEl>
                                          <p:spTgt spid="8">
                                            <p:txEl>
                                              <p:pRg st="5" end="5"/>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8">
                                            <p:txEl>
                                              <p:pRg st="6" end="6"/>
                                            </p:txEl>
                                          </p:spTgt>
                                        </p:tgtEl>
                                        <p:attrNameLst>
                                          <p:attrName>style.visibility</p:attrName>
                                        </p:attrNameLst>
                                      </p:cBhvr>
                                      <p:to>
                                        <p:strVal val="visible"/>
                                      </p:to>
                                    </p:set>
                                    <p:animEffect transition="in" filter="fade">
                                      <p:cBhvr>
                                        <p:cTn id="27" dur="500"/>
                                        <p:tgtEl>
                                          <p:spTgt spid="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49F3DFEE-D615-10A4-3DFB-F10E842FD6FF}"/>
              </a:ext>
            </a:extLst>
          </p:cNvPr>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 name="直接连接符 2">
            <a:extLst>
              <a:ext uri="{FF2B5EF4-FFF2-40B4-BE49-F238E27FC236}">
                <a16:creationId xmlns:a16="http://schemas.microsoft.com/office/drawing/2014/main" id="{E448084C-00C1-2D46-B2E9-907AC7E07A63}"/>
              </a:ext>
            </a:extLst>
          </p:cNvPr>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4" name="图形 3">
            <a:extLst>
              <a:ext uri="{FF2B5EF4-FFF2-40B4-BE49-F238E27FC236}">
                <a16:creationId xmlns:a16="http://schemas.microsoft.com/office/drawing/2014/main" id="{C93BB0EF-03E3-F5C3-728A-B6DC40F04B4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6" name="文本框 5">
            <a:extLst>
              <a:ext uri="{FF2B5EF4-FFF2-40B4-BE49-F238E27FC236}">
                <a16:creationId xmlns:a16="http://schemas.microsoft.com/office/drawing/2014/main" id="{47E122C5-6879-554E-162C-5ECC1522BC4D}"/>
              </a:ext>
            </a:extLst>
          </p:cNvPr>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7" name="流程图: 数据 6">
            <a:extLst>
              <a:ext uri="{FF2B5EF4-FFF2-40B4-BE49-F238E27FC236}">
                <a16:creationId xmlns:a16="http://schemas.microsoft.com/office/drawing/2014/main" id="{FA2599B5-83F0-0877-AE36-EA66870919F8}"/>
              </a:ext>
            </a:extLst>
          </p:cNvPr>
          <p:cNvSpPr/>
          <p:nvPr/>
        </p:nvSpPr>
        <p:spPr>
          <a:xfrm>
            <a:off x="2173515" y="1972916"/>
            <a:ext cx="3251200" cy="1132114"/>
          </a:xfrm>
          <a:prstGeom prst="flowChartInputOutpu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800" dirty="0">
                <a:latin typeface="仿宋" panose="02010609060101010101" pitchFamily="49" charset="-122"/>
                <a:ea typeface="仿宋" panose="02010609060101010101" pitchFamily="49" charset="-122"/>
              </a:rPr>
              <a:t>输入</a:t>
            </a:r>
            <a:r>
              <a:rPr lang="en-US" altLang="zh-CN" sz="2800" dirty="0">
                <a:latin typeface="仿宋" panose="02010609060101010101" pitchFamily="49" charset="-122"/>
                <a:ea typeface="仿宋" panose="02010609060101010101" pitchFamily="49" charset="-122"/>
              </a:rPr>
              <a:t>/</a:t>
            </a:r>
            <a:r>
              <a:rPr lang="zh-CN" altLang="en-US" sz="2800" dirty="0">
                <a:latin typeface="仿宋" panose="02010609060101010101" pitchFamily="49" charset="-122"/>
                <a:ea typeface="仿宋" panose="02010609060101010101" pitchFamily="49" charset="-122"/>
              </a:rPr>
              <a:t>输出</a:t>
            </a:r>
          </a:p>
        </p:txBody>
      </p:sp>
      <p:sp>
        <p:nvSpPr>
          <p:cNvPr id="8" name="流程图: 过程 7">
            <a:extLst>
              <a:ext uri="{FF2B5EF4-FFF2-40B4-BE49-F238E27FC236}">
                <a16:creationId xmlns:a16="http://schemas.microsoft.com/office/drawing/2014/main" id="{4347E01F-B6AD-B44B-AC53-88239ADBF7DD}"/>
              </a:ext>
            </a:extLst>
          </p:cNvPr>
          <p:cNvSpPr/>
          <p:nvPr/>
        </p:nvSpPr>
        <p:spPr>
          <a:xfrm>
            <a:off x="6545944" y="1972916"/>
            <a:ext cx="2206171" cy="1124857"/>
          </a:xfrm>
          <a:prstGeom prst="flowChartProcess">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800" dirty="0">
                <a:latin typeface="仿宋" panose="02010609060101010101" pitchFamily="49" charset="-122"/>
                <a:ea typeface="仿宋" panose="02010609060101010101" pitchFamily="49" charset="-122"/>
              </a:rPr>
              <a:t>处理</a:t>
            </a:r>
          </a:p>
        </p:txBody>
      </p:sp>
      <p:sp>
        <p:nvSpPr>
          <p:cNvPr id="9" name="流程图: 决策 8">
            <a:extLst>
              <a:ext uri="{FF2B5EF4-FFF2-40B4-BE49-F238E27FC236}">
                <a16:creationId xmlns:a16="http://schemas.microsoft.com/office/drawing/2014/main" id="{323183E1-440B-46FA-2602-2A42E00E770E}"/>
              </a:ext>
            </a:extLst>
          </p:cNvPr>
          <p:cNvSpPr/>
          <p:nvPr/>
        </p:nvSpPr>
        <p:spPr>
          <a:xfrm>
            <a:off x="6585859" y="3921459"/>
            <a:ext cx="2126342" cy="1124857"/>
          </a:xfrm>
          <a:prstGeom prst="flowChartDecision">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800" dirty="0">
                <a:latin typeface="仿宋" panose="02010609060101010101" pitchFamily="49" charset="-122"/>
                <a:ea typeface="仿宋" panose="02010609060101010101" pitchFamily="49" charset="-122"/>
              </a:rPr>
              <a:t>判断</a:t>
            </a:r>
          </a:p>
        </p:txBody>
      </p:sp>
      <p:sp>
        <p:nvSpPr>
          <p:cNvPr id="10" name="流程图: 终止 9">
            <a:extLst>
              <a:ext uri="{FF2B5EF4-FFF2-40B4-BE49-F238E27FC236}">
                <a16:creationId xmlns:a16="http://schemas.microsoft.com/office/drawing/2014/main" id="{E43D70F7-D60E-04C5-9B4B-7B476699F4D6}"/>
              </a:ext>
            </a:extLst>
          </p:cNvPr>
          <p:cNvSpPr/>
          <p:nvPr/>
        </p:nvSpPr>
        <p:spPr>
          <a:xfrm>
            <a:off x="2630715" y="4084745"/>
            <a:ext cx="2024742" cy="885371"/>
          </a:xfrm>
          <a:prstGeom prst="flowChartTerminator">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800" dirty="0">
                <a:latin typeface="仿宋" panose="02010609060101010101" pitchFamily="49" charset="-122"/>
                <a:ea typeface="仿宋" panose="02010609060101010101" pitchFamily="49" charset="-122"/>
              </a:rPr>
              <a:t>开始</a:t>
            </a:r>
            <a:r>
              <a:rPr lang="en-US" altLang="zh-CN" sz="2800" dirty="0">
                <a:latin typeface="仿宋" panose="02010609060101010101" pitchFamily="49" charset="-122"/>
                <a:ea typeface="仿宋" panose="02010609060101010101" pitchFamily="49" charset="-122"/>
              </a:rPr>
              <a:t>/</a:t>
            </a:r>
            <a:r>
              <a:rPr lang="zh-CN" altLang="en-US" sz="2800" dirty="0">
                <a:latin typeface="仿宋" panose="02010609060101010101" pitchFamily="49" charset="-122"/>
                <a:ea typeface="仿宋" panose="02010609060101010101" pitchFamily="49" charset="-122"/>
              </a:rPr>
              <a:t>结束</a:t>
            </a:r>
          </a:p>
        </p:txBody>
      </p:sp>
      <p:sp>
        <p:nvSpPr>
          <p:cNvPr id="11" name="文本框 10">
            <a:extLst>
              <a:ext uri="{FF2B5EF4-FFF2-40B4-BE49-F238E27FC236}">
                <a16:creationId xmlns:a16="http://schemas.microsoft.com/office/drawing/2014/main" id="{ABE968BD-8FDC-EBE5-042C-49014458F1FD}"/>
              </a:ext>
            </a:extLst>
          </p:cNvPr>
          <p:cNvSpPr txBox="1"/>
          <p:nvPr/>
        </p:nvSpPr>
        <p:spPr>
          <a:xfrm>
            <a:off x="1649154" y="95250"/>
            <a:ext cx="5373007" cy="769441"/>
          </a:xfrm>
          <a:prstGeom prst="rect">
            <a:avLst/>
          </a:prstGeom>
          <a:noFill/>
        </p:spPr>
        <p:txBody>
          <a:bodyPr wrap="square" rtlCol="0">
            <a:spAutoFit/>
          </a:bodyPr>
          <a:lstStyle/>
          <a:p>
            <a:r>
              <a:rPr lang="zh-CN" altLang="en-US" sz="4400" dirty="0">
                <a:latin typeface="仿宋" panose="02010609060101010101" pitchFamily="49" charset="-122"/>
                <a:ea typeface="仿宋" panose="02010609060101010101" pitchFamily="49" charset="-122"/>
              </a:rPr>
              <a:t>流程框及其作用</a:t>
            </a:r>
            <a:endParaRPr lang="en-US" altLang="zh-CN" sz="4400" dirty="0">
              <a:latin typeface="仿宋" panose="02010609060101010101" pitchFamily="49" charset="-122"/>
              <a:ea typeface="仿宋" panose="02010609060101010101" pitchFamily="49" charset="-122"/>
            </a:endParaRPr>
          </a:p>
        </p:txBody>
      </p:sp>
      <p:pic>
        <p:nvPicPr>
          <p:cNvPr id="12" name="图片 4">
            <a:extLst>
              <a:ext uri="{FF2B5EF4-FFF2-40B4-BE49-F238E27FC236}">
                <a16:creationId xmlns:a16="http://schemas.microsoft.com/office/drawing/2014/main" id="{B4146F63-0CEC-76FC-AFFA-68D6865D290E}"/>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416425" y="6219825"/>
            <a:ext cx="542925" cy="542925"/>
          </a:xfrm>
          <a:prstGeom prst="rect">
            <a:avLst/>
          </a:prstGeom>
        </p:spPr>
      </p:pic>
    </p:spTree>
    <p:extLst>
      <p:ext uri="{BB962C8B-B14F-4D97-AF65-F5344CB8AC3E}">
        <p14:creationId xmlns:p14="http://schemas.microsoft.com/office/powerpoint/2010/main" val="26461326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49F3DFEE-D615-10A4-3DFB-F10E842FD6FF}"/>
              </a:ext>
            </a:extLst>
          </p:cNvPr>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 name="直接连接符 2">
            <a:extLst>
              <a:ext uri="{FF2B5EF4-FFF2-40B4-BE49-F238E27FC236}">
                <a16:creationId xmlns:a16="http://schemas.microsoft.com/office/drawing/2014/main" id="{E448084C-00C1-2D46-B2E9-907AC7E07A63}"/>
              </a:ext>
            </a:extLst>
          </p:cNvPr>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4" name="图形 3">
            <a:extLst>
              <a:ext uri="{FF2B5EF4-FFF2-40B4-BE49-F238E27FC236}">
                <a16:creationId xmlns:a16="http://schemas.microsoft.com/office/drawing/2014/main" id="{C93BB0EF-03E3-F5C3-728A-B6DC40F04B4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6" name="文本框 5">
            <a:extLst>
              <a:ext uri="{FF2B5EF4-FFF2-40B4-BE49-F238E27FC236}">
                <a16:creationId xmlns:a16="http://schemas.microsoft.com/office/drawing/2014/main" id="{47E122C5-6879-554E-162C-5ECC1522BC4D}"/>
              </a:ext>
            </a:extLst>
          </p:cNvPr>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7" name="文本框 6">
            <a:extLst>
              <a:ext uri="{FF2B5EF4-FFF2-40B4-BE49-F238E27FC236}">
                <a16:creationId xmlns:a16="http://schemas.microsoft.com/office/drawing/2014/main" id="{8B21B3A8-F638-B68B-A488-23AE83B7E5A1}"/>
              </a:ext>
            </a:extLst>
          </p:cNvPr>
          <p:cNvSpPr txBox="1"/>
          <p:nvPr/>
        </p:nvSpPr>
        <p:spPr>
          <a:xfrm>
            <a:off x="1040493" y="875921"/>
            <a:ext cx="2750456" cy="769441"/>
          </a:xfrm>
          <a:prstGeom prst="rect">
            <a:avLst/>
          </a:prstGeom>
          <a:noFill/>
        </p:spPr>
        <p:txBody>
          <a:bodyPr wrap="square" rtlCol="0">
            <a:spAutoFit/>
          </a:bodyPr>
          <a:lstStyle/>
          <a:p>
            <a:r>
              <a:rPr lang="zh-CN" altLang="en-US" sz="4400" dirty="0">
                <a:latin typeface="仿宋" panose="02010609060101010101" pitchFamily="49" charset="-122"/>
                <a:ea typeface="仿宋" panose="02010609060101010101" pitchFamily="49" charset="-122"/>
              </a:rPr>
              <a:t>顺序结构</a:t>
            </a:r>
            <a:endParaRPr lang="en-US" altLang="zh-CN" sz="4400" dirty="0">
              <a:latin typeface="仿宋" panose="02010609060101010101" pitchFamily="49" charset="-122"/>
              <a:ea typeface="仿宋" panose="02010609060101010101" pitchFamily="49" charset="-122"/>
            </a:endParaRPr>
          </a:p>
        </p:txBody>
      </p:sp>
      <p:sp>
        <p:nvSpPr>
          <p:cNvPr id="8" name="文本框 7">
            <a:extLst>
              <a:ext uri="{FF2B5EF4-FFF2-40B4-BE49-F238E27FC236}">
                <a16:creationId xmlns:a16="http://schemas.microsoft.com/office/drawing/2014/main" id="{F817B1B8-6166-524B-B1D0-FE767C5A3028}"/>
              </a:ext>
            </a:extLst>
          </p:cNvPr>
          <p:cNvSpPr txBox="1"/>
          <p:nvPr/>
        </p:nvSpPr>
        <p:spPr>
          <a:xfrm>
            <a:off x="3992338" y="901198"/>
            <a:ext cx="2750456" cy="769441"/>
          </a:xfrm>
          <a:prstGeom prst="rect">
            <a:avLst/>
          </a:prstGeom>
          <a:noFill/>
        </p:spPr>
        <p:txBody>
          <a:bodyPr wrap="square" rtlCol="0">
            <a:spAutoFit/>
          </a:bodyPr>
          <a:lstStyle/>
          <a:p>
            <a:r>
              <a:rPr lang="zh-CN" altLang="en-US" sz="4400" dirty="0">
                <a:latin typeface="仿宋" panose="02010609060101010101" pitchFamily="49" charset="-122"/>
                <a:ea typeface="仿宋" panose="02010609060101010101" pitchFamily="49" charset="-122"/>
              </a:rPr>
              <a:t>选择结构</a:t>
            </a:r>
            <a:endParaRPr lang="en-US" altLang="zh-CN" sz="4400" dirty="0">
              <a:latin typeface="仿宋" panose="02010609060101010101" pitchFamily="49" charset="-122"/>
              <a:ea typeface="仿宋" panose="02010609060101010101" pitchFamily="49" charset="-122"/>
            </a:endParaRPr>
          </a:p>
        </p:txBody>
      </p:sp>
      <p:sp>
        <p:nvSpPr>
          <p:cNvPr id="9" name="文本框 8">
            <a:extLst>
              <a:ext uri="{FF2B5EF4-FFF2-40B4-BE49-F238E27FC236}">
                <a16:creationId xmlns:a16="http://schemas.microsoft.com/office/drawing/2014/main" id="{639DBEDE-90E0-160A-A068-3BB1C66579B5}"/>
              </a:ext>
            </a:extLst>
          </p:cNvPr>
          <p:cNvSpPr txBox="1"/>
          <p:nvPr/>
        </p:nvSpPr>
        <p:spPr>
          <a:xfrm>
            <a:off x="7414988" y="909382"/>
            <a:ext cx="2750456" cy="769441"/>
          </a:xfrm>
          <a:prstGeom prst="rect">
            <a:avLst/>
          </a:prstGeom>
          <a:noFill/>
        </p:spPr>
        <p:txBody>
          <a:bodyPr wrap="square" rtlCol="0">
            <a:spAutoFit/>
          </a:bodyPr>
          <a:lstStyle/>
          <a:p>
            <a:r>
              <a:rPr lang="zh-CN" altLang="en-US" sz="4400" dirty="0">
                <a:latin typeface="仿宋" panose="02010609060101010101" pitchFamily="49" charset="-122"/>
                <a:ea typeface="仿宋" panose="02010609060101010101" pitchFamily="49" charset="-122"/>
              </a:rPr>
              <a:t>循环结构</a:t>
            </a:r>
            <a:endParaRPr lang="en-US" altLang="zh-CN" sz="4400" dirty="0">
              <a:latin typeface="仿宋" panose="02010609060101010101" pitchFamily="49" charset="-122"/>
              <a:ea typeface="仿宋" panose="02010609060101010101" pitchFamily="49" charset="-122"/>
            </a:endParaRPr>
          </a:p>
        </p:txBody>
      </p:sp>
      <p:sp>
        <p:nvSpPr>
          <p:cNvPr id="10" name="矩形 9">
            <a:extLst>
              <a:ext uri="{FF2B5EF4-FFF2-40B4-BE49-F238E27FC236}">
                <a16:creationId xmlns:a16="http://schemas.microsoft.com/office/drawing/2014/main" id="{24A68EF8-D60D-1EF9-2934-D8222327413F}"/>
              </a:ext>
            </a:extLst>
          </p:cNvPr>
          <p:cNvSpPr/>
          <p:nvPr/>
        </p:nvSpPr>
        <p:spPr>
          <a:xfrm>
            <a:off x="1628593" y="1992870"/>
            <a:ext cx="1248228" cy="7474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11" name="矩形 10">
            <a:extLst>
              <a:ext uri="{FF2B5EF4-FFF2-40B4-BE49-F238E27FC236}">
                <a16:creationId xmlns:a16="http://schemas.microsoft.com/office/drawing/2014/main" id="{AF0A184F-FCE9-619B-A7D5-CB7C6DAD5C13}"/>
              </a:ext>
            </a:extLst>
          </p:cNvPr>
          <p:cNvSpPr/>
          <p:nvPr/>
        </p:nvSpPr>
        <p:spPr>
          <a:xfrm>
            <a:off x="1628593" y="3349956"/>
            <a:ext cx="1248228" cy="7474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12" name="矩形 11">
            <a:extLst>
              <a:ext uri="{FF2B5EF4-FFF2-40B4-BE49-F238E27FC236}">
                <a16:creationId xmlns:a16="http://schemas.microsoft.com/office/drawing/2014/main" id="{A745FFD1-7F81-C857-9E92-F59DEA769470}"/>
              </a:ext>
            </a:extLst>
          </p:cNvPr>
          <p:cNvSpPr/>
          <p:nvPr/>
        </p:nvSpPr>
        <p:spPr>
          <a:xfrm>
            <a:off x="1628593" y="4815899"/>
            <a:ext cx="1248228" cy="7474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cxnSp>
        <p:nvCxnSpPr>
          <p:cNvPr id="13" name="直接箭头连接符 12">
            <a:extLst>
              <a:ext uri="{FF2B5EF4-FFF2-40B4-BE49-F238E27FC236}">
                <a16:creationId xmlns:a16="http://schemas.microsoft.com/office/drawing/2014/main" id="{1E243A4B-46D6-3F52-24C5-C6FB74D4AA66}"/>
              </a:ext>
            </a:extLst>
          </p:cNvPr>
          <p:cNvCxnSpPr>
            <a:stCxn id="10" idx="2"/>
            <a:endCxn id="11" idx="0"/>
          </p:cNvCxnSpPr>
          <p:nvPr/>
        </p:nvCxnSpPr>
        <p:spPr>
          <a:xfrm>
            <a:off x="2252707" y="2740356"/>
            <a:ext cx="0" cy="6096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直接箭头连接符 13">
            <a:extLst>
              <a:ext uri="{FF2B5EF4-FFF2-40B4-BE49-F238E27FC236}">
                <a16:creationId xmlns:a16="http://schemas.microsoft.com/office/drawing/2014/main" id="{B4D1E4A6-B00E-0442-55E6-9206172E4F04}"/>
              </a:ext>
            </a:extLst>
          </p:cNvPr>
          <p:cNvCxnSpPr>
            <a:cxnSpLocks/>
            <a:stCxn id="11" idx="2"/>
            <a:endCxn id="12" idx="0"/>
          </p:cNvCxnSpPr>
          <p:nvPr/>
        </p:nvCxnSpPr>
        <p:spPr>
          <a:xfrm>
            <a:off x="2252707" y="4097442"/>
            <a:ext cx="0" cy="7184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流程图: 决策 14">
            <a:extLst>
              <a:ext uri="{FF2B5EF4-FFF2-40B4-BE49-F238E27FC236}">
                <a16:creationId xmlns:a16="http://schemas.microsoft.com/office/drawing/2014/main" id="{3512A9D4-180F-82B6-44F9-6C74124A1DBA}"/>
              </a:ext>
            </a:extLst>
          </p:cNvPr>
          <p:cNvSpPr/>
          <p:nvPr/>
        </p:nvSpPr>
        <p:spPr>
          <a:xfrm>
            <a:off x="4571065" y="2243740"/>
            <a:ext cx="1545768" cy="769441"/>
          </a:xfrm>
          <a:prstGeom prst="flowChartDecision">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a:t>
            </a:r>
            <a:endParaRPr lang="zh-CN" altLang="en-US" dirty="0"/>
          </a:p>
        </p:txBody>
      </p:sp>
      <p:cxnSp>
        <p:nvCxnSpPr>
          <p:cNvPr id="16" name="连接符: 肘形 15">
            <a:extLst>
              <a:ext uri="{FF2B5EF4-FFF2-40B4-BE49-F238E27FC236}">
                <a16:creationId xmlns:a16="http://schemas.microsoft.com/office/drawing/2014/main" id="{C9D26256-4D44-2E61-06FF-059BBBB3D792}"/>
              </a:ext>
            </a:extLst>
          </p:cNvPr>
          <p:cNvCxnSpPr>
            <a:cxnSpLocks/>
            <a:stCxn id="15" idx="3"/>
            <a:endCxn id="19" idx="0"/>
          </p:cNvCxnSpPr>
          <p:nvPr/>
        </p:nvCxnSpPr>
        <p:spPr>
          <a:xfrm>
            <a:off x="6116833" y="2628461"/>
            <a:ext cx="302078" cy="1179284"/>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17" name="连接符: 肘形 16">
            <a:extLst>
              <a:ext uri="{FF2B5EF4-FFF2-40B4-BE49-F238E27FC236}">
                <a16:creationId xmlns:a16="http://schemas.microsoft.com/office/drawing/2014/main" id="{8B11F65E-D6A9-05EB-C8FB-F87CA2D81614}"/>
              </a:ext>
            </a:extLst>
          </p:cNvPr>
          <p:cNvCxnSpPr>
            <a:cxnSpLocks/>
            <a:stCxn id="15" idx="1"/>
            <a:endCxn id="18" idx="0"/>
          </p:cNvCxnSpPr>
          <p:nvPr/>
        </p:nvCxnSpPr>
        <p:spPr>
          <a:xfrm rot="10800000" flipV="1">
            <a:off x="4180989" y="2628461"/>
            <a:ext cx="390076" cy="1179284"/>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18" name="矩形 17">
            <a:extLst>
              <a:ext uri="{FF2B5EF4-FFF2-40B4-BE49-F238E27FC236}">
                <a16:creationId xmlns:a16="http://schemas.microsoft.com/office/drawing/2014/main" id="{1094E1F2-2FFD-1875-47C9-B0673C82236E}"/>
              </a:ext>
            </a:extLst>
          </p:cNvPr>
          <p:cNvSpPr/>
          <p:nvPr/>
        </p:nvSpPr>
        <p:spPr>
          <a:xfrm>
            <a:off x="3556875" y="3807745"/>
            <a:ext cx="1248228" cy="62593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19" name="矩形 18">
            <a:extLst>
              <a:ext uri="{FF2B5EF4-FFF2-40B4-BE49-F238E27FC236}">
                <a16:creationId xmlns:a16="http://schemas.microsoft.com/office/drawing/2014/main" id="{A8E0D65C-1252-6C88-742C-E190DFDFD404}"/>
              </a:ext>
            </a:extLst>
          </p:cNvPr>
          <p:cNvSpPr/>
          <p:nvPr/>
        </p:nvSpPr>
        <p:spPr>
          <a:xfrm>
            <a:off x="5794797" y="3807745"/>
            <a:ext cx="1248228" cy="62593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cxnSp>
        <p:nvCxnSpPr>
          <p:cNvPr id="20" name="连接符: 肘形 19">
            <a:extLst>
              <a:ext uri="{FF2B5EF4-FFF2-40B4-BE49-F238E27FC236}">
                <a16:creationId xmlns:a16="http://schemas.microsoft.com/office/drawing/2014/main" id="{319D1725-9E71-7584-0C5A-A621B6F62AD7}"/>
              </a:ext>
            </a:extLst>
          </p:cNvPr>
          <p:cNvCxnSpPr>
            <a:cxnSpLocks/>
            <a:stCxn id="18" idx="2"/>
          </p:cNvCxnSpPr>
          <p:nvPr/>
        </p:nvCxnSpPr>
        <p:spPr>
          <a:xfrm rot="16200000" flipH="1">
            <a:off x="4625488" y="3989177"/>
            <a:ext cx="747484" cy="1636482"/>
          </a:xfrm>
          <a:prstGeom prst="bentConnector2">
            <a:avLst/>
          </a:prstGeom>
        </p:spPr>
        <p:style>
          <a:lnRef idx="1">
            <a:schemeClr val="dk1"/>
          </a:lnRef>
          <a:fillRef idx="0">
            <a:schemeClr val="dk1"/>
          </a:fillRef>
          <a:effectRef idx="0">
            <a:schemeClr val="dk1"/>
          </a:effectRef>
          <a:fontRef idx="minor">
            <a:schemeClr val="tx1"/>
          </a:fontRef>
        </p:style>
      </p:cxnSp>
      <p:cxnSp>
        <p:nvCxnSpPr>
          <p:cNvPr id="21" name="连接符: 肘形 20">
            <a:extLst>
              <a:ext uri="{FF2B5EF4-FFF2-40B4-BE49-F238E27FC236}">
                <a16:creationId xmlns:a16="http://schemas.microsoft.com/office/drawing/2014/main" id="{FB36E925-0FE9-7E0E-2BE3-9871079F7EF4}"/>
              </a:ext>
            </a:extLst>
          </p:cNvPr>
          <p:cNvCxnSpPr>
            <a:cxnSpLocks/>
            <a:stCxn id="19" idx="2"/>
          </p:cNvCxnSpPr>
          <p:nvPr/>
        </p:nvCxnSpPr>
        <p:spPr>
          <a:xfrm rot="5400000">
            <a:off x="5060923" y="3823174"/>
            <a:ext cx="747486" cy="1968490"/>
          </a:xfrm>
          <a:prstGeom prst="bentConnector2">
            <a:avLst/>
          </a:prstGeom>
        </p:spPr>
        <p:style>
          <a:lnRef idx="1">
            <a:schemeClr val="dk1"/>
          </a:lnRef>
          <a:fillRef idx="0">
            <a:schemeClr val="dk1"/>
          </a:fillRef>
          <a:effectRef idx="0">
            <a:schemeClr val="dk1"/>
          </a:effectRef>
          <a:fontRef idx="minor">
            <a:schemeClr val="tx1"/>
          </a:fontRef>
        </p:style>
      </p:cxnSp>
      <p:cxnSp>
        <p:nvCxnSpPr>
          <p:cNvPr id="22" name="直接箭头连接符 21">
            <a:extLst>
              <a:ext uri="{FF2B5EF4-FFF2-40B4-BE49-F238E27FC236}">
                <a16:creationId xmlns:a16="http://schemas.microsoft.com/office/drawing/2014/main" id="{207EF251-4EE5-C0E8-42BF-8267832C2D5D}"/>
              </a:ext>
            </a:extLst>
          </p:cNvPr>
          <p:cNvCxnSpPr/>
          <p:nvPr/>
        </p:nvCxnSpPr>
        <p:spPr>
          <a:xfrm>
            <a:off x="5343949" y="5181160"/>
            <a:ext cx="0" cy="7505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3" name="流程图: 决策 22">
            <a:extLst>
              <a:ext uri="{FF2B5EF4-FFF2-40B4-BE49-F238E27FC236}">
                <a16:creationId xmlns:a16="http://schemas.microsoft.com/office/drawing/2014/main" id="{214B20A4-DF05-1A09-1674-AEB4FCA303B0}"/>
              </a:ext>
            </a:extLst>
          </p:cNvPr>
          <p:cNvSpPr/>
          <p:nvPr/>
        </p:nvSpPr>
        <p:spPr>
          <a:xfrm>
            <a:off x="8152465" y="2304336"/>
            <a:ext cx="1545768" cy="769441"/>
          </a:xfrm>
          <a:prstGeom prst="flowChartDecision">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a:t>
            </a:r>
            <a:endParaRPr lang="zh-CN" altLang="en-US" dirty="0"/>
          </a:p>
        </p:txBody>
      </p:sp>
      <p:sp>
        <p:nvSpPr>
          <p:cNvPr id="24" name="矩形 23">
            <a:extLst>
              <a:ext uri="{FF2B5EF4-FFF2-40B4-BE49-F238E27FC236}">
                <a16:creationId xmlns:a16="http://schemas.microsoft.com/office/drawing/2014/main" id="{BEF89824-0D38-C1A7-5057-CB834066AD50}"/>
              </a:ext>
            </a:extLst>
          </p:cNvPr>
          <p:cNvSpPr/>
          <p:nvPr/>
        </p:nvSpPr>
        <p:spPr>
          <a:xfrm>
            <a:off x="8301235" y="3702423"/>
            <a:ext cx="1248228" cy="62593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cxnSp>
        <p:nvCxnSpPr>
          <p:cNvPr id="25" name="直接箭头连接符 24">
            <a:extLst>
              <a:ext uri="{FF2B5EF4-FFF2-40B4-BE49-F238E27FC236}">
                <a16:creationId xmlns:a16="http://schemas.microsoft.com/office/drawing/2014/main" id="{44585BDA-4E28-7E14-EBFD-DFCFBB30AF4A}"/>
              </a:ext>
            </a:extLst>
          </p:cNvPr>
          <p:cNvCxnSpPr>
            <a:cxnSpLocks/>
            <a:stCxn id="23" idx="2"/>
            <a:endCxn id="24" idx="0"/>
          </p:cNvCxnSpPr>
          <p:nvPr/>
        </p:nvCxnSpPr>
        <p:spPr>
          <a:xfrm>
            <a:off x="8925349" y="3073777"/>
            <a:ext cx="0" cy="62864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连接符: 肘形 25">
            <a:extLst>
              <a:ext uri="{FF2B5EF4-FFF2-40B4-BE49-F238E27FC236}">
                <a16:creationId xmlns:a16="http://schemas.microsoft.com/office/drawing/2014/main" id="{7EC92B19-B7EE-8F31-3BE9-4D753D305AAF}"/>
              </a:ext>
            </a:extLst>
          </p:cNvPr>
          <p:cNvCxnSpPr>
            <a:cxnSpLocks/>
            <a:endCxn id="24" idx="1"/>
          </p:cNvCxnSpPr>
          <p:nvPr/>
        </p:nvCxnSpPr>
        <p:spPr>
          <a:xfrm rot="16200000" flipH="1">
            <a:off x="6943153" y="2657307"/>
            <a:ext cx="1881140" cy="835024"/>
          </a:xfrm>
          <a:prstGeom prst="bentConnector2">
            <a:avLst/>
          </a:prstGeom>
        </p:spPr>
        <p:style>
          <a:lnRef idx="1">
            <a:schemeClr val="dk1"/>
          </a:lnRef>
          <a:fillRef idx="0">
            <a:schemeClr val="dk1"/>
          </a:fillRef>
          <a:effectRef idx="0">
            <a:schemeClr val="dk1"/>
          </a:effectRef>
          <a:fontRef idx="minor">
            <a:schemeClr val="tx1"/>
          </a:fontRef>
        </p:style>
      </p:cxnSp>
      <p:cxnSp>
        <p:nvCxnSpPr>
          <p:cNvPr id="27" name="直接箭头连接符 26">
            <a:extLst>
              <a:ext uri="{FF2B5EF4-FFF2-40B4-BE49-F238E27FC236}">
                <a16:creationId xmlns:a16="http://schemas.microsoft.com/office/drawing/2014/main" id="{464FB64B-3CD7-6A1C-CAB2-107CE927DF89}"/>
              </a:ext>
            </a:extLst>
          </p:cNvPr>
          <p:cNvCxnSpPr>
            <a:cxnSpLocks/>
          </p:cNvCxnSpPr>
          <p:nvPr/>
        </p:nvCxnSpPr>
        <p:spPr>
          <a:xfrm>
            <a:off x="7466211" y="2134249"/>
            <a:ext cx="145913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直接箭头连接符 27">
            <a:extLst>
              <a:ext uri="{FF2B5EF4-FFF2-40B4-BE49-F238E27FC236}">
                <a16:creationId xmlns:a16="http://schemas.microsoft.com/office/drawing/2014/main" id="{F0112CB2-3C0F-ADBF-1E3E-4DD09691C6AE}"/>
              </a:ext>
            </a:extLst>
          </p:cNvPr>
          <p:cNvCxnSpPr>
            <a:cxnSpLocks/>
            <a:endCxn id="15" idx="0"/>
          </p:cNvCxnSpPr>
          <p:nvPr/>
        </p:nvCxnSpPr>
        <p:spPr>
          <a:xfrm>
            <a:off x="5343949" y="1639316"/>
            <a:ext cx="0" cy="60442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直接箭头连接符 28">
            <a:extLst>
              <a:ext uri="{FF2B5EF4-FFF2-40B4-BE49-F238E27FC236}">
                <a16:creationId xmlns:a16="http://schemas.microsoft.com/office/drawing/2014/main" id="{B3ED4300-9072-AC08-9AA8-FD39801B45CC}"/>
              </a:ext>
            </a:extLst>
          </p:cNvPr>
          <p:cNvCxnSpPr>
            <a:cxnSpLocks/>
            <a:endCxn id="23" idx="0"/>
          </p:cNvCxnSpPr>
          <p:nvPr/>
        </p:nvCxnSpPr>
        <p:spPr>
          <a:xfrm>
            <a:off x="8925349" y="1549008"/>
            <a:ext cx="0" cy="75532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连接符: 肘形 29">
            <a:extLst>
              <a:ext uri="{FF2B5EF4-FFF2-40B4-BE49-F238E27FC236}">
                <a16:creationId xmlns:a16="http://schemas.microsoft.com/office/drawing/2014/main" id="{4C741A53-6B52-5181-8A25-7B47F56B2638}"/>
              </a:ext>
            </a:extLst>
          </p:cNvPr>
          <p:cNvCxnSpPr>
            <a:cxnSpLocks/>
            <a:stCxn id="23" idx="3"/>
          </p:cNvCxnSpPr>
          <p:nvPr/>
        </p:nvCxnSpPr>
        <p:spPr>
          <a:xfrm>
            <a:off x="9698233" y="2689057"/>
            <a:ext cx="1174750" cy="2377713"/>
          </a:xfrm>
          <a:prstGeom prst="bentConnector2">
            <a:avLst/>
          </a:prstGeom>
        </p:spPr>
        <p:style>
          <a:lnRef idx="1">
            <a:schemeClr val="dk1"/>
          </a:lnRef>
          <a:fillRef idx="0">
            <a:schemeClr val="dk1"/>
          </a:fillRef>
          <a:effectRef idx="0">
            <a:schemeClr val="dk1"/>
          </a:effectRef>
          <a:fontRef idx="minor">
            <a:schemeClr val="tx1"/>
          </a:fontRef>
        </p:style>
      </p:cxnSp>
      <p:cxnSp>
        <p:nvCxnSpPr>
          <p:cNvPr id="31" name="连接符: 肘形 30">
            <a:extLst>
              <a:ext uri="{FF2B5EF4-FFF2-40B4-BE49-F238E27FC236}">
                <a16:creationId xmlns:a16="http://schemas.microsoft.com/office/drawing/2014/main" id="{A8F3627E-992C-97E0-2AB5-A000BE1DF3F9}"/>
              </a:ext>
            </a:extLst>
          </p:cNvPr>
          <p:cNvCxnSpPr>
            <a:cxnSpLocks/>
            <a:endCxn id="32" idx="0"/>
          </p:cNvCxnSpPr>
          <p:nvPr/>
        </p:nvCxnSpPr>
        <p:spPr>
          <a:xfrm rot="10800000" flipV="1">
            <a:off x="8925350" y="5066771"/>
            <a:ext cx="1947639" cy="224604"/>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32" name="矩形 31">
            <a:extLst>
              <a:ext uri="{FF2B5EF4-FFF2-40B4-BE49-F238E27FC236}">
                <a16:creationId xmlns:a16="http://schemas.microsoft.com/office/drawing/2014/main" id="{CB2181C0-F349-B8B5-C3C2-BF283A515DB5}"/>
              </a:ext>
            </a:extLst>
          </p:cNvPr>
          <p:cNvSpPr/>
          <p:nvPr/>
        </p:nvSpPr>
        <p:spPr>
          <a:xfrm>
            <a:off x="8301235" y="5291375"/>
            <a:ext cx="1248228" cy="62593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33" name="文本框 32">
            <a:extLst>
              <a:ext uri="{FF2B5EF4-FFF2-40B4-BE49-F238E27FC236}">
                <a16:creationId xmlns:a16="http://schemas.microsoft.com/office/drawing/2014/main" id="{FC6AC082-8C6A-FA51-1961-64056FC2F405}"/>
              </a:ext>
            </a:extLst>
          </p:cNvPr>
          <p:cNvSpPr txBox="1"/>
          <p:nvPr/>
        </p:nvSpPr>
        <p:spPr>
          <a:xfrm>
            <a:off x="6069213" y="2192669"/>
            <a:ext cx="311304" cy="369332"/>
          </a:xfrm>
          <a:prstGeom prst="rect">
            <a:avLst/>
          </a:prstGeom>
          <a:noFill/>
        </p:spPr>
        <p:txBody>
          <a:bodyPr wrap="square" rtlCol="0">
            <a:spAutoFit/>
          </a:bodyPr>
          <a:lstStyle/>
          <a:p>
            <a:r>
              <a:rPr lang="en-US" altLang="zh-CN" dirty="0"/>
              <a:t>N</a:t>
            </a:r>
            <a:endParaRPr lang="zh-CN" altLang="en-US" dirty="0"/>
          </a:p>
        </p:txBody>
      </p:sp>
      <p:sp>
        <p:nvSpPr>
          <p:cNvPr id="34" name="文本框 33">
            <a:extLst>
              <a:ext uri="{FF2B5EF4-FFF2-40B4-BE49-F238E27FC236}">
                <a16:creationId xmlns:a16="http://schemas.microsoft.com/office/drawing/2014/main" id="{6A6F34DD-E552-9F30-4D43-AC50A98A8BC6}"/>
              </a:ext>
            </a:extLst>
          </p:cNvPr>
          <p:cNvSpPr txBox="1"/>
          <p:nvPr/>
        </p:nvSpPr>
        <p:spPr>
          <a:xfrm>
            <a:off x="4307381" y="2192669"/>
            <a:ext cx="311304" cy="369332"/>
          </a:xfrm>
          <a:prstGeom prst="rect">
            <a:avLst/>
          </a:prstGeom>
          <a:noFill/>
        </p:spPr>
        <p:txBody>
          <a:bodyPr wrap="square" rtlCol="0">
            <a:spAutoFit/>
          </a:bodyPr>
          <a:lstStyle/>
          <a:p>
            <a:r>
              <a:rPr lang="en-US" altLang="zh-CN" dirty="0"/>
              <a:t>Y</a:t>
            </a:r>
            <a:endParaRPr lang="zh-CN" altLang="en-US" dirty="0"/>
          </a:p>
        </p:txBody>
      </p:sp>
      <p:sp>
        <p:nvSpPr>
          <p:cNvPr id="35" name="文本框 34">
            <a:extLst>
              <a:ext uri="{FF2B5EF4-FFF2-40B4-BE49-F238E27FC236}">
                <a16:creationId xmlns:a16="http://schemas.microsoft.com/office/drawing/2014/main" id="{85C11AC3-CA5D-CC24-B859-13BC97872CCB}"/>
              </a:ext>
            </a:extLst>
          </p:cNvPr>
          <p:cNvSpPr txBox="1"/>
          <p:nvPr/>
        </p:nvSpPr>
        <p:spPr>
          <a:xfrm>
            <a:off x="9743517" y="2326249"/>
            <a:ext cx="311304" cy="369332"/>
          </a:xfrm>
          <a:prstGeom prst="rect">
            <a:avLst/>
          </a:prstGeom>
          <a:noFill/>
        </p:spPr>
        <p:txBody>
          <a:bodyPr wrap="square" rtlCol="0">
            <a:spAutoFit/>
          </a:bodyPr>
          <a:lstStyle/>
          <a:p>
            <a:r>
              <a:rPr lang="en-US" altLang="zh-CN" dirty="0"/>
              <a:t>N</a:t>
            </a:r>
            <a:endParaRPr lang="zh-CN" altLang="en-US" dirty="0"/>
          </a:p>
        </p:txBody>
      </p:sp>
      <p:sp>
        <p:nvSpPr>
          <p:cNvPr id="36" name="文本框 35">
            <a:extLst>
              <a:ext uri="{FF2B5EF4-FFF2-40B4-BE49-F238E27FC236}">
                <a16:creationId xmlns:a16="http://schemas.microsoft.com/office/drawing/2014/main" id="{873E7273-39A3-A89A-F83F-51D789A8596F}"/>
              </a:ext>
            </a:extLst>
          </p:cNvPr>
          <p:cNvSpPr txBox="1"/>
          <p:nvPr/>
        </p:nvSpPr>
        <p:spPr>
          <a:xfrm>
            <a:off x="9037231" y="3109743"/>
            <a:ext cx="311304" cy="369332"/>
          </a:xfrm>
          <a:prstGeom prst="rect">
            <a:avLst/>
          </a:prstGeom>
          <a:noFill/>
        </p:spPr>
        <p:txBody>
          <a:bodyPr wrap="square" rtlCol="0">
            <a:spAutoFit/>
          </a:bodyPr>
          <a:lstStyle/>
          <a:p>
            <a:r>
              <a:rPr lang="en-US" altLang="zh-CN" dirty="0"/>
              <a:t>Y</a:t>
            </a:r>
            <a:endParaRPr lang="zh-CN" altLang="en-US" dirty="0"/>
          </a:p>
        </p:txBody>
      </p:sp>
      <p:sp>
        <p:nvSpPr>
          <p:cNvPr id="37" name="文本框 36">
            <a:extLst>
              <a:ext uri="{FF2B5EF4-FFF2-40B4-BE49-F238E27FC236}">
                <a16:creationId xmlns:a16="http://schemas.microsoft.com/office/drawing/2014/main" id="{8B1AC510-D0E4-0730-0D9F-8053C34B6D28}"/>
              </a:ext>
            </a:extLst>
          </p:cNvPr>
          <p:cNvSpPr txBox="1"/>
          <p:nvPr/>
        </p:nvSpPr>
        <p:spPr>
          <a:xfrm>
            <a:off x="1502650" y="64909"/>
            <a:ext cx="6415799" cy="769441"/>
          </a:xfrm>
          <a:prstGeom prst="rect">
            <a:avLst/>
          </a:prstGeom>
          <a:noFill/>
        </p:spPr>
        <p:txBody>
          <a:bodyPr wrap="square" rtlCol="0">
            <a:spAutoFit/>
          </a:bodyPr>
          <a:lstStyle/>
          <a:p>
            <a:r>
              <a:rPr lang="zh-CN" altLang="en-US" sz="4400" dirty="0">
                <a:latin typeface="仿宋" panose="02010609060101010101" pitchFamily="49" charset="-122"/>
                <a:ea typeface="仿宋" panose="02010609060101010101" pitchFamily="49" charset="-122"/>
              </a:rPr>
              <a:t>算法的三种基本结构</a:t>
            </a:r>
            <a:endParaRPr lang="en-US" altLang="zh-CN" sz="4400" dirty="0">
              <a:latin typeface="仿宋" panose="02010609060101010101" pitchFamily="49" charset="-122"/>
              <a:ea typeface="仿宋" panose="02010609060101010101" pitchFamily="49" charset="-122"/>
            </a:endParaRPr>
          </a:p>
        </p:txBody>
      </p:sp>
      <p:pic>
        <p:nvPicPr>
          <p:cNvPr id="38" name="图片 4">
            <a:extLst>
              <a:ext uri="{FF2B5EF4-FFF2-40B4-BE49-F238E27FC236}">
                <a16:creationId xmlns:a16="http://schemas.microsoft.com/office/drawing/2014/main" id="{EA168999-E5C8-D07A-5558-32949FB58DAE}"/>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416425" y="6219825"/>
            <a:ext cx="542925" cy="542925"/>
          </a:xfrm>
          <a:prstGeom prst="rect">
            <a:avLst/>
          </a:prstGeom>
        </p:spPr>
      </p:pic>
    </p:spTree>
    <p:extLst>
      <p:ext uri="{BB962C8B-B14F-4D97-AF65-F5344CB8AC3E}">
        <p14:creationId xmlns:p14="http://schemas.microsoft.com/office/powerpoint/2010/main" val="12968654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500"/>
                                        <p:tgtEl>
                                          <p:spTgt spid="1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500"/>
                                        <p:tgtEl>
                                          <p:spTgt spid="15"/>
                                        </p:tgtEl>
                                      </p:cBhvr>
                                    </p:animEffect>
                                  </p:childTnLst>
                                </p:cTn>
                              </p:par>
                              <p:par>
                                <p:cTn id="31" presetID="10"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500"/>
                                        <p:tgtEl>
                                          <p:spTgt spid="16"/>
                                        </p:tgtEl>
                                      </p:cBhvr>
                                    </p:animEffect>
                                  </p:childTnLst>
                                </p:cTn>
                              </p:par>
                              <p:par>
                                <p:cTn id="34" presetID="10" presetClass="entr" presetSubtype="0"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500"/>
                                        <p:tgtEl>
                                          <p:spTgt spid="17"/>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500"/>
                                        <p:tgtEl>
                                          <p:spTgt spid="1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500"/>
                                        <p:tgtEl>
                                          <p:spTgt spid="19"/>
                                        </p:tgtEl>
                                      </p:cBhvr>
                                    </p:animEffect>
                                  </p:childTnLst>
                                </p:cTn>
                              </p:par>
                              <p:par>
                                <p:cTn id="43" presetID="10" presetClass="entr" presetSubtype="0" fill="hold" nodeType="with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500"/>
                                        <p:tgtEl>
                                          <p:spTgt spid="20"/>
                                        </p:tgtEl>
                                      </p:cBhvr>
                                    </p:animEffect>
                                  </p:childTnLst>
                                </p:cTn>
                              </p:par>
                              <p:par>
                                <p:cTn id="46" presetID="10" presetClass="entr" presetSubtype="0" fill="hold" nodeType="with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500"/>
                                        <p:tgtEl>
                                          <p:spTgt spid="21"/>
                                        </p:tgtEl>
                                      </p:cBhvr>
                                    </p:animEffect>
                                  </p:childTnLst>
                                </p:cTn>
                              </p:par>
                              <p:par>
                                <p:cTn id="49"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500"/>
                                        <p:tgtEl>
                                          <p:spTgt spid="22"/>
                                        </p:tgtEl>
                                      </p:cBhvr>
                                    </p:animEffect>
                                  </p:childTnLst>
                                </p:cTn>
                              </p:par>
                              <p:par>
                                <p:cTn id="52" presetID="10" presetClass="entr" presetSubtype="0" fill="hold" nodeType="withEffect">
                                  <p:stCondLst>
                                    <p:cond delay="0"/>
                                  </p:stCondLst>
                                  <p:childTnLst>
                                    <p:set>
                                      <p:cBhvr>
                                        <p:cTn id="53" dur="1" fill="hold">
                                          <p:stCondLst>
                                            <p:cond delay="0"/>
                                          </p:stCondLst>
                                        </p:cTn>
                                        <p:tgtEl>
                                          <p:spTgt spid="28"/>
                                        </p:tgtEl>
                                        <p:attrNameLst>
                                          <p:attrName>style.visibility</p:attrName>
                                        </p:attrNameLst>
                                      </p:cBhvr>
                                      <p:to>
                                        <p:strVal val="visible"/>
                                      </p:to>
                                    </p:set>
                                    <p:animEffect transition="in" filter="fade">
                                      <p:cBhvr>
                                        <p:cTn id="54" dur="500"/>
                                        <p:tgtEl>
                                          <p:spTgt spid="28"/>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3"/>
                                        </p:tgtEl>
                                        <p:attrNameLst>
                                          <p:attrName>style.visibility</p:attrName>
                                        </p:attrNameLst>
                                      </p:cBhvr>
                                      <p:to>
                                        <p:strVal val="visible"/>
                                      </p:to>
                                    </p:set>
                                    <p:animEffect transition="in" filter="fade">
                                      <p:cBhvr>
                                        <p:cTn id="57" dur="500"/>
                                        <p:tgtEl>
                                          <p:spTgt spid="33"/>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4"/>
                                        </p:tgtEl>
                                        <p:attrNameLst>
                                          <p:attrName>style.visibility</p:attrName>
                                        </p:attrNameLst>
                                      </p:cBhvr>
                                      <p:to>
                                        <p:strVal val="visible"/>
                                      </p:to>
                                    </p:set>
                                    <p:animEffect transition="in" filter="fade">
                                      <p:cBhvr>
                                        <p:cTn id="60" dur="500"/>
                                        <p:tgtEl>
                                          <p:spTgt spid="34"/>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9"/>
                                        </p:tgtEl>
                                        <p:attrNameLst>
                                          <p:attrName>style.visibility</p:attrName>
                                        </p:attrNameLst>
                                      </p:cBhvr>
                                      <p:to>
                                        <p:strVal val="visible"/>
                                      </p:to>
                                    </p:set>
                                    <p:animEffect transition="in" filter="fade">
                                      <p:cBhvr>
                                        <p:cTn id="65" dur="500"/>
                                        <p:tgtEl>
                                          <p:spTgt spid="9"/>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fade">
                                      <p:cBhvr>
                                        <p:cTn id="68" dur="500"/>
                                        <p:tgtEl>
                                          <p:spTgt spid="23"/>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500"/>
                                        <p:tgtEl>
                                          <p:spTgt spid="24"/>
                                        </p:tgtEl>
                                      </p:cBhvr>
                                    </p:animEffect>
                                  </p:childTnLst>
                                </p:cTn>
                              </p:par>
                              <p:par>
                                <p:cTn id="72" presetID="10" presetClass="entr" presetSubtype="0" fill="hold" nodeType="with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500"/>
                                        <p:tgtEl>
                                          <p:spTgt spid="25"/>
                                        </p:tgtEl>
                                      </p:cBhvr>
                                    </p:animEffect>
                                  </p:childTnLst>
                                </p:cTn>
                              </p:par>
                              <p:par>
                                <p:cTn id="75" presetID="10" presetClass="entr" presetSubtype="0" fill="hold" nodeType="with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500"/>
                                        <p:tgtEl>
                                          <p:spTgt spid="26"/>
                                        </p:tgtEl>
                                      </p:cBhvr>
                                    </p:animEffect>
                                  </p:childTnLst>
                                </p:cTn>
                              </p:par>
                              <p:par>
                                <p:cTn id="78" presetID="10" presetClass="entr" presetSubtype="0" fill="hold" nodeType="withEffect">
                                  <p:stCondLst>
                                    <p:cond delay="0"/>
                                  </p:stCondLst>
                                  <p:childTnLst>
                                    <p:set>
                                      <p:cBhvr>
                                        <p:cTn id="79" dur="1" fill="hold">
                                          <p:stCondLst>
                                            <p:cond delay="0"/>
                                          </p:stCondLst>
                                        </p:cTn>
                                        <p:tgtEl>
                                          <p:spTgt spid="27"/>
                                        </p:tgtEl>
                                        <p:attrNameLst>
                                          <p:attrName>style.visibility</p:attrName>
                                        </p:attrNameLst>
                                      </p:cBhvr>
                                      <p:to>
                                        <p:strVal val="visible"/>
                                      </p:to>
                                    </p:set>
                                    <p:animEffect transition="in" filter="fade">
                                      <p:cBhvr>
                                        <p:cTn id="80" dur="500"/>
                                        <p:tgtEl>
                                          <p:spTgt spid="27"/>
                                        </p:tgtEl>
                                      </p:cBhvr>
                                    </p:animEffect>
                                  </p:childTnLst>
                                </p:cTn>
                              </p:par>
                              <p:par>
                                <p:cTn id="81" presetID="10" presetClass="entr" presetSubtype="0" fill="hold" nodeType="withEffect">
                                  <p:stCondLst>
                                    <p:cond delay="0"/>
                                  </p:stCondLst>
                                  <p:childTnLst>
                                    <p:set>
                                      <p:cBhvr>
                                        <p:cTn id="82" dur="1" fill="hold">
                                          <p:stCondLst>
                                            <p:cond delay="0"/>
                                          </p:stCondLst>
                                        </p:cTn>
                                        <p:tgtEl>
                                          <p:spTgt spid="29"/>
                                        </p:tgtEl>
                                        <p:attrNameLst>
                                          <p:attrName>style.visibility</p:attrName>
                                        </p:attrNameLst>
                                      </p:cBhvr>
                                      <p:to>
                                        <p:strVal val="visible"/>
                                      </p:to>
                                    </p:set>
                                    <p:animEffect transition="in" filter="fade">
                                      <p:cBhvr>
                                        <p:cTn id="83" dur="500"/>
                                        <p:tgtEl>
                                          <p:spTgt spid="29"/>
                                        </p:tgtEl>
                                      </p:cBhvr>
                                    </p:animEffect>
                                  </p:childTnLst>
                                </p:cTn>
                              </p:par>
                              <p:par>
                                <p:cTn id="84" presetID="10" presetClass="entr" presetSubtype="0" fill="hold" nodeType="withEffect">
                                  <p:stCondLst>
                                    <p:cond delay="0"/>
                                  </p:stCondLst>
                                  <p:childTnLst>
                                    <p:set>
                                      <p:cBhvr>
                                        <p:cTn id="85" dur="1" fill="hold">
                                          <p:stCondLst>
                                            <p:cond delay="0"/>
                                          </p:stCondLst>
                                        </p:cTn>
                                        <p:tgtEl>
                                          <p:spTgt spid="30"/>
                                        </p:tgtEl>
                                        <p:attrNameLst>
                                          <p:attrName>style.visibility</p:attrName>
                                        </p:attrNameLst>
                                      </p:cBhvr>
                                      <p:to>
                                        <p:strVal val="visible"/>
                                      </p:to>
                                    </p:set>
                                    <p:animEffect transition="in" filter="fade">
                                      <p:cBhvr>
                                        <p:cTn id="86" dur="500"/>
                                        <p:tgtEl>
                                          <p:spTgt spid="30"/>
                                        </p:tgtEl>
                                      </p:cBhvr>
                                    </p:animEffect>
                                  </p:childTnLst>
                                </p:cTn>
                              </p:par>
                              <p:par>
                                <p:cTn id="87" presetID="10" presetClass="entr" presetSubtype="0" fill="hold" nodeType="withEffect">
                                  <p:stCondLst>
                                    <p:cond delay="0"/>
                                  </p:stCondLst>
                                  <p:childTnLst>
                                    <p:set>
                                      <p:cBhvr>
                                        <p:cTn id="88" dur="1" fill="hold">
                                          <p:stCondLst>
                                            <p:cond delay="0"/>
                                          </p:stCondLst>
                                        </p:cTn>
                                        <p:tgtEl>
                                          <p:spTgt spid="31"/>
                                        </p:tgtEl>
                                        <p:attrNameLst>
                                          <p:attrName>style.visibility</p:attrName>
                                        </p:attrNameLst>
                                      </p:cBhvr>
                                      <p:to>
                                        <p:strVal val="visible"/>
                                      </p:to>
                                    </p:set>
                                    <p:animEffect transition="in" filter="fade">
                                      <p:cBhvr>
                                        <p:cTn id="89" dur="500"/>
                                        <p:tgtEl>
                                          <p:spTgt spid="31"/>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5"/>
                                        </p:tgtEl>
                                        <p:attrNameLst>
                                          <p:attrName>style.visibility</p:attrName>
                                        </p:attrNameLst>
                                      </p:cBhvr>
                                      <p:to>
                                        <p:strVal val="visible"/>
                                      </p:to>
                                    </p:set>
                                    <p:animEffect transition="in" filter="fade">
                                      <p:cBhvr>
                                        <p:cTn id="92" dur="500"/>
                                        <p:tgtEl>
                                          <p:spTgt spid="35"/>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6"/>
                                        </p:tgtEl>
                                        <p:attrNameLst>
                                          <p:attrName>style.visibility</p:attrName>
                                        </p:attrNameLst>
                                      </p:cBhvr>
                                      <p:to>
                                        <p:strVal val="visible"/>
                                      </p:to>
                                    </p:set>
                                    <p:animEffect transition="in" filter="fade">
                                      <p:cBhvr>
                                        <p:cTn id="95" dur="500"/>
                                        <p:tgtEl>
                                          <p:spTgt spid="36"/>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2"/>
                                        </p:tgtEl>
                                        <p:attrNameLst>
                                          <p:attrName>style.visibility</p:attrName>
                                        </p:attrNameLst>
                                      </p:cBhvr>
                                      <p:to>
                                        <p:strVal val="visible"/>
                                      </p:to>
                                    </p:set>
                                    <p:animEffect transition="in" filter="fade">
                                      <p:cBhvr>
                                        <p:cTn id="98"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animBg="1"/>
      <p:bldP spid="11" grpId="0" animBg="1"/>
      <p:bldP spid="12" grpId="0" animBg="1"/>
      <p:bldP spid="15" grpId="0" animBg="1"/>
      <p:bldP spid="18" grpId="0" animBg="1"/>
      <p:bldP spid="19" grpId="0" animBg="1"/>
      <p:bldP spid="23" grpId="0" animBg="1"/>
      <p:bldP spid="24" grpId="0" animBg="1"/>
      <p:bldP spid="32" grpId="0" animBg="1"/>
      <p:bldP spid="33" grpId="0"/>
      <p:bldP spid="34" grpId="0"/>
      <p:bldP spid="35" grpId="0"/>
      <p:bldP spid="36" grpId="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49F3DFEE-D615-10A4-3DFB-F10E842FD6FF}"/>
              </a:ext>
            </a:extLst>
          </p:cNvPr>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 name="直接连接符 2">
            <a:extLst>
              <a:ext uri="{FF2B5EF4-FFF2-40B4-BE49-F238E27FC236}">
                <a16:creationId xmlns:a16="http://schemas.microsoft.com/office/drawing/2014/main" id="{E448084C-00C1-2D46-B2E9-907AC7E07A63}"/>
              </a:ext>
            </a:extLst>
          </p:cNvPr>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4" name="图形 3">
            <a:extLst>
              <a:ext uri="{FF2B5EF4-FFF2-40B4-BE49-F238E27FC236}">
                <a16:creationId xmlns:a16="http://schemas.microsoft.com/office/drawing/2014/main" id="{C93BB0EF-03E3-F5C3-728A-B6DC40F04B4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6" name="文本框 5">
            <a:extLst>
              <a:ext uri="{FF2B5EF4-FFF2-40B4-BE49-F238E27FC236}">
                <a16:creationId xmlns:a16="http://schemas.microsoft.com/office/drawing/2014/main" id="{47E122C5-6879-554E-162C-5ECC1522BC4D}"/>
              </a:ext>
            </a:extLst>
          </p:cNvPr>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7" name="文本框 6">
            <a:extLst>
              <a:ext uri="{FF2B5EF4-FFF2-40B4-BE49-F238E27FC236}">
                <a16:creationId xmlns:a16="http://schemas.microsoft.com/office/drawing/2014/main" id="{D6CFB585-2F69-5770-B4D7-9FA58F38C759}"/>
              </a:ext>
            </a:extLst>
          </p:cNvPr>
          <p:cNvSpPr txBox="1"/>
          <p:nvPr/>
        </p:nvSpPr>
        <p:spPr>
          <a:xfrm>
            <a:off x="1355725" y="95250"/>
            <a:ext cx="7207249" cy="769441"/>
          </a:xfrm>
          <a:prstGeom prst="rect">
            <a:avLst/>
          </a:prstGeom>
          <a:noFill/>
        </p:spPr>
        <p:txBody>
          <a:bodyPr wrap="square" rtlCol="0">
            <a:spAutoFit/>
          </a:bodyPr>
          <a:lstStyle/>
          <a:p>
            <a:r>
              <a:rPr lang="zh-CN" altLang="en-US" sz="4400" dirty="0">
                <a:latin typeface="仿宋" panose="02010609060101010101" pitchFamily="49" charset="-122"/>
                <a:ea typeface="仿宋" panose="02010609060101010101" pitchFamily="49" charset="-122"/>
              </a:rPr>
              <a:t>设计一个从</a:t>
            </a:r>
            <a:r>
              <a:rPr lang="en-US" altLang="zh-CN" sz="4400" dirty="0">
                <a:latin typeface="仿宋" panose="02010609060101010101" pitchFamily="49" charset="-122"/>
                <a:ea typeface="仿宋" panose="02010609060101010101" pitchFamily="49" charset="-122"/>
              </a:rPr>
              <a:t>1</a:t>
            </a:r>
            <a:r>
              <a:rPr lang="zh-CN" altLang="en-US" sz="4400" dirty="0">
                <a:latin typeface="仿宋" panose="02010609060101010101" pitchFamily="49" charset="-122"/>
                <a:ea typeface="仿宋" panose="02010609060101010101" pitchFamily="49" charset="-122"/>
              </a:rPr>
              <a:t>累加到</a:t>
            </a:r>
            <a:r>
              <a:rPr lang="en-US" altLang="zh-CN" sz="4400" dirty="0">
                <a:latin typeface="仿宋" panose="02010609060101010101" pitchFamily="49" charset="-122"/>
                <a:ea typeface="仿宋" panose="02010609060101010101" pitchFamily="49" charset="-122"/>
              </a:rPr>
              <a:t>n</a:t>
            </a:r>
            <a:r>
              <a:rPr lang="zh-CN" altLang="en-US" sz="4400" dirty="0">
                <a:latin typeface="仿宋" panose="02010609060101010101" pitchFamily="49" charset="-122"/>
                <a:ea typeface="仿宋" panose="02010609060101010101" pitchFamily="49" charset="-122"/>
              </a:rPr>
              <a:t>的程序</a:t>
            </a:r>
            <a:endParaRPr lang="en-US" altLang="zh-CN" sz="4400" dirty="0">
              <a:latin typeface="仿宋" panose="02010609060101010101" pitchFamily="49" charset="-122"/>
              <a:ea typeface="仿宋" panose="02010609060101010101" pitchFamily="49" charset="-122"/>
            </a:endParaRPr>
          </a:p>
        </p:txBody>
      </p:sp>
      <p:sp>
        <p:nvSpPr>
          <p:cNvPr id="26" name="矩形 25">
            <a:extLst>
              <a:ext uri="{FF2B5EF4-FFF2-40B4-BE49-F238E27FC236}">
                <a16:creationId xmlns:a16="http://schemas.microsoft.com/office/drawing/2014/main" id="{62D50494-80E9-7196-EEEA-C5122AB34DB4}"/>
              </a:ext>
            </a:extLst>
          </p:cNvPr>
          <p:cNvSpPr/>
          <p:nvPr/>
        </p:nvSpPr>
        <p:spPr>
          <a:xfrm>
            <a:off x="2275111" y="2247788"/>
            <a:ext cx="1248228" cy="7474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err="1">
                <a:latin typeface="Consolas" panose="020B0609020204030204" pitchFamily="49" charset="0"/>
              </a:rPr>
              <a:t>i</a:t>
            </a:r>
            <a:r>
              <a:rPr lang="zh-CN" altLang="en-US" dirty="0">
                <a:latin typeface="Consolas" panose="020B0609020204030204" pitchFamily="49" charset="0"/>
              </a:rPr>
              <a:t>←</a:t>
            </a:r>
            <a:r>
              <a:rPr lang="en-US" altLang="zh-CN" dirty="0">
                <a:latin typeface="Consolas" panose="020B0609020204030204" pitchFamily="49" charset="0"/>
              </a:rPr>
              <a:t>1</a:t>
            </a:r>
          </a:p>
          <a:p>
            <a:pPr algn="ctr"/>
            <a:r>
              <a:rPr lang="en-US" altLang="zh-CN" dirty="0">
                <a:latin typeface="Consolas" panose="020B0609020204030204" pitchFamily="49" charset="0"/>
              </a:rPr>
              <a:t>sum</a:t>
            </a:r>
            <a:r>
              <a:rPr lang="zh-CN" altLang="en-US" dirty="0">
                <a:latin typeface="Consolas" panose="020B0609020204030204" pitchFamily="49" charset="0"/>
              </a:rPr>
              <a:t>←</a:t>
            </a:r>
            <a:r>
              <a:rPr lang="en-US" altLang="zh-CN" dirty="0">
                <a:latin typeface="Consolas" panose="020B0609020204030204" pitchFamily="49" charset="0"/>
              </a:rPr>
              <a:t>0</a:t>
            </a:r>
          </a:p>
        </p:txBody>
      </p:sp>
      <p:sp>
        <p:nvSpPr>
          <p:cNvPr id="27" name="流程图: 决策 26">
            <a:extLst>
              <a:ext uri="{FF2B5EF4-FFF2-40B4-BE49-F238E27FC236}">
                <a16:creationId xmlns:a16="http://schemas.microsoft.com/office/drawing/2014/main" id="{29257DD7-0F7F-B413-9538-90BD3D6D4324}"/>
              </a:ext>
            </a:extLst>
          </p:cNvPr>
          <p:cNvSpPr/>
          <p:nvPr/>
        </p:nvSpPr>
        <p:spPr>
          <a:xfrm>
            <a:off x="2126347" y="3463585"/>
            <a:ext cx="1545768" cy="769441"/>
          </a:xfrm>
          <a:prstGeom prst="flowChartDecision">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err="1">
                <a:latin typeface="Consolas" panose="020B0609020204030204" pitchFamily="49" charset="0"/>
              </a:rPr>
              <a:t>i</a:t>
            </a:r>
            <a:r>
              <a:rPr lang="en-US" altLang="zh-CN" dirty="0">
                <a:latin typeface="Consolas" panose="020B0609020204030204" pitchFamily="49" charset="0"/>
              </a:rPr>
              <a:t>&lt;=n?</a:t>
            </a:r>
            <a:endParaRPr lang="zh-CN" altLang="en-US" dirty="0">
              <a:latin typeface="Consolas" panose="020B0609020204030204" pitchFamily="49" charset="0"/>
            </a:endParaRPr>
          </a:p>
        </p:txBody>
      </p:sp>
      <p:sp>
        <p:nvSpPr>
          <p:cNvPr id="28" name="矩形 27">
            <a:extLst>
              <a:ext uri="{FF2B5EF4-FFF2-40B4-BE49-F238E27FC236}">
                <a16:creationId xmlns:a16="http://schemas.microsoft.com/office/drawing/2014/main" id="{74BBE24B-2BDA-4979-4D2A-67885ED6EE7E}"/>
              </a:ext>
            </a:extLst>
          </p:cNvPr>
          <p:cNvSpPr/>
          <p:nvPr/>
        </p:nvSpPr>
        <p:spPr>
          <a:xfrm>
            <a:off x="2200727" y="4880004"/>
            <a:ext cx="1396998" cy="62593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600" dirty="0">
                <a:latin typeface="Consolas" panose="020B0609020204030204" pitchFamily="49" charset="0"/>
              </a:rPr>
              <a:t>sum</a:t>
            </a:r>
            <a:r>
              <a:rPr lang="zh-CN" altLang="en-US" sz="1600" dirty="0">
                <a:latin typeface="Consolas" panose="020B0609020204030204" pitchFamily="49" charset="0"/>
              </a:rPr>
              <a:t>←</a:t>
            </a:r>
            <a:r>
              <a:rPr lang="en-US" altLang="zh-CN" sz="1600" dirty="0" err="1">
                <a:latin typeface="Consolas" panose="020B0609020204030204" pitchFamily="49" charset="0"/>
              </a:rPr>
              <a:t>sum+i</a:t>
            </a:r>
            <a:endParaRPr lang="en-US" altLang="zh-CN" sz="1600" dirty="0">
              <a:latin typeface="Consolas" panose="020B0609020204030204" pitchFamily="49" charset="0"/>
            </a:endParaRPr>
          </a:p>
          <a:p>
            <a:pPr algn="ctr"/>
            <a:r>
              <a:rPr lang="en-US" altLang="zh-CN" sz="1600" dirty="0" err="1">
                <a:latin typeface="Consolas" panose="020B0609020204030204" pitchFamily="49" charset="0"/>
              </a:rPr>
              <a:t>i</a:t>
            </a:r>
            <a:r>
              <a:rPr lang="zh-CN" altLang="en-US" sz="1600" dirty="0">
                <a:latin typeface="Consolas" panose="020B0609020204030204" pitchFamily="49" charset="0"/>
              </a:rPr>
              <a:t>←</a:t>
            </a:r>
            <a:r>
              <a:rPr lang="en-US" altLang="zh-CN" sz="1600" dirty="0">
                <a:latin typeface="Consolas" panose="020B0609020204030204" pitchFamily="49" charset="0"/>
              </a:rPr>
              <a:t>i+1</a:t>
            </a:r>
            <a:endParaRPr lang="zh-CN" altLang="en-US" sz="1600" dirty="0">
              <a:latin typeface="Consolas" panose="020B0609020204030204" pitchFamily="49" charset="0"/>
            </a:endParaRPr>
          </a:p>
        </p:txBody>
      </p:sp>
      <p:cxnSp>
        <p:nvCxnSpPr>
          <p:cNvPr id="29" name="直接箭头连接符 28">
            <a:extLst>
              <a:ext uri="{FF2B5EF4-FFF2-40B4-BE49-F238E27FC236}">
                <a16:creationId xmlns:a16="http://schemas.microsoft.com/office/drawing/2014/main" id="{B1B01837-B493-899E-9DCF-B879B8099F6A}"/>
              </a:ext>
            </a:extLst>
          </p:cNvPr>
          <p:cNvCxnSpPr>
            <a:cxnSpLocks/>
            <a:stCxn id="27" idx="2"/>
            <a:endCxn id="28" idx="0"/>
          </p:cNvCxnSpPr>
          <p:nvPr/>
        </p:nvCxnSpPr>
        <p:spPr>
          <a:xfrm flipH="1">
            <a:off x="2899226" y="4233026"/>
            <a:ext cx="5" cy="64697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连接符: 肘形 29">
            <a:extLst>
              <a:ext uri="{FF2B5EF4-FFF2-40B4-BE49-F238E27FC236}">
                <a16:creationId xmlns:a16="http://schemas.microsoft.com/office/drawing/2014/main" id="{8ABAE10C-9A9F-0E96-680F-26B84F8CEFDA}"/>
              </a:ext>
            </a:extLst>
          </p:cNvPr>
          <p:cNvCxnSpPr>
            <a:cxnSpLocks/>
            <a:endCxn id="28" idx="1"/>
          </p:cNvCxnSpPr>
          <p:nvPr/>
        </p:nvCxnSpPr>
        <p:spPr>
          <a:xfrm rot="16200000" flipH="1">
            <a:off x="895370" y="3887612"/>
            <a:ext cx="1919587" cy="691128"/>
          </a:xfrm>
          <a:prstGeom prst="bentConnector2">
            <a:avLst/>
          </a:prstGeom>
        </p:spPr>
        <p:style>
          <a:lnRef idx="1">
            <a:schemeClr val="dk1"/>
          </a:lnRef>
          <a:fillRef idx="0">
            <a:schemeClr val="dk1"/>
          </a:fillRef>
          <a:effectRef idx="0">
            <a:schemeClr val="dk1"/>
          </a:effectRef>
          <a:fontRef idx="minor">
            <a:schemeClr val="tx1"/>
          </a:fontRef>
        </p:style>
      </p:cxnSp>
      <p:cxnSp>
        <p:nvCxnSpPr>
          <p:cNvPr id="31" name="直接箭头连接符 30">
            <a:extLst>
              <a:ext uri="{FF2B5EF4-FFF2-40B4-BE49-F238E27FC236}">
                <a16:creationId xmlns:a16="http://schemas.microsoft.com/office/drawing/2014/main" id="{60D214E7-CD00-AAF9-871F-998992FABA3C}"/>
              </a:ext>
            </a:extLst>
          </p:cNvPr>
          <p:cNvCxnSpPr>
            <a:cxnSpLocks/>
          </p:cNvCxnSpPr>
          <p:nvPr/>
        </p:nvCxnSpPr>
        <p:spPr>
          <a:xfrm>
            <a:off x="1509599" y="3274447"/>
            <a:ext cx="136559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直接箭头连接符 31">
            <a:extLst>
              <a:ext uri="{FF2B5EF4-FFF2-40B4-BE49-F238E27FC236}">
                <a16:creationId xmlns:a16="http://schemas.microsoft.com/office/drawing/2014/main" id="{1B36F148-0FA7-0EE9-94B1-217387099E34}"/>
              </a:ext>
            </a:extLst>
          </p:cNvPr>
          <p:cNvCxnSpPr>
            <a:cxnSpLocks/>
            <a:stCxn id="26" idx="2"/>
            <a:endCxn id="27" idx="0"/>
          </p:cNvCxnSpPr>
          <p:nvPr/>
        </p:nvCxnSpPr>
        <p:spPr>
          <a:xfrm>
            <a:off x="2899225" y="2995274"/>
            <a:ext cx="6" cy="46831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3" name="连接符: 肘形 32">
            <a:extLst>
              <a:ext uri="{FF2B5EF4-FFF2-40B4-BE49-F238E27FC236}">
                <a16:creationId xmlns:a16="http://schemas.microsoft.com/office/drawing/2014/main" id="{2802D37A-E6F1-2BFF-50BC-CF769F77C1B9}"/>
              </a:ext>
            </a:extLst>
          </p:cNvPr>
          <p:cNvCxnSpPr>
            <a:cxnSpLocks/>
            <a:stCxn id="27" idx="3"/>
          </p:cNvCxnSpPr>
          <p:nvPr/>
        </p:nvCxnSpPr>
        <p:spPr>
          <a:xfrm>
            <a:off x="3672115" y="3848306"/>
            <a:ext cx="1174750" cy="1711053"/>
          </a:xfrm>
          <a:prstGeom prst="bentConnector2">
            <a:avLst/>
          </a:prstGeom>
        </p:spPr>
        <p:style>
          <a:lnRef idx="1">
            <a:schemeClr val="dk1"/>
          </a:lnRef>
          <a:fillRef idx="0">
            <a:schemeClr val="dk1"/>
          </a:fillRef>
          <a:effectRef idx="0">
            <a:schemeClr val="dk1"/>
          </a:effectRef>
          <a:fontRef idx="minor">
            <a:schemeClr val="tx1"/>
          </a:fontRef>
        </p:style>
      </p:cxnSp>
      <p:cxnSp>
        <p:nvCxnSpPr>
          <p:cNvPr id="34" name="连接符: 肘形 33">
            <a:extLst>
              <a:ext uri="{FF2B5EF4-FFF2-40B4-BE49-F238E27FC236}">
                <a16:creationId xmlns:a16="http://schemas.microsoft.com/office/drawing/2014/main" id="{DA3F7257-771E-E9D1-8575-A63F9845BD97}"/>
              </a:ext>
            </a:extLst>
          </p:cNvPr>
          <p:cNvCxnSpPr>
            <a:cxnSpLocks/>
            <a:endCxn id="38" idx="1"/>
          </p:cNvCxnSpPr>
          <p:nvPr/>
        </p:nvCxnSpPr>
        <p:spPr>
          <a:xfrm rot="10800000" flipV="1">
            <a:off x="2899226" y="5559356"/>
            <a:ext cx="1947643" cy="381263"/>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35" name="文本框 34">
            <a:extLst>
              <a:ext uri="{FF2B5EF4-FFF2-40B4-BE49-F238E27FC236}">
                <a16:creationId xmlns:a16="http://schemas.microsoft.com/office/drawing/2014/main" id="{B80FF676-3FEB-AF32-B1D4-0EBF5722D831}"/>
              </a:ext>
            </a:extLst>
          </p:cNvPr>
          <p:cNvSpPr txBox="1"/>
          <p:nvPr/>
        </p:nvSpPr>
        <p:spPr>
          <a:xfrm>
            <a:off x="3717399" y="3485498"/>
            <a:ext cx="311304" cy="369332"/>
          </a:xfrm>
          <a:prstGeom prst="rect">
            <a:avLst/>
          </a:prstGeom>
          <a:noFill/>
        </p:spPr>
        <p:txBody>
          <a:bodyPr wrap="square" rtlCol="0">
            <a:spAutoFit/>
          </a:bodyPr>
          <a:lstStyle/>
          <a:p>
            <a:r>
              <a:rPr lang="en-US" altLang="zh-CN" dirty="0"/>
              <a:t>N</a:t>
            </a:r>
            <a:endParaRPr lang="zh-CN" altLang="en-US" dirty="0"/>
          </a:p>
        </p:txBody>
      </p:sp>
      <p:sp>
        <p:nvSpPr>
          <p:cNvPr id="36" name="文本框 35">
            <a:extLst>
              <a:ext uri="{FF2B5EF4-FFF2-40B4-BE49-F238E27FC236}">
                <a16:creationId xmlns:a16="http://schemas.microsoft.com/office/drawing/2014/main" id="{3F3037EC-9541-6A97-0C09-4C4C76D3D0CD}"/>
              </a:ext>
            </a:extLst>
          </p:cNvPr>
          <p:cNvSpPr txBox="1"/>
          <p:nvPr/>
        </p:nvSpPr>
        <p:spPr>
          <a:xfrm>
            <a:off x="3011113" y="4268992"/>
            <a:ext cx="311304" cy="369332"/>
          </a:xfrm>
          <a:prstGeom prst="rect">
            <a:avLst/>
          </a:prstGeom>
          <a:noFill/>
        </p:spPr>
        <p:txBody>
          <a:bodyPr wrap="square" rtlCol="0">
            <a:spAutoFit/>
          </a:bodyPr>
          <a:lstStyle/>
          <a:p>
            <a:r>
              <a:rPr lang="en-US" altLang="zh-CN" dirty="0"/>
              <a:t>Y</a:t>
            </a:r>
            <a:endParaRPr lang="zh-CN" altLang="en-US" dirty="0"/>
          </a:p>
        </p:txBody>
      </p:sp>
      <p:sp>
        <p:nvSpPr>
          <p:cNvPr id="37" name="文本框 36">
            <a:extLst>
              <a:ext uri="{FF2B5EF4-FFF2-40B4-BE49-F238E27FC236}">
                <a16:creationId xmlns:a16="http://schemas.microsoft.com/office/drawing/2014/main" id="{523E4E9F-B317-4028-4A89-8ED71F007905}"/>
              </a:ext>
            </a:extLst>
          </p:cNvPr>
          <p:cNvSpPr txBox="1"/>
          <p:nvPr/>
        </p:nvSpPr>
        <p:spPr>
          <a:xfrm>
            <a:off x="6096000" y="4453658"/>
            <a:ext cx="4311644" cy="1446550"/>
          </a:xfrm>
          <a:prstGeom prst="rect">
            <a:avLst/>
          </a:prstGeom>
          <a:noFill/>
        </p:spPr>
        <p:txBody>
          <a:bodyPr wrap="square" rtlCol="0">
            <a:spAutoFit/>
          </a:bodyPr>
          <a:lstStyle/>
          <a:p>
            <a:r>
              <a:rPr lang="zh-CN" altLang="en-US" sz="4400" dirty="0">
                <a:solidFill>
                  <a:srgbClr val="FF0000"/>
                </a:solidFill>
                <a:latin typeface="仿宋" panose="02010609060101010101" pitchFamily="49" charset="-122"/>
                <a:ea typeface="仿宋" panose="02010609060101010101" pitchFamily="49" charset="-122"/>
              </a:rPr>
              <a:t>开始和结束</a:t>
            </a:r>
            <a:r>
              <a:rPr lang="en-US" altLang="zh-CN" sz="4400" dirty="0">
                <a:solidFill>
                  <a:srgbClr val="FF0000"/>
                </a:solidFill>
                <a:latin typeface="仿宋" panose="02010609060101010101" pitchFamily="49" charset="-122"/>
                <a:ea typeface="仿宋" panose="02010609060101010101" pitchFamily="49" charset="-122"/>
              </a:rPr>
              <a:t>,</a:t>
            </a:r>
            <a:r>
              <a:rPr lang="zh-CN" altLang="en-US" sz="4400" dirty="0">
                <a:solidFill>
                  <a:srgbClr val="FF0000"/>
                </a:solidFill>
                <a:latin typeface="仿宋" panose="02010609060101010101" pitchFamily="49" charset="-122"/>
                <a:ea typeface="仿宋" panose="02010609060101010101" pitchFamily="49" charset="-122"/>
              </a:rPr>
              <a:t>略</a:t>
            </a:r>
            <a:endParaRPr lang="en-US" altLang="zh-CN" sz="4400" dirty="0">
              <a:solidFill>
                <a:srgbClr val="FF0000"/>
              </a:solidFill>
              <a:latin typeface="仿宋" panose="02010609060101010101" pitchFamily="49" charset="-122"/>
              <a:ea typeface="仿宋" panose="02010609060101010101" pitchFamily="49" charset="-122"/>
            </a:endParaRPr>
          </a:p>
          <a:p>
            <a:r>
              <a:rPr lang="zh-CN" altLang="en-US" sz="4400" dirty="0">
                <a:solidFill>
                  <a:srgbClr val="FF0000"/>
                </a:solidFill>
                <a:latin typeface="仿宋" panose="02010609060101010101" pitchFamily="49" charset="-122"/>
                <a:ea typeface="仿宋" panose="02010609060101010101" pitchFamily="49" charset="-122"/>
              </a:rPr>
              <a:t>但是这很重要</a:t>
            </a:r>
            <a:r>
              <a:rPr lang="en-US" altLang="zh-CN" sz="4400" dirty="0">
                <a:solidFill>
                  <a:srgbClr val="FF0000"/>
                </a:solidFill>
                <a:latin typeface="仿宋" panose="02010609060101010101" pitchFamily="49" charset="-122"/>
                <a:ea typeface="仿宋" panose="02010609060101010101" pitchFamily="49" charset="-122"/>
              </a:rPr>
              <a:t>!!!</a:t>
            </a:r>
          </a:p>
        </p:txBody>
      </p:sp>
      <p:sp>
        <p:nvSpPr>
          <p:cNvPr id="38" name="流程图: 数据 37">
            <a:extLst>
              <a:ext uri="{FF2B5EF4-FFF2-40B4-BE49-F238E27FC236}">
                <a16:creationId xmlns:a16="http://schemas.microsoft.com/office/drawing/2014/main" id="{49CF33EC-5C49-4FBE-0D32-FDC22ADE1D3A}"/>
              </a:ext>
            </a:extLst>
          </p:cNvPr>
          <p:cNvSpPr/>
          <p:nvPr/>
        </p:nvSpPr>
        <p:spPr>
          <a:xfrm>
            <a:off x="1664150" y="5940620"/>
            <a:ext cx="2470150" cy="769442"/>
          </a:xfrm>
          <a:prstGeom prst="flowChartInputOutpu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800" dirty="0">
                <a:latin typeface="Consolas" panose="020B0609020204030204" pitchFamily="49" charset="0"/>
                <a:ea typeface="仿宋" panose="02010609060101010101" pitchFamily="49" charset="-122"/>
              </a:rPr>
              <a:t>输出</a:t>
            </a:r>
            <a:r>
              <a:rPr lang="en-US" altLang="zh-CN" sz="2800" dirty="0">
                <a:latin typeface="Consolas" panose="020B0609020204030204" pitchFamily="49" charset="0"/>
                <a:ea typeface="仿宋" panose="02010609060101010101" pitchFamily="49" charset="-122"/>
              </a:rPr>
              <a:t>sum</a:t>
            </a:r>
            <a:endParaRPr lang="zh-CN" altLang="en-US" sz="2800" dirty="0">
              <a:latin typeface="Consolas" panose="020B0609020204030204" pitchFamily="49" charset="0"/>
              <a:ea typeface="仿宋" panose="02010609060101010101" pitchFamily="49" charset="-122"/>
            </a:endParaRPr>
          </a:p>
        </p:txBody>
      </p:sp>
      <p:sp>
        <p:nvSpPr>
          <p:cNvPr id="39" name="流程图: 数据 38">
            <a:extLst>
              <a:ext uri="{FF2B5EF4-FFF2-40B4-BE49-F238E27FC236}">
                <a16:creationId xmlns:a16="http://schemas.microsoft.com/office/drawing/2014/main" id="{640B6100-5968-E452-0FFC-526CEEA6A033}"/>
              </a:ext>
            </a:extLst>
          </p:cNvPr>
          <p:cNvSpPr/>
          <p:nvPr/>
        </p:nvSpPr>
        <p:spPr>
          <a:xfrm>
            <a:off x="1664150" y="1154857"/>
            <a:ext cx="2470150" cy="769442"/>
          </a:xfrm>
          <a:prstGeom prst="flowChartInputOutpu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800" dirty="0">
                <a:latin typeface="Consolas" panose="020B0609020204030204" pitchFamily="49" charset="0"/>
                <a:ea typeface="仿宋" panose="02010609060101010101" pitchFamily="49" charset="-122"/>
              </a:rPr>
              <a:t>输入</a:t>
            </a:r>
            <a:r>
              <a:rPr lang="en-US" altLang="zh-CN" sz="2800" dirty="0">
                <a:latin typeface="Consolas" panose="020B0609020204030204" pitchFamily="49" charset="0"/>
                <a:ea typeface="仿宋" panose="02010609060101010101" pitchFamily="49" charset="-122"/>
              </a:rPr>
              <a:t>n</a:t>
            </a:r>
            <a:endParaRPr lang="zh-CN" altLang="en-US" sz="2800" dirty="0">
              <a:latin typeface="Consolas" panose="020B0609020204030204" pitchFamily="49" charset="0"/>
              <a:ea typeface="仿宋" panose="02010609060101010101" pitchFamily="49" charset="-122"/>
            </a:endParaRPr>
          </a:p>
        </p:txBody>
      </p:sp>
      <p:cxnSp>
        <p:nvCxnSpPr>
          <p:cNvPr id="40" name="直接箭头连接符 39">
            <a:extLst>
              <a:ext uri="{FF2B5EF4-FFF2-40B4-BE49-F238E27FC236}">
                <a16:creationId xmlns:a16="http://schemas.microsoft.com/office/drawing/2014/main" id="{B66589AB-B3D2-14E0-8FEF-640D06678965}"/>
              </a:ext>
            </a:extLst>
          </p:cNvPr>
          <p:cNvCxnSpPr>
            <a:cxnSpLocks/>
            <a:stCxn id="39" idx="4"/>
            <a:endCxn id="26" idx="0"/>
          </p:cNvCxnSpPr>
          <p:nvPr/>
        </p:nvCxnSpPr>
        <p:spPr>
          <a:xfrm>
            <a:off x="2899225" y="1924299"/>
            <a:ext cx="0" cy="32348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1" name="流程图: 数据 40">
            <a:extLst>
              <a:ext uri="{FF2B5EF4-FFF2-40B4-BE49-F238E27FC236}">
                <a16:creationId xmlns:a16="http://schemas.microsoft.com/office/drawing/2014/main" id="{CEA47133-C8FA-549E-BB74-6CAB5F3E22A9}"/>
              </a:ext>
            </a:extLst>
          </p:cNvPr>
          <p:cNvSpPr/>
          <p:nvPr/>
        </p:nvSpPr>
        <p:spPr>
          <a:xfrm>
            <a:off x="6822627" y="1061845"/>
            <a:ext cx="2470150" cy="769442"/>
          </a:xfrm>
          <a:prstGeom prst="flowChartInputOutpu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800" dirty="0">
                <a:latin typeface="Consolas" panose="020B0609020204030204" pitchFamily="49" charset="0"/>
                <a:ea typeface="仿宋" panose="02010609060101010101" pitchFamily="49" charset="-122"/>
              </a:rPr>
              <a:t>输入</a:t>
            </a:r>
            <a:r>
              <a:rPr lang="en-US" altLang="zh-CN" sz="2800" dirty="0">
                <a:latin typeface="Consolas" panose="020B0609020204030204" pitchFamily="49" charset="0"/>
                <a:ea typeface="仿宋" panose="02010609060101010101" pitchFamily="49" charset="-122"/>
              </a:rPr>
              <a:t>n</a:t>
            </a:r>
            <a:endParaRPr lang="zh-CN" altLang="en-US" sz="2800" dirty="0">
              <a:latin typeface="Consolas" panose="020B0609020204030204" pitchFamily="49" charset="0"/>
              <a:ea typeface="仿宋" panose="02010609060101010101" pitchFamily="49" charset="-122"/>
            </a:endParaRPr>
          </a:p>
        </p:txBody>
      </p:sp>
      <p:sp>
        <p:nvSpPr>
          <p:cNvPr id="42" name="流程图: 数据 41">
            <a:extLst>
              <a:ext uri="{FF2B5EF4-FFF2-40B4-BE49-F238E27FC236}">
                <a16:creationId xmlns:a16="http://schemas.microsoft.com/office/drawing/2014/main" id="{FF14BB4D-BE59-0C54-D118-FC88EB10DB72}"/>
              </a:ext>
            </a:extLst>
          </p:cNvPr>
          <p:cNvSpPr/>
          <p:nvPr/>
        </p:nvSpPr>
        <p:spPr>
          <a:xfrm>
            <a:off x="6172200" y="2694143"/>
            <a:ext cx="3539537" cy="769442"/>
          </a:xfrm>
          <a:prstGeom prst="flowChartInputOutpu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000" dirty="0">
                <a:latin typeface="Consolas" panose="020B0609020204030204" pitchFamily="49" charset="0"/>
                <a:ea typeface="仿宋" panose="02010609060101010101" pitchFamily="49" charset="-122"/>
              </a:rPr>
              <a:t>输出</a:t>
            </a:r>
            <a:r>
              <a:rPr lang="en-US" altLang="zh-CN" sz="2000" dirty="0">
                <a:latin typeface="Consolas" panose="020B0609020204030204" pitchFamily="49" charset="0"/>
                <a:ea typeface="仿宋" panose="02010609060101010101" pitchFamily="49" charset="-122"/>
              </a:rPr>
              <a:t>n*(n+1)/2</a:t>
            </a:r>
            <a:endParaRPr lang="zh-CN" altLang="en-US" sz="2000" dirty="0">
              <a:latin typeface="Consolas" panose="020B0609020204030204" pitchFamily="49" charset="0"/>
              <a:ea typeface="仿宋" panose="02010609060101010101" pitchFamily="49" charset="-122"/>
            </a:endParaRPr>
          </a:p>
        </p:txBody>
      </p:sp>
      <p:cxnSp>
        <p:nvCxnSpPr>
          <p:cNvPr id="43" name="直接箭头连接符 42">
            <a:extLst>
              <a:ext uri="{FF2B5EF4-FFF2-40B4-BE49-F238E27FC236}">
                <a16:creationId xmlns:a16="http://schemas.microsoft.com/office/drawing/2014/main" id="{AE9293CB-B507-60C9-657A-4FB8D16A8808}"/>
              </a:ext>
            </a:extLst>
          </p:cNvPr>
          <p:cNvCxnSpPr>
            <a:cxnSpLocks/>
            <a:stCxn id="41" idx="4"/>
          </p:cNvCxnSpPr>
          <p:nvPr/>
        </p:nvCxnSpPr>
        <p:spPr>
          <a:xfrm>
            <a:off x="8057702" y="1831287"/>
            <a:ext cx="0" cy="8628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8" name="图片 4">
            <a:extLst>
              <a:ext uri="{FF2B5EF4-FFF2-40B4-BE49-F238E27FC236}">
                <a16:creationId xmlns:a16="http://schemas.microsoft.com/office/drawing/2014/main" id="{FA9782A9-1CF5-4BAA-76D8-04FEED3CF9B4}"/>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416425" y="6219825"/>
            <a:ext cx="542925" cy="542925"/>
          </a:xfrm>
          <a:prstGeom prst="rect">
            <a:avLst/>
          </a:prstGeom>
        </p:spPr>
      </p:pic>
    </p:spTree>
    <p:extLst>
      <p:ext uri="{BB962C8B-B14F-4D97-AF65-F5344CB8AC3E}">
        <p14:creationId xmlns:p14="http://schemas.microsoft.com/office/powerpoint/2010/main" val="3630732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500"/>
                                        <p:tgtEl>
                                          <p:spTgt spid="2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500"/>
                                        <p:tgtEl>
                                          <p:spTgt spid="28"/>
                                        </p:tgtEl>
                                      </p:cBhvr>
                                    </p:animEffect>
                                  </p:childTnLst>
                                </p:cTn>
                              </p:par>
                              <p:par>
                                <p:cTn id="14" presetID="10" presetClass="entr" presetSubtype="0" fill="hold" nodeType="with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fade">
                                      <p:cBhvr>
                                        <p:cTn id="16" dur="500"/>
                                        <p:tgtEl>
                                          <p:spTgt spid="29"/>
                                        </p:tgtEl>
                                      </p:cBhvr>
                                    </p:animEffect>
                                  </p:childTnLst>
                                </p:cTn>
                              </p:par>
                              <p:par>
                                <p:cTn id="17" presetID="10" presetClass="entr" presetSubtype="0" fill="hold" nodeType="with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500"/>
                                        <p:tgtEl>
                                          <p:spTgt spid="30"/>
                                        </p:tgtEl>
                                      </p:cBhvr>
                                    </p:animEffect>
                                  </p:childTnLst>
                                </p:cTn>
                              </p:par>
                              <p:par>
                                <p:cTn id="20" presetID="10" presetClass="entr" presetSubtype="0" fill="hold" nodeType="with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500"/>
                                        <p:tgtEl>
                                          <p:spTgt spid="31"/>
                                        </p:tgtEl>
                                      </p:cBhvr>
                                    </p:animEffect>
                                  </p:childTnLst>
                                </p:cTn>
                              </p:par>
                              <p:par>
                                <p:cTn id="23" presetID="10" presetClass="entr" presetSubtype="0" fill="hold" nodeType="withEffect">
                                  <p:stCondLst>
                                    <p:cond delay="0"/>
                                  </p:stCondLst>
                                  <p:childTnLst>
                                    <p:set>
                                      <p:cBhvr>
                                        <p:cTn id="24" dur="1" fill="hold">
                                          <p:stCondLst>
                                            <p:cond delay="0"/>
                                          </p:stCondLst>
                                        </p:cTn>
                                        <p:tgtEl>
                                          <p:spTgt spid="32"/>
                                        </p:tgtEl>
                                        <p:attrNameLst>
                                          <p:attrName>style.visibility</p:attrName>
                                        </p:attrNameLst>
                                      </p:cBhvr>
                                      <p:to>
                                        <p:strVal val="visible"/>
                                      </p:to>
                                    </p:set>
                                    <p:animEffect transition="in" filter="fade">
                                      <p:cBhvr>
                                        <p:cTn id="25" dur="500"/>
                                        <p:tgtEl>
                                          <p:spTgt spid="32"/>
                                        </p:tgtEl>
                                      </p:cBhvr>
                                    </p:animEffect>
                                  </p:childTnLst>
                                </p:cTn>
                              </p:par>
                              <p:par>
                                <p:cTn id="26" presetID="10" presetClass="entr" presetSubtype="0" fill="hold" nodeType="withEffect">
                                  <p:stCondLst>
                                    <p:cond delay="0"/>
                                  </p:stCondLst>
                                  <p:childTnLst>
                                    <p:set>
                                      <p:cBhvr>
                                        <p:cTn id="27" dur="1" fill="hold">
                                          <p:stCondLst>
                                            <p:cond delay="0"/>
                                          </p:stCondLst>
                                        </p:cTn>
                                        <p:tgtEl>
                                          <p:spTgt spid="33"/>
                                        </p:tgtEl>
                                        <p:attrNameLst>
                                          <p:attrName>style.visibility</p:attrName>
                                        </p:attrNameLst>
                                      </p:cBhvr>
                                      <p:to>
                                        <p:strVal val="visible"/>
                                      </p:to>
                                    </p:set>
                                    <p:animEffect transition="in" filter="fade">
                                      <p:cBhvr>
                                        <p:cTn id="28" dur="500"/>
                                        <p:tgtEl>
                                          <p:spTgt spid="33"/>
                                        </p:tgtEl>
                                      </p:cBhvr>
                                    </p:animEffect>
                                  </p:childTnLst>
                                </p:cTn>
                              </p:par>
                              <p:par>
                                <p:cTn id="29" presetID="10" presetClass="entr" presetSubtype="0" fill="hold" nodeType="withEffect">
                                  <p:stCondLst>
                                    <p:cond delay="0"/>
                                  </p:stCondLst>
                                  <p:childTnLst>
                                    <p:set>
                                      <p:cBhvr>
                                        <p:cTn id="30" dur="1" fill="hold">
                                          <p:stCondLst>
                                            <p:cond delay="0"/>
                                          </p:stCondLst>
                                        </p:cTn>
                                        <p:tgtEl>
                                          <p:spTgt spid="34"/>
                                        </p:tgtEl>
                                        <p:attrNameLst>
                                          <p:attrName>style.visibility</p:attrName>
                                        </p:attrNameLst>
                                      </p:cBhvr>
                                      <p:to>
                                        <p:strVal val="visible"/>
                                      </p:to>
                                    </p:set>
                                    <p:animEffect transition="in" filter="fade">
                                      <p:cBhvr>
                                        <p:cTn id="31" dur="500"/>
                                        <p:tgtEl>
                                          <p:spTgt spid="3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5"/>
                                        </p:tgtEl>
                                        <p:attrNameLst>
                                          <p:attrName>style.visibility</p:attrName>
                                        </p:attrNameLst>
                                      </p:cBhvr>
                                      <p:to>
                                        <p:strVal val="visible"/>
                                      </p:to>
                                    </p:set>
                                    <p:animEffect transition="in" filter="fade">
                                      <p:cBhvr>
                                        <p:cTn id="34" dur="500"/>
                                        <p:tgtEl>
                                          <p:spTgt spid="3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fade">
                                      <p:cBhvr>
                                        <p:cTn id="37" dur="500"/>
                                        <p:tgtEl>
                                          <p:spTgt spid="3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9"/>
                                        </p:tgtEl>
                                        <p:attrNameLst>
                                          <p:attrName>style.visibility</p:attrName>
                                        </p:attrNameLst>
                                      </p:cBhvr>
                                      <p:to>
                                        <p:strVal val="visible"/>
                                      </p:to>
                                    </p:set>
                                    <p:animEffect transition="in" filter="fade">
                                      <p:cBhvr>
                                        <p:cTn id="40" dur="500"/>
                                        <p:tgtEl>
                                          <p:spTgt spid="39"/>
                                        </p:tgtEl>
                                      </p:cBhvr>
                                    </p:animEffect>
                                  </p:childTnLst>
                                </p:cTn>
                              </p:par>
                              <p:par>
                                <p:cTn id="41" presetID="10" presetClass="entr" presetSubtype="0" fill="hold" nodeType="withEffect">
                                  <p:stCondLst>
                                    <p:cond delay="0"/>
                                  </p:stCondLst>
                                  <p:childTnLst>
                                    <p:set>
                                      <p:cBhvr>
                                        <p:cTn id="42" dur="1" fill="hold">
                                          <p:stCondLst>
                                            <p:cond delay="0"/>
                                          </p:stCondLst>
                                        </p:cTn>
                                        <p:tgtEl>
                                          <p:spTgt spid="40"/>
                                        </p:tgtEl>
                                        <p:attrNameLst>
                                          <p:attrName>style.visibility</p:attrName>
                                        </p:attrNameLst>
                                      </p:cBhvr>
                                      <p:to>
                                        <p:strVal val="visible"/>
                                      </p:to>
                                    </p:set>
                                    <p:animEffect transition="in" filter="fade">
                                      <p:cBhvr>
                                        <p:cTn id="43" dur="500"/>
                                        <p:tgtEl>
                                          <p:spTgt spid="40"/>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8"/>
                                        </p:tgtEl>
                                        <p:attrNameLst>
                                          <p:attrName>style.visibility</p:attrName>
                                        </p:attrNameLst>
                                      </p:cBhvr>
                                      <p:to>
                                        <p:strVal val="visible"/>
                                      </p:to>
                                    </p:set>
                                    <p:animEffect transition="in" filter="fade">
                                      <p:cBhvr>
                                        <p:cTn id="46" dur="500"/>
                                        <p:tgtEl>
                                          <p:spTgt spid="38"/>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41"/>
                                        </p:tgtEl>
                                        <p:attrNameLst>
                                          <p:attrName>style.visibility</p:attrName>
                                        </p:attrNameLst>
                                      </p:cBhvr>
                                      <p:to>
                                        <p:strVal val="visible"/>
                                      </p:to>
                                    </p:set>
                                    <p:animEffect transition="in" filter="fade">
                                      <p:cBhvr>
                                        <p:cTn id="51" dur="500"/>
                                        <p:tgtEl>
                                          <p:spTgt spid="41"/>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42"/>
                                        </p:tgtEl>
                                        <p:attrNameLst>
                                          <p:attrName>style.visibility</p:attrName>
                                        </p:attrNameLst>
                                      </p:cBhvr>
                                      <p:to>
                                        <p:strVal val="visible"/>
                                      </p:to>
                                    </p:set>
                                    <p:animEffect transition="in" filter="fade">
                                      <p:cBhvr>
                                        <p:cTn id="54" dur="500"/>
                                        <p:tgtEl>
                                          <p:spTgt spid="42"/>
                                        </p:tgtEl>
                                      </p:cBhvr>
                                    </p:animEffect>
                                  </p:childTnLst>
                                </p:cTn>
                              </p:par>
                              <p:par>
                                <p:cTn id="55" presetID="10" presetClass="entr" presetSubtype="0" fill="hold" nodeType="withEffect">
                                  <p:stCondLst>
                                    <p:cond delay="0"/>
                                  </p:stCondLst>
                                  <p:childTnLst>
                                    <p:set>
                                      <p:cBhvr>
                                        <p:cTn id="56" dur="1" fill="hold">
                                          <p:stCondLst>
                                            <p:cond delay="0"/>
                                          </p:stCondLst>
                                        </p:cTn>
                                        <p:tgtEl>
                                          <p:spTgt spid="43"/>
                                        </p:tgtEl>
                                        <p:attrNameLst>
                                          <p:attrName>style.visibility</p:attrName>
                                        </p:attrNameLst>
                                      </p:cBhvr>
                                      <p:to>
                                        <p:strVal val="visible"/>
                                      </p:to>
                                    </p:set>
                                    <p:animEffect transition="in" filter="fade">
                                      <p:cBhvr>
                                        <p:cTn id="57" dur="500"/>
                                        <p:tgtEl>
                                          <p:spTgt spid="43"/>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7"/>
                                        </p:tgtEl>
                                        <p:attrNameLst>
                                          <p:attrName>style.visibility</p:attrName>
                                        </p:attrNameLst>
                                      </p:cBhvr>
                                      <p:to>
                                        <p:strVal val="visible"/>
                                      </p:to>
                                    </p:set>
                                    <p:animEffect transition="in" filter="fade">
                                      <p:cBhvr>
                                        <p:cTn id="62"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35" grpId="0"/>
      <p:bldP spid="36" grpId="0"/>
      <p:bldP spid="37" grpId="0"/>
      <p:bldP spid="38" grpId="0" animBg="1"/>
      <p:bldP spid="39" grpId="0" animBg="1"/>
      <p:bldP spid="41" grpId="0" animBg="1"/>
      <p:bldP spid="42" grpId="0" animBg="1"/>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49F3DFEE-D615-10A4-3DFB-F10E842FD6FF}"/>
              </a:ext>
            </a:extLst>
          </p:cNvPr>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 name="直接连接符 2">
            <a:extLst>
              <a:ext uri="{FF2B5EF4-FFF2-40B4-BE49-F238E27FC236}">
                <a16:creationId xmlns:a16="http://schemas.microsoft.com/office/drawing/2014/main" id="{E448084C-00C1-2D46-B2E9-907AC7E07A63}"/>
              </a:ext>
            </a:extLst>
          </p:cNvPr>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4" name="图形 3">
            <a:extLst>
              <a:ext uri="{FF2B5EF4-FFF2-40B4-BE49-F238E27FC236}">
                <a16:creationId xmlns:a16="http://schemas.microsoft.com/office/drawing/2014/main" id="{C93BB0EF-03E3-F5C3-728A-B6DC40F04B4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6" name="文本框 5">
            <a:extLst>
              <a:ext uri="{FF2B5EF4-FFF2-40B4-BE49-F238E27FC236}">
                <a16:creationId xmlns:a16="http://schemas.microsoft.com/office/drawing/2014/main" id="{47E122C5-6879-554E-162C-5ECC1522BC4D}"/>
              </a:ext>
            </a:extLst>
          </p:cNvPr>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7" name="文本框 6">
            <a:extLst>
              <a:ext uri="{FF2B5EF4-FFF2-40B4-BE49-F238E27FC236}">
                <a16:creationId xmlns:a16="http://schemas.microsoft.com/office/drawing/2014/main" id="{D477FD4E-7DCD-BCC3-9437-0BACD4636151}"/>
              </a:ext>
            </a:extLst>
          </p:cNvPr>
          <p:cNvSpPr txBox="1"/>
          <p:nvPr/>
        </p:nvSpPr>
        <p:spPr>
          <a:xfrm>
            <a:off x="1287689" y="63882"/>
            <a:ext cx="9616621" cy="769441"/>
          </a:xfrm>
          <a:prstGeom prst="rect">
            <a:avLst/>
          </a:prstGeom>
          <a:noFill/>
        </p:spPr>
        <p:txBody>
          <a:bodyPr wrap="square" rtlCol="0">
            <a:spAutoFit/>
          </a:bodyPr>
          <a:lstStyle/>
          <a:p>
            <a:r>
              <a:rPr lang="zh-CN" altLang="en-US" sz="4400" dirty="0">
                <a:latin typeface="仿宋" panose="02010609060101010101" pitchFamily="49" charset="-122"/>
                <a:ea typeface="仿宋" panose="02010609060101010101" pitchFamily="49" charset="-122"/>
              </a:rPr>
              <a:t>设计一个求斐波那契数列第</a:t>
            </a:r>
            <a:r>
              <a:rPr lang="en-US" altLang="zh-CN" sz="4400" dirty="0">
                <a:latin typeface="仿宋" panose="02010609060101010101" pitchFamily="49" charset="-122"/>
                <a:ea typeface="仿宋" panose="02010609060101010101" pitchFamily="49" charset="-122"/>
              </a:rPr>
              <a:t>n</a:t>
            </a:r>
            <a:r>
              <a:rPr lang="zh-CN" altLang="en-US" sz="4400" dirty="0">
                <a:latin typeface="仿宋" panose="02010609060101010101" pitchFamily="49" charset="-122"/>
                <a:ea typeface="仿宋" panose="02010609060101010101" pitchFamily="49" charset="-122"/>
              </a:rPr>
              <a:t>项的程序</a:t>
            </a:r>
            <a:endParaRPr lang="en-US" altLang="zh-CN" sz="4400" dirty="0">
              <a:latin typeface="仿宋" panose="02010609060101010101" pitchFamily="49" charset="-122"/>
              <a:ea typeface="仿宋" panose="02010609060101010101" pitchFamily="49" charset="-122"/>
            </a:endParaRPr>
          </a:p>
        </p:txBody>
      </p:sp>
      <p:sp>
        <p:nvSpPr>
          <p:cNvPr id="8" name="矩形 7">
            <a:extLst>
              <a:ext uri="{FF2B5EF4-FFF2-40B4-BE49-F238E27FC236}">
                <a16:creationId xmlns:a16="http://schemas.microsoft.com/office/drawing/2014/main" id="{8AFB0545-D248-CC67-5336-3EA1058652D7}"/>
              </a:ext>
            </a:extLst>
          </p:cNvPr>
          <p:cNvSpPr/>
          <p:nvPr/>
        </p:nvSpPr>
        <p:spPr>
          <a:xfrm>
            <a:off x="2294161" y="2065357"/>
            <a:ext cx="1248228" cy="92236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err="1">
                <a:latin typeface="Consolas" panose="020B0609020204030204" pitchFamily="49" charset="0"/>
              </a:rPr>
              <a:t>i</a:t>
            </a:r>
            <a:r>
              <a:rPr lang="zh-CN" altLang="en-US" dirty="0">
                <a:latin typeface="Consolas" panose="020B0609020204030204" pitchFamily="49" charset="0"/>
              </a:rPr>
              <a:t>←</a:t>
            </a:r>
            <a:r>
              <a:rPr lang="en-US" altLang="zh-CN" dirty="0">
                <a:latin typeface="Consolas" panose="020B0609020204030204" pitchFamily="49" charset="0"/>
              </a:rPr>
              <a:t>3</a:t>
            </a:r>
          </a:p>
          <a:p>
            <a:pPr algn="ctr"/>
            <a:r>
              <a:rPr lang="en-US" altLang="zh-CN" dirty="0">
                <a:latin typeface="Consolas" panose="020B0609020204030204" pitchFamily="49" charset="0"/>
              </a:rPr>
              <a:t>f1</a:t>
            </a:r>
            <a:r>
              <a:rPr lang="zh-CN" altLang="en-US" dirty="0">
                <a:latin typeface="Consolas" panose="020B0609020204030204" pitchFamily="49" charset="0"/>
              </a:rPr>
              <a:t>←</a:t>
            </a:r>
            <a:r>
              <a:rPr lang="en-US" altLang="zh-CN" dirty="0">
                <a:latin typeface="Consolas" panose="020B0609020204030204" pitchFamily="49" charset="0"/>
              </a:rPr>
              <a:t>1</a:t>
            </a:r>
          </a:p>
          <a:p>
            <a:pPr algn="ctr"/>
            <a:r>
              <a:rPr lang="en-US" altLang="zh-CN" dirty="0">
                <a:latin typeface="Consolas" panose="020B0609020204030204" pitchFamily="49" charset="0"/>
              </a:rPr>
              <a:t>f2</a:t>
            </a:r>
            <a:r>
              <a:rPr lang="zh-CN" altLang="en-US" dirty="0">
                <a:latin typeface="Consolas" panose="020B0609020204030204" pitchFamily="49" charset="0"/>
              </a:rPr>
              <a:t>←</a:t>
            </a:r>
            <a:r>
              <a:rPr lang="en-US" altLang="zh-CN" dirty="0">
                <a:latin typeface="Consolas" panose="020B0609020204030204" pitchFamily="49" charset="0"/>
              </a:rPr>
              <a:t>1</a:t>
            </a:r>
          </a:p>
        </p:txBody>
      </p:sp>
      <p:sp>
        <p:nvSpPr>
          <p:cNvPr id="9" name="流程图: 决策 8">
            <a:extLst>
              <a:ext uri="{FF2B5EF4-FFF2-40B4-BE49-F238E27FC236}">
                <a16:creationId xmlns:a16="http://schemas.microsoft.com/office/drawing/2014/main" id="{BE38DB2F-8179-E67D-C4B5-6231F2F70FFE}"/>
              </a:ext>
            </a:extLst>
          </p:cNvPr>
          <p:cNvSpPr/>
          <p:nvPr/>
        </p:nvSpPr>
        <p:spPr>
          <a:xfrm>
            <a:off x="2145397" y="3456029"/>
            <a:ext cx="1545768" cy="769441"/>
          </a:xfrm>
          <a:prstGeom prst="flowChartDecision">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err="1">
                <a:latin typeface="Consolas" panose="020B0609020204030204" pitchFamily="49" charset="0"/>
              </a:rPr>
              <a:t>i</a:t>
            </a:r>
            <a:r>
              <a:rPr lang="en-US" altLang="zh-CN" dirty="0">
                <a:latin typeface="Consolas" panose="020B0609020204030204" pitchFamily="49" charset="0"/>
              </a:rPr>
              <a:t>&lt;=n?</a:t>
            </a:r>
            <a:endParaRPr lang="zh-CN" altLang="en-US" dirty="0">
              <a:latin typeface="Consolas" panose="020B0609020204030204" pitchFamily="49" charset="0"/>
            </a:endParaRPr>
          </a:p>
        </p:txBody>
      </p:sp>
      <p:sp>
        <p:nvSpPr>
          <p:cNvPr id="10" name="矩形 9">
            <a:extLst>
              <a:ext uri="{FF2B5EF4-FFF2-40B4-BE49-F238E27FC236}">
                <a16:creationId xmlns:a16="http://schemas.microsoft.com/office/drawing/2014/main" id="{A7A50813-7216-2E3A-D1C4-3A5EB33BBAD3}"/>
              </a:ext>
            </a:extLst>
          </p:cNvPr>
          <p:cNvSpPr/>
          <p:nvPr/>
        </p:nvSpPr>
        <p:spPr>
          <a:xfrm>
            <a:off x="2219777" y="4548261"/>
            <a:ext cx="1396998" cy="95011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600" dirty="0">
                <a:latin typeface="Consolas" panose="020B0609020204030204" pitchFamily="49" charset="0"/>
              </a:rPr>
              <a:t>t</a:t>
            </a:r>
            <a:r>
              <a:rPr lang="zh-CN" altLang="en-US" sz="1600" dirty="0">
                <a:latin typeface="Consolas" panose="020B0609020204030204" pitchFamily="49" charset="0"/>
              </a:rPr>
              <a:t>←</a:t>
            </a:r>
            <a:r>
              <a:rPr lang="en-US" altLang="zh-CN" sz="1600" dirty="0">
                <a:latin typeface="Consolas" panose="020B0609020204030204" pitchFamily="49" charset="0"/>
              </a:rPr>
              <a:t>f1</a:t>
            </a:r>
          </a:p>
          <a:p>
            <a:pPr algn="ctr"/>
            <a:r>
              <a:rPr lang="en-US" altLang="zh-CN" sz="1600" dirty="0">
                <a:latin typeface="Consolas" panose="020B0609020204030204" pitchFamily="49" charset="0"/>
              </a:rPr>
              <a:t>f1</a:t>
            </a:r>
            <a:r>
              <a:rPr lang="zh-CN" altLang="en-US" sz="1600" dirty="0">
                <a:latin typeface="Consolas" panose="020B0609020204030204" pitchFamily="49" charset="0"/>
              </a:rPr>
              <a:t>←</a:t>
            </a:r>
            <a:r>
              <a:rPr lang="en-US" altLang="zh-CN" sz="1600" dirty="0">
                <a:latin typeface="Consolas" panose="020B0609020204030204" pitchFamily="49" charset="0"/>
              </a:rPr>
              <a:t>f2</a:t>
            </a:r>
          </a:p>
          <a:p>
            <a:pPr algn="ctr"/>
            <a:r>
              <a:rPr lang="en-US" altLang="zh-CN" sz="1600" dirty="0">
                <a:latin typeface="Consolas" panose="020B0609020204030204" pitchFamily="49" charset="0"/>
              </a:rPr>
              <a:t>f2</a:t>
            </a:r>
            <a:r>
              <a:rPr lang="zh-CN" altLang="en-US" sz="1600" dirty="0">
                <a:latin typeface="Consolas" panose="020B0609020204030204" pitchFamily="49" charset="0"/>
              </a:rPr>
              <a:t>←</a:t>
            </a:r>
            <a:r>
              <a:rPr lang="en-US" altLang="zh-CN" sz="1600" dirty="0">
                <a:latin typeface="Consolas" panose="020B0609020204030204" pitchFamily="49" charset="0"/>
              </a:rPr>
              <a:t>f1+t</a:t>
            </a:r>
          </a:p>
          <a:p>
            <a:pPr algn="ctr"/>
            <a:r>
              <a:rPr lang="en-US" altLang="zh-CN" sz="1600" dirty="0" err="1">
                <a:latin typeface="Consolas" panose="020B0609020204030204" pitchFamily="49" charset="0"/>
              </a:rPr>
              <a:t>i</a:t>
            </a:r>
            <a:r>
              <a:rPr lang="zh-CN" altLang="en-US" sz="1600" dirty="0">
                <a:latin typeface="Consolas" panose="020B0609020204030204" pitchFamily="49" charset="0"/>
              </a:rPr>
              <a:t>←</a:t>
            </a:r>
            <a:r>
              <a:rPr lang="en-US" altLang="zh-CN" sz="1600" dirty="0">
                <a:latin typeface="Consolas" panose="020B0609020204030204" pitchFamily="49" charset="0"/>
              </a:rPr>
              <a:t>i+1</a:t>
            </a:r>
            <a:endParaRPr lang="zh-CN" altLang="en-US" sz="1600" dirty="0">
              <a:latin typeface="Consolas" panose="020B0609020204030204" pitchFamily="49" charset="0"/>
            </a:endParaRPr>
          </a:p>
        </p:txBody>
      </p:sp>
      <p:cxnSp>
        <p:nvCxnSpPr>
          <p:cNvPr id="11" name="直接箭头连接符 10">
            <a:extLst>
              <a:ext uri="{FF2B5EF4-FFF2-40B4-BE49-F238E27FC236}">
                <a16:creationId xmlns:a16="http://schemas.microsoft.com/office/drawing/2014/main" id="{BC744E01-D296-8CC1-8972-224A4A804223}"/>
              </a:ext>
            </a:extLst>
          </p:cNvPr>
          <p:cNvCxnSpPr>
            <a:cxnSpLocks/>
            <a:stCxn id="9" idx="2"/>
            <a:endCxn id="10" idx="0"/>
          </p:cNvCxnSpPr>
          <p:nvPr/>
        </p:nvCxnSpPr>
        <p:spPr>
          <a:xfrm flipH="1">
            <a:off x="2918276" y="4225470"/>
            <a:ext cx="5" cy="32279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直接箭头连接符 11">
            <a:extLst>
              <a:ext uri="{FF2B5EF4-FFF2-40B4-BE49-F238E27FC236}">
                <a16:creationId xmlns:a16="http://schemas.microsoft.com/office/drawing/2014/main" id="{62818046-5CF7-3613-9463-A261D5DC1172}"/>
              </a:ext>
            </a:extLst>
          </p:cNvPr>
          <p:cNvCxnSpPr>
            <a:cxnSpLocks/>
          </p:cNvCxnSpPr>
          <p:nvPr/>
        </p:nvCxnSpPr>
        <p:spPr>
          <a:xfrm>
            <a:off x="1528649" y="3266891"/>
            <a:ext cx="136559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直接箭头连接符 12">
            <a:extLst>
              <a:ext uri="{FF2B5EF4-FFF2-40B4-BE49-F238E27FC236}">
                <a16:creationId xmlns:a16="http://schemas.microsoft.com/office/drawing/2014/main" id="{288A5CC9-007D-8255-5DD5-EA9032FE2BEA}"/>
              </a:ext>
            </a:extLst>
          </p:cNvPr>
          <p:cNvCxnSpPr>
            <a:cxnSpLocks/>
            <a:stCxn id="8" idx="2"/>
            <a:endCxn id="9" idx="0"/>
          </p:cNvCxnSpPr>
          <p:nvPr/>
        </p:nvCxnSpPr>
        <p:spPr>
          <a:xfrm>
            <a:off x="2918275" y="2987718"/>
            <a:ext cx="6" cy="46831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连接符: 肘形 13">
            <a:extLst>
              <a:ext uri="{FF2B5EF4-FFF2-40B4-BE49-F238E27FC236}">
                <a16:creationId xmlns:a16="http://schemas.microsoft.com/office/drawing/2014/main" id="{B4CB0750-8B80-56F7-BC72-ED0B41BF880D}"/>
              </a:ext>
            </a:extLst>
          </p:cNvPr>
          <p:cNvCxnSpPr>
            <a:cxnSpLocks/>
            <a:stCxn id="9" idx="3"/>
          </p:cNvCxnSpPr>
          <p:nvPr/>
        </p:nvCxnSpPr>
        <p:spPr>
          <a:xfrm>
            <a:off x="3691165" y="3840750"/>
            <a:ext cx="1174750" cy="1711053"/>
          </a:xfrm>
          <a:prstGeom prst="bentConnector2">
            <a:avLst/>
          </a:prstGeom>
        </p:spPr>
        <p:style>
          <a:lnRef idx="1">
            <a:schemeClr val="dk1"/>
          </a:lnRef>
          <a:fillRef idx="0">
            <a:schemeClr val="dk1"/>
          </a:fillRef>
          <a:effectRef idx="0">
            <a:schemeClr val="dk1"/>
          </a:effectRef>
          <a:fontRef idx="minor">
            <a:schemeClr val="tx1"/>
          </a:fontRef>
        </p:style>
      </p:cxnSp>
      <p:cxnSp>
        <p:nvCxnSpPr>
          <p:cNvPr id="15" name="连接符: 肘形 14">
            <a:extLst>
              <a:ext uri="{FF2B5EF4-FFF2-40B4-BE49-F238E27FC236}">
                <a16:creationId xmlns:a16="http://schemas.microsoft.com/office/drawing/2014/main" id="{A1AE53AE-F1BA-CFD2-F2AC-64727A4C6B3A}"/>
              </a:ext>
            </a:extLst>
          </p:cNvPr>
          <p:cNvCxnSpPr>
            <a:cxnSpLocks/>
            <a:endCxn id="19" idx="1"/>
          </p:cNvCxnSpPr>
          <p:nvPr/>
        </p:nvCxnSpPr>
        <p:spPr>
          <a:xfrm rot="10800000" flipV="1">
            <a:off x="2918276" y="5551803"/>
            <a:ext cx="1947643" cy="263442"/>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16" name="文本框 15">
            <a:extLst>
              <a:ext uri="{FF2B5EF4-FFF2-40B4-BE49-F238E27FC236}">
                <a16:creationId xmlns:a16="http://schemas.microsoft.com/office/drawing/2014/main" id="{D078DF7E-1C56-D82B-934F-95A2E78A14DE}"/>
              </a:ext>
            </a:extLst>
          </p:cNvPr>
          <p:cNvSpPr txBox="1"/>
          <p:nvPr/>
        </p:nvSpPr>
        <p:spPr>
          <a:xfrm>
            <a:off x="3736449" y="3477942"/>
            <a:ext cx="311304" cy="369332"/>
          </a:xfrm>
          <a:prstGeom prst="rect">
            <a:avLst/>
          </a:prstGeom>
          <a:noFill/>
        </p:spPr>
        <p:txBody>
          <a:bodyPr wrap="square" rtlCol="0">
            <a:spAutoFit/>
          </a:bodyPr>
          <a:lstStyle/>
          <a:p>
            <a:r>
              <a:rPr lang="en-US" altLang="zh-CN" dirty="0"/>
              <a:t>N</a:t>
            </a:r>
            <a:endParaRPr lang="zh-CN" altLang="en-US" dirty="0"/>
          </a:p>
        </p:txBody>
      </p:sp>
      <p:sp>
        <p:nvSpPr>
          <p:cNvPr id="17" name="文本框 16">
            <a:extLst>
              <a:ext uri="{FF2B5EF4-FFF2-40B4-BE49-F238E27FC236}">
                <a16:creationId xmlns:a16="http://schemas.microsoft.com/office/drawing/2014/main" id="{BB9099AC-FD48-0871-3A89-0A30DF13B3C0}"/>
              </a:ext>
            </a:extLst>
          </p:cNvPr>
          <p:cNvSpPr txBox="1"/>
          <p:nvPr/>
        </p:nvSpPr>
        <p:spPr>
          <a:xfrm>
            <a:off x="3194060" y="4093659"/>
            <a:ext cx="258413" cy="369332"/>
          </a:xfrm>
          <a:prstGeom prst="rect">
            <a:avLst/>
          </a:prstGeom>
          <a:noFill/>
        </p:spPr>
        <p:txBody>
          <a:bodyPr wrap="square" rtlCol="0">
            <a:spAutoFit/>
          </a:bodyPr>
          <a:lstStyle/>
          <a:p>
            <a:r>
              <a:rPr lang="en-US" altLang="zh-CN" dirty="0"/>
              <a:t>Y</a:t>
            </a:r>
            <a:endParaRPr lang="zh-CN" altLang="en-US" dirty="0"/>
          </a:p>
        </p:txBody>
      </p:sp>
      <p:sp>
        <p:nvSpPr>
          <p:cNvPr id="18" name="文本框 17">
            <a:extLst>
              <a:ext uri="{FF2B5EF4-FFF2-40B4-BE49-F238E27FC236}">
                <a16:creationId xmlns:a16="http://schemas.microsoft.com/office/drawing/2014/main" id="{70BED926-6D56-E00C-325D-E8FF49195949}"/>
              </a:ext>
            </a:extLst>
          </p:cNvPr>
          <p:cNvSpPr txBox="1"/>
          <p:nvPr/>
        </p:nvSpPr>
        <p:spPr>
          <a:xfrm>
            <a:off x="6293977" y="4634185"/>
            <a:ext cx="4311644" cy="1446550"/>
          </a:xfrm>
          <a:prstGeom prst="rect">
            <a:avLst/>
          </a:prstGeom>
          <a:noFill/>
        </p:spPr>
        <p:txBody>
          <a:bodyPr wrap="square" rtlCol="0">
            <a:spAutoFit/>
          </a:bodyPr>
          <a:lstStyle/>
          <a:p>
            <a:r>
              <a:rPr lang="zh-CN" altLang="en-US" sz="4400" dirty="0">
                <a:solidFill>
                  <a:srgbClr val="FF0000"/>
                </a:solidFill>
                <a:latin typeface="仿宋" panose="02010609060101010101" pitchFamily="49" charset="-122"/>
                <a:ea typeface="仿宋" panose="02010609060101010101" pitchFamily="49" charset="-122"/>
              </a:rPr>
              <a:t>开始和结束</a:t>
            </a:r>
            <a:r>
              <a:rPr lang="en-US" altLang="zh-CN" sz="4400" dirty="0">
                <a:solidFill>
                  <a:srgbClr val="FF0000"/>
                </a:solidFill>
                <a:latin typeface="仿宋" panose="02010609060101010101" pitchFamily="49" charset="-122"/>
                <a:ea typeface="仿宋" panose="02010609060101010101" pitchFamily="49" charset="-122"/>
              </a:rPr>
              <a:t>,</a:t>
            </a:r>
            <a:r>
              <a:rPr lang="zh-CN" altLang="en-US" sz="4400" dirty="0">
                <a:solidFill>
                  <a:srgbClr val="FF0000"/>
                </a:solidFill>
                <a:latin typeface="仿宋" panose="02010609060101010101" pitchFamily="49" charset="-122"/>
                <a:ea typeface="仿宋" panose="02010609060101010101" pitchFamily="49" charset="-122"/>
              </a:rPr>
              <a:t>略</a:t>
            </a:r>
            <a:endParaRPr lang="en-US" altLang="zh-CN" sz="4400" dirty="0">
              <a:solidFill>
                <a:srgbClr val="FF0000"/>
              </a:solidFill>
              <a:latin typeface="仿宋" panose="02010609060101010101" pitchFamily="49" charset="-122"/>
              <a:ea typeface="仿宋" panose="02010609060101010101" pitchFamily="49" charset="-122"/>
            </a:endParaRPr>
          </a:p>
          <a:p>
            <a:r>
              <a:rPr lang="zh-CN" altLang="en-US" sz="4400" dirty="0">
                <a:solidFill>
                  <a:srgbClr val="FF0000"/>
                </a:solidFill>
                <a:latin typeface="仿宋" panose="02010609060101010101" pitchFamily="49" charset="-122"/>
                <a:ea typeface="仿宋" panose="02010609060101010101" pitchFamily="49" charset="-122"/>
              </a:rPr>
              <a:t>但是这很重要</a:t>
            </a:r>
            <a:r>
              <a:rPr lang="en-US" altLang="zh-CN" sz="4400" dirty="0">
                <a:solidFill>
                  <a:srgbClr val="FF0000"/>
                </a:solidFill>
                <a:latin typeface="仿宋" panose="02010609060101010101" pitchFamily="49" charset="-122"/>
                <a:ea typeface="仿宋" panose="02010609060101010101" pitchFamily="49" charset="-122"/>
              </a:rPr>
              <a:t>!!!</a:t>
            </a:r>
          </a:p>
        </p:txBody>
      </p:sp>
      <p:sp>
        <p:nvSpPr>
          <p:cNvPr id="19" name="流程图: 数据 18">
            <a:extLst>
              <a:ext uri="{FF2B5EF4-FFF2-40B4-BE49-F238E27FC236}">
                <a16:creationId xmlns:a16="http://schemas.microsoft.com/office/drawing/2014/main" id="{F42ED081-5819-6A03-0B6E-FF0A93DFAF72}"/>
              </a:ext>
            </a:extLst>
          </p:cNvPr>
          <p:cNvSpPr/>
          <p:nvPr/>
        </p:nvSpPr>
        <p:spPr>
          <a:xfrm>
            <a:off x="1683200" y="5815245"/>
            <a:ext cx="2470150" cy="769442"/>
          </a:xfrm>
          <a:prstGeom prst="flowChartInputOutpu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800" dirty="0">
                <a:latin typeface="Consolas" panose="020B0609020204030204" pitchFamily="49" charset="0"/>
                <a:ea typeface="仿宋" panose="02010609060101010101" pitchFamily="49" charset="-122"/>
              </a:rPr>
              <a:t>输出</a:t>
            </a:r>
            <a:r>
              <a:rPr lang="en-US" altLang="zh-CN" sz="2800" dirty="0">
                <a:latin typeface="Consolas" panose="020B0609020204030204" pitchFamily="49" charset="0"/>
                <a:ea typeface="仿宋" panose="02010609060101010101" pitchFamily="49" charset="-122"/>
              </a:rPr>
              <a:t>f2</a:t>
            </a:r>
            <a:endParaRPr lang="zh-CN" altLang="en-US" sz="2800" dirty="0">
              <a:latin typeface="Consolas" panose="020B0609020204030204" pitchFamily="49" charset="0"/>
              <a:ea typeface="仿宋" panose="02010609060101010101" pitchFamily="49" charset="-122"/>
            </a:endParaRPr>
          </a:p>
        </p:txBody>
      </p:sp>
      <p:sp>
        <p:nvSpPr>
          <p:cNvPr id="20" name="流程图: 数据 19">
            <a:extLst>
              <a:ext uri="{FF2B5EF4-FFF2-40B4-BE49-F238E27FC236}">
                <a16:creationId xmlns:a16="http://schemas.microsoft.com/office/drawing/2014/main" id="{0C39CC1D-9AC3-32A6-8610-0D37FFAE5A8D}"/>
              </a:ext>
            </a:extLst>
          </p:cNvPr>
          <p:cNvSpPr/>
          <p:nvPr/>
        </p:nvSpPr>
        <p:spPr>
          <a:xfrm>
            <a:off x="1683200" y="936906"/>
            <a:ext cx="2470150" cy="769442"/>
          </a:xfrm>
          <a:prstGeom prst="flowChartInputOutpu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800" dirty="0">
                <a:latin typeface="Consolas" panose="020B0609020204030204" pitchFamily="49" charset="0"/>
                <a:ea typeface="仿宋" panose="02010609060101010101" pitchFamily="49" charset="-122"/>
              </a:rPr>
              <a:t>输入</a:t>
            </a:r>
            <a:r>
              <a:rPr lang="en-US" altLang="zh-CN" sz="2800" dirty="0">
                <a:latin typeface="Consolas" panose="020B0609020204030204" pitchFamily="49" charset="0"/>
                <a:ea typeface="仿宋" panose="02010609060101010101" pitchFamily="49" charset="-122"/>
              </a:rPr>
              <a:t>n</a:t>
            </a:r>
            <a:endParaRPr lang="zh-CN" altLang="en-US" sz="2800" dirty="0">
              <a:latin typeface="Consolas" panose="020B0609020204030204" pitchFamily="49" charset="0"/>
              <a:ea typeface="仿宋" panose="02010609060101010101" pitchFamily="49" charset="-122"/>
            </a:endParaRPr>
          </a:p>
        </p:txBody>
      </p:sp>
      <p:cxnSp>
        <p:nvCxnSpPr>
          <p:cNvPr id="21" name="直接箭头连接符 20">
            <a:extLst>
              <a:ext uri="{FF2B5EF4-FFF2-40B4-BE49-F238E27FC236}">
                <a16:creationId xmlns:a16="http://schemas.microsoft.com/office/drawing/2014/main" id="{48FE7C9C-B8AB-D60B-13B0-1F7BE3D07F0C}"/>
              </a:ext>
            </a:extLst>
          </p:cNvPr>
          <p:cNvCxnSpPr>
            <a:cxnSpLocks/>
            <a:stCxn id="20" idx="4"/>
            <a:endCxn id="8" idx="0"/>
          </p:cNvCxnSpPr>
          <p:nvPr/>
        </p:nvCxnSpPr>
        <p:spPr>
          <a:xfrm>
            <a:off x="2918275" y="1706348"/>
            <a:ext cx="0" cy="35900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连接符: 肘形 21">
            <a:extLst>
              <a:ext uri="{FF2B5EF4-FFF2-40B4-BE49-F238E27FC236}">
                <a16:creationId xmlns:a16="http://schemas.microsoft.com/office/drawing/2014/main" id="{CCD3FE92-6C61-3D62-594F-C6B5C9D050A4}"/>
              </a:ext>
            </a:extLst>
          </p:cNvPr>
          <p:cNvCxnSpPr>
            <a:cxnSpLocks/>
            <a:endCxn id="10" idx="1"/>
          </p:cNvCxnSpPr>
          <p:nvPr/>
        </p:nvCxnSpPr>
        <p:spPr>
          <a:xfrm rot="16200000" flipH="1">
            <a:off x="995996" y="3799540"/>
            <a:ext cx="1756430" cy="691132"/>
          </a:xfrm>
          <a:prstGeom prst="bentConnector2">
            <a:avLst/>
          </a:prstGeom>
        </p:spPr>
        <p:style>
          <a:lnRef idx="1">
            <a:schemeClr val="dk1"/>
          </a:lnRef>
          <a:fillRef idx="0">
            <a:schemeClr val="dk1"/>
          </a:fillRef>
          <a:effectRef idx="0">
            <a:schemeClr val="dk1"/>
          </a:effectRef>
          <a:fontRef idx="minor">
            <a:schemeClr val="tx1"/>
          </a:fontRef>
        </p:style>
      </p:cxnSp>
      <p:pic>
        <p:nvPicPr>
          <p:cNvPr id="23" name="图片 4">
            <a:extLst>
              <a:ext uri="{FF2B5EF4-FFF2-40B4-BE49-F238E27FC236}">
                <a16:creationId xmlns:a16="http://schemas.microsoft.com/office/drawing/2014/main" id="{8BD6FD38-20CE-7D03-989E-0076C621CABD}"/>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416425" y="6219825"/>
            <a:ext cx="542925" cy="542925"/>
          </a:xfrm>
          <a:prstGeom prst="rect">
            <a:avLst/>
          </a:prstGeom>
        </p:spPr>
      </p:pic>
      <p:sp>
        <p:nvSpPr>
          <p:cNvPr id="5" name="文本框 4">
            <a:extLst>
              <a:ext uri="{FF2B5EF4-FFF2-40B4-BE49-F238E27FC236}">
                <a16:creationId xmlns:a16="http://schemas.microsoft.com/office/drawing/2014/main" id="{38EB1514-CC36-C24E-32E3-43FDB41C021C}"/>
              </a:ext>
            </a:extLst>
          </p:cNvPr>
          <p:cNvSpPr txBox="1"/>
          <p:nvPr/>
        </p:nvSpPr>
        <p:spPr>
          <a:xfrm>
            <a:off x="5253318" y="1296201"/>
            <a:ext cx="6538252" cy="3539430"/>
          </a:xfrm>
          <a:prstGeom prst="rect">
            <a:avLst/>
          </a:prstGeom>
          <a:noFill/>
        </p:spPr>
        <p:txBody>
          <a:bodyPr wrap="square" rtlCol="0">
            <a:spAutoFit/>
          </a:bodyPr>
          <a:lstStyle/>
          <a:p>
            <a:r>
              <a:rPr lang="zh-CN" altLang="en-US" sz="2800" dirty="0">
                <a:latin typeface="仿宋" panose="02010609060101010101" pitchFamily="49" charset="-122"/>
                <a:ea typeface="仿宋" panose="02010609060101010101" pitchFamily="49" charset="-122"/>
              </a:rPr>
              <a:t>分析</a:t>
            </a:r>
            <a:r>
              <a:rPr lang="en-US" altLang="zh-CN" sz="2800" dirty="0">
                <a:latin typeface="仿宋" panose="02010609060101010101" pitchFamily="49" charset="-122"/>
                <a:ea typeface="仿宋" panose="02010609060101010101" pitchFamily="49" charset="-122"/>
              </a:rPr>
              <a:t>:</a:t>
            </a:r>
            <a:r>
              <a:rPr lang="zh-CN" altLang="en-US" sz="2800" dirty="0">
                <a:latin typeface="仿宋" panose="02010609060101010101" pitchFamily="49" charset="-122"/>
                <a:ea typeface="仿宋" panose="02010609060101010101" pitchFamily="49" charset="-122"/>
              </a:rPr>
              <a:t>我们有第</a:t>
            </a:r>
            <a:r>
              <a:rPr lang="en-US" altLang="zh-CN" sz="2800" dirty="0">
                <a:latin typeface="仿宋" panose="02010609060101010101" pitchFamily="49" charset="-122"/>
                <a:ea typeface="仿宋" panose="02010609060101010101" pitchFamily="49" charset="-122"/>
              </a:rPr>
              <a:t>1</a:t>
            </a:r>
            <a:r>
              <a:rPr lang="zh-CN" altLang="en-US" sz="2800" dirty="0">
                <a:latin typeface="仿宋" panose="02010609060101010101" pitchFamily="49" charset="-122"/>
                <a:ea typeface="仿宋" panose="02010609060101010101" pitchFamily="49" charset="-122"/>
              </a:rPr>
              <a:t>项和第</a:t>
            </a:r>
            <a:r>
              <a:rPr lang="en-US" altLang="zh-CN" sz="2800" dirty="0">
                <a:latin typeface="仿宋" panose="02010609060101010101" pitchFamily="49" charset="-122"/>
                <a:ea typeface="仿宋" panose="02010609060101010101" pitchFamily="49" charset="-122"/>
              </a:rPr>
              <a:t>2</a:t>
            </a:r>
            <a:r>
              <a:rPr lang="zh-CN" altLang="en-US" sz="2800" dirty="0">
                <a:latin typeface="仿宋" panose="02010609060101010101" pitchFamily="49" charset="-122"/>
                <a:ea typeface="仿宋" panose="02010609060101010101" pitchFamily="49" charset="-122"/>
              </a:rPr>
              <a:t>项</a:t>
            </a:r>
            <a:endParaRPr lang="en-US" altLang="zh-CN" sz="2800" dirty="0">
              <a:latin typeface="仿宋" panose="02010609060101010101" pitchFamily="49" charset="-122"/>
              <a:ea typeface="仿宋" panose="02010609060101010101" pitchFamily="49" charset="-122"/>
            </a:endParaRPr>
          </a:p>
          <a:p>
            <a:r>
              <a:rPr lang="zh-CN" altLang="en-US" sz="2800" dirty="0">
                <a:latin typeface="仿宋" panose="02010609060101010101" pitchFamily="49" charset="-122"/>
                <a:ea typeface="仿宋" panose="02010609060101010101" pitchFamily="49" charset="-122"/>
              </a:rPr>
              <a:t>我们要求出第</a:t>
            </a:r>
            <a:r>
              <a:rPr lang="en-US" altLang="zh-CN" sz="2800" dirty="0">
                <a:latin typeface="仿宋" panose="02010609060101010101" pitchFamily="49" charset="-122"/>
                <a:ea typeface="仿宋" panose="02010609060101010101" pitchFamily="49" charset="-122"/>
              </a:rPr>
              <a:t>n</a:t>
            </a:r>
            <a:r>
              <a:rPr lang="zh-CN" altLang="en-US" sz="2800" dirty="0">
                <a:latin typeface="仿宋" panose="02010609060101010101" pitchFamily="49" charset="-122"/>
                <a:ea typeface="仿宋" panose="02010609060101010101" pitchFamily="49" charset="-122"/>
              </a:rPr>
              <a:t>项的话只需要进行</a:t>
            </a:r>
            <a:r>
              <a:rPr lang="en-US" altLang="zh-CN" sz="2800" dirty="0">
                <a:latin typeface="仿宋" panose="02010609060101010101" pitchFamily="49" charset="-122"/>
                <a:ea typeface="仿宋" panose="02010609060101010101" pitchFamily="49" charset="-122"/>
              </a:rPr>
              <a:t>n-2</a:t>
            </a:r>
            <a:r>
              <a:rPr lang="zh-CN" altLang="en-US" sz="2800" dirty="0">
                <a:latin typeface="仿宋" panose="02010609060101010101" pitchFamily="49" charset="-122"/>
                <a:ea typeface="仿宋" panose="02010609060101010101" pitchFamily="49" charset="-122"/>
              </a:rPr>
              <a:t>次递推即可</a:t>
            </a:r>
            <a:endParaRPr lang="en-US" altLang="zh-CN" sz="2800" dirty="0">
              <a:latin typeface="仿宋" panose="02010609060101010101" pitchFamily="49" charset="-122"/>
              <a:ea typeface="仿宋" panose="02010609060101010101" pitchFamily="49" charset="-122"/>
            </a:endParaRPr>
          </a:p>
          <a:p>
            <a:r>
              <a:rPr lang="zh-CN" altLang="en-US" sz="2800" dirty="0">
                <a:latin typeface="仿宋" panose="02010609060101010101" pitchFamily="49" charset="-122"/>
                <a:ea typeface="仿宋" panose="02010609060101010101" pitchFamily="49" charset="-122"/>
              </a:rPr>
              <a:t>注意到我们每次递推的时候只需要保留最后两项</a:t>
            </a:r>
            <a:endParaRPr lang="en-US" altLang="zh-CN" sz="2800" dirty="0">
              <a:latin typeface="仿宋" panose="02010609060101010101" pitchFamily="49" charset="-122"/>
              <a:ea typeface="仿宋" panose="02010609060101010101" pitchFamily="49" charset="-122"/>
            </a:endParaRPr>
          </a:p>
          <a:p>
            <a:r>
              <a:rPr lang="en-US" altLang="zh-CN" sz="2800" dirty="0" err="1">
                <a:latin typeface="仿宋" panose="02010609060101010101" pitchFamily="49" charset="-122"/>
                <a:ea typeface="仿宋" panose="02010609060101010101" pitchFamily="49" charset="-122"/>
              </a:rPr>
              <a:t>i</a:t>
            </a:r>
            <a:r>
              <a:rPr lang="zh-CN" altLang="en-US" sz="2800" dirty="0">
                <a:latin typeface="仿宋" panose="02010609060101010101" pitchFamily="49" charset="-122"/>
                <a:ea typeface="仿宋" panose="02010609060101010101" pitchFamily="49" charset="-122"/>
              </a:rPr>
              <a:t>从</a:t>
            </a:r>
            <a:r>
              <a:rPr lang="en-US" altLang="zh-CN" sz="2800" dirty="0">
                <a:latin typeface="仿宋" panose="02010609060101010101" pitchFamily="49" charset="-122"/>
                <a:ea typeface="仿宋" panose="02010609060101010101" pitchFamily="49" charset="-122"/>
              </a:rPr>
              <a:t>1~n</a:t>
            </a:r>
            <a:r>
              <a:rPr lang="zh-CN" altLang="en-US" sz="2800" dirty="0">
                <a:latin typeface="仿宋" panose="02010609060101010101" pitchFamily="49" charset="-122"/>
                <a:ea typeface="仿宋" panose="02010609060101010101" pitchFamily="49" charset="-122"/>
              </a:rPr>
              <a:t>就即循环</a:t>
            </a:r>
            <a:r>
              <a:rPr lang="en-US" altLang="zh-CN" sz="2800" dirty="0">
                <a:latin typeface="仿宋" panose="02010609060101010101" pitchFamily="49" charset="-122"/>
                <a:ea typeface="仿宋" panose="02010609060101010101" pitchFamily="49" charset="-122"/>
              </a:rPr>
              <a:t>n</a:t>
            </a:r>
            <a:r>
              <a:rPr lang="zh-CN" altLang="en-US" sz="2800" dirty="0">
                <a:latin typeface="仿宋" panose="02010609060101010101" pitchFamily="49" charset="-122"/>
                <a:ea typeface="仿宋" panose="02010609060101010101" pitchFamily="49" charset="-122"/>
              </a:rPr>
              <a:t>次</a:t>
            </a:r>
            <a:endParaRPr lang="en-US" altLang="zh-CN" sz="2800" dirty="0">
              <a:latin typeface="仿宋" panose="02010609060101010101" pitchFamily="49" charset="-122"/>
              <a:ea typeface="仿宋" panose="02010609060101010101" pitchFamily="49" charset="-122"/>
            </a:endParaRPr>
          </a:p>
          <a:p>
            <a:r>
              <a:rPr lang="en-US" altLang="zh-CN" sz="2800" dirty="0" err="1">
                <a:latin typeface="仿宋" panose="02010609060101010101" pitchFamily="49" charset="-122"/>
                <a:ea typeface="仿宋" panose="02010609060101010101" pitchFamily="49" charset="-122"/>
              </a:rPr>
              <a:t>i</a:t>
            </a:r>
            <a:r>
              <a:rPr lang="zh-CN" altLang="en-US" sz="2800" dirty="0">
                <a:latin typeface="仿宋" panose="02010609060101010101" pitchFamily="49" charset="-122"/>
                <a:ea typeface="仿宋" panose="02010609060101010101" pitchFamily="49" charset="-122"/>
              </a:rPr>
              <a:t>从</a:t>
            </a:r>
            <a:r>
              <a:rPr lang="en-US" altLang="zh-CN" sz="2800" dirty="0">
                <a:latin typeface="仿宋" panose="02010609060101010101" pitchFamily="49" charset="-122"/>
                <a:ea typeface="仿宋" panose="02010609060101010101" pitchFamily="49" charset="-122"/>
              </a:rPr>
              <a:t>3~n</a:t>
            </a:r>
            <a:r>
              <a:rPr lang="zh-CN" altLang="en-US" sz="2800" dirty="0">
                <a:latin typeface="仿宋" panose="02010609060101010101" pitchFamily="49" charset="-122"/>
                <a:ea typeface="仿宋" panose="02010609060101010101" pitchFamily="49" charset="-122"/>
              </a:rPr>
              <a:t>即循环</a:t>
            </a:r>
            <a:r>
              <a:rPr lang="en-US" altLang="zh-CN" sz="2800" dirty="0">
                <a:latin typeface="仿宋" panose="02010609060101010101" pitchFamily="49" charset="-122"/>
                <a:ea typeface="仿宋" panose="02010609060101010101" pitchFamily="49" charset="-122"/>
              </a:rPr>
              <a:t>n-2</a:t>
            </a:r>
            <a:r>
              <a:rPr lang="zh-CN" altLang="en-US" sz="2800" dirty="0">
                <a:latin typeface="仿宋" panose="02010609060101010101" pitchFamily="49" charset="-122"/>
                <a:ea typeface="仿宋" panose="02010609060101010101" pitchFamily="49" charset="-122"/>
              </a:rPr>
              <a:t>次</a:t>
            </a:r>
            <a:endParaRPr lang="en-US" altLang="zh-CN" sz="2800" dirty="0">
              <a:latin typeface="仿宋" panose="02010609060101010101" pitchFamily="49" charset="-122"/>
              <a:ea typeface="仿宋" panose="02010609060101010101" pitchFamily="49" charset="-122"/>
            </a:endParaRPr>
          </a:p>
          <a:p>
            <a:r>
              <a:rPr lang="en-US" altLang="zh-CN" sz="2800" dirty="0">
                <a:latin typeface="仿宋" panose="02010609060101010101" pitchFamily="49" charset="-122"/>
                <a:ea typeface="仿宋" panose="02010609060101010101" pitchFamily="49" charset="-122"/>
              </a:rPr>
              <a:t>n</a:t>
            </a:r>
            <a:r>
              <a:rPr lang="zh-CN" altLang="en-US" sz="2800" dirty="0">
                <a:latin typeface="仿宋" panose="02010609060101010101" pitchFamily="49" charset="-122"/>
                <a:ea typeface="仿宋" panose="02010609060101010101" pitchFamily="49" charset="-122"/>
              </a:rPr>
              <a:t>若等于</a:t>
            </a:r>
            <a:r>
              <a:rPr lang="en-US" altLang="zh-CN" sz="2800" dirty="0">
                <a:latin typeface="仿宋" panose="02010609060101010101" pitchFamily="49" charset="-122"/>
                <a:ea typeface="仿宋" panose="02010609060101010101" pitchFamily="49" charset="-122"/>
              </a:rPr>
              <a:t>1</a:t>
            </a:r>
            <a:r>
              <a:rPr lang="zh-CN" altLang="en-US" sz="2800" dirty="0">
                <a:latin typeface="仿宋" panose="02010609060101010101" pitchFamily="49" charset="-122"/>
                <a:ea typeface="仿宋" panose="02010609060101010101" pitchFamily="49" charset="-122"/>
              </a:rPr>
              <a:t>和</a:t>
            </a:r>
            <a:r>
              <a:rPr lang="en-US" altLang="zh-CN" sz="2800" dirty="0">
                <a:latin typeface="仿宋" panose="02010609060101010101" pitchFamily="49" charset="-122"/>
                <a:ea typeface="仿宋" panose="02010609060101010101" pitchFamily="49" charset="-122"/>
              </a:rPr>
              <a:t>2</a:t>
            </a:r>
            <a:r>
              <a:rPr lang="zh-CN" altLang="en-US" sz="2800" dirty="0">
                <a:latin typeface="仿宋" panose="02010609060101010101" pitchFamily="49" charset="-122"/>
                <a:ea typeface="仿宋" panose="02010609060101010101" pitchFamily="49" charset="-122"/>
              </a:rPr>
              <a:t>的时候就直接输出</a:t>
            </a:r>
            <a:r>
              <a:rPr lang="en-US" altLang="zh-CN" sz="2800" dirty="0">
                <a:latin typeface="仿宋" panose="02010609060101010101" pitchFamily="49" charset="-122"/>
                <a:ea typeface="仿宋" panose="02010609060101010101" pitchFamily="49" charset="-122"/>
              </a:rPr>
              <a:t>1</a:t>
            </a:r>
            <a:r>
              <a:rPr lang="zh-CN" altLang="en-US" sz="2800" dirty="0">
                <a:latin typeface="仿宋" panose="02010609060101010101" pitchFamily="49" charset="-122"/>
                <a:ea typeface="仿宋" panose="02010609060101010101" pitchFamily="49" charset="-122"/>
              </a:rPr>
              <a:t>即可</a:t>
            </a:r>
            <a:endParaRPr lang="en-US" altLang="zh-CN" sz="2800" dirty="0">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8524042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10"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par>
                                <p:cTn id="22" presetID="10" presetClass="entr" presetSubtype="0" fill="hold"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par>
                                <p:cTn id="25" presetID="10" presetClass="entr" presetSubtype="0"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par>
                                <p:cTn id="28" presetID="10" presetClass="entr" presetSubtype="0" fill="hold"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500"/>
                                        <p:tgtEl>
                                          <p:spTgt spid="14"/>
                                        </p:tgtEl>
                                      </p:cBhvr>
                                    </p:animEffect>
                                  </p:childTnLst>
                                </p:cTn>
                              </p:par>
                              <p:par>
                                <p:cTn id="31" presetID="10" presetClass="entr" presetSubtype="0" fill="hold"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500"/>
                                        <p:tgtEl>
                                          <p:spTgt spid="1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500"/>
                                        <p:tgtEl>
                                          <p:spTgt spid="20"/>
                                        </p:tgtEl>
                                      </p:cBhvr>
                                    </p:animEffect>
                                  </p:childTnLst>
                                </p:cTn>
                              </p:par>
                              <p:par>
                                <p:cTn id="43" presetID="10" presetClass="entr" presetSubtype="0" fill="hold" nodeType="with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5" dur="500"/>
                                        <p:tgtEl>
                                          <p:spTgt spid="21"/>
                                        </p:tgtEl>
                                      </p:cBhvr>
                                    </p:animEffect>
                                  </p:childTnLst>
                                </p:cTn>
                              </p:par>
                              <p:par>
                                <p:cTn id="46" presetID="10" presetClass="entr" presetSubtype="0" fill="hold" nodeType="withEffect">
                                  <p:stCondLst>
                                    <p:cond delay="0"/>
                                  </p:stCondLst>
                                  <p:childTnLst>
                                    <p:set>
                                      <p:cBhvr>
                                        <p:cTn id="47" dur="1" fill="hold">
                                          <p:stCondLst>
                                            <p:cond delay="0"/>
                                          </p:stCondLst>
                                        </p:cTn>
                                        <p:tgtEl>
                                          <p:spTgt spid="22"/>
                                        </p:tgtEl>
                                        <p:attrNameLst>
                                          <p:attrName>style.visibility</p:attrName>
                                        </p:attrNameLst>
                                      </p:cBhvr>
                                      <p:to>
                                        <p:strVal val="visible"/>
                                      </p:to>
                                    </p:set>
                                    <p:animEffect transition="in" filter="fade">
                                      <p:cBhvr>
                                        <p:cTn id="48" dur="500"/>
                                        <p:tgtEl>
                                          <p:spTgt spid="22"/>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500"/>
                                        <p:tgtEl>
                                          <p:spTgt spid="19"/>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fade">
                                      <p:cBhvr>
                                        <p:cTn id="56"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6" grpId="0"/>
      <p:bldP spid="17" grpId="0"/>
      <p:bldP spid="18" grpId="0"/>
      <p:bldP spid="19" grpId="0" animBg="1"/>
      <p:bldP spid="20" grpId="0" animBg="1"/>
      <p:bldP spid="5" grpId="0"/>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49F3DFEE-D615-10A4-3DFB-F10E842FD6FF}"/>
              </a:ext>
            </a:extLst>
          </p:cNvPr>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 name="直接连接符 2">
            <a:extLst>
              <a:ext uri="{FF2B5EF4-FFF2-40B4-BE49-F238E27FC236}">
                <a16:creationId xmlns:a16="http://schemas.microsoft.com/office/drawing/2014/main" id="{E448084C-00C1-2D46-B2E9-907AC7E07A63}"/>
              </a:ext>
            </a:extLst>
          </p:cNvPr>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4" name="图形 3">
            <a:extLst>
              <a:ext uri="{FF2B5EF4-FFF2-40B4-BE49-F238E27FC236}">
                <a16:creationId xmlns:a16="http://schemas.microsoft.com/office/drawing/2014/main" id="{C93BB0EF-03E3-F5C3-728A-B6DC40F04B4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6" name="文本框 5">
            <a:extLst>
              <a:ext uri="{FF2B5EF4-FFF2-40B4-BE49-F238E27FC236}">
                <a16:creationId xmlns:a16="http://schemas.microsoft.com/office/drawing/2014/main" id="{47E122C5-6879-554E-162C-5ECC1522BC4D}"/>
              </a:ext>
            </a:extLst>
          </p:cNvPr>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9" name="矩形 8">
            <a:extLst>
              <a:ext uri="{FF2B5EF4-FFF2-40B4-BE49-F238E27FC236}">
                <a16:creationId xmlns:a16="http://schemas.microsoft.com/office/drawing/2014/main" id="{A710AA5A-BC21-BF85-84F3-0AF9E0282902}"/>
              </a:ext>
            </a:extLst>
          </p:cNvPr>
          <p:cNvSpPr/>
          <p:nvPr/>
        </p:nvSpPr>
        <p:spPr>
          <a:xfrm>
            <a:off x="1726885" y="1944367"/>
            <a:ext cx="1248228" cy="42804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err="1">
                <a:latin typeface="Consolas" panose="020B0609020204030204" pitchFamily="49" charset="0"/>
              </a:rPr>
              <a:t>i</a:t>
            </a:r>
            <a:r>
              <a:rPr lang="zh-CN" altLang="en-US" dirty="0">
                <a:latin typeface="Consolas" panose="020B0609020204030204" pitchFamily="49" charset="0"/>
              </a:rPr>
              <a:t>←</a:t>
            </a:r>
            <a:r>
              <a:rPr lang="en-US" altLang="zh-CN" dirty="0">
                <a:latin typeface="Consolas" panose="020B0609020204030204" pitchFamily="49" charset="0"/>
              </a:rPr>
              <a:t>0</a:t>
            </a:r>
          </a:p>
        </p:txBody>
      </p:sp>
      <p:sp>
        <p:nvSpPr>
          <p:cNvPr id="10" name="流程图: 决策 9">
            <a:extLst>
              <a:ext uri="{FF2B5EF4-FFF2-40B4-BE49-F238E27FC236}">
                <a16:creationId xmlns:a16="http://schemas.microsoft.com/office/drawing/2014/main" id="{D2DA83C8-6063-563D-AFBF-D621C1541E50}"/>
              </a:ext>
            </a:extLst>
          </p:cNvPr>
          <p:cNvSpPr/>
          <p:nvPr/>
        </p:nvSpPr>
        <p:spPr>
          <a:xfrm>
            <a:off x="6204909" y="2034562"/>
            <a:ext cx="1643127" cy="769441"/>
          </a:xfrm>
          <a:prstGeom prst="flowChartDecision">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err="1">
                <a:latin typeface="Consolas" panose="020B0609020204030204" pitchFamily="49" charset="0"/>
              </a:rPr>
              <a:t>i</a:t>
            </a:r>
            <a:r>
              <a:rPr lang="en-US" altLang="zh-CN" dirty="0">
                <a:latin typeface="Consolas" panose="020B0609020204030204" pitchFamily="49" charset="0"/>
              </a:rPr>
              <a:t>&lt;n?</a:t>
            </a:r>
            <a:endParaRPr lang="zh-CN" altLang="en-US" dirty="0">
              <a:latin typeface="Consolas" panose="020B0609020204030204" pitchFamily="49" charset="0"/>
            </a:endParaRPr>
          </a:p>
        </p:txBody>
      </p:sp>
      <p:cxnSp>
        <p:nvCxnSpPr>
          <p:cNvPr id="12" name="直接箭头连接符 11">
            <a:extLst>
              <a:ext uri="{FF2B5EF4-FFF2-40B4-BE49-F238E27FC236}">
                <a16:creationId xmlns:a16="http://schemas.microsoft.com/office/drawing/2014/main" id="{1FCFC8B9-55B9-8C0C-1FCC-B76DA0CDC149}"/>
              </a:ext>
            </a:extLst>
          </p:cNvPr>
          <p:cNvCxnSpPr>
            <a:cxnSpLocks/>
            <a:stCxn id="10" idx="2"/>
            <a:endCxn id="110" idx="0"/>
          </p:cNvCxnSpPr>
          <p:nvPr/>
        </p:nvCxnSpPr>
        <p:spPr>
          <a:xfrm>
            <a:off x="7026473" y="2804003"/>
            <a:ext cx="0" cy="2523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直接箭头连接符 12">
            <a:extLst>
              <a:ext uri="{FF2B5EF4-FFF2-40B4-BE49-F238E27FC236}">
                <a16:creationId xmlns:a16="http://schemas.microsoft.com/office/drawing/2014/main" id="{DA4380EA-6E1A-7908-BB29-FA0D45F8AB4F}"/>
              </a:ext>
            </a:extLst>
          </p:cNvPr>
          <p:cNvCxnSpPr>
            <a:cxnSpLocks/>
          </p:cNvCxnSpPr>
          <p:nvPr/>
        </p:nvCxnSpPr>
        <p:spPr>
          <a:xfrm flipV="1">
            <a:off x="5670910" y="1868167"/>
            <a:ext cx="1355560" cy="925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直接箭头连接符 13">
            <a:extLst>
              <a:ext uri="{FF2B5EF4-FFF2-40B4-BE49-F238E27FC236}">
                <a16:creationId xmlns:a16="http://schemas.microsoft.com/office/drawing/2014/main" id="{EC0FE33B-6EB6-E15F-83A0-FD3EF82D07BA}"/>
              </a:ext>
            </a:extLst>
          </p:cNvPr>
          <p:cNvCxnSpPr>
            <a:cxnSpLocks/>
            <a:stCxn id="9" idx="2"/>
            <a:endCxn id="28" idx="0"/>
          </p:cNvCxnSpPr>
          <p:nvPr/>
        </p:nvCxnSpPr>
        <p:spPr>
          <a:xfrm>
            <a:off x="2350999" y="2372414"/>
            <a:ext cx="1" cy="66918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连接符: 肘形 15">
            <a:extLst>
              <a:ext uri="{FF2B5EF4-FFF2-40B4-BE49-F238E27FC236}">
                <a16:creationId xmlns:a16="http://schemas.microsoft.com/office/drawing/2014/main" id="{936B15B1-722B-0241-2B9B-DF1314395740}"/>
              </a:ext>
            </a:extLst>
          </p:cNvPr>
          <p:cNvCxnSpPr>
            <a:cxnSpLocks/>
            <a:endCxn id="151" idx="0"/>
          </p:cNvCxnSpPr>
          <p:nvPr/>
        </p:nvCxnSpPr>
        <p:spPr>
          <a:xfrm rot="10800000" flipV="1">
            <a:off x="7028982" y="5644370"/>
            <a:ext cx="2686070" cy="293603"/>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17" name="文本框 16">
            <a:extLst>
              <a:ext uri="{FF2B5EF4-FFF2-40B4-BE49-F238E27FC236}">
                <a16:creationId xmlns:a16="http://schemas.microsoft.com/office/drawing/2014/main" id="{C4645A2E-6317-6880-4CCF-2EDAF0C05D10}"/>
              </a:ext>
            </a:extLst>
          </p:cNvPr>
          <p:cNvSpPr txBox="1"/>
          <p:nvPr/>
        </p:nvSpPr>
        <p:spPr>
          <a:xfrm>
            <a:off x="7974435" y="2064844"/>
            <a:ext cx="311304" cy="369332"/>
          </a:xfrm>
          <a:prstGeom prst="rect">
            <a:avLst/>
          </a:prstGeom>
          <a:noFill/>
        </p:spPr>
        <p:txBody>
          <a:bodyPr wrap="square" rtlCol="0">
            <a:spAutoFit/>
          </a:bodyPr>
          <a:lstStyle/>
          <a:p>
            <a:r>
              <a:rPr lang="en-US" altLang="zh-CN" dirty="0"/>
              <a:t>N</a:t>
            </a:r>
            <a:endParaRPr lang="zh-CN" altLang="en-US" dirty="0"/>
          </a:p>
        </p:txBody>
      </p:sp>
      <p:sp>
        <p:nvSpPr>
          <p:cNvPr id="18" name="文本框 17">
            <a:extLst>
              <a:ext uri="{FF2B5EF4-FFF2-40B4-BE49-F238E27FC236}">
                <a16:creationId xmlns:a16="http://schemas.microsoft.com/office/drawing/2014/main" id="{07E81EB4-358C-C243-87E7-2DD1ACF25EDD}"/>
              </a:ext>
            </a:extLst>
          </p:cNvPr>
          <p:cNvSpPr txBox="1"/>
          <p:nvPr/>
        </p:nvSpPr>
        <p:spPr>
          <a:xfrm>
            <a:off x="7226229" y="2794985"/>
            <a:ext cx="258413" cy="369332"/>
          </a:xfrm>
          <a:prstGeom prst="rect">
            <a:avLst/>
          </a:prstGeom>
          <a:noFill/>
        </p:spPr>
        <p:txBody>
          <a:bodyPr wrap="square" rtlCol="0">
            <a:spAutoFit/>
          </a:bodyPr>
          <a:lstStyle/>
          <a:p>
            <a:r>
              <a:rPr lang="en-US" altLang="zh-CN" dirty="0"/>
              <a:t>Y</a:t>
            </a:r>
            <a:endParaRPr lang="zh-CN" altLang="en-US" dirty="0"/>
          </a:p>
        </p:txBody>
      </p:sp>
      <p:sp>
        <p:nvSpPr>
          <p:cNvPr id="20" name="流程图: 数据 19">
            <a:extLst>
              <a:ext uri="{FF2B5EF4-FFF2-40B4-BE49-F238E27FC236}">
                <a16:creationId xmlns:a16="http://schemas.microsoft.com/office/drawing/2014/main" id="{50D099A2-04BD-8F62-A8F3-8324BD530743}"/>
              </a:ext>
            </a:extLst>
          </p:cNvPr>
          <p:cNvSpPr/>
          <p:nvPr/>
        </p:nvSpPr>
        <p:spPr>
          <a:xfrm>
            <a:off x="1529436" y="1041736"/>
            <a:ext cx="1640388" cy="591110"/>
          </a:xfrm>
          <a:prstGeom prst="flowChartInputOutpu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000" dirty="0">
                <a:latin typeface="Consolas" panose="020B0609020204030204" pitchFamily="49" charset="0"/>
                <a:ea typeface="仿宋" panose="02010609060101010101" pitchFamily="49" charset="-122"/>
              </a:rPr>
              <a:t>输入</a:t>
            </a:r>
            <a:r>
              <a:rPr lang="en-US" altLang="zh-CN" sz="2000" dirty="0">
                <a:latin typeface="Consolas" panose="020B0609020204030204" pitchFamily="49" charset="0"/>
                <a:ea typeface="仿宋" panose="02010609060101010101" pitchFamily="49" charset="-122"/>
              </a:rPr>
              <a:t>n</a:t>
            </a:r>
            <a:endParaRPr lang="zh-CN" altLang="en-US" sz="2000" dirty="0">
              <a:latin typeface="Consolas" panose="020B0609020204030204" pitchFamily="49" charset="0"/>
              <a:ea typeface="仿宋" panose="02010609060101010101" pitchFamily="49" charset="-122"/>
            </a:endParaRPr>
          </a:p>
        </p:txBody>
      </p:sp>
      <p:cxnSp>
        <p:nvCxnSpPr>
          <p:cNvPr id="21" name="直接箭头连接符 20">
            <a:extLst>
              <a:ext uri="{FF2B5EF4-FFF2-40B4-BE49-F238E27FC236}">
                <a16:creationId xmlns:a16="http://schemas.microsoft.com/office/drawing/2014/main" id="{75A68713-6187-89D4-86A7-BABE131C4114}"/>
              </a:ext>
            </a:extLst>
          </p:cNvPr>
          <p:cNvCxnSpPr>
            <a:cxnSpLocks/>
            <a:stCxn id="20" idx="4"/>
            <a:endCxn id="9" idx="0"/>
          </p:cNvCxnSpPr>
          <p:nvPr/>
        </p:nvCxnSpPr>
        <p:spPr>
          <a:xfrm>
            <a:off x="2349630" y="1632846"/>
            <a:ext cx="1369" cy="3115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连接符: 肘形 22">
            <a:extLst>
              <a:ext uri="{FF2B5EF4-FFF2-40B4-BE49-F238E27FC236}">
                <a16:creationId xmlns:a16="http://schemas.microsoft.com/office/drawing/2014/main" id="{01D7B419-975B-BF79-9013-BDCA5CC428B8}"/>
              </a:ext>
            </a:extLst>
          </p:cNvPr>
          <p:cNvCxnSpPr>
            <a:cxnSpLocks/>
            <a:endCxn id="151" idx="1"/>
          </p:cNvCxnSpPr>
          <p:nvPr/>
        </p:nvCxnSpPr>
        <p:spPr>
          <a:xfrm rot="16200000" flipH="1">
            <a:off x="3833265" y="3705815"/>
            <a:ext cx="4334864" cy="659571"/>
          </a:xfrm>
          <a:prstGeom prst="bentConnector2">
            <a:avLst/>
          </a:prstGeom>
        </p:spPr>
        <p:style>
          <a:lnRef idx="1">
            <a:schemeClr val="dk1"/>
          </a:lnRef>
          <a:fillRef idx="0">
            <a:schemeClr val="dk1"/>
          </a:fillRef>
          <a:effectRef idx="0">
            <a:schemeClr val="dk1"/>
          </a:effectRef>
          <a:fontRef idx="minor">
            <a:schemeClr val="tx1"/>
          </a:fontRef>
        </p:style>
      </p:cxnSp>
      <p:pic>
        <p:nvPicPr>
          <p:cNvPr id="24" name="图片 4">
            <a:extLst>
              <a:ext uri="{FF2B5EF4-FFF2-40B4-BE49-F238E27FC236}">
                <a16:creationId xmlns:a16="http://schemas.microsoft.com/office/drawing/2014/main" id="{6F9B0B9F-DFE4-5DF6-498C-3812A403FE74}"/>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416425" y="6219825"/>
            <a:ext cx="542925" cy="542925"/>
          </a:xfrm>
          <a:prstGeom prst="rect">
            <a:avLst/>
          </a:prstGeom>
        </p:spPr>
      </p:pic>
      <p:sp>
        <p:nvSpPr>
          <p:cNvPr id="28" name="流程图: 决策 27">
            <a:extLst>
              <a:ext uri="{FF2B5EF4-FFF2-40B4-BE49-F238E27FC236}">
                <a16:creationId xmlns:a16="http://schemas.microsoft.com/office/drawing/2014/main" id="{F0B4F043-1A90-E4E6-2F36-F2F109B6D21C}"/>
              </a:ext>
            </a:extLst>
          </p:cNvPr>
          <p:cNvSpPr/>
          <p:nvPr/>
        </p:nvSpPr>
        <p:spPr>
          <a:xfrm>
            <a:off x="1529436" y="3041603"/>
            <a:ext cx="1643127" cy="769441"/>
          </a:xfrm>
          <a:prstGeom prst="flowChartDecision">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err="1">
                <a:latin typeface="Consolas" panose="020B0609020204030204" pitchFamily="49" charset="0"/>
              </a:rPr>
              <a:t>i</a:t>
            </a:r>
            <a:r>
              <a:rPr lang="en-US" altLang="zh-CN" dirty="0">
                <a:latin typeface="Consolas" panose="020B0609020204030204" pitchFamily="49" charset="0"/>
              </a:rPr>
              <a:t>&lt;n?</a:t>
            </a:r>
            <a:endParaRPr lang="zh-CN" altLang="en-US" dirty="0">
              <a:latin typeface="Consolas" panose="020B0609020204030204" pitchFamily="49" charset="0"/>
            </a:endParaRPr>
          </a:p>
        </p:txBody>
      </p:sp>
      <p:sp>
        <p:nvSpPr>
          <p:cNvPr id="32" name="矩形 31">
            <a:extLst>
              <a:ext uri="{FF2B5EF4-FFF2-40B4-BE49-F238E27FC236}">
                <a16:creationId xmlns:a16="http://schemas.microsoft.com/office/drawing/2014/main" id="{0C011CE5-82A7-0D8A-AB7B-207EE0167B92}"/>
              </a:ext>
            </a:extLst>
          </p:cNvPr>
          <p:cNvSpPr/>
          <p:nvPr/>
        </p:nvSpPr>
        <p:spPr>
          <a:xfrm>
            <a:off x="1652500" y="5350051"/>
            <a:ext cx="1396998" cy="53011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600" dirty="0" err="1">
                <a:latin typeface="Consolas" panose="020B0609020204030204" pitchFamily="49" charset="0"/>
              </a:rPr>
              <a:t>i</a:t>
            </a:r>
            <a:r>
              <a:rPr lang="zh-CN" altLang="en-US" sz="1600" dirty="0">
                <a:latin typeface="Consolas" panose="020B0609020204030204" pitchFamily="49" charset="0"/>
              </a:rPr>
              <a:t>←</a:t>
            </a:r>
            <a:r>
              <a:rPr lang="en-US" altLang="zh-CN" sz="1600" dirty="0">
                <a:latin typeface="Consolas" panose="020B0609020204030204" pitchFamily="49" charset="0"/>
              </a:rPr>
              <a:t>i+1</a:t>
            </a:r>
            <a:endParaRPr lang="zh-CN" altLang="en-US" sz="1600" dirty="0">
              <a:latin typeface="Consolas" panose="020B0609020204030204" pitchFamily="49" charset="0"/>
            </a:endParaRPr>
          </a:p>
        </p:txBody>
      </p:sp>
      <p:cxnSp>
        <p:nvCxnSpPr>
          <p:cNvPr id="33" name="直接箭头连接符 32">
            <a:extLst>
              <a:ext uri="{FF2B5EF4-FFF2-40B4-BE49-F238E27FC236}">
                <a16:creationId xmlns:a16="http://schemas.microsoft.com/office/drawing/2014/main" id="{4EEF586E-8A74-8522-922E-3A2E9AEFD846}"/>
              </a:ext>
            </a:extLst>
          </p:cNvPr>
          <p:cNvCxnSpPr>
            <a:cxnSpLocks/>
            <a:stCxn id="28" idx="2"/>
            <a:endCxn id="43" idx="1"/>
          </p:cNvCxnSpPr>
          <p:nvPr/>
        </p:nvCxnSpPr>
        <p:spPr>
          <a:xfrm flipH="1">
            <a:off x="2349630" y="3811044"/>
            <a:ext cx="1370" cy="3884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连接符: 肘形 33">
            <a:extLst>
              <a:ext uri="{FF2B5EF4-FFF2-40B4-BE49-F238E27FC236}">
                <a16:creationId xmlns:a16="http://schemas.microsoft.com/office/drawing/2014/main" id="{BD60F81D-FC2A-2B30-7016-6942395A04AC}"/>
              </a:ext>
            </a:extLst>
          </p:cNvPr>
          <p:cNvCxnSpPr>
            <a:cxnSpLocks/>
            <a:endCxn id="32" idx="1"/>
          </p:cNvCxnSpPr>
          <p:nvPr/>
        </p:nvCxnSpPr>
        <p:spPr>
          <a:xfrm rot="16200000" flipH="1">
            <a:off x="-45484" y="3917125"/>
            <a:ext cx="2696101" cy="699868"/>
          </a:xfrm>
          <a:prstGeom prst="bentConnector2">
            <a:avLst/>
          </a:prstGeom>
        </p:spPr>
        <p:style>
          <a:lnRef idx="1">
            <a:schemeClr val="dk1"/>
          </a:lnRef>
          <a:fillRef idx="0">
            <a:schemeClr val="dk1"/>
          </a:fillRef>
          <a:effectRef idx="0">
            <a:schemeClr val="dk1"/>
          </a:effectRef>
          <a:fontRef idx="minor">
            <a:schemeClr val="tx1"/>
          </a:fontRef>
        </p:style>
      </p:cxnSp>
      <p:cxnSp>
        <p:nvCxnSpPr>
          <p:cNvPr id="36" name="直接箭头连接符 35">
            <a:extLst>
              <a:ext uri="{FF2B5EF4-FFF2-40B4-BE49-F238E27FC236}">
                <a16:creationId xmlns:a16="http://schemas.microsoft.com/office/drawing/2014/main" id="{7A85D5DE-C166-247B-EEC9-1A1506EE596C}"/>
              </a:ext>
            </a:extLst>
          </p:cNvPr>
          <p:cNvCxnSpPr>
            <a:cxnSpLocks/>
          </p:cNvCxnSpPr>
          <p:nvPr/>
        </p:nvCxnSpPr>
        <p:spPr>
          <a:xfrm>
            <a:off x="952632" y="2916981"/>
            <a:ext cx="136559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 name="直接箭头连接符 36">
            <a:extLst>
              <a:ext uri="{FF2B5EF4-FFF2-40B4-BE49-F238E27FC236}">
                <a16:creationId xmlns:a16="http://schemas.microsoft.com/office/drawing/2014/main" id="{9DC44938-E5A4-68A9-5426-8456F47D71CD}"/>
              </a:ext>
            </a:extLst>
          </p:cNvPr>
          <p:cNvCxnSpPr>
            <a:cxnSpLocks/>
          </p:cNvCxnSpPr>
          <p:nvPr/>
        </p:nvCxnSpPr>
        <p:spPr>
          <a:xfrm flipH="1">
            <a:off x="-3827418" y="4046868"/>
            <a:ext cx="1" cy="40973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3" name="流程图: 数据 42">
            <a:extLst>
              <a:ext uri="{FF2B5EF4-FFF2-40B4-BE49-F238E27FC236}">
                <a16:creationId xmlns:a16="http://schemas.microsoft.com/office/drawing/2014/main" id="{AB6D4AEC-CE69-BFBD-3556-0B2890E6E68E}"/>
              </a:ext>
            </a:extLst>
          </p:cNvPr>
          <p:cNvSpPr/>
          <p:nvPr/>
        </p:nvSpPr>
        <p:spPr>
          <a:xfrm>
            <a:off x="1529436" y="4199509"/>
            <a:ext cx="1640388" cy="591110"/>
          </a:xfrm>
          <a:prstGeom prst="flowChartInputOutpu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000" dirty="0">
                <a:latin typeface="Consolas" panose="020B0609020204030204" pitchFamily="49" charset="0"/>
                <a:ea typeface="仿宋" panose="02010609060101010101" pitchFamily="49" charset="-122"/>
              </a:rPr>
              <a:t>输入</a:t>
            </a:r>
            <a:r>
              <a:rPr lang="en-US" altLang="zh-CN" sz="2000" dirty="0">
                <a:latin typeface="Consolas" panose="020B0609020204030204" pitchFamily="49" charset="0"/>
                <a:ea typeface="仿宋" panose="02010609060101010101" pitchFamily="49" charset="-122"/>
              </a:rPr>
              <a:t>A[</a:t>
            </a:r>
            <a:r>
              <a:rPr lang="en-US" altLang="zh-CN" sz="2000" dirty="0" err="1">
                <a:latin typeface="Consolas" panose="020B0609020204030204" pitchFamily="49" charset="0"/>
                <a:ea typeface="仿宋" panose="02010609060101010101" pitchFamily="49" charset="-122"/>
              </a:rPr>
              <a:t>i</a:t>
            </a:r>
            <a:r>
              <a:rPr lang="en-US" altLang="zh-CN" sz="2000" dirty="0">
                <a:latin typeface="Consolas" panose="020B0609020204030204" pitchFamily="49" charset="0"/>
                <a:ea typeface="仿宋" panose="02010609060101010101" pitchFamily="49" charset="-122"/>
              </a:rPr>
              <a:t>]</a:t>
            </a:r>
            <a:endParaRPr lang="zh-CN" altLang="en-US" sz="2000" dirty="0">
              <a:latin typeface="Consolas" panose="020B0609020204030204" pitchFamily="49" charset="0"/>
              <a:ea typeface="仿宋" panose="02010609060101010101" pitchFamily="49" charset="-122"/>
            </a:endParaRPr>
          </a:p>
        </p:txBody>
      </p:sp>
      <p:cxnSp>
        <p:nvCxnSpPr>
          <p:cNvPr id="53" name="直接箭头连接符 52">
            <a:extLst>
              <a:ext uri="{FF2B5EF4-FFF2-40B4-BE49-F238E27FC236}">
                <a16:creationId xmlns:a16="http://schemas.microsoft.com/office/drawing/2014/main" id="{2EDBEE35-A3D8-1800-A36C-47EE6698000E}"/>
              </a:ext>
            </a:extLst>
          </p:cNvPr>
          <p:cNvCxnSpPr>
            <a:cxnSpLocks/>
            <a:stCxn id="43" idx="4"/>
            <a:endCxn id="32" idx="0"/>
          </p:cNvCxnSpPr>
          <p:nvPr/>
        </p:nvCxnSpPr>
        <p:spPr>
          <a:xfrm>
            <a:off x="2349630" y="4790619"/>
            <a:ext cx="1369" cy="55943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1" name="矩形 60">
            <a:extLst>
              <a:ext uri="{FF2B5EF4-FFF2-40B4-BE49-F238E27FC236}">
                <a16:creationId xmlns:a16="http://schemas.microsoft.com/office/drawing/2014/main" id="{8C82CB8D-20A7-427E-74CA-E3381606E918}"/>
              </a:ext>
            </a:extLst>
          </p:cNvPr>
          <p:cNvSpPr/>
          <p:nvPr/>
        </p:nvSpPr>
        <p:spPr>
          <a:xfrm>
            <a:off x="6402357" y="906940"/>
            <a:ext cx="1248228" cy="80734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err="1">
                <a:latin typeface="Consolas" panose="020B0609020204030204" pitchFamily="49" charset="0"/>
              </a:rPr>
              <a:t>i</a:t>
            </a:r>
            <a:r>
              <a:rPr lang="zh-CN" altLang="en-US" dirty="0">
                <a:latin typeface="Consolas" panose="020B0609020204030204" pitchFamily="49" charset="0"/>
              </a:rPr>
              <a:t>←</a:t>
            </a:r>
            <a:r>
              <a:rPr lang="en-US" altLang="zh-CN" dirty="0">
                <a:latin typeface="Consolas" panose="020B0609020204030204" pitchFamily="49" charset="0"/>
              </a:rPr>
              <a:t>0</a:t>
            </a:r>
          </a:p>
          <a:p>
            <a:pPr algn="ctr"/>
            <a:r>
              <a:rPr lang="en-US" altLang="zh-CN" dirty="0">
                <a:latin typeface="Consolas" panose="020B0609020204030204" pitchFamily="49" charset="0"/>
              </a:rPr>
              <a:t>mx</a:t>
            </a:r>
            <a:r>
              <a:rPr lang="zh-CN" altLang="en-US" dirty="0">
                <a:latin typeface="Consolas" panose="020B0609020204030204" pitchFamily="49" charset="0"/>
              </a:rPr>
              <a:t>←</a:t>
            </a:r>
            <a:r>
              <a:rPr lang="en-US" altLang="zh-CN" dirty="0">
                <a:latin typeface="Consolas" panose="020B0609020204030204" pitchFamily="49" charset="0"/>
              </a:rPr>
              <a:t>A[0]</a:t>
            </a:r>
          </a:p>
          <a:p>
            <a:pPr algn="ctr"/>
            <a:r>
              <a:rPr lang="en-US" altLang="zh-CN" dirty="0" err="1">
                <a:latin typeface="Consolas" panose="020B0609020204030204" pitchFamily="49" charset="0"/>
              </a:rPr>
              <a:t>mn</a:t>
            </a:r>
            <a:r>
              <a:rPr lang="zh-CN" altLang="en-US" dirty="0">
                <a:latin typeface="Consolas" panose="020B0609020204030204" pitchFamily="49" charset="0"/>
              </a:rPr>
              <a:t>←</a:t>
            </a:r>
            <a:r>
              <a:rPr lang="en-US" altLang="zh-CN" dirty="0">
                <a:latin typeface="Consolas" panose="020B0609020204030204" pitchFamily="49" charset="0"/>
              </a:rPr>
              <a:t>A[0]</a:t>
            </a:r>
          </a:p>
        </p:txBody>
      </p:sp>
      <p:sp>
        <p:nvSpPr>
          <p:cNvPr id="62" name="椭圆 61">
            <a:extLst>
              <a:ext uri="{FF2B5EF4-FFF2-40B4-BE49-F238E27FC236}">
                <a16:creationId xmlns:a16="http://schemas.microsoft.com/office/drawing/2014/main" id="{99EF27EB-1534-0139-2CDF-4B63C39339D7}"/>
              </a:ext>
            </a:extLst>
          </p:cNvPr>
          <p:cNvSpPr/>
          <p:nvPr/>
        </p:nvSpPr>
        <p:spPr>
          <a:xfrm>
            <a:off x="2157864" y="6219714"/>
            <a:ext cx="383531" cy="39953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A</a:t>
            </a:r>
            <a:endParaRPr lang="zh-CN" altLang="en-US" dirty="0"/>
          </a:p>
        </p:txBody>
      </p:sp>
      <p:sp>
        <p:nvSpPr>
          <p:cNvPr id="67" name="椭圆 66">
            <a:extLst>
              <a:ext uri="{FF2B5EF4-FFF2-40B4-BE49-F238E27FC236}">
                <a16:creationId xmlns:a16="http://schemas.microsoft.com/office/drawing/2014/main" id="{C257E772-27A7-A4CF-9657-BB4B0D7D4FA7}"/>
              </a:ext>
            </a:extLst>
          </p:cNvPr>
          <p:cNvSpPr/>
          <p:nvPr/>
        </p:nvSpPr>
        <p:spPr>
          <a:xfrm>
            <a:off x="6834705" y="255434"/>
            <a:ext cx="383531" cy="39953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A</a:t>
            </a:r>
            <a:endParaRPr lang="zh-CN" altLang="en-US" dirty="0"/>
          </a:p>
        </p:txBody>
      </p:sp>
      <p:cxnSp>
        <p:nvCxnSpPr>
          <p:cNvPr id="68" name="直接箭头连接符 67">
            <a:extLst>
              <a:ext uri="{FF2B5EF4-FFF2-40B4-BE49-F238E27FC236}">
                <a16:creationId xmlns:a16="http://schemas.microsoft.com/office/drawing/2014/main" id="{30F31F84-C4A1-2D01-611E-C02661E28E74}"/>
              </a:ext>
            </a:extLst>
          </p:cNvPr>
          <p:cNvCxnSpPr>
            <a:cxnSpLocks/>
            <a:stCxn id="67" idx="4"/>
            <a:endCxn id="61" idx="0"/>
          </p:cNvCxnSpPr>
          <p:nvPr/>
        </p:nvCxnSpPr>
        <p:spPr>
          <a:xfrm>
            <a:off x="7026471" y="654967"/>
            <a:ext cx="0" cy="25197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9" name="椭圆 68">
            <a:extLst>
              <a:ext uri="{FF2B5EF4-FFF2-40B4-BE49-F238E27FC236}">
                <a16:creationId xmlns:a16="http://schemas.microsoft.com/office/drawing/2014/main" id="{60A6609B-A7E5-1FDB-482B-D36D221C1A73}"/>
              </a:ext>
            </a:extLst>
          </p:cNvPr>
          <p:cNvSpPr/>
          <p:nvPr/>
        </p:nvSpPr>
        <p:spPr>
          <a:xfrm>
            <a:off x="11407186" y="-4205044"/>
            <a:ext cx="383531" cy="39953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73" name="直接箭头连接符 72">
            <a:extLst>
              <a:ext uri="{FF2B5EF4-FFF2-40B4-BE49-F238E27FC236}">
                <a16:creationId xmlns:a16="http://schemas.microsoft.com/office/drawing/2014/main" id="{A9BDB3B9-62E1-9ABC-8742-182094A44A48}"/>
              </a:ext>
            </a:extLst>
          </p:cNvPr>
          <p:cNvCxnSpPr>
            <a:cxnSpLocks/>
            <a:stCxn id="61" idx="2"/>
            <a:endCxn id="10" idx="0"/>
          </p:cNvCxnSpPr>
          <p:nvPr/>
        </p:nvCxnSpPr>
        <p:spPr>
          <a:xfrm>
            <a:off x="7026471" y="1714282"/>
            <a:ext cx="2" cy="3202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9" name="连接符: 肘形 78">
            <a:extLst>
              <a:ext uri="{FF2B5EF4-FFF2-40B4-BE49-F238E27FC236}">
                <a16:creationId xmlns:a16="http://schemas.microsoft.com/office/drawing/2014/main" id="{61FB78FA-28FC-3E94-A036-CD47C7FFC303}"/>
              </a:ext>
            </a:extLst>
          </p:cNvPr>
          <p:cNvCxnSpPr>
            <a:cxnSpLocks/>
            <a:endCxn id="28" idx="3"/>
          </p:cNvCxnSpPr>
          <p:nvPr/>
        </p:nvCxnSpPr>
        <p:spPr>
          <a:xfrm rot="16200000" flipV="1">
            <a:off x="2155134" y="4443754"/>
            <a:ext cx="2577677" cy="542817"/>
          </a:xfrm>
          <a:prstGeom prst="bentConnector2">
            <a:avLst/>
          </a:prstGeom>
        </p:spPr>
        <p:style>
          <a:lnRef idx="1">
            <a:schemeClr val="dk1"/>
          </a:lnRef>
          <a:fillRef idx="0">
            <a:schemeClr val="dk1"/>
          </a:fillRef>
          <a:effectRef idx="0">
            <a:schemeClr val="dk1"/>
          </a:effectRef>
          <a:fontRef idx="minor">
            <a:schemeClr val="tx1"/>
          </a:fontRef>
        </p:style>
      </p:cxnSp>
      <p:cxnSp>
        <p:nvCxnSpPr>
          <p:cNvPr id="80" name="连接符: 肘形 79">
            <a:extLst>
              <a:ext uri="{FF2B5EF4-FFF2-40B4-BE49-F238E27FC236}">
                <a16:creationId xmlns:a16="http://schemas.microsoft.com/office/drawing/2014/main" id="{73B04C21-E645-0F77-5C48-E15FE1347EFF}"/>
              </a:ext>
            </a:extLst>
          </p:cNvPr>
          <p:cNvCxnSpPr>
            <a:cxnSpLocks/>
            <a:endCxn id="62" idx="0"/>
          </p:cNvCxnSpPr>
          <p:nvPr/>
        </p:nvCxnSpPr>
        <p:spPr>
          <a:xfrm rot="10800000" flipV="1">
            <a:off x="2349630" y="6004002"/>
            <a:ext cx="1365750" cy="215711"/>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99" name="文本框 98">
            <a:extLst>
              <a:ext uri="{FF2B5EF4-FFF2-40B4-BE49-F238E27FC236}">
                <a16:creationId xmlns:a16="http://schemas.microsoft.com/office/drawing/2014/main" id="{9D6378A5-664F-9A51-33FD-A91F7E4CBC26}"/>
              </a:ext>
            </a:extLst>
          </p:cNvPr>
          <p:cNvSpPr txBox="1"/>
          <p:nvPr/>
        </p:nvSpPr>
        <p:spPr>
          <a:xfrm>
            <a:off x="2412188" y="3759870"/>
            <a:ext cx="258413" cy="369332"/>
          </a:xfrm>
          <a:prstGeom prst="rect">
            <a:avLst/>
          </a:prstGeom>
          <a:noFill/>
        </p:spPr>
        <p:txBody>
          <a:bodyPr wrap="square" rtlCol="0">
            <a:spAutoFit/>
          </a:bodyPr>
          <a:lstStyle/>
          <a:p>
            <a:r>
              <a:rPr lang="en-US" altLang="zh-CN" dirty="0"/>
              <a:t>Y</a:t>
            </a:r>
            <a:endParaRPr lang="zh-CN" altLang="en-US" dirty="0"/>
          </a:p>
        </p:txBody>
      </p:sp>
      <p:sp>
        <p:nvSpPr>
          <p:cNvPr id="102" name="文本框 101">
            <a:extLst>
              <a:ext uri="{FF2B5EF4-FFF2-40B4-BE49-F238E27FC236}">
                <a16:creationId xmlns:a16="http://schemas.microsoft.com/office/drawing/2014/main" id="{17904FE4-D553-42C6-DA1E-950332F5B241}"/>
              </a:ext>
            </a:extLst>
          </p:cNvPr>
          <p:cNvSpPr txBox="1"/>
          <p:nvPr/>
        </p:nvSpPr>
        <p:spPr>
          <a:xfrm>
            <a:off x="3227988" y="3049298"/>
            <a:ext cx="311304" cy="369332"/>
          </a:xfrm>
          <a:prstGeom prst="rect">
            <a:avLst/>
          </a:prstGeom>
          <a:noFill/>
        </p:spPr>
        <p:txBody>
          <a:bodyPr wrap="square" rtlCol="0">
            <a:spAutoFit/>
          </a:bodyPr>
          <a:lstStyle/>
          <a:p>
            <a:r>
              <a:rPr lang="en-US" altLang="zh-CN" dirty="0"/>
              <a:t>N</a:t>
            </a:r>
            <a:endParaRPr lang="zh-CN" altLang="en-US" dirty="0"/>
          </a:p>
        </p:txBody>
      </p:sp>
      <p:sp>
        <p:nvSpPr>
          <p:cNvPr id="110" name="流程图: 决策 109">
            <a:extLst>
              <a:ext uri="{FF2B5EF4-FFF2-40B4-BE49-F238E27FC236}">
                <a16:creationId xmlns:a16="http://schemas.microsoft.com/office/drawing/2014/main" id="{CF9FD848-29C8-693C-2659-46A7CF652F0D}"/>
              </a:ext>
            </a:extLst>
          </p:cNvPr>
          <p:cNvSpPr/>
          <p:nvPr/>
        </p:nvSpPr>
        <p:spPr>
          <a:xfrm>
            <a:off x="6204909" y="3056363"/>
            <a:ext cx="1643127" cy="769441"/>
          </a:xfrm>
          <a:prstGeom prst="flowChartDecision">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latin typeface="Consolas" panose="020B0609020204030204" pitchFamily="49" charset="0"/>
              </a:rPr>
              <a:t>A[</a:t>
            </a:r>
            <a:r>
              <a:rPr lang="en-US" altLang="zh-CN" sz="1200" dirty="0" err="1">
                <a:latin typeface="Consolas" panose="020B0609020204030204" pitchFamily="49" charset="0"/>
              </a:rPr>
              <a:t>i</a:t>
            </a:r>
            <a:r>
              <a:rPr lang="en-US" altLang="zh-CN" sz="1200" dirty="0">
                <a:latin typeface="Consolas" panose="020B0609020204030204" pitchFamily="49" charset="0"/>
              </a:rPr>
              <a:t>]&gt;mx?</a:t>
            </a:r>
            <a:endParaRPr lang="zh-CN" altLang="en-US" sz="1200" dirty="0">
              <a:latin typeface="Consolas" panose="020B0609020204030204" pitchFamily="49" charset="0"/>
            </a:endParaRPr>
          </a:p>
        </p:txBody>
      </p:sp>
      <p:sp>
        <p:nvSpPr>
          <p:cNvPr id="114" name="流程图: 决策 113">
            <a:extLst>
              <a:ext uri="{FF2B5EF4-FFF2-40B4-BE49-F238E27FC236}">
                <a16:creationId xmlns:a16="http://schemas.microsoft.com/office/drawing/2014/main" id="{2C21F848-55DB-E869-4E06-B9C98F93AA75}"/>
              </a:ext>
            </a:extLst>
          </p:cNvPr>
          <p:cNvSpPr/>
          <p:nvPr/>
        </p:nvSpPr>
        <p:spPr>
          <a:xfrm>
            <a:off x="7762736" y="4008416"/>
            <a:ext cx="1643127" cy="769441"/>
          </a:xfrm>
          <a:prstGeom prst="flowChartDecision">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latin typeface="Consolas" panose="020B0609020204030204" pitchFamily="49" charset="0"/>
              </a:rPr>
              <a:t>A[</a:t>
            </a:r>
            <a:r>
              <a:rPr lang="en-US" altLang="zh-CN" sz="1200" dirty="0" err="1">
                <a:latin typeface="Consolas" panose="020B0609020204030204" pitchFamily="49" charset="0"/>
              </a:rPr>
              <a:t>i</a:t>
            </a:r>
            <a:r>
              <a:rPr lang="en-US" altLang="zh-CN" sz="1200" dirty="0">
                <a:latin typeface="Consolas" panose="020B0609020204030204" pitchFamily="49" charset="0"/>
              </a:rPr>
              <a:t>]&lt;</a:t>
            </a:r>
            <a:r>
              <a:rPr lang="en-US" altLang="zh-CN" sz="1200" dirty="0" err="1">
                <a:latin typeface="Consolas" panose="020B0609020204030204" pitchFamily="49" charset="0"/>
              </a:rPr>
              <a:t>mn</a:t>
            </a:r>
            <a:r>
              <a:rPr lang="en-US" altLang="zh-CN" sz="1200" dirty="0">
                <a:latin typeface="Consolas" panose="020B0609020204030204" pitchFamily="49" charset="0"/>
              </a:rPr>
              <a:t>?</a:t>
            </a:r>
            <a:endParaRPr lang="zh-CN" altLang="en-US" sz="1200" dirty="0">
              <a:latin typeface="Consolas" panose="020B0609020204030204" pitchFamily="49" charset="0"/>
            </a:endParaRPr>
          </a:p>
        </p:txBody>
      </p:sp>
      <p:cxnSp>
        <p:nvCxnSpPr>
          <p:cNvPr id="115" name="直接箭头连接符 114">
            <a:extLst>
              <a:ext uri="{FF2B5EF4-FFF2-40B4-BE49-F238E27FC236}">
                <a16:creationId xmlns:a16="http://schemas.microsoft.com/office/drawing/2014/main" id="{9C62B6C2-8F1F-A52E-25BA-97BF0113A07C}"/>
              </a:ext>
            </a:extLst>
          </p:cNvPr>
          <p:cNvCxnSpPr>
            <a:cxnSpLocks/>
            <a:stCxn id="110" idx="2"/>
            <a:endCxn id="123" idx="0"/>
          </p:cNvCxnSpPr>
          <p:nvPr/>
        </p:nvCxnSpPr>
        <p:spPr>
          <a:xfrm flipH="1">
            <a:off x="7026470" y="3825804"/>
            <a:ext cx="3" cy="2530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3" name="矩形 122">
            <a:extLst>
              <a:ext uri="{FF2B5EF4-FFF2-40B4-BE49-F238E27FC236}">
                <a16:creationId xmlns:a16="http://schemas.microsoft.com/office/drawing/2014/main" id="{7EABC82C-4B8B-8219-0A74-F40E59EF5A3E}"/>
              </a:ext>
            </a:extLst>
          </p:cNvPr>
          <p:cNvSpPr/>
          <p:nvPr/>
        </p:nvSpPr>
        <p:spPr>
          <a:xfrm>
            <a:off x="6327971" y="4078892"/>
            <a:ext cx="1396998" cy="53011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600" dirty="0">
                <a:latin typeface="Consolas" panose="020B0609020204030204" pitchFamily="49" charset="0"/>
              </a:rPr>
              <a:t>mx=A[</a:t>
            </a:r>
            <a:r>
              <a:rPr lang="en-US" altLang="zh-CN" sz="1600" dirty="0" err="1">
                <a:latin typeface="Consolas" panose="020B0609020204030204" pitchFamily="49" charset="0"/>
              </a:rPr>
              <a:t>i</a:t>
            </a:r>
            <a:r>
              <a:rPr lang="en-US" altLang="zh-CN" sz="1600" dirty="0">
                <a:latin typeface="Consolas" panose="020B0609020204030204" pitchFamily="49" charset="0"/>
              </a:rPr>
              <a:t>]</a:t>
            </a:r>
            <a:endParaRPr lang="zh-CN" altLang="en-US" sz="1600" dirty="0">
              <a:latin typeface="Consolas" panose="020B0609020204030204" pitchFamily="49" charset="0"/>
            </a:endParaRPr>
          </a:p>
        </p:txBody>
      </p:sp>
      <p:sp>
        <p:nvSpPr>
          <p:cNvPr id="128" name="文本框 127">
            <a:extLst>
              <a:ext uri="{FF2B5EF4-FFF2-40B4-BE49-F238E27FC236}">
                <a16:creationId xmlns:a16="http://schemas.microsoft.com/office/drawing/2014/main" id="{178E28D8-3984-80BD-25B4-DFACB67F9F6F}"/>
              </a:ext>
            </a:extLst>
          </p:cNvPr>
          <p:cNvSpPr txBox="1"/>
          <p:nvPr/>
        </p:nvSpPr>
        <p:spPr>
          <a:xfrm>
            <a:off x="7211481" y="3757417"/>
            <a:ext cx="258413" cy="369332"/>
          </a:xfrm>
          <a:prstGeom prst="rect">
            <a:avLst/>
          </a:prstGeom>
          <a:noFill/>
        </p:spPr>
        <p:txBody>
          <a:bodyPr wrap="square" rtlCol="0">
            <a:spAutoFit/>
          </a:bodyPr>
          <a:lstStyle/>
          <a:p>
            <a:r>
              <a:rPr lang="en-US" altLang="zh-CN" dirty="0"/>
              <a:t>Y</a:t>
            </a:r>
            <a:endParaRPr lang="zh-CN" altLang="en-US" dirty="0"/>
          </a:p>
        </p:txBody>
      </p:sp>
      <p:sp>
        <p:nvSpPr>
          <p:cNvPr id="129" name="文本框 128">
            <a:extLst>
              <a:ext uri="{FF2B5EF4-FFF2-40B4-BE49-F238E27FC236}">
                <a16:creationId xmlns:a16="http://schemas.microsoft.com/office/drawing/2014/main" id="{027A8A00-58CB-8533-6132-46AF557C1750}"/>
              </a:ext>
            </a:extLst>
          </p:cNvPr>
          <p:cNvSpPr txBox="1"/>
          <p:nvPr/>
        </p:nvSpPr>
        <p:spPr>
          <a:xfrm>
            <a:off x="7965544" y="3081217"/>
            <a:ext cx="311304" cy="369332"/>
          </a:xfrm>
          <a:prstGeom prst="rect">
            <a:avLst/>
          </a:prstGeom>
          <a:noFill/>
        </p:spPr>
        <p:txBody>
          <a:bodyPr wrap="square" rtlCol="0">
            <a:spAutoFit/>
          </a:bodyPr>
          <a:lstStyle/>
          <a:p>
            <a:r>
              <a:rPr lang="en-US" altLang="zh-CN" dirty="0"/>
              <a:t>N</a:t>
            </a:r>
            <a:endParaRPr lang="zh-CN" altLang="en-US" dirty="0"/>
          </a:p>
        </p:txBody>
      </p:sp>
      <p:cxnSp>
        <p:nvCxnSpPr>
          <p:cNvPr id="130" name="连接符: 肘形 129">
            <a:extLst>
              <a:ext uri="{FF2B5EF4-FFF2-40B4-BE49-F238E27FC236}">
                <a16:creationId xmlns:a16="http://schemas.microsoft.com/office/drawing/2014/main" id="{6ED9DA58-1BCF-CE1E-13C8-261A34988284}"/>
              </a:ext>
            </a:extLst>
          </p:cNvPr>
          <p:cNvCxnSpPr>
            <a:cxnSpLocks/>
            <a:stCxn id="110" idx="3"/>
            <a:endCxn id="114" idx="0"/>
          </p:cNvCxnSpPr>
          <p:nvPr/>
        </p:nvCxnSpPr>
        <p:spPr>
          <a:xfrm>
            <a:off x="7848036" y="3441084"/>
            <a:ext cx="736264" cy="567332"/>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136" name="直接箭头连接符 135">
            <a:extLst>
              <a:ext uri="{FF2B5EF4-FFF2-40B4-BE49-F238E27FC236}">
                <a16:creationId xmlns:a16="http://schemas.microsoft.com/office/drawing/2014/main" id="{2579CD65-AEAA-9696-08E2-2EB322C7F964}"/>
              </a:ext>
            </a:extLst>
          </p:cNvPr>
          <p:cNvCxnSpPr>
            <a:cxnSpLocks/>
            <a:stCxn id="114" idx="2"/>
            <a:endCxn id="145" idx="0"/>
          </p:cNvCxnSpPr>
          <p:nvPr/>
        </p:nvCxnSpPr>
        <p:spPr>
          <a:xfrm>
            <a:off x="8584300" y="4777857"/>
            <a:ext cx="0" cy="18202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9" name="连接符: 肘形 138">
            <a:extLst>
              <a:ext uri="{FF2B5EF4-FFF2-40B4-BE49-F238E27FC236}">
                <a16:creationId xmlns:a16="http://schemas.microsoft.com/office/drawing/2014/main" id="{95ADD07F-6ED4-0D1E-E7F6-A7B651BDD5B5}"/>
              </a:ext>
            </a:extLst>
          </p:cNvPr>
          <p:cNvCxnSpPr>
            <a:cxnSpLocks/>
            <a:stCxn id="114" idx="3"/>
          </p:cNvCxnSpPr>
          <p:nvPr/>
        </p:nvCxnSpPr>
        <p:spPr>
          <a:xfrm>
            <a:off x="9405863" y="4393137"/>
            <a:ext cx="309484" cy="1251238"/>
          </a:xfrm>
          <a:prstGeom prst="bentConnector2">
            <a:avLst/>
          </a:prstGeom>
        </p:spPr>
        <p:style>
          <a:lnRef idx="1">
            <a:schemeClr val="dk1"/>
          </a:lnRef>
          <a:fillRef idx="0">
            <a:schemeClr val="dk1"/>
          </a:fillRef>
          <a:effectRef idx="0">
            <a:schemeClr val="dk1"/>
          </a:effectRef>
          <a:fontRef idx="minor">
            <a:schemeClr val="tx1"/>
          </a:fontRef>
        </p:style>
      </p:cxnSp>
      <p:sp>
        <p:nvSpPr>
          <p:cNvPr id="145" name="矩形 144">
            <a:extLst>
              <a:ext uri="{FF2B5EF4-FFF2-40B4-BE49-F238E27FC236}">
                <a16:creationId xmlns:a16="http://schemas.microsoft.com/office/drawing/2014/main" id="{817386B1-7E21-F783-36A3-1D50F7D7D1A6}"/>
              </a:ext>
            </a:extLst>
          </p:cNvPr>
          <p:cNvSpPr/>
          <p:nvPr/>
        </p:nvSpPr>
        <p:spPr>
          <a:xfrm>
            <a:off x="7885801" y="4959883"/>
            <a:ext cx="1396998" cy="53011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600" dirty="0" err="1">
                <a:latin typeface="Consolas" panose="020B0609020204030204" pitchFamily="49" charset="0"/>
              </a:rPr>
              <a:t>mn</a:t>
            </a:r>
            <a:r>
              <a:rPr lang="en-US" altLang="zh-CN" sz="1600" dirty="0">
                <a:latin typeface="Consolas" panose="020B0609020204030204" pitchFamily="49" charset="0"/>
              </a:rPr>
              <a:t>=A[</a:t>
            </a:r>
            <a:r>
              <a:rPr lang="en-US" altLang="zh-CN" sz="1600" dirty="0" err="1">
                <a:latin typeface="Consolas" panose="020B0609020204030204" pitchFamily="49" charset="0"/>
              </a:rPr>
              <a:t>i</a:t>
            </a:r>
            <a:r>
              <a:rPr lang="en-US" altLang="zh-CN" sz="1600" dirty="0">
                <a:latin typeface="Consolas" panose="020B0609020204030204" pitchFamily="49" charset="0"/>
              </a:rPr>
              <a:t>]</a:t>
            </a:r>
            <a:endParaRPr lang="zh-CN" altLang="en-US" sz="1600" dirty="0">
              <a:latin typeface="Consolas" panose="020B0609020204030204" pitchFamily="49" charset="0"/>
            </a:endParaRPr>
          </a:p>
        </p:txBody>
      </p:sp>
      <p:sp>
        <p:nvSpPr>
          <p:cNvPr id="151" name="矩形 150">
            <a:extLst>
              <a:ext uri="{FF2B5EF4-FFF2-40B4-BE49-F238E27FC236}">
                <a16:creationId xmlns:a16="http://schemas.microsoft.com/office/drawing/2014/main" id="{B6A4A9F5-B65D-1637-CFEA-76A532C30080}"/>
              </a:ext>
            </a:extLst>
          </p:cNvPr>
          <p:cNvSpPr/>
          <p:nvPr/>
        </p:nvSpPr>
        <p:spPr>
          <a:xfrm>
            <a:off x="6330483" y="5937974"/>
            <a:ext cx="1396998" cy="53011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600" dirty="0" err="1">
                <a:latin typeface="Consolas" panose="020B0609020204030204" pitchFamily="49" charset="0"/>
              </a:rPr>
              <a:t>i</a:t>
            </a:r>
            <a:r>
              <a:rPr lang="zh-CN" altLang="en-US" sz="1600" dirty="0">
                <a:latin typeface="Consolas" panose="020B0609020204030204" pitchFamily="49" charset="0"/>
              </a:rPr>
              <a:t>←</a:t>
            </a:r>
            <a:r>
              <a:rPr lang="en-US" altLang="zh-CN" sz="1600" dirty="0">
                <a:latin typeface="Consolas" panose="020B0609020204030204" pitchFamily="49" charset="0"/>
              </a:rPr>
              <a:t>i+1</a:t>
            </a:r>
            <a:endParaRPr lang="zh-CN" altLang="en-US" sz="1600" dirty="0">
              <a:latin typeface="Consolas" panose="020B0609020204030204" pitchFamily="49" charset="0"/>
            </a:endParaRPr>
          </a:p>
        </p:txBody>
      </p:sp>
      <p:cxnSp>
        <p:nvCxnSpPr>
          <p:cNvPr id="154" name="直接箭头连接符 153">
            <a:extLst>
              <a:ext uri="{FF2B5EF4-FFF2-40B4-BE49-F238E27FC236}">
                <a16:creationId xmlns:a16="http://schemas.microsoft.com/office/drawing/2014/main" id="{FF831592-B349-7805-2841-2E9A2EA9C056}"/>
              </a:ext>
            </a:extLst>
          </p:cNvPr>
          <p:cNvCxnSpPr>
            <a:cxnSpLocks/>
            <a:stCxn id="123" idx="2"/>
            <a:endCxn id="151" idx="0"/>
          </p:cNvCxnSpPr>
          <p:nvPr/>
        </p:nvCxnSpPr>
        <p:spPr>
          <a:xfrm>
            <a:off x="7026470" y="4609009"/>
            <a:ext cx="2512" cy="13289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7" name="直接箭头连接符 156">
            <a:extLst>
              <a:ext uri="{FF2B5EF4-FFF2-40B4-BE49-F238E27FC236}">
                <a16:creationId xmlns:a16="http://schemas.microsoft.com/office/drawing/2014/main" id="{846F26B7-05E1-A4D3-F137-BCD91DE7C89C}"/>
              </a:ext>
            </a:extLst>
          </p:cNvPr>
          <p:cNvCxnSpPr>
            <a:cxnSpLocks/>
            <a:stCxn id="145" idx="2"/>
          </p:cNvCxnSpPr>
          <p:nvPr/>
        </p:nvCxnSpPr>
        <p:spPr>
          <a:xfrm>
            <a:off x="8584300" y="5490000"/>
            <a:ext cx="0" cy="1543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6" name="椭圆 165">
            <a:extLst>
              <a:ext uri="{FF2B5EF4-FFF2-40B4-BE49-F238E27FC236}">
                <a16:creationId xmlns:a16="http://schemas.microsoft.com/office/drawing/2014/main" id="{E9CA6417-05A8-C973-7874-8F8C3F17F395}"/>
              </a:ext>
            </a:extLst>
          </p:cNvPr>
          <p:cNvSpPr/>
          <p:nvPr/>
        </p:nvSpPr>
        <p:spPr>
          <a:xfrm>
            <a:off x="8773634" y="2985856"/>
            <a:ext cx="383531" cy="39953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B</a:t>
            </a:r>
            <a:endParaRPr lang="zh-CN" altLang="en-US" dirty="0"/>
          </a:p>
        </p:txBody>
      </p:sp>
      <p:cxnSp>
        <p:nvCxnSpPr>
          <p:cNvPr id="167" name="连接符: 肘形 166">
            <a:extLst>
              <a:ext uri="{FF2B5EF4-FFF2-40B4-BE49-F238E27FC236}">
                <a16:creationId xmlns:a16="http://schemas.microsoft.com/office/drawing/2014/main" id="{E76858F3-3909-0612-C8C0-29511A9D72C7}"/>
              </a:ext>
            </a:extLst>
          </p:cNvPr>
          <p:cNvCxnSpPr>
            <a:cxnSpLocks/>
            <a:stCxn id="10" idx="3"/>
            <a:endCxn id="166" idx="0"/>
          </p:cNvCxnSpPr>
          <p:nvPr/>
        </p:nvCxnSpPr>
        <p:spPr>
          <a:xfrm>
            <a:off x="7848036" y="2419283"/>
            <a:ext cx="1117364" cy="566573"/>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172" name="椭圆 171">
            <a:extLst>
              <a:ext uri="{FF2B5EF4-FFF2-40B4-BE49-F238E27FC236}">
                <a16:creationId xmlns:a16="http://schemas.microsoft.com/office/drawing/2014/main" id="{FB124F41-D156-7758-15C6-478D1F8FF2EB}"/>
              </a:ext>
            </a:extLst>
          </p:cNvPr>
          <p:cNvSpPr/>
          <p:nvPr/>
        </p:nvSpPr>
        <p:spPr>
          <a:xfrm>
            <a:off x="10429117" y="1225181"/>
            <a:ext cx="383531" cy="39953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B</a:t>
            </a:r>
            <a:endParaRPr lang="zh-CN" altLang="en-US" dirty="0"/>
          </a:p>
        </p:txBody>
      </p:sp>
      <p:sp>
        <p:nvSpPr>
          <p:cNvPr id="174" name="流程图: 数据 173">
            <a:extLst>
              <a:ext uri="{FF2B5EF4-FFF2-40B4-BE49-F238E27FC236}">
                <a16:creationId xmlns:a16="http://schemas.microsoft.com/office/drawing/2014/main" id="{6CD39EA2-51F3-0D9E-DD20-AFAE2CFFD8FF}"/>
              </a:ext>
            </a:extLst>
          </p:cNvPr>
          <p:cNvSpPr/>
          <p:nvPr/>
        </p:nvSpPr>
        <p:spPr>
          <a:xfrm>
            <a:off x="9457114" y="2003496"/>
            <a:ext cx="2327536" cy="591110"/>
          </a:xfrm>
          <a:prstGeom prst="flowChartInputOutpu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000" dirty="0">
                <a:latin typeface="Consolas" panose="020B0609020204030204" pitchFamily="49" charset="0"/>
                <a:ea typeface="仿宋" panose="02010609060101010101" pitchFamily="49" charset="-122"/>
              </a:rPr>
              <a:t>输出</a:t>
            </a:r>
            <a:r>
              <a:rPr lang="en-US" altLang="zh-CN" sz="2000" dirty="0" err="1">
                <a:latin typeface="Consolas" panose="020B0609020204030204" pitchFamily="49" charset="0"/>
                <a:ea typeface="仿宋" panose="02010609060101010101" pitchFamily="49" charset="-122"/>
              </a:rPr>
              <a:t>mx,mn</a:t>
            </a:r>
            <a:endParaRPr lang="zh-CN" altLang="en-US" sz="2000" dirty="0">
              <a:latin typeface="Consolas" panose="020B0609020204030204" pitchFamily="49" charset="0"/>
              <a:ea typeface="仿宋" panose="02010609060101010101" pitchFamily="49" charset="-122"/>
            </a:endParaRPr>
          </a:p>
        </p:txBody>
      </p:sp>
      <p:sp>
        <p:nvSpPr>
          <p:cNvPr id="176" name="流程图: 终止 175">
            <a:extLst>
              <a:ext uri="{FF2B5EF4-FFF2-40B4-BE49-F238E27FC236}">
                <a16:creationId xmlns:a16="http://schemas.microsoft.com/office/drawing/2014/main" id="{8AB8410E-E983-7DE4-97FA-279844B14BC4}"/>
              </a:ext>
            </a:extLst>
          </p:cNvPr>
          <p:cNvSpPr/>
          <p:nvPr/>
        </p:nvSpPr>
        <p:spPr>
          <a:xfrm>
            <a:off x="1831314" y="245200"/>
            <a:ext cx="1036632" cy="511999"/>
          </a:xfrm>
          <a:prstGeom prst="flowChartTerminator">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000" dirty="0">
                <a:latin typeface="仿宋" panose="02010609060101010101" pitchFamily="49" charset="-122"/>
                <a:ea typeface="仿宋" panose="02010609060101010101" pitchFamily="49" charset="-122"/>
              </a:rPr>
              <a:t>开始</a:t>
            </a:r>
          </a:p>
        </p:txBody>
      </p:sp>
      <p:cxnSp>
        <p:nvCxnSpPr>
          <p:cNvPr id="177" name="直接箭头连接符 176">
            <a:extLst>
              <a:ext uri="{FF2B5EF4-FFF2-40B4-BE49-F238E27FC236}">
                <a16:creationId xmlns:a16="http://schemas.microsoft.com/office/drawing/2014/main" id="{8DE42059-F1F7-FAAC-88CC-735B088AF322}"/>
              </a:ext>
            </a:extLst>
          </p:cNvPr>
          <p:cNvCxnSpPr>
            <a:cxnSpLocks/>
            <a:stCxn id="176" idx="2"/>
            <a:endCxn id="20" idx="1"/>
          </p:cNvCxnSpPr>
          <p:nvPr/>
        </p:nvCxnSpPr>
        <p:spPr>
          <a:xfrm>
            <a:off x="2349630" y="757199"/>
            <a:ext cx="0" cy="28453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8" name="流程图: 终止 187">
            <a:extLst>
              <a:ext uri="{FF2B5EF4-FFF2-40B4-BE49-F238E27FC236}">
                <a16:creationId xmlns:a16="http://schemas.microsoft.com/office/drawing/2014/main" id="{EA7D3408-5671-31FD-E050-DB1E40593BFC}"/>
              </a:ext>
            </a:extLst>
          </p:cNvPr>
          <p:cNvSpPr/>
          <p:nvPr/>
        </p:nvSpPr>
        <p:spPr>
          <a:xfrm>
            <a:off x="10101852" y="3099496"/>
            <a:ext cx="1036632" cy="511999"/>
          </a:xfrm>
          <a:prstGeom prst="flowChartTerminator">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000" dirty="0">
                <a:latin typeface="仿宋" panose="02010609060101010101" pitchFamily="49" charset="-122"/>
                <a:ea typeface="仿宋" panose="02010609060101010101" pitchFamily="49" charset="-122"/>
              </a:rPr>
              <a:t>结束</a:t>
            </a:r>
          </a:p>
        </p:txBody>
      </p:sp>
      <p:cxnSp>
        <p:nvCxnSpPr>
          <p:cNvPr id="191" name="直接箭头连接符 190">
            <a:extLst>
              <a:ext uri="{FF2B5EF4-FFF2-40B4-BE49-F238E27FC236}">
                <a16:creationId xmlns:a16="http://schemas.microsoft.com/office/drawing/2014/main" id="{E7195376-BC0A-DAA6-3A93-F40BDFEF4AE8}"/>
              </a:ext>
            </a:extLst>
          </p:cNvPr>
          <p:cNvCxnSpPr>
            <a:cxnSpLocks/>
            <a:stCxn id="174" idx="4"/>
            <a:endCxn id="188" idx="0"/>
          </p:cNvCxnSpPr>
          <p:nvPr/>
        </p:nvCxnSpPr>
        <p:spPr>
          <a:xfrm flipH="1">
            <a:off x="10620168" y="2594606"/>
            <a:ext cx="714" cy="50489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2" name="直接箭头连接符 191">
            <a:extLst>
              <a:ext uri="{FF2B5EF4-FFF2-40B4-BE49-F238E27FC236}">
                <a16:creationId xmlns:a16="http://schemas.microsoft.com/office/drawing/2014/main" id="{EA5686D5-F6CA-AEBB-9E5D-9E33518CF70D}"/>
              </a:ext>
            </a:extLst>
          </p:cNvPr>
          <p:cNvCxnSpPr>
            <a:cxnSpLocks/>
            <a:stCxn id="172" idx="4"/>
            <a:endCxn id="174" idx="1"/>
          </p:cNvCxnSpPr>
          <p:nvPr/>
        </p:nvCxnSpPr>
        <p:spPr>
          <a:xfrm flipH="1">
            <a:off x="10620882" y="1624714"/>
            <a:ext cx="1" cy="3787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3" name="文本框 202">
            <a:extLst>
              <a:ext uri="{FF2B5EF4-FFF2-40B4-BE49-F238E27FC236}">
                <a16:creationId xmlns:a16="http://schemas.microsoft.com/office/drawing/2014/main" id="{42EBF33A-FB16-4F99-56F6-576B208D9D4D}"/>
              </a:ext>
            </a:extLst>
          </p:cNvPr>
          <p:cNvSpPr txBox="1"/>
          <p:nvPr/>
        </p:nvSpPr>
        <p:spPr>
          <a:xfrm>
            <a:off x="9387401" y="3953419"/>
            <a:ext cx="311304" cy="369332"/>
          </a:xfrm>
          <a:prstGeom prst="rect">
            <a:avLst/>
          </a:prstGeom>
          <a:noFill/>
        </p:spPr>
        <p:txBody>
          <a:bodyPr wrap="square" rtlCol="0">
            <a:spAutoFit/>
          </a:bodyPr>
          <a:lstStyle/>
          <a:p>
            <a:r>
              <a:rPr lang="en-US" altLang="zh-CN" dirty="0"/>
              <a:t>N</a:t>
            </a:r>
            <a:endParaRPr lang="zh-CN" altLang="en-US" dirty="0"/>
          </a:p>
        </p:txBody>
      </p:sp>
      <p:sp>
        <p:nvSpPr>
          <p:cNvPr id="204" name="文本框 203">
            <a:extLst>
              <a:ext uri="{FF2B5EF4-FFF2-40B4-BE49-F238E27FC236}">
                <a16:creationId xmlns:a16="http://schemas.microsoft.com/office/drawing/2014/main" id="{327D0240-20FA-F79D-80BB-C497EFFCCB73}"/>
              </a:ext>
            </a:extLst>
          </p:cNvPr>
          <p:cNvSpPr txBox="1"/>
          <p:nvPr/>
        </p:nvSpPr>
        <p:spPr>
          <a:xfrm>
            <a:off x="8773150" y="4655301"/>
            <a:ext cx="258413" cy="369332"/>
          </a:xfrm>
          <a:prstGeom prst="rect">
            <a:avLst/>
          </a:prstGeom>
          <a:noFill/>
        </p:spPr>
        <p:txBody>
          <a:bodyPr wrap="square" rtlCol="0">
            <a:spAutoFit/>
          </a:bodyPr>
          <a:lstStyle/>
          <a:p>
            <a:r>
              <a:rPr lang="en-US" altLang="zh-CN" dirty="0"/>
              <a:t>Y</a:t>
            </a:r>
            <a:endParaRPr lang="zh-CN" altLang="en-US" dirty="0"/>
          </a:p>
        </p:txBody>
      </p:sp>
      <p:sp>
        <p:nvSpPr>
          <p:cNvPr id="209" name="文本框 208">
            <a:extLst>
              <a:ext uri="{FF2B5EF4-FFF2-40B4-BE49-F238E27FC236}">
                <a16:creationId xmlns:a16="http://schemas.microsoft.com/office/drawing/2014/main" id="{CB7A06C8-F271-720A-CCCD-584ADBD2349F}"/>
              </a:ext>
            </a:extLst>
          </p:cNvPr>
          <p:cNvSpPr txBox="1"/>
          <p:nvPr/>
        </p:nvSpPr>
        <p:spPr>
          <a:xfrm>
            <a:off x="3234927" y="842336"/>
            <a:ext cx="2841598" cy="1815882"/>
          </a:xfrm>
          <a:prstGeom prst="rect">
            <a:avLst/>
          </a:prstGeom>
          <a:noFill/>
        </p:spPr>
        <p:txBody>
          <a:bodyPr wrap="square" rtlCol="0">
            <a:spAutoFit/>
          </a:bodyPr>
          <a:lstStyle/>
          <a:p>
            <a:r>
              <a:rPr lang="zh-CN" altLang="en-US" sz="2800" dirty="0">
                <a:latin typeface="仿宋" panose="02010609060101010101" pitchFamily="49" charset="-122"/>
                <a:ea typeface="仿宋" panose="02010609060101010101" pitchFamily="49" charset="-122"/>
              </a:rPr>
              <a:t>输入数组长度</a:t>
            </a:r>
            <a:r>
              <a:rPr lang="en-US" altLang="zh-CN" sz="2800" dirty="0">
                <a:latin typeface="仿宋" panose="02010609060101010101" pitchFamily="49" charset="-122"/>
                <a:ea typeface="仿宋" panose="02010609060101010101" pitchFamily="49" charset="-122"/>
              </a:rPr>
              <a:t>n</a:t>
            </a:r>
            <a:r>
              <a:rPr lang="zh-CN" altLang="en-US" sz="2800" dirty="0">
                <a:latin typeface="仿宋" panose="02010609060101010101" pitchFamily="49" charset="-122"/>
                <a:ea typeface="仿宋" panose="02010609060101010101" pitchFamily="49" charset="-122"/>
              </a:rPr>
              <a:t>以及数组</a:t>
            </a:r>
            <a:r>
              <a:rPr lang="en-US" altLang="zh-CN" sz="2800" dirty="0">
                <a:latin typeface="仿宋" panose="02010609060101010101" pitchFamily="49" charset="-122"/>
                <a:ea typeface="仿宋" panose="02010609060101010101" pitchFamily="49" charset="-122"/>
              </a:rPr>
              <a:t>A,</a:t>
            </a:r>
            <a:r>
              <a:rPr lang="zh-CN" altLang="en-US" sz="2800" dirty="0">
                <a:latin typeface="仿宋" panose="02010609060101010101" pitchFamily="49" charset="-122"/>
                <a:ea typeface="仿宋" panose="02010609060101010101" pitchFamily="49" charset="-122"/>
              </a:rPr>
              <a:t>求数组中的最大值最小值</a:t>
            </a:r>
            <a:endParaRPr lang="en-US" altLang="zh-CN" sz="2800" dirty="0">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13903962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par>
                                <p:cTn id="23" presetID="10" presetClass="entr" presetSubtype="0" fill="hold" nodeType="with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500"/>
                                        <p:tgtEl>
                                          <p:spTgt spid="2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61"/>
                                        </p:tgtEl>
                                        <p:attrNameLst>
                                          <p:attrName>style.visibility</p:attrName>
                                        </p:attrNameLst>
                                      </p:cBhvr>
                                      <p:to>
                                        <p:strVal val="visible"/>
                                      </p:to>
                                    </p:set>
                                    <p:animEffect transition="in" filter="fade">
                                      <p:cBhvr>
                                        <p:cTn id="28" dur="500"/>
                                        <p:tgtEl>
                                          <p:spTgt spid="6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67"/>
                                        </p:tgtEl>
                                        <p:attrNameLst>
                                          <p:attrName>style.visibility</p:attrName>
                                        </p:attrNameLst>
                                      </p:cBhvr>
                                      <p:to>
                                        <p:strVal val="visible"/>
                                      </p:to>
                                    </p:set>
                                    <p:animEffect transition="in" filter="fade">
                                      <p:cBhvr>
                                        <p:cTn id="31" dur="500"/>
                                        <p:tgtEl>
                                          <p:spTgt spid="67"/>
                                        </p:tgtEl>
                                      </p:cBhvr>
                                    </p:animEffect>
                                  </p:childTnLst>
                                </p:cTn>
                              </p:par>
                              <p:par>
                                <p:cTn id="32" presetID="10" presetClass="entr" presetSubtype="0" fill="hold" nodeType="withEffect">
                                  <p:stCondLst>
                                    <p:cond delay="0"/>
                                  </p:stCondLst>
                                  <p:childTnLst>
                                    <p:set>
                                      <p:cBhvr>
                                        <p:cTn id="33" dur="1" fill="hold">
                                          <p:stCondLst>
                                            <p:cond delay="0"/>
                                          </p:stCondLst>
                                        </p:cTn>
                                        <p:tgtEl>
                                          <p:spTgt spid="68"/>
                                        </p:tgtEl>
                                        <p:attrNameLst>
                                          <p:attrName>style.visibility</p:attrName>
                                        </p:attrNameLst>
                                      </p:cBhvr>
                                      <p:to>
                                        <p:strVal val="visible"/>
                                      </p:to>
                                    </p:set>
                                    <p:animEffect transition="in" filter="fade">
                                      <p:cBhvr>
                                        <p:cTn id="34" dur="500"/>
                                        <p:tgtEl>
                                          <p:spTgt spid="68"/>
                                        </p:tgtEl>
                                      </p:cBhvr>
                                    </p:animEffect>
                                  </p:childTnLst>
                                </p:cTn>
                              </p:par>
                              <p:par>
                                <p:cTn id="35" presetID="10" presetClass="entr" presetSubtype="0" fill="hold" nodeType="withEffect">
                                  <p:stCondLst>
                                    <p:cond delay="0"/>
                                  </p:stCondLst>
                                  <p:childTnLst>
                                    <p:set>
                                      <p:cBhvr>
                                        <p:cTn id="36" dur="1" fill="hold">
                                          <p:stCondLst>
                                            <p:cond delay="0"/>
                                          </p:stCondLst>
                                        </p:cTn>
                                        <p:tgtEl>
                                          <p:spTgt spid="73"/>
                                        </p:tgtEl>
                                        <p:attrNameLst>
                                          <p:attrName>style.visibility</p:attrName>
                                        </p:attrNameLst>
                                      </p:cBhvr>
                                      <p:to>
                                        <p:strVal val="visible"/>
                                      </p:to>
                                    </p:set>
                                    <p:animEffect transition="in" filter="fade">
                                      <p:cBhvr>
                                        <p:cTn id="37" dur="500"/>
                                        <p:tgtEl>
                                          <p:spTgt spid="7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10"/>
                                        </p:tgtEl>
                                        <p:attrNameLst>
                                          <p:attrName>style.visibility</p:attrName>
                                        </p:attrNameLst>
                                      </p:cBhvr>
                                      <p:to>
                                        <p:strVal val="visible"/>
                                      </p:to>
                                    </p:set>
                                    <p:animEffect transition="in" filter="fade">
                                      <p:cBhvr>
                                        <p:cTn id="40" dur="500"/>
                                        <p:tgtEl>
                                          <p:spTgt spid="110"/>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14"/>
                                        </p:tgtEl>
                                        <p:attrNameLst>
                                          <p:attrName>style.visibility</p:attrName>
                                        </p:attrNameLst>
                                      </p:cBhvr>
                                      <p:to>
                                        <p:strVal val="visible"/>
                                      </p:to>
                                    </p:set>
                                    <p:animEffect transition="in" filter="fade">
                                      <p:cBhvr>
                                        <p:cTn id="43" dur="500"/>
                                        <p:tgtEl>
                                          <p:spTgt spid="114"/>
                                        </p:tgtEl>
                                      </p:cBhvr>
                                    </p:animEffect>
                                  </p:childTnLst>
                                </p:cTn>
                              </p:par>
                              <p:par>
                                <p:cTn id="44" presetID="10" presetClass="entr" presetSubtype="0" fill="hold" nodeType="withEffect">
                                  <p:stCondLst>
                                    <p:cond delay="0"/>
                                  </p:stCondLst>
                                  <p:childTnLst>
                                    <p:set>
                                      <p:cBhvr>
                                        <p:cTn id="45" dur="1" fill="hold">
                                          <p:stCondLst>
                                            <p:cond delay="0"/>
                                          </p:stCondLst>
                                        </p:cTn>
                                        <p:tgtEl>
                                          <p:spTgt spid="115"/>
                                        </p:tgtEl>
                                        <p:attrNameLst>
                                          <p:attrName>style.visibility</p:attrName>
                                        </p:attrNameLst>
                                      </p:cBhvr>
                                      <p:to>
                                        <p:strVal val="visible"/>
                                      </p:to>
                                    </p:set>
                                    <p:animEffect transition="in" filter="fade">
                                      <p:cBhvr>
                                        <p:cTn id="46" dur="500"/>
                                        <p:tgtEl>
                                          <p:spTgt spid="11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23"/>
                                        </p:tgtEl>
                                        <p:attrNameLst>
                                          <p:attrName>style.visibility</p:attrName>
                                        </p:attrNameLst>
                                      </p:cBhvr>
                                      <p:to>
                                        <p:strVal val="visible"/>
                                      </p:to>
                                    </p:set>
                                    <p:animEffect transition="in" filter="fade">
                                      <p:cBhvr>
                                        <p:cTn id="49" dur="500"/>
                                        <p:tgtEl>
                                          <p:spTgt spid="123"/>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28"/>
                                        </p:tgtEl>
                                        <p:attrNameLst>
                                          <p:attrName>style.visibility</p:attrName>
                                        </p:attrNameLst>
                                      </p:cBhvr>
                                      <p:to>
                                        <p:strVal val="visible"/>
                                      </p:to>
                                    </p:set>
                                    <p:animEffect transition="in" filter="fade">
                                      <p:cBhvr>
                                        <p:cTn id="52" dur="500"/>
                                        <p:tgtEl>
                                          <p:spTgt spid="12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29"/>
                                        </p:tgtEl>
                                        <p:attrNameLst>
                                          <p:attrName>style.visibility</p:attrName>
                                        </p:attrNameLst>
                                      </p:cBhvr>
                                      <p:to>
                                        <p:strVal val="visible"/>
                                      </p:to>
                                    </p:set>
                                    <p:animEffect transition="in" filter="fade">
                                      <p:cBhvr>
                                        <p:cTn id="55" dur="500"/>
                                        <p:tgtEl>
                                          <p:spTgt spid="129"/>
                                        </p:tgtEl>
                                      </p:cBhvr>
                                    </p:animEffect>
                                  </p:childTnLst>
                                </p:cTn>
                              </p:par>
                              <p:par>
                                <p:cTn id="56" presetID="10" presetClass="entr" presetSubtype="0" fill="hold" nodeType="withEffect">
                                  <p:stCondLst>
                                    <p:cond delay="0"/>
                                  </p:stCondLst>
                                  <p:childTnLst>
                                    <p:set>
                                      <p:cBhvr>
                                        <p:cTn id="57" dur="1" fill="hold">
                                          <p:stCondLst>
                                            <p:cond delay="0"/>
                                          </p:stCondLst>
                                        </p:cTn>
                                        <p:tgtEl>
                                          <p:spTgt spid="130"/>
                                        </p:tgtEl>
                                        <p:attrNameLst>
                                          <p:attrName>style.visibility</p:attrName>
                                        </p:attrNameLst>
                                      </p:cBhvr>
                                      <p:to>
                                        <p:strVal val="visible"/>
                                      </p:to>
                                    </p:set>
                                    <p:animEffect transition="in" filter="fade">
                                      <p:cBhvr>
                                        <p:cTn id="58" dur="500"/>
                                        <p:tgtEl>
                                          <p:spTgt spid="130"/>
                                        </p:tgtEl>
                                      </p:cBhvr>
                                    </p:animEffect>
                                  </p:childTnLst>
                                </p:cTn>
                              </p:par>
                              <p:par>
                                <p:cTn id="59" presetID="10" presetClass="entr" presetSubtype="0" fill="hold" nodeType="withEffect">
                                  <p:stCondLst>
                                    <p:cond delay="0"/>
                                  </p:stCondLst>
                                  <p:childTnLst>
                                    <p:set>
                                      <p:cBhvr>
                                        <p:cTn id="60" dur="1" fill="hold">
                                          <p:stCondLst>
                                            <p:cond delay="0"/>
                                          </p:stCondLst>
                                        </p:cTn>
                                        <p:tgtEl>
                                          <p:spTgt spid="136"/>
                                        </p:tgtEl>
                                        <p:attrNameLst>
                                          <p:attrName>style.visibility</p:attrName>
                                        </p:attrNameLst>
                                      </p:cBhvr>
                                      <p:to>
                                        <p:strVal val="visible"/>
                                      </p:to>
                                    </p:set>
                                    <p:animEffect transition="in" filter="fade">
                                      <p:cBhvr>
                                        <p:cTn id="61" dur="500"/>
                                        <p:tgtEl>
                                          <p:spTgt spid="136"/>
                                        </p:tgtEl>
                                      </p:cBhvr>
                                    </p:animEffect>
                                  </p:childTnLst>
                                </p:cTn>
                              </p:par>
                              <p:par>
                                <p:cTn id="62" presetID="10" presetClass="entr" presetSubtype="0" fill="hold" nodeType="withEffect">
                                  <p:stCondLst>
                                    <p:cond delay="0"/>
                                  </p:stCondLst>
                                  <p:childTnLst>
                                    <p:set>
                                      <p:cBhvr>
                                        <p:cTn id="63" dur="1" fill="hold">
                                          <p:stCondLst>
                                            <p:cond delay="0"/>
                                          </p:stCondLst>
                                        </p:cTn>
                                        <p:tgtEl>
                                          <p:spTgt spid="139"/>
                                        </p:tgtEl>
                                        <p:attrNameLst>
                                          <p:attrName>style.visibility</p:attrName>
                                        </p:attrNameLst>
                                      </p:cBhvr>
                                      <p:to>
                                        <p:strVal val="visible"/>
                                      </p:to>
                                    </p:set>
                                    <p:animEffect transition="in" filter="fade">
                                      <p:cBhvr>
                                        <p:cTn id="64" dur="500"/>
                                        <p:tgtEl>
                                          <p:spTgt spid="139"/>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145"/>
                                        </p:tgtEl>
                                        <p:attrNameLst>
                                          <p:attrName>style.visibility</p:attrName>
                                        </p:attrNameLst>
                                      </p:cBhvr>
                                      <p:to>
                                        <p:strVal val="visible"/>
                                      </p:to>
                                    </p:set>
                                    <p:animEffect transition="in" filter="fade">
                                      <p:cBhvr>
                                        <p:cTn id="67" dur="500"/>
                                        <p:tgtEl>
                                          <p:spTgt spid="14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151"/>
                                        </p:tgtEl>
                                        <p:attrNameLst>
                                          <p:attrName>style.visibility</p:attrName>
                                        </p:attrNameLst>
                                      </p:cBhvr>
                                      <p:to>
                                        <p:strVal val="visible"/>
                                      </p:to>
                                    </p:set>
                                    <p:animEffect transition="in" filter="fade">
                                      <p:cBhvr>
                                        <p:cTn id="70" dur="500"/>
                                        <p:tgtEl>
                                          <p:spTgt spid="151"/>
                                        </p:tgtEl>
                                      </p:cBhvr>
                                    </p:animEffect>
                                  </p:childTnLst>
                                </p:cTn>
                              </p:par>
                              <p:par>
                                <p:cTn id="71" presetID="10" presetClass="entr" presetSubtype="0" fill="hold" nodeType="withEffect">
                                  <p:stCondLst>
                                    <p:cond delay="0"/>
                                  </p:stCondLst>
                                  <p:childTnLst>
                                    <p:set>
                                      <p:cBhvr>
                                        <p:cTn id="72" dur="1" fill="hold">
                                          <p:stCondLst>
                                            <p:cond delay="0"/>
                                          </p:stCondLst>
                                        </p:cTn>
                                        <p:tgtEl>
                                          <p:spTgt spid="154"/>
                                        </p:tgtEl>
                                        <p:attrNameLst>
                                          <p:attrName>style.visibility</p:attrName>
                                        </p:attrNameLst>
                                      </p:cBhvr>
                                      <p:to>
                                        <p:strVal val="visible"/>
                                      </p:to>
                                    </p:set>
                                    <p:animEffect transition="in" filter="fade">
                                      <p:cBhvr>
                                        <p:cTn id="73" dur="500"/>
                                        <p:tgtEl>
                                          <p:spTgt spid="154"/>
                                        </p:tgtEl>
                                      </p:cBhvr>
                                    </p:animEffect>
                                  </p:childTnLst>
                                </p:cTn>
                              </p:par>
                              <p:par>
                                <p:cTn id="74" presetID="10" presetClass="entr" presetSubtype="0" fill="hold" nodeType="withEffect">
                                  <p:stCondLst>
                                    <p:cond delay="0"/>
                                  </p:stCondLst>
                                  <p:childTnLst>
                                    <p:set>
                                      <p:cBhvr>
                                        <p:cTn id="75" dur="1" fill="hold">
                                          <p:stCondLst>
                                            <p:cond delay="0"/>
                                          </p:stCondLst>
                                        </p:cTn>
                                        <p:tgtEl>
                                          <p:spTgt spid="157"/>
                                        </p:tgtEl>
                                        <p:attrNameLst>
                                          <p:attrName>style.visibility</p:attrName>
                                        </p:attrNameLst>
                                      </p:cBhvr>
                                      <p:to>
                                        <p:strVal val="visible"/>
                                      </p:to>
                                    </p:set>
                                    <p:animEffect transition="in" filter="fade">
                                      <p:cBhvr>
                                        <p:cTn id="76" dur="500"/>
                                        <p:tgtEl>
                                          <p:spTgt spid="157"/>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166"/>
                                        </p:tgtEl>
                                        <p:attrNameLst>
                                          <p:attrName>style.visibility</p:attrName>
                                        </p:attrNameLst>
                                      </p:cBhvr>
                                      <p:to>
                                        <p:strVal val="visible"/>
                                      </p:to>
                                    </p:set>
                                    <p:animEffect transition="in" filter="fade">
                                      <p:cBhvr>
                                        <p:cTn id="79" dur="500"/>
                                        <p:tgtEl>
                                          <p:spTgt spid="166"/>
                                        </p:tgtEl>
                                      </p:cBhvr>
                                    </p:animEffect>
                                  </p:childTnLst>
                                </p:cTn>
                              </p:par>
                              <p:par>
                                <p:cTn id="80" presetID="10" presetClass="entr" presetSubtype="0" fill="hold" nodeType="withEffect">
                                  <p:stCondLst>
                                    <p:cond delay="0"/>
                                  </p:stCondLst>
                                  <p:childTnLst>
                                    <p:set>
                                      <p:cBhvr>
                                        <p:cTn id="81" dur="1" fill="hold">
                                          <p:stCondLst>
                                            <p:cond delay="0"/>
                                          </p:stCondLst>
                                        </p:cTn>
                                        <p:tgtEl>
                                          <p:spTgt spid="167"/>
                                        </p:tgtEl>
                                        <p:attrNameLst>
                                          <p:attrName>style.visibility</p:attrName>
                                        </p:attrNameLst>
                                      </p:cBhvr>
                                      <p:to>
                                        <p:strVal val="visible"/>
                                      </p:to>
                                    </p:set>
                                    <p:animEffect transition="in" filter="fade">
                                      <p:cBhvr>
                                        <p:cTn id="82" dur="500"/>
                                        <p:tgtEl>
                                          <p:spTgt spid="167"/>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203"/>
                                        </p:tgtEl>
                                        <p:attrNameLst>
                                          <p:attrName>style.visibility</p:attrName>
                                        </p:attrNameLst>
                                      </p:cBhvr>
                                      <p:to>
                                        <p:strVal val="visible"/>
                                      </p:to>
                                    </p:set>
                                    <p:animEffect transition="in" filter="fade">
                                      <p:cBhvr>
                                        <p:cTn id="85" dur="500"/>
                                        <p:tgtEl>
                                          <p:spTgt spid="203"/>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204"/>
                                        </p:tgtEl>
                                        <p:attrNameLst>
                                          <p:attrName>style.visibility</p:attrName>
                                        </p:attrNameLst>
                                      </p:cBhvr>
                                      <p:to>
                                        <p:strVal val="visible"/>
                                      </p:to>
                                    </p:set>
                                    <p:animEffect transition="in" filter="fade">
                                      <p:cBhvr>
                                        <p:cTn id="88" dur="500"/>
                                        <p:tgtEl>
                                          <p:spTgt spid="204"/>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172"/>
                                        </p:tgtEl>
                                        <p:attrNameLst>
                                          <p:attrName>style.visibility</p:attrName>
                                        </p:attrNameLst>
                                      </p:cBhvr>
                                      <p:to>
                                        <p:strVal val="visible"/>
                                      </p:to>
                                    </p:set>
                                    <p:animEffect transition="in" filter="fade">
                                      <p:cBhvr>
                                        <p:cTn id="91" dur="500"/>
                                        <p:tgtEl>
                                          <p:spTgt spid="172"/>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174"/>
                                        </p:tgtEl>
                                        <p:attrNameLst>
                                          <p:attrName>style.visibility</p:attrName>
                                        </p:attrNameLst>
                                      </p:cBhvr>
                                      <p:to>
                                        <p:strVal val="visible"/>
                                      </p:to>
                                    </p:set>
                                    <p:animEffect transition="in" filter="fade">
                                      <p:cBhvr>
                                        <p:cTn id="94" dur="500"/>
                                        <p:tgtEl>
                                          <p:spTgt spid="174"/>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188"/>
                                        </p:tgtEl>
                                        <p:attrNameLst>
                                          <p:attrName>style.visibility</p:attrName>
                                        </p:attrNameLst>
                                      </p:cBhvr>
                                      <p:to>
                                        <p:strVal val="visible"/>
                                      </p:to>
                                    </p:set>
                                    <p:animEffect transition="in" filter="fade">
                                      <p:cBhvr>
                                        <p:cTn id="97" dur="500"/>
                                        <p:tgtEl>
                                          <p:spTgt spid="188"/>
                                        </p:tgtEl>
                                      </p:cBhvr>
                                    </p:animEffect>
                                  </p:childTnLst>
                                </p:cTn>
                              </p:par>
                              <p:par>
                                <p:cTn id="98" presetID="10" presetClass="entr" presetSubtype="0" fill="hold" nodeType="withEffect">
                                  <p:stCondLst>
                                    <p:cond delay="0"/>
                                  </p:stCondLst>
                                  <p:childTnLst>
                                    <p:set>
                                      <p:cBhvr>
                                        <p:cTn id="99" dur="1" fill="hold">
                                          <p:stCondLst>
                                            <p:cond delay="0"/>
                                          </p:stCondLst>
                                        </p:cTn>
                                        <p:tgtEl>
                                          <p:spTgt spid="191"/>
                                        </p:tgtEl>
                                        <p:attrNameLst>
                                          <p:attrName>style.visibility</p:attrName>
                                        </p:attrNameLst>
                                      </p:cBhvr>
                                      <p:to>
                                        <p:strVal val="visible"/>
                                      </p:to>
                                    </p:set>
                                    <p:animEffect transition="in" filter="fade">
                                      <p:cBhvr>
                                        <p:cTn id="100" dur="500"/>
                                        <p:tgtEl>
                                          <p:spTgt spid="191"/>
                                        </p:tgtEl>
                                      </p:cBhvr>
                                    </p:animEffect>
                                  </p:childTnLst>
                                </p:cTn>
                              </p:par>
                              <p:par>
                                <p:cTn id="101" presetID="10" presetClass="entr" presetSubtype="0" fill="hold" nodeType="withEffect">
                                  <p:stCondLst>
                                    <p:cond delay="0"/>
                                  </p:stCondLst>
                                  <p:childTnLst>
                                    <p:set>
                                      <p:cBhvr>
                                        <p:cTn id="102" dur="1" fill="hold">
                                          <p:stCondLst>
                                            <p:cond delay="0"/>
                                          </p:stCondLst>
                                        </p:cTn>
                                        <p:tgtEl>
                                          <p:spTgt spid="192"/>
                                        </p:tgtEl>
                                        <p:attrNameLst>
                                          <p:attrName>style.visibility</p:attrName>
                                        </p:attrNameLst>
                                      </p:cBhvr>
                                      <p:to>
                                        <p:strVal val="visible"/>
                                      </p:to>
                                    </p:set>
                                    <p:animEffect transition="in" filter="fade">
                                      <p:cBhvr>
                                        <p:cTn id="103" dur="500"/>
                                        <p:tgtEl>
                                          <p:spTgt spid="192"/>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9"/>
                                        </p:tgtEl>
                                        <p:attrNameLst>
                                          <p:attrName>style.visibility</p:attrName>
                                        </p:attrNameLst>
                                      </p:cBhvr>
                                      <p:to>
                                        <p:strVal val="visible"/>
                                      </p:to>
                                    </p:set>
                                    <p:animEffect transition="in" filter="fade">
                                      <p:cBhvr>
                                        <p:cTn id="106" dur="500"/>
                                        <p:tgtEl>
                                          <p:spTgt spid="9"/>
                                        </p:tgtEl>
                                      </p:cBhvr>
                                    </p:animEffect>
                                  </p:childTnLst>
                                </p:cTn>
                              </p:par>
                              <p:par>
                                <p:cTn id="107" presetID="10" presetClass="entr" presetSubtype="0" fill="hold" nodeType="withEffect">
                                  <p:stCondLst>
                                    <p:cond delay="0"/>
                                  </p:stCondLst>
                                  <p:childTnLst>
                                    <p:set>
                                      <p:cBhvr>
                                        <p:cTn id="108" dur="1" fill="hold">
                                          <p:stCondLst>
                                            <p:cond delay="0"/>
                                          </p:stCondLst>
                                        </p:cTn>
                                        <p:tgtEl>
                                          <p:spTgt spid="14"/>
                                        </p:tgtEl>
                                        <p:attrNameLst>
                                          <p:attrName>style.visibility</p:attrName>
                                        </p:attrNameLst>
                                      </p:cBhvr>
                                      <p:to>
                                        <p:strVal val="visible"/>
                                      </p:to>
                                    </p:set>
                                    <p:animEffect transition="in" filter="fade">
                                      <p:cBhvr>
                                        <p:cTn id="109" dur="500"/>
                                        <p:tgtEl>
                                          <p:spTgt spid="14"/>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20"/>
                                        </p:tgtEl>
                                        <p:attrNameLst>
                                          <p:attrName>style.visibility</p:attrName>
                                        </p:attrNameLst>
                                      </p:cBhvr>
                                      <p:to>
                                        <p:strVal val="visible"/>
                                      </p:to>
                                    </p:set>
                                    <p:animEffect transition="in" filter="fade">
                                      <p:cBhvr>
                                        <p:cTn id="112" dur="500"/>
                                        <p:tgtEl>
                                          <p:spTgt spid="20"/>
                                        </p:tgtEl>
                                      </p:cBhvr>
                                    </p:animEffect>
                                  </p:childTnLst>
                                </p:cTn>
                              </p:par>
                              <p:par>
                                <p:cTn id="113" presetID="10" presetClass="entr" presetSubtype="0" fill="hold" nodeType="withEffect">
                                  <p:stCondLst>
                                    <p:cond delay="0"/>
                                  </p:stCondLst>
                                  <p:childTnLst>
                                    <p:set>
                                      <p:cBhvr>
                                        <p:cTn id="114" dur="1" fill="hold">
                                          <p:stCondLst>
                                            <p:cond delay="0"/>
                                          </p:stCondLst>
                                        </p:cTn>
                                        <p:tgtEl>
                                          <p:spTgt spid="21"/>
                                        </p:tgtEl>
                                        <p:attrNameLst>
                                          <p:attrName>style.visibility</p:attrName>
                                        </p:attrNameLst>
                                      </p:cBhvr>
                                      <p:to>
                                        <p:strVal val="visible"/>
                                      </p:to>
                                    </p:set>
                                    <p:animEffect transition="in" filter="fade">
                                      <p:cBhvr>
                                        <p:cTn id="115" dur="500"/>
                                        <p:tgtEl>
                                          <p:spTgt spid="21"/>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28"/>
                                        </p:tgtEl>
                                        <p:attrNameLst>
                                          <p:attrName>style.visibility</p:attrName>
                                        </p:attrNameLst>
                                      </p:cBhvr>
                                      <p:to>
                                        <p:strVal val="visible"/>
                                      </p:to>
                                    </p:set>
                                    <p:animEffect transition="in" filter="fade">
                                      <p:cBhvr>
                                        <p:cTn id="118" dur="500"/>
                                        <p:tgtEl>
                                          <p:spTgt spid="28"/>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32"/>
                                        </p:tgtEl>
                                        <p:attrNameLst>
                                          <p:attrName>style.visibility</p:attrName>
                                        </p:attrNameLst>
                                      </p:cBhvr>
                                      <p:to>
                                        <p:strVal val="visible"/>
                                      </p:to>
                                    </p:set>
                                    <p:animEffect transition="in" filter="fade">
                                      <p:cBhvr>
                                        <p:cTn id="121" dur="500"/>
                                        <p:tgtEl>
                                          <p:spTgt spid="32"/>
                                        </p:tgtEl>
                                      </p:cBhvr>
                                    </p:animEffect>
                                  </p:childTnLst>
                                </p:cTn>
                              </p:par>
                              <p:par>
                                <p:cTn id="122" presetID="10" presetClass="entr" presetSubtype="0" fill="hold" nodeType="withEffect">
                                  <p:stCondLst>
                                    <p:cond delay="0"/>
                                  </p:stCondLst>
                                  <p:childTnLst>
                                    <p:set>
                                      <p:cBhvr>
                                        <p:cTn id="123" dur="1" fill="hold">
                                          <p:stCondLst>
                                            <p:cond delay="0"/>
                                          </p:stCondLst>
                                        </p:cTn>
                                        <p:tgtEl>
                                          <p:spTgt spid="33"/>
                                        </p:tgtEl>
                                        <p:attrNameLst>
                                          <p:attrName>style.visibility</p:attrName>
                                        </p:attrNameLst>
                                      </p:cBhvr>
                                      <p:to>
                                        <p:strVal val="visible"/>
                                      </p:to>
                                    </p:set>
                                    <p:animEffect transition="in" filter="fade">
                                      <p:cBhvr>
                                        <p:cTn id="124" dur="500"/>
                                        <p:tgtEl>
                                          <p:spTgt spid="33"/>
                                        </p:tgtEl>
                                      </p:cBhvr>
                                    </p:animEffect>
                                  </p:childTnLst>
                                </p:cTn>
                              </p:par>
                              <p:par>
                                <p:cTn id="125" presetID="10" presetClass="entr" presetSubtype="0" fill="hold" nodeType="withEffect">
                                  <p:stCondLst>
                                    <p:cond delay="0"/>
                                  </p:stCondLst>
                                  <p:childTnLst>
                                    <p:set>
                                      <p:cBhvr>
                                        <p:cTn id="126" dur="1" fill="hold">
                                          <p:stCondLst>
                                            <p:cond delay="0"/>
                                          </p:stCondLst>
                                        </p:cTn>
                                        <p:tgtEl>
                                          <p:spTgt spid="34"/>
                                        </p:tgtEl>
                                        <p:attrNameLst>
                                          <p:attrName>style.visibility</p:attrName>
                                        </p:attrNameLst>
                                      </p:cBhvr>
                                      <p:to>
                                        <p:strVal val="visible"/>
                                      </p:to>
                                    </p:set>
                                    <p:animEffect transition="in" filter="fade">
                                      <p:cBhvr>
                                        <p:cTn id="127" dur="500"/>
                                        <p:tgtEl>
                                          <p:spTgt spid="34"/>
                                        </p:tgtEl>
                                      </p:cBhvr>
                                    </p:animEffect>
                                  </p:childTnLst>
                                </p:cTn>
                              </p:par>
                              <p:par>
                                <p:cTn id="128" presetID="10" presetClass="entr" presetSubtype="0" fill="hold" nodeType="withEffect">
                                  <p:stCondLst>
                                    <p:cond delay="0"/>
                                  </p:stCondLst>
                                  <p:childTnLst>
                                    <p:set>
                                      <p:cBhvr>
                                        <p:cTn id="129" dur="1" fill="hold">
                                          <p:stCondLst>
                                            <p:cond delay="0"/>
                                          </p:stCondLst>
                                        </p:cTn>
                                        <p:tgtEl>
                                          <p:spTgt spid="36"/>
                                        </p:tgtEl>
                                        <p:attrNameLst>
                                          <p:attrName>style.visibility</p:attrName>
                                        </p:attrNameLst>
                                      </p:cBhvr>
                                      <p:to>
                                        <p:strVal val="visible"/>
                                      </p:to>
                                    </p:set>
                                    <p:animEffect transition="in" filter="fade">
                                      <p:cBhvr>
                                        <p:cTn id="130" dur="500"/>
                                        <p:tgtEl>
                                          <p:spTgt spid="36"/>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43"/>
                                        </p:tgtEl>
                                        <p:attrNameLst>
                                          <p:attrName>style.visibility</p:attrName>
                                        </p:attrNameLst>
                                      </p:cBhvr>
                                      <p:to>
                                        <p:strVal val="visible"/>
                                      </p:to>
                                    </p:set>
                                    <p:animEffect transition="in" filter="fade">
                                      <p:cBhvr>
                                        <p:cTn id="133" dur="500"/>
                                        <p:tgtEl>
                                          <p:spTgt spid="43"/>
                                        </p:tgtEl>
                                      </p:cBhvr>
                                    </p:animEffect>
                                  </p:childTnLst>
                                </p:cTn>
                              </p:par>
                              <p:par>
                                <p:cTn id="134" presetID="10" presetClass="entr" presetSubtype="0" fill="hold" nodeType="withEffect">
                                  <p:stCondLst>
                                    <p:cond delay="0"/>
                                  </p:stCondLst>
                                  <p:childTnLst>
                                    <p:set>
                                      <p:cBhvr>
                                        <p:cTn id="135" dur="1" fill="hold">
                                          <p:stCondLst>
                                            <p:cond delay="0"/>
                                          </p:stCondLst>
                                        </p:cTn>
                                        <p:tgtEl>
                                          <p:spTgt spid="53"/>
                                        </p:tgtEl>
                                        <p:attrNameLst>
                                          <p:attrName>style.visibility</p:attrName>
                                        </p:attrNameLst>
                                      </p:cBhvr>
                                      <p:to>
                                        <p:strVal val="visible"/>
                                      </p:to>
                                    </p:set>
                                    <p:animEffect transition="in" filter="fade">
                                      <p:cBhvr>
                                        <p:cTn id="136" dur="500"/>
                                        <p:tgtEl>
                                          <p:spTgt spid="53"/>
                                        </p:tgtEl>
                                      </p:cBhvr>
                                    </p:animEffect>
                                  </p:childTnLst>
                                </p:cTn>
                              </p:par>
                              <p:par>
                                <p:cTn id="137" presetID="10" presetClass="entr" presetSubtype="0" fill="hold" nodeType="withEffect">
                                  <p:stCondLst>
                                    <p:cond delay="0"/>
                                  </p:stCondLst>
                                  <p:childTnLst>
                                    <p:set>
                                      <p:cBhvr>
                                        <p:cTn id="138" dur="1" fill="hold">
                                          <p:stCondLst>
                                            <p:cond delay="0"/>
                                          </p:stCondLst>
                                        </p:cTn>
                                        <p:tgtEl>
                                          <p:spTgt spid="79"/>
                                        </p:tgtEl>
                                        <p:attrNameLst>
                                          <p:attrName>style.visibility</p:attrName>
                                        </p:attrNameLst>
                                      </p:cBhvr>
                                      <p:to>
                                        <p:strVal val="visible"/>
                                      </p:to>
                                    </p:set>
                                    <p:animEffect transition="in" filter="fade">
                                      <p:cBhvr>
                                        <p:cTn id="139" dur="500"/>
                                        <p:tgtEl>
                                          <p:spTgt spid="79"/>
                                        </p:tgtEl>
                                      </p:cBhvr>
                                    </p:animEffect>
                                  </p:childTnLst>
                                </p:cTn>
                              </p:par>
                              <p:par>
                                <p:cTn id="140" presetID="10" presetClass="entr" presetSubtype="0" fill="hold" nodeType="withEffect">
                                  <p:stCondLst>
                                    <p:cond delay="0"/>
                                  </p:stCondLst>
                                  <p:childTnLst>
                                    <p:set>
                                      <p:cBhvr>
                                        <p:cTn id="141" dur="1" fill="hold">
                                          <p:stCondLst>
                                            <p:cond delay="0"/>
                                          </p:stCondLst>
                                        </p:cTn>
                                        <p:tgtEl>
                                          <p:spTgt spid="80"/>
                                        </p:tgtEl>
                                        <p:attrNameLst>
                                          <p:attrName>style.visibility</p:attrName>
                                        </p:attrNameLst>
                                      </p:cBhvr>
                                      <p:to>
                                        <p:strVal val="visible"/>
                                      </p:to>
                                    </p:set>
                                    <p:animEffect transition="in" filter="fade">
                                      <p:cBhvr>
                                        <p:cTn id="142" dur="500"/>
                                        <p:tgtEl>
                                          <p:spTgt spid="80"/>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99"/>
                                        </p:tgtEl>
                                        <p:attrNameLst>
                                          <p:attrName>style.visibility</p:attrName>
                                        </p:attrNameLst>
                                      </p:cBhvr>
                                      <p:to>
                                        <p:strVal val="visible"/>
                                      </p:to>
                                    </p:set>
                                    <p:animEffect transition="in" filter="fade">
                                      <p:cBhvr>
                                        <p:cTn id="145" dur="500"/>
                                        <p:tgtEl>
                                          <p:spTgt spid="99"/>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102"/>
                                        </p:tgtEl>
                                        <p:attrNameLst>
                                          <p:attrName>style.visibility</p:attrName>
                                        </p:attrNameLst>
                                      </p:cBhvr>
                                      <p:to>
                                        <p:strVal val="visible"/>
                                      </p:to>
                                    </p:set>
                                    <p:animEffect transition="in" filter="fade">
                                      <p:cBhvr>
                                        <p:cTn id="148" dur="500"/>
                                        <p:tgtEl>
                                          <p:spTgt spid="102"/>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176"/>
                                        </p:tgtEl>
                                        <p:attrNameLst>
                                          <p:attrName>style.visibility</p:attrName>
                                        </p:attrNameLst>
                                      </p:cBhvr>
                                      <p:to>
                                        <p:strVal val="visible"/>
                                      </p:to>
                                    </p:set>
                                    <p:animEffect transition="in" filter="fade">
                                      <p:cBhvr>
                                        <p:cTn id="151" dur="500"/>
                                        <p:tgtEl>
                                          <p:spTgt spid="176"/>
                                        </p:tgtEl>
                                      </p:cBhvr>
                                    </p:animEffect>
                                  </p:childTnLst>
                                </p:cTn>
                              </p:par>
                              <p:par>
                                <p:cTn id="152" presetID="10" presetClass="entr" presetSubtype="0" fill="hold" nodeType="withEffect">
                                  <p:stCondLst>
                                    <p:cond delay="0"/>
                                  </p:stCondLst>
                                  <p:childTnLst>
                                    <p:set>
                                      <p:cBhvr>
                                        <p:cTn id="153" dur="1" fill="hold">
                                          <p:stCondLst>
                                            <p:cond delay="0"/>
                                          </p:stCondLst>
                                        </p:cTn>
                                        <p:tgtEl>
                                          <p:spTgt spid="177"/>
                                        </p:tgtEl>
                                        <p:attrNameLst>
                                          <p:attrName>style.visibility</p:attrName>
                                        </p:attrNameLst>
                                      </p:cBhvr>
                                      <p:to>
                                        <p:strVal val="visible"/>
                                      </p:to>
                                    </p:set>
                                    <p:animEffect transition="in" filter="fade">
                                      <p:cBhvr>
                                        <p:cTn id="154" dur="500"/>
                                        <p:tgtEl>
                                          <p:spTgt spid="1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7" grpId="0"/>
      <p:bldP spid="18" grpId="0"/>
      <p:bldP spid="20" grpId="0" animBg="1"/>
      <p:bldP spid="28" grpId="0" animBg="1"/>
      <p:bldP spid="32" grpId="0" animBg="1"/>
      <p:bldP spid="43" grpId="0" animBg="1"/>
      <p:bldP spid="61" grpId="0" animBg="1"/>
      <p:bldP spid="67" grpId="0" animBg="1"/>
      <p:bldP spid="99" grpId="0"/>
      <p:bldP spid="102" grpId="0"/>
      <p:bldP spid="110" grpId="0" animBg="1"/>
      <p:bldP spid="114" grpId="0" animBg="1"/>
      <p:bldP spid="123" grpId="0" animBg="1"/>
      <p:bldP spid="128" grpId="0"/>
      <p:bldP spid="129" grpId="0"/>
      <p:bldP spid="145" grpId="0" animBg="1"/>
      <p:bldP spid="151" grpId="0" animBg="1"/>
      <p:bldP spid="166" grpId="0" animBg="1"/>
      <p:bldP spid="172" grpId="0" animBg="1"/>
      <p:bldP spid="174" grpId="0" animBg="1"/>
      <p:bldP spid="176" grpId="0" animBg="1"/>
      <p:bldP spid="188" grpId="0" animBg="1"/>
      <p:bldP spid="203" grpId="0"/>
      <p:bldP spid="204" grpId="0"/>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49F3DFEE-D615-10A4-3DFB-F10E842FD6FF}"/>
              </a:ext>
            </a:extLst>
          </p:cNvPr>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 name="直接连接符 2">
            <a:extLst>
              <a:ext uri="{FF2B5EF4-FFF2-40B4-BE49-F238E27FC236}">
                <a16:creationId xmlns:a16="http://schemas.microsoft.com/office/drawing/2014/main" id="{E448084C-00C1-2D46-B2E9-907AC7E07A63}"/>
              </a:ext>
            </a:extLst>
          </p:cNvPr>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4" name="图形 3">
            <a:extLst>
              <a:ext uri="{FF2B5EF4-FFF2-40B4-BE49-F238E27FC236}">
                <a16:creationId xmlns:a16="http://schemas.microsoft.com/office/drawing/2014/main" id="{C93BB0EF-03E3-F5C3-728A-B6DC40F04B4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6" name="文本框 5">
            <a:extLst>
              <a:ext uri="{FF2B5EF4-FFF2-40B4-BE49-F238E27FC236}">
                <a16:creationId xmlns:a16="http://schemas.microsoft.com/office/drawing/2014/main" id="{47E122C5-6879-554E-162C-5ECC1522BC4D}"/>
              </a:ext>
            </a:extLst>
          </p:cNvPr>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7" name="文本框 6">
            <a:extLst>
              <a:ext uri="{FF2B5EF4-FFF2-40B4-BE49-F238E27FC236}">
                <a16:creationId xmlns:a16="http://schemas.microsoft.com/office/drawing/2014/main" id="{4C6B3F01-B8B5-2308-7B9E-BE7EFBCC8A2C}"/>
              </a:ext>
            </a:extLst>
          </p:cNvPr>
          <p:cNvSpPr txBox="1"/>
          <p:nvPr/>
        </p:nvSpPr>
        <p:spPr>
          <a:xfrm>
            <a:off x="1085932" y="41179"/>
            <a:ext cx="5304971" cy="769441"/>
          </a:xfrm>
          <a:prstGeom prst="rect">
            <a:avLst/>
          </a:prstGeom>
          <a:noFill/>
        </p:spPr>
        <p:txBody>
          <a:bodyPr wrap="square" rtlCol="0">
            <a:spAutoFit/>
          </a:bodyPr>
          <a:lstStyle/>
          <a:p>
            <a:r>
              <a:rPr lang="zh-CN" altLang="en-US" sz="4400" dirty="0">
                <a:latin typeface="仿宋" panose="02010609060101010101" pitchFamily="49" charset="-122"/>
                <a:ea typeface="仿宋" panose="02010609060101010101" pitchFamily="49" charset="-122"/>
              </a:rPr>
              <a:t>辗转相除法</a:t>
            </a:r>
            <a:endParaRPr lang="en-US" altLang="zh-CN" sz="4400" dirty="0">
              <a:latin typeface="仿宋" panose="02010609060101010101" pitchFamily="49" charset="-122"/>
              <a:ea typeface="仿宋" panose="02010609060101010101" pitchFamily="49" charset="-122"/>
            </a:endParaRPr>
          </a:p>
        </p:txBody>
      </p:sp>
      <p:sp>
        <p:nvSpPr>
          <p:cNvPr id="8" name="流程图: 决策 7">
            <a:extLst>
              <a:ext uri="{FF2B5EF4-FFF2-40B4-BE49-F238E27FC236}">
                <a16:creationId xmlns:a16="http://schemas.microsoft.com/office/drawing/2014/main" id="{7C7AC6BB-5D38-DD69-76CE-6DB604B7C700}"/>
              </a:ext>
            </a:extLst>
          </p:cNvPr>
          <p:cNvSpPr/>
          <p:nvPr/>
        </p:nvSpPr>
        <p:spPr>
          <a:xfrm>
            <a:off x="3780816" y="2600074"/>
            <a:ext cx="2969059" cy="769441"/>
          </a:xfrm>
          <a:prstGeom prst="flowChartDecision">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Consolas" panose="020B0609020204030204" pitchFamily="49" charset="0"/>
              </a:rPr>
              <a:t>Mod(</a:t>
            </a:r>
            <a:r>
              <a:rPr lang="en-US" altLang="zh-CN" dirty="0" err="1">
                <a:latin typeface="Consolas" panose="020B0609020204030204" pitchFamily="49" charset="0"/>
              </a:rPr>
              <a:t>a,b</a:t>
            </a:r>
            <a:r>
              <a:rPr lang="en-US" altLang="zh-CN" dirty="0">
                <a:latin typeface="Consolas" panose="020B0609020204030204" pitchFamily="49" charset="0"/>
              </a:rPr>
              <a:t>)=0</a:t>
            </a:r>
            <a:endParaRPr lang="zh-CN" altLang="en-US" dirty="0">
              <a:latin typeface="Consolas" panose="020B0609020204030204" pitchFamily="49" charset="0"/>
            </a:endParaRPr>
          </a:p>
        </p:txBody>
      </p:sp>
      <p:sp>
        <p:nvSpPr>
          <p:cNvPr id="9" name="矩形 8">
            <a:extLst>
              <a:ext uri="{FF2B5EF4-FFF2-40B4-BE49-F238E27FC236}">
                <a16:creationId xmlns:a16="http://schemas.microsoft.com/office/drawing/2014/main" id="{58B998A1-A1C4-4A20-F34A-02361367FA04}"/>
              </a:ext>
            </a:extLst>
          </p:cNvPr>
          <p:cNvSpPr/>
          <p:nvPr/>
        </p:nvSpPr>
        <p:spPr>
          <a:xfrm>
            <a:off x="4566847" y="3712171"/>
            <a:ext cx="1396998" cy="95011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600" dirty="0">
                <a:latin typeface="Consolas" panose="020B0609020204030204" pitchFamily="49" charset="0"/>
              </a:rPr>
              <a:t>r</a:t>
            </a:r>
            <a:r>
              <a:rPr lang="zh-CN" altLang="en-US" sz="1600" dirty="0">
                <a:latin typeface="Consolas" panose="020B0609020204030204" pitchFamily="49" charset="0"/>
              </a:rPr>
              <a:t>←</a:t>
            </a:r>
            <a:r>
              <a:rPr lang="en-US" altLang="zh-CN" sz="1600" dirty="0">
                <a:latin typeface="Consolas" panose="020B0609020204030204" pitchFamily="49" charset="0"/>
              </a:rPr>
              <a:t>Mod(</a:t>
            </a:r>
            <a:r>
              <a:rPr lang="en-US" altLang="zh-CN" sz="1600" dirty="0" err="1">
                <a:latin typeface="Consolas" panose="020B0609020204030204" pitchFamily="49" charset="0"/>
              </a:rPr>
              <a:t>a,b</a:t>
            </a:r>
            <a:r>
              <a:rPr lang="en-US" altLang="zh-CN" sz="1600" dirty="0">
                <a:latin typeface="Consolas" panose="020B0609020204030204" pitchFamily="49" charset="0"/>
              </a:rPr>
              <a:t>)</a:t>
            </a:r>
          </a:p>
          <a:p>
            <a:pPr algn="ctr"/>
            <a:r>
              <a:rPr lang="en-US" altLang="zh-CN" sz="1600" dirty="0">
                <a:latin typeface="Consolas" panose="020B0609020204030204" pitchFamily="49" charset="0"/>
              </a:rPr>
              <a:t>a</a:t>
            </a:r>
            <a:r>
              <a:rPr lang="zh-CN" altLang="en-US" sz="1600" dirty="0">
                <a:latin typeface="Consolas" panose="020B0609020204030204" pitchFamily="49" charset="0"/>
              </a:rPr>
              <a:t>←</a:t>
            </a:r>
            <a:r>
              <a:rPr lang="en-US" altLang="zh-CN" sz="1600" dirty="0">
                <a:latin typeface="Consolas" panose="020B0609020204030204" pitchFamily="49" charset="0"/>
              </a:rPr>
              <a:t>b</a:t>
            </a:r>
          </a:p>
          <a:p>
            <a:pPr algn="ctr"/>
            <a:r>
              <a:rPr lang="en-US" altLang="zh-CN" sz="1600" dirty="0">
                <a:latin typeface="Consolas" panose="020B0609020204030204" pitchFamily="49" charset="0"/>
              </a:rPr>
              <a:t>b</a:t>
            </a:r>
            <a:r>
              <a:rPr lang="zh-CN" altLang="en-US" sz="1600" dirty="0">
                <a:latin typeface="Consolas" panose="020B0609020204030204" pitchFamily="49" charset="0"/>
              </a:rPr>
              <a:t>←</a:t>
            </a:r>
            <a:r>
              <a:rPr lang="en-US" altLang="zh-CN" sz="1600" dirty="0">
                <a:latin typeface="Consolas" panose="020B0609020204030204" pitchFamily="49" charset="0"/>
              </a:rPr>
              <a:t>r</a:t>
            </a:r>
            <a:endParaRPr lang="zh-CN" altLang="en-US" sz="1600" dirty="0">
              <a:latin typeface="Consolas" panose="020B0609020204030204" pitchFamily="49" charset="0"/>
            </a:endParaRPr>
          </a:p>
        </p:txBody>
      </p:sp>
      <p:cxnSp>
        <p:nvCxnSpPr>
          <p:cNvPr id="10" name="直接箭头连接符 9">
            <a:extLst>
              <a:ext uri="{FF2B5EF4-FFF2-40B4-BE49-F238E27FC236}">
                <a16:creationId xmlns:a16="http://schemas.microsoft.com/office/drawing/2014/main" id="{03EF3FD8-FF40-F1A8-FDD6-289E666C3C5B}"/>
              </a:ext>
            </a:extLst>
          </p:cNvPr>
          <p:cNvCxnSpPr>
            <a:cxnSpLocks/>
            <a:stCxn id="8" idx="2"/>
            <a:endCxn id="9" idx="0"/>
          </p:cNvCxnSpPr>
          <p:nvPr/>
        </p:nvCxnSpPr>
        <p:spPr>
          <a:xfrm>
            <a:off x="5265346" y="3369515"/>
            <a:ext cx="0" cy="3426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连接符: 肘形 10">
            <a:extLst>
              <a:ext uri="{FF2B5EF4-FFF2-40B4-BE49-F238E27FC236}">
                <a16:creationId xmlns:a16="http://schemas.microsoft.com/office/drawing/2014/main" id="{A6E4D0F5-FE1A-E1E0-14B8-9C652E6531B0}"/>
              </a:ext>
            </a:extLst>
          </p:cNvPr>
          <p:cNvCxnSpPr>
            <a:cxnSpLocks/>
            <a:endCxn id="9" idx="1"/>
          </p:cNvCxnSpPr>
          <p:nvPr/>
        </p:nvCxnSpPr>
        <p:spPr>
          <a:xfrm rot="16200000" flipH="1">
            <a:off x="3156739" y="2777123"/>
            <a:ext cx="1756430" cy="1063785"/>
          </a:xfrm>
          <a:prstGeom prst="bentConnector2">
            <a:avLst/>
          </a:prstGeom>
        </p:spPr>
        <p:style>
          <a:lnRef idx="1">
            <a:schemeClr val="dk1"/>
          </a:lnRef>
          <a:fillRef idx="0">
            <a:schemeClr val="dk1"/>
          </a:fillRef>
          <a:effectRef idx="0">
            <a:schemeClr val="dk1"/>
          </a:effectRef>
          <a:fontRef idx="minor">
            <a:schemeClr val="tx1"/>
          </a:fontRef>
        </p:style>
      </p:cxnSp>
      <p:cxnSp>
        <p:nvCxnSpPr>
          <p:cNvPr id="12" name="直接箭头连接符 11">
            <a:extLst>
              <a:ext uri="{FF2B5EF4-FFF2-40B4-BE49-F238E27FC236}">
                <a16:creationId xmlns:a16="http://schemas.microsoft.com/office/drawing/2014/main" id="{A6A6472F-E8D2-8BDC-1294-F9B2D8DE0E68}"/>
              </a:ext>
            </a:extLst>
          </p:cNvPr>
          <p:cNvCxnSpPr>
            <a:cxnSpLocks/>
          </p:cNvCxnSpPr>
          <p:nvPr/>
        </p:nvCxnSpPr>
        <p:spPr>
          <a:xfrm>
            <a:off x="3503061" y="2430801"/>
            <a:ext cx="173824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连接符: 肘形 12">
            <a:extLst>
              <a:ext uri="{FF2B5EF4-FFF2-40B4-BE49-F238E27FC236}">
                <a16:creationId xmlns:a16="http://schemas.microsoft.com/office/drawing/2014/main" id="{DA667B65-31AD-02D1-B16B-8E7765229834}"/>
              </a:ext>
            </a:extLst>
          </p:cNvPr>
          <p:cNvCxnSpPr>
            <a:cxnSpLocks/>
            <a:stCxn id="8" idx="3"/>
          </p:cNvCxnSpPr>
          <p:nvPr/>
        </p:nvCxnSpPr>
        <p:spPr>
          <a:xfrm>
            <a:off x="6749875" y="2984795"/>
            <a:ext cx="1174750" cy="1711053"/>
          </a:xfrm>
          <a:prstGeom prst="bentConnector2">
            <a:avLst/>
          </a:prstGeom>
        </p:spPr>
        <p:style>
          <a:lnRef idx="1">
            <a:schemeClr val="dk1"/>
          </a:lnRef>
          <a:fillRef idx="0">
            <a:schemeClr val="dk1"/>
          </a:fillRef>
          <a:effectRef idx="0">
            <a:schemeClr val="dk1"/>
          </a:effectRef>
          <a:fontRef idx="minor">
            <a:schemeClr val="tx1"/>
          </a:fontRef>
        </p:style>
      </p:cxnSp>
      <p:cxnSp>
        <p:nvCxnSpPr>
          <p:cNvPr id="14" name="连接符: 肘形 13">
            <a:extLst>
              <a:ext uri="{FF2B5EF4-FFF2-40B4-BE49-F238E27FC236}">
                <a16:creationId xmlns:a16="http://schemas.microsoft.com/office/drawing/2014/main" id="{E2E3AB29-43AA-29BA-A5D5-B058161D99B8}"/>
              </a:ext>
            </a:extLst>
          </p:cNvPr>
          <p:cNvCxnSpPr>
            <a:cxnSpLocks/>
            <a:endCxn id="17" idx="1"/>
          </p:cNvCxnSpPr>
          <p:nvPr/>
        </p:nvCxnSpPr>
        <p:spPr>
          <a:xfrm rot="10800000" flipV="1">
            <a:off x="5265345" y="4695847"/>
            <a:ext cx="2659280" cy="283307"/>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15" name="文本框 14">
            <a:extLst>
              <a:ext uri="{FF2B5EF4-FFF2-40B4-BE49-F238E27FC236}">
                <a16:creationId xmlns:a16="http://schemas.microsoft.com/office/drawing/2014/main" id="{385D418B-6602-431E-3F30-5B03359388AA}"/>
              </a:ext>
            </a:extLst>
          </p:cNvPr>
          <p:cNvSpPr txBox="1"/>
          <p:nvPr/>
        </p:nvSpPr>
        <p:spPr>
          <a:xfrm>
            <a:off x="5543101" y="3339218"/>
            <a:ext cx="311304" cy="369332"/>
          </a:xfrm>
          <a:prstGeom prst="rect">
            <a:avLst/>
          </a:prstGeom>
          <a:noFill/>
        </p:spPr>
        <p:txBody>
          <a:bodyPr wrap="square" rtlCol="0">
            <a:spAutoFit/>
          </a:bodyPr>
          <a:lstStyle/>
          <a:p>
            <a:r>
              <a:rPr lang="en-US" altLang="zh-CN" dirty="0"/>
              <a:t>N</a:t>
            </a:r>
            <a:endParaRPr lang="zh-CN" altLang="en-US" dirty="0"/>
          </a:p>
        </p:txBody>
      </p:sp>
      <p:sp>
        <p:nvSpPr>
          <p:cNvPr id="16" name="文本框 15">
            <a:extLst>
              <a:ext uri="{FF2B5EF4-FFF2-40B4-BE49-F238E27FC236}">
                <a16:creationId xmlns:a16="http://schemas.microsoft.com/office/drawing/2014/main" id="{5B11B5CB-B645-3C63-8ED3-4A3FC9C9EC15}"/>
              </a:ext>
            </a:extLst>
          </p:cNvPr>
          <p:cNvSpPr txBox="1"/>
          <p:nvPr/>
        </p:nvSpPr>
        <p:spPr>
          <a:xfrm>
            <a:off x="7027630" y="2433428"/>
            <a:ext cx="258413" cy="369332"/>
          </a:xfrm>
          <a:prstGeom prst="rect">
            <a:avLst/>
          </a:prstGeom>
          <a:noFill/>
        </p:spPr>
        <p:txBody>
          <a:bodyPr wrap="square" rtlCol="0">
            <a:spAutoFit/>
          </a:bodyPr>
          <a:lstStyle/>
          <a:p>
            <a:r>
              <a:rPr lang="en-US" altLang="zh-CN" dirty="0"/>
              <a:t>Y</a:t>
            </a:r>
            <a:endParaRPr lang="zh-CN" altLang="en-US" dirty="0"/>
          </a:p>
        </p:txBody>
      </p:sp>
      <p:sp>
        <p:nvSpPr>
          <p:cNvPr id="17" name="流程图: 数据 16">
            <a:extLst>
              <a:ext uri="{FF2B5EF4-FFF2-40B4-BE49-F238E27FC236}">
                <a16:creationId xmlns:a16="http://schemas.microsoft.com/office/drawing/2014/main" id="{2B04EFEF-3D95-5F17-C575-7CC8C19477DC}"/>
              </a:ext>
            </a:extLst>
          </p:cNvPr>
          <p:cNvSpPr/>
          <p:nvPr/>
        </p:nvSpPr>
        <p:spPr>
          <a:xfrm>
            <a:off x="4030270" y="4979155"/>
            <a:ext cx="2470150" cy="769442"/>
          </a:xfrm>
          <a:prstGeom prst="flowChartInputOutpu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800" dirty="0">
                <a:latin typeface="Consolas" panose="020B0609020204030204" pitchFamily="49" charset="0"/>
                <a:ea typeface="仿宋" panose="02010609060101010101" pitchFamily="49" charset="-122"/>
              </a:rPr>
              <a:t>输出</a:t>
            </a:r>
            <a:r>
              <a:rPr lang="en-US" altLang="zh-CN" sz="2800" dirty="0">
                <a:latin typeface="Consolas" panose="020B0609020204030204" pitchFamily="49" charset="0"/>
                <a:ea typeface="仿宋" panose="02010609060101010101" pitchFamily="49" charset="-122"/>
              </a:rPr>
              <a:t>b</a:t>
            </a:r>
            <a:endParaRPr lang="zh-CN" altLang="en-US" sz="2800" dirty="0">
              <a:latin typeface="Consolas" panose="020B0609020204030204" pitchFamily="49" charset="0"/>
              <a:ea typeface="仿宋" panose="02010609060101010101" pitchFamily="49" charset="-122"/>
            </a:endParaRPr>
          </a:p>
        </p:txBody>
      </p:sp>
      <p:sp>
        <p:nvSpPr>
          <p:cNvPr id="18" name="流程图: 数据 17">
            <a:extLst>
              <a:ext uri="{FF2B5EF4-FFF2-40B4-BE49-F238E27FC236}">
                <a16:creationId xmlns:a16="http://schemas.microsoft.com/office/drawing/2014/main" id="{B962402C-C17F-2F10-0D96-A27F14CB4157}"/>
              </a:ext>
            </a:extLst>
          </p:cNvPr>
          <p:cNvSpPr/>
          <p:nvPr/>
        </p:nvSpPr>
        <p:spPr>
          <a:xfrm>
            <a:off x="4030271" y="1254642"/>
            <a:ext cx="2470150" cy="769442"/>
          </a:xfrm>
          <a:prstGeom prst="flowChartInputOutpu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800" dirty="0">
                <a:latin typeface="Consolas" panose="020B0609020204030204" pitchFamily="49" charset="0"/>
                <a:ea typeface="仿宋" panose="02010609060101010101" pitchFamily="49" charset="-122"/>
              </a:rPr>
              <a:t>输入</a:t>
            </a:r>
            <a:r>
              <a:rPr lang="en-US" altLang="zh-CN" sz="2800" dirty="0" err="1">
                <a:latin typeface="Consolas" panose="020B0609020204030204" pitchFamily="49" charset="0"/>
                <a:ea typeface="仿宋" panose="02010609060101010101" pitchFamily="49" charset="-122"/>
              </a:rPr>
              <a:t>a,b</a:t>
            </a:r>
            <a:endParaRPr lang="zh-CN" altLang="en-US" sz="2800" dirty="0">
              <a:latin typeface="Consolas" panose="020B0609020204030204" pitchFamily="49" charset="0"/>
              <a:ea typeface="仿宋" panose="02010609060101010101" pitchFamily="49" charset="-122"/>
            </a:endParaRPr>
          </a:p>
        </p:txBody>
      </p:sp>
      <p:cxnSp>
        <p:nvCxnSpPr>
          <p:cNvPr id="19" name="直接箭头连接符 18">
            <a:extLst>
              <a:ext uri="{FF2B5EF4-FFF2-40B4-BE49-F238E27FC236}">
                <a16:creationId xmlns:a16="http://schemas.microsoft.com/office/drawing/2014/main" id="{A7E8D730-6B01-E12D-E4C3-AFCABE4AE3A1}"/>
              </a:ext>
            </a:extLst>
          </p:cNvPr>
          <p:cNvCxnSpPr>
            <a:cxnSpLocks/>
            <a:stCxn id="18" idx="4"/>
            <a:endCxn id="8" idx="0"/>
          </p:cNvCxnSpPr>
          <p:nvPr/>
        </p:nvCxnSpPr>
        <p:spPr>
          <a:xfrm>
            <a:off x="5265346" y="2024084"/>
            <a:ext cx="0" cy="57599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21" name="图片 4">
            <a:extLst>
              <a:ext uri="{FF2B5EF4-FFF2-40B4-BE49-F238E27FC236}">
                <a16:creationId xmlns:a16="http://schemas.microsoft.com/office/drawing/2014/main" id="{65D15A5B-EDED-D49B-2B8B-0A445E6EE6FC}"/>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416425" y="6219825"/>
            <a:ext cx="542925" cy="542925"/>
          </a:xfrm>
          <a:prstGeom prst="rect">
            <a:avLst/>
          </a:prstGeom>
        </p:spPr>
      </p:pic>
      <p:sp>
        <p:nvSpPr>
          <p:cNvPr id="5" name="流程图: 终止 4">
            <a:extLst>
              <a:ext uri="{FF2B5EF4-FFF2-40B4-BE49-F238E27FC236}">
                <a16:creationId xmlns:a16="http://schemas.microsoft.com/office/drawing/2014/main" id="{921D6A49-47FA-0BC6-F42E-CC2F15F28757}"/>
              </a:ext>
            </a:extLst>
          </p:cNvPr>
          <p:cNvSpPr/>
          <p:nvPr/>
        </p:nvSpPr>
        <p:spPr>
          <a:xfrm>
            <a:off x="4747028" y="325863"/>
            <a:ext cx="1036632" cy="511999"/>
          </a:xfrm>
          <a:prstGeom prst="flowChartTerminator">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000" dirty="0">
                <a:latin typeface="仿宋" panose="02010609060101010101" pitchFamily="49" charset="-122"/>
                <a:ea typeface="仿宋" panose="02010609060101010101" pitchFamily="49" charset="-122"/>
              </a:rPr>
              <a:t>开始</a:t>
            </a:r>
          </a:p>
        </p:txBody>
      </p:sp>
      <p:sp>
        <p:nvSpPr>
          <p:cNvPr id="22" name="流程图: 终止 21">
            <a:extLst>
              <a:ext uri="{FF2B5EF4-FFF2-40B4-BE49-F238E27FC236}">
                <a16:creationId xmlns:a16="http://schemas.microsoft.com/office/drawing/2014/main" id="{1356A243-18B0-4148-CE03-A79A54990F48}"/>
              </a:ext>
            </a:extLst>
          </p:cNvPr>
          <p:cNvSpPr/>
          <p:nvPr/>
        </p:nvSpPr>
        <p:spPr>
          <a:xfrm>
            <a:off x="4747028" y="6046375"/>
            <a:ext cx="1036632" cy="511999"/>
          </a:xfrm>
          <a:prstGeom prst="flowChartTerminator">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000" dirty="0">
                <a:latin typeface="仿宋" panose="02010609060101010101" pitchFamily="49" charset="-122"/>
                <a:ea typeface="仿宋" panose="02010609060101010101" pitchFamily="49" charset="-122"/>
              </a:rPr>
              <a:t>结束</a:t>
            </a:r>
          </a:p>
        </p:txBody>
      </p:sp>
      <p:cxnSp>
        <p:nvCxnSpPr>
          <p:cNvPr id="23" name="直接箭头连接符 22">
            <a:extLst>
              <a:ext uri="{FF2B5EF4-FFF2-40B4-BE49-F238E27FC236}">
                <a16:creationId xmlns:a16="http://schemas.microsoft.com/office/drawing/2014/main" id="{C34A1032-D848-96FB-F3D7-961C09B990DB}"/>
              </a:ext>
            </a:extLst>
          </p:cNvPr>
          <p:cNvCxnSpPr>
            <a:cxnSpLocks/>
            <a:stCxn id="5" idx="2"/>
            <a:endCxn id="18" idx="1"/>
          </p:cNvCxnSpPr>
          <p:nvPr/>
        </p:nvCxnSpPr>
        <p:spPr>
          <a:xfrm>
            <a:off x="5265344" y="837862"/>
            <a:ext cx="2" cy="4167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直接箭头连接符 26">
            <a:extLst>
              <a:ext uri="{FF2B5EF4-FFF2-40B4-BE49-F238E27FC236}">
                <a16:creationId xmlns:a16="http://schemas.microsoft.com/office/drawing/2014/main" id="{6DC6C468-A714-6289-D5B8-F6432B79AF93}"/>
              </a:ext>
            </a:extLst>
          </p:cNvPr>
          <p:cNvCxnSpPr>
            <a:cxnSpLocks/>
            <a:stCxn id="17" idx="4"/>
            <a:endCxn id="22" idx="0"/>
          </p:cNvCxnSpPr>
          <p:nvPr/>
        </p:nvCxnSpPr>
        <p:spPr>
          <a:xfrm flipH="1">
            <a:off x="5265344" y="5748597"/>
            <a:ext cx="1" cy="29777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519209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par>
                                <p:cTn id="17" presetID="10"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par>
                                <p:cTn id="20" presetID="10" presetClass="entr" presetSubtype="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par>
                                <p:cTn id="23" presetID="10"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500"/>
                                        <p:tgtEl>
                                          <p:spTgt spid="1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500"/>
                                        <p:tgtEl>
                                          <p:spTgt spid="1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500"/>
                                        <p:tgtEl>
                                          <p:spTgt spid="18"/>
                                        </p:tgtEl>
                                      </p:cBhvr>
                                    </p:animEffect>
                                  </p:childTnLst>
                                </p:cTn>
                              </p:par>
                              <p:par>
                                <p:cTn id="38"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500"/>
                                        <p:tgtEl>
                                          <p:spTgt spid="1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fade">
                                      <p:cBhvr>
                                        <p:cTn id="43" dur="500"/>
                                        <p:tgtEl>
                                          <p:spTgt spid="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500"/>
                                        <p:tgtEl>
                                          <p:spTgt spid="22"/>
                                        </p:tgtEl>
                                      </p:cBhvr>
                                    </p:animEffect>
                                  </p:childTnLst>
                                </p:cTn>
                              </p:par>
                              <p:par>
                                <p:cTn id="47" presetID="10" presetClass="entr" presetSubtype="0" fill="hold" nodeType="withEffect">
                                  <p:stCondLst>
                                    <p:cond delay="0"/>
                                  </p:stCondLst>
                                  <p:childTnLst>
                                    <p:set>
                                      <p:cBhvr>
                                        <p:cTn id="48" dur="1" fill="hold">
                                          <p:stCondLst>
                                            <p:cond delay="0"/>
                                          </p:stCondLst>
                                        </p:cTn>
                                        <p:tgtEl>
                                          <p:spTgt spid="23"/>
                                        </p:tgtEl>
                                        <p:attrNameLst>
                                          <p:attrName>style.visibility</p:attrName>
                                        </p:attrNameLst>
                                      </p:cBhvr>
                                      <p:to>
                                        <p:strVal val="visible"/>
                                      </p:to>
                                    </p:set>
                                    <p:animEffect transition="in" filter="fade">
                                      <p:cBhvr>
                                        <p:cTn id="49" dur="500"/>
                                        <p:tgtEl>
                                          <p:spTgt spid="23"/>
                                        </p:tgtEl>
                                      </p:cBhvr>
                                    </p:animEffect>
                                  </p:childTnLst>
                                </p:cTn>
                              </p:par>
                              <p:par>
                                <p:cTn id="50" presetID="10" presetClass="entr" presetSubtype="0" fill="hold" nodeType="withEffect">
                                  <p:stCondLst>
                                    <p:cond delay="0"/>
                                  </p:stCondLst>
                                  <p:childTnLst>
                                    <p:set>
                                      <p:cBhvr>
                                        <p:cTn id="51" dur="1" fill="hold">
                                          <p:stCondLst>
                                            <p:cond delay="0"/>
                                          </p:stCondLst>
                                        </p:cTn>
                                        <p:tgtEl>
                                          <p:spTgt spid="27"/>
                                        </p:tgtEl>
                                        <p:attrNameLst>
                                          <p:attrName>style.visibility</p:attrName>
                                        </p:attrNameLst>
                                      </p:cBhvr>
                                      <p:to>
                                        <p:strVal val="visible"/>
                                      </p:to>
                                    </p:set>
                                    <p:animEffect transition="in" filter="fade">
                                      <p:cBhvr>
                                        <p:cTn id="5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5" grpId="0"/>
      <p:bldP spid="16" grpId="0"/>
      <p:bldP spid="17" grpId="0" animBg="1"/>
      <p:bldP spid="18" grpId="0" animBg="1"/>
      <p:bldP spid="5" grpId="0" animBg="1"/>
      <p:bldP spid="22" grpId="0" animBg="1"/>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EAD3B296-A4C1-2D3C-70C0-4BF58F77E1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7165" y="1020776"/>
            <a:ext cx="4524375" cy="2352675"/>
          </a:xfrm>
          <a:prstGeom prst="rect">
            <a:avLst/>
          </a:prstGeom>
          <a:noFill/>
          <a:extLst>
            <a:ext uri="{909E8E84-426E-40DD-AFC4-6F175D3DCCD1}">
              <a14:hiddenFill xmlns:a14="http://schemas.microsoft.com/office/drawing/2010/main">
                <a:solidFill>
                  <a:srgbClr val="FFFFFF"/>
                </a:solidFill>
              </a14:hiddenFill>
            </a:ext>
          </a:extLst>
        </p:spPr>
      </p:pic>
      <p:cxnSp>
        <p:nvCxnSpPr>
          <p:cNvPr id="2" name="直接连接符 1">
            <a:extLst>
              <a:ext uri="{FF2B5EF4-FFF2-40B4-BE49-F238E27FC236}">
                <a16:creationId xmlns:a16="http://schemas.microsoft.com/office/drawing/2014/main" id="{49F3DFEE-D615-10A4-3DFB-F10E842FD6FF}"/>
              </a:ext>
            </a:extLst>
          </p:cNvPr>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 name="直接连接符 2">
            <a:extLst>
              <a:ext uri="{FF2B5EF4-FFF2-40B4-BE49-F238E27FC236}">
                <a16:creationId xmlns:a16="http://schemas.microsoft.com/office/drawing/2014/main" id="{E448084C-00C1-2D46-B2E9-907AC7E07A63}"/>
              </a:ext>
            </a:extLst>
          </p:cNvPr>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4" name="图形 3">
            <a:extLst>
              <a:ext uri="{FF2B5EF4-FFF2-40B4-BE49-F238E27FC236}">
                <a16:creationId xmlns:a16="http://schemas.microsoft.com/office/drawing/2014/main" id="{C93BB0EF-03E3-F5C3-728A-B6DC40F04B4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49154" y="6219714"/>
            <a:ext cx="2457450" cy="542925"/>
          </a:xfrm>
          <a:prstGeom prst="rect">
            <a:avLst/>
          </a:prstGeom>
        </p:spPr>
      </p:pic>
      <p:sp>
        <p:nvSpPr>
          <p:cNvPr id="6" name="文本框 5">
            <a:extLst>
              <a:ext uri="{FF2B5EF4-FFF2-40B4-BE49-F238E27FC236}">
                <a16:creationId xmlns:a16="http://schemas.microsoft.com/office/drawing/2014/main" id="{47E122C5-6879-554E-162C-5ECC1522BC4D}"/>
              </a:ext>
            </a:extLst>
          </p:cNvPr>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7" name="文本框 6">
            <a:extLst>
              <a:ext uri="{FF2B5EF4-FFF2-40B4-BE49-F238E27FC236}">
                <a16:creationId xmlns:a16="http://schemas.microsoft.com/office/drawing/2014/main" id="{9DBB8A83-9170-83F2-8083-2A37554ECEA9}"/>
              </a:ext>
            </a:extLst>
          </p:cNvPr>
          <p:cNvSpPr txBox="1"/>
          <p:nvPr/>
        </p:nvSpPr>
        <p:spPr>
          <a:xfrm>
            <a:off x="96158" y="128888"/>
            <a:ext cx="9149442" cy="769441"/>
          </a:xfrm>
          <a:prstGeom prst="rect">
            <a:avLst/>
          </a:prstGeom>
          <a:noFill/>
        </p:spPr>
        <p:txBody>
          <a:bodyPr wrap="square" rtlCol="0">
            <a:spAutoFit/>
          </a:bodyPr>
          <a:lstStyle/>
          <a:p>
            <a:r>
              <a:rPr lang="zh-CN" altLang="en-US" sz="4400" dirty="0">
                <a:latin typeface="仿宋" panose="02010609060101010101" pitchFamily="49" charset="-122"/>
                <a:ea typeface="仿宋" panose="02010609060101010101" pitchFamily="49" charset="-122"/>
              </a:rPr>
              <a:t>对</a:t>
            </a:r>
            <a:r>
              <a:rPr lang="en-US" altLang="zh-CN" sz="4400" dirty="0">
                <a:latin typeface="仿宋" panose="02010609060101010101" pitchFamily="49" charset="-122"/>
                <a:ea typeface="仿宋" panose="02010609060101010101" pitchFamily="49" charset="-122"/>
              </a:rPr>
              <a:t>A[1]~A[n]</a:t>
            </a:r>
            <a:r>
              <a:rPr lang="zh-CN" altLang="en-US" sz="4400" dirty="0">
                <a:latin typeface="仿宋" panose="02010609060101010101" pitchFamily="49" charset="-122"/>
                <a:ea typeface="仿宋" panose="02010609060101010101" pitchFamily="49" charset="-122"/>
              </a:rPr>
              <a:t>进行冒泡排序</a:t>
            </a:r>
            <a:r>
              <a:rPr lang="en-US" altLang="zh-CN" sz="4400" dirty="0">
                <a:latin typeface="仿宋" panose="02010609060101010101" pitchFamily="49" charset="-122"/>
                <a:ea typeface="仿宋" panose="02010609060101010101" pitchFamily="49" charset="-122"/>
              </a:rPr>
              <a:t>(</a:t>
            </a:r>
            <a:r>
              <a:rPr lang="zh-CN" altLang="en-US" sz="4400" dirty="0">
                <a:latin typeface="仿宋" panose="02010609060101010101" pitchFamily="49" charset="-122"/>
                <a:ea typeface="仿宋" panose="02010609060101010101" pitchFamily="49" charset="-122"/>
              </a:rPr>
              <a:t>升序</a:t>
            </a:r>
            <a:r>
              <a:rPr lang="en-US" altLang="zh-CN" sz="4400" dirty="0">
                <a:latin typeface="仿宋" panose="02010609060101010101" pitchFamily="49" charset="-122"/>
                <a:ea typeface="仿宋" panose="02010609060101010101" pitchFamily="49" charset="-122"/>
              </a:rPr>
              <a:t>)</a:t>
            </a:r>
          </a:p>
        </p:txBody>
      </p:sp>
      <p:pic>
        <p:nvPicPr>
          <p:cNvPr id="8" name="图片 7">
            <a:extLst>
              <a:ext uri="{FF2B5EF4-FFF2-40B4-BE49-F238E27FC236}">
                <a16:creationId xmlns:a16="http://schemas.microsoft.com/office/drawing/2014/main" id="{08A4E3C0-B754-C3CA-D986-BE69F653C733}"/>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415378" y="1369340"/>
            <a:ext cx="5722769" cy="4119319"/>
          </a:xfrm>
          <a:prstGeom prst="rect">
            <a:avLst/>
          </a:prstGeom>
        </p:spPr>
      </p:pic>
      <p:sp>
        <p:nvSpPr>
          <p:cNvPr id="9" name="流程图: 决策 8">
            <a:extLst>
              <a:ext uri="{FF2B5EF4-FFF2-40B4-BE49-F238E27FC236}">
                <a16:creationId xmlns:a16="http://schemas.microsoft.com/office/drawing/2014/main" id="{EAA1EC32-FF52-C5E2-CA3C-A26ED0311242}"/>
              </a:ext>
            </a:extLst>
          </p:cNvPr>
          <p:cNvSpPr/>
          <p:nvPr/>
        </p:nvSpPr>
        <p:spPr>
          <a:xfrm>
            <a:off x="8472716" y="298976"/>
            <a:ext cx="1545768" cy="769441"/>
          </a:xfrm>
          <a:prstGeom prst="flowChartDecision">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err="1">
                <a:latin typeface="Consolas" panose="020B0609020204030204" pitchFamily="49" charset="0"/>
              </a:rPr>
              <a:t>i</a:t>
            </a:r>
            <a:r>
              <a:rPr lang="en-US" altLang="zh-CN" dirty="0">
                <a:latin typeface="Consolas" panose="020B0609020204030204" pitchFamily="49" charset="0"/>
              </a:rPr>
              <a:t>&lt;=n?</a:t>
            </a:r>
            <a:endParaRPr lang="zh-CN" altLang="en-US" dirty="0">
              <a:latin typeface="Consolas" panose="020B0609020204030204" pitchFamily="49" charset="0"/>
            </a:endParaRPr>
          </a:p>
        </p:txBody>
      </p:sp>
      <p:cxnSp>
        <p:nvCxnSpPr>
          <p:cNvPr id="10" name="直接箭头连接符 9">
            <a:extLst>
              <a:ext uri="{FF2B5EF4-FFF2-40B4-BE49-F238E27FC236}">
                <a16:creationId xmlns:a16="http://schemas.microsoft.com/office/drawing/2014/main" id="{8CE76AD7-A997-A7F6-2177-465AB79A2A89}"/>
              </a:ext>
            </a:extLst>
          </p:cNvPr>
          <p:cNvCxnSpPr>
            <a:cxnSpLocks/>
            <a:stCxn id="9" idx="2"/>
            <a:endCxn id="29" idx="0"/>
          </p:cNvCxnSpPr>
          <p:nvPr/>
        </p:nvCxnSpPr>
        <p:spPr>
          <a:xfrm flipH="1">
            <a:off x="9241523" y="1068417"/>
            <a:ext cx="4077" cy="20995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连接符: 肘形 10">
            <a:extLst>
              <a:ext uri="{FF2B5EF4-FFF2-40B4-BE49-F238E27FC236}">
                <a16:creationId xmlns:a16="http://schemas.microsoft.com/office/drawing/2014/main" id="{E5A31B3D-75FC-A860-5200-B56741085104}"/>
              </a:ext>
            </a:extLst>
          </p:cNvPr>
          <p:cNvCxnSpPr>
            <a:cxnSpLocks/>
            <a:endCxn id="32" idx="1"/>
          </p:cNvCxnSpPr>
          <p:nvPr/>
        </p:nvCxnSpPr>
        <p:spPr>
          <a:xfrm rot="16200000" flipH="1">
            <a:off x="4703782" y="2502917"/>
            <a:ext cx="6437377" cy="1689320"/>
          </a:xfrm>
          <a:prstGeom prst="bentConnector2">
            <a:avLst/>
          </a:prstGeom>
        </p:spPr>
        <p:style>
          <a:lnRef idx="1">
            <a:schemeClr val="dk1"/>
          </a:lnRef>
          <a:fillRef idx="0">
            <a:schemeClr val="dk1"/>
          </a:fillRef>
          <a:effectRef idx="0">
            <a:schemeClr val="dk1"/>
          </a:effectRef>
          <a:fontRef idx="minor">
            <a:schemeClr val="tx1"/>
          </a:fontRef>
        </p:style>
      </p:cxnSp>
      <p:cxnSp>
        <p:nvCxnSpPr>
          <p:cNvPr id="12" name="直接箭头连接符 11">
            <a:extLst>
              <a:ext uri="{FF2B5EF4-FFF2-40B4-BE49-F238E27FC236}">
                <a16:creationId xmlns:a16="http://schemas.microsoft.com/office/drawing/2014/main" id="{481D91E0-9020-2B51-F79C-6FC7E7D727EF}"/>
              </a:ext>
            </a:extLst>
          </p:cNvPr>
          <p:cNvCxnSpPr>
            <a:cxnSpLocks/>
          </p:cNvCxnSpPr>
          <p:nvPr/>
        </p:nvCxnSpPr>
        <p:spPr>
          <a:xfrm>
            <a:off x="7077810" y="128889"/>
            <a:ext cx="216779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直接箭头连接符 12">
            <a:extLst>
              <a:ext uri="{FF2B5EF4-FFF2-40B4-BE49-F238E27FC236}">
                <a16:creationId xmlns:a16="http://schemas.microsoft.com/office/drawing/2014/main" id="{E14BD27B-E7D7-7238-9861-963930287B83}"/>
              </a:ext>
            </a:extLst>
          </p:cNvPr>
          <p:cNvCxnSpPr>
            <a:cxnSpLocks/>
            <a:endCxn id="9" idx="0"/>
          </p:cNvCxnSpPr>
          <p:nvPr/>
        </p:nvCxnSpPr>
        <p:spPr>
          <a:xfrm>
            <a:off x="9245600" y="0"/>
            <a:ext cx="0" cy="29897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 name="文本框 13">
            <a:extLst>
              <a:ext uri="{FF2B5EF4-FFF2-40B4-BE49-F238E27FC236}">
                <a16:creationId xmlns:a16="http://schemas.microsoft.com/office/drawing/2014/main" id="{C9FC7B02-25A9-11DB-157D-9F1F22C431B4}"/>
              </a:ext>
            </a:extLst>
          </p:cNvPr>
          <p:cNvSpPr txBox="1"/>
          <p:nvPr/>
        </p:nvSpPr>
        <p:spPr>
          <a:xfrm>
            <a:off x="10063768" y="320889"/>
            <a:ext cx="311304" cy="369332"/>
          </a:xfrm>
          <a:prstGeom prst="rect">
            <a:avLst/>
          </a:prstGeom>
          <a:noFill/>
        </p:spPr>
        <p:txBody>
          <a:bodyPr wrap="square" rtlCol="0">
            <a:spAutoFit/>
          </a:bodyPr>
          <a:lstStyle/>
          <a:p>
            <a:r>
              <a:rPr lang="en-US" altLang="zh-CN" dirty="0">
                <a:latin typeface="Consolas" panose="020B0609020204030204" pitchFamily="49" charset="0"/>
              </a:rPr>
              <a:t>N</a:t>
            </a:r>
            <a:endParaRPr lang="zh-CN" altLang="en-US" dirty="0">
              <a:latin typeface="Consolas" panose="020B0609020204030204" pitchFamily="49" charset="0"/>
            </a:endParaRPr>
          </a:p>
        </p:txBody>
      </p:sp>
      <p:sp>
        <p:nvSpPr>
          <p:cNvPr id="15" name="文本框 14">
            <a:extLst>
              <a:ext uri="{FF2B5EF4-FFF2-40B4-BE49-F238E27FC236}">
                <a16:creationId xmlns:a16="http://schemas.microsoft.com/office/drawing/2014/main" id="{DF744E67-B621-A6F8-E1E7-FFE7D82C4455}"/>
              </a:ext>
            </a:extLst>
          </p:cNvPr>
          <p:cNvSpPr txBox="1"/>
          <p:nvPr/>
        </p:nvSpPr>
        <p:spPr>
          <a:xfrm>
            <a:off x="9509863" y="899269"/>
            <a:ext cx="311304" cy="369332"/>
          </a:xfrm>
          <a:prstGeom prst="rect">
            <a:avLst/>
          </a:prstGeom>
          <a:noFill/>
        </p:spPr>
        <p:txBody>
          <a:bodyPr wrap="square" rtlCol="0">
            <a:spAutoFit/>
          </a:bodyPr>
          <a:lstStyle/>
          <a:p>
            <a:r>
              <a:rPr lang="en-US" altLang="zh-CN" dirty="0">
                <a:latin typeface="Consolas" panose="020B0609020204030204" pitchFamily="49" charset="0"/>
              </a:rPr>
              <a:t>Y</a:t>
            </a:r>
            <a:endParaRPr lang="zh-CN" altLang="en-US" dirty="0">
              <a:latin typeface="Consolas" panose="020B0609020204030204" pitchFamily="49" charset="0"/>
            </a:endParaRPr>
          </a:p>
        </p:txBody>
      </p:sp>
      <p:sp>
        <p:nvSpPr>
          <p:cNvPr id="16" name="流程图: 决策 15">
            <a:extLst>
              <a:ext uri="{FF2B5EF4-FFF2-40B4-BE49-F238E27FC236}">
                <a16:creationId xmlns:a16="http://schemas.microsoft.com/office/drawing/2014/main" id="{E80E2DEF-329C-9D38-8953-2B0C833E2C91}"/>
              </a:ext>
            </a:extLst>
          </p:cNvPr>
          <p:cNvSpPr/>
          <p:nvPr/>
        </p:nvSpPr>
        <p:spPr>
          <a:xfrm>
            <a:off x="8346174" y="2021621"/>
            <a:ext cx="1790698" cy="769441"/>
          </a:xfrm>
          <a:prstGeom prst="flowChartDecision">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600" dirty="0">
                <a:latin typeface="Consolas" panose="020B0609020204030204" pitchFamily="49" charset="0"/>
              </a:rPr>
              <a:t>j&lt;=n-</a:t>
            </a:r>
            <a:r>
              <a:rPr lang="en-US" altLang="zh-CN" sz="1600" dirty="0" err="1">
                <a:latin typeface="Consolas" panose="020B0609020204030204" pitchFamily="49" charset="0"/>
              </a:rPr>
              <a:t>i</a:t>
            </a:r>
            <a:r>
              <a:rPr lang="en-US" altLang="zh-CN" sz="1600" dirty="0">
                <a:latin typeface="Consolas" panose="020B0609020204030204" pitchFamily="49" charset="0"/>
              </a:rPr>
              <a:t>?</a:t>
            </a:r>
            <a:endParaRPr lang="zh-CN" altLang="en-US" sz="1600" dirty="0">
              <a:latin typeface="Consolas" panose="020B0609020204030204" pitchFamily="49" charset="0"/>
            </a:endParaRPr>
          </a:p>
        </p:txBody>
      </p:sp>
      <p:cxnSp>
        <p:nvCxnSpPr>
          <p:cNvPr id="17" name="直接箭头连接符 16">
            <a:extLst>
              <a:ext uri="{FF2B5EF4-FFF2-40B4-BE49-F238E27FC236}">
                <a16:creationId xmlns:a16="http://schemas.microsoft.com/office/drawing/2014/main" id="{CD881438-C8AF-ECA3-3D32-BACDAC8C3BA2}"/>
              </a:ext>
            </a:extLst>
          </p:cNvPr>
          <p:cNvCxnSpPr>
            <a:cxnSpLocks/>
            <a:stCxn id="16" idx="2"/>
            <a:endCxn id="24" idx="0"/>
          </p:cNvCxnSpPr>
          <p:nvPr/>
        </p:nvCxnSpPr>
        <p:spPr>
          <a:xfrm>
            <a:off x="9241523" y="2791062"/>
            <a:ext cx="11383" cy="32568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直接箭头连接符 17">
            <a:extLst>
              <a:ext uri="{FF2B5EF4-FFF2-40B4-BE49-F238E27FC236}">
                <a16:creationId xmlns:a16="http://schemas.microsoft.com/office/drawing/2014/main" id="{79F0AFA1-8B38-B819-E050-915393226D2F}"/>
              </a:ext>
            </a:extLst>
          </p:cNvPr>
          <p:cNvCxnSpPr>
            <a:cxnSpLocks/>
          </p:cNvCxnSpPr>
          <p:nvPr/>
        </p:nvCxnSpPr>
        <p:spPr>
          <a:xfrm>
            <a:off x="7693713" y="1862057"/>
            <a:ext cx="157261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连接符: 肘形 18">
            <a:extLst>
              <a:ext uri="{FF2B5EF4-FFF2-40B4-BE49-F238E27FC236}">
                <a16:creationId xmlns:a16="http://schemas.microsoft.com/office/drawing/2014/main" id="{DE864A7A-A079-BA57-D418-086EC8F0114E}"/>
              </a:ext>
            </a:extLst>
          </p:cNvPr>
          <p:cNvCxnSpPr>
            <a:cxnSpLocks/>
            <a:stCxn id="16" idx="3"/>
          </p:cNvCxnSpPr>
          <p:nvPr/>
        </p:nvCxnSpPr>
        <p:spPr>
          <a:xfrm>
            <a:off x="10136872" y="2406342"/>
            <a:ext cx="1143490" cy="3658163"/>
          </a:xfrm>
          <a:prstGeom prst="bentConnector2">
            <a:avLst/>
          </a:prstGeom>
        </p:spPr>
        <p:style>
          <a:lnRef idx="1">
            <a:schemeClr val="dk1"/>
          </a:lnRef>
          <a:fillRef idx="0">
            <a:schemeClr val="dk1"/>
          </a:fillRef>
          <a:effectRef idx="0">
            <a:schemeClr val="dk1"/>
          </a:effectRef>
          <a:fontRef idx="minor">
            <a:schemeClr val="tx1"/>
          </a:fontRef>
        </p:style>
      </p:cxnSp>
      <p:cxnSp>
        <p:nvCxnSpPr>
          <p:cNvPr id="20" name="连接符: 肘形 19">
            <a:extLst>
              <a:ext uri="{FF2B5EF4-FFF2-40B4-BE49-F238E27FC236}">
                <a16:creationId xmlns:a16="http://schemas.microsoft.com/office/drawing/2014/main" id="{5C6EC6DE-CF7F-D684-5C0A-FA31EC8857D5}"/>
              </a:ext>
            </a:extLst>
          </p:cNvPr>
          <p:cNvCxnSpPr>
            <a:cxnSpLocks/>
            <a:endCxn id="27" idx="0"/>
          </p:cNvCxnSpPr>
          <p:nvPr/>
        </p:nvCxnSpPr>
        <p:spPr>
          <a:xfrm rot="10800000" flipV="1">
            <a:off x="9394417" y="5152570"/>
            <a:ext cx="1533275" cy="240123"/>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21" name="矩形 20">
            <a:extLst>
              <a:ext uri="{FF2B5EF4-FFF2-40B4-BE49-F238E27FC236}">
                <a16:creationId xmlns:a16="http://schemas.microsoft.com/office/drawing/2014/main" id="{BD6A0D9C-3E85-439A-6940-E285C92ACBD6}"/>
              </a:ext>
            </a:extLst>
          </p:cNvPr>
          <p:cNvSpPr/>
          <p:nvPr/>
        </p:nvSpPr>
        <p:spPr>
          <a:xfrm>
            <a:off x="8396115" y="4142222"/>
            <a:ext cx="1721759" cy="85053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Consolas" panose="020B0609020204030204" pitchFamily="49" charset="0"/>
              </a:rPr>
              <a:t>t</a:t>
            </a:r>
            <a:r>
              <a:rPr lang="zh-CN" altLang="en-US" dirty="0">
                <a:latin typeface="Consolas" panose="020B0609020204030204" pitchFamily="49" charset="0"/>
              </a:rPr>
              <a:t>←</a:t>
            </a:r>
            <a:r>
              <a:rPr lang="en-US" altLang="zh-CN" dirty="0">
                <a:latin typeface="Consolas" panose="020B0609020204030204" pitchFamily="49" charset="0"/>
              </a:rPr>
              <a:t>A[j+1]</a:t>
            </a:r>
          </a:p>
          <a:p>
            <a:pPr algn="ctr"/>
            <a:r>
              <a:rPr lang="en-US" altLang="zh-CN" dirty="0">
                <a:latin typeface="Consolas" panose="020B0609020204030204" pitchFamily="49" charset="0"/>
              </a:rPr>
              <a:t>A[j+1]</a:t>
            </a:r>
            <a:r>
              <a:rPr lang="zh-CN" altLang="en-US" dirty="0">
                <a:latin typeface="Consolas" panose="020B0609020204030204" pitchFamily="49" charset="0"/>
              </a:rPr>
              <a:t>←</a:t>
            </a:r>
            <a:r>
              <a:rPr lang="en-US" altLang="zh-CN" dirty="0">
                <a:latin typeface="Consolas" panose="020B0609020204030204" pitchFamily="49" charset="0"/>
              </a:rPr>
              <a:t>A[j]</a:t>
            </a:r>
          </a:p>
          <a:p>
            <a:pPr algn="ctr"/>
            <a:r>
              <a:rPr lang="en-US" altLang="zh-CN" dirty="0">
                <a:latin typeface="Consolas" panose="020B0609020204030204" pitchFamily="49" charset="0"/>
              </a:rPr>
              <a:t>A[j]</a:t>
            </a:r>
            <a:r>
              <a:rPr lang="zh-CN" altLang="en-US" dirty="0">
                <a:latin typeface="Consolas" panose="020B0609020204030204" pitchFamily="49" charset="0"/>
              </a:rPr>
              <a:t>←</a:t>
            </a:r>
            <a:r>
              <a:rPr lang="en-US" altLang="zh-CN" dirty="0">
                <a:latin typeface="Consolas" panose="020B0609020204030204" pitchFamily="49" charset="0"/>
              </a:rPr>
              <a:t>t</a:t>
            </a:r>
          </a:p>
        </p:txBody>
      </p:sp>
      <p:sp>
        <p:nvSpPr>
          <p:cNvPr id="22" name="文本框 21">
            <a:extLst>
              <a:ext uri="{FF2B5EF4-FFF2-40B4-BE49-F238E27FC236}">
                <a16:creationId xmlns:a16="http://schemas.microsoft.com/office/drawing/2014/main" id="{E5B584CC-720B-19B3-EA53-07372B1956A5}"/>
              </a:ext>
            </a:extLst>
          </p:cNvPr>
          <p:cNvSpPr txBox="1"/>
          <p:nvPr/>
        </p:nvSpPr>
        <p:spPr>
          <a:xfrm>
            <a:off x="10075163" y="2473408"/>
            <a:ext cx="311304" cy="369332"/>
          </a:xfrm>
          <a:prstGeom prst="rect">
            <a:avLst/>
          </a:prstGeom>
          <a:noFill/>
        </p:spPr>
        <p:txBody>
          <a:bodyPr wrap="square" rtlCol="0">
            <a:spAutoFit/>
          </a:bodyPr>
          <a:lstStyle/>
          <a:p>
            <a:r>
              <a:rPr lang="en-US" altLang="zh-CN" dirty="0">
                <a:latin typeface="Consolas" panose="020B0609020204030204" pitchFamily="49" charset="0"/>
              </a:rPr>
              <a:t>N</a:t>
            </a:r>
            <a:endParaRPr lang="zh-CN" altLang="en-US" dirty="0">
              <a:latin typeface="Consolas" panose="020B0609020204030204" pitchFamily="49" charset="0"/>
            </a:endParaRPr>
          </a:p>
        </p:txBody>
      </p:sp>
      <p:sp>
        <p:nvSpPr>
          <p:cNvPr id="23" name="文本框 22">
            <a:extLst>
              <a:ext uri="{FF2B5EF4-FFF2-40B4-BE49-F238E27FC236}">
                <a16:creationId xmlns:a16="http://schemas.microsoft.com/office/drawing/2014/main" id="{68DFDA15-3F31-55EE-520F-1D6A6CE0D1DA}"/>
              </a:ext>
            </a:extLst>
          </p:cNvPr>
          <p:cNvSpPr txBox="1"/>
          <p:nvPr/>
        </p:nvSpPr>
        <p:spPr>
          <a:xfrm>
            <a:off x="9516364" y="2669042"/>
            <a:ext cx="311304" cy="369332"/>
          </a:xfrm>
          <a:prstGeom prst="rect">
            <a:avLst/>
          </a:prstGeom>
          <a:noFill/>
        </p:spPr>
        <p:txBody>
          <a:bodyPr wrap="square" rtlCol="0">
            <a:spAutoFit/>
          </a:bodyPr>
          <a:lstStyle/>
          <a:p>
            <a:r>
              <a:rPr lang="en-US" altLang="zh-CN" dirty="0">
                <a:latin typeface="Consolas" panose="020B0609020204030204" pitchFamily="49" charset="0"/>
              </a:rPr>
              <a:t>Y</a:t>
            </a:r>
            <a:endParaRPr lang="zh-CN" altLang="en-US" dirty="0">
              <a:latin typeface="Consolas" panose="020B0609020204030204" pitchFamily="49" charset="0"/>
            </a:endParaRPr>
          </a:p>
        </p:txBody>
      </p:sp>
      <p:sp>
        <p:nvSpPr>
          <p:cNvPr id="24" name="流程图: 决策 23">
            <a:extLst>
              <a:ext uri="{FF2B5EF4-FFF2-40B4-BE49-F238E27FC236}">
                <a16:creationId xmlns:a16="http://schemas.microsoft.com/office/drawing/2014/main" id="{985C27B6-B564-A114-708E-8D6ADB8D27DD}"/>
              </a:ext>
            </a:extLst>
          </p:cNvPr>
          <p:cNvSpPr/>
          <p:nvPr/>
        </p:nvSpPr>
        <p:spPr>
          <a:xfrm>
            <a:off x="8235092" y="3116747"/>
            <a:ext cx="2035628" cy="769441"/>
          </a:xfrm>
          <a:prstGeom prst="flowChartDecision">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50" dirty="0">
                <a:latin typeface="Consolas" panose="020B0609020204030204" pitchFamily="49" charset="0"/>
              </a:rPr>
              <a:t>A[j]&gt;A[j+1]?</a:t>
            </a:r>
            <a:endParaRPr lang="zh-CN" altLang="en-US" sz="1050" dirty="0">
              <a:latin typeface="Consolas" panose="020B0609020204030204" pitchFamily="49" charset="0"/>
            </a:endParaRPr>
          </a:p>
        </p:txBody>
      </p:sp>
      <p:cxnSp>
        <p:nvCxnSpPr>
          <p:cNvPr id="25" name="直接箭头连接符 24">
            <a:extLst>
              <a:ext uri="{FF2B5EF4-FFF2-40B4-BE49-F238E27FC236}">
                <a16:creationId xmlns:a16="http://schemas.microsoft.com/office/drawing/2014/main" id="{BCF8D727-8FC6-9255-4C91-40F6713B385C}"/>
              </a:ext>
            </a:extLst>
          </p:cNvPr>
          <p:cNvCxnSpPr>
            <a:cxnSpLocks/>
            <a:stCxn id="24" idx="2"/>
            <a:endCxn id="21" idx="0"/>
          </p:cNvCxnSpPr>
          <p:nvPr/>
        </p:nvCxnSpPr>
        <p:spPr>
          <a:xfrm>
            <a:off x="9252906" y="3886188"/>
            <a:ext cx="4089" cy="2560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连接符: 肘形 25">
            <a:extLst>
              <a:ext uri="{FF2B5EF4-FFF2-40B4-BE49-F238E27FC236}">
                <a16:creationId xmlns:a16="http://schemas.microsoft.com/office/drawing/2014/main" id="{B916D194-3DED-DF62-E27D-F9803F67CFC0}"/>
              </a:ext>
            </a:extLst>
          </p:cNvPr>
          <p:cNvCxnSpPr>
            <a:cxnSpLocks/>
            <a:stCxn id="24" idx="3"/>
          </p:cNvCxnSpPr>
          <p:nvPr/>
        </p:nvCxnSpPr>
        <p:spPr>
          <a:xfrm>
            <a:off x="10270720" y="3501468"/>
            <a:ext cx="656972" cy="1651102"/>
          </a:xfrm>
          <a:prstGeom prst="bentConnector2">
            <a:avLst/>
          </a:prstGeom>
        </p:spPr>
        <p:style>
          <a:lnRef idx="1">
            <a:schemeClr val="dk1"/>
          </a:lnRef>
          <a:fillRef idx="0">
            <a:schemeClr val="dk1"/>
          </a:fillRef>
          <a:effectRef idx="0">
            <a:schemeClr val="dk1"/>
          </a:effectRef>
          <a:fontRef idx="minor">
            <a:schemeClr val="tx1"/>
          </a:fontRef>
        </p:style>
      </p:cxnSp>
      <p:sp>
        <p:nvSpPr>
          <p:cNvPr id="27" name="矩形 26">
            <a:extLst>
              <a:ext uri="{FF2B5EF4-FFF2-40B4-BE49-F238E27FC236}">
                <a16:creationId xmlns:a16="http://schemas.microsoft.com/office/drawing/2014/main" id="{DF372C56-E765-6D21-8935-3F9F8E2865FF}"/>
              </a:ext>
            </a:extLst>
          </p:cNvPr>
          <p:cNvSpPr/>
          <p:nvPr/>
        </p:nvSpPr>
        <p:spPr>
          <a:xfrm>
            <a:off x="8767130" y="5392694"/>
            <a:ext cx="1254572" cy="49805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Consolas" panose="020B0609020204030204" pitchFamily="49" charset="0"/>
              </a:rPr>
              <a:t>j</a:t>
            </a:r>
            <a:r>
              <a:rPr lang="zh-CN" altLang="en-US" dirty="0">
                <a:latin typeface="Consolas" panose="020B0609020204030204" pitchFamily="49" charset="0"/>
              </a:rPr>
              <a:t>←</a:t>
            </a:r>
            <a:r>
              <a:rPr lang="en-US" altLang="zh-CN" dirty="0">
                <a:latin typeface="Consolas" panose="020B0609020204030204" pitchFamily="49" charset="0"/>
              </a:rPr>
              <a:t>j+1</a:t>
            </a:r>
          </a:p>
        </p:txBody>
      </p:sp>
      <p:cxnSp>
        <p:nvCxnSpPr>
          <p:cNvPr id="28" name="连接符: 肘形 27">
            <a:extLst>
              <a:ext uri="{FF2B5EF4-FFF2-40B4-BE49-F238E27FC236}">
                <a16:creationId xmlns:a16="http://schemas.microsoft.com/office/drawing/2014/main" id="{BCCD040F-1EE7-AA43-9E1E-A5DFFDF4F03B}"/>
              </a:ext>
            </a:extLst>
          </p:cNvPr>
          <p:cNvCxnSpPr>
            <a:cxnSpLocks/>
            <a:endCxn id="27" idx="1"/>
          </p:cNvCxnSpPr>
          <p:nvPr/>
        </p:nvCxnSpPr>
        <p:spPr>
          <a:xfrm rot="16200000" flipH="1">
            <a:off x="6340592" y="3215181"/>
            <a:ext cx="3779660" cy="1073415"/>
          </a:xfrm>
          <a:prstGeom prst="bentConnector2">
            <a:avLst/>
          </a:prstGeom>
        </p:spPr>
        <p:style>
          <a:lnRef idx="1">
            <a:schemeClr val="dk1"/>
          </a:lnRef>
          <a:fillRef idx="0">
            <a:schemeClr val="dk1"/>
          </a:fillRef>
          <a:effectRef idx="0">
            <a:schemeClr val="dk1"/>
          </a:effectRef>
          <a:fontRef idx="minor">
            <a:schemeClr val="tx1"/>
          </a:fontRef>
        </p:style>
      </p:cxnSp>
      <p:sp>
        <p:nvSpPr>
          <p:cNvPr id="29" name="矩形 28">
            <a:extLst>
              <a:ext uri="{FF2B5EF4-FFF2-40B4-BE49-F238E27FC236}">
                <a16:creationId xmlns:a16="http://schemas.microsoft.com/office/drawing/2014/main" id="{1E6BA291-8EA6-2576-DDCF-F4210FB426A5}"/>
              </a:ext>
            </a:extLst>
          </p:cNvPr>
          <p:cNvSpPr/>
          <p:nvPr/>
        </p:nvSpPr>
        <p:spPr>
          <a:xfrm>
            <a:off x="8614237" y="1278372"/>
            <a:ext cx="1254572" cy="43062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Consolas" panose="020B0609020204030204" pitchFamily="49" charset="0"/>
              </a:rPr>
              <a:t>j</a:t>
            </a:r>
            <a:r>
              <a:rPr lang="zh-CN" altLang="en-US" dirty="0">
                <a:latin typeface="Consolas" panose="020B0609020204030204" pitchFamily="49" charset="0"/>
              </a:rPr>
              <a:t>←</a:t>
            </a:r>
            <a:r>
              <a:rPr lang="en-US" altLang="zh-CN" dirty="0">
                <a:latin typeface="Consolas" panose="020B0609020204030204" pitchFamily="49" charset="0"/>
              </a:rPr>
              <a:t>1</a:t>
            </a:r>
          </a:p>
        </p:txBody>
      </p:sp>
      <p:cxnSp>
        <p:nvCxnSpPr>
          <p:cNvPr id="30" name="直接箭头连接符 29">
            <a:extLst>
              <a:ext uri="{FF2B5EF4-FFF2-40B4-BE49-F238E27FC236}">
                <a16:creationId xmlns:a16="http://schemas.microsoft.com/office/drawing/2014/main" id="{6592912B-10C5-8F76-C842-2C69AF07626D}"/>
              </a:ext>
            </a:extLst>
          </p:cNvPr>
          <p:cNvCxnSpPr>
            <a:cxnSpLocks/>
            <a:stCxn id="29" idx="2"/>
            <a:endCxn id="16" idx="0"/>
          </p:cNvCxnSpPr>
          <p:nvPr/>
        </p:nvCxnSpPr>
        <p:spPr>
          <a:xfrm>
            <a:off x="9241523" y="1708996"/>
            <a:ext cx="0" cy="3126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 name="连接符: 肘形 30">
            <a:extLst>
              <a:ext uri="{FF2B5EF4-FFF2-40B4-BE49-F238E27FC236}">
                <a16:creationId xmlns:a16="http://schemas.microsoft.com/office/drawing/2014/main" id="{A4CC4C01-F917-7639-A5F9-B844F8C7640F}"/>
              </a:ext>
            </a:extLst>
          </p:cNvPr>
          <p:cNvCxnSpPr>
            <a:cxnSpLocks/>
            <a:endCxn id="32" idx="0"/>
          </p:cNvCxnSpPr>
          <p:nvPr/>
        </p:nvCxnSpPr>
        <p:spPr>
          <a:xfrm rot="10800000" flipV="1">
            <a:off x="9394416" y="6050307"/>
            <a:ext cx="1885946" cy="266933"/>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32" name="矩形 31">
            <a:extLst>
              <a:ext uri="{FF2B5EF4-FFF2-40B4-BE49-F238E27FC236}">
                <a16:creationId xmlns:a16="http://schemas.microsoft.com/office/drawing/2014/main" id="{4AC40690-6B0E-CD23-0610-ED2FFC9190B3}"/>
              </a:ext>
            </a:extLst>
          </p:cNvPr>
          <p:cNvSpPr/>
          <p:nvPr/>
        </p:nvSpPr>
        <p:spPr>
          <a:xfrm>
            <a:off x="8767130" y="6317241"/>
            <a:ext cx="1254572" cy="49805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err="1">
                <a:latin typeface="Consolas" panose="020B0609020204030204" pitchFamily="49" charset="0"/>
              </a:rPr>
              <a:t>i</a:t>
            </a:r>
            <a:r>
              <a:rPr lang="zh-CN" altLang="en-US" dirty="0">
                <a:latin typeface="Consolas" panose="020B0609020204030204" pitchFamily="49" charset="0"/>
              </a:rPr>
              <a:t>←</a:t>
            </a:r>
            <a:r>
              <a:rPr lang="en-US" altLang="zh-CN" dirty="0">
                <a:latin typeface="Consolas" panose="020B0609020204030204" pitchFamily="49" charset="0"/>
              </a:rPr>
              <a:t>i+1</a:t>
            </a:r>
          </a:p>
        </p:txBody>
      </p:sp>
      <p:cxnSp>
        <p:nvCxnSpPr>
          <p:cNvPr id="33" name="连接符: 肘形 32">
            <a:extLst>
              <a:ext uri="{FF2B5EF4-FFF2-40B4-BE49-F238E27FC236}">
                <a16:creationId xmlns:a16="http://schemas.microsoft.com/office/drawing/2014/main" id="{00B1000F-5F08-F907-6384-0B806184323E}"/>
              </a:ext>
            </a:extLst>
          </p:cNvPr>
          <p:cNvCxnSpPr>
            <a:cxnSpLocks/>
            <a:stCxn id="9" idx="3"/>
            <a:endCxn id="34" idx="0"/>
          </p:cNvCxnSpPr>
          <p:nvPr/>
        </p:nvCxnSpPr>
        <p:spPr>
          <a:xfrm>
            <a:off x="10018484" y="683697"/>
            <a:ext cx="1758138" cy="2543995"/>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34" name="椭圆 33">
            <a:extLst>
              <a:ext uri="{FF2B5EF4-FFF2-40B4-BE49-F238E27FC236}">
                <a16:creationId xmlns:a16="http://schemas.microsoft.com/office/drawing/2014/main" id="{6F007D04-BC23-4FE0-29A2-450075F2D387}"/>
              </a:ext>
            </a:extLst>
          </p:cNvPr>
          <p:cNvSpPr/>
          <p:nvPr/>
        </p:nvSpPr>
        <p:spPr>
          <a:xfrm>
            <a:off x="11584856" y="3227692"/>
            <a:ext cx="383531" cy="39953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35" name="文本框 34">
            <a:extLst>
              <a:ext uri="{FF2B5EF4-FFF2-40B4-BE49-F238E27FC236}">
                <a16:creationId xmlns:a16="http://schemas.microsoft.com/office/drawing/2014/main" id="{941CE691-261B-DF12-BBEE-6FFA8357B51B}"/>
              </a:ext>
            </a:extLst>
          </p:cNvPr>
          <p:cNvSpPr txBox="1"/>
          <p:nvPr/>
        </p:nvSpPr>
        <p:spPr>
          <a:xfrm>
            <a:off x="2887250" y="4617955"/>
            <a:ext cx="4311644" cy="1446550"/>
          </a:xfrm>
          <a:prstGeom prst="rect">
            <a:avLst/>
          </a:prstGeom>
          <a:noFill/>
        </p:spPr>
        <p:txBody>
          <a:bodyPr wrap="square" rtlCol="0">
            <a:spAutoFit/>
          </a:bodyPr>
          <a:lstStyle/>
          <a:p>
            <a:r>
              <a:rPr lang="zh-CN" altLang="en-US" sz="4400" dirty="0">
                <a:solidFill>
                  <a:srgbClr val="FF0000"/>
                </a:solidFill>
                <a:latin typeface="仿宋" panose="02010609060101010101" pitchFamily="49" charset="-122"/>
                <a:ea typeface="仿宋" panose="02010609060101010101" pitchFamily="49" charset="-122"/>
              </a:rPr>
              <a:t>开始和结束</a:t>
            </a:r>
            <a:r>
              <a:rPr lang="en-US" altLang="zh-CN" sz="4400" dirty="0">
                <a:solidFill>
                  <a:srgbClr val="FF0000"/>
                </a:solidFill>
                <a:latin typeface="仿宋" panose="02010609060101010101" pitchFamily="49" charset="-122"/>
                <a:ea typeface="仿宋" panose="02010609060101010101" pitchFamily="49" charset="-122"/>
              </a:rPr>
              <a:t>,</a:t>
            </a:r>
            <a:r>
              <a:rPr lang="zh-CN" altLang="en-US" sz="4400" dirty="0">
                <a:solidFill>
                  <a:srgbClr val="FF0000"/>
                </a:solidFill>
                <a:latin typeface="仿宋" panose="02010609060101010101" pitchFamily="49" charset="-122"/>
                <a:ea typeface="仿宋" panose="02010609060101010101" pitchFamily="49" charset="-122"/>
              </a:rPr>
              <a:t>略</a:t>
            </a:r>
            <a:endParaRPr lang="en-US" altLang="zh-CN" sz="4400" dirty="0">
              <a:solidFill>
                <a:srgbClr val="FF0000"/>
              </a:solidFill>
              <a:latin typeface="仿宋" panose="02010609060101010101" pitchFamily="49" charset="-122"/>
              <a:ea typeface="仿宋" panose="02010609060101010101" pitchFamily="49" charset="-122"/>
            </a:endParaRPr>
          </a:p>
          <a:p>
            <a:r>
              <a:rPr lang="zh-CN" altLang="en-US" sz="4400" dirty="0">
                <a:solidFill>
                  <a:srgbClr val="FF0000"/>
                </a:solidFill>
                <a:latin typeface="仿宋" panose="02010609060101010101" pitchFamily="49" charset="-122"/>
                <a:ea typeface="仿宋" panose="02010609060101010101" pitchFamily="49" charset="-122"/>
              </a:rPr>
              <a:t>但是这很重要</a:t>
            </a:r>
            <a:r>
              <a:rPr lang="en-US" altLang="zh-CN" sz="4400" dirty="0">
                <a:solidFill>
                  <a:srgbClr val="FF0000"/>
                </a:solidFill>
                <a:latin typeface="仿宋" panose="02010609060101010101" pitchFamily="49" charset="-122"/>
                <a:ea typeface="仿宋" panose="02010609060101010101" pitchFamily="49" charset="-122"/>
              </a:rPr>
              <a:t>!!!</a:t>
            </a:r>
          </a:p>
        </p:txBody>
      </p:sp>
      <p:pic>
        <p:nvPicPr>
          <p:cNvPr id="36" name="图片 4">
            <a:extLst>
              <a:ext uri="{FF2B5EF4-FFF2-40B4-BE49-F238E27FC236}">
                <a16:creationId xmlns:a16="http://schemas.microsoft.com/office/drawing/2014/main" id="{BDB8F044-1E6F-E120-21D7-1440690C202C}"/>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4416425" y="6219825"/>
            <a:ext cx="542925" cy="542925"/>
          </a:xfrm>
          <a:prstGeom prst="rect">
            <a:avLst/>
          </a:prstGeom>
        </p:spPr>
      </p:pic>
    </p:spTree>
    <p:extLst>
      <p:ext uri="{BB962C8B-B14F-4D97-AF65-F5344CB8AC3E}">
        <p14:creationId xmlns:p14="http://schemas.microsoft.com/office/powerpoint/2010/main" val="23704020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500"/>
                                        <p:tgtEl>
                                          <p:spTgt spid="10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par>
                                <p:cTn id="18" presetID="10" presetClass="entr" presetSubtype="0" fill="hold"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par>
                                <p:cTn id="21" presetID="10" presetClass="entr" presetSubtype="0"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par>
                                <p:cTn id="24" presetID="10" presetClass="entr" presetSubtype="0" fill="hold"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par>
                                <p:cTn id="27" presetID="10" presetClass="entr" presetSubtype="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500"/>
                                        <p:tgtEl>
                                          <p:spTgt spid="16"/>
                                        </p:tgtEl>
                                      </p:cBhvr>
                                    </p:animEffect>
                                  </p:childTnLst>
                                </p:cTn>
                              </p:par>
                              <p:par>
                                <p:cTn id="39" presetID="10" presetClass="entr" presetSubtype="0" fill="hold" nodeType="with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00"/>
                                        <p:tgtEl>
                                          <p:spTgt spid="17"/>
                                        </p:tgtEl>
                                      </p:cBhvr>
                                    </p:animEffect>
                                  </p:childTnLst>
                                </p:cTn>
                              </p:par>
                              <p:par>
                                <p:cTn id="42" presetID="10" presetClass="entr" presetSubtype="0" fill="hold"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500"/>
                                        <p:tgtEl>
                                          <p:spTgt spid="18"/>
                                        </p:tgtEl>
                                      </p:cBhvr>
                                    </p:animEffect>
                                  </p:childTnLst>
                                </p:cTn>
                              </p:par>
                              <p:par>
                                <p:cTn id="45" presetID="10" presetClass="entr" presetSubtype="0" fill="hold"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500"/>
                                        <p:tgtEl>
                                          <p:spTgt spid="19"/>
                                        </p:tgtEl>
                                      </p:cBhvr>
                                    </p:animEffect>
                                  </p:childTnLst>
                                </p:cTn>
                              </p:par>
                              <p:par>
                                <p:cTn id="48" presetID="10" presetClass="entr" presetSubtype="0" fill="hold"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500"/>
                                        <p:tgtEl>
                                          <p:spTgt spid="2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500"/>
                                        <p:tgtEl>
                                          <p:spTgt spid="2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500"/>
                                        <p:tgtEl>
                                          <p:spTgt spid="22"/>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500"/>
                                        <p:tgtEl>
                                          <p:spTgt spid="23"/>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4"/>
                                        </p:tgtEl>
                                        <p:attrNameLst>
                                          <p:attrName>style.visibility</p:attrName>
                                        </p:attrNameLst>
                                      </p:cBhvr>
                                      <p:to>
                                        <p:strVal val="visible"/>
                                      </p:to>
                                    </p:set>
                                    <p:animEffect transition="in" filter="fade">
                                      <p:cBhvr>
                                        <p:cTn id="62" dur="500"/>
                                        <p:tgtEl>
                                          <p:spTgt spid="24"/>
                                        </p:tgtEl>
                                      </p:cBhvr>
                                    </p:animEffect>
                                  </p:childTnLst>
                                </p:cTn>
                              </p:par>
                              <p:par>
                                <p:cTn id="63" presetID="10" presetClass="entr" presetSubtype="0" fill="hold" nodeType="withEffect">
                                  <p:stCondLst>
                                    <p:cond delay="0"/>
                                  </p:stCondLst>
                                  <p:childTnLst>
                                    <p:set>
                                      <p:cBhvr>
                                        <p:cTn id="64" dur="1" fill="hold">
                                          <p:stCondLst>
                                            <p:cond delay="0"/>
                                          </p:stCondLst>
                                        </p:cTn>
                                        <p:tgtEl>
                                          <p:spTgt spid="25"/>
                                        </p:tgtEl>
                                        <p:attrNameLst>
                                          <p:attrName>style.visibility</p:attrName>
                                        </p:attrNameLst>
                                      </p:cBhvr>
                                      <p:to>
                                        <p:strVal val="visible"/>
                                      </p:to>
                                    </p:set>
                                    <p:animEffect transition="in" filter="fade">
                                      <p:cBhvr>
                                        <p:cTn id="65" dur="500"/>
                                        <p:tgtEl>
                                          <p:spTgt spid="25"/>
                                        </p:tgtEl>
                                      </p:cBhvr>
                                    </p:animEffect>
                                  </p:childTnLst>
                                </p:cTn>
                              </p:par>
                              <p:par>
                                <p:cTn id="66" presetID="10" presetClass="entr" presetSubtype="0" fill="hold" nodeType="withEffect">
                                  <p:stCondLst>
                                    <p:cond delay="0"/>
                                  </p:stCondLst>
                                  <p:childTnLst>
                                    <p:set>
                                      <p:cBhvr>
                                        <p:cTn id="67" dur="1" fill="hold">
                                          <p:stCondLst>
                                            <p:cond delay="0"/>
                                          </p:stCondLst>
                                        </p:cTn>
                                        <p:tgtEl>
                                          <p:spTgt spid="26"/>
                                        </p:tgtEl>
                                        <p:attrNameLst>
                                          <p:attrName>style.visibility</p:attrName>
                                        </p:attrNameLst>
                                      </p:cBhvr>
                                      <p:to>
                                        <p:strVal val="visible"/>
                                      </p:to>
                                    </p:set>
                                    <p:animEffect transition="in" filter="fade">
                                      <p:cBhvr>
                                        <p:cTn id="68" dur="500"/>
                                        <p:tgtEl>
                                          <p:spTgt spid="26"/>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7"/>
                                        </p:tgtEl>
                                        <p:attrNameLst>
                                          <p:attrName>style.visibility</p:attrName>
                                        </p:attrNameLst>
                                      </p:cBhvr>
                                      <p:to>
                                        <p:strVal val="visible"/>
                                      </p:to>
                                    </p:set>
                                    <p:animEffect transition="in" filter="fade">
                                      <p:cBhvr>
                                        <p:cTn id="71" dur="500"/>
                                        <p:tgtEl>
                                          <p:spTgt spid="27"/>
                                        </p:tgtEl>
                                      </p:cBhvr>
                                    </p:animEffect>
                                  </p:childTnLst>
                                </p:cTn>
                              </p:par>
                              <p:par>
                                <p:cTn id="72" presetID="10" presetClass="entr" presetSubtype="0" fill="hold" nodeType="with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500"/>
                                        <p:tgtEl>
                                          <p:spTgt spid="28"/>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9"/>
                                        </p:tgtEl>
                                        <p:attrNameLst>
                                          <p:attrName>style.visibility</p:attrName>
                                        </p:attrNameLst>
                                      </p:cBhvr>
                                      <p:to>
                                        <p:strVal val="visible"/>
                                      </p:to>
                                    </p:set>
                                    <p:animEffect transition="in" filter="fade">
                                      <p:cBhvr>
                                        <p:cTn id="77" dur="500"/>
                                        <p:tgtEl>
                                          <p:spTgt spid="29"/>
                                        </p:tgtEl>
                                      </p:cBhvr>
                                    </p:animEffect>
                                  </p:childTnLst>
                                </p:cTn>
                              </p:par>
                              <p:par>
                                <p:cTn id="78" presetID="10" presetClass="entr" presetSubtype="0" fill="hold" nodeType="withEffect">
                                  <p:stCondLst>
                                    <p:cond delay="0"/>
                                  </p:stCondLst>
                                  <p:childTnLst>
                                    <p:set>
                                      <p:cBhvr>
                                        <p:cTn id="79" dur="1" fill="hold">
                                          <p:stCondLst>
                                            <p:cond delay="0"/>
                                          </p:stCondLst>
                                        </p:cTn>
                                        <p:tgtEl>
                                          <p:spTgt spid="30"/>
                                        </p:tgtEl>
                                        <p:attrNameLst>
                                          <p:attrName>style.visibility</p:attrName>
                                        </p:attrNameLst>
                                      </p:cBhvr>
                                      <p:to>
                                        <p:strVal val="visible"/>
                                      </p:to>
                                    </p:set>
                                    <p:animEffect transition="in" filter="fade">
                                      <p:cBhvr>
                                        <p:cTn id="80" dur="500"/>
                                        <p:tgtEl>
                                          <p:spTgt spid="30"/>
                                        </p:tgtEl>
                                      </p:cBhvr>
                                    </p:animEffect>
                                  </p:childTnLst>
                                </p:cTn>
                              </p:par>
                              <p:par>
                                <p:cTn id="81" presetID="10" presetClass="entr" presetSubtype="0" fill="hold" nodeType="withEffect">
                                  <p:stCondLst>
                                    <p:cond delay="0"/>
                                  </p:stCondLst>
                                  <p:childTnLst>
                                    <p:set>
                                      <p:cBhvr>
                                        <p:cTn id="82" dur="1" fill="hold">
                                          <p:stCondLst>
                                            <p:cond delay="0"/>
                                          </p:stCondLst>
                                        </p:cTn>
                                        <p:tgtEl>
                                          <p:spTgt spid="31"/>
                                        </p:tgtEl>
                                        <p:attrNameLst>
                                          <p:attrName>style.visibility</p:attrName>
                                        </p:attrNameLst>
                                      </p:cBhvr>
                                      <p:to>
                                        <p:strVal val="visible"/>
                                      </p:to>
                                    </p:set>
                                    <p:animEffect transition="in" filter="fade">
                                      <p:cBhvr>
                                        <p:cTn id="83" dur="500"/>
                                        <p:tgtEl>
                                          <p:spTgt spid="31"/>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2"/>
                                        </p:tgtEl>
                                        <p:attrNameLst>
                                          <p:attrName>style.visibility</p:attrName>
                                        </p:attrNameLst>
                                      </p:cBhvr>
                                      <p:to>
                                        <p:strVal val="visible"/>
                                      </p:to>
                                    </p:set>
                                    <p:animEffect transition="in" filter="fade">
                                      <p:cBhvr>
                                        <p:cTn id="86" dur="500"/>
                                        <p:tgtEl>
                                          <p:spTgt spid="32"/>
                                        </p:tgtEl>
                                      </p:cBhvr>
                                    </p:animEffect>
                                  </p:childTnLst>
                                </p:cTn>
                              </p:par>
                              <p:par>
                                <p:cTn id="87" presetID="10" presetClass="entr" presetSubtype="0" fill="hold" nodeType="withEffect">
                                  <p:stCondLst>
                                    <p:cond delay="0"/>
                                  </p:stCondLst>
                                  <p:childTnLst>
                                    <p:set>
                                      <p:cBhvr>
                                        <p:cTn id="88" dur="1" fill="hold">
                                          <p:stCondLst>
                                            <p:cond delay="0"/>
                                          </p:stCondLst>
                                        </p:cTn>
                                        <p:tgtEl>
                                          <p:spTgt spid="33"/>
                                        </p:tgtEl>
                                        <p:attrNameLst>
                                          <p:attrName>style.visibility</p:attrName>
                                        </p:attrNameLst>
                                      </p:cBhvr>
                                      <p:to>
                                        <p:strVal val="visible"/>
                                      </p:to>
                                    </p:set>
                                    <p:animEffect transition="in" filter="fade">
                                      <p:cBhvr>
                                        <p:cTn id="89" dur="500"/>
                                        <p:tgtEl>
                                          <p:spTgt spid="33"/>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4"/>
                                        </p:tgtEl>
                                        <p:attrNameLst>
                                          <p:attrName>style.visibility</p:attrName>
                                        </p:attrNameLst>
                                      </p:cBhvr>
                                      <p:to>
                                        <p:strVal val="visible"/>
                                      </p:to>
                                    </p:set>
                                    <p:animEffect transition="in" filter="fade">
                                      <p:cBhvr>
                                        <p:cTn id="92" dur="500"/>
                                        <p:tgtEl>
                                          <p:spTgt spid="34"/>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35"/>
                                        </p:tgtEl>
                                        <p:attrNameLst>
                                          <p:attrName>style.visibility</p:attrName>
                                        </p:attrNameLst>
                                      </p:cBhvr>
                                      <p:to>
                                        <p:strVal val="visible"/>
                                      </p:to>
                                    </p:set>
                                    <p:animEffect transition="in" filter="fade">
                                      <p:cBhvr>
                                        <p:cTn id="9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4" grpId="0"/>
      <p:bldP spid="15" grpId="0"/>
      <p:bldP spid="16" grpId="0" animBg="1"/>
      <p:bldP spid="21" grpId="0" animBg="1"/>
      <p:bldP spid="22" grpId="0"/>
      <p:bldP spid="23" grpId="0"/>
      <p:bldP spid="24" grpId="0" animBg="1"/>
      <p:bldP spid="27" grpId="0" animBg="1"/>
      <p:bldP spid="29" grpId="0" animBg="1"/>
      <p:bldP spid="32" grpId="0" animBg="1"/>
      <p:bldP spid="34" grpId="0" animBg="1"/>
      <p:bldP spid="35" grpId="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49F3DFEE-D615-10A4-3DFB-F10E842FD6FF}"/>
              </a:ext>
            </a:extLst>
          </p:cNvPr>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 name="直接连接符 2">
            <a:extLst>
              <a:ext uri="{FF2B5EF4-FFF2-40B4-BE49-F238E27FC236}">
                <a16:creationId xmlns:a16="http://schemas.microsoft.com/office/drawing/2014/main" id="{E448084C-00C1-2D46-B2E9-907AC7E07A63}"/>
              </a:ext>
            </a:extLst>
          </p:cNvPr>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4" name="图形 3">
            <a:extLst>
              <a:ext uri="{FF2B5EF4-FFF2-40B4-BE49-F238E27FC236}">
                <a16:creationId xmlns:a16="http://schemas.microsoft.com/office/drawing/2014/main" id="{C93BB0EF-03E3-F5C3-728A-B6DC40F04B4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6" name="文本框 5">
            <a:extLst>
              <a:ext uri="{FF2B5EF4-FFF2-40B4-BE49-F238E27FC236}">
                <a16:creationId xmlns:a16="http://schemas.microsoft.com/office/drawing/2014/main" id="{47E122C5-6879-554E-162C-5ECC1522BC4D}"/>
              </a:ext>
            </a:extLst>
          </p:cNvPr>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7" name="文本框 6">
            <a:extLst>
              <a:ext uri="{FF2B5EF4-FFF2-40B4-BE49-F238E27FC236}">
                <a16:creationId xmlns:a16="http://schemas.microsoft.com/office/drawing/2014/main" id="{9DBB8A83-9170-83F2-8083-2A37554ECEA9}"/>
              </a:ext>
            </a:extLst>
          </p:cNvPr>
          <p:cNvSpPr txBox="1"/>
          <p:nvPr/>
        </p:nvSpPr>
        <p:spPr>
          <a:xfrm>
            <a:off x="96158" y="128888"/>
            <a:ext cx="9149442" cy="769441"/>
          </a:xfrm>
          <a:prstGeom prst="rect">
            <a:avLst/>
          </a:prstGeom>
          <a:noFill/>
        </p:spPr>
        <p:txBody>
          <a:bodyPr wrap="square" rtlCol="0">
            <a:spAutoFit/>
          </a:bodyPr>
          <a:lstStyle/>
          <a:p>
            <a:r>
              <a:rPr lang="zh-CN" altLang="en-US" sz="4400" dirty="0">
                <a:latin typeface="仿宋" panose="02010609060101010101" pitchFamily="49" charset="-122"/>
                <a:ea typeface="仿宋" panose="02010609060101010101" pitchFamily="49" charset="-122"/>
              </a:rPr>
              <a:t>对</a:t>
            </a:r>
            <a:r>
              <a:rPr lang="en-US" altLang="zh-CN" sz="4400" dirty="0">
                <a:latin typeface="仿宋" panose="02010609060101010101" pitchFamily="49" charset="-122"/>
                <a:ea typeface="仿宋" panose="02010609060101010101" pitchFamily="49" charset="-122"/>
              </a:rPr>
              <a:t>A[1]~A[n]</a:t>
            </a:r>
            <a:r>
              <a:rPr lang="zh-CN" altLang="en-US" sz="4400" dirty="0">
                <a:latin typeface="仿宋" panose="02010609060101010101" pitchFamily="49" charset="-122"/>
                <a:ea typeface="仿宋" panose="02010609060101010101" pitchFamily="49" charset="-122"/>
              </a:rPr>
              <a:t>进行冒泡排序</a:t>
            </a:r>
            <a:r>
              <a:rPr lang="en-US" altLang="zh-CN" sz="4400" dirty="0">
                <a:latin typeface="仿宋" panose="02010609060101010101" pitchFamily="49" charset="-122"/>
                <a:ea typeface="仿宋" panose="02010609060101010101" pitchFamily="49" charset="-122"/>
              </a:rPr>
              <a:t>(</a:t>
            </a:r>
            <a:r>
              <a:rPr lang="zh-CN" altLang="en-US" sz="4400" dirty="0">
                <a:latin typeface="仿宋" panose="02010609060101010101" pitchFamily="49" charset="-122"/>
                <a:ea typeface="仿宋" panose="02010609060101010101" pitchFamily="49" charset="-122"/>
              </a:rPr>
              <a:t>降序</a:t>
            </a:r>
            <a:r>
              <a:rPr lang="en-US" altLang="zh-CN" sz="4400" dirty="0">
                <a:latin typeface="仿宋" panose="02010609060101010101" pitchFamily="49" charset="-122"/>
                <a:ea typeface="仿宋" panose="02010609060101010101" pitchFamily="49" charset="-122"/>
              </a:rPr>
              <a:t>)</a:t>
            </a:r>
          </a:p>
        </p:txBody>
      </p:sp>
      <p:pic>
        <p:nvPicPr>
          <p:cNvPr id="8" name="图片 7">
            <a:extLst>
              <a:ext uri="{FF2B5EF4-FFF2-40B4-BE49-F238E27FC236}">
                <a16:creationId xmlns:a16="http://schemas.microsoft.com/office/drawing/2014/main" id="{08A4E3C0-B754-C3CA-D986-BE69F653C733}"/>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415378" y="1160382"/>
            <a:ext cx="5722769" cy="4537235"/>
          </a:xfrm>
          <a:prstGeom prst="rect">
            <a:avLst/>
          </a:prstGeom>
        </p:spPr>
      </p:pic>
      <p:sp>
        <p:nvSpPr>
          <p:cNvPr id="9" name="流程图: 决策 8">
            <a:extLst>
              <a:ext uri="{FF2B5EF4-FFF2-40B4-BE49-F238E27FC236}">
                <a16:creationId xmlns:a16="http://schemas.microsoft.com/office/drawing/2014/main" id="{EAA1EC32-FF52-C5E2-CA3C-A26ED0311242}"/>
              </a:ext>
            </a:extLst>
          </p:cNvPr>
          <p:cNvSpPr/>
          <p:nvPr/>
        </p:nvSpPr>
        <p:spPr>
          <a:xfrm>
            <a:off x="8472716" y="298976"/>
            <a:ext cx="1545768" cy="769441"/>
          </a:xfrm>
          <a:prstGeom prst="flowChartDecision">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err="1">
                <a:latin typeface="Consolas" panose="020B0609020204030204" pitchFamily="49" charset="0"/>
              </a:rPr>
              <a:t>i</a:t>
            </a:r>
            <a:r>
              <a:rPr lang="en-US" altLang="zh-CN" dirty="0">
                <a:latin typeface="Consolas" panose="020B0609020204030204" pitchFamily="49" charset="0"/>
              </a:rPr>
              <a:t>&lt;=n?</a:t>
            </a:r>
            <a:endParaRPr lang="zh-CN" altLang="en-US" dirty="0">
              <a:latin typeface="Consolas" panose="020B0609020204030204" pitchFamily="49" charset="0"/>
            </a:endParaRPr>
          </a:p>
        </p:txBody>
      </p:sp>
      <p:cxnSp>
        <p:nvCxnSpPr>
          <p:cNvPr id="10" name="直接箭头连接符 9">
            <a:extLst>
              <a:ext uri="{FF2B5EF4-FFF2-40B4-BE49-F238E27FC236}">
                <a16:creationId xmlns:a16="http://schemas.microsoft.com/office/drawing/2014/main" id="{8CE76AD7-A997-A7F6-2177-465AB79A2A89}"/>
              </a:ext>
            </a:extLst>
          </p:cNvPr>
          <p:cNvCxnSpPr>
            <a:cxnSpLocks/>
            <a:stCxn id="9" idx="2"/>
            <a:endCxn id="29" idx="0"/>
          </p:cNvCxnSpPr>
          <p:nvPr/>
        </p:nvCxnSpPr>
        <p:spPr>
          <a:xfrm flipH="1">
            <a:off x="9241523" y="1068417"/>
            <a:ext cx="4077" cy="20995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连接符: 肘形 10">
            <a:extLst>
              <a:ext uri="{FF2B5EF4-FFF2-40B4-BE49-F238E27FC236}">
                <a16:creationId xmlns:a16="http://schemas.microsoft.com/office/drawing/2014/main" id="{E5A31B3D-75FC-A860-5200-B56741085104}"/>
              </a:ext>
            </a:extLst>
          </p:cNvPr>
          <p:cNvCxnSpPr>
            <a:cxnSpLocks/>
            <a:endCxn id="32" idx="1"/>
          </p:cNvCxnSpPr>
          <p:nvPr/>
        </p:nvCxnSpPr>
        <p:spPr>
          <a:xfrm rot="16200000" flipH="1">
            <a:off x="4703782" y="2502917"/>
            <a:ext cx="6437377" cy="1689320"/>
          </a:xfrm>
          <a:prstGeom prst="bentConnector2">
            <a:avLst/>
          </a:prstGeom>
        </p:spPr>
        <p:style>
          <a:lnRef idx="1">
            <a:schemeClr val="dk1"/>
          </a:lnRef>
          <a:fillRef idx="0">
            <a:schemeClr val="dk1"/>
          </a:fillRef>
          <a:effectRef idx="0">
            <a:schemeClr val="dk1"/>
          </a:effectRef>
          <a:fontRef idx="minor">
            <a:schemeClr val="tx1"/>
          </a:fontRef>
        </p:style>
      </p:cxnSp>
      <p:cxnSp>
        <p:nvCxnSpPr>
          <p:cNvPr id="12" name="直接箭头连接符 11">
            <a:extLst>
              <a:ext uri="{FF2B5EF4-FFF2-40B4-BE49-F238E27FC236}">
                <a16:creationId xmlns:a16="http://schemas.microsoft.com/office/drawing/2014/main" id="{481D91E0-9020-2B51-F79C-6FC7E7D727EF}"/>
              </a:ext>
            </a:extLst>
          </p:cNvPr>
          <p:cNvCxnSpPr>
            <a:cxnSpLocks/>
          </p:cNvCxnSpPr>
          <p:nvPr/>
        </p:nvCxnSpPr>
        <p:spPr>
          <a:xfrm>
            <a:off x="7077810" y="128889"/>
            <a:ext cx="216779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直接箭头连接符 12">
            <a:extLst>
              <a:ext uri="{FF2B5EF4-FFF2-40B4-BE49-F238E27FC236}">
                <a16:creationId xmlns:a16="http://schemas.microsoft.com/office/drawing/2014/main" id="{E14BD27B-E7D7-7238-9861-963930287B83}"/>
              </a:ext>
            </a:extLst>
          </p:cNvPr>
          <p:cNvCxnSpPr>
            <a:cxnSpLocks/>
            <a:endCxn id="9" idx="0"/>
          </p:cNvCxnSpPr>
          <p:nvPr/>
        </p:nvCxnSpPr>
        <p:spPr>
          <a:xfrm>
            <a:off x="9245600" y="0"/>
            <a:ext cx="0" cy="29897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 name="文本框 13">
            <a:extLst>
              <a:ext uri="{FF2B5EF4-FFF2-40B4-BE49-F238E27FC236}">
                <a16:creationId xmlns:a16="http://schemas.microsoft.com/office/drawing/2014/main" id="{C9FC7B02-25A9-11DB-157D-9F1F22C431B4}"/>
              </a:ext>
            </a:extLst>
          </p:cNvPr>
          <p:cNvSpPr txBox="1"/>
          <p:nvPr/>
        </p:nvSpPr>
        <p:spPr>
          <a:xfrm>
            <a:off x="10063768" y="320889"/>
            <a:ext cx="311304" cy="369332"/>
          </a:xfrm>
          <a:prstGeom prst="rect">
            <a:avLst/>
          </a:prstGeom>
          <a:noFill/>
        </p:spPr>
        <p:txBody>
          <a:bodyPr wrap="square" rtlCol="0">
            <a:spAutoFit/>
          </a:bodyPr>
          <a:lstStyle/>
          <a:p>
            <a:r>
              <a:rPr lang="en-US" altLang="zh-CN" dirty="0">
                <a:latin typeface="Consolas" panose="020B0609020204030204" pitchFamily="49" charset="0"/>
              </a:rPr>
              <a:t>N</a:t>
            </a:r>
            <a:endParaRPr lang="zh-CN" altLang="en-US" dirty="0">
              <a:latin typeface="Consolas" panose="020B0609020204030204" pitchFamily="49" charset="0"/>
            </a:endParaRPr>
          </a:p>
        </p:txBody>
      </p:sp>
      <p:sp>
        <p:nvSpPr>
          <p:cNvPr id="15" name="文本框 14">
            <a:extLst>
              <a:ext uri="{FF2B5EF4-FFF2-40B4-BE49-F238E27FC236}">
                <a16:creationId xmlns:a16="http://schemas.microsoft.com/office/drawing/2014/main" id="{DF744E67-B621-A6F8-E1E7-FFE7D82C4455}"/>
              </a:ext>
            </a:extLst>
          </p:cNvPr>
          <p:cNvSpPr txBox="1"/>
          <p:nvPr/>
        </p:nvSpPr>
        <p:spPr>
          <a:xfrm>
            <a:off x="9509863" y="899269"/>
            <a:ext cx="311304" cy="369332"/>
          </a:xfrm>
          <a:prstGeom prst="rect">
            <a:avLst/>
          </a:prstGeom>
          <a:noFill/>
        </p:spPr>
        <p:txBody>
          <a:bodyPr wrap="square" rtlCol="0">
            <a:spAutoFit/>
          </a:bodyPr>
          <a:lstStyle/>
          <a:p>
            <a:r>
              <a:rPr lang="en-US" altLang="zh-CN" dirty="0">
                <a:latin typeface="Consolas" panose="020B0609020204030204" pitchFamily="49" charset="0"/>
              </a:rPr>
              <a:t>Y</a:t>
            </a:r>
            <a:endParaRPr lang="zh-CN" altLang="en-US" dirty="0">
              <a:latin typeface="Consolas" panose="020B0609020204030204" pitchFamily="49" charset="0"/>
            </a:endParaRPr>
          </a:p>
        </p:txBody>
      </p:sp>
      <p:sp>
        <p:nvSpPr>
          <p:cNvPr id="16" name="流程图: 决策 15">
            <a:extLst>
              <a:ext uri="{FF2B5EF4-FFF2-40B4-BE49-F238E27FC236}">
                <a16:creationId xmlns:a16="http://schemas.microsoft.com/office/drawing/2014/main" id="{E80E2DEF-329C-9D38-8953-2B0C833E2C91}"/>
              </a:ext>
            </a:extLst>
          </p:cNvPr>
          <p:cNvSpPr/>
          <p:nvPr/>
        </p:nvSpPr>
        <p:spPr>
          <a:xfrm>
            <a:off x="8480022" y="2015118"/>
            <a:ext cx="1545768" cy="769441"/>
          </a:xfrm>
          <a:prstGeom prst="flowChartDecision">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Consolas" panose="020B0609020204030204" pitchFamily="49" charset="0"/>
              </a:rPr>
              <a:t>j&gt;</a:t>
            </a:r>
            <a:r>
              <a:rPr lang="en-US" altLang="zh-CN" dirty="0" err="1">
                <a:latin typeface="Consolas" panose="020B0609020204030204" pitchFamily="49" charset="0"/>
              </a:rPr>
              <a:t>i</a:t>
            </a:r>
            <a:r>
              <a:rPr lang="en-US" altLang="zh-CN" dirty="0">
                <a:latin typeface="Consolas" panose="020B0609020204030204" pitchFamily="49" charset="0"/>
              </a:rPr>
              <a:t>?</a:t>
            </a:r>
            <a:endParaRPr lang="zh-CN" altLang="en-US" dirty="0">
              <a:latin typeface="Consolas" panose="020B0609020204030204" pitchFamily="49" charset="0"/>
            </a:endParaRPr>
          </a:p>
        </p:txBody>
      </p:sp>
      <p:cxnSp>
        <p:nvCxnSpPr>
          <p:cNvPr id="17" name="直接箭头连接符 16">
            <a:extLst>
              <a:ext uri="{FF2B5EF4-FFF2-40B4-BE49-F238E27FC236}">
                <a16:creationId xmlns:a16="http://schemas.microsoft.com/office/drawing/2014/main" id="{CD881438-C8AF-ECA3-3D32-BACDAC8C3BA2}"/>
              </a:ext>
            </a:extLst>
          </p:cNvPr>
          <p:cNvCxnSpPr>
            <a:cxnSpLocks/>
            <a:stCxn id="16" idx="2"/>
            <a:endCxn id="24" idx="0"/>
          </p:cNvCxnSpPr>
          <p:nvPr/>
        </p:nvCxnSpPr>
        <p:spPr>
          <a:xfrm>
            <a:off x="9252906" y="2784559"/>
            <a:ext cx="0" cy="3321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直接箭头连接符 17">
            <a:extLst>
              <a:ext uri="{FF2B5EF4-FFF2-40B4-BE49-F238E27FC236}">
                <a16:creationId xmlns:a16="http://schemas.microsoft.com/office/drawing/2014/main" id="{79F0AFA1-8B38-B819-E050-915393226D2F}"/>
              </a:ext>
            </a:extLst>
          </p:cNvPr>
          <p:cNvCxnSpPr>
            <a:cxnSpLocks/>
          </p:cNvCxnSpPr>
          <p:nvPr/>
        </p:nvCxnSpPr>
        <p:spPr>
          <a:xfrm>
            <a:off x="7693713" y="1862057"/>
            <a:ext cx="157261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连接符: 肘形 18">
            <a:extLst>
              <a:ext uri="{FF2B5EF4-FFF2-40B4-BE49-F238E27FC236}">
                <a16:creationId xmlns:a16="http://schemas.microsoft.com/office/drawing/2014/main" id="{DE864A7A-A079-BA57-D418-086EC8F0114E}"/>
              </a:ext>
            </a:extLst>
          </p:cNvPr>
          <p:cNvCxnSpPr>
            <a:cxnSpLocks/>
            <a:stCxn id="16" idx="3"/>
          </p:cNvCxnSpPr>
          <p:nvPr/>
        </p:nvCxnSpPr>
        <p:spPr>
          <a:xfrm>
            <a:off x="10025790" y="2399839"/>
            <a:ext cx="1254572" cy="3650469"/>
          </a:xfrm>
          <a:prstGeom prst="bentConnector2">
            <a:avLst/>
          </a:prstGeom>
        </p:spPr>
        <p:style>
          <a:lnRef idx="1">
            <a:schemeClr val="dk1"/>
          </a:lnRef>
          <a:fillRef idx="0">
            <a:schemeClr val="dk1"/>
          </a:fillRef>
          <a:effectRef idx="0">
            <a:schemeClr val="dk1"/>
          </a:effectRef>
          <a:fontRef idx="minor">
            <a:schemeClr val="tx1"/>
          </a:fontRef>
        </p:style>
      </p:cxnSp>
      <p:cxnSp>
        <p:nvCxnSpPr>
          <p:cNvPr id="20" name="连接符: 肘形 19">
            <a:extLst>
              <a:ext uri="{FF2B5EF4-FFF2-40B4-BE49-F238E27FC236}">
                <a16:creationId xmlns:a16="http://schemas.microsoft.com/office/drawing/2014/main" id="{5C6EC6DE-CF7F-D684-5C0A-FA31EC8857D5}"/>
              </a:ext>
            </a:extLst>
          </p:cNvPr>
          <p:cNvCxnSpPr>
            <a:cxnSpLocks/>
            <a:endCxn id="27" idx="0"/>
          </p:cNvCxnSpPr>
          <p:nvPr/>
        </p:nvCxnSpPr>
        <p:spPr>
          <a:xfrm rot="10800000" flipV="1">
            <a:off x="9394417" y="5152570"/>
            <a:ext cx="1533275" cy="240123"/>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21" name="矩形 20">
            <a:extLst>
              <a:ext uri="{FF2B5EF4-FFF2-40B4-BE49-F238E27FC236}">
                <a16:creationId xmlns:a16="http://schemas.microsoft.com/office/drawing/2014/main" id="{BD6A0D9C-3E85-439A-6940-E285C92ACBD6}"/>
              </a:ext>
            </a:extLst>
          </p:cNvPr>
          <p:cNvSpPr/>
          <p:nvPr/>
        </p:nvSpPr>
        <p:spPr>
          <a:xfrm>
            <a:off x="8396115" y="4142222"/>
            <a:ext cx="1721759" cy="85053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Consolas" panose="020B0609020204030204" pitchFamily="49" charset="0"/>
              </a:rPr>
              <a:t>t</a:t>
            </a:r>
            <a:r>
              <a:rPr lang="zh-CN" altLang="en-US" dirty="0">
                <a:latin typeface="Consolas" panose="020B0609020204030204" pitchFamily="49" charset="0"/>
              </a:rPr>
              <a:t>←</a:t>
            </a:r>
            <a:r>
              <a:rPr lang="en-US" altLang="zh-CN" dirty="0">
                <a:latin typeface="Consolas" panose="020B0609020204030204" pitchFamily="49" charset="0"/>
              </a:rPr>
              <a:t>A[j-1]</a:t>
            </a:r>
          </a:p>
          <a:p>
            <a:pPr algn="ctr"/>
            <a:r>
              <a:rPr lang="en-US" altLang="zh-CN" dirty="0">
                <a:latin typeface="Consolas" panose="020B0609020204030204" pitchFamily="49" charset="0"/>
              </a:rPr>
              <a:t>A[j-1]</a:t>
            </a:r>
            <a:r>
              <a:rPr lang="zh-CN" altLang="en-US" dirty="0">
                <a:latin typeface="Consolas" panose="020B0609020204030204" pitchFamily="49" charset="0"/>
              </a:rPr>
              <a:t>←</a:t>
            </a:r>
            <a:r>
              <a:rPr lang="en-US" altLang="zh-CN" dirty="0">
                <a:latin typeface="Consolas" panose="020B0609020204030204" pitchFamily="49" charset="0"/>
              </a:rPr>
              <a:t>A[j]</a:t>
            </a:r>
          </a:p>
          <a:p>
            <a:pPr algn="ctr"/>
            <a:r>
              <a:rPr lang="en-US" altLang="zh-CN" dirty="0">
                <a:latin typeface="Consolas" panose="020B0609020204030204" pitchFamily="49" charset="0"/>
              </a:rPr>
              <a:t>A[j]</a:t>
            </a:r>
            <a:r>
              <a:rPr lang="zh-CN" altLang="en-US" dirty="0">
                <a:latin typeface="Consolas" panose="020B0609020204030204" pitchFamily="49" charset="0"/>
              </a:rPr>
              <a:t> ←</a:t>
            </a:r>
            <a:r>
              <a:rPr lang="en-US" altLang="zh-CN" dirty="0">
                <a:latin typeface="Consolas" panose="020B0609020204030204" pitchFamily="49" charset="0"/>
              </a:rPr>
              <a:t>t</a:t>
            </a:r>
          </a:p>
        </p:txBody>
      </p:sp>
      <p:sp>
        <p:nvSpPr>
          <p:cNvPr id="22" name="文本框 21">
            <a:extLst>
              <a:ext uri="{FF2B5EF4-FFF2-40B4-BE49-F238E27FC236}">
                <a16:creationId xmlns:a16="http://schemas.microsoft.com/office/drawing/2014/main" id="{E5B584CC-720B-19B3-EA53-07372B1956A5}"/>
              </a:ext>
            </a:extLst>
          </p:cNvPr>
          <p:cNvSpPr txBox="1"/>
          <p:nvPr/>
        </p:nvSpPr>
        <p:spPr>
          <a:xfrm>
            <a:off x="10075163" y="2473408"/>
            <a:ext cx="311304" cy="369332"/>
          </a:xfrm>
          <a:prstGeom prst="rect">
            <a:avLst/>
          </a:prstGeom>
          <a:noFill/>
        </p:spPr>
        <p:txBody>
          <a:bodyPr wrap="square" rtlCol="0">
            <a:spAutoFit/>
          </a:bodyPr>
          <a:lstStyle/>
          <a:p>
            <a:r>
              <a:rPr lang="en-US" altLang="zh-CN" dirty="0">
                <a:latin typeface="Consolas" panose="020B0609020204030204" pitchFamily="49" charset="0"/>
              </a:rPr>
              <a:t>N</a:t>
            </a:r>
            <a:endParaRPr lang="zh-CN" altLang="en-US" dirty="0">
              <a:latin typeface="Consolas" panose="020B0609020204030204" pitchFamily="49" charset="0"/>
            </a:endParaRPr>
          </a:p>
        </p:txBody>
      </p:sp>
      <p:sp>
        <p:nvSpPr>
          <p:cNvPr id="23" name="文本框 22">
            <a:extLst>
              <a:ext uri="{FF2B5EF4-FFF2-40B4-BE49-F238E27FC236}">
                <a16:creationId xmlns:a16="http://schemas.microsoft.com/office/drawing/2014/main" id="{68DFDA15-3F31-55EE-520F-1D6A6CE0D1DA}"/>
              </a:ext>
            </a:extLst>
          </p:cNvPr>
          <p:cNvSpPr txBox="1"/>
          <p:nvPr/>
        </p:nvSpPr>
        <p:spPr>
          <a:xfrm>
            <a:off x="9516364" y="2669042"/>
            <a:ext cx="311304" cy="369332"/>
          </a:xfrm>
          <a:prstGeom prst="rect">
            <a:avLst/>
          </a:prstGeom>
          <a:noFill/>
        </p:spPr>
        <p:txBody>
          <a:bodyPr wrap="square" rtlCol="0">
            <a:spAutoFit/>
          </a:bodyPr>
          <a:lstStyle/>
          <a:p>
            <a:r>
              <a:rPr lang="en-US" altLang="zh-CN" dirty="0">
                <a:latin typeface="Consolas" panose="020B0609020204030204" pitchFamily="49" charset="0"/>
              </a:rPr>
              <a:t>Y</a:t>
            </a:r>
            <a:endParaRPr lang="zh-CN" altLang="en-US" dirty="0">
              <a:latin typeface="Consolas" panose="020B0609020204030204" pitchFamily="49" charset="0"/>
            </a:endParaRPr>
          </a:p>
        </p:txBody>
      </p:sp>
      <p:sp>
        <p:nvSpPr>
          <p:cNvPr id="24" name="流程图: 决策 23">
            <a:extLst>
              <a:ext uri="{FF2B5EF4-FFF2-40B4-BE49-F238E27FC236}">
                <a16:creationId xmlns:a16="http://schemas.microsoft.com/office/drawing/2014/main" id="{985C27B6-B564-A114-708E-8D6ADB8D27DD}"/>
              </a:ext>
            </a:extLst>
          </p:cNvPr>
          <p:cNvSpPr/>
          <p:nvPr/>
        </p:nvSpPr>
        <p:spPr>
          <a:xfrm>
            <a:off x="8235092" y="3116747"/>
            <a:ext cx="2035628" cy="769441"/>
          </a:xfrm>
          <a:prstGeom prst="flowChartDecision">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50" dirty="0">
                <a:latin typeface="Consolas" panose="020B0609020204030204" pitchFamily="49" charset="0"/>
              </a:rPr>
              <a:t>A[j]&gt;A[j-1]?</a:t>
            </a:r>
            <a:endParaRPr lang="zh-CN" altLang="en-US" sz="1050" dirty="0">
              <a:latin typeface="Consolas" panose="020B0609020204030204" pitchFamily="49" charset="0"/>
            </a:endParaRPr>
          </a:p>
        </p:txBody>
      </p:sp>
      <p:cxnSp>
        <p:nvCxnSpPr>
          <p:cNvPr id="25" name="直接箭头连接符 24">
            <a:extLst>
              <a:ext uri="{FF2B5EF4-FFF2-40B4-BE49-F238E27FC236}">
                <a16:creationId xmlns:a16="http://schemas.microsoft.com/office/drawing/2014/main" id="{BCF8D727-8FC6-9255-4C91-40F6713B385C}"/>
              </a:ext>
            </a:extLst>
          </p:cNvPr>
          <p:cNvCxnSpPr>
            <a:cxnSpLocks/>
            <a:stCxn id="24" idx="2"/>
            <a:endCxn id="21" idx="0"/>
          </p:cNvCxnSpPr>
          <p:nvPr/>
        </p:nvCxnSpPr>
        <p:spPr>
          <a:xfrm>
            <a:off x="9252906" y="3886188"/>
            <a:ext cx="4089" cy="2560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连接符: 肘形 25">
            <a:extLst>
              <a:ext uri="{FF2B5EF4-FFF2-40B4-BE49-F238E27FC236}">
                <a16:creationId xmlns:a16="http://schemas.microsoft.com/office/drawing/2014/main" id="{B916D194-3DED-DF62-E27D-F9803F67CFC0}"/>
              </a:ext>
            </a:extLst>
          </p:cNvPr>
          <p:cNvCxnSpPr>
            <a:cxnSpLocks/>
            <a:stCxn id="24" idx="3"/>
          </p:cNvCxnSpPr>
          <p:nvPr/>
        </p:nvCxnSpPr>
        <p:spPr>
          <a:xfrm>
            <a:off x="10270720" y="3501468"/>
            <a:ext cx="656972" cy="1651102"/>
          </a:xfrm>
          <a:prstGeom prst="bentConnector2">
            <a:avLst/>
          </a:prstGeom>
        </p:spPr>
        <p:style>
          <a:lnRef idx="1">
            <a:schemeClr val="dk1"/>
          </a:lnRef>
          <a:fillRef idx="0">
            <a:schemeClr val="dk1"/>
          </a:fillRef>
          <a:effectRef idx="0">
            <a:schemeClr val="dk1"/>
          </a:effectRef>
          <a:fontRef idx="minor">
            <a:schemeClr val="tx1"/>
          </a:fontRef>
        </p:style>
      </p:cxnSp>
      <p:sp>
        <p:nvSpPr>
          <p:cNvPr id="27" name="矩形 26">
            <a:extLst>
              <a:ext uri="{FF2B5EF4-FFF2-40B4-BE49-F238E27FC236}">
                <a16:creationId xmlns:a16="http://schemas.microsoft.com/office/drawing/2014/main" id="{DF372C56-E765-6D21-8935-3F9F8E2865FF}"/>
              </a:ext>
            </a:extLst>
          </p:cNvPr>
          <p:cNvSpPr/>
          <p:nvPr/>
        </p:nvSpPr>
        <p:spPr>
          <a:xfrm>
            <a:off x="8767130" y="5392694"/>
            <a:ext cx="1254572" cy="49805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Consolas" panose="020B0609020204030204" pitchFamily="49" charset="0"/>
              </a:rPr>
              <a:t>j</a:t>
            </a:r>
            <a:r>
              <a:rPr lang="zh-CN" altLang="en-US" dirty="0">
                <a:latin typeface="Consolas" panose="020B0609020204030204" pitchFamily="49" charset="0"/>
              </a:rPr>
              <a:t>←</a:t>
            </a:r>
            <a:r>
              <a:rPr lang="en-US" altLang="zh-CN" dirty="0">
                <a:latin typeface="Consolas" panose="020B0609020204030204" pitchFamily="49" charset="0"/>
              </a:rPr>
              <a:t>j-1</a:t>
            </a:r>
          </a:p>
        </p:txBody>
      </p:sp>
      <p:cxnSp>
        <p:nvCxnSpPr>
          <p:cNvPr id="28" name="连接符: 肘形 27">
            <a:extLst>
              <a:ext uri="{FF2B5EF4-FFF2-40B4-BE49-F238E27FC236}">
                <a16:creationId xmlns:a16="http://schemas.microsoft.com/office/drawing/2014/main" id="{BCCD040F-1EE7-AA43-9E1E-A5DFFDF4F03B}"/>
              </a:ext>
            </a:extLst>
          </p:cNvPr>
          <p:cNvCxnSpPr>
            <a:cxnSpLocks/>
            <a:endCxn id="27" idx="1"/>
          </p:cNvCxnSpPr>
          <p:nvPr/>
        </p:nvCxnSpPr>
        <p:spPr>
          <a:xfrm rot="16200000" flipH="1">
            <a:off x="6340592" y="3215181"/>
            <a:ext cx="3779660" cy="1073415"/>
          </a:xfrm>
          <a:prstGeom prst="bentConnector2">
            <a:avLst/>
          </a:prstGeom>
        </p:spPr>
        <p:style>
          <a:lnRef idx="1">
            <a:schemeClr val="dk1"/>
          </a:lnRef>
          <a:fillRef idx="0">
            <a:schemeClr val="dk1"/>
          </a:fillRef>
          <a:effectRef idx="0">
            <a:schemeClr val="dk1"/>
          </a:effectRef>
          <a:fontRef idx="minor">
            <a:schemeClr val="tx1"/>
          </a:fontRef>
        </p:style>
      </p:cxnSp>
      <p:sp>
        <p:nvSpPr>
          <p:cNvPr id="29" name="矩形 28">
            <a:extLst>
              <a:ext uri="{FF2B5EF4-FFF2-40B4-BE49-F238E27FC236}">
                <a16:creationId xmlns:a16="http://schemas.microsoft.com/office/drawing/2014/main" id="{1E6BA291-8EA6-2576-DDCF-F4210FB426A5}"/>
              </a:ext>
            </a:extLst>
          </p:cNvPr>
          <p:cNvSpPr/>
          <p:nvPr/>
        </p:nvSpPr>
        <p:spPr>
          <a:xfrm>
            <a:off x="8614237" y="1278372"/>
            <a:ext cx="1254572" cy="43062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Consolas" panose="020B0609020204030204" pitchFamily="49" charset="0"/>
              </a:rPr>
              <a:t>j</a:t>
            </a:r>
            <a:r>
              <a:rPr lang="zh-CN" altLang="en-US" dirty="0">
                <a:latin typeface="Consolas" panose="020B0609020204030204" pitchFamily="49" charset="0"/>
              </a:rPr>
              <a:t>←</a:t>
            </a:r>
            <a:r>
              <a:rPr lang="en-US" altLang="zh-CN" dirty="0">
                <a:latin typeface="Consolas" panose="020B0609020204030204" pitchFamily="49" charset="0"/>
              </a:rPr>
              <a:t>n</a:t>
            </a:r>
          </a:p>
        </p:txBody>
      </p:sp>
      <p:cxnSp>
        <p:nvCxnSpPr>
          <p:cNvPr id="30" name="直接箭头连接符 29">
            <a:extLst>
              <a:ext uri="{FF2B5EF4-FFF2-40B4-BE49-F238E27FC236}">
                <a16:creationId xmlns:a16="http://schemas.microsoft.com/office/drawing/2014/main" id="{6592912B-10C5-8F76-C842-2C69AF07626D}"/>
              </a:ext>
            </a:extLst>
          </p:cNvPr>
          <p:cNvCxnSpPr>
            <a:cxnSpLocks/>
            <a:stCxn id="29" idx="2"/>
            <a:endCxn id="16" idx="0"/>
          </p:cNvCxnSpPr>
          <p:nvPr/>
        </p:nvCxnSpPr>
        <p:spPr>
          <a:xfrm>
            <a:off x="9241523" y="1708996"/>
            <a:ext cx="11383" cy="30612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 name="连接符: 肘形 30">
            <a:extLst>
              <a:ext uri="{FF2B5EF4-FFF2-40B4-BE49-F238E27FC236}">
                <a16:creationId xmlns:a16="http://schemas.microsoft.com/office/drawing/2014/main" id="{A4CC4C01-F917-7639-A5F9-B844F8C7640F}"/>
              </a:ext>
            </a:extLst>
          </p:cNvPr>
          <p:cNvCxnSpPr>
            <a:cxnSpLocks/>
            <a:endCxn id="32" idx="0"/>
          </p:cNvCxnSpPr>
          <p:nvPr/>
        </p:nvCxnSpPr>
        <p:spPr>
          <a:xfrm rot="10800000" flipV="1">
            <a:off x="9394416" y="6050307"/>
            <a:ext cx="1885946" cy="266933"/>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32" name="矩形 31">
            <a:extLst>
              <a:ext uri="{FF2B5EF4-FFF2-40B4-BE49-F238E27FC236}">
                <a16:creationId xmlns:a16="http://schemas.microsoft.com/office/drawing/2014/main" id="{4AC40690-6B0E-CD23-0610-ED2FFC9190B3}"/>
              </a:ext>
            </a:extLst>
          </p:cNvPr>
          <p:cNvSpPr/>
          <p:nvPr/>
        </p:nvSpPr>
        <p:spPr>
          <a:xfrm>
            <a:off x="8767130" y="6317241"/>
            <a:ext cx="1254572" cy="49805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err="1">
                <a:latin typeface="Consolas" panose="020B0609020204030204" pitchFamily="49" charset="0"/>
              </a:rPr>
              <a:t>i</a:t>
            </a:r>
            <a:r>
              <a:rPr lang="zh-CN" altLang="en-US" dirty="0">
                <a:latin typeface="Consolas" panose="020B0609020204030204" pitchFamily="49" charset="0"/>
              </a:rPr>
              <a:t>←</a:t>
            </a:r>
            <a:r>
              <a:rPr lang="en-US" altLang="zh-CN" dirty="0">
                <a:latin typeface="Consolas" panose="020B0609020204030204" pitchFamily="49" charset="0"/>
              </a:rPr>
              <a:t>i+1</a:t>
            </a:r>
          </a:p>
        </p:txBody>
      </p:sp>
      <p:cxnSp>
        <p:nvCxnSpPr>
          <p:cNvPr id="33" name="连接符: 肘形 32">
            <a:extLst>
              <a:ext uri="{FF2B5EF4-FFF2-40B4-BE49-F238E27FC236}">
                <a16:creationId xmlns:a16="http://schemas.microsoft.com/office/drawing/2014/main" id="{00B1000F-5F08-F907-6384-0B806184323E}"/>
              </a:ext>
            </a:extLst>
          </p:cNvPr>
          <p:cNvCxnSpPr>
            <a:cxnSpLocks/>
            <a:stCxn id="9" idx="3"/>
            <a:endCxn id="34" idx="0"/>
          </p:cNvCxnSpPr>
          <p:nvPr/>
        </p:nvCxnSpPr>
        <p:spPr>
          <a:xfrm>
            <a:off x="10018484" y="683697"/>
            <a:ext cx="1758138" cy="2543995"/>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34" name="椭圆 33">
            <a:extLst>
              <a:ext uri="{FF2B5EF4-FFF2-40B4-BE49-F238E27FC236}">
                <a16:creationId xmlns:a16="http://schemas.microsoft.com/office/drawing/2014/main" id="{6F007D04-BC23-4FE0-29A2-450075F2D387}"/>
              </a:ext>
            </a:extLst>
          </p:cNvPr>
          <p:cNvSpPr/>
          <p:nvPr/>
        </p:nvSpPr>
        <p:spPr>
          <a:xfrm>
            <a:off x="11584856" y="3227692"/>
            <a:ext cx="383531" cy="39953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35" name="文本框 34">
            <a:extLst>
              <a:ext uri="{FF2B5EF4-FFF2-40B4-BE49-F238E27FC236}">
                <a16:creationId xmlns:a16="http://schemas.microsoft.com/office/drawing/2014/main" id="{941CE691-261B-DF12-BBEE-6FFA8357B51B}"/>
              </a:ext>
            </a:extLst>
          </p:cNvPr>
          <p:cNvSpPr txBox="1"/>
          <p:nvPr/>
        </p:nvSpPr>
        <p:spPr>
          <a:xfrm>
            <a:off x="2887250" y="4617955"/>
            <a:ext cx="4311644" cy="1446550"/>
          </a:xfrm>
          <a:prstGeom prst="rect">
            <a:avLst/>
          </a:prstGeom>
          <a:noFill/>
        </p:spPr>
        <p:txBody>
          <a:bodyPr wrap="square" rtlCol="0">
            <a:spAutoFit/>
          </a:bodyPr>
          <a:lstStyle/>
          <a:p>
            <a:r>
              <a:rPr lang="zh-CN" altLang="en-US" sz="4400" dirty="0">
                <a:solidFill>
                  <a:srgbClr val="FF0000"/>
                </a:solidFill>
                <a:latin typeface="仿宋" panose="02010609060101010101" pitchFamily="49" charset="-122"/>
                <a:ea typeface="仿宋" panose="02010609060101010101" pitchFamily="49" charset="-122"/>
              </a:rPr>
              <a:t>开始和结束</a:t>
            </a:r>
            <a:r>
              <a:rPr lang="en-US" altLang="zh-CN" sz="4400" dirty="0">
                <a:solidFill>
                  <a:srgbClr val="FF0000"/>
                </a:solidFill>
                <a:latin typeface="仿宋" panose="02010609060101010101" pitchFamily="49" charset="-122"/>
                <a:ea typeface="仿宋" panose="02010609060101010101" pitchFamily="49" charset="-122"/>
              </a:rPr>
              <a:t>,</a:t>
            </a:r>
            <a:r>
              <a:rPr lang="zh-CN" altLang="en-US" sz="4400" dirty="0">
                <a:solidFill>
                  <a:srgbClr val="FF0000"/>
                </a:solidFill>
                <a:latin typeface="仿宋" panose="02010609060101010101" pitchFamily="49" charset="-122"/>
                <a:ea typeface="仿宋" panose="02010609060101010101" pitchFamily="49" charset="-122"/>
              </a:rPr>
              <a:t>略</a:t>
            </a:r>
            <a:endParaRPr lang="en-US" altLang="zh-CN" sz="4400" dirty="0">
              <a:solidFill>
                <a:srgbClr val="FF0000"/>
              </a:solidFill>
              <a:latin typeface="仿宋" panose="02010609060101010101" pitchFamily="49" charset="-122"/>
              <a:ea typeface="仿宋" panose="02010609060101010101" pitchFamily="49" charset="-122"/>
            </a:endParaRPr>
          </a:p>
          <a:p>
            <a:r>
              <a:rPr lang="zh-CN" altLang="en-US" sz="4400" dirty="0">
                <a:solidFill>
                  <a:srgbClr val="FF0000"/>
                </a:solidFill>
                <a:latin typeface="仿宋" panose="02010609060101010101" pitchFamily="49" charset="-122"/>
                <a:ea typeface="仿宋" panose="02010609060101010101" pitchFamily="49" charset="-122"/>
              </a:rPr>
              <a:t>但是这很重要</a:t>
            </a:r>
            <a:r>
              <a:rPr lang="en-US" altLang="zh-CN" sz="4400" dirty="0">
                <a:solidFill>
                  <a:srgbClr val="FF0000"/>
                </a:solidFill>
                <a:latin typeface="仿宋" panose="02010609060101010101" pitchFamily="49" charset="-122"/>
                <a:ea typeface="仿宋" panose="02010609060101010101" pitchFamily="49" charset="-122"/>
              </a:rPr>
              <a:t>!!!</a:t>
            </a:r>
          </a:p>
        </p:txBody>
      </p:sp>
      <p:pic>
        <p:nvPicPr>
          <p:cNvPr id="36" name="图片 4">
            <a:extLst>
              <a:ext uri="{FF2B5EF4-FFF2-40B4-BE49-F238E27FC236}">
                <a16:creationId xmlns:a16="http://schemas.microsoft.com/office/drawing/2014/main" id="{BDB8F044-1E6F-E120-21D7-1440690C202C}"/>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4416425" y="6219825"/>
            <a:ext cx="542925" cy="542925"/>
          </a:xfrm>
          <a:prstGeom prst="rect">
            <a:avLst/>
          </a:prstGeom>
        </p:spPr>
      </p:pic>
    </p:spTree>
    <p:extLst>
      <p:ext uri="{BB962C8B-B14F-4D97-AF65-F5344CB8AC3E}">
        <p14:creationId xmlns:p14="http://schemas.microsoft.com/office/powerpoint/2010/main" val="38239572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par>
                                <p:cTn id="13" presetID="10"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par>
                                <p:cTn id="16" presetID="10" presetClass="entr" presetSubtype="0" fill="hold"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par>
                                <p:cTn id="19" presetID="10"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500"/>
                                        <p:tgtEl>
                                          <p:spTgt spid="15"/>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500"/>
                                        <p:tgtEl>
                                          <p:spTgt spid="16"/>
                                        </p:tgtEl>
                                      </p:cBhvr>
                                    </p:animEffect>
                                  </p:childTnLst>
                                </p:cTn>
                              </p:par>
                              <p:par>
                                <p:cTn id="34" presetID="10" presetClass="entr" presetSubtype="0"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500"/>
                                        <p:tgtEl>
                                          <p:spTgt spid="17"/>
                                        </p:tgtEl>
                                      </p:cBhvr>
                                    </p:animEffect>
                                  </p:childTnLst>
                                </p:cTn>
                              </p:par>
                              <p:par>
                                <p:cTn id="37" presetID="10"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500"/>
                                        <p:tgtEl>
                                          <p:spTgt spid="18"/>
                                        </p:tgtEl>
                                      </p:cBhvr>
                                    </p:animEffect>
                                  </p:childTnLst>
                                </p:cTn>
                              </p:par>
                              <p:par>
                                <p:cTn id="40" presetID="10" presetClass="entr" presetSubtype="0"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500"/>
                                        <p:tgtEl>
                                          <p:spTgt spid="19"/>
                                        </p:tgtEl>
                                      </p:cBhvr>
                                    </p:animEffect>
                                  </p:childTnLst>
                                </p:cTn>
                              </p:par>
                              <p:par>
                                <p:cTn id="43" presetID="10" presetClass="entr" presetSubtype="0" fill="hold" nodeType="with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500"/>
                                        <p:tgtEl>
                                          <p:spTgt spid="2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500"/>
                                        <p:tgtEl>
                                          <p:spTgt spid="21"/>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500"/>
                                        <p:tgtEl>
                                          <p:spTgt spid="22"/>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500"/>
                                        <p:tgtEl>
                                          <p:spTgt spid="23"/>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4"/>
                                        </p:tgtEl>
                                        <p:attrNameLst>
                                          <p:attrName>style.visibility</p:attrName>
                                        </p:attrNameLst>
                                      </p:cBhvr>
                                      <p:to>
                                        <p:strVal val="visible"/>
                                      </p:to>
                                    </p:set>
                                    <p:animEffect transition="in" filter="fade">
                                      <p:cBhvr>
                                        <p:cTn id="57" dur="500"/>
                                        <p:tgtEl>
                                          <p:spTgt spid="24"/>
                                        </p:tgtEl>
                                      </p:cBhvr>
                                    </p:animEffect>
                                  </p:childTnLst>
                                </p:cTn>
                              </p:par>
                              <p:par>
                                <p:cTn id="58" presetID="10" presetClass="entr" presetSubtype="0" fill="hold" nodeType="withEffect">
                                  <p:stCondLst>
                                    <p:cond delay="0"/>
                                  </p:stCondLst>
                                  <p:childTnLst>
                                    <p:set>
                                      <p:cBhvr>
                                        <p:cTn id="59" dur="1" fill="hold">
                                          <p:stCondLst>
                                            <p:cond delay="0"/>
                                          </p:stCondLst>
                                        </p:cTn>
                                        <p:tgtEl>
                                          <p:spTgt spid="25"/>
                                        </p:tgtEl>
                                        <p:attrNameLst>
                                          <p:attrName>style.visibility</p:attrName>
                                        </p:attrNameLst>
                                      </p:cBhvr>
                                      <p:to>
                                        <p:strVal val="visible"/>
                                      </p:to>
                                    </p:set>
                                    <p:animEffect transition="in" filter="fade">
                                      <p:cBhvr>
                                        <p:cTn id="60" dur="500"/>
                                        <p:tgtEl>
                                          <p:spTgt spid="25"/>
                                        </p:tgtEl>
                                      </p:cBhvr>
                                    </p:animEffect>
                                  </p:childTnLst>
                                </p:cTn>
                              </p:par>
                              <p:par>
                                <p:cTn id="61" presetID="10" presetClass="entr" presetSubtype="0" fill="hold" nodeType="withEffect">
                                  <p:stCondLst>
                                    <p:cond delay="0"/>
                                  </p:stCondLst>
                                  <p:childTnLst>
                                    <p:set>
                                      <p:cBhvr>
                                        <p:cTn id="62" dur="1" fill="hold">
                                          <p:stCondLst>
                                            <p:cond delay="0"/>
                                          </p:stCondLst>
                                        </p:cTn>
                                        <p:tgtEl>
                                          <p:spTgt spid="26"/>
                                        </p:tgtEl>
                                        <p:attrNameLst>
                                          <p:attrName>style.visibility</p:attrName>
                                        </p:attrNameLst>
                                      </p:cBhvr>
                                      <p:to>
                                        <p:strVal val="visible"/>
                                      </p:to>
                                    </p:set>
                                    <p:animEffect transition="in" filter="fade">
                                      <p:cBhvr>
                                        <p:cTn id="63" dur="500"/>
                                        <p:tgtEl>
                                          <p:spTgt spid="26"/>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7"/>
                                        </p:tgtEl>
                                        <p:attrNameLst>
                                          <p:attrName>style.visibility</p:attrName>
                                        </p:attrNameLst>
                                      </p:cBhvr>
                                      <p:to>
                                        <p:strVal val="visible"/>
                                      </p:to>
                                    </p:set>
                                    <p:animEffect transition="in" filter="fade">
                                      <p:cBhvr>
                                        <p:cTn id="66" dur="500"/>
                                        <p:tgtEl>
                                          <p:spTgt spid="27"/>
                                        </p:tgtEl>
                                      </p:cBhvr>
                                    </p:animEffect>
                                  </p:childTnLst>
                                </p:cTn>
                              </p:par>
                              <p:par>
                                <p:cTn id="67" presetID="10" presetClass="entr" presetSubtype="0" fill="hold" nodeType="withEffect">
                                  <p:stCondLst>
                                    <p:cond delay="0"/>
                                  </p:stCondLst>
                                  <p:childTnLst>
                                    <p:set>
                                      <p:cBhvr>
                                        <p:cTn id="68" dur="1" fill="hold">
                                          <p:stCondLst>
                                            <p:cond delay="0"/>
                                          </p:stCondLst>
                                        </p:cTn>
                                        <p:tgtEl>
                                          <p:spTgt spid="28"/>
                                        </p:tgtEl>
                                        <p:attrNameLst>
                                          <p:attrName>style.visibility</p:attrName>
                                        </p:attrNameLst>
                                      </p:cBhvr>
                                      <p:to>
                                        <p:strVal val="visible"/>
                                      </p:to>
                                    </p:set>
                                    <p:animEffect transition="in" filter="fade">
                                      <p:cBhvr>
                                        <p:cTn id="69" dur="500"/>
                                        <p:tgtEl>
                                          <p:spTgt spid="28"/>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9"/>
                                        </p:tgtEl>
                                        <p:attrNameLst>
                                          <p:attrName>style.visibility</p:attrName>
                                        </p:attrNameLst>
                                      </p:cBhvr>
                                      <p:to>
                                        <p:strVal val="visible"/>
                                      </p:to>
                                    </p:set>
                                    <p:animEffect transition="in" filter="fade">
                                      <p:cBhvr>
                                        <p:cTn id="72" dur="500"/>
                                        <p:tgtEl>
                                          <p:spTgt spid="29"/>
                                        </p:tgtEl>
                                      </p:cBhvr>
                                    </p:animEffect>
                                  </p:childTnLst>
                                </p:cTn>
                              </p:par>
                              <p:par>
                                <p:cTn id="73" presetID="10" presetClass="entr" presetSubtype="0" fill="hold" nodeType="withEffect">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fade">
                                      <p:cBhvr>
                                        <p:cTn id="75" dur="500"/>
                                        <p:tgtEl>
                                          <p:spTgt spid="30"/>
                                        </p:tgtEl>
                                      </p:cBhvr>
                                    </p:animEffect>
                                  </p:childTnLst>
                                </p:cTn>
                              </p:par>
                              <p:par>
                                <p:cTn id="76" presetID="10" presetClass="entr" presetSubtype="0" fill="hold" nodeType="withEffect">
                                  <p:stCondLst>
                                    <p:cond delay="0"/>
                                  </p:stCondLst>
                                  <p:childTnLst>
                                    <p:set>
                                      <p:cBhvr>
                                        <p:cTn id="77" dur="1" fill="hold">
                                          <p:stCondLst>
                                            <p:cond delay="0"/>
                                          </p:stCondLst>
                                        </p:cTn>
                                        <p:tgtEl>
                                          <p:spTgt spid="31"/>
                                        </p:tgtEl>
                                        <p:attrNameLst>
                                          <p:attrName>style.visibility</p:attrName>
                                        </p:attrNameLst>
                                      </p:cBhvr>
                                      <p:to>
                                        <p:strVal val="visible"/>
                                      </p:to>
                                    </p:set>
                                    <p:animEffect transition="in" filter="fade">
                                      <p:cBhvr>
                                        <p:cTn id="78" dur="500"/>
                                        <p:tgtEl>
                                          <p:spTgt spid="31"/>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2"/>
                                        </p:tgtEl>
                                        <p:attrNameLst>
                                          <p:attrName>style.visibility</p:attrName>
                                        </p:attrNameLst>
                                      </p:cBhvr>
                                      <p:to>
                                        <p:strVal val="visible"/>
                                      </p:to>
                                    </p:set>
                                    <p:animEffect transition="in" filter="fade">
                                      <p:cBhvr>
                                        <p:cTn id="81" dur="500"/>
                                        <p:tgtEl>
                                          <p:spTgt spid="32"/>
                                        </p:tgtEl>
                                      </p:cBhvr>
                                    </p:animEffect>
                                  </p:childTnLst>
                                </p:cTn>
                              </p:par>
                              <p:par>
                                <p:cTn id="82" presetID="10" presetClass="entr" presetSubtype="0" fill="hold" nodeType="withEffect">
                                  <p:stCondLst>
                                    <p:cond delay="0"/>
                                  </p:stCondLst>
                                  <p:childTnLst>
                                    <p:set>
                                      <p:cBhvr>
                                        <p:cTn id="83" dur="1" fill="hold">
                                          <p:stCondLst>
                                            <p:cond delay="0"/>
                                          </p:stCondLst>
                                        </p:cTn>
                                        <p:tgtEl>
                                          <p:spTgt spid="33"/>
                                        </p:tgtEl>
                                        <p:attrNameLst>
                                          <p:attrName>style.visibility</p:attrName>
                                        </p:attrNameLst>
                                      </p:cBhvr>
                                      <p:to>
                                        <p:strVal val="visible"/>
                                      </p:to>
                                    </p:set>
                                    <p:animEffect transition="in" filter="fade">
                                      <p:cBhvr>
                                        <p:cTn id="84" dur="500"/>
                                        <p:tgtEl>
                                          <p:spTgt spid="33"/>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4"/>
                                        </p:tgtEl>
                                        <p:attrNameLst>
                                          <p:attrName>style.visibility</p:attrName>
                                        </p:attrNameLst>
                                      </p:cBhvr>
                                      <p:to>
                                        <p:strVal val="visible"/>
                                      </p:to>
                                    </p:set>
                                    <p:animEffect transition="in" filter="fade">
                                      <p:cBhvr>
                                        <p:cTn id="87" dur="500"/>
                                        <p:tgtEl>
                                          <p:spTgt spid="34"/>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35"/>
                                        </p:tgtEl>
                                        <p:attrNameLst>
                                          <p:attrName>style.visibility</p:attrName>
                                        </p:attrNameLst>
                                      </p:cBhvr>
                                      <p:to>
                                        <p:strVal val="visible"/>
                                      </p:to>
                                    </p:set>
                                    <p:animEffect transition="in" filter="fade">
                                      <p:cBhvr>
                                        <p:cTn id="92"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4" grpId="0"/>
      <p:bldP spid="15" grpId="0"/>
      <p:bldP spid="16" grpId="0" animBg="1"/>
      <p:bldP spid="21" grpId="0" animBg="1"/>
      <p:bldP spid="22" grpId="0"/>
      <p:bldP spid="23" grpId="0"/>
      <p:bldP spid="24" grpId="0" animBg="1"/>
      <p:bldP spid="27" grpId="0" animBg="1"/>
      <p:bldP spid="29" grpId="0" animBg="1"/>
      <p:bldP spid="32" grpId="0" animBg="1"/>
      <p:bldP spid="34" grpId="0" animBg="1"/>
      <p:bldP spid="35" grpId="0"/>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49F3DFEE-D615-10A4-3DFB-F10E842FD6FF}"/>
              </a:ext>
            </a:extLst>
          </p:cNvPr>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 name="直接连接符 2">
            <a:extLst>
              <a:ext uri="{FF2B5EF4-FFF2-40B4-BE49-F238E27FC236}">
                <a16:creationId xmlns:a16="http://schemas.microsoft.com/office/drawing/2014/main" id="{E448084C-00C1-2D46-B2E9-907AC7E07A63}"/>
              </a:ext>
            </a:extLst>
          </p:cNvPr>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4" name="图形 3">
            <a:extLst>
              <a:ext uri="{FF2B5EF4-FFF2-40B4-BE49-F238E27FC236}">
                <a16:creationId xmlns:a16="http://schemas.microsoft.com/office/drawing/2014/main" id="{C93BB0EF-03E3-F5C3-728A-B6DC40F04B4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6" name="文本框 5">
            <a:extLst>
              <a:ext uri="{FF2B5EF4-FFF2-40B4-BE49-F238E27FC236}">
                <a16:creationId xmlns:a16="http://schemas.microsoft.com/office/drawing/2014/main" id="{47E122C5-6879-554E-162C-5ECC1522BC4D}"/>
              </a:ext>
            </a:extLst>
          </p:cNvPr>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7" name="文本框 6">
            <a:extLst>
              <a:ext uri="{FF2B5EF4-FFF2-40B4-BE49-F238E27FC236}">
                <a16:creationId xmlns:a16="http://schemas.microsoft.com/office/drawing/2014/main" id="{4C6B3F01-B8B5-2308-7B9E-BE7EFBCC8A2C}"/>
              </a:ext>
            </a:extLst>
          </p:cNvPr>
          <p:cNvSpPr txBox="1"/>
          <p:nvPr/>
        </p:nvSpPr>
        <p:spPr>
          <a:xfrm>
            <a:off x="1085932" y="41179"/>
            <a:ext cx="5304971" cy="769441"/>
          </a:xfrm>
          <a:prstGeom prst="rect">
            <a:avLst/>
          </a:prstGeom>
          <a:noFill/>
        </p:spPr>
        <p:txBody>
          <a:bodyPr wrap="square" rtlCol="0">
            <a:spAutoFit/>
          </a:bodyPr>
          <a:lstStyle/>
          <a:p>
            <a:r>
              <a:rPr lang="zh-CN" altLang="en-US" sz="4400" dirty="0">
                <a:latin typeface="仿宋" panose="02010609060101010101" pitchFamily="49" charset="-122"/>
                <a:ea typeface="仿宋" panose="02010609060101010101" pitchFamily="49" charset="-122"/>
              </a:rPr>
              <a:t>绘制三角形</a:t>
            </a:r>
            <a:endParaRPr lang="en-US" altLang="zh-CN" sz="4400" dirty="0">
              <a:latin typeface="仿宋" panose="02010609060101010101" pitchFamily="49" charset="-122"/>
              <a:ea typeface="仿宋" panose="02010609060101010101" pitchFamily="49" charset="-122"/>
            </a:endParaRPr>
          </a:p>
        </p:txBody>
      </p:sp>
      <p:sp>
        <p:nvSpPr>
          <p:cNvPr id="100" name="文本框 99">
            <a:extLst>
              <a:ext uri="{FF2B5EF4-FFF2-40B4-BE49-F238E27FC236}">
                <a16:creationId xmlns:a16="http://schemas.microsoft.com/office/drawing/2014/main" id="{C10A3C1D-DA62-377E-6A9E-2F61D08D4FA1}"/>
              </a:ext>
            </a:extLst>
          </p:cNvPr>
          <p:cNvSpPr txBox="1"/>
          <p:nvPr/>
        </p:nvSpPr>
        <p:spPr>
          <a:xfrm>
            <a:off x="540597" y="950547"/>
            <a:ext cx="5520927" cy="3539430"/>
          </a:xfrm>
          <a:prstGeom prst="rect">
            <a:avLst/>
          </a:prstGeom>
          <a:noFill/>
        </p:spPr>
        <p:txBody>
          <a:bodyPr wrap="square">
            <a:spAutoFit/>
          </a:bodyPr>
          <a:lstStyle/>
          <a:p>
            <a:pPr>
              <a:defRPr/>
            </a:pPr>
            <a:r>
              <a:rPr kumimoji="1" lang="zh-CN" altLang="en-US" sz="3200" dirty="0">
                <a:latin typeface="Consolas" panose="020B0609020204030204" pitchFamily="49" charset="0"/>
              </a:rPr>
              <a:t>输入</a:t>
            </a:r>
            <a:r>
              <a:rPr kumimoji="1" lang="en-US" altLang="zh-CN" sz="3200" dirty="0">
                <a:latin typeface="Consolas" panose="020B0609020204030204" pitchFamily="49" charset="0"/>
              </a:rPr>
              <a:t>n,</a:t>
            </a:r>
            <a:r>
              <a:rPr kumimoji="1" lang="zh-CN" altLang="en-US" sz="3200" dirty="0">
                <a:latin typeface="Consolas" panose="020B0609020204030204" pitchFamily="49" charset="0"/>
              </a:rPr>
              <a:t>绘制</a:t>
            </a:r>
            <a:r>
              <a:rPr kumimoji="1" lang="en-US" altLang="zh-CN" sz="3200" dirty="0">
                <a:latin typeface="Consolas" panose="020B0609020204030204" pitchFamily="49" charset="0"/>
              </a:rPr>
              <a:t>n</a:t>
            </a:r>
            <a:r>
              <a:rPr kumimoji="1" lang="zh-CN" altLang="en-US" sz="3200" dirty="0">
                <a:latin typeface="Consolas" panose="020B0609020204030204" pitchFamily="49" charset="0"/>
              </a:rPr>
              <a:t>行如图的三角形</a:t>
            </a:r>
            <a:endParaRPr kumimoji="1" lang="zh-CN" altLang="en-US" sz="3200" dirty="0">
              <a:solidFill>
                <a:schemeClr val="tx1"/>
              </a:solidFill>
              <a:latin typeface="Consolas" panose="020B0609020204030204" pitchFamily="49" charset="0"/>
            </a:endParaRPr>
          </a:p>
          <a:p>
            <a:pPr>
              <a:defRPr/>
            </a:pPr>
            <a:r>
              <a:rPr kumimoji="1" lang="zh-CN" altLang="en-US" sz="3200" dirty="0">
                <a:solidFill>
                  <a:schemeClr val="tx1"/>
                </a:solidFill>
                <a:latin typeface="Consolas" panose="020B0609020204030204" pitchFamily="49" charset="0"/>
              </a:rPr>
              <a:t>   *</a:t>
            </a:r>
            <a:endParaRPr kumimoji="1" lang="en-US" altLang="zh-CN" sz="3200" dirty="0">
              <a:latin typeface="Consolas" panose="020B0609020204030204" pitchFamily="49" charset="0"/>
            </a:endParaRPr>
          </a:p>
          <a:p>
            <a:pPr>
              <a:defRPr/>
            </a:pPr>
            <a:r>
              <a:rPr kumimoji="1" lang="zh-CN" altLang="en-US" sz="3200" dirty="0">
                <a:solidFill>
                  <a:schemeClr val="tx1"/>
                </a:solidFill>
                <a:latin typeface="Consolas" panose="020B0609020204030204" pitchFamily="49" charset="0"/>
              </a:rPr>
              <a:t>  ***</a:t>
            </a:r>
            <a:endParaRPr kumimoji="1" lang="en-US" altLang="zh-CN" sz="3200" dirty="0">
              <a:solidFill>
                <a:schemeClr val="tx1"/>
              </a:solidFill>
              <a:latin typeface="Consolas" panose="020B0609020204030204" pitchFamily="49" charset="0"/>
            </a:endParaRPr>
          </a:p>
          <a:p>
            <a:pPr>
              <a:defRPr/>
            </a:pPr>
            <a:r>
              <a:rPr kumimoji="1" lang="zh-CN" altLang="en-US" sz="3200" dirty="0">
                <a:solidFill>
                  <a:schemeClr val="tx1"/>
                </a:solidFill>
                <a:latin typeface="Consolas" panose="020B0609020204030204" pitchFamily="49" charset="0"/>
              </a:rPr>
              <a:t> *****</a:t>
            </a:r>
            <a:endParaRPr kumimoji="1" lang="en-US" altLang="zh-CN" sz="3200" dirty="0">
              <a:solidFill>
                <a:schemeClr val="tx1"/>
              </a:solidFill>
              <a:latin typeface="Consolas" panose="020B0609020204030204" pitchFamily="49" charset="0"/>
            </a:endParaRPr>
          </a:p>
          <a:p>
            <a:pPr>
              <a:defRPr/>
            </a:pPr>
            <a:r>
              <a:rPr kumimoji="1" lang="zh-CN" altLang="en-US" sz="3200" dirty="0">
                <a:solidFill>
                  <a:schemeClr val="tx1"/>
                </a:solidFill>
                <a:latin typeface="Consolas" panose="020B0609020204030204" pitchFamily="49" charset="0"/>
              </a:rPr>
              <a:t>*******</a:t>
            </a:r>
            <a:endParaRPr kumimoji="1" lang="en-US" altLang="zh-CN" sz="3200" dirty="0">
              <a:solidFill>
                <a:schemeClr val="tx1"/>
              </a:solidFill>
              <a:latin typeface="Consolas" panose="020B0609020204030204" pitchFamily="49" charset="0"/>
            </a:endParaRPr>
          </a:p>
          <a:p>
            <a:pPr>
              <a:defRPr/>
            </a:pPr>
            <a:r>
              <a:rPr kumimoji="1" lang="zh-CN" altLang="en-US" sz="3200" dirty="0">
                <a:latin typeface="Consolas" panose="020B0609020204030204" pitchFamily="49" charset="0"/>
              </a:rPr>
              <a:t>分析</a:t>
            </a:r>
            <a:r>
              <a:rPr kumimoji="1" lang="en-US" altLang="zh-CN" sz="3200" dirty="0">
                <a:latin typeface="Consolas" panose="020B0609020204030204" pitchFamily="49" charset="0"/>
              </a:rPr>
              <a:t>:</a:t>
            </a:r>
            <a:r>
              <a:rPr kumimoji="1" lang="zh-CN" altLang="en-US" sz="3200" dirty="0">
                <a:latin typeface="Consolas" panose="020B0609020204030204" pitchFamily="49" charset="0"/>
              </a:rPr>
              <a:t>第</a:t>
            </a:r>
            <a:r>
              <a:rPr kumimoji="1" lang="en-US" altLang="zh-CN" sz="3200" dirty="0" err="1">
                <a:latin typeface="Consolas" panose="020B0609020204030204" pitchFamily="49" charset="0"/>
              </a:rPr>
              <a:t>i</a:t>
            </a:r>
            <a:r>
              <a:rPr kumimoji="1" lang="zh-CN" altLang="en-US" sz="3200" dirty="0">
                <a:latin typeface="Consolas" panose="020B0609020204030204" pitchFamily="49" charset="0"/>
              </a:rPr>
              <a:t>行输出</a:t>
            </a:r>
            <a:r>
              <a:rPr kumimoji="1" lang="en-US" altLang="zh-CN" sz="3200" dirty="0">
                <a:latin typeface="Consolas" panose="020B0609020204030204" pitchFamily="49" charset="0"/>
              </a:rPr>
              <a:t>n-</a:t>
            </a:r>
            <a:r>
              <a:rPr kumimoji="1" lang="en-US" altLang="zh-CN" sz="3200" dirty="0" err="1">
                <a:latin typeface="Consolas" panose="020B0609020204030204" pitchFamily="49" charset="0"/>
              </a:rPr>
              <a:t>i</a:t>
            </a:r>
            <a:r>
              <a:rPr kumimoji="1" lang="zh-CN" altLang="en-US" sz="3200" dirty="0">
                <a:latin typeface="Consolas" panose="020B0609020204030204" pitchFamily="49" charset="0"/>
              </a:rPr>
              <a:t>个空格和</a:t>
            </a:r>
            <a:r>
              <a:rPr kumimoji="1" lang="en-US" altLang="zh-CN" sz="3200" dirty="0">
                <a:latin typeface="Consolas" panose="020B0609020204030204" pitchFamily="49" charset="0"/>
              </a:rPr>
              <a:t>(2</a:t>
            </a:r>
            <a:r>
              <a:rPr kumimoji="1" lang="zh-CN" altLang="en-US" sz="3200" dirty="0">
                <a:latin typeface="Consolas" panose="020B0609020204030204" pitchFamily="49" charset="0"/>
              </a:rPr>
              <a:t>*</a:t>
            </a:r>
            <a:r>
              <a:rPr kumimoji="1" lang="en-US" altLang="zh-CN" sz="3200" dirty="0">
                <a:latin typeface="Consolas" panose="020B0609020204030204" pitchFamily="49" charset="0"/>
              </a:rPr>
              <a:t>i-1)</a:t>
            </a:r>
            <a:r>
              <a:rPr kumimoji="1" lang="zh-CN" altLang="en-US" sz="3200" dirty="0">
                <a:latin typeface="Consolas" panose="020B0609020204030204" pitchFamily="49" charset="0"/>
              </a:rPr>
              <a:t>个</a:t>
            </a:r>
            <a:r>
              <a:rPr kumimoji="1" lang="en-US" altLang="zh-CN" sz="3200" dirty="0">
                <a:latin typeface="Consolas" panose="020B0609020204030204" pitchFamily="49" charset="0"/>
              </a:rPr>
              <a:t>*</a:t>
            </a:r>
          </a:p>
        </p:txBody>
      </p:sp>
      <p:sp>
        <p:nvSpPr>
          <p:cNvPr id="109" name="文本框 108">
            <a:extLst>
              <a:ext uri="{FF2B5EF4-FFF2-40B4-BE49-F238E27FC236}">
                <a16:creationId xmlns:a16="http://schemas.microsoft.com/office/drawing/2014/main" id="{E8AC526F-538C-1282-2AD9-FC456A4AA960}"/>
              </a:ext>
            </a:extLst>
          </p:cNvPr>
          <p:cNvSpPr txBox="1"/>
          <p:nvPr/>
        </p:nvSpPr>
        <p:spPr>
          <a:xfrm>
            <a:off x="6799262" y="2919309"/>
            <a:ext cx="4589456" cy="3108543"/>
          </a:xfrm>
          <a:prstGeom prst="rect">
            <a:avLst/>
          </a:prstGeom>
          <a:noFill/>
        </p:spPr>
        <p:txBody>
          <a:bodyPr wrap="square" rtlCol="0">
            <a:spAutoFit/>
          </a:bodyPr>
          <a:lstStyle/>
          <a:p>
            <a:r>
              <a:rPr lang="zh-CN" altLang="en-US" sz="2800" dirty="0">
                <a:latin typeface="仿宋" panose="02010609060101010101" pitchFamily="49" charset="-122"/>
                <a:ea typeface="仿宋" panose="02010609060101010101" pitchFamily="49" charset="-122"/>
              </a:rPr>
              <a:t>流程图摸了</a:t>
            </a:r>
            <a:r>
              <a:rPr lang="en-US" altLang="zh-CN" sz="2800" dirty="0">
                <a:latin typeface="仿宋" panose="02010609060101010101" pitchFamily="49" charset="-122"/>
                <a:ea typeface="仿宋" panose="02010609060101010101" pitchFamily="49" charset="-122"/>
              </a:rPr>
              <a:t>(</a:t>
            </a:r>
            <a:r>
              <a:rPr lang="zh-CN" altLang="en-US" sz="2800" dirty="0">
                <a:latin typeface="仿宋" panose="02010609060101010101" pitchFamily="49" charset="-122"/>
                <a:ea typeface="仿宋" panose="02010609060101010101" pitchFamily="49" charset="-122"/>
              </a:rPr>
              <a:t>三个循环篇幅画不下</a:t>
            </a:r>
            <a:r>
              <a:rPr lang="en-US" altLang="zh-CN" sz="2800" dirty="0">
                <a:latin typeface="仿宋" panose="02010609060101010101" pitchFamily="49" charset="-122"/>
                <a:ea typeface="仿宋" panose="02010609060101010101" pitchFamily="49" charset="-122"/>
              </a:rPr>
              <a:t>www</a:t>
            </a:r>
          </a:p>
          <a:p>
            <a:r>
              <a:rPr lang="zh-CN" altLang="en-US" sz="2800" dirty="0">
                <a:latin typeface="仿宋" panose="02010609060101010101" pitchFamily="49" charset="-122"/>
                <a:ea typeface="仿宋" panose="02010609060101010101" pitchFamily="49" charset="-122"/>
              </a:rPr>
              <a:t>使用第一重循环</a:t>
            </a:r>
            <a:r>
              <a:rPr lang="en-US" altLang="zh-CN" sz="2800" dirty="0" err="1">
                <a:latin typeface="仿宋" panose="02010609060101010101" pitchFamily="49" charset="-122"/>
                <a:ea typeface="仿宋" panose="02010609060101010101" pitchFamily="49" charset="-122"/>
              </a:rPr>
              <a:t>i</a:t>
            </a:r>
            <a:r>
              <a:rPr lang="zh-CN" altLang="en-US" sz="2800" dirty="0">
                <a:latin typeface="仿宋" panose="02010609060101010101" pitchFamily="49" charset="-122"/>
                <a:ea typeface="仿宋" panose="02010609060101010101" pitchFamily="49" charset="-122"/>
              </a:rPr>
              <a:t>从</a:t>
            </a:r>
            <a:r>
              <a:rPr lang="en-US" altLang="zh-CN" sz="2800" dirty="0">
                <a:latin typeface="仿宋" panose="02010609060101010101" pitchFamily="49" charset="-122"/>
                <a:ea typeface="仿宋" panose="02010609060101010101" pitchFamily="49" charset="-122"/>
              </a:rPr>
              <a:t>1~n</a:t>
            </a:r>
          </a:p>
          <a:p>
            <a:r>
              <a:rPr lang="zh-CN" altLang="en-US" sz="2800" dirty="0">
                <a:latin typeface="仿宋" panose="02010609060101010101" pitchFamily="49" charset="-122"/>
                <a:ea typeface="仿宋" panose="02010609060101010101" pitchFamily="49" charset="-122"/>
              </a:rPr>
              <a:t>然后对于每个</a:t>
            </a:r>
            <a:r>
              <a:rPr lang="en-US" altLang="zh-CN" sz="2800" dirty="0" err="1">
                <a:latin typeface="仿宋" panose="02010609060101010101" pitchFamily="49" charset="-122"/>
                <a:ea typeface="仿宋" panose="02010609060101010101" pitchFamily="49" charset="-122"/>
              </a:rPr>
              <a:t>i</a:t>
            </a:r>
            <a:r>
              <a:rPr lang="zh-CN" altLang="en-US" sz="2800" dirty="0">
                <a:latin typeface="仿宋" panose="02010609060101010101" pitchFamily="49" charset="-122"/>
                <a:ea typeface="仿宋" panose="02010609060101010101" pitchFamily="49" charset="-122"/>
              </a:rPr>
              <a:t>定义</a:t>
            </a:r>
            <a:r>
              <a:rPr lang="en-US" altLang="zh-CN" sz="2800" dirty="0">
                <a:latin typeface="仿宋" panose="02010609060101010101" pitchFamily="49" charset="-122"/>
                <a:ea typeface="仿宋" panose="02010609060101010101" pitchFamily="49" charset="-122"/>
              </a:rPr>
              <a:t>j</a:t>
            </a:r>
          </a:p>
          <a:p>
            <a:r>
              <a:rPr lang="zh-CN" altLang="en-US" sz="2800" dirty="0">
                <a:latin typeface="仿宋" panose="02010609060101010101" pitchFamily="49" charset="-122"/>
                <a:ea typeface="仿宋" panose="02010609060101010101" pitchFamily="49" charset="-122"/>
              </a:rPr>
              <a:t>使</a:t>
            </a:r>
            <a:r>
              <a:rPr lang="en-US" altLang="zh-CN" sz="2800" dirty="0">
                <a:latin typeface="仿宋" panose="02010609060101010101" pitchFamily="49" charset="-122"/>
                <a:ea typeface="仿宋" panose="02010609060101010101" pitchFamily="49" charset="-122"/>
              </a:rPr>
              <a:t>j</a:t>
            </a:r>
            <a:r>
              <a:rPr lang="zh-CN" altLang="en-US" sz="2800" dirty="0">
                <a:latin typeface="仿宋" panose="02010609060101010101" pitchFamily="49" charset="-122"/>
                <a:ea typeface="仿宋" panose="02010609060101010101" pitchFamily="49" charset="-122"/>
              </a:rPr>
              <a:t>先从</a:t>
            </a:r>
            <a:r>
              <a:rPr lang="en-US" altLang="zh-CN" sz="2800" dirty="0">
                <a:latin typeface="仿宋" panose="02010609060101010101" pitchFamily="49" charset="-122"/>
                <a:ea typeface="仿宋" panose="02010609060101010101" pitchFamily="49" charset="-122"/>
              </a:rPr>
              <a:t>1~(n-</a:t>
            </a:r>
            <a:r>
              <a:rPr lang="en-US" altLang="zh-CN" sz="2800" dirty="0" err="1">
                <a:latin typeface="仿宋" panose="02010609060101010101" pitchFamily="49" charset="-122"/>
                <a:ea typeface="仿宋" panose="02010609060101010101" pitchFamily="49" charset="-122"/>
              </a:rPr>
              <a:t>i</a:t>
            </a:r>
            <a:r>
              <a:rPr lang="en-US" altLang="zh-CN" sz="2800" dirty="0">
                <a:latin typeface="仿宋" panose="02010609060101010101" pitchFamily="49" charset="-122"/>
                <a:ea typeface="仿宋" panose="02010609060101010101" pitchFamily="49" charset="-122"/>
              </a:rPr>
              <a:t>)</a:t>
            </a:r>
            <a:r>
              <a:rPr lang="zh-CN" altLang="en-US" sz="2800" dirty="0">
                <a:latin typeface="仿宋" panose="02010609060101010101" pitchFamily="49" charset="-122"/>
                <a:ea typeface="仿宋" panose="02010609060101010101" pitchFamily="49" charset="-122"/>
              </a:rPr>
              <a:t>输出空格</a:t>
            </a:r>
            <a:endParaRPr lang="en-US" altLang="zh-CN" sz="2800" dirty="0">
              <a:latin typeface="仿宋" panose="02010609060101010101" pitchFamily="49" charset="-122"/>
              <a:ea typeface="仿宋" panose="02010609060101010101" pitchFamily="49" charset="-122"/>
            </a:endParaRPr>
          </a:p>
          <a:p>
            <a:r>
              <a:rPr lang="zh-CN" altLang="en-US" sz="2800" dirty="0">
                <a:latin typeface="仿宋" panose="02010609060101010101" pitchFamily="49" charset="-122"/>
                <a:ea typeface="仿宋" panose="02010609060101010101" pitchFamily="49" charset="-122"/>
              </a:rPr>
              <a:t>使</a:t>
            </a:r>
            <a:r>
              <a:rPr lang="en-US" altLang="zh-CN" sz="2800" dirty="0">
                <a:latin typeface="仿宋" panose="02010609060101010101" pitchFamily="49" charset="-122"/>
                <a:ea typeface="仿宋" panose="02010609060101010101" pitchFamily="49" charset="-122"/>
              </a:rPr>
              <a:t>J</a:t>
            </a:r>
            <a:r>
              <a:rPr lang="zh-CN" altLang="en-US" sz="2800" dirty="0">
                <a:latin typeface="仿宋" panose="02010609060101010101" pitchFamily="49" charset="-122"/>
                <a:ea typeface="仿宋" panose="02010609060101010101" pitchFamily="49" charset="-122"/>
              </a:rPr>
              <a:t>再从</a:t>
            </a:r>
            <a:r>
              <a:rPr lang="en-US" altLang="zh-CN" sz="2800" dirty="0">
                <a:latin typeface="仿宋" panose="02010609060101010101" pitchFamily="49" charset="-122"/>
                <a:ea typeface="仿宋" panose="02010609060101010101" pitchFamily="49" charset="-122"/>
              </a:rPr>
              <a:t>1~(2i-1)</a:t>
            </a:r>
            <a:r>
              <a:rPr lang="zh-CN" altLang="en-US" sz="2800" dirty="0">
                <a:latin typeface="仿宋" panose="02010609060101010101" pitchFamily="49" charset="-122"/>
                <a:ea typeface="仿宋" panose="02010609060101010101" pitchFamily="49" charset="-122"/>
              </a:rPr>
              <a:t>输出*</a:t>
            </a:r>
            <a:endParaRPr lang="en-US" altLang="zh-CN" sz="2800" dirty="0">
              <a:latin typeface="仿宋" panose="02010609060101010101" pitchFamily="49" charset="-122"/>
              <a:ea typeface="仿宋" panose="02010609060101010101" pitchFamily="49" charset="-122"/>
            </a:endParaRPr>
          </a:p>
          <a:p>
            <a:endParaRPr lang="en-US" altLang="zh-CN" sz="2800" dirty="0">
              <a:latin typeface="仿宋" panose="02010609060101010101" pitchFamily="49" charset="-122"/>
              <a:ea typeface="仿宋" panose="02010609060101010101" pitchFamily="49" charset="-122"/>
            </a:endParaRPr>
          </a:p>
        </p:txBody>
      </p:sp>
      <p:pic>
        <p:nvPicPr>
          <p:cNvPr id="8" name="图片 4">
            <a:extLst>
              <a:ext uri="{FF2B5EF4-FFF2-40B4-BE49-F238E27FC236}">
                <a16:creationId xmlns:a16="http://schemas.microsoft.com/office/drawing/2014/main" id="{E32781C8-D43F-0821-3FF6-F80910F468D5}"/>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416425" y="6219825"/>
            <a:ext cx="542925" cy="542925"/>
          </a:xfrm>
          <a:prstGeom prst="rect">
            <a:avLst/>
          </a:prstGeom>
        </p:spPr>
      </p:pic>
      <p:pic>
        <p:nvPicPr>
          <p:cNvPr id="9" name="图片 8">
            <a:extLst>
              <a:ext uri="{FF2B5EF4-FFF2-40B4-BE49-F238E27FC236}">
                <a16:creationId xmlns:a16="http://schemas.microsoft.com/office/drawing/2014/main" id="{8F098364-D9A8-0F93-439C-29C61CC454A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653769" y="922297"/>
            <a:ext cx="1911146" cy="2028755"/>
          </a:xfrm>
          <a:prstGeom prst="rect">
            <a:avLst/>
          </a:prstGeom>
        </p:spPr>
      </p:pic>
    </p:spTree>
    <p:extLst>
      <p:ext uri="{BB962C8B-B14F-4D97-AF65-F5344CB8AC3E}">
        <p14:creationId xmlns:p14="http://schemas.microsoft.com/office/powerpoint/2010/main" val="33206364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
                                        </p:tgtEl>
                                        <p:attrNameLst>
                                          <p:attrName>style.visibility</p:attrName>
                                        </p:attrNameLst>
                                      </p:cBhvr>
                                      <p:to>
                                        <p:strVal val="visible"/>
                                      </p:to>
                                    </p:set>
                                    <p:animEffect transition="in" filter="fade">
                                      <p:cBhvr>
                                        <p:cTn id="7" dur="500"/>
                                        <p:tgtEl>
                                          <p:spTgt spid="10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9"/>
                                        </p:tgtEl>
                                        <p:attrNameLst>
                                          <p:attrName>style.visibility</p:attrName>
                                        </p:attrNameLst>
                                      </p:cBhvr>
                                      <p:to>
                                        <p:strVal val="visible"/>
                                      </p:to>
                                    </p:set>
                                    <p:animEffect transition="in" filter="fade">
                                      <p:cBhvr>
                                        <p:cTn id="12" dur="500"/>
                                        <p:tgtEl>
                                          <p:spTgt spid="109"/>
                                        </p:tgtEl>
                                      </p:cBhvr>
                                    </p:animEffect>
                                  </p:childTnLst>
                                </p:cTn>
                              </p:par>
                              <p:par>
                                <p:cTn id="13" presetID="10"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p:bldP spid="109" grpId="0"/>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49F3DFEE-D615-10A4-3DFB-F10E842FD6FF}"/>
              </a:ext>
            </a:extLst>
          </p:cNvPr>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 name="直接连接符 2">
            <a:extLst>
              <a:ext uri="{FF2B5EF4-FFF2-40B4-BE49-F238E27FC236}">
                <a16:creationId xmlns:a16="http://schemas.microsoft.com/office/drawing/2014/main" id="{E448084C-00C1-2D46-B2E9-907AC7E07A63}"/>
              </a:ext>
            </a:extLst>
          </p:cNvPr>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4" name="图形 3">
            <a:extLst>
              <a:ext uri="{FF2B5EF4-FFF2-40B4-BE49-F238E27FC236}">
                <a16:creationId xmlns:a16="http://schemas.microsoft.com/office/drawing/2014/main" id="{C93BB0EF-03E3-F5C3-728A-B6DC40F04B4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6" name="文本框 5">
            <a:extLst>
              <a:ext uri="{FF2B5EF4-FFF2-40B4-BE49-F238E27FC236}">
                <a16:creationId xmlns:a16="http://schemas.microsoft.com/office/drawing/2014/main" id="{47E122C5-6879-554E-162C-5ECC1522BC4D}"/>
              </a:ext>
            </a:extLst>
          </p:cNvPr>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sp>
        <p:nvSpPr>
          <p:cNvPr id="7" name="文本框 6">
            <a:extLst>
              <a:ext uri="{FF2B5EF4-FFF2-40B4-BE49-F238E27FC236}">
                <a16:creationId xmlns:a16="http://schemas.microsoft.com/office/drawing/2014/main" id="{4C6B3F01-B8B5-2308-7B9E-BE7EFBCC8A2C}"/>
              </a:ext>
            </a:extLst>
          </p:cNvPr>
          <p:cNvSpPr txBox="1"/>
          <p:nvPr/>
        </p:nvSpPr>
        <p:spPr>
          <a:xfrm>
            <a:off x="1085932" y="41179"/>
            <a:ext cx="5304971" cy="769441"/>
          </a:xfrm>
          <a:prstGeom prst="rect">
            <a:avLst/>
          </a:prstGeom>
          <a:noFill/>
        </p:spPr>
        <p:txBody>
          <a:bodyPr wrap="square" rtlCol="0">
            <a:spAutoFit/>
          </a:bodyPr>
          <a:lstStyle/>
          <a:p>
            <a:r>
              <a:rPr lang="zh-CN" altLang="en-US" sz="4400" dirty="0">
                <a:latin typeface="仿宋" panose="02010609060101010101" pitchFamily="49" charset="-122"/>
                <a:ea typeface="仿宋" panose="02010609060101010101" pitchFamily="49" charset="-122"/>
              </a:rPr>
              <a:t>绘制三角形</a:t>
            </a:r>
            <a:endParaRPr lang="en-US" altLang="zh-CN" sz="4400" dirty="0">
              <a:latin typeface="仿宋" panose="02010609060101010101" pitchFamily="49" charset="-122"/>
              <a:ea typeface="仿宋" panose="02010609060101010101" pitchFamily="49" charset="-122"/>
            </a:endParaRPr>
          </a:p>
        </p:txBody>
      </p:sp>
      <p:pic>
        <p:nvPicPr>
          <p:cNvPr id="8" name="图片 7">
            <a:extLst>
              <a:ext uri="{FF2B5EF4-FFF2-40B4-BE49-F238E27FC236}">
                <a16:creationId xmlns:a16="http://schemas.microsoft.com/office/drawing/2014/main" id="{341F835B-85F4-4ECB-7D19-F64AEBD704B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86553" y="918176"/>
            <a:ext cx="6802668" cy="5102000"/>
          </a:xfrm>
          <a:prstGeom prst="rect">
            <a:avLst/>
          </a:prstGeom>
        </p:spPr>
      </p:pic>
      <p:pic>
        <p:nvPicPr>
          <p:cNvPr id="9" name="图片 4">
            <a:extLst>
              <a:ext uri="{FF2B5EF4-FFF2-40B4-BE49-F238E27FC236}">
                <a16:creationId xmlns:a16="http://schemas.microsoft.com/office/drawing/2014/main" id="{273089B2-3084-9B2E-88E3-A7BC4AA5B16B}"/>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4416425" y="6219825"/>
            <a:ext cx="542925" cy="542925"/>
          </a:xfrm>
          <a:prstGeom prst="rect">
            <a:avLst/>
          </a:prstGeom>
        </p:spPr>
      </p:pic>
    </p:spTree>
    <p:extLst>
      <p:ext uri="{BB962C8B-B14F-4D97-AF65-F5344CB8AC3E}">
        <p14:creationId xmlns:p14="http://schemas.microsoft.com/office/powerpoint/2010/main" val="4403796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49F3DFEE-D615-10A4-3DFB-F10E842FD6FF}"/>
              </a:ext>
            </a:extLst>
          </p:cNvPr>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 name="直接连接符 2">
            <a:extLst>
              <a:ext uri="{FF2B5EF4-FFF2-40B4-BE49-F238E27FC236}">
                <a16:creationId xmlns:a16="http://schemas.microsoft.com/office/drawing/2014/main" id="{E448084C-00C1-2D46-B2E9-907AC7E07A63}"/>
              </a:ext>
            </a:extLst>
          </p:cNvPr>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4" name="图形 3">
            <a:extLst>
              <a:ext uri="{FF2B5EF4-FFF2-40B4-BE49-F238E27FC236}">
                <a16:creationId xmlns:a16="http://schemas.microsoft.com/office/drawing/2014/main" id="{C93BB0EF-03E3-F5C3-728A-B6DC40F04B4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6" name="文本框 5">
            <a:extLst>
              <a:ext uri="{FF2B5EF4-FFF2-40B4-BE49-F238E27FC236}">
                <a16:creationId xmlns:a16="http://schemas.microsoft.com/office/drawing/2014/main" id="{47E122C5-6879-554E-162C-5ECC1522BC4D}"/>
              </a:ext>
            </a:extLst>
          </p:cNvPr>
          <p:cNvSpPr txBox="1"/>
          <p:nvPr/>
        </p:nvSpPr>
        <p:spPr>
          <a:xfrm>
            <a:off x="5053330" y="6322695"/>
            <a:ext cx="3491865" cy="398780"/>
          </a:xfrm>
          <a:prstGeom prst="rect">
            <a:avLst/>
          </a:prstGeom>
          <a:noFill/>
        </p:spPr>
        <p:txBody>
          <a:bodyPr wrap="square" rtlCol="0">
            <a:spAutoFit/>
          </a:bodyPr>
          <a:lstStyle/>
          <a:p>
            <a:r>
              <a:rPr lang="zh-CN" altLang="en-US" sz="2000" dirty="0">
                <a:latin typeface="汉仪黑方简" panose="00020600040101010101" charset="-122"/>
                <a:ea typeface="汉仪黑方简" panose="00020600040101010101" charset="-122"/>
              </a:rPr>
              <a:t>网络开拓者协会</a:t>
            </a:r>
          </a:p>
        </p:txBody>
      </p:sp>
      <p:sp>
        <p:nvSpPr>
          <p:cNvPr id="7" name="文本框 6">
            <a:extLst>
              <a:ext uri="{FF2B5EF4-FFF2-40B4-BE49-F238E27FC236}">
                <a16:creationId xmlns:a16="http://schemas.microsoft.com/office/drawing/2014/main" id="{8E8FF0D9-604D-C594-D88A-028C69D0D552}"/>
              </a:ext>
            </a:extLst>
          </p:cNvPr>
          <p:cNvSpPr txBox="1"/>
          <p:nvPr/>
        </p:nvSpPr>
        <p:spPr>
          <a:xfrm>
            <a:off x="1090990" y="846023"/>
            <a:ext cx="10145485" cy="2554545"/>
          </a:xfrm>
          <a:prstGeom prst="rect">
            <a:avLst/>
          </a:prstGeom>
          <a:noFill/>
        </p:spPr>
        <p:txBody>
          <a:bodyPr wrap="square" rtlCol="0">
            <a:spAutoFit/>
          </a:bodyPr>
          <a:lstStyle/>
          <a:p>
            <a:r>
              <a:rPr lang="zh-CN" altLang="en-US" sz="4000" b="1" dirty="0">
                <a:latin typeface="仿宋" panose="02010609060101010101" pitchFamily="49" charset="-122"/>
                <a:ea typeface="仿宋" panose="02010609060101010101" pitchFamily="49" charset="-122"/>
              </a:rPr>
              <a:t>程序设计方法总结</a:t>
            </a:r>
            <a:r>
              <a:rPr lang="en-US" altLang="zh-CN" sz="4000" b="1" dirty="0">
                <a:latin typeface="仿宋" panose="02010609060101010101" pitchFamily="49" charset="-122"/>
                <a:ea typeface="仿宋" panose="02010609060101010101" pitchFamily="49" charset="-122"/>
              </a:rPr>
              <a:t>:</a:t>
            </a:r>
          </a:p>
          <a:p>
            <a:pPr marL="571500" indent="-571500">
              <a:buFont typeface="Arial" panose="020B0604020202020204" pitchFamily="34" charset="0"/>
              <a:buChar char="•"/>
            </a:pPr>
            <a:r>
              <a:rPr lang="zh-CN" altLang="en-US" sz="4000" dirty="0">
                <a:latin typeface="仿宋" panose="02010609060101010101" pitchFamily="49" charset="-122"/>
                <a:ea typeface="仿宋" panose="02010609060101010101" pitchFamily="49" charset="-122"/>
              </a:rPr>
              <a:t>好好学会循环应该就差不多够了</a:t>
            </a:r>
            <a:endParaRPr lang="en-US" altLang="zh-CN" sz="4000" dirty="0">
              <a:latin typeface="仿宋" panose="02010609060101010101" pitchFamily="49" charset="-122"/>
              <a:ea typeface="仿宋" panose="02010609060101010101" pitchFamily="49" charset="-122"/>
            </a:endParaRPr>
          </a:p>
          <a:p>
            <a:pPr marL="571500" indent="-571500">
              <a:buFont typeface="Arial" panose="020B0604020202020204" pitchFamily="34" charset="0"/>
              <a:buChar char="•"/>
            </a:pPr>
            <a:r>
              <a:rPr lang="zh-CN" altLang="en-US" sz="4000" dirty="0">
                <a:latin typeface="仿宋" panose="02010609060101010101" pitchFamily="49" charset="-122"/>
                <a:ea typeface="仿宋" panose="02010609060101010101" pitchFamily="49" charset="-122"/>
              </a:rPr>
              <a:t>套个冒泡排序模板就够用了</a:t>
            </a:r>
            <a:endParaRPr lang="en-US" altLang="zh-CN" sz="4000" dirty="0">
              <a:latin typeface="仿宋" panose="02010609060101010101" pitchFamily="49" charset="-122"/>
              <a:ea typeface="仿宋" panose="02010609060101010101" pitchFamily="49" charset="-122"/>
            </a:endParaRPr>
          </a:p>
          <a:p>
            <a:pPr marL="571500" indent="-571500">
              <a:buFont typeface="Arial" panose="020B0604020202020204" pitchFamily="34" charset="0"/>
              <a:buChar char="•"/>
            </a:pPr>
            <a:r>
              <a:rPr lang="zh-CN" altLang="en-US" sz="4000" dirty="0">
                <a:latin typeface="仿宋" panose="02010609060101010101" pitchFamily="49" charset="-122"/>
                <a:ea typeface="仿宋" panose="02010609060101010101" pitchFamily="49" charset="-122"/>
              </a:rPr>
              <a:t>注意循环变量的设置以及条件的终止</a:t>
            </a:r>
            <a:endParaRPr lang="en-US" altLang="zh-CN" sz="4000" dirty="0">
              <a:latin typeface="仿宋" panose="02010609060101010101" pitchFamily="49" charset="-122"/>
              <a:ea typeface="仿宋" panose="02010609060101010101" pitchFamily="49" charset="-122"/>
            </a:endParaRPr>
          </a:p>
        </p:txBody>
      </p:sp>
      <p:sp>
        <p:nvSpPr>
          <p:cNvPr id="12" name="文本框 11">
            <a:extLst>
              <a:ext uri="{FF2B5EF4-FFF2-40B4-BE49-F238E27FC236}">
                <a16:creationId xmlns:a16="http://schemas.microsoft.com/office/drawing/2014/main" id="{CF649047-F7B1-DBD6-E271-3BE6E0554B82}"/>
              </a:ext>
            </a:extLst>
          </p:cNvPr>
          <p:cNvSpPr txBox="1"/>
          <p:nvPr/>
        </p:nvSpPr>
        <p:spPr>
          <a:xfrm>
            <a:off x="1090990" y="3429000"/>
            <a:ext cx="10145485" cy="2554545"/>
          </a:xfrm>
          <a:prstGeom prst="rect">
            <a:avLst/>
          </a:prstGeom>
          <a:noFill/>
        </p:spPr>
        <p:txBody>
          <a:bodyPr wrap="square" rtlCol="0">
            <a:spAutoFit/>
          </a:bodyPr>
          <a:lstStyle/>
          <a:p>
            <a:r>
              <a:rPr lang="zh-CN" altLang="en-US" sz="4000" b="1" dirty="0">
                <a:latin typeface="仿宋" panose="02010609060101010101" pitchFamily="49" charset="-122"/>
                <a:ea typeface="仿宋" panose="02010609060101010101" pitchFamily="49" charset="-122"/>
              </a:rPr>
              <a:t>流程图绘制</a:t>
            </a:r>
            <a:r>
              <a:rPr lang="en-US" altLang="zh-CN" sz="4000" b="1" dirty="0">
                <a:latin typeface="仿宋" panose="02010609060101010101" pitchFamily="49" charset="-122"/>
                <a:ea typeface="仿宋" panose="02010609060101010101" pitchFamily="49" charset="-122"/>
              </a:rPr>
              <a:t>tips:</a:t>
            </a:r>
          </a:p>
          <a:p>
            <a:pPr marL="571500" indent="-571500">
              <a:buFont typeface="Arial" panose="020B0604020202020204" pitchFamily="34" charset="0"/>
              <a:buChar char="•"/>
            </a:pPr>
            <a:r>
              <a:rPr lang="zh-CN" altLang="en-US" sz="4000" dirty="0">
                <a:latin typeface="仿宋" panose="02010609060101010101" pitchFamily="49" charset="-122"/>
                <a:ea typeface="仿宋" panose="02010609060101010101" pitchFamily="49" charset="-122"/>
              </a:rPr>
              <a:t>赋值语句感觉</a:t>
            </a:r>
            <a:r>
              <a:rPr lang="en-US" altLang="zh-CN" sz="4000" dirty="0">
                <a:latin typeface="仿宋" panose="02010609060101010101" pitchFamily="49" charset="-122"/>
                <a:ea typeface="仿宋" panose="02010609060101010101" pitchFamily="49" charset="-122"/>
              </a:rPr>
              <a:t>= </a:t>
            </a:r>
            <a:r>
              <a:rPr lang="zh-CN" altLang="en-US" sz="4000" dirty="0">
                <a:latin typeface="仿宋" panose="02010609060101010101" pitchFamily="49" charset="-122"/>
                <a:ea typeface="仿宋" panose="02010609060101010101" pitchFamily="49" charset="-122"/>
              </a:rPr>
              <a:t>←和 </a:t>
            </a:r>
            <a:r>
              <a:rPr lang="en-US" altLang="zh-CN" sz="4000" b="1" dirty="0">
                <a:latin typeface="仿宋" panose="02010609060101010101" pitchFamily="49" charset="-122"/>
                <a:ea typeface="仿宋" panose="02010609060101010101" pitchFamily="49" charset="-122"/>
                <a:sym typeface="Symbol" pitchFamily="18" charset="2"/>
              </a:rPr>
              <a:t></a:t>
            </a:r>
            <a:r>
              <a:rPr lang="zh-CN" altLang="en-US" sz="4000" dirty="0">
                <a:latin typeface="仿宋" panose="02010609060101010101" pitchFamily="49" charset="-122"/>
                <a:ea typeface="仿宋" panose="02010609060101010101" pitchFamily="49" charset="-122"/>
                <a:sym typeface="Symbol" pitchFamily="18" charset="2"/>
              </a:rPr>
              <a:t>都可以接受吧</a:t>
            </a:r>
            <a:endParaRPr lang="en-US" altLang="zh-CN" sz="4000" dirty="0">
              <a:latin typeface="仿宋" panose="02010609060101010101" pitchFamily="49" charset="-122"/>
              <a:ea typeface="仿宋" panose="02010609060101010101" pitchFamily="49" charset="-122"/>
            </a:endParaRPr>
          </a:p>
          <a:p>
            <a:pPr marL="571500" indent="-571500">
              <a:buFont typeface="Arial" panose="020B0604020202020204" pitchFamily="34" charset="0"/>
              <a:buChar char="•"/>
            </a:pPr>
            <a:r>
              <a:rPr lang="zh-CN" altLang="en-US" sz="4000" dirty="0">
                <a:latin typeface="仿宋" panose="02010609060101010101" pitchFamily="49" charset="-122"/>
                <a:ea typeface="仿宋" panose="02010609060101010101" pitchFamily="49" charset="-122"/>
              </a:rPr>
              <a:t>仍然推荐复制粘贴和</a:t>
            </a:r>
            <a:r>
              <a:rPr lang="en-US" altLang="zh-CN" sz="4000" dirty="0">
                <a:latin typeface="仿宋" panose="02010609060101010101" pitchFamily="49" charset="-122"/>
                <a:ea typeface="仿宋" panose="02010609060101010101" pitchFamily="49" charset="-122"/>
              </a:rPr>
              <a:t>ctrl</a:t>
            </a:r>
            <a:r>
              <a:rPr lang="zh-CN" altLang="en-US" sz="4000" dirty="0">
                <a:latin typeface="仿宋" panose="02010609060101010101" pitchFamily="49" charset="-122"/>
                <a:ea typeface="仿宋" panose="02010609060101010101" pitchFamily="49" charset="-122"/>
              </a:rPr>
              <a:t>拖拽</a:t>
            </a:r>
            <a:endParaRPr lang="en-US" altLang="zh-CN" sz="4000" dirty="0">
              <a:latin typeface="仿宋" panose="02010609060101010101" pitchFamily="49" charset="-122"/>
              <a:ea typeface="仿宋" panose="02010609060101010101" pitchFamily="49" charset="-122"/>
            </a:endParaRPr>
          </a:p>
          <a:p>
            <a:pPr marL="571500" indent="-571500">
              <a:buFont typeface="Arial" panose="020B0604020202020204" pitchFamily="34" charset="0"/>
              <a:buChar char="•"/>
            </a:pPr>
            <a:r>
              <a:rPr lang="en-US" altLang="zh-CN" sz="4000" dirty="0">
                <a:latin typeface="仿宋" panose="02010609060101010101" pitchFamily="49" charset="-122"/>
                <a:ea typeface="仿宋" panose="02010609060101010101" pitchFamily="49" charset="-122"/>
              </a:rPr>
              <a:t>ppt</a:t>
            </a:r>
            <a:r>
              <a:rPr lang="zh-CN" altLang="en-US" sz="4000" dirty="0">
                <a:latin typeface="仿宋" panose="02010609060101010101" pitchFamily="49" charset="-122"/>
                <a:ea typeface="仿宋" panose="02010609060101010101" pitchFamily="49" charset="-122"/>
              </a:rPr>
              <a:t>的参考线很好用</a:t>
            </a:r>
            <a:endParaRPr lang="en-US" altLang="zh-CN" sz="4000" dirty="0">
              <a:latin typeface="仿宋" panose="02010609060101010101" pitchFamily="49" charset="-122"/>
              <a:ea typeface="仿宋" panose="02010609060101010101" pitchFamily="49" charset="-122"/>
            </a:endParaRPr>
          </a:p>
        </p:txBody>
      </p:sp>
      <p:pic>
        <p:nvPicPr>
          <p:cNvPr id="8" name="图片 4">
            <a:extLst>
              <a:ext uri="{FF2B5EF4-FFF2-40B4-BE49-F238E27FC236}">
                <a16:creationId xmlns:a16="http://schemas.microsoft.com/office/drawing/2014/main" id="{94C30231-54F7-7B54-51A2-FFC845B4E38B}"/>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416425" y="6219825"/>
            <a:ext cx="542925" cy="542925"/>
          </a:xfrm>
          <a:prstGeom prst="rect">
            <a:avLst/>
          </a:prstGeom>
        </p:spPr>
      </p:pic>
    </p:spTree>
    <p:extLst>
      <p:ext uri="{BB962C8B-B14F-4D97-AF65-F5344CB8AC3E}">
        <p14:creationId xmlns:p14="http://schemas.microsoft.com/office/powerpoint/2010/main" val="7217964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2" grpId="0"/>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49F3DFEE-D615-10A4-3DFB-F10E842FD6FF}"/>
              </a:ext>
            </a:extLst>
          </p:cNvPr>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 name="直接连接符 2">
            <a:extLst>
              <a:ext uri="{FF2B5EF4-FFF2-40B4-BE49-F238E27FC236}">
                <a16:creationId xmlns:a16="http://schemas.microsoft.com/office/drawing/2014/main" id="{E448084C-00C1-2D46-B2E9-907AC7E07A63}"/>
              </a:ext>
            </a:extLst>
          </p:cNvPr>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4" name="图形 3">
            <a:extLst>
              <a:ext uri="{FF2B5EF4-FFF2-40B4-BE49-F238E27FC236}">
                <a16:creationId xmlns:a16="http://schemas.microsoft.com/office/drawing/2014/main" id="{C93BB0EF-03E3-F5C3-728A-B6DC40F04B4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49154" y="6219714"/>
            <a:ext cx="2457450" cy="542925"/>
          </a:xfrm>
          <a:prstGeom prst="rect">
            <a:avLst/>
          </a:prstGeom>
        </p:spPr>
      </p:pic>
      <p:sp>
        <p:nvSpPr>
          <p:cNvPr id="6" name="文本框 5">
            <a:extLst>
              <a:ext uri="{FF2B5EF4-FFF2-40B4-BE49-F238E27FC236}">
                <a16:creationId xmlns:a16="http://schemas.microsoft.com/office/drawing/2014/main" id="{47E122C5-6879-554E-162C-5ECC1522BC4D}"/>
              </a:ext>
            </a:extLst>
          </p:cNvPr>
          <p:cNvSpPr txBox="1"/>
          <p:nvPr/>
        </p:nvSpPr>
        <p:spPr>
          <a:xfrm>
            <a:off x="5053330" y="6322695"/>
            <a:ext cx="3491865" cy="398780"/>
          </a:xfrm>
          <a:prstGeom prst="rect">
            <a:avLst/>
          </a:prstGeom>
          <a:noFill/>
        </p:spPr>
        <p:txBody>
          <a:bodyPr wrap="square" rtlCol="0">
            <a:spAutoFit/>
          </a:bodyPr>
          <a:lstStyle/>
          <a:p>
            <a:r>
              <a:rPr lang="zh-CN" altLang="en-US" sz="2000">
                <a:latin typeface="汉仪黑方简" panose="00020600040101010101" charset="-122"/>
                <a:ea typeface="汉仪黑方简" panose="00020600040101010101" charset="-122"/>
              </a:rPr>
              <a:t>网络开拓者协会</a:t>
            </a:r>
          </a:p>
        </p:txBody>
      </p:sp>
      <p:pic>
        <p:nvPicPr>
          <p:cNvPr id="7" name="图片 6">
            <a:extLst>
              <a:ext uri="{FF2B5EF4-FFF2-40B4-BE49-F238E27FC236}">
                <a16:creationId xmlns:a16="http://schemas.microsoft.com/office/drawing/2014/main" id="{F79AA330-C0CC-6EE3-6090-C960F117FA3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58301" y="2988696"/>
            <a:ext cx="3039156" cy="3039156"/>
          </a:xfrm>
          <a:prstGeom prst="rect">
            <a:avLst/>
          </a:prstGeom>
        </p:spPr>
      </p:pic>
      <p:pic>
        <p:nvPicPr>
          <p:cNvPr id="8" name="图片 7">
            <a:extLst>
              <a:ext uri="{FF2B5EF4-FFF2-40B4-BE49-F238E27FC236}">
                <a16:creationId xmlns:a16="http://schemas.microsoft.com/office/drawing/2014/main" id="{0EAD9A29-C800-0990-7CD5-718F41CC841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11755" y="2928803"/>
            <a:ext cx="3039156" cy="2988503"/>
          </a:xfrm>
          <a:prstGeom prst="rect">
            <a:avLst/>
          </a:prstGeom>
        </p:spPr>
      </p:pic>
      <p:pic>
        <p:nvPicPr>
          <p:cNvPr id="9" name="图片 8">
            <a:extLst>
              <a:ext uri="{FF2B5EF4-FFF2-40B4-BE49-F238E27FC236}">
                <a16:creationId xmlns:a16="http://schemas.microsoft.com/office/drawing/2014/main" id="{E7E343FE-7580-B103-A448-27677859010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38460" y="2565174"/>
            <a:ext cx="3886200" cy="3886200"/>
          </a:xfrm>
          <a:prstGeom prst="rect">
            <a:avLst/>
          </a:prstGeom>
        </p:spPr>
      </p:pic>
      <p:sp>
        <p:nvSpPr>
          <p:cNvPr id="10" name="文本框 9">
            <a:extLst>
              <a:ext uri="{FF2B5EF4-FFF2-40B4-BE49-F238E27FC236}">
                <a16:creationId xmlns:a16="http://schemas.microsoft.com/office/drawing/2014/main" id="{96989E4F-0D2E-0FA4-E444-D1B02E0B5243}"/>
              </a:ext>
            </a:extLst>
          </p:cNvPr>
          <p:cNvSpPr txBox="1"/>
          <p:nvPr/>
        </p:nvSpPr>
        <p:spPr>
          <a:xfrm>
            <a:off x="932240" y="1068712"/>
            <a:ext cx="10145485" cy="1446550"/>
          </a:xfrm>
          <a:prstGeom prst="rect">
            <a:avLst/>
          </a:prstGeom>
          <a:noFill/>
        </p:spPr>
        <p:txBody>
          <a:bodyPr wrap="square" rtlCol="0">
            <a:spAutoFit/>
          </a:bodyPr>
          <a:lstStyle/>
          <a:p>
            <a:pPr algn="ctr"/>
            <a:r>
              <a:rPr lang="zh-CN" altLang="en-US" sz="4400" b="1" dirty="0">
                <a:latin typeface="仿宋" panose="02010609060101010101" pitchFamily="49" charset="-122"/>
                <a:ea typeface="仿宋" panose="02010609060101010101" pitchFamily="49" charset="-122"/>
              </a:rPr>
              <a:t>大家大计基考试加油捏</a:t>
            </a:r>
            <a:r>
              <a:rPr lang="en-US" altLang="zh-CN" sz="4400" b="1" dirty="0">
                <a:latin typeface="仿宋" panose="02010609060101010101" pitchFamily="49" charset="-122"/>
                <a:ea typeface="仿宋" panose="02010609060101010101" pitchFamily="49" charset="-122"/>
              </a:rPr>
              <a:t>!</a:t>
            </a:r>
          </a:p>
          <a:p>
            <a:pPr algn="ctr"/>
            <a:r>
              <a:rPr lang="zh-CN" altLang="en-US" sz="4400" b="1" dirty="0">
                <a:latin typeface="仿宋" panose="02010609060101010101" pitchFamily="49" charset="-122"/>
                <a:ea typeface="仿宋" panose="02010609060101010101" pitchFamily="49" charset="-122"/>
              </a:rPr>
              <a:t>我不允许你们考的比我低😭</a:t>
            </a:r>
            <a:endParaRPr lang="en-US" altLang="zh-CN" sz="4400" b="1" dirty="0">
              <a:latin typeface="仿宋" panose="02010609060101010101" pitchFamily="49" charset="-122"/>
              <a:ea typeface="仿宋" panose="02010609060101010101" pitchFamily="49" charset="-122"/>
            </a:endParaRPr>
          </a:p>
        </p:txBody>
      </p:sp>
      <p:pic>
        <p:nvPicPr>
          <p:cNvPr id="12" name="图片 11">
            <a:extLst>
              <a:ext uri="{FF2B5EF4-FFF2-40B4-BE49-F238E27FC236}">
                <a16:creationId xmlns:a16="http://schemas.microsoft.com/office/drawing/2014/main" id="{8055DEC9-D450-6677-58D0-4516D27CFC7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810750" y="-48077"/>
            <a:ext cx="2381250" cy="2343150"/>
          </a:xfrm>
          <a:prstGeom prst="rect">
            <a:avLst/>
          </a:prstGeom>
        </p:spPr>
      </p:pic>
      <p:pic>
        <p:nvPicPr>
          <p:cNvPr id="11" name="图片 4">
            <a:extLst>
              <a:ext uri="{FF2B5EF4-FFF2-40B4-BE49-F238E27FC236}">
                <a16:creationId xmlns:a16="http://schemas.microsoft.com/office/drawing/2014/main" id="{1F7A437B-5674-A16B-0306-CF5B84A4656A}"/>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p:blipFill>
        <p:spPr>
          <a:xfrm>
            <a:off x="4416425" y="6219825"/>
            <a:ext cx="542925" cy="542925"/>
          </a:xfrm>
          <a:prstGeom prst="rect">
            <a:avLst/>
          </a:prstGeom>
        </p:spPr>
      </p:pic>
    </p:spTree>
    <p:extLst>
      <p:ext uri="{BB962C8B-B14F-4D97-AF65-F5344CB8AC3E}">
        <p14:creationId xmlns:p14="http://schemas.microsoft.com/office/powerpoint/2010/main" val="35691043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49F3DFEE-D615-10A4-3DFB-F10E842FD6FF}"/>
              </a:ext>
            </a:extLst>
          </p:cNvPr>
          <p:cNvCxnSpPr/>
          <p:nvPr/>
        </p:nvCxnSpPr>
        <p:spPr>
          <a:xfrm>
            <a:off x="1524000" y="830148"/>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 name="直接连接符 2">
            <a:extLst>
              <a:ext uri="{FF2B5EF4-FFF2-40B4-BE49-F238E27FC236}">
                <a16:creationId xmlns:a16="http://schemas.microsoft.com/office/drawing/2014/main" id="{E448084C-00C1-2D46-B2E9-907AC7E07A63}"/>
              </a:ext>
            </a:extLst>
          </p:cNvPr>
          <p:cNvCxnSpPr/>
          <p:nvPr/>
        </p:nvCxnSpPr>
        <p:spPr>
          <a:xfrm>
            <a:off x="1524000" y="6120000"/>
            <a:ext cx="9144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4" name="图形 3">
            <a:extLst>
              <a:ext uri="{FF2B5EF4-FFF2-40B4-BE49-F238E27FC236}">
                <a16:creationId xmlns:a16="http://schemas.microsoft.com/office/drawing/2014/main" id="{C93BB0EF-03E3-F5C3-728A-B6DC40F04B4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49154" y="6219714"/>
            <a:ext cx="2457450" cy="542925"/>
          </a:xfrm>
          <a:prstGeom prst="rect">
            <a:avLst/>
          </a:prstGeom>
        </p:spPr>
      </p:pic>
      <p:sp>
        <p:nvSpPr>
          <p:cNvPr id="6" name="文本框 5">
            <a:extLst>
              <a:ext uri="{FF2B5EF4-FFF2-40B4-BE49-F238E27FC236}">
                <a16:creationId xmlns:a16="http://schemas.microsoft.com/office/drawing/2014/main" id="{47E122C5-6879-554E-162C-5ECC1522BC4D}"/>
              </a:ext>
            </a:extLst>
          </p:cNvPr>
          <p:cNvSpPr txBox="1"/>
          <p:nvPr/>
        </p:nvSpPr>
        <p:spPr>
          <a:xfrm>
            <a:off x="5053330" y="6322695"/>
            <a:ext cx="3491865" cy="398780"/>
          </a:xfrm>
          <a:prstGeom prst="rect">
            <a:avLst/>
          </a:prstGeom>
          <a:noFill/>
        </p:spPr>
        <p:txBody>
          <a:bodyPr wrap="square" rtlCol="0">
            <a:spAutoFit/>
          </a:bodyPr>
          <a:lstStyle/>
          <a:p>
            <a:r>
              <a:rPr lang="zh-CN" altLang="en-US" sz="2000" dirty="0">
                <a:latin typeface="汉仪黑方简" panose="00020600040101010101" charset="-122"/>
                <a:ea typeface="汉仪黑方简" panose="00020600040101010101" charset="-122"/>
              </a:rPr>
              <a:t>网络开拓者协会</a:t>
            </a:r>
          </a:p>
        </p:txBody>
      </p:sp>
      <p:pic>
        <p:nvPicPr>
          <p:cNvPr id="11" name="图片 4">
            <a:extLst>
              <a:ext uri="{FF2B5EF4-FFF2-40B4-BE49-F238E27FC236}">
                <a16:creationId xmlns:a16="http://schemas.microsoft.com/office/drawing/2014/main" id="{1F7A437B-5674-A16B-0306-CF5B84A4656A}"/>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4416425" y="6219825"/>
            <a:ext cx="542925" cy="542925"/>
          </a:xfrm>
          <a:prstGeom prst="rect">
            <a:avLst/>
          </a:prstGeom>
        </p:spPr>
      </p:pic>
      <p:pic>
        <p:nvPicPr>
          <p:cNvPr id="14" name="图片 13" descr="网协C语言串讲群">
            <a:extLst>
              <a:ext uri="{FF2B5EF4-FFF2-40B4-BE49-F238E27FC236}">
                <a16:creationId xmlns:a16="http://schemas.microsoft.com/office/drawing/2014/main" id="{0BA6F5ED-C1CB-4613-30BD-BE79123BAA76}"/>
              </a:ext>
            </a:extLst>
          </p:cNvPr>
          <p:cNvPicPr>
            <a:picLocks noChangeAspect="1"/>
          </p:cNvPicPr>
          <p:nvPr/>
        </p:nvPicPr>
        <p:blipFill>
          <a:blip r:embed="rId7"/>
          <a:stretch>
            <a:fillRect/>
          </a:stretch>
        </p:blipFill>
        <p:spPr>
          <a:xfrm>
            <a:off x="6471941" y="1023492"/>
            <a:ext cx="3719834" cy="3703876"/>
          </a:xfrm>
          <a:prstGeom prst="rect">
            <a:avLst/>
          </a:prstGeom>
        </p:spPr>
      </p:pic>
      <p:sp>
        <p:nvSpPr>
          <p:cNvPr id="15" name="文本框 14">
            <a:extLst>
              <a:ext uri="{FF2B5EF4-FFF2-40B4-BE49-F238E27FC236}">
                <a16:creationId xmlns:a16="http://schemas.microsoft.com/office/drawing/2014/main" id="{9A0BE146-FA56-D649-2885-76BACB19C46A}"/>
              </a:ext>
            </a:extLst>
          </p:cNvPr>
          <p:cNvSpPr txBox="1"/>
          <p:nvPr/>
        </p:nvSpPr>
        <p:spPr>
          <a:xfrm>
            <a:off x="6471941" y="4807946"/>
            <a:ext cx="3719834" cy="769441"/>
          </a:xfrm>
          <a:prstGeom prst="rect">
            <a:avLst/>
          </a:prstGeom>
          <a:noFill/>
        </p:spPr>
        <p:txBody>
          <a:bodyPr wrap="square" rtlCol="0">
            <a:spAutoFit/>
          </a:bodyPr>
          <a:lstStyle/>
          <a:p>
            <a:pPr algn="ctr"/>
            <a:r>
              <a:rPr lang="zh-CN" altLang="en-US" sz="2400" dirty="0"/>
              <a:t>网协串讲与编程交流群</a:t>
            </a:r>
            <a:endParaRPr lang="en-US" altLang="zh-CN" sz="2400" dirty="0"/>
          </a:p>
          <a:p>
            <a:pPr algn="ctr"/>
            <a:r>
              <a:rPr lang="zh-CN" altLang="en-US" sz="2000" dirty="0"/>
              <a:t>喜欢编程的同学欢迎加群</a:t>
            </a:r>
            <a:endParaRPr lang="en-US" altLang="zh-CN" sz="2000" dirty="0"/>
          </a:p>
        </p:txBody>
      </p:sp>
      <p:sp>
        <p:nvSpPr>
          <p:cNvPr id="16" name="文本框 15">
            <a:extLst>
              <a:ext uri="{FF2B5EF4-FFF2-40B4-BE49-F238E27FC236}">
                <a16:creationId xmlns:a16="http://schemas.microsoft.com/office/drawing/2014/main" id="{25A6D7A4-22F3-A3E4-B3A0-A037B2AE48C7}"/>
              </a:ext>
            </a:extLst>
          </p:cNvPr>
          <p:cNvSpPr txBox="1"/>
          <p:nvPr/>
        </p:nvSpPr>
        <p:spPr>
          <a:xfrm>
            <a:off x="1902602" y="5000306"/>
            <a:ext cx="3056748" cy="523220"/>
          </a:xfrm>
          <a:prstGeom prst="rect">
            <a:avLst/>
          </a:prstGeom>
          <a:noFill/>
        </p:spPr>
        <p:txBody>
          <a:bodyPr wrap="square" rtlCol="0">
            <a:spAutoFit/>
          </a:bodyPr>
          <a:lstStyle/>
          <a:p>
            <a:pPr algn="l"/>
            <a:r>
              <a:rPr lang="zh-CN" altLang="en-US" sz="2800" dirty="0">
                <a:sym typeface="+mn-ea"/>
              </a:rPr>
              <a:t>NetPioneer公众号</a:t>
            </a:r>
            <a:endParaRPr lang="zh-CN" altLang="en-US" sz="2800" dirty="0"/>
          </a:p>
        </p:txBody>
      </p:sp>
      <p:pic>
        <p:nvPicPr>
          <p:cNvPr id="17" name="图片 16" descr="NetPioneer_QR">
            <a:extLst>
              <a:ext uri="{FF2B5EF4-FFF2-40B4-BE49-F238E27FC236}">
                <a16:creationId xmlns:a16="http://schemas.microsoft.com/office/drawing/2014/main" id="{4FF0C299-6C06-4672-B0E2-B52A4D574A72}"/>
              </a:ext>
            </a:extLst>
          </p:cNvPr>
          <p:cNvPicPr>
            <a:picLocks noChangeAspect="1"/>
          </p:cNvPicPr>
          <p:nvPr/>
        </p:nvPicPr>
        <p:blipFill>
          <a:blip r:embed="rId8"/>
          <a:stretch>
            <a:fillRect/>
          </a:stretch>
        </p:blipFill>
        <p:spPr>
          <a:xfrm>
            <a:off x="1471567" y="1007230"/>
            <a:ext cx="3820886" cy="3820886"/>
          </a:xfrm>
          <a:prstGeom prst="rect">
            <a:avLst/>
          </a:prstGeom>
        </p:spPr>
      </p:pic>
      <mc:AlternateContent xmlns:mc="http://schemas.openxmlformats.org/markup-compatibility/2006" xmlns:p14="http://schemas.microsoft.com/office/powerpoint/2010/main">
        <mc:Choice Requires="p14">
          <p:contentPart p14:bwMode="auto" r:id="rId9">
            <p14:nvContentPartPr>
              <p14:cNvPr id="18" name="墨迹 17">
                <a:extLst>
                  <a:ext uri="{FF2B5EF4-FFF2-40B4-BE49-F238E27FC236}">
                    <a16:creationId xmlns:a16="http://schemas.microsoft.com/office/drawing/2014/main" id="{27F94C43-66CB-AFF6-4710-E70CDE840E5B}"/>
                  </a:ext>
                </a:extLst>
              </p14:cNvPr>
              <p14:cNvContentPartPr/>
              <p14:nvPr/>
            </p14:nvContentPartPr>
            <p14:xfrm>
              <a:off x="3382010" y="2590800"/>
              <a:ext cx="8890" cy="360"/>
            </p14:xfrm>
          </p:contentPart>
        </mc:Choice>
        <mc:Fallback xmlns="">
          <p:pic>
            <p:nvPicPr>
              <p:cNvPr id="18" name="墨迹 17">
                <a:extLst>
                  <a:ext uri="{FF2B5EF4-FFF2-40B4-BE49-F238E27FC236}">
                    <a16:creationId xmlns:a16="http://schemas.microsoft.com/office/drawing/2014/main" id="{27F94C43-66CB-AFF6-4710-E70CDE840E5B}"/>
                  </a:ext>
                </a:extLst>
              </p:cNvPr>
              <p:cNvPicPr/>
              <p:nvPr/>
            </p:nvPicPr>
            <p:blipFill>
              <a:blip r:embed="rId10"/>
              <a:stretch>
                <a:fillRect/>
              </a:stretch>
            </p:blipFill>
            <p:spPr>
              <a:xfrm>
                <a:off x="3364586" y="2573160"/>
                <a:ext cx="43028" cy="34920"/>
              </a:xfrm>
              <a:prstGeom prst="rect">
                <a:avLst/>
              </a:prstGeom>
            </p:spPr>
          </p:pic>
        </mc:Fallback>
      </mc:AlternateContent>
    </p:spTree>
    <p:extLst>
      <p:ext uri="{BB962C8B-B14F-4D97-AF65-F5344CB8AC3E}">
        <p14:creationId xmlns:p14="http://schemas.microsoft.com/office/powerpoint/2010/main" val="26961937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165</TotalTime>
  <Words>12840</Words>
  <Application>Microsoft Office PowerPoint</Application>
  <PresentationFormat>宽屏</PresentationFormat>
  <Paragraphs>1501</Paragraphs>
  <Slides>137</Slides>
  <Notes>1</Notes>
  <HiddenSlides>0</HiddenSlides>
  <MMClips>0</MMClips>
  <ScaleCrop>false</ScaleCrop>
  <HeadingPairs>
    <vt:vector size="8" baseType="variant">
      <vt:variant>
        <vt:lpstr>已用的字体</vt:lpstr>
      </vt:variant>
      <vt:variant>
        <vt:i4>24</vt:i4>
      </vt:variant>
      <vt:variant>
        <vt:lpstr>主题</vt:lpstr>
      </vt:variant>
      <vt:variant>
        <vt:i4>1</vt:i4>
      </vt:variant>
      <vt:variant>
        <vt:lpstr>嵌入 OLE 服务器</vt:lpstr>
      </vt:variant>
      <vt:variant>
        <vt:i4>3</vt:i4>
      </vt:variant>
      <vt:variant>
        <vt:lpstr>幻灯片标题</vt:lpstr>
      </vt:variant>
      <vt:variant>
        <vt:i4>137</vt:i4>
      </vt:variant>
    </vt:vector>
  </HeadingPairs>
  <TitlesOfParts>
    <vt:vector size="165" baseType="lpstr">
      <vt:lpstr>Monotype Sorts</vt:lpstr>
      <vt:lpstr>等线</vt:lpstr>
      <vt:lpstr>等线 Light</vt:lpstr>
      <vt:lpstr>方正公文黑体</vt:lpstr>
      <vt:lpstr>方正姚体</vt:lpstr>
      <vt:lpstr>仿宋</vt:lpstr>
      <vt:lpstr>汉仪黑方简</vt:lpstr>
      <vt:lpstr>汉仪力量黑简</vt:lpstr>
      <vt:lpstr>黑体</vt:lpstr>
      <vt:lpstr>华光粗黑_CNKI</vt:lpstr>
      <vt:lpstr>华文仿宋</vt:lpstr>
      <vt:lpstr>华文楷体</vt:lpstr>
      <vt:lpstr>楷体_GB2312</vt:lpstr>
      <vt:lpstr>隶书</vt:lpstr>
      <vt:lpstr>宋体</vt:lpstr>
      <vt:lpstr>宋体</vt:lpstr>
      <vt:lpstr>微软雅黑</vt:lpstr>
      <vt:lpstr>Arial</vt:lpstr>
      <vt:lpstr>Consolas</vt:lpstr>
      <vt:lpstr>Courier New</vt:lpstr>
      <vt:lpstr>Tahoma</vt:lpstr>
      <vt:lpstr>Times New Roman</vt:lpstr>
      <vt:lpstr>Verdana</vt:lpstr>
      <vt:lpstr>Wingdings</vt:lpstr>
      <vt:lpstr>Office 主题​​</vt:lpstr>
      <vt:lpstr>Image</vt:lpstr>
      <vt:lpstr>Equation</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春柳白</dc:creator>
  <cp:lastModifiedBy>翔宇 陈</cp:lastModifiedBy>
  <cp:revision>44</cp:revision>
  <dcterms:created xsi:type="dcterms:W3CDTF">2023-12-14T04:12:43Z</dcterms:created>
  <dcterms:modified xsi:type="dcterms:W3CDTF">2023-12-16T07:52:25Z</dcterms:modified>
</cp:coreProperties>
</file>